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165"/>
  </p:notesMasterIdLst>
  <p:sldIdLst>
    <p:sldId id="289" r:id="rId2"/>
    <p:sldId id="794" r:id="rId3"/>
    <p:sldId id="573" r:id="rId4"/>
    <p:sldId id="697" r:id="rId5"/>
    <p:sldId id="698" r:id="rId6"/>
    <p:sldId id="583" r:id="rId7"/>
    <p:sldId id="585" r:id="rId8"/>
    <p:sldId id="715" r:id="rId9"/>
    <p:sldId id="714" r:id="rId10"/>
    <p:sldId id="586" r:id="rId11"/>
    <p:sldId id="587" r:id="rId12"/>
    <p:sldId id="588" r:id="rId13"/>
    <p:sldId id="723" r:id="rId14"/>
    <p:sldId id="724" r:id="rId15"/>
    <p:sldId id="725" r:id="rId16"/>
    <p:sldId id="726" r:id="rId17"/>
    <p:sldId id="589" r:id="rId18"/>
    <p:sldId id="808" r:id="rId19"/>
    <p:sldId id="727" r:id="rId20"/>
    <p:sldId id="620" r:id="rId21"/>
    <p:sldId id="608" r:id="rId22"/>
    <p:sldId id="754" r:id="rId23"/>
    <p:sldId id="728" r:id="rId24"/>
    <p:sldId id="716" r:id="rId25"/>
    <p:sldId id="592" r:id="rId26"/>
    <p:sldId id="390" r:id="rId27"/>
    <p:sldId id="394" r:id="rId28"/>
    <p:sldId id="395" r:id="rId29"/>
    <p:sldId id="406" r:id="rId30"/>
    <p:sldId id="407" r:id="rId31"/>
    <p:sldId id="396" r:id="rId32"/>
    <p:sldId id="804" r:id="rId33"/>
    <p:sldId id="809" r:id="rId34"/>
    <p:sldId id="810" r:id="rId35"/>
    <p:sldId id="647" r:id="rId36"/>
    <p:sldId id="710" r:id="rId37"/>
    <p:sldId id="811" r:id="rId38"/>
    <p:sldId id="731" r:id="rId39"/>
    <p:sldId id="717" r:id="rId40"/>
    <p:sldId id="732" r:id="rId41"/>
    <p:sldId id="663" r:id="rId42"/>
    <p:sldId id="664" r:id="rId43"/>
    <p:sldId id="665" r:id="rId44"/>
    <p:sldId id="666" r:id="rId45"/>
    <p:sldId id="667" r:id="rId46"/>
    <p:sldId id="707" r:id="rId47"/>
    <p:sldId id="528" r:id="rId48"/>
    <p:sldId id="733" r:id="rId49"/>
    <p:sldId id="755" r:id="rId50"/>
    <p:sldId id="756" r:id="rId51"/>
    <p:sldId id="757" r:id="rId52"/>
    <p:sldId id="758" r:id="rId53"/>
    <p:sldId id="466" r:id="rId54"/>
    <p:sldId id="467" r:id="rId55"/>
    <p:sldId id="468" r:id="rId56"/>
    <p:sldId id="469" r:id="rId57"/>
    <p:sldId id="470" r:id="rId58"/>
    <p:sldId id="471" r:id="rId59"/>
    <p:sldId id="472" r:id="rId60"/>
    <p:sldId id="721" r:id="rId61"/>
    <p:sldId id="668" r:id="rId62"/>
    <p:sldId id="669" r:id="rId63"/>
    <p:sldId id="759" r:id="rId64"/>
    <p:sldId id="760" r:id="rId65"/>
    <p:sldId id="761" r:id="rId66"/>
    <p:sldId id="796" r:id="rId67"/>
    <p:sldId id="812" r:id="rId68"/>
    <p:sldId id="501" r:id="rId69"/>
    <p:sldId id="502" r:id="rId70"/>
    <p:sldId id="503" r:id="rId71"/>
    <p:sldId id="504" r:id="rId72"/>
    <p:sldId id="505" r:id="rId73"/>
    <p:sldId id="506" r:id="rId74"/>
    <p:sldId id="507" r:id="rId75"/>
    <p:sldId id="508" r:id="rId76"/>
    <p:sldId id="509" r:id="rId77"/>
    <p:sldId id="510" r:id="rId78"/>
    <p:sldId id="511" r:id="rId79"/>
    <p:sldId id="762" r:id="rId80"/>
    <p:sldId id="763" r:id="rId81"/>
    <p:sldId id="764" r:id="rId82"/>
    <p:sldId id="765" r:id="rId83"/>
    <p:sldId id="766" r:id="rId84"/>
    <p:sldId id="767" r:id="rId85"/>
    <p:sldId id="803" r:id="rId86"/>
    <p:sldId id="768" r:id="rId87"/>
    <p:sldId id="770" r:id="rId88"/>
    <p:sldId id="769" r:id="rId89"/>
    <p:sldId id="771" r:id="rId90"/>
    <p:sldId id="772" r:id="rId91"/>
    <p:sldId id="773" r:id="rId92"/>
    <p:sldId id="774" r:id="rId93"/>
    <p:sldId id="775" r:id="rId94"/>
    <p:sldId id="776" r:id="rId95"/>
    <p:sldId id="777" r:id="rId96"/>
    <p:sldId id="737" r:id="rId97"/>
    <p:sldId id="433" r:id="rId98"/>
    <p:sldId id="778" r:id="rId99"/>
    <p:sldId id="779" r:id="rId100"/>
    <p:sldId id="780" r:id="rId101"/>
    <p:sldId id="781" r:id="rId102"/>
    <p:sldId id="782" r:id="rId103"/>
    <p:sldId id="783" r:id="rId104"/>
    <p:sldId id="784" r:id="rId105"/>
    <p:sldId id="785" r:id="rId106"/>
    <p:sldId id="623" r:id="rId107"/>
    <p:sldId id="850" r:id="rId108"/>
    <p:sldId id="557" r:id="rId109"/>
    <p:sldId id="675" r:id="rId110"/>
    <p:sldId id="705" r:id="rId111"/>
    <p:sldId id="679" r:id="rId112"/>
    <p:sldId id="738" r:id="rId113"/>
    <p:sldId id="739" r:id="rId114"/>
    <p:sldId id="740" r:id="rId115"/>
    <p:sldId id="700" r:id="rId116"/>
    <p:sldId id="701" r:id="rId117"/>
    <p:sldId id="702" r:id="rId118"/>
    <p:sldId id="713" r:id="rId119"/>
    <p:sldId id="851" r:id="rId120"/>
    <p:sldId id="704" r:id="rId121"/>
    <p:sldId id="849" r:id="rId122"/>
    <p:sldId id="813" r:id="rId123"/>
    <p:sldId id="821" r:id="rId124"/>
    <p:sldId id="814" r:id="rId125"/>
    <p:sldId id="815" r:id="rId126"/>
    <p:sldId id="680" r:id="rId127"/>
    <p:sldId id="741" r:id="rId128"/>
    <p:sldId id="742" r:id="rId129"/>
    <p:sldId id="743" r:id="rId130"/>
    <p:sldId id="744" r:id="rId131"/>
    <p:sldId id="745" r:id="rId132"/>
    <p:sldId id="746" r:id="rId133"/>
    <p:sldId id="722" r:id="rId134"/>
    <p:sldId id="747" r:id="rId135"/>
    <p:sldId id="748" r:id="rId136"/>
    <p:sldId id="749" r:id="rId137"/>
    <p:sldId id="822" r:id="rId138"/>
    <p:sldId id="823" r:id="rId139"/>
    <p:sldId id="824" r:id="rId140"/>
    <p:sldId id="750" r:id="rId141"/>
    <p:sldId id="751" r:id="rId142"/>
    <p:sldId id="752" r:id="rId143"/>
    <p:sldId id="825" r:id="rId144"/>
    <p:sldId id="826" r:id="rId145"/>
    <p:sldId id="827" r:id="rId146"/>
    <p:sldId id="828" r:id="rId147"/>
    <p:sldId id="829" r:id="rId148"/>
    <p:sldId id="833" r:id="rId149"/>
    <p:sldId id="830" r:id="rId150"/>
    <p:sldId id="831" r:id="rId151"/>
    <p:sldId id="848" r:id="rId152"/>
    <p:sldId id="706" r:id="rId153"/>
    <p:sldId id="676" r:id="rId154"/>
    <p:sldId id="677" r:id="rId155"/>
    <p:sldId id="708" r:id="rId156"/>
    <p:sldId id="834" r:id="rId157"/>
    <p:sldId id="835" r:id="rId158"/>
    <p:sldId id="836" r:id="rId159"/>
    <p:sldId id="837" r:id="rId160"/>
    <p:sldId id="838" r:id="rId161"/>
    <p:sldId id="839" r:id="rId162"/>
    <p:sldId id="840" r:id="rId163"/>
    <p:sldId id="841" r:id="rId1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49E39"/>
    <a:srgbClr val="FFFFFF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049" autoAdjust="0"/>
    <p:restoredTop sz="92426"/>
  </p:normalViewPr>
  <p:slideViewPr>
    <p:cSldViewPr snapToGrid="0" snapToObjects="1" showGuides="1">
      <p:cViewPr>
        <p:scale>
          <a:sx n="88" d="100"/>
          <a:sy n="88" d="100"/>
        </p:scale>
        <p:origin x="960" y="1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#4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>
        <a:xfrm>
          <a:off x="0" y="82403"/>
          <a:ext cx="4697730" cy="623610"/>
        </a:xfrm>
        <a:prstGeom prst="roundRect">
          <a:avLst/>
        </a:prstGeom>
        <a:solidFill>
          <a:srgbClr val="8AB833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</a:t>
          </a:r>
          <a:r>
            <a:rPr lang="en-US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of Queries 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F2444AC-25A3-45AF-9E27-F0625589132F}">
      <dgm:prSet/>
      <dgm:spPr>
        <a:xfrm>
          <a:off x="0" y="780893"/>
          <a:ext cx="4697730" cy="623610"/>
        </a:xfrm>
        <a:prstGeom prst="roundRect">
          <a:avLst/>
        </a:prstGeom>
        <a:solidFill>
          <a:srgbClr val="8AB833">
            <a:hueOff val="-220674"/>
            <a:satOff val="1055"/>
            <a:lumOff val="147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Range</a:t>
          </a:r>
          <a:r>
            <a:rPr lang="en-US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Tree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3AC4ABD-3393-49E6-B22C-5258D54F3AA8}">
      <dgm:prSet/>
      <dgm:spPr>
        <a:xfrm>
          <a:off x="0" y="2104163"/>
          <a:ext cx="4697730" cy="623610"/>
        </a:xfrm>
        <a:prstGeom prst="roundRect">
          <a:avLst/>
        </a:prstGeom>
        <a:solidFill>
          <a:srgbClr val="8AB833">
            <a:hueOff val="-441348"/>
            <a:satOff val="2109"/>
            <a:lumOff val="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K-D Tree</a:t>
          </a: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3A81FF4-263D-41CB-9071-D127CED2C26F}">
      <dgm:prSet/>
      <dgm:spPr>
        <a:xfrm>
          <a:off x="0" y="4100184"/>
          <a:ext cx="4697730" cy="623610"/>
        </a:xfrm>
        <a:prstGeom prst="roundRect">
          <a:avLst/>
        </a:prstGeom>
        <a:solidFill>
          <a:srgbClr val="8AB833">
            <a:hueOff val="-662022"/>
            <a:satOff val="3164"/>
            <a:lumOff val="441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Quad Trees</a:t>
          </a: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2BF780E-35C8-5244-A178-392312345216}">
      <dgm:prSet/>
      <dgm:spPr>
        <a:xfrm>
          <a:off x="0" y="1404503"/>
          <a:ext cx="4697730" cy="69966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1D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2EEF85AF-4B87-C440-83AA-7A6F97371E15}">
      <dgm:prSet/>
      <dgm:spPr>
        <a:xfrm>
          <a:off x="0" y="1404503"/>
          <a:ext cx="4697730" cy="69966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2D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0C135C6-FE8A-BE49-940B-3952902C4556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construction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7AF33EE-8246-1640-918A-04C026E5F721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exact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8F41AF8-DC9D-D147-9429-813381004809}" type="parTrans" cxnId="{2DBF65B9-84FF-014C-A577-3F763CB58F0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B937EC3E-2A0F-9546-8371-801735BEB017}" type="sibTrans" cxnId="{2DBF65B9-84FF-014C-A577-3F763CB58F0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183D4B7E-BF14-F84C-A9C8-258541C19845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A6A73E43-B12A-024C-99E9-2A04E94F5060}" type="parTrans" cxnId="{86F64172-7463-B144-9F07-85C8E93F844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3DFE188-118B-B744-9621-7192254C588A}" type="sibTrans" cxnId="{86F64172-7463-B144-9F07-85C8E93F844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8A4824BF-77A1-6548-809E-9A3C0D0043EE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nearest neighbor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F4BB9780-7CE3-FA48-9111-C053004632C2}" type="parTrans" cxnId="{41F2FF14-439E-4D4F-8DFA-420EE5A005BF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B41458F2-1F46-1A4D-B306-6945A64D7967}" type="sibTrans" cxnId="{41F2FF14-439E-4D4F-8DFA-420EE5A005BF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8A43072-FD69-0140-96BE-1ECE3004433B}" type="pres">
      <dgm:prSet presAssocID="{8C98467B-A16D-46AB-89F9-E167C0071142}" presName="spacer" presStyleCnt="0"/>
      <dgm:spPr/>
    </dgm:pt>
    <dgm:pt modelId="{CAA1060A-F01D-234D-A5B5-15047FFE84C8}" type="pres">
      <dgm:prSet presAssocID="{CF2444AC-25A3-45AF-9E27-F062558913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0" presStyleCnt="2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1" presStyleCnt="2">
        <dgm:presLayoutVars>
          <dgm:bulletEnabled val="1"/>
        </dgm:presLayoutVars>
      </dgm:prSet>
      <dgm:spPr/>
    </dgm:pt>
    <dgm:pt modelId="{27CFC81F-1429-A241-BA29-F4FAC6F69A90}" type="pres">
      <dgm:prSet presAssocID="{63A81FF4-263D-41CB-9071-D127CED2C26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F2FF14-439E-4D4F-8DFA-420EE5A005BF}" srcId="{B3AC4ABD-3393-49E6-B22C-5258D54F3AA8}" destId="{8A4824BF-77A1-6548-809E-9A3C0D0043EE}" srcOrd="3" destOrd="0" parTransId="{F4BB9780-7CE3-FA48-9111-C053004632C2}" sibTransId="{B41458F2-1F46-1A4D-B306-6945A64D7967}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719F1736-D7FB-9445-9E64-090AD203A42D}" type="presOf" srcId="{8A4824BF-77A1-6548-809E-9A3C0D0043EE}" destId="{83C615D7-3F44-1542-8AB9-18060F3340FA}" srcOrd="0" destOrd="3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3010EB48-8A6D-0248-99B2-53F42F3C0834}" type="presOf" srcId="{47AF33EE-8246-1640-918A-04C026E5F721}" destId="{83C615D7-3F44-1542-8AB9-18060F3340FA}" srcOrd="0" destOrd="1" presId="urn:microsoft.com/office/officeart/2005/8/layout/vList2"/>
    <dgm:cxn modelId="{8A26E14A-4F73-0043-B69B-09A094E53290}" type="presOf" srcId="{183D4B7E-BF14-F84C-A9C8-258541C19845}" destId="{83C615D7-3F44-1542-8AB9-18060F3340FA}" srcOrd="0" destOrd="2" presId="urn:microsoft.com/office/officeart/2005/8/layout/vList2"/>
    <dgm:cxn modelId="{97BB4C4C-9569-9C46-819E-4A8976115266}" type="presOf" srcId="{AC918355-8F9B-4F09-B720-6574DA287041}" destId="{F36BEC44-DAC6-6343-85FD-985E84DAB391}" srcOrd="0" destOrd="0" presId="urn:microsoft.com/office/officeart/2005/8/layout/vList2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94026755-DE43-3D45-8C77-553F70E5063F}" type="presOf" srcId="{B3AC4ABD-3393-49E6-B22C-5258D54F3AA8}" destId="{0F9D7059-6B5A-324D-BBB2-FF4779936521}" srcOrd="0" destOrd="0" presId="urn:microsoft.com/office/officeart/2005/8/layout/vList2"/>
    <dgm:cxn modelId="{AE04DE58-AB13-B24A-8054-0BE537E20E42}" type="presOf" srcId="{CF2444AC-25A3-45AF-9E27-F0625589132F}" destId="{CAA1060A-F01D-234D-A5B5-15047FFE84C8}" srcOrd="0" destOrd="0" presId="urn:microsoft.com/office/officeart/2005/8/layout/vList2"/>
    <dgm:cxn modelId="{EF02EC68-3DE4-1743-9B23-8D19D086DB8D}" type="presOf" srcId="{2EEF85AF-4B87-C440-83AA-7A6F97371E15}" destId="{B3D4FF40-A116-F443-A12B-EBBDAC4C5921}" srcOrd="0" destOrd="1" presId="urn:microsoft.com/office/officeart/2005/8/layout/vList2"/>
    <dgm:cxn modelId="{86F64172-7463-B144-9F07-85C8E93F8446}" srcId="{B3AC4ABD-3393-49E6-B22C-5258D54F3AA8}" destId="{183D4B7E-BF14-F84C-A9C8-258541C19845}" srcOrd="2" destOrd="0" parTransId="{A6A73E43-B12A-024C-99E9-2A04E94F5060}" sibTransId="{43DFE188-118B-B744-9621-7192254C588A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2E262F90-040E-8D46-BA08-C21F1F4A5CD2}" type="presOf" srcId="{63A81FF4-263D-41CB-9071-D127CED2C26F}" destId="{27CFC81F-1429-A241-BA29-F4FAC6F69A90}" srcOrd="0" destOrd="0" presId="urn:microsoft.com/office/officeart/2005/8/layout/vList2"/>
    <dgm:cxn modelId="{8F394AA0-C6AF-0046-964D-825527C2CE57}" type="presOf" srcId="{40C135C6-FE8A-BE49-940B-3952902C4556}" destId="{83C615D7-3F44-1542-8AB9-18060F3340FA}" srcOrd="0" destOrd="0" presId="urn:microsoft.com/office/officeart/2005/8/layout/vList2"/>
    <dgm:cxn modelId="{FF429AB5-D8A5-450C-949E-C5993CDA6CF8}" srcId="{CD4C4DF3-CDA3-4C1A-BA09-6F2AA9088C98}" destId="{63A81FF4-263D-41CB-9071-D127CED2C26F}" srcOrd="3" destOrd="0" parTransId="{871569B9-983E-4147-A2C2-AEAE4B538B9F}" sibTransId="{6204F9E9-B966-4ED3-9620-B8AD2FA0992D}"/>
    <dgm:cxn modelId="{2DBF65B9-84FF-014C-A577-3F763CB58F06}" srcId="{B3AC4ABD-3393-49E6-B22C-5258D54F3AA8}" destId="{47AF33EE-8246-1640-918A-04C026E5F721}" srcOrd="1" destOrd="0" parTransId="{88F41AF8-DC9D-D147-9429-813381004809}" sibTransId="{B937EC3E-2A0F-9546-8371-801735BEB017}"/>
    <dgm:cxn modelId="{20AAC4C0-0D10-49F9-94CC-7F9A98CD0892}" srcId="{CD4C4DF3-CDA3-4C1A-BA09-6F2AA9088C98}" destId="{B3AC4ABD-3393-49E6-B22C-5258D54F3AA8}" srcOrd="2" destOrd="0" parTransId="{217CAF8E-9194-4CEE-B13D-4E63A1D5BC08}" sibTransId="{7625B602-CC8D-40F6-A946-15E9FF8A917C}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72DD3FDF-998E-ED40-B203-A8A842484DE5}" type="presOf" srcId="{82BF780E-35C8-5244-A178-392312345216}" destId="{B3D4FF40-A116-F443-A12B-EBBDAC4C5921}" srcOrd="0" destOrd="0" presId="urn:microsoft.com/office/officeart/2005/8/layout/vList2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7F7FB686-798E-5342-8DDD-4603B2ACB674}" type="presParOf" srcId="{E3F036DE-6942-EB4D-9A0C-88DB77F2BE78}" destId="{F36BEC44-DAC6-6343-85FD-985E84DAB391}" srcOrd="0" destOrd="0" presId="urn:microsoft.com/office/officeart/2005/8/layout/vList2"/>
    <dgm:cxn modelId="{CD3E64ED-3C03-594F-B0CB-27FC002932A0}" type="presParOf" srcId="{E3F036DE-6942-EB4D-9A0C-88DB77F2BE78}" destId="{68A43072-FD69-0140-96BE-1ECE3004433B}" srcOrd="1" destOrd="0" presId="urn:microsoft.com/office/officeart/2005/8/layout/vList2"/>
    <dgm:cxn modelId="{96D9C9FF-32FB-594B-8360-12EE92A92ECF}" type="presParOf" srcId="{E3F036DE-6942-EB4D-9A0C-88DB77F2BE78}" destId="{CAA1060A-F01D-234D-A5B5-15047FFE84C8}" srcOrd="2" destOrd="0" presId="urn:microsoft.com/office/officeart/2005/8/layout/vList2"/>
    <dgm:cxn modelId="{C0EF9506-2B4B-504D-A865-7EABDA17FD3E}" type="presParOf" srcId="{E3F036DE-6942-EB4D-9A0C-88DB77F2BE78}" destId="{B3D4FF40-A116-F443-A12B-EBBDAC4C5921}" srcOrd="3" destOrd="0" presId="urn:microsoft.com/office/officeart/2005/8/layout/vList2"/>
    <dgm:cxn modelId="{F24A70AF-72BE-1A4B-8A66-AC0BEE70CF99}" type="presParOf" srcId="{E3F036DE-6942-EB4D-9A0C-88DB77F2BE78}" destId="{0F9D7059-6B5A-324D-BBB2-FF4779936521}" srcOrd="4" destOrd="0" presId="urn:microsoft.com/office/officeart/2005/8/layout/vList2"/>
    <dgm:cxn modelId="{57B4991A-609D-CF41-A841-D93D8C018ABF}" type="presParOf" srcId="{E3F036DE-6942-EB4D-9A0C-88DB77F2BE78}" destId="{83C615D7-3F44-1542-8AB9-18060F3340FA}" srcOrd="5" destOrd="0" presId="urn:microsoft.com/office/officeart/2005/8/layout/vList2"/>
    <dgm:cxn modelId="{EE4C89DF-76AF-9D40-9263-B3BC0F2F9F8D}" type="presParOf" srcId="{E3F036DE-6942-EB4D-9A0C-88DB77F2BE78}" destId="{27CFC81F-1429-A241-BA29-F4FAC6F69A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>
        <a:xfrm>
          <a:off x="0" y="82403"/>
          <a:ext cx="4697730" cy="623610"/>
        </a:xfrm>
        <a:prstGeom prst="roundRect">
          <a:avLst/>
        </a:prstGeom>
        <a:solidFill>
          <a:srgbClr val="8AB833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</a:t>
          </a:r>
          <a:r>
            <a:rPr lang="en-US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of Queries 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F2444AC-25A3-45AF-9E27-F0625589132F}">
      <dgm:prSet/>
      <dgm:spPr>
        <a:xfrm>
          <a:off x="0" y="780893"/>
          <a:ext cx="4697730" cy="623610"/>
        </a:xfrm>
        <a:prstGeom prst="roundRect">
          <a:avLst/>
        </a:prstGeom>
        <a:solidFill>
          <a:srgbClr val="8AB833">
            <a:hueOff val="-220674"/>
            <a:satOff val="1055"/>
            <a:lumOff val="147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Range</a:t>
          </a:r>
          <a:r>
            <a:rPr lang="en-US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Tree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3AC4ABD-3393-49E6-B22C-5258D54F3AA8}">
      <dgm:prSet/>
      <dgm:spPr>
        <a:xfrm>
          <a:off x="0" y="2104163"/>
          <a:ext cx="4697730" cy="623610"/>
        </a:xfrm>
        <a:prstGeom prst="roundRect">
          <a:avLst/>
        </a:prstGeom>
        <a:solidFill>
          <a:srgbClr val="8AB833">
            <a:hueOff val="-441348"/>
            <a:satOff val="2109"/>
            <a:lumOff val="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K-D Tree</a:t>
          </a: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3A81FF4-263D-41CB-9071-D127CED2C26F}">
      <dgm:prSet/>
      <dgm:spPr>
        <a:xfrm>
          <a:off x="0" y="4100184"/>
          <a:ext cx="4697730" cy="623610"/>
        </a:xfrm>
        <a:prstGeom prst="roundRect">
          <a:avLst/>
        </a:prstGeom>
        <a:solidFill>
          <a:srgbClr val="8AB833">
            <a:hueOff val="-662022"/>
            <a:satOff val="3164"/>
            <a:lumOff val="441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Quad Trees</a:t>
          </a: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2BF780E-35C8-5244-A178-392312345216}">
      <dgm:prSet/>
      <dgm:spPr>
        <a:xfrm>
          <a:off x="0" y="1404503"/>
          <a:ext cx="4697730" cy="69966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1D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2EEF85AF-4B87-C440-83AA-7A6F97371E15}">
      <dgm:prSet/>
      <dgm:spPr>
        <a:xfrm>
          <a:off x="0" y="1404503"/>
          <a:ext cx="4697730" cy="69966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2D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0C135C6-FE8A-BE49-940B-3952902C4556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construction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7AF33EE-8246-1640-918A-04C026E5F721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exact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8F41AF8-DC9D-D147-9429-813381004809}" type="parTrans" cxnId="{2DBF65B9-84FF-014C-A577-3F763CB58F0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B937EC3E-2A0F-9546-8371-801735BEB017}" type="sibTrans" cxnId="{2DBF65B9-84FF-014C-A577-3F763CB58F0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183D4B7E-BF14-F84C-A9C8-258541C19845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A6A73E43-B12A-024C-99E9-2A04E94F5060}" type="parTrans" cxnId="{86F64172-7463-B144-9F07-85C8E93F844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3DFE188-118B-B744-9621-7192254C588A}" type="sibTrans" cxnId="{86F64172-7463-B144-9F07-85C8E93F844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8A4824BF-77A1-6548-809E-9A3C0D0043EE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nearest neighbor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F4BB9780-7CE3-FA48-9111-C053004632C2}" type="parTrans" cxnId="{41F2FF14-439E-4D4F-8DFA-420EE5A005BF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B41458F2-1F46-1A4D-B306-6945A64D7967}" type="sibTrans" cxnId="{41F2FF14-439E-4D4F-8DFA-420EE5A005BF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8A43072-FD69-0140-96BE-1ECE3004433B}" type="pres">
      <dgm:prSet presAssocID="{8C98467B-A16D-46AB-89F9-E167C0071142}" presName="spacer" presStyleCnt="0"/>
      <dgm:spPr/>
    </dgm:pt>
    <dgm:pt modelId="{CAA1060A-F01D-234D-A5B5-15047FFE84C8}" type="pres">
      <dgm:prSet presAssocID="{CF2444AC-25A3-45AF-9E27-F062558913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0" presStyleCnt="2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1" presStyleCnt="2">
        <dgm:presLayoutVars>
          <dgm:bulletEnabled val="1"/>
        </dgm:presLayoutVars>
      </dgm:prSet>
      <dgm:spPr/>
    </dgm:pt>
    <dgm:pt modelId="{27CFC81F-1429-A241-BA29-F4FAC6F69A90}" type="pres">
      <dgm:prSet presAssocID="{63A81FF4-263D-41CB-9071-D127CED2C26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F2FF14-439E-4D4F-8DFA-420EE5A005BF}" srcId="{B3AC4ABD-3393-49E6-B22C-5258D54F3AA8}" destId="{8A4824BF-77A1-6548-809E-9A3C0D0043EE}" srcOrd="3" destOrd="0" parTransId="{F4BB9780-7CE3-FA48-9111-C053004632C2}" sibTransId="{B41458F2-1F46-1A4D-B306-6945A64D7967}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719F1736-D7FB-9445-9E64-090AD203A42D}" type="presOf" srcId="{8A4824BF-77A1-6548-809E-9A3C0D0043EE}" destId="{83C615D7-3F44-1542-8AB9-18060F3340FA}" srcOrd="0" destOrd="3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3010EB48-8A6D-0248-99B2-53F42F3C0834}" type="presOf" srcId="{47AF33EE-8246-1640-918A-04C026E5F721}" destId="{83C615D7-3F44-1542-8AB9-18060F3340FA}" srcOrd="0" destOrd="1" presId="urn:microsoft.com/office/officeart/2005/8/layout/vList2"/>
    <dgm:cxn modelId="{8A26E14A-4F73-0043-B69B-09A094E53290}" type="presOf" srcId="{183D4B7E-BF14-F84C-A9C8-258541C19845}" destId="{83C615D7-3F44-1542-8AB9-18060F3340FA}" srcOrd="0" destOrd="2" presId="urn:microsoft.com/office/officeart/2005/8/layout/vList2"/>
    <dgm:cxn modelId="{97BB4C4C-9569-9C46-819E-4A8976115266}" type="presOf" srcId="{AC918355-8F9B-4F09-B720-6574DA287041}" destId="{F36BEC44-DAC6-6343-85FD-985E84DAB391}" srcOrd="0" destOrd="0" presId="urn:microsoft.com/office/officeart/2005/8/layout/vList2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94026755-DE43-3D45-8C77-553F70E5063F}" type="presOf" srcId="{B3AC4ABD-3393-49E6-B22C-5258D54F3AA8}" destId="{0F9D7059-6B5A-324D-BBB2-FF4779936521}" srcOrd="0" destOrd="0" presId="urn:microsoft.com/office/officeart/2005/8/layout/vList2"/>
    <dgm:cxn modelId="{AE04DE58-AB13-B24A-8054-0BE537E20E42}" type="presOf" srcId="{CF2444AC-25A3-45AF-9E27-F0625589132F}" destId="{CAA1060A-F01D-234D-A5B5-15047FFE84C8}" srcOrd="0" destOrd="0" presId="urn:microsoft.com/office/officeart/2005/8/layout/vList2"/>
    <dgm:cxn modelId="{EF02EC68-3DE4-1743-9B23-8D19D086DB8D}" type="presOf" srcId="{2EEF85AF-4B87-C440-83AA-7A6F97371E15}" destId="{B3D4FF40-A116-F443-A12B-EBBDAC4C5921}" srcOrd="0" destOrd="1" presId="urn:microsoft.com/office/officeart/2005/8/layout/vList2"/>
    <dgm:cxn modelId="{86F64172-7463-B144-9F07-85C8E93F8446}" srcId="{B3AC4ABD-3393-49E6-B22C-5258D54F3AA8}" destId="{183D4B7E-BF14-F84C-A9C8-258541C19845}" srcOrd="2" destOrd="0" parTransId="{A6A73E43-B12A-024C-99E9-2A04E94F5060}" sibTransId="{43DFE188-118B-B744-9621-7192254C588A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2E262F90-040E-8D46-BA08-C21F1F4A5CD2}" type="presOf" srcId="{63A81FF4-263D-41CB-9071-D127CED2C26F}" destId="{27CFC81F-1429-A241-BA29-F4FAC6F69A90}" srcOrd="0" destOrd="0" presId="urn:microsoft.com/office/officeart/2005/8/layout/vList2"/>
    <dgm:cxn modelId="{8F394AA0-C6AF-0046-964D-825527C2CE57}" type="presOf" srcId="{40C135C6-FE8A-BE49-940B-3952902C4556}" destId="{83C615D7-3F44-1542-8AB9-18060F3340FA}" srcOrd="0" destOrd="0" presId="urn:microsoft.com/office/officeart/2005/8/layout/vList2"/>
    <dgm:cxn modelId="{FF429AB5-D8A5-450C-949E-C5993CDA6CF8}" srcId="{CD4C4DF3-CDA3-4C1A-BA09-6F2AA9088C98}" destId="{63A81FF4-263D-41CB-9071-D127CED2C26F}" srcOrd="3" destOrd="0" parTransId="{871569B9-983E-4147-A2C2-AEAE4B538B9F}" sibTransId="{6204F9E9-B966-4ED3-9620-B8AD2FA0992D}"/>
    <dgm:cxn modelId="{2DBF65B9-84FF-014C-A577-3F763CB58F06}" srcId="{B3AC4ABD-3393-49E6-B22C-5258D54F3AA8}" destId="{47AF33EE-8246-1640-918A-04C026E5F721}" srcOrd="1" destOrd="0" parTransId="{88F41AF8-DC9D-D147-9429-813381004809}" sibTransId="{B937EC3E-2A0F-9546-8371-801735BEB017}"/>
    <dgm:cxn modelId="{20AAC4C0-0D10-49F9-94CC-7F9A98CD0892}" srcId="{CD4C4DF3-CDA3-4C1A-BA09-6F2AA9088C98}" destId="{B3AC4ABD-3393-49E6-B22C-5258D54F3AA8}" srcOrd="2" destOrd="0" parTransId="{217CAF8E-9194-4CEE-B13D-4E63A1D5BC08}" sibTransId="{7625B602-CC8D-40F6-A946-15E9FF8A917C}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72DD3FDF-998E-ED40-B203-A8A842484DE5}" type="presOf" srcId="{82BF780E-35C8-5244-A178-392312345216}" destId="{B3D4FF40-A116-F443-A12B-EBBDAC4C5921}" srcOrd="0" destOrd="0" presId="urn:microsoft.com/office/officeart/2005/8/layout/vList2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7F7FB686-798E-5342-8DDD-4603B2ACB674}" type="presParOf" srcId="{E3F036DE-6942-EB4D-9A0C-88DB77F2BE78}" destId="{F36BEC44-DAC6-6343-85FD-985E84DAB391}" srcOrd="0" destOrd="0" presId="urn:microsoft.com/office/officeart/2005/8/layout/vList2"/>
    <dgm:cxn modelId="{CD3E64ED-3C03-594F-B0CB-27FC002932A0}" type="presParOf" srcId="{E3F036DE-6942-EB4D-9A0C-88DB77F2BE78}" destId="{68A43072-FD69-0140-96BE-1ECE3004433B}" srcOrd="1" destOrd="0" presId="urn:microsoft.com/office/officeart/2005/8/layout/vList2"/>
    <dgm:cxn modelId="{96D9C9FF-32FB-594B-8360-12EE92A92ECF}" type="presParOf" srcId="{E3F036DE-6942-EB4D-9A0C-88DB77F2BE78}" destId="{CAA1060A-F01D-234D-A5B5-15047FFE84C8}" srcOrd="2" destOrd="0" presId="urn:microsoft.com/office/officeart/2005/8/layout/vList2"/>
    <dgm:cxn modelId="{C0EF9506-2B4B-504D-A865-7EABDA17FD3E}" type="presParOf" srcId="{E3F036DE-6942-EB4D-9A0C-88DB77F2BE78}" destId="{B3D4FF40-A116-F443-A12B-EBBDAC4C5921}" srcOrd="3" destOrd="0" presId="urn:microsoft.com/office/officeart/2005/8/layout/vList2"/>
    <dgm:cxn modelId="{F24A70AF-72BE-1A4B-8A66-AC0BEE70CF99}" type="presParOf" srcId="{E3F036DE-6942-EB4D-9A0C-88DB77F2BE78}" destId="{0F9D7059-6B5A-324D-BBB2-FF4779936521}" srcOrd="4" destOrd="0" presId="urn:microsoft.com/office/officeart/2005/8/layout/vList2"/>
    <dgm:cxn modelId="{57B4991A-609D-CF41-A841-D93D8C018ABF}" type="presParOf" srcId="{E3F036DE-6942-EB4D-9A0C-88DB77F2BE78}" destId="{83C615D7-3F44-1542-8AB9-18060F3340FA}" srcOrd="5" destOrd="0" presId="urn:microsoft.com/office/officeart/2005/8/layout/vList2"/>
    <dgm:cxn modelId="{EE4C89DF-76AF-9D40-9263-B3BC0F2F9F8D}" type="presParOf" srcId="{E3F036DE-6942-EB4D-9A0C-88DB77F2BE78}" destId="{27CFC81F-1429-A241-BA29-F4FAC6F69A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>
        <a:xfrm>
          <a:off x="0" y="82403"/>
          <a:ext cx="4697730" cy="623610"/>
        </a:xfrm>
        <a:prstGeom prst="roundRect">
          <a:avLst/>
        </a:prstGeom>
        <a:solidFill>
          <a:srgbClr val="8AB833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</a:t>
          </a:r>
          <a:r>
            <a:rPr lang="en-US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of Queries 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F2444AC-25A3-45AF-9E27-F0625589132F}">
      <dgm:prSet/>
      <dgm:spPr>
        <a:xfrm>
          <a:off x="0" y="780893"/>
          <a:ext cx="4697730" cy="623610"/>
        </a:xfrm>
        <a:prstGeom prst="roundRect">
          <a:avLst/>
        </a:prstGeom>
        <a:solidFill>
          <a:srgbClr val="8AB833">
            <a:hueOff val="-220674"/>
            <a:satOff val="1055"/>
            <a:lumOff val="147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Range</a:t>
          </a:r>
          <a:r>
            <a:rPr lang="en-US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Tree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3AC4ABD-3393-49E6-B22C-5258D54F3AA8}">
      <dgm:prSet/>
      <dgm:spPr>
        <a:xfrm>
          <a:off x="0" y="2104163"/>
          <a:ext cx="4697730" cy="623610"/>
        </a:xfrm>
        <a:prstGeom prst="roundRect">
          <a:avLst/>
        </a:prstGeom>
        <a:solidFill>
          <a:srgbClr val="8AB833">
            <a:hueOff val="-441348"/>
            <a:satOff val="2109"/>
            <a:lumOff val="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K-D Tree</a:t>
          </a: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3A81FF4-263D-41CB-9071-D127CED2C26F}">
      <dgm:prSet/>
      <dgm:spPr>
        <a:xfrm>
          <a:off x="0" y="4100184"/>
          <a:ext cx="4697730" cy="623610"/>
        </a:xfrm>
        <a:prstGeom prst="roundRect">
          <a:avLst/>
        </a:prstGeom>
        <a:solidFill>
          <a:srgbClr val="8AB833">
            <a:hueOff val="-662022"/>
            <a:satOff val="3164"/>
            <a:lumOff val="441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Quad Trees</a:t>
          </a: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2BF780E-35C8-5244-A178-392312345216}">
      <dgm:prSet/>
      <dgm:spPr>
        <a:xfrm>
          <a:off x="0" y="1404503"/>
          <a:ext cx="4697730" cy="69966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1D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2EEF85AF-4B87-C440-83AA-7A6F97371E15}">
      <dgm:prSet/>
      <dgm:spPr>
        <a:xfrm>
          <a:off x="0" y="1404503"/>
          <a:ext cx="4697730" cy="69966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2D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0C135C6-FE8A-BE49-940B-3952902C4556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construction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7AF33EE-8246-1640-918A-04C026E5F721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exact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8F41AF8-DC9D-D147-9429-813381004809}" type="parTrans" cxnId="{2DBF65B9-84FF-014C-A577-3F763CB58F0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B937EC3E-2A0F-9546-8371-801735BEB017}" type="sibTrans" cxnId="{2DBF65B9-84FF-014C-A577-3F763CB58F0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183D4B7E-BF14-F84C-A9C8-258541C19845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A6A73E43-B12A-024C-99E9-2A04E94F5060}" type="parTrans" cxnId="{86F64172-7463-B144-9F07-85C8E93F844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3DFE188-118B-B744-9621-7192254C588A}" type="sibTrans" cxnId="{86F64172-7463-B144-9F07-85C8E93F844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8A4824BF-77A1-6548-809E-9A3C0D0043EE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nearest neighbor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F4BB9780-7CE3-FA48-9111-C053004632C2}" type="parTrans" cxnId="{41F2FF14-439E-4D4F-8DFA-420EE5A005BF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B41458F2-1F46-1A4D-B306-6945A64D7967}" type="sibTrans" cxnId="{41F2FF14-439E-4D4F-8DFA-420EE5A005BF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8A43072-FD69-0140-96BE-1ECE3004433B}" type="pres">
      <dgm:prSet presAssocID="{8C98467B-A16D-46AB-89F9-E167C0071142}" presName="spacer" presStyleCnt="0"/>
      <dgm:spPr/>
    </dgm:pt>
    <dgm:pt modelId="{CAA1060A-F01D-234D-A5B5-15047FFE84C8}" type="pres">
      <dgm:prSet presAssocID="{CF2444AC-25A3-45AF-9E27-F062558913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0" presStyleCnt="2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1" presStyleCnt="2">
        <dgm:presLayoutVars>
          <dgm:bulletEnabled val="1"/>
        </dgm:presLayoutVars>
      </dgm:prSet>
      <dgm:spPr/>
    </dgm:pt>
    <dgm:pt modelId="{27CFC81F-1429-A241-BA29-F4FAC6F69A90}" type="pres">
      <dgm:prSet presAssocID="{63A81FF4-263D-41CB-9071-D127CED2C26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F2FF14-439E-4D4F-8DFA-420EE5A005BF}" srcId="{B3AC4ABD-3393-49E6-B22C-5258D54F3AA8}" destId="{8A4824BF-77A1-6548-809E-9A3C0D0043EE}" srcOrd="3" destOrd="0" parTransId="{F4BB9780-7CE3-FA48-9111-C053004632C2}" sibTransId="{B41458F2-1F46-1A4D-B306-6945A64D7967}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719F1736-D7FB-9445-9E64-090AD203A42D}" type="presOf" srcId="{8A4824BF-77A1-6548-809E-9A3C0D0043EE}" destId="{83C615D7-3F44-1542-8AB9-18060F3340FA}" srcOrd="0" destOrd="3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3010EB48-8A6D-0248-99B2-53F42F3C0834}" type="presOf" srcId="{47AF33EE-8246-1640-918A-04C026E5F721}" destId="{83C615D7-3F44-1542-8AB9-18060F3340FA}" srcOrd="0" destOrd="1" presId="urn:microsoft.com/office/officeart/2005/8/layout/vList2"/>
    <dgm:cxn modelId="{8A26E14A-4F73-0043-B69B-09A094E53290}" type="presOf" srcId="{183D4B7E-BF14-F84C-A9C8-258541C19845}" destId="{83C615D7-3F44-1542-8AB9-18060F3340FA}" srcOrd="0" destOrd="2" presId="urn:microsoft.com/office/officeart/2005/8/layout/vList2"/>
    <dgm:cxn modelId="{97BB4C4C-9569-9C46-819E-4A8976115266}" type="presOf" srcId="{AC918355-8F9B-4F09-B720-6574DA287041}" destId="{F36BEC44-DAC6-6343-85FD-985E84DAB391}" srcOrd="0" destOrd="0" presId="urn:microsoft.com/office/officeart/2005/8/layout/vList2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94026755-DE43-3D45-8C77-553F70E5063F}" type="presOf" srcId="{B3AC4ABD-3393-49E6-B22C-5258D54F3AA8}" destId="{0F9D7059-6B5A-324D-BBB2-FF4779936521}" srcOrd="0" destOrd="0" presId="urn:microsoft.com/office/officeart/2005/8/layout/vList2"/>
    <dgm:cxn modelId="{AE04DE58-AB13-B24A-8054-0BE537E20E42}" type="presOf" srcId="{CF2444AC-25A3-45AF-9E27-F0625589132F}" destId="{CAA1060A-F01D-234D-A5B5-15047FFE84C8}" srcOrd="0" destOrd="0" presId="urn:microsoft.com/office/officeart/2005/8/layout/vList2"/>
    <dgm:cxn modelId="{EF02EC68-3DE4-1743-9B23-8D19D086DB8D}" type="presOf" srcId="{2EEF85AF-4B87-C440-83AA-7A6F97371E15}" destId="{B3D4FF40-A116-F443-A12B-EBBDAC4C5921}" srcOrd="0" destOrd="1" presId="urn:microsoft.com/office/officeart/2005/8/layout/vList2"/>
    <dgm:cxn modelId="{86F64172-7463-B144-9F07-85C8E93F8446}" srcId="{B3AC4ABD-3393-49E6-B22C-5258D54F3AA8}" destId="{183D4B7E-BF14-F84C-A9C8-258541C19845}" srcOrd="2" destOrd="0" parTransId="{A6A73E43-B12A-024C-99E9-2A04E94F5060}" sibTransId="{43DFE188-118B-B744-9621-7192254C588A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2E262F90-040E-8D46-BA08-C21F1F4A5CD2}" type="presOf" srcId="{63A81FF4-263D-41CB-9071-D127CED2C26F}" destId="{27CFC81F-1429-A241-BA29-F4FAC6F69A90}" srcOrd="0" destOrd="0" presId="urn:microsoft.com/office/officeart/2005/8/layout/vList2"/>
    <dgm:cxn modelId="{8F394AA0-C6AF-0046-964D-825527C2CE57}" type="presOf" srcId="{40C135C6-FE8A-BE49-940B-3952902C4556}" destId="{83C615D7-3F44-1542-8AB9-18060F3340FA}" srcOrd="0" destOrd="0" presId="urn:microsoft.com/office/officeart/2005/8/layout/vList2"/>
    <dgm:cxn modelId="{FF429AB5-D8A5-450C-949E-C5993CDA6CF8}" srcId="{CD4C4DF3-CDA3-4C1A-BA09-6F2AA9088C98}" destId="{63A81FF4-263D-41CB-9071-D127CED2C26F}" srcOrd="3" destOrd="0" parTransId="{871569B9-983E-4147-A2C2-AEAE4B538B9F}" sibTransId="{6204F9E9-B966-4ED3-9620-B8AD2FA0992D}"/>
    <dgm:cxn modelId="{2DBF65B9-84FF-014C-A577-3F763CB58F06}" srcId="{B3AC4ABD-3393-49E6-B22C-5258D54F3AA8}" destId="{47AF33EE-8246-1640-918A-04C026E5F721}" srcOrd="1" destOrd="0" parTransId="{88F41AF8-DC9D-D147-9429-813381004809}" sibTransId="{B937EC3E-2A0F-9546-8371-801735BEB017}"/>
    <dgm:cxn modelId="{20AAC4C0-0D10-49F9-94CC-7F9A98CD0892}" srcId="{CD4C4DF3-CDA3-4C1A-BA09-6F2AA9088C98}" destId="{B3AC4ABD-3393-49E6-B22C-5258D54F3AA8}" srcOrd="2" destOrd="0" parTransId="{217CAF8E-9194-4CEE-B13D-4E63A1D5BC08}" sibTransId="{7625B602-CC8D-40F6-A946-15E9FF8A917C}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72DD3FDF-998E-ED40-B203-A8A842484DE5}" type="presOf" srcId="{82BF780E-35C8-5244-A178-392312345216}" destId="{B3D4FF40-A116-F443-A12B-EBBDAC4C5921}" srcOrd="0" destOrd="0" presId="urn:microsoft.com/office/officeart/2005/8/layout/vList2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7F7FB686-798E-5342-8DDD-4603B2ACB674}" type="presParOf" srcId="{E3F036DE-6942-EB4D-9A0C-88DB77F2BE78}" destId="{F36BEC44-DAC6-6343-85FD-985E84DAB391}" srcOrd="0" destOrd="0" presId="urn:microsoft.com/office/officeart/2005/8/layout/vList2"/>
    <dgm:cxn modelId="{CD3E64ED-3C03-594F-B0CB-27FC002932A0}" type="presParOf" srcId="{E3F036DE-6942-EB4D-9A0C-88DB77F2BE78}" destId="{68A43072-FD69-0140-96BE-1ECE3004433B}" srcOrd="1" destOrd="0" presId="urn:microsoft.com/office/officeart/2005/8/layout/vList2"/>
    <dgm:cxn modelId="{96D9C9FF-32FB-594B-8360-12EE92A92ECF}" type="presParOf" srcId="{E3F036DE-6942-EB4D-9A0C-88DB77F2BE78}" destId="{CAA1060A-F01D-234D-A5B5-15047FFE84C8}" srcOrd="2" destOrd="0" presId="urn:microsoft.com/office/officeart/2005/8/layout/vList2"/>
    <dgm:cxn modelId="{C0EF9506-2B4B-504D-A865-7EABDA17FD3E}" type="presParOf" srcId="{E3F036DE-6942-EB4D-9A0C-88DB77F2BE78}" destId="{B3D4FF40-A116-F443-A12B-EBBDAC4C5921}" srcOrd="3" destOrd="0" presId="urn:microsoft.com/office/officeart/2005/8/layout/vList2"/>
    <dgm:cxn modelId="{F24A70AF-72BE-1A4B-8A66-AC0BEE70CF99}" type="presParOf" srcId="{E3F036DE-6942-EB4D-9A0C-88DB77F2BE78}" destId="{0F9D7059-6B5A-324D-BBB2-FF4779936521}" srcOrd="4" destOrd="0" presId="urn:microsoft.com/office/officeart/2005/8/layout/vList2"/>
    <dgm:cxn modelId="{57B4991A-609D-CF41-A841-D93D8C018ABF}" type="presParOf" srcId="{E3F036DE-6942-EB4D-9A0C-88DB77F2BE78}" destId="{83C615D7-3F44-1542-8AB9-18060F3340FA}" srcOrd="5" destOrd="0" presId="urn:microsoft.com/office/officeart/2005/8/layout/vList2"/>
    <dgm:cxn modelId="{EE4C89DF-76AF-9D40-9263-B3BC0F2F9F8D}" type="presParOf" srcId="{E3F036DE-6942-EB4D-9A0C-88DB77F2BE78}" destId="{27CFC81F-1429-A241-BA29-F4FAC6F69A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>
        <a:xfrm>
          <a:off x="0" y="82403"/>
          <a:ext cx="4697730" cy="623610"/>
        </a:xfrm>
        <a:prstGeom prst="roundRect">
          <a:avLst/>
        </a:prstGeom>
        <a:solidFill>
          <a:srgbClr val="8AB833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</a:t>
          </a:r>
          <a:r>
            <a:rPr lang="en-US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of Queries 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F2444AC-25A3-45AF-9E27-F0625589132F}">
      <dgm:prSet/>
      <dgm:spPr>
        <a:xfrm>
          <a:off x="0" y="780893"/>
          <a:ext cx="4697730" cy="623610"/>
        </a:xfrm>
        <a:prstGeom prst="roundRect">
          <a:avLst/>
        </a:prstGeom>
        <a:solidFill>
          <a:srgbClr val="8AB833">
            <a:hueOff val="-220674"/>
            <a:satOff val="1055"/>
            <a:lumOff val="147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Range</a:t>
          </a:r>
          <a:r>
            <a:rPr lang="en-US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Tree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3AC4ABD-3393-49E6-B22C-5258D54F3AA8}">
      <dgm:prSet/>
      <dgm:spPr>
        <a:xfrm>
          <a:off x="0" y="2104163"/>
          <a:ext cx="4697730" cy="623610"/>
        </a:xfrm>
        <a:prstGeom prst="roundRect">
          <a:avLst/>
        </a:prstGeom>
        <a:solidFill>
          <a:srgbClr val="8AB833">
            <a:hueOff val="-441348"/>
            <a:satOff val="2109"/>
            <a:lumOff val="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K-D Tree</a:t>
          </a: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3A81FF4-263D-41CB-9071-D127CED2C26F}">
      <dgm:prSet/>
      <dgm:spPr>
        <a:xfrm>
          <a:off x="0" y="4100184"/>
          <a:ext cx="4697730" cy="623610"/>
        </a:xfrm>
        <a:prstGeom prst="roundRect">
          <a:avLst/>
        </a:prstGeom>
        <a:solidFill>
          <a:srgbClr val="8AB833">
            <a:hueOff val="-662022"/>
            <a:satOff val="3164"/>
            <a:lumOff val="441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Quad Trees</a:t>
          </a: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2BF780E-35C8-5244-A178-392312345216}">
      <dgm:prSet/>
      <dgm:spPr>
        <a:xfrm>
          <a:off x="0" y="1404503"/>
          <a:ext cx="4697730" cy="69966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1D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2EEF85AF-4B87-C440-83AA-7A6F97371E15}">
      <dgm:prSet/>
      <dgm:spPr>
        <a:xfrm>
          <a:off x="0" y="1404503"/>
          <a:ext cx="4697730" cy="69966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2D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0C135C6-FE8A-BE49-940B-3952902C4556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construction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7AF33EE-8246-1640-918A-04C026E5F721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exact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8F41AF8-DC9D-D147-9429-813381004809}" type="parTrans" cxnId="{2DBF65B9-84FF-014C-A577-3F763CB58F0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B937EC3E-2A0F-9546-8371-801735BEB017}" type="sibTrans" cxnId="{2DBF65B9-84FF-014C-A577-3F763CB58F0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183D4B7E-BF14-F84C-A9C8-258541C19845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A6A73E43-B12A-024C-99E9-2A04E94F5060}" type="parTrans" cxnId="{86F64172-7463-B144-9F07-85C8E93F844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3DFE188-118B-B744-9621-7192254C588A}" type="sibTrans" cxnId="{86F64172-7463-B144-9F07-85C8E93F844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8A4824BF-77A1-6548-809E-9A3C0D0043EE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nearest neighbor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F4BB9780-7CE3-FA48-9111-C053004632C2}" type="parTrans" cxnId="{41F2FF14-439E-4D4F-8DFA-420EE5A005BF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B41458F2-1F46-1A4D-B306-6945A64D7967}" type="sibTrans" cxnId="{41F2FF14-439E-4D4F-8DFA-420EE5A005BF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8A43072-FD69-0140-96BE-1ECE3004433B}" type="pres">
      <dgm:prSet presAssocID="{8C98467B-A16D-46AB-89F9-E167C0071142}" presName="spacer" presStyleCnt="0"/>
      <dgm:spPr/>
    </dgm:pt>
    <dgm:pt modelId="{CAA1060A-F01D-234D-A5B5-15047FFE84C8}" type="pres">
      <dgm:prSet presAssocID="{CF2444AC-25A3-45AF-9E27-F062558913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0" presStyleCnt="2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1" presStyleCnt="2">
        <dgm:presLayoutVars>
          <dgm:bulletEnabled val="1"/>
        </dgm:presLayoutVars>
      </dgm:prSet>
      <dgm:spPr/>
    </dgm:pt>
    <dgm:pt modelId="{27CFC81F-1429-A241-BA29-F4FAC6F69A90}" type="pres">
      <dgm:prSet presAssocID="{63A81FF4-263D-41CB-9071-D127CED2C26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F2FF14-439E-4D4F-8DFA-420EE5A005BF}" srcId="{B3AC4ABD-3393-49E6-B22C-5258D54F3AA8}" destId="{8A4824BF-77A1-6548-809E-9A3C0D0043EE}" srcOrd="3" destOrd="0" parTransId="{F4BB9780-7CE3-FA48-9111-C053004632C2}" sibTransId="{B41458F2-1F46-1A4D-B306-6945A64D7967}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719F1736-D7FB-9445-9E64-090AD203A42D}" type="presOf" srcId="{8A4824BF-77A1-6548-809E-9A3C0D0043EE}" destId="{83C615D7-3F44-1542-8AB9-18060F3340FA}" srcOrd="0" destOrd="3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3010EB48-8A6D-0248-99B2-53F42F3C0834}" type="presOf" srcId="{47AF33EE-8246-1640-918A-04C026E5F721}" destId="{83C615D7-3F44-1542-8AB9-18060F3340FA}" srcOrd="0" destOrd="1" presId="urn:microsoft.com/office/officeart/2005/8/layout/vList2"/>
    <dgm:cxn modelId="{8A26E14A-4F73-0043-B69B-09A094E53290}" type="presOf" srcId="{183D4B7E-BF14-F84C-A9C8-258541C19845}" destId="{83C615D7-3F44-1542-8AB9-18060F3340FA}" srcOrd="0" destOrd="2" presId="urn:microsoft.com/office/officeart/2005/8/layout/vList2"/>
    <dgm:cxn modelId="{97BB4C4C-9569-9C46-819E-4A8976115266}" type="presOf" srcId="{AC918355-8F9B-4F09-B720-6574DA287041}" destId="{F36BEC44-DAC6-6343-85FD-985E84DAB391}" srcOrd="0" destOrd="0" presId="urn:microsoft.com/office/officeart/2005/8/layout/vList2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94026755-DE43-3D45-8C77-553F70E5063F}" type="presOf" srcId="{B3AC4ABD-3393-49E6-B22C-5258D54F3AA8}" destId="{0F9D7059-6B5A-324D-BBB2-FF4779936521}" srcOrd="0" destOrd="0" presId="urn:microsoft.com/office/officeart/2005/8/layout/vList2"/>
    <dgm:cxn modelId="{AE04DE58-AB13-B24A-8054-0BE537E20E42}" type="presOf" srcId="{CF2444AC-25A3-45AF-9E27-F0625589132F}" destId="{CAA1060A-F01D-234D-A5B5-15047FFE84C8}" srcOrd="0" destOrd="0" presId="urn:microsoft.com/office/officeart/2005/8/layout/vList2"/>
    <dgm:cxn modelId="{EF02EC68-3DE4-1743-9B23-8D19D086DB8D}" type="presOf" srcId="{2EEF85AF-4B87-C440-83AA-7A6F97371E15}" destId="{B3D4FF40-A116-F443-A12B-EBBDAC4C5921}" srcOrd="0" destOrd="1" presId="urn:microsoft.com/office/officeart/2005/8/layout/vList2"/>
    <dgm:cxn modelId="{86F64172-7463-B144-9F07-85C8E93F8446}" srcId="{B3AC4ABD-3393-49E6-B22C-5258D54F3AA8}" destId="{183D4B7E-BF14-F84C-A9C8-258541C19845}" srcOrd="2" destOrd="0" parTransId="{A6A73E43-B12A-024C-99E9-2A04E94F5060}" sibTransId="{43DFE188-118B-B744-9621-7192254C588A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2E262F90-040E-8D46-BA08-C21F1F4A5CD2}" type="presOf" srcId="{63A81FF4-263D-41CB-9071-D127CED2C26F}" destId="{27CFC81F-1429-A241-BA29-F4FAC6F69A90}" srcOrd="0" destOrd="0" presId="urn:microsoft.com/office/officeart/2005/8/layout/vList2"/>
    <dgm:cxn modelId="{8F394AA0-C6AF-0046-964D-825527C2CE57}" type="presOf" srcId="{40C135C6-FE8A-BE49-940B-3952902C4556}" destId="{83C615D7-3F44-1542-8AB9-18060F3340FA}" srcOrd="0" destOrd="0" presId="urn:microsoft.com/office/officeart/2005/8/layout/vList2"/>
    <dgm:cxn modelId="{FF429AB5-D8A5-450C-949E-C5993CDA6CF8}" srcId="{CD4C4DF3-CDA3-4C1A-BA09-6F2AA9088C98}" destId="{63A81FF4-263D-41CB-9071-D127CED2C26F}" srcOrd="3" destOrd="0" parTransId="{871569B9-983E-4147-A2C2-AEAE4B538B9F}" sibTransId="{6204F9E9-B966-4ED3-9620-B8AD2FA0992D}"/>
    <dgm:cxn modelId="{2DBF65B9-84FF-014C-A577-3F763CB58F06}" srcId="{B3AC4ABD-3393-49E6-B22C-5258D54F3AA8}" destId="{47AF33EE-8246-1640-918A-04C026E5F721}" srcOrd="1" destOrd="0" parTransId="{88F41AF8-DC9D-D147-9429-813381004809}" sibTransId="{B937EC3E-2A0F-9546-8371-801735BEB017}"/>
    <dgm:cxn modelId="{20AAC4C0-0D10-49F9-94CC-7F9A98CD0892}" srcId="{CD4C4DF3-CDA3-4C1A-BA09-6F2AA9088C98}" destId="{B3AC4ABD-3393-49E6-B22C-5258D54F3AA8}" srcOrd="2" destOrd="0" parTransId="{217CAF8E-9194-4CEE-B13D-4E63A1D5BC08}" sibTransId="{7625B602-CC8D-40F6-A946-15E9FF8A917C}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72DD3FDF-998E-ED40-B203-A8A842484DE5}" type="presOf" srcId="{82BF780E-35C8-5244-A178-392312345216}" destId="{B3D4FF40-A116-F443-A12B-EBBDAC4C5921}" srcOrd="0" destOrd="0" presId="urn:microsoft.com/office/officeart/2005/8/layout/vList2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7F7FB686-798E-5342-8DDD-4603B2ACB674}" type="presParOf" srcId="{E3F036DE-6942-EB4D-9A0C-88DB77F2BE78}" destId="{F36BEC44-DAC6-6343-85FD-985E84DAB391}" srcOrd="0" destOrd="0" presId="urn:microsoft.com/office/officeart/2005/8/layout/vList2"/>
    <dgm:cxn modelId="{CD3E64ED-3C03-594F-B0CB-27FC002932A0}" type="presParOf" srcId="{E3F036DE-6942-EB4D-9A0C-88DB77F2BE78}" destId="{68A43072-FD69-0140-96BE-1ECE3004433B}" srcOrd="1" destOrd="0" presId="urn:microsoft.com/office/officeart/2005/8/layout/vList2"/>
    <dgm:cxn modelId="{96D9C9FF-32FB-594B-8360-12EE92A92ECF}" type="presParOf" srcId="{E3F036DE-6942-EB4D-9A0C-88DB77F2BE78}" destId="{CAA1060A-F01D-234D-A5B5-15047FFE84C8}" srcOrd="2" destOrd="0" presId="urn:microsoft.com/office/officeart/2005/8/layout/vList2"/>
    <dgm:cxn modelId="{C0EF9506-2B4B-504D-A865-7EABDA17FD3E}" type="presParOf" srcId="{E3F036DE-6942-EB4D-9A0C-88DB77F2BE78}" destId="{B3D4FF40-A116-F443-A12B-EBBDAC4C5921}" srcOrd="3" destOrd="0" presId="urn:microsoft.com/office/officeart/2005/8/layout/vList2"/>
    <dgm:cxn modelId="{F24A70AF-72BE-1A4B-8A66-AC0BEE70CF99}" type="presParOf" srcId="{E3F036DE-6942-EB4D-9A0C-88DB77F2BE78}" destId="{0F9D7059-6B5A-324D-BBB2-FF4779936521}" srcOrd="4" destOrd="0" presId="urn:microsoft.com/office/officeart/2005/8/layout/vList2"/>
    <dgm:cxn modelId="{57B4991A-609D-CF41-A841-D93D8C018ABF}" type="presParOf" srcId="{E3F036DE-6942-EB4D-9A0C-88DB77F2BE78}" destId="{83C615D7-3F44-1542-8AB9-18060F3340FA}" srcOrd="5" destOrd="0" presId="urn:microsoft.com/office/officeart/2005/8/layout/vList2"/>
    <dgm:cxn modelId="{EE4C89DF-76AF-9D40-9263-B3BC0F2F9F8D}" type="presParOf" srcId="{E3F036DE-6942-EB4D-9A0C-88DB77F2BE78}" destId="{27CFC81F-1429-A241-BA29-F4FAC6F69A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>
        <a:xfrm>
          <a:off x="0" y="82403"/>
          <a:ext cx="4697730" cy="623610"/>
        </a:xfrm>
        <a:prstGeom prst="roundRect">
          <a:avLst/>
        </a:prstGeom>
        <a:solidFill>
          <a:srgbClr val="8AB833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</a:t>
          </a:r>
          <a:r>
            <a:rPr lang="en-US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of Queries 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F2444AC-25A3-45AF-9E27-F0625589132F}">
      <dgm:prSet/>
      <dgm:spPr>
        <a:xfrm>
          <a:off x="0" y="780893"/>
          <a:ext cx="4697730" cy="623610"/>
        </a:xfrm>
        <a:prstGeom prst="roundRect">
          <a:avLst/>
        </a:prstGeom>
        <a:solidFill>
          <a:srgbClr val="8AB833">
            <a:hueOff val="-220674"/>
            <a:satOff val="1055"/>
            <a:lumOff val="147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Range</a:t>
          </a:r>
          <a:r>
            <a:rPr lang="en-US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Tree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3AC4ABD-3393-49E6-B22C-5258D54F3AA8}">
      <dgm:prSet/>
      <dgm:spPr>
        <a:xfrm>
          <a:off x="0" y="2104163"/>
          <a:ext cx="4697730" cy="623610"/>
        </a:xfrm>
        <a:prstGeom prst="roundRect">
          <a:avLst/>
        </a:prstGeom>
        <a:solidFill>
          <a:srgbClr val="8AB833">
            <a:hueOff val="-441348"/>
            <a:satOff val="2109"/>
            <a:lumOff val="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K-D Tree</a:t>
          </a: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3A81FF4-263D-41CB-9071-D127CED2C26F}">
      <dgm:prSet/>
      <dgm:spPr>
        <a:xfrm>
          <a:off x="0" y="4100184"/>
          <a:ext cx="4697730" cy="623610"/>
        </a:xfrm>
        <a:prstGeom prst="roundRect">
          <a:avLst/>
        </a:prstGeom>
        <a:solidFill>
          <a:srgbClr val="8AB833">
            <a:hueOff val="-662022"/>
            <a:satOff val="3164"/>
            <a:lumOff val="441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Quad Trees</a:t>
          </a: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2BF780E-35C8-5244-A178-392312345216}">
      <dgm:prSet/>
      <dgm:spPr>
        <a:xfrm>
          <a:off x="0" y="1404503"/>
          <a:ext cx="4697730" cy="69966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1D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2EEF85AF-4B87-C440-83AA-7A6F97371E15}">
      <dgm:prSet/>
      <dgm:spPr>
        <a:xfrm>
          <a:off x="0" y="1404503"/>
          <a:ext cx="4697730" cy="69966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2D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0C135C6-FE8A-BE49-940B-3952902C4556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construction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7AF33EE-8246-1640-918A-04C026E5F721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exact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8F41AF8-DC9D-D147-9429-813381004809}" type="parTrans" cxnId="{2DBF65B9-84FF-014C-A577-3F763CB58F0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B937EC3E-2A0F-9546-8371-801735BEB017}" type="sibTrans" cxnId="{2DBF65B9-84FF-014C-A577-3F763CB58F0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183D4B7E-BF14-F84C-A9C8-258541C19845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range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A6A73E43-B12A-024C-99E9-2A04E94F5060}" type="parTrans" cxnId="{86F64172-7463-B144-9F07-85C8E93F844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43DFE188-118B-B744-9621-7192254C588A}" type="sibTrans" cxnId="{86F64172-7463-B144-9F07-85C8E93F8446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8A4824BF-77A1-6548-809E-9A3C0D0043EE}">
      <dgm:prSet/>
      <dgm:spPr>
        <a:xfrm>
          <a:off x="0" y="2727773"/>
          <a:ext cx="4697730" cy="13724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altLang="zh-CN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nearest neighbor search</a:t>
          </a:r>
          <a:endParaRPr lang="zh-CN" alt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F4BB9780-7CE3-FA48-9111-C053004632C2}" type="parTrans" cxnId="{41F2FF14-439E-4D4F-8DFA-420EE5A005BF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B41458F2-1F46-1A4D-B306-6945A64D7967}" type="sibTrans" cxnId="{41F2FF14-439E-4D4F-8DFA-420EE5A005BF}">
      <dgm:prSet/>
      <dgm:spPr/>
      <dgm:t>
        <a:bodyPr/>
        <a:lstStyle/>
        <a:p>
          <a:endParaRPr lang="zh-CN" altLang="en-US">
            <a:latin typeface="+mn-lt"/>
          </a:endParaRPr>
        </a:p>
      </dgm:t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8A43072-FD69-0140-96BE-1ECE3004433B}" type="pres">
      <dgm:prSet presAssocID="{8C98467B-A16D-46AB-89F9-E167C0071142}" presName="spacer" presStyleCnt="0"/>
      <dgm:spPr/>
    </dgm:pt>
    <dgm:pt modelId="{CAA1060A-F01D-234D-A5B5-15047FFE84C8}" type="pres">
      <dgm:prSet presAssocID="{CF2444AC-25A3-45AF-9E27-F062558913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0" presStyleCnt="2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1" presStyleCnt="2">
        <dgm:presLayoutVars>
          <dgm:bulletEnabled val="1"/>
        </dgm:presLayoutVars>
      </dgm:prSet>
      <dgm:spPr/>
    </dgm:pt>
    <dgm:pt modelId="{27CFC81F-1429-A241-BA29-F4FAC6F69A90}" type="pres">
      <dgm:prSet presAssocID="{63A81FF4-263D-41CB-9071-D127CED2C26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F2FF14-439E-4D4F-8DFA-420EE5A005BF}" srcId="{B3AC4ABD-3393-49E6-B22C-5258D54F3AA8}" destId="{8A4824BF-77A1-6548-809E-9A3C0D0043EE}" srcOrd="3" destOrd="0" parTransId="{F4BB9780-7CE3-FA48-9111-C053004632C2}" sibTransId="{B41458F2-1F46-1A4D-B306-6945A64D7967}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719F1736-D7FB-9445-9E64-090AD203A42D}" type="presOf" srcId="{8A4824BF-77A1-6548-809E-9A3C0D0043EE}" destId="{83C615D7-3F44-1542-8AB9-18060F3340FA}" srcOrd="0" destOrd="3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3010EB48-8A6D-0248-99B2-53F42F3C0834}" type="presOf" srcId="{47AF33EE-8246-1640-918A-04C026E5F721}" destId="{83C615D7-3F44-1542-8AB9-18060F3340FA}" srcOrd="0" destOrd="1" presId="urn:microsoft.com/office/officeart/2005/8/layout/vList2"/>
    <dgm:cxn modelId="{8A26E14A-4F73-0043-B69B-09A094E53290}" type="presOf" srcId="{183D4B7E-BF14-F84C-A9C8-258541C19845}" destId="{83C615D7-3F44-1542-8AB9-18060F3340FA}" srcOrd="0" destOrd="2" presId="urn:microsoft.com/office/officeart/2005/8/layout/vList2"/>
    <dgm:cxn modelId="{97BB4C4C-9569-9C46-819E-4A8976115266}" type="presOf" srcId="{AC918355-8F9B-4F09-B720-6574DA287041}" destId="{F36BEC44-DAC6-6343-85FD-985E84DAB391}" srcOrd="0" destOrd="0" presId="urn:microsoft.com/office/officeart/2005/8/layout/vList2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94026755-DE43-3D45-8C77-553F70E5063F}" type="presOf" srcId="{B3AC4ABD-3393-49E6-B22C-5258D54F3AA8}" destId="{0F9D7059-6B5A-324D-BBB2-FF4779936521}" srcOrd="0" destOrd="0" presId="urn:microsoft.com/office/officeart/2005/8/layout/vList2"/>
    <dgm:cxn modelId="{AE04DE58-AB13-B24A-8054-0BE537E20E42}" type="presOf" srcId="{CF2444AC-25A3-45AF-9E27-F0625589132F}" destId="{CAA1060A-F01D-234D-A5B5-15047FFE84C8}" srcOrd="0" destOrd="0" presId="urn:microsoft.com/office/officeart/2005/8/layout/vList2"/>
    <dgm:cxn modelId="{EF02EC68-3DE4-1743-9B23-8D19D086DB8D}" type="presOf" srcId="{2EEF85AF-4B87-C440-83AA-7A6F97371E15}" destId="{B3D4FF40-A116-F443-A12B-EBBDAC4C5921}" srcOrd="0" destOrd="1" presId="urn:microsoft.com/office/officeart/2005/8/layout/vList2"/>
    <dgm:cxn modelId="{86F64172-7463-B144-9F07-85C8E93F8446}" srcId="{B3AC4ABD-3393-49E6-B22C-5258D54F3AA8}" destId="{183D4B7E-BF14-F84C-A9C8-258541C19845}" srcOrd="2" destOrd="0" parTransId="{A6A73E43-B12A-024C-99E9-2A04E94F5060}" sibTransId="{43DFE188-118B-B744-9621-7192254C588A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2E262F90-040E-8D46-BA08-C21F1F4A5CD2}" type="presOf" srcId="{63A81FF4-263D-41CB-9071-D127CED2C26F}" destId="{27CFC81F-1429-A241-BA29-F4FAC6F69A90}" srcOrd="0" destOrd="0" presId="urn:microsoft.com/office/officeart/2005/8/layout/vList2"/>
    <dgm:cxn modelId="{8F394AA0-C6AF-0046-964D-825527C2CE57}" type="presOf" srcId="{40C135C6-FE8A-BE49-940B-3952902C4556}" destId="{83C615D7-3F44-1542-8AB9-18060F3340FA}" srcOrd="0" destOrd="0" presId="urn:microsoft.com/office/officeart/2005/8/layout/vList2"/>
    <dgm:cxn modelId="{FF429AB5-D8A5-450C-949E-C5993CDA6CF8}" srcId="{CD4C4DF3-CDA3-4C1A-BA09-6F2AA9088C98}" destId="{63A81FF4-263D-41CB-9071-D127CED2C26F}" srcOrd="3" destOrd="0" parTransId="{871569B9-983E-4147-A2C2-AEAE4B538B9F}" sibTransId="{6204F9E9-B966-4ED3-9620-B8AD2FA0992D}"/>
    <dgm:cxn modelId="{2DBF65B9-84FF-014C-A577-3F763CB58F06}" srcId="{B3AC4ABD-3393-49E6-B22C-5258D54F3AA8}" destId="{47AF33EE-8246-1640-918A-04C026E5F721}" srcOrd="1" destOrd="0" parTransId="{88F41AF8-DC9D-D147-9429-813381004809}" sibTransId="{B937EC3E-2A0F-9546-8371-801735BEB017}"/>
    <dgm:cxn modelId="{20AAC4C0-0D10-49F9-94CC-7F9A98CD0892}" srcId="{CD4C4DF3-CDA3-4C1A-BA09-6F2AA9088C98}" destId="{B3AC4ABD-3393-49E6-B22C-5258D54F3AA8}" srcOrd="2" destOrd="0" parTransId="{217CAF8E-9194-4CEE-B13D-4E63A1D5BC08}" sibTransId="{7625B602-CC8D-40F6-A946-15E9FF8A917C}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72DD3FDF-998E-ED40-B203-A8A842484DE5}" type="presOf" srcId="{82BF780E-35C8-5244-A178-392312345216}" destId="{B3D4FF40-A116-F443-A12B-EBBDAC4C5921}" srcOrd="0" destOrd="0" presId="urn:microsoft.com/office/officeart/2005/8/layout/vList2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7F7FB686-798E-5342-8DDD-4603B2ACB674}" type="presParOf" srcId="{E3F036DE-6942-EB4D-9A0C-88DB77F2BE78}" destId="{F36BEC44-DAC6-6343-85FD-985E84DAB391}" srcOrd="0" destOrd="0" presId="urn:microsoft.com/office/officeart/2005/8/layout/vList2"/>
    <dgm:cxn modelId="{CD3E64ED-3C03-594F-B0CB-27FC002932A0}" type="presParOf" srcId="{E3F036DE-6942-EB4D-9A0C-88DB77F2BE78}" destId="{68A43072-FD69-0140-96BE-1ECE3004433B}" srcOrd="1" destOrd="0" presId="urn:microsoft.com/office/officeart/2005/8/layout/vList2"/>
    <dgm:cxn modelId="{96D9C9FF-32FB-594B-8360-12EE92A92ECF}" type="presParOf" srcId="{E3F036DE-6942-EB4D-9A0C-88DB77F2BE78}" destId="{CAA1060A-F01D-234D-A5B5-15047FFE84C8}" srcOrd="2" destOrd="0" presId="urn:microsoft.com/office/officeart/2005/8/layout/vList2"/>
    <dgm:cxn modelId="{C0EF9506-2B4B-504D-A865-7EABDA17FD3E}" type="presParOf" srcId="{E3F036DE-6942-EB4D-9A0C-88DB77F2BE78}" destId="{B3D4FF40-A116-F443-A12B-EBBDAC4C5921}" srcOrd="3" destOrd="0" presId="urn:microsoft.com/office/officeart/2005/8/layout/vList2"/>
    <dgm:cxn modelId="{F24A70AF-72BE-1A4B-8A66-AC0BEE70CF99}" type="presParOf" srcId="{E3F036DE-6942-EB4D-9A0C-88DB77F2BE78}" destId="{0F9D7059-6B5A-324D-BBB2-FF4779936521}" srcOrd="4" destOrd="0" presId="urn:microsoft.com/office/officeart/2005/8/layout/vList2"/>
    <dgm:cxn modelId="{57B4991A-609D-CF41-A841-D93D8C018ABF}" type="presParOf" srcId="{E3F036DE-6942-EB4D-9A0C-88DB77F2BE78}" destId="{83C615D7-3F44-1542-8AB9-18060F3340FA}" srcOrd="5" destOrd="0" presId="urn:microsoft.com/office/officeart/2005/8/layout/vList2"/>
    <dgm:cxn modelId="{EE4C89DF-76AF-9D40-9263-B3BC0F2F9F8D}" type="presParOf" srcId="{E3F036DE-6942-EB4D-9A0C-88DB77F2BE78}" destId="{27CFC81F-1429-A241-BA29-F4FAC6F69A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#2" loCatId="list" qsTypeId="urn:microsoft.com/office/officeart/2005/8/quickstyle/simple1#2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/>
      <dgm:t>
        <a:bodyPr/>
        <a:lstStyle/>
        <a:p>
          <a:r>
            <a:rPr lang="en-US" altLang="zh-CN" dirty="0"/>
            <a:t>Nearest</a:t>
          </a:r>
          <a:r>
            <a:rPr lang="zh-CN" altLang="en-US" dirty="0"/>
            <a:t> </a:t>
          </a:r>
          <a:r>
            <a:rPr lang="en-US" altLang="zh-CN" dirty="0"/>
            <a:t>Neighbor</a:t>
          </a:r>
          <a:r>
            <a:rPr lang="zh-CN" altLang="en-US" dirty="0"/>
            <a:t> </a:t>
          </a:r>
          <a:r>
            <a:rPr lang="en-US" altLang="zh-CN" dirty="0"/>
            <a:t>Search</a:t>
          </a:r>
          <a:endParaRPr lang="en-US" dirty="0"/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/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/>
        </a:p>
      </dgm:t>
    </dgm:pt>
    <dgm:pt modelId="{CF2444AC-25A3-45AF-9E27-F0625589132F}">
      <dgm:prSet/>
      <dgm:spPr/>
      <dgm:t>
        <a:bodyPr/>
        <a:lstStyle/>
        <a:p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Search</a:t>
          </a:r>
          <a:r>
            <a:rPr lang="zh-CN" altLang="en-US" dirty="0"/>
            <a:t> </a:t>
          </a:r>
          <a:r>
            <a:rPr lang="en-US" altLang="zh-CN" dirty="0"/>
            <a:t>in</a:t>
          </a:r>
          <a:r>
            <a:rPr lang="zh-CN" altLang="en-US" dirty="0"/>
            <a:t> </a:t>
          </a:r>
          <a:r>
            <a:rPr lang="en-US" dirty="0"/>
            <a:t>Q</a:t>
          </a:r>
          <a:r>
            <a:rPr lang="en-US" altLang="zh-CN" dirty="0"/>
            <a:t>uad</a:t>
          </a:r>
          <a:r>
            <a:rPr lang="en-US" baseline="0" dirty="0"/>
            <a:t> Tree</a:t>
          </a:r>
          <a:endParaRPr lang="en-US" dirty="0"/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/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/>
        </a:p>
      </dgm:t>
    </dgm:pt>
    <dgm:pt modelId="{B3AC4ABD-3393-49E6-B22C-5258D54F3AA8}">
      <dgm:prSet/>
      <dgm:spPr/>
      <dgm:t>
        <a:bodyPr/>
        <a:lstStyle/>
        <a:p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Search</a:t>
          </a:r>
          <a:r>
            <a:rPr lang="zh-CN" altLang="en-US" dirty="0"/>
            <a:t> </a:t>
          </a:r>
          <a:r>
            <a:rPr lang="en-US" altLang="zh-CN" dirty="0"/>
            <a:t>in</a:t>
          </a:r>
          <a:r>
            <a:rPr lang="zh-CN" altLang="en-US" dirty="0"/>
            <a:t> </a:t>
          </a:r>
          <a:r>
            <a:rPr lang="en-US" dirty="0"/>
            <a:t>K-D Tree</a:t>
          </a: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/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/>
        </a:p>
      </dgm:t>
    </dgm:pt>
    <dgm:pt modelId="{82BF780E-35C8-5244-A178-392312345216}">
      <dgm:prSet/>
      <dgm:spPr/>
      <dgm:t>
        <a:bodyPr/>
        <a:lstStyle/>
        <a:p>
          <a:r>
            <a:rPr lang="en-US" altLang="zh-CN" dirty="0"/>
            <a:t>Quad</a:t>
          </a:r>
          <a:r>
            <a:rPr lang="zh-CN" altLang="en-US" dirty="0"/>
            <a:t> </a:t>
          </a:r>
          <a:r>
            <a:rPr lang="en-US" altLang="zh-CN" dirty="0"/>
            <a:t>Tree</a:t>
          </a:r>
          <a:r>
            <a:rPr lang="zh-CN" altLang="en-US" dirty="0"/>
            <a:t> </a:t>
          </a:r>
          <a:r>
            <a:rPr lang="en-US" altLang="zh-CN" dirty="0"/>
            <a:t>Construction</a:t>
          </a:r>
          <a:endParaRPr lang="zh-CN" altLang="en-US" dirty="0"/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2EEF85AF-4B87-C440-83AA-7A6F97371E15}">
      <dgm:prSet/>
      <dgm:spPr/>
      <dgm:t>
        <a:bodyPr/>
        <a:lstStyle/>
        <a:p>
          <a:r>
            <a:rPr lang="en-US" altLang="zh-CN" dirty="0"/>
            <a:t>Exact</a:t>
          </a:r>
          <a:r>
            <a:rPr lang="zh-CN" altLang="en-US" dirty="0"/>
            <a:t> </a:t>
          </a:r>
          <a:r>
            <a:rPr lang="en-US" altLang="zh-CN" dirty="0"/>
            <a:t>Query</a:t>
          </a:r>
          <a:endParaRPr lang="zh-CN" altLang="en-US" dirty="0"/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40C135C6-FE8A-BE49-940B-3952902C4556}">
      <dgm:prSet/>
      <dgm:spPr/>
      <dgm:t>
        <a:bodyPr/>
        <a:lstStyle/>
        <a:p>
          <a:r>
            <a:rPr lang="en-US" altLang="zh-CN" dirty="0"/>
            <a:t>NN</a:t>
          </a:r>
          <a:r>
            <a:rPr lang="zh-CN" altLang="en-US" baseline="0" dirty="0"/>
            <a:t> </a:t>
          </a:r>
          <a:r>
            <a:rPr lang="en-US" altLang="zh-CN" baseline="0" dirty="0"/>
            <a:t>search</a:t>
          </a:r>
          <a:r>
            <a:rPr lang="zh-CN" altLang="en-US" baseline="0" dirty="0"/>
            <a:t> </a:t>
          </a:r>
          <a:r>
            <a:rPr lang="en-US" altLang="zh-CN" baseline="0" dirty="0"/>
            <a:t>in</a:t>
          </a:r>
          <a:r>
            <a:rPr lang="zh-CN" altLang="en-US" baseline="0" dirty="0"/>
            <a:t> </a:t>
          </a:r>
          <a:r>
            <a:rPr lang="en-US" altLang="zh-CN" baseline="0" dirty="0"/>
            <a:t>K-D</a:t>
          </a:r>
          <a:r>
            <a:rPr lang="zh-CN" altLang="en-US" baseline="0" dirty="0"/>
            <a:t> </a:t>
          </a:r>
          <a:r>
            <a:rPr lang="en-US" altLang="zh-CN" baseline="0" dirty="0"/>
            <a:t>Tree</a:t>
          </a:r>
          <a:endParaRPr lang="zh-CN" altLang="en-US" dirty="0"/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DE32B994-2433-8247-8127-160999E74777}">
      <dgm:prSet/>
      <dgm:spPr/>
      <dgm:t>
        <a:bodyPr/>
        <a:lstStyle/>
        <a:p>
          <a:r>
            <a:rPr lang="en-US" altLang="zh-CN" dirty="0"/>
            <a:t>Nearest</a:t>
          </a:r>
          <a:r>
            <a:rPr lang="zh-CN" altLang="en-US" dirty="0"/>
            <a:t> </a:t>
          </a:r>
          <a:r>
            <a:rPr lang="en-US" altLang="zh-CN" dirty="0"/>
            <a:t>Neighbor</a:t>
          </a:r>
          <a:r>
            <a:rPr lang="zh-CN" altLang="en-US" dirty="0"/>
            <a:t> </a:t>
          </a:r>
          <a:r>
            <a:rPr lang="en-US" altLang="zh-CN" dirty="0"/>
            <a:t>Query</a:t>
          </a:r>
          <a:endParaRPr lang="zh-CN" altLang="en-US" dirty="0"/>
        </a:p>
      </dgm:t>
    </dgm:pt>
    <dgm:pt modelId="{D5D769CD-D7F3-5549-9419-3FF36EB860FD}" type="parTrans" cxnId="{F7FB684F-E3C3-D043-BE4A-5D1402BED5E0}">
      <dgm:prSet/>
      <dgm:spPr/>
      <dgm:t>
        <a:bodyPr/>
        <a:lstStyle/>
        <a:p>
          <a:endParaRPr lang="zh-CN" altLang="en-US"/>
        </a:p>
      </dgm:t>
    </dgm:pt>
    <dgm:pt modelId="{C025DF5F-8DA5-7C4F-8D26-868CE7650D79}" type="sibTrans" cxnId="{F7FB684F-E3C3-D043-BE4A-5D1402BED5E0}">
      <dgm:prSet/>
      <dgm:spPr/>
      <dgm:t>
        <a:bodyPr/>
        <a:lstStyle/>
        <a:p>
          <a:endParaRPr lang="zh-CN" altLang="en-US"/>
        </a:p>
      </dgm:t>
    </dgm:pt>
    <dgm:pt modelId="{3B7939C4-9C28-9D47-B1D9-2DAB2FBA9B55}">
      <dgm:prSet/>
      <dgm:spPr/>
      <dgm:t>
        <a:bodyPr/>
        <a:lstStyle/>
        <a:p>
          <a:r>
            <a:rPr lang="en-US" altLang="zh-CN" dirty="0"/>
            <a:t>Variants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Search</a:t>
          </a:r>
          <a:endParaRPr lang="zh-CN" altLang="en-US" dirty="0"/>
        </a:p>
      </dgm:t>
    </dgm:pt>
    <dgm:pt modelId="{EC00FBDE-E17D-464C-9C2E-E4D47BAD56E7}" type="parTrans" cxnId="{0C48190E-D22E-B041-A974-9EEBD883AEA3}">
      <dgm:prSet/>
      <dgm:spPr/>
      <dgm:t>
        <a:bodyPr/>
        <a:lstStyle/>
        <a:p>
          <a:endParaRPr lang="zh-CN" altLang="en-US"/>
        </a:p>
      </dgm:t>
    </dgm:pt>
    <dgm:pt modelId="{D18FCB12-7255-5E49-B95C-D7BA68A65745}" type="sibTrans" cxnId="{0C48190E-D22E-B041-A974-9EEBD883AEA3}">
      <dgm:prSet/>
      <dgm:spPr/>
      <dgm:t>
        <a:bodyPr/>
        <a:lstStyle/>
        <a:p>
          <a:endParaRPr lang="zh-CN" altLang="en-US"/>
        </a:p>
      </dgm:t>
    </dgm:pt>
    <dgm:pt modelId="{B56D7259-A8EE-7B43-8FF3-40A2FEFCF127}">
      <dgm:prSet/>
      <dgm:spPr/>
      <dgm:t>
        <a:bodyPr/>
        <a:lstStyle/>
        <a:p>
          <a:r>
            <a:rPr lang="en-US" altLang="zh-CN" dirty="0"/>
            <a:t>PCP</a:t>
          </a:r>
          <a:r>
            <a:rPr lang="zh-CN" altLang="en-US" dirty="0"/>
            <a:t> </a:t>
          </a:r>
          <a:r>
            <a:rPr lang="en-US" altLang="zh-CN" dirty="0"/>
            <a:t>Tree</a:t>
          </a:r>
          <a:endParaRPr lang="zh-CN" altLang="en-US" dirty="0"/>
        </a:p>
      </dgm:t>
    </dgm:pt>
    <dgm:pt modelId="{BF2B134E-39FB-C848-BA9F-11784DA3BEEA}" type="parTrans" cxnId="{5C21FF26-6D7F-784C-B875-BFC1D9D074C0}">
      <dgm:prSet/>
      <dgm:spPr/>
      <dgm:t>
        <a:bodyPr/>
        <a:lstStyle/>
        <a:p>
          <a:endParaRPr lang="zh-CN" altLang="en-US"/>
        </a:p>
      </dgm:t>
    </dgm:pt>
    <dgm:pt modelId="{69DF296A-4610-9242-9631-18D8207413EA}" type="sibTrans" cxnId="{5C21FF26-6D7F-784C-B875-BFC1D9D074C0}">
      <dgm:prSet/>
      <dgm:spPr/>
      <dgm:t>
        <a:bodyPr/>
        <a:lstStyle/>
        <a:p>
          <a:endParaRPr lang="zh-CN" altLang="en-US"/>
        </a:p>
      </dgm:t>
    </dgm:pt>
    <dgm:pt modelId="{0D400FFD-93DF-3A4A-8669-67F976B6892C}">
      <dgm:prSet/>
      <dgm:spPr/>
      <dgm:t>
        <a:bodyPr/>
        <a:lstStyle/>
        <a:p>
          <a:r>
            <a:rPr lang="en-US" altLang="zh-CN" dirty="0"/>
            <a:t>Approximate</a:t>
          </a:r>
          <a:r>
            <a:rPr lang="zh-CN" altLang="en-US" dirty="0"/>
            <a:t> </a:t>
          </a:r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in</a:t>
          </a:r>
          <a:r>
            <a:rPr lang="zh-CN" altLang="en-US" dirty="0"/>
            <a:t> </a:t>
          </a:r>
          <a:r>
            <a:rPr lang="en-US" altLang="zh-CN" dirty="0"/>
            <a:t>K-D</a:t>
          </a:r>
          <a:r>
            <a:rPr lang="zh-CN" altLang="en-US" dirty="0"/>
            <a:t> </a:t>
          </a:r>
          <a:r>
            <a:rPr lang="en-US" altLang="zh-CN" dirty="0"/>
            <a:t>Tree</a:t>
          </a:r>
          <a:endParaRPr lang="zh-CN" altLang="en-US" dirty="0"/>
        </a:p>
      </dgm:t>
    </dgm:pt>
    <dgm:pt modelId="{DDC74AF5-32E8-8F44-9064-D3D150FA8FF7}" type="parTrans" cxnId="{5DA0E643-8066-8F41-AB4C-176A0C838166}">
      <dgm:prSet/>
      <dgm:spPr/>
      <dgm:t>
        <a:bodyPr/>
        <a:lstStyle/>
        <a:p>
          <a:endParaRPr lang="zh-CN" altLang="en-US"/>
        </a:p>
      </dgm:t>
    </dgm:pt>
    <dgm:pt modelId="{DCCD73A2-2DD3-1344-A23B-0F8CD0BD734A}" type="sibTrans" cxnId="{5DA0E643-8066-8F41-AB4C-176A0C838166}">
      <dgm:prSet/>
      <dgm:spPr/>
      <dgm:t>
        <a:bodyPr/>
        <a:lstStyle/>
        <a:p>
          <a:endParaRPr lang="zh-CN" altLang="en-US"/>
        </a:p>
      </dgm:t>
    </dgm:pt>
    <dgm:pt modelId="{8E4AC655-727F-C746-B181-A3F7C9E9A39F}">
      <dgm:prSet/>
      <dgm:spPr/>
      <dgm:t>
        <a:bodyPr/>
        <a:lstStyle/>
        <a:p>
          <a:r>
            <a:rPr lang="el-GR" dirty="0"/>
            <a:t>ε‐</a:t>
          </a:r>
          <a:r>
            <a:rPr lang="en-US" dirty="0"/>
            <a:t>Approximate </a:t>
          </a:r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in</a:t>
          </a:r>
          <a:r>
            <a:rPr lang="zh-CN" altLang="en-US" dirty="0"/>
            <a:t> </a:t>
          </a:r>
          <a:r>
            <a:rPr lang="en-US" altLang="zh-CN" dirty="0"/>
            <a:t>K-D</a:t>
          </a:r>
          <a:r>
            <a:rPr lang="zh-CN" altLang="en-US" dirty="0"/>
            <a:t> </a:t>
          </a:r>
          <a:r>
            <a:rPr lang="en-US" altLang="zh-CN" dirty="0"/>
            <a:t>Tree</a:t>
          </a:r>
          <a:endParaRPr lang="zh-CN" altLang="en-US" dirty="0"/>
        </a:p>
      </dgm:t>
    </dgm:pt>
    <dgm:pt modelId="{D1A821C0-6552-8348-A25D-0CE4202CD842}" type="parTrans" cxnId="{D91C8D40-5E92-C649-8A82-3871B63F427E}">
      <dgm:prSet/>
      <dgm:spPr/>
      <dgm:t>
        <a:bodyPr/>
        <a:lstStyle/>
        <a:p>
          <a:endParaRPr lang="zh-CN" altLang="en-US"/>
        </a:p>
      </dgm:t>
    </dgm:pt>
    <dgm:pt modelId="{D7465A58-071D-234D-954F-11B02E754A38}" type="sibTrans" cxnId="{D91C8D40-5E92-C649-8A82-3871B63F427E}">
      <dgm:prSet/>
      <dgm:spPr/>
      <dgm:t>
        <a:bodyPr/>
        <a:lstStyle/>
        <a:p>
          <a:endParaRPr lang="zh-CN" altLang="en-US"/>
        </a:p>
      </dgm:t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8A43072-FD69-0140-96BE-1ECE3004433B}" type="pres">
      <dgm:prSet presAssocID="{8C98467B-A16D-46AB-89F9-E167C0071142}" presName="spacer" presStyleCnt="0"/>
      <dgm:spPr/>
    </dgm:pt>
    <dgm:pt modelId="{CAA1060A-F01D-234D-A5B5-15047FFE84C8}" type="pres">
      <dgm:prSet presAssocID="{CF2444AC-25A3-45AF-9E27-F0625589132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0" presStyleCnt="2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C48190E-D22E-B041-A974-9EEBD883AEA3}" srcId="{B3AC4ABD-3393-49E6-B22C-5258D54F3AA8}" destId="{3B7939C4-9C28-9D47-B1D9-2DAB2FBA9B55}" srcOrd="1" destOrd="0" parTransId="{EC00FBDE-E17D-464C-9C2E-E4D47BAD56E7}" sibTransId="{D18FCB12-7255-5E49-B95C-D7BA68A65745}"/>
    <dgm:cxn modelId="{8E0AEC1B-ACC7-5E43-83DF-BDE26A6358E4}" type="presOf" srcId="{B56D7259-A8EE-7B43-8FF3-40A2FEFCF127}" destId="{83C615D7-3F44-1542-8AB9-18060F3340FA}" srcOrd="0" destOrd="2" presId="urn:microsoft.com/office/officeart/2005/8/layout/vList2#2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5C21FF26-6D7F-784C-B875-BFC1D9D074C0}" srcId="{3B7939C4-9C28-9D47-B1D9-2DAB2FBA9B55}" destId="{B56D7259-A8EE-7B43-8FF3-40A2FEFCF127}" srcOrd="0" destOrd="0" parTransId="{BF2B134E-39FB-C848-BA9F-11784DA3BEEA}" sibTransId="{69DF296A-4610-9242-9631-18D8207413EA}"/>
    <dgm:cxn modelId="{3C8D3C3C-8254-6F49-A03D-C6DAB8DBEE2A}" type="presOf" srcId="{0D400FFD-93DF-3A4A-8669-67F976B6892C}" destId="{83C615D7-3F44-1542-8AB9-18060F3340FA}" srcOrd="0" destOrd="3" presId="urn:microsoft.com/office/officeart/2005/8/layout/vList2#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D91C8D40-5E92-C649-8A82-3871B63F427E}" srcId="{3B7939C4-9C28-9D47-B1D9-2DAB2FBA9B55}" destId="{8E4AC655-727F-C746-B181-A3F7C9E9A39F}" srcOrd="2" destOrd="0" parTransId="{D1A821C0-6552-8348-A25D-0CE4202CD842}" sibTransId="{D7465A58-071D-234D-954F-11B02E754A38}"/>
    <dgm:cxn modelId="{5DA0E643-8066-8F41-AB4C-176A0C838166}" srcId="{3B7939C4-9C28-9D47-B1D9-2DAB2FBA9B55}" destId="{0D400FFD-93DF-3A4A-8669-67F976B6892C}" srcOrd="1" destOrd="0" parTransId="{DDC74AF5-32E8-8F44-9064-D3D150FA8FF7}" sibTransId="{DCCD73A2-2DD3-1344-A23B-0F8CD0BD734A}"/>
    <dgm:cxn modelId="{97BB4C4C-9569-9C46-819E-4A8976115266}" type="presOf" srcId="{AC918355-8F9B-4F09-B720-6574DA287041}" destId="{F36BEC44-DAC6-6343-85FD-985E84DAB391}" srcOrd="0" destOrd="0" presId="urn:microsoft.com/office/officeart/2005/8/layout/vList2#2"/>
    <dgm:cxn modelId="{F7FB684F-E3C3-D043-BE4A-5D1402BED5E0}" srcId="{CF2444AC-25A3-45AF-9E27-F0625589132F}" destId="{DE32B994-2433-8247-8127-160999E74777}" srcOrd="2" destOrd="0" parTransId="{D5D769CD-D7F3-5549-9419-3FF36EB860FD}" sibTransId="{C025DF5F-8DA5-7C4F-8D26-868CE7650D79}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94026755-DE43-3D45-8C77-553F70E5063F}" type="presOf" srcId="{B3AC4ABD-3393-49E6-B22C-5258D54F3AA8}" destId="{0F9D7059-6B5A-324D-BBB2-FF4779936521}" srcOrd="0" destOrd="0" presId="urn:microsoft.com/office/officeart/2005/8/layout/vList2#2"/>
    <dgm:cxn modelId="{AE04DE58-AB13-B24A-8054-0BE537E20E42}" type="presOf" srcId="{CF2444AC-25A3-45AF-9E27-F0625589132F}" destId="{CAA1060A-F01D-234D-A5B5-15047FFE84C8}" srcOrd="0" destOrd="0" presId="urn:microsoft.com/office/officeart/2005/8/layout/vList2#2"/>
    <dgm:cxn modelId="{EF02EC68-3DE4-1743-9B23-8D19D086DB8D}" type="presOf" srcId="{2EEF85AF-4B87-C440-83AA-7A6F97371E15}" destId="{B3D4FF40-A116-F443-A12B-EBBDAC4C5921}" srcOrd="0" destOrd="1" presId="urn:microsoft.com/office/officeart/2005/8/layout/vList2#2"/>
    <dgm:cxn modelId="{970D3C77-8B34-8E49-95CA-7A12EEA3CE05}" type="presOf" srcId="{3B7939C4-9C28-9D47-B1D9-2DAB2FBA9B55}" destId="{83C615D7-3F44-1542-8AB9-18060F3340FA}" srcOrd="0" destOrd="1" presId="urn:microsoft.com/office/officeart/2005/8/layout/vList2#2"/>
    <dgm:cxn modelId="{367CF977-A5F2-A142-A10A-27687B4E5CBC}" type="presOf" srcId="{CD4C4DF3-CDA3-4C1A-BA09-6F2AA9088C98}" destId="{E3F036DE-6942-EB4D-9A0C-88DB77F2BE78}" srcOrd="0" destOrd="0" presId="urn:microsoft.com/office/officeart/2005/8/layout/vList2#2"/>
    <dgm:cxn modelId="{63938C83-4D1E-4B43-965E-C9A7F6D19BF9}" type="presOf" srcId="{8E4AC655-727F-C746-B181-A3F7C9E9A39F}" destId="{83C615D7-3F44-1542-8AB9-18060F3340FA}" srcOrd="0" destOrd="4" presId="urn:microsoft.com/office/officeart/2005/8/layout/vList2#2"/>
    <dgm:cxn modelId="{8F394AA0-C6AF-0046-964D-825527C2CE57}" type="presOf" srcId="{40C135C6-FE8A-BE49-940B-3952902C4556}" destId="{83C615D7-3F44-1542-8AB9-18060F3340FA}" srcOrd="0" destOrd="0" presId="urn:microsoft.com/office/officeart/2005/8/layout/vList2#2"/>
    <dgm:cxn modelId="{C5C397B8-A268-A049-8F14-DC17542335BB}" type="presOf" srcId="{DE32B994-2433-8247-8127-160999E74777}" destId="{B3D4FF40-A116-F443-A12B-EBBDAC4C5921}" srcOrd="0" destOrd="2" presId="urn:microsoft.com/office/officeart/2005/8/layout/vList2#2"/>
    <dgm:cxn modelId="{20AAC4C0-0D10-49F9-94CC-7F9A98CD0892}" srcId="{CD4C4DF3-CDA3-4C1A-BA09-6F2AA9088C98}" destId="{B3AC4ABD-3393-49E6-B22C-5258D54F3AA8}" srcOrd="2" destOrd="0" parTransId="{217CAF8E-9194-4CEE-B13D-4E63A1D5BC08}" sibTransId="{7625B602-CC8D-40F6-A946-15E9FF8A917C}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72DD3FDF-998E-ED40-B203-A8A842484DE5}" type="presOf" srcId="{82BF780E-35C8-5244-A178-392312345216}" destId="{B3D4FF40-A116-F443-A12B-EBBDAC4C5921}" srcOrd="0" destOrd="0" presId="urn:microsoft.com/office/officeart/2005/8/layout/vList2#2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7F7FB686-798E-5342-8DDD-4603B2ACB674}" type="presParOf" srcId="{E3F036DE-6942-EB4D-9A0C-88DB77F2BE78}" destId="{F36BEC44-DAC6-6343-85FD-985E84DAB391}" srcOrd="0" destOrd="0" presId="urn:microsoft.com/office/officeart/2005/8/layout/vList2#2"/>
    <dgm:cxn modelId="{CD3E64ED-3C03-594F-B0CB-27FC002932A0}" type="presParOf" srcId="{E3F036DE-6942-EB4D-9A0C-88DB77F2BE78}" destId="{68A43072-FD69-0140-96BE-1ECE3004433B}" srcOrd="1" destOrd="0" presId="urn:microsoft.com/office/officeart/2005/8/layout/vList2#2"/>
    <dgm:cxn modelId="{96D9C9FF-32FB-594B-8360-12EE92A92ECF}" type="presParOf" srcId="{E3F036DE-6942-EB4D-9A0C-88DB77F2BE78}" destId="{CAA1060A-F01D-234D-A5B5-15047FFE84C8}" srcOrd="2" destOrd="0" presId="urn:microsoft.com/office/officeart/2005/8/layout/vList2#2"/>
    <dgm:cxn modelId="{C0EF9506-2B4B-504D-A865-7EABDA17FD3E}" type="presParOf" srcId="{E3F036DE-6942-EB4D-9A0C-88DB77F2BE78}" destId="{B3D4FF40-A116-F443-A12B-EBBDAC4C5921}" srcOrd="3" destOrd="0" presId="urn:microsoft.com/office/officeart/2005/8/layout/vList2#2"/>
    <dgm:cxn modelId="{F24A70AF-72BE-1A4B-8A66-AC0BEE70CF99}" type="presParOf" srcId="{E3F036DE-6942-EB4D-9A0C-88DB77F2BE78}" destId="{0F9D7059-6B5A-324D-BBB2-FF4779936521}" srcOrd="4" destOrd="0" presId="urn:microsoft.com/office/officeart/2005/8/layout/vList2#2"/>
    <dgm:cxn modelId="{57B4991A-609D-CF41-A841-D93D8C018ABF}" type="presParOf" srcId="{E3F036DE-6942-EB4D-9A0C-88DB77F2BE78}" destId="{83C615D7-3F44-1542-8AB9-18060F3340FA}" srcOrd="5" destOrd="0" presId="urn:microsoft.com/office/officeart/2005/8/layout/vList2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#3" loCatId="list" qsTypeId="urn:microsoft.com/office/officeart/2005/8/quickstyle/simple1#3" qsCatId="simple" csTypeId="urn:microsoft.com/office/officeart/2005/8/colors/colorful2#3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/>
      <dgm:t>
        <a:bodyPr/>
        <a:lstStyle/>
        <a:p>
          <a:r>
            <a:rPr lang="en-US" altLang="zh-CN" dirty="0"/>
            <a:t>Nearest</a:t>
          </a:r>
          <a:r>
            <a:rPr lang="zh-CN" altLang="en-US" dirty="0"/>
            <a:t> </a:t>
          </a:r>
          <a:r>
            <a:rPr lang="en-US" altLang="zh-CN" dirty="0"/>
            <a:t>Neighbor</a:t>
          </a:r>
          <a:r>
            <a:rPr lang="zh-CN" altLang="en-US" dirty="0"/>
            <a:t> </a:t>
          </a:r>
          <a:r>
            <a:rPr lang="en-US" altLang="zh-CN" dirty="0"/>
            <a:t>Search</a:t>
          </a:r>
          <a:endParaRPr lang="en-US" dirty="0"/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/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/>
        </a:p>
      </dgm:t>
    </dgm:pt>
    <dgm:pt modelId="{CF2444AC-25A3-45AF-9E27-F0625589132F}">
      <dgm:prSet/>
      <dgm:spPr/>
      <dgm:t>
        <a:bodyPr/>
        <a:lstStyle/>
        <a:p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Search</a:t>
          </a:r>
          <a:r>
            <a:rPr lang="zh-CN" altLang="en-US" dirty="0"/>
            <a:t> </a:t>
          </a:r>
          <a:r>
            <a:rPr lang="en-US" altLang="zh-CN" dirty="0"/>
            <a:t>in</a:t>
          </a:r>
          <a:r>
            <a:rPr lang="zh-CN" altLang="en-US" dirty="0"/>
            <a:t> </a:t>
          </a:r>
          <a:r>
            <a:rPr lang="en-US" dirty="0"/>
            <a:t>Q</a:t>
          </a:r>
          <a:r>
            <a:rPr lang="en-US" altLang="zh-CN" dirty="0"/>
            <a:t>uad</a:t>
          </a:r>
          <a:r>
            <a:rPr lang="en-US" baseline="0" dirty="0"/>
            <a:t> Tree</a:t>
          </a:r>
          <a:endParaRPr lang="en-US" dirty="0"/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/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/>
        </a:p>
      </dgm:t>
    </dgm:pt>
    <dgm:pt modelId="{B3AC4ABD-3393-49E6-B22C-5258D54F3AA8}">
      <dgm:prSet/>
      <dgm:spPr/>
      <dgm:t>
        <a:bodyPr/>
        <a:lstStyle/>
        <a:p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Search</a:t>
          </a:r>
          <a:r>
            <a:rPr lang="zh-CN" altLang="en-US" dirty="0"/>
            <a:t> </a:t>
          </a:r>
          <a:r>
            <a:rPr lang="en-US" altLang="zh-CN" dirty="0"/>
            <a:t>in</a:t>
          </a:r>
          <a:r>
            <a:rPr lang="zh-CN" altLang="en-US" dirty="0"/>
            <a:t> </a:t>
          </a:r>
          <a:r>
            <a:rPr lang="en-US" dirty="0"/>
            <a:t>K-D Tree</a:t>
          </a: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/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/>
        </a:p>
      </dgm:t>
    </dgm:pt>
    <dgm:pt modelId="{82BF780E-35C8-5244-A178-392312345216}">
      <dgm:prSet/>
      <dgm:spPr/>
      <dgm:t>
        <a:bodyPr/>
        <a:lstStyle/>
        <a:p>
          <a:r>
            <a:rPr lang="en-US" altLang="zh-CN" dirty="0"/>
            <a:t>Quad</a:t>
          </a:r>
          <a:r>
            <a:rPr lang="zh-CN" altLang="en-US" dirty="0"/>
            <a:t> </a:t>
          </a:r>
          <a:r>
            <a:rPr lang="en-US" altLang="zh-CN" dirty="0"/>
            <a:t>Tree</a:t>
          </a:r>
          <a:r>
            <a:rPr lang="zh-CN" altLang="en-US" dirty="0"/>
            <a:t> </a:t>
          </a:r>
          <a:r>
            <a:rPr lang="en-US" altLang="zh-CN" dirty="0"/>
            <a:t>Construction</a:t>
          </a:r>
          <a:endParaRPr lang="zh-CN" altLang="en-US" dirty="0"/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2EEF85AF-4B87-C440-83AA-7A6F97371E15}">
      <dgm:prSet/>
      <dgm:spPr/>
      <dgm:t>
        <a:bodyPr/>
        <a:lstStyle/>
        <a:p>
          <a:r>
            <a:rPr lang="en-US" altLang="zh-CN" dirty="0"/>
            <a:t>Exact</a:t>
          </a:r>
          <a:r>
            <a:rPr lang="zh-CN" altLang="en-US" dirty="0"/>
            <a:t> </a:t>
          </a:r>
          <a:r>
            <a:rPr lang="en-US" altLang="zh-CN" dirty="0"/>
            <a:t>Query</a:t>
          </a:r>
          <a:endParaRPr lang="zh-CN" altLang="en-US" dirty="0"/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40C135C6-FE8A-BE49-940B-3952902C4556}">
      <dgm:prSet/>
      <dgm:spPr/>
      <dgm:t>
        <a:bodyPr/>
        <a:lstStyle/>
        <a:p>
          <a:r>
            <a:rPr lang="en-US" altLang="zh-CN" dirty="0"/>
            <a:t>NN</a:t>
          </a:r>
          <a:r>
            <a:rPr lang="zh-CN" altLang="en-US" baseline="0" dirty="0"/>
            <a:t> </a:t>
          </a:r>
          <a:r>
            <a:rPr lang="en-US" altLang="zh-CN" baseline="0" dirty="0"/>
            <a:t>search</a:t>
          </a:r>
          <a:r>
            <a:rPr lang="zh-CN" altLang="en-US" baseline="0" dirty="0"/>
            <a:t> </a:t>
          </a:r>
          <a:r>
            <a:rPr lang="en-US" altLang="zh-CN" baseline="0" dirty="0"/>
            <a:t>in</a:t>
          </a:r>
          <a:r>
            <a:rPr lang="zh-CN" altLang="en-US" baseline="0" dirty="0"/>
            <a:t> </a:t>
          </a:r>
          <a:r>
            <a:rPr lang="en-US" altLang="zh-CN" baseline="0" dirty="0"/>
            <a:t>K-D</a:t>
          </a:r>
          <a:r>
            <a:rPr lang="zh-CN" altLang="en-US" baseline="0" dirty="0"/>
            <a:t> </a:t>
          </a:r>
          <a:r>
            <a:rPr lang="en-US" altLang="zh-CN" baseline="0" dirty="0"/>
            <a:t>Tree</a:t>
          </a:r>
          <a:endParaRPr lang="zh-CN" altLang="en-US" dirty="0"/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DE32B994-2433-8247-8127-160999E74777}">
      <dgm:prSet/>
      <dgm:spPr/>
      <dgm:t>
        <a:bodyPr/>
        <a:lstStyle/>
        <a:p>
          <a:r>
            <a:rPr lang="en-US" altLang="zh-CN" dirty="0"/>
            <a:t>Nearest</a:t>
          </a:r>
          <a:r>
            <a:rPr lang="zh-CN" altLang="en-US" dirty="0"/>
            <a:t> </a:t>
          </a:r>
          <a:r>
            <a:rPr lang="en-US" altLang="zh-CN" dirty="0"/>
            <a:t>Neighbor</a:t>
          </a:r>
          <a:r>
            <a:rPr lang="zh-CN" altLang="en-US" dirty="0"/>
            <a:t> </a:t>
          </a:r>
          <a:r>
            <a:rPr lang="en-US" altLang="zh-CN" dirty="0"/>
            <a:t>Query</a:t>
          </a:r>
          <a:endParaRPr lang="zh-CN" altLang="en-US" dirty="0"/>
        </a:p>
      </dgm:t>
    </dgm:pt>
    <dgm:pt modelId="{D5D769CD-D7F3-5549-9419-3FF36EB860FD}" type="parTrans" cxnId="{F7FB684F-E3C3-D043-BE4A-5D1402BED5E0}">
      <dgm:prSet/>
      <dgm:spPr/>
      <dgm:t>
        <a:bodyPr/>
        <a:lstStyle/>
        <a:p>
          <a:endParaRPr lang="zh-CN" altLang="en-US"/>
        </a:p>
      </dgm:t>
    </dgm:pt>
    <dgm:pt modelId="{C025DF5F-8DA5-7C4F-8D26-868CE7650D79}" type="sibTrans" cxnId="{F7FB684F-E3C3-D043-BE4A-5D1402BED5E0}">
      <dgm:prSet/>
      <dgm:spPr/>
      <dgm:t>
        <a:bodyPr/>
        <a:lstStyle/>
        <a:p>
          <a:endParaRPr lang="zh-CN" altLang="en-US"/>
        </a:p>
      </dgm:t>
    </dgm:pt>
    <dgm:pt modelId="{3B7939C4-9C28-9D47-B1D9-2DAB2FBA9B55}">
      <dgm:prSet/>
      <dgm:spPr/>
      <dgm:t>
        <a:bodyPr/>
        <a:lstStyle/>
        <a:p>
          <a:r>
            <a:rPr lang="en-US" altLang="zh-CN" dirty="0"/>
            <a:t>Variants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Search</a:t>
          </a:r>
          <a:endParaRPr lang="zh-CN" altLang="en-US" dirty="0"/>
        </a:p>
      </dgm:t>
    </dgm:pt>
    <dgm:pt modelId="{EC00FBDE-E17D-464C-9C2E-E4D47BAD56E7}" type="parTrans" cxnId="{0C48190E-D22E-B041-A974-9EEBD883AEA3}">
      <dgm:prSet/>
      <dgm:spPr/>
      <dgm:t>
        <a:bodyPr/>
        <a:lstStyle/>
        <a:p>
          <a:endParaRPr lang="zh-CN" altLang="en-US"/>
        </a:p>
      </dgm:t>
    </dgm:pt>
    <dgm:pt modelId="{D18FCB12-7255-5E49-B95C-D7BA68A65745}" type="sibTrans" cxnId="{0C48190E-D22E-B041-A974-9EEBD883AEA3}">
      <dgm:prSet/>
      <dgm:spPr/>
      <dgm:t>
        <a:bodyPr/>
        <a:lstStyle/>
        <a:p>
          <a:endParaRPr lang="zh-CN" altLang="en-US"/>
        </a:p>
      </dgm:t>
    </dgm:pt>
    <dgm:pt modelId="{B56D7259-A8EE-7B43-8FF3-40A2FEFCF127}">
      <dgm:prSet/>
      <dgm:spPr/>
      <dgm:t>
        <a:bodyPr/>
        <a:lstStyle/>
        <a:p>
          <a:r>
            <a:rPr lang="en-US" altLang="zh-CN" dirty="0"/>
            <a:t>PCP</a:t>
          </a:r>
          <a:r>
            <a:rPr lang="zh-CN" altLang="en-US" dirty="0"/>
            <a:t> </a:t>
          </a:r>
          <a:r>
            <a:rPr lang="en-US" altLang="zh-CN" dirty="0"/>
            <a:t>Tree</a:t>
          </a:r>
          <a:endParaRPr lang="zh-CN" altLang="en-US" dirty="0"/>
        </a:p>
      </dgm:t>
    </dgm:pt>
    <dgm:pt modelId="{BF2B134E-39FB-C848-BA9F-11784DA3BEEA}" type="parTrans" cxnId="{5C21FF26-6D7F-784C-B875-BFC1D9D074C0}">
      <dgm:prSet/>
      <dgm:spPr/>
      <dgm:t>
        <a:bodyPr/>
        <a:lstStyle/>
        <a:p>
          <a:endParaRPr lang="zh-CN" altLang="en-US"/>
        </a:p>
      </dgm:t>
    </dgm:pt>
    <dgm:pt modelId="{69DF296A-4610-9242-9631-18D8207413EA}" type="sibTrans" cxnId="{5C21FF26-6D7F-784C-B875-BFC1D9D074C0}">
      <dgm:prSet/>
      <dgm:spPr/>
      <dgm:t>
        <a:bodyPr/>
        <a:lstStyle/>
        <a:p>
          <a:endParaRPr lang="zh-CN" altLang="en-US"/>
        </a:p>
      </dgm:t>
    </dgm:pt>
    <dgm:pt modelId="{0D400FFD-93DF-3A4A-8669-67F976B6892C}">
      <dgm:prSet/>
      <dgm:spPr/>
      <dgm:t>
        <a:bodyPr/>
        <a:lstStyle/>
        <a:p>
          <a:r>
            <a:rPr lang="en-US" altLang="zh-CN" dirty="0"/>
            <a:t>Approximate</a:t>
          </a:r>
          <a:r>
            <a:rPr lang="zh-CN" altLang="en-US" dirty="0"/>
            <a:t> </a:t>
          </a:r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in</a:t>
          </a:r>
          <a:r>
            <a:rPr lang="zh-CN" altLang="en-US" dirty="0"/>
            <a:t> </a:t>
          </a:r>
          <a:r>
            <a:rPr lang="en-US" altLang="zh-CN" dirty="0"/>
            <a:t>K-D</a:t>
          </a:r>
          <a:r>
            <a:rPr lang="zh-CN" altLang="en-US" dirty="0"/>
            <a:t> </a:t>
          </a:r>
          <a:r>
            <a:rPr lang="en-US" altLang="zh-CN" dirty="0"/>
            <a:t>Tree</a:t>
          </a:r>
          <a:endParaRPr lang="zh-CN" altLang="en-US" dirty="0"/>
        </a:p>
      </dgm:t>
    </dgm:pt>
    <dgm:pt modelId="{DDC74AF5-32E8-8F44-9064-D3D150FA8FF7}" type="parTrans" cxnId="{5DA0E643-8066-8F41-AB4C-176A0C838166}">
      <dgm:prSet/>
      <dgm:spPr/>
      <dgm:t>
        <a:bodyPr/>
        <a:lstStyle/>
        <a:p>
          <a:endParaRPr lang="zh-CN" altLang="en-US"/>
        </a:p>
      </dgm:t>
    </dgm:pt>
    <dgm:pt modelId="{DCCD73A2-2DD3-1344-A23B-0F8CD0BD734A}" type="sibTrans" cxnId="{5DA0E643-8066-8F41-AB4C-176A0C838166}">
      <dgm:prSet/>
      <dgm:spPr/>
      <dgm:t>
        <a:bodyPr/>
        <a:lstStyle/>
        <a:p>
          <a:endParaRPr lang="zh-CN" altLang="en-US"/>
        </a:p>
      </dgm:t>
    </dgm:pt>
    <dgm:pt modelId="{8E4AC655-727F-C746-B181-A3F7C9E9A39F}">
      <dgm:prSet/>
      <dgm:spPr/>
      <dgm:t>
        <a:bodyPr/>
        <a:lstStyle/>
        <a:p>
          <a:r>
            <a:rPr lang="el-GR" dirty="0"/>
            <a:t>ε‐</a:t>
          </a:r>
          <a:r>
            <a:rPr lang="en-US" dirty="0"/>
            <a:t>Approximate </a:t>
          </a:r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in</a:t>
          </a:r>
          <a:r>
            <a:rPr lang="zh-CN" altLang="en-US" dirty="0"/>
            <a:t> </a:t>
          </a:r>
          <a:r>
            <a:rPr lang="en-US" altLang="zh-CN" dirty="0"/>
            <a:t>K-D</a:t>
          </a:r>
          <a:r>
            <a:rPr lang="zh-CN" altLang="en-US" dirty="0"/>
            <a:t> </a:t>
          </a:r>
          <a:r>
            <a:rPr lang="en-US" altLang="zh-CN" dirty="0"/>
            <a:t>Tree</a:t>
          </a:r>
          <a:endParaRPr lang="zh-CN" altLang="en-US" dirty="0"/>
        </a:p>
      </dgm:t>
    </dgm:pt>
    <dgm:pt modelId="{D1A821C0-6552-8348-A25D-0CE4202CD842}" type="parTrans" cxnId="{D91C8D40-5E92-C649-8A82-3871B63F427E}">
      <dgm:prSet/>
      <dgm:spPr/>
      <dgm:t>
        <a:bodyPr/>
        <a:lstStyle/>
        <a:p>
          <a:endParaRPr lang="zh-CN" altLang="en-US"/>
        </a:p>
      </dgm:t>
    </dgm:pt>
    <dgm:pt modelId="{D7465A58-071D-234D-954F-11B02E754A38}" type="sibTrans" cxnId="{D91C8D40-5E92-C649-8A82-3871B63F427E}">
      <dgm:prSet/>
      <dgm:spPr/>
      <dgm:t>
        <a:bodyPr/>
        <a:lstStyle/>
        <a:p>
          <a:endParaRPr lang="zh-CN" altLang="en-US"/>
        </a:p>
      </dgm:t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8A43072-FD69-0140-96BE-1ECE3004433B}" type="pres">
      <dgm:prSet presAssocID="{8C98467B-A16D-46AB-89F9-E167C0071142}" presName="spacer" presStyleCnt="0"/>
      <dgm:spPr/>
    </dgm:pt>
    <dgm:pt modelId="{CAA1060A-F01D-234D-A5B5-15047FFE84C8}" type="pres">
      <dgm:prSet presAssocID="{CF2444AC-25A3-45AF-9E27-F0625589132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0" presStyleCnt="2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C48190E-D22E-B041-A974-9EEBD883AEA3}" srcId="{B3AC4ABD-3393-49E6-B22C-5258D54F3AA8}" destId="{3B7939C4-9C28-9D47-B1D9-2DAB2FBA9B55}" srcOrd="1" destOrd="0" parTransId="{EC00FBDE-E17D-464C-9C2E-E4D47BAD56E7}" sibTransId="{D18FCB12-7255-5E49-B95C-D7BA68A65745}"/>
    <dgm:cxn modelId="{8E0AEC1B-ACC7-5E43-83DF-BDE26A6358E4}" type="presOf" srcId="{B56D7259-A8EE-7B43-8FF3-40A2FEFCF127}" destId="{83C615D7-3F44-1542-8AB9-18060F3340FA}" srcOrd="0" destOrd="2" presId="urn:microsoft.com/office/officeart/2005/8/layout/vList2#3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5C21FF26-6D7F-784C-B875-BFC1D9D074C0}" srcId="{3B7939C4-9C28-9D47-B1D9-2DAB2FBA9B55}" destId="{B56D7259-A8EE-7B43-8FF3-40A2FEFCF127}" srcOrd="0" destOrd="0" parTransId="{BF2B134E-39FB-C848-BA9F-11784DA3BEEA}" sibTransId="{69DF296A-4610-9242-9631-18D8207413EA}"/>
    <dgm:cxn modelId="{3C8D3C3C-8254-6F49-A03D-C6DAB8DBEE2A}" type="presOf" srcId="{0D400FFD-93DF-3A4A-8669-67F976B6892C}" destId="{83C615D7-3F44-1542-8AB9-18060F3340FA}" srcOrd="0" destOrd="3" presId="urn:microsoft.com/office/officeart/2005/8/layout/vList2#3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D91C8D40-5E92-C649-8A82-3871B63F427E}" srcId="{3B7939C4-9C28-9D47-B1D9-2DAB2FBA9B55}" destId="{8E4AC655-727F-C746-B181-A3F7C9E9A39F}" srcOrd="2" destOrd="0" parTransId="{D1A821C0-6552-8348-A25D-0CE4202CD842}" sibTransId="{D7465A58-071D-234D-954F-11B02E754A38}"/>
    <dgm:cxn modelId="{5DA0E643-8066-8F41-AB4C-176A0C838166}" srcId="{3B7939C4-9C28-9D47-B1D9-2DAB2FBA9B55}" destId="{0D400FFD-93DF-3A4A-8669-67F976B6892C}" srcOrd="1" destOrd="0" parTransId="{DDC74AF5-32E8-8F44-9064-D3D150FA8FF7}" sibTransId="{DCCD73A2-2DD3-1344-A23B-0F8CD0BD734A}"/>
    <dgm:cxn modelId="{97BB4C4C-9569-9C46-819E-4A8976115266}" type="presOf" srcId="{AC918355-8F9B-4F09-B720-6574DA287041}" destId="{F36BEC44-DAC6-6343-85FD-985E84DAB391}" srcOrd="0" destOrd="0" presId="urn:microsoft.com/office/officeart/2005/8/layout/vList2#3"/>
    <dgm:cxn modelId="{F7FB684F-E3C3-D043-BE4A-5D1402BED5E0}" srcId="{CF2444AC-25A3-45AF-9E27-F0625589132F}" destId="{DE32B994-2433-8247-8127-160999E74777}" srcOrd="2" destOrd="0" parTransId="{D5D769CD-D7F3-5549-9419-3FF36EB860FD}" sibTransId="{C025DF5F-8DA5-7C4F-8D26-868CE7650D79}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94026755-DE43-3D45-8C77-553F70E5063F}" type="presOf" srcId="{B3AC4ABD-3393-49E6-B22C-5258D54F3AA8}" destId="{0F9D7059-6B5A-324D-BBB2-FF4779936521}" srcOrd="0" destOrd="0" presId="urn:microsoft.com/office/officeart/2005/8/layout/vList2#3"/>
    <dgm:cxn modelId="{AE04DE58-AB13-B24A-8054-0BE537E20E42}" type="presOf" srcId="{CF2444AC-25A3-45AF-9E27-F0625589132F}" destId="{CAA1060A-F01D-234D-A5B5-15047FFE84C8}" srcOrd="0" destOrd="0" presId="urn:microsoft.com/office/officeart/2005/8/layout/vList2#3"/>
    <dgm:cxn modelId="{EF02EC68-3DE4-1743-9B23-8D19D086DB8D}" type="presOf" srcId="{2EEF85AF-4B87-C440-83AA-7A6F97371E15}" destId="{B3D4FF40-A116-F443-A12B-EBBDAC4C5921}" srcOrd="0" destOrd="1" presId="urn:microsoft.com/office/officeart/2005/8/layout/vList2#3"/>
    <dgm:cxn modelId="{970D3C77-8B34-8E49-95CA-7A12EEA3CE05}" type="presOf" srcId="{3B7939C4-9C28-9D47-B1D9-2DAB2FBA9B55}" destId="{83C615D7-3F44-1542-8AB9-18060F3340FA}" srcOrd="0" destOrd="1" presId="urn:microsoft.com/office/officeart/2005/8/layout/vList2#3"/>
    <dgm:cxn modelId="{367CF977-A5F2-A142-A10A-27687B4E5CBC}" type="presOf" srcId="{CD4C4DF3-CDA3-4C1A-BA09-6F2AA9088C98}" destId="{E3F036DE-6942-EB4D-9A0C-88DB77F2BE78}" srcOrd="0" destOrd="0" presId="urn:microsoft.com/office/officeart/2005/8/layout/vList2#3"/>
    <dgm:cxn modelId="{63938C83-4D1E-4B43-965E-C9A7F6D19BF9}" type="presOf" srcId="{8E4AC655-727F-C746-B181-A3F7C9E9A39F}" destId="{83C615D7-3F44-1542-8AB9-18060F3340FA}" srcOrd="0" destOrd="4" presId="urn:microsoft.com/office/officeart/2005/8/layout/vList2#3"/>
    <dgm:cxn modelId="{8F394AA0-C6AF-0046-964D-825527C2CE57}" type="presOf" srcId="{40C135C6-FE8A-BE49-940B-3952902C4556}" destId="{83C615D7-3F44-1542-8AB9-18060F3340FA}" srcOrd="0" destOrd="0" presId="urn:microsoft.com/office/officeart/2005/8/layout/vList2#3"/>
    <dgm:cxn modelId="{C5C397B8-A268-A049-8F14-DC17542335BB}" type="presOf" srcId="{DE32B994-2433-8247-8127-160999E74777}" destId="{B3D4FF40-A116-F443-A12B-EBBDAC4C5921}" srcOrd="0" destOrd="2" presId="urn:microsoft.com/office/officeart/2005/8/layout/vList2#3"/>
    <dgm:cxn modelId="{20AAC4C0-0D10-49F9-94CC-7F9A98CD0892}" srcId="{CD4C4DF3-CDA3-4C1A-BA09-6F2AA9088C98}" destId="{B3AC4ABD-3393-49E6-B22C-5258D54F3AA8}" srcOrd="2" destOrd="0" parTransId="{217CAF8E-9194-4CEE-B13D-4E63A1D5BC08}" sibTransId="{7625B602-CC8D-40F6-A946-15E9FF8A917C}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72DD3FDF-998E-ED40-B203-A8A842484DE5}" type="presOf" srcId="{82BF780E-35C8-5244-A178-392312345216}" destId="{B3D4FF40-A116-F443-A12B-EBBDAC4C5921}" srcOrd="0" destOrd="0" presId="urn:microsoft.com/office/officeart/2005/8/layout/vList2#3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7F7FB686-798E-5342-8DDD-4603B2ACB674}" type="presParOf" srcId="{E3F036DE-6942-EB4D-9A0C-88DB77F2BE78}" destId="{F36BEC44-DAC6-6343-85FD-985E84DAB391}" srcOrd="0" destOrd="0" presId="urn:microsoft.com/office/officeart/2005/8/layout/vList2#3"/>
    <dgm:cxn modelId="{CD3E64ED-3C03-594F-B0CB-27FC002932A0}" type="presParOf" srcId="{E3F036DE-6942-EB4D-9A0C-88DB77F2BE78}" destId="{68A43072-FD69-0140-96BE-1ECE3004433B}" srcOrd="1" destOrd="0" presId="urn:microsoft.com/office/officeart/2005/8/layout/vList2#3"/>
    <dgm:cxn modelId="{96D9C9FF-32FB-594B-8360-12EE92A92ECF}" type="presParOf" srcId="{E3F036DE-6942-EB4D-9A0C-88DB77F2BE78}" destId="{CAA1060A-F01D-234D-A5B5-15047FFE84C8}" srcOrd="2" destOrd="0" presId="urn:microsoft.com/office/officeart/2005/8/layout/vList2#3"/>
    <dgm:cxn modelId="{C0EF9506-2B4B-504D-A865-7EABDA17FD3E}" type="presParOf" srcId="{E3F036DE-6942-EB4D-9A0C-88DB77F2BE78}" destId="{B3D4FF40-A116-F443-A12B-EBBDAC4C5921}" srcOrd="3" destOrd="0" presId="urn:microsoft.com/office/officeart/2005/8/layout/vList2#3"/>
    <dgm:cxn modelId="{F24A70AF-72BE-1A4B-8A66-AC0BEE70CF99}" type="presParOf" srcId="{E3F036DE-6942-EB4D-9A0C-88DB77F2BE78}" destId="{0F9D7059-6B5A-324D-BBB2-FF4779936521}" srcOrd="4" destOrd="0" presId="urn:microsoft.com/office/officeart/2005/8/layout/vList2#3"/>
    <dgm:cxn modelId="{57B4991A-609D-CF41-A841-D93D8C018ABF}" type="presParOf" srcId="{E3F036DE-6942-EB4D-9A0C-88DB77F2BE78}" destId="{83C615D7-3F44-1542-8AB9-18060F3340FA}" srcOrd="5" destOrd="0" presId="urn:microsoft.com/office/officeart/2005/8/layout/vList2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#4" loCatId="list" qsTypeId="urn:microsoft.com/office/officeart/2005/8/quickstyle/simple1#4" qsCatId="simple" csTypeId="urn:microsoft.com/office/officeart/2005/8/colors/colorful2#4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/>
      <dgm:t>
        <a:bodyPr/>
        <a:lstStyle/>
        <a:p>
          <a:r>
            <a:rPr lang="en-US" altLang="zh-CN" dirty="0"/>
            <a:t>Nearest</a:t>
          </a:r>
          <a:r>
            <a:rPr lang="zh-CN" altLang="en-US" dirty="0"/>
            <a:t> </a:t>
          </a:r>
          <a:r>
            <a:rPr lang="en-US" altLang="zh-CN" dirty="0"/>
            <a:t>Neighbor</a:t>
          </a:r>
          <a:r>
            <a:rPr lang="zh-CN" altLang="en-US" dirty="0"/>
            <a:t> </a:t>
          </a:r>
          <a:r>
            <a:rPr lang="en-US" altLang="zh-CN" dirty="0"/>
            <a:t>Search</a:t>
          </a:r>
          <a:endParaRPr lang="en-US" dirty="0"/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/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/>
        </a:p>
      </dgm:t>
    </dgm:pt>
    <dgm:pt modelId="{CF2444AC-25A3-45AF-9E27-F0625589132F}">
      <dgm:prSet/>
      <dgm:spPr/>
      <dgm:t>
        <a:bodyPr/>
        <a:lstStyle/>
        <a:p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Search</a:t>
          </a:r>
          <a:r>
            <a:rPr lang="zh-CN" altLang="en-US" dirty="0"/>
            <a:t> </a:t>
          </a:r>
          <a:r>
            <a:rPr lang="en-US" altLang="zh-CN" dirty="0"/>
            <a:t>in</a:t>
          </a:r>
          <a:r>
            <a:rPr lang="zh-CN" altLang="en-US" dirty="0"/>
            <a:t> </a:t>
          </a:r>
          <a:r>
            <a:rPr lang="en-US" dirty="0"/>
            <a:t>Q</a:t>
          </a:r>
          <a:r>
            <a:rPr lang="en-US" altLang="zh-CN" dirty="0"/>
            <a:t>uad</a:t>
          </a:r>
          <a:r>
            <a:rPr lang="en-US" baseline="0" dirty="0"/>
            <a:t> Tree</a:t>
          </a:r>
          <a:endParaRPr lang="en-US" dirty="0"/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/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/>
        </a:p>
      </dgm:t>
    </dgm:pt>
    <dgm:pt modelId="{B3AC4ABD-3393-49E6-B22C-5258D54F3AA8}">
      <dgm:prSet/>
      <dgm:spPr/>
      <dgm:t>
        <a:bodyPr/>
        <a:lstStyle/>
        <a:p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Search</a:t>
          </a:r>
          <a:r>
            <a:rPr lang="zh-CN" altLang="en-US" dirty="0"/>
            <a:t> </a:t>
          </a:r>
          <a:r>
            <a:rPr lang="en-US" altLang="zh-CN" dirty="0"/>
            <a:t>in</a:t>
          </a:r>
          <a:r>
            <a:rPr lang="zh-CN" altLang="en-US" dirty="0"/>
            <a:t> </a:t>
          </a:r>
          <a:r>
            <a:rPr lang="en-US" dirty="0"/>
            <a:t>K-D Tree</a:t>
          </a: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/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/>
        </a:p>
      </dgm:t>
    </dgm:pt>
    <dgm:pt modelId="{82BF780E-35C8-5244-A178-392312345216}">
      <dgm:prSet/>
      <dgm:spPr/>
      <dgm:t>
        <a:bodyPr/>
        <a:lstStyle/>
        <a:p>
          <a:r>
            <a:rPr lang="en-US" altLang="zh-CN" dirty="0"/>
            <a:t>Quad</a:t>
          </a:r>
          <a:r>
            <a:rPr lang="zh-CN" altLang="en-US" dirty="0"/>
            <a:t> </a:t>
          </a:r>
          <a:r>
            <a:rPr lang="en-US" altLang="zh-CN" dirty="0"/>
            <a:t>Tree</a:t>
          </a:r>
          <a:r>
            <a:rPr lang="zh-CN" altLang="en-US" dirty="0"/>
            <a:t> </a:t>
          </a:r>
          <a:r>
            <a:rPr lang="en-US" altLang="zh-CN" dirty="0"/>
            <a:t>Construction</a:t>
          </a:r>
          <a:endParaRPr lang="zh-CN" altLang="en-US" dirty="0"/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2EEF85AF-4B87-C440-83AA-7A6F97371E15}">
      <dgm:prSet/>
      <dgm:spPr/>
      <dgm:t>
        <a:bodyPr/>
        <a:lstStyle/>
        <a:p>
          <a:r>
            <a:rPr lang="en-US" altLang="zh-CN" dirty="0"/>
            <a:t>Exact</a:t>
          </a:r>
          <a:r>
            <a:rPr lang="zh-CN" altLang="en-US" dirty="0"/>
            <a:t> </a:t>
          </a:r>
          <a:r>
            <a:rPr lang="en-US" altLang="zh-CN" dirty="0"/>
            <a:t>Query</a:t>
          </a:r>
          <a:endParaRPr lang="zh-CN" altLang="en-US" dirty="0"/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40C135C6-FE8A-BE49-940B-3952902C4556}">
      <dgm:prSet/>
      <dgm:spPr/>
      <dgm:t>
        <a:bodyPr/>
        <a:lstStyle/>
        <a:p>
          <a:r>
            <a:rPr lang="en-US" altLang="zh-CN" dirty="0"/>
            <a:t>NN</a:t>
          </a:r>
          <a:r>
            <a:rPr lang="zh-CN" altLang="en-US" baseline="0" dirty="0"/>
            <a:t> </a:t>
          </a:r>
          <a:r>
            <a:rPr lang="en-US" altLang="zh-CN" baseline="0" dirty="0"/>
            <a:t>search</a:t>
          </a:r>
          <a:r>
            <a:rPr lang="zh-CN" altLang="en-US" baseline="0" dirty="0"/>
            <a:t> </a:t>
          </a:r>
          <a:r>
            <a:rPr lang="en-US" altLang="zh-CN" baseline="0" dirty="0"/>
            <a:t>in</a:t>
          </a:r>
          <a:r>
            <a:rPr lang="zh-CN" altLang="en-US" baseline="0" dirty="0"/>
            <a:t> </a:t>
          </a:r>
          <a:r>
            <a:rPr lang="en-US" altLang="zh-CN" baseline="0" dirty="0"/>
            <a:t>K-D</a:t>
          </a:r>
          <a:r>
            <a:rPr lang="zh-CN" altLang="en-US" baseline="0" dirty="0"/>
            <a:t> </a:t>
          </a:r>
          <a:r>
            <a:rPr lang="en-US" altLang="zh-CN" baseline="0" dirty="0"/>
            <a:t>Tree</a:t>
          </a:r>
          <a:endParaRPr lang="zh-CN" altLang="en-US" dirty="0"/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DE32B994-2433-8247-8127-160999E74777}">
      <dgm:prSet/>
      <dgm:spPr/>
      <dgm:t>
        <a:bodyPr/>
        <a:lstStyle/>
        <a:p>
          <a:r>
            <a:rPr lang="en-US" altLang="zh-CN" dirty="0"/>
            <a:t>Nearest</a:t>
          </a:r>
          <a:r>
            <a:rPr lang="zh-CN" altLang="en-US" dirty="0"/>
            <a:t> </a:t>
          </a:r>
          <a:r>
            <a:rPr lang="en-US" altLang="zh-CN" dirty="0"/>
            <a:t>Neighbor</a:t>
          </a:r>
          <a:r>
            <a:rPr lang="zh-CN" altLang="en-US" dirty="0"/>
            <a:t> </a:t>
          </a:r>
          <a:r>
            <a:rPr lang="en-US" altLang="zh-CN" dirty="0"/>
            <a:t>Query</a:t>
          </a:r>
          <a:endParaRPr lang="zh-CN" altLang="en-US" dirty="0"/>
        </a:p>
      </dgm:t>
    </dgm:pt>
    <dgm:pt modelId="{D5D769CD-D7F3-5549-9419-3FF36EB860FD}" type="parTrans" cxnId="{F7FB684F-E3C3-D043-BE4A-5D1402BED5E0}">
      <dgm:prSet/>
      <dgm:spPr/>
      <dgm:t>
        <a:bodyPr/>
        <a:lstStyle/>
        <a:p>
          <a:endParaRPr lang="zh-CN" altLang="en-US"/>
        </a:p>
      </dgm:t>
    </dgm:pt>
    <dgm:pt modelId="{C025DF5F-8DA5-7C4F-8D26-868CE7650D79}" type="sibTrans" cxnId="{F7FB684F-E3C3-D043-BE4A-5D1402BED5E0}">
      <dgm:prSet/>
      <dgm:spPr/>
      <dgm:t>
        <a:bodyPr/>
        <a:lstStyle/>
        <a:p>
          <a:endParaRPr lang="zh-CN" altLang="en-US"/>
        </a:p>
      </dgm:t>
    </dgm:pt>
    <dgm:pt modelId="{3B7939C4-9C28-9D47-B1D9-2DAB2FBA9B55}">
      <dgm:prSet/>
      <dgm:spPr/>
      <dgm:t>
        <a:bodyPr/>
        <a:lstStyle/>
        <a:p>
          <a:r>
            <a:rPr lang="en-US" altLang="zh-CN" dirty="0"/>
            <a:t>Variants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Search</a:t>
          </a:r>
          <a:endParaRPr lang="zh-CN" altLang="en-US" dirty="0"/>
        </a:p>
      </dgm:t>
    </dgm:pt>
    <dgm:pt modelId="{EC00FBDE-E17D-464C-9C2E-E4D47BAD56E7}" type="parTrans" cxnId="{0C48190E-D22E-B041-A974-9EEBD883AEA3}">
      <dgm:prSet/>
      <dgm:spPr/>
      <dgm:t>
        <a:bodyPr/>
        <a:lstStyle/>
        <a:p>
          <a:endParaRPr lang="zh-CN" altLang="en-US"/>
        </a:p>
      </dgm:t>
    </dgm:pt>
    <dgm:pt modelId="{D18FCB12-7255-5E49-B95C-D7BA68A65745}" type="sibTrans" cxnId="{0C48190E-D22E-B041-A974-9EEBD883AEA3}">
      <dgm:prSet/>
      <dgm:spPr/>
      <dgm:t>
        <a:bodyPr/>
        <a:lstStyle/>
        <a:p>
          <a:endParaRPr lang="zh-CN" altLang="en-US"/>
        </a:p>
      </dgm:t>
    </dgm:pt>
    <dgm:pt modelId="{B56D7259-A8EE-7B43-8FF3-40A2FEFCF127}">
      <dgm:prSet/>
      <dgm:spPr/>
      <dgm:t>
        <a:bodyPr/>
        <a:lstStyle/>
        <a:p>
          <a:r>
            <a:rPr lang="en-US" altLang="zh-CN" dirty="0"/>
            <a:t>PCP</a:t>
          </a:r>
          <a:r>
            <a:rPr lang="zh-CN" altLang="en-US" dirty="0"/>
            <a:t> </a:t>
          </a:r>
          <a:r>
            <a:rPr lang="en-US" altLang="zh-CN" dirty="0"/>
            <a:t>Tree</a:t>
          </a:r>
          <a:endParaRPr lang="zh-CN" altLang="en-US" dirty="0"/>
        </a:p>
      </dgm:t>
    </dgm:pt>
    <dgm:pt modelId="{BF2B134E-39FB-C848-BA9F-11784DA3BEEA}" type="parTrans" cxnId="{5C21FF26-6D7F-784C-B875-BFC1D9D074C0}">
      <dgm:prSet/>
      <dgm:spPr/>
      <dgm:t>
        <a:bodyPr/>
        <a:lstStyle/>
        <a:p>
          <a:endParaRPr lang="zh-CN" altLang="en-US"/>
        </a:p>
      </dgm:t>
    </dgm:pt>
    <dgm:pt modelId="{69DF296A-4610-9242-9631-18D8207413EA}" type="sibTrans" cxnId="{5C21FF26-6D7F-784C-B875-BFC1D9D074C0}">
      <dgm:prSet/>
      <dgm:spPr/>
      <dgm:t>
        <a:bodyPr/>
        <a:lstStyle/>
        <a:p>
          <a:endParaRPr lang="zh-CN" altLang="en-US"/>
        </a:p>
      </dgm:t>
    </dgm:pt>
    <dgm:pt modelId="{0D400FFD-93DF-3A4A-8669-67F976B6892C}">
      <dgm:prSet/>
      <dgm:spPr/>
      <dgm:t>
        <a:bodyPr/>
        <a:lstStyle/>
        <a:p>
          <a:r>
            <a:rPr lang="en-US" altLang="zh-CN" dirty="0"/>
            <a:t>Approximate</a:t>
          </a:r>
          <a:r>
            <a:rPr lang="zh-CN" altLang="en-US" dirty="0"/>
            <a:t> </a:t>
          </a:r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in</a:t>
          </a:r>
          <a:r>
            <a:rPr lang="zh-CN" altLang="en-US" dirty="0"/>
            <a:t> </a:t>
          </a:r>
          <a:r>
            <a:rPr lang="en-US" altLang="zh-CN" dirty="0"/>
            <a:t>K-D</a:t>
          </a:r>
          <a:r>
            <a:rPr lang="zh-CN" altLang="en-US" dirty="0"/>
            <a:t> </a:t>
          </a:r>
          <a:r>
            <a:rPr lang="en-US" altLang="zh-CN" dirty="0"/>
            <a:t>Tree</a:t>
          </a:r>
          <a:endParaRPr lang="zh-CN" altLang="en-US" dirty="0"/>
        </a:p>
      </dgm:t>
    </dgm:pt>
    <dgm:pt modelId="{DCCD73A2-2DD3-1344-A23B-0F8CD0BD734A}" type="sibTrans" cxnId="{5DA0E643-8066-8F41-AB4C-176A0C838166}">
      <dgm:prSet/>
      <dgm:spPr/>
      <dgm:t>
        <a:bodyPr/>
        <a:lstStyle/>
        <a:p>
          <a:endParaRPr lang="zh-CN" altLang="en-US"/>
        </a:p>
      </dgm:t>
    </dgm:pt>
    <dgm:pt modelId="{DDC74AF5-32E8-8F44-9064-D3D150FA8FF7}" type="parTrans" cxnId="{5DA0E643-8066-8F41-AB4C-176A0C838166}">
      <dgm:prSet/>
      <dgm:spPr/>
      <dgm:t>
        <a:bodyPr/>
        <a:lstStyle/>
        <a:p>
          <a:endParaRPr lang="zh-CN" altLang="en-US"/>
        </a:p>
      </dgm:t>
    </dgm:pt>
    <dgm:pt modelId="{8E4AC655-727F-C746-B181-A3F7C9E9A39F}">
      <dgm:prSet/>
      <dgm:spPr/>
      <dgm:t>
        <a:bodyPr/>
        <a:lstStyle/>
        <a:p>
          <a:r>
            <a:rPr lang="el-GR" dirty="0"/>
            <a:t>ε‐</a:t>
          </a:r>
          <a:r>
            <a:rPr lang="en-US" dirty="0"/>
            <a:t>Approximate </a:t>
          </a:r>
          <a:r>
            <a:rPr lang="en-US" altLang="zh-CN" dirty="0"/>
            <a:t>NN</a:t>
          </a:r>
          <a:r>
            <a:rPr lang="zh-CN" altLang="en-US" dirty="0"/>
            <a:t> </a:t>
          </a:r>
          <a:r>
            <a:rPr lang="en-US" altLang="zh-CN" dirty="0"/>
            <a:t>in</a:t>
          </a:r>
          <a:r>
            <a:rPr lang="zh-CN" altLang="en-US" dirty="0"/>
            <a:t> </a:t>
          </a:r>
          <a:r>
            <a:rPr lang="en-US" altLang="zh-CN" dirty="0"/>
            <a:t>K-D</a:t>
          </a:r>
          <a:r>
            <a:rPr lang="zh-CN" altLang="en-US" dirty="0"/>
            <a:t> </a:t>
          </a:r>
          <a:r>
            <a:rPr lang="en-US" altLang="zh-CN" dirty="0"/>
            <a:t>Tree</a:t>
          </a:r>
          <a:endParaRPr lang="zh-CN" altLang="en-US" dirty="0"/>
        </a:p>
      </dgm:t>
    </dgm:pt>
    <dgm:pt modelId="{D7465A58-071D-234D-954F-11B02E754A38}" type="sibTrans" cxnId="{D91C8D40-5E92-C649-8A82-3871B63F427E}">
      <dgm:prSet/>
      <dgm:spPr/>
      <dgm:t>
        <a:bodyPr/>
        <a:lstStyle/>
        <a:p>
          <a:endParaRPr lang="zh-CN" altLang="en-US"/>
        </a:p>
      </dgm:t>
    </dgm:pt>
    <dgm:pt modelId="{D1A821C0-6552-8348-A25D-0CE4202CD842}" type="parTrans" cxnId="{D91C8D40-5E92-C649-8A82-3871B63F427E}">
      <dgm:prSet/>
      <dgm:spPr/>
      <dgm:t>
        <a:bodyPr/>
        <a:lstStyle/>
        <a:p>
          <a:endParaRPr lang="zh-CN" altLang="en-US"/>
        </a:p>
      </dgm:t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8A43072-FD69-0140-96BE-1ECE3004433B}" type="pres">
      <dgm:prSet presAssocID="{8C98467B-A16D-46AB-89F9-E167C0071142}" presName="spacer" presStyleCnt="0"/>
      <dgm:spPr/>
    </dgm:pt>
    <dgm:pt modelId="{CAA1060A-F01D-234D-A5B5-15047FFE84C8}" type="pres">
      <dgm:prSet presAssocID="{CF2444AC-25A3-45AF-9E27-F0625589132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0" presStyleCnt="2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C48190E-D22E-B041-A974-9EEBD883AEA3}" srcId="{B3AC4ABD-3393-49E6-B22C-5258D54F3AA8}" destId="{3B7939C4-9C28-9D47-B1D9-2DAB2FBA9B55}" srcOrd="1" destOrd="0" parTransId="{EC00FBDE-E17D-464C-9C2E-E4D47BAD56E7}" sibTransId="{D18FCB12-7255-5E49-B95C-D7BA68A65745}"/>
    <dgm:cxn modelId="{8E0AEC1B-ACC7-5E43-83DF-BDE26A6358E4}" type="presOf" srcId="{B56D7259-A8EE-7B43-8FF3-40A2FEFCF127}" destId="{83C615D7-3F44-1542-8AB9-18060F3340FA}" srcOrd="0" destOrd="2" presId="urn:microsoft.com/office/officeart/2005/8/layout/vList2#4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5C21FF26-6D7F-784C-B875-BFC1D9D074C0}" srcId="{3B7939C4-9C28-9D47-B1D9-2DAB2FBA9B55}" destId="{B56D7259-A8EE-7B43-8FF3-40A2FEFCF127}" srcOrd="0" destOrd="0" parTransId="{BF2B134E-39FB-C848-BA9F-11784DA3BEEA}" sibTransId="{69DF296A-4610-9242-9631-18D8207413EA}"/>
    <dgm:cxn modelId="{3C8D3C3C-8254-6F49-A03D-C6DAB8DBEE2A}" type="presOf" srcId="{0D400FFD-93DF-3A4A-8669-67F976B6892C}" destId="{83C615D7-3F44-1542-8AB9-18060F3340FA}" srcOrd="0" destOrd="3" presId="urn:microsoft.com/office/officeart/2005/8/layout/vList2#4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D91C8D40-5E92-C649-8A82-3871B63F427E}" srcId="{3B7939C4-9C28-9D47-B1D9-2DAB2FBA9B55}" destId="{8E4AC655-727F-C746-B181-A3F7C9E9A39F}" srcOrd="2" destOrd="0" parTransId="{D1A821C0-6552-8348-A25D-0CE4202CD842}" sibTransId="{D7465A58-071D-234D-954F-11B02E754A38}"/>
    <dgm:cxn modelId="{5DA0E643-8066-8F41-AB4C-176A0C838166}" srcId="{3B7939C4-9C28-9D47-B1D9-2DAB2FBA9B55}" destId="{0D400FFD-93DF-3A4A-8669-67F976B6892C}" srcOrd="1" destOrd="0" parTransId="{DDC74AF5-32E8-8F44-9064-D3D150FA8FF7}" sibTransId="{DCCD73A2-2DD3-1344-A23B-0F8CD0BD734A}"/>
    <dgm:cxn modelId="{97BB4C4C-9569-9C46-819E-4A8976115266}" type="presOf" srcId="{AC918355-8F9B-4F09-B720-6574DA287041}" destId="{F36BEC44-DAC6-6343-85FD-985E84DAB391}" srcOrd="0" destOrd="0" presId="urn:microsoft.com/office/officeart/2005/8/layout/vList2#4"/>
    <dgm:cxn modelId="{F7FB684F-E3C3-D043-BE4A-5D1402BED5E0}" srcId="{CF2444AC-25A3-45AF-9E27-F0625589132F}" destId="{DE32B994-2433-8247-8127-160999E74777}" srcOrd="2" destOrd="0" parTransId="{D5D769CD-D7F3-5549-9419-3FF36EB860FD}" sibTransId="{C025DF5F-8DA5-7C4F-8D26-868CE7650D79}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94026755-DE43-3D45-8C77-553F70E5063F}" type="presOf" srcId="{B3AC4ABD-3393-49E6-B22C-5258D54F3AA8}" destId="{0F9D7059-6B5A-324D-BBB2-FF4779936521}" srcOrd="0" destOrd="0" presId="urn:microsoft.com/office/officeart/2005/8/layout/vList2#4"/>
    <dgm:cxn modelId="{AE04DE58-AB13-B24A-8054-0BE537E20E42}" type="presOf" srcId="{CF2444AC-25A3-45AF-9E27-F0625589132F}" destId="{CAA1060A-F01D-234D-A5B5-15047FFE84C8}" srcOrd="0" destOrd="0" presId="urn:microsoft.com/office/officeart/2005/8/layout/vList2#4"/>
    <dgm:cxn modelId="{EF02EC68-3DE4-1743-9B23-8D19D086DB8D}" type="presOf" srcId="{2EEF85AF-4B87-C440-83AA-7A6F97371E15}" destId="{B3D4FF40-A116-F443-A12B-EBBDAC4C5921}" srcOrd="0" destOrd="1" presId="urn:microsoft.com/office/officeart/2005/8/layout/vList2#4"/>
    <dgm:cxn modelId="{970D3C77-8B34-8E49-95CA-7A12EEA3CE05}" type="presOf" srcId="{3B7939C4-9C28-9D47-B1D9-2DAB2FBA9B55}" destId="{83C615D7-3F44-1542-8AB9-18060F3340FA}" srcOrd="0" destOrd="1" presId="urn:microsoft.com/office/officeart/2005/8/layout/vList2#4"/>
    <dgm:cxn modelId="{367CF977-A5F2-A142-A10A-27687B4E5CBC}" type="presOf" srcId="{CD4C4DF3-CDA3-4C1A-BA09-6F2AA9088C98}" destId="{E3F036DE-6942-EB4D-9A0C-88DB77F2BE78}" srcOrd="0" destOrd="0" presId="urn:microsoft.com/office/officeart/2005/8/layout/vList2#4"/>
    <dgm:cxn modelId="{63938C83-4D1E-4B43-965E-C9A7F6D19BF9}" type="presOf" srcId="{8E4AC655-727F-C746-B181-A3F7C9E9A39F}" destId="{83C615D7-3F44-1542-8AB9-18060F3340FA}" srcOrd="0" destOrd="4" presId="urn:microsoft.com/office/officeart/2005/8/layout/vList2#4"/>
    <dgm:cxn modelId="{8F394AA0-C6AF-0046-964D-825527C2CE57}" type="presOf" srcId="{40C135C6-FE8A-BE49-940B-3952902C4556}" destId="{83C615D7-3F44-1542-8AB9-18060F3340FA}" srcOrd="0" destOrd="0" presId="urn:microsoft.com/office/officeart/2005/8/layout/vList2#4"/>
    <dgm:cxn modelId="{C5C397B8-A268-A049-8F14-DC17542335BB}" type="presOf" srcId="{DE32B994-2433-8247-8127-160999E74777}" destId="{B3D4FF40-A116-F443-A12B-EBBDAC4C5921}" srcOrd="0" destOrd="2" presId="urn:microsoft.com/office/officeart/2005/8/layout/vList2#4"/>
    <dgm:cxn modelId="{20AAC4C0-0D10-49F9-94CC-7F9A98CD0892}" srcId="{CD4C4DF3-CDA3-4C1A-BA09-6F2AA9088C98}" destId="{B3AC4ABD-3393-49E6-B22C-5258D54F3AA8}" srcOrd="2" destOrd="0" parTransId="{217CAF8E-9194-4CEE-B13D-4E63A1D5BC08}" sibTransId="{7625B602-CC8D-40F6-A946-15E9FF8A917C}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72DD3FDF-998E-ED40-B203-A8A842484DE5}" type="presOf" srcId="{82BF780E-35C8-5244-A178-392312345216}" destId="{B3D4FF40-A116-F443-A12B-EBBDAC4C5921}" srcOrd="0" destOrd="0" presId="urn:microsoft.com/office/officeart/2005/8/layout/vList2#4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7F7FB686-798E-5342-8DDD-4603B2ACB674}" type="presParOf" srcId="{E3F036DE-6942-EB4D-9A0C-88DB77F2BE78}" destId="{F36BEC44-DAC6-6343-85FD-985E84DAB391}" srcOrd="0" destOrd="0" presId="urn:microsoft.com/office/officeart/2005/8/layout/vList2#4"/>
    <dgm:cxn modelId="{CD3E64ED-3C03-594F-B0CB-27FC002932A0}" type="presParOf" srcId="{E3F036DE-6942-EB4D-9A0C-88DB77F2BE78}" destId="{68A43072-FD69-0140-96BE-1ECE3004433B}" srcOrd="1" destOrd="0" presId="urn:microsoft.com/office/officeart/2005/8/layout/vList2#4"/>
    <dgm:cxn modelId="{96D9C9FF-32FB-594B-8360-12EE92A92ECF}" type="presParOf" srcId="{E3F036DE-6942-EB4D-9A0C-88DB77F2BE78}" destId="{CAA1060A-F01D-234D-A5B5-15047FFE84C8}" srcOrd="2" destOrd="0" presId="urn:microsoft.com/office/officeart/2005/8/layout/vList2#4"/>
    <dgm:cxn modelId="{C0EF9506-2B4B-504D-A865-7EABDA17FD3E}" type="presParOf" srcId="{E3F036DE-6942-EB4D-9A0C-88DB77F2BE78}" destId="{B3D4FF40-A116-F443-A12B-EBBDAC4C5921}" srcOrd="3" destOrd="0" presId="urn:microsoft.com/office/officeart/2005/8/layout/vList2#4"/>
    <dgm:cxn modelId="{F24A70AF-72BE-1A4B-8A66-AC0BEE70CF99}" type="presParOf" srcId="{E3F036DE-6942-EB4D-9A0C-88DB77F2BE78}" destId="{0F9D7059-6B5A-324D-BBB2-FF4779936521}" srcOrd="4" destOrd="0" presId="urn:microsoft.com/office/officeart/2005/8/layout/vList2#4"/>
    <dgm:cxn modelId="{57B4991A-609D-CF41-A841-D93D8C018ABF}" type="presParOf" srcId="{E3F036DE-6942-EB4D-9A0C-88DB77F2BE78}" destId="{83C615D7-3F44-1542-8AB9-18060F3340FA}" srcOrd="5" destOrd="0" presId="urn:microsoft.com/office/officeart/2005/8/layout/vList2#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82381"/>
          <a:ext cx="4697730" cy="719549"/>
        </a:xfrm>
        <a:prstGeom prst="roundRect">
          <a:avLst/>
        </a:prstGeom>
        <a:solidFill>
          <a:srgbClr val="8AB833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</a:t>
          </a:r>
          <a:r>
            <a:rPr lang="en-US" sz="3000" kern="1200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of Queries </a:t>
          </a:r>
          <a:endParaRPr lang="en-US" sz="3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5125" y="117506"/>
        <a:ext cx="4627480" cy="649299"/>
      </dsp:txXfrm>
    </dsp:sp>
    <dsp:sp modelId="{CAA1060A-F01D-234D-A5B5-15047FFE84C8}">
      <dsp:nvSpPr>
        <dsp:cNvPr id="0" name=""/>
        <dsp:cNvSpPr/>
      </dsp:nvSpPr>
      <dsp:spPr>
        <a:xfrm>
          <a:off x="0" y="888331"/>
          <a:ext cx="4697730" cy="719549"/>
        </a:xfrm>
        <a:prstGeom prst="roundRect">
          <a:avLst/>
        </a:prstGeom>
        <a:solidFill>
          <a:srgbClr val="8AB833">
            <a:hueOff val="-220674"/>
            <a:satOff val="1055"/>
            <a:lumOff val="147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Range</a:t>
          </a:r>
          <a:r>
            <a:rPr lang="en-US" sz="3000" kern="1200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Tree</a:t>
          </a:r>
          <a:endParaRPr lang="en-US" sz="3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5125" y="923456"/>
        <a:ext cx="4627480" cy="649299"/>
      </dsp:txXfrm>
    </dsp:sp>
    <dsp:sp modelId="{B3D4FF40-A116-F443-A12B-EBBDAC4C5921}">
      <dsp:nvSpPr>
        <dsp:cNvPr id="0" name=""/>
        <dsp:cNvSpPr/>
      </dsp:nvSpPr>
      <dsp:spPr>
        <a:xfrm>
          <a:off x="0" y="1607881"/>
          <a:ext cx="4697730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1D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2D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0" y="1607881"/>
        <a:ext cx="4697730" cy="791774"/>
      </dsp:txXfrm>
    </dsp:sp>
    <dsp:sp modelId="{0F9D7059-6B5A-324D-BBB2-FF4779936521}">
      <dsp:nvSpPr>
        <dsp:cNvPr id="0" name=""/>
        <dsp:cNvSpPr/>
      </dsp:nvSpPr>
      <dsp:spPr>
        <a:xfrm>
          <a:off x="0" y="2399656"/>
          <a:ext cx="4697730" cy="719549"/>
        </a:xfrm>
        <a:prstGeom prst="roundRect">
          <a:avLst/>
        </a:prstGeom>
        <a:solidFill>
          <a:srgbClr val="8AB833">
            <a:hueOff val="-441348"/>
            <a:satOff val="2109"/>
            <a:lumOff val="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K-D Tree</a:t>
          </a:r>
        </a:p>
      </dsp:txBody>
      <dsp:txXfrm>
        <a:off x="35125" y="2434781"/>
        <a:ext cx="4627480" cy="649299"/>
      </dsp:txXfrm>
    </dsp:sp>
    <dsp:sp modelId="{83C615D7-3F44-1542-8AB9-18060F3340FA}">
      <dsp:nvSpPr>
        <dsp:cNvPr id="0" name=""/>
        <dsp:cNvSpPr/>
      </dsp:nvSpPr>
      <dsp:spPr>
        <a:xfrm>
          <a:off x="0" y="3119206"/>
          <a:ext cx="4697730" cy="1583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construction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exact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nearest neighbor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0" y="3119206"/>
        <a:ext cx="4697730" cy="1583549"/>
      </dsp:txXfrm>
    </dsp:sp>
    <dsp:sp modelId="{27CFC81F-1429-A241-BA29-F4FAC6F69A90}">
      <dsp:nvSpPr>
        <dsp:cNvPr id="0" name=""/>
        <dsp:cNvSpPr/>
      </dsp:nvSpPr>
      <dsp:spPr>
        <a:xfrm>
          <a:off x="0" y="4702756"/>
          <a:ext cx="4697730" cy="719549"/>
        </a:xfrm>
        <a:prstGeom prst="roundRect">
          <a:avLst/>
        </a:prstGeom>
        <a:solidFill>
          <a:srgbClr val="8AB833">
            <a:hueOff val="-662022"/>
            <a:satOff val="3164"/>
            <a:lumOff val="441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Quad Trees</a:t>
          </a:r>
        </a:p>
      </dsp:txBody>
      <dsp:txXfrm>
        <a:off x="35125" y="4737881"/>
        <a:ext cx="4627480" cy="6492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82381"/>
          <a:ext cx="4697730" cy="719549"/>
        </a:xfrm>
        <a:prstGeom prst="roundRect">
          <a:avLst/>
        </a:prstGeom>
        <a:solidFill>
          <a:srgbClr val="8AB833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</a:t>
          </a:r>
          <a:r>
            <a:rPr lang="en-US" sz="3000" kern="1200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of Queries </a:t>
          </a:r>
          <a:endParaRPr lang="en-US" sz="3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5125" y="117506"/>
        <a:ext cx="4627480" cy="649299"/>
      </dsp:txXfrm>
    </dsp:sp>
    <dsp:sp modelId="{CAA1060A-F01D-234D-A5B5-15047FFE84C8}">
      <dsp:nvSpPr>
        <dsp:cNvPr id="0" name=""/>
        <dsp:cNvSpPr/>
      </dsp:nvSpPr>
      <dsp:spPr>
        <a:xfrm>
          <a:off x="0" y="888331"/>
          <a:ext cx="4697730" cy="719549"/>
        </a:xfrm>
        <a:prstGeom prst="roundRect">
          <a:avLst/>
        </a:prstGeom>
        <a:solidFill>
          <a:srgbClr val="8AB833">
            <a:hueOff val="-220674"/>
            <a:satOff val="1055"/>
            <a:lumOff val="147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Range</a:t>
          </a:r>
          <a:r>
            <a:rPr lang="en-US" sz="3000" kern="1200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Tree</a:t>
          </a:r>
          <a:endParaRPr lang="en-US" sz="3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5125" y="923456"/>
        <a:ext cx="4627480" cy="649299"/>
      </dsp:txXfrm>
    </dsp:sp>
    <dsp:sp modelId="{B3D4FF40-A116-F443-A12B-EBBDAC4C5921}">
      <dsp:nvSpPr>
        <dsp:cNvPr id="0" name=""/>
        <dsp:cNvSpPr/>
      </dsp:nvSpPr>
      <dsp:spPr>
        <a:xfrm>
          <a:off x="0" y="1607881"/>
          <a:ext cx="4697730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1D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2D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0" y="1607881"/>
        <a:ext cx="4697730" cy="791774"/>
      </dsp:txXfrm>
    </dsp:sp>
    <dsp:sp modelId="{0F9D7059-6B5A-324D-BBB2-FF4779936521}">
      <dsp:nvSpPr>
        <dsp:cNvPr id="0" name=""/>
        <dsp:cNvSpPr/>
      </dsp:nvSpPr>
      <dsp:spPr>
        <a:xfrm>
          <a:off x="0" y="2399656"/>
          <a:ext cx="4697730" cy="719549"/>
        </a:xfrm>
        <a:prstGeom prst="roundRect">
          <a:avLst/>
        </a:prstGeom>
        <a:solidFill>
          <a:srgbClr val="8AB833">
            <a:hueOff val="-441348"/>
            <a:satOff val="2109"/>
            <a:lumOff val="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K-D Tree</a:t>
          </a:r>
        </a:p>
      </dsp:txBody>
      <dsp:txXfrm>
        <a:off x="35125" y="2434781"/>
        <a:ext cx="4627480" cy="649299"/>
      </dsp:txXfrm>
    </dsp:sp>
    <dsp:sp modelId="{83C615D7-3F44-1542-8AB9-18060F3340FA}">
      <dsp:nvSpPr>
        <dsp:cNvPr id="0" name=""/>
        <dsp:cNvSpPr/>
      </dsp:nvSpPr>
      <dsp:spPr>
        <a:xfrm>
          <a:off x="0" y="3119206"/>
          <a:ext cx="4697730" cy="1583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construction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exact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nearest neighbor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0" y="3119206"/>
        <a:ext cx="4697730" cy="1583549"/>
      </dsp:txXfrm>
    </dsp:sp>
    <dsp:sp modelId="{27CFC81F-1429-A241-BA29-F4FAC6F69A90}">
      <dsp:nvSpPr>
        <dsp:cNvPr id="0" name=""/>
        <dsp:cNvSpPr/>
      </dsp:nvSpPr>
      <dsp:spPr>
        <a:xfrm>
          <a:off x="0" y="4702756"/>
          <a:ext cx="4697730" cy="719549"/>
        </a:xfrm>
        <a:prstGeom prst="roundRect">
          <a:avLst/>
        </a:prstGeom>
        <a:solidFill>
          <a:srgbClr val="8AB833">
            <a:hueOff val="-662022"/>
            <a:satOff val="3164"/>
            <a:lumOff val="441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Quad Trees</a:t>
          </a:r>
        </a:p>
      </dsp:txBody>
      <dsp:txXfrm>
        <a:off x="35125" y="4737881"/>
        <a:ext cx="4627480" cy="6492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82381"/>
          <a:ext cx="4697730" cy="719549"/>
        </a:xfrm>
        <a:prstGeom prst="roundRect">
          <a:avLst/>
        </a:prstGeom>
        <a:solidFill>
          <a:srgbClr val="8AB833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</a:t>
          </a:r>
          <a:r>
            <a:rPr lang="en-US" sz="3000" kern="1200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of Queries </a:t>
          </a:r>
          <a:endParaRPr lang="en-US" sz="3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5125" y="117506"/>
        <a:ext cx="4627480" cy="649299"/>
      </dsp:txXfrm>
    </dsp:sp>
    <dsp:sp modelId="{CAA1060A-F01D-234D-A5B5-15047FFE84C8}">
      <dsp:nvSpPr>
        <dsp:cNvPr id="0" name=""/>
        <dsp:cNvSpPr/>
      </dsp:nvSpPr>
      <dsp:spPr>
        <a:xfrm>
          <a:off x="0" y="888331"/>
          <a:ext cx="4697730" cy="719549"/>
        </a:xfrm>
        <a:prstGeom prst="roundRect">
          <a:avLst/>
        </a:prstGeom>
        <a:solidFill>
          <a:srgbClr val="8AB833">
            <a:hueOff val="-220674"/>
            <a:satOff val="1055"/>
            <a:lumOff val="147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Range</a:t>
          </a:r>
          <a:r>
            <a:rPr lang="en-US" sz="3000" kern="1200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Tree</a:t>
          </a:r>
          <a:endParaRPr lang="en-US" sz="3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5125" y="923456"/>
        <a:ext cx="4627480" cy="649299"/>
      </dsp:txXfrm>
    </dsp:sp>
    <dsp:sp modelId="{B3D4FF40-A116-F443-A12B-EBBDAC4C5921}">
      <dsp:nvSpPr>
        <dsp:cNvPr id="0" name=""/>
        <dsp:cNvSpPr/>
      </dsp:nvSpPr>
      <dsp:spPr>
        <a:xfrm>
          <a:off x="0" y="1607881"/>
          <a:ext cx="4697730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1D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2D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0" y="1607881"/>
        <a:ext cx="4697730" cy="791774"/>
      </dsp:txXfrm>
    </dsp:sp>
    <dsp:sp modelId="{0F9D7059-6B5A-324D-BBB2-FF4779936521}">
      <dsp:nvSpPr>
        <dsp:cNvPr id="0" name=""/>
        <dsp:cNvSpPr/>
      </dsp:nvSpPr>
      <dsp:spPr>
        <a:xfrm>
          <a:off x="0" y="2399656"/>
          <a:ext cx="4697730" cy="719549"/>
        </a:xfrm>
        <a:prstGeom prst="roundRect">
          <a:avLst/>
        </a:prstGeom>
        <a:solidFill>
          <a:srgbClr val="8AB833">
            <a:hueOff val="-441348"/>
            <a:satOff val="2109"/>
            <a:lumOff val="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K-D Tree</a:t>
          </a:r>
        </a:p>
      </dsp:txBody>
      <dsp:txXfrm>
        <a:off x="35125" y="2434781"/>
        <a:ext cx="4627480" cy="649299"/>
      </dsp:txXfrm>
    </dsp:sp>
    <dsp:sp modelId="{83C615D7-3F44-1542-8AB9-18060F3340FA}">
      <dsp:nvSpPr>
        <dsp:cNvPr id="0" name=""/>
        <dsp:cNvSpPr/>
      </dsp:nvSpPr>
      <dsp:spPr>
        <a:xfrm>
          <a:off x="0" y="3119206"/>
          <a:ext cx="4697730" cy="1583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construction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exact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nearest neighbor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0" y="3119206"/>
        <a:ext cx="4697730" cy="1583549"/>
      </dsp:txXfrm>
    </dsp:sp>
    <dsp:sp modelId="{27CFC81F-1429-A241-BA29-F4FAC6F69A90}">
      <dsp:nvSpPr>
        <dsp:cNvPr id="0" name=""/>
        <dsp:cNvSpPr/>
      </dsp:nvSpPr>
      <dsp:spPr>
        <a:xfrm>
          <a:off x="0" y="4702756"/>
          <a:ext cx="4697730" cy="719549"/>
        </a:xfrm>
        <a:prstGeom prst="roundRect">
          <a:avLst/>
        </a:prstGeom>
        <a:solidFill>
          <a:srgbClr val="8AB833">
            <a:hueOff val="-662022"/>
            <a:satOff val="3164"/>
            <a:lumOff val="441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Quad Trees</a:t>
          </a:r>
        </a:p>
      </dsp:txBody>
      <dsp:txXfrm>
        <a:off x="35125" y="4737881"/>
        <a:ext cx="4627480" cy="6492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82381"/>
          <a:ext cx="4697730" cy="719549"/>
        </a:xfrm>
        <a:prstGeom prst="roundRect">
          <a:avLst/>
        </a:prstGeom>
        <a:solidFill>
          <a:srgbClr val="8AB833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</a:t>
          </a:r>
          <a:r>
            <a:rPr lang="en-US" sz="3000" kern="1200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of Queries </a:t>
          </a:r>
          <a:endParaRPr lang="en-US" sz="3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5125" y="117506"/>
        <a:ext cx="4627480" cy="649299"/>
      </dsp:txXfrm>
    </dsp:sp>
    <dsp:sp modelId="{CAA1060A-F01D-234D-A5B5-15047FFE84C8}">
      <dsp:nvSpPr>
        <dsp:cNvPr id="0" name=""/>
        <dsp:cNvSpPr/>
      </dsp:nvSpPr>
      <dsp:spPr>
        <a:xfrm>
          <a:off x="0" y="888331"/>
          <a:ext cx="4697730" cy="719549"/>
        </a:xfrm>
        <a:prstGeom prst="roundRect">
          <a:avLst/>
        </a:prstGeom>
        <a:solidFill>
          <a:srgbClr val="8AB833">
            <a:hueOff val="-220674"/>
            <a:satOff val="1055"/>
            <a:lumOff val="147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Range</a:t>
          </a:r>
          <a:r>
            <a:rPr lang="en-US" sz="3000" kern="1200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Tree</a:t>
          </a:r>
          <a:endParaRPr lang="en-US" sz="3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5125" y="923456"/>
        <a:ext cx="4627480" cy="649299"/>
      </dsp:txXfrm>
    </dsp:sp>
    <dsp:sp modelId="{B3D4FF40-A116-F443-A12B-EBBDAC4C5921}">
      <dsp:nvSpPr>
        <dsp:cNvPr id="0" name=""/>
        <dsp:cNvSpPr/>
      </dsp:nvSpPr>
      <dsp:spPr>
        <a:xfrm>
          <a:off x="0" y="1607881"/>
          <a:ext cx="4697730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1D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2D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0" y="1607881"/>
        <a:ext cx="4697730" cy="791774"/>
      </dsp:txXfrm>
    </dsp:sp>
    <dsp:sp modelId="{0F9D7059-6B5A-324D-BBB2-FF4779936521}">
      <dsp:nvSpPr>
        <dsp:cNvPr id="0" name=""/>
        <dsp:cNvSpPr/>
      </dsp:nvSpPr>
      <dsp:spPr>
        <a:xfrm>
          <a:off x="0" y="2399656"/>
          <a:ext cx="4697730" cy="719549"/>
        </a:xfrm>
        <a:prstGeom prst="roundRect">
          <a:avLst/>
        </a:prstGeom>
        <a:solidFill>
          <a:srgbClr val="8AB833">
            <a:hueOff val="-441348"/>
            <a:satOff val="2109"/>
            <a:lumOff val="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K-D Tree</a:t>
          </a:r>
        </a:p>
      </dsp:txBody>
      <dsp:txXfrm>
        <a:off x="35125" y="2434781"/>
        <a:ext cx="4627480" cy="649299"/>
      </dsp:txXfrm>
    </dsp:sp>
    <dsp:sp modelId="{83C615D7-3F44-1542-8AB9-18060F3340FA}">
      <dsp:nvSpPr>
        <dsp:cNvPr id="0" name=""/>
        <dsp:cNvSpPr/>
      </dsp:nvSpPr>
      <dsp:spPr>
        <a:xfrm>
          <a:off x="0" y="3119206"/>
          <a:ext cx="4697730" cy="1583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construction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exact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nearest neighbor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0" y="3119206"/>
        <a:ext cx="4697730" cy="1583549"/>
      </dsp:txXfrm>
    </dsp:sp>
    <dsp:sp modelId="{27CFC81F-1429-A241-BA29-F4FAC6F69A90}">
      <dsp:nvSpPr>
        <dsp:cNvPr id="0" name=""/>
        <dsp:cNvSpPr/>
      </dsp:nvSpPr>
      <dsp:spPr>
        <a:xfrm>
          <a:off x="0" y="4702756"/>
          <a:ext cx="4697730" cy="719549"/>
        </a:xfrm>
        <a:prstGeom prst="roundRect">
          <a:avLst/>
        </a:prstGeom>
        <a:solidFill>
          <a:srgbClr val="8AB833">
            <a:hueOff val="-662022"/>
            <a:satOff val="3164"/>
            <a:lumOff val="441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Quad Trees</a:t>
          </a:r>
        </a:p>
      </dsp:txBody>
      <dsp:txXfrm>
        <a:off x="35125" y="4737881"/>
        <a:ext cx="4627480" cy="6492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82381"/>
          <a:ext cx="4697730" cy="719549"/>
        </a:xfrm>
        <a:prstGeom prst="roundRect">
          <a:avLst/>
        </a:prstGeom>
        <a:solidFill>
          <a:srgbClr val="8AB833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</a:t>
          </a:r>
          <a:r>
            <a:rPr lang="en-US" sz="3000" kern="1200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of Queries </a:t>
          </a:r>
          <a:endParaRPr lang="en-US" sz="3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5125" y="117506"/>
        <a:ext cx="4627480" cy="649299"/>
      </dsp:txXfrm>
    </dsp:sp>
    <dsp:sp modelId="{CAA1060A-F01D-234D-A5B5-15047FFE84C8}">
      <dsp:nvSpPr>
        <dsp:cNvPr id="0" name=""/>
        <dsp:cNvSpPr/>
      </dsp:nvSpPr>
      <dsp:spPr>
        <a:xfrm>
          <a:off x="0" y="888331"/>
          <a:ext cx="4697730" cy="719549"/>
        </a:xfrm>
        <a:prstGeom prst="roundRect">
          <a:avLst/>
        </a:prstGeom>
        <a:solidFill>
          <a:srgbClr val="8AB833">
            <a:hueOff val="-220674"/>
            <a:satOff val="1055"/>
            <a:lumOff val="147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Range</a:t>
          </a:r>
          <a:r>
            <a:rPr lang="en-US" sz="3000" kern="1200" baseline="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Tree</a:t>
          </a:r>
          <a:endParaRPr lang="en-US" sz="3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5125" y="923456"/>
        <a:ext cx="4627480" cy="649299"/>
      </dsp:txXfrm>
    </dsp:sp>
    <dsp:sp modelId="{B3D4FF40-A116-F443-A12B-EBBDAC4C5921}">
      <dsp:nvSpPr>
        <dsp:cNvPr id="0" name=""/>
        <dsp:cNvSpPr/>
      </dsp:nvSpPr>
      <dsp:spPr>
        <a:xfrm>
          <a:off x="0" y="1607881"/>
          <a:ext cx="4697730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1D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2D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0" y="1607881"/>
        <a:ext cx="4697730" cy="791774"/>
      </dsp:txXfrm>
    </dsp:sp>
    <dsp:sp modelId="{0F9D7059-6B5A-324D-BBB2-FF4779936521}">
      <dsp:nvSpPr>
        <dsp:cNvPr id="0" name=""/>
        <dsp:cNvSpPr/>
      </dsp:nvSpPr>
      <dsp:spPr>
        <a:xfrm>
          <a:off x="0" y="2399656"/>
          <a:ext cx="4697730" cy="719549"/>
        </a:xfrm>
        <a:prstGeom prst="roundRect">
          <a:avLst/>
        </a:prstGeom>
        <a:solidFill>
          <a:srgbClr val="8AB833">
            <a:hueOff val="-441348"/>
            <a:satOff val="2109"/>
            <a:lumOff val="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K-D Tree</a:t>
          </a:r>
        </a:p>
      </dsp:txBody>
      <dsp:txXfrm>
        <a:off x="35125" y="2434781"/>
        <a:ext cx="4627480" cy="649299"/>
      </dsp:txXfrm>
    </dsp:sp>
    <dsp:sp modelId="{83C615D7-3F44-1542-8AB9-18060F3340FA}">
      <dsp:nvSpPr>
        <dsp:cNvPr id="0" name=""/>
        <dsp:cNvSpPr/>
      </dsp:nvSpPr>
      <dsp:spPr>
        <a:xfrm>
          <a:off x="0" y="3119206"/>
          <a:ext cx="4697730" cy="1583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construction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exact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K-D tree range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nearest neighbor search</a:t>
          </a:r>
          <a:endParaRPr lang="zh-CN" altLang="en-US" sz="23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0" y="3119206"/>
        <a:ext cx="4697730" cy="1583549"/>
      </dsp:txXfrm>
    </dsp:sp>
    <dsp:sp modelId="{27CFC81F-1429-A241-BA29-F4FAC6F69A90}">
      <dsp:nvSpPr>
        <dsp:cNvPr id="0" name=""/>
        <dsp:cNvSpPr/>
      </dsp:nvSpPr>
      <dsp:spPr>
        <a:xfrm>
          <a:off x="0" y="4702756"/>
          <a:ext cx="4697730" cy="719549"/>
        </a:xfrm>
        <a:prstGeom prst="roundRect">
          <a:avLst/>
        </a:prstGeom>
        <a:solidFill>
          <a:srgbClr val="8AB833">
            <a:hueOff val="-662022"/>
            <a:satOff val="3164"/>
            <a:lumOff val="441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Quad Trees</a:t>
          </a:r>
        </a:p>
      </dsp:txBody>
      <dsp:txXfrm>
        <a:off x="35125" y="4737881"/>
        <a:ext cx="4627480" cy="6492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 bwMode="white">
        <a:xfrm>
          <a:off x="0" y="30743"/>
          <a:ext cx="4697730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000" kern="1200" dirty="0"/>
            <a:t>Nearest</a:t>
          </a:r>
          <a:r>
            <a:rPr lang="zh-CN" altLang="en-US" sz="3000" kern="1200" dirty="0"/>
            <a:t> </a:t>
          </a:r>
          <a:r>
            <a:rPr lang="en-US" altLang="zh-CN" sz="3000" kern="1200" dirty="0"/>
            <a:t>Neighbor</a:t>
          </a:r>
          <a:r>
            <a:rPr lang="zh-CN" altLang="en-US" sz="3000" kern="1200" dirty="0"/>
            <a:t> </a:t>
          </a:r>
          <a:r>
            <a:rPr lang="en-US" altLang="zh-CN" sz="3000" kern="1200" dirty="0"/>
            <a:t>Search</a:t>
          </a:r>
          <a:endParaRPr lang="en-US" sz="3000" kern="1200" dirty="0"/>
        </a:p>
      </dsp:txBody>
      <dsp:txXfrm>
        <a:off x="35125" y="65868"/>
        <a:ext cx="4627480" cy="649299"/>
      </dsp:txXfrm>
    </dsp:sp>
    <dsp:sp modelId="{CAA1060A-F01D-234D-A5B5-15047FFE84C8}">
      <dsp:nvSpPr>
        <dsp:cNvPr id="0" name=""/>
        <dsp:cNvSpPr/>
      </dsp:nvSpPr>
      <dsp:spPr bwMode="white">
        <a:xfrm>
          <a:off x="0" y="836693"/>
          <a:ext cx="4697730" cy="719549"/>
        </a:xfrm>
        <a:prstGeom prst="roundRect">
          <a:avLst/>
        </a:prstGeom>
        <a:solidFill>
          <a:schemeClr val="accent2">
            <a:hueOff val="3183231"/>
            <a:satOff val="5400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000" kern="1200" dirty="0"/>
            <a:t>NN</a:t>
          </a:r>
          <a:r>
            <a:rPr lang="zh-CN" altLang="en-US" sz="3000" kern="1200" dirty="0"/>
            <a:t> </a:t>
          </a:r>
          <a:r>
            <a:rPr lang="en-US" altLang="zh-CN" sz="3000" kern="1200" dirty="0"/>
            <a:t>Search</a:t>
          </a:r>
          <a:r>
            <a:rPr lang="zh-CN" altLang="en-US" sz="3000" kern="1200" dirty="0"/>
            <a:t> </a:t>
          </a:r>
          <a:r>
            <a:rPr lang="en-US" altLang="zh-CN" sz="3000" kern="1200" dirty="0"/>
            <a:t>in</a:t>
          </a:r>
          <a:r>
            <a:rPr lang="zh-CN" altLang="en-US" sz="3000" kern="1200" dirty="0"/>
            <a:t> </a:t>
          </a:r>
          <a:r>
            <a:rPr lang="en-US" sz="3000" kern="1200" dirty="0"/>
            <a:t>Q</a:t>
          </a:r>
          <a:r>
            <a:rPr lang="en-US" altLang="zh-CN" sz="3000" kern="1200" dirty="0"/>
            <a:t>uad</a:t>
          </a:r>
          <a:r>
            <a:rPr lang="en-US" sz="3000" kern="1200" baseline="0" dirty="0"/>
            <a:t> Tree</a:t>
          </a:r>
          <a:endParaRPr lang="en-US" sz="3000" kern="1200" dirty="0"/>
        </a:p>
      </dsp:txBody>
      <dsp:txXfrm>
        <a:off x="35125" y="871818"/>
        <a:ext cx="4627480" cy="649299"/>
      </dsp:txXfrm>
    </dsp:sp>
    <dsp:sp modelId="{B3D4FF40-A116-F443-A12B-EBBDAC4C5921}">
      <dsp:nvSpPr>
        <dsp:cNvPr id="0" name=""/>
        <dsp:cNvSpPr/>
      </dsp:nvSpPr>
      <dsp:spPr bwMode="white">
        <a:xfrm>
          <a:off x="0" y="1556243"/>
          <a:ext cx="4697730" cy="12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Quad</a:t>
          </a:r>
          <a:r>
            <a:rPr lang="zh-CN" altLang="en-US" sz="2300" kern="1200" dirty="0"/>
            <a:t> </a:t>
          </a:r>
          <a:r>
            <a:rPr lang="en-US" altLang="zh-CN" sz="2300" kern="1200" dirty="0"/>
            <a:t>Tree</a:t>
          </a:r>
          <a:r>
            <a:rPr lang="zh-CN" altLang="en-US" sz="2300" kern="1200" dirty="0"/>
            <a:t> </a:t>
          </a:r>
          <a:r>
            <a:rPr lang="en-US" altLang="zh-CN" sz="2300" kern="1200" dirty="0"/>
            <a:t>Construction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Exact</a:t>
          </a:r>
          <a:r>
            <a:rPr lang="zh-CN" altLang="en-US" sz="2300" kern="1200" dirty="0"/>
            <a:t> </a:t>
          </a:r>
          <a:r>
            <a:rPr lang="en-US" altLang="zh-CN" sz="2300" kern="1200" dirty="0"/>
            <a:t>Query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Nearest</a:t>
          </a:r>
          <a:r>
            <a:rPr lang="zh-CN" altLang="en-US" sz="2300" kern="1200" dirty="0"/>
            <a:t> </a:t>
          </a:r>
          <a:r>
            <a:rPr lang="en-US" altLang="zh-CN" sz="2300" kern="1200" dirty="0"/>
            <a:t>Neighbor</a:t>
          </a:r>
          <a:r>
            <a:rPr lang="zh-CN" altLang="en-US" sz="2300" kern="1200" dirty="0"/>
            <a:t> </a:t>
          </a:r>
          <a:r>
            <a:rPr lang="en-US" altLang="zh-CN" sz="2300" kern="1200" dirty="0"/>
            <a:t>Query</a:t>
          </a:r>
          <a:endParaRPr lang="zh-CN" altLang="en-US" sz="2300" kern="1200" dirty="0"/>
        </a:p>
      </dsp:txBody>
      <dsp:txXfrm>
        <a:off x="0" y="1556243"/>
        <a:ext cx="4697730" cy="1210950"/>
      </dsp:txXfrm>
    </dsp:sp>
    <dsp:sp modelId="{0F9D7059-6B5A-324D-BBB2-FF4779936521}">
      <dsp:nvSpPr>
        <dsp:cNvPr id="0" name=""/>
        <dsp:cNvSpPr/>
      </dsp:nvSpPr>
      <dsp:spPr bwMode="white">
        <a:xfrm>
          <a:off x="0" y="2767193"/>
          <a:ext cx="4697730" cy="719549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000" kern="1200" dirty="0"/>
            <a:t>NN</a:t>
          </a:r>
          <a:r>
            <a:rPr lang="zh-CN" altLang="en-US" sz="3000" kern="1200" dirty="0"/>
            <a:t> </a:t>
          </a:r>
          <a:r>
            <a:rPr lang="en-US" altLang="zh-CN" sz="3000" kern="1200" dirty="0"/>
            <a:t>Search</a:t>
          </a:r>
          <a:r>
            <a:rPr lang="zh-CN" altLang="en-US" sz="3000" kern="1200" dirty="0"/>
            <a:t> </a:t>
          </a:r>
          <a:r>
            <a:rPr lang="en-US" altLang="zh-CN" sz="3000" kern="1200" dirty="0"/>
            <a:t>in</a:t>
          </a:r>
          <a:r>
            <a:rPr lang="zh-CN" altLang="en-US" sz="3000" kern="1200" dirty="0"/>
            <a:t> </a:t>
          </a:r>
          <a:r>
            <a:rPr lang="en-US" sz="3000" kern="1200" dirty="0"/>
            <a:t>K-D Tree</a:t>
          </a:r>
        </a:p>
      </dsp:txBody>
      <dsp:txXfrm>
        <a:off x="35125" y="2802318"/>
        <a:ext cx="4627480" cy="649299"/>
      </dsp:txXfrm>
    </dsp:sp>
    <dsp:sp modelId="{83C615D7-3F44-1542-8AB9-18060F3340FA}">
      <dsp:nvSpPr>
        <dsp:cNvPr id="0" name=""/>
        <dsp:cNvSpPr/>
      </dsp:nvSpPr>
      <dsp:spPr bwMode="white">
        <a:xfrm>
          <a:off x="0" y="3486743"/>
          <a:ext cx="4697730" cy="1987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NN</a:t>
          </a:r>
          <a:r>
            <a:rPr lang="zh-CN" altLang="en-US" sz="2300" kern="1200" baseline="0" dirty="0"/>
            <a:t> </a:t>
          </a:r>
          <a:r>
            <a:rPr lang="en-US" altLang="zh-CN" sz="2300" kern="1200" baseline="0" dirty="0"/>
            <a:t>search</a:t>
          </a:r>
          <a:r>
            <a:rPr lang="zh-CN" altLang="en-US" sz="2300" kern="1200" baseline="0" dirty="0"/>
            <a:t> </a:t>
          </a:r>
          <a:r>
            <a:rPr lang="en-US" altLang="zh-CN" sz="2300" kern="1200" baseline="0" dirty="0"/>
            <a:t>in</a:t>
          </a:r>
          <a:r>
            <a:rPr lang="zh-CN" altLang="en-US" sz="2300" kern="1200" baseline="0" dirty="0"/>
            <a:t> </a:t>
          </a:r>
          <a:r>
            <a:rPr lang="en-US" altLang="zh-CN" sz="2300" kern="1200" baseline="0" dirty="0"/>
            <a:t>K-D</a:t>
          </a:r>
          <a:r>
            <a:rPr lang="zh-CN" altLang="en-US" sz="2300" kern="1200" baseline="0" dirty="0"/>
            <a:t> </a:t>
          </a:r>
          <a:r>
            <a:rPr lang="en-US" altLang="zh-CN" sz="2300" kern="1200" baseline="0" dirty="0"/>
            <a:t>Tree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Variants</a:t>
          </a:r>
          <a:r>
            <a:rPr lang="zh-CN" altLang="en-US" sz="2300" kern="1200" dirty="0"/>
            <a:t> </a:t>
          </a:r>
          <a:r>
            <a:rPr lang="en-US" altLang="zh-CN" sz="2300" kern="1200" dirty="0"/>
            <a:t>of</a:t>
          </a:r>
          <a:r>
            <a:rPr lang="zh-CN" altLang="en-US" sz="2300" kern="1200" dirty="0"/>
            <a:t> </a:t>
          </a:r>
          <a:r>
            <a:rPr lang="en-US" altLang="zh-CN" sz="2300" kern="1200" dirty="0"/>
            <a:t>NN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Search</a:t>
          </a:r>
          <a:endParaRPr lang="zh-CN" alt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PCP</a:t>
          </a:r>
          <a:r>
            <a:rPr lang="zh-CN" altLang="en-US" sz="2300" kern="1200" dirty="0"/>
            <a:t> </a:t>
          </a:r>
          <a:r>
            <a:rPr lang="en-US" altLang="zh-CN" sz="2300" kern="1200" dirty="0"/>
            <a:t>Tree</a:t>
          </a:r>
          <a:endParaRPr lang="zh-CN" alt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Approximate</a:t>
          </a:r>
          <a:r>
            <a:rPr lang="zh-CN" altLang="en-US" sz="2300" kern="1200" dirty="0"/>
            <a:t> </a:t>
          </a:r>
          <a:r>
            <a:rPr lang="en-US" altLang="zh-CN" sz="2300" kern="1200" dirty="0"/>
            <a:t>NN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in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K-D</a:t>
          </a:r>
          <a:r>
            <a:rPr lang="zh-CN" altLang="en-US" sz="2300" kern="1200" dirty="0"/>
            <a:t> </a:t>
          </a:r>
          <a:r>
            <a:rPr lang="en-US" altLang="zh-CN" sz="2300" kern="1200" dirty="0"/>
            <a:t>Tree</a:t>
          </a:r>
          <a:endParaRPr lang="zh-CN" alt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l-GR" sz="2300" kern="1200" dirty="0"/>
            <a:t>ε‐</a:t>
          </a:r>
          <a:r>
            <a:rPr lang="en-US" sz="2300" kern="1200" dirty="0"/>
            <a:t>Approximate </a:t>
          </a:r>
          <a:r>
            <a:rPr lang="en-US" altLang="zh-CN" sz="2300" kern="1200" dirty="0"/>
            <a:t>NN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in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K-D</a:t>
          </a:r>
          <a:r>
            <a:rPr lang="zh-CN" altLang="en-US" sz="2300" kern="1200" dirty="0"/>
            <a:t> </a:t>
          </a:r>
          <a:r>
            <a:rPr lang="en-US" altLang="zh-CN" sz="2300" kern="1200" dirty="0"/>
            <a:t>Tree</a:t>
          </a:r>
          <a:endParaRPr lang="zh-CN" altLang="en-US" sz="2300" kern="1200" dirty="0"/>
        </a:p>
      </dsp:txBody>
      <dsp:txXfrm>
        <a:off x="0" y="3486743"/>
        <a:ext cx="4697730" cy="19872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 bwMode="white">
        <a:xfrm>
          <a:off x="0" y="30743"/>
          <a:ext cx="4697730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000" kern="1200" dirty="0"/>
            <a:t>Nearest</a:t>
          </a:r>
          <a:r>
            <a:rPr lang="zh-CN" altLang="en-US" sz="3000" kern="1200" dirty="0"/>
            <a:t> </a:t>
          </a:r>
          <a:r>
            <a:rPr lang="en-US" altLang="zh-CN" sz="3000" kern="1200" dirty="0"/>
            <a:t>Neighbor</a:t>
          </a:r>
          <a:r>
            <a:rPr lang="zh-CN" altLang="en-US" sz="3000" kern="1200" dirty="0"/>
            <a:t> </a:t>
          </a:r>
          <a:r>
            <a:rPr lang="en-US" altLang="zh-CN" sz="3000" kern="1200" dirty="0"/>
            <a:t>Search</a:t>
          </a:r>
          <a:endParaRPr lang="en-US" sz="3000" kern="1200" dirty="0"/>
        </a:p>
      </dsp:txBody>
      <dsp:txXfrm>
        <a:off x="35125" y="65868"/>
        <a:ext cx="4627480" cy="649299"/>
      </dsp:txXfrm>
    </dsp:sp>
    <dsp:sp modelId="{CAA1060A-F01D-234D-A5B5-15047FFE84C8}">
      <dsp:nvSpPr>
        <dsp:cNvPr id="0" name=""/>
        <dsp:cNvSpPr/>
      </dsp:nvSpPr>
      <dsp:spPr bwMode="white">
        <a:xfrm>
          <a:off x="0" y="836693"/>
          <a:ext cx="4697730" cy="719549"/>
        </a:xfrm>
        <a:prstGeom prst="roundRect">
          <a:avLst/>
        </a:prstGeom>
        <a:solidFill>
          <a:schemeClr val="accent2">
            <a:hueOff val="3183231"/>
            <a:satOff val="5400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000" kern="1200" dirty="0"/>
            <a:t>NN</a:t>
          </a:r>
          <a:r>
            <a:rPr lang="zh-CN" altLang="en-US" sz="3000" kern="1200" dirty="0"/>
            <a:t> </a:t>
          </a:r>
          <a:r>
            <a:rPr lang="en-US" altLang="zh-CN" sz="3000" kern="1200" dirty="0"/>
            <a:t>Search</a:t>
          </a:r>
          <a:r>
            <a:rPr lang="zh-CN" altLang="en-US" sz="3000" kern="1200" dirty="0"/>
            <a:t> </a:t>
          </a:r>
          <a:r>
            <a:rPr lang="en-US" altLang="zh-CN" sz="3000" kern="1200" dirty="0"/>
            <a:t>in</a:t>
          </a:r>
          <a:r>
            <a:rPr lang="zh-CN" altLang="en-US" sz="3000" kern="1200" dirty="0"/>
            <a:t> </a:t>
          </a:r>
          <a:r>
            <a:rPr lang="en-US" sz="3000" kern="1200" dirty="0"/>
            <a:t>Q</a:t>
          </a:r>
          <a:r>
            <a:rPr lang="en-US" altLang="zh-CN" sz="3000" kern="1200" dirty="0"/>
            <a:t>uad</a:t>
          </a:r>
          <a:r>
            <a:rPr lang="en-US" sz="3000" kern="1200" baseline="0" dirty="0"/>
            <a:t> Tree</a:t>
          </a:r>
          <a:endParaRPr lang="en-US" sz="3000" kern="1200" dirty="0"/>
        </a:p>
      </dsp:txBody>
      <dsp:txXfrm>
        <a:off x="35125" y="871818"/>
        <a:ext cx="4627480" cy="649299"/>
      </dsp:txXfrm>
    </dsp:sp>
    <dsp:sp modelId="{B3D4FF40-A116-F443-A12B-EBBDAC4C5921}">
      <dsp:nvSpPr>
        <dsp:cNvPr id="0" name=""/>
        <dsp:cNvSpPr/>
      </dsp:nvSpPr>
      <dsp:spPr bwMode="white">
        <a:xfrm>
          <a:off x="0" y="1556243"/>
          <a:ext cx="4697730" cy="12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Quad</a:t>
          </a:r>
          <a:r>
            <a:rPr lang="zh-CN" altLang="en-US" sz="2300" kern="1200" dirty="0"/>
            <a:t> </a:t>
          </a:r>
          <a:r>
            <a:rPr lang="en-US" altLang="zh-CN" sz="2300" kern="1200" dirty="0"/>
            <a:t>Tree</a:t>
          </a:r>
          <a:r>
            <a:rPr lang="zh-CN" altLang="en-US" sz="2300" kern="1200" dirty="0"/>
            <a:t> </a:t>
          </a:r>
          <a:r>
            <a:rPr lang="en-US" altLang="zh-CN" sz="2300" kern="1200" dirty="0"/>
            <a:t>Construction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Exact</a:t>
          </a:r>
          <a:r>
            <a:rPr lang="zh-CN" altLang="en-US" sz="2300" kern="1200" dirty="0"/>
            <a:t> </a:t>
          </a:r>
          <a:r>
            <a:rPr lang="en-US" altLang="zh-CN" sz="2300" kern="1200" dirty="0"/>
            <a:t>Query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Nearest</a:t>
          </a:r>
          <a:r>
            <a:rPr lang="zh-CN" altLang="en-US" sz="2300" kern="1200" dirty="0"/>
            <a:t> </a:t>
          </a:r>
          <a:r>
            <a:rPr lang="en-US" altLang="zh-CN" sz="2300" kern="1200" dirty="0"/>
            <a:t>Neighbor</a:t>
          </a:r>
          <a:r>
            <a:rPr lang="zh-CN" altLang="en-US" sz="2300" kern="1200" dirty="0"/>
            <a:t> </a:t>
          </a:r>
          <a:r>
            <a:rPr lang="en-US" altLang="zh-CN" sz="2300" kern="1200" dirty="0"/>
            <a:t>Query</a:t>
          </a:r>
          <a:endParaRPr lang="zh-CN" altLang="en-US" sz="2300" kern="1200" dirty="0"/>
        </a:p>
      </dsp:txBody>
      <dsp:txXfrm>
        <a:off x="0" y="1556243"/>
        <a:ext cx="4697730" cy="1210950"/>
      </dsp:txXfrm>
    </dsp:sp>
    <dsp:sp modelId="{0F9D7059-6B5A-324D-BBB2-FF4779936521}">
      <dsp:nvSpPr>
        <dsp:cNvPr id="0" name=""/>
        <dsp:cNvSpPr/>
      </dsp:nvSpPr>
      <dsp:spPr bwMode="white">
        <a:xfrm>
          <a:off x="0" y="2767193"/>
          <a:ext cx="4697730" cy="719549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000" kern="1200" dirty="0"/>
            <a:t>NN</a:t>
          </a:r>
          <a:r>
            <a:rPr lang="zh-CN" altLang="en-US" sz="3000" kern="1200" dirty="0"/>
            <a:t> </a:t>
          </a:r>
          <a:r>
            <a:rPr lang="en-US" altLang="zh-CN" sz="3000" kern="1200" dirty="0"/>
            <a:t>Search</a:t>
          </a:r>
          <a:r>
            <a:rPr lang="zh-CN" altLang="en-US" sz="3000" kern="1200" dirty="0"/>
            <a:t> </a:t>
          </a:r>
          <a:r>
            <a:rPr lang="en-US" altLang="zh-CN" sz="3000" kern="1200" dirty="0"/>
            <a:t>in</a:t>
          </a:r>
          <a:r>
            <a:rPr lang="zh-CN" altLang="en-US" sz="3000" kern="1200" dirty="0"/>
            <a:t> </a:t>
          </a:r>
          <a:r>
            <a:rPr lang="en-US" sz="3000" kern="1200" dirty="0"/>
            <a:t>K-D Tree</a:t>
          </a:r>
        </a:p>
      </dsp:txBody>
      <dsp:txXfrm>
        <a:off x="35125" y="2802318"/>
        <a:ext cx="4627480" cy="649299"/>
      </dsp:txXfrm>
    </dsp:sp>
    <dsp:sp modelId="{83C615D7-3F44-1542-8AB9-18060F3340FA}">
      <dsp:nvSpPr>
        <dsp:cNvPr id="0" name=""/>
        <dsp:cNvSpPr/>
      </dsp:nvSpPr>
      <dsp:spPr bwMode="white">
        <a:xfrm>
          <a:off x="0" y="3486743"/>
          <a:ext cx="4697730" cy="1987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NN</a:t>
          </a:r>
          <a:r>
            <a:rPr lang="zh-CN" altLang="en-US" sz="2300" kern="1200" baseline="0" dirty="0"/>
            <a:t> </a:t>
          </a:r>
          <a:r>
            <a:rPr lang="en-US" altLang="zh-CN" sz="2300" kern="1200" baseline="0" dirty="0"/>
            <a:t>search</a:t>
          </a:r>
          <a:r>
            <a:rPr lang="zh-CN" altLang="en-US" sz="2300" kern="1200" baseline="0" dirty="0"/>
            <a:t> </a:t>
          </a:r>
          <a:r>
            <a:rPr lang="en-US" altLang="zh-CN" sz="2300" kern="1200" baseline="0" dirty="0"/>
            <a:t>in</a:t>
          </a:r>
          <a:r>
            <a:rPr lang="zh-CN" altLang="en-US" sz="2300" kern="1200" baseline="0" dirty="0"/>
            <a:t> </a:t>
          </a:r>
          <a:r>
            <a:rPr lang="en-US" altLang="zh-CN" sz="2300" kern="1200" baseline="0" dirty="0"/>
            <a:t>K-D</a:t>
          </a:r>
          <a:r>
            <a:rPr lang="zh-CN" altLang="en-US" sz="2300" kern="1200" baseline="0" dirty="0"/>
            <a:t> </a:t>
          </a:r>
          <a:r>
            <a:rPr lang="en-US" altLang="zh-CN" sz="2300" kern="1200" baseline="0" dirty="0"/>
            <a:t>Tree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Variants</a:t>
          </a:r>
          <a:r>
            <a:rPr lang="zh-CN" altLang="en-US" sz="2300" kern="1200" dirty="0"/>
            <a:t> </a:t>
          </a:r>
          <a:r>
            <a:rPr lang="en-US" altLang="zh-CN" sz="2300" kern="1200" dirty="0"/>
            <a:t>of</a:t>
          </a:r>
          <a:r>
            <a:rPr lang="zh-CN" altLang="en-US" sz="2300" kern="1200" dirty="0"/>
            <a:t> </a:t>
          </a:r>
          <a:r>
            <a:rPr lang="en-US" altLang="zh-CN" sz="2300" kern="1200" dirty="0"/>
            <a:t>NN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Search</a:t>
          </a:r>
          <a:endParaRPr lang="zh-CN" alt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PCP</a:t>
          </a:r>
          <a:r>
            <a:rPr lang="zh-CN" altLang="en-US" sz="2300" kern="1200" dirty="0"/>
            <a:t> </a:t>
          </a:r>
          <a:r>
            <a:rPr lang="en-US" altLang="zh-CN" sz="2300" kern="1200" dirty="0"/>
            <a:t>Tree</a:t>
          </a:r>
          <a:endParaRPr lang="zh-CN" alt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Approximate</a:t>
          </a:r>
          <a:r>
            <a:rPr lang="zh-CN" altLang="en-US" sz="2300" kern="1200" dirty="0"/>
            <a:t> </a:t>
          </a:r>
          <a:r>
            <a:rPr lang="en-US" altLang="zh-CN" sz="2300" kern="1200" dirty="0"/>
            <a:t>NN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in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K-D</a:t>
          </a:r>
          <a:r>
            <a:rPr lang="zh-CN" altLang="en-US" sz="2300" kern="1200" dirty="0"/>
            <a:t> </a:t>
          </a:r>
          <a:r>
            <a:rPr lang="en-US" altLang="zh-CN" sz="2300" kern="1200" dirty="0"/>
            <a:t>Tree</a:t>
          </a:r>
          <a:endParaRPr lang="zh-CN" alt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l-GR" sz="2300" kern="1200" dirty="0"/>
            <a:t>ε‐</a:t>
          </a:r>
          <a:r>
            <a:rPr lang="en-US" sz="2300" kern="1200" dirty="0"/>
            <a:t>Approximate </a:t>
          </a:r>
          <a:r>
            <a:rPr lang="en-US" altLang="zh-CN" sz="2300" kern="1200" dirty="0"/>
            <a:t>NN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in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K-D</a:t>
          </a:r>
          <a:r>
            <a:rPr lang="zh-CN" altLang="en-US" sz="2300" kern="1200" dirty="0"/>
            <a:t> </a:t>
          </a:r>
          <a:r>
            <a:rPr lang="en-US" altLang="zh-CN" sz="2300" kern="1200" dirty="0"/>
            <a:t>Tree</a:t>
          </a:r>
          <a:endParaRPr lang="zh-CN" altLang="en-US" sz="2300" kern="1200" dirty="0"/>
        </a:p>
      </dsp:txBody>
      <dsp:txXfrm>
        <a:off x="0" y="3486743"/>
        <a:ext cx="4697730" cy="19872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 bwMode="white">
        <a:xfrm>
          <a:off x="0" y="30743"/>
          <a:ext cx="4697730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000" kern="1200" dirty="0"/>
            <a:t>Nearest</a:t>
          </a:r>
          <a:r>
            <a:rPr lang="zh-CN" altLang="en-US" sz="3000" kern="1200" dirty="0"/>
            <a:t> </a:t>
          </a:r>
          <a:r>
            <a:rPr lang="en-US" altLang="zh-CN" sz="3000" kern="1200" dirty="0"/>
            <a:t>Neighbor</a:t>
          </a:r>
          <a:r>
            <a:rPr lang="zh-CN" altLang="en-US" sz="3000" kern="1200" dirty="0"/>
            <a:t> </a:t>
          </a:r>
          <a:r>
            <a:rPr lang="en-US" altLang="zh-CN" sz="3000" kern="1200" dirty="0"/>
            <a:t>Search</a:t>
          </a:r>
          <a:endParaRPr lang="en-US" sz="3000" kern="1200" dirty="0"/>
        </a:p>
      </dsp:txBody>
      <dsp:txXfrm>
        <a:off x="35125" y="65868"/>
        <a:ext cx="4627480" cy="649299"/>
      </dsp:txXfrm>
    </dsp:sp>
    <dsp:sp modelId="{CAA1060A-F01D-234D-A5B5-15047FFE84C8}">
      <dsp:nvSpPr>
        <dsp:cNvPr id="0" name=""/>
        <dsp:cNvSpPr/>
      </dsp:nvSpPr>
      <dsp:spPr bwMode="white">
        <a:xfrm>
          <a:off x="0" y="836693"/>
          <a:ext cx="4697730" cy="719549"/>
        </a:xfrm>
        <a:prstGeom prst="roundRect">
          <a:avLst/>
        </a:prstGeom>
        <a:solidFill>
          <a:schemeClr val="accent2">
            <a:hueOff val="3183231"/>
            <a:satOff val="5400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000" kern="1200" dirty="0"/>
            <a:t>NN</a:t>
          </a:r>
          <a:r>
            <a:rPr lang="zh-CN" altLang="en-US" sz="3000" kern="1200" dirty="0"/>
            <a:t> </a:t>
          </a:r>
          <a:r>
            <a:rPr lang="en-US" altLang="zh-CN" sz="3000" kern="1200" dirty="0"/>
            <a:t>Search</a:t>
          </a:r>
          <a:r>
            <a:rPr lang="zh-CN" altLang="en-US" sz="3000" kern="1200" dirty="0"/>
            <a:t> </a:t>
          </a:r>
          <a:r>
            <a:rPr lang="en-US" altLang="zh-CN" sz="3000" kern="1200" dirty="0"/>
            <a:t>in</a:t>
          </a:r>
          <a:r>
            <a:rPr lang="zh-CN" altLang="en-US" sz="3000" kern="1200" dirty="0"/>
            <a:t> </a:t>
          </a:r>
          <a:r>
            <a:rPr lang="en-US" sz="3000" kern="1200" dirty="0"/>
            <a:t>Q</a:t>
          </a:r>
          <a:r>
            <a:rPr lang="en-US" altLang="zh-CN" sz="3000" kern="1200" dirty="0"/>
            <a:t>uad</a:t>
          </a:r>
          <a:r>
            <a:rPr lang="en-US" sz="3000" kern="1200" baseline="0" dirty="0"/>
            <a:t> Tree</a:t>
          </a:r>
          <a:endParaRPr lang="en-US" sz="3000" kern="1200" dirty="0"/>
        </a:p>
      </dsp:txBody>
      <dsp:txXfrm>
        <a:off x="35125" y="871818"/>
        <a:ext cx="4627480" cy="649299"/>
      </dsp:txXfrm>
    </dsp:sp>
    <dsp:sp modelId="{B3D4FF40-A116-F443-A12B-EBBDAC4C5921}">
      <dsp:nvSpPr>
        <dsp:cNvPr id="0" name=""/>
        <dsp:cNvSpPr/>
      </dsp:nvSpPr>
      <dsp:spPr bwMode="white">
        <a:xfrm>
          <a:off x="0" y="1556243"/>
          <a:ext cx="4697730" cy="12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Quad</a:t>
          </a:r>
          <a:r>
            <a:rPr lang="zh-CN" altLang="en-US" sz="2300" kern="1200" dirty="0"/>
            <a:t> </a:t>
          </a:r>
          <a:r>
            <a:rPr lang="en-US" altLang="zh-CN" sz="2300" kern="1200" dirty="0"/>
            <a:t>Tree</a:t>
          </a:r>
          <a:r>
            <a:rPr lang="zh-CN" altLang="en-US" sz="2300" kern="1200" dirty="0"/>
            <a:t> </a:t>
          </a:r>
          <a:r>
            <a:rPr lang="en-US" altLang="zh-CN" sz="2300" kern="1200" dirty="0"/>
            <a:t>Construction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Exact</a:t>
          </a:r>
          <a:r>
            <a:rPr lang="zh-CN" altLang="en-US" sz="2300" kern="1200" dirty="0"/>
            <a:t> </a:t>
          </a:r>
          <a:r>
            <a:rPr lang="en-US" altLang="zh-CN" sz="2300" kern="1200" dirty="0"/>
            <a:t>Query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Nearest</a:t>
          </a:r>
          <a:r>
            <a:rPr lang="zh-CN" altLang="en-US" sz="2300" kern="1200" dirty="0"/>
            <a:t> </a:t>
          </a:r>
          <a:r>
            <a:rPr lang="en-US" altLang="zh-CN" sz="2300" kern="1200" dirty="0"/>
            <a:t>Neighbor</a:t>
          </a:r>
          <a:r>
            <a:rPr lang="zh-CN" altLang="en-US" sz="2300" kern="1200" dirty="0"/>
            <a:t> </a:t>
          </a:r>
          <a:r>
            <a:rPr lang="en-US" altLang="zh-CN" sz="2300" kern="1200" dirty="0"/>
            <a:t>Query</a:t>
          </a:r>
          <a:endParaRPr lang="zh-CN" altLang="en-US" sz="2300" kern="1200" dirty="0"/>
        </a:p>
      </dsp:txBody>
      <dsp:txXfrm>
        <a:off x="0" y="1556243"/>
        <a:ext cx="4697730" cy="1210950"/>
      </dsp:txXfrm>
    </dsp:sp>
    <dsp:sp modelId="{0F9D7059-6B5A-324D-BBB2-FF4779936521}">
      <dsp:nvSpPr>
        <dsp:cNvPr id="0" name=""/>
        <dsp:cNvSpPr/>
      </dsp:nvSpPr>
      <dsp:spPr bwMode="white">
        <a:xfrm>
          <a:off x="0" y="2767193"/>
          <a:ext cx="4697730" cy="719549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000" kern="1200" dirty="0"/>
            <a:t>NN</a:t>
          </a:r>
          <a:r>
            <a:rPr lang="zh-CN" altLang="en-US" sz="3000" kern="1200" dirty="0"/>
            <a:t> </a:t>
          </a:r>
          <a:r>
            <a:rPr lang="en-US" altLang="zh-CN" sz="3000" kern="1200" dirty="0"/>
            <a:t>Search</a:t>
          </a:r>
          <a:r>
            <a:rPr lang="zh-CN" altLang="en-US" sz="3000" kern="1200" dirty="0"/>
            <a:t> </a:t>
          </a:r>
          <a:r>
            <a:rPr lang="en-US" altLang="zh-CN" sz="3000" kern="1200" dirty="0"/>
            <a:t>in</a:t>
          </a:r>
          <a:r>
            <a:rPr lang="zh-CN" altLang="en-US" sz="3000" kern="1200" dirty="0"/>
            <a:t> </a:t>
          </a:r>
          <a:r>
            <a:rPr lang="en-US" sz="3000" kern="1200" dirty="0"/>
            <a:t>K-D Tree</a:t>
          </a:r>
        </a:p>
      </dsp:txBody>
      <dsp:txXfrm>
        <a:off x="35125" y="2802318"/>
        <a:ext cx="4627480" cy="649299"/>
      </dsp:txXfrm>
    </dsp:sp>
    <dsp:sp modelId="{83C615D7-3F44-1542-8AB9-18060F3340FA}">
      <dsp:nvSpPr>
        <dsp:cNvPr id="0" name=""/>
        <dsp:cNvSpPr/>
      </dsp:nvSpPr>
      <dsp:spPr bwMode="white">
        <a:xfrm>
          <a:off x="0" y="3486743"/>
          <a:ext cx="4697730" cy="1987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NN</a:t>
          </a:r>
          <a:r>
            <a:rPr lang="zh-CN" altLang="en-US" sz="2300" kern="1200" baseline="0" dirty="0"/>
            <a:t> </a:t>
          </a:r>
          <a:r>
            <a:rPr lang="en-US" altLang="zh-CN" sz="2300" kern="1200" baseline="0" dirty="0"/>
            <a:t>search</a:t>
          </a:r>
          <a:r>
            <a:rPr lang="zh-CN" altLang="en-US" sz="2300" kern="1200" baseline="0" dirty="0"/>
            <a:t> </a:t>
          </a:r>
          <a:r>
            <a:rPr lang="en-US" altLang="zh-CN" sz="2300" kern="1200" baseline="0" dirty="0"/>
            <a:t>in</a:t>
          </a:r>
          <a:r>
            <a:rPr lang="zh-CN" altLang="en-US" sz="2300" kern="1200" baseline="0" dirty="0"/>
            <a:t> </a:t>
          </a:r>
          <a:r>
            <a:rPr lang="en-US" altLang="zh-CN" sz="2300" kern="1200" baseline="0" dirty="0"/>
            <a:t>K-D</a:t>
          </a:r>
          <a:r>
            <a:rPr lang="zh-CN" altLang="en-US" sz="2300" kern="1200" baseline="0" dirty="0"/>
            <a:t> </a:t>
          </a:r>
          <a:r>
            <a:rPr lang="en-US" altLang="zh-CN" sz="2300" kern="1200" baseline="0" dirty="0"/>
            <a:t>Tree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Variants</a:t>
          </a:r>
          <a:r>
            <a:rPr lang="zh-CN" altLang="en-US" sz="2300" kern="1200" dirty="0"/>
            <a:t> </a:t>
          </a:r>
          <a:r>
            <a:rPr lang="en-US" altLang="zh-CN" sz="2300" kern="1200" dirty="0"/>
            <a:t>of</a:t>
          </a:r>
          <a:r>
            <a:rPr lang="zh-CN" altLang="en-US" sz="2300" kern="1200" dirty="0"/>
            <a:t> </a:t>
          </a:r>
          <a:r>
            <a:rPr lang="en-US" altLang="zh-CN" sz="2300" kern="1200" dirty="0"/>
            <a:t>NN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Search</a:t>
          </a:r>
          <a:endParaRPr lang="zh-CN" alt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PCP</a:t>
          </a:r>
          <a:r>
            <a:rPr lang="zh-CN" altLang="en-US" sz="2300" kern="1200" dirty="0"/>
            <a:t> </a:t>
          </a:r>
          <a:r>
            <a:rPr lang="en-US" altLang="zh-CN" sz="2300" kern="1200" dirty="0"/>
            <a:t>Tree</a:t>
          </a:r>
          <a:endParaRPr lang="zh-CN" alt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Approximate</a:t>
          </a:r>
          <a:r>
            <a:rPr lang="zh-CN" altLang="en-US" sz="2300" kern="1200" dirty="0"/>
            <a:t> </a:t>
          </a:r>
          <a:r>
            <a:rPr lang="en-US" altLang="zh-CN" sz="2300" kern="1200" dirty="0"/>
            <a:t>NN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in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K-D</a:t>
          </a:r>
          <a:r>
            <a:rPr lang="zh-CN" altLang="en-US" sz="2300" kern="1200" dirty="0"/>
            <a:t> </a:t>
          </a:r>
          <a:r>
            <a:rPr lang="en-US" altLang="zh-CN" sz="2300" kern="1200" dirty="0"/>
            <a:t>Tree</a:t>
          </a:r>
          <a:endParaRPr lang="zh-CN" alt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l-GR" sz="2300" kern="1200" dirty="0"/>
            <a:t>ε‐</a:t>
          </a:r>
          <a:r>
            <a:rPr lang="en-US" sz="2300" kern="1200" dirty="0"/>
            <a:t>Approximate </a:t>
          </a:r>
          <a:r>
            <a:rPr lang="en-US" altLang="zh-CN" sz="2300" kern="1200" dirty="0"/>
            <a:t>NN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in</a:t>
          </a:r>
          <a:r>
            <a:rPr lang="zh-CN" altLang="en-US" sz="2300" kern="1200" dirty="0"/>
            <a:t> </a:t>
          </a:r>
          <a:r>
            <a:rPr lang="en-US" altLang="zh-CN" sz="2300" kern="1200" dirty="0"/>
            <a:t>K-D</a:t>
          </a:r>
          <a:r>
            <a:rPr lang="zh-CN" altLang="en-US" sz="2300" kern="1200" dirty="0"/>
            <a:t> </a:t>
          </a:r>
          <a:r>
            <a:rPr lang="en-US" altLang="zh-CN" sz="2300" kern="1200" dirty="0"/>
            <a:t>Tree</a:t>
          </a:r>
          <a:endParaRPr lang="zh-CN" altLang="en-US" sz="2300" kern="1200" dirty="0"/>
        </a:p>
      </dsp:txBody>
      <dsp:txXfrm>
        <a:off x="0" y="3486743"/>
        <a:ext cx="4697730" cy="1987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#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#3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#4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F9844-1362-A649-9937-2A5401B4E0B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DC3A6-DACB-9041-9C3B-ED30939C1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57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500000000000000" pitchFamily="2" charset="-122"/>
                <a:ea typeface="方正正黑简体" panose="020005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500000000000000" pitchFamily="2" charset="-122"/>
                <a:ea typeface="方正正黑简体" panose="020005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500000000000000" pitchFamily="2" charset="-122"/>
                <a:ea typeface="方正正黑简体" panose="020005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500000000000000" pitchFamily="2" charset="-122"/>
                <a:ea typeface="方正正黑简体" panose="020005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500000000000000" pitchFamily="2" charset="-122"/>
                <a:ea typeface="方正正黑简体" panose="020005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500000000000000" pitchFamily="2" charset="-122"/>
                <a:ea typeface="方正正黑简体" panose="020005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500000000000000" pitchFamily="2" charset="-122"/>
                <a:ea typeface="方正正黑简体" panose="020005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500000000000000" pitchFamily="2" charset="-122"/>
                <a:ea typeface="方正正黑简体" panose="020005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500000000000000" pitchFamily="2" charset="-122"/>
                <a:ea typeface="方正正黑简体" panose="020005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fld>
            <a:endParaRPr lang="zh-CN" altLang="en-US" sz="12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9C9E4783-98AB-1A40-B38F-687B7AEB1E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961E5EDB-9738-D949-8133-228B7E2D7D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0AF9670F-D5BD-9045-B752-EA449B95D5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4B75D196-2650-1542-A9C6-F9A59F3BF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42963CE9-4CA8-4B45-8942-29B6DA9980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27A1BC23-AF07-5D4C-9771-1AA831123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FB341A3A-4EE2-BF4D-9593-002D5D97FC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6B03F04C-92EE-D548-9E52-AD2D46376D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5A702ABD-34CB-AD49-9E39-5855EA13C1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80EEF8F4-3969-3A44-BBDF-671FB56212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E2F9B1E8-5C16-9041-9A57-DA48FCDCE6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D029E9F8-B6A0-EE41-9E65-F3F56B9AC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282C7005-2F4E-C849-8FC5-E32A8529D0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CAE9FDC6-5B7D-DE4C-846A-B864707CB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6B1C9932-935D-C24C-A847-C7A5E87AB6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0E6EB8CE-7E21-4D43-B5EE-1E723BD8D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653B53A0-7C2C-B247-9DFA-0B8DCF941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EFA80EEF-08A8-A34B-8A20-EBDB664A6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AD3332B4-5183-834E-8082-78EF2CD11C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E7264CD6-28D2-9047-B569-885D49465A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E2FD1A10-4838-CE45-9AAF-B4CDF7228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93BFF48F-8500-3E48-A7B7-41D86CBF0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5801521B-56BB-434B-B38E-477FB29EF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724E9D1A-F4D5-FE47-A293-061DC1E02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F0B4266C-E4A9-EC4C-94AC-249566DB4C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0542E241-D25D-B446-B7F5-E4913890F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DABAEE62-4586-7244-818D-B96737BE20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73DAEF3C-1255-274E-BA80-F174EC0CF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008705D5-BC4D-8C44-AAB2-02C0973D69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6732D5ED-6762-4A47-8D77-E4789805D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中序遍历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Logn+k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5DC3A6-DACB-9041-9C3B-ED30939C167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68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95211034-C084-224B-8C73-EDB83CF5D9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D8BBF920-C243-5448-AAC6-14DEB59FAE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2C6C4687-488D-E14B-A383-CFC848D22F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8273F0CD-CC9A-EC44-ABC6-EDD4EF857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AFB988F8-4BD8-B541-8824-3E945E20FB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F27DF71E-48CF-3E46-BBDE-810B3355C9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F52DA6E9-65CD-EB48-BF6B-BE6ACE6D53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8A4E1603-9E9B-4444-B959-EE674BF68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04CF61C5-4C40-1745-B276-03EFB5EEB0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D038379F-7254-674C-BEE8-C7E6DF62F7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9B533E3F-C7D1-374F-AED2-512E44FF8B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9A6875C0-4E55-994E-AC8D-B94A9961E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2A8BA9EA-CAE1-7347-A088-6E39997960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CB1034F4-C2F8-684B-814C-962A75FF1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!!!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A9E355DB-9996-D845-B50A-8B6C663BC4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92F1A8DD-4BBD-6C4B-BE70-AB9357D8A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16E9B7B6-1F78-5B4A-A8BC-0F09EAD812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65CDF1-0CCC-2B44-97F5-904FEC2F1CC0}" type="slidenum">
              <a:rPr lang="en-US" altLang="zh-CN">
                <a:latin typeface="Times New Roman" panose="02020603050405020304" pitchFamily="18" charset="0"/>
              </a:rPr>
              <a:pPr/>
              <a:t>34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BEF3B6CE-8416-C545-8384-9C566713D5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2E26B196-1FB3-3948-8629-E878D46E8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352ACD5B-94FF-C44E-A58C-7CF6BD4870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81F9A7-5F47-954F-9428-9E2284A6321F}" type="slidenum">
              <a:rPr lang="en-US" altLang="zh-CN">
                <a:latin typeface="Times New Roman" panose="02020603050405020304" pitchFamily="18" charset="0"/>
              </a:rPr>
              <a:pPr/>
              <a:t>35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A10161C1-C995-6E4D-B240-A6F39F25BB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8975FBF9-BFFF-0343-86A5-856B0A56DF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C29D5979-9D2B-3A40-AA93-2072416A93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6CEF0BAA-83C2-4B4E-9EC0-95D78DB25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06D3C852-ADB5-3342-883C-A8BB4A9110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7D7BED51-5DCA-DA4C-9F77-812025527F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21AD9103-57CE-F646-A496-1017D66A7E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1524879C-C685-D44F-A5B4-ABDE20E0AE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47120F32-B9FF-7947-84B7-41B6A50AE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4A9B7E16-0BC6-6545-A1A2-4DDF85F3FA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C4B68786-7FA1-BF45-9940-7C13C078DA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3AF9DCBF-303F-4E44-AC0A-D14E2B2CE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139A6570-1AEE-4947-AC57-C79DDB29B7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0AA24D6E-8B4E-454E-94D9-2E03161DB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C1E4399A-144A-6A41-91E6-2188CA35BC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F361B933-1007-1B49-A2E9-F0EE5E57C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AE22F3BB-C166-F145-9271-8E0DBB26CF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BAE7CB50-E473-3047-919D-7CEFEE534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BDC7865E-B461-3641-9DEA-70D4F0C279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CF0C99EE-9B36-1B44-825F-755D659CC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42B33E4B-83B6-0F4B-95E2-5A53EA1B3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47EB4D26-C993-364A-A220-97653EC84E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E18DD2B4-65F4-4B48-BD00-1125471027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7704893D-3BD5-2445-9F1F-CBDB9737C0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2113A190-5900-7846-BBCE-5C99FE7D4A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26849C53-4D7C-5642-B1B7-5710B53B8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2A1C2796-B638-7749-AA52-D87F957D54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C7ECC800-7134-C249-AD42-4CDBBEB774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369AF506-2FB3-BF48-B5CE-A61F26F0A6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0C48EB04-BC5B-844B-8170-664C00376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D60291DD-7026-B849-97D1-E0C55E1C29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6B0C0A5E-36BC-1747-9085-8AE00628B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CE2C2DDB-64CB-554D-ACAC-3BB1573C62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85B533DD-943D-5D46-AFDD-A8BBEDF88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0F9C5623-57CA-F443-B256-565D26A96F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C1A5BD07-27BB-C544-9FB7-D99EF3AE4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CEDC16E6-04C9-3147-8CCC-4CBA9AEFA6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11CF4FEE-5897-B441-A30C-9067F2F297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11DEB85E-38D4-AB41-9311-C9495E5852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FD1CE367-DAEC-E34D-AC79-966B2DE55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>
            <a:extLst>
              <a:ext uri="{FF2B5EF4-FFF2-40B4-BE49-F238E27FC236}">
                <a16:creationId xmlns:a16="http://schemas.microsoft.com/office/drawing/2014/main" id="{155C1C4E-EAC1-B44E-9C8D-F2C3197BF1F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18" tIns="48312" rIns="96618" bIns="48312" anchor="b"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7C27942-046F-B248-ADB7-9F31A68EDCBA}" type="slidenum">
              <a:rPr lang="en-US" altLang="zh-CN" sz="1200">
                <a:latin typeface="Times New Roman" panose="02020603050405020304" pitchFamily="18" charset="0"/>
              </a:rPr>
              <a:pPr algn="r"/>
              <a:t>61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86371" name="Rectangle 2">
            <a:extLst>
              <a:ext uri="{FF2B5EF4-FFF2-40B4-BE49-F238E27FC236}">
                <a16:creationId xmlns:a16="http://schemas.microsoft.com/office/drawing/2014/main" id="{404CD297-9E0B-2842-90CE-63053CF562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86372" name="Rectangle 3">
            <a:extLst>
              <a:ext uri="{FF2B5EF4-FFF2-40B4-BE49-F238E27FC236}">
                <a16:creationId xmlns:a16="http://schemas.microsoft.com/office/drawing/2014/main" id="{73EB31EF-D515-7147-BBFC-2E6A0BC310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EB7F5FE4-A9A9-054D-877A-842A4C2460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0BEAD83B-59DB-0D41-863F-D258739330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FD4F08FD-9F28-0144-B366-04592C246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A344C210-2E93-2E45-856A-497A69372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C704727E-EC56-084F-964A-16AFF7C882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36C9746A-FF8A-254A-813E-E5B0B12646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FABE6377-2150-EA47-A3A0-1C8CF96A5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CCE02185-02DC-1240-9FB7-2062D20501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5E4B7D1C-0389-8F4B-8C0E-3DE4AD1B99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FD3C6421-DA5E-FE4C-86BC-428C3D270C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>
            <a:extLst>
              <a:ext uri="{FF2B5EF4-FFF2-40B4-BE49-F238E27FC236}">
                <a16:creationId xmlns:a16="http://schemas.microsoft.com/office/drawing/2014/main" id="{57673EAF-03EA-404D-B9F1-63B8730C52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FDBA3B8C-8D17-3442-9040-573D5E2531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D948B75F-A3B0-414E-88FD-19E4A3816F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FB5F4517-CE01-3842-B5F7-6812667AD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5C971208-D2F9-3547-86E7-07B842A5A7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06F08BCC-5526-F647-9A9F-ED322BBDB0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EFE5CD94-1D68-A641-9579-942C2592C4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D90BF568-2234-1E46-A132-C5AF372EC1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40105A4A-F070-F749-AE88-968F6BF656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26D11699-19D7-4C47-BD72-2E6ED6A741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4C299408-DCC6-294D-869A-4C34AE6BC5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A6C02753-E567-D043-900F-2C49B8886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FD29949E-9FC8-9D4B-A2CD-4B1F5E70C6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23202CBE-5A2F-9B46-AFD5-9DBCB14BD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324BBF42-60C5-DD4C-917E-3442EA8871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36EF2ABB-A2B1-8141-BCE2-B1BCDC7C4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5694BF5E-E472-D24F-88C8-A934D3933B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DA3BAD67-8661-7F4A-AC7D-C59871847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>
            <a:extLst>
              <a:ext uri="{FF2B5EF4-FFF2-40B4-BE49-F238E27FC236}">
                <a16:creationId xmlns:a16="http://schemas.microsoft.com/office/drawing/2014/main" id="{B18E7151-CEA5-994C-BDFA-7029869A8F8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18" tIns="48312" rIns="96618" bIns="48312" anchor="b"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34CA399-F9B4-FA40-AF17-3BCBD91B60BC}" type="slidenum">
              <a:rPr lang="en-US" altLang="zh-CN" sz="1200">
                <a:latin typeface="Times New Roman" panose="02020603050405020304" pitchFamily="18" charset="0"/>
              </a:rPr>
              <a:pPr algn="r"/>
              <a:t>106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09923" name="Rectangle 2">
            <a:extLst>
              <a:ext uri="{FF2B5EF4-FFF2-40B4-BE49-F238E27FC236}">
                <a16:creationId xmlns:a16="http://schemas.microsoft.com/office/drawing/2014/main" id="{1FB451A5-0AAC-FC4A-B5BA-01149BB23A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209924" name="Rectangle 3">
            <a:extLst>
              <a:ext uri="{FF2B5EF4-FFF2-40B4-BE49-F238E27FC236}">
                <a16:creationId xmlns:a16="http://schemas.microsoft.com/office/drawing/2014/main" id="{F87B2842-1451-4C48-9A53-7CE609FF1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D58B3E-50EA-3C4D-886E-8203015F9803}" type="slidenum">
              <a:rPr lang="en-US" altLang="zh-CN">
                <a:latin typeface="Times New Roman" panose="02020603050405020304" pitchFamily="18" charset="0"/>
              </a:rPr>
              <a:t>112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Extension to the K-dimensional case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C5E065-18B0-CB47-9F89-B6644EE97868}" type="slidenum">
              <a:rPr lang="en-US" altLang="zh-CN">
                <a:latin typeface="Times New Roman" panose="02020603050405020304" pitchFamily="18" charset="0"/>
              </a:rPr>
              <a:t>113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5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7838" y="714375"/>
            <a:ext cx="6361112" cy="3578225"/>
          </a:xfrm>
        </p:spPr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5200" y="4530725"/>
            <a:ext cx="5384800" cy="4370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FF1CCD-02BD-EB46-ADBE-E118C6A357C2}" type="slidenum">
              <a:rPr lang="en-US" altLang="zh-CN">
                <a:latin typeface="Times New Roman" panose="02020603050405020304" pitchFamily="18" charset="0"/>
              </a:rPr>
              <a:t>114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6067" name="Rectangle 2"/>
          <p:cNvSpPr txBox="1">
            <a:spLocks noGrp="1" noChangeArrowheads="1"/>
          </p:cNvSpPr>
          <p:nvPr/>
        </p:nvSpPr>
        <p:spPr bwMode="auto">
          <a:xfrm>
            <a:off x="-1588" y="-1588"/>
            <a:ext cx="3170238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0158" tIns="0" rIns="20158" bIns="0"/>
          <a:lstStyle>
            <a:lvl1pPr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00" i="1">
                <a:latin typeface="Times New Roman" panose="02020603050405020304" pitchFamily="18" charset="0"/>
              </a:rPr>
              <a:t>Multimedia Technologies</a:t>
            </a:r>
          </a:p>
        </p:txBody>
      </p:sp>
      <p:sp>
        <p:nvSpPr>
          <p:cNvPr id="216068" name="Rectangle 3"/>
          <p:cNvSpPr txBox="1">
            <a:spLocks noGrp="1" noChangeArrowheads="1"/>
          </p:cNvSpPr>
          <p:nvPr/>
        </p:nvSpPr>
        <p:spPr bwMode="auto">
          <a:xfrm>
            <a:off x="4144963" y="-1588"/>
            <a:ext cx="3170237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0158" tIns="0" rIns="20158" bIns="0"/>
          <a:lstStyle>
            <a:lvl1pPr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1100" i="1">
                <a:latin typeface="Times New Roman" panose="02020603050405020304" pitchFamily="18" charset="0"/>
              </a:rPr>
              <a:t>7/17/97</a:t>
            </a:r>
          </a:p>
        </p:txBody>
      </p:sp>
      <p:sp>
        <p:nvSpPr>
          <p:cNvPr id="216069" name="Rectangle 6"/>
          <p:cNvSpPr txBox="1">
            <a:spLocks noGrp="1" noChangeArrowheads="1"/>
          </p:cNvSpPr>
          <p:nvPr/>
        </p:nvSpPr>
        <p:spPr bwMode="auto">
          <a:xfrm>
            <a:off x="-1588" y="9120188"/>
            <a:ext cx="3170238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0158" tIns="0" rIns="20158" bIns="0" anchor="b"/>
          <a:lstStyle>
            <a:lvl1pPr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100" i="1">
                <a:latin typeface="Times New Roman" panose="02020603050405020304" pitchFamily="18" charset="0"/>
              </a:rPr>
              <a:t>Kien A. Hua</a:t>
            </a:r>
          </a:p>
        </p:txBody>
      </p:sp>
      <p:sp>
        <p:nvSpPr>
          <p:cNvPr id="216070" name="Rectangle 7"/>
          <p:cNvSpPr txBox="1">
            <a:spLocks noGrp="1" noChangeArrowheads="1"/>
          </p:cNvSpPr>
          <p:nvPr/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0158" tIns="0" rIns="20158" bIns="0" anchor="b"/>
          <a:lstStyle>
            <a:lvl1pPr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38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3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7CEA549-B982-444F-9345-32C37852FC27}" type="slidenum">
              <a:rPr lang="en-US" altLang="zh-CN" sz="1100" i="1">
                <a:latin typeface="Times New Roman" panose="02020603050405020304" pitchFamily="18" charset="0"/>
              </a:rPr>
              <a:t>114</a:t>
            </a:fld>
            <a:endParaRPr lang="en-US" altLang="zh-CN" sz="1100" i="1">
              <a:latin typeface="Times New Roman" panose="02020603050405020304" pitchFamily="18" charset="0"/>
            </a:endParaRPr>
          </a:p>
        </p:txBody>
      </p:sp>
      <p:sp>
        <p:nvSpPr>
          <p:cNvPr id="2160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5488"/>
            <a:ext cx="6381750" cy="3589337"/>
          </a:xfrm>
          <a:ln cap="flat"/>
        </p:spPr>
      </p:sp>
      <p:sp>
        <p:nvSpPr>
          <p:cNvPr id="2160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4163" cy="431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436" tIns="48719" rIns="97436" bIns="48719"/>
          <a:lstStyle/>
          <a:p>
            <a:pPr defTabSz="952500"/>
            <a:endParaRPr lang="es-E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067C3B-C9D9-D44E-9729-518598B1A707}" type="slidenum">
              <a:rPr lang="en-US" altLang="zh-CN">
                <a:latin typeface="Times New Roman" panose="02020603050405020304" pitchFamily="18" charset="0"/>
              </a:rPr>
              <a:t>115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7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217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Extension to the K-dimensional case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56B8A9-8133-774A-88E8-30E5AAC1606C}" type="slidenum">
              <a:rPr lang="en-US" altLang="zh-CN">
                <a:latin typeface="Times New Roman" panose="02020603050405020304" pitchFamily="18" charset="0"/>
              </a:rPr>
              <a:t>116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8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Extension to the K-dimensional case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0EBAE3-B683-0640-921A-A9C015ECE544}" type="slidenum">
              <a:rPr lang="en-US" altLang="zh-CN">
                <a:latin typeface="Times New Roman" panose="02020603050405020304" pitchFamily="18" charset="0"/>
              </a:rPr>
              <a:t>117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9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219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Extension to the K-dimensional case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54BD5-6B15-C349-B9C7-0336B169AF0A}" type="slidenum">
              <a:rPr lang="en-US" smtClean="0"/>
              <a:t>119</a:t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54BD5-6B15-C349-B9C7-0336B169AF0A}" type="slidenum">
              <a:rPr lang="en-US" smtClean="0"/>
              <a:t>125</a:t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D66004-AE4B-2447-A569-BD228CA38C07}" type="slidenum">
              <a:rPr lang="en-US" altLang="zh-CN">
                <a:latin typeface="Times New Roman" panose="02020603050405020304" pitchFamily="18" charset="0"/>
              </a:rPr>
              <a:t>140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0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220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411A84-E7A9-0C47-86ED-9346859F7BC5}" type="slidenum">
              <a:rPr lang="en-US" altLang="zh-CN">
                <a:latin typeface="Times New Roman" panose="02020603050405020304" pitchFamily="18" charset="0"/>
              </a:rPr>
              <a:t>141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1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221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138D1F-7237-134B-92E2-32B238F063E7}" type="slidenum">
              <a:rPr lang="en-US" altLang="zh-CN">
                <a:latin typeface="Times New Roman" panose="02020603050405020304" pitchFamily="18" charset="0"/>
              </a:rPr>
              <a:t>142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2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222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54BD5-6B15-C349-B9C7-0336B169AF0A}" type="slidenum">
              <a:rPr lang="en-US" smtClean="0"/>
              <a:t>150</a:t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A query point traverses the k‐d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tree and records the distances to each split on a priority queue.  Let D be the distance between the query point and the leaf. In backtracking, split distances  recorded are compared with D and branches with smaller distance are traversed.   </a:t>
            </a:r>
            <a:endParaRPr lang="en-US" altLang="zh-CN" dirty="0">
              <a:effectLst/>
            </a:endParaRP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54BD5-6B15-C349-B9C7-0336B169AF0A}" type="slidenum">
              <a:rPr lang="en-US" smtClean="0"/>
              <a:t>156</a:t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54BD5-6B15-C349-B9C7-0336B169AF0A}" type="slidenum">
              <a:rPr lang="en-US" smtClean="0"/>
              <a:t>157</a:t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54BD5-6B15-C349-B9C7-0336B169AF0A}" type="slidenum">
              <a:rPr lang="en-US" smtClean="0"/>
              <a:t>160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8E96-F24C-C244-A704-A4D358A2FE3B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89485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8E96-F24C-C244-A704-A4D358A2FE3B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1889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8E96-F24C-C244-A704-A4D358A2FE3B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2132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8E96-F24C-C244-A704-A4D358A2FE3B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949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8E96-F24C-C244-A704-A4D358A2FE3B}" type="datetime1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0262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8E96-F24C-C244-A704-A4D358A2FE3B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8704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8E96-F24C-C244-A704-A4D358A2FE3B}" type="datetime1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9626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8E96-F24C-C244-A704-A4D358A2FE3B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6410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8E96-F24C-C244-A704-A4D358A2FE3B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1436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8E96-F24C-C244-A704-A4D358A2FE3B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8552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8E96-F24C-C244-A704-A4D358A2FE3B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9233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7784" y="1214438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55784" y="1214438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F1028D-4BB3-2D4B-A00A-58BA2B1BD2F1}" type="datetime1">
              <a:rPr lang="zh-CN" altLang="en-US" smtClean="0"/>
              <a:t>2026/4/12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8707AD5-DD5D-5C4C-8079-5B3BA8A2EB53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731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08E96-F24C-C244-A704-A4D358A2FE3B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740229"/>
            <a:ext cx="12192000" cy="5595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986972"/>
            <a:ext cx="12192000" cy="57089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0" y="0"/>
            <a:ext cx="12192000" cy="6858000"/>
            <a:chOff x="0" y="0"/>
            <a:chExt cx="14400" cy="8100"/>
          </a:xfrm>
        </p:grpSpPr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14" cstate="screen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16" name="矩形 15"/>
            <p:cNvSpPr/>
            <p:nvPr userDrawn="1"/>
          </p:nvSpPr>
          <p:spPr>
            <a:xfrm>
              <a:off x="0" y="1166"/>
              <a:ext cx="14400" cy="67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 i="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25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Bold" panose="020B080000000000000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Bold" panose="020B0800000000000000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Bold" panose="020B0800000000000000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Bold" panose="020B0800000000000000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Bold" panose="020B0800000000000000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Bold" panose="020B08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geeksquiz.com/binary-search-tree-set-2-delete/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emf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87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wm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87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emf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87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emf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image" Target="../media/image118.emf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58" r="-8568"/>
          <a:stretch>
            <a:fillRect/>
          </a:stretch>
        </p:blipFill>
        <p:spPr>
          <a:xfrm>
            <a:off x="0" y="2"/>
            <a:ext cx="13680000" cy="6889444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2066927" y="2108382"/>
            <a:ext cx="1023072" cy="1023072"/>
            <a:chOff x="2175776" y="1517788"/>
            <a:chExt cx="767304" cy="767304"/>
          </a:xfrm>
        </p:grpSpPr>
        <p:sp>
          <p:nvSpPr>
            <p:cNvPr id="4" name="椭圆 3"/>
            <p:cNvSpPr/>
            <p:nvPr/>
          </p:nvSpPr>
          <p:spPr>
            <a:xfrm>
              <a:off x="2175776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7" dirty="0">
                <a:solidFill>
                  <a:srgbClr val="B6302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273390" y="1642258"/>
              <a:ext cx="441226" cy="56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267" dirty="0">
                  <a:solidFill>
                    <a:srgbClr val="23158B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算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241533" y="2108384"/>
            <a:ext cx="1023072" cy="1023072"/>
            <a:chOff x="3089954" y="1517788"/>
            <a:chExt cx="767304" cy="767304"/>
          </a:xfrm>
        </p:grpSpPr>
        <p:sp>
          <p:nvSpPr>
            <p:cNvPr id="7" name="椭圆 6"/>
            <p:cNvSpPr/>
            <p:nvPr/>
          </p:nvSpPr>
          <p:spPr>
            <a:xfrm>
              <a:off x="3089954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7" dirty="0">
                <a:solidFill>
                  <a:srgbClr val="B6302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197093" y="1651783"/>
              <a:ext cx="441226" cy="56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267" dirty="0">
                  <a:solidFill>
                    <a:srgbClr val="23158B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法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416140" y="2108387"/>
            <a:ext cx="1023072" cy="1023072"/>
            <a:chOff x="3958877" y="1517788"/>
            <a:chExt cx="767304" cy="767304"/>
          </a:xfrm>
        </p:grpSpPr>
        <p:sp>
          <p:nvSpPr>
            <p:cNvPr id="10" name="椭圆 9"/>
            <p:cNvSpPr/>
            <p:nvPr/>
          </p:nvSpPr>
          <p:spPr>
            <a:xfrm>
              <a:off x="3958877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7" dirty="0">
                <a:solidFill>
                  <a:srgbClr val="B6302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058416" y="1658880"/>
              <a:ext cx="441226" cy="56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267" dirty="0">
                  <a:solidFill>
                    <a:srgbClr val="23158B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设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590747" y="2108387"/>
            <a:ext cx="1023072" cy="1023072"/>
            <a:chOff x="4833659" y="1517788"/>
            <a:chExt cx="767304" cy="767304"/>
          </a:xfrm>
        </p:grpSpPr>
        <p:sp>
          <p:nvSpPr>
            <p:cNvPr id="13" name="椭圆 12"/>
            <p:cNvSpPr/>
            <p:nvPr/>
          </p:nvSpPr>
          <p:spPr>
            <a:xfrm>
              <a:off x="4833659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7" dirty="0">
                <a:solidFill>
                  <a:srgbClr val="B6302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933198" y="1658880"/>
              <a:ext cx="441226" cy="56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267" dirty="0">
                  <a:solidFill>
                    <a:srgbClr val="23158B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计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765353" y="2108389"/>
            <a:ext cx="1023072" cy="1023072"/>
            <a:chOff x="5666375" y="1517788"/>
            <a:chExt cx="767304" cy="767304"/>
          </a:xfrm>
        </p:grpSpPr>
        <p:sp>
          <p:nvSpPr>
            <p:cNvPr id="16" name="椭圆 15"/>
            <p:cNvSpPr/>
            <p:nvPr/>
          </p:nvSpPr>
          <p:spPr>
            <a:xfrm>
              <a:off x="5666375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7" dirty="0">
                <a:solidFill>
                  <a:srgbClr val="B6302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775439" y="1649355"/>
              <a:ext cx="441226" cy="56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267" dirty="0">
                  <a:solidFill>
                    <a:srgbClr val="23158B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与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921144" y="2038809"/>
            <a:ext cx="1023072" cy="1023072"/>
            <a:chOff x="6580553" y="1517788"/>
            <a:chExt cx="767304" cy="767304"/>
          </a:xfrm>
        </p:grpSpPr>
        <p:sp>
          <p:nvSpPr>
            <p:cNvPr id="19" name="椭圆 18"/>
            <p:cNvSpPr/>
            <p:nvPr/>
          </p:nvSpPr>
          <p:spPr>
            <a:xfrm>
              <a:off x="6580553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7" dirty="0">
                <a:solidFill>
                  <a:srgbClr val="B6302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708667" y="1649355"/>
              <a:ext cx="441226" cy="56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267" dirty="0">
                  <a:solidFill>
                    <a:srgbClr val="23158B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分</a:t>
              </a:r>
            </a:p>
          </p:txBody>
        </p:sp>
      </p:grpSp>
      <p:sp>
        <p:nvSpPr>
          <p:cNvPr id="28" name="圆角矩形 27"/>
          <p:cNvSpPr/>
          <p:nvPr/>
        </p:nvSpPr>
        <p:spPr>
          <a:xfrm>
            <a:off x="3757760" y="3412713"/>
            <a:ext cx="5335296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992503" y="3461152"/>
            <a:ext cx="4927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Multi-dimensional Search Trees</a:t>
            </a:r>
            <a:endParaRPr lang="zh-CN" altLang="en-US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090000" y="4279947"/>
            <a:ext cx="70400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Chao Zhang</a:t>
            </a:r>
          </a:p>
          <a:p>
            <a:pPr algn="ctr"/>
            <a:endParaRPr lang="en-US" altLang="zh-CN" sz="32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Renmin</a:t>
            </a:r>
            <a:r>
              <a:rPr lang="zh-CN" altLang="en-US" sz="3600" dirty="0">
                <a:solidFill>
                  <a:schemeClr val="bg1"/>
                </a:solidFill>
              </a:rPr>
              <a:t> </a:t>
            </a:r>
            <a:r>
              <a:rPr lang="en-US" altLang="zh-CN" sz="3600" dirty="0">
                <a:solidFill>
                  <a:schemeClr val="bg1"/>
                </a:solidFill>
              </a:rPr>
              <a:t>University</a:t>
            </a:r>
            <a:r>
              <a:rPr lang="zh-CN" altLang="en-US" sz="3600" dirty="0">
                <a:solidFill>
                  <a:schemeClr val="bg1"/>
                </a:solidFill>
              </a:rPr>
              <a:t> </a:t>
            </a:r>
            <a:r>
              <a:rPr lang="en-US" altLang="zh-CN" sz="3600" dirty="0">
                <a:solidFill>
                  <a:schemeClr val="bg1"/>
                </a:solidFill>
              </a:rPr>
              <a:t>of</a:t>
            </a:r>
            <a:r>
              <a:rPr lang="zh-CN" altLang="en-US" sz="3600" dirty="0">
                <a:solidFill>
                  <a:schemeClr val="bg1"/>
                </a:solidFill>
              </a:rPr>
              <a:t> </a:t>
            </a:r>
            <a:r>
              <a:rPr lang="en-US" altLang="zh-CN" sz="3600" dirty="0">
                <a:solidFill>
                  <a:schemeClr val="bg1"/>
                </a:solidFill>
              </a:rPr>
              <a:t>China</a:t>
            </a:r>
          </a:p>
          <a:p>
            <a:endParaRPr lang="zh-CN" altLang="en-US" sz="32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228469" y="2038807"/>
            <a:ext cx="1023072" cy="1023072"/>
            <a:chOff x="6580553" y="1517788"/>
            <a:chExt cx="767304" cy="767304"/>
          </a:xfrm>
        </p:grpSpPr>
        <p:sp>
          <p:nvSpPr>
            <p:cNvPr id="12" name="椭圆 11"/>
            <p:cNvSpPr/>
            <p:nvPr/>
          </p:nvSpPr>
          <p:spPr>
            <a:xfrm>
              <a:off x="6580553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7" dirty="0">
                <a:solidFill>
                  <a:srgbClr val="B6302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699142" y="1639830"/>
              <a:ext cx="441226" cy="56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267" dirty="0">
                  <a:solidFill>
                    <a:srgbClr val="23158B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析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4000"/>
    </mc:Choice>
    <mc:Fallback xmlns="">
      <p:transition advClick="0"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5">
            <a:extLst>
              <a:ext uri="{FF2B5EF4-FFF2-40B4-BE49-F238E27FC236}">
                <a16:creationId xmlns:a16="http://schemas.microsoft.com/office/drawing/2014/main" id="{E9F58D15-37DE-B17F-A592-1DE85FA285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4679" y="3657133"/>
            <a:ext cx="497868" cy="510634"/>
          </a:xfrm>
          <a:prstGeom prst="rect">
            <a:avLst/>
          </a:prstGeom>
        </p:spPr>
      </p:pic>
      <p:pic>
        <p:nvPicPr>
          <p:cNvPr id="25" name="Picture 6">
            <a:extLst>
              <a:ext uri="{FF2B5EF4-FFF2-40B4-BE49-F238E27FC236}">
                <a16:creationId xmlns:a16="http://schemas.microsoft.com/office/drawing/2014/main" id="{8A9A2B4D-156D-DE3A-76A3-1DD91D8ABA3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9667" y="5076581"/>
            <a:ext cx="497868" cy="510634"/>
          </a:xfrm>
          <a:prstGeom prst="rect">
            <a:avLst/>
          </a:prstGeom>
        </p:spPr>
      </p:pic>
      <p:pic>
        <p:nvPicPr>
          <p:cNvPr id="26" name="Picture 7">
            <a:extLst>
              <a:ext uri="{FF2B5EF4-FFF2-40B4-BE49-F238E27FC236}">
                <a16:creationId xmlns:a16="http://schemas.microsoft.com/office/drawing/2014/main" id="{BEC37DC3-5A0A-4D94-EB8A-CE62953668B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0054" y="3665829"/>
            <a:ext cx="497868" cy="510634"/>
          </a:xfrm>
          <a:prstGeom prst="rect">
            <a:avLst/>
          </a:prstGeom>
        </p:spPr>
      </p:pic>
      <p:pic>
        <p:nvPicPr>
          <p:cNvPr id="27" name="Picture 8">
            <a:extLst>
              <a:ext uri="{FF2B5EF4-FFF2-40B4-BE49-F238E27FC236}">
                <a16:creationId xmlns:a16="http://schemas.microsoft.com/office/drawing/2014/main" id="{C4990630-E411-CC26-3D03-7085BF37987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0054" y="5143108"/>
            <a:ext cx="497868" cy="510634"/>
          </a:xfrm>
          <a:prstGeom prst="rect">
            <a:avLst/>
          </a:prstGeom>
        </p:spPr>
      </p:pic>
      <p:pic>
        <p:nvPicPr>
          <p:cNvPr id="28" name="Picture 9">
            <a:extLst>
              <a:ext uri="{FF2B5EF4-FFF2-40B4-BE49-F238E27FC236}">
                <a16:creationId xmlns:a16="http://schemas.microsoft.com/office/drawing/2014/main" id="{3EB44053-EAC7-E330-2A35-24F74421FDD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5563" y="3655323"/>
            <a:ext cx="464671" cy="478888"/>
          </a:xfrm>
          <a:prstGeom prst="rect">
            <a:avLst/>
          </a:prstGeom>
        </p:spPr>
      </p:pic>
      <p:pic>
        <p:nvPicPr>
          <p:cNvPr id="29" name="Picture 10">
            <a:extLst>
              <a:ext uri="{FF2B5EF4-FFF2-40B4-BE49-F238E27FC236}">
                <a16:creationId xmlns:a16="http://schemas.microsoft.com/office/drawing/2014/main" id="{397C1B9E-EFDE-20DA-33FE-E15B03003B7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4679" y="5174854"/>
            <a:ext cx="464671" cy="478888"/>
          </a:xfrm>
          <a:prstGeom prst="rect">
            <a:avLst/>
          </a:prstGeom>
        </p:spPr>
      </p:pic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id="{9E02383E-C03F-1DAA-1DD6-17C1E6DD0E49}"/>
              </a:ext>
            </a:extLst>
          </p:cNvPr>
          <p:cNvGraphicFramePr>
            <a:graphicFrameLocks/>
          </p:cNvGraphicFramePr>
          <p:nvPr/>
        </p:nvGraphicFramePr>
        <p:xfrm>
          <a:off x="2021222" y="1355129"/>
          <a:ext cx="7886700" cy="4850750"/>
        </p:xfrm>
        <a:graphic>
          <a:graphicData uri="http://schemas.openxmlformats.org/drawingml/2006/table">
            <a:tbl>
              <a:tblPr firstRow="1" firstCol="1" bandRow="1"/>
              <a:tblGrid>
                <a:gridCol w="157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891293376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48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US" sz="24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Unsorted Arrays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Sorted</a:t>
                      </a:r>
                      <a:r>
                        <a:rPr lang="en-US" sz="2400" baseline="0" dirty="0"/>
                        <a:t> Arrays</a:t>
                      </a:r>
                      <a:endParaRPr lang="en-US" sz="24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Linked Lists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R</a:t>
                      </a:r>
                      <a:r>
                        <a:rPr lang="en-US" altLang="zh-CN" sz="2400" dirty="0"/>
                        <a:t>ed-</a:t>
                      </a:r>
                      <a:r>
                        <a:rPr lang="en-US" sz="2400" dirty="0"/>
                        <a:t>B</a:t>
                      </a:r>
                      <a:r>
                        <a:rPr lang="en-US" altLang="zh-CN" sz="2400" dirty="0"/>
                        <a:t>lack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sz="2400" dirty="0"/>
                        <a:t>T</a:t>
                      </a:r>
                      <a:r>
                        <a:rPr lang="en-US" altLang="zh-CN" sz="2400" dirty="0"/>
                        <a:t>ree</a:t>
                      </a:r>
                      <a:r>
                        <a:rPr lang="en-US" sz="2400" dirty="0"/>
                        <a:t>*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9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9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3200" dirty="0"/>
                        <a:t>Search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O(n)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O(log(n))        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O(n)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O(log(n))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CF3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0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Delete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O(n)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O(n)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O(n)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O(log(n))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CF3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591496"/>
                  </a:ext>
                </a:extLst>
              </a:tr>
              <a:tr h="12275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Insert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O(1)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O(n)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O(1)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9E3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O(log(n))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CF3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圆角矩形 23">
            <a:extLst>
              <a:ext uri="{FF2B5EF4-FFF2-40B4-BE49-F238E27FC236}">
                <a16:creationId xmlns:a16="http://schemas.microsoft.com/office/drawing/2014/main" id="{F05432CA-BC6A-02EF-FDF1-0ECA0579A114}"/>
              </a:ext>
            </a:extLst>
          </p:cNvPr>
          <p:cNvSpPr/>
          <p:nvPr/>
        </p:nvSpPr>
        <p:spPr>
          <a:xfrm>
            <a:off x="1791617" y="2966481"/>
            <a:ext cx="8316685" cy="964879"/>
          </a:xfrm>
          <a:prstGeom prst="roundRect">
            <a:avLst/>
          </a:prstGeom>
          <a:noFill/>
          <a:ln w="12700" cap="flat" cmpd="sng" algn="ctr">
            <a:solidFill>
              <a:srgbClr val="549E39">
                <a:shade val="50000"/>
              </a:srgbClr>
            </a:solidFill>
            <a:prstDash val="solid"/>
            <a:miter lim="800000"/>
          </a:ln>
          <a:effectLst>
            <a:glow rad="228600">
              <a:srgbClr val="C0CF3A">
                <a:satMod val="175000"/>
                <a:alpha val="40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29CB5CB4-A218-E314-5FA7-F85C15EABDA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2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65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9784" y="239697"/>
            <a:ext cx="24889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思源黑体 Bold" panose="020B0800000000000000" pitchFamily="34" charset="-122"/>
                <a:cs typeface="+mn-cs"/>
                <a:sym typeface="+mn-ea"/>
              </a:rPr>
              <a:t>主要内容</a:t>
            </a:r>
            <a:endParaRPr kumimoji="0" lang="en-US" altLang="en-US" sz="3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79070" y="233045"/>
            <a:ext cx="313182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355AC32-C36C-3DE0-B525-06DE9D4F4AD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3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graphicFrame>
        <p:nvGraphicFramePr>
          <p:cNvPr id="13" name="内容占位符 2">
            <a:extLst>
              <a:ext uri="{FF2B5EF4-FFF2-40B4-BE49-F238E27FC236}">
                <a16:creationId xmlns:a16="http://schemas.microsoft.com/office/drawing/2014/main" id="{57ADFC92-0B77-D3FE-3F46-422F17AD61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5384891"/>
              </p:ext>
            </p:extLst>
          </p:nvPr>
        </p:nvGraphicFramePr>
        <p:xfrm>
          <a:off x="3747135" y="989508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页脚占位符 2">
            <a:extLst>
              <a:ext uri="{FF2B5EF4-FFF2-40B4-BE49-F238E27FC236}">
                <a16:creationId xmlns:a16="http://schemas.microsoft.com/office/drawing/2014/main" id="{D3516D41-98AB-0028-BE53-FB2F45D3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1584" y="6365876"/>
            <a:ext cx="3441939" cy="365125"/>
          </a:xfrm>
        </p:spPr>
        <p:txBody>
          <a:bodyPr/>
          <a:lstStyle/>
          <a:p>
            <a:r>
              <a:rPr lang="en-US" altLang="zh-CN" dirty="0"/>
              <a:t>Algorithm design and analysis 2026, Chao Zhang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43">
            <a:extLst>
              <a:ext uri="{FF2B5EF4-FFF2-40B4-BE49-F238E27FC236}">
                <a16:creationId xmlns:a16="http://schemas.microsoft.com/office/drawing/2014/main" id="{B81047BB-916D-DCCA-9105-E78E4673CD50}"/>
              </a:ext>
            </a:extLst>
          </p:cNvPr>
          <p:cNvSpPr/>
          <p:nvPr/>
        </p:nvSpPr>
        <p:spPr bwMode="auto">
          <a:xfrm>
            <a:off x="1871529" y="1546861"/>
            <a:ext cx="8323604" cy="4349738"/>
          </a:xfrm>
          <a:prstGeom prst="roundRect">
            <a:avLst>
              <a:gd name="adj" fmla="val 9992"/>
            </a:avLst>
          </a:prstGeom>
          <a:solidFill>
            <a:schemeClr val="bg1">
              <a:lumMod val="95000"/>
            </a:schemeClr>
          </a:solidFill>
          <a:ln w="3175" cap="flat" cmpd="sng">
            <a:solidFill>
              <a:schemeClr val="bg1">
                <a:lumMod val="50000"/>
              </a:schemeClr>
            </a:solidFill>
            <a:bevel/>
          </a:ln>
        </p:spPr>
        <p:txBody>
          <a:bodyPr lIns="62118" tIns="31058" rIns="62118" bIns="31058" anchor="ctr"/>
          <a:lstStyle/>
          <a:p>
            <a:pPr marL="914400" lvl="2" defTabSz="914400">
              <a:lnSpc>
                <a:spcPts val="1700"/>
              </a:lnSpc>
              <a:defRPr/>
            </a:pPr>
            <a:endParaRPr lang="zh-CN" altLang="en-US" sz="18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2A895EF4-4AFF-9A4C-BACD-FA1183CA4CD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20482" y="1834173"/>
            <a:ext cx="7751035" cy="3874418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宋体" panose="02010600030101010101" pitchFamily="2" charset="-122"/>
              </a:rPr>
              <a:t>Exact match query: </a:t>
            </a:r>
            <a:r>
              <a:rPr lang="en-US" altLang="zh-CN" dirty="0">
                <a:ea typeface="宋体" panose="02010600030101010101" pitchFamily="2" charset="-122"/>
              </a:rPr>
              <a:t>Asks for the object(s) whose key matches query key exactly.</a:t>
            </a:r>
          </a:p>
          <a:p>
            <a:pPr eaLnBrk="1" hangingPunct="1"/>
            <a:endParaRPr lang="en-US" altLang="zh-CN" b="1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ea typeface="宋体" panose="02010600030101010101" pitchFamily="2" charset="-122"/>
              </a:rPr>
              <a:t>Range query: </a:t>
            </a:r>
            <a:r>
              <a:rPr lang="en-US" altLang="zh-CN" dirty="0">
                <a:ea typeface="宋体" panose="02010600030101010101" pitchFamily="2" charset="-122"/>
              </a:rPr>
              <a:t>Asks for the objects whose key lies in a specified query range (interval).</a:t>
            </a:r>
          </a:p>
          <a:p>
            <a:pPr eaLnBrk="1" hangingPunct="1"/>
            <a:endParaRPr lang="en-US" altLang="zh-CN" b="1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ea typeface="宋体" panose="02010600030101010101" pitchFamily="2" charset="-122"/>
              </a:rPr>
              <a:t>Nearest-neighbor query:</a:t>
            </a:r>
            <a:r>
              <a:rPr lang="en-US" altLang="zh-CN" dirty="0">
                <a:ea typeface="宋体" panose="02010600030101010101" pitchFamily="2" charset="-122"/>
              </a:rPr>
              <a:t> Asks for the objects whose key is “close” to query key.</a:t>
            </a: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8527ED-148A-8D5A-6820-5104817769F3}"/>
              </a:ext>
            </a:extLst>
          </p:cNvPr>
          <p:cNvSpPr txBox="1"/>
          <p:nvPr/>
        </p:nvSpPr>
        <p:spPr>
          <a:xfrm>
            <a:off x="380723" y="299408"/>
            <a:ext cx="2576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Query Types</a:t>
            </a:r>
            <a:endParaRPr lang="zh-CN" altLang="en-US" sz="32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9A3716E4-946F-E3A1-CDBD-B7BA9ED94F51}"/>
              </a:ext>
            </a:extLst>
          </p:cNvPr>
          <p:cNvSpPr/>
          <p:nvPr/>
        </p:nvSpPr>
        <p:spPr>
          <a:xfrm>
            <a:off x="238662" y="311105"/>
            <a:ext cx="286346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F2C068-F480-E796-68EE-51278E9D23B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4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BD7958-ED08-3441-AA81-AA8F1C15EAFB}"/>
              </a:ext>
            </a:extLst>
          </p:cNvPr>
          <p:cNvSpPr/>
          <p:nvPr/>
        </p:nvSpPr>
        <p:spPr>
          <a:xfrm>
            <a:off x="3619104" y="2626744"/>
            <a:ext cx="5435600" cy="698500"/>
          </a:xfrm>
          <a:prstGeom prst="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617772A1-5FC6-E541-BCA9-245ECA38616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43502" y="1817000"/>
            <a:ext cx="8691073" cy="2840379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Suppose that we store employee records in a database:</a:t>
            </a:r>
          </a:p>
          <a:p>
            <a:pPr eaLnBrk="1" hangingPunct="1">
              <a:defRPr/>
            </a:pPr>
            <a:endParaRPr lang="en-US" dirty="0"/>
          </a:p>
          <a:p>
            <a:pPr marL="344487" lvl="1" indent="0">
              <a:buNone/>
              <a:defRPr/>
            </a:pPr>
            <a:r>
              <a:rPr lang="en-US" dirty="0"/>
              <a:t>		ID </a:t>
            </a:r>
            <a:r>
              <a:rPr lang="zh-CN" altLang="en-US" dirty="0"/>
              <a:t> </a:t>
            </a:r>
            <a:r>
              <a:rPr lang="en-US" dirty="0"/>
              <a:t> </a:t>
            </a:r>
            <a:r>
              <a:rPr lang="zh-CN" altLang="en-US" dirty="0"/>
              <a:t>  </a:t>
            </a:r>
            <a:r>
              <a:rPr lang="en-US" dirty="0"/>
              <a:t>Name  </a:t>
            </a:r>
            <a:r>
              <a:rPr lang="zh-CN" altLang="en-US" dirty="0"/>
              <a:t>   </a:t>
            </a:r>
            <a:r>
              <a:rPr lang="en-US" dirty="0"/>
              <a:t>Age </a:t>
            </a:r>
            <a:r>
              <a:rPr lang="zh-CN" altLang="en-US" dirty="0"/>
              <a:t>   </a:t>
            </a:r>
            <a:r>
              <a:rPr lang="en-US" dirty="0"/>
              <a:t> </a:t>
            </a:r>
            <a:r>
              <a:rPr lang="zh-CN" altLang="en-US" dirty="0"/>
              <a:t> </a:t>
            </a:r>
            <a:r>
              <a:rPr lang="en-US" dirty="0"/>
              <a:t>Salary </a:t>
            </a:r>
            <a:r>
              <a:rPr lang="zh-CN" altLang="en-US" dirty="0"/>
              <a:t>    </a:t>
            </a:r>
            <a:r>
              <a:rPr lang="en-US" dirty="0"/>
              <a:t> #Children   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Example:</a:t>
            </a:r>
          </a:p>
          <a:p>
            <a:pPr lvl="1" eaLnBrk="1" hangingPunct="1">
              <a:defRPr/>
            </a:pPr>
            <a:r>
              <a:rPr lang="en-US" b="1" dirty="0"/>
              <a:t>key=ID:</a:t>
            </a:r>
            <a:r>
              <a:rPr lang="en-US" dirty="0"/>
              <a:t> retrieve the record with ID=12345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61C4C74-F17F-AA4E-9215-4056B06D40B0}"/>
              </a:ext>
            </a:extLst>
          </p:cNvPr>
          <p:cNvCxnSpPr>
            <a:cxnSpLocks/>
          </p:cNvCxnSpPr>
          <p:nvPr/>
        </p:nvCxnSpPr>
        <p:spPr>
          <a:xfrm>
            <a:off x="4355704" y="2626744"/>
            <a:ext cx="0" cy="723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C49522-E37F-594C-9602-E957A4715F93}"/>
              </a:ext>
            </a:extLst>
          </p:cNvPr>
          <p:cNvCxnSpPr>
            <a:cxnSpLocks/>
          </p:cNvCxnSpPr>
          <p:nvPr/>
        </p:nvCxnSpPr>
        <p:spPr>
          <a:xfrm>
            <a:off x="5386224" y="2620394"/>
            <a:ext cx="0" cy="730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9E8DE2-99FD-BD4E-8D77-99C10645B5F4}"/>
              </a:ext>
            </a:extLst>
          </p:cNvPr>
          <p:cNvCxnSpPr>
            <a:cxnSpLocks/>
          </p:cNvCxnSpPr>
          <p:nvPr/>
        </p:nvCxnSpPr>
        <p:spPr>
          <a:xfrm>
            <a:off x="6222604" y="2620394"/>
            <a:ext cx="0" cy="685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F9C2D5-F4EF-1F45-8E2B-4F3F0D61CFFD}"/>
              </a:ext>
            </a:extLst>
          </p:cNvPr>
          <p:cNvCxnSpPr>
            <a:cxnSpLocks/>
          </p:cNvCxnSpPr>
          <p:nvPr/>
        </p:nvCxnSpPr>
        <p:spPr>
          <a:xfrm>
            <a:off x="7289404" y="2607694"/>
            <a:ext cx="0" cy="717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8B7AE83-00FA-F5F9-894B-B0BC1C1FC76B}"/>
              </a:ext>
            </a:extLst>
          </p:cNvPr>
          <p:cNvSpPr txBox="1"/>
          <p:nvPr/>
        </p:nvSpPr>
        <p:spPr>
          <a:xfrm>
            <a:off x="380723" y="299408"/>
            <a:ext cx="378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Exact Match Query</a:t>
            </a:r>
            <a:endParaRPr lang="zh-CN" altLang="en-US" sz="32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E21093F3-CA0B-32C1-1C75-2C60A2C24E90}"/>
              </a:ext>
            </a:extLst>
          </p:cNvPr>
          <p:cNvSpPr/>
          <p:nvPr/>
        </p:nvSpPr>
        <p:spPr>
          <a:xfrm>
            <a:off x="238662" y="311105"/>
            <a:ext cx="4085510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9A8BF30A-66AD-3934-2A30-9807581DEB33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5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42C64AB-A3A4-644B-BD08-CF4819831DF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766237" y="1657350"/>
            <a:ext cx="6659526" cy="435133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Example:</a:t>
            </a:r>
          </a:p>
          <a:p>
            <a:pPr lvl="1" eaLnBrk="1" hangingPunct="1">
              <a:defRPr/>
            </a:pPr>
            <a:r>
              <a:rPr lang="en-US" b="1" dirty="0"/>
              <a:t>key=Age:</a:t>
            </a:r>
            <a:r>
              <a:rPr lang="en-US" dirty="0"/>
              <a:t> retrieve all records satisfying </a:t>
            </a:r>
          </a:p>
          <a:p>
            <a:pPr marL="344487" lvl="1" indent="0">
              <a:buNone/>
              <a:defRPr/>
            </a:pPr>
            <a:r>
              <a:rPr lang="en-US" dirty="0"/>
              <a:t>			20 &lt; Age &lt; 50</a:t>
            </a:r>
          </a:p>
          <a:p>
            <a:pPr lvl="1" eaLnBrk="1" hangingPunct="1">
              <a:defRPr/>
            </a:pPr>
            <a:r>
              <a:rPr lang="en-US" b="1" dirty="0"/>
              <a:t>key= #Children: </a:t>
            </a:r>
            <a:r>
              <a:rPr lang="en-US" dirty="0"/>
              <a:t>retrieve all records satisfying</a:t>
            </a:r>
          </a:p>
          <a:p>
            <a:pPr marL="344487" lvl="1" indent="0">
              <a:buNone/>
              <a:defRPr/>
            </a:pPr>
            <a:r>
              <a:rPr lang="en-US" dirty="0"/>
              <a:t>		       1 &lt; #Children &lt; 4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marL="344487" lvl="1" indent="0">
              <a:buNone/>
              <a:defRPr/>
            </a:pPr>
            <a:r>
              <a:rPr lang="en-US" dirty="0"/>
              <a:t>		</a:t>
            </a:r>
          </a:p>
        </p:txBody>
      </p:sp>
      <p:grpSp>
        <p:nvGrpSpPr>
          <p:cNvPr id="7173" name="Group 6">
            <a:extLst>
              <a:ext uri="{FF2B5EF4-FFF2-40B4-BE49-F238E27FC236}">
                <a16:creationId xmlns:a16="http://schemas.microsoft.com/office/drawing/2014/main" id="{9EDAF597-4DB0-024F-84C9-F6B658A1C8C0}"/>
              </a:ext>
            </a:extLst>
          </p:cNvPr>
          <p:cNvGrpSpPr>
            <a:grpSpLocks/>
          </p:cNvGrpSpPr>
          <p:nvPr/>
        </p:nvGrpSpPr>
        <p:grpSpPr bwMode="auto">
          <a:xfrm>
            <a:off x="3190205" y="4502150"/>
            <a:ext cx="5820055" cy="742950"/>
            <a:chOff x="1729368" y="3536950"/>
            <a:chExt cx="5820729" cy="742950"/>
          </a:xfrm>
        </p:grpSpPr>
        <p:grpSp>
          <p:nvGrpSpPr>
            <p:cNvPr id="7174" name="Group 2">
              <a:extLst>
                <a:ext uri="{FF2B5EF4-FFF2-40B4-BE49-F238E27FC236}">
                  <a16:creationId xmlns:a16="http://schemas.microsoft.com/office/drawing/2014/main" id="{56B8B42B-2169-B64F-BA21-7CDB89BEBA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7700" y="3536950"/>
              <a:ext cx="5435600" cy="742950"/>
              <a:chOff x="2057400" y="3067050"/>
              <a:chExt cx="5435600" cy="74295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388EF8-79D0-A245-B11D-A2E08022F966}"/>
                  </a:ext>
                </a:extLst>
              </p:cNvPr>
              <p:cNvSpPr/>
              <p:nvPr/>
            </p:nvSpPr>
            <p:spPr>
              <a:xfrm>
                <a:off x="2057085" y="3086100"/>
                <a:ext cx="5436229" cy="698500"/>
              </a:xfrm>
              <a:prstGeom prst="rect">
                <a:avLst/>
              </a:prstGeom>
              <a:solidFill>
                <a:srgbClr val="549E3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1B800ADB-5701-0A4E-89A1-570EB77A9DFA}"/>
                  </a:ext>
                </a:extLst>
              </p:cNvPr>
              <p:cNvCxnSpPr/>
              <p:nvPr/>
            </p:nvCxnSpPr>
            <p:spPr>
              <a:xfrm flipH="1">
                <a:off x="2768367" y="3086100"/>
                <a:ext cx="25403" cy="698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FEED2A6-8F3C-AE4E-842D-F3498F481AE6}"/>
                  </a:ext>
                </a:extLst>
              </p:cNvPr>
              <p:cNvCxnSpPr/>
              <p:nvPr/>
            </p:nvCxnSpPr>
            <p:spPr>
              <a:xfrm flipH="1">
                <a:off x="3809888" y="3111500"/>
                <a:ext cx="25403" cy="698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68DA3AAC-C893-4443-AB5E-BA0695CFF02F}"/>
                  </a:ext>
                </a:extLst>
              </p:cNvPr>
              <p:cNvCxnSpPr/>
              <p:nvPr/>
            </p:nvCxnSpPr>
            <p:spPr>
              <a:xfrm flipH="1">
                <a:off x="4635483" y="3079750"/>
                <a:ext cx="25403" cy="698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10F54C9-E991-1F4B-BB04-9ACBD6B39888}"/>
                  </a:ext>
                </a:extLst>
              </p:cNvPr>
              <p:cNvCxnSpPr/>
              <p:nvPr/>
            </p:nvCxnSpPr>
            <p:spPr>
              <a:xfrm flipH="1">
                <a:off x="5702407" y="3067050"/>
                <a:ext cx="25403" cy="698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75" name="Rectangle 5">
              <a:extLst>
                <a:ext uri="{FF2B5EF4-FFF2-40B4-BE49-F238E27FC236}">
                  <a16:creationId xmlns:a16="http://schemas.microsoft.com/office/drawing/2014/main" id="{8FC50E1D-95F3-E44D-9267-D49CB525F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9368" y="3652678"/>
              <a:ext cx="582072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/>
              <a:r>
                <a:rPr lang="en-US" altLang="zh-CN" sz="2600" dirty="0">
                  <a:ea typeface="宋体" panose="02010600030101010101" pitchFamily="2" charset="-122"/>
                </a:rPr>
                <a:t>ID   Name  Age  Salary  #Children   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294A88A9-2235-2858-FDFF-2270FDE6A4AF}"/>
              </a:ext>
            </a:extLst>
          </p:cNvPr>
          <p:cNvSpPr txBox="1"/>
          <p:nvPr/>
        </p:nvSpPr>
        <p:spPr>
          <a:xfrm>
            <a:off x="380723" y="299408"/>
            <a:ext cx="2656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Range Query</a:t>
            </a:r>
            <a:endParaRPr lang="zh-CN" altLang="en-US" sz="32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8B528D90-3E0D-91B7-6755-3D2BBE59C223}"/>
              </a:ext>
            </a:extLst>
          </p:cNvPr>
          <p:cNvSpPr/>
          <p:nvPr/>
        </p:nvSpPr>
        <p:spPr>
          <a:xfrm>
            <a:off x="238662" y="311105"/>
            <a:ext cx="2942688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9DF9AB42-1EC7-A5C0-DA1E-F054B459805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6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E875059C-69B6-294D-B8F3-F098FB3A518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659310" y="1825625"/>
            <a:ext cx="6895751" cy="435133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Example:</a:t>
            </a:r>
          </a:p>
          <a:p>
            <a:pPr lvl="1" eaLnBrk="1" hangingPunct="1">
              <a:defRPr/>
            </a:pPr>
            <a:r>
              <a:rPr lang="en-US" b="1" dirty="0"/>
              <a:t>key=Salary:</a:t>
            </a:r>
            <a:r>
              <a:rPr lang="en-US" dirty="0"/>
              <a:t> retrieve the employee whose salary is closest to $50,000 (i.e., 1-NN).</a:t>
            </a:r>
          </a:p>
          <a:p>
            <a:pPr lvl="1" eaLnBrk="1" hangingPunct="1">
              <a:defRPr/>
            </a:pPr>
            <a:r>
              <a:rPr lang="en-US" b="1" dirty="0"/>
              <a:t>key=Age:</a:t>
            </a:r>
            <a:r>
              <a:rPr lang="en-US" dirty="0"/>
              <a:t> retrieve the 5 employees whose age is closest to 40 (i.e., k-NN, k=5).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marL="344487" lvl="1" indent="0">
              <a:buNone/>
              <a:defRPr/>
            </a:pPr>
            <a:r>
              <a:rPr lang="en-US" dirty="0"/>
              <a:t>		</a:t>
            </a:r>
          </a:p>
        </p:txBody>
      </p:sp>
      <p:grpSp>
        <p:nvGrpSpPr>
          <p:cNvPr id="8197" name="Group 6">
            <a:extLst>
              <a:ext uri="{FF2B5EF4-FFF2-40B4-BE49-F238E27FC236}">
                <a16:creationId xmlns:a16="http://schemas.microsoft.com/office/drawing/2014/main" id="{43F887E6-1B9C-BC4D-937E-1D84143CB1CE}"/>
              </a:ext>
            </a:extLst>
          </p:cNvPr>
          <p:cNvGrpSpPr>
            <a:grpSpLocks/>
          </p:cNvGrpSpPr>
          <p:nvPr/>
        </p:nvGrpSpPr>
        <p:grpSpPr bwMode="auto">
          <a:xfrm>
            <a:off x="3243335" y="4324350"/>
            <a:ext cx="5727700" cy="742950"/>
            <a:chOff x="1771318" y="3536950"/>
            <a:chExt cx="5728363" cy="742950"/>
          </a:xfrm>
        </p:grpSpPr>
        <p:grpSp>
          <p:nvGrpSpPr>
            <p:cNvPr id="8198" name="Group 2">
              <a:extLst>
                <a:ext uri="{FF2B5EF4-FFF2-40B4-BE49-F238E27FC236}">
                  <a16:creationId xmlns:a16="http://schemas.microsoft.com/office/drawing/2014/main" id="{E434A21C-4B28-5B4C-818E-D5F38E9C86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7700" y="3536950"/>
              <a:ext cx="5435600" cy="742950"/>
              <a:chOff x="2057400" y="3067050"/>
              <a:chExt cx="5435600" cy="74295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4D65B-A092-364E-B069-1EE21F41468E}"/>
                  </a:ext>
                </a:extLst>
              </p:cNvPr>
              <p:cNvSpPr/>
              <p:nvPr/>
            </p:nvSpPr>
            <p:spPr>
              <a:xfrm>
                <a:off x="2057085" y="3086100"/>
                <a:ext cx="5436229" cy="698500"/>
              </a:xfrm>
              <a:prstGeom prst="rect">
                <a:avLst/>
              </a:prstGeom>
              <a:solidFill>
                <a:srgbClr val="549E3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A3E838A6-B18C-7244-93F7-AEA4DFAFF479}"/>
                  </a:ext>
                </a:extLst>
              </p:cNvPr>
              <p:cNvCxnSpPr/>
              <p:nvPr/>
            </p:nvCxnSpPr>
            <p:spPr>
              <a:xfrm flipH="1">
                <a:off x="2768367" y="3086100"/>
                <a:ext cx="25403" cy="698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A5716D6-F801-A74C-8952-A92B548756E5}"/>
                  </a:ext>
                </a:extLst>
              </p:cNvPr>
              <p:cNvCxnSpPr/>
              <p:nvPr/>
            </p:nvCxnSpPr>
            <p:spPr>
              <a:xfrm flipH="1">
                <a:off x="3809888" y="3111500"/>
                <a:ext cx="25403" cy="698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B669A22-CF1D-9940-8766-4839459B3E18}"/>
                  </a:ext>
                </a:extLst>
              </p:cNvPr>
              <p:cNvCxnSpPr/>
              <p:nvPr/>
            </p:nvCxnSpPr>
            <p:spPr>
              <a:xfrm flipH="1">
                <a:off x="4635483" y="3079750"/>
                <a:ext cx="25403" cy="698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7F1BCC69-C428-3E4B-8F5F-3F39A154DB19}"/>
                  </a:ext>
                </a:extLst>
              </p:cNvPr>
              <p:cNvCxnSpPr/>
              <p:nvPr/>
            </p:nvCxnSpPr>
            <p:spPr>
              <a:xfrm flipH="1">
                <a:off x="5702407" y="3067050"/>
                <a:ext cx="25403" cy="698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99" name="Rectangle 5">
              <a:extLst>
                <a:ext uri="{FF2B5EF4-FFF2-40B4-BE49-F238E27FC236}">
                  <a16:creationId xmlns:a16="http://schemas.microsoft.com/office/drawing/2014/main" id="{637935C5-155B-0D4E-B590-1EAE3A6EA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318" y="3652678"/>
              <a:ext cx="5728363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/>
              <a:r>
                <a:rPr lang="en-US" altLang="zh-CN" sz="2600">
                  <a:ea typeface="宋体" panose="02010600030101010101" pitchFamily="2" charset="-122"/>
                </a:rPr>
                <a:t>ID  Name  Age  Salary  #Children   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94853655-950A-2652-020B-D75D94CEF4A5}"/>
              </a:ext>
            </a:extLst>
          </p:cNvPr>
          <p:cNvSpPr txBox="1"/>
          <p:nvPr/>
        </p:nvSpPr>
        <p:spPr>
          <a:xfrm>
            <a:off x="380723" y="299408"/>
            <a:ext cx="6347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Nearest-Neighbor(s) (NN) Query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209B1A41-2B1D-C362-09B1-0C8E32B7E4BE}"/>
              </a:ext>
            </a:extLst>
          </p:cNvPr>
          <p:cNvSpPr/>
          <p:nvPr/>
        </p:nvSpPr>
        <p:spPr>
          <a:xfrm>
            <a:off x="238662" y="311105"/>
            <a:ext cx="658997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D9CFAE4-319B-94CE-67F5-1712624431A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7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EEA5A3C8-30B2-384C-98FF-37DA278A40B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30804" y="1412875"/>
            <a:ext cx="7381496" cy="532755"/>
          </a:xfrm>
        </p:spPr>
        <p:txBody>
          <a:bodyPr>
            <a:noAutofit/>
          </a:bodyPr>
          <a:lstStyle/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What is the closest restaurant to my hotel?</a:t>
            </a: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9221" name="Picture 4">
            <a:extLst>
              <a:ext uri="{FF2B5EF4-FFF2-40B4-BE49-F238E27FC236}">
                <a16:creationId xmlns:a16="http://schemas.microsoft.com/office/drawing/2014/main" id="{CE7C4738-3233-6E46-83F2-A03AF8CD1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2133601"/>
            <a:ext cx="7289800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Oval 9">
            <a:extLst>
              <a:ext uri="{FF2B5EF4-FFF2-40B4-BE49-F238E27FC236}">
                <a16:creationId xmlns:a16="http://schemas.microsoft.com/office/drawing/2014/main" id="{8F5D07E6-18EA-744C-B755-E745E28D3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314" y="5126038"/>
            <a:ext cx="115887" cy="10636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AC61D3-DBE0-E105-5270-19858CC01922}"/>
              </a:ext>
            </a:extLst>
          </p:cNvPr>
          <p:cNvSpPr txBox="1"/>
          <p:nvPr/>
        </p:nvSpPr>
        <p:spPr>
          <a:xfrm>
            <a:off x="380723" y="299408"/>
            <a:ext cx="5365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Nearest Neighbor(s) Query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圆角矩形 8">
            <a:extLst>
              <a:ext uri="{FF2B5EF4-FFF2-40B4-BE49-F238E27FC236}">
                <a16:creationId xmlns:a16="http://schemas.microsoft.com/office/drawing/2014/main" id="{964FEA10-1499-8156-DBB0-5EB58A48E8DF}"/>
              </a:ext>
            </a:extLst>
          </p:cNvPr>
          <p:cNvSpPr/>
          <p:nvPr/>
        </p:nvSpPr>
        <p:spPr>
          <a:xfrm>
            <a:off x="238663" y="311105"/>
            <a:ext cx="5566520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98D26E-A6C0-E1E5-CF4F-AE57C3A667D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8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C9BDDD-83D7-D026-9480-076BB912509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7D261B3C-3D1D-8E4D-8499-212BC05C80C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22500" y="1412875"/>
            <a:ext cx="7289799" cy="432703"/>
          </a:xfrm>
        </p:spPr>
        <p:txBody>
          <a:bodyPr>
            <a:normAutofit fontScale="25000" lnSpcReduction="20000"/>
          </a:bodyPr>
          <a:lstStyle/>
          <a:p>
            <a:pPr lvl="1" eaLnBrk="1" hangingPunct="1"/>
            <a:r>
              <a:rPr lang="en-US" altLang="zh-CN" sz="11200" dirty="0">
                <a:ea typeface="宋体" panose="02010600030101010101" pitchFamily="2" charset="-122"/>
              </a:rPr>
              <a:t>Find the 4 closest restaurants to my hotel</a:t>
            </a: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10245" name="Picture 4">
            <a:extLst>
              <a:ext uri="{FF2B5EF4-FFF2-40B4-BE49-F238E27FC236}">
                <a16:creationId xmlns:a16="http://schemas.microsoft.com/office/drawing/2014/main" id="{BDEFB686-F927-1147-B4DE-995448796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2133601"/>
            <a:ext cx="7289800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Oval 5">
            <a:extLst>
              <a:ext uri="{FF2B5EF4-FFF2-40B4-BE49-F238E27FC236}">
                <a16:creationId xmlns:a16="http://schemas.microsoft.com/office/drawing/2014/main" id="{49C013B7-989A-5F4F-8CEA-E83A05CD7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214" y="4232275"/>
            <a:ext cx="1119187" cy="9207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9DDEE7-AD47-C086-8407-AFFC9CFB464A}"/>
              </a:ext>
            </a:extLst>
          </p:cNvPr>
          <p:cNvSpPr txBox="1"/>
          <p:nvPr/>
        </p:nvSpPr>
        <p:spPr>
          <a:xfrm>
            <a:off x="380723" y="299408"/>
            <a:ext cx="6976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Nearest Neighbor(s) Query (cont’d)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圆角矩形 8">
            <a:extLst>
              <a:ext uri="{FF2B5EF4-FFF2-40B4-BE49-F238E27FC236}">
                <a16:creationId xmlns:a16="http://schemas.microsoft.com/office/drawing/2014/main" id="{5CB1147A-829A-39E8-9AF7-0A626B9FF4A5}"/>
              </a:ext>
            </a:extLst>
          </p:cNvPr>
          <p:cNvSpPr/>
          <p:nvPr/>
        </p:nvSpPr>
        <p:spPr>
          <a:xfrm>
            <a:off x="238663" y="311105"/>
            <a:ext cx="711848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622333-727A-10C2-4428-FCEF6DDE8AE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9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245FE9-4B91-FEE5-4025-ADA94007BDD0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AB0734BC-621B-B34B-A2D7-11064B63981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30055" y="1416674"/>
            <a:ext cx="8709590" cy="4530725"/>
          </a:xfrm>
        </p:spPr>
        <p:txBody>
          <a:bodyPr/>
          <a:lstStyle/>
          <a:p>
            <a:pPr marL="0" indent="0">
              <a:buNone/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In practice, queries might involve multi-dimensional keys.</a:t>
            </a:r>
          </a:p>
          <a:p>
            <a:pPr lvl="1" eaLnBrk="1" hangingPunct="1">
              <a:defRPr/>
            </a:pPr>
            <a:r>
              <a:rPr lang="en-US" b="1" dirty="0"/>
              <a:t>key=(Name, Age): </a:t>
            </a:r>
            <a:r>
              <a:rPr lang="en-US" dirty="0"/>
              <a:t>retrieve all records with </a:t>
            </a:r>
          </a:p>
          <a:p>
            <a:pPr marL="344487" lvl="1" indent="0">
              <a:buNone/>
              <a:defRPr/>
            </a:pPr>
            <a:r>
              <a:rPr lang="en-US" dirty="0"/>
              <a:t>	Name=“George” and  “50 &lt;= Age &lt;= 70”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</p:txBody>
      </p:sp>
      <p:grpSp>
        <p:nvGrpSpPr>
          <p:cNvPr id="11269" name="Group 7">
            <a:extLst>
              <a:ext uri="{FF2B5EF4-FFF2-40B4-BE49-F238E27FC236}">
                <a16:creationId xmlns:a16="http://schemas.microsoft.com/office/drawing/2014/main" id="{60E73580-91AE-0B41-95F2-3356163D6505}"/>
              </a:ext>
            </a:extLst>
          </p:cNvPr>
          <p:cNvGrpSpPr>
            <a:grpSpLocks/>
          </p:cNvGrpSpPr>
          <p:nvPr/>
        </p:nvGrpSpPr>
        <p:grpSpPr bwMode="auto">
          <a:xfrm>
            <a:off x="3035300" y="4206875"/>
            <a:ext cx="5727700" cy="742950"/>
            <a:chOff x="1771318" y="3536950"/>
            <a:chExt cx="5728363" cy="742950"/>
          </a:xfrm>
        </p:grpSpPr>
        <p:grpSp>
          <p:nvGrpSpPr>
            <p:cNvPr id="11270" name="Group 8">
              <a:extLst>
                <a:ext uri="{FF2B5EF4-FFF2-40B4-BE49-F238E27FC236}">
                  <a16:creationId xmlns:a16="http://schemas.microsoft.com/office/drawing/2014/main" id="{6704D8D0-0C67-4F45-AE89-4ED79E2DFA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7700" y="3536950"/>
              <a:ext cx="5435600" cy="742950"/>
              <a:chOff x="2057400" y="3067050"/>
              <a:chExt cx="5435600" cy="74295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5A28E5B-0118-2D4B-A71E-C2AA3BDAB08A}"/>
                  </a:ext>
                </a:extLst>
              </p:cNvPr>
              <p:cNvSpPr/>
              <p:nvPr/>
            </p:nvSpPr>
            <p:spPr>
              <a:xfrm>
                <a:off x="2057085" y="3086100"/>
                <a:ext cx="5436229" cy="698500"/>
              </a:xfrm>
              <a:prstGeom prst="rect">
                <a:avLst/>
              </a:prstGeom>
              <a:solidFill>
                <a:srgbClr val="549E3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3B03A53-347F-CD4C-AD5E-4768F9BA2DE8}"/>
                  </a:ext>
                </a:extLst>
              </p:cNvPr>
              <p:cNvCxnSpPr/>
              <p:nvPr/>
            </p:nvCxnSpPr>
            <p:spPr>
              <a:xfrm flipH="1">
                <a:off x="2768367" y="3086100"/>
                <a:ext cx="25403" cy="698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FC5A191-A4C7-044D-B89E-765F76CE9A59}"/>
                  </a:ext>
                </a:extLst>
              </p:cNvPr>
              <p:cNvCxnSpPr/>
              <p:nvPr/>
            </p:nvCxnSpPr>
            <p:spPr>
              <a:xfrm flipH="1">
                <a:off x="3809888" y="3111500"/>
                <a:ext cx="25403" cy="698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37C6053-9381-3240-BBD6-8D5F36E641C4}"/>
                  </a:ext>
                </a:extLst>
              </p:cNvPr>
              <p:cNvCxnSpPr/>
              <p:nvPr/>
            </p:nvCxnSpPr>
            <p:spPr>
              <a:xfrm flipH="1">
                <a:off x="4635483" y="3079750"/>
                <a:ext cx="25403" cy="698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D3F971D-41C0-974F-9384-BDEB2E1B1FFF}"/>
                  </a:ext>
                </a:extLst>
              </p:cNvPr>
              <p:cNvCxnSpPr/>
              <p:nvPr/>
            </p:nvCxnSpPr>
            <p:spPr>
              <a:xfrm flipH="1">
                <a:off x="5702407" y="3067050"/>
                <a:ext cx="25403" cy="698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271" name="Rectangle 9">
              <a:extLst>
                <a:ext uri="{FF2B5EF4-FFF2-40B4-BE49-F238E27FC236}">
                  <a16:creationId xmlns:a16="http://schemas.microsoft.com/office/drawing/2014/main" id="{021A68D4-4C0F-B44B-8200-1F2F509B3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318" y="3652678"/>
              <a:ext cx="5728363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/>
              <a:r>
                <a:rPr lang="en-US" altLang="zh-CN" sz="2600" dirty="0">
                  <a:ea typeface="宋体" panose="02010600030101010101" pitchFamily="2" charset="-122"/>
                </a:rPr>
                <a:t>ID  Name  Age  Salary  #Children   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0BE9E1C-D482-B5DA-A0A6-CF926DB22FD9}"/>
              </a:ext>
            </a:extLst>
          </p:cNvPr>
          <p:cNvSpPr txBox="1"/>
          <p:nvPr/>
        </p:nvSpPr>
        <p:spPr>
          <a:xfrm>
            <a:off x="380723" y="299408"/>
            <a:ext cx="49603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Multi-dimensional Query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圆角矩形 8">
            <a:extLst>
              <a:ext uri="{FF2B5EF4-FFF2-40B4-BE49-F238E27FC236}">
                <a16:creationId xmlns:a16="http://schemas.microsoft.com/office/drawing/2014/main" id="{1BF04B8B-1215-42C3-7C46-AA37520016F4}"/>
              </a:ext>
            </a:extLst>
          </p:cNvPr>
          <p:cNvSpPr/>
          <p:nvPr/>
        </p:nvSpPr>
        <p:spPr>
          <a:xfrm>
            <a:off x="238663" y="311105"/>
            <a:ext cx="527337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98E679-827C-E2B8-31F4-2BC3A5EC27CA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10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Content Placeholder 2">
            <a:extLst>
              <a:ext uri="{FF2B5EF4-FFF2-40B4-BE49-F238E27FC236}">
                <a16:creationId xmlns:a16="http://schemas.microsoft.com/office/drawing/2014/main" id="{C2D0F6EF-85A2-BE49-A6DD-6DF82170F5F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648394" y="1274353"/>
            <a:ext cx="6020499" cy="109067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Very important and practical problem! </a:t>
            </a:r>
          </a:p>
          <a:p>
            <a:pPr lvl="1" eaLnBrk="1" hangingPunct="1">
              <a:defRPr/>
            </a:pPr>
            <a:r>
              <a:rPr lang="en-US" dirty="0"/>
              <a:t>Image retrieval</a:t>
            </a:r>
          </a:p>
          <a:p>
            <a:pPr marL="344487" lvl="1" indent="0">
              <a:buNone/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</p:txBody>
      </p:sp>
      <p:pic>
        <p:nvPicPr>
          <p:cNvPr id="12293" name="Picture 4" descr="C:\Documents and Settings\xgfeng\Desktop\1.jpg">
            <a:extLst>
              <a:ext uri="{FF2B5EF4-FFF2-40B4-BE49-F238E27FC236}">
                <a16:creationId xmlns:a16="http://schemas.microsoft.com/office/drawing/2014/main" id="{8D2CD988-31F8-6C4F-A0CA-B1E3FC050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588" y="2789238"/>
            <a:ext cx="4202112" cy="297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4" descr="C:\Documents and Settings\xgfeng\Desktop\1.jpg">
            <a:extLst>
              <a:ext uri="{FF2B5EF4-FFF2-40B4-BE49-F238E27FC236}">
                <a16:creationId xmlns:a16="http://schemas.microsoft.com/office/drawing/2014/main" id="{9F21A2AC-AD4E-AB49-8F79-B5621CFB8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07" t="59734" r="64035" b="27893"/>
          <a:stretch>
            <a:fillRect/>
          </a:stretch>
        </p:blipFill>
        <p:spPr bwMode="auto">
          <a:xfrm>
            <a:off x="2149475" y="3949700"/>
            <a:ext cx="33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Box 1">
            <a:extLst>
              <a:ext uri="{FF2B5EF4-FFF2-40B4-BE49-F238E27FC236}">
                <a16:creationId xmlns:a16="http://schemas.microsoft.com/office/drawing/2014/main" id="{A1A8B7B6-CBB1-D44A-A3C5-39BF9C622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6264" y="4646614"/>
            <a:ext cx="11592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latin typeface="+mn-lt"/>
                <a:ea typeface="宋体" panose="02010600030101010101" pitchFamily="2" charset="-122"/>
              </a:rPr>
              <a:t>(f</a:t>
            </a:r>
            <a:r>
              <a:rPr lang="en-US" altLang="zh-CN" baseline="-25000">
                <a:latin typeface="+mn-lt"/>
                <a:ea typeface="宋体" panose="02010600030101010101" pitchFamily="2" charset="-122"/>
              </a:rPr>
              <a:t>1</a:t>
            </a:r>
            <a:r>
              <a:rPr lang="en-US" altLang="zh-CN">
                <a:latin typeface="+mn-lt"/>
                <a:ea typeface="宋体" panose="02010600030101010101" pitchFamily="2" charset="-122"/>
              </a:rPr>
              <a:t>,f</a:t>
            </a:r>
            <a:r>
              <a:rPr lang="en-US" altLang="zh-CN" baseline="-25000">
                <a:latin typeface="+mn-lt"/>
                <a:ea typeface="宋体" panose="02010600030101010101" pitchFamily="2" charset="-122"/>
              </a:rPr>
              <a:t>2</a:t>
            </a:r>
            <a:r>
              <a:rPr lang="en-US" altLang="zh-CN">
                <a:latin typeface="+mn-lt"/>
                <a:ea typeface="宋体" panose="02010600030101010101" pitchFamily="2" charset="-122"/>
              </a:rPr>
              <a:t>, .., f</a:t>
            </a:r>
            <a:r>
              <a:rPr lang="en-US" altLang="zh-CN" baseline="-25000">
                <a:latin typeface="+mn-lt"/>
                <a:ea typeface="宋体" panose="02010600030101010101" pitchFamily="2" charset="-122"/>
              </a:rPr>
              <a:t>k</a:t>
            </a:r>
            <a:r>
              <a:rPr lang="en-US" altLang="zh-CN">
                <a:latin typeface="+mn-lt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5A63D917-8A06-CF46-BB60-E077B889B682}"/>
              </a:ext>
            </a:extLst>
          </p:cNvPr>
          <p:cNvSpPr/>
          <p:nvPr/>
        </p:nvSpPr>
        <p:spPr>
          <a:xfrm>
            <a:off x="2700338" y="4041775"/>
            <a:ext cx="550862" cy="184150"/>
          </a:xfrm>
          <a:prstGeom prst="rightArrow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8FC001A1-02AD-624F-9EE2-267864FD71B3}"/>
              </a:ext>
            </a:extLst>
          </p:cNvPr>
          <p:cNvSpPr/>
          <p:nvPr/>
        </p:nvSpPr>
        <p:spPr>
          <a:xfrm>
            <a:off x="7953375" y="4133850"/>
            <a:ext cx="552450" cy="184150"/>
          </a:xfrm>
          <a:prstGeom prst="rightArrow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8" name="TextBox 20">
            <a:extLst>
              <a:ext uri="{FF2B5EF4-FFF2-40B4-BE49-F238E27FC236}">
                <a16:creationId xmlns:a16="http://schemas.microsoft.com/office/drawing/2014/main" id="{CA4C1569-5E47-414A-82E9-98A050385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5825" y="3852864"/>
            <a:ext cx="194322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latin typeface="+mn-lt"/>
                <a:ea typeface="宋体" panose="02010600030101010101" pitchFamily="2" charset="-122"/>
              </a:rPr>
              <a:t>find N closest </a:t>
            </a:r>
          </a:p>
          <a:p>
            <a:pPr eaLnBrk="1" hangingPunct="1"/>
            <a:r>
              <a:rPr lang="en-US" altLang="zh-CN" dirty="0">
                <a:latin typeface="+mn-lt"/>
                <a:ea typeface="宋体" panose="02010600030101010101" pitchFamily="2" charset="-122"/>
              </a:rPr>
              <a:t>matches (i.e., N </a:t>
            </a:r>
          </a:p>
          <a:p>
            <a:pPr eaLnBrk="1" hangingPunct="1"/>
            <a:r>
              <a:rPr lang="en-US" altLang="zh-CN" dirty="0">
                <a:latin typeface="+mn-lt"/>
                <a:ea typeface="宋体" panose="02010600030101010101" pitchFamily="2" charset="-122"/>
              </a:rPr>
              <a:t>nearest neighbors)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BE96F4-E11A-B98E-A5B3-E289FDBE37A2}"/>
              </a:ext>
            </a:extLst>
          </p:cNvPr>
          <p:cNvSpPr txBox="1"/>
          <p:nvPr/>
        </p:nvSpPr>
        <p:spPr>
          <a:xfrm>
            <a:off x="380723" y="299408"/>
            <a:ext cx="8632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Nearest Neighbor Query in High Dimensions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8667617E-6855-CB37-B52B-D1E520E58A09}"/>
              </a:ext>
            </a:extLst>
          </p:cNvPr>
          <p:cNvSpPr/>
          <p:nvPr/>
        </p:nvSpPr>
        <p:spPr>
          <a:xfrm>
            <a:off x="238663" y="311105"/>
            <a:ext cx="885500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E06286-D02D-0AC7-7A84-6E9A2992500E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11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A6B6FE-5C2A-B576-F606-B9AF934E15D2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0D7F3EEB-DBF7-8041-9412-E46B8056377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62400" y="1412875"/>
            <a:ext cx="8229600" cy="4530725"/>
          </a:xfrm>
        </p:spPr>
        <p:txBody>
          <a:bodyPr/>
          <a:lstStyle/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Face recognition </a:t>
            </a:r>
          </a:p>
          <a:p>
            <a:pPr lvl="1"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13317" name="Picture 7" descr="feret_faces">
            <a:extLst>
              <a:ext uri="{FF2B5EF4-FFF2-40B4-BE49-F238E27FC236}">
                <a16:creationId xmlns:a16="http://schemas.microsoft.com/office/drawing/2014/main" id="{A307CB9A-EE04-024B-99E1-1E996B73B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863" y="2439989"/>
            <a:ext cx="2443162" cy="314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7" descr="feret_faces">
            <a:extLst>
              <a:ext uri="{FF2B5EF4-FFF2-40B4-BE49-F238E27FC236}">
                <a16:creationId xmlns:a16="http://schemas.microsoft.com/office/drawing/2014/main" id="{17F5E2B4-BBE9-5B4D-85D8-69F6498A4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4" t="32004" b="38516"/>
          <a:stretch>
            <a:fillRect/>
          </a:stretch>
        </p:blipFill>
        <p:spPr bwMode="auto">
          <a:xfrm>
            <a:off x="2633664" y="3316288"/>
            <a:ext cx="600075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ight Arrow 1">
            <a:extLst>
              <a:ext uri="{FF2B5EF4-FFF2-40B4-BE49-F238E27FC236}">
                <a16:creationId xmlns:a16="http://schemas.microsoft.com/office/drawing/2014/main" id="{D2BA8EF5-1F6A-734B-B3B0-28194D381F74}"/>
              </a:ext>
            </a:extLst>
          </p:cNvPr>
          <p:cNvSpPr/>
          <p:nvPr/>
        </p:nvSpPr>
        <p:spPr>
          <a:xfrm>
            <a:off x="3606800" y="3649664"/>
            <a:ext cx="520700" cy="365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0B820D95-9F54-A644-9A23-14E21B5BC1BC}"/>
              </a:ext>
            </a:extLst>
          </p:cNvPr>
          <p:cNvSpPr/>
          <p:nvPr/>
        </p:nvSpPr>
        <p:spPr>
          <a:xfrm>
            <a:off x="7124700" y="3741738"/>
            <a:ext cx="520700" cy="361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21" name="TextBox 2">
            <a:extLst>
              <a:ext uri="{FF2B5EF4-FFF2-40B4-BE49-F238E27FC236}">
                <a16:creationId xmlns:a16="http://schemas.microsoft.com/office/drawing/2014/main" id="{F0332F26-BCA6-B64D-B018-630E855F6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0026" y="3595688"/>
            <a:ext cx="23223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latin typeface="+mn-lt"/>
                <a:ea typeface="宋体" panose="02010600030101010101" pitchFamily="2" charset="-122"/>
              </a:rPr>
              <a:t>find closest match</a:t>
            </a:r>
          </a:p>
          <a:p>
            <a:pPr eaLnBrk="1" hangingPunct="1"/>
            <a:r>
              <a:rPr lang="en-US" altLang="zh-CN">
                <a:latin typeface="+mn-lt"/>
                <a:ea typeface="宋体" panose="02010600030101010101" pitchFamily="2" charset="-122"/>
              </a:rPr>
              <a:t>(i.e., nearest neighbor)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5BE282-80CD-0661-2345-7C83AFA476D0}"/>
              </a:ext>
            </a:extLst>
          </p:cNvPr>
          <p:cNvSpPr txBox="1"/>
          <p:nvPr/>
        </p:nvSpPr>
        <p:spPr>
          <a:xfrm>
            <a:off x="380723" y="299408"/>
            <a:ext cx="8632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Nearest Neighbor Query in High Dimensions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45447D33-9FDD-C5E8-FB31-6F1DDF61D061}"/>
              </a:ext>
            </a:extLst>
          </p:cNvPr>
          <p:cNvSpPr/>
          <p:nvPr/>
        </p:nvSpPr>
        <p:spPr>
          <a:xfrm>
            <a:off x="238663" y="311105"/>
            <a:ext cx="885500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DBAAD0-2FB1-CF9E-2D52-130D7F188F4A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12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23DDB8-0676-93C3-82A4-4F158EBC9C9F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43">
            <a:extLst>
              <a:ext uri="{FF2B5EF4-FFF2-40B4-BE49-F238E27FC236}">
                <a16:creationId xmlns:a16="http://schemas.microsoft.com/office/drawing/2014/main" id="{355FFA37-8A80-A709-1CFA-BCA32289E1F0}"/>
              </a:ext>
            </a:extLst>
          </p:cNvPr>
          <p:cNvSpPr/>
          <p:nvPr/>
        </p:nvSpPr>
        <p:spPr bwMode="auto">
          <a:xfrm>
            <a:off x="4043494" y="2038525"/>
            <a:ext cx="3489819" cy="2239860"/>
          </a:xfrm>
          <a:prstGeom prst="roundRect">
            <a:avLst>
              <a:gd name="adj" fmla="val 9992"/>
            </a:avLst>
          </a:prstGeom>
          <a:solidFill>
            <a:schemeClr val="bg1">
              <a:lumMod val="95000"/>
            </a:schemeClr>
          </a:solidFill>
          <a:ln w="3175" cap="flat" cmpd="sng">
            <a:solidFill>
              <a:schemeClr val="bg1">
                <a:lumMod val="50000"/>
              </a:schemeClr>
            </a:solidFill>
            <a:bevel/>
          </a:ln>
        </p:spPr>
        <p:txBody>
          <a:bodyPr lIns="62118" tIns="31058" rIns="62118" bIns="31058" anchor="ctr"/>
          <a:lstStyle/>
          <a:p>
            <a:pPr marL="914400" lvl="2" defTabSz="914400">
              <a:lnSpc>
                <a:spcPts val="1700"/>
              </a:lnSpc>
              <a:defRPr/>
            </a:pPr>
            <a:endParaRPr lang="zh-CN" altLang="en-US" sz="18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04E247A7-4F08-C343-A6AA-DC33DE3D653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06192" y="2432807"/>
            <a:ext cx="2579615" cy="1613352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Range trees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KD-trees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Quadtrees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CA5969-5566-50B4-AFFB-D77218BE386B}"/>
              </a:ext>
            </a:extLst>
          </p:cNvPr>
          <p:cNvSpPr txBox="1"/>
          <p:nvPr/>
        </p:nvSpPr>
        <p:spPr>
          <a:xfrm>
            <a:off x="380723" y="299408"/>
            <a:ext cx="3494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We will discuss …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CAAAF03C-74F1-F788-4B1D-E86EE5A18021}"/>
              </a:ext>
            </a:extLst>
          </p:cNvPr>
          <p:cNvSpPr/>
          <p:nvPr/>
        </p:nvSpPr>
        <p:spPr>
          <a:xfrm>
            <a:off x="238664" y="311105"/>
            <a:ext cx="371255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6454239-20CD-D0E7-5EF5-84EF8F1C64DA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13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636038-28C0-FC4F-8AFB-275BE7532FA7}"/>
              </a:ext>
            </a:extLst>
          </p:cNvPr>
          <p:cNvSpPr/>
          <p:nvPr/>
        </p:nvSpPr>
        <p:spPr>
          <a:xfrm>
            <a:off x="1981200" y="3378200"/>
            <a:ext cx="8229600" cy="889000"/>
          </a:xfrm>
          <a:prstGeom prst="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4" name="Content Placeholder 2">
            <a:extLst>
              <a:ext uri="{FF2B5EF4-FFF2-40B4-BE49-F238E27FC236}">
                <a16:creationId xmlns:a16="http://schemas.microsoft.com/office/drawing/2014/main" id="{2C9B00FE-1DDF-B247-AFFD-5D3D69272D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82536" y="1633538"/>
            <a:ext cx="7826928" cy="431482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Multi-dimensional keys can be thought as “points” in high dimensional spaces.</a:t>
            </a: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Queries about records </a:t>
            </a:r>
            <a:r>
              <a:rPr lang="en-US" altLang="zh-CN" dirty="0">
                <a:ea typeface="宋体" panose="02010600030101010101" pitchFamily="2" charset="-122"/>
                <a:sym typeface="Wingdings" pitchFamily="2" charset="2"/>
              </a:rPr>
              <a:t> Queries about points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70395D-B282-23CE-4994-BEE6C7C82A11}"/>
              </a:ext>
            </a:extLst>
          </p:cNvPr>
          <p:cNvSpPr txBox="1"/>
          <p:nvPr/>
        </p:nvSpPr>
        <p:spPr>
          <a:xfrm>
            <a:off x="380723" y="299408"/>
            <a:ext cx="6825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Interpreting Queries Geometrically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圆角矩形 8">
            <a:extLst>
              <a:ext uri="{FF2B5EF4-FFF2-40B4-BE49-F238E27FC236}">
                <a16:creationId xmlns:a16="http://schemas.microsoft.com/office/drawing/2014/main" id="{A9728546-C687-0261-8E5B-6E0A34F90117}"/>
              </a:ext>
            </a:extLst>
          </p:cNvPr>
          <p:cNvSpPr/>
          <p:nvPr/>
        </p:nvSpPr>
        <p:spPr>
          <a:xfrm>
            <a:off x="238664" y="311105"/>
            <a:ext cx="7068148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9C3E2E-3993-16AB-AEA0-BA5FFDFA5AD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14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2">
            <a:extLst>
              <a:ext uri="{FF2B5EF4-FFF2-40B4-BE49-F238E27FC236}">
                <a16:creationId xmlns:a16="http://schemas.microsoft.com/office/drawing/2014/main" id="{3DC2DB3F-4EAE-E148-9982-FBBB7949F02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4963" y="2129660"/>
            <a:ext cx="3508375" cy="1335087"/>
          </a:xfrm>
          <a:noFill/>
        </p:spPr>
      </p:pic>
      <p:pic>
        <p:nvPicPr>
          <p:cNvPr id="16389" name="Picture 3">
            <a:extLst>
              <a:ext uri="{FF2B5EF4-FFF2-40B4-BE49-F238E27FC236}">
                <a16:creationId xmlns:a16="http://schemas.microsoft.com/office/drawing/2014/main" id="{C8782255-1BDF-A94B-A3F3-9CD7EC66F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077914"/>
            <a:ext cx="3556000" cy="442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Box 8">
            <a:extLst>
              <a:ext uri="{FF2B5EF4-FFF2-40B4-BE49-F238E27FC236}">
                <a16:creationId xmlns:a16="http://schemas.microsoft.com/office/drawing/2014/main" id="{EA88D984-76B5-3845-B305-3028B7B00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863" y="5607050"/>
            <a:ext cx="44859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age = 500,000 x year + 100 x month + day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79DDDB-540B-88A4-C6D3-64DBD9FB32FF}"/>
              </a:ext>
            </a:extLst>
          </p:cNvPr>
          <p:cNvSpPr txBox="1"/>
          <p:nvPr/>
        </p:nvSpPr>
        <p:spPr>
          <a:xfrm>
            <a:off x="380723" y="299408"/>
            <a:ext cx="6036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Example 1- Range Search in 2D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8" name="圆角矩形 8">
            <a:extLst>
              <a:ext uri="{FF2B5EF4-FFF2-40B4-BE49-F238E27FC236}">
                <a16:creationId xmlns:a16="http://schemas.microsoft.com/office/drawing/2014/main" id="{800F5193-3C75-1A83-D746-0B5BF36466E6}"/>
              </a:ext>
            </a:extLst>
          </p:cNvPr>
          <p:cNvSpPr/>
          <p:nvPr/>
        </p:nvSpPr>
        <p:spPr>
          <a:xfrm>
            <a:off x="238663" y="311105"/>
            <a:ext cx="629636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59F621E-7120-0EFE-0D62-EDA7B913346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15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3825C9-23DD-40CB-F29E-CDCC1E0225EE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2">
            <a:extLst>
              <a:ext uri="{FF2B5EF4-FFF2-40B4-BE49-F238E27FC236}">
                <a16:creationId xmlns:a16="http://schemas.microsoft.com/office/drawing/2014/main" id="{1D1A5CD0-89DF-6444-BE3E-0E42024FB985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45578" y="2447131"/>
            <a:ext cx="3506788" cy="1963737"/>
          </a:xfrm>
          <a:noFill/>
        </p:spPr>
      </p:pic>
      <p:pic>
        <p:nvPicPr>
          <p:cNvPr id="17413" name="Picture 3">
            <a:extLst>
              <a:ext uri="{FF2B5EF4-FFF2-40B4-BE49-F238E27FC236}">
                <a16:creationId xmlns:a16="http://schemas.microsoft.com/office/drawing/2014/main" id="{1E725B54-D2B6-FF4F-A897-9D00B32AA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380" y="2067388"/>
            <a:ext cx="3787775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4B3F4EA-7398-B4F1-B70C-8DCD603DD001}"/>
              </a:ext>
            </a:extLst>
          </p:cNvPr>
          <p:cNvSpPr txBox="1"/>
          <p:nvPr/>
        </p:nvSpPr>
        <p:spPr>
          <a:xfrm>
            <a:off x="380723" y="299408"/>
            <a:ext cx="6036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Example 2- Range Search in 3D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圆角矩形 8">
            <a:extLst>
              <a:ext uri="{FF2B5EF4-FFF2-40B4-BE49-F238E27FC236}">
                <a16:creationId xmlns:a16="http://schemas.microsoft.com/office/drawing/2014/main" id="{C02A021D-BC79-FCAF-22D2-D84FF1739946}"/>
              </a:ext>
            </a:extLst>
          </p:cNvPr>
          <p:cNvSpPr/>
          <p:nvPr/>
        </p:nvSpPr>
        <p:spPr>
          <a:xfrm>
            <a:off x="238663" y="311105"/>
            <a:ext cx="629636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ABE6576-14F6-CE05-15A8-0EFEBAEDB7BB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16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E6942C-0474-8668-CFBD-7AAA45CE776E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6" name="Group 18">
            <a:extLst>
              <a:ext uri="{FF2B5EF4-FFF2-40B4-BE49-F238E27FC236}">
                <a16:creationId xmlns:a16="http://schemas.microsoft.com/office/drawing/2014/main" id="{5D0617B0-0690-FA41-812D-505F1DEE520F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2457451"/>
            <a:ext cx="4049713" cy="2333625"/>
            <a:chOff x="990600" y="1796039"/>
            <a:chExt cx="6019800" cy="3537961"/>
          </a:xfrm>
        </p:grpSpPr>
        <p:sp>
          <p:nvSpPr>
            <p:cNvPr id="18470" name="Line 5">
              <a:extLst>
                <a:ext uri="{FF2B5EF4-FFF2-40B4-BE49-F238E27FC236}">
                  <a16:creationId xmlns:a16="http://schemas.microsoft.com/office/drawing/2014/main" id="{60D13BAD-020D-9943-896F-25F553EC17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9800" y="1905000"/>
              <a:ext cx="0" cy="3429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Line 6">
              <a:extLst>
                <a:ext uri="{FF2B5EF4-FFF2-40B4-BE49-F238E27FC236}">
                  <a16:creationId xmlns:a16="http://schemas.microsoft.com/office/drawing/2014/main" id="{3666C3F8-D609-2248-B997-06BB5F333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5334000"/>
              <a:ext cx="419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Oval 9">
              <a:extLst>
                <a:ext uri="{FF2B5EF4-FFF2-40B4-BE49-F238E27FC236}">
                  <a16:creationId xmlns:a16="http://schemas.microsoft.com/office/drawing/2014/main" id="{19E56730-A8E5-5946-9B66-CBEFB52BA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590800"/>
              <a:ext cx="1905000" cy="1676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73" name="AutoShape 10">
              <a:extLst>
                <a:ext uri="{FF2B5EF4-FFF2-40B4-BE49-F238E27FC236}">
                  <a16:creationId xmlns:a16="http://schemas.microsoft.com/office/drawing/2014/main" id="{4EF3F624-54CF-5242-8F4D-74E2FDD6D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352800"/>
              <a:ext cx="76200" cy="762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74" name="AutoShape 11">
              <a:extLst>
                <a:ext uri="{FF2B5EF4-FFF2-40B4-BE49-F238E27FC236}">
                  <a16:creationId xmlns:a16="http://schemas.microsoft.com/office/drawing/2014/main" id="{26698105-B040-B947-A1F0-EFE8A07D0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58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75" name="AutoShape 12">
              <a:extLst>
                <a:ext uri="{FF2B5EF4-FFF2-40B4-BE49-F238E27FC236}">
                  <a16:creationId xmlns:a16="http://schemas.microsoft.com/office/drawing/2014/main" id="{3C626D5A-25F8-ED4C-86C9-526905AC8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4196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76" name="AutoShape 13">
              <a:extLst>
                <a:ext uri="{FF2B5EF4-FFF2-40B4-BE49-F238E27FC236}">
                  <a16:creationId xmlns:a16="http://schemas.microsoft.com/office/drawing/2014/main" id="{8D1DF22E-2A24-8249-ADF9-DAA78DC05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37338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77" name="AutoShape 14">
              <a:extLst>
                <a:ext uri="{FF2B5EF4-FFF2-40B4-BE49-F238E27FC236}">
                  <a16:creationId xmlns:a16="http://schemas.microsoft.com/office/drawing/2014/main" id="{901F4752-19A8-F942-81DB-B64C27BB6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5814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78" name="AutoShape 15">
              <a:extLst>
                <a:ext uri="{FF2B5EF4-FFF2-40B4-BE49-F238E27FC236}">
                  <a16:creationId xmlns:a16="http://schemas.microsoft.com/office/drawing/2014/main" id="{074B9738-AD21-234E-84E3-10F5A0740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8862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79" name="AutoShape 16">
              <a:extLst>
                <a:ext uri="{FF2B5EF4-FFF2-40B4-BE49-F238E27FC236}">
                  <a16:creationId xmlns:a16="http://schemas.microsoft.com/office/drawing/2014/main" id="{962B0740-849E-8040-BDBF-7CF0B04DA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38862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80" name="Text Box 18">
              <a:extLst>
                <a:ext uri="{FF2B5EF4-FFF2-40B4-BE49-F238E27FC236}">
                  <a16:creationId xmlns:a16="http://schemas.microsoft.com/office/drawing/2014/main" id="{3A18DCF3-E430-6642-A944-A93AD7F65C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3276599"/>
              <a:ext cx="533400" cy="559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18481" name="Line 19">
              <a:extLst>
                <a:ext uri="{FF2B5EF4-FFF2-40B4-BE49-F238E27FC236}">
                  <a16:creationId xmlns:a16="http://schemas.microsoft.com/office/drawing/2014/main" id="{5B78DBEF-F8FC-544F-9C7D-174E76AB65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1000" y="2362200"/>
              <a:ext cx="15240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Text Box 20">
              <a:extLst>
                <a:ext uri="{FF2B5EF4-FFF2-40B4-BE49-F238E27FC236}">
                  <a16:creationId xmlns:a16="http://schemas.microsoft.com/office/drawing/2014/main" id="{DF4348E1-61ED-7C44-8D2E-B860A88D7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1796039"/>
              <a:ext cx="1219200" cy="1073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 err="1">
                  <a:latin typeface="+mn-lt"/>
                  <a:ea typeface="宋体" panose="02010600030101010101" pitchFamily="2" charset="-122"/>
                </a:rPr>
                <a:t>QueryPoint</a:t>
              </a:r>
              <a:r>
                <a:rPr lang="en-US" altLang="zh-CN" sz="2000" dirty="0">
                  <a:latin typeface="+mn-lt"/>
                  <a:ea typeface="宋体" panose="02010600030101010101" pitchFamily="2" charset="-122"/>
                </a:rPr>
                <a:t> </a:t>
              </a:r>
            </a:p>
          </p:txBody>
        </p:sp>
      </p:grpSp>
      <p:grpSp>
        <p:nvGrpSpPr>
          <p:cNvPr id="18437" name="Group 2">
            <a:extLst>
              <a:ext uri="{FF2B5EF4-FFF2-40B4-BE49-F238E27FC236}">
                <a16:creationId xmlns:a16="http://schemas.microsoft.com/office/drawing/2014/main" id="{74B15544-333E-2E4B-845E-64185B2AC0EA}"/>
              </a:ext>
            </a:extLst>
          </p:cNvPr>
          <p:cNvGrpSpPr>
            <a:grpSpLocks/>
          </p:cNvGrpSpPr>
          <p:nvPr/>
        </p:nvGrpSpPr>
        <p:grpSpPr bwMode="auto">
          <a:xfrm>
            <a:off x="6289675" y="1897063"/>
            <a:ext cx="3549650" cy="3071812"/>
            <a:chOff x="2209800" y="1828800"/>
            <a:chExt cx="4495800" cy="3657600"/>
          </a:xfrm>
        </p:grpSpPr>
        <p:sp>
          <p:nvSpPr>
            <p:cNvPr id="18439" name="AutoShape 4">
              <a:extLst>
                <a:ext uri="{FF2B5EF4-FFF2-40B4-BE49-F238E27FC236}">
                  <a16:creationId xmlns:a16="http://schemas.microsoft.com/office/drawing/2014/main" id="{946223E1-EC7B-A04D-82FF-042E2AF2E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828800"/>
              <a:ext cx="4343400" cy="3657600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40" name="Line 5">
              <a:extLst>
                <a:ext uri="{FF2B5EF4-FFF2-40B4-BE49-F238E27FC236}">
                  <a16:creationId xmlns:a16="http://schemas.microsoft.com/office/drawing/2014/main" id="{C61410BD-5B22-5D4D-BB9E-42CD0CA93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0" y="1828800"/>
              <a:ext cx="0" cy="2514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Line 6">
              <a:extLst>
                <a:ext uri="{FF2B5EF4-FFF2-40B4-BE49-F238E27FC236}">
                  <a16:creationId xmlns:a16="http://schemas.microsoft.com/office/drawing/2014/main" id="{7BD5BCD0-8216-8941-9242-54472F2F71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9800" y="4343400"/>
              <a:ext cx="9906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Line 7">
              <a:extLst>
                <a:ext uri="{FF2B5EF4-FFF2-40B4-BE49-F238E27FC236}">
                  <a16:creationId xmlns:a16="http://schemas.microsoft.com/office/drawing/2014/main" id="{D1AA6854-DBDA-BE4D-8040-16D0FE703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0" y="4343400"/>
              <a:ext cx="35052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AutoShape 8">
              <a:extLst>
                <a:ext uri="{FF2B5EF4-FFF2-40B4-BE49-F238E27FC236}">
                  <a16:creationId xmlns:a16="http://schemas.microsoft.com/office/drawing/2014/main" id="{39ED35EA-A2EF-C741-BE69-2606199DA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3505200"/>
              <a:ext cx="76200" cy="762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44" name="AutoShape 9">
              <a:extLst>
                <a:ext uri="{FF2B5EF4-FFF2-40B4-BE49-F238E27FC236}">
                  <a16:creationId xmlns:a16="http://schemas.microsoft.com/office/drawing/2014/main" id="{85D37E81-D47C-8449-9FC5-EBDC7C7FB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2971800"/>
              <a:ext cx="1447800" cy="1143000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rgbClr val="EBADE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45" name="Line 11">
              <a:extLst>
                <a:ext uri="{FF2B5EF4-FFF2-40B4-BE49-F238E27FC236}">
                  <a16:creationId xmlns:a16="http://schemas.microsoft.com/office/drawing/2014/main" id="{FC92EBBF-91F6-5A45-8BB0-27D3F0F7F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2971800"/>
              <a:ext cx="0" cy="838200"/>
            </a:xfrm>
            <a:prstGeom prst="line">
              <a:avLst/>
            </a:prstGeom>
            <a:noFill/>
            <a:ln w="9525">
              <a:solidFill>
                <a:srgbClr val="EBADE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Line 12">
              <a:extLst>
                <a:ext uri="{FF2B5EF4-FFF2-40B4-BE49-F238E27FC236}">
                  <a16:creationId xmlns:a16="http://schemas.microsoft.com/office/drawing/2014/main" id="{50F3A734-800A-1844-9A02-2ED2E9E141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0000" y="3810000"/>
              <a:ext cx="304800" cy="304800"/>
            </a:xfrm>
            <a:prstGeom prst="line">
              <a:avLst/>
            </a:prstGeom>
            <a:noFill/>
            <a:ln w="9525">
              <a:solidFill>
                <a:srgbClr val="EBADE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Line 13">
              <a:extLst>
                <a:ext uri="{FF2B5EF4-FFF2-40B4-BE49-F238E27FC236}">
                  <a16:creationId xmlns:a16="http://schemas.microsoft.com/office/drawing/2014/main" id="{E7EA5762-245D-2B4A-8785-2C6E010A4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3810000"/>
              <a:ext cx="1143000" cy="0"/>
            </a:xfrm>
            <a:prstGeom prst="line">
              <a:avLst/>
            </a:prstGeom>
            <a:noFill/>
            <a:ln w="9525">
              <a:solidFill>
                <a:srgbClr val="EBADE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AutoShape 14">
              <a:extLst>
                <a:ext uri="{FF2B5EF4-FFF2-40B4-BE49-F238E27FC236}">
                  <a16:creationId xmlns:a16="http://schemas.microsoft.com/office/drawing/2014/main" id="{A58F4604-F817-A349-959E-B4857B9D8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6576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49" name="AutoShape 15">
              <a:extLst>
                <a:ext uri="{FF2B5EF4-FFF2-40B4-BE49-F238E27FC236}">
                  <a16:creationId xmlns:a16="http://schemas.microsoft.com/office/drawing/2014/main" id="{32243430-9953-964A-851D-F87266EDA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38100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50" name="AutoShape 16">
              <a:extLst>
                <a:ext uri="{FF2B5EF4-FFF2-40B4-BE49-F238E27FC236}">
                  <a16:creationId xmlns:a16="http://schemas.microsoft.com/office/drawing/2014/main" id="{F3CA6B55-D67C-E048-AA60-3F4EAA988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39624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51" name="AutoShape 17">
              <a:extLst>
                <a:ext uri="{FF2B5EF4-FFF2-40B4-BE49-F238E27FC236}">
                  <a16:creationId xmlns:a16="http://schemas.microsoft.com/office/drawing/2014/main" id="{2CF89AEB-E831-AD43-AB89-DFBA0E16D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41148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52" name="AutoShape 18">
              <a:extLst>
                <a:ext uri="{FF2B5EF4-FFF2-40B4-BE49-F238E27FC236}">
                  <a16:creationId xmlns:a16="http://schemas.microsoft.com/office/drawing/2014/main" id="{27110972-961A-7F4D-AA12-D9ABBEE6D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42672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53" name="AutoShape 19">
              <a:extLst>
                <a:ext uri="{FF2B5EF4-FFF2-40B4-BE49-F238E27FC236}">
                  <a16:creationId xmlns:a16="http://schemas.microsoft.com/office/drawing/2014/main" id="{B5493D7F-C972-A643-8B5C-DFDDA82CA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30480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54" name="AutoShape 20">
              <a:extLst>
                <a:ext uri="{FF2B5EF4-FFF2-40B4-BE49-F238E27FC236}">
                  <a16:creationId xmlns:a16="http://schemas.microsoft.com/office/drawing/2014/main" id="{08E88970-1F54-8342-96B1-35A665B14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30480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55" name="AutoShape 21">
              <a:extLst>
                <a:ext uri="{FF2B5EF4-FFF2-40B4-BE49-F238E27FC236}">
                  <a16:creationId xmlns:a16="http://schemas.microsoft.com/office/drawing/2014/main" id="{BF64F62E-8DE5-8341-9BB3-22C8C093A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35052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56" name="AutoShape 22">
              <a:extLst>
                <a:ext uri="{FF2B5EF4-FFF2-40B4-BE49-F238E27FC236}">
                  <a16:creationId xmlns:a16="http://schemas.microsoft.com/office/drawing/2014/main" id="{BC124169-F38C-1A4B-85A6-C0E8C5AFB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41148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57" name="AutoShape 23">
              <a:extLst>
                <a:ext uri="{FF2B5EF4-FFF2-40B4-BE49-F238E27FC236}">
                  <a16:creationId xmlns:a16="http://schemas.microsoft.com/office/drawing/2014/main" id="{D11CC5CB-C559-684A-922F-1F69D6248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34290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58" name="AutoShape 24">
              <a:extLst>
                <a:ext uri="{FF2B5EF4-FFF2-40B4-BE49-F238E27FC236}">
                  <a16:creationId xmlns:a16="http://schemas.microsoft.com/office/drawing/2014/main" id="{6350E9F4-464D-0142-967B-E1C3E46E7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33528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59" name="AutoShape 25">
              <a:extLst>
                <a:ext uri="{FF2B5EF4-FFF2-40B4-BE49-F238E27FC236}">
                  <a16:creationId xmlns:a16="http://schemas.microsoft.com/office/drawing/2014/main" id="{C7E60E70-D460-8745-B48B-57E233D2B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44196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60" name="AutoShape 26">
              <a:extLst>
                <a:ext uri="{FF2B5EF4-FFF2-40B4-BE49-F238E27FC236}">
                  <a16:creationId xmlns:a16="http://schemas.microsoft.com/office/drawing/2014/main" id="{178B66FE-3FEF-7447-924B-C9FB124F3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51816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61" name="AutoShape 27">
              <a:extLst>
                <a:ext uri="{FF2B5EF4-FFF2-40B4-BE49-F238E27FC236}">
                  <a16:creationId xmlns:a16="http://schemas.microsoft.com/office/drawing/2014/main" id="{10702C2C-137A-974A-8BD4-0D8B133E6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6576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62" name="AutoShape 28">
              <a:extLst>
                <a:ext uri="{FF2B5EF4-FFF2-40B4-BE49-F238E27FC236}">
                  <a16:creationId xmlns:a16="http://schemas.microsoft.com/office/drawing/2014/main" id="{2941A23E-D894-F44F-B624-A639E1339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41910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63" name="AutoShape 29">
              <a:extLst>
                <a:ext uri="{FF2B5EF4-FFF2-40B4-BE49-F238E27FC236}">
                  <a16:creationId xmlns:a16="http://schemas.microsoft.com/office/drawing/2014/main" id="{EDD08BF2-D4C0-A849-9547-7C068EE45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48006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64" name="AutoShape 30">
              <a:extLst>
                <a:ext uri="{FF2B5EF4-FFF2-40B4-BE49-F238E27FC236}">
                  <a16:creationId xmlns:a16="http://schemas.microsoft.com/office/drawing/2014/main" id="{BDEE790D-9519-264D-9523-3B4868E14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40386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65" name="AutoShape 31">
              <a:extLst>
                <a:ext uri="{FF2B5EF4-FFF2-40B4-BE49-F238E27FC236}">
                  <a16:creationId xmlns:a16="http://schemas.microsoft.com/office/drawing/2014/main" id="{D7951800-4541-2B44-B03E-8F7D4B7D3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8006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66" name="AutoShape 32">
              <a:extLst>
                <a:ext uri="{FF2B5EF4-FFF2-40B4-BE49-F238E27FC236}">
                  <a16:creationId xmlns:a16="http://schemas.microsoft.com/office/drawing/2014/main" id="{B77BCA2D-2A86-534F-9B05-FB86EBB1A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22860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67" name="AutoShape 33">
              <a:extLst>
                <a:ext uri="{FF2B5EF4-FFF2-40B4-BE49-F238E27FC236}">
                  <a16:creationId xmlns:a16="http://schemas.microsoft.com/office/drawing/2014/main" id="{83EA6FBF-BADA-3340-89E8-3E3456D73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51816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68" name="AutoShape 34">
              <a:extLst>
                <a:ext uri="{FF2B5EF4-FFF2-40B4-BE49-F238E27FC236}">
                  <a16:creationId xmlns:a16="http://schemas.microsoft.com/office/drawing/2014/main" id="{FA097A92-A14B-AB43-9359-84F00032E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2578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69" name="AutoShape 35">
              <a:extLst>
                <a:ext uri="{FF2B5EF4-FFF2-40B4-BE49-F238E27FC236}">
                  <a16:creationId xmlns:a16="http://schemas.microsoft.com/office/drawing/2014/main" id="{CD6515C6-20C6-B74F-AA13-771CBC2DD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4572000"/>
              <a:ext cx="76200" cy="76200"/>
            </a:xfrm>
            <a:prstGeom prst="flowChartConnector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8E73BF7-AF06-AC4B-9B8C-2AC9EAB5A4B6}"/>
              </a:ext>
            </a:extLst>
          </p:cNvPr>
          <p:cNvCxnSpPr>
            <a:endCxn id="18443" idx="3"/>
          </p:cNvCxnSpPr>
          <p:nvPr/>
        </p:nvCxnSpPr>
        <p:spPr>
          <a:xfrm>
            <a:off x="5897564" y="2981326"/>
            <a:ext cx="2205037" cy="3794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363613F-E568-2C01-E4AB-88CC1C873CBD}"/>
              </a:ext>
            </a:extLst>
          </p:cNvPr>
          <p:cNvSpPr txBox="1"/>
          <p:nvPr/>
        </p:nvSpPr>
        <p:spPr>
          <a:xfrm>
            <a:off x="380723" y="299408"/>
            <a:ext cx="7292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Example 3- Nearest Neighbors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D2D1D217-9CEB-48EF-A6C3-0BA4F492F620}"/>
              </a:ext>
            </a:extLst>
          </p:cNvPr>
          <p:cNvSpPr/>
          <p:nvPr/>
        </p:nvSpPr>
        <p:spPr>
          <a:xfrm>
            <a:off x="238663" y="311105"/>
            <a:ext cx="755510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CACB31-A9A5-BB3D-0554-2F2C40CB27C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17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0749CC-52E1-2669-7276-1B759C168933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9784" y="239697"/>
            <a:ext cx="24889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思源黑体 Bold" panose="020B0800000000000000" pitchFamily="34" charset="-122"/>
                <a:cs typeface="+mn-cs"/>
                <a:sym typeface="+mn-ea"/>
              </a:rPr>
              <a:t>主要内容</a:t>
            </a:r>
            <a:endParaRPr kumimoji="0" lang="en-US" altLang="en-US" sz="3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79070" y="233045"/>
            <a:ext cx="313182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355AC32-C36C-3DE0-B525-06DE9D4F4AD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18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graphicFrame>
        <p:nvGraphicFramePr>
          <p:cNvPr id="13" name="内容占位符 2">
            <a:extLst>
              <a:ext uri="{FF2B5EF4-FFF2-40B4-BE49-F238E27FC236}">
                <a16:creationId xmlns:a16="http://schemas.microsoft.com/office/drawing/2014/main" id="{57ADFC92-0B77-D3FE-3F46-422F17AD61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8079493"/>
              </p:ext>
            </p:extLst>
          </p:nvPr>
        </p:nvGraphicFramePr>
        <p:xfrm>
          <a:off x="3747135" y="989508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6">
            <a:extLst>
              <a:ext uri="{FF2B5EF4-FFF2-40B4-BE49-F238E27FC236}">
                <a16:creationId xmlns:a16="http://schemas.microsoft.com/office/drawing/2014/main" id="{02EE2D9B-DD82-2EA0-6050-9AF056D4FB7C}"/>
              </a:ext>
            </a:extLst>
          </p:cNvPr>
          <p:cNvSpPr txBox="1">
            <a:spLocks noChangeArrowheads="1"/>
          </p:cNvSpPr>
          <p:nvPr/>
        </p:nvSpPr>
        <p:spPr>
          <a:xfrm>
            <a:off x="9509422" y="67321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18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142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2" name="Picture 2">
            <a:extLst>
              <a:ext uri="{FF2B5EF4-FFF2-40B4-BE49-F238E27FC236}">
                <a16:creationId xmlns:a16="http://schemas.microsoft.com/office/drawing/2014/main" id="{9D6D5926-9F0D-214E-A8C6-E49757167E9D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2" b="81160"/>
          <a:stretch/>
        </p:blipFill>
        <p:spPr>
          <a:xfrm>
            <a:off x="1417638" y="1533231"/>
            <a:ext cx="8353425" cy="749300"/>
          </a:xfrm>
          <a:noFill/>
        </p:spPr>
      </p:pic>
      <p:sp>
        <p:nvSpPr>
          <p:cNvPr id="19460" name="TextBox 6">
            <a:extLst>
              <a:ext uri="{FF2B5EF4-FFF2-40B4-BE49-F238E27FC236}">
                <a16:creationId xmlns:a16="http://schemas.microsoft.com/office/drawing/2014/main" id="{B0AA7F66-C9A3-9A43-9AD4-986060B39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1" y="3519488"/>
            <a:ext cx="696913" cy="646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19463" name="Picture 10">
            <a:extLst>
              <a:ext uri="{FF2B5EF4-FFF2-40B4-BE49-F238E27FC236}">
                <a16:creationId xmlns:a16="http://schemas.microsoft.com/office/drawing/2014/main" id="{F51A83AE-81CE-624E-A5AC-247BAC6A6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831" y="3116469"/>
            <a:ext cx="3292475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A6750C2-EF6A-3E43-9320-A53E4BE56DB5}"/>
              </a:ext>
            </a:extLst>
          </p:cNvPr>
          <p:cNvSpPr txBox="1"/>
          <p:nvPr/>
        </p:nvSpPr>
        <p:spPr>
          <a:xfrm>
            <a:off x="1815309" y="40374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1: 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Sorted Array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3FD24E-4884-EC49-8CFC-87FC064066BB}"/>
              </a:ext>
            </a:extLst>
          </p:cNvPr>
          <p:cNvSpPr txBox="1"/>
          <p:nvPr/>
        </p:nvSpPr>
        <p:spPr>
          <a:xfrm>
            <a:off x="1815309" y="45692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2: 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BST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6ADDE3-564D-994A-83C0-4F47F023CB58}"/>
              </a:ext>
            </a:extLst>
          </p:cNvPr>
          <p:cNvSpPr txBox="1"/>
          <p:nvPr/>
        </p:nvSpPr>
        <p:spPr>
          <a:xfrm>
            <a:off x="1815309" y="5180469"/>
            <a:ext cx="7303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3: 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BST with data stored in leaves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B3A4C8-E5AD-DA63-EA78-B3FD038A2066}"/>
              </a:ext>
            </a:extLst>
          </p:cNvPr>
          <p:cNvSpPr txBox="1"/>
          <p:nvPr/>
        </p:nvSpPr>
        <p:spPr>
          <a:xfrm>
            <a:off x="380723" y="299408"/>
            <a:ext cx="3457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11E4E86E-0AB2-8891-68CB-35EC49A1E904}"/>
              </a:ext>
            </a:extLst>
          </p:cNvPr>
          <p:cNvSpPr/>
          <p:nvPr/>
        </p:nvSpPr>
        <p:spPr>
          <a:xfrm>
            <a:off x="238663" y="311105"/>
            <a:ext cx="370945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A6E1A8C-74D0-B778-DC06-40960AB1BEB9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19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29B6F5-5E87-991F-9180-572B441DCBE0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6" name="Picture 2">
            <a:extLst>
              <a:ext uri="{FF2B5EF4-FFF2-40B4-BE49-F238E27FC236}">
                <a16:creationId xmlns:a16="http://schemas.microsoft.com/office/drawing/2014/main" id="{C9DB7C1D-DC31-3443-8E7E-1803C2F4F2F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8" b="35674"/>
          <a:stretch/>
        </p:blipFill>
        <p:spPr>
          <a:xfrm>
            <a:off x="2258270" y="1976291"/>
            <a:ext cx="8353425" cy="1631950"/>
          </a:xfrm>
          <a:noFill/>
        </p:spPr>
      </p:pic>
      <p:sp>
        <p:nvSpPr>
          <p:cNvPr id="20484" name="TextBox 6">
            <a:extLst>
              <a:ext uri="{FF2B5EF4-FFF2-40B4-BE49-F238E27FC236}">
                <a16:creationId xmlns:a16="http://schemas.microsoft.com/office/drawing/2014/main" id="{8868A21A-B4B5-9C44-A9A8-22B605148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1" y="3519488"/>
            <a:ext cx="696913" cy="646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zh-CN">
              <a:latin typeface="+mn-lt"/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20485" name="TextBox 7">
            <a:extLst>
              <a:ext uri="{FF2B5EF4-FFF2-40B4-BE49-F238E27FC236}">
                <a16:creationId xmlns:a16="http://schemas.microsoft.com/office/drawing/2014/main" id="{80B05887-BDE5-7D48-9761-D115E8DAA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519488"/>
            <a:ext cx="882650" cy="646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zh-CN">
              <a:latin typeface="+mn-lt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latin typeface="+mn-lt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95815C-69F8-4F4A-8ADE-3D21B618A434}"/>
              </a:ext>
            </a:extLst>
          </p:cNvPr>
          <p:cNvSpPr txBox="1"/>
          <p:nvPr/>
        </p:nvSpPr>
        <p:spPr>
          <a:xfrm>
            <a:off x="2235512" y="3539881"/>
            <a:ext cx="510082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en-US" sz="2000" dirty="0"/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sz="2000" dirty="0"/>
              <a:t>Does not generalize well to high dimensions</a:t>
            </a:r>
            <a:r>
              <a:rPr lang="en-US" dirty="0"/>
              <a:t>.</a:t>
            </a:r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2BBF93E0-7331-AD4D-A08B-AD8F7368A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9" y="4685367"/>
            <a:ext cx="37508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1" dirty="0">
                <a:latin typeface="+mn-lt"/>
                <a:ea typeface="宋体" panose="02010600030101010101" pitchFamily="2" charset="-122"/>
              </a:rPr>
              <a:t>Example:</a:t>
            </a:r>
            <a:r>
              <a:rPr lang="en-US" altLang="zh-CN" dirty="0">
                <a:latin typeface="+mn-lt"/>
                <a:ea typeface="宋体" panose="02010600030101010101" pitchFamily="2" charset="-122"/>
              </a:rPr>
              <a:t> retrieve all points in [25, 90]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AD5953-28BD-1D46-A7F9-E706353B3074}"/>
              </a:ext>
            </a:extLst>
          </p:cNvPr>
          <p:cNvSpPr txBox="1"/>
          <p:nvPr/>
        </p:nvSpPr>
        <p:spPr>
          <a:xfrm>
            <a:off x="2203552" y="118744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1: 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Sorted Array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554D60-B181-F731-1B13-A1832CC17D73}"/>
              </a:ext>
            </a:extLst>
          </p:cNvPr>
          <p:cNvSpPr txBox="1"/>
          <p:nvPr/>
        </p:nvSpPr>
        <p:spPr>
          <a:xfrm>
            <a:off x="380722" y="299408"/>
            <a:ext cx="5926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 Range: [x, x’]</a:t>
            </a: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205570F4-5969-C89F-BC93-6D991781D0A1}"/>
              </a:ext>
            </a:extLst>
          </p:cNvPr>
          <p:cNvSpPr/>
          <p:nvPr/>
        </p:nvSpPr>
        <p:spPr>
          <a:xfrm>
            <a:off x="238663" y="311105"/>
            <a:ext cx="6196320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CA6EEA-FC19-BA3A-7194-A341F827C8B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20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>
            <a:extLst>
              <a:ext uri="{FF2B5EF4-FFF2-40B4-BE49-F238E27FC236}">
                <a16:creationId xmlns:a16="http://schemas.microsoft.com/office/drawing/2014/main" id="{569ADBCA-BDA4-3048-944F-7E3A38AC5844}"/>
              </a:ext>
            </a:extLst>
          </p:cNvPr>
          <p:cNvSpPr txBox="1"/>
          <p:nvPr/>
        </p:nvSpPr>
        <p:spPr>
          <a:xfrm>
            <a:off x="1993252" y="3647562"/>
            <a:ext cx="576367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400" dirty="0" err="1">
                <a:solidFill>
                  <a:srgbClr val="A626A4"/>
                </a:solidFill>
              </a:rPr>
              <a:t>private</a:t>
            </a:r>
            <a:r>
              <a:rPr lang="fr-FR" altLang="zh-CN" sz="1400" dirty="0">
                <a:solidFill>
                  <a:srgbClr val="333333"/>
                </a:solidFill>
              </a:rPr>
              <a:t> </a:t>
            </a:r>
            <a:r>
              <a:rPr lang="fr-FR" altLang="zh-CN" sz="1400" dirty="0" err="1">
                <a:solidFill>
                  <a:srgbClr val="A626A4"/>
                </a:solidFill>
              </a:rPr>
              <a:t>void</a:t>
            </a:r>
            <a:r>
              <a:rPr lang="fr-FR" altLang="zh-CN" sz="1400" dirty="0">
                <a:solidFill>
                  <a:srgbClr val="333333"/>
                </a:solidFill>
              </a:rPr>
              <a:t> </a:t>
            </a:r>
            <a:r>
              <a:rPr lang="en-US" altLang="zh-CN" sz="1400" dirty="0" err="1">
                <a:solidFill>
                  <a:srgbClr val="333333"/>
                </a:solidFill>
              </a:rPr>
              <a:t>rsearch</a:t>
            </a:r>
            <a:r>
              <a:rPr lang="fr-FR" altLang="zh-CN" sz="1400" dirty="0">
                <a:solidFill>
                  <a:srgbClr val="333333"/>
                </a:solidFill>
              </a:rPr>
              <a:t>(</a:t>
            </a:r>
            <a:r>
              <a:rPr lang="fr-FR" altLang="zh-CN" sz="1400" dirty="0" err="1">
                <a:solidFill>
                  <a:srgbClr val="333333"/>
                </a:solidFill>
              </a:rPr>
              <a:t>TreeNode</a:t>
            </a:r>
            <a:r>
              <a:rPr lang="fr-FR" altLang="zh-CN" sz="1400" dirty="0">
                <a:solidFill>
                  <a:srgbClr val="333333"/>
                </a:solidFill>
              </a:rPr>
              <a:t> </a:t>
            </a:r>
            <a:r>
              <a:rPr lang="fr-FR" altLang="zh-CN" sz="1400" dirty="0" err="1">
                <a:solidFill>
                  <a:srgbClr val="333333"/>
                </a:solidFill>
              </a:rPr>
              <a:t>root</a:t>
            </a:r>
            <a:r>
              <a:rPr lang="fr-FR" altLang="zh-CN" sz="1400" dirty="0">
                <a:solidFill>
                  <a:srgbClr val="333333"/>
                </a:solidFill>
              </a:rPr>
              <a:t>, </a:t>
            </a:r>
            <a:r>
              <a:rPr lang="fr-FR" altLang="zh-CN" sz="1400" dirty="0" err="1">
                <a:solidFill>
                  <a:srgbClr val="A626A4"/>
                </a:solidFill>
              </a:rPr>
              <a:t>int</a:t>
            </a:r>
            <a:r>
              <a:rPr lang="fr-FR" altLang="zh-CN" sz="1400" dirty="0">
                <a:solidFill>
                  <a:srgbClr val="333333"/>
                </a:solidFill>
              </a:rPr>
              <a:t> </a:t>
            </a:r>
            <a:r>
              <a:rPr lang="en-US" altLang="zh-CN" sz="1400" dirty="0">
                <a:solidFill>
                  <a:srgbClr val="333333"/>
                </a:solidFill>
              </a:rPr>
              <a:t>l</a:t>
            </a:r>
            <a:r>
              <a:rPr lang="fr-FR" altLang="zh-CN" sz="1400" dirty="0">
                <a:solidFill>
                  <a:srgbClr val="333333"/>
                </a:solidFill>
              </a:rPr>
              <a:t>, </a:t>
            </a:r>
            <a:r>
              <a:rPr lang="fr-FR" altLang="zh-CN" sz="1400" dirty="0" err="1">
                <a:solidFill>
                  <a:srgbClr val="A626A4"/>
                </a:solidFill>
              </a:rPr>
              <a:t>int</a:t>
            </a:r>
            <a:r>
              <a:rPr lang="fr-FR" altLang="zh-CN" sz="1400" dirty="0">
                <a:solidFill>
                  <a:srgbClr val="333333"/>
                </a:solidFill>
              </a:rPr>
              <a:t> </a:t>
            </a:r>
            <a:r>
              <a:rPr lang="en-US" altLang="zh-CN" sz="1400" dirty="0">
                <a:solidFill>
                  <a:srgbClr val="333333"/>
                </a:solidFill>
              </a:rPr>
              <a:t>r</a:t>
            </a:r>
            <a:r>
              <a:rPr lang="fr-FR" altLang="zh-CN" sz="1400" dirty="0">
                <a:solidFill>
                  <a:srgbClr val="333333"/>
                </a:solidFill>
              </a:rPr>
              <a:t>) {</a:t>
            </a:r>
          </a:p>
          <a:p>
            <a:r>
              <a:rPr lang="fr-FR" altLang="zh-CN" sz="1400" dirty="0">
                <a:solidFill>
                  <a:srgbClr val="A626A4"/>
                </a:solidFill>
              </a:rPr>
              <a:t>if</a:t>
            </a:r>
            <a:r>
              <a:rPr lang="fr-FR" altLang="zh-CN" sz="1400" dirty="0">
                <a:solidFill>
                  <a:srgbClr val="333333"/>
                </a:solidFill>
              </a:rPr>
              <a:t> (</a:t>
            </a:r>
            <a:r>
              <a:rPr lang="fr-FR" altLang="zh-CN" sz="1400" dirty="0" err="1">
                <a:solidFill>
                  <a:srgbClr val="333333"/>
                </a:solidFill>
              </a:rPr>
              <a:t>root</a:t>
            </a:r>
            <a:r>
              <a:rPr lang="fr-FR" altLang="zh-CN" sz="1400" dirty="0">
                <a:solidFill>
                  <a:srgbClr val="333333"/>
                </a:solidFill>
              </a:rPr>
              <a:t> == </a:t>
            </a:r>
            <a:r>
              <a:rPr lang="fr-FR" altLang="zh-CN" sz="1400" dirty="0" err="1">
                <a:solidFill>
                  <a:srgbClr val="0184BB"/>
                </a:solidFill>
              </a:rPr>
              <a:t>null</a:t>
            </a:r>
            <a:r>
              <a:rPr lang="fr-FR" altLang="zh-CN" sz="1400" dirty="0">
                <a:solidFill>
                  <a:srgbClr val="333333"/>
                </a:solidFill>
              </a:rPr>
              <a:t>) {</a:t>
            </a:r>
          </a:p>
          <a:p>
            <a:r>
              <a:rPr lang="fr-FR" altLang="zh-CN" sz="1400" dirty="0">
                <a:solidFill>
                  <a:srgbClr val="A626A4"/>
                </a:solidFill>
              </a:rPr>
              <a:t>	return</a:t>
            </a:r>
            <a:r>
              <a:rPr lang="fr-FR" altLang="zh-CN" sz="1400" dirty="0">
                <a:solidFill>
                  <a:srgbClr val="333333"/>
                </a:solidFill>
              </a:rPr>
              <a:t>;</a:t>
            </a:r>
          </a:p>
          <a:p>
            <a:r>
              <a:rPr lang="fr-FR" altLang="zh-CN" sz="1400" dirty="0">
                <a:solidFill>
                  <a:srgbClr val="333333"/>
                </a:solidFill>
              </a:rPr>
              <a:t>}</a:t>
            </a:r>
          </a:p>
          <a:p>
            <a:r>
              <a:rPr lang="fr-FR" altLang="zh-CN" sz="1400" dirty="0">
                <a:solidFill>
                  <a:srgbClr val="A626A4"/>
                </a:solidFill>
              </a:rPr>
              <a:t>if</a:t>
            </a:r>
            <a:r>
              <a:rPr lang="fr-FR" altLang="zh-CN" sz="1400" dirty="0">
                <a:solidFill>
                  <a:srgbClr val="333333"/>
                </a:solidFill>
              </a:rPr>
              <a:t> (</a:t>
            </a:r>
            <a:r>
              <a:rPr lang="fr-FR" altLang="zh-CN" sz="1400" dirty="0" err="1">
                <a:solidFill>
                  <a:srgbClr val="333333"/>
                </a:solidFill>
              </a:rPr>
              <a:t>root.val</a:t>
            </a:r>
            <a:r>
              <a:rPr lang="fr-FR" altLang="zh-CN" sz="1400" dirty="0">
                <a:solidFill>
                  <a:srgbClr val="333333"/>
                </a:solidFill>
              </a:rPr>
              <a:t> &gt; </a:t>
            </a:r>
            <a:r>
              <a:rPr lang="en-US" altLang="zh-CN" sz="1400" dirty="0">
                <a:solidFill>
                  <a:srgbClr val="333333"/>
                </a:solidFill>
              </a:rPr>
              <a:t>l</a:t>
            </a:r>
            <a:r>
              <a:rPr lang="fr-FR" altLang="zh-CN" sz="1400" dirty="0">
                <a:solidFill>
                  <a:srgbClr val="333333"/>
                </a:solidFill>
              </a:rPr>
              <a:t>) {</a:t>
            </a:r>
          </a:p>
          <a:p>
            <a:r>
              <a:rPr lang="fr-FR" altLang="zh-CN" sz="1400" dirty="0">
                <a:solidFill>
                  <a:srgbClr val="333333"/>
                </a:solidFill>
              </a:rPr>
              <a:t>	</a:t>
            </a:r>
            <a:r>
              <a:rPr lang="en-US" altLang="zh-CN" sz="1400" dirty="0">
                <a:solidFill>
                  <a:srgbClr val="333333"/>
                </a:solidFill>
              </a:rPr>
              <a:t> </a:t>
            </a:r>
            <a:r>
              <a:rPr lang="en-US" altLang="zh-CN" sz="1400" dirty="0" err="1">
                <a:solidFill>
                  <a:srgbClr val="333333"/>
                </a:solidFill>
              </a:rPr>
              <a:t>rsearch</a:t>
            </a:r>
            <a:r>
              <a:rPr lang="fr-FR" altLang="zh-CN" sz="1400" dirty="0">
                <a:solidFill>
                  <a:srgbClr val="333333"/>
                </a:solidFill>
              </a:rPr>
              <a:t>(</a:t>
            </a:r>
            <a:r>
              <a:rPr lang="fr-FR" altLang="zh-CN" sz="1400" dirty="0" err="1">
                <a:solidFill>
                  <a:srgbClr val="333333"/>
                </a:solidFill>
              </a:rPr>
              <a:t>root.left</a:t>
            </a:r>
            <a:r>
              <a:rPr lang="fr-FR" altLang="zh-CN" sz="1400" dirty="0">
                <a:solidFill>
                  <a:srgbClr val="333333"/>
                </a:solidFill>
              </a:rPr>
              <a:t>, </a:t>
            </a:r>
            <a:r>
              <a:rPr lang="en-US" altLang="zh-CN" sz="1400" dirty="0">
                <a:solidFill>
                  <a:srgbClr val="333333"/>
                </a:solidFill>
              </a:rPr>
              <a:t>l</a:t>
            </a:r>
            <a:r>
              <a:rPr lang="fr-FR" altLang="zh-CN" sz="1400" dirty="0">
                <a:solidFill>
                  <a:srgbClr val="333333"/>
                </a:solidFill>
              </a:rPr>
              <a:t>, </a:t>
            </a:r>
            <a:r>
              <a:rPr lang="en-US" altLang="zh-CN" sz="1400" dirty="0">
                <a:solidFill>
                  <a:srgbClr val="333333"/>
                </a:solidFill>
              </a:rPr>
              <a:t>r</a:t>
            </a:r>
            <a:r>
              <a:rPr lang="fr-FR" altLang="zh-CN" sz="1400" dirty="0">
                <a:solidFill>
                  <a:srgbClr val="333333"/>
                </a:solidFill>
              </a:rPr>
              <a:t>);</a:t>
            </a:r>
          </a:p>
          <a:p>
            <a:r>
              <a:rPr lang="fr-FR" altLang="zh-CN" sz="1400" dirty="0">
                <a:solidFill>
                  <a:srgbClr val="333333"/>
                </a:solidFill>
              </a:rPr>
              <a:t>}</a:t>
            </a:r>
          </a:p>
          <a:p>
            <a:r>
              <a:rPr lang="fr-FR" altLang="zh-CN" sz="1400" dirty="0">
                <a:solidFill>
                  <a:srgbClr val="A626A4"/>
                </a:solidFill>
              </a:rPr>
              <a:t>if</a:t>
            </a:r>
            <a:r>
              <a:rPr lang="fr-FR" altLang="zh-CN" sz="1400" dirty="0">
                <a:solidFill>
                  <a:srgbClr val="333333"/>
                </a:solidFill>
              </a:rPr>
              <a:t> (</a:t>
            </a:r>
            <a:r>
              <a:rPr lang="fr-FR" altLang="zh-CN" sz="1400" dirty="0" err="1">
                <a:solidFill>
                  <a:srgbClr val="333333"/>
                </a:solidFill>
              </a:rPr>
              <a:t>root.val</a:t>
            </a:r>
            <a:r>
              <a:rPr lang="fr-FR" altLang="zh-CN" sz="1400" dirty="0">
                <a:solidFill>
                  <a:srgbClr val="333333"/>
                </a:solidFill>
              </a:rPr>
              <a:t> &gt;= </a:t>
            </a:r>
            <a:r>
              <a:rPr lang="en-US" altLang="zh-CN" sz="1400" dirty="0">
                <a:solidFill>
                  <a:srgbClr val="333333"/>
                </a:solidFill>
              </a:rPr>
              <a:t>l</a:t>
            </a:r>
            <a:r>
              <a:rPr lang="fr-FR" altLang="zh-CN" sz="1400" dirty="0">
                <a:solidFill>
                  <a:srgbClr val="333333"/>
                </a:solidFill>
              </a:rPr>
              <a:t> &amp;&amp; </a:t>
            </a:r>
            <a:r>
              <a:rPr lang="fr-FR" altLang="zh-CN" sz="1400" dirty="0" err="1">
                <a:solidFill>
                  <a:srgbClr val="333333"/>
                </a:solidFill>
              </a:rPr>
              <a:t>root.val</a:t>
            </a:r>
            <a:r>
              <a:rPr lang="fr-FR" altLang="zh-CN" sz="1400" dirty="0">
                <a:solidFill>
                  <a:srgbClr val="333333"/>
                </a:solidFill>
              </a:rPr>
              <a:t> &lt;= </a:t>
            </a:r>
            <a:r>
              <a:rPr lang="en-US" altLang="zh-CN" sz="1400" dirty="0">
                <a:solidFill>
                  <a:srgbClr val="333333"/>
                </a:solidFill>
              </a:rPr>
              <a:t>r</a:t>
            </a:r>
            <a:r>
              <a:rPr lang="fr-FR" altLang="zh-CN" sz="1400" dirty="0">
                <a:solidFill>
                  <a:srgbClr val="333333"/>
                </a:solidFill>
              </a:rPr>
              <a:t>) {</a:t>
            </a:r>
          </a:p>
          <a:p>
            <a:r>
              <a:rPr lang="fr-FR" altLang="zh-CN" sz="1400" dirty="0">
                <a:solidFill>
                  <a:srgbClr val="333333"/>
                </a:solidFill>
              </a:rPr>
              <a:t>	</a:t>
            </a:r>
            <a:r>
              <a:rPr lang="fr-FR" altLang="zh-CN" sz="1400" dirty="0" err="1">
                <a:solidFill>
                  <a:srgbClr val="00B050"/>
                </a:solidFill>
              </a:rPr>
              <a:t>results</a:t>
            </a:r>
            <a:r>
              <a:rPr lang="fr-FR" altLang="zh-CN" sz="1400" dirty="0" err="1">
                <a:solidFill>
                  <a:srgbClr val="333333"/>
                </a:solidFill>
              </a:rPr>
              <a:t>.add</a:t>
            </a:r>
            <a:r>
              <a:rPr lang="fr-FR" altLang="zh-CN" sz="1400" dirty="0">
                <a:solidFill>
                  <a:srgbClr val="333333"/>
                </a:solidFill>
              </a:rPr>
              <a:t>(</a:t>
            </a:r>
            <a:r>
              <a:rPr lang="fr-FR" altLang="zh-CN" sz="1400" dirty="0" err="1">
                <a:solidFill>
                  <a:srgbClr val="333333"/>
                </a:solidFill>
              </a:rPr>
              <a:t>root.val</a:t>
            </a:r>
            <a:r>
              <a:rPr lang="fr-FR" altLang="zh-CN" sz="1400" dirty="0">
                <a:solidFill>
                  <a:srgbClr val="333333"/>
                </a:solidFill>
              </a:rPr>
              <a:t>);</a:t>
            </a:r>
          </a:p>
          <a:p>
            <a:r>
              <a:rPr lang="fr-FR" altLang="zh-CN" sz="1400" dirty="0">
                <a:solidFill>
                  <a:srgbClr val="333333"/>
                </a:solidFill>
              </a:rPr>
              <a:t>}</a:t>
            </a:r>
          </a:p>
          <a:p>
            <a:r>
              <a:rPr lang="fr-FR" altLang="zh-CN" sz="1400" dirty="0">
                <a:solidFill>
                  <a:srgbClr val="A626A4"/>
                </a:solidFill>
              </a:rPr>
              <a:t>if</a:t>
            </a:r>
            <a:r>
              <a:rPr lang="fr-FR" altLang="zh-CN" sz="1400" dirty="0">
                <a:solidFill>
                  <a:srgbClr val="333333"/>
                </a:solidFill>
              </a:rPr>
              <a:t> (</a:t>
            </a:r>
            <a:r>
              <a:rPr lang="fr-FR" altLang="zh-CN" sz="1400" dirty="0" err="1">
                <a:solidFill>
                  <a:srgbClr val="333333"/>
                </a:solidFill>
              </a:rPr>
              <a:t>root.val</a:t>
            </a:r>
            <a:r>
              <a:rPr lang="fr-FR" altLang="zh-CN" sz="1400" dirty="0">
                <a:solidFill>
                  <a:srgbClr val="333333"/>
                </a:solidFill>
              </a:rPr>
              <a:t> &lt; </a:t>
            </a:r>
            <a:r>
              <a:rPr lang="en-US" altLang="zh-CN" sz="1400" dirty="0">
                <a:solidFill>
                  <a:srgbClr val="333333"/>
                </a:solidFill>
              </a:rPr>
              <a:t>r</a:t>
            </a:r>
            <a:r>
              <a:rPr lang="fr-FR" altLang="zh-CN" sz="1400" dirty="0">
                <a:solidFill>
                  <a:srgbClr val="333333"/>
                </a:solidFill>
              </a:rPr>
              <a:t>) {</a:t>
            </a:r>
          </a:p>
          <a:p>
            <a:r>
              <a:rPr lang="fr-FR" altLang="zh-CN" sz="1400" dirty="0">
                <a:solidFill>
                  <a:srgbClr val="333333"/>
                </a:solidFill>
              </a:rPr>
              <a:t>	</a:t>
            </a:r>
            <a:r>
              <a:rPr lang="en-US" altLang="zh-CN" sz="1400" dirty="0">
                <a:solidFill>
                  <a:srgbClr val="333333"/>
                </a:solidFill>
              </a:rPr>
              <a:t> </a:t>
            </a:r>
            <a:r>
              <a:rPr lang="en-US" altLang="zh-CN" sz="1400" dirty="0" err="1">
                <a:solidFill>
                  <a:srgbClr val="333333"/>
                </a:solidFill>
              </a:rPr>
              <a:t>rsearch</a:t>
            </a:r>
            <a:r>
              <a:rPr lang="fr-FR" altLang="zh-CN" sz="1400" dirty="0">
                <a:solidFill>
                  <a:srgbClr val="333333"/>
                </a:solidFill>
              </a:rPr>
              <a:t>(</a:t>
            </a:r>
            <a:r>
              <a:rPr lang="fr-FR" altLang="zh-CN" sz="1400" dirty="0" err="1">
                <a:solidFill>
                  <a:srgbClr val="333333"/>
                </a:solidFill>
              </a:rPr>
              <a:t>root.right</a:t>
            </a:r>
            <a:r>
              <a:rPr lang="fr-FR" altLang="zh-CN" sz="1400" dirty="0">
                <a:solidFill>
                  <a:srgbClr val="333333"/>
                </a:solidFill>
              </a:rPr>
              <a:t>, </a:t>
            </a:r>
            <a:r>
              <a:rPr lang="en-US" altLang="zh-CN" sz="1400" dirty="0">
                <a:solidFill>
                  <a:srgbClr val="333333"/>
                </a:solidFill>
              </a:rPr>
              <a:t>l</a:t>
            </a:r>
            <a:r>
              <a:rPr lang="fr-FR" altLang="zh-CN" sz="1400" dirty="0">
                <a:solidFill>
                  <a:srgbClr val="333333"/>
                </a:solidFill>
              </a:rPr>
              <a:t>, </a:t>
            </a:r>
            <a:r>
              <a:rPr lang="en-US" altLang="zh-CN" sz="1400" dirty="0">
                <a:solidFill>
                  <a:srgbClr val="333333"/>
                </a:solidFill>
              </a:rPr>
              <a:t>r</a:t>
            </a:r>
            <a:r>
              <a:rPr lang="fr-FR" altLang="zh-CN" sz="1400" dirty="0">
                <a:solidFill>
                  <a:srgbClr val="333333"/>
                </a:solidFill>
              </a:rPr>
              <a:t>);</a:t>
            </a:r>
          </a:p>
          <a:p>
            <a:r>
              <a:rPr lang="fr-FR" altLang="zh-CN" sz="1400" dirty="0">
                <a:solidFill>
                  <a:srgbClr val="333333"/>
                </a:solidFill>
              </a:rPr>
              <a:t>}</a:t>
            </a:r>
          </a:p>
        </p:txBody>
      </p:sp>
      <p:sp>
        <p:nvSpPr>
          <p:cNvPr id="21508" name="Content Placeholder 5">
            <a:extLst>
              <a:ext uri="{FF2B5EF4-FFF2-40B4-BE49-F238E27FC236}">
                <a16:creationId xmlns:a16="http://schemas.microsoft.com/office/drawing/2014/main" id="{D2C81A9F-97AE-EE4E-8546-96834CE519A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81200" y="1057012"/>
            <a:ext cx="8229600" cy="2095500"/>
          </a:xfrm>
        </p:spPr>
        <p:txBody>
          <a:bodyPr/>
          <a:lstStyle/>
          <a:p>
            <a:pPr eaLnBrk="1" hangingPunct="1"/>
            <a:r>
              <a:rPr lang="en-US" altLang="zh-CN" sz="26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2: </a:t>
            </a:r>
            <a:r>
              <a:rPr lang="en-US" altLang="zh-CN" sz="2600" dirty="0">
                <a:solidFill>
                  <a:schemeClr val="tx2"/>
                </a:solidFill>
                <a:ea typeface="宋体" panose="02010600030101010101" pitchFamily="2" charset="-122"/>
              </a:rPr>
              <a:t>BST</a:t>
            </a: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Search using binary search property.</a:t>
            </a: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Some subtrees are eliminated during search.</a:t>
            </a:r>
          </a:p>
          <a:p>
            <a:pPr lvl="1"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1517" name="Oval 72">
            <a:extLst>
              <a:ext uri="{FF2B5EF4-FFF2-40B4-BE49-F238E27FC236}">
                <a16:creationId xmlns:a16="http://schemas.microsoft.com/office/drawing/2014/main" id="{963ADFFE-6E95-584B-804D-719CF887C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3966" y="4273888"/>
            <a:ext cx="762000" cy="533400"/>
          </a:xfrm>
          <a:prstGeom prst="ellipse">
            <a:avLst/>
          </a:prstGeom>
          <a:solidFill>
            <a:srgbClr val="549E3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dirty="0">
                <a:latin typeface="+mn-lt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21518" name="Line 74">
            <a:extLst>
              <a:ext uri="{FF2B5EF4-FFF2-40B4-BE49-F238E27FC236}">
                <a16:creationId xmlns:a16="http://schemas.microsoft.com/office/drawing/2014/main" id="{1C366BA7-1F8A-5E4F-8F2E-4A8CC66A3A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566" y="4807288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9" name="Line 75">
            <a:extLst>
              <a:ext uri="{FF2B5EF4-FFF2-40B4-BE49-F238E27FC236}">
                <a16:creationId xmlns:a16="http://schemas.microsoft.com/office/drawing/2014/main" id="{C0720B55-F14D-5A46-92D2-C7A44261E2F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1065" y="4796444"/>
            <a:ext cx="6477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0" name="Text Box 76">
            <a:extLst>
              <a:ext uri="{FF2B5EF4-FFF2-40B4-BE49-F238E27FC236}">
                <a16:creationId xmlns:a16="http://schemas.microsoft.com/office/drawing/2014/main" id="{3B3CD591-E82E-8646-BBEA-0912F17C5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1466" y="2563417"/>
            <a:ext cx="1211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latin typeface="+mn-lt"/>
                <a:ea typeface="宋体" panose="02010600030101010101" pitchFamily="2" charset="-122"/>
              </a:rPr>
              <a:t>Range:</a:t>
            </a:r>
            <a:r>
              <a:rPr lang="zh-CN" altLang="en-US" dirty="0">
                <a:latin typeface="+mn-lt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+mn-lt"/>
                <a:ea typeface="宋体" panose="02010600030101010101" pitchFamily="2" charset="-122"/>
              </a:rPr>
              <a:t>[</a:t>
            </a:r>
            <a:r>
              <a:rPr lang="en-US" altLang="zh-CN" dirty="0" err="1">
                <a:latin typeface="+mn-lt"/>
                <a:ea typeface="宋体" panose="02010600030101010101" pitchFamily="2" charset="-122"/>
              </a:rPr>
              <a:t>l,r</a:t>
            </a:r>
            <a:r>
              <a:rPr lang="en-US" altLang="zh-CN" dirty="0">
                <a:latin typeface="+mn-lt"/>
                <a:ea typeface="宋体" panose="02010600030101010101" pitchFamily="2" charset="-122"/>
              </a:rPr>
              <a:t>]</a:t>
            </a:r>
          </a:p>
        </p:txBody>
      </p:sp>
      <p:sp>
        <p:nvSpPr>
          <p:cNvPr id="21512" name="TextBox 1">
            <a:extLst>
              <a:ext uri="{FF2B5EF4-FFF2-40B4-BE49-F238E27FC236}">
                <a16:creationId xmlns:a16="http://schemas.microsoft.com/office/drawing/2014/main" id="{CBD140F3-020C-534F-A3A2-7B7AD4018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730" y="2538017"/>
            <a:ext cx="14413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1" dirty="0">
                <a:latin typeface="+mn-lt"/>
                <a:ea typeface="宋体" panose="02010600030101010101" pitchFamily="2" charset="-122"/>
              </a:rPr>
              <a:t>Search using:</a:t>
            </a:r>
          </a:p>
        </p:txBody>
      </p:sp>
      <p:sp>
        <p:nvSpPr>
          <p:cNvPr id="21513" name="TextBox 1">
            <a:extLst>
              <a:ext uri="{FF2B5EF4-FFF2-40B4-BE49-F238E27FC236}">
                <a16:creationId xmlns:a16="http://schemas.microsoft.com/office/drawing/2014/main" id="{735510B0-4569-E445-BC7D-2611CFF06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2176" y="4808689"/>
            <a:ext cx="11976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1" dirty="0">
                <a:latin typeface="+mn-lt"/>
                <a:ea typeface="宋体" panose="02010600030101010101" pitchFamily="2" charset="-122"/>
              </a:rPr>
              <a:t>Search</a:t>
            </a:r>
            <a:r>
              <a:rPr lang="zh-CN" altLang="en-US" b="1" dirty="0">
                <a:latin typeface="+mn-lt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+mn-lt"/>
                <a:ea typeface="宋体" panose="02010600030101010101" pitchFamily="2" charset="-122"/>
              </a:rPr>
              <a:t>left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15" name="TextBox 2">
                <a:extLst>
                  <a:ext uri="{FF2B5EF4-FFF2-40B4-BE49-F238E27FC236}">
                    <a16:creationId xmlns:a16="http://schemas.microsoft.com/office/drawing/2014/main" id="{1FF8BF84-B649-3344-8361-7BAE860303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46260" y="4547686"/>
                <a:ext cx="79630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dirty="0">
                    <a:latin typeface="+mn-lt"/>
                    <a:ea typeface="宋体" panose="02010600030101010101" pitchFamily="2" charset="-122"/>
                  </a:rPr>
                  <a:t>If</a:t>
                </a:r>
                <a:r>
                  <a:rPr lang="zh-CN" altLang="en-US" dirty="0">
                    <a:latin typeface="+mn-lt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𝑙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</m:oMath>
                </a14:m>
                <a:r>
                  <a:rPr lang="en-US" altLang="zh-CN" i="1" dirty="0"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</a:p>
            </p:txBody>
          </p:sp>
        </mc:Choice>
        <mc:Fallback xmlns="">
          <p:sp>
            <p:nvSpPr>
              <p:cNvPr id="21515" name="TextBox 2">
                <a:extLst>
                  <a:ext uri="{FF2B5EF4-FFF2-40B4-BE49-F238E27FC236}">
                    <a16:creationId xmlns:a16="http://schemas.microsoft.com/office/drawing/2014/main" id="{1FF8BF84-B649-3344-8361-7BAE86030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46260" y="4547686"/>
                <a:ext cx="796308" cy="369332"/>
              </a:xfrm>
              <a:prstGeom prst="rect">
                <a:avLst/>
              </a:prstGeom>
              <a:blipFill>
                <a:blip r:embed="rId3"/>
                <a:stretch>
                  <a:fillRect l="-6107" t="-8197" r="-3053" b="-245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D5D93D6D-0773-5643-A61A-84E09C294B2C}"/>
              </a:ext>
            </a:extLst>
          </p:cNvPr>
          <p:cNvSpPr txBox="1"/>
          <p:nvPr/>
        </p:nvSpPr>
        <p:spPr>
          <a:xfrm>
            <a:off x="8086835" y="390455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cs typeface="Times New Roman" panose="02020603050405020304" pitchFamily="18" charset="0"/>
              </a:rPr>
              <a:t>l,r</a:t>
            </a:r>
            <a:endParaRPr lang="en-US" i="1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">
                <a:extLst>
                  <a:ext uri="{FF2B5EF4-FFF2-40B4-BE49-F238E27FC236}">
                    <a16:creationId xmlns:a16="http://schemas.microsoft.com/office/drawing/2014/main" id="{2BB4786C-96FB-E946-82D7-D57AD8E257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27712" y="4501748"/>
                <a:ext cx="83093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dirty="0">
                    <a:latin typeface="+mn-lt"/>
                    <a:ea typeface="宋体" panose="02010600030101010101" pitchFamily="2" charset="-122"/>
                  </a:rPr>
                  <a:t>If</a:t>
                </a:r>
                <a:r>
                  <a:rPr lang="zh-CN" altLang="en-US" dirty="0">
                    <a:latin typeface="+mn-lt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zh-CN" i="1" dirty="0"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</a:p>
            </p:txBody>
          </p:sp>
        </mc:Choice>
        <mc:Fallback xmlns="">
          <p:sp>
            <p:nvSpPr>
              <p:cNvPr id="24" name="TextBox 2">
                <a:extLst>
                  <a:ext uri="{FF2B5EF4-FFF2-40B4-BE49-F238E27FC236}">
                    <a16:creationId xmlns:a16="http://schemas.microsoft.com/office/drawing/2014/main" id="{2BB4786C-96FB-E946-82D7-D57AD8E25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27712" y="4501748"/>
                <a:ext cx="830933" cy="369332"/>
              </a:xfrm>
              <a:prstGeom prst="rect">
                <a:avLst/>
              </a:prstGeom>
              <a:blipFill>
                <a:blip r:embed="rId4"/>
                <a:stretch>
                  <a:fillRect l="-6618" t="-8197" r="-2941" b="-245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E89E67AD-F82C-504A-8E93-8AE9C9A2836B}"/>
              </a:ext>
            </a:extLst>
          </p:cNvPr>
          <p:cNvSpPr txBox="1"/>
          <p:nvPr/>
        </p:nvSpPr>
        <p:spPr>
          <a:xfrm>
            <a:off x="1981200" y="2922656"/>
            <a:ext cx="3442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/>
              <a:t>Prepare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array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save</a:t>
            </a:r>
            <a:r>
              <a:rPr lang="zh-CN" altLang="en-US" dirty="0"/>
              <a:t> </a:t>
            </a:r>
            <a:r>
              <a:rPr lang="en-US" altLang="zh-CN" dirty="0"/>
              <a:t>result.</a:t>
            </a:r>
          </a:p>
          <a:p>
            <a:pPr marL="342900" indent="-342900">
              <a:buAutoNum type="arabicPeriod"/>
            </a:pPr>
            <a:r>
              <a:rPr lang="en-US" altLang="zh-CN" dirty="0"/>
              <a:t>Recursively</a:t>
            </a:r>
            <a:r>
              <a:rPr lang="zh-CN" altLang="en-US" dirty="0"/>
              <a:t> </a:t>
            </a:r>
            <a:r>
              <a:rPr lang="en-US" altLang="zh-CN" dirty="0"/>
              <a:t>search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65" name="Oval 72">
            <a:extLst>
              <a:ext uri="{FF2B5EF4-FFF2-40B4-BE49-F238E27FC236}">
                <a16:creationId xmlns:a16="http://schemas.microsoft.com/office/drawing/2014/main" id="{6FBB26FF-2FDA-2040-90CE-C26926EFE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028" y="5152579"/>
            <a:ext cx="762000" cy="533400"/>
          </a:xfrm>
          <a:prstGeom prst="ellipse">
            <a:avLst/>
          </a:prstGeom>
          <a:solidFill>
            <a:srgbClr val="549E3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>
                <a:latin typeface="+mn-lt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66" name="Line 74">
            <a:extLst>
              <a:ext uri="{FF2B5EF4-FFF2-40B4-BE49-F238E27FC236}">
                <a16:creationId xmlns:a16="http://schemas.microsoft.com/office/drawing/2014/main" id="{7134650D-2BB7-E34E-8B45-678CCF6D79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19428" y="5668689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74">
            <a:extLst>
              <a:ext uri="{FF2B5EF4-FFF2-40B4-BE49-F238E27FC236}">
                <a16:creationId xmlns:a16="http://schemas.microsoft.com/office/drawing/2014/main" id="{EA53635D-39E6-834C-8EE5-3360C92E5B2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37299" y="5616163"/>
            <a:ext cx="384532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Oval 72">
            <a:extLst>
              <a:ext uri="{FF2B5EF4-FFF2-40B4-BE49-F238E27FC236}">
                <a16:creationId xmlns:a16="http://schemas.microsoft.com/office/drawing/2014/main" id="{D573278A-B5C5-D14D-A753-4DB16DE9A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0064" y="5191165"/>
            <a:ext cx="762000" cy="533400"/>
          </a:xfrm>
          <a:prstGeom prst="ellipse">
            <a:avLst/>
          </a:prstGeom>
          <a:solidFill>
            <a:srgbClr val="549E3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>
                <a:latin typeface="+mn-lt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69" name="TextBox 1">
            <a:extLst>
              <a:ext uri="{FF2B5EF4-FFF2-40B4-BE49-F238E27FC236}">
                <a16:creationId xmlns:a16="http://schemas.microsoft.com/office/drawing/2014/main" id="{342ABDC9-A723-CF47-A327-E37690283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9858" y="4780825"/>
            <a:ext cx="13222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1" dirty="0">
                <a:latin typeface="+mn-lt"/>
                <a:ea typeface="宋体" panose="02010600030101010101" pitchFamily="2" charset="-122"/>
              </a:rPr>
              <a:t>Search</a:t>
            </a:r>
            <a:r>
              <a:rPr lang="zh-CN" altLang="en-US" b="1" dirty="0">
                <a:latin typeface="+mn-lt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+mn-lt"/>
                <a:ea typeface="宋体" panose="02010600030101010101" pitchFamily="2" charset="-122"/>
              </a:rPr>
              <a:t>right</a:t>
            </a:r>
          </a:p>
        </p:txBody>
      </p:sp>
      <p:sp>
        <p:nvSpPr>
          <p:cNvPr id="70" name="Line 74">
            <a:extLst>
              <a:ext uri="{FF2B5EF4-FFF2-40B4-BE49-F238E27FC236}">
                <a16:creationId xmlns:a16="http://schemas.microsoft.com/office/drawing/2014/main" id="{41F56675-AB87-3C48-A4D0-D6CC7DB4EF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530763" y="5658196"/>
            <a:ext cx="384532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Line 74">
            <a:extLst>
              <a:ext uri="{FF2B5EF4-FFF2-40B4-BE49-F238E27FC236}">
                <a16:creationId xmlns:a16="http://schemas.microsoft.com/office/drawing/2014/main" id="{7A166F4B-CADD-FE4F-94FA-C61B8AD18F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89031" y="5724565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TextBox 1">
            <a:extLst>
              <a:ext uri="{FF2B5EF4-FFF2-40B4-BE49-F238E27FC236}">
                <a16:creationId xmlns:a16="http://schemas.microsoft.com/office/drawing/2014/main" id="{9E3479DB-DBDA-E444-9B30-8B7020E6B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492" y="6193972"/>
            <a:ext cx="28705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1" dirty="0">
                <a:latin typeface="+mn-lt"/>
                <a:ea typeface="宋体" panose="02010600030101010101" pitchFamily="2" charset="-122"/>
              </a:rPr>
              <a:t>Otherwise</a:t>
            </a:r>
            <a:r>
              <a:rPr lang="zh-CN" altLang="en-US" b="1" dirty="0">
                <a:latin typeface="+mn-lt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+mn-lt"/>
                <a:ea typeface="宋体" panose="02010600030101010101" pitchFamily="2" charset="-122"/>
              </a:rPr>
              <a:t>add</a:t>
            </a:r>
            <a:r>
              <a:rPr lang="zh-CN" altLang="en-US" b="1" dirty="0">
                <a:latin typeface="+mn-lt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+mn-lt"/>
                <a:ea typeface="宋体" panose="02010600030101010101" pitchFamily="2" charset="-122"/>
              </a:rPr>
              <a:t>x</a:t>
            </a:r>
            <a:r>
              <a:rPr lang="zh-CN" altLang="en-US" b="1" dirty="0">
                <a:latin typeface="+mn-lt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+mn-lt"/>
                <a:ea typeface="宋体" panose="02010600030101010101" pitchFamily="2" charset="-122"/>
              </a:rPr>
              <a:t>into</a:t>
            </a:r>
            <a:r>
              <a:rPr lang="zh-CN" altLang="en-US" b="1" dirty="0">
                <a:latin typeface="+mn-lt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+mn-lt"/>
                <a:ea typeface="宋体" panose="02010600030101010101" pitchFamily="2" charset="-122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35D3B7-3177-A274-962B-281F392B33ED}"/>
              </a:ext>
            </a:extLst>
          </p:cNvPr>
          <p:cNvSpPr txBox="1"/>
          <p:nvPr/>
        </p:nvSpPr>
        <p:spPr>
          <a:xfrm>
            <a:off x="380723" y="299408"/>
            <a:ext cx="3457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7814B81C-5DF6-2837-703E-61D7A4CF5FA9}"/>
              </a:ext>
            </a:extLst>
          </p:cNvPr>
          <p:cNvSpPr/>
          <p:nvPr/>
        </p:nvSpPr>
        <p:spPr>
          <a:xfrm>
            <a:off x="238663" y="311105"/>
            <a:ext cx="370945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30555F-6B6A-6D22-536A-FFE38827704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21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>
            <a:extLst>
              <a:ext uri="{FF2B5EF4-FFF2-40B4-BE49-F238E27FC236}">
                <a16:creationId xmlns:a16="http://schemas.microsoft.com/office/drawing/2014/main" id="{9DB7B701-847D-5E48-86C4-C0EE104EDCE7}"/>
              </a:ext>
            </a:extLst>
          </p:cNvPr>
          <p:cNvGrpSpPr>
            <a:grpSpLocks/>
          </p:cNvGrpSpPr>
          <p:nvPr/>
        </p:nvGrpSpPr>
        <p:grpSpPr bwMode="auto">
          <a:xfrm>
            <a:off x="3043147" y="2108705"/>
            <a:ext cx="5924550" cy="2108200"/>
            <a:chOff x="1508125" y="2451100"/>
            <a:chExt cx="5924550" cy="21082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04E6268-A274-884B-AB99-FD002687BE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490"/>
            <a:stretch>
              <a:fillRect/>
            </a:stretch>
          </p:blipFill>
          <p:spPr bwMode="auto">
            <a:xfrm>
              <a:off x="1508125" y="2451100"/>
              <a:ext cx="5924550" cy="1930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1E135659-D1FB-F747-9338-E39526AFAD75}"/>
                </a:ext>
              </a:extLst>
            </p:cNvPr>
            <p:cNvSpPr/>
            <p:nvPr/>
          </p:nvSpPr>
          <p:spPr>
            <a:xfrm>
              <a:off x="3759200" y="3746500"/>
              <a:ext cx="431800" cy="812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FF0F3384-321E-AF4E-B1F4-38B257223BEE}"/>
                </a:ext>
              </a:extLst>
            </p:cNvPr>
            <p:cNvSpPr/>
            <p:nvPr/>
          </p:nvSpPr>
          <p:spPr>
            <a:xfrm>
              <a:off x="5829300" y="3746500"/>
              <a:ext cx="723900" cy="812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8" name="Rectangle 18">
            <a:extLst>
              <a:ext uri="{FF2B5EF4-FFF2-40B4-BE49-F238E27FC236}">
                <a16:creationId xmlns:a16="http://schemas.microsoft.com/office/drawing/2014/main" id="{A63FD3E9-DD87-6A4A-9963-3AD6B105E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452" y="4132552"/>
            <a:ext cx="37508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1" dirty="0">
                <a:latin typeface="+mn-lt"/>
                <a:ea typeface="宋体" panose="02010600030101010101" pitchFamily="2" charset="-122"/>
              </a:rPr>
              <a:t>Example:</a:t>
            </a:r>
            <a:r>
              <a:rPr lang="en-US" altLang="zh-CN" dirty="0">
                <a:latin typeface="+mn-lt"/>
                <a:ea typeface="宋体" panose="02010600030101010101" pitchFamily="2" charset="-122"/>
              </a:rPr>
              <a:t> retrieve all points in [25, 90]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C7C33D-4BB6-CA45-8E49-C950555E755A}"/>
              </a:ext>
            </a:extLst>
          </p:cNvPr>
          <p:cNvSpPr txBox="1"/>
          <p:nvPr/>
        </p:nvSpPr>
        <p:spPr>
          <a:xfrm>
            <a:off x="2817117" y="4805082"/>
            <a:ext cx="1075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Results</a:t>
            </a:r>
            <a:endParaRPr 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2977679-D57C-A240-B77D-BAE39085517A}"/>
              </a:ext>
            </a:extLst>
          </p:cNvPr>
          <p:cNvSpPr txBox="1"/>
          <p:nvPr/>
        </p:nvSpPr>
        <p:spPr>
          <a:xfrm>
            <a:off x="5298131" y="1784009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[25,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90]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6903AC-962B-9A43-A86D-A9FEBC98BB02}"/>
              </a:ext>
            </a:extLst>
          </p:cNvPr>
          <p:cNvSpPr/>
          <p:nvPr/>
        </p:nvSpPr>
        <p:spPr>
          <a:xfrm>
            <a:off x="4053699" y="4841040"/>
            <a:ext cx="441788" cy="389746"/>
          </a:xfrm>
          <a:prstGeom prst="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30</a:t>
            </a:r>
            <a:endParaRPr 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CE2C45-0164-D34D-BC5E-9F4EB9F789BB}"/>
              </a:ext>
            </a:extLst>
          </p:cNvPr>
          <p:cNvSpPr txBox="1"/>
          <p:nvPr/>
        </p:nvSpPr>
        <p:spPr>
          <a:xfrm>
            <a:off x="4024846" y="2307027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[25,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90]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C39F27-18FF-D245-806E-B85062F8BE73}"/>
              </a:ext>
            </a:extLst>
          </p:cNvPr>
          <p:cNvSpPr/>
          <p:nvPr/>
        </p:nvSpPr>
        <p:spPr>
          <a:xfrm>
            <a:off x="4495486" y="4840704"/>
            <a:ext cx="441788" cy="389746"/>
          </a:xfrm>
          <a:prstGeom prst="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37</a:t>
            </a:r>
            <a:endParaRPr 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569367C-42B2-A547-A06C-56CCCE61A5DA}"/>
              </a:ext>
            </a:extLst>
          </p:cNvPr>
          <p:cNvSpPr/>
          <p:nvPr/>
        </p:nvSpPr>
        <p:spPr>
          <a:xfrm>
            <a:off x="4944385" y="4840704"/>
            <a:ext cx="441788" cy="389746"/>
          </a:xfrm>
          <a:prstGeom prst="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49</a:t>
            </a:r>
            <a:endParaRPr 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16CA8D5-6225-1146-A2C0-AC4B84662947}"/>
              </a:ext>
            </a:extLst>
          </p:cNvPr>
          <p:cNvSpPr/>
          <p:nvPr/>
        </p:nvSpPr>
        <p:spPr>
          <a:xfrm>
            <a:off x="5396447" y="4840704"/>
            <a:ext cx="441788" cy="389746"/>
          </a:xfrm>
          <a:prstGeom prst="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59</a:t>
            </a:r>
            <a:endParaRPr 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4D7767-C796-6448-B31B-6D049B603B11}"/>
              </a:ext>
            </a:extLst>
          </p:cNvPr>
          <p:cNvSpPr/>
          <p:nvPr/>
        </p:nvSpPr>
        <p:spPr>
          <a:xfrm>
            <a:off x="5835809" y="4840704"/>
            <a:ext cx="441788" cy="389746"/>
          </a:xfrm>
          <a:prstGeom prst="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62</a:t>
            </a:r>
            <a:endParaRPr 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168E22-445E-B742-A8D8-6552F71AFE3E}"/>
              </a:ext>
            </a:extLst>
          </p:cNvPr>
          <p:cNvSpPr txBox="1"/>
          <p:nvPr/>
        </p:nvSpPr>
        <p:spPr>
          <a:xfrm>
            <a:off x="4839733" y="2754461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[25,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90]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38B90C-4E4C-B643-A8CA-4698E5954A3A}"/>
              </a:ext>
            </a:extLst>
          </p:cNvPr>
          <p:cNvSpPr/>
          <p:nvPr/>
        </p:nvSpPr>
        <p:spPr>
          <a:xfrm>
            <a:off x="6277471" y="4840704"/>
            <a:ext cx="441788" cy="389746"/>
          </a:xfrm>
          <a:prstGeom prst="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70</a:t>
            </a:r>
            <a:endParaRPr 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ADCC158-A0C9-F946-8E2A-2F942EF6D5F0}"/>
              </a:ext>
            </a:extLst>
          </p:cNvPr>
          <p:cNvSpPr/>
          <p:nvPr/>
        </p:nvSpPr>
        <p:spPr>
          <a:xfrm>
            <a:off x="6715541" y="4840704"/>
            <a:ext cx="441788" cy="389746"/>
          </a:xfrm>
          <a:prstGeom prst="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80</a:t>
            </a:r>
            <a:endParaRPr 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C50BADD-9D53-E646-BB57-6019A45AEFBD}"/>
              </a:ext>
            </a:extLst>
          </p:cNvPr>
          <p:cNvSpPr/>
          <p:nvPr/>
        </p:nvSpPr>
        <p:spPr>
          <a:xfrm>
            <a:off x="7156195" y="4840704"/>
            <a:ext cx="441788" cy="389746"/>
          </a:xfrm>
          <a:prstGeom prst="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89</a:t>
            </a:r>
            <a:endParaRPr 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21079A6-DB2C-6D48-87EF-D29B80BDD9E4}"/>
              </a:ext>
            </a:extLst>
          </p:cNvPr>
          <p:cNvSpPr txBox="1"/>
          <p:nvPr/>
        </p:nvSpPr>
        <p:spPr>
          <a:xfrm>
            <a:off x="4223997" y="3355581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[25,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90]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A6A68C-3E80-444D-BC97-082218E5A343}"/>
              </a:ext>
            </a:extLst>
          </p:cNvPr>
          <p:cNvSpPr txBox="1"/>
          <p:nvPr/>
        </p:nvSpPr>
        <p:spPr>
          <a:xfrm>
            <a:off x="2395702" y="5626278"/>
            <a:ext cx="7645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time complexity is </a:t>
            </a:r>
            <a:r>
              <a:rPr lang="en-US" sz="2000" dirty="0">
                <a:solidFill>
                  <a:srgbClr val="C00000"/>
                </a:solidFill>
              </a:rPr>
              <a:t>O(</a:t>
            </a:r>
            <a:r>
              <a:rPr lang="en-US" sz="2000" dirty="0" err="1">
                <a:solidFill>
                  <a:srgbClr val="C00000"/>
                </a:solidFill>
              </a:rPr>
              <a:t>logn</a:t>
            </a:r>
            <a:r>
              <a:rPr lang="en-US" sz="2000" dirty="0">
                <a:solidFill>
                  <a:srgbClr val="C00000"/>
                </a:solidFill>
              </a:rPr>
              <a:t> + k)</a:t>
            </a:r>
            <a:r>
              <a:rPr lang="en-US" sz="2000" dirty="0"/>
              <a:t>, where k is the number in the range</a:t>
            </a:r>
            <a:r>
              <a:rPr lang="en-US" sz="2000" i="1" dirty="0"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0D540C9-BFEF-AA4A-98EC-B6C3DBDF43D3}"/>
              </a:ext>
            </a:extLst>
          </p:cNvPr>
          <p:cNvSpPr txBox="1"/>
          <p:nvPr/>
        </p:nvSpPr>
        <p:spPr>
          <a:xfrm>
            <a:off x="7030715" y="2307027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[25,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90]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50AB68A-17EE-154F-820C-DA7AF82DA96F}"/>
              </a:ext>
            </a:extLst>
          </p:cNvPr>
          <p:cNvSpPr txBox="1"/>
          <p:nvPr/>
        </p:nvSpPr>
        <p:spPr>
          <a:xfrm>
            <a:off x="6005423" y="2793212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[25,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90]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E8AE582-E9C5-DC44-A61F-9C4A2040586D}"/>
              </a:ext>
            </a:extLst>
          </p:cNvPr>
          <p:cNvSpPr txBox="1"/>
          <p:nvPr/>
        </p:nvSpPr>
        <p:spPr>
          <a:xfrm>
            <a:off x="5549044" y="3367836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[25,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90]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281816E-3A21-DF45-82E1-E9CE2153375C}"/>
              </a:ext>
            </a:extLst>
          </p:cNvPr>
          <p:cNvSpPr txBox="1"/>
          <p:nvPr/>
        </p:nvSpPr>
        <p:spPr>
          <a:xfrm>
            <a:off x="6702948" y="3344183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[25,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90]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A5F8760-F80E-FD40-9F5A-07173CE03DBF}"/>
              </a:ext>
            </a:extLst>
          </p:cNvPr>
          <p:cNvSpPr txBox="1"/>
          <p:nvPr/>
        </p:nvSpPr>
        <p:spPr>
          <a:xfrm>
            <a:off x="7994572" y="2818932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[25,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90]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056DDCA-E788-254B-BB54-1294D0E50B4E}"/>
              </a:ext>
            </a:extLst>
          </p:cNvPr>
          <p:cNvSpPr txBox="1"/>
          <p:nvPr/>
        </p:nvSpPr>
        <p:spPr>
          <a:xfrm>
            <a:off x="2196956" y="108455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2: 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BST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58A308-731E-038D-870F-4FD470442D98}"/>
              </a:ext>
            </a:extLst>
          </p:cNvPr>
          <p:cNvSpPr txBox="1"/>
          <p:nvPr/>
        </p:nvSpPr>
        <p:spPr>
          <a:xfrm>
            <a:off x="380723" y="299408"/>
            <a:ext cx="3457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5" name="圆角矩形 8">
            <a:extLst>
              <a:ext uri="{FF2B5EF4-FFF2-40B4-BE49-F238E27FC236}">
                <a16:creationId xmlns:a16="http://schemas.microsoft.com/office/drawing/2014/main" id="{B91724E6-614C-B2A1-F67C-17D9544EC1DC}"/>
              </a:ext>
            </a:extLst>
          </p:cNvPr>
          <p:cNvSpPr/>
          <p:nvPr/>
        </p:nvSpPr>
        <p:spPr>
          <a:xfrm>
            <a:off x="238663" y="311105"/>
            <a:ext cx="370945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79B6A683-E847-A789-9DB0-86D12D46A312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22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38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/>
      <p:bldP spid="16" grpId="0" animBg="1"/>
      <p:bldP spid="20" grpId="0" animBg="1"/>
      <p:bldP spid="21" grpId="0" animBg="1"/>
      <p:bldP spid="22" grpId="0" animBg="1"/>
      <p:bldP spid="23" grpId="0"/>
      <p:bldP spid="27" grpId="0" animBg="1"/>
      <p:bldP spid="28" grpId="0" animBg="1"/>
      <p:bldP spid="29" grpId="0" animBg="1"/>
      <p:bldP spid="30" grpId="0"/>
      <p:bldP spid="31" grpId="0"/>
      <p:bldP spid="24" grpId="0"/>
      <p:bldP spid="25" grpId="0"/>
      <p:bldP spid="26" grpId="0"/>
      <p:bldP spid="32" grpId="0"/>
      <p:bldP spid="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Content Placeholder 5">
            <a:extLst>
              <a:ext uri="{FF2B5EF4-FFF2-40B4-BE49-F238E27FC236}">
                <a16:creationId xmlns:a16="http://schemas.microsoft.com/office/drawing/2014/main" id="{6ED749EA-CA67-E84C-B782-DAB490C9509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8507" y="1303556"/>
            <a:ext cx="11484528" cy="2095500"/>
          </a:xfrm>
        </p:spPr>
        <p:txBody>
          <a:bodyPr/>
          <a:lstStyle/>
          <a:p>
            <a:pPr eaLnBrk="1" hangingPunct="1"/>
            <a:r>
              <a:rPr lang="en-US" altLang="zh-CN" sz="26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3: </a:t>
            </a:r>
            <a:r>
              <a:rPr lang="en-US" altLang="zh-CN" sz="2600" dirty="0">
                <a:solidFill>
                  <a:schemeClr val="tx2"/>
                </a:solidFill>
                <a:ea typeface="宋体" panose="02010600030101010101" pitchFamily="2" charset="-122"/>
              </a:rPr>
              <a:t>BST with data stored in leaves</a:t>
            </a: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Internal nodes store splitting values (i.e., not necessarily same as data). </a:t>
            </a: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Data points are stored in the leaf nodes.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2533" name="Picture 4">
            <a:extLst>
              <a:ext uri="{FF2B5EF4-FFF2-40B4-BE49-F238E27FC236}">
                <a16:creationId xmlns:a16="http://schemas.microsoft.com/office/drawing/2014/main" id="{C6F9EE1C-718F-424D-9325-9E505EA6F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425" y="3098800"/>
            <a:ext cx="59245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C63B8F9-C53B-38AF-1023-07071EFDDC85}"/>
              </a:ext>
            </a:extLst>
          </p:cNvPr>
          <p:cNvSpPr txBox="1"/>
          <p:nvPr/>
        </p:nvSpPr>
        <p:spPr>
          <a:xfrm>
            <a:off x="380723" y="299408"/>
            <a:ext cx="3457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A697C191-9D74-CD71-378C-5CB6DF25E935}"/>
              </a:ext>
            </a:extLst>
          </p:cNvPr>
          <p:cNvSpPr/>
          <p:nvPr/>
        </p:nvSpPr>
        <p:spPr>
          <a:xfrm>
            <a:off x="238663" y="311105"/>
            <a:ext cx="370945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64C42E-1A62-9953-8F83-D98CD2357DC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23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EC5567-330E-CD5C-2086-2FD518475FB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65F4A4-30A1-5042-8B5E-8B271BDDEE35}"/>
              </a:ext>
            </a:extLst>
          </p:cNvPr>
          <p:cNvCxnSpPr/>
          <p:nvPr/>
        </p:nvCxnSpPr>
        <p:spPr>
          <a:xfrm flipV="1">
            <a:off x="2438806" y="2416929"/>
            <a:ext cx="6680200" cy="76200"/>
          </a:xfrm>
          <a:prstGeom prst="line">
            <a:avLst/>
          </a:prstGeom>
          <a:ln w="38100">
            <a:solidFill>
              <a:srgbClr val="549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7" name="TextBox 7">
            <a:extLst>
              <a:ext uri="{FF2B5EF4-FFF2-40B4-BE49-F238E27FC236}">
                <a16:creationId xmlns:a16="http://schemas.microsoft.com/office/drawing/2014/main" id="{4D2F266C-1854-B248-B74C-77622A0CA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643" y="2785229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3558" name="TextBox 8">
            <a:extLst>
              <a:ext uri="{FF2B5EF4-FFF2-40B4-BE49-F238E27FC236}">
                <a16:creationId xmlns:a16="http://schemas.microsoft.com/office/drawing/2014/main" id="{DA52FF95-B6CC-F549-8A7A-79DA46A85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681" y="2728079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664D45-7602-8746-A300-D424DD204862}"/>
              </a:ext>
            </a:extLst>
          </p:cNvPr>
          <p:cNvCxnSpPr/>
          <p:nvPr/>
        </p:nvCxnSpPr>
        <p:spPr>
          <a:xfrm>
            <a:off x="5817006" y="1943854"/>
            <a:ext cx="0" cy="1098550"/>
          </a:xfrm>
          <a:prstGeom prst="line">
            <a:avLst/>
          </a:prstGeom>
          <a:ln>
            <a:solidFill>
              <a:srgbClr val="549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55403B-C0CF-A245-BA01-21A59568306A}"/>
              </a:ext>
            </a:extLst>
          </p:cNvPr>
          <p:cNvCxnSpPr/>
          <p:nvPr/>
        </p:nvCxnSpPr>
        <p:spPr>
          <a:xfrm>
            <a:off x="4077106" y="1943854"/>
            <a:ext cx="0" cy="1098550"/>
          </a:xfrm>
          <a:prstGeom prst="line">
            <a:avLst/>
          </a:prstGeom>
          <a:ln>
            <a:solidFill>
              <a:srgbClr val="549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57F0336-036A-4245-B4EF-0127F7E4D6DD}"/>
              </a:ext>
            </a:extLst>
          </p:cNvPr>
          <p:cNvCxnSpPr/>
          <p:nvPr/>
        </p:nvCxnSpPr>
        <p:spPr>
          <a:xfrm>
            <a:off x="7595006" y="1943854"/>
            <a:ext cx="0" cy="1098550"/>
          </a:xfrm>
          <a:prstGeom prst="line">
            <a:avLst/>
          </a:prstGeom>
          <a:ln>
            <a:solidFill>
              <a:srgbClr val="549E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49112D-72D3-EE41-A0A2-3CC6F8A63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2382" y="3155117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4CE982-0395-1249-B15B-CD5DB4750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6443" y="3155117"/>
            <a:ext cx="439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E97BCB-8F18-3B4A-9A70-9056E6652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343" y="3155117"/>
            <a:ext cx="439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75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B30C1C-E760-DB42-B492-7EE5B1FAC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643" y="4418767"/>
            <a:ext cx="2338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Data: 10, 39, 55, 120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371E27-D538-1F45-AF5A-A106E91EED8B}"/>
              </a:ext>
            </a:extLst>
          </p:cNvPr>
          <p:cNvGrpSpPr>
            <a:grpSpLocks/>
          </p:cNvGrpSpPr>
          <p:nvPr/>
        </p:nvGrpSpPr>
        <p:grpSpPr bwMode="auto">
          <a:xfrm>
            <a:off x="5863043" y="3820279"/>
            <a:ext cx="1951038" cy="1201738"/>
            <a:chOff x="4394200" y="3575050"/>
            <a:chExt cx="1951038" cy="120173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170BAC5-9815-1447-8FFD-C4F965E98688}"/>
                </a:ext>
              </a:extLst>
            </p:cNvPr>
            <p:cNvSpPr/>
            <p:nvPr/>
          </p:nvSpPr>
          <p:spPr>
            <a:xfrm>
              <a:off x="5143500" y="3575050"/>
              <a:ext cx="508000" cy="482600"/>
            </a:xfrm>
            <a:prstGeom prst="ellipse">
              <a:avLst/>
            </a:prstGeom>
            <a:solidFill>
              <a:srgbClr val="549E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1CDA5D0-5CFE-B342-AAAB-85A4D63CC7A5}"/>
                </a:ext>
              </a:extLst>
            </p:cNvPr>
            <p:cNvSpPr/>
            <p:nvPr/>
          </p:nvSpPr>
          <p:spPr>
            <a:xfrm>
              <a:off x="4394200" y="4287838"/>
              <a:ext cx="508000" cy="482600"/>
            </a:xfrm>
            <a:prstGeom prst="ellipse">
              <a:avLst/>
            </a:prstGeom>
            <a:solidFill>
              <a:srgbClr val="549E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5A03E96-9EBC-F24F-B574-459A0D16CB94}"/>
                </a:ext>
              </a:extLst>
            </p:cNvPr>
            <p:cNvSpPr/>
            <p:nvPr/>
          </p:nvSpPr>
          <p:spPr>
            <a:xfrm>
              <a:off x="5837238" y="4294188"/>
              <a:ext cx="508000" cy="482600"/>
            </a:xfrm>
            <a:prstGeom prst="ellipse">
              <a:avLst/>
            </a:prstGeom>
            <a:solidFill>
              <a:srgbClr val="549E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3582" name="Rectangle 22">
              <a:extLst>
                <a:ext uri="{FF2B5EF4-FFF2-40B4-BE49-F238E27FC236}">
                  <a16:creationId xmlns:a16="http://schemas.microsoft.com/office/drawing/2014/main" id="{6FEBB881-90B0-EC47-BC0D-E2B1E63E0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838" y="3613150"/>
              <a:ext cx="4413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panose="02010600030101010101" pitchFamily="2" charset="-122"/>
                </a:rPr>
                <a:t>50</a:t>
              </a:r>
            </a:p>
          </p:txBody>
        </p:sp>
        <p:sp>
          <p:nvSpPr>
            <p:cNvPr id="23583" name="TextBox 23">
              <a:extLst>
                <a:ext uri="{FF2B5EF4-FFF2-40B4-BE49-F238E27FC236}">
                  <a16:creationId xmlns:a16="http://schemas.microsoft.com/office/drawing/2014/main" id="{15A4E45F-C323-CD4D-9E91-639AD8699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538" y="4344988"/>
              <a:ext cx="4413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dirty="0">
                  <a:ea typeface="宋体" panose="02010600030101010101" pitchFamily="2" charset="-122"/>
                </a:rPr>
                <a:t>25</a:t>
              </a:r>
            </a:p>
          </p:txBody>
        </p:sp>
        <p:sp>
          <p:nvSpPr>
            <p:cNvPr id="23584" name="TextBox 24">
              <a:extLst>
                <a:ext uri="{FF2B5EF4-FFF2-40B4-BE49-F238E27FC236}">
                  <a16:creationId xmlns:a16="http://schemas.microsoft.com/office/drawing/2014/main" id="{A7FC5C56-9930-F647-8965-3AC23E746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2638" y="4344988"/>
              <a:ext cx="4413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dirty="0">
                  <a:ea typeface="宋体" panose="02010600030101010101" pitchFamily="2" charset="-122"/>
                </a:rPr>
                <a:t>75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7BF0C44-46F8-584A-B650-ECF97EAB943B}"/>
                </a:ext>
              </a:extLst>
            </p:cNvPr>
            <p:cNvCxnSpPr>
              <a:stCxn id="20" idx="4"/>
              <a:endCxn id="21" idx="0"/>
            </p:cNvCxnSpPr>
            <p:nvPr/>
          </p:nvCxnSpPr>
          <p:spPr>
            <a:xfrm flipH="1">
              <a:off x="4648200" y="4057650"/>
              <a:ext cx="749300" cy="230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A55E7C2-7327-A84B-9264-3CC1227E647D}"/>
                </a:ext>
              </a:extLst>
            </p:cNvPr>
            <p:cNvCxnSpPr>
              <a:stCxn id="20" idx="4"/>
              <a:endCxn id="22" idx="0"/>
            </p:cNvCxnSpPr>
            <p:nvPr/>
          </p:nvCxnSpPr>
          <p:spPr>
            <a:xfrm>
              <a:off x="5397500" y="4057650"/>
              <a:ext cx="693738" cy="236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5146CA2-3FE5-C448-8A1B-A409FB7ACA3D}"/>
              </a:ext>
            </a:extLst>
          </p:cNvPr>
          <p:cNvSpPr/>
          <p:nvPr/>
        </p:nvSpPr>
        <p:spPr>
          <a:xfrm>
            <a:off x="5372507" y="5426829"/>
            <a:ext cx="528637" cy="254000"/>
          </a:xfrm>
          <a:prstGeom prst="round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CF70C2-CBCE-344B-A25B-C71BFA9D3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457" y="5369679"/>
            <a:ext cx="568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 10 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2957C31-0FB4-F342-AC24-78F40266E08D}"/>
              </a:ext>
            </a:extLst>
          </p:cNvPr>
          <p:cNvSpPr/>
          <p:nvPr/>
        </p:nvSpPr>
        <p:spPr>
          <a:xfrm>
            <a:off x="6221818" y="5452229"/>
            <a:ext cx="528638" cy="254000"/>
          </a:xfrm>
          <a:prstGeom prst="round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FE6CBF-8DE7-0B4C-8216-0B1FF656F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181" y="5395079"/>
            <a:ext cx="5064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 39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4140308-D3B3-E048-B247-AD110AF65D3F}"/>
              </a:ext>
            </a:extLst>
          </p:cNvPr>
          <p:cNvSpPr/>
          <p:nvPr/>
        </p:nvSpPr>
        <p:spPr>
          <a:xfrm>
            <a:off x="7102882" y="5433179"/>
            <a:ext cx="528637" cy="254000"/>
          </a:xfrm>
          <a:prstGeom prst="round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8D74D2-83F9-4643-9FDF-D6C90454A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2244" y="5376029"/>
            <a:ext cx="568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 55 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21F82FD-8B35-5845-975D-B18A7201F8A7}"/>
              </a:ext>
            </a:extLst>
          </p:cNvPr>
          <p:cNvSpPr/>
          <p:nvPr/>
        </p:nvSpPr>
        <p:spPr>
          <a:xfrm>
            <a:off x="7831543" y="5433179"/>
            <a:ext cx="528638" cy="254000"/>
          </a:xfrm>
          <a:prstGeom prst="roundRect">
            <a:avLst/>
          </a:prstGeom>
          <a:solidFill>
            <a:srgbClr val="549E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23523F3-032B-2B45-AEB5-7912B88C6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906" y="5376029"/>
            <a:ext cx="6334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120 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6291D62-9D36-7041-B992-52A96C66A10A}"/>
              </a:ext>
            </a:extLst>
          </p:cNvPr>
          <p:cNvCxnSpPr>
            <a:stCxn id="21" idx="4"/>
            <a:endCxn id="30" idx="0"/>
          </p:cNvCxnSpPr>
          <p:nvPr/>
        </p:nvCxnSpPr>
        <p:spPr>
          <a:xfrm flipH="1">
            <a:off x="5637619" y="5015667"/>
            <a:ext cx="479425" cy="411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9EB6288-BC69-0944-BB50-DCBD5B655310}"/>
              </a:ext>
            </a:extLst>
          </p:cNvPr>
          <p:cNvCxnSpPr>
            <a:stCxn id="21" idx="4"/>
            <a:endCxn id="32" idx="0"/>
          </p:cNvCxnSpPr>
          <p:nvPr/>
        </p:nvCxnSpPr>
        <p:spPr>
          <a:xfrm>
            <a:off x="6117043" y="5015667"/>
            <a:ext cx="369888" cy="436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AD2AE93-2AE2-1047-A31E-A316D149EF54}"/>
              </a:ext>
            </a:extLst>
          </p:cNvPr>
          <p:cNvCxnSpPr>
            <a:stCxn id="22" idx="4"/>
            <a:endCxn id="34" idx="0"/>
          </p:cNvCxnSpPr>
          <p:nvPr/>
        </p:nvCxnSpPr>
        <p:spPr>
          <a:xfrm flipH="1">
            <a:off x="7366407" y="5022017"/>
            <a:ext cx="193675" cy="411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03ACF5D-A546-5141-8768-26221B62D522}"/>
              </a:ext>
            </a:extLst>
          </p:cNvPr>
          <p:cNvCxnSpPr>
            <a:stCxn id="22" idx="4"/>
            <a:endCxn id="36" idx="0"/>
          </p:cNvCxnSpPr>
          <p:nvPr/>
        </p:nvCxnSpPr>
        <p:spPr>
          <a:xfrm>
            <a:off x="7560082" y="5022017"/>
            <a:ext cx="534987" cy="411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8A38C07D-C39D-EC4B-AB8B-5141E775E39B}"/>
              </a:ext>
            </a:extLst>
          </p:cNvPr>
          <p:cNvSpPr txBox="1"/>
          <p:nvPr/>
        </p:nvSpPr>
        <p:spPr>
          <a:xfrm>
            <a:off x="2281644" y="1094621"/>
            <a:ext cx="5874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Data Structure 3: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BST with data stored in leaves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4A3439-95A1-EA28-1912-5BEFD9C7E5AD}"/>
              </a:ext>
            </a:extLst>
          </p:cNvPr>
          <p:cNvSpPr txBox="1"/>
          <p:nvPr/>
        </p:nvSpPr>
        <p:spPr>
          <a:xfrm>
            <a:off x="380723" y="299408"/>
            <a:ext cx="58745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BST with data stored in leaves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CB6D8CEE-1901-6EC4-795F-639E31BB0682}"/>
              </a:ext>
            </a:extLst>
          </p:cNvPr>
          <p:cNvSpPr/>
          <p:nvPr/>
        </p:nvSpPr>
        <p:spPr>
          <a:xfrm>
            <a:off x="238663" y="311105"/>
            <a:ext cx="6132380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749B87F-ED9D-9950-D3B3-D1C647D2F142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24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Content Placeholder 5">
            <a:extLst>
              <a:ext uri="{FF2B5EF4-FFF2-40B4-BE49-F238E27FC236}">
                <a16:creationId xmlns:a16="http://schemas.microsoft.com/office/drawing/2014/main" id="{F9EC2F03-B8B1-5F48-B95F-3DF913E6715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81200" y="1658938"/>
            <a:ext cx="8874154" cy="2095500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Retrieving data in [x, x’]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Perform binary search twice, once using x and the other using x’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Suppose binary search ends at leaves l and l’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The points in [x, x’] are the ones stored between l and l’ plus, possibly, the points stored in l and l’</a:t>
            </a: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4581" name="Picture 4">
            <a:extLst>
              <a:ext uri="{FF2B5EF4-FFF2-40B4-BE49-F238E27FC236}">
                <a16:creationId xmlns:a16="http://schemas.microsoft.com/office/drawing/2014/main" id="{BBB0A611-F7F8-784E-A079-A1465AB06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929" y="4034176"/>
            <a:ext cx="522763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DEA2AEF-FA9C-7541-9844-60AB17AC4830}"/>
              </a:ext>
            </a:extLst>
          </p:cNvPr>
          <p:cNvSpPr txBox="1"/>
          <p:nvPr/>
        </p:nvSpPr>
        <p:spPr>
          <a:xfrm>
            <a:off x="1972811" y="1118543"/>
            <a:ext cx="6303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3: 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BST with data stored in leaves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B02406-60AD-C82B-BB8F-78725038D7CC}"/>
              </a:ext>
            </a:extLst>
          </p:cNvPr>
          <p:cNvSpPr txBox="1"/>
          <p:nvPr/>
        </p:nvSpPr>
        <p:spPr>
          <a:xfrm>
            <a:off x="380723" y="299408"/>
            <a:ext cx="3457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6572CDBC-40CB-F746-895B-3D7EA03FADB2}"/>
              </a:ext>
            </a:extLst>
          </p:cNvPr>
          <p:cNvSpPr/>
          <p:nvPr/>
        </p:nvSpPr>
        <p:spPr>
          <a:xfrm>
            <a:off x="238663" y="311105"/>
            <a:ext cx="370945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67FD31-EEBC-C5EB-EE5C-A300769C5AA1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25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DBAEFD-88F4-C0CA-B8E4-0FAA6F1EABBF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AE658482-2080-4549-A674-EFF0111EE73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55850" y="1550988"/>
            <a:ext cx="8229600" cy="8001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CN" b="1" dirty="0">
                <a:ea typeface="宋体" panose="02010600030101010101" pitchFamily="2" charset="-122"/>
              </a:rPr>
              <a:t>Example:</a:t>
            </a:r>
            <a:r>
              <a:rPr lang="en-US" altLang="zh-CN" dirty="0">
                <a:ea typeface="宋体" panose="02010600030101010101" pitchFamily="2" charset="-122"/>
              </a:rPr>
              <a:t> retrieve all points in [25, 90]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The search path for 25 is:</a:t>
            </a:r>
          </a:p>
        </p:txBody>
      </p:sp>
      <p:pic>
        <p:nvPicPr>
          <p:cNvPr id="25605" name="Picture 2">
            <a:extLst>
              <a:ext uri="{FF2B5EF4-FFF2-40B4-BE49-F238E27FC236}">
                <a16:creationId xmlns:a16="http://schemas.microsoft.com/office/drawing/2014/main" id="{81720AFA-90F2-F94C-A29D-3D6743CD2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850" y="2400300"/>
            <a:ext cx="7285038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F82CBF6-91CD-464D-B258-6A5E12FFAD46}"/>
              </a:ext>
            </a:extLst>
          </p:cNvPr>
          <p:cNvSpPr txBox="1"/>
          <p:nvPr/>
        </p:nvSpPr>
        <p:spPr>
          <a:xfrm>
            <a:off x="2324100" y="1077396"/>
            <a:ext cx="6005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3: 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</a:rPr>
              <a:t>BST with data stored in leaves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8CD4E9-395B-AAE5-6353-BECBC505D84E}"/>
              </a:ext>
            </a:extLst>
          </p:cNvPr>
          <p:cNvSpPr txBox="1"/>
          <p:nvPr/>
        </p:nvSpPr>
        <p:spPr>
          <a:xfrm>
            <a:off x="380723" y="299408"/>
            <a:ext cx="3457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C7AF786C-4E92-081A-FCFC-70EA093B1EFF}"/>
              </a:ext>
            </a:extLst>
          </p:cNvPr>
          <p:cNvSpPr/>
          <p:nvPr/>
        </p:nvSpPr>
        <p:spPr>
          <a:xfrm>
            <a:off x="238663" y="311105"/>
            <a:ext cx="370945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921F5A-CC72-77BA-85A7-555A41573335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26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B6F6AA-9BD8-DD07-6110-1A5093ADB0D8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C798510-E749-0844-AE0C-047B831CCD8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031534" y="1813807"/>
            <a:ext cx="8229600" cy="838200"/>
          </a:xfrm>
        </p:spPr>
        <p:txBody>
          <a:bodyPr/>
          <a:lstStyle/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The search for 90 is:</a:t>
            </a:r>
          </a:p>
        </p:txBody>
      </p:sp>
      <p:pic>
        <p:nvPicPr>
          <p:cNvPr id="26629" name="Picture 2">
            <a:extLst>
              <a:ext uri="{FF2B5EF4-FFF2-40B4-BE49-F238E27FC236}">
                <a16:creationId xmlns:a16="http://schemas.microsoft.com/office/drawing/2014/main" id="{F2D8920E-7435-4D41-9119-E2B1952E8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588" y="2619677"/>
            <a:ext cx="7167562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51E7A0-A94E-8641-9DAD-68FE49E9E0DD}"/>
              </a:ext>
            </a:extLst>
          </p:cNvPr>
          <p:cNvSpPr txBox="1"/>
          <p:nvPr/>
        </p:nvSpPr>
        <p:spPr>
          <a:xfrm>
            <a:off x="2460527" y="1351499"/>
            <a:ext cx="692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3: 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</a:rPr>
              <a:t>BST with data stored in leaves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29516C-F146-4242-4B99-7F6A8C53D927}"/>
              </a:ext>
            </a:extLst>
          </p:cNvPr>
          <p:cNvSpPr txBox="1"/>
          <p:nvPr/>
        </p:nvSpPr>
        <p:spPr>
          <a:xfrm>
            <a:off x="380723" y="299408"/>
            <a:ext cx="3457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A6C9AE7D-946F-38FF-BC7B-3694F6008873}"/>
              </a:ext>
            </a:extLst>
          </p:cNvPr>
          <p:cNvSpPr/>
          <p:nvPr/>
        </p:nvSpPr>
        <p:spPr>
          <a:xfrm>
            <a:off x="238663" y="311105"/>
            <a:ext cx="370945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B3496A-0396-DCA5-E6B9-6059EB0D8EC0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27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474D13-0179-0E94-51A7-1A841B7FBC60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C5278AC9-4952-D64B-AA43-38329F7664E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800226" y="1749237"/>
            <a:ext cx="8420100" cy="14732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Examine the leaves in the sub-trees between the two traversing paths from the root.</a:t>
            </a:r>
          </a:p>
        </p:txBody>
      </p:sp>
      <p:pic>
        <p:nvPicPr>
          <p:cNvPr id="27653" name="Picture 2">
            <a:extLst>
              <a:ext uri="{FF2B5EF4-FFF2-40B4-BE49-F238E27FC236}">
                <a16:creationId xmlns:a16="http://schemas.microsoft.com/office/drawing/2014/main" id="{49BEC076-3AC9-5642-89F8-D0364C610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3289175"/>
            <a:ext cx="6413500" cy="282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TextBox 1">
            <a:extLst>
              <a:ext uri="{FF2B5EF4-FFF2-40B4-BE49-F238E27FC236}">
                <a16:creationId xmlns:a16="http://schemas.microsoft.com/office/drawing/2014/main" id="{F0397126-9EB7-7049-A6FD-9A7820699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1" y="2943100"/>
            <a:ext cx="1171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split node</a:t>
            </a:r>
          </a:p>
        </p:txBody>
      </p:sp>
      <p:sp>
        <p:nvSpPr>
          <p:cNvPr id="27655" name="Rectangle 1">
            <a:extLst>
              <a:ext uri="{FF2B5EF4-FFF2-40B4-BE49-F238E27FC236}">
                <a16:creationId xmlns:a16="http://schemas.microsoft.com/office/drawing/2014/main" id="{2D78ED01-E086-184B-AB36-4770B4F41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4" y="6243639"/>
            <a:ext cx="300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retrieve all points in [25, 90]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04BD20-2A68-3441-8F91-0C81CA17B45B}"/>
              </a:ext>
            </a:extLst>
          </p:cNvPr>
          <p:cNvSpPr txBox="1"/>
          <p:nvPr/>
        </p:nvSpPr>
        <p:spPr>
          <a:xfrm>
            <a:off x="1800226" y="1197771"/>
            <a:ext cx="6005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3: 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</a:rPr>
              <a:t>BST with data stored in leaves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D2978F-2E09-0537-8596-B473E9524F54}"/>
              </a:ext>
            </a:extLst>
          </p:cNvPr>
          <p:cNvSpPr txBox="1"/>
          <p:nvPr/>
        </p:nvSpPr>
        <p:spPr>
          <a:xfrm>
            <a:off x="380723" y="299408"/>
            <a:ext cx="3457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9B0EA8C0-25C7-46CE-6C18-4EAF19FA24D1}"/>
              </a:ext>
            </a:extLst>
          </p:cNvPr>
          <p:cNvSpPr/>
          <p:nvPr/>
        </p:nvSpPr>
        <p:spPr>
          <a:xfrm>
            <a:off x="238663" y="311105"/>
            <a:ext cx="370945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8C4593-2054-9F78-2528-F33A9B55D93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28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7C115D-637D-074C-01E4-7573E27930E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2D156FB-FAD4-EE4F-BD8A-F48C7DEA0B43}"/>
              </a:ext>
            </a:extLst>
          </p:cNvPr>
          <p:cNvSpPr txBox="1"/>
          <p:nvPr/>
        </p:nvSpPr>
        <p:spPr>
          <a:xfrm>
            <a:off x="2169600" y="1535163"/>
            <a:ext cx="6005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3: 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</a:rPr>
              <a:t>BST with data stored in leaves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E54FBF-2E62-CFA4-2B4D-690D822651A4}"/>
              </a:ext>
            </a:extLst>
          </p:cNvPr>
          <p:cNvSpPr txBox="1"/>
          <p:nvPr/>
        </p:nvSpPr>
        <p:spPr>
          <a:xfrm>
            <a:off x="380722" y="299408"/>
            <a:ext cx="72120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 – Another Example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465DAAD3-A55B-66D1-3CC6-09F0D868940F}"/>
              </a:ext>
            </a:extLst>
          </p:cNvPr>
          <p:cNvSpPr/>
          <p:nvPr/>
        </p:nvSpPr>
        <p:spPr>
          <a:xfrm>
            <a:off x="238664" y="311105"/>
            <a:ext cx="735407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62042E5-5B49-3751-C69C-04CE9F7FA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9600" y="2101851"/>
            <a:ext cx="7212012" cy="3843337"/>
          </a:xfrm>
          <a:prstGeom prst="rect">
            <a:avLst/>
          </a:prstGeom>
          <a:noFill/>
        </p:spPr>
      </p:pic>
      <p:sp>
        <p:nvSpPr>
          <p:cNvPr id="8" name="Rectangle 6">
            <a:extLst>
              <a:ext uri="{FF2B5EF4-FFF2-40B4-BE49-F238E27FC236}">
                <a16:creationId xmlns:a16="http://schemas.microsoft.com/office/drawing/2014/main" id="{CB699910-584D-F1F2-6D57-0C995AD717F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29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CB187B-4D8E-6E77-45D0-54F50979B23C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0" name="Picture 2">
            <a:extLst>
              <a:ext uri="{FF2B5EF4-FFF2-40B4-BE49-F238E27FC236}">
                <a16:creationId xmlns:a16="http://schemas.microsoft.com/office/drawing/2014/main" id="{2FD22AB3-3D28-0E48-95EB-DD20A3451E11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4"/>
          <a:stretch/>
        </p:blipFill>
        <p:spPr>
          <a:xfrm>
            <a:off x="679509" y="2522596"/>
            <a:ext cx="5067795" cy="3827462"/>
          </a:xfrm>
          <a:noFill/>
        </p:spPr>
      </p:pic>
      <p:sp>
        <p:nvSpPr>
          <p:cNvPr id="29701" name="TextBox 5">
            <a:extLst>
              <a:ext uri="{FF2B5EF4-FFF2-40B4-BE49-F238E27FC236}">
                <a16:creationId xmlns:a16="http://schemas.microsoft.com/office/drawing/2014/main" id="{63158015-C452-F344-9013-00DECCF07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587392"/>
            <a:ext cx="5235575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How do we find the leaves of interest?</a:t>
            </a:r>
          </a:p>
          <a:p>
            <a:pPr eaLnBrk="1" hangingPunct="1"/>
            <a:endParaRPr lang="en-US" altLang="zh-CN" b="1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  Find </a:t>
            </a:r>
            <a:r>
              <a:rPr lang="en-US" altLang="zh-CN" b="1" dirty="0">
                <a:ea typeface="宋体" panose="02010600030101010101" pitchFamily="2" charset="-122"/>
              </a:rPr>
              <a:t>split node </a:t>
            </a:r>
            <a:r>
              <a:rPr lang="en-US" altLang="zh-CN" dirty="0">
                <a:ea typeface="宋体" panose="02010600030101010101" pitchFamily="2" charset="-122"/>
              </a:rPr>
              <a:t>(i.e., node where the 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  paths to x and x’ split).</a:t>
            </a:r>
          </a:p>
          <a:p>
            <a:pPr eaLnBrk="1" hangingPunct="1"/>
            <a:endParaRPr lang="en-US" altLang="zh-CN" b="1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ea typeface="宋体" panose="02010600030101010101" pitchFamily="2" charset="-122"/>
              </a:rPr>
              <a:t>  Left turn on left side</a:t>
            </a:r>
            <a:r>
              <a:rPr lang="en-US" altLang="zh-CN" dirty="0">
                <a:ea typeface="宋体" panose="02010600030101010101" pitchFamily="2" charset="-122"/>
              </a:rPr>
              <a:t>: report leaves in right subtrees</a:t>
            </a:r>
          </a:p>
          <a:p>
            <a:pPr eaLnBrk="1" hangingPunct="1"/>
            <a:r>
              <a:rPr lang="en-US" altLang="zh-CN" b="1" dirty="0">
                <a:ea typeface="宋体" panose="02010600030101010101" pitchFamily="2" charset="-122"/>
              </a:rPr>
              <a:t>  Right turn on right side</a:t>
            </a:r>
            <a:r>
              <a:rPr lang="en-US" altLang="zh-CN" dirty="0">
                <a:ea typeface="宋体" panose="02010600030101010101" pitchFamily="2" charset="-122"/>
              </a:rPr>
              <a:t>: report leaves in left </a:t>
            </a:r>
            <a:r>
              <a:rPr lang="en-US" altLang="zh-CN" dirty="0" err="1">
                <a:ea typeface="宋体" panose="02010600030101010101" pitchFamily="2" charset="-122"/>
              </a:rPr>
              <a:t>substrees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  </a:t>
            </a:r>
            <a:r>
              <a:rPr lang="en-US" altLang="zh-CN" b="1" dirty="0">
                <a:ea typeface="宋体" panose="02010600030101010101" pitchFamily="2" charset="-122"/>
              </a:rPr>
              <a:t>Right turn on left side or right turn on left side</a:t>
            </a:r>
            <a:r>
              <a:rPr lang="en-US" altLang="zh-CN" dirty="0">
                <a:ea typeface="宋体" panose="02010600030101010101" pitchFamily="2" charset="-122"/>
              </a:rPr>
              <a:t>, continue. </a:t>
            </a:r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90E95C59-C4A9-3345-8569-AA99C6CB3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2970" y="4966803"/>
            <a:ext cx="48895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70C0"/>
                </a:solidFill>
                <a:ea typeface="宋体" panose="02010600030101010101" pitchFamily="2" charset="-122"/>
              </a:rPr>
              <a:t>O(</a:t>
            </a:r>
            <a:r>
              <a:rPr lang="en-US" altLang="zh-CN" sz="2400" dirty="0" err="1">
                <a:solidFill>
                  <a:srgbClr val="0070C0"/>
                </a:solidFill>
                <a:ea typeface="宋体" panose="02010600030101010101" pitchFamily="2" charset="-122"/>
              </a:rPr>
              <a:t>logn</a:t>
            </a:r>
            <a:r>
              <a:rPr lang="en-US" altLang="zh-CN" sz="2400" dirty="0">
                <a:solidFill>
                  <a:srgbClr val="0070C0"/>
                </a:solidFill>
                <a:ea typeface="宋体" panose="02010600030101010101" pitchFamily="2" charset="-122"/>
              </a:rPr>
              <a:t> + k) </a:t>
            </a:r>
            <a:r>
              <a:rPr lang="en-US" altLang="zh-CN" sz="2400" dirty="0">
                <a:ea typeface="宋体" panose="02010600030101010101" pitchFamily="2" charset="-122"/>
              </a:rPr>
              <a:t>time where k is  the number of items reported.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BDA18F-B407-1F48-A8A1-88484D44251B}"/>
              </a:ext>
            </a:extLst>
          </p:cNvPr>
          <p:cNvSpPr txBox="1"/>
          <p:nvPr/>
        </p:nvSpPr>
        <p:spPr>
          <a:xfrm>
            <a:off x="1772857" y="1439387"/>
            <a:ext cx="28883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3: 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</a:rPr>
              <a:t>BST with data stored in leaves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50CFC7-B17F-E4AA-1A41-120F153290E3}"/>
              </a:ext>
            </a:extLst>
          </p:cNvPr>
          <p:cNvSpPr txBox="1"/>
          <p:nvPr/>
        </p:nvSpPr>
        <p:spPr>
          <a:xfrm>
            <a:off x="380723" y="299408"/>
            <a:ext cx="3457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71FEA0CA-5452-7B45-3B78-6C6BA20DBA92}"/>
              </a:ext>
            </a:extLst>
          </p:cNvPr>
          <p:cNvSpPr/>
          <p:nvPr/>
        </p:nvSpPr>
        <p:spPr>
          <a:xfrm>
            <a:off x="238663" y="311105"/>
            <a:ext cx="370945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7A19AB-4DEC-E51D-F42A-F982E7A66CE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30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C3803C-55E0-F2A7-7B6E-C881C9C2B2FE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67761303-5A83-3941-9E02-A3A086A6339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48828" y="1625355"/>
            <a:ext cx="7399374" cy="9556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Speed-up search by keeping the leaves in sorted order using a linked-list.</a:t>
            </a:r>
          </a:p>
        </p:txBody>
      </p:sp>
      <p:grpSp>
        <p:nvGrpSpPr>
          <p:cNvPr id="30725" name="Group 19">
            <a:extLst>
              <a:ext uri="{FF2B5EF4-FFF2-40B4-BE49-F238E27FC236}">
                <a16:creationId xmlns:a16="http://schemas.microsoft.com/office/drawing/2014/main" id="{94CA83B8-2F15-BB48-848E-1CFBF238AA9A}"/>
              </a:ext>
            </a:extLst>
          </p:cNvPr>
          <p:cNvGrpSpPr>
            <a:grpSpLocks/>
          </p:cNvGrpSpPr>
          <p:nvPr/>
        </p:nvGrpSpPr>
        <p:grpSpPr bwMode="auto">
          <a:xfrm>
            <a:off x="2733675" y="2763838"/>
            <a:ext cx="5924550" cy="2590800"/>
            <a:chOff x="1177925" y="3357563"/>
            <a:chExt cx="5924550" cy="2590800"/>
          </a:xfrm>
        </p:grpSpPr>
        <p:pic>
          <p:nvPicPr>
            <p:cNvPr id="30726" name="Picture 4">
              <a:extLst>
                <a:ext uri="{FF2B5EF4-FFF2-40B4-BE49-F238E27FC236}">
                  <a16:creationId xmlns:a16="http://schemas.microsoft.com/office/drawing/2014/main" id="{E3D679E3-8400-9844-805D-AAC3BD96AC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925" y="3357563"/>
              <a:ext cx="5924550" cy="2590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27" name="Line 7">
              <a:extLst>
                <a:ext uri="{FF2B5EF4-FFF2-40B4-BE49-F238E27FC236}">
                  <a16:creationId xmlns:a16="http://schemas.microsoft.com/office/drawing/2014/main" id="{88ECD4BC-FBDC-D342-B7F0-D08722A46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5100" y="5638800"/>
              <a:ext cx="203200" cy="254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8" name="Line 8">
              <a:extLst>
                <a:ext uri="{FF2B5EF4-FFF2-40B4-BE49-F238E27FC236}">
                  <a16:creationId xmlns:a16="http://schemas.microsoft.com/office/drawing/2014/main" id="{5B75274B-F2EF-5F4E-999A-52F2CD1014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100" y="5664200"/>
              <a:ext cx="1778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9" name="Line 9">
              <a:extLst>
                <a:ext uri="{FF2B5EF4-FFF2-40B4-BE49-F238E27FC236}">
                  <a16:creationId xmlns:a16="http://schemas.microsoft.com/office/drawing/2014/main" id="{D0FD167C-1EF5-8D44-B82B-29C2FFE3A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6300" y="5638800"/>
              <a:ext cx="177800" cy="254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0" name="Line 10">
              <a:extLst>
                <a:ext uri="{FF2B5EF4-FFF2-40B4-BE49-F238E27FC236}">
                  <a16:creationId xmlns:a16="http://schemas.microsoft.com/office/drawing/2014/main" id="{2C932AC2-CEB9-354B-9840-8619C02C6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2700" y="5638800"/>
              <a:ext cx="2286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1" name="Line 11">
              <a:extLst>
                <a:ext uri="{FF2B5EF4-FFF2-40B4-BE49-F238E27FC236}">
                  <a16:creationId xmlns:a16="http://schemas.microsoft.com/office/drawing/2014/main" id="{5290DC93-DFF5-4A4D-A806-A6E2C23F4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1300" y="5664200"/>
              <a:ext cx="2794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2" name="Line 12">
              <a:extLst>
                <a:ext uri="{FF2B5EF4-FFF2-40B4-BE49-F238E27FC236}">
                  <a16:creationId xmlns:a16="http://schemas.microsoft.com/office/drawing/2014/main" id="{46BB7CF1-21F5-DA40-A806-379A9B65CB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9300" y="5105400"/>
              <a:ext cx="228600" cy="5334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3" name="Line 13">
              <a:extLst>
                <a:ext uri="{FF2B5EF4-FFF2-40B4-BE49-F238E27FC236}">
                  <a16:creationId xmlns:a16="http://schemas.microsoft.com/office/drawing/2014/main" id="{390983B9-FC4A-CC4B-A192-19BB3E2DD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5700" y="5105400"/>
              <a:ext cx="406400" cy="5334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4" name="Line 14">
              <a:extLst>
                <a:ext uri="{FF2B5EF4-FFF2-40B4-BE49-F238E27FC236}">
                  <a16:creationId xmlns:a16="http://schemas.microsoft.com/office/drawing/2014/main" id="{8C2AF579-18DE-7741-B6AF-261B81EE1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4500" y="5664200"/>
              <a:ext cx="2540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5" name="Line 15">
              <a:extLst>
                <a:ext uri="{FF2B5EF4-FFF2-40B4-BE49-F238E27FC236}">
                  <a16:creationId xmlns:a16="http://schemas.microsoft.com/office/drawing/2014/main" id="{B105D4B8-1EC6-2546-84F1-E6230A0AB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6300" y="5664200"/>
              <a:ext cx="1778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6" name="Line 16">
              <a:extLst>
                <a:ext uri="{FF2B5EF4-FFF2-40B4-BE49-F238E27FC236}">
                  <a16:creationId xmlns:a16="http://schemas.microsoft.com/office/drawing/2014/main" id="{DB592662-A4E7-744F-9232-4A6BE5A27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6500" y="5664200"/>
              <a:ext cx="1270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7" name="Line 17">
              <a:extLst>
                <a:ext uri="{FF2B5EF4-FFF2-40B4-BE49-F238E27FC236}">
                  <a16:creationId xmlns:a16="http://schemas.microsoft.com/office/drawing/2014/main" id="{026BBB53-3BF0-2A40-B529-0869995B1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0200" y="5219700"/>
              <a:ext cx="342900" cy="4191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8" name="Line 18">
              <a:extLst>
                <a:ext uri="{FF2B5EF4-FFF2-40B4-BE49-F238E27FC236}">
                  <a16:creationId xmlns:a16="http://schemas.microsoft.com/office/drawing/2014/main" id="{2059A826-2986-2C4E-840F-DD4F158AA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8100" y="5638800"/>
              <a:ext cx="1651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9" name="Line 20">
              <a:extLst>
                <a:ext uri="{FF2B5EF4-FFF2-40B4-BE49-F238E27FC236}">
                  <a16:creationId xmlns:a16="http://schemas.microsoft.com/office/drawing/2014/main" id="{7CB3BF2A-2DEE-8A4F-B693-47573F079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1300" y="5948363"/>
              <a:ext cx="36068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0" name="Line 17">
              <a:extLst>
                <a:ext uri="{FF2B5EF4-FFF2-40B4-BE49-F238E27FC236}">
                  <a16:creationId xmlns:a16="http://schemas.microsoft.com/office/drawing/2014/main" id="{00D62DF2-D634-E647-8DE1-EB413FD1D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200" y="5219700"/>
              <a:ext cx="279400" cy="5762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F4DB8996-8634-6540-9139-31BE37ED478D}"/>
              </a:ext>
            </a:extLst>
          </p:cNvPr>
          <p:cNvSpPr txBox="1"/>
          <p:nvPr/>
        </p:nvSpPr>
        <p:spPr>
          <a:xfrm>
            <a:off x="2248828" y="1103251"/>
            <a:ext cx="6005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3: 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</a:rPr>
              <a:t>BST with data stored in leaves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C17E1B-EA13-4534-CED8-50999989BF84}"/>
              </a:ext>
            </a:extLst>
          </p:cNvPr>
          <p:cNvSpPr txBox="1"/>
          <p:nvPr/>
        </p:nvSpPr>
        <p:spPr>
          <a:xfrm>
            <a:off x="380723" y="299408"/>
            <a:ext cx="3457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67D5735C-B54B-2E7F-8F13-FA835469E3C1}"/>
              </a:ext>
            </a:extLst>
          </p:cNvPr>
          <p:cNvSpPr/>
          <p:nvPr/>
        </p:nvSpPr>
        <p:spPr>
          <a:xfrm>
            <a:off x="238663" y="311105"/>
            <a:ext cx="370945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DF60FD-B150-D9A1-10B7-E935DFBE9920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31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96C1A8-31A9-D07C-B599-EBCF3B12DB6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50C987B-BF23-A64E-B882-DEB1E18C348B}"/>
              </a:ext>
            </a:extLst>
          </p:cNvPr>
          <p:cNvSpPr txBox="1"/>
          <p:nvPr/>
        </p:nvSpPr>
        <p:spPr>
          <a:xfrm>
            <a:off x="1244573" y="178847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1: 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Sorted Array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A2D152-0078-854D-B182-9CC111C4AECC}"/>
              </a:ext>
            </a:extLst>
          </p:cNvPr>
          <p:cNvSpPr txBox="1"/>
          <p:nvPr/>
        </p:nvSpPr>
        <p:spPr>
          <a:xfrm>
            <a:off x="6943619" y="1834640"/>
            <a:ext cx="1813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O(</a:t>
            </a:r>
            <a:r>
              <a:rPr lang="en-US" altLang="zh-CN" sz="2400" dirty="0" err="1">
                <a:solidFill>
                  <a:srgbClr val="C00000"/>
                </a:solidFill>
              </a:rPr>
              <a:t>logn</a:t>
            </a:r>
            <a:r>
              <a:rPr lang="en-US" altLang="zh-CN" sz="2400" dirty="0">
                <a:solidFill>
                  <a:srgbClr val="C00000"/>
                </a:solidFill>
              </a:rPr>
              <a:t> + k)</a:t>
            </a:r>
            <a:r>
              <a:rPr lang="en-US" altLang="zh-CN" sz="2400" dirty="0"/>
              <a:t> </a:t>
            </a:r>
            <a:endParaRPr 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05AB6B-5ED6-974F-A75B-417267625747}"/>
              </a:ext>
            </a:extLst>
          </p:cNvPr>
          <p:cNvSpPr txBox="1"/>
          <p:nvPr/>
        </p:nvSpPr>
        <p:spPr>
          <a:xfrm>
            <a:off x="1244573" y="257431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2: 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BST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161788-9230-5442-B7DD-4D0CF9A27441}"/>
              </a:ext>
            </a:extLst>
          </p:cNvPr>
          <p:cNvSpPr txBox="1"/>
          <p:nvPr/>
        </p:nvSpPr>
        <p:spPr>
          <a:xfrm>
            <a:off x="6943619" y="2590678"/>
            <a:ext cx="1630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O(</a:t>
            </a:r>
            <a:r>
              <a:rPr lang="en-US" altLang="zh-CN" sz="2400" dirty="0" err="1">
                <a:solidFill>
                  <a:srgbClr val="C00000"/>
                </a:solidFill>
              </a:rPr>
              <a:t>logn</a:t>
            </a:r>
            <a:r>
              <a:rPr lang="en-US" altLang="zh-CN" sz="2400" dirty="0">
                <a:solidFill>
                  <a:srgbClr val="C00000"/>
                </a:solidFill>
              </a:rPr>
              <a:t> + k)</a:t>
            </a:r>
            <a:r>
              <a:rPr lang="en-US" altLang="zh-CN" sz="2400" dirty="0"/>
              <a:t> </a:t>
            </a:r>
            <a:endParaRPr 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FD6EFD-39E0-2444-B65C-26E05131A6F3}"/>
              </a:ext>
            </a:extLst>
          </p:cNvPr>
          <p:cNvSpPr txBox="1"/>
          <p:nvPr/>
        </p:nvSpPr>
        <p:spPr>
          <a:xfrm>
            <a:off x="1253297" y="3429001"/>
            <a:ext cx="75037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Data Structure 3: 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BST with data stored in leaves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7A9874-3D8A-1E45-8856-F75642159973}"/>
              </a:ext>
            </a:extLst>
          </p:cNvPr>
          <p:cNvSpPr txBox="1"/>
          <p:nvPr/>
        </p:nvSpPr>
        <p:spPr>
          <a:xfrm>
            <a:off x="8925510" y="3429000"/>
            <a:ext cx="15942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sz="2400" dirty="0" err="1">
                <a:solidFill>
                  <a:srgbClr val="C00000"/>
                </a:solidFill>
                <a:ea typeface="宋体" panose="02010600030101010101" pitchFamily="2" charset="-122"/>
              </a:rPr>
              <a:t>logn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 + k) 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CABE54-8B01-0604-8BC9-390FF8BEF00C}"/>
              </a:ext>
            </a:extLst>
          </p:cNvPr>
          <p:cNvSpPr txBox="1"/>
          <p:nvPr/>
        </p:nvSpPr>
        <p:spPr>
          <a:xfrm>
            <a:off x="380722" y="299408"/>
            <a:ext cx="4459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1D Range Search:</a:t>
            </a:r>
            <a:r>
              <a:rPr lang="zh-CN" altLang="en-US" sz="3600" b="1" dirty="0">
                <a:solidFill>
                  <a:schemeClr val="bg1"/>
                </a:solidFill>
              </a:rPr>
              <a:t>总结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B78A0910-A034-F673-AE93-6FF1A77FE1F7}"/>
              </a:ext>
            </a:extLst>
          </p:cNvPr>
          <p:cNvSpPr/>
          <p:nvPr/>
        </p:nvSpPr>
        <p:spPr>
          <a:xfrm>
            <a:off x="238663" y="311105"/>
            <a:ext cx="4660508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FAD0CD6-672E-57C4-A57D-582C2FA79F2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32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499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9784" y="239697"/>
            <a:ext cx="24889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思源黑体 Bold" panose="020B0800000000000000" pitchFamily="34" charset="-122"/>
                <a:cs typeface="+mn-cs"/>
                <a:sym typeface="+mn-ea"/>
              </a:rPr>
              <a:t>主要内容</a:t>
            </a:r>
            <a:endParaRPr kumimoji="0" lang="en-US" altLang="en-US" sz="3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79070" y="233045"/>
            <a:ext cx="313182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355AC32-C36C-3DE0-B525-06DE9D4F4AD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33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graphicFrame>
        <p:nvGraphicFramePr>
          <p:cNvPr id="13" name="内容占位符 2">
            <a:extLst>
              <a:ext uri="{FF2B5EF4-FFF2-40B4-BE49-F238E27FC236}">
                <a16:creationId xmlns:a16="http://schemas.microsoft.com/office/drawing/2014/main" id="{57ADFC92-0B77-D3FE-3F46-422F17AD61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8488646"/>
              </p:ext>
            </p:extLst>
          </p:nvPr>
        </p:nvGraphicFramePr>
        <p:xfrm>
          <a:off x="3747135" y="989508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7066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>
            <a:extLst>
              <a:ext uri="{FF2B5EF4-FFF2-40B4-BE49-F238E27FC236}">
                <a16:creationId xmlns:a16="http://schemas.microsoft.com/office/drawing/2014/main" id="{641F8ADC-7B2D-064D-9B00-7882C2A14FA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2120900" y="1168400"/>
            <a:ext cx="8267700" cy="4419600"/>
          </a:xfrm>
          <a:blipFill rotWithShape="1">
            <a:blip r:embed="rId3" cstate="print"/>
            <a:stretch>
              <a:fillRect t="-1793"/>
            </a:stretch>
          </a:blipFill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pic>
        <p:nvPicPr>
          <p:cNvPr id="31749" name="Picture 3">
            <a:extLst>
              <a:ext uri="{FF2B5EF4-FFF2-40B4-BE49-F238E27FC236}">
                <a16:creationId xmlns:a16="http://schemas.microsoft.com/office/drawing/2014/main" id="{C10B41A8-2BB1-4C45-AF80-5488ADDFF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4" b="4607"/>
          <a:stretch>
            <a:fillRect/>
          </a:stretch>
        </p:blipFill>
        <p:spPr bwMode="auto">
          <a:xfrm>
            <a:off x="3573761" y="3302195"/>
            <a:ext cx="4416425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ACC656-4664-834D-A3BB-15D266C4442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13766" y="5588000"/>
            <a:ext cx="3607398" cy="369332"/>
          </a:xfrm>
          <a:prstGeom prst="rect">
            <a:avLst/>
          </a:prstGeom>
          <a:blipFill rotWithShape="1">
            <a:blip r:embed="rId5" cstate="print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045632-AF53-9C46-9F36-846132E682D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22933" y="2903699"/>
            <a:ext cx="968535" cy="391261"/>
          </a:xfrm>
          <a:prstGeom prst="rect">
            <a:avLst/>
          </a:prstGeom>
          <a:blipFill rotWithShape="1">
            <a:blip r:embed="rId6" cstate="print"/>
            <a:stretch>
              <a:fillRect t="-7692" r="-5031" b="-16923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31752" name="TextBox 9">
            <a:extLst>
              <a:ext uri="{FF2B5EF4-FFF2-40B4-BE49-F238E27FC236}">
                <a16:creationId xmlns:a16="http://schemas.microsoft.com/office/drawing/2014/main" id="{03A17664-CE64-A945-B187-A593B753D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9" y="4298950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31753" name="TextBox 10">
            <a:extLst>
              <a:ext uri="{FF2B5EF4-FFF2-40B4-BE49-F238E27FC236}">
                <a16:creationId xmlns:a16="http://schemas.microsoft.com/office/drawing/2014/main" id="{E50978F5-FC7F-2C4A-A7A4-EF4298B48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9" y="3733800"/>
            <a:ext cx="350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y’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16C867-1F89-085B-9089-948FAD3F0D94}"/>
              </a:ext>
            </a:extLst>
          </p:cNvPr>
          <p:cNvSpPr txBox="1"/>
          <p:nvPr/>
        </p:nvSpPr>
        <p:spPr>
          <a:xfrm>
            <a:off x="380723" y="299408"/>
            <a:ext cx="3457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2D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3DA7991-D20E-E3F5-5FB6-718C20864E49}"/>
              </a:ext>
            </a:extLst>
          </p:cNvPr>
          <p:cNvSpPr/>
          <p:nvPr/>
        </p:nvSpPr>
        <p:spPr>
          <a:xfrm>
            <a:off x="238663" y="311105"/>
            <a:ext cx="370945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8C286E1-B69B-CE4D-5F21-C50916E048F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34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6681D1-DE2D-12F4-1694-D1C40B5EC0C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3">
            <a:extLst>
              <a:ext uri="{FF2B5EF4-FFF2-40B4-BE49-F238E27FC236}">
                <a16:creationId xmlns:a16="http://schemas.microsoft.com/office/drawing/2014/main" id="{053BE977-20BF-4E41-BFD6-E508BC908F9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109529" y="1270476"/>
            <a:ext cx="9972942" cy="4419600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A 2D range query can be decomposed in two 1D range queries: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One on the x-coordinate of the points.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The other on the y-coordinates of the points.</a:t>
            </a:r>
          </a:p>
          <a:p>
            <a:pPr lvl="2" eaLnBrk="1" hangingPunct="1">
              <a:lnSpc>
                <a:spcPct val="9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32773" name="Picture 3">
            <a:extLst>
              <a:ext uri="{FF2B5EF4-FFF2-40B4-BE49-F238E27FC236}">
                <a16:creationId xmlns:a16="http://schemas.microsoft.com/office/drawing/2014/main" id="{F872C8C4-0BE2-9647-9409-3D86223EB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4" b="4607"/>
          <a:stretch>
            <a:fillRect/>
          </a:stretch>
        </p:blipFill>
        <p:spPr bwMode="auto">
          <a:xfrm>
            <a:off x="3571876" y="3304039"/>
            <a:ext cx="4416425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30C096-2B1F-F941-98CE-E5567883728C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13766" y="5588000"/>
            <a:ext cx="3607398" cy="369332"/>
          </a:xfrm>
          <a:prstGeom prst="rect">
            <a:avLst/>
          </a:prstGeom>
          <a:blipFill rotWithShape="1">
            <a:blip r:embed="rId4" cstate="print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694D34-0362-0940-8883-91509037BA7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22933" y="2903699"/>
            <a:ext cx="968535" cy="391261"/>
          </a:xfrm>
          <a:prstGeom prst="rect">
            <a:avLst/>
          </a:prstGeom>
          <a:blipFill rotWithShape="1">
            <a:blip r:embed="rId5" cstate="print"/>
            <a:stretch>
              <a:fillRect t="-7692" r="-5031" b="-16923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32776" name="TextBox 9">
            <a:extLst>
              <a:ext uri="{FF2B5EF4-FFF2-40B4-BE49-F238E27FC236}">
                <a16:creationId xmlns:a16="http://schemas.microsoft.com/office/drawing/2014/main" id="{FE83DA6A-75F3-234F-844E-575D54CBF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9" y="4298950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32777" name="TextBox 10">
            <a:extLst>
              <a:ext uri="{FF2B5EF4-FFF2-40B4-BE49-F238E27FC236}">
                <a16:creationId xmlns:a16="http://schemas.microsoft.com/office/drawing/2014/main" id="{09C82EB5-0AE1-154F-BDEA-5A53B0ED3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9" y="3733800"/>
            <a:ext cx="350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y’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907CB2-8312-67B3-4646-9909072C8CEB}"/>
              </a:ext>
            </a:extLst>
          </p:cNvPr>
          <p:cNvSpPr txBox="1"/>
          <p:nvPr/>
        </p:nvSpPr>
        <p:spPr>
          <a:xfrm>
            <a:off x="380723" y="299408"/>
            <a:ext cx="50287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2D Range Search (cont’d)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D1735859-EF1F-203C-8D4A-CB06461ABCB8}"/>
              </a:ext>
            </a:extLst>
          </p:cNvPr>
          <p:cNvSpPr/>
          <p:nvPr/>
        </p:nvSpPr>
        <p:spPr>
          <a:xfrm>
            <a:off x="238664" y="311105"/>
            <a:ext cx="5170825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1134A0A-EA15-F4CB-82D7-A718FA8FE97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35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9DA5DA-7758-1D2A-93A4-67F41DB96F2C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E3C87E60-2480-1045-8326-8244BA69848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63273" y="2244229"/>
            <a:ext cx="9865453" cy="1152525"/>
          </a:xfrm>
        </p:spPr>
        <p:txBody>
          <a:bodyPr/>
          <a:lstStyle/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Store a </a:t>
            </a:r>
            <a:r>
              <a:rPr lang="en-US" altLang="zh-CN" sz="2600" b="1" i="1" dirty="0">
                <a:ea typeface="宋体" panose="02010600030101010101" pitchFamily="2" charset="-122"/>
              </a:rPr>
              <a:t>primary 1D range tree </a:t>
            </a:r>
            <a:r>
              <a:rPr lang="en-US" altLang="zh-CN" sz="2600" dirty="0">
                <a:ea typeface="宋体" panose="02010600030101010101" pitchFamily="2" charset="-122"/>
              </a:rPr>
              <a:t>for all the points based on </a:t>
            </a:r>
            <a:r>
              <a:rPr lang="en-US" altLang="zh-CN" sz="2600" i="1" dirty="0">
                <a:ea typeface="宋体" panose="02010600030101010101" pitchFamily="2" charset="-122"/>
              </a:rPr>
              <a:t>x-coordinate.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For each node, store a </a:t>
            </a:r>
            <a:r>
              <a:rPr lang="en-US" altLang="zh-CN" sz="2400" b="1" i="1" dirty="0">
                <a:ea typeface="宋体" panose="02010600030101010101" pitchFamily="2" charset="-122"/>
              </a:rPr>
              <a:t>secondary 1D range tree </a:t>
            </a:r>
            <a:r>
              <a:rPr lang="en-US" altLang="zh-CN" sz="2400" dirty="0">
                <a:ea typeface="宋体" panose="02010600030101010101" pitchFamily="2" charset="-122"/>
              </a:rPr>
              <a:t>based on </a:t>
            </a:r>
            <a:r>
              <a:rPr lang="en-US" altLang="zh-CN" sz="2400" i="1" dirty="0">
                <a:ea typeface="宋体" panose="02010600030101010101" pitchFamily="2" charset="-122"/>
              </a:rPr>
              <a:t>y-coordinate</a:t>
            </a:r>
            <a:r>
              <a:rPr lang="en-US" altLang="zh-CN" sz="2400" dirty="0">
                <a:ea typeface="宋体" panose="02010600030101010101" pitchFamily="2" charset="-122"/>
              </a:rPr>
              <a:t>.</a:t>
            </a:r>
          </a:p>
          <a:p>
            <a:pPr eaLnBrk="1" hangingPunct="1"/>
            <a:endParaRPr lang="en-US" altLang="zh-CN" sz="2600" dirty="0">
              <a:ea typeface="宋体" panose="02010600030101010101" pitchFamily="2" charset="-122"/>
            </a:endParaRPr>
          </a:p>
        </p:txBody>
      </p:sp>
      <p:pic>
        <p:nvPicPr>
          <p:cNvPr id="33797" name="Picture 2">
            <a:extLst>
              <a:ext uri="{FF2B5EF4-FFF2-40B4-BE49-F238E27FC236}">
                <a16:creationId xmlns:a16="http://schemas.microsoft.com/office/drawing/2014/main" id="{285E62F5-14CB-C043-9321-A852272E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15" y="1054162"/>
            <a:ext cx="13716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2">
            <a:extLst>
              <a:ext uri="{FF2B5EF4-FFF2-40B4-BE49-F238E27FC236}">
                <a16:creationId xmlns:a16="http://schemas.microsoft.com/office/drawing/2014/main" id="{7C715159-702C-2240-A890-F9BD33D8A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3568701"/>
            <a:ext cx="3509963" cy="232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FB2CC58-A4FA-434A-B5D2-82FC5A7A8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700" y="3530600"/>
            <a:ext cx="3937000" cy="229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DF22A05-C391-8E05-BCAD-2F2C1CCE4E6F}"/>
              </a:ext>
            </a:extLst>
          </p:cNvPr>
          <p:cNvSpPr txBox="1"/>
          <p:nvPr/>
        </p:nvSpPr>
        <p:spPr>
          <a:xfrm>
            <a:off x="380723" y="299408"/>
            <a:ext cx="50287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2D Range Search (cont’d)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0609F2B5-EB4C-01EF-B95B-43F39962C5B9}"/>
              </a:ext>
            </a:extLst>
          </p:cNvPr>
          <p:cNvSpPr/>
          <p:nvPr/>
        </p:nvSpPr>
        <p:spPr>
          <a:xfrm>
            <a:off x="238664" y="311105"/>
            <a:ext cx="5170825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D5D77A7-E58A-8A4C-B459-0365C0D3198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36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F79FF4-30A8-A3F5-478B-E5961E4E11D3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9784" y="239697"/>
            <a:ext cx="24889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思源黑体 Bold" panose="020B0800000000000000" pitchFamily="34" charset="-122"/>
                <a:cs typeface="+mn-cs"/>
                <a:sym typeface="+mn-ea"/>
              </a:rPr>
              <a:t>主要内容</a:t>
            </a:r>
            <a:endParaRPr kumimoji="0" lang="en-US" altLang="en-US" sz="3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79070" y="233045"/>
            <a:ext cx="313182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355AC32-C36C-3DE0-B525-06DE9D4F4AD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37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graphicFrame>
        <p:nvGraphicFramePr>
          <p:cNvPr id="13" name="内容占位符 2">
            <a:extLst>
              <a:ext uri="{FF2B5EF4-FFF2-40B4-BE49-F238E27FC236}">
                <a16:creationId xmlns:a16="http://schemas.microsoft.com/office/drawing/2014/main" id="{57ADFC92-0B77-D3FE-3F46-422F17AD61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7137130"/>
              </p:ext>
            </p:extLst>
          </p:nvPr>
        </p:nvGraphicFramePr>
        <p:xfrm>
          <a:off x="3747135" y="989508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50972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4">
            <a:extLst>
              <a:ext uri="{FF2B5EF4-FFF2-40B4-BE49-F238E27FC236}">
                <a16:creationId xmlns:a16="http://schemas.microsoft.com/office/drawing/2014/main" id="{18305846-D812-7E48-BDDF-50E5A5B54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296" y="1359995"/>
            <a:ext cx="940431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+mn-lt"/>
                <a:ea typeface="宋体" panose="02010600030101010101" pitchFamily="2" charset="-122"/>
              </a:rPr>
              <a:t> A </a:t>
            </a:r>
            <a:r>
              <a:rPr lang="en-US" altLang="zh-CN" sz="2600" b="1" dirty="0">
                <a:latin typeface="+mn-lt"/>
                <a:ea typeface="宋体" panose="02010600030101010101" pitchFamily="2" charset="-122"/>
              </a:rPr>
              <a:t>binary search tree </a:t>
            </a:r>
            <a:r>
              <a:rPr lang="en-US" altLang="zh-CN" sz="2600" dirty="0">
                <a:latin typeface="+mn-lt"/>
                <a:ea typeface="宋体" panose="02010600030101010101" pitchFamily="2" charset="-122"/>
              </a:rPr>
              <a:t>where every node is a k-dimensional point.</a:t>
            </a:r>
          </a:p>
        </p:txBody>
      </p:sp>
      <p:grpSp>
        <p:nvGrpSpPr>
          <p:cNvPr id="38916" name="Group 63">
            <a:extLst>
              <a:ext uri="{FF2B5EF4-FFF2-40B4-BE49-F238E27FC236}">
                <a16:creationId xmlns:a16="http://schemas.microsoft.com/office/drawing/2014/main" id="{5604036E-92F3-6A48-81B9-02B77F28B872}"/>
              </a:ext>
            </a:extLst>
          </p:cNvPr>
          <p:cNvGrpSpPr>
            <a:grpSpLocks/>
          </p:cNvGrpSpPr>
          <p:nvPr/>
        </p:nvGrpSpPr>
        <p:grpSpPr bwMode="auto">
          <a:xfrm>
            <a:off x="1881231" y="2708764"/>
            <a:ext cx="7620000" cy="3079750"/>
            <a:chOff x="609600" y="2178050"/>
            <a:chExt cx="7620000" cy="3079750"/>
          </a:xfrm>
        </p:grpSpPr>
        <p:sp>
          <p:nvSpPr>
            <p:cNvPr id="38918" name="Oval 6">
              <a:extLst>
                <a:ext uri="{FF2B5EF4-FFF2-40B4-BE49-F238E27FC236}">
                  <a16:creationId xmlns:a16="http://schemas.microsoft.com/office/drawing/2014/main" id="{BA8D156C-8096-D34D-BAAC-2C4B09FF5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2178050"/>
              <a:ext cx="914400" cy="3048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38919" name="Text Box 7">
              <a:extLst>
                <a:ext uri="{FF2B5EF4-FFF2-40B4-BE49-F238E27FC236}">
                  <a16:creationId xmlns:a16="http://schemas.microsoft.com/office/drawing/2014/main" id="{91D2E568-9940-D745-991B-B5CBC1547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2178050"/>
              <a:ext cx="7620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53, 14</a:t>
              </a:r>
            </a:p>
          </p:txBody>
        </p:sp>
        <p:grpSp>
          <p:nvGrpSpPr>
            <p:cNvPr id="38920" name="Group 8">
              <a:extLst>
                <a:ext uri="{FF2B5EF4-FFF2-40B4-BE49-F238E27FC236}">
                  <a16:creationId xmlns:a16="http://schemas.microsoft.com/office/drawing/2014/main" id="{1B04A9B8-2FF6-FC46-8954-0A29B16BE8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0800" y="2787650"/>
              <a:ext cx="914400" cy="336550"/>
              <a:chOff x="2544" y="672"/>
              <a:chExt cx="576" cy="212"/>
            </a:xfrm>
          </p:grpSpPr>
          <p:sp>
            <p:nvSpPr>
              <p:cNvPr id="38974" name="Oval 9">
                <a:extLst>
                  <a:ext uri="{FF2B5EF4-FFF2-40B4-BE49-F238E27FC236}">
                    <a16:creationId xmlns:a16="http://schemas.microsoft.com/office/drawing/2014/main" id="{87602FF0-1035-7A42-85AC-0BC4B088A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672"/>
                <a:ext cx="576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8975" name="Text Box 10">
                <a:extLst>
                  <a:ext uri="{FF2B5EF4-FFF2-40B4-BE49-F238E27FC236}">
                    <a16:creationId xmlns:a16="http://schemas.microsoft.com/office/drawing/2014/main" id="{F458F271-EEBE-1446-BD54-DE6B3FD7CA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672"/>
                <a:ext cx="4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27, 28</a:t>
                </a:r>
              </a:p>
            </p:txBody>
          </p:sp>
        </p:grpSp>
        <p:sp>
          <p:nvSpPr>
            <p:cNvPr id="38921" name="Oval 12">
              <a:extLst>
                <a:ext uri="{FF2B5EF4-FFF2-40B4-BE49-F238E27FC236}">
                  <a16:creationId xmlns:a16="http://schemas.microsoft.com/office/drawing/2014/main" id="{3689DB6A-BA44-0E48-9213-130EEB3B2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2711450"/>
              <a:ext cx="914400" cy="3048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38922" name="Text Box 13">
              <a:extLst>
                <a:ext uri="{FF2B5EF4-FFF2-40B4-BE49-F238E27FC236}">
                  <a16:creationId xmlns:a16="http://schemas.microsoft.com/office/drawing/2014/main" id="{B13D33BE-7F86-BD45-B444-B2A9F6638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2711450"/>
              <a:ext cx="7620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65, 51</a:t>
              </a:r>
            </a:p>
          </p:txBody>
        </p:sp>
        <p:grpSp>
          <p:nvGrpSpPr>
            <p:cNvPr id="38923" name="Group 14">
              <a:extLst>
                <a:ext uri="{FF2B5EF4-FFF2-40B4-BE49-F238E27FC236}">
                  <a16:creationId xmlns:a16="http://schemas.microsoft.com/office/drawing/2014/main" id="{CDA46885-243D-DF4B-83B0-7C60E35831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3397250"/>
              <a:ext cx="914400" cy="336550"/>
              <a:chOff x="2544" y="672"/>
              <a:chExt cx="576" cy="212"/>
            </a:xfrm>
          </p:grpSpPr>
          <p:sp>
            <p:nvSpPr>
              <p:cNvPr id="38972" name="Oval 15">
                <a:extLst>
                  <a:ext uri="{FF2B5EF4-FFF2-40B4-BE49-F238E27FC236}">
                    <a16:creationId xmlns:a16="http://schemas.microsoft.com/office/drawing/2014/main" id="{BF536DD9-A521-0A4B-8C05-352B8283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672"/>
                <a:ext cx="576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8973" name="Text Box 16">
                <a:extLst>
                  <a:ext uri="{FF2B5EF4-FFF2-40B4-BE49-F238E27FC236}">
                    <a16:creationId xmlns:a16="http://schemas.microsoft.com/office/drawing/2014/main" id="{FD31CCCB-848B-C546-BACB-A649CD5A65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672"/>
                <a:ext cx="4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31, 85</a:t>
                </a:r>
              </a:p>
            </p:txBody>
          </p:sp>
        </p:grpSp>
        <p:grpSp>
          <p:nvGrpSpPr>
            <p:cNvPr id="38924" name="Group 17">
              <a:extLst>
                <a:ext uri="{FF2B5EF4-FFF2-40B4-BE49-F238E27FC236}">
                  <a16:creationId xmlns:a16="http://schemas.microsoft.com/office/drawing/2014/main" id="{D2020811-0D34-9F41-A5F4-76C8CA5566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400" y="3397250"/>
              <a:ext cx="914400" cy="336550"/>
              <a:chOff x="2544" y="672"/>
              <a:chExt cx="576" cy="212"/>
            </a:xfrm>
          </p:grpSpPr>
          <p:sp>
            <p:nvSpPr>
              <p:cNvPr id="38970" name="Oval 18">
                <a:extLst>
                  <a:ext uri="{FF2B5EF4-FFF2-40B4-BE49-F238E27FC236}">
                    <a16:creationId xmlns:a16="http://schemas.microsoft.com/office/drawing/2014/main" id="{0679F9FC-E81E-4044-BF88-F1639BE0D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672"/>
                <a:ext cx="576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8971" name="Text Box 19">
                <a:extLst>
                  <a:ext uri="{FF2B5EF4-FFF2-40B4-BE49-F238E27FC236}">
                    <a16:creationId xmlns:a16="http://schemas.microsoft.com/office/drawing/2014/main" id="{7E9A202F-767C-E144-8B24-7E8EC75772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672"/>
                <a:ext cx="4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30, 11</a:t>
                </a:r>
              </a:p>
            </p:txBody>
          </p:sp>
        </p:grpSp>
        <p:grpSp>
          <p:nvGrpSpPr>
            <p:cNvPr id="38925" name="Group 20">
              <a:extLst>
                <a:ext uri="{FF2B5EF4-FFF2-40B4-BE49-F238E27FC236}">
                  <a16:creationId xmlns:a16="http://schemas.microsoft.com/office/drawing/2014/main" id="{682645A8-CFE0-2F4B-8750-C73B8EBB6E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0200" y="3321050"/>
              <a:ext cx="914400" cy="336550"/>
              <a:chOff x="2544" y="672"/>
              <a:chExt cx="576" cy="212"/>
            </a:xfrm>
          </p:grpSpPr>
          <p:sp>
            <p:nvSpPr>
              <p:cNvPr id="38968" name="Oval 21">
                <a:extLst>
                  <a:ext uri="{FF2B5EF4-FFF2-40B4-BE49-F238E27FC236}">
                    <a16:creationId xmlns:a16="http://schemas.microsoft.com/office/drawing/2014/main" id="{01543013-D47A-4349-AA90-87B74E277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672"/>
                <a:ext cx="576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8969" name="Text Box 22">
                <a:extLst>
                  <a:ext uri="{FF2B5EF4-FFF2-40B4-BE49-F238E27FC236}">
                    <a16:creationId xmlns:a16="http://schemas.microsoft.com/office/drawing/2014/main" id="{9E67A6CA-F24E-9845-83EB-189B91F52C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672"/>
                <a:ext cx="4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70, 3</a:t>
                </a:r>
              </a:p>
            </p:txBody>
          </p:sp>
        </p:grpSp>
        <p:sp>
          <p:nvSpPr>
            <p:cNvPr id="38926" name="Oval 24">
              <a:extLst>
                <a:ext uri="{FF2B5EF4-FFF2-40B4-BE49-F238E27FC236}">
                  <a16:creationId xmlns:a16="http://schemas.microsoft.com/office/drawing/2014/main" id="{A8B22D94-6506-B842-9A41-D4CFB51DC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3321050"/>
              <a:ext cx="914400" cy="3048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38927" name="Text Box 25">
              <a:extLst>
                <a:ext uri="{FF2B5EF4-FFF2-40B4-BE49-F238E27FC236}">
                  <a16:creationId xmlns:a16="http://schemas.microsoft.com/office/drawing/2014/main" id="{A7E180BA-79A0-ED4C-B6E3-4E39C4DEB6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3321050"/>
              <a:ext cx="7620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99, 90</a:t>
              </a:r>
            </a:p>
          </p:txBody>
        </p:sp>
        <p:grpSp>
          <p:nvGrpSpPr>
            <p:cNvPr id="38928" name="Group 26">
              <a:extLst>
                <a:ext uri="{FF2B5EF4-FFF2-40B4-BE49-F238E27FC236}">
                  <a16:creationId xmlns:a16="http://schemas.microsoft.com/office/drawing/2014/main" id="{A72BC3E2-462D-984D-8559-C5E432B699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4127500"/>
              <a:ext cx="914400" cy="336550"/>
              <a:chOff x="2544" y="672"/>
              <a:chExt cx="576" cy="212"/>
            </a:xfrm>
          </p:grpSpPr>
          <p:sp>
            <p:nvSpPr>
              <p:cNvPr id="38966" name="Oval 27">
                <a:extLst>
                  <a:ext uri="{FF2B5EF4-FFF2-40B4-BE49-F238E27FC236}">
                    <a16:creationId xmlns:a16="http://schemas.microsoft.com/office/drawing/2014/main" id="{D3A0FD51-217C-854B-B3F9-F1CDE3FF9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672"/>
                <a:ext cx="576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8967" name="Text Box 28">
                <a:extLst>
                  <a:ext uri="{FF2B5EF4-FFF2-40B4-BE49-F238E27FC236}">
                    <a16:creationId xmlns:a16="http://schemas.microsoft.com/office/drawing/2014/main" id="{0BE1F480-2522-F646-9E39-2E3F175674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672"/>
                <a:ext cx="4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29, 16</a:t>
                </a:r>
              </a:p>
            </p:txBody>
          </p:sp>
        </p:grpSp>
        <p:grpSp>
          <p:nvGrpSpPr>
            <p:cNvPr id="38929" name="Group 29">
              <a:extLst>
                <a:ext uri="{FF2B5EF4-FFF2-40B4-BE49-F238E27FC236}">
                  <a16:creationId xmlns:a16="http://schemas.microsoft.com/office/drawing/2014/main" id="{6C0F2154-904F-BC4C-AE9D-961130E1FC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8800" y="4083050"/>
              <a:ext cx="914400" cy="336550"/>
              <a:chOff x="2544" y="672"/>
              <a:chExt cx="576" cy="212"/>
            </a:xfrm>
          </p:grpSpPr>
          <p:sp>
            <p:nvSpPr>
              <p:cNvPr id="38964" name="Oval 30">
                <a:extLst>
                  <a:ext uri="{FF2B5EF4-FFF2-40B4-BE49-F238E27FC236}">
                    <a16:creationId xmlns:a16="http://schemas.microsoft.com/office/drawing/2014/main" id="{F6F212CB-2073-C64D-A033-74BDCA07E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672"/>
                <a:ext cx="576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8965" name="Text Box 31">
                <a:extLst>
                  <a:ext uri="{FF2B5EF4-FFF2-40B4-BE49-F238E27FC236}">
                    <a16:creationId xmlns:a16="http://schemas.microsoft.com/office/drawing/2014/main" id="{2A2ADAEE-8382-9843-A86D-1869F3E227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672"/>
                <a:ext cx="4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40, 26</a:t>
                </a:r>
              </a:p>
            </p:txBody>
          </p:sp>
        </p:grpSp>
        <p:grpSp>
          <p:nvGrpSpPr>
            <p:cNvPr id="38930" name="Group 32">
              <a:extLst>
                <a:ext uri="{FF2B5EF4-FFF2-40B4-BE49-F238E27FC236}">
                  <a16:creationId xmlns:a16="http://schemas.microsoft.com/office/drawing/2014/main" id="{CE84083D-2B6A-984B-B831-5D33ED581C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4083050"/>
              <a:ext cx="914400" cy="336550"/>
              <a:chOff x="2544" y="672"/>
              <a:chExt cx="576" cy="212"/>
            </a:xfrm>
          </p:grpSpPr>
          <p:sp>
            <p:nvSpPr>
              <p:cNvPr id="38962" name="Oval 33">
                <a:extLst>
                  <a:ext uri="{FF2B5EF4-FFF2-40B4-BE49-F238E27FC236}">
                    <a16:creationId xmlns:a16="http://schemas.microsoft.com/office/drawing/2014/main" id="{028A04A1-F4DD-0F4D-AF73-B7C3702712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672"/>
                <a:ext cx="576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8963" name="Text Box 34">
                <a:extLst>
                  <a:ext uri="{FF2B5EF4-FFF2-40B4-BE49-F238E27FC236}">
                    <a16:creationId xmlns:a16="http://schemas.microsoft.com/office/drawing/2014/main" id="{29B79839-D7DE-414A-81E2-F8A6B3B9C8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672"/>
                <a:ext cx="4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7, 39</a:t>
                </a:r>
              </a:p>
            </p:txBody>
          </p:sp>
        </p:grpSp>
        <p:grpSp>
          <p:nvGrpSpPr>
            <p:cNvPr id="38931" name="Group 35">
              <a:extLst>
                <a:ext uri="{FF2B5EF4-FFF2-40B4-BE49-F238E27FC236}">
                  <a16:creationId xmlns:a16="http://schemas.microsoft.com/office/drawing/2014/main" id="{91AEBD44-9CFC-9B4D-9A55-3C83A86113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9600" y="4051300"/>
              <a:ext cx="914400" cy="336550"/>
              <a:chOff x="2544" y="672"/>
              <a:chExt cx="576" cy="212"/>
            </a:xfrm>
          </p:grpSpPr>
          <p:sp>
            <p:nvSpPr>
              <p:cNvPr id="38960" name="Oval 36">
                <a:extLst>
                  <a:ext uri="{FF2B5EF4-FFF2-40B4-BE49-F238E27FC236}">
                    <a16:creationId xmlns:a16="http://schemas.microsoft.com/office/drawing/2014/main" id="{EBD7D5CC-E120-CF4E-8E8C-A2F1A01545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672"/>
                <a:ext cx="576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8961" name="Text Box 37">
                <a:extLst>
                  <a:ext uri="{FF2B5EF4-FFF2-40B4-BE49-F238E27FC236}">
                    <a16:creationId xmlns:a16="http://schemas.microsoft.com/office/drawing/2014/main" id="{AD447E1D-6243-4143-82B6-3E313D6FDF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672"/>
                <a:ext cx="4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32, 29</a:t>
                </a:r>
              </a:p>
            </p:txBody>
          </p:sp>
        </p:grpSp>
        <p:sp>
          <p:nvSpPr>
            <p:cNvPr id="38932" name="Oval 39">
              <a:extLst>
                <a:ext uri="{FF2B5EF4-FFF2-40B4-BE49-F238E27FC236}">
                  <a16:creationId xmlns:a16="http://schemas.microsoft.com/office/drawing/2014/main" id="{322D71B6-A3D0-B240-A4F6-7ED28C251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4006850"/>
              <a:ext cx="914400" cy="3048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38933" name="Text Box 40">
              <a:extLst>
                <a:ext uri="{FF2B5EF4-FFF2-40B4-BE49-F238E27FC236}">
                  <a16:creationId xmlns:a16="http://schemas.microsoft.com/office/drawing/2014/main" id="{90546639-3C81-FD43-B19E-D326631F33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4006850"/>
              <a:ext cx="7620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82, 64</a:t>
              </a:r>
            </a:p>
          </p:txBody>
        </p:sp>
        <p:grpSp>
          <p:nvGrpSpPr>
            <p:cNvPr id="38934" name="Group 41">
              <a:extLst>
                <a:ext uri="{FF2B5EF4-FFF2-40B4-BE49-F238E27FC236}">
                  <a16:creationId xmlns:a16="http://schemas.microsoft.com/office/drawing/2014/main" id="{7E4F902A-79E8-4B4F-856A-AAF4495E07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5200" y="4845050"/>
              <a:ext cx="914400" cy="336550"/>
              <a:chOff x="2544" y="672"/>
              <a:chExt cx="576" cy="212"/>
            </a:xfrm>
          </p:grpSpPr>
          <p:sp>
            <p:nvSpPr>
              <p:cNvPr id="38958" name="Oval 42">
                <a:extLst>
                  <a:ext uri="{FF2B5EF4-FFF2-40B4-BE49-F238E27FC236}">
                    <a16:creationId xmlns:a16="http://schemas.microsoft.com/office/drawing/2014/main" id="{5B057009-E8C7-AE45-A21F-A84AB62D03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672"/>
                <a:ext cx="576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8959" name="Text Box 43">
                <a:extLst>
                  <a:ext uri="{FF2B5EF4-FFF2-40B4-BE49-F238E27FC236}">
                    <a16:creationId xmlns:a16="http://schemas.microsoft.com/office/drawing/2014/main" id="{F02BE536-19F2-3B45-90AE-1552337D8A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672"/>
                <a:ext cx="4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73, 75</a:t>
                </a:r>
              </a:p>
            </p:txBody>
          </p:sp>
        </p:grpSp>
        <p:grpSp>
          <p:nvGrpSpPr>
            <p:cNvPr id="38935" name="Group 44">
              <a:extLst>
                <a:ext uri="{FF2B5EF4-FFF2-40B4-BE49-F238E27FC236}">
                  <a16:creationId xmlns:a16="http://schemas.microsoft.com/office/drawing/2014/main" id="{5C36FB64-9DB1-304B-A3AE-2F2171AF9B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0" y="4921250"/>
              <a:ext cx="914400" cy="336550"/>
              <a:chOff x="2544" y="672"/>
              <a:chExt cx="576" cy="212"/>
            </a:xfrm>
          </p:grpSpPr>
          <p:sp>
            <p:nvSpPr>
              <p:cNvPr id="38956" name="Oval 45">
                <a:extLst>
                  <a:ext uri="{FF2B5EF4-FFF2-40B4-BE49-F238E27FC236}">
                    <a16:creationId xmlns:a16="http://schemas.microsoft.com/office/drawing/2014/main" id="{F82FF1EE-C472-C045-9114-31CC529EC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672"/>
                <a:ext cx="576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8957" name="Text Box 46">
                <a:extLst>
                  <a:ext uri="{FF2B5EF4-FFF2-40B4-BE49-F238E27FC236}">
                    <a16:creationId xmlns:a16="http://schemas.microsoft.com/office/drawing/2014/main" id="{A97C568C-71F6-C543-9B14-2780595568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672"/>
                <a:ext cx="4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15, 61</a:t>
                </a:r>
              </a:p>
            </p:txBody>
          </p:sp>
        </p:grpSp>
        <p:grpSp>
          <p:nvGrpSpPr>
            <p:cNvPr id="38936" name="Group 47">
              <a:extLst>
                <a:ext uri="{FF2B5EF4-FFF2-40B4-BE49-F238E27FC236}">
                  <a16:creationId xmlns:a16="http://schemas.microsoft.com/office/drawing/2014/main" id="{B9035555-C64E-5744-BB59-4FACA70FA6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400" y="4768850"/>
              <a:ext cx="914400" cy="336550"/>
              <a:chOff x="2544" y="672"/>
              <a:chExt cx="576" cy="212"/>
            </a:xfrm>
          </p:grpSpPr>
          <p:sp>
            <p:nvSpPr>
              <p:cNvPr id="38954" name="Oval 48">
                <a:extLst>
                  <a:ext uri="{FF2B5EF4-FFF2-40B4-BE49-F238E27FC236}">
                    <a16:creationId xmlns:a16="http://schemas.microsoft.com/office/drawing/2014/main" id="{1A2E521A-83FE-C941-B421-35D7226AD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672"/>
                <a:ext cx="576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8955" name="Text Box 49">
                <a:extLst>
                  <a:ext uri="{FF2B5EF4-FFF2-40B4-BE49-F238E27FC236}">
                    <a16:creationId xmlns:a16="http://schemas.microsoft.com/office/drawing/2014/main" id="{6417207A-3CD9-F744-B31D-932537525B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672"/>
                <a:ext cx="4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38, 23</a:t>
                </a:r>
              </a:p>
            </p:txBody>
          </p:sp>
        </p:grpSp>
        <p:sp>
          <p:nvSpPr>
            <p:cNvPr id="38937" name="Line 50">
              <a:extLst>
                <a:ext uri="{FF2B5EF4-FFF2-40B4-BE49-F238E27FC236}">
                  <a16:creationId xmlns:a16="http://schemas.microsoft.com/office/drawing/2014/main" id="{6111B96B-80EB-7844-A70C-9D8F7B9C20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52800" y="2482850"/>
              <a:ext cx="1371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8" name="Line 51">
              <a:extLst>
                <a:ext uri="{FF2B5EF4-FFF2-40B4-BE49-F238E27FC236}">
                  <a16:creationId xmlns:a16="http://schemas.microsoft.com/office/drawing/2014/main" id="{A321F413-43B6-E243-BFEA-248DD1021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2482850"/>
              <a:ext cx="144780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9" name="Line 52">
              <a:extLst>
                <a:ext uri="{FF2B5EF4-FFF2-40B4-BE49-F238E27FC236}">
                  <a16:creationId xmlns:a16="http://schemas.microsoft.com/office/drawing/2014/main" id="{D597DEA6-6660-E24C-BEBE-33ACF04446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8800" y="3016250"/>
              <a:ext cx="762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0" name="Line 53">
              <a:extLst>
                <a:ext uri="{FF2B5EF4-FFF2-40B4-BE49-F238E27FC236}">
                  <a16:creationId xmlns:a16="http://schemas.microsoft.com/office/drawing/2014/main" id="{291C11D7-5AF6-C646-9380-D41865D8F7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3016250"/>
              <a:ext cx="609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1" name="Line 54">
              <a:extLst>
                <a:ext uri="{FF2B5EF4-FFF2-40B4-BE49-F238E27FC236}">
                  <a16:creationId xmlns:a16="http://schemas.microsoft.com/office/drawing/2014/main" id="{4B2A02C1-0EE8-0A4C-8026-94DA26D50F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43600" y="3016250"/>
              <a:ext cx="838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2" name="Line 55">
              <a:extLst>
                <a:ext uri="{FF2B5EF4-FFF2-40B4-BE49-F238E27FC236}">
                  <a16:creationId xmlns:a16="http://schemas.microsoft.com/office/drawing/2014/main" id="{1DA370B9-8FF4-0E4A-80D7-80B157C13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2800" y="3016250"/>
              <a:ext cx="609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3" name="Line 56">
              <a:extLst>
                <a:ext uri="{FF2B5EF4-FFF2-40B4-BE49-F238E27FC236}">
                  <a16:creationId xmlns:a16="http://schemas.microsoft.com/office/drawing/2014/main" id="{26B52299-B2C5-8748-A537-00A1F3382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34200" y="3625850"/>
              <a:ext cx="609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4" name="Line 57">
              <a:extLst>
                <a:ext uri="{FF2B5EF4-FFF2-40B4-BE49-F238E27FC236}">
                  <a16:creationId xmlns:a16="http://schemas.microsoft.com/office/drawing/2014/main" id="{7C48CA49-F6B3-A54F-9810-9B691F4B8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0400" y="4311650"/>
              <a:ext cx="762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5" name="Line 58">
              <a:extLst>
                <a:ext uri="{FF2B5EF4-FFF2-40B4-BE49-F238E27FC236}">
                  <a16:creationId xmlns:a16="http://schemas.microsoft.com/office/drawing/2014/main" id="{9F5ADB66-E72A-2145-A77E-054A5220F4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800" y="3702050"/>
              <a:ext cx="457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6" name="Line 59">
              <a:extLst>
                <a:ext uri="{FF2B5EF4-FFF2-40B4-BE49-F238E27FC236}">
                  <a16:creationId xmlns:a16="http://schemas.microsoft.com/office/drawing/2014/main" id="{231D3A6D-10C9-C940-9733-F207D06CD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000" y="3702050"/>
              <a:ext cx="381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7" name="Line 60">
              <a:extLst>
                <a:ext uri="{FF2B5EF4-FFF2-40B4-BE49-F238E27FC236}">
                  <a16:creationId xmlns:a16="http://schemas.microsoft.com/office/drawing/2014/main" id="{25E933EB-D8CE-254C-BBCD-0EAC710492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8800" y="4387850"/>
              <a:ext cx="381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8" name="Line 61">
              <a:extLst>
                <a:ext uri="{FF2B5EF4-FFF2-40B4-BE49-F238E27FC236}">
                  <a16:creationId xmlns:a16="http://schemas.microsoft.com/office/drawing/2014/main" id="{C14BBA85-E37F-674A-B42C-2AA7BAA438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7600" y="3702050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9" name="Line 62">
              <a:extLst>
                <a:ext uri="{FF2B5EF4-FFF2-40B4-BE49-F238E27FC236}">
                  <a16:creationId xmlns:a16="http://schemas.microsoft.com/office/drawing/2014/main" id="{B19FC0EB-FB8C-F34D-A79F-2D7E920C5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200" y="370205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0" name="Oval 65">
              <a:extLst>
                <a:ext uri="{FF2B5EF4-FFF2-40B4-BE49-F238E27FC236}">
                  <a16:creationId xmlns:a16="http://schemas.microsoft.com/office/drawing/2014/main" id="{B77ECEA9-310E-D143-B24D-48683A1D5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4876800"/>
              <a:ext cx="914400" cy="3048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38951" name="Text Box 66">
              <a:extLst>
                <a:ext uri="{FF2B5EF4-FFF2-40B4-BE49-F238E27FC236}">
                  <a16:creationId xmlns:a16="http://schemas.microsoft.com/office/drawing/2014/main" id="{BA86BAE0-62BD-1E49-A849-0C981BE73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4845050"/>
              <a:ext cx="7620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55,62</a:t>
              </a:r>
            </a:p>
          </p:txBody>
        </p:sp>
        <p:sp>
          <p:nvSpPr>
            <p:cNvPr id="38952" name="Line 67">
              <a:extLst>
                <a:ext uri="{FF2B5EF4-FFF2-40B4-BE49-F238E27FC236}">
                  <a16:creationId xmlns:a16="http://schemas.microsoft.com/office/drawing/2014/main" id="{87F7E93C-D890-0147-BCA2-7417A5ABD1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24600" y="4267200"/>
              <a:ext cx="38100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3" name="Line 75">
              <a:extLst>
                <a:ext uri="{FF2B5EF4-FFF2-40B4-BE49-F238E27FC236}">
                  <a16:creationId xmlns:a16="http://schemas.microsoft.com/office/drawing/2014/main" id="{8A0DC1A2-591A-EA4D-A97C-292487E13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4419600"/>
              <a:ext cx="609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917" name="TextBox 1">
            <a:extLst>
              <a:ext uri="{FF2B5EF4-FFF2-40B4-BE49-F238E27FC236}">
                <a16:creationId xmlns:a16="http://schemas.microsoft.com/office/drawing/2014/main" id="{E1DBC837-577C-4244-9B91-E74C3EF67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4392" y="2006916"/>
            <a:ext cx="18414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400" u="sng" dirty="0">
                <a:latin typeface="+mn-lt"/>
                <a:ea typeface="宋体" panose="02010600030101010101" pitchFamily="2" charset="-122"/>
              </a:rPr>
              <a:t>Example: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 k=2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B922F0-26E4-024C-A1CC-CFF572D26AF0}"/>
              </a:ext>
            </a:extLst>
          </p:cNvPr>
          <p:cNvSpPr txBox="1"/>
          <p:nvPr/>
        </p:nvSpPr>
        <p:spPr>
          <a:xfrm>
            <a:off x="9044032" y="3242164"/>
            <a:ext cx="108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Split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x-</a:t>
            </a:r>
            <a:endParaRPr 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240BF4A-2099-8148-BE3E-C6EC1608CF92}"/>
              </a:ext>
            </a:extLst>
          </p:cNvPr>
          <p:cNvSpPr txBox="1"/>
          <p:nvPr/>
        </p:nvSpPr>
        <p:spPr>
          <a:xfrm>
            <a:off x="9462613" y="3808941"/>
            <a:ext cx="109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Split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y-</a:t>
            </a:r>
            <a:endParaRPr 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BB9FD6F-3411-5B4D-A2EC-1DF8D6FD9499}"/>
              </a:ext>
            </a:extLst>
          </p:cNvPr>
          <p:cNvSpPr txBox="1"/>
          <p:nvPr/>
        </p:nvSpPr>
        <p:spPr>
          <a:xfrm>
            <a:off x="8710667" y="4493114"/>
            <a:ext cx="109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Split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x-</a:t>
            </a:r>
            <a:endParaRPr 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E960CEB-084F-7B4F-9D9B-02DFAA1BAA28}"/>
              </a:ext>
            </a:extLst>
          </p:cNvPr>
          <p:cNvSpPr txBox="1"/>
          <p:nvPr/>
        </p:nvSpPr>
        <p:spPr>
          <a:xfrm>
            <a:off x="9484384" y="5314317"/>
            <a:ext cx="109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Split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y-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564BC8-FCB6-DB1D-4D56-E8C71969C0AB}"/>
              </a:ext>
            </a:extLst>
          </p:cNvPr>
          <p:cNvSpPr txBox="1"/>
          <p:nvPr/>
        </p:nvSpPr>
        <p:spPr>
          <a:xfrm>
            <a:off x="380724" y="299408"/>
            <a:ext cx="18926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420A472D-B995-FCFF-4DDD-98F9AD3521B6}"/>
              </a:ext>
            </a:extLst>
          </p:cNvPr>
          <p:cNvSpPr/>
          <p:nvPr/>
        </p:nvSpPr>
        <p:spPr>
          <a:xfrm>
            <a:off x="238666" y="311105"/>
            <a:ext cx="2099766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BFD5E3-6A32-001D-B3AE-90714C4F2F4E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38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A2EECC-6A6C-0ABE-3E99-FF06B91E26F8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/>
      <p:bldP spid="38917" grpId="0"/>
      <p:bldP spid="2" grpId="0"/>
      <p:bldP spid="65" grpId="0"/>
      <p:bldP spid="66" grpId="0"/>
      <p:bldP spid="6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4">
            <a:extLst>
              <a:ext uri="{FF2B5EF4-FFF2-40B4-BE49-F238E27FC236}">
                <a16:creationId xmlns:a16="http://schemas.microsoft.com/office/drawing/2014/main" id="{3F4B9C12-89B1-6242-8782-CC287C3D2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092201"/>
            <a:ext cx="82296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600">
                <a:ea typeface="宋体" panose="02010600030101010101" pitchFamily="2" charset="-122"/>
              </a:rPr>
              <a:t> 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pic>
        <p:nvPicPr>
          <p:cNvPr id="39940" name="Picture 4">
            <a:extLst>
              <a:ext uri="{FF2B5EF4-FFF2-40B4-BE49-F238E27FC236}">
                <a16:creationId xmlns:a16="http://schemas.microsoft.com/office/drawing/2014/main" id="{37DD3AFE-56B1-9640-8B86-39CA45C52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09" t="5316"/>
          <a:stretch>
            <a:fillRect/>
          </a:stretch>
        </p:blipFill>
        <p:spPr bwMode="auto">
          <a:xfrm>
            <a:off x="3257551" y="2610143"/>
            <a:ext cx="563562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Rectangle 1">
            <a:extLst>
              <a:ext uri="{FF2B5EF4-FFF2-40B4-BE49-F238E27FC236}">
                <a16:creationId xmlns:a16="http://schemas.microsoft.com/office/drawing/2014/main" id="{E98701AF-82A1-0A42-B77E-83A9D6CE7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8373" y="1733406"/>
            <a:ext cx="51739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u="sng" dirty="0">
                <a:latin typeface="+mn-lt"/>
                <a:ea typeface="宋体" panose="02010600030101010101" pitchFamily="2" charset="-122"/>
              </a:rPr>
              <a:t>Example:</a:t>
            </a:r>
            <a:r>
              <a:rPr lang="en-US" altLang="zh-CN" sz="2800" dirty="0">
                <a:latin typeface="+mn-lt"/>
                <a:ea typeface="宋体" panose="02010600030101010101" pitchFamily="2" charset="-122"/>
              </a:rPr>
              <a:t> data stored at the leaves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30476A-E45B-3D79-1EF3-1CD647254F44}"/>
              </a:ext>
            </a:extLst>
          </p:cNvPr>
          <p:cNvSpPr txBox="1"/>
          <p:nvPr/>
        </p:nvSpPr>
        <p:spPr>
          <a:xfrm>
            <a:off x="380724" y="299408"/>
            <a:ext cx="355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 (cont’d)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25096777-6F3E-6D6A-AEB7-FCCE17FE4351}"/>
              </a:ext>
            </a:extLst>
          </p:cNvPr>
          <p:cNvSpPr/>
          <p:nvPr/>
        </p:nvSpPr>
        <p:spPr>
          <a:xfrm>
            <a:off x="238665" y="311105"/>
            <a:ext cx="362027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3AEA592-9F4B-B543-44E7-DA9A1839325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39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BC26D6-25E1-9FAB-446A-6DAF9306C91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4">
            <a:extLst>
              <a:ext uri="{FF2B5EF4-FFF2-40B4-BE49-F238E27FC236}">
                <a16:creationId xmlns:a16="http://schemas.microsoft.com/office/drawing/2014/main" id="{D5D4F2F3-A414-6D4A-AF3A-AA70F139A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290639"/>
            <a:ext cx="80391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</a:rPr>
              <a:t>Every node (except leaves) represents a hyperplane that divides the space into two parts.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</a:rPr>
              <a:t>Points to the left (right) of this hyperplane represent the left (right) sub-tree of that node.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40964" name="Picture 4">
            <a:extLst>
              <a:ext uri="{FF2B5EF4-FFF2-40B4-BE49-F238E27FC236}">
                <a16:creationId xmlns:a16="http://schemas.microsoft.com/office/drawing/2014/main" id="{3B8D168B-415A-AD4F-AA6B-302FBD770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09" t="5316"/>
          <a:stretch>
            <a:fillRect/>
          </a:stretch>
        </p:blipFill>
        <p:spPr bwMode="auto">
          <a:xfrm>
            <a:off x="5754688" y="2881314"/>
            <a:ext cx="426561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0965" name="Group 5">
            <a:extLst>
              <a:ext uri="{FF2B5EF4-FFF2-40B4-BE49-F238E27FC236}">
                <a16:creationId xmlns:a16="http://schemas.microsoft.com/office/drawing/2014/main" id="{DB11FE04-CBCD-2243-9525-BB30C8798798}"/>
              </a:ext>
            </a:extLst>
          </p:cNvPr>
          <p:cNvGrpSpPr>
            <a:grpSpLocks/>
          </p:cNvGrpSpPr>
          <p:nvPr/>
        </p:nvGrpSpPr>
        <p:grpSpPr bwMode="auto">
          <a:xfrm>
            <a:off x="2597150" y="3321050"/>
            <a:ext cx="2095500" cy="2222500"/>
            <a:chOff x="457200" y="2819400"/>
            <a:chExt cx="2095500" cy="22225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E090934-4141-764E-B283-6E8E6E9E5F4A}"/>
                </a:ext>
              </a:extLst>
            </p:cNvPr>
            <p:cNvSpPr/>
            <p:nvPr/>
          </p:nvSpPr>
          <p:spPr>
            <a:xfrm>
              <a:off x="457200" y="34036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B57D1CB-18FC-1A44-8E41-E4212E06FF3B}"/>
                </a:ext>
              </a:extLst>
            </p:cNvPr>
            <p:cNvSpPr/>
            <p:nvPr/>
          </p:nvSpPr>
          <p:spPr>
            <a:xfrm>
              <a:off x="812800" y="33655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6734701-0011-C447-839B-11F0CFC31866}"/>
                </a:ext>
              </a:extLst>
            </p:cNvPr>
            <p:cNvSpPr/>
            <p:nvPr/>
          </p:nvSpPr>
          <p:spPr>
            <a:xfrm>
              <a:off x="558800" y="39497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D9E3D35-97F1-1945-9F86-A3E0F7F8239B}"/>
                </a:ext>
              </a:extLst>
            </p:cNvPr>
            <p:cNvSpPr/>
            <p:nvPr/>
          </p:nvSpPr>
          <p:spPr>
            <a:xfrm>
              <a:off x="2006600" y="39878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2C23A9-065F-C743-9693-1FCDDE217087}"/>
                </a:ext>
              </a:extLst>
            </p:cNvPr>
            <p:cNvSpPr/>
            <p:nvPr/>
          </p:nvSpPr>
          <p:spPr>
            <a:xfrm>
              <a:off x="609600" y="35560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D48E42-759C-6A47-80DE-5FB89359985E}"/>
                </a:ext>
              </a:extLst>
            </p:cNvPr>
            <p:cNvSpPr/>
            <p:nvPr/>
          </p:nvSpPr>
          <p:spPr>
            <a:xfrm>
              <a:off x="1549400" y="33655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FB69CA2-65C8-1A4B-85B4-D4831387EED0}"/>
                </a:ext>
              </a:extLst>
            </p:cNvPr>
            <p:cNvSpPr/>
            <p:nvPr/>
          </p:nvSpPr>
          <p:spPr>
            <a:xfrm>
              <a:off x="711200" y="43561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404220-0F1B-944D-B6D0-2D20FFEDAB2F}"/>
                </a:ext>
              </a:extLst>
            </p:cNvPr>
            <p:cNvSpPr/>
            <p:nvPr/>
          </p:nvSpPr>
          <p:spPr>
            <a:xfrm>
              <a:off x="1905000" y="3538538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0430C49-C97C-FE4D-A3C6-32C958294FD2}"/>
                </a:ext>
              </a:extLst>
            </p:cNvPr>
            <p:cNvSpPr/>
            <p:nvPr/>
          </p:nvSpPr>
          <p:spPr>
            <a:xfrm>
              <a:off x="609600" y="35560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0CE476D-9C2A-9641-B3BB-DA528A1187DA}"/>
                </a:ext>
              </a:extLst>
            </p:cNvPr>
            <p:cNvSpPr/>
            <p:nvPr/>
          </p:nvSpPr>
          <p:spPr>
            <a:xfrm>
              <a:off x="2070100" y="43561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024C972-DF7B-F445-92A8-8247240A9CDF}"/>
                </a:ext>
              </a:extLst>
            </p:cNvPr>
            <p:cNvSpPr/>
            <p:nvPr/>
          </p:nvSpPr>
          <p:spPr>
            <a:xfrm>
              <a:off x="711200" y="41021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7030897-8ABA-3944-8190-E80B229F1150}"/>
                </a:ext>
              </a:extLst>
            </p:cNvPr>
            <p:cNvSpPr/>
            <p:nvPr/>
          </p:nvSpPr>
          <p:spPr>
            <a:xfrm>
              <a:off x="1752600" y="39878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DE5D93B-67A0-7646-8BD7-D1BDD345854D}"/>
                </a:ext>
              </a:extLst>
            </p:cNvPr>
            <p:cNvSpPr/>
            <p:nvPr/>
          </p:nvSpPr>
          <p:spPr>
            <a:xfrm>
              <a:off x="762000" y="37084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D416A5E-5481-DE44-A5F0-D7631E362A71}"/>
                </a:ext>
              </a:extLst>
            </p:cNvPr>
            <p:cNvSpPr/>
            <p:nvPr/>
          </p:nvSpPr>
          <p:spPr>
            <a:xfrm>
              <a:off x="2451100" y="35687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9001DB6-0E0C-A742-AF8E-64B6AC64950B}"/>
                </a:ext>
              </a:extLst>
            </p:cNvPr>
            <p:cNvSpPr/>
            <p:nvPr/>
          </p:nvSpPr>
          <p:spPr>
            <a:xfrm>
              <a:off x="863600" y="45085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47F53E6-EE55-054A-9FB9-FB2B2B150A57}"/>
                </a:ext>
              </a:extLst>
            </p:cNvPr>
            <p:cNvSpPr/>
            <p:nvPr/>
          </p:nvSpPr>
          <p:spPr>
            <a:xfrm>
              <a:off x="1498600" y="4546600"/>
              <a:ext cx="1016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4798A04-D187-8442-ACF0-F8B0C65FCBCD}"/>
                </a:ext>
              </a:extLst>
            </p:cNvPr>
            <p:cNvCxnSpPr/>
            <p:nvPr/>
          </p:nvCxnSpPr>
          <p:spPr>
            <a:xfrm flipH="1">
              <a:off x="1308100" y="2819400"/>
              <a:ext cx="38100" cy="2222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3" name="TextBox 23">
              <a:extLst>
                <a:ext uri="{FF2B5EF4-FFF2-40B4-BE49-F238E27FC236}">
                  <a16:creationId xmlns:a16="http://schemas.microsoft.com/office/drawing/2014/main" id="{11FA42AB-16EC-FA4F-848F-461FEB5E32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819400"/>
              <a:ext cx="5437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panose="02010600030101010101" pitchFamily="2" charset="-122"/>
                </a:rPr>
                <a:t>P</a:t>
              </a:r>
              <a:r>
                <a:rPr lang="en-US" altLang="zh-CN" baseline="-25000">
                  <a:ea typeface="宋体" panose="02010600030101010101" pitchFamily="2" charset="-122"/>
                </a:rPr>
                <a:t>left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40984" name="TextBox 24">
              <a:extLst>
                <a:ext uri="{FF2B5EF4-FFF2-40B4-BE49-F238E27FC236}">
                  <a16:creationId xmlns:a16="http://schemas.microsoft.com/office/drawing/2014/main" id="{957C1D31-6A5F-5F43-9ADB-949784366A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2919968"/>
              <a:ext cx="6367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panose="02010600030101010101" pitchFamily="2" charset="-122"/>
                </a:rPr>
                <a:t>P</a:t>
              </a:r>
              <a:r>
                <a:rPr lang="en-US" altLang="zh-CN" baseline="-25000">
                  <a:ea typeface="宋体" panose="02010600030101010101" pitchFamily="2" charset="-122"/>
                </a:rPr>
                <a:t>right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1E8F9355-65DA-2721-0197-C45FF3C19A80}"/>
              </a:ext>
            </a:extLst>
          </p:cNvPr>
          <p:cNvSpPr txBox="1"/>
          <p:nvPr/>
        </p:nvSpPr>
        <p:spPr>
          <a:xfrm>
            <a:off x="380724" y="299408"/>
            <a:ext cx="355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 (cont’d)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A7062359-3A42-7C61-6624-7DE79A1EAA28}"/>
              </a:ext>
            </a:extLst>
          </p:cNvPr>
          <p:cNvSpPr/>
          <p:nvPr/>
        </p:nvSpPr>
        <p:spPr>
          <a:xfrm>
            <a:off x="238665" y="311105"/>
            <a:ext cx="409844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EBC082D6-7F73-EE13-F238-9F50CB39A626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40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03804DC-3354-1627-33E5-DE4EA6FE23FB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4">
            <a:extLst>
              <a:ext uri="{FF2B5EF4-FFF2-40B4-BE49-F238E27FC236}">
                <a16:creationId xmlns:a16="http://schemas.microsoft.com/office/drawing/2014/main" id="{F8CB4460-2A69-F342-9016-F2FC613B3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7886" y="1417638"/>
            <a:ext cx="82296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As we move down the tree, we divide the space along </a:t>
            </a:r>
            <a:r>
              <a:rPr lang="en-US" altLang="zh-CN" sz="2400" dirty="0">
                <a:solidFill>
                  <a:srgbClr val="FFC000"/>
                </a:solidFill>
                <a:ea typeface="宋体" panose="02010600030101010101" pitchFamily="2" charset="-122"/>
              </a:rPr>
              <a:t>alternating</a:t>
            </a:r>
            <a:r>
              <a:rPr lang="en-US" altLang="zh-CN" sz="2400" dirty="0">
                <a:ea typeface="宋体" panose="02010600030101010101" pitchFamily="2" charset="-122"/>
              </a:rPr>
              <a:t> (but not always) axis-aligned hyperplanes: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3594853B-5622-9AD5-ED0A-7CDB617F6D14}"/>
              </a:ext>
            </a:extLst>
          </p:cNvPr>
          <p:cNvSpPr/>
          <p:nvPr/>
        </p:nvSpPr>
        <p:spPr>
          <a:xfrm>
            <a:off x="1846066" y="2729399"/>
            <a:ext cx="7543800" cy="2825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CC9900"/>
              </a:buClr>
              <a:buSzPct val="65000"/>
              <a:defRPr/>
            </a:pPr>
            <a:r>
              <a:rPr lang="en-US" sz="2400" kern="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2400" u="sng" kern="0" dirty="0">
                <a:solidFill>
                  <a:srgbClr val="000000"/>
                </a:solidFill>
                <a:latin typeface="Arial"/>
              </a:rPr>
              <a:t>Split by x-coordinate</a:t>
            </a:r>
            <a:r>
              <a:rPr lang="en-US" sz="2400" i="1" kern="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400" kern="0" dirty="0">
                <a:solidFill>
                  <a:srgbClr val="000000"/>
                </a:solidFill>
                <a:latin typeface="Arial"/>
              </a:rPr>
              <a:t>split by a vertical line that 	has (ideally) half the points left or on, and half 	right.</a:t>
            </a:r>
          </a:p>
          <a:p>
            <a:pPr eaLnBrk="0" hangingPunct="0">
              <a:spcBef>
                <a:spcPct val="20000"/>
              </a:spcBef>
              <a:buClr>
                <a:srgbClr val="CC9900"/>
              </a:buClr>
              <a:buSzPct val="65000"/>
              <a:defRPr/>
            </a:pPr>
            <a:endParaRPr lang="en-US" sz="2400" kern="0" dirty="0">
              <a:solidFill>
                <a:srgbClr val="000000"/>
              </a:solidFill>
              <a:latin typeface="Arial"/>
            </a:endParaRPr>
          </a:p>
          <a:p>
            <a:pPr eaLnBrk="0" hangingPunct="0">
              <a:spcBef>
                <a:spcPct val="20000"/>
              </a:spcBef>
              <a:buClr>
                <a:srgbClr val="CC9900"/>
              </a:buClr>
              <a:buSzPct val="65000"/>
              <a:defRPr/>
            </a:pPr>
            <a:r>
              <a:rPr lang="en-US" sz="2400" kern="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2400" u="sng" kern="0" dirty="0">
                <a:solidFill>
                  <a:srgbClr val="000000"/>
                </a:solidFill>
                <a:latin typeface="Arial"/>
              </a:rPr>
              <a:t>Split by y-coordinate</a:t>
            </a:r>
            <a:r>
              <a:rPr lang="en-US" sz="2400" i="1" kern="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400" kern="0" dirty="0">
                <a:solidFill>
                  <a:srgbClr val="000000"/>
                </a:solidFill>
                <a:latin typeface="Arial"/>
              </a:rPr>
              <a:t>split by a horizontal line 	that has (ideally) half the points below or on 	and half above.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2E13FE-A62A-FF41-090F-0B790D2F4548}"/>
              </a:ext>
            </a:extLst>
          </p:cNvPr>
          <p:cNvSpPr txBox="1"/>
          <p:nvPr/>
        </p:nvSpPr>
        <p:spPr>
          <a:xfrm>
            <a:off x="380724" y="299408"/>
            <a:ext cx="355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 (cont’d)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0" name="圆角矩形 8">
            <a:extLst>
              <a:ext uri="{FF2B5EF4-FFF2-40B4-BE49-F238E27FC236}">
                <a16:creationId xmlns:a16="http://schemas.microsoft.com/office/drawing/2014/main" id="{C0C1EAA8-FF70-F3B7-AE5F-4C3EB3F8A4BC}"/>
              </a:ext>
            </a:extLst>
          </p:cNvPr>
          <p:cNvSpPr/>
          <p:nvPr/>
        </p:nvSpPr>
        <p:spPr>
          <a:xfrm>
            <a:off x="238665" y="311105"/>
            <a:ext cx="362027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42CA4DE-6DB4-BC4D-2221-AD75E8733193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41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4">
            <a:extLst>
              <a:ext uri="{FF2B5EF4-FFF2-40B4-BE49-F238E27FC236}">
                <a16:creationId xmlns:a16="http://schemas.microsoft.com/office/drawing/2014/main" id="{0F515275-A251-3E4A-906E-ABBF11333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026" y="2617788"/>
            <a:ext cx="6251575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TextBox 5">
            <a:extLst>
              <a:ext uri="{FF2B5EF4-FFF2-40B4-BE49-F238E27FC236}">
                <a16:creationId xmlns:a16="http://schemas.microsoft.com/office/drawing/2014/main" id="{83ED4119-339B-F74F-8BB3-DB5391F59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389" y="2665414"/>
            <a:ext cx="30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6268F3-060A-D246-85F8-3D33B5201C56}"/>
              </a:ext>
            </a:extLst>
          </p:cNvPr>
          <p:cNvSpPr/>
          <p:nvPr/>
        </p:nvSpPr>
        <p:spPr>
          <a:xfrm>
            <a:off x="2349499" y="1219200"/>
            <a:ext cx="75159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CC9900"/>
              </a:buClr>
              <a:buSzPct val="65000"/>
              <a:defRPr/>
            </a:pPr>
            <a:r>
              <a:rPr lang="en-US" sz="2400" u="sng" kern="0" dirty="0">
                <a:solidFill>
                  <a:srgbClr val="000000"/>
                </a:solidFill>
                <a:latin typeface="Arial"/>
              </a:rPr>
              <a:t>Split by x-coordinate</a:t>
            </a:r>
            <a:r>
              <a:rPr lang="en-US" sz="2400" i="1" kern="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400" kern="0" dirty="0">
                <a:solidFill>
                  <a:srgbClr val="000000"/>
                </a:solidFill>
                <a:latin typeface="Arial"/>
              </a:rPr>
              <a:t>split by a vertical line that has approximately half the points left or on, and half right.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38CA40-14EC-C342-A3A8-5C12E0C53B8F}"/>
              </a:ext>
            </a:extLst>
          </p:cNvPr>
          <p:cNvCxnSpPr/>
          <p:nvPr/>
        </p:nvCxnSpPr>
        <p:spPr>
          <a:xfrm>
            <a:off x="4140200" y="2755901"/>
            <a:ext cx="19050" cy="27987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E6E011E-395B-A028-BEEE-C5779FD00024}"/>
              </a:ext>
            </a:extLst>
          </p:cNvPr>
          <p:cNvSpPr txBox="1"/>
          <p:nvPr/>
        </p:nvSpPr>
        <p:spPr>
          <a:xfrm>
            <a:off x="380724" y="299408"/>
            <a:ext cx="355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Tree-Example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2" name="圆角矩形 8">
            <a:extLst>
              <a:ext uri="{FF2B5EF4-FFF2-40B4-BE49-F238E27FC236}">
                <a16:creationId xmlns:a16="http://schemas.microsoft.com/office/drawing/2014/main" id="{B7B2A423-9ECC-234B-3A83-212C6336C6E9}"/>
              </a:ext>
            </a:extLst>
          </p:cNvPr>
          <p:cNvSpPr/>
          <p:nvPr/>
        </p:nvSpPr>
        <p:spPr>
          <a:xfrm>
            <a:off x="238666" y="311105"/>
            <a:ext cx="369577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2E51BC63-5970-737E-7678-8E48F395A2A0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42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74E2AE-0C78-BC63-97F7-68336A5B1B0D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4">
            <a:extLst>
              <a:ext uri="{FF2B5EF4-FFF2-40B4-BE49-F238E27FC236}">
                <a16:creationId xmlns:a16="http://schemas.microsoft.com/office/drawing/2014/main" id="{F74107FF-AAEA-114C-AE13-910E6D63E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026" y="2617788"/>
            <a:ext cx="6251575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Box 5">
            <a:extLst>
              <a:ext uri="{FF2B5EF4-FFF2-40B4-BE49-F238E27FC236}">
                <a16:creationId xmlns:a16="http://schemas.microsoft.com/office/drawing/2014/main" id="{2242C4F2-48CF-664B-A261-FA4722324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389" y="2665414"/>
            <a:ext cx="30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44037" name="TextBox 7">
            <a:extLst>
              <a:ext uri="{FF2B5EF4-FFF2-40B4-BE49-F238E27FC236}">
                <a16:creationId xmlns:a16="http://schemas.microsoft.com/office/drawing/2014/main" id="{6CFE907B-B848-AF41-B2EA-15EE9BA32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4364" y="336550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D7C713-CB66-2440-80D1-BB998CA37211}"/>
              </a:ext>
            </a:extLst>
          </p:cNvPr>
          <p:cNvSpPr/>
          <p:nvPr/>
        </p:nvSpPr>
        <p:spPr>
          <a:xfrm>
            <a:off x="2362200" y="1417638"/>
            <a:ext cx="6929438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CC9900"/>
              </a:buClr>
              <a:buSzPct val="65000"/>
              <a:defRPr/>
            </a:pPr>
            <a:r>
              <a:rPr lang="en-US" sz="2400" u="sng" kern="0" dirty="0">
                <a:solidFill>
                  <a:srgbClr val="000000"/>
                </a:solidFill>
                <a:latin typeface="Arial"/>
              </a:rPr>
              <a:t>Split by y-coordinate</a:t>
            </a:r>
            <a:r>
              <a:rPr lang="en-US" sz="2400" i="1" kern="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400" kern="0" dirty="0">
                <a:solidFill>
                  <a:srgbClr val="000000"/>
                </a:solidFill>
                <a:latin typeface="Arial"/>
              </a:rPr>
              <a:t>split by a horizontal line that has half the points below or on and half above.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781DDF1-703D-CC45-8B40-22E5C026A749}"/>
              </a:ext>
            </a:extLst>
          </p:cNvPr>
          <p:cNvCxnSpPr>
            <a:cxnSpLocks/>
          </p:cNvCxnSpPr>
          <p:nvPr/>
        </p:nvCxnSpPr>
        <p:spPr>
          <a:xfrm>
            <a:off x="3056710" y="3937000"/>
            <a:ext cx="109619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3E30B1-40FB-1B45-90C0-6CB292770B37}"/>
              </a:ext>
            </a:extLst>
          </p:cNvPr>
          <p:cNvCxnSpPr>
            <a:cxnSpLocks/>
          </p:cNvCxnSpPr>
          <p:nvPr/>
        </p:nvCxnSpPr>
        <p:spPr>
          <a:xfrm>
            <a:off x="4152900" y="4237038"/>
            <a:ext cx="11049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9D90F4-6FBE-854D-947C-068019CFE734}"/>
              </a:ext>
            </a:extLst>
          </p:cNvPr>
          <p:cNvCxnSpPr/>
          <p:nvPr/>
        </p:nvCxnSpPr>
        <p:spPr>
          <a:xfrm>
            <a:off x="4152900" y="2849564"/>
            <a:ext cx="0" cy="272573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042" name="TextBox 7">
            <a:extLst>
              <a:ext uri="{FF2B5EF4-FFF2-40B4-BE49-F238E27FC236}">
                <a16:creationId xmlns:a16="http://schemas.microsoft.com/office/drawing/2014/main" id="{4F060661-1DDC-FE40-82F5-8DBD31B1C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464" y="337820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6E3CAB-05BC-4FF7-9843-DBF12161783D}"/>
              </a:ext>
            </a:extLst>
          </p:cNvPr>
          <p:cNvSpPr txBox="1"/>
          <p:nvPr/>
        </p:nvSpPr>
        <p:spPr>
          <a:xfrm>
            <a:off x="380724" y="299408"/>
            <a:ext cx="355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Tree-Example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3" name="圆角矩形 8">
            <a:extLst>
              <a:ext uri="{FF2B5EF4-FFF2-40B4-BE49-F238E27FC236}">
                <a16:creationId xmlns:a16="http://schemas.microsoft.com/office/drawing/2014/main" id="{DDFBF6DB-8E61-AFA6-5432-B3F0D543164D}"/>
              </a:ext>
            </a:extLst>
          </p:cNvPr>
          <p:cNvSpPr/>
          <p:nvPr/>
        </p:nvSpPr>
        <p:spPr>
          <a:xfrm>
            <a:off x="238666" y="311105"/>
            <a:ext cx="369577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6ED66360-E2E8-E730-38C3-5A3C08C4630E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43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C9BF0F-65B3-14BF-F839-09D2D226D9B3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Picture 4">
            <a:extLst>
              <a:ext uri="{FF2B5EF4-FFF2-40B4-BE49-F238E27FC236}">
                <a16:creationId xmlns:a16="http://schemas.microsoft.com/office/drawing/2014/main" id="{25C1F968-4A2B-304D-846C-08416EBC6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026" y="2617788"/>
            <a:ext cx="6251575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Box 5">
            <a:extLst>
              <a:ext uri="{FF2B5EF4-FFF2-40B4-BE49-F238E27FC236}">
                <a16:creationId xmlns:a16="http://schemas.microsoft.com/office/drawing/2014/main" id="{F92E27B8-4329-D34C-A7F9-9163DF85C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389" y="2665414"/>
            <a:ext cx="30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45061" name="TextBox 7">
            <a:extLst>
              <a:ext uri="{FF2B5EF4-FFF2-40B4-BE49-F238E27FC236}">
                <a16:creationId xmlns:a16="http://schemas.microsoft.com/office/drawing/2014/main" id="{C3E7F513-6499-CB49-96FB-32299454D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4364" y="336550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45062" name="TextBox 8">
            <a:extLst>
              <a:ext uri="{FF2B5EF4-FFF2-40B4-BE49-F238E27FC236}">
                <a16:creationId xmlns:a16="http://schemas.microsoft.com/office/drawing/2014/main" id="{A09A29CA-EA01-4348-9FF5-4C2EC0819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1564" y="389890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1C1102-9AD8-BC4E-967D-997D0C8B12E6}"/>
              </a:ext>
            </a:extLst>
          </p:cNvPr>
          <p:cNvSpPr/>
          <p:nvPr/>
        </p:nvSpPr>
        <p:spPr>
          <a:xfrm>
            <a:off x="2349500" y="1485902"/>
            <a:ext cx="664210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CC9900"/>
              </a:buClr>
              <a:buSzPct val="65000"/>
              <a:defRPr/>
            </a:pPr>
            <a:r>
              <a:rPr lang="en-US" sz="2400" u="sng" kern="0" dirty="0">
                <a:solidFill>
                  <a:srgbClr val="000000"/>
                </a:solidFill>
                <a:latin typeface="Arial"/>
              </a:rPr>
              <a:t>Split by x-coordinate</a:t>
            </a:r>
            <a:r>
              <a:rPr lang="en-US" sz="2400" i="1" kern="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400" kern="0" dirty="0">
                <a:solidFill>
                  <a:srgbClr val="000000"/>
                </a:solidFill>
                <a:latin typeface="Arial"/>
              </a:rPr>
              <a:t>split by a vertical line that has half the points left or on, and half right.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EE1D0A-AA43-B148-99A4-1E0AFE8478A8}"/>
              </a:ext>
            </a:extLst>
          </p:cNvPr>
          <p:cNvCxnSpPr/>
          <p:nvPr/>
        </p:nvCxnSpPr>
        <p:spPr>
          <a:xfrm>
            <a:off x="4152900" y="2849564"/>
            <a:ext cx="0" cy="272573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4E9427C-843A-9847-BD38-E89BA8DECA9F}"/>
              </a:ext>
            </a:extLst>
          </p:cNvPr>
          <p:cNvCxnSpPr/>
          <p:nvPr/>
        </p:nvCxnSpPr>
        <p:spPr>
          <a:xfrm>
            <a:off x="3086100" y="3925027"/>
            <a:ext cx="1066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08B61A-7A93-E848-BDDA-22B70D314761}"/>
              </a:ext>
            </a:extLst>
          </p:cNvPr>
          <p:cNvCxnSpPr/>
          <p:nvPr/>
        </p:nvCxnSpPr>
        <p:spPr>
          <a:xfrm>
            <a:off x="4152900" y="4268788"/>
            <a:ext cx="1066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6B1661-141F-CD44-B02A-42525A4DB6CB}"/>
              </a:ext>
            </a:extLst>
          </p:cNvPr>
          <p:cNvCxnSpPr/>
          <p:nvPr/>
        </p:nvCxnSpPr>
        <p:spPr>
          <a:xfrm>
            <a:off x="3746500" y="3898900"/>
            <a:ext cx="12700" cy="148590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C0E290-DF11-7B47-B3CF-CF7C5A90F854}"/>
              </a:ext>
            </a:extLst>
          </p:cNvPr>
          <p:cNvCxnSpPr/>
          <p:nvPr/>
        </p:nvCxnSpPr>
        <p:spPr>
          <a:xfrm>
            <a:off x="3429000" y="3035300"/>
            <a:ext cx="25400" cy="86360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35EA98-27FB-CB4B-8F12-A5684F0E7276}"/>
              </a:ext>
            </a:extLst>
          </p:cNvPr>
          <p:cNvCxnSpPr/>
          <p:nvPr/>
        </p:nvCxnSpPr>
        <p:spPr>
          <a:xfrm>
            <a:off x="4851400" y="4268788"/>
            <a:ext cx="12700" cy="111601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707FE4D-96DC-FA4E-9FAB-2C8C6E0E58CC}"/>
              </a:ext>
            </a:extLst>
          </p:cNvPr>
          <p:cNvCxnSpPr/>
          <p:nvPr/>
        </p:nvCxnSpPr>
        <p:spPr>
          <a:xfrm>
            <a:off x="4673600" y="3084513"/>
            <a:ext cx="12700" cy="111601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5071" name="TextBox 7">
            <a:extLst>
              <a:ext uri="{FF2B5EF4-FFF2-40B4-BE49-F238E27FC236}">
                <a16:creationId xmlns:a16="http://schemas.microsoft.com/office/drawing/2014/main" id="{3300A71A-912C-1D44-A512-28E3BF391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4" y="34575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45072" name="TextBox 8">
            <a:extLst>
              <a:ext uri="{FF2B5EF4-FFF2-40B4-BE49-F238E27FC236}">
                <a16:creationId xmlns:a16="http://schemas.microsoft.com/office/drawing/2014/main" id="{B5F18980-F96A-2A46-B8EC-F561E762F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7964" y="4027489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45073" name="TextBox 8">
            <a:extLst>
              <a:ext uri="{FF2B5EF4-FFF2-40B4-BE49-F238E27FC236}">
                <a16:creationId xmlns:a16="http://schemas.microsoft.com/office/drawing/2014/main" id="{F4A45AA7-FCD2-AF4D-B27F-96237DF8A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4014789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45074" name="TextBox 8">
            <a:extLst>
              <a:ext uri="{FF2B5EF4-FFF2-40B4-BE49-F238E27FC236}">
                <a16:creationId xmlns:a16="http://schemas.microsoft.com/office/drawing/2014/main" id="{7940F653-C005-584C-BCBD-DB5E679AA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3464" y="405130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81A668-82CA-4537-37A4-CA19CF584826}"/>
              </a:ext>
            </a:extLst>
          </p:cNvPr>
          <p:cNvSpPr txBox="1"/>
          <p:nvPr/>
        </p:nvSpPr>
        <p:spPr>
          <a:xfrm>
            <a:off x="380724" y="299408"/>
            <a:ext cx="355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Tree-Example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4" name="圆角矩形 8">
            <a:extLst>
              <a:ext uri="{FF2B5EF4-FFF2-40B4-BE49-F238E27FC236}">
                <a16:creationId xmlns:a16="http://schemas.microsoft.com/office/drawing/2014/main" id="{7198E53F-ABA2-2DA5-1AE4-0308255E8FE2}"/>
              </a:ext>
            </a:extLst>
          </p:cNvPr>
          <p:cNvSpPr/>
          <p:nvPr/>
        </p:nvSpPr>
        <p:spPr>
          <a:xfrm>
            <a:off x="238666" y="311105"/>
            <a:ext cx="369577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06B27CEB-EF06-D121-1DB9-ACBCCFAB4E4B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44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08F58E-7B35-CCE5-B9E6-510974EDA4F6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4">
            <a:extLst>
              <a:ext uri="{FF2B5EF4-FFF2-40B4-BE49-F238E27FC236}">
                <a16:creationId xmlns:a16="http://schemas.microsoft.com/office/drawing/2014/main" id="{D08766B1-B584-E044-B67F-4B5F3B341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026" y="2617788"/>
            <a:ext cx="6251575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TextBox 5">
            <a:extLst>
              <a:ext uri="{FF2B5EF4-FFF2-40B4-BE49-F238E27FC236}">
                <a16:creationId xmlns:a16="http://schemas.microsoft.com/office/drawing/2014/main" id="{E4E0B799-FE20-A244-B5C8-A0B3E092F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389" y="2665414"/>
            <a:ext cx="30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46085" name="TextBox 7">
            <a:extLst>
              <a:ext uri="{FF2B5EF4-FFF2-40B4-BE49-F238E27FC236}">
                <a16:creationId xmlns:a16="http://schemas.microsoft.com/office/drawing/2014/main" id="{17FA5571-457B-834B-8D20-1A7701E0A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4364" y="336550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46086" name="TextBox 8">
            <a:extLst>
              <a:ext uri="{FF2B5EF4-FFF2-40B4-BE49-F238E27FC236}">
                <a16:creationId xmlns:a16="http://schemas.microsoft.com/office/drawing/2014/main" id="{CF31B6DE-CAE8-5D42-BFB9-9A09E3021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1564" y="389890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46087" name="TextBox 9">
            <a:extLst>
              <a:ext uri="{FF2B5EF4-FFF2-40B4-BE49-F238E27FC236}">
                <a16:creationId xmlns:a16="http://schemas.microsoft.com/office/drawing/2014/main" id="{0E6BBC06-D6C5-9C46-9F80-ACE6B0E55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5974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E1F755-CBA9-754A-BA26-F815CC3E6F7F}"/>
              </a:ext>
            </a:extLst>
          </p:cNvPr>
          <p:cNvSpPr/>
          <p:nvPr/>
        </p:nvSpPr>
        <p:spPr>
          <a:xfrm>
            <a:off x="2401093" y="1488283"/>
            <a:ext cx="6929438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CC9900"/>
              </a:buClr>
              <a:buSzPct val="65000"/>
              <a:defRPr/>
            </a:pPr>
            <a:r>
              <a:rPr lang="en-US" sz="2400" u="sng" kern="0" dirty="0">
                <a:solidFill>
                  <a:srgbClr val="000000"/>
                </a:solidFill>
                <a:latin typeface="Arial"/>
              </a:rPr>
              <a:t>Split by y-coordinate</a:t>
            </a:r>
            <a:r>
              <a:rPr lang="en-US" sz="2400" i="1" kern="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400" kern="0" dirty="0">
                <a:solidFill>
                  <a:srgbClr val="000000"/>
                </a:solidFill>
                <a:latin typeface="Arial"/>
              </a:rPr>
              <a:t>split by a horizontal line that has half the points below or on and half above.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F62525-E73B-8F44-8717-1C45AC6A25EA}"/>
              </a:ext>
            </a:extLst>
          </p:cNvPr>
          <p:cNvCxnSpPr/>
          <p:nvPr/>
        </p:nvCxnSpPr>
        <p:spPr>
          <a:xfrm>
            <a:off x="4152900" y="2849564"/>
            <a:ext cx="0" cy="272573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4A2C9C-29E2-4746-B339-7A8F6D3B8109}"/>
              </a:ext>
            </a:extLst>
          </p:cNvPr>
          <p:cNvCxnSpPr/>
          <p:nvPr/>
        </p:nvCxnSpPr>
        <p:spPr>
          <a:xfrm>
            <a:off x="3086100" y="3925027"/>
            <a:ext cx="1066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95E05A-5B12-9F4D-945A-B8B985A23A5A}"/>
              </a:ext>
            </a:extLst>
          </p:cNvPr>
          <p:cNvCxnSpPr/>
          <p:nvPr/>
        </p:nvCxnSpPr>
        <p:spPr>
          <a:xfrm>
            <a:off x="4152900" y="4268788"/>
            <a:ext cx="1066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2C97C4F-5EDD-2C45-82B3-8439984FCE63}"/>
              </a:ext>
            </a:extLst>
          </p:cNvPr>
          <p:cNvCxnSpPr/>
          <p:nvPr/>
        </p:nvCxnSpPr>
        <p:spPr>
          <a:xfrm>
            <a:off x="3416300" y="3035300"/>
            <a:ext cx="38100" cy="86360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4F3B79-246A-F94C-AA75-A98D35D8D43E}"/>
              </a:ext>
            </a:extLst>
          </p:cNvPr>
          <p:cNvCxnSpPr/>
          <p:nvPr/>
        </p:nvCxnSpPr>
        <p:spPr>
          <a:xfrm>
            <a:off x="3733800" y="3898900"/>
            <a:ext cx="12700" cy="140970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19F14E-794D-0D44-9BF0-0FC801F808F8}"/>
              </a:ext>
            </a:extLst>
          </p:cNvPr>
          <p:cNvCxnSpPr/>
          <p:nvPr/>
        </p:nvCxnSpPr>
        <p:spPr>
          <a:xfrm>
            <a:off x="4686300" y="3035300"/>
            <a:ext cx="0" cy="12334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77AD19-9A97-A741-8E99-AA9686668960}"/>
              </a:ext>
            </a:extLst>
          </p:cNvPr>
          <p:cNvCxnSpPr/>
          <p:nvPr/>
        </p:nvCxnSpPr>
        <p:spPr>
          <a:xfrm>
            <a:off x="4851400" y="4268788"/>
            <a:ext cx="12700" cy="103981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6C654A-C947-3248-A858-06FB076E2550}"/>
              </a:ext>
            </a:extLst>
          </p:cNvPr>
          <p:cNvCxnSpPr/>
          <p:nvPr/>
        </p:nvCxnSpPr>
        <p:spPr>
          <a:xfrm>
            <a:off x="3130550" y="4317911"/>
            <a:ext cx="64770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063014-15C5-9945-A314-A43219669AAE}"/>
              </a:ext>
            </a:extLst>
          </p:cNvPr>
          <p:cNvCxnSpPr/>
          <p:nvPr/>
        </p:nvCxnSpPr>
        <p:spPr>
          <a:xfrm>
            <a:off x="4152900" y="4789488"/>
            <a:ext cx="71120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098" name="TextBox 7">
            <a:extLst>
              <a:ext uri="{FF2B5EF4-FFF2-40B4-BE49-F238E27FC236}">
                <a16:creationId xmlns:a16="http://schemas.microsoft.com/office/drawing/2014/main" id="{30D8ECFE-17C4-5A47-9362-1CA199A78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4" y="346710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46099" name="TextBox 8">
            <a:extLst>
              <a:ext uri="{FF2B5EF4-FFF2-40B4-BE49-F238E27FC236}">
                <a16:creationId xmlns:a16="http://schemas.microsoft.com/office/drawing/2014/main" id="{B42D1EAF-F5BA-E641-9439-20B77D09F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0014" y="4027489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46100" name="TextBox 8">
            <a:extLst>
              <a:ext uri="{FF2B5EF4-FFF2-40B4-BE49-F238E27FC236}">
                <a16:creationId xmlns:a16="http://schemas.microsoft.com/office/drawing/2014/main" id="{CD3E8B74-67CC-8149-B3EC-35D0FC45F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4014789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46101" name="TextBox 8">
            <a:extLst>
              <a:ext uri="{FF2B5EF4-FFF2-40B4-BE49-F238E27FC236}">
                <a16:creationId xmlns:a16="http://schemas.microsoft.com/office/drawing/2014/main" id="{D7EC33E9-A416-1047-A5F4-AA6345626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0764" y="4014789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46102" name="TextBox 9">
            <a:extLst>
              <a:ext uri="{FF2B5EF4-FFF2-40B4-BE49-F238E27FC236}">
                <a16:creationId xmlns:a16="http://schemas.microsoft.com/office/drawing/2014/main" id="{F2C57A19-4911-9045-8D22-9E221D2E1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814" y="4529139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88DADA-F2C6-F494-8936-C62C20858BD4}"/>
              </a:ext>
            </a:extLst>
          </p:cNvPr>
          <p:cNvSpPr txBox="1"/>
          <p:nvPr/>
        </p:nvSpPr>
        <p:spPr>
          <a:xfrm>
            <a:off x="380724" y="299408"/>
            <a:ext cx="355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Tree-Example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8" name="圆角矩形 8">
            <a:extLst>
              <a:ext uri="{FF2B5EF4-FFF2-40B4-BE49-F238E27FC236}">
                <a16:creationId xmlns:a16="http://schemas.microsoft.com/office/drawing/2014/main" id="{A0C79E0E-0D5E-F3F9-8AA0-CD61B07352C9}"/>
              </a:ext>
            </a:extLst>
          </p:cNvPr>
          <p:cNvSpPr/>
          <p:nvPr/>
        </p:nvSpPr>
        <p:spPr>
          <a:xfrm>
            <a:off x="238666" y="311105"/>
            <a:ext cx="369577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1416721-1B5B-8C40-6C72-6E462B8AA83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45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CA8227-F85D-441B-CBB2-07B4BA2E07D8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Content Placeholder 5">
            <a:extLst>
              <a:ext uri="{FF2B5EF4-FFF2-40B4-BE49-F238E27FC236}">
                <a16:creationId xmlns:a16="http://schemas.microsoft.com/office/drawing/2014/main" id="{E63AC181-741D-A449-BB76-2A17F086CC4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460770" y="1525151"/>
            <a:ext cx="8229600" cy="453072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 KD-tree node has 5 fields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Splitting axis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Splitting value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Data 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Left pointer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Right pointer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47108" name="Picture 4">
            <a:extLst>
              <a:ext uri="{FF2B5EF4-FFF2-40B4-BE49-F238E27FC236}">
                <a16:creationId xmlns:a16="http://schemas.microsoft.com/office/drawing/2014/main" id="{51603AE1-DF9C-E643-BE81-35C1B1BA5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21"/>
          <a:stretch>
            <a:fillRect/>
          </a:stretch>
        </p:blipFill>
        <p:spPr bwMode="auto">
          <a:xfrm>
            <a:off x="5759450" y="2574925"/>
            <a:ext cx="3594100" cy="320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3CDD85C-92B7-0905-D638-1011B8C42E9B}"/>
              </a:ext>
            </a:extLst>
          </p:cNvPr>
          <p:cNvSpPr txBox="1"/>
          <p:nvPr/>
        </p:nvSpPr>
        <p:spPr>
          <a:xfrm>
            <a:off x="380725" y="299408"/>
            <a:ext cx="31426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Node Structure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2828BFDF-2091-A1A7-B12F-A9C7DBE4EAC7}"/>
              </a:ext>
            </a:extLst>
          </p:cNvPr>
          <p:cNvSpPr/>
          <p:nvPr/>
        </p:nvSpPr>
        <p:spPr>
          <a:xfrm>
            <a:off x="238665" y="311105"/>
            <a:ext cx="3376990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76B950-90F2-6436-294D-72B26CB9A92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46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6C502A-C0AB-7053-5661-44CE680A7E21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5">
            <a:extLst>
              <a:ext uri="{FF2B5EF4-FFF2-40B4-BE49-F238E27FC236}">
                <a16:creationId xmlns:a16="http://schemas.microsoft.com/office/drawing/2014/main" id="{669683A3-1FAD-DA41-BFEF-E61C8D3DE8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81200" y="1526667"/>
            <a:ext cx="8229600" cy="45307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>
                <a:solidFill>
                  <a:srgbClr val="C00000"/>
                </a:solidFill>
              </a:rPr>
              <a:t>Divide based on order of point insertion</a:t>
            </a:r>
          </a:p>
          <a:p>
            <a:pPr lvl="1">
              <a:defRPr/>
            </a:pPr>
            <a:r>
              <a:rPr lang="en-US" dirty="0"/>
              <a:t>Assumes that points are given one at a time.</a:t>
            </a:r>
          </a:p>
          <a:p>
            <a:pPr marL="914400" lvl="1" indent="-457200">
              <a:buFont typeface="+mj-lt"/>
              <a:buAutoNum type="arabicPeriod"/>
              <a:defRPr/>
            </a:pPr>
            <a:endParaRPr lang="en-US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Divide by finding median</a:t>
            </a:r>
          </a:p>
          <a:p>
            <a:pPr lvl="1">
              <a:defRPr/>
            </a:pPr>
            <a:r>
              <a:rPr lang="en-US" dirty="0"/>
              <a:t>Assumes all the points are available ahead of time.</a:t>
            </a:r>
          </a:p>
          <a:p>
            <a:pPr marL="914400" lvl="1" indent="-457200">
              <a:buFont typeface="+mj-lt"/>
              <a:buAutoNum type="arabicPeriod"/>
              <a:defRPr/>
            </a:pPr>
            <a:endParaRPr lang="en-US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>
                <a:solidFill>
                  <a:srgbClr val="C00000"/>
                </a:solidFill>
              </a:rPr>
              <a:t> Divide perpendicular to the axis with widest spread</a:t>
            </a:r>
          </a:p>
          <a:p>
            <a:pPr lvl="1">
              <a:defRPr/>
            </a:pPr>
            <a:r>
              <a:rPr lang="en-US" dirty="0"/>
              <a:t>Split axes might not alternate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48132" name="TextBox 3">
            <a:extLst>
              <a:ext uri="{FF2B5EF4-FFF2-40B4-BE49-F238E27FC236}">
                <a16:creationId xmlns:a16="http://schemas.microsoft.com/office/drawing/2014/main" id="{C89450EC-A73E-7C4A-A42A-208FC8B2E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7651" y="5307014"/>
            <a:ext cx="20378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C000"/>
                </a:solidFill>
                <a:latin typeface="+mn-lt"/>
                <a:ea typeface="宋体" panose="02010600030101010101" pitchFamily="2" charset="-122"/>
              </a:rPr>
              <a:t>… and more!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3766B2-83E1-5F74-097B-F19C88BDF84A}"/>
              </a:ext>
            </a:extLst>
          </p:cNvPr>
          <p:cNvSpPr txBox="1"/>
          <p:nvPr/>
        </p:nvSpPr>
        <p:spPr>
          <a:xfrm>
            <a:off x="380724" y="299408"/>
            <a:ext cx="3880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Splitting Strategies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8B1ED483-98D9-BB67-F5EB-99353D4BE934}"/>
              </a:ext>
            </a:extLst>
          </p:cNvPr>
          <p:cNvSpPr/>
          <p:nvPr/>
        </p:nvSpPr>
        <p:spPr>
          <a:xfrm>
            <a:off x="238664" y="311105"/>
            <a:ext cx="402294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E37B4F-A21C-CD6C-EF56-A1F3CCE2A70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47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BEC5FF8-DC72-CF4F-84B7-29AB696B31C0}"/>
              </a:ext>
            </a:extLst>
          </p:cNvPr>
          <p:cNvSpPr txBox="1"/>
          <p:nvPr/>
        </p:nvSpPr>
        <p:spPr>
          <a:xfrm>
            <a:off x="1031192" y="1216309"/>
            <a:ext cx="101296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273239"/>
                </a:solidFill>
              </a:rPr>
              <a:t>Insertion Order:  (3, 6), (17, 15), (13, 15), (6, 12), (9, 1), (2, 7), (10, 19)</a:t>
            </a:r>
            <a:endParaRPr 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F5F07D-7612-40CD-4F88-4C80868A6F47}"/>
              </a:ext>
            </a:extLst>
          </p:cNvPr>
          <p:cNvSpPr txBox="1"/>
          <p:nvPr/>
        </p:nvSpPr>
        <p:spPr>
          <a:xfrm>
            <a:off x="380724" y="299408"/>
            <a:ext cx="105408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Example – using order of point insertion(data stored at nodes</a:t>
            </a:r>
            <a:r>
              <a:rPr lang="zh-CN" altLang="en-US" sz="32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80357034-CA5C-4C54-0E54-C2682901F0E5}"/>
              </a:ext>
            </a:extLst>
          </p:cNvPr>
          <p:cNvSpPr/>
          <p:nvPr/>
        </p:nvSpPr>
        <p:spPr>
          <a:xfrm>
            <a:off x="238664" y="311105"/>
            <a:ext cx="1141079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191B2A-5242-F9AF-0769-74D7791E8FF5}"/>
              </a:ext>
            </a:extLst>
          </p:cNvPr>
          <p:cNvSpPr txBox="1"/>
          <p:nvPr/>
        </p:nvSpPr>
        <p:spPr>
          <a:xfrm>
            <a:off x="2533901" y="2865712"/>
            <a:ext cx="639661" cy="369332"/>
          </a:xfrm>
          <a:prstGeom prst="rect">
            <a:avLst/>
          </a:prstGeom>
          <a:solidFill>
            <a:srgbClr val="549E39"/>
          </a:solidFill>
          <a:ln>
            <a:solidFill>
              <a:srgbClr val="549E39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rw-din"/>
                <a:ea typeface="等线" panose="02010600030101010101" pitchFamily="2" charset="-122"/>
              </a:rPr>
              <a:t>(3, 6)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109079-9197-BF02-C3CF-E6CB3EBEC3EC}"/>
              </a:ext>
            </a:extLst>
          </p:cNvPr>
          <p:cNvSpPr txBox="1"/>
          <p:nvPr/>
        </p:nvSpPr>
        <p:spPr>
          <a:xfrm>
            <a:off x="3152039" y="3700192"/>
            <a:ext cx="856377" cy="369332"/>
          </a:xfrm>
          <a:prstGeom prst="rect">
            <a:avLst/>
          </a:prstGeom>
          <a:solidFill>
            <a:srgbClr val="549E39"/>
          </a:solidFill>
          <a:ln>
            <a:solidFill>
              <a:srgbClr val="549E39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rw-din"/>
                <a:ea typeface="等线" panose="02010600030101010101" pitchFamily="2" charset="-122"/>
              </a:rPr>
              <a:t>(17, 15)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12" name="直线连接符 8">
            <a:extLst>
              <a:ext uri="{FF2B5EF4-FFF2-40B4-BE49-F238E27FC236}">
                <a16:creationId xmlns:a16="http://schemas.microsoft.com/office/drawing/2014/main" id="{621EE6B8-06BA-E0F0-E593-60BFBDA159B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853732" y="3235044"/>
            <a:ext cx="726496" cy="465148"/>
          </a:xfrm>
          <a:prstGeom prst="line">
            <a:avLst/>
          </a:prstGeom>
          <a:noFill/>
          <a:ln w="6350" cap="flat" cmpd="sng" algn="ctr">
            <a:solidFill>
              <a:srgbClr val="549E39"/>
            </a:solidFill>
            <a:prstDash val="solid"/>
            <a:miter lim="800000"/>
          </a:ln>
          <a:effectLst/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639FFFA-57A7-4A0E-F61B-B7F3F25A38B1}"/>
              </a:ext>
            </a:extLst>
          </p:cNvPr>
          <p:cNvSpPr txBox="1"/>
          <p:nvPr/>
        </p:nvSpPr>
        <p:spPr>
          <a:xfrm>
            <a:off x="3914314" y="4438051"/>
            <a:ext cx="856377" cy="369332"/>
          </a:xfrm>
          <a:prstGeom prst="rect">
            <a:avLst/>
          </a:prstGeom>
          <a:solidFill>
            <a:srgbClr val="549E39"/>
          </a:solidFill>
          <a:ln>
            <a:solidFill>
              <a:srgbClr val="549E39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rw-din"/>
                <a:ea typeface="等线" panose="02010600030101010101" pitchFamily="2" charset="-122"/>
              </a:rPr>
              <a:t>(13, 15)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14" name="直线连接符 15">
            <a:extLst>
              <a:ext uri="{FF2B5EF4-FFF2-40B4-BE49-F238E27FC236}">
                <a16:creationId xmlns:a16="http://schemas.microsoft.com/office/drawing/2014/main" id="{03139222-193D-65A5-922B-A98AEDB9FE8B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3580228" y="4069524"/>
            <a:ext cx="762275" cy="368527"/>
          </a:xfrm>
          <a:prstGeom prst="line">
            <a:avLst/>
          </a:prstGeom>
          <a:noFill/>
          <a:ln w="6350" cap="flat" cmpd="sng" algn="ctr">
            <a:solidFill>
              <a:srgbClr val="549E39"/>
            </a:solidFill>
            <a:prstDash val="solid"/>
            <a:miter lim="800000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5F13AE7-BA2A-681C-5577-FD6759D47EEA}"/>
              </a:ext>
            </a:extLst>
          </p:cNvPr>
          <p:cNvSpPr txBox="1"/>
          <p:nvPr/>
        </p:nvSpPr>
        <p:spPr>
          <a:xfrm>
            <a:off x="2533901" y="4436550"/>
            <a:ext cx="856377" cy="369332"/>
          </a:xfrm>
          <a:prstGeom prst="rect">
            <a:avLst/>
          </a:prstGeom>
          <a:solidFill>
            <a:srgbClr val="549E39"/>
          </a:solidFill>
          <a:ln>
            <a:solidFill>
              <a:srgbClr val="549E39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rw-din"/>
                <a:ea typeface="等线" panose="02010600030101010101" pitchFamily="2" charset="-122"/>
              </a:rPr>
              <a:t>(6, 12)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18" name="直线连接符 19">
            <a:extLst>
              <a:ext uri="{FF2B5EF4-FFF2-40B4-BE49-F238E27FC236}">
                <a16:creationId xmlns:a16="http://schemas.microsoft.com/office/drawing/2014/main" id="{B56AE297-7ED6-47EC-F31E-8A44B0B2CBB3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flipH="1">
            <a:off x="2962090" y="4069524"/>
            <a:ext cx="618138" cy="367026"/>
          </a:xfrm>
          <a:prstGeom prst="line">
            <a:avLst/>
          </a:prstGeom>
          <a:noFill/>
          <a:ln w="6350" cap="flat" cmpd="sng" algn="ctr">
            <a:solidFill>
              <a:srgbClr val="549E39"/>
            </a:solidFill>
            <a:prstDash val="solid"/>
            <a:miter lim="800000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F6B7AB0B-9B8D-E348-8B98-9F9DABAEE4F4}"/>
              </a:ext>
            </a:extLst>
          </p:cNvPr>
          <p:cNvSpPr txBox="1"/>
          <p:nvPr/>
        </p:nvSpPr>
        <p:spPr>
          <a:xfrm>
            <a:off x="2833609" y="5220043"/>
            <a:ext cx="714462" cy="369332"/>
          </a:xfrm>
          <a:prstGeom prst="rect">
            <a:avLst/>
          </a:prstGeom>
          <a:solidFill>
            <a:srgbClr val="549E39"/>
          </a:solidFill>
          <a:ln>
            <a:solidFill>
              <a:srgbClr val="549E39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rw-din"/>
                <a:ea typeface="等线" panose="02010600030101010101" pitchFamily="2" charset="-122"/>
              </a:rPr>
              <a:t>(9, 1)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22" name="直线连接符 23">
            <a:extLst>
              <a:ext uri="{FF2B5EF4-FFF2-40B4-BE49-F238E27FC236}">
                <a16:creationId xmlns:a16="http://schemas.microsoft.com/office/drawing/2014/main" id="{1A0AA822-BE34-D906-82B2-3042744E0A80}"/>
              </a:ext>
            </a:extLst>
          </p:cNvPr>
          <p:cNvCxnSpPr>
            <a:cxnSpLocks/>
            <a:stCxn id="21" idx="0"/>
            <a:endCxn id="17" idx="2"/>
          </p:cNvCxnSpPr>
          <p:nvPr/>
        </p:nvCxnSpPr>
        <p:spPr>
          <a:xfrm flipH="1" flipV="1">
            <a:off x="2962090" y="4805882"/>
            <a:ext cx="228750" cy="414161"/>
          </a:xfrm>
          <a:prstGeom prst="line">
            <a:avLst/>
          </a:prstGeom>
          <a:noFill/>
          <a:ln w="6350" cap="flat" cmpd="sng" algn="ctr">
            <a:solidFill>
              <a:srgbClr val="549E39"/>
            </a:solidFill>
            <a:prstDash val="solid"/>
            <a:miter lim="800000"/>
          </a:ln>
          <a:effectLst/>
        </p:spPr>
      </p:cxnSp>
      <p:cxnSp>
        <p:nvCxnSpPr>
          <p:cNvPr id="25" name="直线连接符 26">
            <a:extLst>
              <a:ext uri="{FF2B5EF4-FFF2-40B4-BE49-F238E27FC236}">
                <a16:creationId xmlns:a16="http://schemas.microsoft.com/office/drawing/2014/main" id="{26A53C19-1572-92F9-7DB9-7CCBEBC744CF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2009939" y="3235044"/>
            <a:ext cx="820174" cy="452846"/>
          </a:xfrm>
          <a:prstGeom prst="line">
            <a:avLst/>
          </a:prstGeom>
          <a:noFill/>
          <a:ln w="6350" cap="flat" cmpd="sng" algn="ctr">
            <a:solidFill>
              <a:srgbClr val="549E39"/>
            </a:solidFill>
            <a:prstDash val="solid"/>
            <a:miter lim="800000"/>
          </a:ln>
          <a:effectLst/>
        </p:spPr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530BA0C-60C9-D248-9042-026B45CA38DC}"/>
              </a:ext>
            </a:extLst>
          </p:cNvPr>
          <p:cNvSpPr txBox="1"/>
          <p:nvPr/>
        </p:nvSpPr>
        <p:spPr>
          <a:xfrm>
            <a:off x="1695002" y="3687890"/>
            <a:ext cx="629874" cy="369332"/>
          </a:xfrm>
          <a:prstGeom prst="rect">
            <a:avLst/>
          </a:prstGeom>
          <a:solidFill>
            <a:srgbClr val="549E39"/>
          </a:solidFill>
          <a:ln>
            <a:solidFill>
              <a:srgbClr val="549E39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rw-din"/>
                <a:ea typeface="等线" panose="02010600030101010101" pitchFamily="2" charset="-122"/>
              </a:rPr>
              <a:t>(2, 7)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61FE92D-3311-4E4B-B00C-058A044666F3}"/>
              </a:ext>
            </a:extLst>
          </p:cNvPr>
          <p:cNvSpPr txBox="1"/>
          <p:nvPr/>
        </p:nvSpPr>
        <p:spPr>
          <a:xfrm>
            <a:off x="3672233" y="5220043"/>
            <a:ext cx="856377" cy="369332"/>
          </a:xfrm>
          <a:prstGeom prst="rect">
            <a:avLst/>
          </a:prstGeom>
          <a:solidFill>
            <a:srgbClr val="549E39"/>
          </a:solidFill>
          <a:ln>
            <a:solidFill>
              <a:srgbClr val="549E39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rw-din"/>
                <a:ea typeface="等线" panose="02010600030101010101" pitchFamily="2" charset="-122"/>
              </a:rPr>
              <a:t>(10, 19)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30" name="直线连接符 34">
            <a:extLst>
              <a:ext uri="{FF2B5EF4-FFF2-40B4-BE49-F238E27FC236}">
                <a16:creationId xmlns:a16="http://schemas.microsoft.com/office/drawing/2014/main" id="{26CD9360-020C-0FB2-7D4E-01E79E4D36D8}"/>
              </a:ext>
            </a:extLst>
          </p:cNvPr>
          <p:cNvCxnSpPr>
            <a:cxnSpLocks/>
            <a:stCxn id="29" idx="0"/>
            <a:endCxn id="13" idx="2"/>
          </p:cNvCxnSpPr>
          <p:nvPr/>
        </p:nvCxnSpPr>
        <p:spPr>
          <a:xfrm flipV="1">
            <a:off x="4100422" y="4807383"/>
            <a:ext cx="242081" cy="412660"/>
          </a:xfrm>
          <a:prstGeom prst="line">
            <a:avLst/>
          </a:prstGeom>
          <a:noFill/>
          <a:ln w="6350" cap="flat" cmpd="sng" algn="ctr">
            <a:solidFill>
              <a:srgbClr val="549E39"/>
            </a:solidFill>
            <a:prstDash val="solid"/>
            <a:miter lim="800000"/>
          </a:ln>
          <a:effectLst/>
        </p:spPr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8E1B458-D968-4B5C-CE6C-0956E0D1F57E}"/>
              </a:ext>
            </a:extLst>
          </p:cNvPr>
          <p:cNvSpPr txBox="1"/>
          <p:nvPr/>
        </p:nvSpPr>
        <p:spPr>
          <a:xfrm>
            <a:off x="3656473" y="284268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X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6761617-45F8-4D54-6CFD-B9D499C8A00E}"/>
              </a:ext>
            </a:extLst>
          </p:cNvPr>
          <p:cNvSpPr txBox="1"/>
          <p:nvPr/>
        </p:nvSpPr>
        <p:spPr>
          <a:xfrm>
            <a:off x="4223718" y="369938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Y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CFF1682-231B-7B89-3185-B065D15B5207}"/>
              </a:ext>
            </a:extLst>
          </p:cNvPr>
          <p:cNvSpPr txBox="1"/>
          <p:nvPr/>
        </p:nvSpPr>
        <p:spPr>
          <a:xfrm>
            <a:off x="4799885" y="443655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X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EBAF832-6E0B-59CE-749D-E8B05CB85DCC}"/>
              </a:ext>
            </a:extLst>
          </p:cNvPr>
          <p:cNvSpPr txBox="1"/>
          <p:nvPr/>
        </p:nvSpPr>
        <p:spPr>
          <a:xfrm>
            <a:off x="4742408" y="522004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Y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A6B14B3-A05A-9C90-B875-05F9FF7488B6}"/>
              </a:ext>
            </a:extLst>
          </p:cNvPr>
          <p:cNvSpPr txBox="1"/>
          <p:nvPr/>
        </p:nvSpPr>
        <p:spPr>
          <a:xfrm>
            <a:off x="5110989" y="2122639"/>
            <a:ext cx="5421027" cy="2677656"/>
          </a:xfrm>
          <a:prstGeom prst="rect">
            <a:avLst/>
          </a:prstGeom>
          <a:solidFill>
            <a:srgbClr val="C0CF3A">
              <a:lumMod val="20000"/>
              <a:lumOff val="80000"/>
            </a:srgb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Node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*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insertRec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Node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*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root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int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point[], </a:t>
            </a:r>
            <a:r>
              <a:rPr kumimoji="0" lang="fr-FR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unsigned</a:t>
            </a:r>
            <a:r>
              <a:rPr kumimoji="0" lang="fr-FR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kumimoji="0" lang="fr-FR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depth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{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    if (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root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== NULL)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       return 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newNode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(point);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    // </a:t>
            </a:r>
            <a:r>
              <a:rPr kumimoji="0" lang="zh-CN" altLang="fr-FR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确定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比较的维度</a:t>
            </a:r>
            <a:endParaRPr kumimoji="0" lang="fr-FR" altLang="zh-CN" sz="1200" b="0" i="0" u="none" strike="noStrike" kern="0" cap="none" spc="0" normalizeH="0" baseline="0" noProof="0" dirty="0">
              <a:ln>
                <a:noFill/>
              </a:ln>
              <a:solidFill>
                <a:srgbClr val="273239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    </a:t>
            </a:r>
            <a:r>
              <a:rPr kumimoji="0" lang="fr-FR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unsigned</a:t>
            </a:r>
            <a:r>
              <a:rPr kumimoji="0" lang="fr-FR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cd = </a:t>
            </a:r>
            <a:r>
              <a:rPr kumimoji="0" lang="fr-FR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depth</a:t>
            </a:r>
            <a:r>
              <a:rPr kumimoji="0" lang="fr-FR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% k;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    // </a:t>
            </a:r>
            <a:r>
              <a:rPr kumimoji="0" lang="zh-CN" altLang="fr-FR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与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root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的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cd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维数据进行对比</a:t>
            </a:r>
            <a:endParaRPr kumimoji="0" lang="fr-FR" altLang="zh-CN" sz="1200" b="0" i="0" u="none" strike="noStrike" kern="0" cap="none" spc="0" normalizeH="0" baseline="0" noProof="0" dirty="0">
              <a:ln>
                <a:noFill/>
              </a:ln>
              <a:solidFill>
                <a:srgbClr val="273239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    if (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point[cd] &lt; (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root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-&gt;point[cd]))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        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root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-&gt;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left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insertRec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root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-&gt;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left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, point, 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depth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+ 1);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    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else</a:t>
            </a:r>
            <a:endParaRPr kumimoji="0" lang="fr-FR" altLang="zh-CN" sz="1200" b="0" i="0" u="none" strike="noStrike" kern="0" cap="none" spc="0" normalizeH="0" baseline="0" noProof="0" dirty="0">
              <a:ln>
                <a:noFill/>
              </a:ln>
              <a:solidFill>
                <a:srgbClr val="273239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        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root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-&gt;right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insertRec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root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-&gt;right, point, 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depth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+ 1);</a:t>
            </a:r>
            <a:endParaRPr kumimoji="0" lang="fr-FR" altLang="zh-CN" sz="1200" b="0" i="0" u="none" strike="noStrike" kern="0" cap="none" spc="0" normalizeH="0" baseline="0" noProof="0" dirty="0">
              <a:ln>
                <a:noFill/>
              </a:ln>
              <a:solidFill>
                <a:srgbClr val="273239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    return </a:t>
            </a:r>
            <a:r>
              <a:rPr kumimoji="0" lang="fr-FR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root</a:t>
            </a: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}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  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1EBD471-285C-7D26-5811-FF6CA6415063}"/>
              </a:ext>
            </a:extLst>
          </p:cNvPr>
          <p:cNvSpPr txBox="1"/>
          <p:nvPr/>
        </p:nvSpPr>
        <p:spPr>
          <a:xfrm>
            <a:off x="5047300" y="5330362"/>
            <a:ext cx="4660084" cy="954107"/>
          </a:xfrm>
          <a:prstGeom prst="rect">
            <a:avLst/>
          </a:prstGeom>
          <a:solidFill>
            <a:srgbClr val="C0CF3A">
              <a:lumMod val="20000"/>
              <a:lumOff val="80000"/>
            </a:srgb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Node</a:t>
            </a:r>
            <a:r>
              <a:rPr kumimoji="0" lang="fr-FR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* insert(</a:t>
            </a:r>
            <a:r>
              <a:rPr kumimoji="0" lang="fr-FR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Node</a:t>
            </a:r>
            <a:r>
              <a:rPr kumimoji="0" lang="fr-FR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*</a:t>
            </a:r>
            <a:r>
              <a:rPr kumimoji="0" lang="fr-FR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root</a:t>
            </a:r>
            <a:r>
              <a:rPr kumimoji="0" lang="fr-FR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kumimoji="0" lang="fr-FR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int</a:t>
            </a:r>
            <a:r>
              <a:rPr kumimoji="0" lang="fr-FR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 point[])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{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    return </a:t>
            </a:r>
            <a:r>
              <a:rPr kumimoji="0" lang="fr-FR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insertRec</a:t>
            </a:r>
            <a:r>
              <a:rPr kumimoji="0" lang="fr-FR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kumimoji="0" lang="fr-FR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root</a:t>
            </a:r>
            <a:r>
              <a:rPr kumimoji="0" lang="fr-FR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, point, 0);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</a:rPr>
              <a:t>}</a:t>
            </a:r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6AFCC38B-FD42-9F0C-54EC-0551E8036E1A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48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7" grpId="0" animBg="1"/>
      <p:bldP spid="21" grpId="0" animBg="1"/>
      <p:bldP spid="26" grpId="0" animBg="1"/>
      <p:bldP spid="29" grpId="0" animBg="1"/>
      <p:bldP spid="31" grpId="0"/>
      <p:bldP spid="32" grpId="0"/>
      <p:bldP spid="34" grpId="0"/>
      <p:bldP spid="36" grpId="0"/>
      <p:bldP spid="37" grpId="0" animBg="1"/>
      <p:bldP spid="3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FEC706-D7AE-BF44-AC8A-FA83955BD48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475247"/>
            <a:ext cx="10515600" cy="4351338"/>
          </a:xfrm>
        </p:spPr>
        <p:txBody>
          <a:bodyPr>
            <a:normAutofit/>
          </a:bodyPr>
          <a:lstStyle/>
          <a:p>
            <a:r>
              <a:rPr lang="fr-FR" altLang="zh-CN" dirty="0" err="1"/>
              <a:t>Like</a:t>
            </a:r>
            <a:r>
              <a:rPr lang="fr-FR" altLang="zh-CN" dirty="0"/>
              <a:t> a BST, </a:t>
            </a:r>
            <a:r>
              <a:rPr lang="fr-FR" altLang="zh-CN" dirty="0" err="1"/>
              <a:t>we</a:t>
            </a:r>
            <a:r>
              <a:rPr lang="fr-FR" altLang="zh-CN" dirty="0"/>
              <a:t> </a:t>
            </a:r>
            <a:r>
              <a:rPr lang="fr-FR" altLang="zh-CN" dirty="0" err="1"/>
              <a:t>would</a:t>
            </a:r>
            <a:r>
              <a:rPr lang="fr-FR" altLang="zh-CN" dirty="0"/>
              <a:t> </a:t>
            </a:r>
            <a:r>
              <a:rPr lang="fr-FR" altLang="zh-CN" dirty="0" err="1"/>
              <a:t>expect</a:t>
            </a:r>
            <a:r>
              <a:rPr lang="fr-FR" altLang="zh-CN" dirty="0"/>
              <a:t> insert to </a:t>
            </a:r>
            <a:r>
              <a:rPr lang="fr-FR" altLang="zh-CN" dirty="0" err="1"/>
              <a:t>take</a:t>
            </a:r>
            <a:r>
              <a:rPr lang="fr-FR" altLang="zh-CN" dirty="0"/>
              <a:t> </a:t>
            </a:r>
            <a:r>
              <a:rPr lang="fr-FR" altLang="zh-CN" dirty="0">
                <a:solidFill>
                  <a:srgbClr val="549E39"/>
                </a:solidFill>
              </a:rPr>
              <a:t>O(</a:t>
            </a:r>
            <a:r>
              <a:rPr lang="fr-FR" altLang="zh-CN" dirty="0" err="1">
                <a:solidFill>
                  <a:srgbClr val="549E39"/>
                </a:solidFill>
              </a:rPr>
              <a:t>logn</a:t>
            </a:r>
            <a:r>
              <a:rPr lang="fr-FR" altLang="zh-CN" dirty="0">
                <a:solidFill>
                  <a:srgbClr val="549E39"/>
                </a:solidFill>
              </a:rPr>
              <a:t>), </a:t>
            </a:r>
            <a:r>
              <a:rPr lang="fr-FR" altLang="zh-CN" dirty="0" err="1"/>
              <a:t>since</a:t>
            </a:r>
            <a:r>
              <a:rPr lang="fr-FR" altLang="zh-CN" dirty="0"/>
              <a:t> </a:t>
            </a:r>
            <a:r>
              <a:rPr lang="fr-FR" altLang="zh-CN" dirty="0" err="1"/>
              <a:t>we</a:t>
            </a:r>
            <a:r>
              <a:rPr lang="fr-FR" altLang="zh-CN" dirty="0"/>
              <a:t> do a </a:t>
            </a:r>
            <a:r>
              <a:rPr lang="fr-FR" altLang="zh-CN" dirty="0" err="1"/>
              <a:t>path</a:t>
            </a:r>
            <a:r>
              <a:rPr lang="fr-FR" altLang="zh-CN" dirty="0"/>
              <a:t> </a:t>
            </a:r>
            <a:r>
              <a:rPr lang="fr-FR" altLang="zh-CN" dirty="0" err="1"/>
              <a:t>from</a:t>
            </a:r>
            <a:r>
              <a:rPr lang="fr-FR" altLang="zh-CN" dirty="0"/>
              <a:t> </a:t>
            </a:r>
            <a:r>
              <a:rPr lang="fr-FR" altLang="zh-CN" dirty="0" err="1"/>
              <a:t>root</a:t>
            </a:r>
            <a:r>
              <a:rPr lang="fr-FR" altLang="zh-CN" dirty="0"/>
              <a:t> to </a:t>
            </a:r>
            <a:r>
              <a:rPr lang="fr-FR" altLang="zh-CN" dirty="0" err="1"/>
              <a:t>leaf</a:t>
            </a:r>
            <a:r>
              <a:rPr lang="fr-FR" altLang="zh-CN" dirty="0"/>
              <a:t> and in a </a:t>
            </a:r>
            <a:r>
              <a:rPr lang="fr-FR" altLang="zh-CN" dirty="0" err="1"/>
              <a:t>balanced</a:t>
            </a:r>
            <a:r>
              <a:rPr lang="fr-FR" altLang="zh-CN" dirty="0"/>
              <a:t> </a:t>
            </a:r>
            <a:r>
              <a:rPr lang="fr-FR" altLang="zh-CN" dirty="0" err="1"/>
              <a:t>tree</a:t>
            </a:r>
            <a:r>
              <a:rPr lang="fr-FR" altLang="zh-CN" dirty="0"/>
              <a:t> the </a:t>
            </a:r>
            <a:r>
              <a:rPr lang="fr-FR" altLang="zh-CN" dirty="0" err="1"/>
              <a:t>depth</a:t>
            </a:r>
            <a:r>
              <a:rPr lang="fr-FR" altLang="zh-CN" dirty="0"/>
              <a:t> </a:t>
            </a:r>
            <a:r>
              <a:rPr lang="fr-FR" altLang="zh-CN" dirty="0" err="1"/>
              <a:t>is</a:t>
            </a:r>
            <a:r>
              <a:rPr lang="fr-FR" altLang="zh-CN" dirty="0"/>
              <a:t> </a:t>
            </a:r>
            <a:r>
              <a:rPr lang="fr-FR" altLang="zh-CN" dirty="0" err="1">
                <a:solidFill>
                  <a:srgbClr val="00B050"/>
                </a:solidFill>
              </a:rPr>
              <a:t>logn</a:t>
            </a:r>
            <a:r>
              <a:rPr lang="fr-FR" altLang="zh-CN" dirty="0"/>
              <a:t>, </a:t>
            </a:r>
            <a:r>
              <a:rPr lang="fr-FR" altLang="zh-CN" dirty="0" err="1"/>
              <a:t>where</a:t>
            </a:r>
            <a:r>
              <a:rPr lang="fr-FR" altLang="zh-CN" dirty="0"/>
              <a:t> n </a:t>
            </a:r>
            <a:r>
              <a:rPr lang="fr-FR" altLang="zh-CN" dirty="0" err="1"/>
              <a:t>is</a:t>
            </a:r>
            <a:r>
              <a:rPr lang="fr-FR" altLang="zh-CN" dirty="0"/>
              <a:t> the </a:t>
            </a:r>
            <a:r>
              <a:rPr lang="fr-FR" altLang="zh-CN" dirty="0" err="1"/>
              <a:t>number</a:t>
            </a:r>
            <a:r>
              <a:rPr lang="fr-FR" altLang="zh-CN" dirty="0"/>
              <a:t> of </a:t>
            </a:r>
            <a:r>
              <a:rPr lang="fr-FR" altLang="zh-CN" dirty="0" err="1"/>
              <a:t>nodes</a:t>
            </a:r>
            <a:r>
              <a:rPr lang="fr-FR" altLang="zh-CN" dirty="0"/>
              <a:t> (</a:t>
            </a:r>
            <a:r>
              <a:rPr lang="fr-FR" altLang="zh-CN" dirty="0" err="1"/>
              <a:t>equivalent</a:t>
            </a:r>
            <a:r>
              <a:rPr lang="fr-FR" altLang="zh-CN" dirty="0"/>
              <a:t> to the </a:t>
            </a:r>
            <a:r>
              <a:rPr lang="fr-FR" altLang="zh-CN" dirty="0" err="1"/>
              <a:t>number</a:t>
            </a:r>
            <a:r>
              <a:rPr lang="fr-FR" altLang="zh-CN" dirty="0"/>
              <a:t> of points). </a:t>
            </a:r>
          </a:p>
          <a:p>
            <a:r>
              <a:rPr lang="fr-FR" altLang="zh-CN" dirty="0" err="1"/>
              <a:t>However</a:t>
            </a:r>
            <a:r>
              <a:rPr lang="fr-FR" altLang="zh-CN" dirty="0"/>
              <a:t>, </a:t>
            </a:r>
            <a:r>
              <a:rPr lang="fr-FR" altLang="zh-CN" dirty="0" err="1"/>
              <a:t>there</a:t>
            </a:r>
            <a:r>
              <a:rPr lang="fr-FR" altLang="zh-CN" dirty="0"/>
              <a:t> </a:t>
            </a:r>
            <a:r>
              <a:rPr lang="fr-FR" altLang="zh-CN" dirty="0" err="1"/>
              <a:t>is</a:t>
            </a:r>
            <a:r>
              <a:rPr lang="fr-FR" altLang="zh-CN" dirty="0"/>
              <a:t> a </a:t>
            </a:r>
            <a:r>
              <a:rPr lang="fr-FR" altLang="zh-CN" dirty="0" err="1"/>
              <a:t>clear</a:t>
            </a:r>
            <a:r>
              <a:rPr lang="fr-FR" altLang="zh-CN" dirty="0"/>
              <a:t> </a:t>
            </a:r>
            <a:r>
              <a:rPr lang="fr-FR" altLang="zh-CN" dirty="0" err="1"/>
              <a:t>degenerate</a:t>
            </a:r>
            <a:r>
              <a:rPr lang="fr-FR" altLang="zh-CN" dirty="0"/>
              <a:t> case: if </a:t>
            </a:r>
            <a:r>
              <a:rPr lang="fr-FR" altLang="zh-CN" dirty="0" err="1"/>
              <a:t>each</a:t>
            </a:r>
            <a:r>
              <a:rPr lang="fr-FR" altLang="zh-CN" dirty="0"/>
              <a:t> point </a:t>
            </a:r>
            <a:r>
              <a:rPr lang="fr-FR" altLang="zh-CN" dirty="0" err="1"/>
              <a:t>increases</a:t>
            </a:r>
            <a:r>
              <a:rPr lang="fr-FR" altLang="zh-CN" dirty="0"/>
              <a:t> </a:t>
            </a:r>
            <a:r>
              <a:rPr lang="fr-FR" altLang="zh-CN" dirty="0" err="1"/>
              <a:t>along</a:t>
            </a:r>
            <a:r>
              <a:rPr lang="fr-FR" altLang="zh-CN" dirty="0"/>
              <a:t> </a:t>
            </a:r>
            <a:r>
              <a:rPr lang="fr-FR" altLang="zh-CN" dirty="0" err="1"/>
              <a:t>every</a:t>
            </a:r>
            <a:r>
              <a:rPr lang="fr-FR" altLang="zh-CN" dirty="0"/>
              <a:t> dimension, </a:t>
            </a:r>
            <a:r>
              <a:rPr lang="fr-FR" altLang="zh-CN" dirty="0" err="1"/>
              <a:t>then</a:t>
            </a:r>
            <a:r>
              <a:rPr lang="fr-FR" altLang="zh-CN" dirty="0"/>
              <a:t> the </a:t>
            </a:r>
            <a:r>
              <a:rPr lang="fr-FR" altLang="zh-CN" dirty="0" err="1"/>
              <a:t>tree</a:t>
            </a:r>
            <a:r>
              <a:rPr lang="fr-FR" altLang="zh-CN" dirty="0"/>
              <a:t> </a:t>
            </a:r>
            <a:r>
              <a:rPr lang="fr-FR" altLang="zh-CN" dirty="0" err="1"/>
              <a:t>becomes</a:t>
            </a:r>
            <a:r>
              <a:rPr lang="fr-FR" altLang="zh-CN" dirty="0"/>
              <a:t> a line </a:t>
            </a:r>
            <a:r>
              <a:rPr lang="fr-FR" altLang="zh-CN" dirty="0" err="1"/>
              <a:t>with</a:t>
            </a:r>
            <a:r>
              <a:rPr lang="fr-FR" altLang="zh-CN" dirty="0"/>
              <a:t> </a:t>
            </a:r>
            <a:r>
              <a:rPr lang="fr-FR" altLang="zh-CN" dirty="0" err="1"/>
              <a:t>height</a:t>
            </a:r>
            <a:r>
              <a:rPr lang="fr-FR" altLang="zh-CN" dirty="0"/>
              <a:t> </a:t>
            </a:r>
            <a:r>
              <a:rPr lang="fr-FR" altLang="zh-CN" dirty="0">
                <a:solidFill>
                  <a:srgbClr val="C00000"/>
                </a:solidFill>
              </a:rPr>
              <a:t>O(n)</a:t>
            </a:r>
            <a:r>
              <a:rPr lang="fr-FR" altLang="zh-CN" dirty="0"/>
              <a:t>. </a:t>
            </a:r>
            <a:r>
              <a:rPr lang="fr-FR" altLang="zh-CN" dirty="0">
                <a:solidFill>
                  <a:srgbClr val="C00000"/>
                </a:solidFill>
              </a:rPr>
              <a:t>1+2+···+n = O(n</a:t>
            </a:r>
            <a:r>
              <a:rPr lang="fr-FR" altLang="zh-CN" baseline="30000" dirty="0">
                <a:solidFill>
                  <a:srgbClr val="C00000"/>
                </a:solidFill>
              </a:rPr>
              <a:t>2</a:t>
            </a:r>
            <a:r>
              <a:rPr lang="fr-FR" altLang="zh-CN" dirty="0">
                <a:solidFill>
                  <a:srgbClr val="C00000"/>
                </a:solidFill>
              </a:rPr>
              <a:t>), </a:t>
            </a:r>
            <a:r>
              <a:rPr lang="fr-FR" altLang="zh-CN" dirty="0" err="1"/>
              <a:t>so</a:t>
            </a:r>
            <a:r>
              <a:rPr lang="fr-FR" altLang="zh-CN" dirty="0"/>
              <a:t> </a:t>
            </a:r>
            <a:r>
              <a:rPr lang="fr-FR" altLang="zh-CN" dirty="0" err="1"/>
              <a:t>it</a:t>
            </a:r>
            <a:r>
              <a:rPr lang="fr-FR" altLang="zh-CN" dirty="0"/>
              <a:t> </a:t>
            </a:r>
            <a:r>
              <a:rPr lang="fr-FR" altLang="zh-CN" dirty="0" err="1"/>
              <a:t>might</a:t>
            </a:r>
            <a:r>
              <a:rPr lang="fr-FR" altLang="zh-CN" dirty="0"/>
              <a:t> </a:t>
            </a:r>
            <a:r>
              <a:rPr lang="fr-FR" altLang="zh-CN" dirty="0" err="1"/>
              <a:t>take</a:t>
            </a:r>
            <a:r>
              <a:rPr lang="fr-FR" altLang="zh-CN" dirty="0"/>
              <a:t> </a:t>
            </a:r>
            <a:r>
              <a:rPr lang="fr-FR" altLang="zh-CN" dirty="0" err="1"/>
              <a:t>quadratic</a:t>
            </a:r>
            <a:r>
              <a:rPr lang="fr-FR" altLang="zh-CN" dirty="0"/>
              <a:t> time to </a:t>
            </a:r>
            <a:r>
              <a:rPr lang="fr-FR" altLang="zh-CN" dirty="0" err="1"/>
              <a:t>build</a:t>
            </a:r>
            <a:r>
              <a:rPr lang="fr-FR" altLang="zh-CN" dirty="0"/>
              <a:t> a </a:t>
            </a:r>
            <a:r>
              <a:rPr lang="fr-FR" altLang="zh-CN" dirty="0" err="1"/>
              <a:t>kd-tree</a:t>
            </a:r>
            <a:r>
              <a:rPr lang="fr-FR" altLang="zh-CN" dirty="0"/>
              <a:t> in the </a:t>
            </a:r>
            <a:r>
              <a:rPr lang="fr-FR" altLang="zh-CN" dirty="0" err="1"/>
              <a:t>worst</a:t>
            </a:r>
            <a:r>
              <a:rPr lang="fr-FR" altLang="zh-CN" dirty="0"/>
              <a:t> case. </a:t>
            </a:r>
          </a:p>
          <a:p>
            <a:r>
              <a:rPr lang="fr-FR" altLang="zh-CN" dirty="0"/>
              <a:t>In practice, the points are </a:t>
            </a:r>
            <a:r>
              <a:rPr lang="fr-FR" altLang="zh-CN" dirty="0" err="1"/>
              <a:t>commonly</a:t>
            </a:r>
            <a:r>
              <a:rPr lang="fr-FR" altLang="zh-CN" dirty="0"/>
              <a:t> </a:t>
            </a:r>
            <a:r>
              <a:rPr lang="fr-FR" altLang="zh-CN" dirty="0" err="1"/>
              <a:t>known</a:t>
            </a:r>
            <a:r>
              <a:rPr lang="fr-FR" altLang="zh-CN" dirty="0"/>
              <a:t> </a:t>
            </a:r>
            <a:r>
              <a:rPr lang="fr-FR" altLang="zh-CN" dirty="0" err="1"/>
              <a:t>ahead</a:t>
            </a:r>
            <a:r>
              <a:rPr lang="fr-FR" altLang="zh-CN" dirty="0"/>
              <a:t> of time. Can we guarantee an </a:t>
            </a:r>
            <a:r>
              <a:rPr lang="fr-FR" altLang="zh-CN" dirty="0">
                <a:solidFill>
                  <a:srgbClr val="549E39"/>
                </a:solidFill>
              </a:rPr>
              <a:t>O(n log n) </a:t>
            </a:r>
            <a:r>
              <a:rPr lang="fr-FR" altLang="zh-CN" dirty="0"/>
              <a:t>build over n points if we know the n points ahead of time?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52DE12-0025-CE60-6EAC-5CC17BDD2207}"/>
              </a:ext>
            </a:extLst>
          </p:cNvPr>
          <p:cNvSpPr txBox="1"/>
          <p:nvPr/>
        </p:nvSpPr>
        <p:spPr>
          <a:xfrm>
            <a:off x="380724" y="299408"/>
            <a:ext cx="105408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Example – using order of point insertion(data stored at nodes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72CC94E7-4806-1125-A446-7AEAA2E6ACF4}"/>
              </a:ext>
            </a:extLst>
          </p:cNvPr>
          <p:cNvSpPr/>
          <p:nvPr/>
        </p:nvSpPr>
        <p:spPr>
          <a:xfrm>
            <a:off x="238665" y="311105"/>
            <a:ext cx="10751228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C86D030-B098-C74D-8ABB-377D6FA3C68A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49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44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5AAEAF-D8C5-5E41-820A-F36CB28AE1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0209" y="1408841"/>
            <a:ext cx="11526473" cy="4575175"/>
          </a:xfrm>
        </p:spPr>
        <p:txBody>
          <a:bodyPr/>
          <a:lstStyle/>
          <a:p>
            <a:r>
              <a:rPr lang="fr-FR" altLang="zh-CN" dirty="0"/>
              <a:t>The key insight </a:t>
            </a:r>
            <a:r>
              <a:rPr lang="fr-FR" altLang="zh-CN" dirty="0" err="1"/>
              <a:t>is</a:t>
            </a:r>
            <a:r>
              <a:rPr lang="fr-FR" altLang="zh-CN" dirty="0"/>
              <a:t> </a:t>
            </a:r>
            <a:r>
              <a:rPr lang="fr-FR" altLang="zh-CN" dirty="0" err="1"/>
              <a:t>that</a:t>
            </a:r>
            <a:r>
              <a:rPr lang="fr-FR" altLang="zh-CN" dirty="0"/>
              <a:t> </a:t>
            </a:r>
            <a:r>
              <a:rPr lang="fr-FR" altLang="zh-CN" dirty="0" err="1"/>
              <a:t>splitting</a:t>
            </a:r>
            <a:r>
              <a:rPr lang="fr-FR" altLang="zh-CN" dirty="0"/>
              <a:t> the points </a:t>
            </a:r>
            <a:r>
              <a:rPr lang="fr-FR" altLang="zh-CN" dirty="0" err="1"/>
              <a:t>perfectly</a:t>
            </a:r>
            <a:r>
              <a:rPr lang="fr-FR" altLang="zh-CN" dirty="0"/>
              <a:t> in </a:t>
            </a:r>
            <a:r>
              <a:rPr lang="fr-FR" altLang="zh-CN" dirty="0" err="1"/>
              <a:t>half</a:t>
            </a:r>
            <a:r>
              <a:rPr lang="fr-FR" altLang="zh-CN" dirty="0"/>
              <a:t> </a:t>
            </a:r>
            <a:r>
              <a:rPr lang="fr-FR" altLang="zh-CN" dirty="0" err="1"/>
              <a:t>between</a:t>
            </a:r>
            <a:r>
              <a:rPr lang="fr-FR" altLang="zh-CN" dirty="0"/>
              <a:t> the </a:t>
            </a:r>
            <a:r>
              <a:rPr lang="fr-FR" altLang="zh-CN" dirty="0" err="1"/>
              <a:t>two</a:t>
            </a:r>
            <a:r>
              <a:rPr lang="fr-FR" altLang="zh-CN" dirty="0"/>
              <a:t> </a:t>
            </a:r>
            <a:r>
              <a:rPr lang="fr-FR" altLang="zh-CN" dirty="0" err="1"/>
              <a:t>subtrees</a:t>
            </a:r>
            <a:r>
              <a:rPr lang="fr-FR" altLang="zh-CN" dirty="0"/>
              <a:t> </a:t>
            </a:r>
            <a:r>
              <a:rPr lang="fr-FR" altLang="zh-CN" dirty="0" err="1"/>
              <a:t>is</a:t>
            </a:r>
            <a:r>
              <a:rPr lang="fr-FR" altLang="zh-CN" dirty="0"/>
              <a:t> the best possible split. </a:t>
            </a:r>
            <a:r>
              <a:rPr lang="fr-FR" altLang="zh-CN" dirty="0">
                <a:solidFill>
                  <a:srgbClr val="00B050"/>
                </a:solidFill>
              </a:rPr>
              <a:t>This </a:t>
            </a:r>
            <a:r>
              <a:rPr lang="fr-FR" altLang="zh-CN" dirty="0" err="1">
                <a:solidFill>
                  <a:srgbClr val="00B050"/>
                </a:solidFill>
              </a:rPr>
              <a:t>means</a:t>
            </a:r>
            <a:r>
              <a:rPr lang="fr-FR" altLang="zh-CN" dirty="0">
                <a:solidFill>
                  <a:srgbClr val="00B050"/>
                </a:solidFill>
              </a:rPr>
              <a:t> </a:t>
            </a:r>
            <a:r>
              <a:rPr lang="fr-FR" altLang="zh-CN" dirty="0" err="1">
                <a:solidFill>
                  <a:srgbClr val="00B050"/>
                </a:solidFill>
              </a:rPr>
              <a:t>we</a:t>
            </a:r>
            <a:r>
              <a:rPr lang="fr-FR" altLang="zh-CN" dirty="0">
                <a:solidFill>
                  <a:srgbClr val="00B050"/>
                </a:solidFill>
              </a:rPr>
              <a:t> </a:t>
            </a:r>
            <a:r>
              <a:rPr lang="fr-FR" altLang="zh-CN" dirty="0" err="1">
                <a:solidFill>
                  <a:srgbClr val="00B050"/>
                </a:solidFill>
              </a:rPr>
              <a:t>should</a:t>
            </a:r>
            <a:r>
              <a:rPr lang="fr-FR" altLang="zh-CN" dirty="0">
                <a:solidFill>
                  <a:srgbClr val="00B050"/>
                </a:solidFill>
              </a:rPr>
              <a:t> split </a:t>
            </a:r>
            <a:r>
              <a:rPr lang="fr-FR" altLang="zh-CN" dirty="0" err="1">
                <a:solidFill>
                  <a:srgbClr val="00B050"/>
                </a:solidFill>
              </a:rPr>
              <a:t>based</a:t>
            </a:r>
            <a:r>
              <a:rPr lang="fr-FR" altLang="zh-CN" dirty="0">
                <a:solidFill>
                  <a:srgbClr val="00B050"/>
                </a:solidFill>
              </a:rPr>
              <a:t> on the </a:t>
            </a:r>
            <a:r>
              <a:rPr lang="fr-FR" altLang="zh-CN" dirty="0" err="1">
                <a:solidFill>
                  <a:srgbClr val="00B050"/>
                </a:solidFill>
              </a:rPr>
              <a:t>median</a:t>
            </a:r>
            <a:r>
              <a:rPr lang="fr-FR" altLang="zh-CN" dirty="0">
                <a:solidFill>
                  <a:srgbClr val="00B050"/>
                </a:solidFill>
              </a:rPr>
              <a:t> value</a:t>
            </a:r>
            <a:r>
              <a:rPr lang="fr-FR" altLang="zh-CN" dirty="0"/>
              <a:t>. </a:t>
            </a:r>
          </a:p>
          <a:p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8209F4C-C37D-2744-86F0-23D7777DA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5" y="3093643"/>
            <a:ext cx="5738070" cy="288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1BAD5D0-BF09-5F2C-83DC-268AD440A162}"/>
              </a:ext>
            </a:extLst>
          </p:cNvPr>
          <p:cNvSpPr txBox="1"/>
          <p:nvPr/>
        </p:nvSpPr>
        <p:spPr>
          <a:xfrm>
            <a:off x="380724" y="299408"/>
            <a:ext cx="49043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3200" b="1" dirty="0">
                <a:solidFill>
                  <a:schemeClr val="bg1"/>
                </a:solidFill>
              </a:rPr>
              <a:t>Median-based Construction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B222BBB8-A4DE-F48C-DCA9-49561D305E19}"/>
              </a:ext>
            </a:extLst>
          </p:cNvPr>
          <p:cNvSpPr/>
          <p:nvPr/>
        </p:nvSpPr>
        <p:spPr>
          <a:xfrm>
            <a:off x="238665" y="311105"/>
            <a:ext cx="5138678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87D65B3-71A7-68E3-8C8D-AD4AD598EECB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50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E3DBCF-EF5E-6E3A-E71F-58A7A5079B64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87453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C68A371-F3AA-D946-BD14-75F81902D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208" y="1293838"/>
            <a:ext cx="7021577" cy="78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B538C03-C125-0E4E-A0F7-9D383F78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208" y="2213487"/>
            <a:ext cx="7021585" cy="7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56F00BA0-4A33-2248-A919-1879FBDFD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902" y="3149432"/>
            <a:ext cx="7583648" cy="164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F972BA3F-DE14-0D49-BFD2-5E9EE5452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128" y="4788031"/>
            <a:ext cx="7751423" cy="168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335E8D2-7157-748D-96E3-C2F6E7D0A49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51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9FE8F9-751A-8215-EE53-A54CD5D4B02C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48265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C08AA103-4112-444B-97A4-E53793726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263" y="3699343"/>
            <a:ext cx="7273255" cy="2411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18CE775E-1BA1-B442-BFF8-0EC83D9B5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386" y="1502695"/>
            <a:ext cx="7613009" cy="165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D05A541C-4DFC-0521-2530-D9755521412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52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C97A81-9E30-7EDF-2FD5-A4FD3110037B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03035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5" name="Content Placeholder 3" descr="build2.png">
            <a:extLst>
              <a:ext uri="{FF2B5EF4-FFF2-40B4-BE49-F238E27FC236}">
                <a16:creationId xmlns:a16="http://schemas.microsoft.com/office/drawing/2014/main" id="{3D902585-9BFB-3C4A-B051-9546D32F068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4" b="3056"/>
          <a:stretch/>
        </p:blipFill>
        <p:spPr>
          <a:xfrm>
            <a:off x="4098614" y="1233182"/>
            <a:ext cx="4194175" cy="5117284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2CCFC92-D226-1894-3639-CE17AC2DC485}"/>
              </a:ext>
            </a:extLst>
          </p:cNvPr>
          <p:cNvSpPr txBox="1"/>
          <p:nvPr/>
        </p:nvSpPr>
        <p:spPr>
          <a:xfrm>
            <a:off x="380724" y="299408"/>
            <a:ext cx="5814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Another Example – using median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4DA757E1-82E6-66F4-D77D-15C3F8FA9F53}"/>
              </a:ext>
            </a:extLst>
          </p:cNvPr>
          <p:cNvSpPr/>
          <p:nvPr/>
        </p:nvSpPr>
        <p:spPr>
          <a:xfrm>
            <a:off x="238665" y="311105"/>
            <a:ext cx="606813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E5DEBA-1518-C690-050C-0A9A29C0EA49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53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A7CD22-C6EA-C874-9F73-0C8B4BC945F9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9" name="Content Placeholder 3" descr="build3.png">
            <a:extLst>
              <a:ext uri="{FF2B5EF4-FFF2-40B4-BE49-F238E27FC236}">
                <a16:creationId xmlns:a16="http://schemas.microsoft.com/office/drawing/2014/main" id="{42F307A9-6F7F-8140-B924-8674BEB33E5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18"/>
          <a:stretch/>
        </p:blipFill>
        <p:spPr>
          <a:xfrm>
            <a:off x="3805237" y="1506537"/>
            <a:ext cx="4581525" cy="384492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A5F1D84-B193-BA24-A3B8-255889C21C47}"/>
              </a:ext>
            </a:extLst>
          </p:cNvPr>
          <p:cNvSpPr txBox="1"/>
          <p:nvPr/>
        </p:nvSpPr>
        <p:spPr>
          <a:xfrm>
            <a:off x="380724" y="299408"/>
            <a:ext cx="5814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Another Example – using median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4A2912DD-997F-184E-201F-8369F66F2798}"/>
              </a:ext>
            </a:extLst>
          </p:cNvPr>
          <p:cNvSpPr/>
          <p:nvPr/>
        </p:nvSpPr>
        <p:spPr>
          <a:xfrm>
            <a:off x="238665" y="311105"/>
            <a:ext cx="606813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DEF749-6515-FF5E-F0F2-DD4ED28F4343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54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AF1BEC-9DCC-4392-9460-6A3765906223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3" name="Content Placeholder 3" descr="build4.png">
            <a:extLst>
              <a:ext uri="{FF2B5EF4-FFF2-40B4-BE49-F238E27FC236}">
                <a16:creationId xmlns:a16="http://schemas.microsoft.com/office/drawing/2014/main" id="{7270CF66-5E67-4640-A5A3-6BDFCBDFD36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5" b="11054"/>
          <a:stretch/>
        </p:blipFill>
        <p:spPr>
          <a:xfrm>
            <a:off x="4300990" y="1512606"/>
            <a:ext cx="4011613" cy="452072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006A32C-CB9C-1CB4-AD49-21215A021C0A}"/>
              </a:ext>
            </a:extLst>
          </p:cNvPr>
          <p:cNvSpPr txBox="1"/>
          <p:nvPr/>
        </p:nvSpPr>
        <p:spPr>
          <a:xfrm>
            <a:off x="380724" y="299408"/>
            <a:ext cx="5814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Another Example – using median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2A044E5D-A2B6-AE94-7F27-BA16ACF1F3DC}"/>
              </a:ext>
            </a:extLst>
          </p:cNvPr>
          <p:cNvSpPr/>
          <p:nvPr/>
        </p:nvSpPr>
        <p:spPr>
          <a:xfrm>
            <a:off x="238665" y="311105"/>
            <a:ext cx="606813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B846199-50DC-EFB3-C493-1FE318A31396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55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C01E81-1ABE-47DC-B9B8-723F85971A0C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Content Placeholder 3" descr="build5.png">
            <a:extLst>
              <a:ext uri="{FF2B5EF4-FFF2-40B4-BE49-F238E27FC236}">
                <a16:creationId xmlns:a16="http://schemas.microsoft.com/office/drawing/2014/main" id="{59EF5046-8145-D844-8C80-68F87FE6DEA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424"/>
          <a:stretch/>
        </p:blipFill>
        <p:spPr>
          <a:xfrm>
            <a:off x="3062421" y="3632127"/>
            <a:ext cx="5524500" cy="2471737"/>
          </a:xfrm>
        </p:spPr>
      </p:pic>
      <p:pic>
        <p:nvPicPr>
          <p:cNvPr id="4" name="Content Placeholder 3" descr="build5.png">
            <a:extLst>
              <a:ext uri="{FF2B5EF4-FFF2-40B4-BE49-F238E27FC236}">
                <a16:creationId xmlns:a16="http://schemas.microsoft.com/office/drawing/2014/main" id="{49FBFE55-9F69-6046-9C93-FE8AFC11A0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87"/>
          <a:stretch/>
        </p:blipFill>
        <p:spPr>
          <a:xfrm>
            <a:off x="3887937" y="1417740"/>
            <a:ext cx="4194335" cy="239395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2FE7E88-8F64-B2C3-1B3F-506815C97284}"/>
              </a:ext>
            </a:extLst>
          </p:cNvPr>
          <p:cNvSpPr txBox="1"/>
          <p:nvPr/>
        </p:nvSpPr>
        <p:spPr>
          <a:xfrm>
            <a:off x="380724" y="299408"/>
            <a:ext cx="5814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Another Example – using median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6B4ADC4C-A11A-77E8-26F9-E51AFCB747CD}"/>
              </a:ext>
            </a:extLst>
          </p:cNvPr>
          <p:cNvSpPr/>
          <p:nvPr/>
        </p:nvSpPr>
        <p:spPr>
          <a:xfrm>
            <a:off x="238665" y="311105"/>
            <a:ext cx="606813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D2C8D8-8EFE-4F06-C7AF-68DE64D207E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56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EB64DA-771B-BD6F-D64D-ABF57ECECA99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1" name="Content Placeholder 3" descr="build6.png">
            <a:extLst>
              <a:ext uri="{FF2B5EF4-FFF2-40B4-BE49-F238E27FC236}">
                <a16:creationId xmlns:a16="http://schemas.microsoft.com/office/drawing/2014/main" id="{4246C0D9-D438-5841-84AB-742CEC271D7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62"/>
          <a:stretch/>
        </p:blipFill>
        <p:spPr>
          <a:xfrm>
            <a:off x="3333585" y="3560763"/>
            <a:ext cx="5400675" cy="2471737"/>
          </a:xfrm>
        </p:spPr>
      </p:pic>
      <p:pic>
        <p:nvPicPr>
          <p:cNvPr id="4" name="Content Placeholder 3" descr="build5.png">
            <a:extLst>
              <a:ext uri="{FF2B5EF4-FFF2-40B4-BE49-F238E27FC236}">
                <a16:creationId xmlns:a16="http://schemas.microsoft.com/office/drawing/2014/main" id="{7ADEC99C-9B9D-BF40-BE25-B97F82DEE3F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424"/>
          <a:stretch/>
        </p:blipFill>
        <p:spPr>
          <a:xfrm>
            <a:off x="3333585" y="1290626"/>
            <a:ext cx="5524831" cy="24716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DEA2ACA-DF47-BF25-8628-B3D7DFB6C18A}"/>
              </a:ext>
            </a:extLst>
          </p:cNvPr>
          <p:cNvSpPr txBox="1"/>
          <p:nvPr/>
        </p:nvSpPr>
        <p:spPr>
          <a:xfrm>
            <a:off x="380724" y="299408"/>
            <a:ext cx="5814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Another Example – using median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CEF300A6-2526-A46E-8DEB-3D0CB8FAEE99}"/>
              </a:ext>
            </a:extLst>
          </p:cNvPr>
          <p:cNvSpPr/>
          <p:nvPr/>
        </p:nvSpPr>
        <p:spPr>
          <a:xfrm>
            <a:off x="238665" y="311105"/>
            <a:ext cx="606813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A44C32-80D9-D8D0-D489-231FD55B893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57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2478B7-56AF-5599-E07D-28222425366B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5" name="Content Placeholder 3" descr="build7.png">
            <a:extLst>
              <a:ext uri="{FF2B5EF4-FFF2-40B4-BE49-F238E27FC236}">
                <a16:creationId xmlns:a16="http://schemas.microsoft.com/office/drawing/2014/main" id="{8C886D72-95E4-5C4D-911E-734C328652B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88"/>
          <a:stretch/>
        </p:blipFill>
        <p:spPr>
          <a:xfrm>
            <a:off x="3493747" y="1131392"/>
            <a:ext cx="5626100" cy="2455863"/>
          </a:xfrm>
        </p:spPr>
      </p:pic>
      <p:pic>
        <p:nvPicPr>
          <p:cNvPr id="4" name="Content Placeholder 3" descr="build7.png">
            <a:extLst>
              <a:ext uri="{FF2B5EF4-FFF2-40B4-BE49-F238E27FC236}">
                <a16:creationId xmlns:a16="http://schemas.microsoft.com/office/drawing/2014/main" id="{966BA792-7DF6-3740-A63F-D84EA691DB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375"/>
          <a:stretch/>
        </p:blipFill>
        <p:spPr>
          <a:xfrm>
            <a:off x="2467557" y="3665762"/>
            <a:ext cx="7078141" cy="24566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A2BE364-3BFF-0EB7-B66E-89DBD19327CB}"/>
              </a:ext>
            </a:extLst>
          </p:cNvPr>
          <p:cNvSpPr txBox="1"/>
          <p:nvPr/>
        </p:nvSpPr>
        <p:spPr>
          <a:xfrm>
            <a:off x="380724" y="299408"/>
            <a:ext cx="5814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Another Example – using median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A8494E94-BA2B-B637-C53B-6031F6563D98}"/>
              </a:ext>
            </a:extLst>
          </p:cNvPr>
          <p:cNvSpPr/>
          <p:nvPr/>
        </p:nvSpPr>
        <p:spPr>
          <a:xfrm>
            <a:off x="238665" y="311105"/>
            <a:ext cx="606813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07BB64-431E-0CF4-13C8-EE25688A150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58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28A930-FEF6-8691-8566-DBD9913DD24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9" name="Content Placeholder 3" descr="build8.png">
            <a:extLst>
              <a:ext uri="{FF2B5EF4-FFF2-40B4-BE49-F238E27FC236}">
                <a16:creationId xmlns:a16="http://schemas.microsoft.com/office/drawing/2014/main" id="{C592457D-7EA0-D947-A5AB-7C94E8D491F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479"/>
          <a:stretch/>
        </p:blipFill>
        <p:spPr>
          <a:xfrm>
            <a:off x="2290452" y="1711297"/>
            <a:ext cx="7810500" cy="3173413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26A004C-7BCF-437B-7782-BCFF0F383D73}"/>
              </a:ext>
            </a:extLst>
          </p:cNvPr>
          <p:cNvSpPr txBox="1"/>
          <p:nvPr/>
        </p:nvSpPr>
        <p:spPr>
          <a:xfrm>
            <a:off x="380724" y="299408"/>
            <a:ext cx="5814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Another Example – using median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19CA0881-B6A4-97E8-CFD8-69DC263F9687}"/>
              </a:ext>
            </a:extLst>
          </p:cNvPr>
          <p:cNvSpPr/>
          <p:nvPr/>
        </p:nvSpPr>
        <p:spPr>
          <a:xfrm>
            <a:off x="238665" y="311105"/>
            <a:ext cx="606813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6F1191-E9B7-4F2C-01B8-BD19B7FB799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59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E6D96-FB50-93FE-F9A7-621F750D44AC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43">
            <a:extLst>
              <a:ext uri="{FF2B5EF4-FFF2-40B4-BE49-F238E27FC236}">
                <a16:creationId xmlns:a16="http://schemas.microsoft.com/office/drawing/2014/main" id="{5C31791B-E119-6CF7-760F-3891F3CD5DFC}"/>
              </a:ext>
            </a:extLst>
          </p:cNvPr>
          <p:cNvSpPr/>
          <p:nvPr/>
        </p:nvSpPr>
        <p:spPr bwMode="auto">
          <a:xfrm>
            <a:off x="2432807" y="2038524"/>
            <a:ext cx="7600425" cy="3582099"/>
          </a:xfrm>
          <a:prstGeom prst="roundRect">
            <a:avLst>
              <a:gd name="adj" fmla="val 9992"/>
            </a:avLst>
          </a:prstGeom>
          <a:solidFill>
            <a:schemeClr val="bg1">
              <a:lumMod val="95000"/>
            </a:schemeClr>
          </a:solidFill>
          <a:ln w="3175" cap="flat" cmpd="sng">
            <a:solidFill>
              <a:schemeClr val="bg1">
                <a:lumMod val="50000"/>
              </a:schemeClr>
            </a:solidFill>
            <a:bevel/>
          </a:ln>
        </p:spPr>
        <p:txBody>
          <a:bodyPr lIns="62118" tIns="31058" rIns="62118" bIns="31058" anchor="ctr"/>
          <a:lstStyle/>
          <a:p>
            <a:pPr marL="914400" lvl="2" defTabSz="914400">
              <a:lnSpc>
                <a:spcPts val="1700"/>
              </a:lnSpc>
              <a:defRPr/>
            </a:pPr>
            <a:endParaRPr lang="zh-CN" altLang="en-US" sz="18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7588" name="Content Placeholder 5">
            <a:extLst>
              <a:ext uri="{FF2B5EF4-FFF2-40B4-BE49-F238E27FC236}">
                <a16:creationId xmlns:a16="http://schemas.microsoft.com/office/drawing/2014/main" id="{54960DD0-1807-2043-9412-C6A12AB334DC}"/>
              </a:ext>
            </a:extLst>
          </p:cNvPr>
          <p:cNvSpPr txBox="1">
            <a:spLocks/>
          </p:cNvSpPr>
          <p:nvPr/>
        </p:nvSpPr>
        <p:spPr bwMode="auto">
          <a:xfrm>
            <a:off x="5085126" y="2038524"/>
            <a:ext cx="3320642" cy="3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69925" indent="-32543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zh-CN" sz="3400" dirty="0">
              <a:latin typeface="+mn-lt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zh-CN" sz="3400" dirty="0">
                <a:latin typeface="+mn-lt"/>
                <a:ea typeface="宋体" panose="02010600030101010101" pitchFamily="2" charset="-122"/>
              </a:rPr>
              <a:t>Let’s discuss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</a:pPr>
            <a:r>
              <a:rPr lang="en-US" altLang="zh-CN" sz="3400" dirty="0">
                <a:latin typeface="+mn-lt"/>
                <a:ea typeface="宋体" panose="02010600030101010101" pitchFamily="2" charset="-122"/>
              </a:rPr>
              <a:t>Insert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</a:pPr>
            <a:r>
              <a:rPr lang="en-US" altLang="zh-CN" sz="3400" dirty="0">
                <a:latin typeface="+mn-lt"/>
                <a:ea typeface="宋体" panose="02010600030101010101" pitchFamily="2" charset="-122"/>
              </a:rPr>
              <a:t>Delete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</a:pPr>
            <a:r>
              <a:rPr lang="en-US" altLang="zh-CN" sz="3400" dirty="0">
                <a:latin typeface="+mn-lt"/>
                <a:ea typeface="宋体" panose="02010600030101010101" pitchFamily="2" charset="-122"/>
              </a:rPr>
              <a:t>Search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8DC7FC-09AC-FD8E-E3A7-82D10C1BFFE1}"/>
              </a:ext>
            </a:extLst>
          </p:cNvPr>
          <p:cNvSpPr txBox="1"/>
          <p:nvPr/>
        </p:nvSpPr>
        <p:spPr>
          <a:xfrm>
            <a:off x="380725" y="299408"/>
            <a:ext cx="3226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 (cont’d)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5DDFBE3A-AF5C-BB62-1E9B-F49A8A70C43D}"/>
              </a:ext>
            </a:extLst>
          </p:cNvPr>
          <p:cNvSpPr/>
          <p:nvPr/>
        </p:nvSpPr>
        <p:spPr>
          <a:xfrm>
            <a:off x="238665" y="311105"/>
            <a:ext cx="356993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85072A-4734-5E38-EEC0-0BB66EB613F9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60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E5C1E032-FB51-1348-AA60-87DD712A0F4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09700" y="1215959"/>
            <a:ext cx="3124200" cy="5334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800" dirty="0">
                <a:ea typeface="宋体" panose="02010600030101010101" pitchFamily="2" charset="-122"/>
              </a:rPr>
              <a:t>Insert (55, 62)</a:t>
            </a:r>
          </a:p>
        </p:txBody>
      </p:sp>
      <p:sp>
        <p:nvSpPr>
          <p:cNvPr id="68611" name="Oval 6">
            <a:extLst>
              <a:ext uri="{FF2B5EF4-FFF2-40B4-BE49-F238E27FC236}">
                <a16:creationId xmlns:a16="http://schemas.microsoft.com/office/drawing/2014/main" id="{778011E6-C23E-8742-B40C-9C354B4BF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374900"/>
            <a:ext cx="914400" cy="304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8612" name="Text Box 7">
            <a:extLst>
              <a:ext uri="{FF2B5EF4-FFF2-40B4-BE49-F238E27FC236}">
                <a16:creationId xmlns:a16="http://schemas.microsoft.com/office/drawing/2014/main" id="{FDCCFD8A-1787-D84A-BB73-DF48C24F8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3749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53, 14</a:t>
            </a:r>
          </a:p>
        </p:txBody>
      </p:sp>
      <p:grpSp>
        <p:nvGrpSpPr>
          <p:cNvPr id="68613" name="Group 8">
            <a:extLst>
              <a:ext uri="{FF2B5EF4-FFF2-40B4-BE49-F238E27FC236}">
                <a16:creationId xmlns:a16="http://schemas.microsoft.com/office/drawing/2014/main" id="{2044BCFA-B33B-5F44-A468-058F14B2EA13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984500"/>
            <a:ext cx="914400" cy="336550"/>
            <a:chOff x="2544" y="672"/>
            <a:chExt cx="576" cy="212"/>
          </a:xfrm>
        </p:grpSpPr>
        <p:sp>
          <p:nvSpPr>
            <p:cNvPr id="68677" name="Oval 9">
              <a:extLst>
                <a:ext uri="{FF2B5EF4-FFF2-40B4-BE49-F238E27FC236}">
                  <a16:creationId xmlns:a16="http://schemas.microsoft.com/office/drawing/2014/main" id="{B2B3FE66-DD02-1446-A028-9FB65A5F0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672"/>
              <a:ext cx="576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68678" name="Text Box 10">
              <a:extLst>
                <a:ext uri="{FF2B5EF4-FFF2-40B4-BE49-F238E27FC236}">
                  <a16:creationId xmlns:a16="http://schemas.microsoft.com/office/drawing/2014/main" id="{234D7782-2038-494C-B526-E73D257F8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6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27, 28</a:t>
              </a:r>
            </a:p>
          </p:txBody>
        </p:sp>
      </p:grpSp>
      <p:sp>
        <p:nvSpPr>
          <p:cNvPr id="68614" name="Oval 12">
            <a:extLst>
              <a:ext uri="{FF2B5EF4-FFF2-40B4-BE49-F238E27FC236}">
                <a16:creationId xmlns:a16="http://schemas.microsoft.com/office/drawing/2014/main" id="{0420B829-45AE-5B4A-9DE0-310B3BF98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908300"/>
            <a:ext cx="914400" cy="304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8615" name="Text Box 13">
            <a:extLst>
              <a:ext uri="{FF2B5EF4-FFF2-40B4-BE49-F238E27FC236}">
                <a16:creationId xmlns:a16="http://schemas.microsoft.com/office/drawing/2014/main" id="{BC8A5382-FFB2-B440-90F8-80236F35F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9083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65, 51</a:t>
            </a:r>
          </a:p>
        </p:txBody>
      </p:sp>
      <p:grpSp>
        <p:nvGrpSpPr>
          <p:cNvPr id="68616" name="Group 14">
            <a:extLst>
              <a:ext uri="{FF2B5EF4-FFF2-40B4-BE49-F238E27FC236}">
                <a16:creationId xmlns:a16="http://schemas.microsoft.com/office/drawing/2014/main" id="{79B7F492-2CD1-9447-AE1F-7205ECC3368D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594100"/>
            <a:ext cx="914400" cy="336550"/>
            <a:chOff x="2544" y="672"/>
            <a:chExt cx="576" cy="212"/>
          </a:xfrm>
        </p:grpSpPr>
        <p:sp>
          <p:nvSpPr>
            <p:cNvPr id="68675" name="Oval 15">
              <a:extLst>
                <a:ext uri="{FF2B5EF4-FFF2-40B4-BE49-F238E27FC236}">
                  <a16:creationId xmlns:a16="http://schemas.microsoft.com/office/drawing/2014/main" id="{9BE605E8-3333-1241-A273-104252D1A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672"/>
              <a:ext cx="576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68676" name="Text Box 16">
              <a:extLst>
                <a:ext uri="{FF2B5EF4-FFF2-40B4-BE49-F238E27FC236}">
                  <a16:creationId xmlns:a16="http://schemas.microsoft.com/office/drawing/2014/main" id="{432323E6-CD07-0243-BB9B-112C43094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6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31, 85</a:t>
              </a:r>
            </a:p>
          </p:txBody>
        </p:sp>
      </p:grpSp>
      <p:grpSp>
        <p:nvGrpSpPr>
          <p:cNvPr id="68617" name="Group 17">
            <a:extLst>
              <a:ext uri="{FF2B5EF4-FFF2-40B4-BE49-F238E27FC236}">
                <a16:creationId xmlns:a16="http://schemas.microsoft.com/office/drawing/2014/main" id="{E4BC0743-33B8-5841-BDD8-DCA016442735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594100"/>
            <a:ext cx="914400" cy="336550"/>
            <a:chOff x="2544" y="672"/>
            <a:chExt cx="576" cy="212"/>
          </a:xfrm>
        </p:grpSpPr>
        <p:sp>
          <p:nvSpPr>
            <p:cNvPr id="68673" name="Oval 18">
              <a:extLst>
                <a:ext uri="{FF2B5EF4-FFF2-40B4-BE49-F238E27FC236}">
                  <a16:creationId xmlns:a16="http://schemas.microsoft.com/office/drawing/2014/main" id="{C535A9F0-D410-1041-92C5-568181D9A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672"/>
              <a:ext cx="576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68674" name="Text Box 19">
              <a:extLst>
                <a:ext uri="{FF2B5EF4-FFF2-40B4-BE49-F238E27FC236}">
                  <a16:creationId xmlns:a16="http://schemas.microsoft.com/office/drawing/2014/main" id="{0E07698A-86B5-C645-A03B-94C4988CB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6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30, 11</a:t>
              </a:r>
            </a:p>
          </p:txBody>
        </p:sp>
      </p:grpSp>
      <p:grpSp>
        <p:nvGrpSpPr>
          <p:cNvPr id="68618" name="Group 20">
            <a:extLst>
              <a:ext uri="{FF2B5EF4-FFF2-40B4-BE49-F238E27FC236}">
                <a16:creationId xmlns:a16="http://schemas.microsoft.com/office/drawing/2014/main" id="{01450590-107C-A440-9D28-B1D0228E70E0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517900"/>
            <a:ext cx="914400" cy="336550"/>
            <a:chOff x="2544" y="672"/>
            <a:chExt cx="576" cy="212"/>
          </a:xfrm>
        </p:grpSpPr>
        <p:sp>
          <p:nvSpPr>
            <p:cNvPr id="68671" name="Oval 21">
              <a:extLst>
                <a:ext uri="{FF2B5EF4-FFF2-40B4-BE49-F238E27FC236}">
                  <a16:creationId xmlns:a16="http://schemas.microsoft.com/office/drawing/2014/main" id="{7FCE3A22-5E6C-C848-BE4B-A0102EE6E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672"/>
              <a:ext cx="576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68672" name="Text Box 22">
              <a:extLst>
                <a:ext uri="{FF2B5EF4-FFF2-40B4-BE49-F238E27FC236}">
                  <a16:creationId xmlns:a16="http://schemas.microsoft.com/office/drawing/2014/main" id="{2C0CA054-4429-D243-9A60-18CB9F332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6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70, 3</a:t>
              </a:r>
            </a:p>
          </p:txBody>
        </p:sp>
      </p:grpSp>
      <p:sp>
        <p:nvSpPr>
          <p:cNvPr id="68619" name="Oval 24">
            <a:extLst>
              <a:ext uri="{FF2B5EF4-FFF2-40B4-BE49-F238E27FC236}">
                <a16:creationId xmlns:a16="http://schemas.microsoft.com/office/drawing/2014/main" id="{276929DC-DE9D-AD41-B95E-0307D1258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3517900"/>
            <a:ext cx="914400" cy="304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8620" name="Text Box 25">
            <a:extLst>
              <a:ext uri="{FF2B5EF4-FFF2-40B4-BE49-F238E27FC236}">
                <a16:creationId xmlns:a16="http://schemas.microsoft.com/office/drawing/2014/main" id="{5BF257A4-DB3B-DD43-9D90-C1F902764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35179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99, 90</a:t>
            </a:r>
          </a:p>
        </p:txBody>
      </p:sp>
      <p:grpSp>
        <p:nvGrpSpPr>
          <p:cNvPr id="68621" name="Group 26">
            <a:extLst>
              <a:ext uri="{FF2B5EF4-FFF2-40B4-BE49-F238E27FC236}">
                <a16:creationId xmlns:a16="http://schemas.microsoft.com/office/drawing/2014/main" id="{CA69EEC6-7B11-1F4D-B3C3-FC13BCF8AA24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4324350"/>
            <a:ext cx="914400" cy="336550"/>
            <a:chOff x="2544" y="672"/>
            <a:chExt cx="576" cy="212"/>
          </a:xfrm>
        </p:grpSpPr>
        <p:sp>
          <p:nvSpPr>
            <p:cNvPr id="68669" name="Oval 27">
              <a:extLst>
                <a:ext uri="{FF2B5EF4-FFF2-40B4-BE49-F238E27FC236}">
                  <a16:creationId xmlns:a16="http://schemas.microsoft.com/office/drawing/2014/main" id="{3CB4D416-3A83-404B-8D29-3DDC0417E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672"/>
              <a:ext cx="576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68670" name="Text Box 28">
              <a:extLst>
                <a:ext uri="{FF2B5EF4-FFF2-40B4-BE49-F238E27FC236}">
                  <a16:creationId xmlns:a16="http://schemas.microsoft.com/office/drawing/2014/main" id="{C1490A39-66C9-B444-9ADF-7BDDCA34D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6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29, 16</a:t>
              </a:r>
            </a:p>
          </p:txBody>
        </p:sp>
      </p:grpSp>
      <p:grpSp>
        <p:nvGrpSpPr>
          <p:cNvPr id="68622" name="Group 29">
            <a:extLst>
              <a:ext uri="{FF2B5EF4-FFF2-40B4-BE49-F238E27FC236}">
                <a16:creationId xmlns:a16="http://schemas.microsoft.com/office/drawing/2014/main" id="{624B7443-6AA7-F24D-A417-3860C6E35F0C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4279900"/>
            <a:ext cx="914400" cy="336550"/>
            <a:chOff x="2544" y="672"/>
            <a:chExt cx="576" cy="212"/>
          </a:xfrm>
        </p:grpSpPr>
        <p:sp>
          <p:nvSpPr>
            <p:cNvPr id="68667" name="Oval 30">
              <a:extLst>
                <a:ext uri="{FF2B5EF4-FFF2-40B4-BE49-F238E27FC236}">
                  <a16:creationId xmlns:a16="http://schemas.microsoft.com/office/drawing/2014/main" id="{2C97A39C-F685-8A48-9681-83B7C173D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672"/>
              <a:ext cx="576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68668" name="Text Box 31">
              <a:extLst>
                <a:ext uri="{FF2B5EF4-FFF2-40B4-BE49-F238E27FC236}">
                  <a16:creationId xmlns:a16="http://schemas.microsoft.com/office/drawing/2014/main" id="{4AF6FF09-8593-0640-9DC6-1B43A0339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6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40, 26</a:t>
              </a:r>
            </a:p>
          </p:txBody>
        </p:sp>
      </p:grpSp>
      <p:grpSp>
        <p:nvGrpSpPr>
          <p:cNvPr id="68623" name="Group 32">
            <a:extLst>
              <a:ext uri="{FF2B5EF4-FFF2-40B4-BE49-F238E27FC236}">
                <a16:creationId xmlns:a16="http://schemas.microsoft.com/office/drawing/2014/main" id="{B6F08006-C4BF-F64C-A31D-6E162FC9B0B6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4279900"/>
            <a:ext cx="914400" cy="336550"/>
            <a:chOff x="2544" y="672"/>
            <a:chExt cx="576" cy="212"/>
          </a:xfrm>
        </p:grpSpPr>
        <p:sp>
          <p:nvSpPr>
            <p:cNvPr id="68665" name="Oval 33">
              <a:extLst>
                <a:ext uri="{FF2B5EF4-FFF2-40B4-BE49-F238E27FC236}">
                  <a16:creationId xmlns:a16="http://schemas.microsoft.com/office/drawing/2014/main" id="{F9E9703C-A0C2-404A-B42D-2E1306B40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672"/>
              <a:ext cx="576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68666" name="Text Box 34">
              <a:extLst>
                <a:ext uri="{FF2B5EF4-FFF2-40B4-BE49-F238E27FC236}">
                  <a16:creationId xmlns:a16="http://schemas.microsoft.com/office/drawing/2014/main" id="{800A89C3-D860-D746-9BD5-BF99119DA0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6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7, 39</a:t>
              </a:r>
            </a:p>
          </p:txBody>
        </p:sp>
      </p:grpSp>
      <p:grpSp>
        <p:nvGrpSpPr>
          <p:cNvPr id="68624" name="Group 35">
            <a:extLst>
              <a:ext uri="{FF2B5EF4-FFF2-40B4-BE49-F238E27FC236}">
                <a16:creationId xmlns:a16="http://schemas.microsoft.com/office/drawing/2014/main" id="{442E5112-7624-174D-A5DA-56E2ABAE3B09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4248150"/>
            <a:ext cx="914400" cy="336550"/>
            <a:chOff x="2544" y="672"/>
            <a:chExt cx="576" cy="212"/>
          </a:xfrm>
        </p:grpSpPr>
        <p:sp>
          <p:nvSpPr>
            <p:cNvPr id="68663" name="Oval 36">
              <a:extLst>
                <a:ext uri="{FF2B5EF4-FFF2-40B4-BE49-F238E27FC236}">
                  <a16:creationId xmlns:a16="http://schemas.microsoft.com/office/drawing/2014/main" id="{0B9182F3-0574-7044-A475-6ABD33B4D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672"/>
              <a:ext cx="576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68664" name="Text Box 37">
              <a:extLst>
                <a:ext uri="{FF2B5EF4-FFF2-40B4-BE49-F238E27FC236}">
                  <a16:creationId xmlns:a16="http://schemas.microsoft.com/office/drawing/2014/main" id="{A33646F3-0237-2F45-9C47-5D4B7773F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6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32, 29</a:t>
              </a:r>
            </a:p>
          </p:txBody>
        </p:sp>
      </p:grpSp>
      <p:sp>
        <p:nvSpPr>
          <p:cNvPr id="68625" name="Oval 39">
            <a:extLst>
              <a:ext uri="{FF2B5EF4-FFF2-40B4-BE49-F238E27FC236}">
                <a16:creationId xmlns:a16="http://schemas.microsoft.com/office/drawing/2014/main" id="{1CBFAC31-21F1-C547-A855-C986EE2AD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203700"/>
            <a:ext cx="914400" cy="304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8626" name="Text Box 40">
            <a:extLst>
              <a:ext uri="{FF2B5EF4-FFF2-40B4-BE49-F238E27FC236}">
                <a16:creationId xmlns:a16="http://schemas.microsoft.com/office/drawing/2014/main" id="{FF896E7C-FA13-194E-8E7E-3A8A29771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2037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82, 64</a:t>
            </a:r>
          </a:p>
        </p:txBody>
      </p:sp>
      <p:grpSp>
        <p:nvGrpSpPr>
          <p:cNvPr id="68627" name="Group 41">
            <a:extLst>
              <a:ext uri="{FF2B5EF4-FFF2-40B4-BE49-F238E27FC236}">
                <a16:creationId xmlns:a16="http://schemas.microsoft.com/office/drawing/2014/main" id="{ED3888D5-929B-8340-A011-59B8DFB920E8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5041900"/>
            <a:ext cx="914400" cy="336550"/>
            <a:chOff x="2544" y="672"/>
            <a:chExt cx="576" cy="212"/>
          </a:xfrm>
        </p:grpSpPr>
        <p:sp>
          <p:nvSpPr>
            <p:cNvPr id="68661" name="Oval 42">
              <a:extLst>
                <a:ext uri="{FF2B5EF4-FFF2-40B4-BE49-F238E27FC236}">
                  <a16:creationId xmlns:a16="http://schemas.microsoft.com/office/drawing/2014/main" id="{A0BDF020-0CBA-454C-B78B-2A3C6EACD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672"/>
              <a:ext cx="576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68662" name="Text Box 43">
              <a:extLst>
                <a:ext uri="{FF2B5EF4-FFF2-40B4-BE49-F238E27FC236}">
                  <a16:creationId xmlns:a16="http://schemas.microsoft.com/office/drawing/2014/main" id="{4C12855C-F887-9F4E-B070-CF63020AE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6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73, 75</a:t>
              </a:r>
            </a:p>
          </p:txBody>
        </p:sp>
      </p:grpSp>
      <p:grpSp>
        <p:nvGrpSpPr>
          <p:cNvPr id="68628" name="Group 44">
            <a:extLst>
              <a:ext uri="{FF2B5EF4-FFF2-40B4-BE49-F238E27FC236}">
                <a16:creationId xmlns:a16="http://schemas.microsoft.com/office/drawing/2014/main" id="{3517D005-E003-FC46-811F-0F9CF88420AC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5118100"/>
            <a:ext cx="914400" cy="336550"/>
            <a:chOff x="2544" y="672"/>
            <a:chExt cx="576" cy="212"/>
          </a:xfrm>
        </p:grpSpPr>
        <p:sp>
          <p:nvSpPr>
            <p:cNvPr id="68659" name="Oval 45">
              <a:extLst>
                <a:ext uri="{FF2B5EF4-FFF2-40B4-BE49-F238E27FC236}">
                  <a16:creationId xmlns:a16="http://schemas.microsoft.com/office/drawing/2014/main" id="{86CBE3B6-736F-8D45-9691-78163BC16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672"/>
              <a:ext cx="576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68660" name="Text Box 46">
              <a:extLst>
                <a:ext uri="{FF2B5EF4-FFF2-40B4-BE49-F238E27FC236}">
                  <a16:creationId xmlns:a16="http://schemas.microsoft.com/office/drawing/2014/main" id="{B979AB23-D5F1-B245-9522-B444E159B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6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15, 61</a:t>
              </a:r>
            </a:p>
          </p:txBody>
        </p:sp>
      </p:grpSp>
      <p:grpSp>
        <p:nvGrpSpPr>
          <p:cNvPr id="68629" name="Group 47">
            <a:extLst>
              <a:ext uri="{FF2B5EF4-FFF2-40B4-BE49-F238E27FC236}">
                <a16:creationId xmlns:a16="http://schemas.microsoft.com/office/drawing/2014/main" id="{0BF83188-842D-8145-80F7-89249787D02F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4965700"/>
            <a:ext cx="914400" cy="336550"/>
            <a:chOff x="2544" y="672"/>
            <a:chExt cx="576" cy="212"/>
          </a:xfrm>
        </p:grpSpPr>
        <p:sp>
          <p:nvSpPr>
            <p:cNvPr id="68657" name="Oval 48">
              <a:extLst>
                <a:ext uri="{FF2B5EF4-FFF2-40B4-BE49-F238E27FC236}">
                  <a16:creationId xmlns:a16="http://schemas.microsoft.com/office/drawing/2014/main" id="{8B9959E0-C4EF-C941-9392-D63BD2BA7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672"/>
              <a:ext cx="576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68658" name="Text Box 49">
              <a:extLst>
                <a:ext uri="{FF2B5EF4-FFF2-40B4-BE49-F238E27FC236}">
                  <a16:creationId xmlns:a16="http://schemas.microsoft.com/office/drawing/2014/main" id="{0EA161D0-CCE7-E64F-9888-74EF0754BE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6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38, 23</a:t>
              </a:r>
            </a:p>
          </p:txBody>
        </p:sp>
      </p:grpSp>
      <p:sp>
        <p:nvSpPr>
          <p:cNvPr id="68630" name="Line 50">
            <a:extLst>
              <a:ext uri="{FF2B5EF4-FFF2-40B4-BE49-F238E27FC236}">
                <a16:creationId xmlns:a16="http://schemas.microsoft.com/office/drawing/2014/main" id="{C90AC009-51F1-0643-BB33-47EFFEA0D8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2679700"/>
            <a:ext cx="1371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31" name="Line 51">
            <a:extLst>
              <a:ext uri="{FF2B5EF4-FFF2-40B4-BE49-F238E27FC236}">
                <a16:creationId xmlns:a16="http://schemas.microsoft.com/office/drawing/2014/main" id="{17868A73-26B4-644F-B35C-27727D4E2B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679700"/>
            <a:ext cx="1447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32" name="Line 52">
            <a:extLst>
              <a:ext uri="{FF2B5EF4-FFF2-40B4-BE49-F238E27FC236}">
                <a16:creationId xmlns:a16="http://schemas.microsoft.com/office/drawing/2014/main" id="{E59E1C43-111C-B947-A513-F3567F129D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3213100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33" name="Line 53">
            <a:extLst>
              <a:ext uri="{FF2B5EF4-FFF2-40B4-BE49-F238E27FC236}">
                <a16:creationId xmlns:a16="http://schemas.microsoft.com/office/drawing/2014/main" id="{A93603D2-9BA1-A840-9944-2BCFC32E0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2131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34" name="Line 54">
            <a:extLst>
              <a:ext uri="{FF2B5EF4-FFF2-40B4-BE49-F238E27FC236}">
                <a16:creationId xmlns:a16="http://schemas.microsoft.com/office/drawing/2014/main" id="{C2279A2A-9E57-5040-AA9B-1C70707085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32131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35" name="Line 55">
            <a:extLst>
              <a:ext uri="{FF2B5EF4-FFF2-40B4-BE49-F238E27FC236}">
                <a16:creationId xmlns:a16="http://schemas.microsoft.com/office/drawing/2014/main" id="{C33C7E09-D6EB-1742-8432-B043AF26E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32131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36" name="Line 56">
            <a:extLst>
              <a:ext uri="{FF2B5EF4-FFF2-40B4-BE49-F238E27FC236}">
                <a16:creationId xmlns:a16="http://schemas.microsoft.com/office/drawing/2014/main" id="{41EB6B30-B8B0-8F44-A74C-8DB13D53E9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7200" y="38227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37" name="Line 57">
            <a:extLst>
              <a:ext uri="{FF2B5EF4-FFF2-40B4-BE49-F238E27FC236}">
                <a16:creationId xmlns:a16="http://schemas.microsoft.com/office/drawing/2014/main" id="{C9BF050D-E921-8C49-B6F4-EC8EF0897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45085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38" name="Line 58">
            <a:extLst>
              <a:ext uri="{FF2B5EF4-FFF2-40B4-BE49-F238E27FC236}">
                <a16:creationId xmlns:a16="http://schemas.microsoft.com/office/drawing/2014/main" id="{B096001B-8518-6840-812E-BA037A899F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38989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39" name="Line 59">
            <a:extLst>
              <a:ext uri="{FF2B5EF4-FFF2-40B4-BE49-F238E27FC236}">
                <a16:creationId xmlns:a16="http://schemas.microsoft.com/office/drawing/2014/main" id="{0152AB56-614F-3F44-A6A6-B07A18DE0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8989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40" name="Line 60">
            <a:extLst>
              <a:ext uri="{FF2B5EF4-FFF2-40B4-BE49-F238E27FC236}">
                <a16:creationId xmlns:a16="http://schemas.microsoft.com/office/drawing/2014/main" id="{4CDA1D78-B52E-A743-AEF9-102891205D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45847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41" name="Line 61">
            <a:extLst>
              <a:ext uri="{FF2B5EF4-FFF2-40B4-BE49-F238E27FC236}">
                <a16:creationId xmlns:a16="http://schemas.microsoft.com/office/drawing/2014/main" id="{A9868A53-D891-0C4A-96B6-996BDD8B53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38989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42" name="Line 62">
            <a:extLst>
              <a:ext uri="{FF2B5EF4-FFF2-40B4-BE49-F238E27FC236}">
                <a16:creationId xmlns:a16="http://schemas.microsoft.com/office/drawing/2014/main" id="{4CF38B64-0A03-5A4F-A640-E3DFDF1FAF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8989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8641" name="Oval 65">
            <a:extLst>
              <a:ext uri="{FF2B5EF4-FFF2-40B4-BE49-F238E27FC236}">
                <a16:creationId xmlns:a16="http://schemas.microsoft.com/office/drawing/2014/main" id="{5BE981C5-600C-2C48-992D-CB5120FC2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041900"/>
            <a:ext cx="914400" cy="304800"/>
          </a:xfrm>
          <a:prstGeom prst="ellipse">
            <a:avLst/>
          </a:prstGeom>
          <a:solidFill>
            <a:srgbClr val="549E39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08642" name="Text Box 66">
            <a:extLst>
              <a:ext uri="{FF2B5EF4-FFF2-40B4-BE49-F238E27FC236}">
                <a16:creationId xmlns:a16="http://schemas.microsoft.com/office/drawing/2014/main" id="{3E2ED178-5023-7D45-8289-0EA2C5267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0419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55,62</a:t>
            </a:r>
          </a:p>
        </p:txBody>
      </p:sp>
      <p:sp>
        <p:nvSpPr>
          <p:cNvPr id="408643" name="Line 67">
            <a:extLst>
              <a:ext uri="{FF2B5EF4-FFF2-40B4-BE49-F238E27FC236}">
                <a16:creationId xmlns:a16="http://schemas.microsoft.com/office/drawing/2014/main" id="{D7621CC0-1C78-8845-81D1-9C5D1EBED2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7600" y="4464050"/>
            <a:ext cx="381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46" name="Line 75">
            <a:extLst>
              <a:ext uri="{FF2B5EF4-FFF2-40B4-BE49-F238E27FC236}">
                <a16:creationId xmlns:a16="http://schemas.microsoft.com/office/drawing/2014/main" id="{2364253C-7164-D245-9670-7F53A8A4E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61645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8652" name="AutoShape 76">
            <a:extLst>
              <a:ext uri="{FF2B5EF4-FFF2-40B4-BE49-F238E27FC236}">
                <a16:creationId xmlns:a16="http://schemas.microsoft.com/office/drawing/2014/main" id="{6AC2D8E8-1C24-0E4F-B8C4-B6ADE87D2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450" y="1936750"/>
            <a:ext cx="292100" cy="438150"/>
          </a:xfrm>
          <a:prstGeom prst="downArrow">
            <a:avLst>
              <a:gd name="adj1" fmla="val 50000"/>
              <a:gd name="adj2" fmla="val 37500"/>
            </a:avLst>
          </a:prstGeom>
          <a:solidFill>
            <a:srgbClr val="549E3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08653" name="Text Box 77">
            <a:extLst>
              <a:ext uri="{FF2B5EF4-FFF2-40B4-BE49-F238E27FC236}">
                <a16:creationId xmlns:a16="http://schemas.microsoft.com/office/drawing/2014/main" id="{6B8959A6-857A-1D40-99BB-6C7567657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93675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55 &gt; 53, move right</a:t>
            </a:r>
          </a:p>
        </p:txBody>
      </p:sp>
      <p:sp>
        <p:nvSpPr>
          <p:cNvPr id="408654" name="Text Box 78">
            <a:extLst>
              <a:ext uri="{FF2B5EF4-FFF2-40B4-BE49-F238E27FC236}">
                <a16:creationId xmlns:a16="http://schemas.microsoft.com/office/drawing/2014/main" id="{C5E94449-E1BA-9E45-81D6-0A0098A02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252095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62 &gt; 51, move right</a:t>
            </a:r>
          </a:p>
        </p:txBody>
      </p:sp>
      <p:sp>
        <p:nvSpPr>
          <p:cNvPr id="408655" name="Text Box 79">
            <a:extLst>
              <a:ext uri="{FF2B5EF4-FFF2-40B4-BE49-F238E27FC236}">
                <a16:creationId xmlns:a16="http://schemas.microsoft.com/office/drawing/2014/main" id="{BD282414-7679-3641-9D71-7520BD6CB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5200" y="394335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55 &lt; 99, move left</a:t>
            </a:r>
          </a:p>
        </p:txBody>
      </p:sp>
      <p:sp>
        <p:nvSpPr>
          <p:cNvPr id="408656" name="Text Box 80">
            <a:extLst>
              <a:ext uri="{FF2B5EF4-FFF2-40B4-BE49-F238E27FC236}">
                <a16:creationId xmlns:a16="http://schemas.microsoft.com/office/drawing/2014/main" id="{C7BB7BA1-807F-3E41-9722-56DA2729C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454650"/>
            <a:ext cx="1600200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62 &lt; 64, move left</a:t>
            </a:r>
          </a:p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Null pointer, attach</a:t>
            </a:r>
          </a:p>
        </p:txBody>
      </p:sp>
      <p:sp>
        <p:nvSpPr>
          <p:cNvPr id="68653" name="TextBox 1">
            <a:extLst>
              <a:ext uri="{FF2B5EF4-FFF2-40B4-BE49-F238E27FC236}">
                <a16:creationId xmlns:a16="http://schemas.microsoft.com/office/drawing/2014/main" id="{6946FDE0-3A10-874F-A60C-E12004769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387600"/>
            <a:ext cx="300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68654" name="TextBox 67">
            <a:extLst>
              <a:ext uri="{FF2B5EF4-FFF2-40B4-BE49-F238E27FC236}">
                <a16:creationId xmlns:a16="http://schemas.microsoft.com/office/drawing/2014/main" id="{95B76EAA-252D-B049-8ECF-8FBEF3BDC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2862264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68655" name="TextBox 68">
            <a:extLst>
              <a:ext uri="{FF2B5EF4-FFF2-40B4-BE49-F238E27FC236}">
                <a16:creationId xmlns:a16="http://schemas.microsoft.com/office/drawing/2014/main" id="{A1ABA1CF-74D2-6342-9BB8-9FFA973A5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2789" y="3449639"/>
            <a:ext cx="30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68656" name="TextBox 69">
            <a:extLst>
              <a:ext uri="{FF2B5EF4-FFF2-40B4-BE49-F238E27FC236}">
                <a16:creationId xmlns:a16="http://schemas.microsoft.com/office/drawing/2014/main" id="{3155A816-D310-2C4E-B982-FB53AEEFF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2799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B9C24D-010F-615A-53A3-17E87383FE09}"/>
              </a:ext>
            </a:extLst>
          </p:cNvPr>
          <p:cNvSpPr txBox="1"/>
          <p:nvPr/>
        </p:nvSpPr>
        <p:spPr>
          <a:xfrm>
            <a:off x="380724" y="299408"/>
            <a:ext cx="32349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Insert new data</a:t>
            </a: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AD8B9A90-FC98-19C6-7546-9DAF08D35A46}"/>
              </a:ext>
            </a:extLst>
          </p:cNvPr>
          <p:cNvSpPr/>
          <p:nvPr/>
        </p:nvSpPr>
        <p:spPr>
          <a:xfrm>
            <a:off x="238665" y="311105"/>
            <a:ext cx="3495135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2C9A24-20C5-3D44-66F9-82E7C5FE80DC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61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7284CD-26FB-C6DC-4C11-5230FB66DAA6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0.21523 0.07917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4086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55" y="395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523 0.07917 L 0.32917 0.16806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4086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90" y="444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917 0.16806 L 0.19857 0.26806 " pathEditMode="relative" rAng="0" ptsTypes="AA">
                                      <p:cBhvr>
                                        <p:cTn id="20" dur="3000" fill="hold"/>
                                        <p:tgtEl>
                                          <p:spTgt spid="4086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500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641" grpId="0" animBg="1"/>
      <p:bldP spid="408642" grpId="0" build="allAtOnce"/>
      <p:bldP spid="408652" grpId="0" animBg="1"/>
      <p:bldP spid="408652" grpId="1" animBg="1"/>
      <p:bldP spid="408652" grpId="2" animBg="1"/>
      <p:bldP spid="408653" grpId="0"/>
      <p:bldP spid="408653" grpId="1"/>
      <p:bldP spid="408654" grpId="0"/>
      <p:bldP spid="408654" grpId="1"/>
      <p:bldP spid="408655" grpId="0"/>
      <p:bldP spid="408655" grpId="1"/>
      <p:bldP spid="40865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Content Placeholder 3">
            <a:extLst>
              <a:ext uri="{FF2B5EF4-FFF2-40B4-BE49-F238E27FC236}">
                <a16:creationId xmlns:a16="http://schemas.microsoft.com/office/drawing/2014/main" id="{0A1D95C7-406B-F04C-99E9-63226C606A1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81200" y="1219200"/>
            <a:ext cx="8229600" cy="5273675"/>
          </a:xfrm>
        </p:spPr>
        <p:txBody>
          <a:bodyPr>
            <a:normAutofit/>
          </a:bodyPr>
          <a:lstStyle/>
          <a:p>
            <a:pPr fontAlgn="base"/>
            <a:r>
              <a:rPr lang="fr-FR" altLang="zh-CN" b="1" dirty="0"/>
              <a:t>1) If </a:t>
            </a:r>
            <a:r>
              <a:rPr lang="fr-FR" altLang="zh-CN" b="1" dirty="0" err="1"/>
              <a:t>current</a:t>
            </a:r>
            <a:r>
              <a:rPr lang="fr-FR" altLang="zh-CN" b="1" dirty="0"/>
              <a:t> </a:t>
            </a:r>
            <a:r>
              <a:rPr lang="fr-FR" altLang="zh-CN" b="1" dirty="0" err="1"/>
              <a:t>node</a:t>
            </a:r>
            <a:r>
              <a:rPr lang="fr-FR" altLang="zh-CN" b="1" dirty="0"/>
              <a:t> </a:t>
            </a:r>
            <a:r>
              <a:rPr lang="fr-FR" altLang="zh-CN" b="1" dirty="0" err="1"/>
              <a:t>contains</a:t>
            </a:r>
            <a:r>
              <a:rPr lang="fr-FR" altLang="zh-CN" b="1" dirty="0"/>
              <a:t> the point to </a:t>
            </a:r>
            <a:r>
              <a:rPr lang="fr-FR" altLang="zh-CN" b="1" dirty="0" err="1"/>
              <a:t>be</a:t>
            </a:r>
            <a:r>
              <a:rPr lang="fr-FR" altLang="zh-CN" b="1" dirty="0"/>
              <a:t> </a:t>
            </a:r>
            <a:r>
              <a:rPr lang="fr-FR" altLang="zh-CN" b="1" dirty="0" err="1"/>
              <a:t>deleted</a:t>
            </a:r>
            <a:r>
              <a:rPr lang="fr-FR" altLang="zh-CN" dirty="0"/>
              <a:t> </a:t>
            </a:r>
          </a:p>
          <a:p>
            <a:pPr lvl="1" fontAlgn="base"/>
            <a:r>
              <a:rPr lang="fr-FR" altLang="zh-CN" dirty="0"/>
              <a:t>If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fr-FR" altLang="zh-CN" dirty="0" err="1"/>
              <a:t>is</a:t>
            </a:r>
            <a:r>
              <a:rPr lang="fr-FR" altLang="zh-CN" dirty="0"/>
              <a:t> a </a:t>
            </a:r>
            <a:r>
              <a:rPr lang="fr-FR" altLang="zh-CN" dirty="0" err="1"/>
              <a:t>leaf</a:t>
            </a:r>
            <a:r>
              <a:rPr lang="fr-FR" altLang="zh-CN" dirty="0"/>
              <a:t> </a:t>
            </a:r>
            <a:r>
              <a:rPr lang="fr-FR" altLang="zh-CN" dirty="0" err="1"/>
              <a:t>node</a:t>
            </a:r>
            <a:r>
              <a:rPr lang="fr-FR" altLang="zh-CN" dirty="0"/>
              <a:t>, </a:t>
            </a:r>
            <a:r>
              <a:rPr lang="fr-FR" altLang="zh-CN" dirty="0" err="1"/>
              <a:t>simply</a:t>
            </a:r>
            <a:r>
              <a:rPr lang="fr-FR" altLang="zh-CN" dirty="0"/>
              <a:t> </a:t>
            </a:r>
            <a:r>
              <a:rPr lang="fr-FR" altLang="zh-CN" dirty="0" err="1"/>
              <a:t>delete</a:t>
            </a:r>
            <a:r>
              <a:rPr lang="fr-FR" altLang="zh-CN" dirty="0"/>
              <a:t> </a:t>
            </a:r>
            <a:r>
              <a:rPr lang="fr-FR" altLang="zh-CN" dirty="0" err="1"/>
              <a:t>it</a:t>
            </a:r>
            <a:r>
              <a:rPr lang="fr-FR" altLang="zh-CN" dirty="0"/>
              <a:t> (</a:t>
            </a:r>
            <a:r>
              <a:rPr lang="fr-FR" altLang="zh-CN" dirty="0" err="1"/>
              <a:t>Same</a:t>
            </a:r>
            <a:r>
              <a:rPr lang="fr-FR" altLang="zh-CN" dirty="0"/>
              <a:t> as </a:t>
            </a:r>
            <a:r>
              <a:rPr lang="fr-FR" altLang="zh-CN" u="sng" dirty="0">
                <a:solidFill>
                  <a:srgbClr val="00B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BST Delete</a:t>
            </a:r>
            <a:r>
              <a:rPr lang="fr-FR" altLang="zh-CN" dirty="0"/>
              <a:t>)</a:t>
            </a:r>
          </a:p>
          <a:p>
            <a:pPr lvl="1" fontAlgn="base"/>
            <a:r>
              <a:rPr lang="fr-FR" altLang="zh-CN" dirty="0"/>
              <a:t>If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fr-FR" altLang="zh-CN" dirty="0"/>
              <a:t>has right </a:t>
            </a:r>
            <a:r>
              <a:rPr lang="fr-FR" altLang="zh-CN" dirty="0" err="1"/>
              <a:t>child</a:t>
            </a:r>
            <a:r>
              <a:rPr lang="fr-FR" altLang="zh-CN" dirty="0"/>
              <a:t> (</a:t>
            </a:r>
            <a:r>
              <a:rPr lang="fr-FR" altLang="zh-CN" dirty="0" err="1"/>
              <a:t>Different</a:t>
            </a:r>
            <a:r>
              <a:rPr lang="fr-FR" altLang="zh-CN" dirty="0"/>
              <a:t> </a:t>
            </a:r>
            <a:r>
              <a:rPr lang="fr-FR" altLang="zh-CN" dirty="0" err="1"/>
              <a:t>from</a:t>
            </a:r>
            <a:r>
              <a:rPr lang="fr-FR" altLang="zh-CN" dirty="0"/>
              <a:t> BST) </a:t>
            </a:r>
          </a:p>
          <a:p>
            <a:pPr lvl="2"/>
            <a:r>
              <a:rPr lang="zh-CN" altLang="en-US" dirty="0"/>
              <a:t>在右侧子树中查找当前节点维度的最小值。</a:t>
            </a:r>
          </a:p>
          <a:p>
            <a:pPr lvl="2"/>
            <a:r>
              <a:rPr lang="zh-CN" altLang="en-US" dirty="0"/>
              <a:t>用找到的最小值替换节点。</a:t>
            </a:r>
          </a:p>
          <a:p>
            <a:pPr lvl="1" fontAlgn="base"/>
            <a:r>
              <a:rPr lang="fr-FR" altLang="zh-CN" dirty="0" err="1"/>
              <a:t>Else</a:t>
            </a:r>
            <a:r>
              <a:rPr lang="fr-FR" altLang="zh-CN" dirty="0"/>
              <a:t> If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fr-FR" altLang="zh-CN" dirty="0"/>
              <a:t>has </a:t>
            </a:r>
            <a:r>
              <a:rPr lang="fr-FR" altLang="zh-CN" dirty="0" err="1"/>
              <a:t>left</a:t>
            </a:r>
            <a:r>
              <a:rPr lang="fr-FR" altLang="zh-CN" dirty="0"/>
              <a:t> </a:t>
            </a:r>
            <a:r>
              <a:rPr lang="fr-FR" altLang="zh-CN" dirty="0" err="1"/>
              <a:t>child</a:t>
            </a:r>
            <a:r>
              <a:rPr lang="fr-FR" altLang="zh-CN" dirty="0"/>
              <a:t> (</a:t>
            </a:r>
            <a:r>
              <a:rPr lang="fr-FR" altLang="zh-CN" dirty="0" err="1"/>
              <a:t>Different</a:t>
            </a:r>
            <a:r>
              <a:rPr lang="fr-FR" altLang="zh-CN" dirty="0"/>
              <a:t> </a:t>
            </a:r>
            <a:r>
              <a:rPr lang="fr-FR" altLang="zh-CN" dirty="0" err="1"/>
              <a:t>from</a:t>
            </a:r>
            <a:r>
              <a:rPr lang="fr-FR" altLang="zh-CN" dirty="0"/>
              <a:t> BST) </a:t>
            </a:r>
          </a:p>
          <a:p>
            <a:pPr lvl="2"/>
            <a:r>
              <a:rPr lang="zh-CN" altLang="en-US" dirty="0"/>
              <a:t>在左侧子树中查找当前节点维度的最小值。</a:t>
            </a:r>
          </a:p>
          <a:p>
            <a:pPr lvl="2"/>
            <a:r>
              <a:rPr lang="zh-CN" altLang="en-US" dirty="0"/>
              <a:t>用找到的最小值替换节点，并递归地删除左子树中的最小值。</a:t>
            </a:r>
          </a:p>
          <a:p>
            <a:pPr lvl="2"/>
            <a:r>
              <a:rPr lang="zh-CN" altLang="en-US" dirty="0"/>
              <a:t>将新的左子树作为当前节点的右子树。</a:t>
            </a:r>
          </a:p>
          <a:p>
            <a:pPr fontAlgn="base"/>
            <a:r>
              <a:rPr lang="fr-FR" altLang="zh-CN" b="1" dirty="0"/>
              <a:t>2) If </a:t>
            </a:r>
            <a:r>
              <a:rPr lang="fr-FR" altLang="zh-CN" b="1" dirty="0" err="1"/>
              <a:t>current</a:t>
            </a:r>
            <a:r>
              <a:rPr lang="fr-FR" altLang="zh-CN" b="1" dirty="0"/>
              <a:t> </a:t>
            </a:r>
            <a:r>
              <a:rPr lang="en-US" altLang="zh-CN" b="1" dirty="0"/>
              <a:t>is</a:t>
            </a:r>
            <a:r>
              <a:rPr lang="zh-CN" altLang="en-US" b="1" dirty="0"/>
              <a:t> </a:t>
            </a:r>
            <a:r>
              <a:rPr lang="en-US" altLang="zh-CN" b="1" dirty="0"/>
              <a:t>not</a:t>
            </a:r>
            <a:r>
              <a:rPr lang="zh-CN" altLang="en-US" b="1" dirty="0"/>
              <a:t> </a:t>
            </a:r>
            <a:r>
              <a:rPr lang="fr-FR" altLang="zh-CN" b="1" dirty="0"/>
              <a:t>the point to </a:t>
            </a:r>
            <a:r>
              <a:rPr lang="fr-FR" altLang="zh-CN" b="1" dirty="0" err="1"/>
              <a:t>be</a:t>
            </a:r>
            <a:r>
              <a:rPr lang="fr-FR" altLang="zh-CN" b="1" dirty="0"/>
              <a:t> </a:t>
            </a:r>
            <a:r>
              <a:rPr lang="fr-FR" altLang="zh-CN" b="1" dirty="0" err="1"/>
              <a:t>deleted</a:t>
            </a:r>
            <a:r>
              <a:rPr lang="fr-FR" altLang="zh-CN" dirty="0"/>
              <a:t>  </a:t>
            </a:r>
          </a:p>
          <a:p>
            <a:pPr lvl="1" fontAlgn="base"/>
            <a:r>
              <a:rPr lang="fr-FR" altLang="zh-CN" dirty="0"/>
              <a:t>If </a:t>
            </a:r>
            <a:r>
              <a:rPr lang="fr-FR" altLang="zh-CN" dirty="0" err="1"/>
              <a:t>node</a:t>
            </a:r>
            <a:r>
              <a:rPr lang="fr-FR" altLang="zh-CN" dirty="0"/>
              <a:t> to </a:t>
            </a:r>
            <a:r>
              <a:rPr lang="fr-FR" altLang="zh-CN" dirty="0" err="1"/>
              <a:t>be</a:t>
            </a:r>
            <a:r>
              <a:rPr lang="fr-FR" altLang="zh-CN" dirty="0"/>
              <a:t> </a:t>
            </a:r>
            <a:r>
              <a:rPr lang="fr-FR" altLang="zh-CN" dirty="0" err="1"/>
              <a:t>deleted</a:t>
            </a:r>
            <a:r>
              <a:rPr lang="fr-FR" altLang="zh-CN" dirty="0"/>
              <a:t> </a:t>
            </a:r>
            <a:r>
              <a:rPr lang="fr-FR" altLang="zh-CN" dirty="0" err="1"/>
              <a:t>is</a:t>
            </a:r>
            <a:r>
              <a:rPr lang="fr-FR" altLang="zh-CN" dirty="0"/>
              <a:t> </a:t>
            </a:r>
            <a:r>
              <a:rPr lang="fr-FR" altLang="zh-CN" dirty="0" err="1"/>
              <a:t>smaller</a:t>
            </a:r>
            <a:r>
              <a:rPr lang="fr-FR" altLang="zh-CN" dirty="0"/>
              <a:t> </a:t>
            </a:r>
            <a:r>
              <a:rPr lang="fr-FR" altLang="zh-CN" dirty="0" err="1"/>
              <a:t>than</a:t>
            </a:r>
            <a:r>
              <a:rPr lang="fr-FR" altLang="zh-CN" dirty="0"/>
              <a:t> </a:t>
            </a:r>
            <a:r>
              <a:rPr lang="fr-FR" altLang="zh-CN" dirty="0" err="1"/>
              <a:t>current</a:t>
            </a:r>
            <a:r>
              <a:rPr lang="fr-FR" altLang="zh-CN" dirty="0"/>
              <a:t> </a:t>
            </a:r>
            <a:r>
              <a:rPr lang="fr-FR" altLang="zh-CN" dirty="0" err="1"/>
              <a:t>node</a:t>
            </a:r>
            <a:r>
              <a:rPr lang="fr-FR" altLang="zh-CN" dirty="0"/>
              <a:t> on </a:t>
            </a:r>
            <a:r>
              <a:rPr lang="fr-FR" altLang="zh-CN" dirty="0" err="1"/>
              <a:t>current</a:t>
            </a:r>
            <a:r>
              <a:rPr lang="fr-FR" altLang="zh-CN" dirty="0"/>
              <a:t> dimension, </a:t>
            </a:r>
            <a:r>
              <a:rPr lang="fr-FR" altLang="zh-CN" dirty="0" err="1"/>
              <a:t>recur</a:t>
            </a:r>
            <a:r>
              <a:rPr lang="fr-FR" altLang="zh-CN" dirty="0"/>
              <a:t> for </a:t>
            </a:r>
            <a:r>
              <a:rPr lang="fr-FR" altLang="zh-CN" dirty="0" err="1"/>
              <a:t>left</a:t>
            </a:r>
            <a:r>
              <a:rPr lang="fr-FR" altLang="zh-CN" dirty="0"/>
              <a:t> </a:t>
            </a:r>
            <a:r>
              <a:rPr lang="fr-FR" altLang="zh-CN" dirty="0" err="1"/>
              <a:t>subtree</a:t>
            </a:r>
            <a:r>
              <a:rPr lang="fr-FR" altLang="zh-CN" dirty="0"/>
              <a:t>.</a:t>
            </a:r>
          </a:p>
          <a:p>
            <a:pPr lvl="1" fontAlgn="base"/>
            <a:r>
              <a:rPr lang="fr-FR" altLang="zh-CN" dirty="0" err="1"/>
              <a:t>Else</a:t>
            </a:r>
            <a:r>
              <a:rPr lang="fr-FR" altLang="zh-CN" dirty="0"/>
              <a:t> </a:t>
            </a:r>
            <a:r>
              <a:rPr lang="fr-FR" altLang="zh-CN" dirty="0" err="1"/>
              <a:t>recur</a:t>
            </a:r>
            <a:r>
              <a:rPr lang="fr-FR" altLang="zh-CN" dirty="0"/>
              <a:t> for right </a:t>
            </a:r>
            <a:r>
              <a:rPr lang="fr-FR" altLang="zh-CN" dirty="0" err="1"/>
              <a:t>subtree</a:t>
            </a:r>
            <a:r>
              <a:rPr lang="fr-FR" altLang="zh-CN" dirty="0"/>
              <a:t>.</a:t>
            </a:r>
          </a:p>
          <a:p>
            <a:endParaRPr lang="en-US" altLang="zh-CN" sz="2200" dirty="0"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F59489-1F5B-AF96-B08A-A633FA7A4423}"/>
              </a:ext>
            </a:extLst>
          </p:cNvPr>
          <p:cNvSpPr txBox="1"/>
          <p:nvPr/>
        </p:nvSpPr>
        <p:spPr>
          <a:xfrm>
            <a:off x="380724" y="299408"/>
            <a:ext cx="2388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Delete data</a:t>
            </a: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1F745059-5E50-64D0-7AF7-99C7B261D1B2}"/>
              </a:ext>
            </a:extLst>
          </p:cNvPr>
          <p:cNvSpPr/>
          <p:nvPr/>
        </p:nvSpPr>
        <p:spPr>
          <a:xfrm>
            <a:off x="238665" y="311105"/>
            <a:ext cx="2666905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BC634D-76AD-49B8-BFC3-BBEECFB827A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62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kdtreedelete2">
            <a:extLst>
              <a:ext uri="{FF2B5EF4-FFF2-40B4-BE49-F238E27FC236}">
                <a16:creationId xmlns:a16="http://schemas.microsoft.com/office/drawing/2014/main" id="{34FA33EE-8AF5-1C44-9466-1B369D3352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1838326" y="1266113"/>
            <a:ext cx="4257675" cy="411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B9347813-7FFA-7F4F-9FB3-F90CEC1782C3}"/>
              </a:ext>
            </a:extLst>
          </p:cNvPr>
          <p:cNvSpPr/>
          <p:nvPr/>
        </p:nvSpPr>
        <p:spPr>
          <a:xfrm>
            <a:off x="3319245" y="4550095"/>
            <a:ext cx="1602297" cy="8273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41F50B-0502-5D4F-88CA-A0529C260567}"/>
              </a:ext>
            </a:extLst>
          </p:cNvPr>
          <p:cNvSpPr txBox="1"/>
          <p:nvPr/>
        </p:nvSpPr>
        <p:spPr>
          <a:xfrm>
            <a:off x="1478422" y="5591888"/>
            <a:ext cx="50420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Since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right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child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is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not NULL and dimension of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node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is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x,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we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find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</a:t>
            </a:r>
            <a:r>
              <a:rPr lang="fr-FR" altLang="zh-CN" b="1" dirty="0">
                <a:solidFill>
                  <a:srgbClr val="549E39"/>
                </a:solidFill>
                <a:latin typeface="urw-din"/>
              </a:rPr>
              <a:t>the </a:t>
            </a:r>
            <a:r>
              <a:rPr lang="fr-FR" altLang="zh-CN" b="1" dirty="0" err="1">
                <a:solidFill>
                  <a:srgbClr val="549E39"/>
                </a:solidFill>
                <a:latin typeface="urw-din"/>
              </a:rPr>
              <a:t>node</a:t>
            </a:r>
            <a:r>
              <a:rPr lang="fr-FR" altLang="zh-CN" b="1" dirty="0">
                <a:solidFill>
                  <a:srgbClr val="549E39"/>
                </a:solidFill>
                <a:latin typeface="urw-din"/>
              </a:rPr>
              <a:t> </a:t>
            </a:r>
            <a:r>
              <a:rPr lang="fr-FR" altLang="zh-CN" b="1" dirty="0" err="1">
                <a:solidFill>
                  <a:srgbClr val="549E39"/>
                </a:solidFill>
                <a:latin typeface="urw-din"/>
              </a:rPr>
              <a:t>with</a:t>
            </a:r>
            <a:r>
              <a:rPr lang="fr-FR" altLang="zh-CN" b="1" dirty="0">
                <a:solidFill>
                  <a:srgbClr val="549E39"/>
                </a:solidFill>
                <a:latin typeface="urw-din"/>
              </a:rPr>
              <a:t> </a:t>
            </a:r>
            <a:r>
              <a:rPr lang="en-US" altLang="zh-CN" b="1" dirty="0">
                <a:solidFill>
                  <a:srgbClr val="549E39"/>
                </a:solidFill>
                <a:latin typeface="urw-din"/>
              </a:rPr>
              <a:t>the</a:t>
            </a:r>
            <a:r>
              <a:rPr lang="zh-CN" altLang="en-US" b="1" dirty="0">
                <a:solidFill>
                  <a:srgbClr val="549E39"/>
                </a:solidFill>
                <a:latin typeface="urw-din"/>
              </a:rPr>
              <a:t> </a:t>
            </a:r>
            <a:r>
              <a:rPr lang="fr-FR" altLang="zh-CN" b="1" dirty="0">
                <a:solidFill>
                  <a:srgbClr val="549E39"/>
                </a:solidFill>
                <a:latin typeface="urw-din"/>
              </a:rPr>
              <a:t>minimum x value in</a:t>
            </a:r>
            <a:r>
              <a:rPr lang="zh-CN" altLang="en-US" b="1" dirty="0">
                <a:solidFill>
                  <a:srgbClr val="549E39"/>
                </a:solidFill>
                <a:latin typeface="urw-din"/>
              </a:rPr>
              <a:t> </a:t>
            </a:r>
            <a:r>
              <a:rPr lang="en-US" altLang="zh-CN" b="1" dirty="0">
                <a:solidFill>
                  <a:srgbClr val="549E39"/>
                </a:solidFill>
                <a:latin typeface="urw-din"/>
              </a:rPr>
              <a:t>the</a:t>
            </a:r>
            <a:r>
              <a:rPr lang="fr-FR" altLang="zh-CN" b="1" dirty="0">
                <a:solidFill>
                  <a:srgbClr val="549E39"/>
                </a:solidFill>
                <a:latin typeface="urw-din"/>
              </a:rPr>
              <a:t> right </a:t>
            </a:r>
            <a:r>
              <a:rPr lang="fr-FR" altLang="zh-CN" b="1" dirty="0" err="1">
                <a:solidFill>
                  <a:srgbClr val="549E39"/>
                </a:solidFill>
                <a:latin typeface="urw-din"/>
              </a:rPr>
              <a:t>child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.</a:t>
            </a:r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9E9D77-F83B-1942-AD31-ABDB0D766790}"/>
              </a:ext>
            </a:extLst>
          </p:cNvPr>
          <p:cNvSpPr txBox="1"/>
          <p:nvPr/>
        </p:nvSpPr>
        <p:spPr>
          <a:xfrm>
            <a:off x="6888760" y="5616618"/>
            <a:ext cx="3434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we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replace (30, 40)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with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(35, 45) and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delete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(30, 40).</a:t>
            </a:r>
            <a:endParaRPr lang="en-US" dirty="0"/>
          </a:p>
        </p:txBody>
      </p:sp>
      <p:pic>
        <p:nvPicPr>
          <p:cNvPr id="8" name="Picture 2" descr="kdtreedelete2">
            <a:extLst>
              <a:ext uri="{FF2B5EF4-FFF2-40B4-BE49-F238E27FC236}">
                <a16:creationId xmlns:a16="http://schemas.microsoft.com/office/drawing/2014/main" id="{C2915F78-2CB6-9F41-A690-DBB342F8D2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6232320" y="1329949"/>
            <a:ext cx="4257676" cy="411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D550507-F56C-97D1-9E86-1BC374DCF544}"/>
              </a:ext>
            </a:extLst>
          </p:cNvPr>
          <p:cNvSpPr txBox="1"/>
          <p:nvPr/>
        </p:nvSpPr>
        <p:spPr>
          <a:xfrm>
            <a:off x="380724" y="299408"/>
            <a:ext cx="3657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K-D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 Deletion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0" name="圆角矩形 8">
            <a:extLst>
              <a:ext uri="{FF2B5EF4-FFF2-40B4-BE49-F238E27FC236}">
                <a16:creationId xmlns:a16="http://schemas.microsoft.com/office/drawing/2014/main" id="{BB520D72-461A-2331-B27B-8D50A8D3A420}"/>
              </a:ext>
            </a:extLst>
          </p:cNvPr>
          <p:cNvSpPr/>
          <p:nvPr/>
        </p:nvSpPr>
        <p:spPr>
          <a:xfrm>
            <a:off x="238666" y="311105"/>
            <a:ext cx="37999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EBBAF24-CDAE-D9E4-819F-22A86E62B609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63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F3CD047-4F49-8926-B44D-C342B824EFB4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98602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kdtreedelete">
            <a:extLst>
              <a:ext uri="{FF2B5EF4-FFF2-40B4-BE49-F238E27FC236}">
                <a16:creationId xmlns:a16="http://schemas.microsoft.com/office/drawing/2014/main" id="{04AC795F-6DCE-1E44-A66D-3FEBDE764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97"/>
          <a:stretch/>
        </p:blipFill>
        <p:spPr bwMode="auto">
          <a:xfrm>
            <a:off x="5858225" y="1410491"/>
            <a:ext cx="4245718" cy="340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E3A6F6A-0B55-1A48-98B3-0992EF2FBACE}"/>
              </a:ext>
            </a:extLst>
          </p:cNvPr>
          <p:cNvSpPr txBox="1"/>
          <p:nvPr/>
        </p:nvSpPr>
        <p:spPr>
          <a:xfrm>
            <a:off x="1746308" y="5275269"/>
            <a:ext cx="42364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>
                <a:solidFill>
                  <a:srgbClr val="273239"/>
                </a:solidFill>
                <a:latin typeface="urw-din"/>
              </a:rPr>
              <a:t>Dimension of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node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is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y.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Since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right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child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is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NULL, </a:t>
            </a:r>
            <a:r>
              <a:rPr lang="fr-FR" altLang="zh-CN" b="1" dirty="0" err="1">
                <a:solidFill>
                  <a:srgbClr val="549E39"/>
                </a:solidFill>
                <a:latin typeface="urw-din"/>
              </a:rPr>
              <a:t>we</a:t>
            </a:r>
            <a:r>
              <a:rPr lang="fr-FR" altLang="zh-CN" b="1" dirty="0">
                <a:solidFill>
                  <a:srgbClr val="549E39"/>
                </a:solidFill>
                <a:latin typeface="urw-din"/>
              </a:rPr>
              <a:t> </a:t>
            </a:r>
            <a:r>
              <a:rPr lang="fr-FR" altLang="zh-CN" b="1" dirty="0" err="1">
                <a:solidFill>
                  <a:srgbClr val="549E39"/>
                </a:solidFill>
                <a:latin typeface="urw-din"/>
              </a:rPr>
              <a:t>find</a:t>
            </a:r>
            <a:r>
              <a:rPr lang="fr-FR" altLang="zh-CN" b="1" dirty="0">
                <a:solidFill>
                  <a:srgbClr val="549E39"/>
                </a:solidFill>
                <a:latin typeface="urw-din"/>
              </a:rPr>
              <a:t> the </a:t>
            </a:r>
            <a:r>
              <a:rPr lang="fr-FR" altLang="zh-CN" b="1" dirty="0" err="1">
                <a:solidFill>
                  <a:srgbClr val="549E39"/>
                </a:solidFill>
                <a:latin typeface="urw-din"/>
              </a:rPr>
              <a:t>node</a:t>
            </a:r>
            <a:r>
              <a:rPr lang="fr-FR" altLang="zh-CN" b="1" dirty="0">
                <a:solidFill>
                  <a:srgbClr val="549E39"/>
                </a:solidFill>
                <a:latin typeface="urw-din"/>
              </a:rPr>
              <a:t> </a:t>
            </a:r>
            <a:r>
              <a:rPr lang="fr-FR" altLang="zh-CN" b="1" dirty="0" err="1">
                <a:solidFill>
                  <a:srgbClr val="549E39"/>
                </a:solidFill>
                <a:latin typeface="urw-din"/>
              </a:rPr>
              <a:t>with</a:t>
            </a:r>
            <a:r>
              <a:rPr lang="fr-FR" altLang="zh-CN" b="1" dirty="0">
                <a:solidFill>
                  <a:srgbClr val="549E39"/>
                </a:solidFill>
                <a:latin typeface="urw-din"/>
              </a:rPr>
              <a:t> minimum y value in </a:t>
            </a:r>
            <a:r>
              <a:rPr lang="fr-FR" altLang="zh-CN" b="1" dirty="0" err="1">
                <a:solidFill>
                  <a:srgbClr val="549E39"/>
                </a:solidFill>
                <a:latin typeface="urw-din"/>
              </a:rPr>
              <a:t>left</a:t>
            </a:r>
            <a:r>
              <a:rPr lang="fr-FR" altLang="zh-CN" b="1" dirty="0">
                <a:solidFill>
                  <a:srgbClr val="549E39"/>
                </a:solidFill>
                <a:latin typeface="urw-din"/>
              </a:rPr>
              <a:t> </a:t>
            </a:r>
            <a:r>
              <a:rPr lang="fr-FR" altLang="zh-CN" b="1" dirty="0" err="1">
                <a:solidFill>
                  <a:srgbClr val="549E39"/>
                </a:solidFill>
                <a:latin typeface="urw-din"/>
              </a:rPr>
              <a:t>child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.</a:t>
            </a:r>
            <a:endParaRPr 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91B33C7-468B-B047-9A5A-743BCC3C231B}"/>
              </a:ext>
            </a:extLst>
          </p:cNvPr>
          <p:cNvSpPr/>
          <p:nvPr/>
        </p:nvSpPr>
        <p:spPr>
          <a:xfrm>
            <a:off x="4032308" y="3429001"/>
            <a:ext cx="1216404" cy="7654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D5FF06-511F-2A42-996F-8BDB5918C956}"/>
              </a:ext>
            </a:extLst>
          </p:cNvPr>
          <p:cNvSpPr txBox="1"/>
          <p:nvPr/>
        </p:nvSpPr>
        <p:spPr>
          <a:xfrm>
            <a:off x="5982750" y="507497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we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replace (70, 70)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with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(50, 30)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recursively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delete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(50, 30) in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left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subtree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Finally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we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make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the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modified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left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subtree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as right </a:t>
            </a:r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subtree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of (50, 30).  </a:t>
            </a:r>
            <a:endParaRPr lang="en-US" dirty="0"/>
          </a:p>
        </p:txBody>
      </p:sp>
      <p:pic>
        <p:nvPicPr>
          <p:cNvPr id="7" name="Picture 2" descr="kdtreedelete">
            <a:extLst>
              <a:ext uri="{FF2B5EF4-FFF2-40B4-BE49-F238E27FC236}">
                <a16:creationId xmlns:a16="http://schemas.microsoft.com/office/drawing/2014/main" id="{7AC0F984-5811-B04C-B66E-C59B6DDF66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92"/>
          <a:stretch/>
        </p:blipFill>
        <p:spPr bwMode="auto">
          <a:xfrm>
            <a:off x="2088057" y="1550926"/>
            <a:ext cx="3573712" cy="340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9B2023B-27F7-9F43-ACCF-9391B1095ED0}"/>
              </a:ext>
            </a:extLst>
          </p:cNvPr>
          <p:cNvSpPr txBox="1"/>
          <p:nvPr/>
        </p:nvSpPr>
        <p:spPr>
          <a:xfrm>
            <a:off x="2088058" y="2159631"/>
            <a:ext cx="1587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 err="1">
                <a:solidFill>
                  <a:srgbClr val="273239"/>
                </a:solidFill>
                <a:latin typeface="urw-din"/>
              </a:rPr>
              <a:t>Delete</a:t>
            </a:r>
            <a:r>
              <a:rPr lang="fr-FR" altLang="zh-CN" dirty="0">
                <a:solidFill>
                  <a:srgbClr val="273239"/>
                </a:solidFill>
                <a:latin typeface="urw-din"/>
              </a:rPr>
              <a:t> (70, 70) </a:t>
            </a:r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AA31F0-151B-5157-39C1-F3A6FB75ECCD}"/>
              </a:ext>
            </a:extLst>
          </p:cNvPr>
          <p:cNvSpPr txBox="1"/>
          <p:nvPr/>
        </p:nvSpPr>
        <p:spPr>
          <a:xfrm>
            <a:off x="380724" y="299408"/>
            <a:ext cx="3657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K-D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 Deletion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1" name="圆角矩形 8">
            <a:extLst>
              <a:ext uri="{FF2B5EF4-FFF2-40B4-BE49-F238E27FC236}">
                <a16:creationId xmlns:a16="http://schemas.microsoft.com/office/drawing/2014/main" id="{BF9319D9-DED6-6DE5-F37B-4B1350C262A0}"/>
              </a:ext>
            </a:extLst>
          </p:cNvPr>
          <p:cNvSpPr/>
          <p:nvPr/>
        </p:nvSpPr>
        <p:spPr>
          <a:xfrm>
            <a:off x="238666" y="311105"/>
            <a:ext cx="37999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26CAF7E-D8FA-DB23-46F3-20F5EFA96D1B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64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2B50986-6BB8-C0BC-F5CA-590CFD71CA84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74019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7588F8C-F67F-8864-1558-79D6F2F3CAE3}"/>
              </a:ext>
            </a:extLst>
          </p:cNvPr>
          <p:cNvSpPr/>
          <p:nvPr/>
        </p:nvSpPr>
        <p:spPr>
          <a:xfrm>
            <a:off x="0" y="504647"/>
            <a:ext cx="12192000" cy="6189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ADED008-42C0-FF02-B0E2-34F884EF7CB0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65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F22742-342B-DFCB-A502-1A8E7E950110}"/>
              </a:ext>
            </a:extLst>
          </p:cNvPr>
          <p:cNvSpPr txBox="1"/>
          <p:nvPr/>
        </p:nvSpPr>
        <p:spPr>
          <a:xfrm>
            <a:off x="3263319" y="538203"/>
            <a:ext cx="859032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200" dirty="0" err="1">
                <a:solidFill>
                  <a:srgbClr val="1C464A"/>
                </a:solidFill>
                <a:effectLst/>
                <a:latin typeface="Menlo" panose="020B0609030804020204" pitchFamily="49" charset="0"/>
              </a:rPr>
              <a:t>Node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fr-FR" altLang="zh-CN" sz="1200" dirty="0" err="1">
                <a:solidFill>
                  <a:srgbClr val="0F68A0"/>
                </a:solidFill>
                <a:effectLst/>
                <a:latin typeface="Menlo" panose="020B0609030804020204" pitchFamily="49" charset="0"/>
              </a:rPr>
              <a:t>deleteNodeRec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altLang="zh-CN" sz="1200" dirty="0" err="1">
                <a:solidFill>
                  <a:srgbClr val="1C464A"/>
                </a:solidFill>
                <a:effectLst/>
                <a:latin typeface="Menlo" panose="020B0609030804020204" pitchFamily="49" charset="0"/>
              </a:rPr>
              <a:t>Node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altLang="zh-CN" sz="1200" b="1" dirty="0" err="1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point[], </a:t>
            </a:r>
            <a:r>
              <a:rPr lang="fr-FR" altLang="zh-CN" sz="1200" b="1" dirty="0" err="1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depth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    //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Given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point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not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present</a:t>
            </a:r>
            <a:endParaRPr lang="fr-FR" altLang="zh-CN" sz="1200" dirty="0">
              <a:solidFill>
                <a:srgbClr val="5D6C79"/>
              </a:solidFill>
              <a:effectLst/>
              <a:latin typeface="Menlo" panose="020B0609030804020204" pitchFamily="49" charset="0"/>
            </a:endParaRP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fr-FR" altLang="zh-CN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fr-FR" altLang="zh-CN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fr-FR" altLang="zh-CN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    //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Find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dimension of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current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node</a:t>
            </a:r>
            <a:endParaRPr lang="fr-FR" altLang="zh-CN" sz="1200" dirty="0">
              <a:solidFill>
                <a:srgbClr val="5D6C79"/>
              </a:solidFill>
              <a:effectLst/>
              <a:latin typeface="Menlo" panose="020B0609030804020204" pitchFamily="49" charset="0"/>
            </a:endParaRP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fr-FR" altLang="zh-CN" sz="1200" b="1" dirty="0" err="1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cd = 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depth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% </a:t>
            </a:r>
            <a:r>
              <a:rPr lang="fr-FR" altLang="zh-CN" sz="1200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k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    // If the point to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be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deleted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present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at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root</a:t>
            </a:r>
            <a:endParaRPr lang="fr-FR" altLang="zh-CN" sz="1200" dirty="0">
              <a:solidFill>
                <a:srgbClr val="5D6C79"/>
              </a:solidFill>
              <a:effectLst/>
              <a:latin typeface="Menlo" panose="020B0609030804020204" pitchFamily="49" charset="0"/>
            </a:endParaRP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fr-FR" altLang="zh-CN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fr-FR" altLang="zh-CN" sz="1200" dirty="0" err="1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arePointsSame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altLang="zh-CN" sz="1200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point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point))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{</a:t>
            </a:r>
          </a:p>
          <a:p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        // 2.b) If right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child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not NULL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fr-FR" altLang="zh-CN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altLang="zh-CN" sz="1200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!= </a:t>
            </a:r>
            <a:r>
              <a:rPr lang="fr-FR" altLang="zh-CN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endParaRPr lang="fr-FR" altLang="zh-CN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{</a:t>
            </a:r>
          </a:p>
          <a:p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            //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Find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minimum of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root's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dimension in right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subtree</a:t>
            </a:r>
            <a:endParaRPr lang="fr-FR" altLang="zh-CN" sz="1200" dirty="0">
              <a:solidFill>
                <a:srgbClr val="5D6C79"/>
              </a:solidFill>
              <a:effectLst/>
              <a:latin typeface="Menlo" panose="020B0609030804020204" pitchFamily="49" charset="0"/>
            </a:endParaRP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</a:t>
            </a:r>
            <a:r>
              <a:rPr lang="fr-FR" altLang="zh-CN" sz="1200" dirty="0" err="1">
                <a:solidFill>
                  <a:srgbClr val="1C464A"/>
                </a:solidFill>
                <a:effectLst/>
                <a:latin typeface="Menlo" panose="020B0609030804020204" pitchFamily="49" charset="0"/>
              </a:rPr>
              <a:t>Node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*min = </a:t>
            </a:r>
            <a:r>
              <a:rPr lang="fr-FR" altLang="zh-CN" sz="1200" dirty="0" err="1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findMin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altLang="zh-CN" sz="1200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cd);</a:t>
            </a:r>
          </a:p>
          <a:p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            // Copy the minimum to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root</a:t>
            </a:r>
            <a:endParaRPr lang="fr-FR" altLang="zh-CN" sz="1200" dirty="0">
              <a:solidFill>
                <a:srgbClr val="5D6C79"/>
              </a:solidFill>
              <a:effectLst/>
              <a:latin typeface="Menlo" panose="020B0609030804020204" pitchFamily="49" charset="0"/>
            </a:endParaRP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</a:t>
            </a:r>
            <a:r>
              <a:rPr lang="fr-FR" altLang="zh-CN" sz="1200" dirty="0" err="1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copyPoint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altLang="zh-CN" sz="1200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point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min-&gt;</a:t>
            </a:r>
            <a:r>
              <a:rPr lang="fr-FR" altLang="zh-CN" sz="1200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point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            //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Recursively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delete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the minimum</a:t>
            </a:r>
          </a:p>
          <a:p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</a:t>
            </a:r>
            <a:r>
              <a:rPr lang="fr-FR" altLang="zh-CN" sz="12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altLang="zh-CN" sz="1200" b="1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fr-FR" altLang="zh-CN" sz="1200" b="1" dirty="0" err="1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deleteNodeRec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altLang="zh-CN" sz="12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altLang="zh-CN" sz="1200" b="1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min-&gt;</a:t>
            </a:r>
            <a:r>
              <a:rPr lang="fr-FR" altLang="zh-CN" sz="1200" b="1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point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depth+</a:t>
            </a:r>
            <a:r>
              <a:rPr lang="fr-FR" altLang="zh-CN" sz="1200" b="1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}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fr-FR" altLang="zh-CN" sz="1200" b="1" dirty="0" err="1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altLang="zh-CN" sz="1200" dirty="0" err="1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!= </a:t>
            </a:r>
            <a:r>
              <a:rPr lang="fr-FR" altLang="zh-CN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same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as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above</a:t>
            </a:r>
            <a:endParaRPr lang="fr-FR" altLang="zh-CN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{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</a:t>
            </a:r>
            <a:r>
              <a:rPr lang="fr-FR" altLang="zh-CN" sz="1200" dirty="0" err="1">
                <a:solidFill>
                  <a:srgbClr val="1C464A"/>
                </a:solidFill>
                <a:effectLst/>
                <a:latin typeface="Menlo" panose="020B0609030804020204" pitchFamily="49" charset="0"/>
              </a:rPr>
              <a:t>Node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*min = </a:t>
            </a:r>
            <a:r>
              <a:rPr lang="fr-FR" altLang="zh-CN" sz="1200" dirty="0" err="1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findMin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altLang="zh-CN" sz="1200" dirty="0" err="1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cd);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</a:t>
            </a:r>
            <a:r>
              <a:rPr lang="fr-FR" altLang="zh-CN" sz="1200" dirty="0" err="1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copyPoint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altLang="zh-CN" sz="1200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point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min-&gt;</a:t>
            </a:r>
            <a:r>
              <a:rPr lang="fr-FR" altLang="zh-CN" sz="1200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point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</a:t>
            </a:r>
            <a:r>
              <a:rPr lang="fr-FR" altLang="zh-CN" sz="12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altLang="zh-CN" sz="1200" b="1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fr-FR" altLang="zh-CN" sz="1200" b="1" dirty="0" err="1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deleteNodeRec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altLang="zh-CN" sz="12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fr-FR" altLang="zh-CN" sz="1200" b="1" dirty="0" err="1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min-&gt;</a:t>
            </a:r>
            <a:r>
              <a:rPr lang="fr-FR" altLang="zh-CN" sz="1200" b="1" dirty="0">
                <a:solidFill>
                  <a:srgbClr val="326D74"/>
                </a:solidFill>
                <a:effectLst/>
                <a:latin typeface="Menlo" panose="020B0609030804020204" pitchFamily="49" charset="0"/>
              </a:rPr>
              <a:t>point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depth+</a:t>
            </a:r>
            <a:r>
              <a:rPr lang="fr-FR" altLang="zh-CN" sz="1200" b="1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fr-FR" altLang="zh-CN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}</a:t>
            </a:r>
          </a:p>
          <a:p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fr-FR" altLang="zh-CN" sz="1200" b="1" dirty="0" err="1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// If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node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to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be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deleted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leaf</a:t>
            </a:r>
            <a:r>
              <a:rPr lang="fr-FR" altLang="zh-CN" sz="1200" dirty="0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5D6C79"/>
                </a:solidFill>
                <a:effectLst/>
                <a:latin typeface="Menlo" panose="020B0609030804020204" pitchFamily="49" charset="0"/>
              </a:rPr>
              <a:t>node</a:t>
            </a:r>
            <a:endParaRPr lang="fr-FR" altLang="zh-CN" sz="1200" dirty="0">
              <a:solidFill>
                <a:srgbClr val="5D6C79"/>
              </a:solidFill>
              <a:effectLst/>
              <a:latin typeface="Menlo" panose="020B0609030804020204" pitchFamily="49" charset="0"/>
            </a:endParaRP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{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</a:t>
            </a:r>
            <a:r>
              <a:rPr lang="fr-FR" altLang="zh-CN" sz="1200" b="1" dirty="0" err="1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delete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</a:t>
            </a:r>
            <a:r>
              <a:rPr lang="fr-FR" altLang="zh-CN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}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fr-FR" altLang="zh-CN" sz="12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altLang="zh-CN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fr-FR" altLang="zh-CN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74074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ingle tree on a field with cityscape in foggy distance">
            <a:extLst>
              <a:ext uri="{FF2B5EF4-FFF2-40B4-BE49-F238E27FC236}">
                <a16:creationId xmlns:a16="http://schemas.microsoft.com/office/drawing/2014/main" id="{18AE83AA-715D-93BF-84F0-E04003A49E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33590" r="11708" b="3120"/>
          <a:stretch/>
        </p:blipFill>
        <p:spPr>
          <a:xfrm>
            <a:off x="5" y="869930"/>
            <a:ext cx="12284237" cy="5855723"/>
          </a:xfrm>
          <a:prstGeom prst="rect">
            <a:avLst/>
          </a:prstGeom>
        </p:spPr>
      </p:pic>
      <p:sp>
        <p:nvSpPr>
          <p:cNvPr id="5" name="副标题 4">
            <a:extLst>
              <a:ext uri="{FF2B5EF4-FFF2-40B4-BE49-F238E27FC236}">
                <a16:creationId xmlns:a16="http://schemas.microsoft.com/office/drawing/2014/main" id="{618E3576-2A0B-1746-8B3F-764B21D434C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464969" y="2787650"/>
            <a:ext cx="2594811" cy="12827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FF"/>
                </a:solidFill>
              </a:rPr>
              <a:t>Exact</a:t>
            </a:r>
            <a:r>
              <a:rPr lang="zh-CN" altLang="en-US" dirty="0">
                <a:solidFill>
                  <a:srgbClr val="FFFFFF"/>
                </a:solidFill>
              </a:rPr>
              <a:t> </a:t>
            </a:r>
            <a:r>
              <a:rPr lang="en-US" altLang="zh-CN" dirty="0">
                <a:solidFill>
                  <a:srgbClr val="FFFFFF"/>
                </a:solidFill>
              </a:rPr>
              <a:t>Search</a:t>
            </a:r>
          </a:p>
          <a:p>
            <a:r>
              <a:rPr lang="en-US" altLang="zh-CN" dirty="0">
                <a:solidFill>
                  <a:srgbClr val="FFFFFF"/>
                </a:solidFill>
              </a:rPr>
              <a:t>Range</a:t>
            </a:r>
            <a:r>
              <a:rPr lang="zh-CN" altLang="en-US" dirty="0">
                <a:solidFill>
                  <a:srgbClr val="FFFFFF"/>
                </a:solidFill>
              </a:rPr>
              <a:t> </a:t>
            </a:r>
            <a:r>
              <a:rPr lang="en-US" altLang="zh-CN" dirty="0">
                <a:solidFill>
                  <a:srgbClr val="FFFFFF"/>
                </a:solidFill>
              </a:rPr>
              <a:t>Search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23E816-FDAE-5A2C-C8A2-96BBE9878A78}"/>
              </a:ext>
            </a:extLst>
          </p:cNvPr>
          <p:cNvSpPr txBox="1"/>
          <p:nvPr/>
        </p:nvSpPr>
        <p:spPr>
          <a:xfrm>
            <a:off x="380724" y="299408"/>
            <a:ext cx="3657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K-D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FD132071-10CE-242B-20C3-25303035FBDB}"/>
              </a:ext>
            </a:extLst>
          </p:cNvPr>
          <p:cNvSpPr/>
          <p:nvPr/>
        </p:nvSpPr>
        <p:spPr>
          <a:xfrm>
            <a:off x="238666" y="311105"/>
            <a:ext cx="37999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7B4833-883B-29B7-3F41-4AA2159F15BE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66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CBD135-6B07-3640-F99E-11A78885E0B1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23643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9784" y="239697"/>
            <a:ext cx="24889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思源黑体 Bold" panose="020B0800000000000000" pitchFamily="34" charset="-122"/>
                <a:cs typeface="+mn-cs"/>
                <a:sym typeface="+mn-ea"/>
              </a:rPr>
              <a:t>主要内容</a:t>
            </a:r>
            <a:endParaRPr kumimoji="0" lang="en-US" altLang="en-US" sz="3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79070" y="233045"/>
            <a:ext cx="313182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355AC32-C36C-3DE0-B525-06DE9D4F4AD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67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graphicFrame>
        <p:nvGraphicFramePr>
          <p:cNvPr id="13" name="内容占位符 2">
            <a:extLst>
              <a:ext uri="{FF2B5EF4-FFF2-40B4-BE49-F238E27FC236}">
                <a16:creationId xmlns:a16="http://schemas.microsoft.com/office/drawing/2014/main" id="{57ADFC92-0B77-D3FE-3F46-422F17AD61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075954"/>
              </p:ext>
            </p:extLst>
          </p:nvPr>
        </p:nvGraphicFramePr>
        <p:xfrm>
          <a:off x="3747135" y="989508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94563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Content Placeholder 3" descr="1.png">
            <a:extLst>
              <a:ext uri="{FF2B5EF4-FFF2-40B4-BE49-F238E27FC236}">
                <a16:creationId xmlns:a16="http://schemas.microsoft.com/office/drawing/2014/main" id="{903F3DC9-02F6-1348-B958-C3F6B57E785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0238" y="1600200"/>
            <a:ext cx="5851525" cy="453072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9DD551A-0C73-04D3-242E-FC0F7A8374B0}"/>
              </a:ext>
            </a:extLst>
          </p:cNvPr>
          <p:cNvSpPr txBox="1"/>
          <p:nvPr/>
        </p:nvSpPr>
        <p:spPr>
          <a:xfrm>
            <a:off x="380724" y="299408"/>
            <a:ext cx="456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Exact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59B901B1-455E-E2CA-7C91-710304E07732}"/>
              </a:ext>
            </a:extLst>
          </p:cNvPr>
          <p:cNvSpPr/>
          <p:nvPr/>
        </p:nvSpPr>
        <p:spPr>
          <a:xfrm>
            <a:off x="238666" y="311105"/>
            <a:ext cx="470631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EDB6DB-CD74-49BD-2E21-5D20791D959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68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BBE46D-896C-7A0A-B231-B1298DBF10E8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1" name="Content Placeholder 3" descr="2.png">
            <a:extLst>
              <a:ext uri="{FF2B5EF4-FFF2-40B4-BE49-F238E27FC236}">
                <a16:creationId xmlns:a16="http://schemas.microsoft.com/office/drawing/2014/main" id="{9BAAC7E3-EF1A-5144-89C6-BD297DFB492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0238" y="1600200"/>
            <a:ext cx="5851525" cy="453072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A432024-7000-EB56-75C7-9D3CC2AD099C}"/>
              </a:ext>
            </a:extLst>
          </p:cNvPr>
          <p:cNvSpPr txBox="1"/>
          <p:nvPr/>
        </p:nvSpPr>
        <p:spPr>
          <a:xfrm>
            <a:off x="380724" y="299408"/>
            <a:ext cx="456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Exact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446F6FE9-210B-44C4-B66A-AC1D24BC1673}"/>
              </a:ext>
            </a:extLst>
          </p:cNvPr>
          <p:cNvSpPr/>
          <p:nvPr/>
        </p:nvSpPr>
        <p:spPr>
          <a:xfrm>
            <a:off x="238666" y="311105"/>
            <a:ext cx="470631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F282E5-11E6-B275-E0FF-EAA01F6BCD4A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69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DC9130-A874-6CB6-D36C-F8AE6CD91A99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Content Placeholder 3" descr="3.png">
            <a:extLst>
              <a:ext uri="{FF2B5EF4-FFF2-40B4-BE49-F238E27FC236}">
                <a16:creationId xmlns:a16="http://schemas.microsoft.com/office/drawing/2014/main" id="{30CB6AEC-E777-C941-99CD-6341FED8905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0238" y="1600200"/>
            <a:ext cx="5851525" cy="453072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2DF95CD-2DFE-A431-98E5-896F181EB5C2}"/>
              </a:ext>
            </a:extLst>
          </p:cNvPr>
          <p:cNvSpPr txBox="1"/>
          <p:nvPr/>
        </p:nvSpPr>
        <p:spPr>
          <a:xfrm>
            <a:off x="380724" y="299408"/>
            <a:ext cx="456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Exact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F0B0636F-B617-6F9D-88B8-81554BCA9100}"/>
              </a:ext>
            </a:extLst>
          </p:cNvPr>
          <p:cNvSpPr/>
          <p:nvPr/>
        </p:nvSpPr>
        <p:spPr>
          <a:xfrm>
            <a:off x="238666" y="311105"/>
            <a:ext cx="470631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F106C7-710C-4F38-C862-DDB4658CC882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70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C62307-0A08-5415-0FE5-15A31EAC82D1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9" name="Content Placeholder 3" descr="4.png">
            <a:extLst>
              <a:ext uri="{FF2B5EF4-FFF2-40B4-BE49-F238E27FC236}">
                <a16:creationId xmlns:a16="http://schemas.microsoft.com/office/drawing/2014/main" id="{6938DF7B-3E1E-334C-B757-5EC46717616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0238" y="1600200"/>
            <a:ext cx="5851525" cy="453072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0A4D168-3591-CD87-9E6B-A4D28FF206D2}"/>
              </a:ext>
            </a:extLst>
          </p:cNvPr>
          <p:cNvSpPr txBox="1"/>
          <p:nvPr/>
        </p:nvSpPr>
        <p:spPr>
          <a:xfrm>
            <a:off x="380724" y="299408"/>
            <a:ext cx="456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Exact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40D42F74-9DA8-7723-5E17-B9742A3C2B5C}"/>
              </a:ext>
            </a:extLst>
          </p:cNvPr>
          <p:cNvSpPr/>
          <p:nvPr/>
        </p:nvSpPr>
        <p:spPr>
          <a:xfrm>
            <a:off x="238666" y="311105"/>
            <a:ext cx="470631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72A14F-62E3-9626-D228-E7277473EE72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71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34E35C-9544-E695-9395-59290793AC20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3" name="Content Placeholder 3" descr="5.png">
            <a:extLst>
              <a:ext uri="{FF2B5EF4-FFF2-40B4-BE49-F238E27FC236}">
                <a16:creationId xmlns:a16="http://schemas.microsoft.com/office/drawing/2014/main" id="{04AE47C7-BA8A-6B44-B729-C402D23380B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0238" y="1600200"/>
            <a:ext cx="5851525" cy="453072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8B15C30-E9CF-3A94-6B7E-A2B1EDF7CDAC}"/>
              </a:ext>
            </a:extLst>
          </p:cNvPr>
          <p:cNvSpPr txBox="1"/>
          <p:nvPr/>
        </p:nvSpPr>
        <p:spPr>
          <a:xfrm>
            <a:off x="380724" y="299408"/>
            <a:ext cx="456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Exact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AAB3ED92-EBCD-6F04-EC9B-C8ACADD91748}"/>
              </a:ext>
            </a:extLst>
          </p:cNvPr>
          <p:cNvSpPr/>
          <p:nvPr/>
        </p:nvSpPr>
        <p:spPr>
          <a:xfrm>
            <a:off x="238666" y="311105"/>
            <a:ext cx="470631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C09D7D-BC52-C337-06A9-01128187560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72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A3DDAB-8985-0372-DDA5-85790C3DBE5C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7" name="Content Placeholder 3" descr="6.png">
            <a:extLst>
              <a:ext uri="{FF2B5EF4-FFF2-40B4-BE49-F238E27FC236}">
                <a16:creationId xmlns:a16="http://schemas.microsoft.com/office/drawing/2014/main" id="{756E42E8-6386-4346-AAF3-85B79102D6E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0238" y="1600200"/>
            <a:ext cx="5851525" cy="453072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C727C65-B1A4-EDED-2E90-9FDF56F69A02}"/>
              </a:ext>
            </a:extLst>
          </p:cNvPr>
          <p:cNvSpPr txBox="1"/>
          <p:nvPr/>
        </p:nvSpPr>
        <p:spPr>
          <a:xfrm>
            <a:off x="380724" y="299408"/>
            <a:ext cx="456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Exact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1EB0A7F2-43FF-AACC-6C04-929A95646B9C}"/>
              </a:ext>
            </a:extLst>
          </p:cNvPr>
          <p:cNvSpPr/>
          <p:nvPr/>
        </p:nvSpPr>
        <p:spPr>
          <a:xfrm>
            <a:off x="238666" y="311105"/>
            <a:ext cx="470631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41D027-67A3-0125-BB46-9EB445E6E46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73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0F2F43-4FE7-68E3-6657-B1AD47C87AD9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1" name="Content Placeholder 3" descr="7.png">
            <a:extLst>
              <a:ext uri="{FF2B5EF4-FFF2-40B4-BE49-F238E27FC236}">
                <a16:creationId xmlns:a16="http://schemas.microsoft.com/office/drawing/2014/main" id="{1088FAA4-0E3F-5E4E-90E1-D83209C5F3B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0238" y="1600200"/>
            <a:ext cx="5851525" cy="453072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F061474-4533-C293-B2A0-DF819ED586D5}"/>
              </a:ext>
            </a:extLst>
          </p:cNvPr>
          <p:cNvSpPr txBox="1"/>
          <p:nvPr/>
        </p:nvSpPr>
        <p:spPr>
          <a:xfrm>
            <a:off x="380724" y="299408"/>
            <a:ext cx="456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Exact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EE1638A0-133F-5BCE-88D7-15F61578A2D3}"/>
              </a:ext>
            </a:extLst>
          </p:cNvPr>
          <p:cNvSpPr/>
          <p:nvPr/>
        </p:nvSpPr>
        <p:spPr>
          <a:xfrm>
            <a:off x="238666" y="311105"/>
            <a:ext cx="470631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572498-9706-31B4-9C75-2F3C7FD59A03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74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70F93F-DD12-7308-8391-93CBA35F54DF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5" name="Content Placeholder 3" descr="8.png">
            <a:extLst>
              <a:ext uri="{FF2B5EF4-FFF2-40B4-BE49-F238E27FC236}">
                <a16:creationId xmlns:a16="http://schemas.microsoft.com/office/drawing/2014/main" id="{469F29D3-E7E1-E24A-86E8-30B3ACA2530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0238" y="1600200"/>
            <a:ext cx="5851525" cy="453072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DC5C737-26F0-C426-A09B-BC8ADAD201CA}"/>
              </a:ext>
            </a:extLst>
          </p:cNvPr>
          <p:cNvSpPr txBox="1"/>
          <p:nvPr/>
        </p:nvSpPr>
        <p:spPr>
          <a:xfrm>
            <a:off x="380724" y="299408"/>
            <a:ext cx="456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Exact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F9E6DC1B-4618-E9E9-3013-CB87B2836FB7}"/>
              </a:ext>
            </a:extLst>
          </p:cNvPr>
          <p:cNvSpPr/>
          <p:nvPr/>
        </p:nvSpPr>
        <p:spPr>
          <a:xfrm>
            <a:off x="238666" y="311105"/>
            <a:ext cx="470631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5140FC-3B48-BCF1-2029-B4D7F7EEF7EB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75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760E19-4D9B-8AFA-8B72-18C4ED6398F1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9" name="Content Placeholder 3" descr="9.png">
            <a:extLst>
              <a:ext uri="{FF2B5EF4-FFF2-40B4-BE49-F238E27FC236}">
                <a16:creationId xmlns:a16="http://schemas.microsoft.com/office/drawing/2014/main" id="{18C8012A-21D1-A64C-B0DF-3C04075DF44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0238" y="1600200"/>
            <a:ext cx="5851525" cy="453072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F8F200F-A7FC-3E9A-8AF9-F5F9F39F8573}"/>
              </a:ext>
            </a:extLst>
          </p:cNvPr>
          <p:cNvSpPr txBox="1"/>
          <p:nvPr/>
        </p:nvSpPr>
        <p:spPr>
          <a:xfrm>
            <a:off x="380724" y="299408"/>
            <a:ext cx="456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Exact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BE0DDD66-5110-5D19-1580-49F2C017F8FB}"/>
              </a:ext>
            </a:extLst>
          </p:cNvPr>
          <p:cNvSpPr/>
          <p:nvPr/>
        </p:nvSpPr>
        <p:spPr>
          <a:xfrm>
            <a:off x="238666" y="311105"/>
            <a:ext cx="470631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92C323-D7D7-4B69-4C1B-BE52AF94A6AB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76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09D894-A794-D025-DB5F-9D227F421D03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3" name="Content Placeholder 3" descr="10.png">
            <a:extLst>
              <a:ext uri="{FF2B5EF4-FFF2-40B4-BE49-F238E27FC236}">
                <a16:creationId xmlns:a16="http://schemas.microsoft.com/office/drawing/2014/main" id="{D5A94004-004E-CF40-862F-9B031F90D18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0238" y="1600200"/>
            <a:ext cx="5851525" cy="4530725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5C94C85-8C54-84C8-79DE-7B2A4F51AF43}"/>
              </a:ext>
            </a:extLst>
          </p:cNvPr>
          <p:cNvSpPr txBox="1"/>
          <p:nvPr/>
        </p:nvSpPr>
        <p:spPr>
          <a:xfrm>
            <a:off x="380724" y="299408"/>
            <a:ext cx="456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Exact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54F91321-3B36-37A8-8521-29AEACA91A93}"/>
              </a:ext>
            </a:extLst>
          </p:cNvPr>
          <p:cNvSpPr/>
          <p:nvPr/>
        </p:nvSpPr>
        <p:spPr>
          <a:xfrm>
            <a:off x="238666" y="311105"/>
            <a:ext cx="470631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9C65F2-1A59-4AEC-1135-97ABBCACCF7C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77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CF5466-A467-372A-C6A6-925FFC85E540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7" name="Content Placeholder 3" descr="11.png">
            <a:extLst>
              <a:ext uri="{FF2B5EF4-FFF2-40B4-BE49-F238E27FC236}">
                <a16:creationId xmlns:a16="http://schemas.microsoft.com/office/drawing/2014/main" id="{F9EB2370-A7AD-EC41-A5FB-2849CC7EB63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0238" y="1163638"/>
            <a:ext cx="5851525" cy="4530725"/>
          </a:xfr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BB0E3BC-421A-6B43-B1DF-DFA687B5C895}"/>
              </a:ext>
            </a:extLst>
          </p:cNvPr>
          <p:cNvSpPr txBox="1"/>
          <p:nvPr/>
        </p:nvSpPr>
        <p:spPr>
          <a:xfrm>
            <a:off x="2564841" y="5994400"/>
            <a:ext cx="7062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Exact</a:t>
            </a:r>
            <a:r>
              <a:rPr lang="zh-CN" altLang="en-US" sz="2400" dirty="0"/>
              <a:t> </a:t>
            </a:r>
            <a:r>
              <a:rPr lang="en-US" altLang="zh-CN" sz="2400" dirty="0"/>
              <a:t>search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just</a:t>
            </a:r>
            <a:r>
              <a:rPr lang="zh-CN" altLang="en-US" sz="2400" dirty="0"/>
              <a:t> </a:t>
            </a:r>
            <a:r>
              <a:rPr lang="en-US" altLang="zh-CN" sz="2400" dirty="0"/>
              <a:t>like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sequential</a:t>
            </a:r>
            <a:r>
              <a:rPr lang="zh-CN" altLang="en-US" sz="2400" dirty="0"/>
              <a:t> </a:t>
            </a:r>
            <a:r>
              <a:rPr lang="en-US" altLang="zh-CN" sz="2400" dirty="0"/>
              <a:t>insertion</a:t>
            </a:r>
            <a:r>
              <a:rPr lang="zh-CN" altLang="en-US" sz="2400" dirty="0"/>
              <a:t> </a:t>
            </a:r>
            <a:r>
              <a:rPr lang="en-US" altLang="zh-CN" sz="2400" dirty="0"/>
              <a:t>process</a:t>
            </a:r>
            <a:endParaRPr 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4D96EA-3D51-376A-BBD7-65D81E8A949A}"/>
              </a:ext>
            </a:extLst>
          </p:cNvPr>
          <p:cNvSpPr txBox="1"/>
          <p:nvPr/>
        </p:nvSpPr>
        <p:spPr>
          <a:xfrm>
            <a:off x="380724" y="299408"/>
            <a:ext cx="456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Exact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C97A74ED-D8DE-BA18-F818-9AEAB418B174}"/>
              </a:ext>
            </a:extLst>
          </p:cNvPr>
          <p:cNvSpPr/>
          <p:nvPr/>
        </p:nvSpPr>
        <p:spPr>
          <a:xfrm>
            <a:off x="238666" y="311105"/>
            <a:ext cx="470631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9E073D-EBD6-7BA8-8349-9DEC7F9011B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78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6E4864-BAC6-6D60-C068-A5BF39E9A962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CD5F1CB-EB1B-964B-8C22-DF4BCFD09B6B}"/>
              </a:ext>
            </a:extLst>
          </p:cNvPr>
          <p:cNvSpPr txBox="1"/>
          <p:nvPr/>
        </p:nvSpPr>
        <p:spPr>
          <a:xfrm>
            <a:off x="2303418" y="122125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800" dirty="0"/>
              <a:t>2D Orthogonal Range </a:t>
            </a:r>
            <a:r>
              <a:rPr lang="fr-FR" altLang="zh-CN" sz="2800" dirty="0" err="1"/>
              <a:t>Query</a:t>
            </a:r>
            <a:r>
              <a:rPr lang="fr-FR" altLang="zh-CN" sz="2800" dirty="0"/>
              <a:t>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304858-94D8-5E44-A11E-B06B33F12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510" y="2804647"/>
            <a:ext cx="3238500" cy="28321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E98D089-59DE-4446-8938-00863FB1AD4B}"/>
              </a:ext>
            </a:extLst>
          </p:cNvPr>
          <p:cNvSpPr txBox="1"/>
          <p:nvPr/>
        </p:nvSpPr>
        <p:spPr>
          <a:xfrm>
            <a:off x="2303418" y="2005962"/>
            <a:ext cx="347907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altLang="zh-CN" sz="2800" dirty="0">
                <a:solidFill>
                  <a:srgbClr val="000000"/>
                </a:solidFill>
              </a:rPr>
              <a:t>• Data:</a:t>
            </a:r>
            <a:r>
              <a:rPr lang="zh-CN" altLang="en-US" sz="2800" dirty="0">
                <a:solidFill>
                  <a:srgbClr val="000000"/>
                </a:solidFill>
              </a:rPr>
              <a:t> </a:t>
            </a:r>
            <a:r>
              <a:rPr lang="fr-FR" altLang="zh-CN" sz="2800" dirty="0">
                <a:solidFill>
                  <a:srgbClr val="000000"/>
                </a:solidFill>
              </a:rPr>
              <a:t>A</a:t>
            </a:r>
            <a:r>
              <a:rPr lang="zh-CN" altLang="en-US" sz="2800" dirty="0">
                <a:solidFill>
                  <a:srgbClr val="000000"/>
                </a:solidFill>
              </a:rPr>
              <a:t> </a:t>
            </a:r>
            <a:r>
              <a:rPr lang="fr-FR" altLang="zh-CN" sz="2800" dirty="0">
                <a:solidFill>
                  <a:srgbClr val="000000"/>
                </a:solidFill>
              </a:rPr>
              <a:t>set</a:t>
            </a:r>
            <a:r>
              <a:rPr lang="zh-CN" altLang="en-US" sz="2800" dirty="0">
                <a:solidFill>
                  <a:srgbClr val="000000"/>
                </a:solidFill>
              </a:rPr>
              <a:t> </a:t>
            </a:r>
            <a:r>
              <a:rPr lang="fr-FR" altLang="zh-CN" sz="2800" i="1" dirty="0">
                <a:solidFill>
                  <a:srgbClr val="000000"/>
                </a:solidFill>
              </a:rPr>
              <a:t>S</a:t>
            </a:r>
            <a:r>
              <a:rPr lang="zh-CN" altLang="en-US" sz="2800" dirty="0">
                <a:solidFill>
                  <a:srgbClr val="000000"/>
                </a:solidFill>
              </a:rPr>
              <a:t> </a:t>
            </a:r>
            <a:r>
              <a:rPr lang="fr-FR" altLang="zh-CN" sz="2800" dirty="0">
                <a:solidFill>
                  <a:srgbClr val="000000"/>
                </a:solidFill>
              </a:rPr>
              <a:t>of</a:t>
            </a:r>
            <a:r>
              <a:rPr lang="zh-CN" altLang="en-US" sz="2800" dirty="0">
                <a:solidFill>
                  <a:srgbClr val="000000"/>
                </a:solidFill>
              </a:rPr>
              <a:t> </a:t>
            </a:r>
            <a:r>
              <a:rPr lang="fr-FR" altLang="zh-CN" sz="2800" i="1" dirty="0">
                <a:solidFill>
                  <a:srgbClr val="000000"/>
                </a:solidFill>
              </a:rPr>
              <a:t>n</a:t>
            </a:r>
            <a:r>
              <a:rPr lang="zh-CN" altLang="en-US" sz="2800" dirty="0">
                <a:solidFill>
                  <a:srgbClr val="000000"/>
                </a:solidFill>
              </a:rPr>
              <a:t> </a:t>
            </a:r>
            <a:r>
              <a:rPr lang="fr-FR" altLang="zh-CN" sz="2800" dirty="0">
                <a:solidFill>
                  <a:srgbClr val="000000"/>
                </a:solidFill>
              </a:rPr>
              <a:t>points</a:t>
            </a:r>
          </a:p>
          <a:p>
            <a:pPr>
              <a:lnSpc>
                <a:spcPct val="150000"/>
              </a:lnSpc>
            </a:pPr>
            <a:r>
              <a:rPr lang="fr-FR" altLang="zh-CN" sz="2800" dirty="0">
                <a:solidFill>
                  <a:srgbClr val="000000"/>
                </a:solidFill>
              </a:rPr>
              <a:t>• </a:t>
            </a:r>
            <a:r>
              <a:rPr lang="fr-FR" altLang="zh-CN" sz="2800" dirty="0" err="1">
                <a:solidFill>
                  <a:srgbClr val="000000"/>
                </a:solidFill>
              </a:rPr>
              <a:t>Query</a:t>
            </a:r>
            <a:r>
              <a:rPr lang="fr-FR" altLang="zh-CN" sz="2800" dirty="0">
                <a:solidFill>
                  <a:srgbClr val="000000"/>
                </a:solidFill>
              </a:rPr>
              <a:t>:</a:t>
            </a:r>
            <a:r>
              <a:rPr lang="zh-CN" altLang="en-US" sz="2800" dirty="0">
                <a:solidFill>
                  <a:srgbClr val="000000"/>
                </a:solidFill>
              </a:rPr>
              <a:t> </a:t>
            </a:r>
            <a:r>
              <a:rPr lang="fr-FR" altLang="zh-CN" sz="2800" b="1" dirty="0">
                <a:solidFill>
                  <a:srgbClr val="000000"/>
                </a:solidFill>
              </a:rPr>
              <a:t>Report/Count </a:t>
            </a:r>
            <a:r>
              <a:rPr lang="fr-FR" altLang="zh-CN" sz="2800" dirty="0" err="1">
                <a:solidFill>
                  <a:srgbClr val="000000"/>
                </a:solidFill>
              </a:rPr>
              <a:t>subset</a:t>
            </a:r>
            <a:r>
              <a:rPr lang="fr-FR" altLang="zh-CN" sz="2800" dirty="0">
                <a:solidFill>
                  <a:srgbClr val="000000"/>
                </a:solidFill>
              </a:rPr>
              <a:t> of </a:t>
            </a:r>
            <a:r>
              <a:rPr lang="fr-FR" altLang="zh-CN" sz="2800" i="1" dirty="0">
                <a:solidFill>
                  <a:srgbClr val="000000"/>
                </a:solidFill>
              </a:rPr>
              <a:t>S</a:t>
            </a:r>
            <a:r>
              <a:rPr lang="fr-FR" altLang="zh-CN" sz="2800" dirty="0">
                <a:solidFill>
                  <a:srgbClr val="000000"/>
                </a:solidFill>
              </a:rPr>
              <a:t> </a:t>
            </a:r>
            <a:r>
              <a:rPr lang="fr-FR" altLang="zh-CN" sz="2800" dirty="0" err="1">
                <a:solidFill>
                  <a:srgbClr val="000000"/>
                </a:solidFill>
              </a:rPr>
              <a:t>that</a:t>
            </a:r>
            <a:r>
              <a:rPr lang="fr-FR" altLang="zh-CN" sz="2800" dirty="0">
                <a:solidFill>
                  <a:srgbClr val="000000"/>
                </a:solidFill>
              </a:rPr>
              <a:t> lie in a rectangle range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922E6D-64C6-0195-3F19-25762C61A36D}"/>
              </a:ext>
            </a:extLst>
          </p:cNvPr>
          <p:cNvSpPr txBox="1"/>
          <p:nvPr/>
        </p:nvSpPr>
        <p:spPr>
          <a:xfrm>
            <a:off x="380724" y="299408"/>
            <a:ext cx="4708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D0D12C4-E021-CED7-2440-2114005B56B9}"/>
              </a:ext>
            </a:extLst>
          </p:cNvPr>
          <p:cNvSpPr/>
          <p:nvPr/>
        </p:nvSpPr>
        <p:spPr>
          <a:xfrm>
            <a:off x="238666" y="311105"/>
            <a:ext cx="485069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6B2BC462-9A1E-5609-5259-D3D9778FAF52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79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FF6512-1C89-2B29-C2C0-4CE316394BC5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9968076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53B0C6C-3B5E-FB47-808B-11D5E273C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1732824"/>
            <a:ext cx="9042400" cy="45593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BB60733-477F-FB46-ACEA-14C68EE84CFF}"/>
              </a:ext>
            </a:extLst>
          </p:cNvPr>
          <p:cNvSpPr txBox="1"/>
          <p:nvPr/>
        </p:nvSpPr>
        <p:spPr>
          <a:xfrm>
            <a:off x="2194561" y="1111968"/>
            <a:ext cx="4592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We</a:t>
            </a:r>
            <a:r>
              <a:rPr lang="zh-CN" altLang="en-US" sz="2800" dirty="0"/>
              <a:t> </a:t>
            </a:r>
            <a:r>
              <a:rPr lang="en-US" altLang="zh-CN" sz="2800" dirty="0"/>
              <a:t>store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data</a:t>
            </a:r>
            <a:r>
              <a:rPr lang="zh-CN" altLang="en-US" sz="2800" dirty="0"/>
              <a:t> </a:t>
            </a:r>
            <a:r>
              <a:rPr lang="en-US" altLang="zh-CN" sz="2800" dirty="0"/>
              <a:t>in</a:t>
            </a:r>
            <a:r>
              <a:rPr lang="zh-CN" altLang="en-US" sz="2800" dirty="0"/>
              <a:t> </a:t>
            </a: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KD</a:t>
            </a:r>
            <a:r>
              <a:rPr lang="zh-CN" altLang="en-US" sz="2800" dirty="0"/>
              <a:t> </a:t>
            </a:r>
            <a:r>
              <a:rPr lang="en-US" altLang="zh-CN" sz="2800" dirty="0"/>
              <a:t>Tree</a:t>
            </a:r>
            <a:endParaRPr 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4539E2-5D27-396D-4295-461C8A78A710}"/>
              </a:ext>
            </a:extLst>
          </p:cNvPr>
          <p:cNvSpPr txBox="1"/>
          <p:nvPr/>
        </p:nvSpPr>
        <p:spPr>
          <a:xfrm>
            <a:off x="380724" y="299408"/>
            <a:ext cx="4708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8" name="圆角矩形 8">
            <a:extLst>
              <a:ext uri="{FF2B5EF4-FFF2-40B4-BE49-F238E27FC236}">
                <a16:creationId xmlns:a16="http://schemas.microsoft.com/office/drawing/2014/main" id="{31A6B86D-6FCD-1391-51DD-254A90D5F840}"/>
              </a:ext>
            </a:extLst>
          </p:cNvPr>
          <p:cNvSpPr/>
          <p:nvPr/>
        </p:nvSpPr>
        <p:spPr>
          <a:xfrm>
            <a:off x="238666" y="311105"/>
            <a:ext cx="485069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919FF1A-6DCC-2FF8-08C3-90B541AC055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80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F65D04-D1EA-A2E3-2FAC-450F0AA4A626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365375722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1B9BCAE-FE4B-5C4A-8BA3-84BC8A90F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720" y="1756772"/>
            <a:ext cx="4064000" cy="44069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A843796-BDC8-6046-B4BC-352A311B0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252571"/>
            <a:ext cx="3238500" cy="28321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C3922A-937A-9040-8454-8BA835C79B8A}"/>
              </a:ext>
            </a:extLst>
          </p:cNvPr>
          <p:cNvSpPr txBox="1"/>
          <p:nvPr/>
        </p:nvSpPr>
        <p:spPr>
          <a:xfrm>
            <a:off x="1104569" y="1204938"/>
            <a:ext cx="9982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range</a:t>
            </a:r>
            <a:r>
              <a:rPr lang="zh-CN" altLang="en-US" sz="2800" dirty="0"/>
              <a:t> </a:t>
            </a:r>
            <a:r>
              <a:rPr lang="en-US" altLang="zh-CN" sz="2800" dirty="0"/>
              <a:t>query</a:t>
            </a:r>
            <a:r>
              <a:rPr lang="zh-CN" altLang="en-US" sz="2800" dirty="0"/>
              <a:t> </a:t>
            </a:r>
            <a:r>
              <a:rPr lang="en-US" altLang="zh-CN" sz="2800" dirty="0"/>
              <a:t>problem</a:t>
            </a:r>
            <a:r>
              <a:rPr lang="zh-CN" altLang="en-US" sz="2800" dirty="0"/>
              <a:t> </a:t>
            </a:r>
            <a:r>
              <a:rPr lang="en-US" altLang="zh-CN" sz="2800" dirty="0"/>
              <a:t>becomes</a:t>
            </a:r>
            <a:r>
              <a:rPr lang="zh-CN" altLang="en-US" sz="2800" dirty="0"/>
              <a:t> </a:t>
            </a: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KD-Tree</a:t>
            </a:r>
            <a:r>
              <a:rPr lang="zh-CN" altLang="en-US" sz="2800" dirty="0"/>
              <a:t> </a:t>
            </a:r>
            <a:r>
              <a:rPr lang="en-US" altLang="zh-CN" sz="2800" dirty="0"/>
              <a:t>range</a:t>
            </a:r>
            <a:r>
              <a:rPr lang="zh-CN" altLang="en-US" sz="2800" dirty="0"/>
              <a:t> </a:t>
            </a:r>
            <a:r>
              <a:rPr lang="en-US" altLang="zh-CN" sz="2800" dirty="0"/>
              <a:t>query</a:t>
            </a:r>
            <a:r>
              <a:rPr lang="zh-CN" altLang="en-US" sz="2800" dirty="0"/>
              <a:t> </a:t>
            </a:r>
            <a:r>
              <a:rPr lang="en-US" altLang="zh-CN" sz="2800" dirty="0"/>
              <a:t>problem.</a:t>
            </a:r>
            <a:endParaRPr 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9D61A4-8886-6B60-4BFA-D65220194225}"/>
              </a:ext>
            </a:extLst>
          </p:cNvPr>
          <p:cNvSpPr txBox="1"/>
          <p:nvPr/>
        </p:nvSpPr>
        <p:spPr>
          <a:xfrm>
            <a:off x="380724" y="299408"/>
            <a:ext cx="4708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F2CC276-9073-6E5D-AB2C-6E2A8FF53265}"/>
              </a:ext>
            </a:extLst>
          </p:cNvPr>
          <p:cNvSpPr/>
          <p:nvPr/>
        </p:nvSpPr>
        <p:spPr>
          <a:xfrm>
            <a:off x="238666" y="311105"/>
            <a:ext cx="485069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504018F1-F0F6-3F0E-842A-0125DF0B5EC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81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E95469-E7D1-ED7F-71BA-CFBD347DD484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31861986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A096BA0-E181-8C46-A8D2-48999F5310F0}"/>
              </a:ext>
            </a:extLst>
          </p:cNvPr>
          <p:cNvSpPr txBox="1"/>
          <p:nvPr/>
        </p:nvSpPr>
        <p:spPr>
          <a:xfrm>
            <a:off x="1591959" y="1235101"/>
            <a:ext cx="92860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Let’s</a:t>
            </a:r>
            <a:r>
              <a:rPr lang="zh-CN" altLang="en-US" sz="2800" dirty="0"/>
              <a:t> </a:t>
            </a:r>
            <a:r>
              <a:rPr lang="en-US" altLang="zh-CN" sz="2800" dirty="0"/>
              <a:t>firstly</a:t>
            </a:r>
            <a:r>
              <a:rPr lang="zh-CN" altLang="en-US" sz="2800" dirty="0"/>
              <a:t> </a:t>
            </a:r>
            <a:r>
              <a:rPr lang="en-US" altLang="zh-CN" sz="2800" dirty="0"/>
              <a:t>make</a:t>
            </a:r>
            <a:r>
              <a:rPr lang="zh-CN" altLang="en-US" sz="2800" dirty="0"/>
              <a:t> </a:t>
            </a:r>
            <a:r>
              <a:rPr lang="en-US" altLang="zh-CN" sz="2800" dirty="0"/>
              <a:t>clear</a:t>
            </a:r>
            <a:r>
              <a:rPr lang="zh-CN" altLang="en-US" sz="2800" dirty="0"/>
              <a:t> </a:t>
            </a: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concept:</a:t>
            </a:r>
            <a:r>
              <a:rPr lang="zh-CN" altLang="en-US" sz="2800" dirty="0"/>
              <a:t> </a:t>
            </a:r>
            <a:r>
              <a:rPr lang="en-US" altLang="zh-CN" sz="2800" b="1" dirty="0">
                <a:solidFill>
                  <a:srgbClr val="549E39"/>
                </a:solidFill>
              </a:rPr>
              <a:t>Region</a:t>
            </a:r>
            <a:r>
              <a:rPr lang="zh-CN" altLang="en-US" sz="2800" b="1" dirty="0">
                <a:solidFill>
                  <a:srgbClr val="549E39"/>
                </a:solidFill>
              </a:rPr>
              <a:t> </a:t>
            </a:r>
            <a:r>
              <a:rPr lang="fr-FR" altLang="zh-CN" sz="2800" b="1" dirty="0">
                <a:solidFill>
                  <a:srgbClr val="549E39"/>
                </a:solidFill>
              </a:rPr>
              <a:t>of a </a:t>
            </a:r>
            <a:r>
              <a:rPr lang="fr-FR" altLang="zh-CN" sz="2800" b="1" dirty="0" err="1">
                <a:solidFill>
                  <a:srgbClr val="549E39"/>
                </a:solidFill>
              </a:rPr>
              <a:t>node</a:t>
            </a:r>
            <a:r>
              <a:rPr lang="zh-CN" altLang="en-US" sz="2800" b="1" dirty="0">
                <a:solidFill>
                  <a:srgbClr val="549E39"/>
                </a:solidFill>
              </a:rPr>
              <a:t> </a:t>
            </a:r>
            <a:r>
              <a:rPr lang="en-US" altLang="zh-CN" sz="2800" b="1" dirty="0">
                <a:solidFill>
                  <a:srgbClr val="549E39"/>
                </a:solidFill>
              </a:rPr>
              <a:t>on</a:t>
            </a:r>
            <a:r>
              <a:rPr lang="zh-CN" altLang="en-US" sz="2800" b="1" dirty="0">
                <a:solidFill>
                  <a:srgbClr val="549E39"/>
                </a:solidFill>
              </a:rPr>
              <a:t> </a:t>
            </a:r>
            <a:r>
              <a:rPr lang="en-US" altLang="zh-CN" sz="2800" b="1" dirty="0">
                <a:solidFill>
                  <a:srgbClr val="549E39"/>
                </a:solidFill>
              </a:rPr>
              <a:t>KD-tree</a:t>
            </a:r>
            <a:endParaRPr lang="fr-FR" altLang="zh-CN" sz="2800" b="1" dirty="0">
              <a:solidFill>
                <a:srgbClr val="549E39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29D050-A375-AC4F-9365-56254255E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09525"/>
            <a:ext cx="3489980" cy="35906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C52214B-C7AC-2644-ABA7-EA29C8EF8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977" y="2799046"/>
            <a:ext cx="1079500" cy="9144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504A549-B713-C14A-88D6-02234A95A795}"/>
              </a:ext>
            </a:extLst>
          </p:cNvPr>
          <p:cNvSpPr txBox="1"/>
          <p:nvPr/>
        </p:nvSpPr>
        <p:spPr>
          <a:xfrm>
            <a:off x="2741900" y="4104687"/>
            <a:ext cx="24309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region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root</a:t>
            </a:r>
            <a:r>
              <a:rPr lang="zh-CN" altLang="en-US" sz="2000" dirty="0"/>
              <a:t> </a:t>
            </a:r>
            <a:r>
              <a:rPr lang="en-US" altLang="zh-CN" sz="2000" dirty="0"/>
              <a:t>node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full</a:t>
            </a:r>
            <a:r>
              <a:rPr lang="zh-CN" altLang="en-US" sz="2000" dirty="0"/>
              <a:t> </a:t>
            </a:r>
            <a:r>
              <a:rPr lang="en-US" altLang="zh-CN" sz="2000" dirty="0"/>
              <a:t>2D</a:t>
            </a:r>
            <a:r>
              <a:rPr lang="zh-CN" altLang="en-US" sz="2000" dirty="0"/>
              <a:t> </a:t>
            </a:r>
            <a:r>
              <a:rPr lang="en-US" altLang="zh-CN" sz="2000" dirty="0"/>
              <a:t>plan</a:t>
            </a:r>
            <a:r>
              <a:rPr lang="zh-CN" altLang="en-US" sz="2000" dirty="0"/>
              <a:t> </a:t>
            </a:r>
            <a:r>
              <a:rPr lang="en-US" altLang="zh-CN" sz="2000" dirty="0"/>
              <a:t>because</a:t>
            </a:r>
            <a:r>
              <a:rPr lang="zh-CN" altLang="en-US" sz="2000" dirty="0"/>
              <a:t> </a:t>
            </a:r>
            <a:r>
              <a:rPr lang="en-US" altLang="zh-CN" sz="2000" dirty="0"/>
              <a:t>it</a:t>
            </a:r>
            <a:r>
              <a:rPr lang="zh-CN" altLang="en-US" sz="2000" dirty="0"/>
              <a:t> </a:t>
            </a:r>
            <a:r>
              <a:rPr lang="en-US" altLang="zh-CN" sz="2000" dirty="0"/>
              <a:t>doesn’t</a:t>
            </a:r>
            <a:r>
              <a:rPr lang="zh-CN" altLang="en-US" sz="2000" dirty="0"/>
              <a:t> </a:t>
            </a:r>
            <a:r>
              <a:rPr lang="en-US" altLang="zh-CN" sz="2000" dirty="0"/>
              <a:t>has</a:t>
            </a:r>
            <a:r>
              <a:rPr lang="zh-CN" altLang="en-US" sz="2000" dirty="0"/>
              <a:t> </a:t>
            </a:r>
            <a:r>
              <a:rPr lang="en-US" altLang="zh-CN" sz="2000" dirty="0"/>
              <a:t>an</a:t>
            </a:r>
            <a:r>
              <a:rPr lang="zh-CN" altLang="en-US" sz="2000" dirty="0"/>
              <a:t> </a:t>
            </a:r>
            <a:r>
              <a:rPr lang="en-US" altLang="zh-CN" sz="2000" dirty="0"/>
              <a:t>ancestor.</a:t>
            </a:r>
            <a:r>
              <a:rPr lang="zh-CN" altLang="en-US" sz="2000" dirty="0"/>
              <a:t> </a:t>
            </a:r>
            <a:endParaRPr 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350248-3C9C-1D41-BC04-5D5E310981BB}"/>
              </a:ext>
            </a:extLst>
          </p:cNvPr>
          <p:cNvSpPr txBox="1"/>
          <p:nvPr/>
        </p:nvSpPr>
        <p:spPr>
          <a:xfrm>
            <a:off x="1591959" y="1774985"/>
            <a:ext cx="97618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region</a:t>
            </a:r>
            <a:r>
              <a:rPr lang="zh-CN" altLang="en-US" sz="2800" dirty="0"/>
              <a:t> </a:t>
            </a:r>
            <a:r>
              <a:rPr lang="en-US" altLang="zh-CN" sz="2800" dirty="0"/>
              <a:t>of</a:t>
            </a:r>
            <a:r>
              <a:rPr lang="zh-CN" altLang="en-US" sz="2800" dirty="0"/>
              <a:t> </a:t>
            </a: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node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549E39"/>
                </a:solidFill>
              </a:rPr>
              <a:t>region</a:t>
            </a:r>
            <a:r>
              <a:rPr lang="zh-CN" altLang="en-US" sz="2800" dirty="0">
                <a:solidFill>
                  <a:srgbClr val="549E39"/>
                </a:solidFill>
              </a:rPr>
              <a:t> </a:t>
            </a:r>
            <a:r>
              <a:rPr lang="en-US" altLang="zh-CN" sz="2800" dirty="0">
                <a:solidFill>
                  <a:srgbClr val="549E39"/>
                </a:solidFill>
              </a:rPr>
              <a:t>characterized</a:t>
            </a:r>
            <a:r>
              <a:rPr lang="zh-CN" altLang="en-US" sz="2800" dirty="0">
                <a:solidFill>
                  <a:srgbClr val="549E39"/>
                </a:solidFill>
              </a:rPr>
              <a:t> </a:t>
            </a:r>
            <a:r>
              <a:rPr lang="en-US" altLang="zh-CN" sz="2800" dirty="0">
                <a:solidFill>
                  <a:srgbClr val="549E39"/>
                </a:solidFill>
              </a:rPr>
              <a:t>by</a:t>
            </a:r>
            <a:r>
              <a:rPr lang="zh-CN" altLang="en-US" sz="2800" dirty="0">
                <a:solidFill>
                  <a:srgbClr val="549E39"/>
                </a:solidFill>
              </a:rPr>
              <a:t> </a:t>
            </a:r>
            <a:r>
              <a:rPr lang="en-US" altLang="zh-CN" sz="2800" dirty="0">
                <a:solidFill>
                  <a:srgbClr val="549E39"/>
                </a:solidFill>
              </a:rPr>
              <a:t>the</a:t>
            </a:r>
            <a:r>
              <a:rPr lang="zh-CN" altLang="en-US" sz="2800" dirty="0">
                <a:solidFill>
                  <a:srgbClr val="549E39"/>
                </a:solidFill>
              </a:rPr>
              <a:t> </a:t>
            </a:r>
            <a:r>
              <a:rPr lang="en-US" altLang="zh-CN" sz="2800" dirty="0">
                <a:solidFill>
                  <a:srgbClr val="549E39"/>
                </a:solidFill>
              </a:rPr>
              <a:t>ancestors</a:t>
            </a:r>
            <a:r>
              <a:rPr lang="zh-CN" altLang="en-US" sz="2800" dirty="0">
                <a:solidFill>
                  <a:srgbClr val="549E39"/>
                </a:solidFill>
              </a:rPr>
              <a:t> </a:t>
            </a:r>
            <a:r>
              <a:rPr lang="en-US" altLang="zh-CN" sz="2800" dirty="0">
                <a:solidFill>
                  <a:srgbClr val="549E39"/>
                </a:solidFill>
              </a:rPr>
              <a:t>of</a:t>
            </a:r>
            <a:r>
              <a:rPr lang="zh-CN" altLang="en-US" sz="2800" dirty="0">
                <a:solidFill>
                  <a:srgbClr val="549E39"/>
                </a:solidFill>
              </a:rPr>
              <a:t> </a:t>
            </a:r>
            <a:r>
              <a:rPr lang="en-US" altLang="zh-CN" sz="2800" dirty="0">
                <a:solidFill>
                  <a:srgbClr val="549E39"/>
                </a:solidFill>
              </a:rPr>
              <a:t>the</a:t>
            </a:r>
            <a:r>
              <a:rPr lang="zh-CN" altLang="en-US" sz="2800" dirty="0">
                <a:solidFill>
                  <a:srgbClr val="549E39"/>
                </a:solidFill>
              </a:rPr>
              <a:t> </a:t>
            </a:r>
            <a:r>
              <a:rPr lang="en-US" altLang="zh-CN" sz="2800" dirty="0">
                <a:solidFill>
                  <a:srgbClr val="549E39"/>
                </a:solidFill>
              </a:rPr>
              <a:t>node.</a:t>
            </a:r>
            <a:r>
              <a:rPr lang="zh-CN" altLang="en-US" sz="2800" dirty="0">
                <a:solidFill>
                  <a:srgbClr val="549E39"/>
                </a:solidFill>
              </a:rPr>
              <a:t>   </a:t>
            </a:r>
            <a:endParaRPr lang="en-US" sz="2800" dirty="0">
              <a:solidFill>
                <a:srgbClr val="549E39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4C09F0-08F1-AEE0-A1E9-BEF2D299808F}"/>
              </a:ext>
            </a:extLst>
          </p:cNvPr>
          <p:cNvSpPr txBox="1"/>
          <p:nvPr/>
        </p:nvSpPr>
        <p:spPr>
          <a:xfrm>
            <a:off x="380724" y="299408"/>
            <a:ext cx="4708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 – Range Search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1" name="圆角矩形 8">
            <a:extLst>
              <a:ext uri="{FF2B5EF4-FFF2-40B4-BE49-F238E27FC236}">
                <a16:creationId xmlns:a16="http://schemas.microsoft.com/office/drawing/2014/main" id="{8A202168-15E1-E4A7-D662-48BAD1BD1EF6}"/>
              </a:ext>
            </a:extLst>
          </p:cNvPr>
          <p:cNvSpPr/>
          <p:nvPr/>
        </p:nvSpPr>
        <p:spPr>
          <a:xfrm>
            <a:off x="238666" y="311105"/>
            <a:ext cx="485069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EFF966FE-6751-C71B-2D8E-66750CA1009B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82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E086449-AAFC-6A6C-8E55-935F28BFC26C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2690414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3094380-0F76-9348-89D8-D18677CE5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096" y="1655105"/>
            <a:ext cx="3987800" cy="41275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42AB27F-04CA-FC43-B892-DDAC4A2BB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023" y="1291784"/>
            <a:ext cx="3213100" cy="17526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E77F5AB-B1B2-5C46-A38A-6AFAFA5005F0}"/>
              </a:ext>
            </a:extLst>
          </p:cNvPr>
          <p:cNvSpPr txBox="1"/>
          <p:nvPr/>
        </p:nvSpPr>
        <p:spPr>
          <a:xfrm>
            <a:off x="1935117" y="3148888"/>
            <a:ext cx="3906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Region(l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half</a:t>
            </a:r>
            <a:r>
              <a:rPr lang="zh-CN" altLang="en-US" dirty="0"/>
              <a:t> </a:t>
            </a:r>
            <a:r>
              <a:rPr lang="en-US" altLang="zh-CN" dirty="0"/>
              <a:t>plane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Region(l</a:t>
            </a:r>
            <a:r>
              <a:rPr lang="en-US" altLang="zh-CN" baseline="-25000" dirty="0"/>
              <a:t>1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endParaRPr 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E677FE7-EAF1-7440-AF63-16AEA2677A18}"/>
                  </a:ext>
                </a:extLst>
              </p:cNvPr>
              <p:cNvSpPr txBox="1"/>
              <p:nvPr/>
            </p:nvSpPr>
            <p:spPr>
              <a:xfrm>
                <a:off x="1991609" y="3996771"/>
                <a:ext cx="3793218" cy="31265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549E39"/>
                          </a:solidFill>
                          <a:latin typeface="Cambria Math" panose="02040503050406030204" pitchFamily="18" charset="0"/>
                        </a:rPr>
                        <m:t>𝑟𝑒𝑔𝑖𝑜𝑛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</a:rPr>
                            <m:t>𝑙𝑐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549E3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rgbClr val="549E39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solidFill>
                            <a:srgbClr val="549E3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rgbClr val="549E39"/>
                          </a:solidFill>
                          <a:latin typeface="Cambria Math" panose="02040503050406030204" pitchFamily="18" charset="0"/>
                        </a:rPr>
                        <m:t>𝑟𝑒𝑔𝑖𝑜𝑛</m:t>
                      </m:r>
                      <m:r>
                        <a:rPr lang="en-US" altLang="zh-CN" i="1">
                          <a:solidFill>
                            <a:srgbClr val="549E3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rgbClr val="549E39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>
                          <a:solidFill>
                            <a:srgbClr val="549E39"/>
                          </a:solidFill>
                          <a:latin typeface="Cambria Math" panose="02040503050406030204" pitchFamily="18" charset="0"/>
                        </a:rPr>
                        <m:t>)∩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𝑙𝑒𝑓𝑡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549E39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E677FE7-EAF1-7440-AF63-16AEA2677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609" y="3996771"/>
                <a:ext cx="3793218" cy="312650"/>
              </a:xfrm>
              <a:prstGeom prst="rect">
                <a:avLst/>
              </a:prstGeom>
              <a:blipFill>
                <a:blip r:embed="rId4"/>
                <a:stretch>
                  <a:fillRect l="-1603" r="-641" b="-245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61A7276-A97B-4E46-B739-90867FAA841A}"/>
                  </a:ext>
                </a:extLst>
              </p:cNvPr>
              <p:cNvSpPr txBox="1"/>
              <p:nvPr/>
            </p:nvSpPr>
            <p:spPr>
              <a:xfrm>
                <a:off x="1991610" y="5575350"/>
                <a:ext cx="3942297" cy="31265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549E39"/>
                          </a:solidFill>
                          <a:latin typeface="Cambria Math" panose="02040503050406030204" pitchFamily="18" charset="0"/>
                        </a:rPr>
                        <m:t>𝑟𝑒𝑔𝑖𝑜𝑛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</a:rPr>
                            <m:t>𝑟𝑐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549E3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rgbClr val="549E39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solidFill>
                            <a:srgbClr val="549E3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rgbClr val="549E39"/>
                          </a:solidFill>
                          <a:latin typeface="Cambria Math" panose="02040503050406030204" pitchFamily="18" charset="0"/>
                        </a:rPr>
                        <m:t>𝑟𝑒𝑔𝑖𝑜𝑛</m:t>
                      </m:r>
                      <m:r>
                        <a:rPr lang="en-US" altLang="zh-CN" i="1">
                          <a:solidFill>
                            <a:srgbClr val="549E3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rgbClr val="549E39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>
                          <a:solidFill>
                            <a:srgbClr val="549E39"/>
                          </a:solidFill>
                          <a:latin typeface="Cambria Math" panose="02040503050406030204" pitchFamily="18" charset="0"/>
                        </a:rPr>
                        <m:t>)∩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549E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𝑟𝑖𝑔h𝑡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549E39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61A7276-A97B-4E46-B739-90867FAA8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610" y="5575350"/>
                <a:ext cx="3942297" cy="312650"/>
              </a:xfrm>
              <a:prstGeom prst="rect">
                <a:avLst/>
              </a:prstGeom>
              <a:blipFill>
                <a:blip r:embed="rId5"/>
                <a:stretch>
                  <a:fillRect l="-1543" t="-1887" r="-617" b="-245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F136D960-BABB-6C41-97DF-EA89FA7E6AC6}"/>
              </a:ext>
            </a:extLst>
          </p:cNvPr>
          <p:cNvSpPr txBox="1"/>
          <p:nvPr/>
        </p:nvSpPr>
        <p:spPr>
          <a:xfrm>
            <a:off x="1935117" y="4800751"/>
            <a:ext cx="3630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Region(l</a:t>
            </a:r>
            <a:r>
              <a:rPr lang="en-US" altLang="zh-CN" baseline="-25000" dirty="0"/>
              <a:t>3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half</a:t>
            </a:r>
            <a:r>
              <a:rPr lang="zh-CN" altLang="en-US" dirty="0"/>
              <a:t> </a:t>
            </a:r>
            <a:r>
              <a:rPr lang="en-US" altLang="zh-CN" dirty="0"/>
              <a:t>plane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Region(l</a:t>
            </a:r>
            <a:r>
              <a:rPr lang="en-US" altLang="zh-CN" baseline="-25000" dirty="0"/>
              <a:t>1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endParaRPr lang="en-US" baseline="-25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943B13-CC40-FA59-67BB-1596A47F32A9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Region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of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node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</a:p>
        </p:txBody>
      </p:sp>
      <p:sp>
        <p:nvSpPr>
          <p:cNvPr id="12" name="圆角矩形 8">
            <a:extLst>
              <a:ext uri="{FF2B5EF4-FFF2-40B4-BE49-F238E27FC236}">
                <a16:creationId xmlns:a16="http://schemas.microsoft.com/office/drawing/2014/main" id="{1A41C72D-B9E0-350B-9396-F974794F003C}"/>
              </a:ext>
            </a:extLst>
          </p:cNvPr>
          <p:cNvSpPr/>
          <p:nvPr/>
        </p:nvSpPr>
        <p:spPr>
          <a:xfrm>
            <a:off x="238665" y="311105"/>
            <a:ext cx="591743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E507BB38-ED17-620B-B1F6-D471A5F4077C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83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B726C7-238C-1A1D-F780-77612CC380BE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337284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CBAB0D2-41A5-3646-81D2-C3364CF72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2729"/>
            <a:ext cx="4267200" cy="43434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704A33F-2323-FA44-8D02-C9D2BB716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657" y="1315161"/>
            <a:ext cx="3418842" cy="186307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6B994AF-2B29-7B48-9B2D-E77F0B2B6D3C}"/>
              </a:ext>
            </a:extLst>
          </p:cNvPr>
          <p:cNvSpPr txBox="1"/>
          <p:nvPr/>
        </p:nvSpPr>
        <p:spPr>
          <a:xfrm>
            <a:off x="2324416" y="5389799"/>
            <a:ext cx="3396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How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to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represent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and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how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to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record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region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for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node?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F90AF5-57C2-5A40-8456-BAAE40B52E0D}"/>
              </a:ext>
            </a:extLst>
          </p:cNvPr>
          <p:cNvSpPr txBox="1"/>
          <p:nvPr/>
        </p:nvSpPr>
        <p:spPr>
          <a:xfrm>
            <a:off x="2125978" y="3544686"/>
            <a:ext cx="3793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Region(l</a:t>
            </a:r>
            <a:r>
              <a:rPr lang="en-US" altLang="zh-CN" baseline="-25000" dirty="0"/>
              <a:t>4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down</a:t>
            </a:r>
            <a:r>
              <a:rPr lang="zh-CN" altLang="en-US" dirty="0"/>
              <a:t> </a:t>
            </a:r>
            <a:r>
              <a:rPr lang="en-US" altLang="zh-CN" dirty="0"/>
              <a:t>half</a:t>
            </a:r>
            <a:r>
              <a:rPr lang="zh-CN" altLang="en-US" dirty="0"/>
              <a:t> </a:t>
            </a:r>
            <a:r>
              <a:rPr lang="en-US" altLang="zh-CN" dirty="0"/>
              <a:t>plane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Region(l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 err="1"/>
              <a:t>seperated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l</a:t>
            </a:r>
            <a:r>
              <a:rPr lang="en-US" altLang="zh-CN" baseline="-25000" dirty="0"/>
              <a:t>2</a:t>
            </a:r>
            <a:endParaRPr lang="en-US" baseline="-25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854D28-D79B-E845-8D48-00553722B7D8}"/>
              </a:ext>
            </a:extLst>
          </p:cNvPr>
          <p:cNvSpPr txBox="1"/>
          <p:nvPr/>
        </p:nvSpPr>
        <p:spPr>
          <a:xfrm>
            <a:off x="2137227" y="4430667"/>
            <a:ext cx="3793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Region(l</a:t>
            </a:r>
            <a:r>
              <a:rPr lang="en-US" altLang="zh-CN" baseline="-25000" dirty="0"/>
              <a:t>5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up</a:t>
            </a:r>
            <a:r>
              <a:rPr lang="zh-CN" altLang="en-US" dirty="0"/>
              <a:t> </a:t>
            </a:r>
            <a:r>
              <a:rPr lang="en-US" altLang="zh-CN" dirty="0"/>
              <a:t>half</a:t>
            </a:r>
            <a:r>
              <a:rPr lang="zh-CN" altLang="en-US" dirty="0"/>
              <a:t> </a:t>
            </a:r>
            <a:r>
              <a:rPr lang="en-US" altLang="zh-CN" dirty="0"/>
              <a:t>plane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Region(l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 err="1"/>
              <a:t>seperated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l</a:t>
            </a:r>
            <a:r>
              <a:rPr lang="en-US" altLang="zh-CN" baseline="-25000" dirty="0"/>
              <a:t>2</a:t>
            </a:r>
            <a:endParaRPr lang="en-US" baseline="-25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F6C851-0077-5975-AA78-FDA6A53A9040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Region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of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node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</a:p>
        </p:txBody>
      </p:sp>
      <p:sp>
        <p:nvSpPr>
          <p:cNvPr id="11" name="圆角矩形 8">
            <a:extLst>
              <a:ext uri="{FF2B5EF4-FFF2-40B4-BE49-F238E27FC236}">
                <a16:creationId xmlns:a16="http://schemas.microsoft.com/office/drawing/2014/main" id="{C5CEA2E7-B1B5-D242-8EE0-A996FA22CB2B}"/>
              </a:ext>
            </a:extLst>
          </p:cNvPr>
          <p:cNvSpPr/>
          <p:nvPr/>
        </p:nvSpPr>
        <p:spPr>
          <a:xfrm>
            <a:off x="238665" y="311105"/>
            <a:ext cx="591743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2829866-ACB6-D0AC-5FB2-D97800603B6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84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128849-59FD-6061-E4E5-224F4B6656F2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392765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C4311B0-CF98-654E-8E7C-72C345CEB389}"/>
              </a:ext>
            </a:extLst>
          </p:cNvPr>
          <p:cNvSpPr txBox="1"/>
          <p:nvPr/>
        </p:nvSpPr>
        <p:spPr>
          <a:xfrm>
            <a:off x="2152650" y="1397996"/>
            <a:ext cx="798109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	class Node</a:t>
            </a:r>
          </a:p>
          <a:p>
            <a:r>
              <a:rPr lang="en-US" altLang="zh-CN" sz="2000" dirty="0"/>
              <a:t>	{</a:t>
            </a:r>
          </a:p>
          <a:p>
            <a:r>
              <a:rPr lang="en-US" altLang="zh-CN" sz="2000" dirty="0"/>
              <a:t>	public:</a:t>
            </a:r>
          </a:p>
          <a:p>
            <a:r>
              <a:rPr lang="en-US" altLang="zh-CN" sz="2000" dirty="0"/>
              <a:t>		Node* left;			//left child</a:t>
            </a:r>
          </a:p>
          <a:p>
            <a:r>
              <a:rPr lang="en-US" altLang="zh-CN" sz="2000" dirty="0"/>
              <a:t>		Node* right;		</a:t>
            </a:r>
            <a:r>
              <a:rPr lang="zh-CN" altLang="en-US" sz="2000" dirty="0"/>
              <a:t>       </a:t>
            </a:r>
            <a:r>
              <a:rPr lang="en-US" altLang="zh-CN" sz="2000" dirty="0"/>
              <a:t>//right child</a:t>
            </a:r>
          </a:p>
          <a:p>
            <a:r>
              <a:rPr lang="en-US" altLang="zh-CN" sz="2000" dirty="0">
                <a:solidFill>
                  <a:srgbClr val="00B050"/>
                </a:solidFill>
              </a:rPr>
              <a:t>		int begin;			</a:t>
            </a:r>
            <a:r>
              <a:rPr lang="zh-CN" altLang="en-US" sz="2000" dirty="0">
                <a:solidFill>
                  <a:srgbClr val="00B050"/>
                </a:solidFill>
              </a:rPr>
              <a:t>        </a:t>
            </a:r>
            <a:r>
              <a:rPr lang="en-US" altLang="zh-CN" sz="2000" dirty="0">
                <a:solidFill>
                  <a:srgbClr val="00B050"/>
                </a:solidFill>
              </a:rPr>
              <a:t>//start index [close</a:t>
            </a:r>
          </a:p>
          <a:p>
            <a:r>
              <a:rPr lang="en-US" altLang="zh-CN" sz="2000" dirty="0">
                <a:solidFill>
                  <a:srgbClr val="00B050"/>
                </a:solidFill>
              </a:rPr>
              <a:t>		int end;				//end index  (open</a:t>
            </a:r>
          </a:p>
          <a:p>
            <a:r>
              <a:rPr lang="en-US" altLang="zh-CN" sz="2000" dirty="0"/>
              <a:t>		Dimension dimension;	//cut dimension</a:t>
            </a:r>
          </a:p>
          <a:p>
            <a:r>
              <a:rPr lang="en-US" altLang="zh-CN" sz="2000" dirty="0">
                <a:solidFill>
                  <a:srgbClr val="00B050"/>
                </a:solidFill>
              </a:rPr>
              <a:t>		double pivot;		</a:t>
            </a:r>
            <a:r>
              <a:rPr lang="zh-CN" altLang="en-US" sz="2000" dirty="0">
                <a:solidFill>
                  <a:srgbClr val="00B050"/>
                </a:solidFill>
              </a:rPr>
              <a:t>        </a:t>
            </a:r>
            <a:r>
              <a:rPr lang="en-US" altLang="zh-CN" sz="2000" dirty="0">
                <a:solidFill>
                  <a:srgbClr val="00B050"/>
                </a:solidFill>
              </a:rPr>
              <a:t>//cut value</a:t>
            </a:r>
          </a:p>
          <a:p>
            <a:endParaRPr lang="en-US" altLang="zh-CN" sz="2000" dirty="0"/>
          </a:p>
          <a:p>
            <a:r>
              <a:rPr lang="en-US" altLang="zh-CN" sz="2000" dirty="0"/>
              <a:t>		Node(int b, int e, Dimension dim, double </a:t>
            </a:r>
            <a:r>
              <a:rPr lang="en-US" altLang="zh-CN" sz="2000" dirty="0" err="1"/>
              <a:t>piv</a:t>
            </a:r>
            <a:r>
              <a:rPr lang="en-US" altLang="zh-CN" sz="2000" dirty="0"/>
              <a:t>);</a:t>
            </a:r>
          </a:p>
          <a:p>
            <a:r>
              <a:rPr lang="en-US" altLang="zh-CN" sz="2000" dirty="0"/>
              <a:t>		bool </a:t>
            </a:r>
            <a:r>
              <a:rPr lang="en-US" altLang="zh-CN" sz="2000" dirty="0" err="1"/>
              <a:t>IsLeaf</a:t>
            </a:r>
            <a:r>
              <a:rPr lang="en-US" altLang="zh-CN" sz="2000" dirty="0"/>
              <a:t>() const;</a:t>
            </a:r>
          </a:p>
          <a:p>
            <a:endParaRPr lang="en-US" altLang="zh-CN" sz="2000" dirty="0"/>
          </a:p>
          <a:p>
            <a:r>
              <a:rPr lang="en-US" altLang="zh-CN" sz="2000" dirty="0"/>
              <a:t>		</a:t>
            </a:r>
            <a:r>
              <a:rPr lang="en-US" altLang="zh-CN" sz="2000" dirty="0" err="1">
                <a:solidFill>
                  <a:srgbClr val="00B050"/>
                </a:solidFill>
              </a:rPr>
              <a:t>BBox</a:t>
            </a:r>
            <a:r>
              <a:rPr lang="en-US" altLang="zh-CN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</a:rPr>
              <a:t>LeftSubTreeEnvelope</a:t>
            </a:r>
            <a:r>
              <a:rPr lang="en-US" altLang="zh-CN" sz="2000" dirty="0"/>
              <a:t>(const </a:t>
            </a:r>
            <a:r>
              <a:rPr lang="en-US" altLang="zh-CN" sz="2000" dirty="0" err="1"/>
              <a:t>BBox</a:t>
            </a:r>
            <a:r>
              <a:rPr lang="en-US" altLang="zh-CN" sz="2000" dirty="0"/>
              <a:t>&amp; </a:t>
            </a:r>
            <a:r>
              <a:rPr lang="en-US" altLang="zh-CN" sz="2000" dirty="0" err="1"/>
              <a:t>current_entext</a:t>
            </a:r>
            <a:r>
              <a:rPr lang="en-US" altLang="zh-CN" sz="2000" dirty="0"/>
              <a:t>) const;</a:t>
            </a:r>
          </a:p>
          <a:p>
            <a:r>
              <a:rPr lang="en-US" altLang="zh-CN" sz="2000" dirty="0"/>
              <a:t>		</a:t>
            </a:r>
            <a:r>
              <a:rPr lang="en-US" altLang="zh-CN" sz="2000" dirty="0" err="1">
                <a:solidFill>
                  <a:srgbClr val="00B050"/>
                </a:solidFill>
              </a:rPr>
              <a:t>BBox</a:t>
            </a:r>
            <a:r>
              <a:rPr lang="en-US" altLang="zh-CN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</a:rPr>
              <a:t>RightSubTreeEnvelope</a:t>
            </a:r>
            <a:r>
              <a:rPr lang="en-US" altLang="zh-CN" sz="2000" dirty="0"/>
              <a:t>(const </a:t>
            </a:r>
            <a:r>
              <a:rPr lang="en-US" altLang="zh-CN" sz="2000" dirty="0" err="1"/>
              <a:t>BBox</a:t>
            </a:r>
            <a:r>
              <a:rPr lang="en-US" altLang="zh-CN" sz="2000" dirty="0"/>
              <a:t>&amp; </a:t>
            </a:r>
            <a:r>
              <a:rPr lang="en-US" altLang="zh-CN" sz="2000" dirty="0" err="1"/>
              <a:t>current_entext</a:t>
            </a:r>
            <a:r>
              <a:rPr lang="en-US" altLang="zh-CN" sz="2000" dirty="0"/>
              <a:t>) const;</a:t>
            </a:r>
          </a:p>
          <a:p>
            <a:r>
              <a:rPr lang="en-US" altLang="zh-CN" sz="2000" dirty="0"/>
              <a:t>	};</a:t>
            </a:r>
            <a:endParaRPr 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465BF2-DFA6-7E09-2813-10D5FFCB103F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Node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data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structure</a:t>
            </a: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0490B127-D07D-27FB-405E-4583D5B86E28}"/>
              </a:ext>
            </a:extLst>
          </p:cNvPr>
          <p:cNvSpPr/>
          <p:nvPr/>
        </p:nvSpPr>
        <p:spPr>
          <a:xfrm>
            <a:off x="238666" y="311105"/>
            <a:ext cx="58573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118777-D799-9CE3-1426-72EA514AEC4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85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32291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6692E54-A0F9-8840-AD48-9335DA796C7D}"/>
              </a:ext>
            </a:extLst>
          </p:cNvPr>
          <p:cNvSpPr txBox="1"/>
          <p:nvPr/>
        </p:nvSpPr>
        <p:spPr>
          <a:xfrm>
            <a:off x="2018192" y="957011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BBox</a:t>
            </a:r>
            <a:r>
              <a:rPr lang="en-US" altLang="zh-CN" dirty="0"/>
              <a:t>::</a:t>
            </a:r>
            <a:r>
              <a:rPr lang="en-US" altLang="zh-CN" dirty="0" err="1">
                <a:solidFill>
                  <a:srgbClr val="549E39"/>
                </a:solidFill>
              </a:rPr>
              <a:t>BBox</a:t>
            </a:r>
            <a:r>
              <a:rPr lang="en-US" altLang="zh-CN" dirty="0">
                <a:solidFill>
                  <a:srgbClr val="549E39"/>
                </a:solidFill>
              </a:rPr>
              <a:t>(double x0, double x1, double y0, double y1)</a:t>
            </a:r>
            <a:r>
              <a:rPr lang="en-US" altLang="zh-CN" dirty="0"/>
              <a:t> :</a:t>
            </a:r>
          </a:p>
          <a:p>
            <a:r>
              <a:rPr lang="en-US" altLang="zh-CN" dirty="0" err="1"/>
              <a:t>xmin</a:t>
            </a:r>
            <a:r>
              <a:rPr lang="en-US" altLang="zh-CN" dirty="0"/>
              <a:t>(x0),</a:t>
            </a:r>
            <a:r>
              <a:rPr lang="zh-CN" altLang="en-US" dirty="0"/>
              <a:t> </a:t>
            </a:r>
            <a:r>
              <a:rPr lang="en-US" altLang="zh-CN" dirty="0" err="1"/>
              <a:t>xmax</a:t>
            </a:r>
            <a:r>
              <a:rPr lang="en-US" altLang="zh-CN" dirty="0"/>
              <a:t>(x1),</a:t>
            </a:r>
            <a:r>
              <a:rPr lang="zh-CN" altLang="en-US" dirty="0"/>
              <a:t> </a:t>
            </a:r>
            <a:r>
              <a:rPr lang="en-US" altLang="zh-CN" dirty="0" err="1"/>
              <a:t>ymin</a:t>
            </a:r>
            <a:r>
              <a:rPr lang="en-US" altLang="zh-CN" dirty="0"/>
              <a:t>(y0),</a:t>
            </a:r>
            <a:r>
              <a:rPr lang="zh-CN" altLang="en-US" dirty="0"/>
              <a:t> </a:t>
            </a:r>
            <a:r>
              <a:rPr lang="en-US" altLang="zh-CN" dirty="0" err="1"/>
              <a:t>ymax</a:t>
            </a:r>
            <a:r>
              <a:rPr lang="en-US" altLang="zh-CN" dirty="0"/>
              <a:t>(y1),</a:t>
            </a:r>
          </a:p>
          <a:p>
            <a:r>
              <a:rPr lang="en-US" altLang="zh-CN" dirty="0"/>
              <a:t>{}</a:t>
            </a:r>
            <a:endParaRPr 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E533F1E-FF04-144C-A226-4185C94F81DF}"/>
              </a:ext>
            </a:extLst>
          </p:cNvPr>
          <p:cNvSpPr txBox="1"/>
          <p:nvPr/>
        </p:nvSpPr>
        <p:spPr>
          <a:xfrm>
            <a:off x="2018192" y="2279342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BBox</a:t>
            </a:r>
            <a:r>
              <a:rPr lang="en-US" altLang="zh-CN" dirty="0"/>
              <a:t> Node::</a:t>
            </a:r>
            <a:r>
              <a:rPr lang="en-US" altLang="zh-CN" dirty="0" err="1"/>
              <a:t>LeftSubTreeEnvelope</a:t>
            </a:r>
            <a:r>
              <a:rPr lang="en-US" altLang="zh-CN" dirty="0"/>
              <a:t>(const </a:t>
            </a:r>
            <a:r>
              <a:rPr lang="en-US" altLang="zh-CN" dirty="0" err="1">
                <a:solidFill>
                  <a:srgbClr val="549E39"/>
                </a:solidFill>
              </a:rPr>
              <a:t>BBox</a:t>
            </a:r>
            <a:r>
              <a:rPr lang="en-US" altLang="zh-CN" dirty="0">
                <a:solidFill>
                  <a:srgbClr val="549E39"/>
                </a:solidFill>
              </a:rPr>
              <a:t>&amp; </a:t>
            </a:r>
            <a:r>
              <a:rPr lang="en-US" altLang="zh-CN" dirty="0" err="1">
                <a:solidFill>
                  <a:srgbClr val="549E39"/>
                </a:solidFill>
              </a:rPr>
              <a:t>current_entext</a:t>
            </a:r>
            <a:r>
              <a:rPr lang="en-US" altLang="zh-CN" dirty="0"/>
              <a:t>) const{</a:t>
            </a:r>
          </a:p>
          <a:p>
            <a:r>
              <a:rPr lang="en-US" altLang="zh-CN" dirty="0"/>
              <a:t>	</a:t>
            </a:r>
            <a:r>
              <a:rPr lang="en-US" altLang="zh-CN" dirty="0" err="1">
                <a:solidFill>
                  <a:srgbClr val="549E39"/>
                </a:solidFill>
              </a:rPr>
              <a:t>BBox</a:t>
            </a:r>
            <a:r>
              <a:rPr lang="en-US" altLang="zh-CN" dirty="0">
                <a:solidFill>
                  <a:srgbClr val="549E39"/>
                </a:solidFill>
              </a:rPr>
              <a:t> </a:t>
            </a:r>
            <a:r>
              <a:rPr lang="en-US" altLang="zh-CN" dirty="0" err="1">
                <a:solidFill>
                  <a:srgbClr val="549E39"/>
                </a:solidFill>
              </a:rPr>
              <a:t>leftRegion</a:t>
            </a:r>
            <a:r>
              <a:rPr lang="en-US" altLang="zh-CN" dirty="0">
                <a:solidFill>
                  <a:srgbClr val="549E39"/>
                </a:solidFill>
              </a:rPr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current_entext</a:t>
            </a:r>
            <a:r>
              <a:rPr lang="en-US" altLang="zh-CN" dirty="0">
                <a:solidFill>
                  <a:srgbClr val="549E39"/>
                </a:solidFill>
              </a:rPr>
              <a:t>);</a:t>
            </a:r>
          </a:p>
          <a:p>
            <a:r>
              <a:rPr lang="zh-CN" altLang="en-US" dirty="0">
                <a:solidFill>
                  <a:srgbClr val="549E39"/>
                </a:solidFill>
              </a:rPr>
              <a:t>         </a:t>
            </a:r>
            <a:r>
              <a:rPr lang="en-US" altLang="zh-CN" dirty="0">
                <a:solidFill>
                  <a:srgbClr val="549E39"/>
                </a:solidFill>
              </a:rPr>
              <a:t>//</a:t>
            </a:r>
            <a:r>
              <a:rPr lang="zh-CN" altLang="en-US" dirty="0">
                <a:solidFill>
                  <a:srgbClr val="549E39"/>
                </a:solidFill>
              </a:rPr>
              <a:t>继承父节点的</a:t>
            </a:r>
            <a:r>
              <a:rPr lang="en-US" altLang="zh-CN" dirty="0">
                <a:solidFill>
                  <a:srgbClr val="549E39"/>
                </a:solidFill>
              </a:rPr>
              <a:t>region</a:t>
            </a:r>
          </a:p>
          <a:p>
            <a:r>
              <a:rPr lang="en-US" altLang="zh-CN" dirty="0"/>
              <a:t>	switch (</a:t>
            </a:r>
            <a:r>
              <a:rPr lang="en-US" altLang="zh-CN" dirty="0">
                <a:solidFill>
                  <a:srgbClr val="C00000"/>
                </a:solidFill>
              </a:rPr>
              <a:t>dimension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	case X:</a:t>
            </a:r>
          </a:p>
          <a:p>
            <a:r>
              <a:rPr lang="en-US" altLang="zh-CN" dirty="0">
                <a:solidFill>
                  <a:srgbClr val="549E39"/>
                </a:solidFill>
              </a:rPr>
              <a:t>		</a:t>
            </a:r>
            <a:r>
              <a:rPr lang="en-US" altLang="zh-CN" dirty="0" err="1">
                <a:solidFill>
                  <a:srgbClr val="549E39"/>
                </a:solidFill>
              </a:rPr>
              <a:t>leftRegion.xmax</a:t>
            </a:r>
            <a:r>
              <a:rPr lang="en-US" altLang="zh-CN" dirty="0">
                <a:solidFill>
                  <a:srgbClr val="549E39"/>
                </a:solidFill>
              </a:rPr>
              <a:t> = pivot;</a:t>
            </a:r>
          </a:p>
          <a:p>
            <a:r>
              <a:rPr lang="zh-CN" altLang="en-US" dirty="0">
                <a:solidFill>
                  <a:srgbClr val="549E39"/>
                </a:solidFill>
              </a:rPr>
              <a:t>                 </a:t>
            </a:r>
            <a:r>
              <a:rPr lang="en-US" altLang="zh-CN" dirty="0">
                <a:solidFill>
                  <a:srgbClr val="549E39"/>
                </a:solidFill>
              </a:rPr>
              <a:t>//x</a:t>
            </a:r>
            <a:r>
              <a:rPr lang="zh-CN" altLang="en-US" dirty="0">
                <a:solidFill>
                  <a:srgbClr val="549E39"/>
                </a:solidFill>
              </a:rPr>
              <a:t>方向最大值设为此节点</a:t>
            </a:r>
            <a:r>
              <a:rPr lang="en-US" altLang="zh-CN" dirty="0">
                <a:solidFill>
                  <a:srgbClr val="549E39"/>
                </a:solidFill>
              </a:rPr>
              <a:t>x</a:t>
            </a:r>
            <a:r>
              <a:rPr lang="zh-CN" altLang="en-US" dirty="0">
                <a:solidFill>
                  <a:srgbClr val="549E39"/>
                </a:solidFill>
              </a:rPr>
              <a:t>值 </a:t>
            </a:r>
            <a:endParaRPr lang="en-US" altLang="zh-CN" dirty="0">
              <a:solidFill>
                <a:srgbClr val="549E39"/>
              </a:solidFill>
            </a:endParaRPr>
          </a:p>
          <a:p>
            <a:r>
              <a:rPr lang="en-US" altLang="zh-CN" dirty="0"/>
              <a:t>		break;</a:t>
            </a:r>
          </a:p>
          <a:p>
            <a:r>
              <a:rPr lang="en-US" altLang="zh-CN" dirty="0"/>
              <a:t>	case Y: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leftRegion.ymax</a:t>
            </a:r>
            <a:r>
              <a:rPr lang="en-US" altLang="zh-CN" dirty="0"/>
              <a:t> = pivot;</a:t>
            </a:r>
          </a:p>
          <a:p>
            <a:r>
              <a:rPr lang="zh-CN" altLang="en-US" dirty="0">
                <a:solidFill>
                  <a:srgbClr val="549E39"/>
                </a:solidFill>
              </a:rPr>
              <a:t>                  </a:t>
            </a:r>
            <a:r>
              <a:rPr lang="en-US" altLang="zh-CN" dirty="0">
                <a:solidFill>
                  <a:srgbClr val="549E39"/>
                </a:solidFill>
              </a:rPr>
              <a:t>//y</a:t>
            </a:r>
            <a:r>
              <a:rPr lang="zh-CN" altLang="en-US" dirty="0">
                <a:solidFill>
                  <a:srgbClr val="549E39"/>
                </a:solidFill>
              </a:rPr>
              <a:t>方向最大值设为此节点</a:t>
            </a:r>
            <a:r>
              <a:rPr lang="en-US" altLang="zh-CN" dirty="0">
                <a:solidFill>
                  <a:srgbClr val="549E39"/>
                </a:solidFill>
              </a:rPr>
              <a:t>y</a:t>
            </a:r>
            <a:r>
              <a:rPr lang="zh-CN" altLang="en-US" dirty="0">
                <a:solidFill>
                  <a:srgbClr val="549E39"/>
                </a:solidFill>
              </a:rPr>
              <a:t>值 </a:t>
            </a:r>
            <a:endParaRPr lang="en-US" altLang="zh-CN" dirty="0"/>
          </a:p>
          <a:p>
            <a:r>
              <a:rPr lang="en-US" altLang="zh-CN" dirty="0"/>
              <a:t>		break;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return </a:t>
            </a:r>
            <a:r>
              <a:rPr lang="en-US" altLang="zh-CN" dirty="0" err="1"/>
              <a:t>leftRegion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  <a:endParaRPr 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CB4FCF-5ECC-0840-AF7C-0D7DFE7DF4FD}"/>
              </a:ext>
            </a:extLst>
          </p:cNvPr>
          <p:cNvSpPr txBox="1"/>
          <p:nvPr/>
        </p:nvSpPr>
        <p:spPr>
          <a:xfrm>
            <a:off x="2018193" y="2033396"/>
            <a:ext cx="3284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549E39"/>
                </a:solidFill>
                <a:latin typeface="+mj-ea"/>
                <a:ea typeface="+mj-ea"/>
              </a:rPr>
              <a:t>某节点的左子树的</a:t>
            </a:r>
            <a:r>
              <a:rPr lang="en-US" altLang="zh-CN" dirty="0" err="1">
                <a:solidFill>
                  <a:srgbClr val="549E39"/>
                </a:solidFill>
                <a:latin typeface="+mj-ea"/>
                <a:ea typeface="+mj-ea"/>
              </a:rPr>
              <a:t>Region</a:t>
            </a:r>
            <a:r>
              <a:rPr lang="zh-CN" altLang="en-US" dirty="0">
                <a:solidFill>
                  <a:srgbClr val="549E39"/>
                </a:solidFill>
                <a:latin typeface="+mj-ea"/>
                <a:ea typeface="+mj-ea"/>
              </a:rPr>
              <a:t>范围</a:t>
            </a:r>
            <a:endParaRPr lang="en-US" dirty="0">
              <a:solidFill>
                <a:srgbClr val="549E39"/>
              </a:solidFill>
              <a:latin typeface="+mj-ea"/>
              <a:ea typeface="+mj-ea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7918646-CF3D-1B45-8F2B-37AC3EB4B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106" y="2470732"/>
            <a:ext cx="3987800" cy="41275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F1CE186-B2B9-F645-8546-59805078C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634" y="1005720"/>
            <a:ext cx="2612007" cy="142473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BD7F298-A45E-A012-AA3E-AB1953D1F72A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Region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of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node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6099A4F1-7BFD-3B90-2A98-DF0F9ADA0109}"/>
              </a:ext>
            </a:extLst>
          </p:cNvPr>
          <p:cNvSpPr/>
          <p:nvPr/>
        </p:nvSpPr>
        <p:spPr>
          <a:xfrm>
            <a:off x="238666" y="311105"/>
            <a:ext cx="58573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B4DB93-6B5B-48C0-A147-B4FD8F981BD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86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829082-0122-E568-6661-E78088BEB17E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378320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7541ECB-B71C-694C-9B4E-0D519DA14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106" y="2470732"/>
            <a:ext cx="3987800" cy="41275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E70DA23-36C5-504E-8A38-4D845D86F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634" y="1005720"/>
            <a:ext cx="2612007" cy="142473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6F681B2-0999-0040-AE35-A02F73B46FF8}"/>
              </a:ext>
            </a:extLst>
          </p:cNvPr>
          <p:cNvSpPr txBox="1"/>
          <p:nvPr/>
        </p:nvSpPr>
        <p:spPr>
          <a:xfrm>
            <a:off x="1841862" y="1469197"/>
            <a:ext cx="457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BBox</a:t>
            </a:r>
            <a:r>
              <a:rPr lang="en-US" altLang="zh-CN" dirty="0"/>
              <a:t> Node::</a:t>
            </a:r>
            <a:r>
              <a:rPr lang="en-US" altLang="zh-CN" dirty="0" err="1"/>
              <a:t>RightSubTreeEnvelope</a:t>
            </a:r>
            <a:r>
              <a:rPr lang="en-US" altLang="zh-CN" dirty="0"/>
              <a:t>(const </a:t>
            </a:r>
            <a:r>
              <a:rPr lang="en-US" altLang="zh-CN" dirty="0" err="1"/>
              <a:t>BBox</a:t>
            </a:r>
            <a:r>
              <a:rPr lang="en-US" altLang="zh-CN" dirty="0"/>
              <a:t>&amp; </a:t>
            </a:r>
            <a:r>
              <a:rPr lang="en-US" altLang="zh-CN" dirty="0" err="1"/>
              <a:t>current_entext</a:t>
            </a:r>
            <a:r>
              <a:rPr lang="en-US" altLang="zh-CN" dirty="0"/>
              <a:t>) const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BBox</a:t>
            </a:r>
            <a:r>
              <a:rPr lang="en-US" altLang="zh-CN" dirty="0"/>
              <a:t> </a:t>
            </a:r>
            <a:r>
              <a:rPr lang="en-US" altLang="zh-CN" dirty="0" err="1"/>
              <a:t>rightRegion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current_entext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switch (dimension)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case X:</a:t>
            </a:r>
          </a:p>
          <a:p>
            <a:r>
              <a:rPr lang="en-US" altLang="zh-CN" dirty="0"/>
              <a:t>		</a:t>
            </a:r>
            <a:r>
              <a:rPr lang="en-US" altLang="zh-CN" dirty="0" err="1">
                <a:solidFill>
                  <a:srgbClr val="549E39"/>
                </a:solidFill>
              </a:rPr>
              <a:t>rightRegion.xmin</a:t>
            </a:r>
            <a:r>
              <a:rPr lang="en-US" altLang="zh-CN" dirty="0">
                <a:solidFill>
                  <a:srgbClr val="549E39"/>
                </a:solidFill>
              </a:rPr>
              <a:t> = pivot;</a:t>
            </a:r>
          </a:p>
          <a:p>
            <a:r>
              <a:rPr lang="zh-CN" altLang="en-US" dirty="0">
                <a:solidFill>
                  <a:srgbClr val="549E39"/>
                </a:solidFill>
              </a:rPr>
              <a:t>                 </a:t>
            </a:r>
            <a:r>
              <a:rPr lang="en-US" altLang="zh-CN" dirty="0">
                <a:solidFill>
                  <a:srgbClr val="549E39"/>
                </a:solidFill>
              </a:rPr>
              <a:t>//</a:t>
            </a:r>
            <a:r>
              <a:rPr lang="zh-CN" altLang="en-US" dirty="0">
                <a:solidFill>
                  <a:srgbClr val="549E39"/>
                </a:solidFill>
              </a:rPr>
              <a:t>修改</a:t>
            </a:r>
            <a:r>
              <a:rPr lang="en-US" altLang="zh-CN" dirty="0">
                <a:solidFill>
                  <a:srgbClr val="549E39"/>
                </a:solidFill>
              </a:rPr>
              <a:t>x</a:t>
            </a:r>
            <a:r>
              <a:rPr lang="zh-CN" altLang="en-US" dirty="0">
                <a:solidFill>
                  <a:srgbClr val="549E39"/>
                </a:solidFill>
              </a:rPr>
              <a:t>方向最小值</a:t>
            </a:r>
            <a:endParaRPr lang="en-US" altLang="zh-CN" dirty="0">
              <a:solidFill>
                <a:srgbClr val="549E39"/>
              </a:solidFill>
            </a:endParaRPr>
          </a:p>
          <a:p>
            <a:r>
              <a:rPr lang="en-US" altLang="zh-CN" dirty="0"/>
              <a:t>		break;</a:t>
            </a:r>
          </a:p>
          <a:p>
            <a:r>
              <a:rPr lang="en-US" altLang="zh-CN" dirty="0"/>
              <a:t>	case Y:</a:t>
            </a:r>
          </a:p>
          <a:p>
            <a:r>
              <a:rPr lang="en-US" altLang="zh-CN" dirty="0"/>
              <a:t>		</a:t>
            </a:r>
            <a:r>
              <a:rPr lang="en-US" altLang="zh-CN" dirty="0" err="1">
                <a:solidFill>
                  <a:srgbClr val="549E39"/>
                </a:solidFill>
              </a:rPr>
              <a:t>rightRegion.ymin</a:t>
            </a:r>
            <a:r>
              <a:rPr lang="en-US" altLang="zh-CN" dirty="0">
                <a:solidFill>
                  <a:srgbClr val="549E39"/>
                </a:solidFill>
              </a:rPr>
              <a:t> = pivot;</a:t>
            </a:r>
          </a:p>
          <a:p>
            <a:r>
              <a:rPr lang="zh-CN" altLang="en-US" dirty="0">
                <a:solidFill>
                  <a:srgbClr val="549E39"/>
                </a:solidFill>
              </a:rPr>
              <a:t>                  </a:t>
            </a:r>
            <a:r>
              <a:rPr lang="en-US" altLang="zh-CN" dirty="0">
                <a:solidFill>
                  <a:srgbClr val="549E39"/>
                </a:solidFill>
              </a:rPr>
              <a:t>//</a:t>
            </a:r>
            <a:r>
              <a:rPr lang="zh-CN" altLang="en-US" dirty="0">
                <a:solidFill>
                  <a:srgbClr val="549E39"/>
                </a:solidFill>
              </a:rPr>
              <a:t> 修改</a:t>
            </a:r>
            <a:r>
              <a:rPr lang="en-US" altLang="zh-CN" dirty="0">
                <a:solidFill>
                  <a:srgbClr val="549E39"/>
                </a:solidFill>
              </a:rPr>
              <a:t>y</a:t>
            </a:r>
            <a:r>
              <a:rPr lang="zh-CN" altLang="en-US" dirty="0">
                <a:solidFill>
                  <a:srgbClr val="549E39"/>
                </a:solidFill>
              </a:rPr>
              <a:t>方向最小值</a:t>
            </a:r>
            <a:endParaRPr lang="en-US" altLang="zh-CN" dirty="0">
              <a:solidFill>
                <a:srgbClr val="549E39"/>
              </a:solidFill>
            </a:endParaRPr>
          </a:p>
          <a:p>
            <a:r>
              <a:rPr lang="en-US" altLang="zh-CN" dirty="0"/>
              <a:t>		break;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return </a:t>
            </a:r>
            <a:r>
              <a:rPr lang="en-US" altLang="zh-CN" dirty="0" err="1"/>
              <a:t>rightRegion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F79E4D-2015-3A5B-9737-16BB42A8B18A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Region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of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node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4193CF4-A6EB-7160-0F78-4782D1F8C309}"/>
              </a:ext>
            </a:extLst>
          </p:cNvPr>
          <p:cNvSpPr/>
          <p:nvPr/>
        </p:nvSpPr>
        <p:spPr>
          <a:xfrm>
            <a:off x="238666" y="311105"/>
            <a:ext cx="58573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D3BC3B1E-93E5-1051-C034-F39C06A1DF8C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87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482775-9E25-2339-5F4D-1B08C0DCCF28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46008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492DE9C-EAED-FD42-A47B-529C3AEAF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960" y="1815692"/>
            <a:ext cx="8890000" cy="4597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446E937-B2AB-0F44-A301-171514A2BE54}"/>
              </a:ext>
            </a:extLst>
          </p:cNvPr>
          <p:cNvSpPr txBox="1"/>
          <p:nvPr/>
        </p:nvSpPr>
        <p:spPr>
          <a:xfrm>
            <a:off x="2064333" y="1307254"/>
            <a:ext cx="81852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latin typeface="+mn-ea"/>
              </a:rPr>
              <a:t>这样无需存储</a:t>
            </a:r>
            <a:r>
              <a:rPr lang="zh-CN" altLang="en-US" sz="2000" b="1" dirty="0">
                <a:latin typeface="+mn-ea"/>
              </a:rPr>
              <a:t>，而是可以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在线遍历节点的时候，实时计算节点的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</a:rPr>
              <a:t>region</a:t>
            </a:r>
            <a:endParaRPr lang="en-US" sz="20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644BD1-6EEE-38DF-25E7-5A3BD6762BA4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Region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of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node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</a:p>
        </p:txBody>
      </p:sp>
      <p:sp>
        <p:nvSpPr>
          <p:cNvPr id="8" name="圆角矩形 8">
            <a:extLst>
              <a:ext uri="{FF2B5EF4-FFF2-40B4-BE49-F238E27FC236}">
                <a16:creationId xmlns:a16="http://schemas.microsoft.com/office/drawing/2014/main" id="{CD033A21-9208-DE9D-C59F-430D421A21E9}"/>
              </a:ext>
            </a:extLst>
          </p:cNvPr>
          <p:cNvSpPr/>
          <p:nvPr/>
        </p:nvSpPr>
        <p:spPr>
          <a:xfrm>
            <a:off x="238666" y="311105"/>
            <a:ext cx="58573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C2F6602-C71E-F417-6A3C-00102F93B9A9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88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B4D567-160F-0E9E-568A-20FE9C60BCEC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7417125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9493D8A-2EFD-2C41-B134-BE6E9EC89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165" y="613464"/>
            <a:ext cx="3330460" cy="290693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E3EE902-54D3-2243-BBFA-9DD68F5DAE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8214"/>
          <a:stretch/>
        </p:blipFill>
        <p:spPr>
          <a:xfrm>
            <a:off x="1604977" y="1582295"/>
            <a:ext cx="4515146" cy="433972"/>
          </a:xfrm>
          <a:prstGeom prst="rect">
            <a:avLst/>
          </a:prstGeom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2BAF99CF-74F0-7343-A70E-BB895F82E342}"/>
              </a:ext>
            </a:extLst>
          </p:cNvPr>
          <p:cNvGrpSpPr/>
          <p:nvPr/>
        </p:nvGrpSpPr>
        <p:grpSpPr>
          <a:xfrm>
            <a:off x="6901459" y="3388049"/>
            <a:ext cx="3472166" cy="3310670"/>
            <a:chOff x="5377459" y="3195542"/>
            <a:chExt cx="3472166" cy="3310670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783A5CEF-F7D1-7D47-89EE-313028936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77459" y="3195542"/>
              <a:ext cx="3472166" cy="3310670"/>
            </a:xfrm>
            <a:prstGeom prst="rect">
              <a:avLst/>
            </a:prstGeom>
          </p:spPr>
        </p:pic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F55CCAE8-E802-4046-A91D-A089F8B75D18}"/>
                </a:ext>
              </a:extLst>
            </p:cNvPr>
            <p:cNvSpPr/>
            <p:nvPr/>
          </p:nvSpPr>
          <p:spPr>
            <a:xfrm>
              <a:off x="5805978" y="4248516"/>
              <a:ext cx="217714" cy="22354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90A8DB54-E490-C94F-B849-8431802E78A3}"/>
                </a:ext>
              </a:extLst>
            </p:cNvPr>
            <p:cNvSpPr/>
            <p:nvPr/>
          </p:nvSpPr>
          <p:spPr>
            <a:xfrm>
              <a:off x="6132549" y="3782607"/>
              <a:ext cx="217714" cy="22354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6E92F8E7-0A60-5840-B222-34A2CF178A1D}"/>
                </a:ext>
              </a:extLst>
            </p:cNvPr>
            <p:cNvSpPr/>
            <p:nvPr/>
          </p:nvSpPr>
          <p:spPr>
            <a:xfrm>
              <a:off x="7073626" y="3350477"/>
              <a:ext cx="217714" cy="22354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FCBDC3CE-40DF-CB41-9D0F-B3FB0F4EF115}"/>
                </a:ext>
              </a:extLst>
            </p:cNvPr>
            <p:cNvSpPr/>
            <p:nvPr/>
          </p:nvSpPr>
          <p:spPr>
            <a:xfrm>
              <a:off x="7556400" y="4248516"/>
              <a:ext cx="217714" cy="22354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BE31A691-7398-B948-976B-BE4851D2CF74}"/>
                </a:ext>
              </a:extLst>
            </p:cNvPr>
            <p:cNvSpPr/>
            <p:nvPr/>
          </p:nvSpPr>
          <p:spPr>
            <a:xfrm>
              <a:off x="7251423" y="4721685"/>
              <a:ext cx="217714" cy="22354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3A254863-C357-E342-9756-A49337256A96}"/>
                </a:ext>
              </a:extLst>
            </p:cNvPr>
            <p:cNvSpPr/>
            <p:nvPr/>
          </p:nvSpPr>
          <p:spPr>
            <a:xfrm>
              <a:off x="7869909" y="3782607"/>
              <a:ext cx="217714" cy="22354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CFA0C118-A7D7-B346-BD67-7AF44040B925}"/>
                </a:ext>
              </a:extLst>
            </p:cNvPr>
            <p:cNvSpPr/>
            <p:nvPr/>
          </p:nvSpPr>
          <p:spPr>
            <a:xfrm>
              <a:off x="8163096" y="4257225"/>
              <a:ext cx="217714" cy="22354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0851D02-AC5A-A24E-9066-945C8B5C7E01}"/>
                </a:ext>
              </a:extLst>
            </p:cNvPr>
            <p:cNvSpPr/>
            <p:nvPr/>
          </p:nvSpPr>
          <p:spPr>
            <a:xfrm>
              <a:off x="5996435" y="4739103"/>
              <a:ext cx="194744" cy="223548"/>
            </a:xfrm>
            <a:prstGeom prst="rect">
              <a:avLst/>
            </a:prstGeom>
            <a:solidFill>
              <a:srgbClr val="A6A6A6">
                <a:alpha val="2470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F9F8061E-16F5-2D4B-84CE-6D28CD1664C4}"/>
                </a:ext>
              </a:extLst>
            </p:cNvPr>
            <p:cNvSpPr/>
            <p:nvPr/>
          </p:nvSpPr>
          <p:spPr>
            <a:xfrm>
              <a:off x="6918798" y="5182428"/>
              <a:ext cx="194744" cy="223548"/>
            </a:xfrm>
            <a:prstGeom prst="rect">
              <a:avLst/>
            </a:prstGeom>
            <a:solidFill>
              <a:srgbClr val="A6A6A6">
                <a:alpha val="2470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6CAE2FA-18BA-A148-9BF8-29F2A48784B2}"/>
                </a:ext>
              </a:extLst>
            </p:cNvPr>
            <p:cNvSpPr/>
            <p:nvPr/>
          </p:nvSpPr>
          <p:spPr>
            <a:xfrm>
              <a:off x="7738552" y="4721685"/>
              <a:ext cx="194744" cy="223548"/>
            </a:xfrm>
            <a:prstGeom prst="rect">
              <a:avLst/>
            </a:prstGeom>
            <a:solidFill>
              <a:srgbClr val="A6A6A6">
                <a:alpha val="2470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E1B6030-0741-AF4C-93CC-814261CF2836}"/>
                </a:ext>
              </a:extLst>
            </p:cNvPr>
            <p:cNvSpPr/>
            <p:nvPr/>
          </p:nvSpPr>
          <p:spPr>
            <a:xfrm>
              <a:off x="8034094" y="4721685"/>
              <a:ext cx="194744" cy="223548"/>
            </a:xfrm>
            <a:prstGeom prst="rect">
              <a:avLst/>
            </a:prstGeom>
            <a:solidFill>
              <a:srgbClr val="A6A6A6">
                <a:alpha val="2470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096A8B9-BC74-204E-A351-6E4009F96358}"/>
                </a:ext>
              </a:extLst>
            </p:cNvPr>
            <p:cNvSpPr/>
            <p:nvPr/>
          </p:nvSpPr>
          <p:spPr>
            <a:xfrm>
              <a:off x="8354683" y="4721685"/>
              <a:ext cx="194744" cy="223548"/>
            </a:xfrm>
            <a:prstGeom prst="rect">
              <a:avLst/>
            </a:prstGeom>
            <a:solidFill>
              <a:srgbClr val="A6A6A6">
                <a:alpha val="2470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08ADDD0B-12A0-6343-AB0A-06DF0B5941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265" b="55338"/>
          <a:stretch/>
        </p:blipFill>
        <p:spPr>
          <a:xfrm>
            <a:off x="1721480" y="2293679"/>
            <a:ext cx="4515142" cy="122975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842F7B2-D3A7-0140-99F5-23E922DE23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051" b="32365"/>
          <a:stretch/>
        </p:blipFill>
        <p:spPr>
          <a:xfrm>
            <a:off x="1672043" y="3720771"/>
            <a:ext cx="4515145" cy="83163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253D0B88-4E0B-C44A-95A9-E8A9A5A6A6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9327"/>
          <a:stretch/>
        </p:blipFill>
        <p:spPr>
          <a:xfrm>
            <a:off x="1666871" y="4790091"/>
            <a:ext cx="4515142" cy="112944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86FA001-B6F5-0452-8848-48CF2DECE0F8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Region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E23CC7F0-571B-4CD9-82A2-EA873E0E92F3}"/>
              </a:ext>
            </a:extLst>
          </p:cNvPr>
          <p:cNvSpPr/>
          <p:nvPr/>
        </p:nvSpPr>
        <p:spPr>
          <a:xfrm>
            <a:off x="238666" y="311105"/>
            <a:ext cx="58573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FB38D34-9635-0F81-E3F5-E49BCCF26091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89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41B664-2A45-3BDD-5D9D-D7C2BE78B4D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07830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6AF1AAB-77A2-D64C-B764-A489C5870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117600"/>
            <a:ext cx="8191500" cy="46228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3696C1E-78C6-3627-1ADB-9A2971629C69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Region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78CC3117-B11D-2C5F-DAD9-86F7783F64D2}"/>
              </a:ext>
            </a:extLst>
          </p:cNvPr>
          <p:cNvSpPr/>
          <p:nvPr/>
        </p:nvSpPr>
        <p:spPr>
          <a:xfrm>
            <a:off x="238666" y="311105"/>
            <a:ext cx="58573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49E0B80-91C0-D736-9ACA-BBEA39CA64C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90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73C7C1-475C-D7C2-CF97-B93D78BF01AF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0864728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6077B32-C90D-7143-B9B0-52E0CE45D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958850"/>
            <a:ext cx="8407400" cy="49403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DA6BD63-B111-881E-FC83-800AEDC52416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Region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78EC6200-1ADC-4745-BD03-CA2CD6B7F524}"/>
              </a:ext>
            </a:extLst>
          </p:cNvPr>
          <p:cNvSpPr/>
          <p:nvPr/>
        </p:nvSpPr>
        <p:spPr>
          <a:xfrm>
            <a:off x="238666" y="311105"/>
            <a:ext cx="58573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3128A58-C972-2CB0-0B99-D8183ECD3F2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91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E51B88-2AD0-68D0-1500-95585FE22696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32095034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D3CD0F5-A8ED-7740-97DC-F59291F0B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1080770"/>
            <a:ext cx="8813800" cy="49403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0DAFFC-E955-6CAD-F450-87B11C133795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Region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6FCBFA42-30EE-98DB-452F-616EF49329B0}"/>
              </a:ext>
            </a:extLst>
          </p:cNvPr>
          <p:cNvSpPr/>
          <p:nvPr/>
        </p:nvSpPr>
        <p:spPr>
          <a:xfrm>
            <a:off x="238666" y="311105"/>
            <a:ext cx="58573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C18E756-99AB-F8F5-BE1E-5DB4ACA8A493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92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31F8A4-3AD3-66A1-3DCD-E8EA9D8053F2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65954001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20C6F81-D7A0-5246-98B3-316001A8D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0" y="1331686"/>
            <a:ext cx="9093200" cy="49784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3C8C010-EA8D-15BC-6B65-E0776BD3CD4B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Region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F6CE3829-E26C-9CD8-992D-F4FA3BE7BEC4}"/>
              </a:ext>
            </a:extLst>
          </p:cNvPr>
          <p:cNvSpPr/>
          <p:nvPr/>
        </p:nvSpPr>
        <p:spPr>
          <a:xfrm>
            <a:off x="238666" y="311105"/>
            <a:ext cx="58573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6863EEE-D1D2-A2F0-D296-84FB2472840B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93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6CC27E-64D9-017B-E4DE-8C0D629FB728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93508076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0749B7C-5281-1241-8F1E-BD686B5B4B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57"/>
          <a:stretch/>
        </p:blipFill>
        <p:spPr>
          <a:xfrm>
            <a:off x="1549400" y="1106904"/>
            <a:ext cx="9093200" cy="481129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3B9CB99-9147-08AE-B38D-D93BE29F4D5A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Region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72EF819F-D7DC-A373-BD10-9B3E43627F6B}"/>
              </a:ext>
            </a:extLst>
          </p:cNvPr>
          <p:cNvSpPr/>
          <p:nvPr/>
        </p:nvSpPr>
        <p:spPr>
          <a:xfrm>
            <a:off x="238666" y="311105"/>
            <a:ext cx="58573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68BE428-3D72-1BBA-C6F6-8E737A038CDA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94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B3E46E-1BCD-8591-0D67-5C4E71581632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50739604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0AF673-3B72-1748-9D30-4A5AC4FCB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988" y="1773665"/>
            <a:ext cx="3472166" cy="331067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F52D417-A6A4-D240-871C-2EA7EEA5E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479" y="1651309"/>
            <a:ext cx="4204277" cy="3669629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0A5CDB52-15FE-3848-867A-BF0183E476A9}"/>
              </a:ext>
            </a:extLst>
          </p:cNvPr>
          <p:cNvSpPr/>
          <p:nvPr/>
        </p:nvSpPr>
        <p:spPr>
          <a:xfrm>
            <a:off x="7044507" y="2826639"/>
            <a:ext cx="217714" cy="22354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4822851-0392-3549-B55C-4C1D9D0512DB}"/>
              </a:ext>
            </a:extLst>
          </p:cNvPr>
          <p:cNvSpPr/>
          <p:nvPr/>
        </p:nvSpPr>
        <p:spPr>
          <a:xfrm>
            <a:off x="7371078" y="2360730"/>
            <a:ext cx="217714" cy="22354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8A2522B-A687-304A-B538-6A92B213BF8E}"/>
              </a:ext>
            </a:extLst>
          </p:cNvPr>
          <p:cNvSpPr/>
          <p:nvPr/>
        </p:nvSpPr>
        <p:spPr>
          <a:xfrm>
            <a:off x="8312155" y="1928600"/>
            <a:ext cx="217714" cy="22354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3458098-4FAB-A84B-BB94-CA06FE2350B4}"/>
              </a:ext>
            </a:extLst>
          </p:cNvPr>
          <p:cNvSpPr/>
          <p:nvPr/>
        </p:nvSpPr>
        <p:spPr>
          <a:xfrm>
            <a:off x="8794929" y="2826639"/>
            <a:ext cx="217714" cy="22354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CB98CC3-0899-BA49-820F-A8312C6289D2}"/>
              </a:ext>
            </a:extLst>
          </p:cNvPr>
          <p:cNvSpPr/>
          <p:nvPr/>
        </p:nvSpPr>
        <p:spPr>
          <a:xfrm>
            <a:off x="8489952" y="3299808"/>
            <a:ext cx="217714" cy="22354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CF4E007-001A-3944-8547-33B1A6DF196B}"/>
              </a:ext>
            </a:extLst>
          </p:cNvPr>
          <p:cNvSpPr/>
          <p:nvPr/>
        </p:nvSpPr>
        <p:spPr>
          <a:xfrm>
            <a:off x="9108438" y="2360730"/>
            <a:ext cx="217714" cy="22354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FC8431E-41A4-5147-A56B-584A4F1DF0E3}"/>
              </a:ext>
            </a:extLst>
          </p:cNvPr>
          <p:cNvSpPr/>
          <p:nvPr/>
        </p:nvSpPr>
        <p:spPr>
          <a:xfrm>
            <a:off x="9401625" y="2835348"/>
            <a:ext cx="217714" cy="22354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E9553C-E837-A549-8326-692FA1A3B517}"/>
              </a:ext>
            </a:extLst>
          </p:cNvPr>
          <p:cNvSpPr/>
          <p:nvPr/>
        </p:nvSpPr>
        <p:spPr>
          <a:xfrm>
            <a:off x="7234964" y="3317226"/>
            <a:ext cx="194744" cy="223548"/>
          </a:xfrm>
          <a:prstGeom prst="rect">
            <a:avLst/>
          </a:prstGeom>
          <a:solidFill>
            <a:srgbClr val="A6A6A6">
              <a:alpha val="2470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9A728E-9783-DF43-802F-15671E48073C}"/>
              </a:ext>
            </a:extLst>
          </p:cNvPr>
          <p:cNvSpPr/>
          <p:nvPr/>
        </p:nvSpPr>
        <p:spPr>
          <a:xfrm>
            <a:off x="8157327" y="3760551"/>
            <a:ext cx="194744" cy="223548"/>
          </a:xfrm>
          <a:prstGeom prst="rect">
            <a:avLst/>
          </a:prstGeom>
          <a:solidFill>
            <a:srgbClr val="A6A6A6">
              <a:alpha val="2470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F629D8-18DD-B64E-9FFD-4C89E5451826}"/>
              </a:ext>
            </a:extLst>
          </p:cNvPr>
          <p:cNvSpPr/>
          <p:nvPr/>
        </p:nvSpPr>
        <p:spPr>
          <a:xfrm>
            <a:off x="8977081" y="3299808"/>
            <a:ext cx="194744" cy="223548"/>
          </a:xfrm>
          <a:prstGeom prst="rect">
            <a:avLst/>
          </a:prstGeom>
          <a:solidFill>
            <a:srgbClr val="A6A6A6">
              <a:alpha val="2470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6E38EE-989D-C940-879F-76714C4A524D}"/>
              </a:ext>
            </a:extLst>
          </p:cNvPr>
          <p:cNvSpPr/>
          <p:nvPr/>
        </p:nvSpPr>
        <p:spPr>
          <a:xfrm>
            <a:off x="9272623" y="3299808"/>
            <a:ext cx="194744" cy="223548"/>
          </a:xfrm>
          <a:prstGeom prst="rect">
            <a:avLst/>
          </a:prstGeom>
          <a:solidFill>
            <a:srgbClr val="A6A6A6">
              <a:alpha val="2470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983D06-D924-414E-9569-B19FCC7D1186}"/>
              </a:ext>
            </a:extLst>
          </p:cNvPr>
          <p:cNvSpPr/>
          <p:nvPr/>
        </p:nvSpPr>
        <p:spPr>
          <a:xfrm>
            <a:off x="9593212" y="3299808"/>
            <a:ext cx="194744" cy="223548"/>
          </a:xfrm>
          <a:prstGeom prst="rect">
            <a:avLst/>
          </a:prstGeom>
          <a:solidFill>
            <a:srgbClr val="A6A6A6">
              <a:alpha val="2470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EB039BC-8FE8-6640-8FF1-E217AEE8391D}"/>
              </a:ext>
            </a:extLst>
          </p:cNvPr>
          <p:cNvSpPr txBox="1"/>
          <p:nvPr/>
        </p:nvSpPr>
        <p:spPr>
          <a:xfrm>
            <a:off x="1039560" y="5601470"/>
            <a:ext cx="10266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400" dirty="0">
                <a:solidFill>
                  <a:srgbClr val="000000"/>
                </a:solidFill>
              </a:rPr>
              <a:t>Range of </a:t>
            </a:r>
            <a:r>
              <a:rPr lang="en-US" altLang="zh-CN" sz="2400" dirty="0">
                <a:solidFill>
                  <a:srgbClr val="000000"/>
                </a:solidFill>
              </a:rPr>
              <a:t>#</a:t>
            </a:r>
            <a:r>
              <a:rPr lang="fr-FR" altLang="zh-CN" sz="2400" dirty="0">
                <a:solidFill>
                  <a:srgbClr val="000000"/>
                </a:solidFill>
              </a:rPr>
              <a:t> lies </a:t>
            </a:r>
            <a:r>
              <a:rPr lang="fr-FR" altLang="zh-CN" sz="2400" dirty="0" err="1">
                <a:solidFill>
                  <a:srgbClr val="000000"/>
                </a:solidFill>
              </a:rPr>
              <a:t>within</a:t>
            </a:r>
            <a:r>
              <a:rPr lang="fr-FR" altLang="zh-CN" sz="2400" dirty="0">
                <a:solidFill>
                  <a:srgbClr val="000000"/>
                </a:solidFill>
              </a:rPr>
              <a:t> the </a:t>
            </a:r>
            <a:r>
              <a:rPr lang="fr-FR" altLang="zh-CN" sz="2400" dirty="0" err="1">
                <a:solidFill>
                  <a:srgbClr val="000000"/>
                </a:solidFill>
              </a:rPr>
              <a:t>query</a:t>
            </a:r>
            <a:r>
              <a:rPr lang="fr-FR" altLang="zh-CN" sz="2400" dirty="0">
                <a:solidFill>
                  <a:srgbClr val="000000"/>
                </a:solidFill>
              </a:rPr>
              <a:t> range. The </a:t>
            </a:r>
            <a:r>
              <a:rPr lang="fr-FR" altLang="zh-CN" sz="2400" dirty="0" err="1">
                <a:solidFill>
                  <a:srgbClr val="000000"/>
                </a:solidFill>
              </a:rPr>
              <a:t>whole</a:t>
            </a:r>
            <a:r>
              <a:rPr lang="fr-FR" altLang="zh-CN" sz="2400" dirty="0">
                <a:solidFill>
                  <a:srgbClr val="000000"/>
                </a:solidFill>
              </a:rPr>
              <a:t> </a:t>
            </a:r>
            <a:r>
              <a:rPr lang="fr-FR" altLang="zh-CN" sz="2400" dirty="0" err="1">
                <a:solidFill>
                  <a:srgbClr val="000000"/>
                </a:solidFill>
              </a:rPr>
              <a:t>subtree</a:t>
            </a:r>
            <a:r>
              <a:rPr lang="fr-FR" altLang="zh-CN" sz="2400" dirty="0">
                <a:solidFill>
                  <a:srgbClr val="000000"/>
                </a:solidFill>
              </a:rPr>
              <a:t> </a:t>
            </a:r>
            <a:r>
              <a:rPr lang="fr-FR" altLang="zh-CN" sz="2400" dirty="0" err="1">
                <a:solidFill>
                  <a:srgbClr val="000000"/>
                </a:solidFill>
              </a:rPr>
              <a:t>rooted</a:t>
            </a:r>
            <a:r>
              <a:rPr lang="fr-FR" altLang="zh-CN" sz="2400" dirty="0">
                <a:solidFill>
                  <a:srgbClr val="000000"/>
                </a:solidFill>
              </a:rPr>
              <a:t> at </a:t>
            </a:r>
            <a:r>
              <a:rPr lang="en-US" altLang="zh-CN" sz="2400" dirty="0">
                <a:solidFill>
                  <a:srgbClr val="000000"/>
                </a:solidFill>
              </a:rPr>
              <a:t>#</a:t>
            </a:r>
            <a:r>
              <a:rPr lang="fr-FR" altLang="zh-CN" sz="2400" dirty="0">
                <a:solidFill>
                  <a:srgbClr val="000000"/>
                </a:solidFill>
              </a:rPr>
              <a:t> </a:t>
            </a:r>
            <a:r>
              <a:rPr lang="fr-FR" altLang="zh-CN" sz="2400" dirty="0" err="1">
                <a:solidFill>
                  <a:srgbClr val="000000"/>
                </a:solidFill>
              </a:rPr>
              <a:t>is</a:t>
            </a:r>
            <a:r>
              <a:rPr lang="fr-FR" altLang="zh-CN" sz="2400" dirty="0">
                <a:solidFill>
                  <a:srgbClr val="000000"/>
                </a:solidFill>
              </a:rPr>
              <a:t> </a:t>
            </a:r>
            <a:r>
              <a:rPr lang="fr-FR" altLang="zh-CN" sz="2400" dirty="0" err="1">
                <a:solidFill>
                  <a:srgbClr val="000000"/>
                </a:solidFill>
              </a:rPr>
              <a:t>reported</a:t>
            </a:r>
            <a:r>
              <a:rPr lang="fr-FR" altLang="zh-CN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564F83C-2723-3A81-1CEA-80D46309ED4F}"/>
              </a:ext>
            </a:extLst>
          </p:cNvPr>
          <p:cNvSpPr txBox="1"/>
          <p:nvPr/>
        </p:nvSpPr>
        <p:spPr>
          <a:xfrm>
            <a:off x="380723" y="299408"/>
            <a:ext cx="5715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Region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a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KD-Tree</a:t>
            </a:r>
          </a:p>
        </p:txBody>
      </p:sp>
      <p:sp>
        <p:nvSpPr>
          <p:cNvPr id="21" name="圆角矩形 8">
            <a:extLst>
              <a:ext uri="{FF2B5EF4-FFF2-40B4-BE49-F238E27FC236}">
                <a16:creationId xmlns:a16="http://schemas.microsoft.com/office/drawing/2014/main" id="{F2B9BFCA-5BFD-88AC-E490-11906812F94D}"/>
              </a:ext>
            </a:extLst>
          </p:cNvPr>
          <p:cNvSpPr/>
          <p:nvPr/>
        </p:nvSpPr>
        <p:spPr>
          <a:xfrm>
            <a:off x="238666" y="311105"/>
            <a:ext cx="58573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8780A7B3-86DF-DBCA-B46E-BFF69FE76DB9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95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6800CC-CFC3-906A-B2A6-7390CE53044A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49412173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68" name="Group 6">
            <a:extLst>
              <a:ext uri="{FF2B5EF4-FFF2-40B4-BE49-F238E27FC236}">
                <a16:creationId xmlns:a16="http://schemas.microsoft.com/office/drawing/2014/main" id="{B173B9BE-66CF-B14F-8CCF-3C05E55CC7DB}"/>
              </a:ext>
            </a:extLst>
          </p:cNvPr>
          <p:cNvGrpSpPr>
            <a:grpSpLocks/>
          </p:cNvGrpSpPr>
          <p:nvPr/>
        </p:nvGrpSpPr>
        <p:grpSpPr bwMode="auto">
          <a:xfrm>
            <a:off x="8038930" y="1976997"/>
            <a:ext cx="2892425" cy="3238500"/>
            <a:chOff x="6188075" y="966788"/>
            <a:chExt cx="2498725" cy="2667000"/>
          </a:xfrm>
        </p:grpSpPr>
        <p:pic>
          <p:nvPicPr>
            <p:cNvPr id="88071" name="Picture 4">
              <a:extLst>
                <a:ext uri="{FF2B5EF4-FFF2-40B4-BE49-F238E27FC236}">
                  <a16:creationId xmlns:a16="http://schemas.microsoft.com/office/drawing/2014/main" id="{B41AF892-5127-AD4C-AB9A-A2BC5CFA56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2146"/>
            <a:stretch>
              <a:fillRect/>
            </a:stretch>
          </p:blipFill>
          <p:spPr bwMode="auto">
            <a:xfrm>
              <a:off x="6188075" y="966788"/>
              <a:ext cx="2498725" cy="266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072" name="Rectangle 8">
              <a:extLst>
                <a:ext uri="{FF2B5EF4-FFF2-40B4-BE49-F238E27FC236}">
                  <a16:creationId xmlns:a16="http://schemas.microsoft.com/office/drawing/2014/main" id="{AE78BA49-2B52-0348-BB2A-8B72CDF2B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9900" y="1828800"/>
              <a:ext cx="1473200" cy="1068388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88069" name="TextBox 1">
            <a:extLst>
              <a:ext uri="{FF2B5EF4-FFF2-40B4-BE49-F238E27FC236}">
                <a16:creationId xmlns:a16="http://schemas.microsoft.com/office/drawing/2014/main" id="{80F7A96C-8926-F448-9C89-1D22D007E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6017" y="1497572"/>
            <a:ext cx="13124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latin typeface="+mn-lt"/>
                <a:ea typeface="宋体" panose="02010600030101010101" pitchFamily="2" charset="-122"/>
              </a:rPr>
              <a:t>query range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623C61D-2338-6743-80B6-039846691AA7}"/>
              </a:ext>
            </a:extLst>
          </p:cNvPr>
          <p:cNvCxnSpPr/>
          <p:nvPr/>
        </p:nvCxnSpPr>
        <p:spPr>
          <a:xfrm>
            <a:off x="9242254" y="1865873"/>
            <a:ext cx="242888" cy="1184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7C40C47-0E2D-9244-9A54-4CA5BC47F3B4}"/>
              </a:ext>
            </a:extLst>
          </p:cNvPr>
          <p:cNvSpPr txBox="1"/>
          <p:nvPr/>
        </p:nvSpPr>
        <p:spPr>
          <a:xfrm>
            <a:off x="964808" y="2497484"/>
            <a:ext cx="6893509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>
                <a:ea typeface="宋体" panose="02010600030101010101" pitchFamily="2" charset="-122"/>
              </a:rPr>
              <a:t>Need only search nodes whose region intersects query region.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</a:rPr>
              <a:t>Report all points in subtrees whose regions are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entirely contained in query range.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</a:rPr>
              <a:t>If a region is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partially contained in the query range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then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recursively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query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the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subtrees.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endParaRPr lang="en-US" altLang="zh-CN" sz="2600" dirty="0"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7CAF64-69FE-97E1-9779-C1D6B535DC7A}"/>
              </a:ext>
            </a:extLst>
          </p:cNvPr>
          <p:cNvSpPr txBox="1"/>
          <p:nvPr/>
        </p:nvSpPr>
        <p:spPr>
          <a:xfrm>
            <a:off x="380723" y="299408"/>
            <a:ext cx="4865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KD Trees – Range Search</a:t>
            </a: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B63BC279-C5C7-0B58-29CC-C476D771A83F}"/>
              </a:ext>
            </a:extLst>
          </p:cNvPr>
          <p:cNvSpPr/>
          <p:nvPr/>
        </p:nvSpPr>
        <p:spPr>
          <a:xfrm>
            <a:off x="238666" y="311105"/>
            <a:ext cx="509132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29F5D8-27F4-A547-7F26-71F22B040A4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96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797A02-501D-1C91-A6D5-0E91305EFD30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>
            <a:extLst>
              <a:ext uri="{FF2B5EF4-FFF2-40B4-BE49-F238E27FC236}">
                <a16:creationId xmlns:a16="http://schemas.microsoft.com/office/drawing/2014/main" id="{7217439B-AE20-A143-8D7A-78CA04F26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4533900"/>
            <a:ext cx="722332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All other nodes visited (i.e., gray) correspond to regions  </a:t>
            </a:r>
          </a:p>
          <a:p>
            <a:pPr eaLnBrk="1" hangingPunct="1"/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that are only partially inside the query rectangle. </a:t>
            </a:r>
          </a:p>
          <a:p>
            <a:pPr eaLnBrk="1" hangingPunct="1"/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	- Report points p</a:t>
            </a:r>
            <a:r>
              <a:rPr lang="en-US" altLang="zh-CN" sz="2400" baseline="-25000" dirty="0">
                <a:latin typeface="+mn-lt"/>
                <a:ea typeface="宋体" panose="02010600030101010101" pitchFamily="2" charset="-122"/>
              </a:rPr>
              <a:t>6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 and p</a:t>
            </a:r>
            <a:r>
              <a:rPr lang="en-US" altLang="zh-CN" sz="2400" baseline="-25000" dirty="0">
                <a:latin typeface="+mn-lt"/>
                <a:ea typeface="宋体" panose="02010600030101010101" pitchFamily="2" charset="-122"/>
              </a:rPr>
              <a:t>11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 only</a:t>
            </a:r>
          </a:p>
          <a:p>
            <a:pPr eaLnBrk="1" hangingPunct="1"/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	- Do not report points p</a:t>
            </a:r>
            <a:r>
              <a:rPr lang="en-US" altLang="zh-CN" sz="2400" baseline="-25000" dirty="0">
                <a:latin typeface="+mn-lt"/>
                <a:ea typeface="宋体" panose="02010600030101010101" pitchFamily="2" charset="-122"/>
              </a:rPr>
              <a:t>3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, p</a:t>
            </a:r>
            <a:r>
              <a:rPr lang="en-US" altLang="zh-CN" sz="2400" baseline="-25000" dirty="0">
                <a:latin typeface="+mn-lt"/>
                <a:ea typeface="宋体" panose="02010600030101010101" pitchFamily="2" charset="-122"/>
              </a:rPr>
              <a:t>12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 and p</a:t>
            </a:r>
            <a:r>
              <a:rPr lang="en-US" altLang="zh-CN" sz="2400" baseline="-25000" dirty="0">
                <a:latin typeface="+mn-lt"/>
                <a:ea typeface="宋体" panose="02010600030101010101" pitchFamily="2" charset="-122"/>
              </a:rPr>
              <a:t>13</a:t>
            </a:r>
            <a:endParaRPr lang="en-US" altLang="zh-CN" sz="2400" dirty="0"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91140" name="Picture 4">
            <a:extLst>
              <a:ext uri="{FF2B5EF4-FFF2-40B4-BE49-F238E27FC236}">
                <a16:creationId xmlns:a16="http://schemas.microsoft.com/office/drawing/2014/main" id="{064763D5-845A-5143-B1EE-B0F3BD0B9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0" y="1291908"/>
            <a:ext cx="5705475" cy="307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6E931DB-11ED-A9F8-E598-48F4BAD3E438}"/>
              </a:ext>
            </a:extLst>
          </p:cNvPr>
          <p:cNvSpPr txBox="1"/>
          <p:nvPr/>
        </p:nvSpPr>
        <p:spPr>
          <a:xfrm>
            <a:off x="380723" y="299408"/>
            <a:ext cx="4865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Example – Range Search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EE015755-688F-53C5-3C94-95DAB399A9D6}"/>
              </a:ext>
            </a:extLst>
          </p:cNvPr>
          <p:cNvSpPr/>
          <p:nvPr/>
        </p:nvSpPr>
        <p:spPr>
          <a:xfrm>
            <a:off x="238666" y="311105"/>
            <a:ext cx="509132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E1BC70B-814A-1557-9512-F501C2D696A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97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16F8E4-A37B-8F16-69AF-E2FFDECA3822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A26255-A2F2-7242-9DD5-9673FE1691E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80723" y="1256703"/>
            <a:ext cx="11515224" cy="4645025"/>
          </a:xfrm>
        </p:spPr>
        <p:txBody>
          <a:bodyPr/>
          <a:lstStyle/>
          <a:p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complexity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</a:p>
          <a:p>
            <a:r>
              <a:rPr lang="fr-FR" altLang="zh-CN" dirty="0" err="1"/>
              <a:t>Query</a:t>
            </a:r>
            <a:r>
              <a:rPr lang="fr-FR" altLang="zh-CN" dirty="0"/>
              <a:t>(</a:t>
            </a:r>
            <a:r>
              <a:rPr lang="fr-FR" altLang="zh-CN" dirty="0" err="1"/>
              <a:t>t,r</a:t>
            </a:r>
            <a:r>
              <a:rPr lang="fr-FR" altLang="zh-CN" dirty="0"/>
              <a:t>)</a:t>
            </a:r>
            <a:r>
              <a:rPr lang="zh-CN" altLang="en-US" dirty="0"/>
              <a:t> </a:t>
            </a:r>
            <a:r>
              <a:rPr lang="fr-FR" altLang="zh-CN" dirty="0" err="1"/>
              <a:t>is</a:t>
            </a:r>
            <a:r>
              <a:rPr lang="zh-CN" altLang="en-US" dirty="0"/>
              <a:t> </a:t>
            </a:r>
            <a:r>
              <a:rPr lang="fr-FR" altLang="zh-CN" dirty="0" err="1"/>
              <a:t>called</a:t>
            </a:r>
            <a:r>
              <a:rPr lang="zh-CN" altLang="en-US" dirty="0"/>
              <a:t> </a:t>
            </a:r>
            <a:r>
              <a:rPr lang="fr-FR" altLang="zh-CN" dirty="0"/>
              <a:t>if</a:t>
            </a:r>
            <a:r>
              <a:rPr lang="zh-CN" altLang="en-US" dirty="0"/>
              <a:t> </a:t>
            </a:r>
            <a:r>
              <a:rPr lang="fr-FR" altLang="zh-CN" dirty="0"/>
              <a:t>t’s</a:t>
            </a:r>
            <a:r>
              <a:rPr lang="zh-CN" altLang="en-US" dirty="0"/>
              <a:t> </a:t>
            </a:r>
            <a:r>
              <a:rPr lang="fr-FR" altLang="zh-CN" dirty="0" err="1"/>
              <a:t>parent’s</a:t>
            </a:r>
            <a:r>
              <a:rPr lang="zh-CN" altLang="en-US" dirty="0"/>
              <a:t> </a:t>
            </a:r>
            <a:r>
              <a:rPr lang="en-US" altLang="zh-CN" dirty="0"/>
              <a:t>region</a:t>
            </a:r>
            <a:r>
              <a:rPr lang="zh-CN" altLang="en-US" dirty="0"/>
              <a:t> </a:t>
            </a:r>
            <a:r>
              <a:rPr lang="fr-FR" altLang="zh-CN" dirty="0" err="1"/>
              <a:t>intersects</a:t>
            </a:r>
            <a:r>
              <a:rPr lang="fr-FR" altLang="zh-CN" dirty="0"/>
              <a:t> (but </a:t>
            </a:r>
            <a:r>
              <a:rPr lang="fr-FR" altLang="zh-CN" dirty="0" err="1"/>
              <a:t>does</a:t>
            </a:r>
            <a:r>
              <a:rPr lang="fr-FR" altLang="zh-CN" dirty="0"/>
              <a:t> not lie </a:t>
            </a:r>
            <a:r>
              <a:rPr lang="fr-FR" altLang="zh-CN" dirty="0" err="1"/>
              <a:t>inside</a:t>
            </a:r>
            <a:r>
              <a:rPr lang="fr-FR" altLang="zh-CN" dirty="0"/>
              <a:t>) r</a:t>
            </a:r>
          </a:p>
          <a:p>
            <a:endParaRPr lang="fr-FR" altLang="zh-CN" dirty="0"/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C6A6A3-C959-484B-8715-037D1156D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596825"/>
            <a:ext cx="5130800" cy="3670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9EAB86D-E1AD-BB4B-899B-4BBAACB6436D}"/>
              </a:ext>
            </a:extLst>
          </p:cNvPr>
          <p:cNvSpPr txBox="1"/>
          <p:nvPr/>
        </p:nvSpPr>
        <p:spPr>
          <a:xfrm>
            <a:off x="7450909" y="4028982"/>
            <a:ext cx="28360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Such</a:t>
            </a:r>
            <a:r>
              <a:rPr lang="zh-CN" altLang="en-US" sz="2000" dirty="0"/>
              <a:t> </a:t>
            </a:r>
            <a:r>
              <a:rPr lang="en-US" altLang="zh-CN" sz="2000" dirty="0"/>
              <a:t>region</a:t>
            </a:r>
            <a:r>
              <a:rPr lang="zh-CN" altLang="en-US" sz="2000" dirty="0"/>
              <a:t> </a:t>
            </a:r>
            <a:r>
              <a:rPr lang="en-US" altLang="zh-CN" sz="2000" dirty="0"/>
              <a:t>must</a:t>
            </a:r>
            <a:r>
              <a:rPr lang="zh-CN" altLang="en-US" sz="2000" dirty="0"/>
              <a:t> </a:t>
            </a:r>
            <a:r>
              <a:rPr lang="en-US" altLang="zh-CN" sz="2000" dirty="0"/>
              <a:t>contain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border</a:t>
            </a:r>
            <a:r>
              <a:rPr lang="zh-CN" altLang="en-US" sz="2000" dirty="0"/>
              <a:t> </a:t>
            </a:r>
            <a:r>
              <a:rPr lang="en-US" altLang="zh-CN" sz="2000" dirty="0"/>
              <a:t>edge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r</a:t>
            </a:r>
            <a:endParaRPr 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360B4D-9946-10AF-5E44-24736E256631}"/>
              </a:ext>
            </a:extLst>
          </p:cNvPr>
          <p:cNvSpPr txBox="1"/>
          <p:nvPr/>
        </p:nvSpPr>
        <p:spPr>
          <a:xfrm>
            <a:off x="380723" y="299408"/>
            <a:ext cx="3337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3600" b="1" dirty="0">
                <a:solidFill>
                  <a:schemeClr val="bg1"/>
                </a:solidFill>
              </a:rPr>
              <a:t>Query a K-d tree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939773F-3747-1D97-0782-A2F1F2ED946F}"/>
              </a:ext>
            </a:extLst>
          </p:cNvPr>
          <p:cNvSpPr/>
          <p:nvPr/>
        </p:nvSpPr>
        <p:spPr>
          <a:xfrm>
            <a:off x="238667" y="311105"/>
            <a:ext cx="3587376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D6741B02-18F3-E0D1-231B-CAE225B83FA0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98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8EABE5-3A74-4DAB-8194-1F410BEBF87F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77548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BB33D5-675E-BF4D-9442-4C9A1B89EBA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404520"/>
            <a:ext cx="11049000" cy="4351338"/>
          </a:xfrm>
        </p:spPr>
        <p:txBody>
          <a:bodyPr/>
          <a:lstStyle/>
          <a:p>
            <a:r>
              <a:rPr lang="fr-FR" altLang="zh-CN" dirty="0"/>
              <a:t>How</a:t>
            </a:r>
            <a:r>
              <a:rPr lang="zh-CN" altLang="en-US" dirty="0"/>
              <a:t> </a:t>
            </a:r>
            <a:r>
              <a:rPr lang="fr-FR" altLang="zh-CN" dirty="0" err="1"/>
              <a:t>many</a:t>
            </a:r>
            <a:r>
              <a:rPr lang="zh-CN" altLang="en-US" dirty="0"/>
              <a:t> </a:t>
            </a:r>
            <a:r>
              <a:rPr lang="fr-FR" altLang="zh-CN" dirty="0" err="1"/>
              <a:t>nodes</a:t>
            </a:r>
            <a:r>
              <a:rPr lang="zh-CN" altLang="en-US" dirty="0"/>
              <a:t> </a:t>
            </a:r>
            <a:r>
              <a:rPr lang="fr-FR" altLang="zh-CN" dirty="0"/>
              <a:t>of</a:t>
            </a:r>
            <a:r>
              <a:rPr lang="zh-CN" altLang="en-US" dirty="0"/>
              <a:t> </a:t>
            </a:r>
            <a:r>
              <a:rPr lang="fr-FR" altLang="zh-CN" dirty="0"/>
              <a:t>a</a:t>
            </a:r>
            <a:r>
              <a:rPr lang="zh-CN" altLang="en-US" dirty="0"/>
              <a:t> </a:t>
            </a:r>
            <a:r>
              <a:rPr lang="fr-FR" altLang="zh-CN" dirty="0"/>
              <a:t>k-d</a:t>
            </a:r>
            <a:r>
              <a:rPr lang="zh-CN" altLang="en-US" dirty="0"/>
              <a:t> </a:t>
            </a:r>
            <a:r>
              <a:rPr lang="fr-FR" altLang="zh-CN" dirty="0"/>
              <a:t>tree</a:t>
            </a:r>
            <a:r>
              <a:rPr lang="zh-CN" altLang="en-US" dirty="0"/>
              <a:t> </a:t>
            </a:r>
            <a:r>
              <a:rPr lang="fr-FR" altLang="zh-CN" dirty="0"/>
              <a:t>can</a:t>
            </a:r>
            <a:r>
              <a:rPr lang="zh-CN" altLang="en-US" dirty="0"/>
              <a:t> </a:t>
            </a:r>
            <a:r>
              <a:rPr lang="fr-FR" altLang="zh-CN" dirty="0"/>
              <a:t>be</a:t>
            </a:r>
            <a:r>
              <a:rPr lang="zh-CN" altLang="en-US" dirty="0"/>
              <a:t> </a:t>
            </a:r>
            <a:r>
              <a:rPr lang="fr-FR" altLang="zh-CN" dirty="0"/>
              <a:t>“stabbed”</a:t>
            </a:r>
            <a:r>
              <a:rPr lang="en-US" altLang="zh-CN" dirty="0"/>
              <a:t>(</a:t>
            </a:r>
            <a:r>
              <a:rPr lang="zh-CN" altLang="en-US" dirty="0"/>
              <a:t>刺穿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fr-FR" altLang="zh-CN" dirty="0"/>
              <a:t>by</a:t>
            </a:r>
            <a:r>
              <a:rPr lang="zh-CN" altLang="en-US" dirty="0"/>
              <a:t> </a:t>
            </a:r>
            <a:r>
              <a:rPr lang="fr-FR" altLang="zh-CN" dirty="0"/>
              <a:t>a line (i.e., the line passes through the node’s region)?</a:t>
            </a:r>
          </a:p>
          <a:p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C59736-CD87-CA41-8DCA-A973BA7B1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579" y="3126237"/>
            <a:ext cx="7566842" cy="347050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4FA14E1-A4AD-6285-F8A0-83067DCCC108}"/>
              </a:ext>
            </a:extLst>
          </p:cNvPr>
          <p:cNvSpPr txBox="1"/>
          <p:nvPr/>
        </p:nvSpPr>
        <p:spPr>
          <a:xfrm>
            <a:off x="380723" y="299408"/>
            <a:ext cx="86429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Time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complexity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of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Range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K-D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</a:t>
            </a:r>
          </a:p>
        </p:txBody>
      </p:sp>
      <p:sp>
        <p:nvSpPr>
          <p:cNvPr id="8" name="圆角矩形 8">
            <a:extLst>
              <a:ext uri="{FF2B5EF4-FFF2-40B4-BE49-F238E27FC236}">
                <a16:creationId xmlns:a16="http://schemas.microsoft.com/office/drawing/2014/main" id="{A93E89A7-9FC0-39BF-513C-93CD668497E8}"/>
              </a:ext>
            </a:extLst>
          </p:cNvPr>
          <p:cNvSpPr/>
          <p:nvPr/>
        </p:nvSpPr>
        <p:spPr>
          <a:xfrm>
            <a:off x="238666" y="311105"/>
            <a:ext cx="900158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AAD9CE7-E4A3-AF6A-71D3-DAE88BD9D68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99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03846D-0972-FEA3-58D3-A732CC58E93F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64824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BF17EC0-7E1A-8F4A-97D1-7B18B6FD7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2077244"/>
            <a:ext cx="8407400" cy="38481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ED04696-28E0-2001-DFF6-CB05AE81C847}"/>
              </a:ext>
            </a:extLst>
          </p:cNvPr>
          <p:cNvSpPr txBox="1"/>
          <p:nvPr/>
        </p:nvSpPr>
        <p:spPr>
          <a:xfrm>
            <a:off x="380723" y="299408"/>
            <a:ext cx="86429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Time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complexity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of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Range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K-D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</a:t>
            </a:r>
          </a:p>
        </p:txBody>
      </p:sp>
      <p:sp>
        <p:nvSpPr>
          <p:cNvPr id="8" name="圆角矩形 8">
            <a:extLst>
              <a:ext uri="{FF2B5EF4-FFF2-40B4-BE49-F238E27FC236}">
                <a16:creationId xmlns:a16="http://schemas.microsoft.com/office/drawing/2014/main" id="{3965D10B-42F8-10FF-0A74-ED6F020947EE}"/>
              </a:ext>
            </a:extLst>
          </p:cNvPr>
          <p:cNvSpPr/>
          <p:nvPr/>
        </p:nvSpPr>
        <p:spPr>
          <a:xfrm>
            <a:off x="238666" y="311105"/>
            <a:ext cx="900158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E72E7AD-AF73-6CEC-C7A2-6E6EE44386A9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100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C6CEE8-D2AC-630E-D4C6-97B2088AF3FD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50052421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4A757DB-1281-2B41-B684-60C8F6A05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2280603"/>
            <a:ext cx="8458200" cy="38354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92A83CF-C86E-5593-992B-0C90A73B1363}"/>
              </a:ext>
            </a:extLst>
          </p:cNvPr>
          <p:cNvSpPr txBox="1"/>
          <p:nvPr/>
        </p:nvSpPr>
        <p:spPr>
          <a:xfrm>
            <a:off x="380723" y="299408"/>
            <a:ext cx="86429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Time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complexity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of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Range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K-D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</a:t>
            </a:r>
          </a:p>
        </p:txBody>
      </p:sp>
      <p:sp>
        <p:nvSpPr>
          <p:cNvPr id="8" name="圆角矩形 8">
            <a:extLst>
              <a:ext uri="{FF2B5EF4-FFF2-40B4-BE49-F238E27FC236}">
                <a16:creationId xmlns:a16="http://schemas.microsoft.com/office/drawing/2014/main" id="{EDB09522-0678-DD42-E2A2-F0058E023DA8}"/>
              </a:ext>
            </a:extLst>
          </p:cNvPr>
          <p:cNvSpPr/>
          <p:nvPr/>
        </p:nvSpPr>
        <p:spPr>
          <a:xfrm>
            <a:off x="238666" y="311105"/>
            <a:ext cx="900158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8A128D9-D229-AFD4-34DA-5919E979C93B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101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EC69F2-E5DA-840D-49FB-B5968EFCFB76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37933270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D43E238-F170-4D4A-8071-D47D700D7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1365835"/>
            <a:ext cx="8864600" cy="50927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785A4F5-5D96-09EC-1B65-4A09B8BC921A}"/>
              </a:ext>
            </a:extLst>
          </p:cNvPr>
          <p:cNvSpPr txBox="1"/>
          <p:nvPr/>
        </p:nvSpPr>
        <p:spPr>
          <a:xfrm>
            <a:off x="380723" y="299408"/>
            <a:ext cx="86429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Time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complexity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of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Range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K-D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</a:t>
            </a:r>
          </a:p>
        </p:txBody>
      </p:sp>
      <p:sp>
        <p:nvSpPr>
          <p:cNvPr id="8" name="圆角矩形 8">
            <a:extLst>
              <a:ext uri="{FF2B5EF4-FFF2-40B4-BE49-F238E27FC236}">
                <a16:creationId xmlns:a16="http://schemas.microsoft.com/office/drawing/2014/main" id="{BD95CBC9-B474-267C-D7B0-0D56D79513CB}"/>
              </a:ext>
            </a:extLst>
          </p:cNvPr>
          <p:cNvSpPr/>
          <p:nvPr/>
        </p:nvSpPr>
        <p:spPr>
          <a:xfrm>
            <a:off x="238666" y="311105"/>
            <a:ext cx="900158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B74DE19-37E7-0489-C95E-387340BF4DE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102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6D58F3-1D17-52EE-6EE3-8B06AF8EFA32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16498781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202F65-AEE4-4B4A-B240-7A2C56F7E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264" y="1370070"/>
            <a:ext cx="8811986" cy="49081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018FADE-35A9-3A45-A35C-32C76B48E5D8}"/>
              </a:ext>
            </a:extLst>
          </p:cNvPr>
          <p:cNvSpPr txBox="1"/>
          <p:nvPr/>
        </p:nvSpPr>
        <p:spPr>
          <a:xfrm>
            <a:off x="3230882" y="5914546"/>
            <a:ext cx="54662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dirty="0"/>
              <a:t>log(n)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1A99130-33B5-924B-A305-F93340DD5475}"/>
                  </a:ext>
                </a:extLst>
              </p:cNvPr>
              <p:cNvSpPr txBox="1"/>
              <p:nvPr/>
            </p:nvSpPr>
            <p:spPr>
              <a:xfrm>
                <a:off x="5120640" y="5799064"/>
                <a:ext cx="875240" cy="392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𝑙𝑜𝑔𝑛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1A99130-33B5-924B-A305-F93340DD5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0" y="5799064"/>
                <a:ext cx="875240" cy="392480"/>
              </a:xfrm>
              <a:prstGeom prst="rect">
                <a:avLst/>
              </a:prstGeom>
              <a:blipFill>
                <a:blip r:embed="rId3"/>
                <a:stretch>
                  <a:fillRect b="-3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DEC87B5F-04CA-B3B9-C491-9F67E93AA6C5}"/>
              </a:ext>
            </a:extLst>
          </p:cNvPr>
          <p:cNvSpPr txBox="1"/>
          <p:nvPr/>
        </p:nvSpPr>
        <p:spPr>
          <a:xfrm>
            <a:off x="380723" y="299408"/>
            <a:ext cx="86429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Time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complexity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of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Range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K-D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</a:t>
            </a:r>
          </a:p>
        </p:txBody>
      </p:sp>
      <p:sp>
        <p:nvSpPr>
          <p:cNvPr id="10" name="圆角矩形 8">
            <a:extLst>
              <a:ext uri="{FF2B5EF4-FFF2-40B4-BE49-F238E27FC236}">
                <a16:creationId xmlns:a16="http://schemas.microsoft.com/office/drawing/2014/main" id="{87F157C3-E228-9593-3D58-8ACD9D345BC2}"/>
              </a:ext>
            </a:extLst>
          </p:cNvPr>
          <p:cNvSpPr/>
          <p:nvPr/>
        </p:nvSpPr>
        <p:spPr>
          <a:xfrm>
            <a:off x="238666" y="311105"/>
            <a:ext cx="900158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B73048A0-3DD4-3F62-3CA4-77E0277DC1A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103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9ADF66-C810-2F1A-725D-C151B9DE335F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376478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3AC5289-F709-5F4D-BC09-281125D013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643"/>
          <a:stretch/>
        </p:blipFill>
        <p:spPr>
          <a:xfrm>
            <a:off x="1752600" y="1892300"/>
            <a:ext cx="8915400" cy="28481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0C6C44F-FBE6-EF9D-6421-B6782393754C}"/>
              </a:ext>
            </a:extLst>
          </p:cNvPr>
          <p:cNvSpPr txBox="1"/>
          <p:nvPr/>
        </p:nvSpPr>
        <p:spPr>
          <a:xfrm>
            <a:off x="380723" y="299408"/>
            <a:ext cx="86429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Time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complexity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of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Range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K-D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894B7E63-CE3E-B9B6-8396-B3BCA1B178D6}"/>
              </a:ext>
            </a:extLst>
          </p:cNvPr>
          <p:cNvSpPr/>
          <p:nvPr/>
        </p:nvSpPr>
        <p:spPr>
          <a:xfrm>
            <a:off x="238666" y="311105"/>
            <a:ext cx="900158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5CC6468-A6EE-EFE6-7D43-016ADC9E819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104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58510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6C0680D-E495-5C4E-AE74-D37B5FEC1F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50"/>
          <a:stretch/>
        </p:blipFill>
        <p:spPr>
          <a:xfrm>
            <a:off x="2152650" y="1812655"/>
            <a:ext cx="4102100" cy="32144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F8F4B45-F4D9-E145-A505-26A2F367C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43652"/>
            <a:ext cx="3353652" cy="25683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0F8EBC4-60B6-8A48-8701-AED1DE6B4353}"/>
              </a:ext>
            </a:extLst>
          </p:cNvPr>
          <p:cNvSpPr txBox="1"/>
          <p:nvPr/>
        </p:nvSpPr>
        <p:spPr>
          <a:xfrm>
            <a:off x="6164036" y="1734011"/>
            <a:ext cx="3875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Suppose</a:t>
            </a:r>
            <a:r>
              <a:rPr lang="zh-CN" altLang="en-US" sz="2400" dirty="0"/>
              <a:t> </a:t>
            </a:r>
            <a:r>
              <a:rPr lang="en-US" altLang="zh-CN" sz="2400" dirty="0"/>
              <a:t>there</a:t>
            </a:r>
            <a:r>
              <a:rPr lang="zh-CN" altLang="en-US" sz="2400" dirty="0"/>
              <a:t> </a:t>
            </a:r>
            <a:r>
              <a:rPr lang="en-US" altLang="zh-CN" sz="2400" dirty="0"/>
              <a:t>are</a:t>
            </a:r>
            <a:r>
              <a:rPr lang="zh-CN" altLang="en-US" sz="2400" dirty="0"/>
              <a:t> </a:t>
            </a:r>
            <a:r>
              <a:rPr lang="en-US" altLang="zh-CN" sz="2400" dirty="0"/>
              <a:t>k</a:t>
            </a:r>
            <a:r>
              <a:rPr lang="zh-CN" altLang="en-US" sz="2400" dirty="0"/>
              <a:t> </a:t>
            </a:r>
            <a:r>
              <a:rPr lang="en-US" altLang="zh-CN" sz="2400" dirty="0"/>
              <a:t>nodes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range</a:t>
            </a:r>
            <a:endParaRPr 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3C7312-8B41-038F-FC4A-82658DEC087C}"/>
              </a:ext>
            </a:extLst>
          </p:cNvPr>
          <p:cNvSpPr txBox="1"/>
          <p:nvPr/>
        </p:nvSpPr>
        <p:spPr>
          <a:xfrm>
            <a:off x="380723" y="299408"/>
            <a:ext cx="86429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Time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complexity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of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Range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Search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K-D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Tree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A130AF3-E6F0-874C-589A-D88885F3A884}"/>
              </a:ext>
            </a:extLst>
          </p:cNvPr>
          <p:cNvSpPr/>
          <p:nvPr/>
        </p:nvSpPr>
        <p:spPr>
          <a:xfrm>
            <a:off x="238666" y="311105"/>
            <a:ext cx="900158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AA896630-5A49-EDE5-2ACA-36EDC1A3085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105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82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1">
            <a:extLst>
              <a:ext uri="{FF2B5EF4-FFF2-40B4-BE49-F238E27FC236}">
                <a16:creationId xmlns:a16="http://schemas.microsoft.com/office/drawing/2014/main" id="{98486D5E-0C58-414B-9CFF-D7EEAC702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837" y="1586628"/>
            <a:ext cx="7928225" cy="1255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n-lt"/>
                <a:ea typeface="宋体" panose="02010600030101010101" pitchFamily="2" charset="-122"/>
              </a:rPr>
              <a:t>Construction</a:t>
            </a:r>
            <a:r>
              <a:rPr lang="en-US" altLang="zh-CN" sz="2800" dirty="0">
                <a:latin typeface="+mn-lt"/>
                <a:ea typeface="宋体" panose="02010600030101010101" pitchFamily="2" charset="-122"/>
                <a:sym typeface="Wingdings" pitchFamily="2" charset="2"/>
              </a:rPr>
              <a:t> </a:t>
            </a:r>
            <a:r>
              <a:rPr lang="en-US" altLang="zh-CN" sz="2800" dirty="0">
                <a:solidFill>
                  <a:srgbClr val="549E39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O(</a:t>
            </a:r>
            <a:r>
              <a:rPr lang="en-US" altLang="zh-CN" sz="2800" i="1" dirty="0" err="1">
                <a:solidFill>
                  <a:srgbClr val="549E39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dnlogn</a:t>
            </a:r>
            <a:r>
              <a:rPr lang="en-US" altLang="zh-CN" sz="2800" dirty="0">
                <a:solidFill>
                  <a:srgbClr val="549E39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)</a:t>
            </a:r>
            <a:endParaRPr lang="en-US" altLang="zh-CN" sz="2800" dirty="0">
              <a:solidFill>
                <a:srgbClr val="549E39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n-lt"/>
                <a:ea typeface="宋体" panose="02010600030101010101" pitchFamily="2" charset="-122"/>
              </a:rPr>
              <a:t>Sort points in each dimension: </a:t>
            </a:r>
            <a:r>
              <a:rPr lang="en-US" altLang="zh-CN" sz="2800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O(</a:t>
            </a:r>
            <a:r>
              <a:rPr lang="en-US" altLang="zh-CN" sz="2800" i="1" dirty="0" err="1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dnlogn</a:t>
            </a:r>
            <a:r>
              <a:rPr lang="en-US" altLang="zh-CN" sz="2800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800" dirty="0"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n-lt"/>
                <a:ea typeface="宋体" panose="02010600030101010101" pitchFamily="2" charset="-122"/>
              </a:rPr>
              <a:t>Determine splitting line (median finding): </a:t>
            </a:r>
            <a:r>
              <a:rPr lang="en-US" altLang="zh-CN" sz="2800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O(</a:t>
            </a:r>
            <a:r>
              <a:rPr lang="en-US" altLang="zh-CN" sz="2800" i="1" dirty="0" err="1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dn</a:t>
            </a:r>
            <a:r>
              <a:rPr lang="en-US" altLang="zh-CN" sz="2800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2164" name="Rectangle 1">
            <a:extLst>
              <a:ext uri="{FF2B5EF4-FFF2-40B4-BE49-F238E27FC236}">
                <a16:creationId xmlns:a16="http://schemas.microsoft.com/office/drawing/2014/main" id="{58C79B07-5502-C74F-820C-6A47DA844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837" y="3153536"/>
            <a:ext cx="7928225" cy="2806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n-lt"/>
                <a:ea typeface="宋体" panose="02010600030101010101" pitchFamily="2" charset="-122"/>
              </a:rPr>
              <a:t>Space requirements: 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n-lt"/>
                <a:ea typeface="宋体" panose="02010600030101010101" pitchFamily="2" charset="-122"/>
              </a:rPr>
              <a:t>KD tree: </a:t>
            </a:r>
            <a:r>
              <a:rPr lang="en-US" altLang="zh-CN" sz="2800" dirty="0">
                <a:solidFill>
                  <a:srgbClr val="549E39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O(</a:t>
            </a:r>
            <a:r>
              <a:rPr lang="en-US" altLang="zh-CN" sz="2800" i="1" dirty="0">
                <a:solidFill>
                  <a:srgbClr val="549E39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549E39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549E39"/>
                </a:solidFill>
                <a:latin typeface="+mn-lt"/>
                <a:ea typeface="宋体" panose="02010600030101010101" pitchFamily="2" charset="-122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C00000"/>
                </a:solidFill>
                <a:latin typeface="+mn-lt"/>
                <a:ea typeface="宋体" panose="02010600030101010101" pitchFamily="2" charset="-122"/>
              </a:rPr>
              <a:t>Range tree</a:t>
            </a:r>
            <a:r>
              <a:rPr lang="en-US" altLang="zh-CN" sz="2800" dirty="0">
                <a:latin typeface="+mn-lt"/>
                <a:ea typeface="宋体" panose="02010600030101010101" pitchFamily="2" charset="-122"/>
              </a:rPr>
              <a:t>: </a:t>
            </a:r>
            <a:r>
              <a:rPr lang="en-US" altLang="zh-CN" sz="2800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O(</a:t>
            </a:r>
            <a:r>
              <a:rPr lang="en-US" altLang="zh-CN" sz="2800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nlog</a:t>
            </a:r>
            <a:r>
              <a:rPr lang="en-US" altLang="zh-CN" sz="2800" i="1" baseline="30000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d-1</a:t>
            </a:r>
            <a:r>
              <a:rPr lang="en-US" altLang="zh-CN" sz="2800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+mn-lt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n-lt"/>
                <a:ea typeface="宋体" panose="02010600030101010101" pitchFamily="2" charset="-122"/>
              </a:rPr>
              <a:t>Query requirements: 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n-lt"/>
                <a:ea typeface="宋体" panose="02010600030101010101" pitchFamily="2" charset="-122"/>
              </a:rPr>
              <a:t>KD tree: </a:t>
            </a:r>
            <a:r>
              <a:rPr lang="en-US" altLang="zh-CN" sz="2800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O(</a:t>
            </a:r>
            <a:r>
              <a:rPr lang="en-US" altLang="zh-CN" sz="2800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1-1/</a:t>
            </a:r>
            <a:r>
              <a:rPr lang="en-US" altLang="zh-CN" sz="2800" i="1" baseline="30000" dirty="0" err="1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i="1" dirty="0" err="1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sz="2800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C00000"/>
                </a:solidFill>
                <a:latin typeface="+mn-lt"/>
                <a:ea typeface="宋体" panose="02010600030101010101" pitchFamily="2" charset="-122"/>
              </a:rPr>
              <a:t>Range tree</a:t>
            </a:r>
            <a:r>
              <a:rPr lang="en-US" altLang="zh-CN" sz="2800" dirty="0">
                <a:latin typeface="+mn-lt"/>
                <a:ea typeface="宋体" panose="02010600030101010101" pitchFamily="2" charset="-122"/>
              </a:rPr>
              <a:t>: </a:t>
            </a:r>
            <a:r>
              <a:rPr lang="en-US" altLang="zh-CN" sz="2800" dirty="0">
                <a:solidFill>
                  <a:srgbClr val="549E39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O(</a:t>
            </a:r>
            <a:r>
              <a:rPr lang="en-US" altLang="zh-CN" sz="2800" i="1" dirty="0" err="1">
                <a:solidFill>
                  <a:srgbClr val="549E39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sz="2800" i="1" baseline="30000" dirty="0" err="1">
                <a:solidFill>
                  <a:srgbClr val="549E39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i="1" dirty="0" err="1">
                <a:solidFill>
                  <a:srgbClr val="549E39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n+k</a:t>
            </a:r>
            <a:r>
              <a:rPr lang="en-US" altLang="zh-CN" sz="2800" dirty="0">
                <a:solidFill>
                  <a:srgbClr val="549E39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922322-B6F1-3A4D-930F-D69C70BF4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4884705"/>
            <a:ext cx="28404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O(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n+k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000" dirty="0">
                <a:ea typeface="宋体" panose="02010600030101010101" pitchFamily="2" charset="-122"/>
              </a:rPr>
              <a:t>as d increases!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A41ACDA-18D2-F244-AC06-C478BB10831A}"/>
              </a:ext>
            </a:extLst>
          </p:cNvPr>
          <p:cNvCxnSpPr/>
          <p:nvPr/>
        </p:nvCxnSpPr>
        <p:spPr>
          <a:xfrm>
            <a:off x="6084888" y="5050598"/>
            <a:ext cx="1083288" cy="28575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02126F3-29FB-A303-1801-66D4CB83D087}"/>
              </a:ext>
            </a:extLst>
          </p:cNvPr>
          <p:cNvSpPr txBox="1"/>
          <p:nvPr/>
        </p:nvSpPr>
        <p:spPr>
          <a:xfrm>
            <a:off x="380723" y="299408"/>
            <a:ext cx="9088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总结：</a:t>
            </a:r>
            <a:r>
              <a:rPr lang="en-US" altLang="zh-CN" sz="3600" b="1" dirty="0">
                <a:solidFill>
                  <a:schemeClr val="bg1"/>
                </a:solidFill>
              </a:rPr>
              <a:t>KD Tree (vs Range tree)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in</a:t>
            </a:r>
            <a:r>
              <a:rPr lang="zh-CN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d-dimensions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F07AE249-3DB3-9568-582C-DE83E046BECF}"/>
              </a:ext>
            </a:extLst>
          </p:cNvPr>
          <p:cNvSpPr/>
          <p:nvPr/>
        </p:nvSpPr>
        <p:spPr>
          <a:xfrm>
            <a:off x="238666" y="311105"/>
            <a:ext cx="9398629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思源黑体 CN Regular" panose="020B0500000000000000" pitchFamily="34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88A3FB9-84B7-369E-CB1B-C074B1DCBE65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106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1782659"/>
              </p:ext>
            </p:extLst>
          </p:nvPr>
        </p:nvGraphicFramePr>
        <p:xfrm>
          <a:off x="3747135" y="1077306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图形 6" descr="3D 眼镜 纯色填充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465" y="1020203"/>
            <a:ext cx="914400" cy="9144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79071" y="123825"/>
            <a:ext cx="221179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主要内容</a:t>
            </a:r>
            <a:endParaRPr lang="en-US" sz="2800" dirty="0">
              <a:solidFill>
                <a:schemeClr val="bg1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+mn-ea"/>
            </a:endParaRPr>
          </a:p>
        </p:txBody>
      </p:sp>
      <p:sp>
        <p:nvSpPr>
          <p:cNvPr id="11" name="圆角矩形 6"/>
          <p:cNvSpPr/>
          <p:nvPr/>
        </p:nvSpPr>
        <p:spPr>
          <a:xfrm>
            <a:off x="179071" y="84455"/>
            <a:ext cx="2211792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107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Content Placeholder 2"/>
          <p:cNvSpPr>
            <a:spLocks noGrp="1"/>
          </p:cNvSpPr>
          <p:nvPr>
            <p:ph idx="1"/>
          </p:nvPr>
        </p:nvSpPr>
        <p:spPr>
          <a:xfrm>
            <a:off x="2148370" y="1456684"/>
            <a:ext cx="8229600" cy="4356100"/>
          </a:xfrm>
        </p:spPr>
        <p:txBody>
          <a:bodyPr/>
          <a:lstStyle/>
          <a:p>
            <a:pPr>
              <a:defRPr/>
            </a:pPr>
            <a:r>
              <a:rPr lang="en-US" dirty="0"/>
              <a:t>Given: a set </a:t>
            </a:r>
            <a:r>
              <a:rPr lang="en-US" i="1" dirty="0">
                <a:solidFill>
                  <a:srgbClr val="00B050"/>
                </a:solidFill>
              </a:rPr>
              <a:t>P</a:t>
            </a:r>
            <a:r>
              <a:rPr lang="en-US" dirty="0"/>
              <a:t> of </a:t>
            </a:r>
            <a:r>
              <a:rPr lang="en-US" i="1" dirty="0"/>
              <a:t>n</a:t>
            </a:r>
            <a:r>
              <a:rPr lang="en-US" dirty="0"/>
              <a:t> points in </a:t>
            </a:r>
            <a:r>
              <a:rPr lang="en-US" i="1" dirty="0"/>
              <a:t>R</a:t>
            </a:r>
            <a:r>
              <a:rPr lang="en-US" i="1" baseline="30000" dirty="0"/>
              <a:t>d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query</a:t>
            </a:r>
            <a:r>
              <a:rPr lang="zh-CN" altLang="en-US" dirty="0"/>
              <a:t> </a:t>
            </a:r>
            <a:r>
              <a:rPr lang="en-US" altLang="zh-CN" i="1" dirty="0">
                <a:solidFill>
                  <a:srgbClr val="00B050"/>
                </a:solidFill>
              </a:rPr>
              <a:t>q</a:t>
            </a:r>
            <a:endParaRPr lang="en-US" i="1" dirty="0">
              <a:solidFill>
                <a:srgbClr val="00B050"/>
              </a:solidFill>
            </a:endParaRPr>
          </a:p>
          <a:p>
            <a:pPr>
              <a:defRPr/>
            </a:pPr>
            <a:r>
              <a:rPr lang="en-US" dirty="0"/>
              <a:t>Goal: find the </a:t>
            </a:r>
            <a:r>
              <a:rPr lang="en-US" i="1" dirty="0"/>
              <a:t>nearest neighbor</a:t>
            </a:r>
            <a:r>
              <a:rPr lang="en-US" dirty="0"/>
              <a:t>  </a:t>
            </a:r>
            <a:r>
              <a:rPr lang="en-US" i="1" dirty="0">
                <a:solidFill>
                  <a:srgbClr val="C00000"/>
                </a:solidFill>
              </a:rPr>
              <a:t>p</a:t>
            </a:r>
            <a:r>
              <a:rPr lang="en-US" dirty="0"/>
              <a:t> of </a:t>
            </a:r>
            <a:r>
              <a:rPr lang="en-US" i="1" dirty="0">
                <a:solidFill>
                  <a:srgbClr val="00B050"/>
                </a:solidFill>
              </a:rPr>
              <a:t>q</a:t>
            </a:r>
            <a:r>
              <a:rPr lang="en-US" dirty="0"/>
              <a:t> in </a:t>
            </a:r>
            <a:r>
              <a:rPr lang="en-US" i="1" dirty="0">
                <a:solidFill>
                  <a:srgbClr val="00B050"/>
                </a:solidFill>
              </a:rPr>
              <a:t>P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grpSp>
        <p:nvGrpSpPr>
          <p:cNvPr id="93188" name="Group 14"/>
          <p:cNvGrpSpPr/>
          <p:nvPr/>
        </p:nvGrpSpPr>
        <p:grpSpPr bwMode="auto">
          <a:xfrm>
            <a:off x="2476500" y="3183255"/>
            <a:ext cx="3124200" cy="2438400"/>
            <a:chOff x="2209800" y="3733800"/>
            <a:chExt cx="3124200" cy="2438400"/>
          </a:xfrm>
        </p:grpSpPr>
        <p:sp>
          <p:nvSpPr>
            <p:cNvPr id="93191" name="AutoShape 4"/>
            <p:cNvSpPr>
              <a:spLocks noChangeArrowheads="1"/>
            </p:cNvSpPr>
            <p:nvPr/>
          </p:nvSpPr>
          <p:spPr bwMode="auto">
            <a:xfrm>
              <a:off x="2362200" y="4953000"/>
              <a:ext cx="152400" cy="152400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3192" name="AutoShape 6"/>
            <p:cNvSpPr>
              <a:spLocks noChangeArrowheads="1"/>
            </p:cNvSpPr>
            <p:nvPr/>
          </p:nvSpPr>
          <p:spPr bwMode="auto">
            <a:xfrm>
              <a:off x="4724400" y="4267200"/>
              <a:ext cx="152400" cy="1524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3193" name="AutoShape 7"/>
            <p:cNvSpPr>
              <a:spLocks noChangeArrowheads="1"/>
            </p:cNvSpPr>
            <p:nvPr/>
          </p:nvSpPr>
          <p:spPr bwMode="auto">
            <a:xfrm>
              <a:off x="4114800" y="4648200"/>
              <a:ext cx="152400" cy="1524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3194" name="Text Box 8"/>
            <p:cNvSpPr txBox="1">
              <a:spLocks noChangeArrowheads="1"/>
            </p:cNvSpPr>
            <p:nvPr/>
          </p:nvSpPr>
          <p:spPr bwMode="auto">
            <a:xfrm>
              <a:off x="2209800" y="5029200"/>
              <a:ext cx="30988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93195" name="Text Box 9"/>
            <p:cNvSpPr txBox="1">
              <a:spLocks noChangeArrowheads="1"/>
            </p:cNvSpPr>
            <p:nvPr/>
          </p:nvSpPr>
          <p:spPr bwMode="auto">
            <a:xfrm>
              <a:off x="4038600" y="4724400"/>
              <a:ext cx="30988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93196" name="AutoShape 10"/>
            <p:cNvSpPr>
              <a:spLocks noChangeArrowheads="1"/>
            </p:cNvSpPr>
            <p:nvPr/>
          </p:nvSpPr>
          <p:spPr bwMode="auto">
            <a:xfrm>
              <a:off x="4495800" y="3733800"/>
              <a:ext cx="152400" cy="1524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3197" name="AutoShape 11"/>
            <p:cNvSpPr>
              <a:spLocks noChangeArrowheads="1"/>
            </p:cNvSpPr>
            <p:nvPr/>
          </p:nvSpPr>
          <p:spPr bwMode="auto">
            <a:xfrm>
              <a:off x="4800600" y="5257800"/>
              <a:ext cx="152400" cy="1524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3198" name="AutoShape 12"/>
            <p:cNvSpPr>
              <a:spLocks noChangeArrowheads="1"/>
            </p:cNvSpPr>
            <p:nvPr/>
          </p:nvSpPr>
          <p:spPr bwMode="auto">
            <a:xfrm>
              <a:off x="5181600" y="5791200"/>
              <a:ext cx="152400" cy="1524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3199" name="AutoShape 13"/>
            <p:cNvSpPr>
              <a:spLocks noChangeArrowheads="1"/>
            </p:cNvSpPr>
            <p:nvPr/>
          </p:nvSpPr>
          <p:spPr bwMode="auto">
            <a:xfrm>
              <a:off x="4572000" y="6019800"/>
              <a:ext cx="152400" cy="1524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3200" name="Line 15"/>
            <p:cNvSpPr>
              <a:spLocks noChangeShapeType="1"/>
            </p:cNvSpPr>
            <p:nvPr/>
          </p:nvSpPr>
          <p:spPr bwMode="auto">
            <a:xfrm flipV="1">
              <a:off x="2514600" y="4724400"/>
              <a:ext cx="1600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3745" name="Object 17"/>
          <p:cNvGraphicFramePr>
            <a:graphicFrameLocks noChangeAspect="1"/>
          </p:cNvGraphicFramePr>
          <p:nvPr/>
        </p:nvGraphicFramePr>
        <p:xfrm>
          <a:off x="6427788" y="3754755"/>
          <a:ext cx="2992437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586400" imgH="12192000" progId="Equation.DSMT4">
                  <p:embed/>
                </p:oleObj>
              </mc:Choice>
              <mc:Fallback>
                <p:oleObj name="Equation" r:id="rId3" imgW="43586400" imgH="12192000" progId="Equation.DSMT4">
                  <p:embed/>
                  <p:pic>
                    <p:nvPicPr>
                      <p:cNvPr id="7374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3754755"/>
                        <a:ext cx="2992437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0" name="TextBox 1"/>
          <p:cNvSpPr txBox="1">
            <a:spLocks noChangeArrowheads="1"/>
          </p:cNvSpPr>
          <p:nvPr/>
        </p:nvSpPr>
        <p:spPr bwMode="auto">
          <a:xfrm>
            <a:off x="6819900" y="4832668"/>
            <a:ext cx="21005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Euclidean distance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49885" y="128270"/>
            <a:ext cx="57359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(NN) Search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10679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108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Content Placeholder 16"/>
          <p:cNvSpPr>
            <a:spLocks noGrp="1"/>
          </p:cNvSpPr>
          <p:nvPr>
            <p:ph idx="1"/>
          </p:nvPr>
        </p:nvSpPr>
        <p:spPr>
          <a:xfrm>
            <a:off x="1052830" y="1627505"/>
            <a:ext cx="10515600" cy="4351338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Naïve approach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Compute the distance from the query point to every other point in the database, keeping track of the "best so far". 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Running time is O(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).</a:t>
            </a:r>
          </a:p>
        </p:txBody>
      </p:sp>
      <p:grpSp>
        <p:nvGrpSpPr>
          <p:cNvPr id="95236" name="Group 14"/>
          <p:cNvGrpSpPr/>
          <p:nvPr/>
        </p:nvGrpSpPr>
        <p:grpSpPr bwMode="auto">
          <a:xfrm>
            <a:off x="6348730" y="3307080"/>
            <a:ext cx="3124200" cy="2438400"/>
            <a:chOff x="2209800" y="3733800"/>
            <a:chExt cx="3124200" cy="2438400"/>
          </a:xfrm>
        </p:grpSpPr>
        <p:sp>
          <p:nvSpPr>
            <p:cNvPr id="95237" name="AutoShape 4"/>
            <p:cNvSpPr>
              <a:spLocks noChangeArrowheads="1"/>
            </p:cNvSpPr>
            <p:nvPr/>
          </p:nvSpPr>
          <p:spPr bwMode="auto">
            <a:xfrm>
              <a:off x="2362200" y="4953000"/>
              <a:ext cx="152400" cy="152400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5238" name="AutoShape 6"/>
            <p:cNvSpPr>
              <a:spLocks noChangeArrowheads="1"/>
            </p:cNvSpPr>
            <p:nvPr/>
          </p:nvSpPr>
          <p:spPr bwMode="auto">
            <a:xfrm>
              <a:off x="4724400" y="4267200"/>
              <a:ext cx="152400" cy="1524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5239" name="AutoShape 7"/>
            <p:cNvSpPr>
              <a:spLocks noChangeArrowheads="1"/>
            </p:cNvSpPr>
            <p:nvPr/>
          </p:nvSpPr>
          <p:spPr bwMode="auto">
            <a:xfrm>
              <a:off x="4114800" y="4648200"/>
              <a:ext cx="152400" cy="1524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5240" name="Text Box 8"/>
            <p:cNvSpPr txBox="1">
              <a:spLocks noChangeArrowheads="1"/>
            </p:cNvSpPr>
            <p:nvPr/>
          </p:nvSpPr>
          <p:spPr bwMode="auto">
            <a:xfrm>
              <a:off x="2209800" y="5029200"/>
              <a:ext cx="30988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95241" name="Text Box 9"/>
            <p:cNvSpPr txBox="1">
              <a:spLocks noChangeArrowheads="1"/>
            </p:cNvSpPr>
            <p:nvPr/>
          </p:nvSpPr>
          <p:spPr bwMode="auto">
            <a:xfrm>
              <a:off x="4038600" y="4724400"/>
              <a:ext cx="30988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95242" name="AutoShape 10"/>
            <p:cNvSpPr>
              <a:spLocks noChangeArrowheads="1"/>
            </p:cNvSpPr>
            <p:nvPr/>
          </p:nvSpPr>
          <p:spPr bwMode="auto">
            <a:xfrm>
              <a:off x="4495800" y="3733800"/>
              <a:ext cx="152400" cy="1524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5243" name="AutoShape 11"/>
            <p:cNvSpPr>
              <a:spLocks noChangeArrowheads="1"/>
            </p:cNvSpPr>
            <p:nvPr/>
          </p:nvSpPr>
          <p:spPr bwMode="auto">
            <a:xfrm>
              <a:off x="4800600" y="5257800"/>
              <a:ext cx="152400" cy="1524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5244" name="AutoShape 12"/>
            <p:cNvSpPr>
              <a:spLocks noChangeArrowheads="1"/>
            </p:cNvSpPr>
            <p:nvPr/>
          </p:nvSpPr>
          <p:spPr bwMode="auto">
            <a:xfrm>
              <a:off x="5181600" y="5791200"/>
              <a:ext cx="152400" cy="1524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5245" name="AutoShape 13"/>
            <p:cNvSpPr>
              <a:spLocks noChangeArrowheads="1"/>
            </p:cNvSpPr>
            <p:nvPr/>
          </p:nvSpPr>
          <p:spPr bwMode="auto">
            <a:xfrm>
              <a:off x="4572000" y="6019800"/>
              <a:ext cx="152400" cy="1524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5246" name="Line 15"/>
            <p:cNvSpPr>
              <a:spLocks noChangeShapeType="1"/>
            </p:cNvSpPr>
            <p:nvPr/>
          </p:nvSpPr>
          <p:spPr bwMode="auto">
            <a:xfrm flipV="1">
              <a:off x="2514600" y="4724400"/>
              <a:ext cx="1600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49885" y="128270"/>
            <a:ext cx="57359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(NN) Search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10679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109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8"/>
          <p:cNvSpPr>
            <a:spLocks noChangeArrowheads="1"/>
          </p:cNvSpPr>
          <p:nvPr/>
        </p:nvSpPr>
        <p:spPr bwMode="auto">
          <a:xfrm>
            <a:off x="1955800" y="1414463"/>
            <a:ext cx="8267700" cy="206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(1) Subdivide the plane into a grid of M x N square cells (same size)</a:t>
            </a:r>
          </a:p>
          <a:p>
            <a:pPr eaLnBrk="1" hangingPunct="1"/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(2) Assign each point to the cell that contains it.</a:t>
            </a:r>
          </a:p>
          <a:p>
            <a:pPr eaLnBrk="1" hangingPunct="1"/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(3) Store as a 2-D (or N-D in general) array: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           “each cell contains a link to a list of points stored in that cell”</a:t>
            </a:r>
          </a:p>
        </p:txBody>
      </p:sp>
      <p:grpSp>
        <p:nvGrpSpPr>
          <p:cNvPr id="96260" name="Group 35"/>
          <p:cNvGrpSpPr/>
          <p:nvPr/>
        </p:nvGrpSpPr>
        <p:grpSpPr bwMode="auto">
          <a:xfrm>
            <a:off x="3429000" y="4191000"/>
            <a:ext cx="3482975" cy="1676400"/>
            <a:chOff x="1200" y="2928"/>
            <a:chExt cx="2194" cy="1056"/>
          </a:xfrm>
        </p:grpSpPr>
        <p:grpSp>
          <p:nvGrpSpPr>
            <p:cNvPr id="96261" name="Group 18"/>
            <p:cNvGrpSpPr/>
            <p:nvPr/>
          </p:nvGrpSpPr>
          <p:grpSpPr bwMode="auto">
            <a:xfrm>
              <a:off x="1200" y="2928"/>
              <a:ext cx="1104" cy="1056"/>
              <a:chOff x="1104" y="2832"/>
              <a:chExt cx="1104" cy="1056"/>
            </a:xfrm>
          </p:grpSpPr>
          <p:sp>
            <p:nvSpPr>
              <p:cNvPr id="96271" name="Rectangle 19"/>
              <p:cNvSpPr>
                <a:spLocks noChangeArrowheads="1"/>
              </p:cNvSpPr>
              <p:nvPr/>
            </p:nvSpPr>
            <p:spPr bwMode="auto">
              <a:xfrm>
                <a:off x="1104" y="2832"/>
                <a:ext cx="1104" cy="10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6272" name="Line 20"/>
              <p:cNvSpPr>
                <a:spLocks noChangeShapeType="1"/>
              </p:cNvSpPr>
              <p:nvPr/>
            </p:nvSpPr>
            <p:spPr bwMode="auto">
              <a:xfrm>
                <a:off x="1344" y="2832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6273" name="Line 21"/>
              <p:cNvSpPr>
                <a:spLocks noChangeShapeType="1"/>
              </p:cNvSpPr>
              <p:nvPr/>
            </p:nvSpPr>
            <p:spPr bwMode="auto">
              <a:xfrm>
                <a:off x="1584" y="2832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6274" name="Line 22"/>
              <p:cNvSpPr>
                <a:spLocks noChangeShapeType="1"/>
              </p:cNvSpPr>
              <p:nvPr/>
            </p:nvSpPr>
            <p:spPr bwMode="auto">
              <a:xfrm>
                <a:off x="1872" y="2832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6275" name="Line 23"/>
              <p:cNvSpPr>
                <a:spLocks noChangeShapeType="1"/>
              </p:cNvSpPr>
              <p:nvPr/>
            </p:nvSpPr>
            <p:spPr bwMode="auto">
              <a:xfrm>
                <a:off x="1104" y="3120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6276" name="Line 24"/>
              <p:cNvSpPr>
                <a:spLocks noChangeShapeType="1"/>
              </p:cNvSpPr>
              <p:nvPr/>
            </p:nvSpPr>
            <p:spPr bwMode="auto">
              <a:xfrm>
                <a:off x="1104" y="3360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6277" name="Line 25"/>
              <p:cNvSpPr>
                <a:spLocks noChangeShapeType="1"/>
              </p:cNvSpPr>
              <p:nvPr/>
            </p:nvSpPr>
            <p:spPr bwMode="auto">
              <a:xfrm>
                <a:off x="1104" y="3600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96262" name="Line 26"/>
            <p:cNvSpPr>
              <a:spLocks noChangeShapeType="1"/>
            </p:cNvSpPr>
            <p:nvPr/>
          </p:nvSpPr>
          <p:spPr bwMode="auto">
            <a:xfrm>
              <a:off x="1904" y="3304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266" name="Text Box 30"/>
            <p:cNvSpPr txBox="1">
              <a:spLocks noChangeArrowheads="1"/>
            </p:cNvSpPr>
            <p:nvPr/>
          </p:nvSpPr>
          <p:spPr bwMode="auto">
            <a:xfrm>
              <a:off x="3007" y="3173"/>
              <a:ext cx="3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p</a:t>
              </a:r>
              <a:r>
                <a:rPr lang="en-US" altLang="zh-CN" sz="16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,p</a:t>
              </a:r>
              <a:r>
                <a:rPr lang="en-US" altLang="zh-CN" sz="16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96267" name="Text Box 31"/>
            <p:cNvSpPr txBox="1">
              <a:spLocks noChangeArrowheads="1"/>
            </p:cNvSpPr>
            <p:nvPr/>
          </p:nvSpPr>
          <p:spPr bwMode="auto">
            <a:xfrm>
              <a:off x="1584" y="3102"/>
              <a:ext cx="2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p</a:t>
              </a:r>
              <a:r>
                <a:rPr lang="en-US" altLang="zh-CN" sz="16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6268" name="Text Box 32"/>
            <p:cNvSpPr txBox="1">
              <a:spLocks noChangeArrowheads="1"/>
            </p:cNvSpPr>
            <p:nvPr/>
          </p:nvSpPr>
          <p:spPr bwMode="auto">
            <a:xfrm>
              <a:off x="1888" y="3278"/>
              <a:ext cx="2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p</a:t>
              </a:r>
              <a:r>
                <a:rPr lang="en-US" altLang="zh-CN" sz="1600" baseline="-2500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96269" name="Oval 33"/>
            <p:cNvSpPr>
              <a:spLocks noChangeAspect="1" noChangeArrowheads="1"/>
            </p:cNvSpPr>
            <p:nvPr/>
          </p:nvSpPr>
          <p:spPr bwMode="auto">
            <a:xfrm>
              <a:off x="1840" y="3352"/>
              <a:ext cx="70" cy="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6270" name="Oval 34"/>
            <p:cNvSpPr>
              <a:spLocks noChangeAspect="1" noChangeArrowheads="1"/>
            </p:cNvSpPr>
            <p:nvPr/>
          </p:nvSpPr>
          <p:spPr bwMode="auto">
            <a:xfrm>
              <a:off x="1776" y="3240"/>
              <a:ext cx="70" cy="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49885" y="128270"/>
            <a:ext cx="57359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Array (Grid) Structure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10679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110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4"/>
          <p:cNvSpPr>
            <a:spLocks noChangeArrowheads="1"/>
          </p:cNvSpPr>
          <p:nvPr/>
        </p:nvSpPr>
        <p:spPr bwMode="auto">
          <a:xfrm>
            <a:off x="1905000" y="1119188"/>
            <a:ext cx="8343900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Algorithm</a:t>
            </a:r>
          </a:p>
          <a:p>
            <a:pPr eaLnBrk="1" hangingPunct="1"/>
            <a:endParaRPr lang="en-US" altLang="zh-CN" sz="1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  * Look up cell holding query point.</a:t>
            </a:r>
          </a:p>
          <a:p>
            <a:pPr lvl="1" eaLnBrk="1" hangingPunct="1"/>
            <a:endParaRPr lang="en-US" altLang="zh-CN" sz="1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  * First examine the cell containing the query, </a:t>
            </a: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     then the cells adjacent to the query</a:t>
            </a: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	(i.e., there could be points in adjacent </a:t>
            </a: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	cells that are closer). 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 b="1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Comments</a:t>
            </a:r>
            <a:endParaRPr kumimoji="1" lang="en-US" altLang="zh-CN" sz="2000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16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* </a:t>
            </a:r>
            <a:r>
              <a:rPr lang="zh-CN" altLang="en-US" dirty="0">
                <a:latin typeface="思源黑体 Regular" panose="020B0500000000000000" charset="-122"/>
                <a:ea typeface="思源黑体 Regular" panose="020B0500000000000000" charset="-122"/>
              </a:rPr>
              <a:t>如果点分布不均匀，则均匀网格效率低下</a:t>
            </a:r>
            <a:r>
              <a:rPr lang="zh-CN" altLang="en-US" dirty="0"/>
              <a:t>。</a:t>
            </a:r>
            <a:r>
              <a:rPr lang="en-US" altLang="zh-CN" sz="2000" dirty="0">
                <a:ea typeface="宋体" panose="02010600030101010101" pitchFamily="2" charset="-122"/>
              </a:rPr>
              <a:t>.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        </a:t>
            </a:r>
            <a:r>
              <a:rPr lang="en-US" altLang="zh-CN" dirty="0">
                <a:ea typeface="宋体" panose="02010600030101010101" pitchFamily="2" charset="-122"/>
              </a:rPr>
              <a:t>- </a:t>
            </a:r>
            <a:r>
              <a:rPr lang="en-US" altLang="zh-CN" u="sng" dirty="0">
                <a:solidFill>
                  <a:srgbClr val="00B050"/>
                </a:solidFill>
                <a:ea typeface="宋体" panose="02010600030101010101" pitchFamily="2" charset="-122"/>
              </a:rPr>
              <a:t>Too close together</a:t>
            </a:r>
            <a:r>
              <a:rPr lang="en-US" altLang="zh-CN" u="sng" dirty="0">
                <a:ea typeface="宋体" panose="02010600030101010101" pitchFamily="2" charset="-122"/>
              </a:rPr>
              <a:t>:</a:t>
            </a:r>
            <a:r>
              <a:rPr lang="en-US" altLang="zh-CN" dirty="0">
                <a:ea typeface="宋体" panose="02010600030101010101" pitchFamily="2" charset="-122"/>
              </a:rPr>
              <a:t> long lists in each grid, serial search.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           - </a:t>
            </a:r>
            <a:r>
              <a:rPr lang="en-US" altLang="zh-CN" u="sng" dirty="0">
                <a:solidFill>
                  <a:srgbClr val="00B050"/>
                </a:solidFill>
                <a:ea typeface="宋体" panose="02010600030101010101" pitchFamily="2" charset="-122"/>
              </a:rPr>
              <a:t>Too far apart</a:t>
            </a:r>
            <a:r>
              <a:rPr lang="en-US" altLang="zh-CN" u="sng" dirty="0">
                <a:ea typeface="宋体" panose="02010600030101010101" pitchFamily="2" charset="-122"/>
              </a:rPr>
              <a:t>:</a:t>
            </a:r>
            <a:r>
              <a:rPr lang="en-US" altLang="zh-CN" dirty="0">
                <a:ea typeface="宋体" panose="02010600030101010101" pitchFamily="2" charset="-122"/>
              </a:rPr>
              <a:t> search large number of neighbors.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    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* </a:t>
            </a:r>
            <a:r>
              <a:rPr lang="en-US" altLang="zh-CN" sz="2000" dirty="0">
                <a:ea typeface="宋体" panose="02010600030101010101" pitchFamily="2" charset="-122"/>
              </a:rPr>
              <a:t>Multiresolution grid can address some of these issues.</a:t>
            </a:r>
          </a:p>
        </p:txBody>
      </p:sp>
      <p:grpSp>
        <p:nvGrpSpPr>
          <p:cNvPr id="97284" name="Group 50"/>
          <p:cNvGrpSpPr/>
          <p:nvPr/>
        </p:nvGrpSpPr>
        <p:grpSpPr bwMode="auto">
          <a:xfrm>
            <a:off x="8045450" y="1533525"/>
            <a:ext cx="1766888" cy="1692275"/>
            <a:chOff x="4362" y="1163"/>
            <a:chExt cx="1113" cy="1066"/>
          </a:xfrm>
        </p:grpSpPr>
        <p:grpSp>
          <p:nvGrpSpPr>
            <p:cNvPr id="97285" name="Group 8"/>
            <p:cNvGrpSpPr/>
            <p:nvPr/>
          </p:nvGrpSpPr>
          <p:grpSpPr bwMode="auto">
            <a:xfrm>
              <a:off x="4366" y="1168"/>
              <a:ext cx="1104" cy="1056"/>
              <a:chOff x="1104" y="2832"/>
              <a:chExt cx="1104" cy="1056"/>
            </a:xfrm>
          </p:grpSpPr>
          <p:sp>
            <p:nvSpPr>
              <p:cNvPr id="97309" name="Rectangle 9"/>
              <p:cNvSpPr>
                <a:spLocks noChangeArrowheads="1"/>
              </p:cNvSpPr>
              <p:nvPr/>
            </p:nvSpPr>
            <p:spPr bwMode="auto">
              <a:xfrm>
                <a:off x="1104" y="2832"/>
                <a:ext cx="1104" cy="10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7310" name="Line 10"/>
              <p:cNvSpPr>
                <a:spLocks noChangeShapeType="1"/>
              </p:cNvSpPr>
              <p:nvPr/>
            </p:nvSpPr>
            <p:spPr bwMode="auto">
              <a:xfrm>
                <a:off x="1344" y="2832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7311" name="Line 11"/>
              <p:cNvSpPr>
                <a:spLocks noChangeShapeType="1"/>
              </p:cNvSpPr>
              <p:nvPr/>
            </p:nvSpPr>
            <p:spPr bwMode="auto">
              <a:xfrm>
                <a:off x="1584" y="2832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7312" name="Line 12"/>
              <p:cNvSpPr>
                <a:spLocks noChangeShapeType="1"/>
              </p:cNvSpPr>
              <p:nvPr/>
            </p:nvSpPr>
            <p:spPr bwMode="auto">
              <a:xfrm>
                <a:off x="1872" y="2832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7313" name="Line 13"/>
              <p:cNvSpPr>
                <a:spLocks noChangeShapeType="1"/>
              </p:cNvSpPr>
              <p:nvPr/>
            </p:nvSpPr>
            <p:spPr bwMode="auto">
              <a:xfrm>
                <a:off x="1104" y="3120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7314" name="Line 14"/>
              <p:cNvSpPr>
                <a:spLocks noChangeShapeType="1"/>
              </p:cNvSpPr>
              <p:nvPr/>
            </p:nvSpPr>
            <p:spPr bwMode="auto">
              <a:xfrm>
                <a:off x="1104" y="3360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7315" name="Line 15"/>
              <p:cNvSpPr>
                <a:spLocks noChangeShapeType="1"/>
              </p:cNvSpPr>
              <p:nvPr/>
            </p:nvSpPr>
            <p:spPr bwMode="auto">
              <a:xfrm>
                <a:off x="1104" y="3600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97286" name="Oval 23"/>
            <p:cNvSpPr>
              <a:spLocks noChangeAspect="1" noChangeArrowheads="1"/>
            </p:cNvSpPr>
            <p:nvPr/>
          </p:nvSpPr>
          <p:spPr bwMode="auto">
            <a:xfrm>
              <a:off x="5006" y="1592"/>
              <a:ext cx="70" cy="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87" name="Rectangle 25"/>
            <p:cNvSpPr>
              <a:spLocks noChangeAspect="1" noChangeArrowheads="1"/>
            </p:cNvSpPr>
            <p:nvPr/>
          </p:nvSpPr>
          <p:spPr bwMode="auto">
            <a:xfrm>
              <a:off x="4848" y="1448"/>
              <a:ext cx="285" cy="246"/>
            </a:xfrm>
            <a:prstGeom prst="rect">
              <a:avLst/>
            </a:prstGeom>
            <a:solidFill>
              <a:srgbClr val="FF99CC">
                <a:alpha val="4509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88" name="Rectangle 26"/>
            <p:cNvSpPr>
              <a:spLocks noChangeAspect="1" noChangeArrowheads="1"/>
            </p:cNvSpPr>
            <p:nvPr/>
          </p:nvSpPr>
          <p:spPr bwMode="auto">
            <a:xfrm>
              <a:off x="4606" y="1167"/>
              <a:ext cx="245" cy="286"/>
            </a:xfrm>
            <a:prstGeom prst="rect">
              <a:avLst/>
            </a:prstGeom>
            <a:solidFill>
              <a:srgbClr val="FF66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89" name="Rectangle 27"/>
            <p:cNvSpPr>
              <a:spLocks noChangeAspect="1" noChangeArrowheads="1"/>
            </p:cNvSpPr>
            <p:nvPr/>
          </p:nvSpPr>
          <p:spPr bwMode="auto">
            <a:xfrm>
              <a:off x="5133" y="1458"/>
              <a:ext cx="339" cy="231"/>
            </a:xfrm>
            <a:prstGeom prst="rect">
              <a:avLst/>
            </a:prstGeom>
            <a:solidFill>
              <a:srgbClr val="FF66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90" name="Rectangle 28"/>
            <p:cNvSpPr>
              <a:spLocks noChangeAspect="1" noChangeArrowheads="1"/>
            </p:cNvSpPr>
            <p:nvPr/>
          </p:nvSpPr>
          <p:spPr bwMode="auto">
            <a:xfrm>
              <a:off x="4606" y="1456"/>
              <a:ext cx="240" cy="245"/>
            </a:xfrm>
            <a:prstGeom prst="rect">
              <a:avLst/>
            </a:prstGeom>
            <a:solidFill>
              <a:srgbClr val="FF66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91" name="Rectangle 29"/>
            <p:cNvSpPr>
              <a:spLocks noChangeAspect="1" noChangeArrowheads="1"/>
            </p:cNvSpPr>
            <p:nvPr/>
          </p:nvSpPr>
          <p:spPr bwMode="auto">
            <a:xfrm>
              <a:off x="5123" y="1166"/>
              <a:ext cx="344" cy="291"/>
            </a:xfrm>
            <a:prstGeom prst="rect">
              <a:avLst/>
            </a:prstGeom>
            <a:solidFill>
              <a:srgbClr val="FF66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92" name="Rectangle 30"/>
            <p:cNvSpPr>
              <a:spLocks noChangeAspect="1" noChangeArrowheads="1"/>
            </p:cNvSpPr>
            <p:nvPr/>
          </p:nvSpPr>
          <p:spPr bwMode="auto">
            <a:xfrm>
              <a:off x="5134" y="1688"/>
              <a:ext cx="341" cy="253"/>
            </a:xfrm>
            <a:prstGeom prst="rect">
              <a:avLst/>
            </a:prstGeom>
            <a:solidFill>
              <a:srgbClr val="FF66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93" name="Rectangle 31"/>
            <p:cNvSpPr>
              <a:spLocks noChangeAspect="1" noChangeArrowheads="1"/>
            </p:cNvSpPr>
            <p:nvPr/>
          </p:nvSpPr>
          <p:spPr bwMode="auto">
            <a:xfrm>
              <a:off x="4598" y="1696"/>
              <a:ext cx="253" cy="245"/>
            </a:xfrm>
            <a:prstGeom prst="rect">
              <a:avLst/>
            </a:prstGeom>
            <a:solidFill>
              <a:srgbClr val="FF66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94" name="Rectangle 32"/>
            <p:cNvSpPr>
              <a:spLocks noChangeAspect="1" noChangeArrowheads="1"/>
            </p:cNvSpPr>
            <p:nvPr/>
          </p:nvSpPr>
          <p:spPr bwMode="auto">
            <a:xfrm>
              <a:off x="4846" y="1163"/>
              <a:ext cx="289" cy="287"/>
            </a:xfrm>
            <a:prstGeom prst="rect">
              <a:avLst/>
            </a:prstGeom>
            <a:solidFill>
              <a:srgbClr val="FF66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95" name="Rectangle 33"/>
            <p:cNvSpPr>
              <a:spLocks noChangeAspect="1" noChangeArrowheads="1"/>
            </p:cNvSpPr>
            <p:nvPr/>
          </p:nvSpPr>
          <p:spPr bwMode="auto">
            <a:xfrm>
              <a:off x="4846" y="1696"/>
              <a:ext cx="293" cy="237"/>
            </a:xfrm>
            <a:prstGeom prst="rect">
              <a:avLst/>
            </a:prstGeom>
            <a:solidFill>
              <a:srgbClr val="FF66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96" name="Rectangle 34"/>
            <p:cNvSpPr>
              <a:spLocks noChangeAspect="1" noChangeArrowheads="1"/>
            </p:cNvSpPr>
            <p:nvPr/>
          </p:nvSpPr>
          <p:spPr bwMode="auto">
            <a:xfrm>
              <a:off x="4366" y="1170"/>
              <a:ext cx="245" cy="283"/>
            </a:xfrm>
            <a:prstGeom prst="rect">
              <a:avLst/>
            </a:prstGeom>
            <a:solidFill>
              <a:srgbClr val="FF00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97" name="Rectangle 35"/>
            <p:cNvSpPr>
              <a:spLocks noChangeAspect="1" noChangeArrowheads="1"/>
            </p:cNvSpPr>
            <p:nvPr/>
          </p:nvSpPr>
          <p:spPr bwMode="auto">
            <a:xfrm>
              <a:off x="4362" y="1456"/>
              <a:ext cx="249" cy="244"/>
            </a:xfrm>
            <a:prstGeom prst="rect">
              <a:avLst/>
            </a:prstGeom>
            <a:solidFill>
              <a:srgbClr val="FF00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98" name="Rectangle 36"/>
            <p:cNvSpPr>
              <a:spLocks noChangeAspect="1" noChangeArrowheads="1"/>
            </p:cNvSpPr>
            <p:nvPr/>
          </p:nvSpPr>
          <p:spPr bwMode="auto">
            <a:xfrm>
              <a:off x="4366" y="1698"/>
              <a:ext cx="245" cy="235"/>
            </a:xfrm>
            <a:prstGeom prst="rect">
              <a:avLst/>
            </a:prstGeom>
            <a:solidFill>
              <a:srgbClr val="FF00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299" name="Rectangle 37"/>
            <p:cNvSpPr>
              <a:spLocks noChangeAspect="1" noChangeArrowheads="1"/>
            </p:cNvSpPr>
            <p:nvPr/>
          </p:nvSpPr>
          <p:spPr bwMode="auto">
            <a:xfrm>
              <a:off x="4363" y="1929"/>
              <a:ext cx="245" cy="292"/>
            </a:xfrm>
            <a:prstGeom prst="rect">
              <a:avLst/>
            </a:prstGeom>
            <a:solidFill>
              <a:srgbClr val="FF00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300" name="Rectangle 38"/>
            <p:cNvSpPr>
              <a:spLocks noChangeAspect="1" noChangeArrowheads="1"/>
            </p:cNvSpPr>
            <p:nvPr/>
          </p:nvSpPr>
          <p:spPr bwMode="auto">
            <a:xfrm>
              <a:off x="4606" y="1936"/>
              <a:ext cx="237" cy="293"/>
            </a:xfrm>
            <a:prstGeom prst="rect">
              <a:avLst/>
            </a:prstGeom>
            <a:solidFill>
              <a:srgbClr val="FF00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301" name="Rectangle 39"/>
            <p:cNvSpPr>
              <a:spLocks noChangeAspect="1" noChangeArrowheads="1"/>
            </p:cNvSpPr>
            <p:nvPr/>
          </p:nvSpPr>
          <p:spPr bwMode="auto">
            <a:xfrm>
              <a:off x="4845" y="1932"/>
              <a:ext cx="286" cy="289"/>
            </a:xfrm>
            <a:prstGeom prst="rect">
              <a:avLst/>
            </a:prstGeom>
            <a:solidFill>
              <a:srgbClr val="FF00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302" name="Rectangle 40"/>
            <p:cNvSpPr>
              <a:spLocks noChangeAspect="1" noChangeArrowheads="1"/>
            </p:cNvSpPr>
            <p:nvPr/>
          </p:nvSpPr>
          <p:spPr bwMode="auto">
            <a:xfrm>
              <a:off x="5134" y="1935"/>
              <a:ext cx="334" cy="286"/>
            </a:xfrm>
            <a:prstGeom prst="rect">
              <a:avLst/>
            </a:prstGeom>
            <a:solidFill>
              <a:srgbClr val="FF0000">
                <a:alpha val="3686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303" name="Text Box 42"/>
            <p:cNvSpPr txBox="1">
              <a:spLocks noChangeArrowheads="1"/>
            </p:cNvSpPr>
            <p:nvPr/>
          </p:nvSpPr>
          <p:spPr bwMode="auto">
            <a:xfrm>
              <a:off x="4962" y="1392"/>
              <a:ext cx="1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altLang="zh-CN" sz="1600" i="1"/>
                <a:t>q</a:t>
              </a:r>
            </a:p>
          </p:txBody>
        </p:sp>
        <p:sp>
          <p:nvSpPr>
            <p:cNvPr id="97304" name="Text Box 45"/>
            <p:cNvSpPr txBox="1">
              <a:spLocks noChangeArrowheads="1"/>
            </p:cNvSpPr>
            <p:nvPr/>
          </p:nvSpPr>
          <p:spPr bwMode="auto">
            <a:xfrm>
              <a:off x="5012" y="1403"/>
              <a:ext cx="195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305" name="Text Box 46"/>
            <p:cNvSpPr txBox="1">
              <a:spLocks noChangeArrowheads="1"/>
            </p:cNvSpPr>
            <p:nvPr/>
          </p:nvSpPr>
          <p:spPr bwMode="auto">
            <a:xfrm>
              <a:off x="4794" y="1254"/>
              <a:ext cx="23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altLang="zh-CN" sz="1600" i="1"/>
                <a:t>p</a:t>
              </a:r>
              <a:r>
                <a:rPr lang="es-ES" altLang="zh-CN" sz="1600" i="1" baseline="-25000"/>
                <a:t>1</a:t>
              </a:r>
              <a:endParaRPr lang="es-ES" altLang="zh-CN" sz="1600" i="1"/>
            </a:p>
          </p:txBody>
        </p:sp>
        <p:sp>
          <p:nvSpPr>
            <p:cNvPr id="97306" name="Text Box 47"/>
            <p:cNvSpPr txBox="1">
              <a:spLocks noChangeArrowheads="1"/>
            </p:cNvSpPr>
            <p:nvPr/>
          </p:nvSpPr>
          <p:spPr bwMode="auto">
            <a:xfrm>
              <a:off x="5184" y="1494"/>
              <a:ext cx="23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altLang="zh-CN" sz="1600" i="1"/>
                <a:t>p</a:t>
              </a:r>
              <a:r>
                <a:rPr lang="es-ES" altLang="zh-CN" sz="1600" i="1" baseline="-25000"/>
                <a:t>2</a:t>
              </a:r>
              <a:endParaRPr lang="es-ES" altLang="zh-CN" sz="1600" i="1"/>
            </a:p>
          </p:txBody>
        </p:sp>
        <p:sp>
          <p:nvSpPr>
            <p:cNvPr id="97307" name="Oval 48"/>
            <p:cNvSpPr>
              <a:spLocks noChangeAspect="1" noChangeArrowheads="1"/>
            </p:cNvSpPr>
            <p:nvPr/>
          </p:nvSpPr>
          <p:spPr bwMode="auto">
            <a:xfrm>
              <a:off x="5148" y="1584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97308" name="Oval 49"/>
            <p:cNvSpPr>
              <a:spLocks noChangeAspect="1" noChangeArrowheads="1"/>
            </p:cNvSpPr>
            <p:nvPr/>
          </p:nvSpPr>
          <p:spPr bwMode="auto">
            <a:xfrm>
              <a:off x="4854" y="1464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49885" y="128270"/>
            <a:ext cx="57359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FFFF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Array (Grid) Structure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10679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111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/>
          <p:cNvSpPr>
            <a:spLocks noChangeArrowheads="1"/>
          </p:cNvSpPr>
          <p:nvPr/>
        </p:nvSpPr>
        <p:spPr bwMode="auto">
          <a:xfrm>
            <a:off x="1902619" y="1457325"/>
            <a:ext cx="533241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altLang="zh-CN" sz="2000" dirty="0"/>
              <a:t>A tree in which each internal node has up to </a:t>
            </a:r>
            <a:r>
              <a:rPr lang="en-GB" altLang="zh-CN" sz="2000" dirty="0">
                <a:solidFill>
                  <a:srgbClr val="00B050"/>
                </a:solidFill>
              </a:rPr>
              <a:t>four</a:t>
            </a:r>
            <a:r>
              <a:rPr lang="en-GB" altLang="zh-CN" sz="2000" dirty="0"/>
              <a:t> children.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zh-CN" sz="1600" dirty="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altLang="zh-CN" sz="2000" dirty="0"/>
              <a:t>Every node in the quadtree corresponds to a </a:t>
            </a:r>
            <a:r>
              <a:rPr lang="en-GB" altLang="zh-CN" sz="2000" dirty="0">
                <a:solidFill>
                  <a:srgbClr val="00B050"/>
                </a:solidFill>
              </a:rPr>
              <a:t>square</a:t>
            </a:r>
            <a:r>
              <a:rPr lang="en-GB" altLang="zh-CN" sz="2000" dirty="0"/>
              <a:t>. 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GB" altLang="zh-CN" sz="1600" dirty="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altLang="zh-CN" sz="2000" dirty="0"/>
              <a:t>The children of a node </a:t>
            </a:r>
            <a:r>
              <a:rPr lang="en-GB" altLang="zh-CN" sz="2000" i="1" dirty="0"/>
              <a:t>v</a:t>
            </a:r>
            <a:r>
              <a:rPr lang="en-GB" altLang="zh-CN" sz="2000" dirty="0"/>
              <a:t> correspond to the </a:t>
            </a:r>
            <a:r>
              <a:rPr lang="en-GB" altLang="zh-CN" sz="2000" dirty="0">
                <a:solidFill>
                  <a:srgbClr val="00B050"/>
                </a:solidFill>
              </a:rPr>
              <a:t>four</a:t>
            </a:r>
            <a:r>
              <a:rPr lang="en-GB" altLang="zh-CN" sz="2000" dirty="0"/>
              <a:t> </a:t>
            </a:r>
            <a:r>
              <a:rPr lang="en-GB" altLang="zh-CN" sz="2000" dirty="0">
                <a:solidFill>
                  <a:srgbClr val="00B050"/>
                </a:solidFill>
              </a:rPr>
              <a:t>quadrants</a:t>
            </a:r>
            <a:r>
              <a:rPr lang="en-GB" altLang="zh-CN" sz="2000" dirty="0"/>
              <a:t> of the square of </a:t>
            </a:r>
            <a:r>
              <a:rPr lang="en-GB" altLang="zh-CN" sz="2000" i="1" dirty="0"/>
              <a:t>v</a:t>
            </a:r>
            <a:r>
              <a:rPr lang="en-GB" altLang="zh-CN" sz="2000" dirty="0"/>
              <a:t>.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zh-CN" sz="2000" dirty="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GB" altLang="zh-CN" sz="1600" dirty="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altLang="zh-CN" sz="2000" dirty="0"/>
              <a:t>The children of a node are labelled </a:t>
            </a:r>
            <a:r>
              <a:rPr lang="en-GB" altLang="zh-CN" sz="2000" i="1" dirty="0">
                <a:solidFill>
                  <a:srgbClr val="00B050"/>
                </a:solidFill>
              </a:rPr>
              <a:t>NE</a:t>
            </a:r>
            <a:r>
              <a:rPr lang="en-GB" altLang="zh-CN" sz="2000" dirty="0">
                <a:solidFill>
                  <a:srgbClr val="00B050"/>
                </a:solidFill>
              </a:rPr>
              <a:t>, </a:t>
            </a:r>
            <a:r>
              <a:rPr lang="en-GB" altLang="zh-CN" sz="2000" i="1" dirty="0">
                <a:solidFill>
                  <a:srgbClr val="00B050"/>
                </a:solidFill>
              </a:rPr>
              <a:t>NW</a:t>
            </a:r>
            <a:r>
              <a:rPr lang="en-GB" altLang="zh-CN" sz="2000" dirty="0">
                <a:solidFill>
                  <a:srgbClr val="00B050"/>
                </a:solidFill>
              </a:rPr>
              <a:t>, </a:t>
            </a:r>
            <a:r>
              <a:rPr lang="en-GB" altLang="zh-CN" sz="2000" i="1" dirty="0">
                <a:solidFill>
                  <a:srgbClr val="00B050"/>
                </a:solidFill>
              </a:rPr>
              <a:t>SW</a:t>
            </a:r>
            <a:r>
              <a:rPr lang="en-GB" altLang="zh-CN" sz="2000" dirty="0">
                <a:solidFill>
                  <a:srgbClr val="00B050"/>
                </a:solidFill>
              </a:rPr>
              <a:t>, and </a:t>
            </a:r>
            <a:r>
              <a:rPr lang="en-GB" altLang="zh-CN" sz="2000" i="1" dirty="0">
                <a:solidFill>
                  <a:srgbClr val="00B050"/>
                </a:solidFill>
              </a:rPr>
              <a:t>SE</a:t>
            </a:r>
            <a:r>
              <a:rPr lang="en-GB" altLang="zh-CN" sz="2000" dirty="0"/>
              <a:t> to indicate to which quadrant they correspond.</a:t>
            </a:r>
          </a:p>
          <a:p>
            <a:pPr eaLnBrk="1" hangingPunct="1">
              <a:spcBef>
                <a:spcPct val="20000"/>
              </a:spcBef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98308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013" y="1673225"/>
            <a:ext cx="155257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9" name="TextBox 1"/>
          <p:cNvSpPr txBox="1">
            <a:spLocks noChangeArrowheads="1"/>
          </p:cNvSpPr>
          <p:nvPr/>
        </p:nvSpPr>
        <p:spPr bwMode="auto">
          <a:xfrm>
            <a:off x="8596313" y="1335088"/>
            <a:ext cx="3479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98310" name="TextBox 11"/>
          <p:cNvSpPr txBox="1">
            <a:spLocks noChangeArrowheads="1"/>
          </p:cNvSpPr>
          <p:nvPr/>
        </p:nvSpPr>
        <p:spPr bwMode="auto">
          <a:xfrm>
            <a:off x="7623175" y="2284413"/>
            <a:ext cx="3987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</a:t>
            </a:r>
          </a:p>
        </p:txBody>
      </p:sp>
      <p:sp>
        <p:nvSpPr>
          <p:cNvPr id="98311" name="TextBox 12"/>
          <p:cNvSpPr txBox="1">
            <a:spLocks noChangeArrowheads="1"/>
          </p:cNvSpPr>
          <p:nvPr/>
        </p:nvSpPr>
        <p:spPr bwMode="auto">
          <a:xfrm>
            <a:off x="9464675" y="2284413"/>
            <a:ext cx="335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98312" name="TextBox 13"/>
          <p:cNvSpPr txBox="1">
            <a:spLocks noChangeArrowheads="1"/>
          </p:cNvSpPr>
          <p:nvPr/>
        </p:nvSpPr>
        <p:spPr bwMode="auto">
          <a:xfrm>
            <a:off x="8609013" y="3263900"/>
            <a:ext cx="335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</a:t>
            </a:r>
          </a:p>
        </p:txBody>
      </p:sp>
      <p:pic>
        <p:nvPicPr>
          <p:cNvPr id="98313" name="Picture 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813" y="3883025"/>
            <a:ext cx="3152775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9303610" y="1418347"/>
            <a:ext cx="441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NE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345911" y="3170784"/>
            <a:ext cx="3994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SE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720685" y="3200161"/>
            <a:ext cx="4889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SW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47111" y="1417554"/>
            <a:ext cx="5334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NW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2100" y="128270"/>
            <a:ext cx="32810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FFFF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Quadtree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344614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98650" y="1375093"/>
            <a:ext cx="4806950" cy="1676400"/>
          </a:xfrm>
          <a:noFill/>
        </p:spPr>
        <p:txBody>
          <a:bodyPr>
            <a:normAutofit fontScale="85000" lnSpcReduction="20000"/>
          </a:bodyPr>
          <a:lstStyle/>
          <a:p>
            <a:pPr>
              <a:buFontTx/>
              <a:buNone/>
            </a:pPr>
            <a:r>
              <a:rPr lang="en-GB" altLang="zh-CN" sz="2400" dirty="0"/>
              <a:t>Input: point set P</a:t>
            </a:r>
          </a:p>
          <a:p>
            <a:pPr>
              <a:buFontTx/>
              <a:buNone/>
            </a:pPr>
            <a:r>
              <a:rPr lang="en-GB" altLang="zh-CN" sz="2400" b="1" dirty="0"/>
              <a:t>     while</a:t>
            </a:r>
            <a:r>
              <a:rPr lang="en-GB" altLang="zh-CN" sz="2400" dirty="0"/>
              <a:t> Some cell C contains more than “k” points </a:t>
            </a:r>
            <a:r>
              <a:rPr lang="en-GB" altLang="zh-CN" sz="2400" b="1" dirty="0"/>
              <a:t>do</a:t>
            </a:r>
          </a:p>
          <a:p>
            <a:pPr>
              <a:buFontTx/>
              <a:buNone/>
            </a:pPr>
            <a:r>
              <a:rPr lang="en-GB" altLang="zh-CN" sz="2400" dirty="0"/>
              <a:t>               Split cell C</a:t>
            </a:r>
          </a:p>
          <a:p>
            <a:pPr>
              <a:buFontTx/>
              <a:buNone/>
            </a:pPr>
            <a:r>
              <a:rPr lang="en-GB" altLang="zh-CN" sz="2400" dirty="0"/>
              <a:t>     </a:t>
            </a:r>
            <a:r>
              <a:rPr lang="en-GB" altLang="zh-CN" sz="2400" b="1" dirty="0"/>
              <a:t>end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2644775" y="2945130"/>
            <a:ext cx="6880225" cy="3675063"/>
            <a:chOff x="706" y="1824"/>
            <a:chExt cx="4334" cy="2315"/>
          </a:xfrm>
        </p:grpSpPr>
        <p:sp>
          <p:nvSpPr>
            <p:cNvPr id="99442" name="Rectangle 5"/>
            <p:cNvSpPr>
              <a:spLocks noChangeArrowheads="1"/>
            </p:cNvSpPr>
            <p:nvPr/>
          </p:nvSpPr>
          <p:spPr bwMode="auto">
            <a:xfrm>
              <a:off x="4560" y="1824"/>
              <a:ext cx="480" cy="432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grpSp>
          <p:nvGrpSpPr>
            <p:cNvPr id="99443" name="Group 6"/>
            <p:cNvGrpSpPr/>
            <p:nvPr/>
          </p:nvGrpSpPr>
          <p:grpSpPr bwMode="auto">
            <a:xfrm>
              <a:off x="706" y="3605"/>
              <a:ext cx="494" cy="534"/>
              <a:chOff x="466" y="3264"/>
              <a:chExt cx="494" cy="534"/>
            </a:xfrm>
          </p:grpSpPr>
          <p:sp>
            <p:nvSpPr>
              <p:cNvPr id="99444" name="Rectangle 7"/>
              <p:cNvSpPr>
                <a:spLocks noChangeArrowheads="1"/>
              </p:cNvSpPr>
              <p:nvPr/>
            </p:nvSpPr>
            <p:spPr bwMode="auto">
              <a:xfrm>
                <a:off x="466" y="3264"/>
                <a:ext cx="494" cy="439"/>
              </a:xfrm>
              <a:prstGeom prst="rect">
                <a:avLst/>
              </a:prstGeom>
              <a:solidFill>
                <a:srgbClr val="FFCC66"/>
              </a:solidFill>
              <a:ln w="38100" cmpd="dbl">
                <a:solidFill>
                  <a:srgbClr val="00800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008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j  k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45" name="Line 8"/>
              <p:cNvSpPr>
                <a:spLocks noChangeShapeType="1"/>
              </p:cNvSpPr>
              <p:nvPr/>
            </p:nvSpPr>
            <p:spPr bwMode="auto">
              <a:xfrm>
                <a:off x="824" y="3613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446" name="Line 9"/>
              <p:cNvSpPr>
                <a:spLocks noChangeShapeType="1"/>
              </p:cNvSpPr>
              <p:nvPr/>
            </p:nvSpPr>
            <p:spPr bwMode="auto">
              <a:xfrm>
                <a:off x="598" y="3620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" name="Group 10"/>
          <p:cNvGrpSpPr/>
          <p:nvPr/>
        </p:nvGrpSpPr>
        <p:grpSpPr bwMode="auto">
          <a:xfrm>
            <a:off x="4508500" y="2335530"/>
            <a:ext cx="5702300" cy="4305300"/>
            <a:chOff x="1880" y="1440"/>
            <a:chExt cx="3592" cy="2712"/>
          </a:xfrm>
        </p:grpSpPr>
        <p:sp>
          <p:nvSpPr>
            <p:cNvPr id="99438" name="Rectangle 11"/>
            <p:cNvSpPr>
              <a:spLocks noChangeArrowheads="1"/>
            </p:cNvSpPr>
            <p:nvPr/>
          </p:nvSpPr>
          <p:spPr bwMode="auto">
            <a:xfrm>
              <a:off x="5040" y="1440"/>
              <a:ext cx="432" cy="384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grpSp>
          <p:nvGrpSpPr>
            <p:cNvPr id="99439" name="Group 12"/>
            <p:cNvGrpSpPr/>
            <p:nvPr/>
          </p:nvGrpSpPr>
          <p:grpSpPr bwMode="auto">
            <a:xfrm>
              <a:off x="1880" y="3605"/>
              <a:ext cx="316" cy="547"/>
              <a:chOff x="1152" y="3245"/>
              <a:chExt cx="316" cy="547"/>
            </a:xfrm>
          </p:grpSpPr>
          <p:sp>
            <p:nvSpPr>
              <p:cNvPr id="99440" name="Rectangle 13"/>
              <p:cNvSpPr>
                <a:spLocks noChangeArrowheads="1"/>
              </p:cNvSpPr>
              <p:nvPr/>
            </p:nvSpPr>
            <p:spPr bwMode="auto">
              <a:xfrm>
                <a:off x="1152" y="3245"/>
                <a:ext cx="316" cy="439"/>
              </a:xfrm>
              <a:prstGeom prst="rect">
                <a:avLst/>
              </a:prstGeom>
              <a:solidFill>
                <a:srgbClr val="00FFFF"/>
              </a:solidFill>
              <a:ln w="38100" cmpd="dbl">
                <a:solidFill>
                  <a:srgbClr val="00800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008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99441" name="Line 14"/>
              <p:cNvSpPr>
                <a:spLocks noChangeShapeType="1"/>
              </p:cNvSpPr>
              <p:nvPr/>
            </p:nvSpPr>
            <p:spPr bwMode="auto">
              <a:xfrm>
                <a:off x="1296" y="3614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" name="Group 15"/>
          <p:cNvGrpSpPr/>
          <p:nvPr/>
        </p:nvGrpSpPr>
        <p:grpSpPr bwMode="auto">
          <a:xfrm>
            <a:off x="5387975" y="2335530"/>
            <a:ext cx="4137025" cy="4284663"/>
            <a:chOff x="2434" y="1440"/>
            <a:chExt cx="2606" cy="2699"/>
          </a:xfrm>
        </p:grpSpPr>
        <p:sp>
          <p:nvSpPr>
            <p:cNvPr id="99433" name="Rectangle 16"/>
            <p:cNvSpPr>
              <a:spLocks noChangeArrowheads="1"/>
            </p:cNvSpPr>
            <p:nvPr/>
          </p:nvSpPr>
          <p:spPr bwMode="auto">
            <a:xfrm>
              <a:off x="4560" y="1440"/>
              <a:ext cx="480" cy="384"/>
            </a:xfrm>
            <a:prstGeom prst="rect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grpSp>
          <p:nvGrpSpPr>
            <p:cNvPr id="99434" name="Group 17"/>
            <p:cNvGrpSpPr/>
            <p:nvPr/>
          </p:nvGrpSpPr>
          <p:grpSpPr bwMode="auto">
            <a:xfrm>
              <a:off x="2434" y="3605"/>
              <a:ext cx="494" cy="534"/>
              <a:chOff x="1706" y="3245"/>
              <a:chExt cx="494" cy="534"/>
            </a:xfrm>
          </p:grpSpPr>
          <p:sp>
            <p:nvSpPr>
              <p:cNvPr id="99435" name="Rectangle 18"/>
              <p:cNvSpPr>
                <a:spLocks noChangeArrowheads="1"/>
              </p:cNvSpPr>
              <p:nvPr/>
            </p:nvSpPr>
            <p:spPr bwMode="auto">
              <a:xfrm>
                <a:off x="1706" y="3245"/>
                <a:ext cx="494" cy="439"/>
              </a:xfrm>
              <a:prstGeom prst="rect">
                <a:avLst/>
              </a:prstGeom>
              <a:solidFill>
                <a:srgbClr val="CC99FF"/>
              </a:solidFill>
              <a:ln w="38100" cmpd="dbl">
                <a:solidFill>
                  <a:srgbClr val="00800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008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g  l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36" name="Line 19"/>
              <p:cNvSpPr>
                <a:spLocks noChangeShapeType="1"/>
              </p:cNvSpPr>
              <p:nvPr/>
            </p:nvSpPr>
            <p:spPr bwMode="auto">
              <a:xfrm>
                <a:off x="2064" y="3594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437" name="Line 20"/>
              <p:cNvSpPr>
                <a:spLocks noChangeShapeType="1"/>
              </p:cNvSpPr>
              <p:nvPr/>
            </p:nvSpPr>
            <p:spPr bwMode="auto">
              <a:xfrm>
                <a:off x="1838" y="3601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8" name="Group 21"/>
          <p:cNvGrpSpPr/>
          <p:nvPr/>
        </p:nvGrpSpPr>
        <p:grpSpPr bwMode="auto">
          <a:xfrm>
            <a:off x="7467600" y="1725930"/>
            <a:ext cx="1371600" cy="4914900"/>
            <a:chOff x="3744" y="1056"/>
            <a:chExt cx="864" cy="3096"/>
          </a:xfrm>
        </p:grpSpPr>
        <p:sp>
          <p:nvSpPr>
            <p:cNvPr id="99429" name="Rectangle 22"/>
            <p:cNvSpPr>
              <a:spLocks noChangeArrowheads="1"/>
            </p:cNvSpPr>
            <p:nvPr/>
          </p:nvSpPr>
          <p:spPr bwMode="auto">
            <a:xfrm>
              <a:off x="4128" y="1056"/>
              <a:ext cx="480" cy="384"/>
            </a:xfrm>
            <a:prstGeom prst="rect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grpSp>
          <p:nvGrpSpPr>
            <p:cNvPr id="99430" name="Group 23"/>
            <p:cNvGrpSpPr/>
            <p:nvPr/>
          </p:nvGrpSpPr>
          <p:grpSpPr bwMode="auto">
            <a:xfrm>
              <a:off x="3744" y="3605"/>
              <a:ext cx="316" cy="547"/>
              <a:chOff x="3140" y="3360"/>
              <a:chExt cx="316" cy="547"/>
            </a:xfrm>
          </p:grpSpPr>
          <p:sp>
            <p:nvSpPr>
              <p:cNvPr id="99431" name="Rectangle 24"/>
              <p:cNvSpPr>
                <a:spLocks noChangeArrowheads="1"/>
              </p:cNvSpPr>
              <p:nvPr/>
            </p:nvSpPr>
            <p:spPr bwMode="auto">
              <a:xfrm>
                <a:off x="3140" y="3360"/>
                <a:ext cx="316" cy="439"/>
              </a:xfrm>
              <a:prstGeom prst="rect">
                <a:avLst/>
              </a:prstGeom>
              <a:solidFill>
                <a:srgbClr val="CCFF99"/>
              </a:solidFill>
              <a:ln w="38100" cmpd="dbl">
                <a:solidFill>
                  <a:srgbClr val="00800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008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99432" name="Line 25"/>
              <p:cNvSpPr>
                <a:spLocks noChangeShapeType="1"/>
              </p:cNvSpPr>
              <p:nvPr/>
            </p:nvSpPr>
            <p:spPr bwMode="auto">
              <a:xfrm>
                <a:off x="3306" y="3729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0" name="Group 26"/>
          <p:cNvGrpSpPr/>
          <p:nvPr/>
        </p:nvGrpSpPr>
        <p:grpSpPr bwMode="auto">
          <a:xfrm>
            <a:off x="8077200" y="1116330"/>
            <a:ext cx="936625" cy="5503863"/>
            <a:chOff x="4128" y="672"/>
            <a:chExt cx="590" cy="3467"/>
          </a:xfrm>
        </p:grpSpPr>
        <p:sp>
          <p:nvSpPr>
            <p:cNvPr id="99424" name="Rectangle 27"/>
            <p:cNvSpPr>
              <a:spLocks noChangeArrowheads="1"/>
            </p:cNvSpPr>
            <p:nvPr/>
          </p:nvSpPr>
          <p:spPr bwMode="auto">
            <a:xfrm>
              <a:off x="4128" y="672"/>
              <a:ext cx="480" cy="38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grpSp>
          <p:nvGrpSpPr>
            <p:cNvPr id="99425" name="Group 28"/>
            <p:cNvGrpSpPr/>
            <p:nvPr/>
          </p:nvGrpSpPr>
          <p:grpSpPr bwMode="auto">
            <a:xfrm>
              <a:off x="4224" y="3605"/>
              <a:ext cx="494" cy="534"/>
              <a:chOff x="5040" y="2976"/>
              <a:chExt cx="494" cy="534"/>
            </a:xfrm>
          </p:grpSpPr>
          <p:sp>
            <p:nvSpPr>
              <p:cNvPr id="99426" name="Rectangle 29"/>
              <p:cNvSpPr>
                <a:spLocks noChangeArrowheads="1"/>
              </p:cNvSpPr>
              <p:nvPr/>
            </p:nvSpPr>
            <p:spPr bwMode="auto">
              <a:xfrm>
                <a:off x="5040" y="2976"/>
                <a:ext cx="494" cy="439"/>
              </a:xfrm>
              <a:prstGeom prst="rect">
                <a:avLst/>
              </a:prstGeom>
              <a:solidFill>
                <a:srgbClr val="99CCFF"/>
              </a:solidFill>
              <a:ln w="38100" cmpd="dbl">
                <a:solidFill>
                  <a:srgbClr val="00800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008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a  b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27" name="Line 30"/>
              <p:cNvSpPr>
                <a:spLocks noChangeShapeType="1"/>
              </p:cNvSpPr>
              <p:nvPr/>
            </p:nvSpPr>
            <p:spPr bwMode="auto">
              <a:xfrm>
                <a:off x="5398" y="3325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428" name="Line 31"/>
              <p:cNvSpPr>
                <a:spLocks noChangeShapeType="1"/>
              </p:cNvSpPr>
              <p:nvPr/>
            </p:nvSpPr>
            <p:spPr bwMode="auto">
              <a:xfrm>
                <a:off x="5172" y="3332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2" name="Group 32"/>
          <p:cNvGrpSpPr/>
          <p:nvPr/>
        </p:nvGrpSpPr>
        <p:grpSpPr bwMode="auto">
          <a:xfrm>
            <a:off x="5921375" y="1116330"/>
            <a:ext cx="4289425" cy="4413250"/>
            <a:chOff x="2770" y="672"/>
            <a:chExt cx="2702" cy="2780"/>
          </a:xfrm>
        </p:grpSpPr>
        <p:sp>
          <p:nvSpPr>
            <p:cNvPr id="99419" name="Rectangle 33"/>
            <p:cNvSpPr>
              <a:spLocks noChangeArrowheads="1"/>
            </p:cNvSpPr>
            <p:nvPr/>
          </p:nvSpPr>
          <p:spPr bwMode="auto">
            <a:xfrm>
              <a:off x="4560" y="672"/>
              <a:ext cx="912" cy="76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grpSp>
          <p:nvGrpSpPr>
            <p:cNvPr id="99420" name="Group 34"/>
            <p:cNvGrpSpPr/>
            <p:nvPr/>
          </p:nvGrpSpPr>
          <p:grpSpPr bwMode="auto">
            <a:xfrm>
              <a:off x="2770" y="2918"/>
              <a:ext cx="494" cy="534"/>
              <a:chOff x="2530" y="2586"/>
              <a:chExt cx="494" cy="534"/>
            </a:xfrm>
          </p:grpSpPr>
          <p:sp>
            <p:nvSpPr>
              <p:cNvPr id="99421" name="Rectangle 35"/>
              <p:cNvSpPr>
                <a:spLocks noChangeArrowheads="1"/>
              </p:cNvSpPr>
              <p:nvPr/>
            </p:nvSpPr>
            <p:spPr bwMode="auto">
              <a:xfrm>
                <a:off x="2530" y="2586"/>
                <a:ext cx="494" cy="439"/>
              </a:xfrm>
              <a:prstGeom prst="rect">
                <a:avLst/>
              </a:prstGeom>
              <a:solidFill>
                <a:srgbClr val="FFFF99"/>
              </a:solidFill>
              <a:ln w="38100" cmpd="dbl">
                <a:solidFill>
                  <a:srgbClr val="00800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008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c  e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22" name="Line 36"/>
              <p:cNvSpPr>
                <a:spLocks noChangeShapeType="1"/>
              </p:cNvSpPr>
              <p:nvPr/>
            </p:nvSpPr>
            <p:spPr bwMode="auto">
              <a:xfrm>
                <a:off x="2888" y="2935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423" name="Line 37"/>
              <p:cNvSpPr>
                <a:spLocks noChangeShapeType="1"/>
              </p:cNvSpPr>
              <p:nvPr/>
            </p:nvSpPr>
            <p:spPr bwMode="auto">
              <a:xfrm>
                <a:off x="2662" y="2942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4" name="Group 38"/>
          <p:cNvGrpSpPr/>
          <p:nvPr/>
        </p:nvGrpSpPr>
        <p:grpSpPr bwMode="auto">
          <a:xfrm>
            <a:off x="2438400" y="2335530"/>
            <a:ext cx="6324600" cy="3262313"/>
            <a:chOff x="576" y="1440"/>
            <a:chExt cx="3984" cy="2055"/>
          </a:xfrm>
        </p:grpSpPr>
        <p:sp>
          <p:nvSpPr>
            <p:cNvPr id="99414" name="Rectangle 39"/>
            <p:cNvSpPr>
              <a:spLocks noChangeArrowheads="1"/>
            </p:cNvSpPr>
            <p:nvPr/>
          </p:nvSpPr>
          <p:spPr bwMode="auto">
            <a:xfrm>
              <a:off x="3648" y="1440"/>
              <a:ext cx="912" cy="81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grpSp>
          <p:nvGrpSpPr>
            <p:cNvPr id="99415" name="Group 40"/>
            <p:cNvGrpSpPr/>
            <p:nvPr/>
          </p:nvGrpSpPr>
          <p:grpSpPr bwMode="auto">
            <a:xfrm>
              <a:off x="576" y="2928"/>
              <a:ext cx="494" cy="567"/>
              <a:chOff x="384" y="2586"/>
              <a:chExt cx="494" cy="534"/>
            </a:xfrm>
          </p:grpSpPr>
          <p:sp>
            <p:nvSpPr>
              <p:cNvPr id="99416" name="Rectangle 41"/>
              <p:cNvSpPr>
                <a:spLocks noChangeArrowheads="1"/>
              </p:cNvSpPr>
              <p:nvPr/>
            </p:nvSpPr>
            <p:spPr bwMode="auto">
              <a:xfrm>
                <a:off x="384" y="2586"/>
                <a:ext cx="494" cy="439"/>
              </a:xfrm>
              <a:prstGeom prst="rect">
                <a:avLst/>
              </a:prstGeom>
              <a:solidFill>
                <a:srgbClr val="FFCCFF"/>
              </a:solidFill>
              <a:ln w="38100" cmpd="dbl">
                <a:solidFill>
                  <a:srgbClr val="00800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008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i  h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17" name="Line 42"/>
              <p:cNvSpPr>
                <a:spLocks noChangeShapeType="1"/>
              </p:cNvSpPr>
              <p:nvPr/>
            </p:nvSpPr>
            <p:spPr bwMode="auto">
              <a:xfrm>
                <a:off x="742" y="2935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418" name="Line 43"/>
              <p:cNvSpPr>
                <a:spLocks noChangeShapeType="1"/>
              </p:cNvSpPr>
              <p:nvPr/>
            </p:nvSpPr>
            <p:spPr bwMode="auto">
              <a:xfrm>
                <a:off x="516" y="2942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6" name="Group 44"/>
          <p:cNvGrpSpPr/>
          <p:nvPr/>
        </p:nvGrpSpPr>
        <p:grpSpPr bwMode="auto">
          <a:xfrm>
            <a:off x="6672263" y="887730"/>
            <a:ext cx="3835400" cy="3146426"/>
            <a:chOff x="3243" y="528"/>
            <a:chExt cx="2416" cy="1982"/>
          </a:xfrm>
        </p:grpSpPr>
        <p:sp>
          <p:nvSpPr>
            <p:cNvPr id="99371" name="Text Box 45"/>
            <p:cNvSpPr txBox="1">
              <a:spLocks noChangeArrowheads="1"/>
            </p:cNvSpPr>
            <p:nvPr/>
          </p:nvSpPr>
          <p:spPr bwMode="auto">
            <a:xfrm>
              <a:off x="4503" y="2207"/>
              <a:ext cx="227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99372" name="Text Box 46"/>
            <p:cNvSpPr txBox="1">
              <a:spLocks noChangeArrowheads="1"/>
            </p:cNvSpPr>
            <p:nvPr/>
          </p:nvSpPr>
          <p:spPr bwMode="auto">
            <a:xfrm>
              <a:off x="3243" y="596"/>
              <a:ext cx="43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400</a:t>
              </a:r>
            </a:p>
          </p:txBody>
        </p:sp>
        <p:sp>
          <p:nvSpPr>
            <p:cNvPr id="99373" name="Text Box 47"/>
            <p:cNvSpPr txBox="1">
              <a:spLocks noChangeArrowheads="1"/>
            </p:cNvSpPr>
            <p:nvPr/>
          </p:nvSpPr>
          <p:spPr bwMode="auto">
            <a:xfrm>
              <a:off x="5229" y="2220"/>
              <a:ext cx="43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100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374" name="Text Box 48"/>
            <p:cNvSpPr txBox="1">
              <a:spLocks noChangeArrowheads="1"/>
            </p:cNvSpPr>
            <p:nvPr/>
          </p:nvSpPr>
          <p:spPr bwMode="auto">
            <a:xfrm>
              <a:off x="3615" y="2207"/>
              <a:ext cx="22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375" name="Line 49"/>
            <p:cNvSpPr>
              <a:spLocks noChangeShapeType="1"/>
            </p:cNvSpPr>
            <p:nvPr/>
          </p:nvSpPr>
          <p:spPr bwMode="auto">
            <a:xfrm flipH="1" flipV="1">
              <a:off x="3641" y="528"/>
              <a:ext cx="0" cy="17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76" name="Line 50"/>
            <p:cNvSpPr>
              <a:spLocks noChangeShapeType="1"/>
            </p:cNvSpPr>
            <p:nvPr/>
          </p:nvSpPr>
          <p:spPr bwMode="auto">
            <a:xfrm flipV="1">
              <a:off x="3641" y="2243"/>
              <a:ext cx="19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9377" name="Group 51"/>
            <p:cNvGrpSpPr/>
            <p:nvPr/>
          </p:nvGrpSpPr>
          <p:grpSpPr bwMode="auto">
            <a:xfrm>
              <a:off x="4368" y="1679"/>
              <a:ext cx="270" cy="251"/>
              <a:chOff x="4368" y="1386"/>
              <a:chExt cx="270" cy="251"/>
            </a:xfrm>
          </p:grpSpPr>
          <p:sp>
            <p:nvSpPr>
              <p:cNvPr id="99412" name="Oval 52"/>
              <p:cNvSpPr>
                <a:spLocks noChangeArrowheads="1"/>
              </p:cNvSpPr>
              <p:nvPr/>
            </p:nvSpPr>
            <p:spPr bwMode="auto">
              <a:xfrm>
                <a:off x="4368" y="1536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9413" name="Text Box 53"/>
              <p:cNvSpPr txBox="1">
                <a:spLocks noChangeArrowheads="1"/>
              </p:cNvSpPr>
              <p:nvPr/>
            </p:nvSpPr>
            <p:spPr bwMode="auto">
              <a:xfrm>
                <a:off x="4434" y="1386"/>
                <a:ext cx="204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  <a:ea typeface="宋体" panose="02010600030101010101" pitchFamily="2" charset="-122"/>
                  </a:rPr>
                  <a:t>h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378" name="Group 54"/>
            <p:cNvGrpSpPr/>
            <p:nvPr/>
          </p:nvGrpSpPr>
          <p:grpSpPr bwMode="auto">
            <a:xfrm>
              <a:off x="4434" y="815"/>
              <a:ext cx="270" cy="251"/>
              <a:chOff x="4368" y="1386"/>
              <a:chExt cx="270" cy="251"/>
            </a:xfrm>
          </p:grpSpPr>
          <p:sp>
            <p:nvSpPr>
              <p:cNvPr id="99410" name="Oval 55"/>
              <p:cNvSpPr>
                <a:spLocks noChangeArrowheads="1"/>
              </p:cNvSpPr>
              <p:nvPr/>
            </p:nvSpPr>
            <p:spPr bwMode="auto">
              <a:xfrm>
                <a:off x="4368" y="1536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9411" name="Text Box 56"/>
              <p:cNvSpPr txBox="1">
                <a:spLocks noChangeArrowheads="1"/>
              </p:cNvSpPr>
              <p:nvPr/>
            </p:nvSpPr>
            <p:spPr bwMode="auto">
              <a:xfrm>
                <a:off x="4434" y="1386"/>
                <a:ext cx="204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  <a:ea typeface="宋体" panose="02010600030101010101" pitchFamily="2" charset="-122"/>
                  </a:rPr>
                  <a:t>b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379" name="Group 57"/>
            <p:cNvGrpSpPr/>
            <p:nvPr/>
          </p:nvGrpSpPr>
          <p:grpSpPr bwMode="auto">
            <a:xfrm>
              <a:off x="4080" y="1871"/>
              <a:ext cx="244" cy="251"/>
              <a:chOff x="4368" y="1386"/>
              <a:chExt cx="244" cy="251"/>
            </a:xfrm>
          </p:grpSpPr>
          <p:sp>
            <p:nvSpPr>
              <p:cNvPr id="99408" name="Oval 58"/>
              <p:cNvSpPr>
                <a:spLocks noChangeArrowheads="1"/>
              </p:cNvSpPr>
              <p:nvPr/>
            </p:nvSpPr>
            <p:spPr bwMode="auto">
              <a:xfrm>
                <a:off x="4368" y="1536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9409" name="Text Box 59"/>
              <p:cNvSpPr txBox="1">
                <a:spLocks noChangeArrowheads="1"/>
              </p:cNvSpPr>
              <p:nvPr/>
            </p:nvSpPr>
            <p:spPr bwMode="auto">
              <a:xfrm>
                <a:off x="4460" y="1386"/>
                <a:ext cx="152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  <a:ea typeface="宋体" panose="02010600030101010101" pitchFamily="2" charset="-122"/>
                  </a:rPr>
                  <a:t>i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380" name="Group 60"/>
            <p:cNvGrpSpPr/>
            <p:nvPr/>
          </p:nvGrpSpPr>
          <p:grpSpPr bwMode="auto">
            <a:xfrm>
              <a:off x="4100" y="613"/>
              <a:ext cx="267" cy="251"/>
              <a:chOff x="4368" y="1386"/>
              <a:chExt cx="267" cy="251"/>
            </a:xfrm>
          </p:grpSpPr>
          <p:sp>
            <p:nvSpPr>
              <p:cNvPr id="99406" name="Oval 61"/>
              <p:cNvSpPr>
                <a:spLocks noChangeArrowheads="1"/>
              </p:cNvSpPr>
              <p:nvPr/>
            </p:nvSpPr>
            <p:spPr bwMode="auto">
              <a:xfrm>
                <a:off x="4368" y="1536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9407" name="Text Box 62"/>
              <p:cNvSpPr txBox="1">
                <a:spLocks noChangeArrowheads="1"/>
              </p:cNvSpPr>
              <p:nvPr/>
            </p:nvSpPr>
            <p:spPr bwMode="auto">
              <a:xfrm>
                <a:off x="4436" y="1386"/>
                <a:ext cx="199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  <a:ea typeface="宋体" panose="02010600030101010101" pitchFamily="2" charset="-122"/>
                  </a:rPr>
                  <a:t>a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381" name="Group 63"/>
            <p:cNvGrpSpPr/>
            <p:nvPr/>
          </p:nvGrpSpPr>
          <p:grpSpPr bwMode="auto">
            <a:xfrm>
              <a:off x="4608" y="1055"/>
              <a:ext cx="262" cy="251"/>
              <a:chOff x="4368" y="1386"/>
              <a:chExt cx="262" cy="251"/>
            </a:xfrm>
          </p:grpSpPr>
          <p:sp>
            <p:nvSpPr>
              <p:cNvPr id="99404" name="Oval 64"/>
              <p:cNvSpPr>
                <a:spLocks noChangeArrowheads="1"/>
              </p:cNvSpPr>
              <p:nvPr/>
            </p:nvSpPr>
            <p:spPr bwMode="auto">
              <a:xfrm>
                <a:off x="4368" y="1536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9405" name="Text Box 65"/>
              <p:cNvSpPr txBox="1">
                <a:spLocks noChangeArrowheads="1"/>
              </p:cNvSpPr>
              <p:nvPr/>
            </p:nvSpPr>
            <p:spPr bwMode="auto">
              <a:xfrm>
                <a:off x="4441" y="1386"/>
                <a:ext cx="189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  <a:ea typeface="宋体" panose="02010600030101010101" pitchFamily="2" charset="-122"/>
                  </a:rPr>
                  <a:t>c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382" name="Group 66"/>
            <p:cNvGrpSpPr/>
            <p:nvPr/>
          </p:nvGrpSpPr>
          <p:grpSpPr bwMode="auto">
            <a:xfrm>
              <a:off x="4368" y="1199"/>
              <a:ext cx="270" cy="251"/>
              <a:chOff x="4368" y="1386"/>
              <a:chExt cx="270" cy="251"/>
            </a:xfrm>
          </p:grpSpPr>
          <p:sp>
            <p:nvSpPr>
              <p:cNvPr id="99402" name="Oval 67"/>
              <p:cNvSpPr>
                <a:spLocks noChangeArrowheads="1"/>
              </p:cNvSpPr>
              <p:nvPr/>
            </p:nvSpPr>
            <p:spPr bwMode="auto">
              <a:xfrm>
                <a:off x="4368" y="1536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9403" name="Text Box 68"/>
              <p:cNvSpPr txBox="1">
                <a:spLocks noChangeArrowheads="1"/>
              </p:cNvSpPr>
              <p:nvPr/>
            </p:nvSpPr>
            <p:spPr bwMode="auto">
              <a:xfrm>
                <a:off x="4434" y="1386"/>
                <a:ext cx="204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  <a:ea typeface="宋体" panose="02010600030101010101" pitchFamily="2" charset="-122"/>
                  </a:rPr>
                  <a:t>d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383" name="Group 69"/>
            <p:cNvGrpSpPr/>
            <p:nvPr/>
          </p:nvGrpSpPr>
          <p:grpSpPr bwMode="auto">
            <a:xfrm>
              <a:off x="4821" y="1199"/>
              <a:ext cx="267" cy="251"/>
              <a:chOff x="4368" y="1386"/>
              <a:chExt cx="267" cy="251"/>
            </a:xfrm>
          </p:grpSpPr>
          <p:sp>
            <p:nvSpPr>
              <p:cNvPr id="99400" name="Oval 70"/>
              <p:cNvSpPr>
                <a:spLocks noChangeArrowheads="1"/>
              </p:cNvSpPr>
              <p:nvPr/>
            </p:nvSpPr>
            <p:spPr bwMode="auto">
              <a:xfrm>
                <a:off x="4368" y="1536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9401" name="Text Box 71"/>
              <p:cNvSpPr txBox="1">
                <a:spLocks noChangeArrowheads="1"/>
              </p:cNvSpPr>
              <p:nvPr/>
            </p:nvSpPr>
            <p:spPr bwMode="auto">
              <a:xfrm>
                <a:off x="4435" y="1386"/>
                <a:ext cx="200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  <a:ea typeface="宋体" panose="02010600030101010101" pitchFamily="2" charset="-122"/>
                  </a:rPr>
                  <a:t>e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384" name="Group 72"/>
            <p:cNvGrpSpPr/>
            <p:nvPr/>
          </p:nvGrpSpPr>
          <p:grpSpPr bwMode="auto">
            <a:xfrm>
              <a:off x="4579" y="1573"/>
              <a:ext cx="269" cy="251"/>
              <a:chOff x="4368" y="1386"/>
              <a:chExt cx="269" cy="251"/>
            </a:xfrm>
          </p:grpSpPr>
          <p:sp>
            <p:nvSpPr>
              <p:cNvPr id="99398" name="Oval 73"/>
              <p:cNvSpPr>
                <a:spLocks noChangeArrowheads="1"/>
              </p:cNvSpPr>
              <p:nvPr/>
            </p:nvSpPr>
            <p:spPr bwMode="auto">
              <a:xfrm>
                <a:off x="4368" y="1536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9399" name="Text Box 74"/>
              <p:cNvSpPr txBox="1">
                <a:spLocks noChangeArrowheads="1"/>
              </p:cNvSpPr>
              <p:nvPr/>
            </p:nvSpPr>
            <p:spPr bwMode="auto">
              <a:xfrm>
                <a:off x="4433" y="1386"/>
                <a:ext cx="204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  <a:ea typeface="宋体" panose="02010600030101010101" pitchFamily="2" charset="-122"/>
                  </a:rPr>
                  <a:t>g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385" name="Group 75"/>
            <p:cNvGrpSpPr/>
            <p:nvPr/>
          </p:nvGrpSpPr>
          <p:grpSpPr bwMode="auto">
            <a:xfrm>
              <a:off x="5125" y="1525"/>
              <a:ext cx="251" cy="251"/>
              <a:chOff x="4368" y="1386"/>
              <a:chExt cx="251" cy="251"/>
            </a:xfrm>
          </p:grpSpPr>
          <p:sp>
            <p:nvSpPr>
              <p:cNvPr id="99396" name="Oval 76"/>
              <p:cNvSpPr>
                <a:spLocks noChangeArrowheads="1"/>
              </p:cNvSpPr>
              <p:nvPr/>
            </p:nvSpPr>
            <p:spPr bwMode="auto">
              <a:xfrm>
                <a:off x="4368" y="1536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9397" name="Text Box 77"/>
              <p:cNvSpPr txBox="1">
                <a:spLocks noChangeArrowheads="1"/>
              </p:cNvSpPr>
              <p:nvPr/>
            </p:nvSpPr>
            <p:spPr bwMode="auto">
              <a:xfrm>
                <a:off x="4453" y="1386"/>
                <a:ext cx="166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  <a:ea typeface="宋体" panose="02010600030101010101" pitchFamily="2" charset="-122"/>
                  </a:rPr>
                  <a:t>f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386" name="Group 78"/>
            <p:cNvGrpSpPr/>
            <p:nvPr/>
          </p:nvGrpSpPr>
          <p:grpSpPr bwMode="auto">
            <a:xfrm>
              <a:off x="4608" y="1919"/>
              <a:ext cx="265" cy="251"/>
              <a:chOff x="4368" y="1386"/>
              <a:chExt cx="265" cy="251"/>
            </a:xfrm>
          </p:grpSpPr>
          <p:sp>
            <p:nvSpPr>
              <p:cNvPr id="99394" name="Oval 79"/>
              <p:cNvSpPr>
                <a:spLocks noChangeArrowheads="1"/>
              </p:cNvSpPr>
              <p:nvPr/>
            </p:nvSpPr>
            <p:spPr bwMode="auto">
              <a:xfrm>
                <a:off x="4368" y="1536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9395" name="Text Box 80"/>
              <p:cNvSpPr txBox="1">
                <a:spLocks noChangeArrowheads="1"/>
              </p:cNvSpPr>
              <p:nvPr/>
            </p:nvSpPr>
            <p:spPr bwMode="auto">
              <a:xfrm>
                <a:off x="4438" y="1386"/>
                <a:ext cx="195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  <a:ea typeface="宋体" panose="02010600030101010101" pitchFamily="2" charset="-122"/>
                  </a:rPr>
                  <a:t>k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387" name="Group 81"/>
            <p:cNvGrpSpPr/>
            <p:nvPr/>
          </p:nvGrpSpPr>
          <p:grpSpPr bwMode="auto">
            <a:xfrm>
              <a:off x="4608" y="1765"/>
              <a:ext cx="247" cy="251"/>
              <a:chOff x="4368" y="1386"/>
              <a:chExt cx="247" cy="251"/>
            </a:xfrm>
          </p:grpSpPr>
          <p:sp>
            <p:nvSpPr>
              <p:cNvPr id="99392" name="Oval 82"/>
              <p:cNvSpPr>
                <a:spLocks noChangeArrowheads="1"/>
              </p:cNvSpPr>
              <p:nvPr/>
            </p:nvSpPr>
            <p:spPr bwMode="auto">
              <a:xfrm>
                <a:off x="4368" y="1536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9393" name="Text Box 83"/>
              <p:cNvSpPr txBox="1">
                <a:spLocks noChangeArrowheads="1"/>
              </p:cNvSpPr>
              <p:nvPr/>
            </p:nvSpPr>
            <p:spPr bwMode="auto">
              <a:xfrm>
                <a:off x="4455" y="1386"/>
                <a:ext cx="160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  <a:ea typeface="宋体" panose="02010600030101010101" pitchFamily="2" charset="-122"/>
                  </a:rPr>
                  <a:t>j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9388" name="Text Box 84"/>
            <p:cNvSpPr txBox="1">
              <a:spLocks noChangeArrowheads="1"/>
            </p:cNvSpPr>
            <p:nvPr/>
          </p:nvSpPr>
          <p:spPr bwMode="auto">
            <a:xfrm>
              <a:off x="3399" y="1295"/>
              <a:ext cx="226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  <p:grpSp>
          <p:nvGrpSpPr>
            <p:cNvPr id="99389" name="Group 85"/>
            <p:cNvGrpSpPr/>
            <p:nvPr/>
          </p:nvGrpSpPr>
          <p:grpSpPr bwMode="auto">
            <a:xfrm>
              <a:off x="4896" y="1631"/>
              <a:ext cx="244" cy="251"/>
              <a:chOff x="4368" y="1386"/>
              <a:chExt cx="244" cy="251"/>
            </a:xfrm>
          </p:grpSpPr>
          <p:sp>
            <p:nvSpPr>
              <p:cNvPr id="99390" name="Oval 86"/>
              <p:cNvSpPr>
                <a:spLocks noChangeArrowheads="1"/>
              </p:cNvSpPr>
              <p:nvPr/>
            </p:nvSpPr>
            <p:spPr bwMode="auto">
              <a:xfrm>
                <a:off x="4368" y="1536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9391" name="Text Box 87"/>
              <p:cNvSpPr txBox="1">
                <a:spLocks noChangeArrowheads="1"/>
              </p:cNvSpPr>
              <p:nvPr/>
            </p:nvSpPr>
            <p:spPr bwMode="auto">
              <a:xfrm>
                <a:off x="4460" y="1386"/>
                <a:ext cx="152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  <a:ea typeface="宋体" panose="02010600030101010101" pitchFamily="2" charset="-122"/>
                  </a:rPr>
                  <a:t>l</a:t>
                </a:r>
                <a:endParaRPr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9" name="Group 88"/>
          <p:cNvGrpSpPr/>
          <p:nvPr/>
        </p:nvGrpSpPr>
        <p:grpSpPr bwMode="auto">
          <a:xfrm>
            <a:off x="7010400" y="1117918"/>
            <a:ext cx="2209800" cy="4662488"/>
            <a:chOff x="3456" y="673"/>
            <a:chExt cx="1392" cy="2937"/>
          </a:xfrm>
        </p:grpSpPr>
        <p:grpSp>
          <p:nvGrpSpPr>
            <p:cNvPr id="99363" name="Group 89"/>
            <p:cNvGrpSpPr/>
            <p:nvPr/>
          </p:nvGrpSpPr>
          <p:grpSpPr bwMode="auto">
            <a:xfrm>
              <a:off x="3456" y="2918"/>
              <a:ext cx="1392" cy="692"/>
              <a:chOff x="3456" y="2918"/>
              <a:chExt cx="1392" cy="692"/>
            </a:xfrm>
          </p:grpSpPr>
          <p:sp>
            <p:nvSpPr>
              <p:cNvPr id="99366" name="AutoShape 90"/>
              <p:cNvSpPr>
                <a:spLocks noChangeArrowheads="1"/>
              </p:cNvSpPr>
              <p:nvPr/>
            </p:nvSpPr>
            <p:spPr bwMode="auto">
              <a:xfrm>
                <a:off x="3456" y="2918"/>
                <a:ext cx="1392" cy="274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FF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X 25,</a:t>
                </a:r>
                <a:r>
                  <a:rPr lang="en-US" altLang="zh-CN" sz="2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 Y 300</a:t>
                </a:r>
              </a:p>
            </p:txBody>
          </p:sp>
          <p:cxnSp>
            <p:nvCxnSpPr>
              <p:cNvPr id="99367" name="AutoShape 91"/>
              <p:cNvCxnSpPr>
                <a:cxnSpLocks noChangeShapeType="1"/>
                <a:stCxn id="99366" idx="2"/>
              </p:cNvCxnSpPr>
              <p:nvPr/>
            </p:nvCxnSpPr>
            <p:spPr bwMode="auto">
              <a:xfrm flipH="1">
                <a:off x="3648" y="3192"/>
                <a:ext cx="504" cy="144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9368" name="AutoShape 92"/>
              <p:cNvCxnSpPr>
                <a:cxnSpLocks noChangeShapeType="1"/>
                <a:stCxn id="99366" idx="2"/>
              </p:cNvCxnSpPr>
              <p:nvPr/>
            </p:nvCxnSpPr>
            <p:spPr bwMode="auto">
              <a:xfrm>
                <a:off x="4152" y="3192"/>
                <a:ext cx="504" cy="144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9369" name="AutoShape 93"/>
              <p:cNvCxnSpPr>
                <a:cxnSpLocks noChangeShapeType="1"/>
                <a:stCxn id="99366" idx="2"/>
                <a:endCxn id="99431" idx="0"/>
              </p:cNvCxnSpPr>
              <p:nvPr/>
            </p:nvCxnSpPr>
            <p:spPr bwMode="auto">
              <a:xfrm flipH="1">
                <a:off x="3902" y="3192"/>
                <a:ext cx="250" cy="418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9370" name="AutoShape 94"/>
              <p:cNvCxnSpPr>
                <a:cxnSpLocks noChangeShapeType="1"/>
                <a:stCxn id="99366" idx="2"/>
                <a:endCxn id="99426" idx="0"/>
              </p:cNvCxnSpPr>
              <p:nvPr/>
            </p:nvCxnSpPr>
            <p:spPr bwMode="auto">
              <a:xfrm>
                <a:off x="4152" y="3192"/>
                <a:ext cx="319" cy="418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99364" name="Line 95"/>
            <p:cNvSpPr>
              <a:spLocks noChangeShapeType="1"/>
            </p:cNvSpPr>
            <p:nvPr/>
          </p:nvSpPr>
          <p:spPr bwMode="auto">
            <a:xfrm>
              <a:off x="3648" y="1056"/>
              <a:ext cx="91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65" name="Line 96"/>
            <p:cNvSpPr>
              <a:spLocks noChangeShapeType="1"/>
            </p:cNvSpPr>
            <p:nvPr/>
          </p:nvSpPr>
          <p:spPr bwMode="auto">
            <a:xfrm>
              <a:off x="4128" y="673"/>
              <a:ext cx="0" cy="76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" name="Group 97"/>
          <p:cNvGrpSpPr/>
          <p:nvPr/>
        </p:nvGrpSpPr>
        <p:grpSpPr bwMode="auto">
          <a:xfrm>
            <a:off x="2830513" y="1116330"/>
            <a:ext cx="7456487" cy="3589338"/>
            <a:chOff x="823" y="672"/>
            <a:chExt cx="4697" cy="2261"/>
          </a:xfrm>
        </p:grpSpPr>
        <p:cxnSp>
          <p:nvCxnSpPr>
            <p:cNvPr id="99355" name="AutoShape 98"/>
            <p:cNvCxnSpPr>
              <a:cxnSpLocks noChangeShapeType="1"/>
              <a:stCxn id="99360" idx="2"/>
              <a:endCxn id="99416" idx="0"/>
            </p:cNvCxnSpPr>
            <p:nvPr/>
          </p:nvCxnSpPr>
          <p:spPr bwMode="auto">
            <a:xfrm flipH="1">
              <a:off x="823" y="2434"/>
              <a:ext cx="1745" cy="499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356" name="AutoShape 99"/>
            <p:cNvCxnSpPr>
              <a:cxnSpLocks noChangeShapeType="1"/>
              <a:stCxn id="99360" idx="2"/>
              <a:endCxn id="99366" idx="0"/>
            </p:cNvCxnSpPr>
            <p:nvPr/>
          </p:nvCxnSpPr>
          <p:spPr bwMode="auto">
            <a:xfrm>
              <a:off x="2568" y="2434"/>
              <a:ext cx="1584" cy="489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357" name="AutoShape 100"/>
            <p:cNvCxnSpPr>
              <a:cxnSpLocks noChangeShapeType="1"/>
              <a:stCxn id="99360" idx="2"/>
              <a:endCxn id="99421" idx="0"/>
            </p:cNvCxnSpPr>
            <p:nvPr/>
          </p:nvCxnSpPr>
          <p:spPr bwMode="auto">
            <a:xfrm>
              <a:off x="2568" y="2434"/>
              <a:ext cx="449" cy="489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99358" name="Group 101"/>
            <p:cNvGrpSpPr/>
            <p:nvPr/>
          </p:nvGrpSpPr>
          <p:grpSpPr bwMode="auto">
            <a:xfrm>
              <a:off x="1872" y="672"/>
              <a:ext cx="3648" cy="1762"/>
              <a:chOff x="1872" y="672"/>
              <a:chExt cx="3648" cy="1762"/>
            </a:xfrm>
          </p:grpSpPr>
          <p:sp>
            <p:nvSpPr>
              <p:cNvPr id="99360" name="AutoShape 102"/>
              <p:cNvSpPr>
                <a:spLocks noChangeArrowheads="1"/>
              </p:cNvSpPr>
              <p:nvPr/>
            </p:nvSpPr>
            <p:spPr bwMode="auto">
              <a:xfrm>
                <a:off x="1872" y="2160"/>
                <a:ext cx="1392" cy="274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FF00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X 50,</a:t>
                </a:r>
                <a:r>
                  <a:rPr lang="en-US" altLang="zh-CN" sz="2400">
                    <a:solidFill>
                      <a:schemeClr val="tx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 Y 200</a:t>
                </a:r>
              </a:p>
            </p:txBody>
          </p:sp>
          <p:sp>
            <p:nvSpPr>
              <p:cNvPr id="99361" name="Line 103"/>
              <p:cNvSpPr>
                <a:spLocks noChangeShapeType="1"/>
              </p:cNvSpPr>
              <p:nvPr/>
            </p:nvSpPr>
            <p:spPr bwMode="auto">
              <a:xfrm>
                <a:off x="3648" y="1440"/>
                <a:ext cx="18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362" name="Line 104"/>
              <p:cNvSpPr>
                <a:spLocks noChangeShapeType="1"/>
              </p:cNvSpPr>
              <p:nvPr/>
            </p:nvSpPr>
            <p:spPr bwMode="auto">
              <a:xfrm>
                <a:off x="4560" y="672"/>
                <a:ext cx="0" cy="153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99359" name="AutoShape 105"/>
            <p:cNvCxnSpPr>
              <a:cxnSpLocks noChangeShapeType="1"/>
              <a:stCxn id="99360" idx="2"/>
              <a:endCxn id="99352" idx="0"/>
            </p:cNvCxnSpPr>
            <p:nvPr/>
          </p:nvCxnSpPr>
          <p:spPr bwMode="auto">
            <a:xfrm flipH="1">
              <a:off x="1896" y="2434"/>
              <a:ext cx="672" cy="484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7281" name="Group 106"/>
          <p:cNvGrpSpPr/>
          <p:nvPr/>
        </p:nvGrpSpPr>
        <p:grpSpPr bwMode="auto">
          <a:xfrm>
            <a:off x="3036888" y="2335530"/>
            <a:ext cx="7173912" cy="3444876"/>
            <a:chOff x="953" y="1440"/>
            <a:chExt cx="4519" cy="2170"/>
          </a:xfrm>
        </p:grpSpPr>
        <p:cxnSp>
          <p:nvCxnSpPr>
            <p:cNvPr id="99348" name="AutoShape 107"/>
            <p:cNvCxnSpPr>
              <a:cxnSpLocks noChangeShapeType="1"/>
              <a:stCxn id="99352" idx="2"/>
              <a:endCxn id="99444" idx="0"/>
            </p:cNvCxnSpPr>
            <p:nvPr/>
          </p:nvCxnSpPr>
          <p:spPr bwMode="auto">
            <a:xfrm flipH="1">
              <a:off x="953" y="3192"/>
              <a:ext cx="943" cy="418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349" name="AutoShape 108"/>
            <p:cNvCxnSpPr>
              <a:cxnSpLocks noChangeShapeType="1"/>
              <a:stCxn id="99352" idx="2"/>
              <a:endCxn id="99435" idx="0"/>
            </p:cNvCxnSpPr>
            <p:nvPr/>
          </p:nvCxnSpPr>
          <p:spPr bwMode="auto">
            <a:xfrm>
              <a:off x="1896" y="3192"/>
              <a:ext cx="785" cy="418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350" name="AutoShape 109"/>
            <p:cNvCxnSpPr>
              <a:cxnSpLocks noChangeShapeType="1"/>
              <a:stCxn id="99352" idx="2"/>
            </p:cNvCxnSpPr>
            <p:nvPr/>
          </p:nvCxnSpPr>
          <p:spPr bwMode="auto">
            <a:xfrm flipH="1">
              <a:off x="1632" y="3192"/>
              <a:ext cx="264" cy="360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351" name="AutoShape 110"/>
            <p:cNvCxnSpPr>
              <a:cxnSpLocks noChangeShapeType="1"/>
              <a:stCxn id="99352" idx="2"/>
              <a:endCxn id="99440" idx="0"/>
            </p:cNvCxnSpPr>
            <p:nvPr/>
          </p:nvCxnSpPr>
          <p:spPr bwMode="auto">
            <a:xfrm>
              <a:off x="1896" y="3192"/>
              <a:ext cx="142" cy="418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9352" name="AutoShape 111"/>
            <p:cNvSpPr>
              <a:spLocks noChangeArrowheads="1"/>
            </p:cNvSpPr>
            <p:nvPr/>
          </p:nvSpPr>
          <p:spPr bwMode="auto">
            <a:xfrm>
              <a:off x="1200" y="2918"/>
              <a:ext cx="1392" cy="27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2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X 75,</a:t>
              </a:r>
              <a:r>
                <a:rPr lang="en-US" altLang="zh-CN" sz="240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Y 100</a:t>
              </a:r>
            </a:p>
          </p:txBody>
        </p:sp>
        <p:sp>
          <p:nvSpPr>
            <p:cNvPr id="99353" name="Line 112"/>
            <p:cNvSpPr>
              <a:spLocks noChangeShapeType="1"/>
            </p:cNvSpPr>
            <p:nvPr/>
          </p:nvSpPr>
          <p:spPr bwMode="auto">
            <a:xfrm>
              <a:off x="5040" y="1440"/>
              <a:ext cx="0" cy="76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54" name="Line 113"/>
            <p:cNvSpPr>
              <a:spLocks noChangeShapeType="1"/>
            </p:cNvSpPr>
            <p:nvPr/>
          </p:nvSpPr>
          <p:spPr bwMode="auto">
            <a:xfrm>
              <a:off x="4560" y="1824"/>
              <a:ext cx="91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9343" name="TextBox 4"/>
          <p:cNvSpPr txBox="1">
            <a:spLocks noChangeArrowheads="1"/>
          </p:cNvSpPr>
          <p:nvPr/>
        </p:nvSpPr>
        <p:spPr bwMode="auto">
          <a:xfrm>
            <a:off x="7534116" y="676276"/>
            <a:ext cx="2456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(data stored at leaves)</a:t>
            </a:r>
          </a:p>
        </p:txBody>
      </p:sp>
      <p:sp>
        <p:nvSpPr>
          <p:cNvPr id="97296" name="TextBox 6"/>
          <p:cNvSpPr txBox="1">
            <a:spLocks noChangeArrowheads="1"/>
          </p:cNvSpPr>
          <p:nvPr/>
        </p:nvSpPr>
        <p:spPr bwMode="auto">
          <a:xfrm>
            <a:off x="4089400" y="3934143"/>
            <a:ext cx="551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97297" name="TextBox 133"/>
          <p:cNvSpPr txBox="1">
            <a:spLocks noChangeArrowheads="1"/>
          </p:cNvSpPr>
          <p:nvPr/>
        </p:nvSpPr>
        <p:spPr bwMode="auto">
          <a:xfrm>
            <a:off x="4895850" y="4029393"/>
            <a:ext cx="487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SE</a:t>
            </a:r>
          </a:p>
        </p:txBody>
      </p:sp>
      <p:sp>
        <p:nvSpPr>
          <p:cNvPr id="97298" name="TextBox 134"/>
          <p:cNvSpPr txBox="1">
            <a:spLocks noChangeArrowheads="1"/>
          </p:cNvSpPr>
          <p:nvPr/>
        </p:nvSpPr>
        <p:spPr bwMode="auto">
          <a:xfrm>
            <a:off x="5884863" y="4121468"/>
            <a:ext cx="563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NW</a:t>
            </a:r>
          </a:p>
        </p:txBody>
      </p:sp>
      <p:sp>
        <p:nvSpPr>
          <p:cNvPr id="97299" name="TextBox 135"/>
          <p:cNvSpPr txBox="1">
            <a:spLocks noChangeArrowheads="1"/>
          </p:cNvSpPr>
          <p:nvPr/>
        </p:nvSpPr>
        <p:spPr bwMode="auto">
          <a:xfrm>
            <a:off x="6935788" y="4121468"/>
            <a:ext cx="500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NE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49885" y="128270"/>
            <a:ext cx="57359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Quadtree Construction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10679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113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7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7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7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96" grpId="0"/>
      <p:bldP spid="97297" grpId="0"/>
      <p:bldP spid="97298" grpId="0"/>
      <p:bldP spid="97299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9" name="Rectangle 50"/>
          <p:cNvSpPr>
            <a:spLocks noChangeArrowheads="1"/>
          </p:cNvSpPr>
          <p:nvPr/>
        </p:nvSpPr>
        <p:spPr bwMode="auto">
          <a:xfrm>
            <a:off x="2061210" y="4713923"/>
            <a:ext cx="7974013" cy="11372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To search for P(55, 75):</a:t>
            </a:r>
          </a:p>
          <a:p>
            <a:pPr>
              <a:spcAft>
                <a:spcPts val="600"/>
              </a:spcAft>
              <a:buFontTx/>
              <a:buChar char="•"/>
            </a:pP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Since X</a:t>
            </a:r>
            <a:r>
              <a:rPr lang="en-US" altLang="zh-CN" sz="2000" baseline="-25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&lt; X</a:t>
            </a:r>
            <a:r>
              <a:rPr lang="en-US" altLang="zh-CN" sz="2000" baseline="-25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and Y</a:t>
            </a:r>
            <a:r>
              <a:rPr lang="en-US" altLang="zh-CN" sz="2000" baseline="-25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&lt; Y</a:t>
            </a:r>
            <a:r>
              <a:rPr lang="en-US" altLang="zh-CN" sz="2000" baseline="-25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→  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go to NE (i.e., B).</a:t>
            </a:r>
          </a:p>
          <a:p>
            <a:pPr>
              <a:lnSpc>
                <a:spcPct val="90000"/>
              </a:lnSpc>
              <a:spcAft>
                <a:spcPts val="600"/>
              </a:spcAft>
              <a:buFontTx/>
              <a:buChar char="•"/>
            </a:pP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Since X</a:t>
            </a:r>
            <a:r>
              <a:rPr lang="en-US" altLang="zh-CN" sz="2000" baseline="-25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&gt; X</a:t>
            </a:r>
            <a:r>
              <a:rPr lang="en-US" altLang="zh-CN" sz="2000" baseline="-25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and Y</a:t>
            </a:r>
            <a:r>
              <a:rPr lang="en-US" altLang="zh-CN" sz="2000" baseline="-25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B 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&gt; Y</a:t>
            </a:r>
            <a:r>
              <a:rPr lang="en-US" altLang="zh-CN" sz="2000" baseline="-25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go to SW, which in this case is null.</a:t>
            </a:r>
          </a:p>
        </p:txBody>
      </p:sp>
      <p:grpSp>
        <p:nvGrpSpPr>
          <p:cNvPr id="100356" name="Group 2"/>
          <p:cNvGrpSpPr/>
          <p:nvPr/>
        </p:nvGrpSpPr>
        <p:grpSpPr bwMode="auto">
          <a:xfrm>
            <a:off x="2229485" y="1510348"/>
            <a:ext cx="7764463" cy="2530476"/>
            <a:chOff x="812800" y="1658938"/>
            <a:chExt cx="7764463" cy="2530476"/>
          </a:xfrm>
        </p:grpSpPr>
        <p:sp>
          <p:nvSpPr>
            <p:cNvPr id="100357" name="Line 5"/>
            <p:cNvSpPr>
              <a:spLocks noChangeShapeType="1"/>
            </p:cNvSpPr>
            <p:nvPr/>
          </p:nvSpPr>
          <p:spPr bwMode="auto">
            <a:xfrm>
              <a:off x="889000" y="2451100"/>
              <a:ext cx="19050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58" name="Line 6"/>
            <p:cNvSpPr>
              <a:spLocks noChangeShapeType="1"/>
            </p:cNvSpPr>
            <p:nvPr/>
          </p:nvSpPr>
          <p:spPr bwMode="auto">
            <a:xfrm>
              <a:off x="2108200" y="2146300"/>
              <a:ext cx="0" cy="1143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59" name="Line 7"/>
            <p:cNvSpPr>
              <a:spLocks noChangeShapeType="1"/>
            </p:cNvSpPr>
            <p:nvPr/>
          </p:nvSpPr>
          <p:spPr bwMode="auto">
            <a:xfrm>
              <a:off x="2794000" y="2146300"/>
              <a:ext cx="0" cy="1905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60" name="Line 8"/>
            <p:cNvSpPr>
              <a:spLocks noChangeShapeType="1"/>
            </p:cNvSpPr>
            <p:nvPr/>
          </p:nvSpPr>
          <p:spPr bwMode="auto">
            <a:xfrm>
              <a:off x="812800" y="3289300"/>
              <a:ext cx="32766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61" name="Line 10"/>
            <p:cNvSpPr>
              <a:spLocks noChangeShapeType="1"/>
            </p:cNvSpPr>
            <p:nvPr/>
          </p:nvSpPr>
          <p:spPr bwMode="auto">
            <a:xfrm>
              <a:off x="2794000" y="2603500"/>
              <a:ext cx="12954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62" name="Line 14"/>
            <p:cNvSpPr>
              <a:spLocks noChangeShapeType="1"/>
            </p:cNvSpPr>
            <p:nvPr/>
          </p:nvSpPr>
          <p:spPr bwMode="auto">
            <a:xfrm>
              <a:off x="812800" y="3975100"/>
              <a:ext cx="19812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63" name="Rectangle 15"/>
            <p:cNvSpPr>
              <a:spLocks noChangeArrowheads="1"/>
            </p:cNvSpPr>
            <p:nvPr/>
          </p:nvSpPr>
          <p:spPr bwMode="auto">
            <a:xfrm>
              <a:off x="1392238" y="2182813"/>
              <a:ext cx="73850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D(35,85)</a:t>
              </a:r>
            </a:p>
          </p:txBody>
        </p:sp>
        <p:sp>
          <p:nvSpPr>
            <p:cNvPr id="100364" name="Rectangle 16"/>
            <p:cNvSpPr>
              <a:spLocks noChangeArrowheads="1"/>
            </p:cNvSpPr>
            <p:nvPr/>
          </p:nvSpPr>
          <p:spPr bwMode="auto">
            <a:xfrm>
              <a:off x="2755900" y="3243263"/>
              <a:ext cx="73850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A(50,50)</a:t>
              </a:r>
            </a:p>
          </p:txBody>
        </p:sp>
        <p:sp>
          <p:nvSpPr>
            <p:cNvPr id="100365" name="Rectangle 17"/>
            <p:cNvSpPr>
              <a:spLocks noChangeArrowheads="1"/>
            </p:cNvSpPr>
            <p:nvPr/>
          </p:nvSpPr>
          <p:spPr bwMode="auto">
            <a:xfrm>
              <a:off x="1376363" y="3722688"/>
              <a:ext cx="72199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E(25,25)</a:t>
              </a:r>
            </a:p>
          </p:txBody>
        </p:sp>
        <p:sp>
          <p:nvSpPr>
            <p:cNvPr id="100366" name="Rectangle 51"/>
            <p:cNvSpPr>
              <a:spLocks noChangeArrowheads="1"/>
            </p:cNvSpPr>
            <p:nvPr/>
          </p:nvSpPr>
          <p:spPr bwMode="auto">
            <a:xfrm>
              <a:off x="3468688" y="2343150"/>
              <a:ext cx="32448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latin typeface="Symbol" panose="05050102010706020507" pitchFamily="2" charset="2"/>
                  <a:ea typeface="宋体" panose="02010600030101010101" pitchFamily="2" charset="-122"/>
                </a:rPr>
                <a:t>·</a:t>
              </a:r>
            </a:p>
          </p:txBody>
        </p:sp>
        <p:sp>
          <p:nvSpPr>
            <p:cNvPr id="100367" name="Rectangle 52"/>
            <p:cNvSpPr>
              <a:spLocks noChangeArrowheads="1"/>
            </p:cNvSpPr>
            <p:nvPr/>
          </p:nvSpPr>
          <p:spPr bwMode="auto">
            <a:xfrm>
              <a:off x="1935163" y="2195513"/>
              <a:ext cx="32448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latin typeface="Symbol" panose="05050102010706020507" pitchFamily="2" charset="2"/>
                  <a:ea typeface="宋体" panose="02010600030101010101" pitchFamily="2" charset="-122"/>
                </a:rPr>
                <a:t>·</a:t>
              </a:r>
            </a:p>
          </p:txBody>
        </p:sp>
        <p:sp>
          <p:nvSpPr>
            <p:cNvPr id="100368" name="Rectangle 53"/>
            <p:cNvSpPr>
              <a:spLocks noChangeArrowheads="1"/>
            </p:cNvSpPr>
            <p:nvPr/>
          </p:nvSpPr>
          <p:spPr bwMode="auto">
            <a:xfrm>
              <a:off x="1258888" y="3719513"/>
              <a:ext cx="32448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latin typeface="Symbol" panose="05050102010706020507" pitchFamily="2" charset="2"/>
                  <a:ea typeface="宋体" panose="02010600030101010101" pitchFamily="2" charset="-122"/>
                </a:rPr>
                <a:t>·</a:t>
              </a:r>
            </a:p>
          </p:txBody>
        </p:sp>
        <p:sp>
          <p:nvSpPr>
            <p:cNvPr id="100369" name="Rectangle 54"/>
            <p:cNvSpPr>
              <a:spLocks noChangeArrowheads="1"/>
            </p:cNvSpPr>
            <p:nvPr/>
          </p:nvSpPr>
          <p:spPr bwMode="auto">
            <a:xfrm>
              <a:off x="2628900" y="3025775"/>
              <a:ext cx="32448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latin typeface="Symbol" panose="05050102010706020507" pitchFamily="2" charset="2"/>
                  <a:ea typeface="宋体" panose="02010600030101010101" pitchFamily="2" charset="-122"/>
                </a:rPr>
                <a:t>·</a:t>
              </a:r>
            </a:p>
          </p:txBody>
        </p:sp>
        <p:sp>
          <p:nvSpPr>
            <p:cNvPr id="100370" name="Rectangle 56"/>
            <p:cNvSpPr>
              <a:spLocks noChangeArrowheads="1"/>
            </p:cNvSpPr>
            <p:nvPr/>
          </p:nvSpPr>
          <p:spPr bwMode="auto">
            <a:xfrm>
              <a:off x="1141413" y="1658938"/>
              <a:ext cx="2646045" cy="398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Partitioning of the plane</a:t>
              </a:r>
            </a:p>
          </p:txBody>
        </p:sp>
        <p:grpSp>
          <p:nvGrpSpPr>
            <p:cNvPr id="100371" name="Group 63"/>
            <p:cNvGrpSpPr/>
            <p:nvPr/>
          </p:nvGrpSpPr>
          <p:grpSpPr bwMode="auto">
            <a:xfrm>
              <a:off x="2946400" y="2605088"/>
              <a:ext cx="309246" cy="306705"/>
              <a:chOff x="2946400" y="3633788"/>
              <a:chExt cx="309246" cy="306705"/>
            </a:xfrm>
          </p:grpSpPr>
          <p:sp>
            <p:nvSpPr>
              <p:cNvPr id="100413" name="Rectangle 60"/>
              <p:cNvSpPr>
                <a:spLocks noChangeArrowheads="1"/>
              </p:cNvSpPr>
              <p:nvPr/>
            </p:nvSpPr>
            <p:spPr bwMode="auto">
              <a:xfrm>
                <a:off x="2946400" y="3732213"/>
                <a:ext cx="66675" cy="7620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es-ES" altLang="zh-CN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14" name="Text Box 62"/>
              <p:cNvSpPr txBox="1">
                <a:spLocks noChangeArrowheads="1"/>
              </p:cNvSpPr>
              <p:nvPr/>
            </p:nvSpPr>
            <p:spPr bwMode="auto">
              <a:xfrm>
                <a:off x="2973706" y="3633788"/>
                <a:ext cx="281940" cy="306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</a:p>
            </p:txBody>
          </p:sp>
        </p:grpSp>
        <p:cxnSp>
          <p:nvCxnSpPr>
            <p:cNvPr id="100372" name="Straight Connector 62"/>
            <p:cNvCxnSpPr>
              <a:cxnSpLocks noChangeShapeType="1"/>
            </p:cNvCxnSpPr>
            <p:nvPr/>
          </p:nvCxnSpPr>
          <p:spPr bwMode="auto">
            <a:xfrm rot="16200000" flipH="1">
              <a:off x="984250" y="3743326"/>
              <a:ext cx="892175" cy="0"/>
            </a:xfrm>
            <a:prstGeom prst="line">
              <a:avLst/>
            </a:prstGeom>
            <a:noFill/>
            <a:ln w="12700" algn="ctr">
              <a:solidFill>
                <a:srgbClr val="003399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0373" name="Line 11"/>
            <p:cNvSpPr>
              <a:spLocks noChangeShapeType="1"/>
            </p:cNvSpPr>
            <p:nvPr/>
          </p:nvSpPr>
          <p:spPr bwMode="auto">
            <a:xfrm>
              <a:off x="3632200" y="2146300"/>
              <a:ext cx="0" cy="1143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74" name="Line 12"/>
            <p:cNvSpPr>
              <a:spLocks noChangeShapeType="1"/>
            </p:cNvSpPr>
            <p:nvPr/>
          </p:nvSpPr>
          <p:spPr bwMode="auto">
            <a:xfrm>
              <a:off x="3632200" y="2908300"/>
              <a:ext cx="9144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75" name="Line 13"/>
            <p:cNvSpPr>
              <a:spLocks noChangeShapeType="1"/>
            </p:cNvSpPr>
            <p:nvPr/>
          </p:nvSpPr>
          <p:spPr bwMode="auto">
            <a:xfrm>
              <a:off x="4013200" y="2603500"/>
              <a:ext cx="0" cy="6858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76" name="Rectangle 18"/>
            <p:cNvSpPr>
              <a:spLocks noChangeArrowheads="1"/>
            </p:cNvSpPr>
            <p:nvPr/>
          </p:nvSpPr>
          <p:spPr bwMode="auto">
            <a:xfrm>
              <a:off x="3586163" y="2351088"/>
              <a:ext cx="730250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B(75,80)</a:t>
              </a:r>
            </a:p>
          </p:txBody>
        </p:sp>
        <p:grpSp>
          <p:nvGrpSpPr>
            <p:cNvPr id="100377" name="Group 65"/>
            <p:cNvGrpSpPr/>
            <p:nvPr/>
          </p:nvGrpSpPr>
          <p:grpSpPr bwMode="auto">
            <a:xfrm>
              <a:off x="3848100" y="2649538"/>
              <a:ext cx="849313" cy="507365"/>
              <a:chOff x="3848100" y="3678238"/>
              <a:chExt cx="849313" cy="507365"/>
            </a:xfrm>
          </p:grpSpPr>
          <p:sp>
            <p:nvSpPr>
              <p:cNvPr id="100411" name="Rectangle 19"/>
              <p:cNvSpPr>
                <a:spLocks noChangeArrowheads="1"/>
              </p:cNvSpPr>
              <p:nvPr/>
            </p:nvSpPr>
            <p:spPr bwMode="auto">
              <a:xfrm>
                <a:off x="3967163" y="3910013"/>
                <a:ext cx="730250" cy="2755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200">
                    <a:latin typeface="Times New Roman" panose="02020603050405020304" pitchFamily="18" charset="0"/>
                    <a:ea typeface="宋体" panose="02010600030101010101" pitchFamily="2" charset="-122"/>
                  </a:rPr>
                  <a:t>C(90,65)</a:t>
                </a:r>
              </a:p>
            </p:txBody>
          </p:sp>
          <p:sp>
            <p:nvSpPr>
              <p:cNvPr id="100412" name="Rectangle 55"/>
              <p:cNvSpPr>
                <a:spLocks noChangeArrowheads="1"/>
              </p:cNvSpPr>
              <p:nvPr/>
            </p:nvSpPr>
            <p:spPr bwMode="auto">
              <a:xfrm>
                <a:off x="3848100" y="3678238"/>
                <a:ext cx="324485" cy="461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2400">
                    <a:latin typeface="Symbol" panose="05050102010706020507" pitchFamily="2" charset="2"/>
                    <a:ea typeface="宋体" panose="02010600030101010101" pitchFamily="2" charset="-122"/>
                  </a:rPr>
                  <a:t>·</a:t>
                </a:r>
              </a:p>
            </p:txBody>
          </p:sp>
        </p:grpSp>
        <p:sp>
          <p:nvSpPr>
            <p:cNvPr id="100378" name="Line 33"/>
            <p:cNvSpPr>
              <a:spLocks noChangeShapeType="1"/>
            </p:cNvSpPr>
            <p:nvPr/>
          </p:nvSpPr>
          <p:spPr bwMode="auto">
            <a:xfrm>
              <a:off x="6527800" y="2374900"/>
              <a:ext cx="1016000" cy="711200"/>
            </a:xfrm>
            <a:prstGeom prst="line">
              <a:avLst/>
            </a:prstGeom>
            <a:noFill/>
            <a:ln w="38100">
              <a:solidFill>
                <a:srgbClr val="CC53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79" name="Line 35"/>
            <p:cNvSpPr>
              <a:spLocks noChangeShapeType="1"/>
            </p:cNvSpPr>
            <p:nvPr/>
          </p:nvSpPr>
          <p:spPr bwMode="auto">
            <a:xfrm flipH="1">
              <a:off x="7377113" y="3124200"/>
              <a:ext cx="171450" cy="542925"/>
            </a:xfrm>
            <a:prstGeom prst="line">
              <a:avLst/>
            </a:prstGeom>
            <a:noFill/>
            <a:ln w="38100">
              <a:solidFill>
                <a:srgbClr val="CC53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00380" name="Straight Connector 68"/>
            <p:cNvCxnSpPr>
              <a:cxnSpLocks noChangeShapeType="1"/>
              <a:stCxn id="100394" idx="0"/>
            </p:cNvCxnSpPr>
            <p:nvPr/>
          </p:nvCxnSpPr>
          <p:spPr bwMode="auto">
            <a:xfrm rot="16200000" flipH="1">
              <a:off x="6693694" y="2209006"/>
              <a:ext cx="688975" cy="102076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381" name="Straight Connector 70"/>
            <p:cNvCxnSpPr>
              <a:cxnSpLocks noChangeShapeType="1"/>
              <a:endCxn id="100391" idx="0"/>
            </p:cNvCxnSpPr>
            <p:nvPr/>
          </p:nvCxnSpPr>
          <p:spPr bwMode="auto">
            <a:xfrm rot="10800000" flipV="1">
              <a:off x="7366000" y="3062288"/>
              <a:ext cx="182563" cy="61277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0382" name="Rectangle 4"/>
            <p:cNvSpPr>
              <a:spLocks noChangeArrowheads="1"/>
            </p:cNvSpPr>
            <p:nvPr/>
          </p:nvSpPr>
          <p:spPr bwMode="auto">
            <a:xfrm>
              <a:off x="5668963" y="1658938"/>
              <a:ext cx="1581150" cy="398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The quad tree</a:t>
              </a:r>
            </a:p>
          </p:txBody>
        </p:sp>
        <p:sp>
          <p:nvSpPr>
            <p:cNvPr id="100383" name="Oval 21"/>
            <p:cNvSpPr>
              <a:spLocks noChangeArrowheads="1"/>
            </p:cNvSpPr>
            <p:nvPr/>
          </p:nvSpPr>
          <p:spPr bwMode="auto">
            <a:xfrm>
              <a:off x="6731000" y="3727450"/>
              <a:ext cx="58738" cy="666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endParaRPr lang="es-E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0384" name="Oval 22"/>
            <p:cNvSpPr>
              <a:spLocks noChangeArrowheads="1"/>
            </p:cNvSpPr>
            <p:nvPr/>
          </p:nvSpPr>
          <p:spPr bwMode="auto">
            <a:xfrm>
              <a:off x="6405563" y="3141663"/>
              <a:ext cx="58737" cy="666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endParaRPr lang="es-E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0385" name="Oval 23"/>
            <p:cNvSpPr>
              <a:spLocks noChangeArrowheads="1"/>
            </p:cNvSpPr>
            <p:nvPr/>
          </p:nvSpPr>
          <p:spPr bwMode="auto">
            <a:xfrm>
              <a:off x="5643563" y="3206750"/>
              <a:ext cx="58737" cy="666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endParaRPr lang="es-E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0386" name="Oval 24"/>
            <p:cNvSpPr>
              <a:spLocks noChangeArrowheads="1"/>
            </p:cNvSpPr>
            <p:nvPr/>
          </p:nvSpPr>
          <p:spPr bwMode="auto">
            <a:xfrm>
              <a:off x="7516813" y="3078163"/>
              <a:ext cx="58737" cy="666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endParaRPr lang="es-E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0387" name="Oval 25"/>
            <p:cNvSpPr>
              <a:spLocks noChangeArrowheads="1"/>
            </p:cNvSpPr>
            <p:nvPr/>
          </p:nvSpPr>
          <p:spPr bwMode="auto">
            <a:xfrm>
              <a:off x="6502400" y="2339975"/>
              <a:ext cx="58738" cy="666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endParaRPr lang="es-E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0388" name="Rectangle 26"/>
            <p:cNvSpPr>
              <a:spLocks noChangeArrowheads="1"/>
            </p:cNvSpPr>
            <p:nvPr/>
          </p:nvSpPr>
          <p:spPr bwMode="auto">
            <a:xfrm>
              <a:off x="4935538" y="3141663"/>
              <a:ext cx="136525" cy="1428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endParaRPr lang="es-E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0389" name="Rectangle 27"/>
            <p:cNvSpPr>
              <a:spLocks noChangeArrowheads="1"/>
            </p:cNvSpPr>
            <p:nvPr/>
          </p:nvSpPr>
          <p:spPr bwMode="auto">
            <a:xfrm>
              <a:off x="8440738" y="3675063"/>
              <a:ext cx="136525" cy="1428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endParaRPr lang="es-E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0390" name="Rectangle 28"/>
            <p:cNvSpPr>
              <a:spLocks noChangeArrowheads="1"/>
            </p:cNvSpPr>
            <p:nvPr/>
          </p:nvSpPr>
          <p:spPr bwMode="auto">
            <a:xfrm>
              <a:off x="7831138" y="3675063"/>
              <a:ext cx="136525" cy="1428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endParaRPr lang="es-E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0391" name="Rectangle 29"/>
            <p:cNvSpPr>
              <a:spLocks noChangeArrowheads="1"/>
            </p:cNvSpPr>
            <p:nvPr/>
          </p:nvSpPr>
          <p:spPr bwMode="auto">
            <a:xfrm>
              <a:off x="7297738" y="3675063"/>
              <a:ext cx="136525" cy="1428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endParaRPr lang="es-E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0392" name="Line 30"/>
            <p:cNvSpPr>
              <a:spLocks noChangeShapeType="1"/>
            </p:cNvSpPr>
            <p:nvPr/>
          </p:nvSpPr>
          <p:spPr bwMode="auto">
            <a:xfrm flipH="1">
              <a:off x="5080000" y="2374900"/>
              <a:ext cx="1447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93" name="Line 31"/>
            <p:cNvSpPr>
              <a:spLocks noChangeShapeType="1"/>
            </p:cNvSpPr>
            <p:nvPr/>
          </p:nvSpPr>
          <p:spPr bwMode="auto">
            <a:xfrm flipH="1">
              <a:off x="5689600" y="2374900"/>
              <a:ext cx="838200" cy="838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94" name="Line 32"/>
            <p:cNvSpPr>
              <a:spLocks noChangeShapeType="1"/>
            </p:cNvSpPr>
            <p:nvPr/>
          </p:nvSpPr>
          <p:spPr bwMode="auto">
            <a:xfrm flipH="1">
              <a:off x="6451600" y="2374900"/>
              <a:ext cx="762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95" name="Line 34"/>
            <p:cNvSpPr>
              <a:spLocks noChangeShapeType="1"/>
            </p:cNvSpPr>
            <p:nvPr/>
          </p:nvSpPr>
          <p:spPr bwMode="auto">
            <a:xfrm flipH="1">
              <a:off x="6767513" y="3136900"/>
              <a:ext cx="750887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96" name="Line 36"/>
            <p:cNvSpPr>
              <a:spLocks noChangeShapeType="1"/>
            </p:cNvSpPr>
            <p:nvPr/>
          </p:nvSpPr>
          <p:spPr bwMode="auto">
            <a:xfrm>
              <a:off x="7558088" y="3117850"/>
              <a:ext cx="341312" cy="552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97" name="Line 37"/>
            <p:cNvSpPr>
              <a:spLocks noChangeShapeType="1"/>
            </p:cNvSpPr>
            <p:nvPr/>
          </p:nvSpPr>
          <p:spPr bwMode="auto">
            <a:xfrm>
              <a:off x="7594600" y="3136900"/>
              <a:ext cx="914400" cy="533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98" name="Rectangle 38"/>
            <p:cNvSpPr>
              <a:spLocks noChangeArrowheads="1"/>
            </p:cNvSpPr>
            <p:nvPr/>
          </p:nvSpPr>
          <p:spPr bwMode="auto">
            <a:xfrm>
              <a:off x="5453063" y="2568575"/>
              <a:ext cx="361950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SE</a:t>
              </a:r>
            </a:p>
          </p:txBody>
        </p:sp>
        <p:sp>
          <p:nvSpPr>
            <p:cNvPr id="100399" name="Rectangle 39"/>
            <p:cNvSpPr>
              <a:spLocks noChangeArrowheads="1"/>
            </p:cNvSpPr>
            <p:nvPr/>
          </p:nvSpPr>
          <p:spPr bwMode="auto">
            <a:xfrm>
              <a:off x="5886450" y="2835275"/>
              <a:ext cx="550863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SW</a:t>
              </a:r>
            </a:p>
          </p:txBody>
        </p:sp>
        <p:sp>
          <p:nvSpPr>
            <p:cNvPr id="100400" name="Rectangle 40"/>
            <p:cNvSpPr>
              <a:spLocks noChangeArrowheads="1"/>
            </p:cNvSpPr>
            <p:nvPr/>
          </p:nvSpPr>
          <p:spPr bwMode="auto">
            <a:xfrm>
              <a:off x="5445125" y="3190875"/>
              <a:ext cx="27749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00401" name="Rectangle 41"/>
            <p:cNvSpPr>
              <a:spLocks noChangeArrowheads="1"/>
            </p:cNvSpPr>
            <p:nvPr/>
          </p:nvSpPr>
          <p:spPr bwMode="auto">
            <a:xfrm>
              <a:off x="6434138" y="2687638"/>
              <a:ext cx="438150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NW</a:t>
              </a:r>
            </a:p>
          </p:txBody>
        </p:sp>
        <p:sp>
          <p:nvSpPr>
            <p:cNvPr id="100402" name="Rectangle 42"/>
            <p:cNvSpPr>
              <a:spLocks noChangeArrowheads="1"/>
            </p:cNvSpPr>
            <p:nvPr/>
          </p:nvSpPr>
          <p:spPr bwMode="auto">
            <a:xfrm>
              <a:off x="6170613" y="3198813"/>
              <a:ext cx="29400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100403" name="Rectangle 43"/>
            <p:cNvSpPr>
              <a:spLocks noChangeArrowheads="1"/>
            </p:cNvSpPr>
            <p:nvPr/>
          </p:nvSpPr>
          <p:spPr bwMode="auto">
            <a:xfrm>
              <a:off x="6938963" y="2498725"/>
              <a:ext cx="387350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NE</a:t>
              </a:r>
            </a:p>
          </p:txBody>
        </p:sp>
        <p:sp>
          <p:nvSpPr>
            <p:cNvPr id="100404" name="Rectangle 45"/>
            <p:cNvSpPr>
              <a:spLocks noChangeArrowheads="1"/>
            </p:cNvSpPr>
            <p:nvPr/>
          </p:nvSpPr>
          <p:spPr bwMode="auto">
            <a:xfrm>
              <a:off x="6826250" y="3257550"/>
              <a:ext cx="361950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SE</a:t>
              </a:r>
            </a:p>
          </p:txBody>
        </p:sp>
        <p:sp>
          <p:nvSpPr>
            <p:cNvPr id="100405" name="Rectangle 46"/>
            <p:cNvSpPr>
              <a:spLocks noChangeArrowheads="1"/>
            </p:cNvSpPr>
            <p:nvPr/>
          </p:nvSpPr>
          <p:spPr bwMode="auto">
            <a:xfrm>
              <a:off x="7391400" y="3373438"/>
              <a:ext cx="66992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SW</a:t>
              </a:r>
            </a:p>
          </p:txBody>
        </p:sp>
        <p:sp>
          <p:nvSpPr>
            <p:cNvPr id="100406" name="Rectangle 47"/>
            <p:cNvSpPr>
              <a:spLocks noChangeArrowheads="1"/>
            </p:cNvSpPr>
            <p:nvPr/>
          </p:nvSpPr>
          <p:spPr bwMode="auto">
            <a:xfrm>
              <a:off x="7772400" y="3398838"/>
              <a:ext cx="438150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NW</a:t>
              </a:r>
            </a:p>
          </p:txBody>
        </p:sp>
        <p:sp>
          <p:nvSpPr>
            <p:cNvPr id="100407" name="Rectangle 48"/>
            <p:cNvSpPr>
              <a:spLocks noChangeArrowheads="1"/>
            </p:cNvSpPr>
            <p:nvPr/>
          </p:nvSpPr>
          <p:spPr bwMode="auto">
            <a:xfrm>
              <a:off x="7913688" y="3149600"/>
              <a:ext cx="387350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NE</a:t>
              </a:r>
            </a:p>
          </p:txBody>
        </p:sp>
        <p:sp>
          <p:nvSpPr>
            <p:cNvPr id="100408" name="Rectangle 49"/>
            <p:cNvSpPr>
              <a:spLocks noChangeArrowheads="1"/>
            </p:cNvSpPr>
            <p:nvPr/>
          </p:nvSpPr>
          <p:spPr bwMode="auto">
            <a:xfrm>
              <a:off x="6508750" y="3708400"/>
              <a:ext cx="285750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00409" name="Rectangle 16"/>
            <p:cNvSpPr>
              <a:spLocks noChangeArrowheads="1"/>
            </p:cNvSpPr>
            <p:nvPr/>
          </p:nvSpPr>
          <p:spPr bwMode="auto">
            <a:xfrm>
              <a:off x="6523038" y="2165350"/>
              <a:ext cx="73850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A(50,50)</a:t>
              </a:r>
            </a:p>
          </p:txBody>
        </p:sp>
        <p:sp>
          <p:nvSpPr>
            <p:cNvPr id="100410" name="Rectangle 18"/>
            <p:cNvSpPr>
              <a:spLocks noChangeArrowheads="1"/>
            </p:cNvSpPr>
            <p:nvPr/>
          </p:nvSpPr>
          <p:spPr bwMode="auto">
            <a:xfrm>
              <a:off x="7508875" y="2897188"/>
              <a:ext cx="730250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200">
                  <a:latin typeface="Times New Roman" panose="02020603050405020304" pitchFamily="18" charset="0"/>
                  <a:ea typeface="宋体" panose="02010600030101010101" pitchFamily="2" charset="-122"/>
                </a:rPr>
                <a:t>B(75,80)</a:t>
              </a: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4172242" y="2818209"/>
            <a:ext cx="441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NE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636002" y="2422644"/>
            <a:ext cx="4889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SW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49885" y="128270"/>
            <a:ext cx="57359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Quadtree – Exact Match Query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10679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114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ChangeArrowheads="1"/>
          </p:cNvSpPr>
          <p:nvPr/>
        </p:nvSpPr>
        <p:spPr bwMode="auto">
          <a:xfrm>
            <a:off x="1990725" y="1989138"/>
            <a:ext cx="3816350" cy="3744912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380" name="Oval 4"/>
          <p:cNvSpPr>
            <a:spLocks noChangeArrowheads="1"/>
          </p:cNvSpPr>
          <p:nvPr/>
        </p:nvSpPr>
        <p:spPr bwMode="auto">
          <a:xfrm>
            <a:off x="2638425" y="4760913"/>
            <a:ext cx="252413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381" name="Oval 5"/>
          <p:cNvSpPr>
            <a:spLocks noChangeArrowheads="1"/>
          </p:cNvSpPr>
          <p:nvPr/>
        </p:nvSpPr>
        <p:spPr bwMode="auto">
          <a:xfrm>
            <a:off x="2530475" y="3068638"/>
            <a:ext cx="252413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382" name="Oval 6"/>
          <p:cNvSpPr>
            <a:spLocks noChangeArrowheads="1"/>
          </p:cNvSpPr>
          <p:nvPr/>
        </p:nvSpPr>
        <p:spPr bwMode="auto">
          <a:xfrm>
            <a:off x="2674938" y="2457450"/>
            <a:ext cx="252412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383" name="Oval 7"/>
          <p:cNvSpPr>
            <a:spLocks noChangeArrowheads="1"/>
          </p:cNvSpPr>
          <p:nvPr/>
        </p:nvSpPr>
        <p:spPr bwMode="auto">
          <a:xfrm>
            <a:off x="3214688" y="3536950"/>
            <a:ext cx="252412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384" name="Oval 8"/>
          <p:cNvSpPr>
            <a:spLocks noChangeArrowheads="1"/>
          </p:cNvSpPr>
          <p:nvPr/>
        </p:nvSpPr>
        <p:spPr bwMode="auto">
          <a:xfrm>
            <a:off x="4764088" y="5049838"/>
            <a:ext cx="252412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385" name="Line 9"/>
          <p:cNvSpPr>
            <a:spLocks noChangeShapeType="1"/>
          </p:cNvSpPr>
          <p:nvPr/>
        </p:nvSpPr>
        <p:spPr bwMode="auto">
          <a:xfrm>
            <a:off x="3863975" y="1989137"/>
            <a:ext cx="0" cy="37798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6" name="Line 10"/>
          <p:cNvSpPr>
            <a:spLocks noChangeShapeType="1"/>
          </p:cNvSpPr>
          <p:nvPr/>
        </p:nvSpPr>
        <p:spPr bwMode="auto">
          <a:xfrm>
            <a:off x="1990725" y="3897313"/>
            <a:ext cx="187325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7" name="Line 11"/>
          <p:cNvSpPr>
            <a:spLocks noChangeShapeType="1"/>
          </p:cNvSpPr>
          <p:nvPr/>
        </p:nvSpPr>
        <p:spPr bwMode="auto">
          <a:xfrm>
            <a:off x="2963863" y="1989138"/>
            <a:ext cx="0" cy="18716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8" name="Line 12"/>
          <p:cNvSpPr>
            <a:spLocks noChangeShapeType="1"/>
          </p:cNvSpPr>
          <p:nvPr/>
        </p:nvSpPr>
        <p:spPr bwMode="auto">
          <a:xfrm>
            <a:off x="1955800" y="2960688"/>
            <a:ext cx="19081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9" name="Line 13"/>
          <p:cNvSpPr>
            <a:spLocks noChangeShapeType="1"/>
          </p:cNvSpPr>
          <p:nvPr/>
        </p:nvSpPr>
        <p:spPr bwMode="auto">
          <a:xfrm>
            <a:off x="3898899" y="3897313"/>
            <a:ext cx="19081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90" name="Text Box 14"/>
          <p:cNvSpPr txBox="1">
            <a:spLocks noChangeArrowheads="1"/>
          </p:cNvSpPr>
          <p:nvPr/>
        </p:nvSpPr>
        <p:spPr bwMode="auto">
          <a:xfrm>
            <a:off x="3652520" y="5826125"/>
            <a:ext cx="4114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01391" name="Text Box 15"/>
          <p:cNvSpPr txBox="1">
            <a:spLocks noChangeArrowheads="1"/>
          </p:cNvSpPr>
          <p:nvPr/>
        </p:nvSpPr>
        <p:spPr bwMode="auto">
          <a:xfrm>
            <a:off x="1533208" y="3716338"/>
            <a:ext cx="4114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01392" name="Oval 16"/>
          <p:cNvSpPr>
            <a:spLocks noChangeArrowheads="1"/>
          </p:cNvSpPr>
          <p:nvPr/>
        </p:nvSpPr>
        <p:spPr bwMode="auto">
          <a:xfrm>
            <a:off x="8183563" y="1881188"/>
            <a:ext cx="936625" cy="576262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,Y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1393" name="Line 18"/>
          <p:cNvSpPr>
            <a:spLocks noChangeShapeType="1"/>
          </p:cNvSpPr>
          <p:nvPr/>
        </p:nvSpPr>
        <p:spPr bwMode="auto">
          <a:xfrm>
            <a:off x="9083675" y="2312988"/>
            <a:ext cx="118903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94" name="Line 19"/>
          <p:cNvSpPr>
            <a:spLocks noChangeShapeType="1"/>
          </p:cNvSpPr>
          <p:nvPr/>
        </p:nvSpPr>
        <p:spPr bwMode="auto">
          <a:xfrm flipH="1">
            <a:off x="6635750" y="2312988"/>
            <a:ext cx="1547813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95" name="Oval 20"/>
          <p:cNvSpPr>
            <a:spLocks noChangeArrowheads="1"/>
          </p:cNvSpPr>
          <p:nvPr/>
        </p:nvSpPr>
        <p:spPr bwMode="auto">
          <a:xfrm>
            <a:off x="5375275" y="3500438"/>
            <a:ext cx="252413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396" name="Oval 21"/>
          <p:cNvSpPr>
            <a:spLocks noChangeArrowheads="1"/>
          </p:cNvSpPr>
          <p:nvPr/>
        </p:nvSpPr>
        <p:spPr bwMode="auto">
          <a:xfrm>
            <a:off x="6456363" y="3068638"/>
            <a:ext cx="252412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397" name="Line 22"/>
          <p:cNvSpPr>
            <a:spLocks noChangeShapeType="1"/>
          </p:cNvSpPr>
          <p:nvPr/>
        </p:nvSpPr>
        <p:spPr bwMode="auto">
          <a:xfrm flipH="1">
            <a:off x="8075613" y="2457450"/>
            <a:ext cx="4318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98" name="Line 23"/>
          <p:cNvSpPr>
            <a:spLocks noChangeShapeType="1"/>
          </p:cNvSpPr>
          <p:nvPr/>
        </p:nvSpPr>
        <p:spPr bwMode="auto">
          <a:xfrm>
            <a:off x="8796338" y="2457450"/>
            <a:ext cx="684212" cy="68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99" name="Oval 27"/>
          <p:cNvSpPr>
            <a:spLocks noChangeArrowheads="1"/>
          </p:cNvSpPr>
          <p:nvPr/>
        </p:nvSpPr>
        <p:spPr bwMode="auto">
          <a:xfrm>
            <a:off x="7535863" y="3068638"/>
            <a:ext cx="936625" cy="576262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,Y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01400" name="Line 28"/>
          <p:cNvSpPr>
            <a:spLocks noChangeShapeType="1"/>
          </p:cNvSpPr>
          <p:nvPr/>
        </p:nvSpPr>
        <p:spPr bwMode="auto">
          <a:xfrm>
            <a:off x="8435975" y="3500438"/>
            <a:ext cx="118903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01" name="Line 29"/>
          <p:cNvSpPr>
            <a:spLocks noChangeShapeType="1"/>
          </p:cNvSpPr>
          <p:nvPr/>
        </p:nvSpPr>
        <p:spPr bwMode="auto">
          <a:xfrm flipH="1">
            <a:off x="6167438" y="3500438"/>
            <a:ext cx="1368425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02" name="Line 30"/>
          <p:cNvSpPr>
            <a:spLocks noChangeShapeType="1"/>
          </p:cNvSpPr>
          <p:nvPr/>
        </p:nvSpPr>
        <p:spPr bwMode="auto">
          <a:xfrm flipH="1">
            <a:off x="7356475" y="3644900"/>
            <a:ext cx="503238" cy="68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03" name="Line 31"/>
          <p:cNvSpPr>
            <a:spLocks noChangeShapeType="1"/>
          </p:cNvSpPr>
          <p:nvPr/>
        </p:nvSpPr>
        <p:spPr bwMode="auto">
          <a:xfrm>
            <a:off x="8148638" y="3644900"/>
            <a:ext cx="539750" cy="68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04" name="Oval 32"/>
          <p:cNvSpPr>
            <a:spLocks noChangeArrowheads="1"/>
          </p:cNvSpPr>
          <p:nvPr/>
        </p:nvSpPr>
        <p:spPr bwMode="auto">
          <a:xfrm>
            <a:off x="9372600" y="3141663"/>
            <a:ext cx="252413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405" name="Oval 33"/>
          <p:cNvSpPr>
            <a:spLocks noChangeArrowheads="1"/>
          </p:cNvSpPr>
          <p:nvPr/>
        </p:nvSpPr>
        <p:spPr bwMode="auto">
          <a:xfrm>
            <a:off x="10272713" y="3105150"/>
            <a:ext cx="252412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406" name="Oval 34"/>
          <p:cNvSpPr>
            <a:spLocks noChangeArrowheads="1"/>
          </p:cNvSpPr>
          <p:nvPr/>
        </p:nvSpPr>
        <p:spPr bwMode="auto">
          <a:xfrm>
            <a:off x="7248525" y="4329113"/>
            <a:ext cx="252413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407" name="Oval 35"/>
          <p:cNvSpPr>
            <a:spLocks noChangeArrowheads="1"/>
          </p:cNvSpPr>
          <p:nvPr/>
        </p:nvSpPr>
        <p:spPr bwMode="auto">
          <a:xfrm>
            <a:off x="5951538" y="4292600"/>
            <a:ext cx="252412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408" name="Oval 36"/>
          <p:cNvSpPr>
            <a:spLocks noChangeArrowheads="1"/>
          </p:cNvSpPr>
          <p:nvPr/>
        </p:nvSpPr>
        <p:spPr bwMode="auto">
          <a:xfrm>
            <a:off x="8615363" y="4329113"/>
            <a:ext cx="252412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409" name="TextBox 45"/>
          <p:cNvSpPr txBox="1">
            <a:spLocks noChangeArrowheads="1"/>
          </p:cNvSpPr>
          <p:nvPr/>
        </p:nvSpPr>
        <p:spPr bwMode="auto">
          <a:xfrm>
            <a:off x="7716838" y="2120900"/>
            <a:ext cx="551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101410" name="TextBox 44"/>
          <p:cNvSpPr txBox="1">
            <a:spLocks noChangeArrowheads="1"/>
          </p:cNvSpPr>
          <p:nvPr/>
        </p:nvSpPr>
        <p:spPr bwMode="auto">
          <a:xfrm>
            <a:off x="9170988" y="2274888"/>
            <a:ext cx="500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NE</a:t>
            </a:r>
          </a:p>
        </p:txBody>
      </p:sp>
      <p:sp>
        <p:nvSpPr>
          <p:cNvPr id="101411" name="TextBox 43"/>
          <p:cNvSpPr txBox="1">
            <a:spLocks noChangeArrowheads="1"/>
          </p:cNvSpPr>
          <p:nvPr/>
        </p:nvSpPr>
        <p:spPr bwMode="auto">
          <a:xfrm>
            <a:off x="8742363" y="2398713"/>
            <a:ext cx="487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SE</a:t>
            </a:r>
          </a:p>
        </p:txBody>
      </p:sp>
      <p:sp>
        <p:nvSpPr>
          <p:cNvPr id="101412" name="TextBox 42"/>
          <p:cNvSpPr txBox="1">
            <a:spLocks noChangeArrowheads="1"/>
          </p:cNvSpPr>
          <p:nvPr/>
        </p:nvSpPr>
        <p:spPr bwMode="auto">
          <a:xfrm>
            <a:off x="8093075" y="2457450"/>
            <a:ext cx="563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NW</a:t>
            </a:r>
          </a:p>
        </p:txBody>
      </p:sp>
      <p:sp>
        <p:nvSpPr>
          <p:cNvPr id="39" name="TextBox 1"/>
          <p:cNvSpPr txBox="1">
            <a:spLocks noChangeArrowheads="1"/>
          </p:cNvSpPr>
          <p:nvPr/>
        </p:nvSpPr>
        <p:spPr bwMode="auto">
          <a:xfrm>
            <a:off x="3709988" y="1596232"/>
            <a:ext cx="3479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40" name="TextBox 11"/>
          <p:cNvSpPr txBox="1">
            <a:spLocks noChangeArrowheads="1"/>
          </p:cNvSpPr>
          <p:nvPr/>
        </p:nvSpPr>
        <p:spPr bwMode="auto">
          <a:xfrm>
            <a:off x="1554161" y="2773362"/>
            <a:ext cx="3987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</a:t>
            </a:r>
          </a:p>
        </p:txBody>
      </p:sp>
      <p:sp>
        <p:nvSpPr>
          <p:cNvPr id="41" name="TextBox 12"/>
          <p:cNvSpPr txBox="1">
            <a:spLocks noChangeArrowheads="1"/>
          </p:cNvSpPr>
          <p:nvPr/>
        </p:nvSpPr>
        <p:spPr bwMode="auto">
          <a:xfrm>
            <a:off x="5829953" y="3202781"/>
            <a:ext cx="335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42" name="TextBox 13"/>
          <p:cNvSpPr txBox="1">
            <a:spLocks noChangeArrowheads="1"/>
          </p:cNvSpPr>
          <p:nvPr/>
        </p:nvSpPr>
        <p:spPr bwMode="auto">
          <a:xfrm>
            <a:off x="3135276" y="5814217"/>
            <a:ext cx="335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01295" y="128270"/>
            <a:ext cx="700722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Quadtree – Nearest Neighbor Query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707072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115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Oval 2"/>
          <p:cNvSpPr>
            <a:spLocks noChangeArrowheads="1"/>
          </p:cNvSpPr>
          <p:nvPr/>
        </p:nvSpPr>
        <p:spPr bwMode="auto">
          <a:xfrm>
            <a:off x="7067550" y="4221163"/>
            <a:ext cx="935038" cy="50482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1990725" y="1989138"/>
            <a:ext cx="3816350" cy="3744912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05" name="Oval 5"/>
          <p:cNvSpPr>
            <a:spLocks noChangeArrowheads="1"/>
          </p:cNvSpPr>
          <p:nvPr/>
        </p:nvSpPr>
        <p:spPr bwMode="auto">
          <a:xfrm>
            <a:off x="2638425" y="4760913"/>
            <a:ext cx="252413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06" name="Oval 6"/>
          <p:cNvSpPr>
            <a:spLocks noChangeArrowheads="1"/>
          </p:cNvSpPr>
          <p:nvPr/>
        </p:nvSpPr>
        <p:spPr bwMode="auto">
          <a:xfrm>
            <a:off x="2530475" y="3068638"/>
            <a:ext cx="252413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07" name="Oval 7"/>
          <p:cNvSpPr>
            <a:spLocks noChangeArrowheads="1"/>
          </p:cNvSpPr>
          <p:nvPr/>
        </p:nvSpPr>
        <p:spPr bwMode="auto">
          <a:xfrm>
            <a:off x="2674938" y="2457450"/>
            <a:ext cx="252412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08" name="Oval 8"/>
          <p:cNvSpPr>
            <a:spLocks noChangeArrowheads="1"/>
          </p:cNvSpPr>
          <p:nvPr/>
        </p:nvSpPr>
        <p:spPr bwMode="auto">
          <a:xfrm>
            <a:off x="3214688" y="3536950"/>
            <a:ext cx="252412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09" name="Oval 9"/>
          <p:cNvSpPr>
            <a:spLocks noChangeArrowheads="1"/>
          </p:cNvSpPr>
          <p:nvPr/>
        </p:nvSpPr>
        <p:spPr bwMode="auto">
          <a:xfrm>
            <a:off x="4764088" y="5049838"/>
            <a:ext cx="252412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10" name="Line 10"/>
          <p:cNvSpPr>
            <a:spLocks noChangeShapeType="1"/>
          </p:cNvSpPr>
          <p:nvPr/>
        </p:nvSpPr>
        <p:spPr bwMode="auto">
          <a:xfrm>
            <a:off x="3863975" y="1989137"/>
            <a:ext cx="0" cy="37798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1" name="Line 11"/>
          <p:cNvSpPr>
            <a:spLocks noChangeShapeType="1"/>
          </p:cNvSpPr>
          <p:nvPr/>
        </p:nvSpPr>
        <p:spPr bwMode="auto">
          <a:xfrm>
            <a:off x="1990725" y="3897313"/>
            <a:ext cx="187325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2" name="Line 12"/>
          <p:cNvSpPr>
            <a:spLocks noChangeShapeType="1"/>
          </p:cNvSpPr>
          <p:nvPr/>
        </p:nvSpPr>
        <p:spPr bwMode="auto">
          <a:xfrm>
            <a:off x="2963863" y="1989138"/>
            <a:ext cx="0" cy="18716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3" name="Line 13"/>
          <p:cNvSpPr>
            <a:spLocks noChangeShapeType="1"/>
          </p:cNvSpPr>
          <p:nvPr/>
        </p:nvSpPr>
        <p:spPr bwMode="auto">
          <a:xfrm>
            <a:off x="1990725" y="2958958"/>
            <a:ext cx="1873250" cy="173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4" name="Line 14"/>
          <p:cNvSpPr>
            <a:spLocks noChangeShapeType="1"/>
          </p:cNvSpPr>
          <p:nvPr/>
        </p:nvSpPr>
        <p:spPr bwMode="auto">
          <a:xfrm>
            <a:off x="3898900" y="3897313"/>
            <a:ext cx="187325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5" name="Text Box 15"/>
          <p:cNvSpPr txBox="1">
            <a:spLocks noChangeArrowheads="1"/>
          </p:cNvSpPr>
          <p:nvPr/>
        </p:nvSpPr>
        <p:spPr bwMode="auto">
          <a:xfrm>
            <a:off x="3652520" y="5826125"/>
            <a:ext cx="4114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02416" name="Text Box 16"/>
          <p:cNvSpPr txBox="1">
            <a:spLocks noChangeArrowheads="1"/>
          </p:cNvSpPr>
          <p:nvPr/>
        </p:nvSpPr>
        <p:spPr bwMode="auto">
          <a:xfrm>
            <a:off x="1533208" y="3716338"/>
            <a:ext cx="4114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02417" name="Oval 17"/>
          <p:cNvSpPr>
            <a:spLocks noChangeArrowheads="1"/>
          </p:cNvSpPr>
          <p:nvPr/>
        </p:nvSpPr>
        <p:spPr bwMode="auto">
          <a:xfrm>
            <a:off x="5375275" y="3500438"/>
            <a:ext cx="252413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18" name="Oval 18"/>
          <p:cNvSpPr>
            <a:spLocks noChangeArrowheads="1"/>
          </p:cNvSpPr>
          <p:nvPr/>
        </p:nvSpPr>
        <p:spPr bwMode="auto">
          <a:xfrm>
            <a:off x="7591425" y="4357688"/>
            <a:ext cx="215900" cy="215900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19" name="Oval 19"/>
          <p:cNvSpPr>
            <a:spLocks noChangeArrowheads="1"/>
          </p:cNvSpPr>
          <p:nvPr/>
        </p:nvSpPr>
        <p:spPr bwMode="auto">
          <a:xfrm>
            <a:off x="2293938" y="2209800"/>
            <a:ext cx="215900" cy="215900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20" name="Oval 21"/>
          <p:cNvSpPr>
            <a:spLocks noChangeArrowheads="1"/>
          </p:cNvSpPr>
          <p:nvPr/>
        </p:nvSpPr>
        <p:spPr bwMode="auto">
          <a:xfrm>
            <a:off x="8183563" y="1881188"/>
            <a:ext cx="936625" cy="576262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,Y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2421" name="Line 22"/>
          <p:cNvSpPr>
            <a:spLocks noChangeShapeType="1"/>
          </p:cNvSpPr>
          <p:nvPr/>
        </p:nvSpPr>
        <p:spPr bwMode="auto">
          <a:xfrm>
            <a:off x="9083675" y="2312988"/>
            <a:ext cx="1225550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2" name="Line 23"/>
          <p:cNvSpPr>
            <a:spLocks noChangeShapeType="1"/>
          </p:cNvSpPr>
          <p:nvPr/>
        </p:nvSpPr>
        <p:spPr bwMode="auto">
          <a:xfrm flipH="1">
            <a:off x="6635750" y="2312988"/>
            <a:ext cx="1547813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3" name="Oval 24"/>
          <p:cNvSpPr>
            <a:spLocks noChangeArrowheads="1"/>
          </p:cNvSpPr>
          <p:nvPr/>
        </p:nvSpPr>
        <p:spPr bwMode="auto">
          <a:xfrm>
            <a:off x="6456363" y="3068638"/>
            <a:ext cx="252412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24" name="Line 25"/>
          <p:cNvSpPr>
            <a:spLocks noChangeShapeType="1"/>
          </p:cNvSpPr>
          <p:nvPr/>
        </p:nvSpPr>
        <p:spPr bwMode="auto">
          <a:xfrm flipH="1">
            <a:off x="8075613" y="2457450"/>
            <a:ext cx="4318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5" name="Line 26"/>
          <p:cNvSpPr>
            <a:spLocks noChangeShapeType="1"/>
          </p:cNvSpPr>
          <p:nvPr/>
        </p:nvSpPr>
        <p:spPr bwMode="auto">
          <a:xfrm>
            <a:off x="8796338" y="2457450"/>
            <a:ext cx="684212" cy="68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6" name="Oval 29"/>
          <p:cNvSpPr>
            <a:spLocks noChangeArrowheads="1"/>
          </p:cNvSpPr>
          <p:nvPr/>
        </p:nvSpPr>
        <p:spPr bwMode="auto">
          <a:xfrm>
            <a:off x="7535863" y="3068638"/>
            <a:ext cx="936625" cy="576262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,Y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02427" name="Line 30"/>
          <p:cNvSpPr>
            <a:spLocks noChangeShapeType="1"/>
          </p:cNvSpPr>
          <p:nvPr/>
        </p:nvSpPr>
        <p:spPr bwMode="auto">
          <a:xfrm>
            <a:off x="8435975" y="3500438"/>
            <a:ext cx="118903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8" name="Line 31"/>
          <p:cNvSpPr>
            <a:spLocks noChangeShapeType="1"/>
          </p:cNvSpPr>
          <p:nvPr/>
        </p:nvSpPr>
        <p:spPr bwMode="auto">
          <a:xfrm flipH="1">
            <a:off x="6167438" y="3500438"/>
            <a:ext cx="1368425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9" name="Line 32"/>
          <p:cNvSpPr>
            <a:spLocks noChangeShapeType="1"/>
          </p:cNvSpPr>
          <p:nvPr/>
        </p:nvSpPr>
        <p:spPr bwMode="auto">
          <a:xfrm flipH="1">
            <a:off x="7356475" y="3644900"/>
            <a:ext cx="503238" cy="68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0" name="Line 33"/>
          <p:cNvSpPr>
            <a:spLocks noChangeShapeType="1"/>
          </p:cNvSpPr>
          <p:nvPr/>
        </p:nvSpPr>
        <p:spPr bwMode="auto">
          <a:xfrm>
            <a:off x="8148638" y="3644900"/>
            <a:ext cx="539750" cy="68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1" name="Oval 34"/>
          <p:cNvSpPr>
            <a:spLocks noChangeArrowheads="1"/>
          </p:cNvSpPr>
          <p:nvPr/>
        </p:nvSpPr>
        <p:spPr bwMode="auto">
          <a:xfrm>
            <a:off x="9372600" y="3141663"/>
            <a:ext cx="252413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32" name="Oval 35"/>
          <p:cNvSpPr>
            <a:spLocks noChangeArrowheads="1"/>
          </p:cNvSpPr>
          <p:nvPr/>
        </p:nvSpPr>
        <p:spPr bwMode="auto">
          <a:xfrm>
            <a:off x="10272713" y="3105150"/>
            <a:ext cx="252412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33" name="Oval 36"/>
          <p:cNvSpPr>
            <a:spLocks noChangeArrowheads="1"/>
          </p:cNvSpPr>
          <p:nvPr/>
        </p:nvSpPr>
        <p:spPr bwMode="auto">
          <a:xfrm>
            <a:off x="7248525" y="4329113"/>
            <a:ext cx="252413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34" name="Oval 37"/>
          <p:cNvSpPr>
            <a:spLocks noChangeArrowheads="1"/>
          </p:cNvSpPr>
          <p:nvPr/>
        </p:nvSpPr>
        <p:spPr bwMode="auto">
          <a:xfrm>
            <a:off x="5951538" y="4292600"/>
            <a:ext cx="252412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35" name="Oval 38"/>
          <p:cNvSpPr>
            <a:spLocks noChangeArrowheads="1"/>
          </p:cNvSpPr>
          <p:nvPr/>
        </p:nvSpPr>
        <p:spPr bwMode="auto">
          <a:xfrm>
            <a:off x="8615363" y="4329113"/>
            <a:ext cx="252412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36" name="TextBox 40"/>
          <p:cNvSpPr txBox="1">
            <a:spLocks noChangeArrowheads="1"/>
          </p:cNvSpPr>
          <p:nvPr/>
        </p:nvSpPr>
        <p:spPr bwMode="auto">
          <a:xfrm>
            <a:off x="7269163" y="3614738"/>
            <a:ext cx="563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NW</a:t>
            </a:r>
          </a:p>
        </p:txBody>
      </p:sp>
      <p:sp>
        <p:nvSpPr>
          <p:cNvPr id="102437" name="TextBox 42"/>
          <p:cNvSpPr txBox="1">
            <a:spLocks noChangeArrowheads="1"/>
          </p:cNvSpPr>
          <p:nvPr/>
        </p:nvSpPr>
        <p:spPr bwMode="auto">
          <a:xfrm>
            <a:off x="7991475" y="2425700"/>
            <a:ext cx="563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NW</a:t>
            </a:r>
          </a:p>
        </p:txBody>
      </p:sp>
      <p:sp>
        <p:nvSpPr>
          <p:cNvPr id="102438" name="TextBox 43"/>
          <p:cNvSpPr txBox="1">
            <a:spLocks noChangeArrowheads="1"/>
          </p:cNvSpPr>
          <p:nvPr/>
        </p:nvSpPr>
        <p:spPr bwMode="auto">
          <a:xfrm>
            <a:off x="8742363" y="2398713"/>
            <a:ext cx="487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SE</a:t>
            </a:r>
          </a:p>
        </p:txBody>
      </p:sp>
      <p:sp>
        <p:nvSpPr>
          <p:cNvPr id="102439" name="TextBox 44"/>
          <p:cNvSpPr txBox="1">
            <a:spLocks noChangeArrowheads="1"/>
          </p:cNvSpPr>
          <p:nvPr/>
        </p:nvSpPr>
        <p:spPr bwMode="auto">
          <a:xfrm>
            <a:off x="9055100" y="2032000"/>
            <a:ext cx="500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NE</a:t>
            </a:r>
          </a:p>
        </p:txBody>
      </p:sp>
      <p:sp>
        <p:nvSpPr>
          <p:cNvPr id="102440" name="TextBox 45"/>
          <p:cNvSpPr txBox="1">
            <a:spLocks noChangeArrowheads="1"/>
          </p:cNvSpPr>
          <p:nvPr/>
        </p:nvSpPr>
        <p:spPr bwMode="auto">
          <a:xfrm>
            <a:off x="7535863" y="2060575"/>
            <a:ext cx="551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49450" y="1212999"/>
            <a:ext cx="38112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思源黑体 Regular" panose="020B0500000000000000" charset="-122"/>
                <a:ea typeface="思源黑体 Regular" panose="020B0500000000000000" charset="-122"/>
              </a:rPr>
              <a:t>找到</a:t>
            </a:r>
            <a:r>
              <a:rPr lang="en-US" altLang="zh-CN" sz="2400" dirty="0" err="1"/>
              <a:t>q</a:t>
            </a:r>
            <a:r>
              <a:rPr lang="en-US" sz="2400" dirty="0" err="1">
                <a:latin typeface="思源黑体 Regular" panose="020B0500000000000000" charset="-122"/>
                <a:ea typeface="思源黑体 Regular" panose="020B0500000000000000" charset="-122"/>
              </a:rPr>
              <a:t>所在的最细粒度的</a:t>
            </a:r>
            <a:r>
              <a:rPr lang="en-US" altLang="zh-CN" sz="2400" dirty="0"/>
              <a:t>cell</a:t>
            </a:r>
            <a:endParaRPr 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261012" y="2374147"/>
            <a:ext cx="302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</a:t>
            </a:r>
            <a:endParaRPr 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201295" y="128270"/>
            <a:ext cx="700722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Quadtree – Nearest Neighbor Query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707072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116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 bldLvl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2094091" y="2037405"/>
            <a:ext cx="3816350" cy="3744912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28" name="Oval 4"/>
          <p:cNvSpPr>
            <a:spLocks noChangeArrowheads="1"/>
          </p:cNvSpPr>
          <p:nvPr/>
        </p:nvSpPr>
        <p:spPr bwMode="auto">
          <a:xfrm>
            <a:off x="2244903" y="5306067"/>
            <a:ext cx="252413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29" name="Oval 5"/>
          <p:cNvSpPr>
            <a:spLocks noChangeArrowheads="1"/>
          </p:cNvSpPr>
          <p:nvPr/>
        </p:nvSpPr>
        <p:spPr bwMode="auto">
          <a:xfrm>
            <a:off x="3100566" y="3638398"/>
            <a:ext cx="252413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30" name="Oval 6"/>
          <p:cNvSpPr>
            <a:spLocks noChangeArrowheads="1"/>
          </p:cNvSpPr>
          <p:nvPr/>
        </p:nvSpPr>
        <p:spPr bwMode="auto">
          <a:xfrm>
            <a:off x="2778303" y="2505717"/>
            <a:ext cx="252413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31" name="Oval 7"/>
          <p:cNvSpPr>
            <a:spLocks noChangeArrowheads="1"/>
          </p:cNvSpPr>
          <p:nvPr/>
        </p:nvSpPr>
        <p:spPr bwMode="auto">
          <a:xfrm>
            <a:off x="3616503" y="2181867"/>
            <a:ext cx="252413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32" name="Oval 8"/>
          <p:cNvSpPr>
            <a:spLocks noChangeArrowheads="1"/>
          </p:cNvSpPr>
          <p:nvPr/>
        </p:nvSpPr>
        <p:spPr bwMode="auto">
          <a:xfrm>
            <a:off x="5445303" y="5458467"/>
            <a:ext cx="252413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33" name="Line 9"/>
          <p:cNvSpPr>
            <a:spLocks noChangeShapeType="1"/>
          </p:cNvSpPr>
          <p:nvPr/>
        </p:nvSpPr>
        <p:spPr bwMode="auto">
          <a:xfrm>
            <a:off x="3967341" y="2037404"/>
            <a:ext cx="0" cy="37449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4" name="Line 10"/>
          <p:cNvSpPr>
            <a:spLocks noChangeShapeType="1"/>
          </p:cNvSpPr>
          <p:nvPr/>
        </p:nvSpPr>
        <p:spPr bwMode="auto">
          <a:xfrm>
            <a:off x="2094091" y="3945580"/>
            <a:ext cx="187325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5" name="Line 11"/>
          <p:cNvSpPr>
            <a:spLocks noChangeShapeType="1"/>
          </p:cNvSpPr>
          <p:nvPr/>
        </p:nvSpPr>
        <p:spPr bwMode="auto">
          <a:xfrm>
            <a:off x="3067228" y="2037405"/>
            <a:ext cx="0" cy="18716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6" name="Line 12"/>
          <p:cNvSpPr>
            <a:spLocks noChangeShapeType="1"/>
          </p:cNvSpPr>
          <p:nvPr/>
        </p:nvSpPr>
        <p:spPr bwMode="auto">
          <a:xfrm>
            <a:off x="2059166" y="3008955"/>
            <a:ext cx="19081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7" name="Line 13"/>
          <p:cNvSpPr>
            <a:spLocks noChangeShapeType="1"/>
          </p:cNvSpPr>
          <p:nvPr/>
        </p:nvSpPr>
        <p:spPr bwMode="auto">
          <a:xfrm>
            <a:off x="4002266" y="3945580"/>
            <a:ext cx="187325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8" name="Text Box 14"/>
          <p:cNvSpPr txBox="1">
            <a:spLocks noChangeArrowheads="1"/>
          </p:cNvSpPr>
          <p:nvPr/>
        </p:nvSpPr>
        <p:spPr bwMode="auto">
          <a:xfrm>
            <a:off x="3755886" y="5874392"/>
            <a:ext cx="4114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03439" name="Text Box 15"/>
          <p:cNvSpPr txBox="1">
            <a:spLocks noChangeArrowheads="1"/>
          </p:cNvSpPr>
          <p:nvPr/>
        </p:nvSpPr>
        <p:spPr bwMode="auto">
          <a:xfrm>
            <a:off x="1636573" y="3764605"/>
            <a:ext cx="4114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03440" name="Oval 16"/>
          <p:cNvSpPr>
            <a:spLocks noChangeArrowheads="1"/>
          </p:cNvSpPr>
          <p:nvPr/>
        </p:nvSpPr>
        <p:spPr bwMode="auto">
          <a:xfrm>
            <a:off x="5597703" y="2258067"/>
            <a:ext cx="252413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41" name="Oval 17"/>
          <p:cNvSpPr>
            <a:spLocks noChangeArrowheads="1"/>
          </p:cNvSpPr>
          <p:nvPr/>
        </p:nvSpPr>
        <p:spPr bwMode="auto">
          <a:xfrm>
            <a:off x="4073703" y="4010667"/>
            <a:ext cx="215900" cy="215900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25650" name="Oval 18"/>
          <p:cNvSpPr>
            <a:spLocks noChangeArrowheads="1"/>
          </p:cNvSpPr>
          <p:nvPr/>
        </p:nvSpPr>
        <p:spPr bwMode="auto">
          <a:xfrm rot="1509325">
            <a:off x="2823846" y="3698589"/>
            <a:ext cx="1833701" cy="6223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43" name="Oval 20"/>
          <p:cNvSpPr>
            <a:spLocks noChangeArrowheads="1"/>
          </p:cNvSpPr>
          <p:nvPr/>
        </p:nvSpPr>
        <p:spPr bwMode="auto">
          <a:xfrm>
            <a:off x="8142466" y="1929455"/>
            <a:ext cx="936625" cy="576262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,Y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3444" name="Line 23"/>
          <p:cNvSpPr>
            <a:spLocks noChangeShapeType="1"/>
          </p:cNvSpPr>
          <p:nvPr/>
        </p:nvSpPr>
        <p:spPr bwMode="auto">
          <a:xfrm>
            <a:off x="9042578" y="2361255"/>
            <a:ext cx="1296988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45" name="Line 24"/>
          <p:cNvSpPr>
            <a:spLocks noChangeShapeType="1"/>
          </p:cNvSpPr>
          <p:nvPr/>
        </p:nvSpPr>
        <p:spPr bwMode="auto">
          <a:xfrm flipH="1">
            <a:off x="6594653" y="2361255"/>
            <a:ext cx="1547813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46" name="Oval 25"/>
          <p:cNvSpPr>
            <a:spLocks noChangeArrowheads="1"/>
          </p:cNvSpPr>
          <p:nvPr/>
        </p:nvSpPr>
        <p:spPr bwMode="auto">
          <a:xfrm>
            <a:off x="6415266" y="3116905"/>
            <a:ext cx="252412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47" name="Line 26"/>
          <p:cNvSpPr>
            <a:spLocks noChangeShapeType="1"/>
          </p:cNvSpPr>
          <p:nvPr/>
        </p:nvSpPr>
        <p:spPr bwMode="auto">
          <a:xfrm flipH="1">
            <a:off x="8034516" y="2505717"/>
            <a:ext cx="4318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48" name="Line 27"/>
          <p:cNvSpPr>
            <a:spLocks noChangeShapeType="1"/>
          </p:cNvSpPr>
          <p:nvPr/>
        </p:nvSpPr>
        <p:spPr bwMode="auto">
          <a:xfrm>
            <a:off x="8755241" y="2505717"/>
            <a:ext cx="684212" cy="68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49" name="Oval 31"/>
          <p:cNvSpPr>
            <a:spLocks noChangeArrowheads="1"/>
          </p:cNvSpPr>
          <p:nvPr/>
        </p:nvSpPr>
        <p:spPr bwMode="auto">
          <a:xfrm>
            <a:off x="7494766" y="3116905"/>
            <a:ext cx="936625" cy="576262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,Y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03450" name="Line 32"/>
          <p:cNvSpPr>
            <a:spLocks noChangeShapeType="1"/>
          </p:cNvSpPr>
          <p:nvPr/>
        </p:nvSpPr>
        <p:spPr bwMode="auto">
          <a:xfrm>
            <a:off x="8394878" y="3548705"/>
            <a:ext cx="118903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51" name="Line 33"/>
          <p:cNvSpPr>
            <a:spLocks noChangeShapeType="1"/>
          </p:cNvSpPr>
          <p:nvPr/>
        </p:nvSpPr>
        <p:spPr bwMode="auto">
          <a:xfrm flipH="1">
            <a:off x="6126341" y="3548705"/>
            <a:ext cx="1368425" cy="82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52" name="Line 34"/>
          <p:cNvSpPr>
            <a:spLocks noChangeShapeType="1"/>
          </p:cNvSpPr>
          <p:nvPr/>
        </p:nvSpPr>
        <p:spPr bwMode="auto">
          <a:xfrm flipH="1">
            <a:off x="7315378" y="3693167"/>
            <a:ext cx="503238" cy="68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53" name="Line 35"/>
          <p:cNvSpPr>
            <a:spLocks noChangeShapeType="1"/>
          </p:cNvSpPr>
          <p:nvPr/>
        </p:nvSpPr>
        <p:spPr bwMode="auto">
          <a:xfrm>
            <a:off x="8107541" y="3693167"/>
            <a:ext cx="539750" cy="68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54" name="Oval 36"/>
          <p:cNvSpPr>
            <a:spLocks noChangeArrowheads="1"/>
          </p:cNvSpPr>
          <p:nvPr/>
        </p:nvSpPr>
        <p:spPr bwMode="auto">
          <a:xfrm>
            <a:off x="9402941" y="3189930"/>
            <a:ext cx="252412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55" name="Oval 37"/>
          <p:cNvSpPr>
            <a:spLocks noChangeArrowheads="1"/>
          </p:cNvSpPr>
          <p:nvPr/>
        </p:nvSpPr>
        <p:spPr bwMode="auto">
          <a:xfrm>
            <a:off x="10266541" y="3224855"/>
            <a:ext cx="252412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56" name="Oval 38"/>
          <p:cNvSpPr>
            <a:spLocks noChangeArrowheads="1"/>
          </p:cNvSpPr>
          <p:nvPr/>
        </p:nvSpPr>
        <p:spPr bwMode="auto">
          <a:xfrm>
            <a:off x="7207428" y="4377380"/>
            <a:ext cx="252413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57" name="Oval 39"/>
          <p:cNvSpPr>
            <a:spLocks noChangeArrowheads="1"/>
          </p:cNvSpPr>
          <p:nvPr/>
        </p:nvSpPr>
        <p:spPr bwMode="auto">
          <a:xfrm>
            <a:off x="9567667" y="4301484"/>
            <a:ext cx="252412" cy="25241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58" name="Oval 40"/>
          <p:cNvSpPr>
            <a:spLocks noChangeArrowheads="1"/>
          </p:cNvSpPr>
          <p:nvPr/>
        </p:nvSpPr>
        <p:spPr bwMode="auto">
          <a:xfrm>
            <a:off x="8574266" y="4377380"/>
            <a:ext cx="252412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59" name="Oval 41"/>
          <p:cNvSpPr>
            <a:spLocks noChangeArrowheads="1"/>
          </p:cNvSpPr>
          <p:nvPr/>
        </p:nvSpPr>
        <p:spPr bwMode="auto">
          <a:xfrm>
            <a:off x="9150528" y="3297880"/>
            <a:ext cx="215900" cy="215900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25674" name="Oval 42"/>
          <p:cNvSpPr>
            <a:spLocks noChangeArrowheads="1"/>
          </p:cNvSpPr>
          <p:nvPr/>
        </p:nvSpPr>
        <p:spPr bwMode="auto">
          <a:xfrm rot="14789785">
            <a:off x="8602513" y="3671259"/>
            <a:ext cx="1661864" cy="504825"/>
          </a:xfrm>
          <a:prstGeom prst="ellipse">
            <a:avLst/>
          </a:prstGeom>
          <a:noFill/>
          <a:ln w="28575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61" name="TextBox 42"/>
          <p:cNvSpPr txBox="1">
            <a:spLocks noChangeArrowheads="1"/>
          </p:cNvSpPr>
          <p:nvPr/>
        </p:nvSpPr>
        <p:spPr bwMode="auto">
          <a:xfrm>
            <a:off x="8031341" y="2426342"/>
            <a:ext cx="563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NW</a:t>
            </a:r>
          </a:p>
        </p:txBody>
      </p:sp>
      <p:sp>
        <p:nvSpPr>
          <p:cNvPr id="103462" name="TextBox 43"/>
          <p:cNvSpPr txBox="1">
            <a:spLocks noChangeArrowheads="1"/>
          </p:cNvSpPr>
          <p:nvPr/>
        </p:nvSpPr>
        <p:spPr bwMode="auto">
          <a:xfrm>
            <a:off x="7526516" y="2142180"/>
            <a:ext cx="551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103463" name="TextBox 44"/>
          <p:cNvSpPr txBox="1">
            <a:spLocks noChangeArrowheads="1"/>
          </p:cNvSpPr>
          <p:nvPr/>
        </p:nvSpPr>
        <p:spPr bwMode="auto">
          <a:xfrm>
            <a:off x="8790166" y="2504130"/>
            <a:ext cx="487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SE</a:t>
            </a:r>
          </a:p>
        </p:txBody>
      </p:sp>
      <p:sp>
        <p:nvSpPr>
          <p:cNvPr id="103464" name="TextBox 45"/>
          <p:cNvSpPr txBox="1">
            <a:spLocks noChangeArrowheads="1"/>
          </p:cNvSpPr>
          <p:nvPr/>
        </p:nvSpPr>
        <p:spPr bwMode="auto">
          <a:xfrm>
            <a:off x="9079091" y="2170755"/>
            <a:ext cx="500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NE</a:t>
            </a:r>
          </a:p>
        </p:txBody>
      </p:sp>
      <p:sp>
        <p:nvSpPr>
          <p:cNvPr id="103465" name="TextBox 46"/>
          <p:cNvSpPr txBox="1">
            <a:spLocks noChangeArrowheads="1"/>
          </p:cNvSpPr>
          <p:nvPr/>
        </p:nvSpPr>
        <p:spPr bwMode="auto">
          <a:xfrm>
            <a:off x="6777216" y="3405830"/>
            <a:ext cx="551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103466" name="TextBox 47"/>
          <p:cNvSpPr txBox="1">
            <a:spLocks noChangeArrowheads="1"/>
          </p:cNvSpPr>
          <p:nvPr/>
        </p:nvSpPr>
        <p:spPr bwMode="auto">
          <a:xfrm>
            <a:off x="7207428" y="3724917"/>
            <a:ext cx="563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NW</a:t>
            </a:r>
          </a:p>
        </p:txBody>
      </p:sp>
      <p:sp>
        <p:nvSpPr>
          <p:cNvPr id="103467" name="TextBox 48"/>
          <p:cNvSpPr txBox="1">
            <a:spLocks noChangeArrowheads="1"/>
          </p:cNvSpPr>
          <p:nvPr/>
        </p:nvSpPr>
        <p:spPr bwMode="auto">
          <a:xfrm>
            <a:off x="8131353" y="3667767"/>
            <a:ext cx="487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SE</a:t>
            </a:r>
          </a:p>
        </p:txBody>
      </p:sp>
      <p:sp>
        <p:nvSpPr>
          <p:cNvPr id="103468" name="TextBox 49"/>
          <p:cNvSpPr txBox="1">
            <a:spLocks noChangeArrowheads="1"/>
          </p:cNvSpPr>
          <p:nvPr/>
        </p:nvSpPr>
        <p:spPr bwMode="auto">
          <a:xfrm>
            <a:off x="8845728" y="3659830"/>
            <a:ext cx="500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NE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4028112" y="4144252"/>
            <a:ext cx="302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</a:t>
            </a:r>
            <a:endParaRPr lang="en-US" dirty="0"/>
          </a:p>
        </p:txBody>
      </p:sp>
      <p:sp>
        <p:nvSpPr>
          <p:cNvPr id="48" name="文本框 47"/>
          <p:cNvSpPr txBox="1"/>
          <p:nvPr/>
        </p:nvSpPr>
        <p:spPr>
          <a:xfrm>
            <a:off x="1990725" y="1212999"/>
            <a:ext cx="41160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思源黑体 Regular" panose="020B0500000000000000" charset="-122"/>
                <a:ea typeface="思源黑体 Regular" panose="020B0500000000000000" charset="-122"/>
              </a:rPr>
              <a:t>最近邻不一定在</a:t>
            </a:r>
            <a:r>
              <a:rPr lang="en-US" altLang="zh-CN" sz="2400" dirty="0"/>
              <a:t>q</a:t>
            </a:r>
            <a:r>
              <a:rPr lang="zh-CN" altLang="en-US" sz="2400" dirty="0">
                <a:latin typeface="思源黑体 Regular" panose="020B0500000000000000" charset="-122"/>
                <a:ea typeface="思源黑体 Regular" panose="020B0500000000000000" charset="-122"/>
              </a:rPr>
              <a:t>所在的</a:t>
            </a:r>
            <a:r>
              <a:rPr lang="en-US" altLang="zh-CN" sz="2400" dirty="0"/>
              <a:t>cell</a:t>
            </a:r>
            <a:r>
              <a:rPr lang="zh-CN" altLang="en-US" sz="2400" dirty="0">
                <a:latin typeface="思源黑体 Regular" panose="020B0500000000000000" charset="-122"/>
                <a:ea typeface="思源黑体 Regular" panose="020B0500000000000000" charset="-122"/>
              </a:rPr>
              <a:t>中</a:t>
            </a:r>
            <a:endParaRPr lang="en-US" sz="2400" dirty="0">
              <a:latin typeface="思源黑体 Regular" panose="020B0500000000000000" charset="-122"/>
              <a:ea typeface="思源黑体 Regular" panose="020B05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103113" y="3421727"/>
            <a:ext cx="302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</a:t>
            </a:r>
            <a:endParaRPr 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9624564" y="3257676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51" name="文本框 50"/>
          <p:cNvSpPr txBox="1"/>
          <p:nvPr/>
        </p:nvSpPr>
        <p:spPr>
          <a:xfrm>
            <a:off x="9799195" y="4301484"/>
            <a:ext cx="3073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52" name="文本框 51"/>
          <p:cNvSpPr txBox="1"/>
          <p:nvPr/>
        </p:nvSpPr>
        <p:spPr>
          <a:xfrm>
            <a:off x="3314662" y="3575454"/>
            <a:ext cx="3073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5144058" y="5373814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201295" y="128270"/>
            <a:ext cx="700722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Quadtree – Nearest Neighbor Query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707072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117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2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50" grpId="0" bldLvl="0" animBg="1"/>
      <p:bldP spid="325674" grpId="0" bldLvl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1781175" y="787400"/>
            <a:ext cx="5715000" cy="40640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>
              <a:buFontTx/>
              <a:buNone/>
              <a:defRPr/>
            </a:pPr>
            <a:r>
              <a:rPr lang="en-US" sz="2400" b="1" dirty="0">
                <a:solidFill>
                  <a:srgbClr val="FF0000"/>
                </a:solidFill>
              </a:rPr>
              <a:t>Algorithm</a:t>
            </a:r>
          </a:p>
          <a:p>
            <a:pPr>
              <a:buFontTx/>
              <a:buNone/>
              <a:defRPr/>
            </a:pPr>
            <a:endParaRPr lang="en-US" sz="8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000" dirty="0"/>
              <a:t>Initialize range search with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sz="2000" dirty="0"/>
              <a:t>large </a:t>
            </a:r>
            <a:r>
              <a:rPr lang="en-US" altLang="zh-CN" sz="2000" dirty="0"/>
              <a:t>range</a:t>
            </a:r>
            <a:r>
              <a:rPr lang="zh-CN" altLang="en-US" sz="2000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r</a:t>
            </a:r>
          </a:p>
          <a:p>
            <a:pPr>
              <a:buFontTx/>
              <a:buNone/>
              <a:defRPr/>
            </a:pPr>
            <a:r>
              <a:rPr lang="en-US" sz="2000" dirty="0"/>
              <a:t>Put the </a:t>
            </a:r>
            <a:r>
              <a:rPr lang="en-US" sz="2000" dirty="0">
                <a:solidFill>
                  <a:srgbClr val="00B050"/>
                </a:solidFill>
              </a:rPr>
              <a:t>root</a:t>
            </a:r>
            <a:r>
              <a:rPr lang="en-US" sz="2000" dirty="0"/>
              <a:t> on a stack</a:t>
            </a:r>
          </a:p>
          <a:p>
            <a:pPr>
              <a:buFontTx/>
              <a:buNone/>
              <a:defRPr/>
            </a:pPr>
            <a:r>
              <a:rPr lang="en-US" sz="2000" dirty="0"/>
              <a:t>Repeat</a:t>
            </a:r>
            <a:endParaRPr lang="en-US" sz="1000" dirty="0"/>
          </a:p>
          <a:p>
            <a:pPr lvl="1">
              <a:defRPr/>
            </a:pPr>
            <a:r>
              <a:rPr lang="en-US" sz="2000" dirty="0"/>
              <a:t>Pop the next node </a:t>
            </a:r>
            <a:r>
              <a:rPr lang="en-US" sz="2000" i="1" dirty="0"/>
              <a:t>T</a:t>
            </a:r>
            <a:r>
              <a:rPr lang="en-US" sz="2000" dirty="0"/>
              <a:t> from the stack</a:t>
            </a:r>
            <a:endParaRPr lang="en-US" sz="1000" dirty="0"/>
          </a:p>
          <a:p>
            <a:pPr lvl="1">
              <a:defRPr/>
            </a:pPr>
            <a:r>
              <a:rPr lang="en-US" sz="2000" dirty="0"/>
              <a:t>For </a:t>
            </a:r>
            <a:r>
              <a:rPr lang="en-US" sz="2000" dirty="0">
                <a:solidFill>
                  <a:srgbClr val="00B050"/>
                </a:solidFill>
              </a:rPr>
              <a:t>each child </a:t>
            </a:r>
            <a:r>
              <a:rPr lang="en-US" sz="2000" i="1" dirty="0">
                <a:solidFill>
                  <a:srgbClr val="00B050"/>
                </a:solidFill>
              </a:rPr>
              <a:t>C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of </a:t>
            </a:r>
            <a:r>
              <a:rPr lang="en-US" sz="2000" i="1" dirty="0"/>
              <a:t>T</a:t>
            </a:r>
            <a:endParaRPr lang="en-US" sz="1000" dirty="0"/>
          </a:p>
          <a:p>
            <a:pPr lvl="2">
              <a:defRPr/>
            </a:pPr>
            <a:r>
              <a:rPr lang="en-US" sz="1800" dirty="0"/>
              <a:t>if </a:t>
            </a:r>
            <a:r>
              <a:rPr lang="en-US" sz="1800" i="1" dirty="0"/>
              <a:t>C</a:t>
            </a:r>
            <a:r>
              <a:rPr lang="en-US" sz="1800" dirty="0"/>
              <a:t> intersects with a circle (ball) of radius </a:t>
            </a:r>
            <a:r>
              <a:rPr lang="en-US" sz="1800" i="1" dirty="0"/>
              <a:t>r</a:t>
            </a:r>
            <a:r>
              <a:rPr lang="en-US" sz="1800" dirty="0"/>
              <a:t> around </a:t>
            </a:r>
            <a:r>
              <a:rPr lang="en-US" sz="1800" i="1" dirty="0"/>
              <a:t>q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00B050"/>
                </a:solidFill>
              </a:rPr>
              <a:t>add </a:t>
            </a:r>
            <a:r>
              <a:rPr lang="en-US" sz="1800" i="1" dirty="0">
                <a:solidFill>
                  <a:srgbClr val="00B050"/>
                </a:solidFill>
              </a:rPr>
              <a:t>C</a:t>
            </a:r>
            <a:r>
              <a:rPr lang="en-US" sz="1800" dirty="0">
                <a:solidFill>
                  <a:srgbClr val="00B050"/>
                </a:solidFill>
              </a:rPr>
              <a:t> to the stack </a:t>
            </a:r>
          </a:p>
          <a:p>
            <a:pPr lvl="2">
              <a:defRPr/>
            </a:pPr>
            <a:r>
              <a:rPr lang="en-US" sz="1800" dirty="0"/>
              <a:t>if </a:t>
            </a:r>
            <a:r>
              <a:rPr lang="en-US" sz="1800" i="1" dirty="0"/>
              <a:t>C</a:t>
            </a:r>
            <a:r>
              <a:rPr lang="en-US" sz="1800" dirty="0"/>
              <a:t> is a leaf, </a:t>
            </a:r>
            <a:r>
              <a:rPr lang="en-US" sz="1800" dirty="0">
                <a:solidFill>
                  <a:srgbClr val="00B050"/>
                </a:solidFill>
              </a:rPr>
              <a:t>examine point(s) in </a:t>
            </a:r>
            <a:r>
              <a:rPr lang="en-US" sz="1800" i="1" dirty="0">
                <a:solidFill>
                  <a:srgbClr val="00B050"/>
                </a:solidFill>
              </a:rPr>
              <a:t>C </a:t>
            </a:r>
            <a:r>
              <a:rPr lang="en-US" sz="1800" dirty="0">
                <a:solidFill>
                  <a:srgbClr val="00B050"/>
                </a:solidFill>
              </a:rPr>
              <a:t>and</a:t>
            </a:r>
          </a:p>
          <a:p>
            <a:pPr marL="671195" lvl="2" indent="0"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rgbClr val="00B050"/>
                </a:solidFill>
              </a:rPr>
              <a:t>	  update r</a:t>
            </a:r>
            <a:endParaRPr lang="en-US" sz="1000" dirty="0">
              <a:solidFill>
                <a:srgbClr val="00B050"/>
              </a:solidFill>
            </a:endParaRPr>
          </a:p>
          <a:p>
            <a:pPr lvl="2">
              <a:defRPr/>
            </a:pPr>
            <a:endParaRPr lang="en-US" sz="1800" dirty="0"/>
          </a:p>
          <a:p>
            <a:pPr lvl="2">
              <a:defRPr/>
            </a:pPr>
            <a:endParaRPr lang="en-US" sz="1800" dirty="0"/>
          </a:p>
          <a:p>
            <a:pPr lvl="2">
              <a:defRPr/>
            </a:pPr>
            <a:endParaRPr lang="en-US" sz="1800" dirty="0"/>
          </a:p>
        </p:txBody>
      </p:sp>
      <p:sp>
        <p:nvSpPr>
          <p:cNvPr id="104451" name="AutoShape 3"/>
          <p:cNvSpPr>
            <a:spLocks noChangeArrowheads="1"/>
          </p:cNvSpPr>
          <p:nvPr/>
        </p:nvSpPr>
        <p:spPr bwMode="auto">
          <a:xfrm>
            <a:off x="8408709" y="1592068"/>
            <a:ext cx="88900" cy="93663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52" name="AutoShape 4"/>
          <p:cNvSpPr>
            <a:spLocks noChangeArrowheads="1"/>
          </p:cNvSpPr>
          <p:nvPr/>
        </p:nvSpPr>
        <p:spPr bwMode="auto">
          <a:xfrm>
            <a:off x="9789834" y="3292281"/>
            <a:ext cx="90488" cy="952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53" name="AutoShape 5"/>
          <p:cNvSpPr>
            <a:spLocks noChangeArrowheads="1"/>
          </p:cNvSpPr>
          <p:nvPr/>
        </p:nvSpPr>
        <p:spPr bwMode="auto">
          <a:xfrm>
            <a:off x="9478684" y="1592068"/>
            <a:ext cx="88900" cy="93663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54" name="AutoShape 6"/>
          <p:cNvSpPr>
            <a:spLocks noChangeArrowheads="1"/>
          </p:cNvSpPr>
          <p:nvPr/>
        </p:nvSpPr>
        <p:spPr bwMode="auto">
          <a:xfrm>
            <a:off x="8730119" y="1911664"/>
            <a:ext cx="88900" cy="93662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55" name="AutoShape 7"/>
          <p:cNvSpPr>
            <a:spLocks noChangeArrowheads="1"/>
          </p:cNvSpPr>
          <p:nvPr/>
        </p:nvSpPr>
        <p:spPr bwMode="auto">
          <a:xfrm>
            <a:off x="8095972" y="2347718"/>
            <a:ext cx="88900" cy="952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56" name="Rectangle 8"/>
          <p:cNvSpPr>
            <a:spLocks noChangeArrowheads="1"/>
          </p:cNvSpPr>
          <p:nvPr/>
        </p:nvSpPr>
        <p:spPr bwMode="auto">
          <a:xfrm>
            <a:off x="7605434" y="1118993"/>
            <a:ext cx="2943225" cy="2457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57" name="Rectangle 9"/>
          <p:cNvSpPr>
            <a:spLocks noChangeArrowheads="1"/>
          </p:cNvSpPr>
          <p:nvPr/>
        </p:nvSpPr>
        <p:spPr bwMode="auto">
          <a:xfrm>
            <a:off x="7605434" y="1118993"/>
            <a:ext cx="1471613" cy="1228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58" name="Rectangle 10"/>
          <p:cNvSpPr>
            <a:spLocks noChangeArrowheads="1"/>
          </p:cNvSpPr>
          <p:nvPr/>
        </p:nvSpPr>
        <p:spPr bwMode="auto">
          <a:xfrm>
            <a:off x="9077047" y="1118993"/>
            <a:ext cx="1471612" cy="1228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59" name="Rectangle 11"/>
          <p:cNvSpPr>
            <a:spLocks noChangeArrowheads="1"/>
          </p:cNvSpPr>
          <p:nvPr/>
        </p:nvSpPr>
        <p:spPr bwMode="auto">
          <a:xfrm>
            <a:off x="7605434" y="2347718"/>
            <a:ext cx="1471613" cy="1228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60" name="Rectangle 12"/>
          <p:cNvSpPr>
            <a:spLocks noChangeArrowheads="1"/>
          </p:cNvSpPr>
          <p:nvPr/>
        </p:nvSpPr>
        <p:spPr bwMode="auto">
          <a:xfrm>
            <a:off x="8364259" y="1118993"/>
            <a:ext cx="712788" cy="614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61" name="Rectangle 13"/>
          <p:cNvSpPr>
            <a:spLocks noChangeArrowheads="1"/>
          </p:cNvSpPr>
          <p:nvPr/>
        </p:nvSpPr>
        <p:spPr bwMode="auto">
          <a:xfrm>
            <a:off x="8364259" y="1733356"/>
            <a:ext cx="712788" cy="614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62" name="Line 14"/>
          <p:cNvSpPr>
            <a:spLocks noChangeShapeType="1"/>
          </p:cNvSpPr>
          <p:nvPr/>
        </p:nvSpPr>
        <p:spPr bwMode="auto">
          <a:xfrm>
            <a:off x="8364259" y="1403156"/>
            <a:ext cx="712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63" name="Line 15"/>
          <p:cNvSpPr>
            <a:spLocks noChangeShapeType="1"/>
          </p:cNvSpPr>
          <p:nvPr/>
        </p:nvSpPr>
        <p:spPr bwMode="auto">
          <a:xfrm>
            <a:off x="8719859" y="1118993"/>
            <a:ext cx="1588" cy="614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64" name="AutoShape 16"/>
          <p:cNvSpPr>
            <a:spLocks noChangeArrowheads="1"/>
          </p:cNvSpPr>
          <p:nvPr/>
        </p:nvSpPr>
        <p:spPr bwMode="auto">
          <a:xfrm>
            <a:off x="8808759" y="1260281"/>
            <a:ext cx="90488" cy="952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65" name="AutoShape 17"/>
          <p:cNvSpPr>
            <a:spLocks noChangeArrowheads="1"/>
          </p:cNvSpPr>
          <p:nvPr/>
        </p:nvSpPr>
        <p:spPr bwMode="auto">
          <a:xfrm>
            <a:off x="8764309" y="1449193"/>
            <a:ext cx="90488" cy="952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66" name="AutoShape 18"/>
          <p:cNvSpPr>
            <a:spLocks noChangeArrowheads="1"/>
          </p:cNvSpPr>
          <p:nvPr/>
        </p:nvSpPr>
        <p:spPr bwMode="auto">
          <a:xfrm>
            <a:off x="8542059" y="1214243"/>
            <a:ext cx="88900" cy="93663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67" name="Rectangle 19"/>
          <p:cNvSpPr>
            <a:spLocks noChangeArrowheads="1"/>
          </p:cNvSpPr>
          <p:nvPr/>
        </p:nvSpPr>
        <p:spPr bwMode="auto">
          <a:xfrm>
            <a:off x="7605434" y="1118993"/>
            <a:ext cx="758825" cy="614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68" name="AutoShape 20"/>
          <p:cNvSpPr>
            <a:spLocks noChangeArrowheads="1"/>
          </p:cNvSpPr>
          <p:nvPr/>
        </p:nvSpPr>
        <p:spPr bwMode="auto">
          <a:xfrm>
            <a:off x="8236030" y="1821186"/>
            <a:ext cx="90487" cy="95250"/>
          </a:xfrm>
          <a:prstGeom prst="flowChartConnector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449" name="Oval 21"/>
          <p:cNvSpPr>
            <a:spLocks noChangeArrowheads="1"/>
          </p:cNvSpPr>
          <p:nvPr/>
        </p:nvSpPr>
        <p:spPr bwMode="auto">
          <a:xfrm>
            <a:off x="7580318" y="1182176"/>
            <a:ext cx="1372393" cy="1357214"/>
          </a:xfrm>
          <a:prstGeom prst="ellipse">
            <a:avLst/>
          </a:prstGeom>
          <a:noFill/>
          <a:ln w="952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470" name="Rectangle 25"/>
          <p:cNvSpPr>
            <a:spLocks noChangeArrowheads="1"/>
          </p:cNvSpPr>
          <p:nvPr/>
        </p:nvSpPr>
        <p:spPr bwMode="auto">
          <a:xfrm>
            <a:off x="1117600" y="5345967"/>
            <a:ext cx="845531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2" charset="2"/>
              </a:rPr>
              <a:t>  Whenever a point is found, update r (i.e., the</a:t>
            </a:r>
            <a:r>
              <a:rPr lang="zh-CN" altLang="en-US" sz="2000" dirty="0">
                <a:ea typeface="宋体" panose="02010600030101010101" pitchFamily="2" charset="-122"/>
                <a:sym typeface="Symbol" panose="05050102010706020507" pitchFamily="2" charset="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2" charset="2"/>
              </a:rPr>
              <a:t>current minimum)</a:t>
            </a:r>
            <a:endParaRPr lang="en-US" altLang="zh-CN" sz="1200" dirty="0"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eaLnBrk="1" hangingPunct="1">
              <a:buFontTx/>
              <a:buChar char="•"/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2" charset="2"/>
              </a:rPr>
              <a:t>  Only investigate nodes with respect to current r.</a:t>
            </a:r>
          </a:p>
        </p:txBody>
      </p:sp>
      <p:sp>
        <p:nvSpPr>
          <p:cNvPr id="104472" name="TextBox 1"/>
          <p:cNvSpPr txBox="1">
            <a:spLocks noChangeArrowheads="1"/>
          </p:cNvSpPr>
          <p:nvPr/>
        </p:nvSpPr>
        <p:spPr bwMode="auto">
          <a:xfrm>
            <a:off x="8045010" y="1812798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28" name="Oval 20"/>
          <p:cNvSpPr>
            <a:spLocks noChangeArrowheads="1"/>
          </p:cNvSpPr>
          <p:nvPr/>
        </p:nvSpPr>
        <p:spPr bwMode="auto">
          <a:xfrm>
            <a:off x="8910359" y="3826388"/>
            <a:ext cx="568325" cy="413607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endParaRPr lang="en-US" altLang="zh-CN" sz="24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Line 23"/>
          <p:cNvSpPr>
            <a:spLocks noChangeShapeType="1"/>
          </p:cNvSpPr>
          <p:nvPr/>
        </p:nvSpPr>
        <p:spPr bwMode="auto">
          <a:xfrm>
            <a:off x="9472337" y="4057514"/>
            <a:ext cx="774698" cy="525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4"/>
          <p:cNvSpPr>
            <a:spLocks noChangeShapeType="1"/>
          </p:cNvSpPr>
          <p:nvPr/>
        </p:nvSpPr>
        <p:spPr bwMode="auto">
          <a:xfrm flipH="1">
            <a:off x="8298512" y="4057515"/>
            <a:ext cx="611845" cy="4222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25"/>
          <p:cNvSpPr>
            <a:spLocks noChangeArrowheads="1"/>
          </p:cNvSpPr>
          <p:nvPr/>
        </p:nvSpPr>
        <p:spPr bwMode="auto">
          <a:xfrm>
            <a:off x="8162799" y="4415486"/>
            <a:ext cx="193810" cy="195804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2" name="Line 26"/>
          <p:cNvSpPr>
            <a:spLocks noChangeShapeType="1"/>
          </p:cNvSpPr>
          <p:nvPr/>
        </p:nvSpPr>
        <p:spPr bwMode="auto">
          <a:xfrm flipH="1">
            <a:off x="8800823" y="4201102"/>
            <a:ext cx="265110" cy="4425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>
            <a:off x="9346922" y="4201102"/>
            <a:ext cx="440398" cy="4934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Oval 36"/>
          <p:cNvSpPr>
            <a:spLocks noChangeArrowheads="1"/>
          </p:cNvSpPr>
          <p:nvPr/>
        </p:nvSpPr>
        <p:spPr bwMode="auto">
          <a:xfrm>
            <a:off x="9746907" y="4675987"/>
            <a:ext cx="202997" cy="20925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" name="Oval 37"/>
          <p:cNvSpPr>
            <a:spLocks noChangeArrowheads="1"/>
          </p:cNvSpPr>
          <p:nvPr/>
        </p:nvSpPr>
        <p:spPr bwMode="auto">
          <a:xfrm>
            <a:off x="10211319" y="4528876"/>
            <a:ext cx="202997" cy="20925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6" name="Oval 41"/>
          <p:cNvSpPr>
            <a:spLocks noChangeArrowheads="1"/>
          </p:cNvSpPr>
          <p:nvPr/>
        </p:nvSpPr>
        <p:spPr bwMode="auto">
          <a:xfrm>
            <a:off x="8042277" y="4614173"/>
            <a:ext cx="215900" cy="215900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8" name="TextBox 43"/>
          <p:cNvSpPr txBox="1">
            <a:spLocks noChangeArrowheads="1"/>
          </p:cNvSpPr>
          <p:nvPr/>
        </p:nvSpPr>
        <p:spPr bwMode="auto">
          <a:xfrm>
            <a:off x="8118197" y="3945515"/>
            <a:ext cx="551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39" name="TextBox 44"/>
          <p:cNvSpPr txBox="1">
            <a:spLocks noChangeArrowheads="1"/>
          </p:cNvSpPr>
          <p:nvPr/>
        </p:nvSpPr>
        <p:spPr bwMode="auto">
          <a:xfrm>
            <a:off x="9381847" y="4307465"/>
            <a:ext cx="487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SE</a:t>
            </a:r>
          </a:p>
        </p:txBody>
      </p:sp>
      <p:sp>
        <p:nvSpPr>
          <p:cNvPr id="40" name="TextBox 45"/>
          <p:cNvSpPr txBox="1">
            <a:spLocks noChangeArrowheads="1"/>
          </p:cNvSpPr>
          <p:nvPr/>
        </p:nvSpPr>
        <p:spPr bwMode="auto">
          <a:xfrm>
            <a:off x="9556470" y="3806847"/>
            <a:ext cx="500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NE</a:t>
            </a:r>
          </a:p>
        </p:txBody>
      </p:sp>
      <p:sp>
        <p:nvSpPr>
          <p:cNvPr id="41" name="Oval 20"/>
          <p:cNvSpPr>
            <a:spLocks noChangeArrowheads="1"/>
          </p:cNvSpPr>
          <p:nvPr/>
        </p:nvSpPr>
        <p:spPr bwMode="auto">
          <a:xfrm>
            <a:off x="8497608" y="4646408"/>
            <a:ext cx="568325" cy="332501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endParaRPr lang="en-US" altLang="zh-CN" sz="24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Line 23"/>
          <p:cNvSpPr>
            <a:spLocks noChangeShapeType="1"/>
          </p:cNvSpPr>
          <p:nvPr/>
        </p:nvSpPr>
        <p:spPr bwMode="auto">
          <a:xfrm>
            <a:off x="9048338" y="4846978"/>
            <a:ext cx="721848" cy="4748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24"/>
          <p:cNvSpPr>
            <a:spLocks noChangeShapeType="1"/>
          </p:cNvSpPr>
          <p:nvPr/>
        </p:nvSpPr>
        <p:spPr bwMode="auto">
          <a:xfrm flipH="1">
            <a:off x="7874513" y="4846979"/>
            <a:ext cx="611845" cy="4222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6"/>
          <p:cNvSpPr>
            <a:spLocks noChangeShapeType="1"/>
          </p:cNvSpPr>
          <p:nvPr/>
        </p:nvSpPr>
        <p:spPr bwMode="auto">
          <a:xfrm flipH="1">
            <a:off x="8463208" y="4990567"/>
            <a:ext cx="178726" cy="3823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27"/>
          <p:cNvSpPr>
            <a:spLocks noChangeShapeType="1"/>
          </p:cNvSpPr>
          <p:nvPr/>
        </p:nvSpPr>
        <p:spPr bwMode="auto">
          <a:xfrm>
            <a:off x="8922923" y="4990567"/>
            <a:ext cx="213461" cy="3823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TextBox 44"/>
          <p:cNvSpPr txBox="1">
            <a:spLocks noChangeArrowheads="1"/>
          </p:cNvSpPr>
          <p:nvPr/>
        </p:nvSpPr>
        <p:spPr bwMode="auto">
          <a:xfrm>
            <a:off x="8614951" y="4254163"/>
            <a:ext cx="563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NW</a:t>
            </a:r>
          </a:p>
        </p:txBody>
      </p: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7702492" y="4846712"/>
            <a:ext cx="551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48" name="TextBox 44"/>
          <p:cNvSpPr txBox="1">
            <a:spLocks noChangeArrowheads="1"/>
          </p:cNvSpPr>
          <p:nvPr/>
        </p:nvSpPr>
        <p:spPr bwMode="auto">
          <a:xfrm>
            <a:off x="9016528" y="5065811"/>
            <a:ext cx="487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SE</a:t>
            </a:r>
          </a:p>
        </p:txBody>
      </p:sp>
      <p:sp>
        <p:nvSpPr>
          <p:cNvPr id="49" name="TextBox 45"/>
          <p:cNvSpPr txBox="1">
            <a:spLocks noChangeArrowheads="1"/>
          </p:cNvSpPr>
          <p:nvPr/>
        </p:nvSpPr>
        <p:spPr bwMode="auto">
          <a:xfrm>
            <a:off x="9508653" y="4914448"/>
            <a:ext cx="500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NE</a:t>
            </a:r>
          </a:p>
        </p:txBody>
      </p:sp>
      <p:sp>
        <p:nvSpPr>
          <p:cNvPr id="50" name="TextBox 44"/>
          <p:cNvSpPr txBox="1">
            <a:spLocks noChangeArrowheads="1"/>
          </p:cNvSpPr>
          <p:nvPr/>
        </p:nvSpPr>
        <p:spPr bwMode="auto">
          <a:xfrm>
            <a:off x="8249632" y="5012509"/>
            <a:ext cx="563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NW</a:t>
            </a:r>
          </a:p>
        </p:txBody>
      </p:sp>
      <p:sp>
        <p:nvSpPr>
          <p:cNvPr id="51" name="Oval 36"/>
          <p:cNvSpPr>
            <a:spLocks noChangeArrowheads="1"/>
          </p:cNvSpPr>
          <p:nvPr/>
        </p:nvSpPr>
        <p:spPr bwMode="auto">
          <a:xfrm>
            <a:off x="9055418" y="5372694"/>
            <a:ext cx="184870" cy="18856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2" name="Oval 20"/>
          <p:cNvSpPr>
            <a:spLocks noChangeArrowheads="1"/>
          </p:cNvSpPr>
          <p:nvPr/>
        </p:nvSpPr>
        <p:spPr bwMode="auto">
          <a:xfrm>
            <a:off x="9667210" y="5280978"/>
            <a:ext cx="568325" cy="332501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endParaRPr lang="en-US" altLang="zh-CN" sz="24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" name="Line 23"/>
          <p:cNvSpPr>
            <a:spLocks noChangeShapeType="1"/>
          </p:cNvSpPr>
          <p:nvPr/>
        </p:nvSpPr>
        <p:spPr bwMode="auto">
          <a:xfrm>
            <a:off x="10196238" y="5511211"/>
            <a:ext cx="611845" cy="4066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Line 24"/>
          <p:cNvSpPr>
            <a:spLocks noChangeShapeType="1"/>
          </p:cNvSpPr>
          <p:nvPr/>
        </p:nvSpPr>
        <p:spPr bwMode="auto">
          <a:xfrm flipH="1">
            <a:off x="9175082" y="5502618"/>
            <a:ext cx="492127" cy="3554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Line 26"/>
          <p:cNvSpPr>
            <a:spLocks noChangeShapeType="1"/>
          </p:cNvSpPr>
          <p:nvPr/>
        </p:nvSpPr>
        <p:spPr bwMode="auto">
          <a:xfrm flipH="1">
            <a:off x="9667208" y="5612126"/>
            <a:ext cx="140711" cy="332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27"/>
          <p:cNvSpPr>
            <a:spLocks noChangeShapeType="1"/>
          </p:cNvSpPr>
          <p:nvPr/>
        </p:nvSpPr>
        <p:spPr bwMode="auto">
          <a:xfrm>
            <a:off x="10050285" y="5618455"/>
            <a:ext cx="194968" cy="332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Oval 37"/>
          <p:cNvSpPr>
            <a:spLocks noChangeArrowheads="1"/>
          </p:cNvSpPr>
          <p:nvPr/>
        </p:nvSpPr>
        <p:spPr bwMode="auto">
          <a:xfrm>
            <a:off x="10699148" y="5934312"/>
            <a:ext cx="196502" cy="201818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" name="Oval 37"/>
          <p:cNvSpPr>
            <a:spLocks noChangeArrowheads="1"/>
          </p:cNvSpPr>
          <p:nvPr/>
        </p:nvSpPr>
        <p:spPr bwMode="auto">
          <a:xfrm>
            <a:off x="10132171" y="5942271"/>
            <a:ext cx="194968" cy="204806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9" name="Oval 37"/>
          <p:cNvSpPr>
            <a:spLocks noChangeArrowheads="1"/>
          </p:cNvSpPr>
          <p:nvPr/>
        </p:nvSpPr>
        <p:spPr bwMode="auto">
          <a:xfrm>
            <a:off x="9582666" y="5931324"/>
            <a:ext cx="187520" cy="204806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0" name="Oval 37"/>
          <p:cNvSpPr>
            <a:spLocks noChangeArrowheads="1"/>
          </p:cNvSpPr>
          <p:nvPr/>
        </p:nvSpPr>
        <p:spPr bwMode="auto">
          <a:xfrm>
            <a:off x="8948683" y="5756235"/>
            <a:ext cx="213461" cy="192808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9016981" y="2038840"/>
            <a:ext cx="7321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(x</a:t>
            </a:r>
            <a:r>
              <a:rPr lang="en-US" altLang="zh-CN" baseline="-25000" dirty="0"/>
              <a:t>1</a:t>
            </a:r>
            <a:r>
              <a:rPr lang="en-US" altLang="zh-CN" dirty="0"/>
              <a:t>,y</a:t>
            </a:r>
            <a:r>
              <a:rPr lang="en-US" altLang="zh-CN" baseline="-25000" dirty="0"/>
              <a:t>1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62" name="文本框 61"/>
          <p:cNvSpPr txBox="1"/>
          <p:nvPr/>
        </p:nvSpPr>
        <p:spPr>
          <a:xfrm>
            <a:off x="7731041" y="1402087"/>
            <a:ext cx="7321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(x</a:t>
            </a:r>
            <a:r>
              <a:rPr lang="en-US" altLang="zh-CN" baseline="-25000" dirty="0"/>
              <a:t>2</a:t>
            </a:r>
            <a:r>
              <a:rPr lang="en-US" altLang="zh-CN" dirty="0"/>
              <a:t>,y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63" name="文本框 62"/>
          <p:cNvSpPr txBox="1"/>
          <p:nvPr/>
        </p:nvSpPr>
        <p:spPr>
          <a:xfrm>
            <a:off x="8777806" y="1328765"/>
            <a:ext cx="7321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(x</a:t>
            </a:r>
            <a:r>
              <a:rPr lang="en-US" altLang="zh-CN" baseline="-25000" dirty="0"/>
              <a:t>3</a:t>
            </a:r>
            <a:r>
              <a:rPr lang="en-US" altLang="zh-CN" dirty="0"/>
              <a:t>,y</a:t>
            </a:r>
            <a:r>
              <a:rPr lang="en-US" altLang="zh-CN" baseline="-25000" dirty="0"/>
              <a:t>3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64" name="文本框 63"/>
          <p:cNvSpPr txBox="1"/>
          <p:nvPr/>
        </p:nvSpPr>
        <p:spPr>
          <a:xfrm>
            <a:off x="8918255" y="3814050"/>
            <a:ext cx="593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,y</a:t>
            </a:r>
            <a:r>
              <a:rPr lang="en-US" altLang="zh-CN" baseline="-25000" dirty="0"/>
              <a:t>1</a:t>
            </a:r>
            <a:endParaRPr lang="en-US" dirty="0"/>
          </a:p>
        </p:txBody>
      </p:sp>
      <p:sp>
        <p:nvSpPr>
          <p:cNvPr id="65" name="文本框 64"/>
          <p:cNvSpPr txBox="1"/>
          <p:nvPr/>
        </p:nvSpPr>
        <p:spPr>
          <a:xfrm>
            <a:off x="8496834" y="4592633"/>
            <a:ext cx="593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,y</a:t>
            </a:r>
            <a:r>
              <a:rPr lang="en-US" altLang="zh-CN" baseline="-25000" dirty="0"/>
              <a:t>2</a:t>
            </a:r>
            <a:endParaRPr lang="en-US" dirty="0"/>
          </a:p>
        </p:txBody>
      </p:sp>
      <p:sp>
        <p:nvSpPr>
          <p:cNvPr id="66" name="文本框 65"/>
          <p:cNvSpPr txBox="1"/>
          <p:nvPr/>
        </p:nvSpPr>
        <p:spPr>
          <a:xfrm>
            <a:off x="9655327" y="5219915"/>
            <a:ext cx="593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3</a:t>
            </a:r>
            <a:r>
              <a:rPr lang="en-US" altLang="zh-CN" dirty="0"/>
              <a:t>,y</a:t>
            </a:r>
            <a:r>
              <a:rPr lang="en-US" altLang="zh-CN" baseline="-25000" dirty="0"/>
              <a:t>3</a:t>
            </a:r>
            <a:endParaRPr lang="en-US" dirty="0"/>
          </a:p>
        </p:txBody>
      </p:sp>
      <p:sp>
        <p:nvSpPr>
          <p:cNvPr id="67" name="TextBox 1"/>
          <p:cNvSpPr txBox="1">
            <a:spLocks noChangeArrowheads="1"/>
          </p:cNvSpPr>
          <p:nvPr/>
        </p:nvSpPr>
        <p:spPr bwMode="auto">
          <a:xfrm>
            <a:off x="8924646" y="766227"/>
            <a:ext cx="3479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68" name="TextBox 11"/>
          <p:cNvSpPr txBox="1">
            <a:spLocks noChangeArrowheads="1"/>
          </p:cNvSpPr>
          <p:nvPr/>
        </p:nvSpPr>
        <p:spPr bwMode="auto">
          <a:xfrm>
            <a:off x="6792946" y="1955110"/>
            <a:ext cx="3987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</a:t>
            </a:r>
          </a:p>
        </p:txBody>
      </p:sp>
      <p:sp>
        <p:nvSpPr>
          <p:cNvPr id="69" name="TextBox 12"/>
          <p:cNvSpPr txBox="1">
            <a:spLocks noChangeArrowheads="1"/>
          </p:cNvSpPr>
          <p:nvPr/>
        </p:nvSpPr>
        <p:spPr bwMode="auto">
          <a:xfrm>
            <a:off x="10578055" y="2163568"/>
            <a:ext cx="335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0" name="TextBox 13"/>
          <p:cNvSpPr txBox="1">
            <a:spLocks noChangeArrowheads="1"/>
          </p:cNvSpPr>
          <p:nvPr/>
        </p:nvSpPr>
        <p:spPr bwMode="auto">
          <a:xfrm>
            <a:off x="8698669" y="3525231"/>
            <a:ext cx="335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01295" y="128270"/>
            <a:ext cx="700722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Quadtree–  Nearest Neighbor Search</a:t>
            </a:r>
            <a:b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</a:br>
            <a:endParaRPr lang="zh-CN" altLang="en-US" sz="2800" dirty="0">
              <a:solidFill>
                <a:schemeClr val="bg1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707072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118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49" grpId="0" bldLvl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utoShape 3"/>
          <p:cNvSpPr>
            <a:spLocks noChangeArrowheads="1"/>
          </p:cNvSpPr>
          <p:nvPr/>
        </p:nvSpPr>
        <p:spPr bwMode="auto">
          <a:xfrm>
            <a:off x="7707034" y="1592068"/>
            <a:ext cx="88900" cy="93663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3" name="AutoShape 4"/>
          <p:cNvSpPr>
            <a:spLocks noChangeArrowheads="1"/>
          </p:cNvSpPr>
          <p:nvPr/>
        </p:nvSpPr>
        <p:spPr bwMode="auto">
          <a:xfrm>
            <a:off x="9088159" y="3292281"/>
            <a:ext cx="90488" cy="952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" name="AutoShape 5"/>
          <p:cNvSpPr>
            <a:spLocks noChangeArrowheads="1"/>
          </p:cNvSpPr>
          <p:nvPr/>
        </p:nvSpPr>
        <p:spPr bwMode="auto">
          <a:xfrm>
            <a:off x="8777009" y="1592068"/>
            <a:ext cx="88900" cy="93663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auto">
          <a:xfrm>
            <a:off x="8028444" y="1911664"/>
            <a:ext cx="88900" cy="93662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6" name="AutoShape 7"/>
          <p:cNvSpPr>
            <a:spLocks noChangeArrowheads="1"/>
          </p:cNvSpPr>
          <p:nvPr/>
        </p:nvSpPr>
        <p:spPr bwMode="auto">
          <a:xfrm>
            <a:off x="7394297" y="2347718"/>
            <a:ext cx="88900" cy="952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7" name="Rectangle 8"/>
          <p:cNvSpPr>
            <a:spLocks noChangeArrowheads="1"/>
          </p:cNvSpPr>
          <p:nvPr/>
        </p:nvSpPr>
        <p:spPr bwMode="auto">
          <a:xfrm>
            <a:off x="6903759" y="1118993"/>
            <a:ext cx="2943225" cy="2457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" name="Rectangle 9"/>
          <p:cNvSpPr>
            <a:spLocks noChangeArrowheads="1"/>
          </p:cNvSpPr>
          <p:nvPr/>
        </p:nvSpPr>
        <p:spPr bwMode="auto">
          <a:xfrm>
            <a:off x="6903759" y="1118993"/>
            <a:ext cx="1471613" cy="1228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9" name="Rectangle 10"/>
          <p:cNvSpPr>
            <a:spLocks noChangeArrowheads="1"/>
          </p:cNvSpPr>
          <p:nvPr/>
        </p:nvSpPr>
        <p:spPr bwMode="auto">
          <a:xfrm>
            <a:off x="8375372" y="1118993"/>
            <a:ext cx="1471612" cy="1228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0" name="Rectangle 11"/>
          <p:cNvSpPr>
            <a:spLocks noChangeArrowheads="1"/>
          </p:cNvSpPr>
          <p:nvPr/>
        </p:nvSpPr>
        <p:spPr bwMode="auto">
          <a:xfrm>
            <a:off x="6903759" y="2347718"/>
            <a:ext cx="1471613" cy="1228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" name="Rectangle 12"/>
          <p:cNvSpPr>
            <a:spLocks noChangeArrowheads="1"/>
          </p:cNvSpPr>
          <p:nvPr/>
        </p:nvSpPr>
        <p:spPr bwMode="auto">
          <a:xfrm>
            <a:off x="7662584" y="1118993"/>
            <a:ext cx="712788" cy="614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2" name="Rectangle 13"/>
          <p:cNvSpPr>
            <a:spLocks noChangeArrowheads="1"/>
          </p:cNvSpPr>
          <p:nvPr/>
        </p:nvSpPr>
        <p:spPr bwMode="auto">
          <a:xfrm>
            <a:off x="7662584" y="1733356"/>
            <a:ext cx="712788" cy="614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3" name="Line 14"/>
          <p:cNvSpPr>
            <a:spLocks noChangeShapeType="1"/>
          </p:cNvSpPr>
          <p:nvPr/>
        </p:nvSpPr>
        <p:spPr bwMode="auto">
          <a:xfrm>
            <a:off x="7662584" y="1403156"/>
            <a:ext cx="712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Line 15"/>
          <p:cNvSpPr>
            <a:spLocks noChangeShapeType="1"/>
          </p:cNvSpPr>
          <p:nvPr/>
        </p:nvSpPr>
        <p:spPr bwMode="auto">
          <a:xfrm>
            <a:off x="8018184" y="1118993"/>
            <a:ext cx="1588" cy="614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AutoShape 16"/>
          <p:cNvSpPr>
            <a:spLocks noChangeArrowheads="1"/>
          </p:cNvSpPr>
          <p:nvPr/>
        </p:nvSpPr>
        <p:spPr bwMode="auto">
          <a:xfrm>
            <a:off x="8107084" y="1260281"/>
            <a:ext cx="90488" cy="952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6" name="AutoShape 17"/>
          <p:cNvSpPr>
            <a:spLocks noChangeArrowheads="1"/>
          </p:cNvSpPr>
          <p:nvPr/>
        </p:nvSpPr>
        <p:spPr bwMode="auto">
          <a:xfrm>
            <a:off x="8062634" y="1449193"/>
            <a:ext cx="90488" cy="952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7" name="AutoShape 18"/>
          <p:cNvSpPr>
            <a:spLocks noChangeArrowheads="1"/>
          </p:cNvSpPr>
          <p:nvPr/>
        </p:nvSpPr>
        <p:spPr bwMode="auto">
          <a:xfrm>
            <a:off x="7840384" y="1214243"/>
            <a:ext cx="88900" cy="93663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8" name="Rectangle 19"/>
          <p:cNvSpPr>
            <a:spLocks noChangeArrowheads="1"/>
          </p:cNvSpPr>
          <p:nvPr/>
        </p:nvSpPr>
        <p:spPr bwMode="auto">
          <a:xfrm>
            <a:off x="6903759" y="1118993"/>
            <a:ext cx="758825" cy="614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9" name="AutoShape 20"/>
          <p:cNvSpPr>
            <a:spLocks noChangeArrowheads="1"/>
          </p:cNvSpPr>
          <p:nvPr/>
        </p:nvSpPr>
        <p:spPr bwMode="auto">
          <a:xfrm>
            <a:off x="7698739" y="1821186"/>
            <a:ext cx="90487" cy="95250"/>
          </a:xfrm>
          <a:prstGeom prst="flowChartConnector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0" name="Oval 21"/>
          <p:cNvSpPr>
            <a:spLocks noChangeArrowheads="1"/>
          </p:cNvSpPr>
          <p:nvPr/>
        </p:nvSpPr>
        <p:spPr bwMode="auto">
          <a:xfrm>
            <a:off x="6921058" y="1042285"/>
            <a:ext cx="1604008" cy="1592936"/>
          </a:xfrm>
          <a:prstGeom prst="ellipse">
            <a:avLst/>
          </a:prstGeom>
          <a:noFill/>
          <a:ln w="952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1" name="TextBox 1"/>
          <p:cNvSpPr txBox="1">
            <a:spLocks noChangeArrowheads="1"/>
          </p:cNvSpPr>
          <p:nvPr/>
        </p:nvSpPr>
        <p:spPr bwMode="auto">
          <a:xfrm>
            <a:off x="7579297" y="1843973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72" name="Oval 20"/>
          <p:cNvSpPr>
            <a:spLocks noChangeArrowheads="1"/>
          </p:cNvSpPr>
          <p:nvPr/>
        </p:nvSpPr>
        <p:spPr bwMode="auto">
          <a:xfrm>
            <a:off x="3142576" y="1014381"/>
            <a:ext cx="568325" cy="413607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endParaRPr lang="en-US" altLang="zh-CN" sz="24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Line 23"/>
          <p:cNvSpPr>
            <a:spLocks noChangeShapeType="1"/>
          </p:cNvSpPr>
          <p:nvPr/>
        </p:nvSpPr>
        <p:spPr bwMode="auto">
          <a:xfrm>
            <a:off x="3704554" y="1245507"/>
            <a:ext cx="774698" cy="525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Line 24"/>
          <p:cNvSpPr>
            <a:spLocks noChangeShapeType="1"/>
          </p:cNvSpPr>
          <p:nvPr/>
        </p:nvSpPr>
        <p:spPr bwMode="auto">
          <a:xfrm flipH="1">
            <a:off x="2530729" y="1245508"/>
            <a:ext cx="611845" cy="4222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Oval 25"/>
          <p:cNvSpPr>
            <a:spLocks noChangeArrowheads="1"/>
          </p:cNvSpPr>
          <p:nvPr/>
        </p:nvSpPr>
        <p:spPr bwMode="auto">
          <a:xfrm>
            <a:off x="2395016" y="1603479"/>
            <a:ext cx="193810" cy="195804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6" name="Line 26"/>
          <p:cNvSpPr>
            <a:spLocks noChangeShapeType="1"/>
          </p:cNvSpPr>
          <p:nvPr/>
        </p:nvSpPr>
        <p:spPr bwMode="auto">
          <a:xfrm flipH="1">
            <a:off x="3033040" y="1389095"/>
            <a:ext cx="265110" cy="4425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Line 27"/>
          <p:cNvSpPr>
            <a:spLocks noChangeShapeType="1"/>
          </p:cNvSpPr>
          <p:nvPr/>
        </p:nvSpPr>
        <p:spPr bwMode="auto">
          <a:xfrm>
            <a:off x="3579139" y="1389095"/>
            <a:ext cx="440398" cy="4934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Oval 36"/>
          <p:cNvSpPr>
            <a:spLocks noChangeArrowheads="1"/>
          </p:cNvSpPr>
          <p:nvPr/>
        </p:nvSpPr>
        <p:spPr bwMode="auto">
          <a:xfrm>
            <a:off x="3979124" y="1863980"/>
            <a:ext cx="202997" cy="20925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9" name="Oval 37"/>
          <p:cNvSpPr>
            <a:spLocks noChangeArrowheads="1"/>
          </p:cNvSpPr>
          <p:nvPr/>
        </p:nvSpPr>
        <p:spPr bwMode="auto">
          <a:xfrm>
            <a:off x="4443536" y="1716869"/>
            <a:ext cx="202997" cy="20925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0" name="Oval 41"/>
          <p:cNvSpPr>
            <a:spLocks noChangeArrowheads="1"/>
          </p:cNvSpPr>
          <p:nvPr/>
        </p:nvSpPr>
        <p:spPr bwMode="auto">
          <a:xfrm>
            <a:off x="3095274" y="2664469"/>
            <a:ext cx="202876" cy="188562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1" name="TextBox 43"/>
          <p:cNvSpPr txBox="1">
            <a:spLocks noChangeArrowheads="1"/>
          </p:cNvSpPr>
          <p:nvPr/>
        </p:nvSpPr>
        <p:spPr bwMode="auto">
          <a:xfrm>
            <a:off x="2350414" y="1133508"/>
            <a:ext cx="551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82" name="TextBox 44"/>
          <p:cNvSpPr txBox="1">
            <a:spLocks noChangeArrowheads="1"/>
          </p:cNvSpPr>
          <p:nvPr/>
        </p:nvSpPr>
        <p:spPr bwMode="auto">
          <a:xfrm>
            <a:off x="3614064" y="1495458"/>
            <a:ext cx="487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SE</a:t>
            </a:r>
          </a:p>
        </p:txBody>
      </p:sp>
      <p:sp>
        <p:nvSpPr>
          <p:cNvPr id="83" name="TextBox 45"/>
          <p:cNvSpPr txBox="1">
            <a:spLocks noChangeArrowheads="1"/>
          </p:cNvSpPr>
          <p:nvPr/>
        </p:nvSpPr>
        <p:spPr bwMode="auto">
          <a:xfrm>
            <a:off x="3788687" y="994840"/>
            <a:ext cx="500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NE</a:t>
            </a:r>
          </a:p>
        </p:txBody>
      </p:sp>
      <p:sp>
        <p:nvSpPr>
          <p:cNvPr id="84" name="Oval 20"/>
          <p:cNvSpPr>
            <a:spLocks noChangeArrowheads="1"/>
          </p:cNvSpPr>
          <p:nvPr/>
        </p:nvSpPr>
        <p:spPr bwMode="auto">
          <a:xfrm>
            <a:off x="2729825" y="1834401"/>
            <a:ext cx="568325" cy="332501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endParaRPr lang="en-US" altLang="zh-CN" sz="24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Line 23"/>
          <p:cNvSpPr>
            <a:spLocks noChangeShapeType="1"/>
          </p:cNvSpPr>
          <p:nvPr/>
        </p:nvSpPr>
        <p:spPr bwMode="auto">
          <a:xfrm>
            <a:off x="3280555" y="2034971"/>
            <a:ext cx="721848" cy="4748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Line 24"/>
          <p:cNvSpPr>
            <a:spLocks noChangeShapeType="1"/>
          </p:cNvSpPr>
          <p:nvPr/>
        </p:nvSpPr>
        <p:spPr bwMode="auto">
          <a:xfrm flipH="1">
            <a:off x="2106730" y="2034972"/>
            <a:ext cx="611845" cy="4222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Line 26"/>
          <p:cNvSpPr>
            <a:spLocks noChangeShapeType="1"/>
          </p:cNvSpPr>
          <p:nvPr/>
        </p:nvSpPr>
        <p:spPr bwMode="auto">
          <a:xfrm flipH="1">
            <a:off x="2695425" y="2178560"/>
            <a:ext cx="178726" cy="3823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" name="Line 27"/>
          <p:cNvSpPr>
            <a:spLocks noChangeShapeType="1"/>
          </p:cNvSpPr>
          <p:nvPr/>
        </p:nvSpPr>
        <p:spPr bwMode="auto">
          <a:xfrm>
            <a:off x="3155140" y="2178560"/>
            <a:ext cx="213461" cy="3823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" name="TextBox 44"/>
          <p:cNvSpPr txBox="1">
            <a:spLocks noChangeArrowheads="1"/>
          </p:cNvSpPr>
          <p:nvPr/>
        </p:nvSpPr>
        <p:spPr bwMode="auto">
          <a:xfrm>
            <a:off x="2847168" y="1442156"/>
            <a:ext cx="563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NW</a:t>
            </a:r>
          </a:p>
        </p:txBody>
      </p:sp>
      <p:sp>
        <p:nvSpPr>
          <p:cNvPr id="90" name="TextBox 43"/>
          <p:cNvSpPr txBox="1">
            <a:spLocks noChangeArrowheads="1"/>
          </p:cNvSpPr>
          <p:nvPr/>
        </p:nvSpPr>
        <p:spPr bwMode="auto">
          <a:xfrm>
            <a:off x="1934709" y="2034705"/>
            <a:ext cx="551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91" name="TextBox 44"/>
          <p:cNvSpPr txBox="1">
            <a:spLocks noChangeArrowheads="1"/>
          </p:cNvSpPr>
          <p:nvPr/>
        </p:nvSpPr>
        <p:spPr bwMode="auto">
          <a:xfrm>
            <a:off x="3248745" y="2253804"/>
            <a:ext cx="487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SE</a:t>
            </a:r>
          </a:p>
        </p:txBody>
      </p:sp>
      <p:sp>
        <p:nvSpPr>
          <p:cNvPr id="92" name="TextBox 45"/>
          <p:cNvSpPr txBox="1">
            <a:spLocks noChangeArrowheads="1"/>
          </p:cNvSpPr>
          <p:nvPr/>
        </p:nvSpPr>
        <p:spPr bwMode="auto">
          <a:xfrm>
            <a:off x="3740870" y="2102441"/>
            <a:ext cx="500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NE</a:t>
            </a:r>
          </a:p>
        </p:txBody>
      </p:sp>
      <p:sp>
        <p:nvSpPr>
          <p:cNvPr id="93" name="TextBox 44"/>
          <p:cNvSpPr txBox="1">
            <a:spLocks noChangeArrowheads="1"/>
          </p:cNvSpPr>
          <p:nvPr/>
        </p:nvSpPr>
        <p:spPr bwMode="auto">
          <a:xfrm>
            <a:off x="2481849" y="2200502"/>
            <a:ext cx="563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NW</a:t>
            </a:r>
          </a:p>
        </p:txBody>
      </p:sp>
      <p:sp>
        <p:nvSpPr>
          <p:cNvPr id="94" name="Oval 36"/>
          <p:cNvSpPr>
            <a:spLocks noChangeArrowheads="1"/>
          </p:cNvSpPr>
          <p:nvPr/>
        </p:nvSpPr>
        <p:spPr bwMode="auto">
          <a:xfrm>
            <a:off x="3287635" y="2560687"/>
            <a:ext cx="184870" cy="18856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5" name="Oval 20"/>
          <p:cNvSpPr>
            <a:spLocks noChangeArrowheads="1"/>
          </p:cNvSpPr>
          <p:nvPr/>
        </p:nvSpPr>
        <p:spPr bwMode="auto">
          <a:xfrm>
            <a:off x="3899427" y="2468971"/>
            <a:ext cx="568325" cy="332501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endParaRPr lang="en-US" altLang="zh-CN" sz="24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Line 23"/>
          <p:cNvSpPr>
            <a:spLocks noChangeShapeType="1"/>
          </p:cNvSpPr>
          <p:nvPr/>
        </p:nvSpPr>
        <p:spPr bwMode="auto">
          <a:xfrm>
            <a:off x="4428455" y="2699204"/>
            <a:ext cx="611845" cy="4066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Line 24"/>
          <p:cNvSpPr>
            <a:spLocks noChangeShapeType="1"/>
          </p:cNvSpPr>
          <p:nvPr/>
        </p:nvSpPr>
        <p:spPr bwMode="auto">
          <a:xfrm flipH="1">
            <a:off x="3407298" y="2690611"/>
            <a:ext cx="492127" cy="394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Line 26"/>
          <p:cNvSpPr>
            <a:spLocks noChangeShapeType="1"/>
          </p:cNvSpPr>
          <p:nvPr/>
        </p:nvSpPr>
        <p:spPr bwMode="auto">
          <a:xfrm flipH="1">
            <a:off x="3899425" y="2800119"/>
            <a:ext cx="140711" cy="332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Line 27"/>
          <p:cNvSpPr>
            <a:spLocks noChangeShapeType="1"/>
          </p:cNvSpPr>
          <p:nvPr/>
        </p:nvSpPr>
        <p:spPr bwMode="auto">
          <a:xfrm>
            <a:off x="4282502" y="2806448"/>
            <a:ext cx="194968" cy="332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Oval 37"/>
          <p:cNvSpPr>
            <a:spLocks noChangeArrowheads="1"/>
          </p:cNvSpPr>
          <p:nvPr/>
        </p:nvSpPr>
        <p:spPr bwMode="auto">
          <a:xfrm>
            <a:off x="4931365" y="3122305"/>
            <a:ext cx="196502" cy="201818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1" name="Oval 37"/>
          <p:cNvSpPr>
            <a:spLocks noChangeArrowheads="1"/>
          </p:cNvSpPr>
          <p:nvPr/>
        </p:nvSpPr>
        <p:spPr bwMode="auto">
          <a:xfrm>
            <a:off x="4364388" y="3130264"/>
            <a:ext cx="194968" cy="204806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" name="Oval 37"/>
          <p:cNvSpPr>
            <a:spLocks noChangeArrowheads="1"/>
          </p:cNvSpPr>
          <p:nvPr/>
        </p:nvSpPr>
        <p:spPr bwMode="auto">
          <a:xfrm>
            <a:off x="3814883" y="3119317"/>
            <a:ext cx="187520" cy="204806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" name="Oval 37"/>
          <p:cNvSpPr>
            <a:spLocks noChangeArrowheads="1"/>
          </p:cNvSpPr>
          <p:nvPr/>
        </p:nvSpPr>
        <p:spPr bwMode="auto">
          <a:xfrm>
            <a:off x="3261870" y="3078553"/>
            <a:ext cx="213461" cy="192808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4" name="文本框 103"/>
          <p:cNvSpPr txBox="1"/>
          <p:nvPr/>
        </p:nvSpPr>
        <p:spPr>
          <a:xfrm>
            <a:off x="8315306" y="2038840"/>
            <a:ext cx="7321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(x</a:t>
            </a:r>
            <a:r>
              <a:rPr lang="en-US" altLang="zh-CN" baseline="-25000" dirty="0"/>
              <a:t>1</a:t>
            </a:r>
            <a:r>
              <a:rPr lang="en-US" altLang="zh-CN" dirty="0"/>
              <a:t>,y</a:t>
            </a:r>
            <a:r>
              <a:rPr lang="en-US" altLang="zh-CN" baseline="-25000" dirty="0"/>
              <a:t>1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105" name="文本框 104"/>
          <p:cNvSpPr txBox="1"/>
          <p:nvPr/>
        </p:nvSpPr>
        <p:spPr>
          <a:xfrm>
            <a:off x="7029366" y="1402087"/>
            <a:ext cx="7321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(x</a:t>
            </a:r>
            <a:r>
              <a:rPr lang="en-US" altLang="zh-CN" baseline="-25000" dirty="0"/>
              <a:t>2</a:t>
            </a:r>
            <a:r>
              <a:rPr lang="en-US" altLang="zh-CN" dirty="0"/>
              <a:t>,y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106" name="文本框 105"/>
          <p:cNvSpPr txBox="1"/>
          <p:nvPr/>
        </p:nvSpPr>
        <p:spPr>
          <a:xfrm>
            <a:off x="8076131" y="1328765"/>
            <a:ext cx="7321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(x</a:t>
            </a:r>
            <a:r>
              <a:rPr lang="en-US" altLang="zh-CN" baseline="-25000" dirty="0"/>
              <a:t>3</a:t>
            </a:r>
            <a:r>
              <a:rPr lang="en-US" altLang="zh-CN" dirty="0"/>
              <a:t>,y</a:t>
            </a:r>
            <a:r>
              <a:rPr lang="en-US" altLang="zh-CN" baseline="-25000" dirty="0"/>
              <a:t>3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107" name="文本框 106"/>
          <p:cNvSpPr txBox="1"/>
          <p:nvPr/>
        </p:nvSpPr>
        <p:spPr>
          <a:xfrm>
            <a:off x="3150472" y="1002043"/>
            <a:ext cx="593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,y</a:t>
            </a:r>
            <a:r>
              <a:rPr lang="en-US" altLang="zh-CN" baseline="-25000" dirty="0"/>
              <a:t>1</a:t>
            </a:r>
            <a:endParaRPr lang="en-US" dirty="0"/>
          </a:p>
        </p:txBody>
      </p:sp>
      <p:sp>
        <p:nvSpPr>
          <p:cNvPr id="108" name="文本框 107"/>
          <p:cNvSpPr txBox="1"/>
          <p:nvPr/>
        </p:nvSpPr>
        <p:spPr>
          <a:xfrm>
            <a:off x="2729051" y="1780626"/>
            <a:ext cx="593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,y</a:t>
            </a:r>
            <a:r>
              <a:rPr lang="en-US" altLang="zh-CN" baseline="-25000" dirty="0"/>
              <a:t>2</a:t>
            </a:r>
            <a:endParaRPr lang="en-US" dirty="0"/>
          </a:p>
        </p:txBody>
      </p:sp>
      <p:sp>
        <p:nvSpPr>
          <p:cNvPr id="109" name="文本框 108"/>
          <p:cNvSpPr txBox="1"/>
          <p:nvPr/>
        </p:nvSpPr>
        <p:spPr>
          <a:xfrm>
            <a:off x="3887544" y="2407908"/>
            <a:ext cx="593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3</a:t>
            </a:r>
            <a:r>
              <a:rPr lang="en-US" altLang="zh-CN" dirty="0"/>
              <a:t>,y</a:t>
            </a:r>
            <a:r>
              <a:rPr lang="en-US" altLang="zh-CN" baseline="-25000" dirty="0"/>
              <a:t>3</a:t>
            </a:r>
            <a:endParaRPr lang="en-US" dirty="0"/>
          </a:p>
        </p:txBody>
      </p:sp>
      <p:sp>
        <p:nvSpPr>
          <p:cNvPr id="110" name="Oval 18"/>
          <p:cNvSpPr>
            <a:spLocks noChangeArrowheads="1"/>
          </p:cNvSpPr>
          <p:nvPr/>
        </p:nvSpPr>
        <p:spPr bwMode="auto">
          <a:xfrm rot="4103149">
            <a:off x="2809083" y="2803389"/>
            <a:ext cx="898584" cy="370422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" name="文本框 110"/>
          <p:cNvSpPr txBox="1"/>
          <p:nvPr/>
        </p:nvSpPr>
        <p:spPr>
          <a:xfrm>
            <a:off x="7594129" y="2475200"/>
            <a:ext cx="2628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2757084" y="4277843"/>
            <a:ext cx="731971" cy="1787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文本框 114"/>
          <p:cNvSpPr txBox="1"/>
          <p:nvPr/>
        </p:nvSpPr>
        <p:spPr>
          <a:xfrm>
            <a:off x="2791960" y="5682906"/>
            <a:ext cx="679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T.NW</a:t>
            </a:r>
            <a:endParaRPr lang="en-US" dirty="0"/>
          </a:p>
        </p:txBody>
      </p:sp>
      <p:sp>
        <p:nvSpPr>
          <p:cNvPr id="117" name="矩形 116"/>
          <p:cNvSpPr/>
          <p:nvPr/>
        </p:nvSpPr>
        <p:spPr>
          <a:xfrm>
            <a:off x="1736981" y="4277843"/>
            <a:ext cx="731971" cy="1787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文本框 117"/>
          <p:cNvSpPr txBox="1"/>
          <p:nvPr/>
        </p:nvSpPr>
        <p:spPr>
          <a:xfrm>
            <a:off x="1969074" y="5696214"/>
            <a:ext cx="2940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en-US" dirty="0"/>
          </a:p>
        </p:txBody>
      </p:sp>
      <p:sp>
        <p:nvSpPr>
          <p:cNvPr id="122" name="文本框 121"/>
          <p:cNvSpPr txBox="1"/>
          <p:nvPr/>
        </p:nvSpPr>
        <p:spPr>
          <a:xfrm>
            <a:off x="3492532" y="5669880"/>
            <a:ext cx="13436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T.NE</a:t>
            </a:r>
          </a:p>
        </p:txBody>
      </p:sp>
      <p:sp>
        <p:nvSpPr>
          <p:cNvPr id="123" name="矩形 122"/>
          <p:cNvSpPr/>
          <p:nvPr/>
        </p:nvSpPr>
        <p:spPr>
          <a:xfrm>
            <a:off x="5103275" y="4289906"/>
            <a:ext cx="856857" cy="1787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文本框 123"/>
          <p:cNvSpPr txBox="1"/>
          <p:nvPr/>
        </p:nvSpPr>
        <p:spPr>
          <a:xfrm>
            <a:off x="5058424" y="5708277"/>
            <a:ext cx="9728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T.NW.NE</a:t>
            </a:r>
            <a:endParaRPr lang="en-US" dirty="0"/>
          </a:p>
        </p:txBody>
      </p:sp>
      <p:sp>
        <p:nvSpPr>
          <p:cNvPr id="125" name="文本框 124"/>
          <p:cNvSpPr txBox="1"/>
          <p:nvPr/>
        </p:nvSpPr>
        <p:spPr>
          <a:xfrm>
            <a:off x="6040168" y="5474760"/>
            <a:ext cx="16859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T.NW.SE</a:t>
            </a:r>
          </a:p>
          <a:p>
            <a:r>
              <a:rPr lang="en-US" altLang="zh-CN" dirty="0"/>
              <a:t>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reduced.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126" name="矩形 125"/>
          <p:cNvSpPr/>
          <p:nvPr/>
        </p:nvSpPr>
        <p:spPr>
          <a:xfrm>
            <a:off x="7682230" y="4290482"/>
            <a:ext cx="856857" cy="1787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文本框 127"/>
          <p:cNvSpPr txBox="1"/>
          <p:nvPr/>
        </p:nvSpPr>
        <p:spPr>
          <a:xfrm>
            <a:off x="8547832" y="4694145"/>
            <a:ext cx="2136775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T.NW.NE.SW</a:t>
            </a:r>
          </a:p>
          <a:p>
            <a:r>
              <a:rPr lang="en-US" altLang="zh-CN" dirty="0"/>
              <a:t>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reduced.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T.NW.NE.NW</a:t>
            </a:r>
          </a:p>
          <a:p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T.NW.NE.SE</a:t>
            </a:r>
          </a:p>
          <a:p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T.NW.NE.NE</a:t>
            </a:r>
          </a:p>
          <a:p>
            <a:endParaRPr lang="en-US" altLang="zh-CN" dirty="0"/>
          </a:p>
        </p:txBody>
      </p:sp>
      <p:sp>
        <p:nvSpPr>
          <p:cNvPr id="130" name="文本框 129"/>
          <p:cNvSpPr txBox="1"/>
          <p:nvPr/>
        </p:nvSpPr>
        <p:spPr>
          <a:xfrm>
            <a:off x="3488469" y="5022458"/>
            <a:ext cx="147161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T.SW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3497214" y="5326882"/>
            <a:ext cx="147161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reduced.</a:t>
            </a:r>
          </a:p>
        </p:txBody>
      </p:sp>
      <p:sp>
        <p:nvSpPr>
          <p:cNvPr id="133" name="Oval 21"/>
          <p:cNvSpPr>
            <a:spLocks noChangeArrowheads="1"/>
          </p:cNvSpPr>
          <p:nvPr/>
        </p:nvSpPr>
        <p:spPr bwMode="auto">
          <a:xfrm>
            <a:off x="7065691" y="1192782"/>
            <a:ext cx="1315486" cy="1285011"/>
          </a:xfrm>
          <a:prstGeom prst="ellipse">
            <a:avLst/>
          </a:prstGeom>
          <a:noFill/>
          <a:ln w="952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34" name="Oval 21"/>
          <p:cNvSpPr>
            <a:spLocks noChangeArrowheads="1"/>
          </p:cNvSpPr>
          <p:nvPr/>
        </p:nvSpPr>
        <p:spPr bwMode="auto">
          <a:xfrm>
            <a:off x="7477246" y="1615577"/>
            <a:ext cx="505504" cy="481626"/>
          </a:xfrm>
          <a:prstGeom prst="ellipse">
            <a:avLst/>
          </a:prstGeom>
          <a:noFill/>
          <a:ln w="952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" name="Oval 21"/>
          <p:cNvSpPr>
            <a:spLocks noChangeArrowheads="1"/>
          </p:cNvSpPr>
          <p:nvPr/>
        </p:nvSpPr>
        <p:spPr bwMode="auto">
          <a:xfrm>
            <a:off x="7410283" y="1538361"/>
            <a:ext cx="647739" cy="642404"/>
          </a:xfrm>
          <a:prstGeom prst="ellipse">
            <a:avLst/>
          </a:prstGeom>
          <a:noFill/>
          <a:ln w="952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" name="TextBox 1"/>
          <p:cNvSpPr txBox="1">
            <a:spLocks noChangeArrowheads="1"/>
          </p:cNvSpPr>
          <p:nvPr/>
        </p:nvSpPr>
        <p:spPr bwMode="auto">
          <a:xfrm>
            <a:off x="8199952" y="690790"/>
            <a:ext cx="3479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116" name="TextBox 11"/>
          <p:cNvSpPr txBox="1">
            <a:spLocks noChangeArrowheads="1"/>
          </p:cNvSpPr>
          <p:nvPr/>
        </p:nvSpPr>
        <p:spPr bwMode="auto">
          <a:xfrm>
            <a:off x="6454304" y="2178560"/>
            <a:ext cx="3987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</a:t>
            </a:r>
          </a:p>
        </p:txBody>
      </p:sp>
      <p:sp>
        <p:nvSpPr>
          <p:cNvPr id="119" name="TextBox 12"/>
          <p:cNvSpPr txBox="1">
            <a:spLocks noChangeArrowheads="1"/>
          </p:cNvSpPr>
          <p:nvPr/>
        </p:nvSpPr>
        <p:spPr bwMode="auto">
          <a:xfrm>
            <a:off x="9856903" y="2115921"/>
            <a:ext cx="335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20" name="TextBox 13"/>
          <p:cNvSpPr txBox="1">
            <a:spLocks noChangeArrowheads="1"/>
          </p:cNvSpPr>
          <p:nvPr/>
        </p:nvSpPr>
        <p:spPr bwMode="auto">
          <a:xfrm>
            <a:off x="8176545" y="3622479"/>
            <a:ext cx="335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119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bldLvl="0" animBg="1"/>
      <p:bldP spid="110" grpId="0" bldLvl="0" animBg="1"/>
      <p:bldP spid="112" grpId="0" bldLvl="0" animBg="1"/>
      <p:bldP spid="115" grpId="0"/>
      <p:bldP spid="117" grpId="0" bldLvl="0" animBg="1"/>
      <p:bldP spid="118" grpId="0"/>
      <p:bldP spid="122" grpId="0"/>
      <p:bldP spid="123" grpId="0" bldLvl="0" animBg="1"/>
      <p:bldP spid="124" grpId="0"/>
      <p:bldP spid="125" grpId="0"/>
      <p:bldP spid="126" grpId="0" bldLvl="0" animBg="1"/>
      <p:bldP spid="130" grpId="0"/>
      <p:bldP spid="132" grpId="0"/>
      <p:bldP spid="133" grpId="0" bldLvl="0" animBg="1"/>
      <p:bldP spid="134" grpId="0" bldLvl="0" animBg="1"/>
      <p:bldP spid="113" grpId="0" bldLvl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62150"/>
            <a:ext cx="8229600" cy="4525963"/>
          </a:xfrm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Simple data structure.</a:t>
            </a:r>
          </a:p>
          <a:p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Easy to implement.</a:t>
            </a:r>
          </a:p>
          <a:p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But, it might not be efficient:</a:t>
            </a:r>
          </a:p>
          <a:p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en-US" altLang="zh-CN" sz="1800" dirty="0">
                <a:ea typeface="宋体" panose="02010600030101010101" pitchFamily="2" charset="-122"/>
              </a:rPr>
              <a:t>A quadtree could have a lot of empty cells.</a:t>
            </a:r>
          </a:p>
          <a:p>
            <a:pPr lvl="1"/>
            <a:endParaRPr lang="en-US" altLang="zh-CN" sz="1800" dirty="0">
              <a:ea typeface="宋体" panose="02010600030101010101" pitchFamily="2" charset="-122"/>
            </a:endParaRPr>
          </a:p>
          <a:p>
            <a:pPr lvl="1"/>
            <a:r>
              <a:rPr lang="en-US" altLang="zh-CN" sz="1800" dirty="0">
                <a:ea typeface="宋体" panose="02010600030101010101" pitchFamily="2" charset="-122"/>
              </a:rPr>
              <a:t>If the points form sparse clouds, it takes a while to reach nearest neighbors. </a:t>
            </a:r>
          </a:p>
          <a:p>
            <a:pPr lvl="1"/>
            <a:endParaRPr lang="en-US" altLang="zh-CN" sz="1800" dirty="0">
              <a:ea typeface="宋体" panose="02010600030101010101" pitchFamily="2" charset="-122"/>
            </a:endParaRPr>
          </a:p>
        </p:txBody>
      </p:sp>
      <p:grpSp>
        <p:nvGrpSpPr>
          <p:cNvPr id="105476" name="Group 15"/>
          <p:cNvGrpSpPr/>
          <p:nvPr/>
        </p:nvGrpSpPr>
        <p:grpSpPr bwMode="auto">
          <a:xfrm>
            <a:off x="7324725" y="1485900"/>
            <a:ext cx="2425700" cy="2638425"/>
            <a:chOff x="2286000" y="2209800"/>
            <a:chExt cx="4191000" cy="4191000"/>
          </a:xfrm>
        </p:grpSpPr>
        <p:sp>
          <p:nvSpPr>
            <p:cNvPr id="105477" name="Rectangle 3"/>
            <p:cNvSpPr>
              <a:spLocks noChangeArrowheads="1"/>
            </p:cNvSpPr>
            <p:nvPr/>
          </p:nvSpPr>
          <p:spPr bwMode="auto">
            <a:xfrm>
              <a:off x="2286000" y="2209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5478" name="Rectangle 4"/>
            <p:cNvSpPr>
              <a:spLocks noChangeArrowheads="1"/>
            </p:cNvSpPr>
            <p:nvPr/>
          </p:nvSpPr>
          <p:spPr bwMode="auto">
            <a:xfrm>
              <a:off x="2286000" y="2209800"/>
              <a:ext cx="990600" cy="990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5479" name="Rectangle 5"/>
            <p:cNvSpPr>
              <a:spLocks noChangeArrowheads="1"/>
            </p:cNvSpPr>
            <p:nvPr/>
          </p:nvSpPr>
          <p:spPr bwMode="auto">
            <a:xfrm>
              <a:off x="2286000" y="2209800"/>
              <a:ext cx="2057400" cy="2057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5480" name="Rectangle 6"/>
            <p:cNvSpPr>
              <a:spLocks noChangeArrowheads="1"/>
            </p:cNvSpPr>
            <p:nvPr/>
          </p:nvSpPr>
          <p:spPr bwMode="auto">
            <a:xfrm>
              <a:off x="2286000" y="2209800"/>
              <a:ext cx="4191000" cy="419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5481" name="Rectangle 8"/>
            <p:cNvSpPr>
              <a:spLocks noChangeArrowheads="1"/>
            </p:cNvSpPr>
            <p:nvPr/>
          </p:nvSpPr>
          <p:spPr bwMode="auto">
            <a:xfrm>
              <a:off x="2286000" y="4267200"/>
              <a:ext cx="2057400" cy="2133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5482" name="Rectangle 9"/>
            <p:cNvSpPr>
              <a:spLocks noChangeArrowheads="1"/>
            </p:cNvSpPr>
            <p:nvPr/>
          </p:nvSpPr>
          <p:spPr bwMode="auto">
            <a:xfrm>
              <a:off x="4343400" y="2209800"/>
              <a:ext cx="2133600" cy="2057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5483" name="Rectangle 10"/>
            <p:cNvSpPr>
              <a:spLocks noChangeArrowheads="1"/>
            </p:cNvSpPr>
            <p:nvPr/>
          </p:nvSpPr>
          <p:spPr bwMode="auto">
            <a:xfrm>
              <a:off x="2286000" y="3200400"/>
              <a:ext cx="990600" cy="1066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5484" name="Rectangle 11"/>
            <p:cNvSpPr>
              <a:spLocks noChangeArrowheads="1"/>
            </p:cNvSpPr>
            <p:nvPr/>
          </p:nvSpPr>
          <p:spPr bwMode="auto">
            <a:xfrm>
              <a:off x="3276600" y="2209800"/>
              <a:ext cx="1066800" cy="990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5485" name="Rectangle 12"/>
            <p:cNvSpPr>
              <a:spLocks noChangeArrowheads="1"/>
            </p:cNvSpPr>
            <p:nvPr/>
          </p:nvSpPr>
          <p:spPr bwMode="auto">
            <a:xfrm>
              <a:off x="2286000" y="2667000"/>
              <a:ext cx="4572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5486" name="Rectangle 13"/>
            <p:cNvSpPr>
              <a:spLocks noChangeArrowheads="1"/>
            </p:cNvSpPr>
            <p:nvPr/>
          </p:nvSpPr>
          <p:spPr bwMode="auto">
            <a:xfrm>
              <a:off x="2743200" y="2209800"/>
              <a:ext cx="5334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5487" name="AutoShape 15"/>
            <p:cNvSpPr>
              <a:spLocks noChangeArrowheads="1"/>
            </p:cNvSpPr>
            <p:nvPr/>
          </p:nvSpPr>
          <p:spPr bwMode="auto">
            <a:xfrm>
              <a:off x="2362200" y="2362200"/>
              <a:ext cx="152400" cy="152400"/>
            </a:xfrm>
            <a:prstGeom prst="smileyFace">
              <a:avLst>
                <a:gd name="adj" fmla="val 46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292100" y="69547"/>
            <a:ext cx="394271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Quadtree(</a:t>
            </a:r>
            <a:r>
              <a:rPr lang="en-US" altLang="zh-CN" sz="3500" b="1" kern="0" dirty="0">
                <a:solidFill>
                  <a:schemeClr val="bg1"/>
                </a:solidFill>
                <a:latin typeface="Garamond"/>
                <a:ea typeface="+mj-ea"/>
                <a:cs typeface="+mj-cs"/>
              </a:rPr>
              <a:t>cont’d</a:t>
            </a:r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)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416687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120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4570573"/>
              </p:ext>
            </p:extLst>
          </p:nvPr>
        </p:nvGraphicFramePr>
        <p:xfrm>
          <a:off x="3747135" y="1092561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图形 7" descr="3D 眼镜 纯色填充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610" y="1034975"/>
            <a:ext cx="914400" cy="9144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79071" y="123825"/>
            <a:ext cx="221179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主要内容</a:t>
            </a:r>
            <a:endParaRPr lang="en-US" sz="2800" dirty="0">
              <a:solidFill>
                <a:schemeClr val="bg1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+mn-ea"/>
            </a:endParaRPr>
          </a:p>
        </p:txBody>
      </p:sp>
      <p:sp>
        <p:nvSpPr>
          <p:cNvPr id="11" name="圆角矩形 6"/>
          <p:cNvSpPr/>
          <p:nvPr/>
        </p:nvSpPr>
        <p:spPr>
          <a:xfrm>
            <a:off x="179071" y="84455"/>
            <a:ext cx="2211792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121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942666"/>
            <a:ext cx="7886700" cy="4351338"/>
          </a:xfrm>
        </p:spPr>
        <p:txBody>
          <a:bodyPr/>
          <a:lstStyle/>
          <a:p>
            <a:r>
              <a:rPr lang="en-US" altLang="zh-CN" dirty="0">
                <a:solidFill>
                  <a:srgbClr val="00B050"/>
                </a:solidFill>
              </a:rPr>
              <a:t>Nearest Neighbor Queries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K-D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r>
              <a:rPr lang="zh-CN" altLang="en-US" dirty="0"/>
              <a:t> </a:t>
            </a:r>
            <a:r>
              <a:rPr lang="en-US" altLang="zh-CN" dirty="0"/>
              <a:t>are very common: given a point </a:t>
            </a:r>
            <a:r>
              <a:rPr lang="en-US" altLang="zh-CN" dirty="0">
                <a:solidFill>
                  <a:srgbClr val="00B050"/>
                </a:solidFill>
              </a:rPr>
              <a:t>q</a:t>
            </a:r>
            <a:r>
              <a:rPr lang="en-US" altLang="zh-CN" dirty="0"/>
              <a:t> find the point </a:t>
            </a:r>
            <a:r>
              <a:rPr lang="en-US" altLang="zh-CN" dirty="0">
                <a:solidFill>
                  <a:srgbClr val="00B050"/>
                </a:solidFill>
              </a:rPr>
              <a:t>p</a:t>
            </a:r>
            <a:r>
              <a:rPr lang="en-US" altLang="zh-CN" dirty="0"/>
              <a:t> in the data set that is closest to </a:t>
            </a:r>
            <a:r>
              <a:rPr lang="en-US" altLang="zh-CN" dirty="0">
                <a:solidFill>
                  <a:srgbClr val="00B050"/>
                </a:solidFill>
              </a:rPr>
              <a:t>q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Finding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cell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contains</a:t>
            </a:r>
            <a:r>
              <a:rPr lang="zh-CN" altLang="en-US" dirty="0"/>
              <a:t> </a:t>
            </a:r>
            <a:r>
              <a:rPr lang="en-US" altLang="zh-CN" dirty="0"/>
              <a:t>q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returns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points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cell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doesn’t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work</a:t>
            </a:r>
            <a:r>
              <a:rPr lang="en-US" altLang="zh-CN" dirty="0"/>
              <a:t>.</a:t>
            </a:r>
            <a:r>
              <a:rPr lang="zh-CN" altLang="en-US" dirty="0"/>
              <a:t>  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700" y="3090864"/>
            <a:ext cx="3727736" cy="349411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238" y="3624107"/>
            <a:ext cx="3570417" cy="274796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207752" y="4621573"/>
            <a:ext cx="1715785" cy="1961968"/>
          </a:xfrm>
          <a:prstGeom prst="rect">
            <a:avLst/>
          </a:prstGeom>
          <a:solidFill>
            <a:srgbClr val="99CB38">
              <a:alpha val="1607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本框 5"/>
          <p:cNvSpPr txBox="1"/>
          <p:nvPr/>
        </p:nvSpPr>
        <p:spPr>
          <a:xfrm>
            <a:off x="4098568" y="4909443"/>
            <a:ext cx="6959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(52,52)</a:t>
            </a:r>
            <a:endParaRPr lang="en-US" sz="1400" dirty="0"/>
          </a:p>
        </p:txBody>
      </p:sp>
      <p:sp>
        <p:nvSpPr>
          <p:cNvPr id="7" name="椭圆 6"/>
          <p:cNvSpPr/>
          <p:nvPr/>
        </p:nvSpPr>
        <p:spPr>
          <a:xfrm>
            <a:off x="4195280" y="4757311"/>
            <a:ext cx="163918" cy="152132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椭圆 9"/>
          <p:cNvSpPr/>
          <p:nvPr/>
        </p:nvSpPr>
        <p:spPr>
          <a:xfrm>
            <a:off x="8722371" y="4914323"/>
            <a:ext cx="163918" cy="152132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512889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NN Search in K-D Tree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502412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122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6" grpId="0"/>
      <p:bldP spid="7" grpId="0" bldLvl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89" y="959319"/>
            <a:ext cx="8620242" cy="40504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26081" y="5235426"/>
            <a:ext cx="60007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最近邻点不一定在</a:t>
            </a:r>
            <a:r>
              <a:rPr lang="en-US" altLang="zh-CN" sz="2000" dirty="0" err="1"/>
              <a:t>q</a:t>
            </a:r>
            <a:r>
              <a:rPr lang="zh-CN" altLang="en-US" sz="2000" dirty="0"/>
              <a:t>所在的</a:t>
            </a:r>
            <a:r>
              <a:rPr lang="en-US" altLang="zh-CN" sz="2000" dirty="0"/>
              <a:t>cell</a:t>
            </a:r>
            <a:r>
              <a:rPr lang="zh-CN" altLang="en-US" sz="2000" dirty="0"/>
              <a:t>内，需要进行回溯查找</a:t>
            </a:r>
            <a:endParaRPr lang="en-US" sz="2000" dirty="0"/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123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8070" y="1371600"/>
            <a:ext cx="10317480" cy="4135755"/>
          </a:xfrm>
        </p:spPr>
        <p:txBody>
          <a:bodyPr/>
          <a:lstStyle/>
          <a:p>
            <a:r>
              <a:rPr lang="en-US" altLang="zh-CN" dirty="0"/>
              <a:t>Idea: traverse the whole tree, </a:t>
            </a:r>
            <a:r>
              <a:rPr lang="en-US" altLang="zh-CN" b="1" dirty="0"/>
              <a:t>BUT make two modifications to prune search spaces: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Keep a</a:t>
            </a:r>
            <a:r>
              <a:rPr lang="zh-CN" altLang="en-US" dirty="0"/>
              <a:t> </a:t>
            </a:r>
            <a:r>
              <a:rPr lang="en-US" altLang="zh-CN" dirty="0"/>
              <a:t>variable of </a:t>
            </a:r>
            <a:r>
              <a:rPr lang="en-US" altLang="zh-CN" dirty="0">
                <a:solidFill>
                  <a:srgbClr val="00B050"/>
                </a:solidFill>
              </a:rPr>
              <a:t>closest point </a:t>
            </a:r>
            <a:r>
              <a:rPr lang="en-US" altLang="zh-CN" i="1" dirty="0">
                <a:solidFill>
                  <a:srgbClr val="00B050"/>
                </a:solidFill>
              </a:rPr>
              <a:t>C</a:t>
            </a:r>
            <a:r>
              <a:rPr lang="en-US" altLang="zh-CN" dirty="0">
                <a:solidFill>
                  <a:srgbClr val="00B050"/>
                </a:solidFill>
              </a:rPr>
              <a:t> found so far</a:t>
            </a:r>
            <a:r>
              <a:rPr lang="en-US" altLang="zh-CN" dirty="0"/>
              <a:t>. Prune subtrees once </a:t>
            </a:r>
            <a:r>
              <a:rPr lang="en-US" altLang="zh-CN" dirty="0">
                <a:solidFill>
                  <a:srgbClr val="00B050"/>
                </a:solidFill>
              </a:rPr>
              <a:t>their bounding boxes </a:t>
            </a:r>
            <a:r>
              <a:rPr lang="en-US" altLang="zh-CN" dirty="0"/>
              <a:t>can’t contain any point closer than </a:t>
            </a:r>
            <a:r>
              <a:rPr lang="en-US" altLang="zh-CN" i="1" dirty="0"/>
              <a:t>C.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Search the subtrees in order that maximizes the chance for pruning.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Palatino" pitchFamily="2" charset="0"/>
              </a:rPr>
              <a:t>By </a:t>
            </a:r>
            <a:r>
              <a:rPr lang="en-US" altLang="zh-CN" dirty="0">
                <a:solidFill>
                  <a:srgbClr val="00B050"/>
                </a:solidFill>
                <a:latin typeface="Palatino" pitchFamily="2" charset="0"/>
              </a:rPr>
              <a:t>starting with the </a:t>
            </a:r>
            <a:r>
              <a:rPr lang="en-US" altLang="zh-CN" dirty="0"/>
              <a:t>the subtree that would contain Q</a:t>
            </a:r>
          </a:p>
          <a:p>
            <a:pPr lvl="1"/>
            <a:r>
              <a:rPr lang="en-US" altLang="zh-CN" dirty="0">
                <a:latin typeface="Palatino" pitchFamily="2" charset="0"/>
              </a:rPr>
              <a:t>Then</a:t>
            </a:r>
            <a:r>
              <a:rPr lang="zh-CN" altLang="en-US" dirty="0">
                <a:latin typeface="Palatino" pitchFamily="2" charset="0"/>
              </a:rPr>
              <a:t> </a:t>
            </a:r>
            <a:r>
              <a:rPr lang="en-US" altLang="zh-CN" dirty="0">
                <a:latin typeface="Palatino" pitchFamily="2" charset="0"/>
              </a:rPr>
              <a:t>recursively</a:t>
            </a:r>
            <a:r>
              <a:rPr lang="zh-CN" altLang="en-US" dirty="0">
                <a:latin typeface="Palatino" pitchFamily="2" charset="0"/>
              </a:rPr>
              <a:t> </a:t>
            </a:r>
            <a:r>
              <a:rPr lang="en-US" altLang="zh-CN" dirty="0">
                <a:latin typeface="Palatino" pitchFamily="2" charset="0"/>
              </a:rPr>
              <a:t>examine</a:t>
            </a:r>
            <a:r>
              <a:rPr lang="zh-CN" altLang="en-US" dirty="0">
                <a:latin typeface="Palatino" pitchFamily="2" charset="0"/>
              </a:rPr>
              <a:t> </a:t>
            </a:r>
            <a:r>
              <a:rPr lang="en-US" altLang="zh-CN" dirty="0">
                <a:latin typeface="Palatino" pitchFamily="2" charset="0"/>
              </a:rPr>
              <a:t>the</a:t>
            </a:r>
            <a:r>
              <a:rPr lang="zh-CN" altLang="en-US" dirty="0">
                <a:latin typeface="Palatino" pitchFamily="2" charset="0"/>
              </a:rPr>
              <a:t> </a:t>
            </a:r>
            <a:r>
              <a:rPr lang="en-US" altLang="zh-CN" dirty="0">
                <a:latin typeface="Palatino" pitchFamily="2" charset="0"/>
              </a:rPr>
              <a:t>subtrees</a:t>
            </a:r>
            <a:r>
              <a:rPr lang="zh-CN" altLang="en-US" dirty="0">
                <a:latin typeface="Palatino" pitchFamily="2" charset="0"/>
              </a:rPr>
              <a:t> </a:t>
            </a:r>
            <a:r>
              <a:rPr lang="en-US" altLang="zh-CN" dirty="0">
                <a:latin typeface="Palatino" pitchFamily="2" charset="0"/>
              </a:rPr>
              <a:t>that</a:t>
            </a:r>
            <a:r>
              <a:rPr lang="zh-CN" altLang="en-US" dirty="0">
                <a:latin typeface="Palatino" pitchFamily="2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Palatino" pitchFamily="2" charset="0"/>
              </a:rPr>
              <a:t>may</a:t>
            </a:r>
            <a:r>
              <a:rPr lang="zh-CN" altLang="en-US" dirty="0">
                <a:solidFill>
                  <a:srgbClr val="00B050"/>
                </a:solidFill>
                <a:latin typeface="Palatino" pitchFamily="2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Palatino" pitchFamily="2" charset="0"/>
              </a:rPr>
              <a:t>contain</a:t>
            </a:r>
            <a:r>
              <a:rPr lang="zh-CN" altLang="en-US" dirty="0">
                <a:solidFill>
                  <a:srgbClr val="00B050"/>
                </a:solidFill>
                <a:latin typeface="Palatino" pitchFamily="2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Palatino" pitchFamily="2" charset="0"/>
              </a:rPr>
              <a:t>points “closer” to Q</a:t>
            </a:r>
          </a:p>
          <a:p>
            <a:pPr lvl="1"/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endParaRPr 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1595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NN Search in K-D Tree</a:t>
            </a:r>
            <a:r>
              <a:rPr lang="zh-CN" altLang="en-US" sz="2800" dirty="0">
                <a:solidFill>
                  <a:srgbClr val="FFFF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, Ideas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591756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124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561" y="1100287"/>
            <a:ext cx="4335837" cy="289365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56109" y="4039466"/>
            <a:ext cx="7886701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ffectLst/>
                <a:latin typeface="Palatino" pitchFamily="2" charset="0"/>
              </a:rPr>
              <a:t>If </a:t>
            </a:r>
            <a:r>
              <a:rPr lang="en-US" altLang="zh-CN" sz="2400" dirty="0">
                <a:solidFill>
                  <a:srgbClr val="0600FF"/>
                </a:solidFill>
                <a:effectLst/>
                <a:latin typeface="Palatino" pitchFamily="2" charset="0"/>
              </a:rPr>
              <a:t>d &gt; </a:t>
            </a:r>
            <a:r>
              <a:rPr lang="en-US" altLang="zh-CN" sz="2400" dirty="0" err="1">
                <a:solidFill>
                  <a:srgbClr val="0600FF"/>
                </a:solidFill>
                <a:effectLst/>
                <a:latin typeface="Palatino" pitchFamily="2" charset="0"/>
              </a:rPr>
              <a:t>dist</a:t>
            </a:r>
            <a:r>
              <a:rPr lang="en-US" altLang="zh-CN" sz="2400" dirty="0">
                <a:solidFill>
                  <a:srgbClr val="0600FF"/>
                </a:solidFill>
                <a:effectLst/>
                <a:latin typeface="Palatino" pitchFamily="2" charset="0"/>
              </a:rPr>
              <a:t>(</a:t>
            </a:r>
            <a:r>
              <a:rPr lang="en-US" altLang="zh-CN" sz="2400" dirty="0">
                <a:solidFill>
                  <a:srgbClr val="00FF00"/>
                </a:solidFill>
                <a:effectLst/>
                <a:latin typeface="Palatino" pitchFamily="2" charset="0"/>
              </a:rPr>
              <a:t>C</a:t>
            </a:r>
            <a:r>
              <a:rPr lang="en-US" altLang="zh-CN" sz="2400" dirty="0">
                <a:solidFill>
                  <a:srgbClr val="0600FF"/>
                </a:solidFill>
                <a:effectLst/>
                <a:latin typeface="Palatino" pitchFamily="2" charset="0"/>
              </a:rPr>
              <a:t>, Q)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Palatino" pitchFamily="2" charset="0"/>
              </a:rPr>
              <a:t>, then no point in BB(T) can be closer to Q than C.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Palatino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Palatino" pitchFamily="2" charset="0"/>
              </a:rPr>
              <a:t>Hence, no reason to search subtree rooted at T.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71040" y="5019306"/>
            <a:ext cx="8762894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ffectLst/>
                <a:latin typeface="Palatino" pitchFamily="2" charset="0"/>
              </a:rPr>
              <a:t>Update the best point so far, 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Palatino" pitchFamily="2" charset="0"/>
              </a:rPr>
              <a:t>if T is better: 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Palatino" pitchFamily="2" charset="0"/>
              </a:rPr>
              <a:t>  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Palatino" pitchFamily="2" charset="0"/>
              </a:rPr>
              <a:t>if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Palatino" pitchFamily="2" charset="0"/>
              </a:rPr>
              <a:t>dist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Palatino" pitchFamily="2" charset="0"/>
              </a:rPr>
              <a:t>(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Palatino" pitchFamily="2" charset="0"/>
              </a:rPr>
              <a:t>C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Palatino" pitchFamily="2" charset="0"/>
              </a:rPr>
              <a:t>, </a:t>
            </a:r>
            <a:r>
              <a:rPr lang="en-US" altLang="zh-CN" sz="2400" dirty="0">
                <a:solidFill>
                  <a:srgbClr val="0600FF"/>
                </a:solidFill>
                <a:latin typeface="Palatino" pitchFamily="2" charset="0"/>
              </a:rPr>
              <a:t>Q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Palatino" pitchFamily="2" charset="0"/>
              </a:rPr>
              <a:t>) &gt;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Palatino" pitchFamily="2" charset="0"/>
              </a:rPr>
              <a:t>dist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Palatino" pitchFamily="2" charset="0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Palatino" pitchFamily="2" charset="0"/>
              </a:rPr>
              <a:t>T.data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Palatino" pitchFamily="2" charset="0"/>
              </a:rPr>
              <a:t>, Q), 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Palatino" pitchFamily="2" charset="0"/>
              </a:rPr>
              <a:t>C := </a:t>
            </a:r>
            <a:r>
              <a:rPr lang="en-US" altLang="zh-CN" sz="2400" dirty="0" err="1">
                <a:solidFill>
                  <a:srgbClr val="00B050"/>
                </a:solidFill>
                <a:effectLst/>
                <a:latin typeface="Palatino" pitchFamily="2" charset="0"/>
              </a:rPr>
              <a:t>T.data</a:t>
            </a:r>
            <a:endParaRPr lang="en-US" altLang="zh-CN" sz="2400" dirty="0">
              <a:solidFill>
                <a:srgbClr val="00B050"/>
              </a:solidFill>
              <a:effectLst/>
              <a:latin typeface="Palatino" pitchFamily="2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56109" y="5999146"/>
            <a:ext cx="7170399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ffectLst/>
                <a:latin typeface="Palatino" pitchFamily="2" charset="0"/>
              </a:rPr>
              <a:t>Recurse, but 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Palatino" pitchFamily="2" charset="0"/>
              </a:rPr>
              <a:t>start with the subtree “closer” to Q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Palatino" pitchFamily="2" charset="0"/>
              </a:rPr>
              <a:t>: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1595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NN Search in K-D Tree</a:t>
            </a:r>
            <a:r>
              <a:rPr lang="zh-CN" altLang="en-US" sz="2800" dirty="0">
                <a:solidFill>
                  <a:srgbClr val="FFFF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, Ideas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591756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125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99" name="Group 3"/>
          <p:cNvGrpSpPr/>
          <p:nvPr/>
        </p:nvGrpSpPr>
        <p:grpSpPr bwMode="auto">
          <a:xfrm>
            <a:off x="2209800" y="1600200"/>
            <a:ext cx="3263900" cy="2916238"/>
            <a:chOff x="1344" y="1056"/>
            <a:chExt cx="1824" cy="1632"/>
          </a:xfrm>
        </p:grpSpPr>
        <p:sp>
          <p:nvSpPr>
            <p:cNvPr id="106554" name="AutoShape 4"/>
            <p:cNvSpPr>
              <a:spLocks noChangeArrowheads="1"/>
            </p:cNvSpPr>
            <p:nvPr/>
          </p:nvSpPr>
          <p:spPr bwMode="auto">
            <a:xfrm>
              <a:off x="1536" y="168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55" name="AutoShape 5"/>
            <p:cNvSpPr>
              <a:spLocks noChangeArrowheads="1"/>
            </p:cNvSpPr>
            <p:nvPr/>
          </p:nvSpPr>
          <p:spPr bwMode="auto">
            <a:xfrm>
              <a:off x="163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56" name="AutoShape 6"/>
            <p:cNvSpPr>
              <a:spLocks noChangeArrowheads="1"/>
            </p:cNvSpPr>
            <p:nvPr/>
          </p:nvSpPr>
          <p:spPr bwMode="auto">
            <a:xfrm>
              <a:off x="1488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57" name="AutoShape 7"/>
            <p:cNvSpPr>
              <a:spLocks noChangeArrowheads="1"/>
            </p:cNvSpPr>
            <p:nvPr/>
          </p:nvSpPr>
          <p:spPr bwMode="auto">
            <a:xfrm>
              <a:off x="240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58" name="AutoShape 8"/>
            <p:cNvSpPr>
              <a:spLocks noChangeArrowheads="1"/>
            </p:cNvSpPr>
            <p:nvPr/>
          </p:nvSpPr>
          <p:spPr bwMode="auto">
            <a:xfrm>
              <a:off x="139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59" name="AutoShape 9"/>
            <p:cNvSpPr>
              <a:spLocks noChangeArrowheads="1"/>
            </p:cNvSpPr>
            <p:nvPr/>
          </p:nvSpPr>
          <p:spPr bwMode="auto">
            <a:xfrm>
              <a:off x="2352" y="230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60" name="AutoShape 10"/>
            <p:cNvSpPr>
              <a:spLocks noChangeArrowheads="1"/>
            </p:cNvSpPr>
            <p:nvPr/>
          </p:nvSpPr>
          <p:spPr bwMode="auto">
            <a:xfrm>
              <a:off x="2304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61" name="AutoShape 11"/>
            <p:cNvSpPr>
              <a:spLocks noChangeArrowheads="1"/>
            </p:cNvSpPr>
            <p:nvPr/>
          </p:nvSpPr>
          <p:spPr bwMode="auto">
            <a:xfrm>
              <a:off x="2736" y="153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62" name="AutoShape 12"/>
            <p:cNvSpPr>
              <a:spLocks noChangeArrowheads="1"/>
            </p:cNvSpPr>
            <p:nvPr/>
          </p:nvSpPr>
          <p:spPr bwMode="auto">
            <a:xfrm>
              <a:off x="2496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63" name="AutoShape 13"/>
            <p:cNvSpPr>
              <a:spLocks noChangeArrowheads="1"/>
            </p:cNvSpPr>
            <p:nvPr/>
          </p:nvSpPr>
          <p:spPr bwMode="auto">
            <a:xfrm>
              <a:off x="220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64" name="AutoShape 14"/>
            <p:cNvSpPr>
              <a:spLocks noChangeArrowheads="1"/>
            </p:cNvSpPr>
            <p:nvPr/>
          </p:nvSpPr>
          <p:spPr bwMode="auto">
            <a:xfrm>
              <a:off x="230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65" name="AutoShape 15"/>
            <p:cNvSpPr>
              <a:spLocks noChangeArrowheads="1"/>
            </p:cNvSpPr>
            <p:nvPr/>
          </p:nvSpPr>
          <p:spPr bwMode="auto">
            <a:xfrm>
              <a:off x="2400" y="25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66" name="AutoShape 16"/>
            <p:cNvSpPr>
              <a:spLocks noChangeArrowheads="1"/>
            </p:cNvSpPr>
            <p:nvPr/>
          </p:nvSpPr>
          <p:spPr bwMode="auto">
            <a:xfrm>
              <a:off x="2400" y="24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67" name="AutoShape 17"/>
            <p:cNvSpPr>
              <a:spLocks noChangeArrowheads="1"/>
            </p:cNvSpPr>
            <p:nvPr/>
          </p:nvSpPr>
          <p:spPr bwMode="auto">
            <a:xfrm>
              <a:off x="2976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68" name="AutoShape 18"/>
            <p:cNvSpPr>
              <a:spLocks noChangeArrowheads="1"/>
            </p:cNvSpPr>
            <p:nvPr/>
          </p:nvSpPr>
          <p:spPr bwMode="auto">
            <a:xfrm>
              <a:off x="2064" y="172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69" name="AutoShape 19"/>
            <p:cNvSpPr>
              <a:spLocks noChangeArrowheads="1"/>
            </p:cNvSpPr>
            <p:nvPr/>
          </p:nvSpPr>
          <p:spPr bwMode="auto">
            <a:xfrm>
              <a:off x="2112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70" name="AutoShape 20"/>
            <p:cNvSpPr>
              <a:spLocks noChangeArrowheads="1"/>
            </p:cNvSpPr>
            <p:nvPr/>
          </p:nvSpPr>
          <p:spPr bwMode="auto">
            <a:xfrm>
              <a:off x="254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71" name="AutoShape 21"/>
            <p:cNvSpPr>
              <a:spLocks noChangeArrowheads="1"/>
            </p:cNvSpPr>
            <p:nvPr/>
          </p:nvSpPr>
          <p:spPr bwMode="auto">
            <a:xfrm>
              <a:off x="1680" y="249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72" name="AutoShape 22"/>
            <p:cNvSpPr>
              <a:spLocks noChangeArrowheads="1"/>
            </p:cNvSpPr>
            <p:nvPr/>
          </p:nvSpPr>
          <p:spPr bwMode="auto">
            <a:xfrm>
              <a:off x="1728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73" name="AutoShape 23"/>
            <p:cNvSpPr>
              <a:spLocks noChangeArrowheads="1"/>
            </p:cNvSpPr>
            <p:nvPr/>
          </p:nvSpPr>
          <p:spPr bwMode="auto">
            <a:xfrm>
              <a:off x="2496" y="13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74" name="AutoShape 24"/>
            <p:cNvSpPr>
              <a:spLocks noChangeArrowheads="1"/>
            </p:cNvSpPr>
            <p:nvPr/>
          </p:nvSpPr>
          <p:spPr bwMode="auto">
            <a:xfrm>
              <a:off x="2592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75" name="AutoShape 25"/>
            <p:cNvSpPr>
              <a:spLocks noChangeArrowheads="1"/>
            </p:cNvSpPr>
            <p:nvPr/>
          </p:nvSpPr>
          <p:spPr bwMode="auto">
            <a:xfrm>
              <a:off x="264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76" name="AutoShape 26"/>
            <p:cNvSpPr>
              <a:spLocks noChangeArrowheads="1"/>
            </p:cNvSpPr>
            <p:nvPr/>
          </p:nvSpPr>
          <p:spPr bwMode="auto">
            <a:xfrm>
              <a:off x="268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77" name="AutoShape 27"/>
            <p:cNvSpPr>
              <a:spLocks noChangeArrowheads="1"/>
            </p:cNvSpPr>
            <p:nvPr/>
          </p:nvSpPr>
          <p:spPr bwMode="auto">
            <a:xfrm>
              <a:off x="158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78" name="AutoShape 28"/>
            <p:cNvSpPr>
              <a:spLocks noChangeArrowheads="1"/>
            </p:cNvSpPr>
            <p:nvPr/>
          </p:nvSpPr>
          <p:spPr bwMode="auto">
            <a:xfrm>
              <a:off x="182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79" name="AutoShape 29"/>
            <p:cNvSpPr>
              <a:spLocks noChangeArrowheads="1"/>
            </p:cNvSpPr>
            <p:nvPr/>
          </p:nvSpPr>
          <p:spPr bwMode="auto">
            <a:xfrm>
              <a:off x="2160" y="163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80" name="AutoShape 30"/>
            <p:cNvSpPr>
              <a:spLocks noChangeArrowheads="1"/>
            </p:cNvSpPr>
            <p:nvPr/>
          </p:nvSpPr>
          <p:spPr bwMode="auto">
            <a:xfrm>
              <a:off x="2016" y="216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81" name="AutoShape 31"/>
            <p:cNvSpPr>
              <a:spLocks noChangeArrowheads="1"/>
            </p:cNvSpPr>
            <p:nvPr/>
          </p:nvSpPr>
          <p:spPr bwMode="auto">
            <a:xfrm>
              <a:off x="1680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82" name="AutoShape 32"/>
            <p:cNvSpPr>
              <a:spLocks noChangeArrowheads="1"/>
            </p:cNvSpPr>
            <p:nvPr/>
          </p:nvSpPr>
          <p:spPr bwMode="auto">
            <a:xfrm>
              <a:off x="158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83" name="AutoShape 33"/>
            <p:cNvSpPr>
              <a:spLocks noChangeArrowheads="1"/>
            </p:cNvSpPr>
            <p:nvPr/>
          </p:nvSpPr>
          <p:spPr bwMode="auto">
            <a:xfrm>
              <a:off x="1488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84" name="AutoShape 34"/>
            <p:cNvSpPr>
              <a:spLocks noChangeArrowheads="1"/>
            </p:cNvSpPr>
            <p:nvPr/>
          </p:nvSpPr>
          <p:spPr bwMode="auto">
            <a:xfrm>
              <a:off x="206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85" name="AutoShape 35"/>
            <p:cNvSpPr>
              <a:spLocks noChangeArrowheads="1"/>
            </p:cNvSpPr>
            <p:nvPr/>
          </p:nvSpPr>
          <p:spPr bwMode="auto">
            <a:xfrm>
              <a:off x="2976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86" name="AutoShape 36"/>
            <p:cNvSpPr>
              <a:spLocks noChangeArrowheads="1"/>
            </p:cNvSpPr>
            <p:nvPr/>
          </p:nvSpPr>
          <p:spPr bwMode="auto">
            <a:xfrm>
              <a:off x="302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6587" name="Rectangle 37"/>
            <p:cNvSpPr>
              <a:spLocks noChangeArrowheads="1"/>
            </p:cNvSpPr>
            <p:nvPr/>
          </p:nvSpPr>
          <p:spPr bwMode="auto">
            <a:xfrm>
              <a:off x="1344" y="1056"/>
              <a:ext cx="1824" cy="1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06500" name="Line 38"/>
          <p:cNvSpPr>
            <a:spLocks noChangeShapeType="1"/>
          </p:cNvSpPr>
          <p:nvPr/>
        </p:nvSpPr>
        <p:spPr bwMode="auto">
          <a:xfrm>
            <a:off x="3886200" y="16002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1" name="Line 39"/>
          <p:cNvSpPr>
            <a:spLocks noChangeShapeType="1"/>
          </p:cNvSpPr>
          <p:nvPr/>
        </p:nvSpPr>
        <p:spPr bwMode="auto">
          <a:xfrm>
            <a:off x="38862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2" name="Line 40"/>
          <p:cNvSpPr>
            <a:spLocks noChangeShapeType="1"/>
          </p:cNvSpPr>
          <p:nvPr/>
        </p:nvSpPr>
        <p:spPr bwMode="auto">
          <a:xfrm>
            <a:off x="4724400" y="2971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3" name="Line 41"/>
          <p:cNvSpPr>
            <a:spLocks noChangeShapeType="1"/>
          </p:cNvSpPr>
          <p:nvPr/>
        </p:nvSpPr>
        <p:spPr bwMode="auto">
          <a:xfrm>
            <a:off x="3886200" y="3962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4" name="Line 42"/>
          <p:cNvSpPr>
            <a:spLocks noChangeShapeType="1"/>
          </p:cNvSpPr>
          <p:nvPr/>
        </p:nvSpPr>
        <p:spPr bwMode="auto">
          <a:xfrm>
            <a:off x="2209800" y="32766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5" name="Line 43"/>
          <p:cNvSpPr>
            <a:spLocks noChangeShapeType="1"/>
          </p:cNvSpPr>
          <p:nvPr/>
        </p:nvSpPr>
        <p:spPr bwMode="auto">
          <a:xfrm flipV="1">
            <a:off x="3124200" y="1600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6" name="Line 44"/>
          <p:cNvSpPr>
            <a:spLocks noChangeShapeType="1"/>
          </p:cNvSpPr>
          <p:nvPr/>
        </p:nvSpPr>
        <p:spPr bwMode="auto">
          <a:xfrm>
            <a:off x="3886200" y="2362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7" name="Line 45"/>
          <p:cNvSpPr>
            <a:spLocks noChangeShapeType="1"/>
          </p:cNvSpPr>
          <p:nvPr/>
        </p:nvSpPr>
        <p:spPr bwMode="auto">
          <a:xfrm>
            <a:off x="4495800" y="1600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8" name="Line 46"/>
          <p:cNvSpPr>
            <a:spLocks noChangeShapeType="1"/>
          </p:cNvSpPr>
          <p:nvPr/>
        </p:nvSpPr>
        <p:spPr bwMode="auto">
          <a:xfrm>
            <a:off x="2971800" y="32766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9" name="Line 47"/>
          <p:cNvSpPr>
            <a:spLocks noChangeShapeType="1"/>
          </p:cNvSpPr>
          <p:nvPr/>
        </p:nvSpPr>
        <p:spPr bwMode="auto">
          <a:xfrm>
            <a:off x="2209800" y="2743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0" name="Oval 48"/>
          <p:cNvSpPr>
            <a:spLocks noChangeArrowheads="1"/>
          </p:cNvSpPr>
          <p:nvPr/>
        </p:nvSpPr>
        <p:spPr bwMode="auto">
          <a:xfrm>
            <a:off x="64770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11" name="Oval 49"/>
          <p:cNvSpPr>
            <a:spLocks noChangeArrowheads="1"/>
          </p:cNvSpPr>
          <p:nvPr/>
        </p:nvSpPr>
        <p:spPr bwMode="auto">
          <a:xfrm>
            <a:off x="73152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12" name="Oval 50"/>
          <p:cNvSpPr>
            <a:spLocks noChangeArrowheads="1"/>
          </p:cNvSpPr>
          <p:nvPr/>
        </p:nvSpPr>
        <p:spPr bwMode="auto">
          <a:xfrm>
            <a:off x="7086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13" name="Oval 51"/>
          <p:cNvSpPr>
            <a:spLocks noChangeArrowheads="1"/>
          </p:cNvSpPr>
          <p:nvPr/>
        </p:nvSpPr>
        <p:spPr bwMode="auto">
          <a:xfrm>
            <a:off x="7543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14" name="Line 52"/>
          <p:cNvSpPr>
            <a:spLocks noChangeShapeType="1"/>
          </p:cNvSpPr>
          <p:nvPr/>
        </p:nvSpPr>
        <p:spPr bwMode="auto">
          <a:xfrm flipH="1">
            <a:off x="7162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5" name="Line 53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6" name="Oval 54"/>
          <p:cNvSpPr>
            <a:spLocks noChangeArrowheads="1"/>
          </p:cNvSpPr>
          <p:nvPr/>
        </p:nvSpPr>
        <p:spPr bwMode="auto">
          <a:xfrm>
            <a:off x="81534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17" name="Oval 55"/>
          <p:cNvSpPr>
            <a:spLocks noChangeArrowheads="1"/>
          </p:cNvSpPr>
          <p:nvPr/>
        </p:nvSpPr>
        <p:spPr bwMode="auto">
          <a:xfrm>
            <a:off x="88392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18" name="Oval 56"/>
          <p:cNvSpPr>
            <a:spLocks noChangeArrowheads="1"/>
          </p:cNvSpPr>
          <p:nvPr/>
        </p:nvSpPr>
        <p:spPr bwMode="auto">
          <a:xfrm>
            <a:off x="9296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19" name="Line 57"/>
          <p:cNvSpPr>
            <a:spLocks noChangeShapeType="1"/>
          </p:cNvSpPr>
          <p:nvPr/>
        </p:nvSpPr>
        <p:spPr bwMode="auto">
          <a:xfrm flipH="1">
            <a:off x="8915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20" name="Line 58"/>
          <p:cNvSpPr>
            <a:spLocks noChangeShapeType="1"/>
          </p:cNvSpPr>
          <p:nvPr/>
        </p:nvSpPr>
        <p:spPr bwMode="auto">
          <a:xfrm>
            <a:off x="92202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21" name="Oval 59"/>
          <p:cNvSpPr>
            <a:spLocks noChangeArrowheads="1"/>
          </p:cNvSpPr>
          <p:nvPr/>
        </p:nvSpPr>
        <p:spPr bwMode="auto">
          <a:xfrm>
            <a:off x="90678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22" name="Oval 60"/>
          <p:cNvSpPr>
            <a:spLocks noChangeArrowheads="1"/>
          </p:cNvSpPr>
          <p:nvPr/>
        </p:nvSpPr>
        <p:spPr bwMode="auto">
          <a:xfrm>
            <a:off x="69342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23" name="Line 61"/>
          <p:cNvSpPr>
            <a:spLocks noChangeShapeType="1"/>
          </p:cNvSpPr>
          <p:nvPr/>
        </p:nvSpPr>
        <p:spPr bwMode="auto">
          <a:xfrm flipH="1">
            <a:off x="6553200" y="30480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24" name="Line 62"/>
          <p:cNvSpPr>
            <a:spLocks noChangeShapeType="1"/>
          </p:cNvSpPr>
          <p:nvPr/>
        </p:nvSpPr>
        <p:spPr bwMode="auto">
          <a:xfrm>
            <a:off x="70866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25" name="Oval 63"/>
          <p:cNvSpPr>
            <a:spLocks noChangeArrowheads="1"/>
          </p:cNvSpPr>
          <p:nvPr/>
        </p:nvSpPr>
        <p:spPr bwMode="auto">
          <a:xfrm>
            <a:off x="86106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26" name="Line 64"/>
          <p:cNvSpPr>
            <a:spLocks noChangeShapeType="1"/>
          </p:cNvSpPr>
          <p:nvPr/>
        </p:nvSpPr>
        <p:spPr bwMode="auto">
          <a:xfrm flipH="1">
            <a:off x="83058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27" name="Line 65"/>
          <p:cNvSpPr>
            <a:spLocks noChangeShapeType="1"/>
          </p:cNvSpPr>
          <p:nvPr/>
        </p:nvSpPr>
        <p:spPr bwMode="auto">
          <a:xfrm>
            <a:off x="87630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28" name="Oval 66"/>
          <p:cNvSpPr>
            <a:spLocks noChangeArrowheads="1"/>
          </p:cNvSpPr>
          <p:nvPr/>
        </p:nvSpPr>
        <p:spPr bwMode="auto">
          <a:xfrm>
            <a:off x="7772400" y="2133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29" name="Line 67"/>
          <p:cNvSpPr>
            <a:spLocks noChangeShapeType="1"/>
          </p:cNvSpPr>
          <p:nvPr/>
        </p:nvSpPr>
        <p:spPr bwMode="auto">
          <a:xfrm flipH="1">
            <a:off x="70866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30" name="Line 68"/>
          <p:cNvSpPr>
            <a:spLocks noChangeShapeType="1"/>
          </p:cNvSpPr>
          <p:nvPr/>
        </p:nvSpPr>
        <p:spPr bwMode="auto">
          <a:xfrm>
            <a:off x="79248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31" name="Oval 69"/>
          <p:cNvSpPr>
            <a:spLocks noChangeArrowheads="1"/>
          </p:cNvSpPr>
          <p:nvPr/>
        </p:nvSpPr>
        <p:spPr bwMode="auto">
          <a:xfrm>
            <a:off x="6858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32" name="Oval 70"/>
          <p:cNvSpPr>
            <a:spLocks noChangeArrowheads="1"/>
          </p:cNvSpPr>
          <p:nvPr/>
        </p:nvSpPr>
        <p:spPr bwMode="auto">
          <a:xfrm>
            <a:off x="7315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33" name="Line 71"/>
          <p:cNvSpPr>
            <a:spLocks noChangeShapeType="1"/>
          </p:cNvSpPr>
          <p:nvPr/>
        </p:nvSpPr>
        <p:spPr bwMode="auto">
          <a:xfrm flipH="1">
            <a:off x="6934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34" name="Line 72"/>
          <p:cNvSpPr>
            <a:spLocks noChangeShapeType="1"/>
          </p:cNvSpPr>
          <p:nvPr/>
        </p:nvSpPr>
        <p:spPr bwMode="auto">
          <a:xfrm>
            <a:off x="7239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35" name="Oval 73"/>
          <p:cNvSpPr>
            <a:spLocks noChangeArrowheads="1"/>
          </p:cNvSpPr>
          <p:nvPr/>
        </p:nvSpPr>
        <p:spPr bwMode="auto">
          <a:xfrm>
            <a:off x="7924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36" name="Oval 74"/>
          <p:cNvSpPr>
            <a:spLocks noChangeArrowheads="1"/>
          </p:cNvSpPr>
          <p:nvPr/>
        </p:nvSpPr>
        <p:spPr bwMode="auto">
          <a:xfrm>
            <a:off x="83820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37" name="Line 75"/>
          <p:cNvSpPr>
            <a:spLocks noChangeShapeType="1"/>
          </p:cNvSpPr>
          <p:nvPr/>
        </p:nvSpPr>
        <p:spPr bwMode="auto">
          <a:xfrm flipH="1">
            <a:off x="80010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38" name="Line 76"/>
          <p:cNvSpPr>
            <a:spLocks noChangeShapeType="1"/>
          </p:cNvSpPr>
          <p:nvPr/>
        </p:nvSpPr>
        <p:spPr bwMode="auto">
          <a:xfrm>
            <a:off x="8305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39" name="Oval 77"/>
          <p:cNvSpPr>
            <a:spLocks noChangeArrowheads="1"/>
          </p:cNvSpPr>
          <p:nvPr/>
        </p:nvSpPr>
        <p:spPr bwMode="auto">
          <a:xfrm>
            <a:off x="7696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40" name="Oval 78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41" name="Line 79"/>
          <p:cNvSpPr>
            <a:spLocks noChangeShapeType="1"/>
          </p:cNvSpPr>
          <p:nvPr/>
        </p:nvSpPr>
        <p:spPr bwMode="auto">
          <a:xfrm flipH="1">
            <a:off x="77724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42" name="Line 80"/>
          <p:cNvSpPr>
            <a:spLocks noChangeShapeType="1"/>
          </p:cNvSpPr>
          <p:nvPr/>
        </p:nvSpPr>
        <p:spPr bwMode="auto">
          <a:xfrm>
            <a:off x="8077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43" name="Oval 81"/>
          <p:cNvSpPr>
            <a:spLocks noChangeArrowheads="1"/>
          </p:cNvSpPr>
          <p:nvPr/>
        </p:nvSpPr>
        <p:spPr bwMode="auto">
          <a:xfrm>
            <a:off x="90678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44" name="Oval 82"/>
          <p:cNvSpPr>
            <a:spLocks noChangeArrowheads="1"/>
          </p:cNvSpPr>
          <p:nvPr/>
        </p:nvSpPr>
        <p:spPr bwMode="auto">
          <a:xfrm>
            <a:off x="9525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45" name="Line 83"/>
          <p:cNvSpPr>
            <a:spLocks noChangeShapeType="1"/>
          </p:cNvSpPr>
          <p:nvPr/>
        </p:nvSpPr>
        <p:spPr bwMode="auto">
          <a:xfrm flipH="1">
            <a:off x="9144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46" name="Line 84"/>
          <p:cNvSpPr>
            <a:spLocks noChangeShapeType="1"/>
          </p:cNvSpPr>
          <p:nvPr/>
        </p:nvSpPr>
        <p:spPr bwMode="auto">
          <a:xfrm>
            <a:off x="94488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47" name="Oval 85"/>
          <p:cNvSpPr>
            <a:spLocks noChangeArrowheads="1"/>
          </p:cNvSpPr>
          <p:nvPr/>
        </p:nvSpPr>
        <p:spPr bwMode="auto">
          <a:xfrm>
            <a:off x="6248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48" name="Oval 86"/>
          <p:cNvSpPr>
            <a:spLocks noChangeArrowheads="1"/>
          </p:cNvSpPr>
          <p:nvPr/>
        </p:nvSpPr>
        <p:spPr bwMode="auto">
          <a:xfrm>
            <a:off x="6705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49" name="Line 87"/>
          <p:cNvSpPr>
            <a:spLocks noChangeShapeType="1"/>
          </p:cNvSpPr>
          <p:nvPr/>
        </p:nvSpPr>
        <p:spPr bwMode="auto">
          <a:xfrm flipH="1">
            <a:off x="6324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50" name="Line 88"/>
          <p:cNvSpPr>
            <a:spLocks noChangeShapeType="1"/>
          </p:cNvSpPr>
          <p:nvPr/>
        </p:nvSpPr>
        <p:spPr bwMode="auto">
          <a:xfrm>
            <a:off x="6629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79" name="Rectangle 89"/>
          <p:cNvSpPr>
            <a:spLocks noChangeArrowheads="1"/>
          </p:cNvSpPr>
          <p:nvPr/>
        </p:nvSpPr>
        <p:spPr bwMode="auto">
          <a:xfrm>
            <a:off x="1144905" y="5008245"/>
            <a:ext cx="9403080" cy="4914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600" dirty="0">
                <a:latin typeface="+mn-lt"/>
              </a:rPr>
              <a:t>Traverse the tree, looking for the rectangle that contains the query.</a:t>
            </a:r>
          </a:p>
        </p:txBody>
      </p:sp>
      <p:sp>
        <p:nvSpPr>
          <p:cNvPr id="106552" name="Oval 90"/>
          <p:cNvSpPr>
            <a:spLocks noChangeArrowheads="1"/>
          </p:cNvSpPr>
          <p:nvPr/>
        </p:nvSpPr>
        <p:spPr bwMode="auto">
          <a:xfrm>
            <a:off x="4191000" y="2438400"/>
            <a:ext cx="76200" cy="76200"/>
          </a:xfrm>
          <a:prstGeom prst="ellipse">
            <a:avLst/>
          </a:prstGeom>
          <a:solidFill>
            <a:srgbClr val="FF06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6553" name="AutoShape 91"/>
          <p:cNvSpPr>
            <a:spLocks noChangeArrowheads="1"/>
          </p:cNvSpPr>
          <p:nvPr/>
        </p:nvSpPr>
        <p:spPr bwMode="auto">
          <a:xfrm>
            <a:off x="5029200" y="2667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with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126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22" name="Group 3"/>
          <p:cNvGrpSpPr/>
          <p:nvPr/>
        </p:nvGrpSpPr>
        <p:grpSpPr bwMode="auto">
          <a:xfrm>
            <a:off x="2209800" y="1600200"/>
            <a:ext cx="3263900" cy="2916238"/>
            <a:chOff x="1344" y="1056"/>
            <a:chExt cx="1824" cy="1632"/>
          </a:xfrm>
        </p:grpSpPr>
        <p:sp>
          <p:nvSpPr>
            <p:cNvPr id="107580" name="AutoShape 4"/>
            <p:cNvSpPr>
              <a:spLocks noChangeArrowheads="1"/>
            </p:cNvSpPr>
            <p:nvPr/>
          </p:nvSpPr>
          <p:spPr bwMode="auto">
            <a:xfrm>
              <a:off x="1536" y="168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81" name="AutoShape 5"/>
            <p:cNvSpPr>
              <a:spLocks noChangeArrowheads="1"/>
            </p:cNvSpPr>
            <p:nvPr/>
          </p:nvSpPr>
          <p:spPr bwMode="auto">
            <a:xfrm>
              <a:off x="163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82" name="AutoShape 6"/>
            <p:cNvSpPr>
              <a:spLocks noChangeArrowheads="1"/>
            </p:cNvSpPr>
            <p:nvPr/>
          </p:nvSpPr>
          <p:spPr bwMode="auto">
            <a:xfrm>
              <a:off x="1488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83" name="AutoShape 7"/>
            <p:cNvSpPr>
              <a:spLocks noChangeArrowheads="1"/>
            </p:cNvSpPr>
            <p:nvPr/>
          </p:nvSpPr>
          <p:spPr bwMode="auto">
            <a:xfrm>
              <a:off x="240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84" name="AutoShape 8"/>
            <p:cNvSpPr>
              <a:spLocks noChangeArrowheads="1"/>
            </p:cNvSpPr>
            <p:nvPr/>
          </p:nvSpPr>
          <p:spPr bwMode="auto">
            <a:xfrm>
              <a:off x="139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85" name="AutoShape 9"/>
            <p:cNvSpPr>
              <a:spLocks noChangeArrowheads="1"/>
            </p:cNvSpPr>
            <p:nvPr/>
          </p:nvSpPr>
          <p:spPr bwMode="auto">
            <a:xfrm>
              <a:off x="2352" y="230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86" name="AutoShape 10"/>
            <p:cNvSpPr>
              <a:spLocks noChangeArrowheads="1"/>
            </p:cNvSpPr>
            <p:nvPr/>
          </p:nvSpPr>
          <p:spPr bwMode="auto">
            <a:xfrm>
              <a:off x="2304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87" name="AutoShape 11"/>
            <p:cNvSpPr>
              <a:spLocks noChangeArrowheads="1"/>
            </p:cNvSpPr>
            <p:nvPr/>
          </p:nvSpPr>
          <p:spPr bwMode="auto">
            <a:xfrm>
              <a:off x="2736" y="153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88" name="AutoShape 12"/>
            <p:cNvSpPr>
              <a:spLocks noChangeArrowheads="1"/>
            </p:cNvSpPr>
            <p:nvPr/>
          </p:nvSpPr>
          <p:spPr bwMode="auto">
            <a:xfrm>
              <a:off x="2496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89" name="AutoShape 13"/>
            <p:cNvSpPr>
              <a:spLocks noChangeArrowheads="1"/>
            </p:cNvSpPr>
            <p:nvPr/>
          </p:nvSpPr>
          <p:spPr bwMode="auto">
            <a:xfrm>
              <a:off x="220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90" name="AutoShape 14"/>
            <p:cNvSpPr>
              <a:spLocks noChangeArrowheads="1"/>
            </p:cNvSpPr>
            <p:nvPr/>
          </p:nvSpPr>
          <p:spPr bwMode="auto">
            <a:xfrm>
              <a:off x="230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91" name="AutoShape 15"/>
            <p:cNvSpPr>
              <a:spLocks noChangeArrowheads="1"/>
            </p:cNvSpPr>
            <p:nvPr/>
          </p:nvSpPr>
          <p:spPr bwMode="auto">
            <a:xfrm>
              <a:off x="2400" y="25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92" name="AutoShape 16"/>
            <p:cNvSpPr>
              <a:spLocks noChangeArrowheads="1"/>
            </p:cNvSpPr>
            <p:nvPr/>
          </p:nvSpPr>
          <p:spPr bwMode="auto">
            <a:xfrm>
              <a:off x="2400" y="24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93" name="AutoShape 17"/>
            <p:cNvSpPr>
              <a:spLocks noChangeArrowheads="1"/>
            </p:cNvSpPr>
            <p:nvPr/>
          </p:nvSpPr>
          <p:spPr bwMode="auto">
            <a:xfrm>
              <a:off x="2976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94" name="AutoShape 18"/>
            <p:cNvSpPr>
              <a:spLocks noChangeArrowheads="1"/>
            </p:cNvSpPr>
            <p:nvPr/>
          </p:nvSpPr>
          <p:spPr bwMode="auto">
            <a:xfrm>
              <a:off x="2064" y="172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95" name="AutoShape 19"/>
            <p:cNvSpPr>
              <a:spLocks noChangeArrowheads="1"/>
            </p:cNvSpPr>
            <p:nvPr/>
          </p:nvSpPr>
          <p:spPr bwMode="auto">
            <a:xfrm>
              <a:off x="2112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96" name="AutoShape 20"/>
            <p:cNvSpPr>
              <a:spLocks noChangeArrowheads="1"/>
            </p:cNvSpPr>
            <p:nvPr/>
          </p:nvSpPr>
          <p:spPr bwMode="auto">
            <a:xfrm>
              <a:off x="254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97" name="AutoShape 21"/>
            <p:cNvSpPr>
              <a:spLocks noChangeArrowheads="1"/>
            </p:cNvSpPr>
            <p:nvPr/>
          </p:nvSpPr>
          <p:spPr bwMode="auto">
            <a:xfrm>
              <a:off x="1680" y="249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98" name="AutoShape 22"/>
            <p:cNvSpPr>
              <a:spLocks noChangeArrowheads="1"/>
            </p:cNvSpPr>
            <p:nvPr/>
          </p:nvSpPr>
          <p:spPr bwMode="auto">
            <a:xfrm>
              <a:off x="1728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599" name="AutoShape 23"/>
            <p:cNvSpPr>
              <a:spLocks noChangeArrowheads="1"/>
            </p:cNvSpPr>
            <p:nvPr/>
          </p:nvSpPr>
          <p:spPr bwMode="auto">
            <a:xfrm>
              <a:off x="2496" y="13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00" name="AutoShape 24"/>
            <p:cNvSpPr>
              <a:spLocks noChangeArrowheads="1"/>
            </p:cNvSpPr>
            <p:nvPr/>
          </p:nvSpPr>
          <p:spPr bwMode="auto">
            <a:xfrm>
              <a:off x="2592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01" name="AutoShape 25"/>
            <p:cNvSpPr>
              <a:spLocks noChangeArrowheads="1"/>
            </p:cNvSpPr>
            <p:nvPr/>
          </p:nvSpPr>
          <p:spPr bwMode="auto">
            <a:xfrm>
              <a:off x="264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02" name="AutoShape 26"/>
            <p:cNvSpPr>
              <a:spLocks noChangeArrowheads="1"/>
            </p:cNvSpPr>
            <p:nvPr/>
          </p:nvSpPr>
          <p:spPr bwMode="auto">
            <a:xfrm>
              <a:off x="268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03" name="AutoShape 27"/>
            <p:cNvSpPr>
              <a:spLocks noChangeArrowheads="1"/>
            </p:cNvSpPr>
            <p:nvPr/>
          </p:nvSpPr>
          <p:spPr bwMode="auto">
            <a:xfrm>
              <a:off x="158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04" name="AutoShape 28"/>
            <p:cNvSpPr>
              <a:spLocks noChangeArrowheads="1"/>
            </p:cNvSpPr>
            <p:nvPr/>
          </p:nvSpPr>
          <p:spPr bwMode="auto">
            <a:xfrm>
              <a:off x="182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05" name="AutoShape 29"/>
            <p:cNvSpPr>
              <a:spLocks noChangeArrowheads="1"/>
            </p:cNvSpPr>
            <p:nvPr/>
          </p:nvSpPr>
          <p:spPr bwMode="auto">
            <a:xfrm>
              <a:off x="2160" y="163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06" name="AutoShape 30"/>
            <p:cNvSpPr>
              <a:spLocks noChangeArrowheads="1"/>
            </p:cNvSpPr>
            <p:nvPr/>
          </p:nvSpPr>
          <p:spPr bwMode="auto">
            <a:xfrm>
              <a:off x="2016" y="216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07" name="AutoShape 31"/>
            <p:cNvSpPr>
              <a:spLocks noChangeArrowheads="1"/>
            </p:cNvSpPr>
            <p:nvPr/>
          </p:nvSpPr>
          <p:spPr bwMode="auto">
            <a:xfrm>
              <a:off x="1680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08" name="AutoShape 32"/>
            <p:cNvSpPr>
              <a:spLocks noChangeArrowheads="1"/>
            </p:cNvSpPr>
            <p:nvPr/>
          </p:nvSpPr>
          <p:spPr bwMode="auto">
            <a:xfrm>
              <a:off x="158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09" name="AutoShape 33"/>
            <p:cNvSpPr>
              <a:spLocks noChangeArrowheads="1"/>
            </p:cNvSpPr>
            <p:nvPr/>
          </p:nvSpPr>
          <p:spPr bwMode="auto">
            <a:xfrm>
              <a:off x="1488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10" name="AutoShape 34"/>
            <p:cNvSpPr>
              <a:spLocks noChangeArrowheads="1"/>
            </p:cNvSpPr>
            <p:nvPr/>
          </p:nvSpPr>
          <p:spPr bwMode="auto">
            <a:xfrm>
              <a:off x="206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11" name="AutoShape 35"/>
            <p:cNvSpPr>
              <a:spLocks noChangeArrowheads="1"/>
            </p:cNvSpPr>
            <p:nvPr/>
          </p:nvSpPr>
          <p:spPr bwMode="auto">
            <a:xfrm>
              <a:off x="2976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12" name="AutoShape 36"/>
            <p:cNvSpPr>
              <a:spLocks noChangeArrowheads="1"/>
            </p:cNvSpPr>
            <p:nvPr/>
          </p:nvSpPr>
          <p:spPr bwMode="auto">
            <a:xfrm>
              <a:off x="302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7613" name="Rectangle 37"/>
            <p:cNvSpPr>
              <a:spLocks noChangeArrowheads="1"/>
            </p:cNvSpPr>
            <p:nvPr/>
          </p:nvSpPr>
          <p:spPr bwMode="auto">
            <a:xfrm>
              <a:off x="1344" y="1056"/>
              <a:ext cx="1824" cy="1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07523" name="Line 38"/>
          <p:cNvSpPr>
            <a:spLocks noChangeShapeType="1"/>
          </p:cNvSpPr>
          <p:nvPr/>
        </p:nvSpPr>
        <p:spPr bwMode="auto">
          <a:xfrm>
            <a:off x="3886200" y="16002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4" name="Line 39"/>
          <p:cNvSpPr>
            <a:spLocks noChangeShapeType="1"/>
          </p:cNvSpPr>
          <p:nvPr/>
        </p:nvSpPr>
        <p:spPr bwMode="auto">
          <a:xfrm>
            <a:off x="38862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5" name="Line 40"/>
          <p:cNvSpPr>
            <a:spLocks noChangeShapeType="1"/>
          </p:cNvSpPr>
          <p:nvPr/>
        </p:nvSpPr>
        <p:spPr bwMode="auto">
          <a:xfrm>
            <a:off x="4724400" y="2971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6" name="Line 41"/>
          <p:cNvSpPr>
            <a:spLocks noChangeShapeType="1"/>
          </p:cNvSpPr>
          <p:nvPr/>
        </p:nvSpPr>
        <p:spPr bwMode="auto">
          <a:xfrm>
            <a:off x="3886200" y="3962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7" name="Line 42"/>
          <p:cNvSpPr>
            <a:spLocks noChangeShapeType="1"/>
          </p:cNvSpPr>
          <p:nvPr/>
        </p:nvSpPr>
        <p:spPr bwMode="auto">
          <a:xfrm>
            <a:off x="2209800" y="32766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8" name="Line 43"/>
          <p:cNvSpPr>
            <a:spLocks noChangeShapeType="1"/>
          </p:cNvSpPr>
          <p:nvPr/>
        </p:nvSpPr>
        <p:spPr bwMode="auto">
          <a:xfrm flipV="1">
            <a:off x="3124200" y="1600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9" name="Line 44"/>
          <p:cNvSpPr>
            <a:spLocks noChangeShapeType="1"/>
          </p:cNvSpPr>
          <p:nvPr/>
        </p:nvSpPr>
        <p:spPr bwMode="auto">
          <a:xfrm>
            <a:off x="3886200" y="2362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0" name="Line 45"/>
          <p:cNvSpPr>
            <a:spLocks noChangeShapeType="1"/>
          </p:cNvSpPr>
          <p:nvPr/>
        </p:nvSpPr>
        <p:spPr bwMode="auto">
          <a:xfrm>
            <a:off x="4495800" y="1600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1" name="Line 46"/>
          <p:cNvSpPr>
            <a:spLocks noChangeShapeType="1"/>
          </p:cNvSpPr>
          <p:nvPr/>
        </p:nvSpPr>
        <p:spPr bwMode="auto">
          <a:xfrm>
            <a:off x="2971800" y="32766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2" name="Line 47"/>
          <p:cNvSpPr>
            <a:spLocks noChangeShapeType="1"/>
          </p:cNvSpPr>
          <p:nvPr/>
        </p:nvSpPr>
        <p:spPr bwMode="auto">
          <a:xfrm>
            <a:off x="2209800" y="2743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3" name="Oval 48"/>
          <p:cNvSpPr>
            <a:spLocks noChangeArrowheads="1"/>
          </p:cNvSpPr>
          <p:nvPr/>
        </p:nvSpPr>
        <p:spPr bwMode="auto">
          <a:xfrm>
            <a:off x="64770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34" name="Oval 49"/>
          <p:cNvSpPr>
            <a:spLocks noChangeArrowheads="1"/>
          </p:cNvSpPr>
          <p:nvPr/>
        </p:nvSpPr>
        <p:spPr bwMode="auto">
          <a:xfrm>
            <a:off x="73152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35" name="Oval 50"/>
          <p:cNvSpPr>
            <a:spLocks noChangeArrowheads="1"/>
          </p:cNvSpPr>
          <p:nvPr/>
        </p:nvSpPr>
        <p:spPr bwMode="auto">
          <a:xfrm>
            <a:off x="7086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36" name="Oval 51"/>
          <p:cNvSpPr>
            <a:spLocks noChangeArrowheads="1"/>
          </p:cNvSpPr>
          <p:nvPr/>
        </p:nvSpPr>
        <p:spPr bwMode="auto">
          <a:xfrm>
            <a:off x="7543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37" name="Line 52"/>
          <p:cNvSpPr>
            <a:spLocks noChangeShapeType="1"/>
          </p:cNvSpPr>
          <p:nvPr/>
        </p:nvSpPr>
        <p:spPr bwMode="auto">
          <a:xfrm flipH="1">
            <a:off x="7162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8" name="Line 53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9" name="Oval 54"/>
          <p:cNvSpPr>
            <a:spLocks noChangeArrowheads="1"/>
          </p:cNvSpPr>
          <p:nvPr/>
        </p:nvSpPr>
        <p:spPr bwMode="auto">
          <a:xfrm>
            <a:off x="81534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40" name="Oval 55"/>
          <p:cNvSpPr>
            <a:spLocks noChangeArrowheads="1"/>
          </p:cNvSpPr>
          <p:nvPr/>
        </p:nvSpPr>
        <p:spPr bwMode="auto">
          <a:xfrm>
            <a:off x="88392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41" name="Oval 56"/>
          <p:cNvSpPr>
            <a:spLocks noChangeArrowheads="1"/>
          </p:cNvSpPr>
          <p:nvPr/>
        </p:nvSpPr>
        <p:spPr bwMode="auto">
          <a:xfrm>
            <a:off x="9296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42" name="Line 57"/>
          <p:cNvSpPr>
            <a:spLocks noChangeShapeType="1"/>
          </p:cNvSpPr>
          <p:nvPr/>
        </p:nvSpPr>
        <p:spPr bwMode="auto">
          <a:xfrm flipH="1">
            <a:off x="8915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43" name="Line 58"/>
          <p:cNvSpPr>
            <a:spLocks noChangeShapeType="1"/>
          </p:cNvSpPr>
          <p:nvPr/>
        </p:nvSpPr>
        <p:spPr bwMode="auto">
          <a:xfrm>
            <a:off x="92202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44" name="Oval 59"/>
          <p:cNvSpPr>
            <a:spLocks noChangeArrowheads="1"/>
          </p:cNvSpPr>
          <p:nvPr/>
        </p:nvSpPr>
        <p:spPr bwMode="auto">
          <a:xfrm>
            <a:off x="90678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45" name="Oval 60"/>
          <p:cNvSpPr>
            <a:spLocks noChangeArrowheads="1"/>
          </p:cNvSpPr>
          <p:nvPr/>
        </p:nvSpPr>
        <p:spPr bwMode="auto">
          <a:xfrm>
            <a:off x="69342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46" name="Line 61"/>
          <p:cNvSpPr>
            <a:spLocks noChangeShapeType="1"/>
          </p:cNvSpPr>
          <p:nvPr/>
        </p:nvSpPr>
        <p:spPr bwMode="auto">
          <a:xfrm flipH="1">
            <a:off x="6553200" y="30480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47" name="Line 62"/>
          <p:cNvSpPr>
            <a:spLocks noChangeShapeType="1"/>
          </p:cNvSpPr>
          <p:nvPr/>
        </p:nvSpPr>
        <p:spPr bwMode="auto">
          <a:xfrm>
            <a:off x="70866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48" name="Oval 63"/>
          <p:cNvSpPr>
            <a:spLocks noChangeArrowheads="1"/>
          </p:cNvSpPr>
          <p:nvPr/>
        </p:nvSpPr>
        <p:spPr bwMode="auto">
          <a:xfrm>
            <a:off x="86106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49" name="Line 64"/>
          <p:cNvSpPr>
            <a:spLocks noChangeShapeType="1"/>
          </p:cNvSpPr>
          <p:nvPr/>
        </p:nvSpPr>
        <p:spPr bwMode="auto">
          <a:xfrm flipH="1">
            <a:off x="83058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50" name="Line 65"/>
          <p:cNvSpPr>
            <a:spLocks noChangeShapeType="1"/>
          </p:cNvSpPr>
          <p:nvPr/>
        </p:nvSpPr>
        <p:spPr bwMode="auto">
          <a:xfrm>
            <a:off x="87630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51" name="Oval 66"/>
          <p:cNvSpPr>
            <a:spLocks noChangeArrowheads="1"/>
          </p:cNvSpPr>
          <p:nvPr/>
        </p:nvSpPr>
        <p:spPr bwMode="auto">
          <a:xfrm>
            <a:off x="7772400" y="2133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52" name="Line 67"/>
          <p:cNvSpPr>
            <a:spLocks noChangeShapeType="1"/>
          </p:cNvSpPr>
          <p:nvPr/>
        </p:nvSpPr>
        <p:spPr bwMode="auto">
          <a:xfrm flipH="1">
            <a:off x="70866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53" name="Line 68"/>
          <p:cNvSpPr>
            <a:spLocks noChangeShapeType="1"/>
          </p:cNvSpPr>
          <p:nvPr/>
        </p:nvSpPr>
        <p:spPr bwMode="auto">
          <a:xfrm>
            <a:off x="79248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54" name="Oval 69"/>
          <p:cNvSpPr>
            <a:spLocks noChangeArrowheads="1"/>
          </p:cNvSpPr>
          <p:nvPr/>
        </p:nvSpPr>
        <p:spPr bwMode="auto">
          <a:xfrm>
            <a:off x="6858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55" name="Oval 70"/>
          <p:cNvSpPr>
            <a:spLocks noChangeArrowheads="1"/>
          </p:cNvSpPr>
          <p:nvPr/>
        </p:nvSpPr>
        <p:spPr bwMode="auto">
          <a:xfrm>
            <a:off x="7315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56" name="Line 71"/>
          <p:cNvSpPr>
            <a:spLocks noChangeShapeType="1"/>
          </p:cNvSpPr>
          <p:nvPr/>
        </p:nvSpPr>
        <p:spPr bwMode="auto">
          <a:xfrm flipH="1">
            <a:off x="6934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57" name="Line 72"/>
          <p:cNvSpPr>
            <a:spLocks noChangeShapeType="1"/>
          </p:cNvSpPr>
          <p:nvPr/>
        </p:nvSpPr>
        <p:spPr bwMode="auto">
          <a:xfrm>
            <a:off x="7239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58" name="Oval 73"/>
          <p:cNvSpPr>
            <a:spLocks noChangeArrowheads="1"/>
          </p:cNvSpPr>
          <p:nvPr/>
        </p:nvSpPr>
        <p:spPr bwMode="auto">
          <a:xfrm>
            <a:off x="7924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59" name="Oval 74"/>
          <p:cNvSpPr>
            <a:spLocks noChangeArrowheads="1"/>
          </p:cNvSpPr>
          <p:nvPr/>
        </p:nvSpPr>
        <p:spPr bwMode="auto">
          <a:xfrm>
            <a:off x="83820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60" name="Line 75"/>
          <p:cNvSpPr>
            <a:spLocks noChangeShapeType="1"/>
          </p:cNvSpPr>
          <p:nvPr/>
        </p:nvSpPr>
        <p:spPr bwMode="auto">
          <a:xfrm flipH="1">
            <a:off x="80010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61" name="Line 76"/>
          <p:cNvSpPr>
            <a:spLocks noChangeShapeType="1"/>
          </p:cNvSpPr>
          <p:nvPr/>
        </p:nvSpPr>
        <p:spPr bwMode="auto">
          <a:xfrm>
            <a:off x="8305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62" name="Oval 77"/>
          <p:cNvSpPr>
            <a:spLocks noChangeArrowheads="1"/>
          </p:cNvSpPr>
          <p:nvPr/>
        </p:nvSpPr>
        <p:spPr bwMode="auto">
          <a:xfrm>
            <a:off x="7696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63" name="Oval 78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64" name="Line 79"/>
          <p:cNvSpPr>
            <a:spLocks noChangeShapeType="1"/>
          </p:cNvSpPr>
          <p:nvPr/>
        </p:nvSpPr>
        <p:spPr bwMode="auto">
          <a:xfrm flipH="1">
            <a:off x="77724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65" name="Line 80"/>
          <p:cNvSpPr>
            <a:spLocks noChangeShapeType="1"/>
          </p:cNvSpPr>
          <p:nvPr/>
        </p:nvSpPr>
        <p:spPr bwMode="auto">
          <a:xfrm>
            <a:off x="8077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66" name="Oval 81"/>
          <p:cNvSpPr>
            <a:spLocks noChangeArrowheads="1"/>
          </p:cNvSpPr>
          <p:nvPr/>
        </p:nvSpPr>
        <p:spPr bwMode="auto">
          <a:xfrm>
            <a:off x="90678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67" name="Oval 82"/>
          <p:cNvSpPr>
            <a:spLocks noChangeArrowheads="1"/>
          </p:cNvSpPr>
          <p:nvPr/>
        </p:nvSpPr>
        <p:spPr bwMode="auto">
          <a:xfrm>
            <a:off x="9525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68" name="Line 83"/>
          <p:cNvSpPr>
            <a:spLocks noChangeShapeType="1"/>
          </p:cNvSpPr>
          <p:nvPr/>
        </p:nvSpPr>
        <p:spPr bwMode="auto">
          <a:xfrm flipH="1">
            <a:off x="9144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69" name="Line 84"/>
          <p:cNvSpPr>
            <a:spLocks noChangeShapeType="1"/>
          </p:cNvSpPr>
          <p:nvPr/>
        </p:nvSpPr>
        <p:spPr bwMode="auto">
          <a:xfrm>
            <a:off x="94488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70" name="Oval 85"/>
          <p:cNvSpPr>
            <a:spLocks noChangeArrowheads="1"/>
          </p:cNvSpPr>
          <p:nvPr/>
        </p:nvSpPr>
        <p:spPr bwMode="auto">
          <a:xfrm>
            <a:off x="6248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71" name="Oval 86"/>
          <p:cNvSpPr>
            <a:spLocks noChangeArrowheads="1"/>
          </p:cNvSpPr>
          <p:nvPr/>
        </p:nvSpPr>
        <p:spPr bwMode="auto">
          <a:xfrm>
            <a:off x="6705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72" name="Line 87"/>
          <p:cNvSpPr>
            <a:spLocks noChangeShapeType="1"/>
          </p:cNvSpPr>
          <p:nvPr/>
        </p:nvSpPr>
        <p:spPr bwMode="auto">
          <a:xfrm flipH="1">
            <a:off x="6324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73" name="Line 88"/>
          <p:cNvSpPr>
            <a:spLocks noChangeShapeType="1"/>
          </p:cNvSpPr>
          <p:nvPr/>
        </p:nvSpPr>
        <p:spPr bwMode="auto">
          <a:xfrm>
            <a:off x="6629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502" name="Rectangle 89"/>
          <p:cNvSpPr>
            <a:spLocks noChangeArrowheads="1"/>
          </p:cNvSpPr>
          <p:nvPr/>
        </p:nvSpPr>
        <p:spPr bwMode="auto">
          <a:xfrm>
            <a:off x="1356360" y="4825365"/>
            <a:ext cx="9795510" cy="4914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600" dirty="0">
                <a:latin typeface="+mn-lt"/>
              </a:rPr>
              <a:t>Explore the branch of the tree that is closest to the query point first.</a:t>
            </a:r>
          </a:p>
        </p:txBody>
      </p:sp>
      <p:sp>
        <p:nvSpPr>
          <p:cNvPr id="107575" name="Oval 90"/>
          <p:cNvSpPr>
            <a:spLocks noChangeArrowheads="1"/>
          </p:cNvSpPr>
          <p:nvPr/>
        </p:nvSpPr>
        <p:spPr bwMode="auto">
          <a:xfrm>
            <a:off x="4191000" y="2438400"/>
            <a:ext cx="76200" cy="76200"/>
          </a:xfrm>
          <a:prstGeom prst="ellipse">
            <a:avLst/>
          </a:prstGeom>
          <a:solidFill>
            <a:srgbClr val="FF06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76" name="Rectangle 91"/>
          <p:cNvSpPr>
            <a:spLocks noChangeArrowheads="1"/>
          </p:cNvSpPr>
          <p:nvPr/>
        </p:nvSpPr>
        <p:spPr bwMode="auto">
          <a:xfrm>
            <a:off x="3886200" y="1600200"/>
            <a:ext cx="1600200" cy="28956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77" name="Rectangle 92"/>
          <p:cNvSpPr>
            <a:spLocks noChangeArrowheads="1"/>
          </p:cNvSpPr>
          <p:nvPr/>
        </p:nvSpPr>
        <p:spPr bwMode="auto">
          <a:xfrm>
            <a:off x="7696200" y="2743200"/>
            <a:ext cx="2057400" cy="17526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7578" name="AutoShape 93"/>
          <p:cNvSpPr>
            <a:spLocks noChangeArrowheads="1"/>
          </p:cNvSpPr>
          <p:nvPr/>
        </p:nvSpPr>
        <p:spPr bwMode="auto">
          <a:xfrm>
            <a:off x="5029200" y="2667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Nearest Neighbor with KD Trees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with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127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46" name="Group 3"/>
          <p:cNvGrpSpPr/>
          <p:nvPr/>
        </p:nvGrpSpPr>
        <p:grpSpPr bwMode="auto">
          <a:xfrm>
            <a:off x="2209800" y="1600200"/>
            <a:ext cx="3263900" cy="2916238"/>
            <a:chOff x="1344" y="1056"/>
            <a:chExt cx="1824" cy="1632"/>
          </a:xfrm>
        </p:grpSpPr>
        <p:sp>
          <p:nvSpPr>
            <p:cNvPr id="108604" name="AutoShape 4"/>
            <p:cNvSpPr>
              <a:spLocks noChangeArrowheads="1"/>
            </p:cNvSpPr>
            <p:nvPr/>
          </p:nvSpPr>
          <p:spPr bwMode="auto">
            <a:xfrm>
              <a:off x="1536" y="168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05" name="AutoShape 5"/>
            <p:cNvSpPr>
              <a:spLocks noChangeArrowheads="1"/>
            </p:cNvSpPr>
            <p:nvPr/>
          </p:nvSpPr>
          <p:spPr bwMode="auto">
            <a:xfrm>
              <a:off x="163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06" name="AutoShape 6"/>
            <p:cNvSpPr>
              <a:spLocks noChangeArrowheads="1"/>
            </p:cNvSpPr>
            <p:nvPr/>
          </p:nvSpPr>
          <p:spPr bwMode="auto">
            <a:xfrm>
              <a:off x="1488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07" name="AutoShape 7"/>
            <p:cNvSpPr>
              <a:spLocks noChangeArrowheads="1"/>
            </p:cNvSpPr>
            <p:nvPr/>
          </p:nvSpPr>
          <p:spPr bwMode="auto">
            <a:xfrm>
              <a:off x="240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08" name="AutoShape 8"/>
            <p:cNvSpPr>
              <a:spLocks noChangeArrowheads="1"/>
            </p:cNvSpPr>
            <p:nvPr/>
          </p:nvSpPr>
          <p:spPr bwMode="auto">
            <a:xfrm>
              <a:off x="139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09" name="AutoShape 9"/>
            <p:cNvSpPr>
              <a:spLocks noChangeArrowheads="1"/>
            </p:cNvSpPr>
            <p:nvPr/>
          </p:nvSpPr>
          <p:spPr bwMode="auto">
            <a:xfrm>
              <a:off x="2352" y="230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10" name="AutoShape 10"/>
            <p:cNvSpPr>
              <a:spLocks noChangeArrowheads="1"/>
            </p:cNvSpPr>
            <p:nvPr/>
          </p:nvSpPr>
          <p:spPr bwMode="auto">
            <a:xfrm>
              <a:off x="2304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11" name="AutoShape 11"/>
            <p:cNvSpPr>
              <a:spLocks noChangeArrowheads="1"/>
            </p:cNvSpPr>
            <p:nvPr/>
          </p:nvSpPr>
          <p:spPr bwMode="auto">
            <a:xfrm>
              <a:off x="2736" y="153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12" name="AutoShape 12"/>
            <p:cNvSpPr>
              <a:spLocks noChangeArrowheads="1"/>
            </p:cNvSpPr>
            <p:nvPr/>
          </p:nvSpPr>
          <p:spPr bwMode="auto">
            <a:xfrm>
              <a:off x="2496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13" name="AutoShape 13"/>
            <p:cNvSpPr>
              <a:spLocks noChangeArrowheads="1"/>
            </p:cNvSpPr>
            <p:nvPr/>
          </p:nvSpPr>
          <p:spPr bwMode="auto">
            <a:xfrm>
              <a:off x="220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14" name="AutoShape 14"/>
            <p:cNvSpPr>
              <a:spLocks noChangeArrowheads="1"/>
            </p:cNvSpPr>
            <p:nvPr/>
          </p:nvSpPr>
          <p:spPr bwMode="auto">
            <a:xfrm>
              <a:off x="230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15" name="AutoShape 15"/>
            <p:cNvSpPr>
              <a:spLocks noChangeArrowheads="1"/>
            </p:cNvSpPr>
            <p:nvPr/>
          </p:nvSpPr>
          <p:spPr bwMode="auto">
            <a:xfrm>
              <a:off x="2400" y="25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16" name="AutoShape 16"/>
            <p:cNvSpPr>
              <a:spLocks noChangeArrowheads="1"/>
            </p:cNvSpPr>
            <p:nvPr/>
          </p:nvSpPr>
          <p:spPr bwMode="auto">
            <a:xfrm>
              <a:off x="2400" y="24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17" name="AutoShape 17"/>
            <p:cNvSpPr>
              <a:spLocks noChangeArrowheads="1"/>
            </p:cNvSpPr>
            <p:nvPr/>
          </p:nvSpPr>
          <p:spPr bwMode="auto">
            <a:xfrm>
              <a:off x="2976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18" name="AutoShape 18"/>
            <p:cNvSpPr>
              <a:spLocks noChangeArrowheads="1"/>
            </p:cNvSpPr>
            <p:nvPr/>
          </p:nvSpPr>
          <p:spPr bwMode="auto">
            <a:xfrm>
              <a:off x="2064" y="172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19" name="AutoShape 19"/>
            <p:cNvSpPr>
              <a:spLocks noChangeArrowheads="1"/>
            </p:cNvSpPr>
            <p:nvPr/>
          </p:nvSpPr>
          <p:spPr bwMode="auto">
            <a:xfrm>
              <a:off x="2112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20" name="AutoShape 20"/>
            <p:cNvSpPr>
              <a:spLocks noChangeArrowheads="1"/>
            </p:cNvSpPr>
            <p:nvPr/>
          </p:nvSpPr>
          <p:spPr bwMode="auto">
            <a:xfrm>
              <a:off x="254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21" name="AutoShape 21"/>
            <p:cNvSpPr>
              <a:spLocks noChangeArrowheads="1"/>
            </p:cNvSpPr>
            <p:nvPr/>
          </p:nvSpPr>
          <p:spPr bwMode="auto">
            <a:xfrm>
              <a:off x="1680" y="249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22" name="AutoShape 22"/>
            <p:cNvSpPr>
              <a:spLocks noChangeArrowheads="1"/>
            </p:cNvSpPr>
            <p:nvPr/>
          </p:nvSpPr>
          <p:spPr bwMode="auto">
            <a:xfrm>
              <a:off x="1728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23" name="AutoShape 23"/>
            <p:cNvSpPr>
              <a:spLocks noChangeArrowheads="1"/>
            </p:cNvSpPr>
            <p:nvPr/>
          </p:nvSpPr>
          <p:spPr bwMode="auto">
            <a:xfrm>
              <a:off x="2496" y="13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24" name="AutoShape 24"/>
            <p:cNvSpPr>
              <a:spLocks noChangeArrowheads="1"/>
            </p:cNvSpPr>
            <p:nvPr/>
          </p:nvSpPr>
          <p:spPr bwMode="auto">
            <a:xfrm>
              <a:off x="2592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25" name="AutoShape 25"/>
            <p:cNvSpPr>
              <a:spLocks noChangeArrowheads="1"/>
            </p:cNvSpPr>
            <p:nvPr/>
          </p:nvSpPr>
          <p:spPr bwMode="auto">
            <a:xfrm>
              <a:off x="264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26" name="AutoShape 26"/>
            <p:cNvSpPr>
              <a:spLocks noChangeArrowheads="1"/>
            </p:cNvSpPr>
            <p:nvPr/>
          </p:nvSpPr>
          <p:spPr bwMode="auto">
            <a:xfrm>
              <a:off x="268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27" name="AutoShape 27"/>
            <p:cNvSpPr>
              <a:spLocks noChangeArrowheads="1"/>
            </p:cNvSpPr>
            <p:nvPr/>
          </p:nvSpPr>
          <p:spPr bwMode="auto">
            <a:xfrm>
              <a:off x="158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28" name="AutoShape 28"/>
            <p:cNvSpPr>
              <a:spLocks noChangeArrowheads="1"/>
            </p:cNvSpPr>
            <p:nvPr/>
          </p:nvSpPr>
          <p:spPr bwMode="auto">
            <a:xfrm>
              <a:off x="182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29" name="AutoShape 29"/>
            <p:cNvSpPr>
              <a:spLocks noChangeArrowheads="1"/>
            </p:cNvSpPr>
            <p:nvPr/>
          </p:nvSpPr>
          <p:spPr bwMode="auto">
            <a:xfrm>
              <a:off x="2160" y="163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30" name="AutoShape 30"/>
            <p:cNvSpPr>
              <a:spLocks noChangeArrowheads="1"/>
            </p:cNvSpPr>
            <p:nvPr/>
          </p:nvSpPr>
          <p:spPr bwMode="auto">
            <a:xfrm>
              <a:off x="2016" y="216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31" name="AutoShape 31"/>
            <p:cNvSpPr>
              <a:spLocks noChangeArrowheads="1"/>
            </p:cNvSpPr>
            <p:nvPr/>
          </p:nvSpPr>
          <p:spPr bwMode="auto">
            <a:xfrm>
              <a:off x="1680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32" name="AutoShape 32"/>
            <p:cNvSpPr>
              <a:spLocks noChangeArrowheads="1"/>
            </p:cNvSpPr>
            <p:nvPr/>
          </p:nvSpPr>
          <p:spPr bwMode="auto">
            <a:xfrm>
              <a:off x="158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33" name="AutoShape 33"/>
            <p:cNvSpPr>
              <a:spLocks noChangeArrowheads="1"/>
            </p:cNvSpPr>
            <p:nvPr/>
          </p:nvSpPr>
          <p:spPr bwMode="auto">
            <a:xfrm>
              <a:off x="1488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34" name="AutoShape 34"/>
            <p:cNvSpPr>
              <a:spLocks noChangeArrowheads="1"/>
            </p:cNvSpPr>
            <p:nvPr/>
          </p:nvSpPr>
          <p:spPr bwMode="auto">
            <a:xfrm>
              <a:off x="206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35" name="AutoShape 35"/>
            <p:cNvSpPr>
              <a:spLocks noChangeArrowheads="1"/>
            </p:cNvSpPr>
            <p:nvPr/>
          </p:nvSpPr>
          <p:spPr bwMode="auto">
            <a:xfrm>
              <a:off x="2976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36" name="AutoShape 36"/>
            <p:cNvSpPr>
              <a:spLocks noChangeArrowheads="1"/>
            </p:cNvSpPr>
            <p:nvPr/>
          </p:nvSpPr>
          <p:spPr bwMode="auto">
            <a:xfrm>
              <a:off x="302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08637" name="Rectangle 37"/>
            <p:cNvSpPr>
              <a:spLocks noChangeArrowheads="1"/>
            </p:cNvSpPr>
            <p:nvPr/>
          </p:nvSpPr>
          <p:spPr bwMode="auto">
            <a:xfrm>
              <a:off x="1344" y="1056"/>
              <a:ext cx="1824" cy="1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08547" name="Line 38"/>
          <p:cNvSpPr>
            <a:spLocks noChangeShapeType="1"/>
          </p:cNvSpPr>
          <p:nvPr/>
        </p:nvSpPr>
        <p:spPr bwMode="auto">
          <a:xfrm>
            <a:off x="3886200" y="16002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48" name="Line 39"/>
          <p:cNvSpPr>
            <a:spLocks noChangeShapeType="1"/>
          </p:cNvSpPr>
          <p:nvPr/>
        </p:nvSpPr>
        <p:spPr bwMode="auto">
          <a:xfrm>
            <a:off x="38862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49" name="Line 40"/>
          <p:cNvSpPr>
            <a:spLocks noChangeShapeType="1"/>
          </p:cNvSpPr>
          <p:nvPr/>
        </p:nvSpPr>
        <p:spPr bwMode="auto">
          <a:xfrm>
            <a:off x="4724400" y="2971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0" name="Line 41"/>
          <p:cNvSpPr>
            <a:spLocks noChangeShapeType="1"/>
          </p:cNvSpPr>
          <p:nvPr/>
        </p:nvSpPr>
        <p:spPr bwMode="auto">
          <a:xfrm>
            <a:off x="3886200" y="3962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1" name="Line 42"/>
          <p:cNvSpPr>
            <a:spLocks noChangeShapeType="1"/>
          </p:cNvSpPr>
          <p:nvPr/>
        </p:nvSpPr>
        <p:spPr bwMode="auto">
          <a:xfrm>
            <a:off x="2209800" y="32766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2" name="Line 43"/>
          <p:cNvSpPr>
            <a:spLocks noChangeShapeType="1"/>
          </p:cNvSpPr>
          <p:nvPr/>
        </p:nvSpPr>
        <p:spPr bwMode="auto">
          <a:xfrm flipV="1">
            <a:off x="3124200" y="1600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3" name="Line 44"/>
          <p:cNvSpPr>
            <a:spLocks noChangeShapeType="1"/>
          </p:cNvSpPr>
          <p:nvPr/>
        </p:nvSpPr>
        <p:spPr bwMode="auto">
          <a:xfrm>
            <a:off x="3886200" y="2362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4" name="Line 45"/>
          <p:cNvSpPr>
            <a:spLocks noChangeShapeType="1"/>
          </p:cNvSpPr>
          <p:nvPr/>
        </p:nvSpPr>
        <p:spPr bwMode="auto">
          <a:xfrm>
            <a:off x="4495800" y="1600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5" name="Line 46"/>
          <p:cNvSpPr>
            <a:spLocks noChangeShapeType="1"/>
          </p:cNvSpPr>
          <p:nvPr/>
        </p:nvSpPr>
        <p:spPr bwMode="auto">
          <a:xfrm>
            <a:off x="2971800" y="32766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6" name="Line 47"/>
          <p:cNvSpPr>
            <a:spLocks noChangeShapeType="1"/>
          </p:cNvSpPr>
          <p:nvPr/>
        </p:nvSpPr>
        <p:spPr bwMode="auto">
          <a:xfrm>
            <a:off x="2209800" y="2743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7" name="Oval 48"/>
          <p:cNvSpPr>
            <a:spLocks noChangeArrowheads="1"/>
          </p:cNvSpPr>
          <p:nvPr/>
        </p:nvSpPr>
        <p:spPr bwMode="auto">
          <a:xfrm>
            <a:off x="64770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58" name="Oval 49"/>
          <p:cNvSpPr>
            <a:spLocks noChangeArrowheads="1"/>
          </p:cNvSpPr>
          <p:nvPr/>
        </p:nvSpPr>
        <p:spPr bwMode="auto">
          <a:xfrm>
            <a:off x="73152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59" name="Oval 50"/>
          <p:cNvSpPr>
            <a:spLocks noChangeArrowheads="1"/>
          </p:cNvSpPr>
          <p:nvPr/>
        </p:nvSpPr>
        <p:spPr bwMode="auto">
          <a:xfrm>
            <a:off x="7086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60" name="Oval 51"/>
          <p:cNvSpPr>
            <a:spLocks noChangeArrowheads="1"/>
          </p:cNvSpPr>
          <p:nvPr/>
        </p:nvSpPr>
        <p:spPr bwMode="auto">
          <a:xfrm>
            <a:off x="7543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61" name="Line 52"/>
          <p:cNvSpPr>
            <a:spLocks noChangeShapeType="1"/>
          </p:cNvSpPr>
          <p:nvPr/>
        </p:nvSpPr>
        <p:spPr bwMode="auto">
          <a:xfrm flipH="1">
            <a:off x="7162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62" name="Line 53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63" name="Oval 54"/>
          <p:cNvSpPr>
            <a:spLocks noChangeArrowheads="1"/>
          </p:cNvSpPr>
          <p:nvPr/>
        </p:nvSpPr>
        <p:spPr bwMode="auto">
          <a:xfrm>
            <a:off x="81534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64" name="Oval 55"/>
          <p:cNvSpPr>
            <a:spLocks noChangeArrowheads="1"/>
          </p:cNvSpPr>
          <p:nvPr/>
        </p:nvSpPr>
        <p:spPr bwMode="auto">
          <a:xfrm>
            <a:off x="88392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65" name="Oval 56"/>
          <p:cNvSpPr>
            <a:spLocks noChangeArrowheads="1"/>
          </p:cNvSpPr>
          <p:nvPr/>
        </p:nvSpPr>
        <p:spPr bwMode="auto">
          <a:xfrm>
            <a:off x="9296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66" name="Line 57"/>
          <p:cNvSpPr>
            <a:spLocks noChangeShapeType="1"/>
          </p:cNvSpPr>
          <p:nvPr/>
        </p:nvSpPr>
        <p:spPr bwMode="auto">
          <a:xfrm flipH="1">
            <a:off x="8915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67" name="Line 58"/>
          <p:cNvSpPr>
            <a:spLocks noChangeShapeType="1"/>
          </p:cNvSpPr>
          <p:nvPr/>
        </p:nvSpPr>
        <p:spPr bwMode="auto">
          <a:xfrm>
            <a:off x="92202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68" name="Oval 59"/>
          <p:cNvSpPr>
            <a:spLocks noChangeArrowheads="1"/>
          </p:cNvSpPr>
          <p:nvPr/>
        </p:nvSpPr>
        <p:spPr bwMode="auto">
          <a:xfrm>
            <a:off x="90678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69" name="Oval 60"/>
          <p:cNvSpPr>
            <a:spLocks noChangeArrowheads="1"/>
          </p:cNvSpPr>
          <p:nvPr/>
        </p:nvSpPr>
        <p:spPr bwMode="auto">
          <a:xfrm>
            <a:off x="69342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70" name="Line 61"/>
          <p:cNvSpPr>
            <a:spLocks noChangeShapeType="1"/>
          </p:cNvSpPr>
          <p:nvPr/>
        </p:nvSpPr>
        <p:spPr bwMode="auto">
          <a:xfrm flipH="1">
            <a:off x="6553200" y="30480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71" name="Line 62"/>
          <p:cNvSpPr>
            <a:spLocks noChangeShapeType="1"/>
          </p:cNvSpPr>
          <p:nvPr/>
        </p:nvSpPr>
        <p:spPr bwMode="auto">
          <a:xfrm>
            <a:off x="70866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72" name="Oval 63"/>
          <p:cNvSpPr>
            <a:spLocks noChangeArrowheads="1"/>
          </p:cNvSpPr>
          <p:nvPr/>
        </p:nvSpPr>
        <p:spPr bwMode="auto">
          <a:xfrm>
            <a:off x="86106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73" name="Line 64"/>
          <p:cNvSpPr>
            <a:spLocks noChangeShapeType="1"/>
          </p:cNvSpPr>
          <p:nvPr/>
        </p:nvSpPr>
        <p:spPr bwMode="auto">
          <a:xfrm flipH="1">
            <a:off x="83058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74" name="Line 65"/>
          <p:cNvSpPr>
            <a:spLocks noChangeShapeType="1"/>
          </p:cNvSpPr>
          <p:nvPr/>
        </p:nvSpPr>
        <p:spPr bwMode="auto">
          <a:xfrm>
            <a:off x="87630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75" name="Oval 66"/>
          <p:cNvSpPr>
            <a:spLocks noChangeArrowheads="1"/>
          </p:cNvSpPr>
          <p:nvPr/>
        </p:nvSpPr>
        <p:spPr bwMode="auto">
          <a:xfrm>
            <a:off x="7772400" y="2133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76" name="Line 67"/>
          <p:cNvSpPr>
            <a:spLocks noChangeShapeType="1"/>
          </p:cNvSpPr>
          <p:nvPr/>
        </p:nvSpPr>
        <p:spPr bwMode="auto">
          <a:xfrm flipH="1">
            <a:off x="70866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77" name="Line 68"/>
          <p:cNvSpPr>
            <a:spLocks noChangeShapeType="1"/>
          </p:cNvSpPr>
          <p:nvPr/>
        </p:nvSpPr>
        <p:spPr bwMode="auto">
          <a:xfrm>
            <a:off x="79248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78" name="Oval 69"/>
          <p:cNvSpPr>
            <a:spLocks noChangeArrowheads="1"/>
          </p:cNvSpPr>
          <p:nvPr/>
        </p:nvSpPr>
        <p:spPr bwMode="auto">
          <a:xfrm>
            <a:off x="6858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79" name="Oval 70"/>
          <p:cNvSpPr>
            <a:spLocks noChangeArrowheads="1"/>
          </p:cNvSpPr>
          <p:nvPr/>
        </p:nvSpPr>
        <p:spPr bwMode="auto">
          <a:xfrm>
            <a:off x="7315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80" name="Line 71"/>
          <p:cNvSpPr>
            <a:spLocks noChangeShapeType="1"/>
          </p:cNvSpPr>
          <p:nvPr/>
        </p:nvSpPr>
        <p:spPr bwMode="auto">
          <a:xfrm flipH="1">
            <a:off x="6934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81" name="Line 72"/>
          <p:cNvSpPr>
            <a:spLocks noChangeShapeType="1"/>
          </p:cNvSpPr>
          <p:nvPr/>
        </p:nvSpPr>
        <p:spPr bwMode="auto">
          <a:xfrm>
            <a:off x="7239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82" name="Oval 73"/>
          <p:cNvSpPr>
            <a:spLocks noChangeArrowheads="1"/>
          </p:cNvSpPr>
          <p:nvPr/>
        </p:nvSpPr>
        <p:spPr bwMode="auto">
          <a:xfrm>
            <a:off x="7924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83" name="Oval 74"/>
          <p:cNvSpPr>
            <a:spLocks noChangeArrowheads="1"/>
          </p:cNvSpPr>
          <p:nvPr/>
        </p:nvSpPr>
        <p:spPr bwMode="auto">
          <a:xfrm>
            <a:off x="83820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84" name="Line 75"/>
          <p:cNvSpPr>
            <a:spLocks noChangeShapeType="1"/>
          </p:cNvSpPr>
          <p:nvPr/>
        </p:nvSpPr>
        <p:spPr bwMode="auto">
          <a:xfrm flipH="1">
            <a:off x="80010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85" name="Line 76"/>
          <p:cNvSpPr>
            <a:spLocks noChangeShapeType="1"/>
          </p:cNvSpPr>
          <p:nvPr/>
        </p:nvSpPr>
        <p:spPr bwMode="auto">
          <a:xfrm>
            <a:off x="8305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86" name="Oval 77"/>
          <p:cNvSpPr>
            <a:spLocks noChangeArrowheads="1"/>
          </p:cNvSpPr>
          <p:nvPr/>
        </p:nvSpPr>
        <p:spPr bwMode="auto">
          <a:xfrm>
            <a:off x="7696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87" name="Oval 78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88" name="Line 79"/>
          <p:cNvSpPr>
            <a:spLocks noChangeShapeType="1"/>
          </p:cNvSpPr>
          <p:nvPr/>
        </p:nvSpPr>
        <p:spPr bwMode="auto">
          <a:xfrm flipH="1">
            <a:off x="77724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89" name="Line 80"/>
          <p:cNvSpPr>
            <a:spLocks noChangeShapeType="1"/>
          </p:cNvSpPr>
          <p:nvPr/>
        </p:nvSpPr>
        <p:spPr bwMode="auto">
          <a:xfrm>
            <a:off x="8077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90" name="Oval 81"/>
          <p:cNvSpPr>
            <a:spLocks noChangeArrowheads="1"/>
          </p:cNvSpPr>
          <p:nvPr/>
        </p:nvSpPr>
        <p:spPr bwMode="auto">
          <a:xfrm>
            <a:off x="90678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91" name="Oval 82"/>
          <p:cNvSpPr>
            <a:spLocks noChangeArrowheads="1"/>
          </p:cNvSpPr>
          <p:nvPr/>
        </p:nvSpPr>
        <p:spPr bwMode="auto">
          <a:xfrm>
            <a:off x="9525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92" name="Line 83"/>
          <p:cNvSpPr>
            <a:spLocks noChangeShapeType="1"/>
          </p:cNvSpPr>
          <p:nvPr/>
        </p:nvSpPr>
        <p:spPr bwMode="auto">
          <a:xfrm flipH="1">
            <a:off x="9144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93" name="Line 84"/>
          <p:cNvSpPr>
            <a:spLocks noChangeShapeType="1"/>
          </p:cNvSpPr>
          <p:nvPr/>
        </p:nvSpPr>
        <p:spPr bwMode="auto">
          <a:xfrm>
            <a:off x="94488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94" name="Oval 85"/>
          <p:cNvSpPr>
            <a:spLocks noChangeArrowheads="1"/>
          </p:cNvSpPr>
          <p:nvPr/>
        </p:nvSpPr>
        <p:spPr bwMode="auto">
          <a:xfrm>
            <a:off x="6248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95" name="Oval 86"/>
          <p:cNvSpPr>
            <a:spLocks noChangeArrowheads="1"/>
          </p:cNvSpPr>
          <p:nvPr/>
        </p:nvSpPr>
        <p:spPr bwMode="auto">
          <a:xfrm>
            <a:off x="6705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596" name="Line 87"/>
          <p:cNvSpPr>
            <a:spLocks noChangeShapeType="1"/>
          </p:cNvSpPr>
          <p:nvPr/>
        </p:nvSpPr>
        <p:spPr bwMode="auto">
          <a:xfrm flipH="1">
            <a:off x="6324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97" name="Line 88"/>
          <p:cNvSpPr>
            <a:spLocks noChangeShapeType="1"/>
          </p:cNvSpPr>
          <p:nvPr/>
        </p:nvSpPr>
        <p:spPr bwMode="auto">
          <a:xfrm>
            <a:off x="6629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98" name="Rectangle 89"/>
          <p:cNvSpPr>
            <a:spLocks noChangeArrowheads="1"/>
          </p:cNvSpPr>
          <p:nvPr/>
        </p:nvSpPr>
        <p:spPr bwMode="auto">
          <a:xfrm>
            <a:off x="1398270" y="4724400"/>
            <a:ext cx="99720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>
                <a:latin typeface="Times" pitchFamily="2" charset="0"/>
                <a:ea typeface="宋体" panose="02010600030101010101" pitchFamily="2" charset="-122"/>
              </a:rPr>
              <a:t>Explore the branch of the tree that is closest to the query point first.</a:t>
            </a:r>
          </a:p>
        </p:txBody>
      </p:sp>
      <p:sp>
        <p:nvSpPr>
          <p:cNvPr id="108599" name="Oval 90"/>
          <p:cNvSpPr>
            <a:spLocks noChangeArrowheads="1"/>
          </p:cNvSpPr>
          <p:nvPr/>
        </p:nvSpPr>
        <p:spPr bwMode="auto">
          <a:xfrm>
            <a:off x="4191000" y="2438400"/>
            <a:ext cx="76200" cy="76200"/>
          </a:xfrm>
          <a:prstGeom prst="ellipse">
            <a:avLst/>
          </a:prstGeom>
          <a:solidFill>
            <a:srgbClr val="FF06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600" name="Rectangle 91"/>
          <p:cNvSpPr>
            <a:spLocks noChangeArrowheads="1"/>
          </p:cNvSpPr>
          <p:nvPr/>
        </p:nvSpPr>
        <p:spPr bwMode="auto">
          <a:xfrm>
            <a:off x="3886200" y="1600200"/>
            <a:ext cx="1600200" cy="13716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601" name="Rectangle 92"/>
          <p:cNvSpPr>
            <a:spLocks noChangeArrowheads="1"/>
          </p:cNvSpPr>
          <p:nvPr/>
        </p:nvSpPr>
        <p:spPr bwMode="auto">
          <a:xfrm>
            <a:off x="8763000" y="3200400"/>
            <a:ext cx="990600" cy="12954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8602" name="AutoShape 93"/>
          <p:cNvSpPr>
            <a:spLocks noChangeArrowheads="1"/>
          </p:cNvSpPr>
          <p:nvPr/>
        </p:nvSpPr>
        <p:spPr bwMode="auto">
          <a:xfrm>
            <a:off x="5029200" y="2667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with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128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AutoShape 3"/>
          <p:cNvSpPr>
            <a:spLocks noChangeArrowheads="1"/>
          </p:cNvSpPr>
          <p:nvPr/>
        </p:nvSpPr>
        <p:spPr bwMode="auto">
          <a:xfrm>
            <a:off x="2552700" y="2714625"/>
            <a:ext cx="87313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71" name="AutoShape 4"/>
          <p:cNvSpPr>
            <a:spLocks noChangeArrowheads="1"/>
          </p:cNvSpPr>
          <p:nvPr/>
        </p:nvSpPr>
        <p:spPr bwMode="auto">
          <a:xfrm>
            <a:off x="2725738" y="2886075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72" name="AutoShape 5"/>
          <p:cNvSpPr>
            <a:spLocks noChangeArrowheads="1"/>
          </p:cNvSpPr>
          <p:nvPr/>
        </p:nvSpPr>
        <p:spPr bwMode="auto">
          <a:xfrm>
            <a:off x="2466975" y="2886075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73" name="AutoShape 6"/>
          <p:cNvSpPr>
            <a:spLocks noChangeArrowheads="1"/>
          </p:cNvSpPr>
          <p:nvPr/>
        </p:nvSpPr>
        <p:spPr bwMode="auto">
          <a:xfrm>
            <a:off x="4098925" y="2200275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74" name="AutoShape 7"/>
          <p:cNvSpPr>
            <a:spLocks noChangeArrowheads="1"/>
          </p:cNvSpPr>
          <p:nvPr/>
        </p:nvSpPr>
        <p:spPr bwMode="auto">
          <a:xfrm>
            <a:off x="2295525" y="2886075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75" name="AutoShape 8"/>
          <p:cNvSpPr>
            <a:spLocks noChangeArrowheads="1"/>
          </p:cNvSpPr>
          <p:nvPr/>
        </p:nvSpPr>
        <p:spPr bwMode="auto">
          <a:xfrm>
            <a:off x="4013200" y="3830638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76" name="AutoShape 9"/>
          <p:cNvSpPr>
            <a:spLocks noChangeArrowheads="1"/>
          </p:cNvSpPr>
          <p:nvPr/>
        </p:nvSpPr>
        <p:spPr bwMode="auto">
          <a:xfrm>
            <a:off x="3927475" y="3916363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77" name="AutoShape 10"/>
          <p:cNvSpPr>
            <a:spLocks noChangeArrowheads="1"/>
          </p:cNvSpPr>
          <p:nvPr/>
        </p:nvSpPr>
        <p:spPr bwMode="auto">
          <a:xfrm>
            <a:off x="4700588" y="245745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78" name="AutoShape 11"/>
          <p:cNvSpPr>
            <a:spLocks noChangeArrowheads="1"/>
          </p:cNvSpPr>
          <p:nvPr/>
        </p:nvSpPr>
        <p:spPr bwMode="auto">
          <a:xfrm>
            <a:off x="4271963" y="2286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79" name="AutoShape 12"/>
          <p:cNvSpPr>
            <a:spLocks noChangeArrowheads="1"/>
          </p:cNvSpPr>
          <p:nvPr/>
        </p:nvSpPr>
        <p:spPr bwMode="auto">
          <a:xfrm>
            <a:off x="3756025" y="3916363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80" name="AutoShape 13"/>
          <p:cNvSpPr>
            <a:spLocks noChangeArrowheads="1"/>
          </p:cNvSpPr>
          <p:nvPr/>
        </p:nvSpPr>
        <p:spPr bwMode="auto">
          <a:xfrm>
            <a:off x="3927475" y="4087813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81" name="AutoShape 14"/>
          <p:cNvSpPr>
            <a:spLocks noChangeArrowheads="1"/>
          </p:cNvSpPr>
          <p:nvPr/>
        </p:nvSpPr>
        <p:spPr bwMode="auto">
          <a:xfrm>
            <a:off x="4098925" y="4259263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82" name="AutoShape 15"/>
          <p:cNvSpPr>
            <a:spLocks noChangeArrowheads="1"/>
          </p:cNvSpPr>
          <p:nvPr/>
        </p:nvSpPr>
        <p:spPr bwMode="auto">
          <a:xfrm>
            <a:off x="4098925" y="4002088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83" name="AutoShape 16"/>
          <p:cNvSpPr>
            <a:spLocks noChangeArrowheads="1"/>
          </p:cNvSpPr>
          <p:nvPr/>
        </p:nvSpPr>
        <p:spPr bwMode="auto">
          <a:xfrm>
            <a:off x="5130800" y="3230563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84" name="AutoShape 17"/>
          <p:cNvSpPr>
            <a:spLocks noChangeArrowheads="1"/>
          </p:cNvSpPr>
          <p:nvPr/>
        </p:nvSpPr>
        <p:spPr bwMode="auto">
          <a:xfrm>
            <a:off x="3498850" y="280035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85" name="AutoShape 18"/>
          <p:cNvSpPr>
            <a:spLocks noChangeArrowheads="1"/>
          </p:cNvSpPr>
          <p:nvPr/>
        </p:nvSpPr>
        <p:spPr bwMode="auto">
          <a:xfrm>
            <a:off x="3584575" y="3402013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86" name="AutoShape 19"/>
          <p:cNvSpPr>
            <a:spLocks noChangeArrowheads="1"/>
          </p:cNvSpPr>
          <p:nvPr/>
        </p:nvSpPr>
        <p:spPr bwMode="auto">
          <a:xfrm>
            <a:off x="4357688" y="3230563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87" name="AutoShape 20"/>
          <p:cNvSpPr>
            <a:spLocks noChangeArrowheads="1"/>
          </p:cNvSpPr>
          <p:nvPr/>
        </p:nvSpPr>
        <p:spPr bwMode="auto">
          <a:xfrm>
            <a:off x="2811463" y="4173538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88" name="AutoShape 21"/>
          <p:cNvSpPr>
            <a:spLocks noChangeArrowheads="1"/>
          </p:cNvSpPr>
          <p:nvPr/>
        </p:nvSpPr>
        <p:spPr bwMode="auto">
          <a:xfrm>
            <a:off x="2897188" y="3402013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89" name="AutoShape 22"/>
          <p:cNvSpPr>
            <a:spLocks noChangeArrowheads="1"/>
          </p:cNvSpPr>
          <p:nvPr/>
        </p:nvSpPr>
        <p:spPr bwMode="auto">
          <a:xfrm>
            <a:off x="4271963" y="211455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90" name="AutoShape 23"/>
          <p:cNvSpPr>
            <a:spLocks noChangeArrowheads="1"/>
          </p:cNvSpPr>
          <p:nvPr/>
        </p:nvSpPr>
        <p:spPr bwMode="auto">
          <a:xfrm>
            <a:off x="4443413" y="2286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91" name="AutoShape 24"/>
          <p:cNvSpPr>
            <a:spLocks noChangeArrowheads="1"/>
          </p:cNvSpPr>
          <p:nvPr/>
        </p:nvSpPr>
        <p:spPr bwMode="auto">
          <a:xfrm>
            <a:off x="4529138" y="2200275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92" name="AutoShape 25"/>
          <p:cNvSpPr>
            <a:spLocks noChangeArrowheads="1"/>
          </p:cNvSpPr>
          <p:nvPr/>
        </p:nvSpPr>
        <p:spPr bwMode="auto">
          <a:xfrm>
            <a:off x="4614863" y="3916363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93" name="AutoShape 26"/>
          <p:cNvSpPr>
            <a:spLocks noChangeArrowheads="1"/>
          </p:cNvSpPr>
          <p:nvPr/>
        </p:nvSpPr>
        <p:spPr bwMode="auto">
          <a:xfrm>
            <a:off x="2640013" y="4087813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94" name="AutoShape 27"/>
          <p:cNvSpPr>
            <a:spLocks noChangeArrowheads="1"/>
          </p:cNvSpPr>
          <p:nvPr/>
        </p:nvSpPr>
        <p:spPr bwMode="auto">
          <a:xfrm>
            <a:off x="3068638" y="3230563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95" name="AutoShape 28"/>
          <p:cNvSpPr>
            <a:spLocks noChangeArrowheads="1"/>
          </p:cNvSpPr>
          <p:nvPr/>
        </p:nvSpPr>
        <p:spPr bwMode="auto">
          <a:xfrm>
            <a:off x="3670300" y="26289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96" name="AutoShape 29"/>
          <p:cNvSpPr>
            <a:spLocks noChangeArrowheads="1"/>
          </p:cNvSpPr>
          <p:nvPr/>
        </p:nvSpPr>
        <p:spPr bwMode="auto">
          <a:xfrm>
            <a:off x="3411538" y="3573463"/>
            <a:ext cx="87312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97" name="AutoShape 30"/>
          <p:cNvSpPr>
            <a:spLocks noChangeArrowheads="1"/>
          </p:cNvSpPr>
          <p:nvPr/>
        </p:nvSpPr>
        <p:spPr bwMode="auto">
          <a:xfrm>
            <a:off x="2811463" y="1857375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98" name="AutoShape 31"/>
          <p:cNvSpPr>
            <a:spLocks noChangeArrowheads="1"/>
          </p:cNvSpPr>
          <p:nvPr/>
        </p:nvSpPr>
        <p:spPr bwMode="auto">
          <a:xfrm>
            <a:off x="2640013" y="177165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599" name="AutoShape 32"/>
          <p:cNvSpPr>
            <a:spLocks noChangeArrowheads="1"/>
          </p:cNvSpPr>
          <p:nvPr/>
        </p:nvSpPr>
        <p:spPr bwMode="auto">
          <a:xfrm>
            <a:off x="2466975" y="1857375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00" name="AutoShape 33"/>
          <p:cNvSpPr>
            <a:spLocks noChangeArrowheads="1"/>
          </p:cNvSpPr>
          <p:nvPr/>
        </p:nvSpPr>
        <p:spPr bwMode="auto">
          <a:xfrm>
            <a:off x="3498850" y="177165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01" name="AutoShape 34"/>
          <p:cNvSpPr>
            <a:spLocks noChangeArrowheads="1"/>
          </p:cNvSpPr>
          <p:nvPr/>
        </p:nvSpPr>
        <p:spPr bwMode="auto">
          <a:xfrm>
            <a:off x="5130800" y="1857375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02" name="AutoShape 35"/>
          <p:cNvSpPr>
            <a:spLocks noChangeArrowheads="1"/>
          </p:cNvSpPr>
          <p:nvPr/>
        </p:nvSpPr>
        <p:spPr bwMode="auto">
          <a:xfrm>
            <a:off x="5216525" y="4087813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03" name="Rectangle 36"/>
          <p:cNvSpPr>
            <a:spLocks noChangeArrowheads="1"/>
          </p:cNvSpPr>
          <p:nvPr/>
        </p:nvSpPr>
        <p:spPr bwMode="auto">
          <a:xfrm>
            <a:off x="2209800" y="1600200"/>
            <a:ext cx="3263900" cy="29162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04" name="Line 37"/>
          <p:cNvSpPr>
            <a:spLocks noChangeShapeType="1"/>
          </p:cNvSpPr>
          <p:nvPr/>
        </p:nvSpPr>
        <p:spPr bwMode="auto">
          <a:xfrm>
            <a:off x="3886200" y="16002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05" name="Line 38"/>
          <p:cNvSpPr>
            <a:spLocks noChangeShapeType="1"/>
          </p:cNvSpPr>
          <p:nvPr/>
        </p:nvSpPr>
        <p:spPr bwMode="auto">
          <a:xfrm>
            <a:off x="38862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06" name="Line 39"/>
          <p:cNvSpPr>
            <a:spLocks noChangeShapeType="1"/>
          </p:cNvSpPr>
          <p:nvPr/>
        </p:nvSpPr>
        <p:spPr bwMode="auto">
          <a:xfrm>
            <a:off x="4724400" y="2971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07" name="Line 40"/>
          <p:cNvSpPr>
            <a:spLocks noChangeShapeType="1"/>
          </p:cNvSpPr>
          <p:nvPr/>
        </p:nvSpPr>
        <p:spPr bwMode="auto">
          <a:xfrm>
            <a:off x="3886200" y="3962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08" name="Line 41"/>
          <p:cNvSpPr>
            <a:spLocks noChangeShapeType="1"/>
          </p:cNvSpPr>
          <p:nvPr/>
        </p:nvSpPr>
        <p:spPr bwMode="auto">
          <a:xfrm>
            <a:off x="2209800" y="32766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09" name="Line 42"/>
          <p:cNvSpPr>
            <a:spLocks noChangeShapeType="1"/>
          </p:cNvSpPr>
          <p:nvPr/>
        </p:nvSpPr>
        <p:spPr bwMode="auto">
          <a:xfrm flipV="1">
            <a:off x="3124200" y="1600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10" name="Line 43"/>
          <p:cNvSpPr>
            <a:spLocks noChangeShapeType="1"/>
          </p:cNvSpPr>
          <p:nvPr/>
        </p:nvSpPr>
        <p:spPr bwMode="auto">
          <a:xfrm>
            <a:off x="3886200" y="2362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11" name="Line 44"/>
          <p:cNvSpPr>
            <a:spLocks noChangeShapeType="1"/>
          </p:cNvSpPr>
          <p:nvPr/>
        </p:nvSpPr>
        <p:spPr bwMode="auto">
          <a:xfrm>
            <a:off x="4495800" y="1600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12" name="Line 45"/>
          <p:cNvSpPr>
            <a:spLocks noChangeShapeType="1"/>
          </p:cNvSpPr>
          <p:nvPr/>
        </p:nvSpPr>
        <p:spPr bwMode="auto">
          <a:xfrm>
            <a:off x="2971800" y="32766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13" name="Line 46"/>
          <p:cNvSpPr>
            <a:spLocks noChangeShapeType="1"/>
          </p:cNvSpPr>
          <p:nvPr/>
        </p:nvSpPr>
        <p:spPr bwMode="auto">
          <a:xfrm>
            <a:off x="2209800" y="2743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14" name="Oval 47"/>
          <p:cNvSpPr>
            <a:spLocks noChangeArrowheads="1"/>
          </p:cNvSpPr>
          <p:nvPr/>
        </p:nvSpPr>
        <p:spPr bwMode="auto">
          <a:xfrm>
            <a:off x="64770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15" name="Oval 48"/>
          <p:cNvSpPr>
            <a:spLocks noChangeArrowheads="1"/>
          </p:cNvSpPr>
          <p:nvPr/>
        </p:nvSpPr>
        <p:spPr bwMode="auto">
          <a:xfrm>
            <a:off x="73152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16" name="Oval 49"/>
          <p:cNvSpPr>
            <a:spLocks noChangeArrowheads="1"/>
          </p:cNvSpPr>
          <p:nvPr/>
        </p:nvSpPr>
        <p:spPr bwMode="auto">
          <a:xfrm>
            <a:off x="7086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17" name="Oval 50"/>
          <p:cNvSpPr>
            <a:spLocks noChangeArrowheads="1"/>
          </p:cNvSpPr>
          <p:nvPr/>
        </p:nvSpPr>
        <p:spPr bwMode="auto">
          <a:xfrm>
            <a:off x="7543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18" name="Line 51"/>
          <p:cNvSpPr>
            <a:spLocks noChangeShapeType="1"/>
          </p:cNvSpPr>
          <p:nvPr/>
        </p:nvSpPr>
        <p:spPr bwMode="auto">
          <a:xfrm flipH="1">
            <a:off x="7162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19" name="Line 52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20" name="Oval 53"/>
          <p:cNvSpPr>
            <a:spLocks noChangeArrowheads="1"/>
          </p:cNvSpPr>
          <p:nvPr/>
        </p:nvSpPr>
        <p:spPr bwMode="auto">
          <a:xfrm>
            <a:off x="81534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21" name="Oval 54"/>
          <p:cNvSpPr>
            <a:spLocks noChangeArrowheads="1"/>
          </p:cNvSpPr>
          <p:nvPr/>
        </p:nvSpPr>
        <p:spPr bwMode="auto">
          <a:xfrm>
            <a:off x="88392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22" name="Oval 55"/>
          <p:cNvSpPr>
            <a:spLocks noChangeArrowheads="1"/>
          </p:cNvSpPr>
          <p:nvPr/>
        </p:nvSpPr>
        <p:spPr bwMode="auto">
          <a:xfrm>
            <a:off x="9296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23" name="Line 56"/>
          <p:cNvSpPr>
            <a:spLocks noChangeShapeType="1"/>
          </p:cNvSpPr>
          <p:nvPr/>
        </p:nvSpPr>
        <p:spPr bwMode="auto">
          <a:xfrm flipH="1">
            <a:off x="8915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24" name="Line 57"/>
          <p:cNvSpPr>
            <a:spLocks noChangeShapeType="1"/>
          </p:cNvSpPr>
          <p:nvPr/>
        </p:nvSpPr>
        <p:spPr bwMode="auto">
          <a:xfrm>
            <a:off x="92202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25" name="Oval 58"/>
          <p:cNvSpPr>
            <a:spLocks noChangeArrowheads="1"/>
          </p:cNvSpPr>
          <p:nvPr/>
        </p:nvSpPr>
        <p:spPr bwMode="auto">
          <a:xfrm>
            <a:off x="90678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26" name="Oval 59"/>
          <p:cNvSpPr>
            <a:spLocks noChangeArrowheads="1"/>
          </p:cNvSpPr>
          <p:nvPr/>
        </p:nvSpPr>
        <p:spPr bwMode="auto">
          <a:xfrm>
            <a:off x="69342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27" name="Line 60"/>
          <p:cNvSpPr>
            <a:spLocks noChangeShapeType="1"/>
          </p:cNvSpPr>
          <p:nvPr/>
        </p:nvSpPr>
        <p:spPr bwMode="auto">
          <a:xfrm flipH="1">
            <a:off x="6553200" y="30480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28" name="Line 61"/>
          <p:cNvSpPr>
            <a:spLocks noChangeShapeType="1"/>
          </p:cNvSpPr>
          <p:nvPr/>
        </p:nvSpPr>
        <p:spPr bwMode="auto">
          <a:xfrm>
            <a:off x="70866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29" name="Oval 62"/>
          <p:cNvSpPr>
            <a:spLocks noChangeArrowheads="1"/>
          </p:cNvSpPr>
          <p:nvPr/>
        </p:nvSpPr>
        <p:spPr bwMode="auto">
          <a:xfrm>
            <a:off x="86106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30" name="Line 63"/>
          <p:cNvSpPr>
            <a:spLocks noChangeShapeType="1"/>
          </p:cNvSpPr>
          <p:nvPr/>
        </p:nvSpPr>
        <p:spPr bwMode="auto">
          <a:xfrm flipH="1">
            <a:off x="83058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1" name="Line 64"/>
          <p:cNvSpPr>
            <a:spLocks noChangeShapeType="1"/>
          </p:cNvSpPr>
          <p:nvPr/>
        </p:nvSpPr>
        <p:spPr bwMode="auto">
          <a:xfrm>
            <a:off x="87630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2" name="Oval 65"/>
          <p:cNvSpPr>
            <a:spLocks noChangeArrowheads="1"/>
          </p:cNvSpPr>
          <p:nvPr/>
        </p:nvSpPr>
        <p:spPr bwMode="auto">
          <a:xfrm>
            <a:off x="7772400" y="2133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33" name="Line 66"/>
          <p:cNvSpPr>
            <a:spLocks noChangeShapeType="1"/>
          </p:cNvSpPr>
          <p:nvPr/>
        </p:nvSpPr>
        <p:spPr bwMode="auto">
          <a:xfrm flipH="1">
            <a:off x="70866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4" name="Line 67"/>
          <p:cNvSpPr>
            <a:spLocks noChangeShapeType="1"/>
          </p:cNvSpPr>
          <p:nvPr/>
        </p:nvSpPr>
        <p:spPr bwMode="auto">
          <a:xfrm>
            <a:off x="79248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5" name="Oval 68"/>
          <p:cNvSpPr>
            <a:spLocks noChangeArrowheads="1"/>
          </p:cNvSpPr>
          <p:nvPr/>
        </p:nvSpPr>
        <p:spPr bwMode="auto">
          <a:xfrm>
            <a:off x="6858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36" name="Oval 69"/>
          <p:cNvSpPr>
            <a:spLocks noChangeArrowheads="1"/>
          </p:cNvSpPr>
          <p:nvPr/>
        </p:nvSpPr>
        <p:spPr bwMode="auto">
          <a:xfrm>
            <a:off x="7315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37" name="Line 70"/>
          <p:cNvSpPr>
            <a:spLocks noChangeShapeType="1"/>
          </p:cNvSpPr>
          <p:nvPr/>
        </p:nvSpPr>
        <p:spPr bwMode="auto">
          <a:xfrm flipH="1">
            <a:off x="6934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8" name="Line 71"/>
          <p:cNvSpPr>
            <a:spLocks noChangeShapeType="1"/>
          </p:cNvSpPr>
          <p:nvPr/>
        </p:nvSpPr>
        <p:spPr bwMode="auto">
          <a:xfrm>
            <a:off x="7239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39" name="Oval 72"/>
          <p:cNvSpPr>
            <a:spLocks noChangeArrowheads="1"/>
          </p:cNvSpPr>
          <p:nvPr/>
        </p:nvSpPr>
        <p:spPr bwMode="auto">
          <a:xfrm>
            <a:off x="7924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40" name="Oval 73"/>
          <p:cNvSpPr>
            <a:spLocks noChangeArrowheads="1"/>
          </p:cNvSpPr>
          <p:nvPr/>
        </p:nvSpPr>
        <p:spPr bwMode="auto">
          <a:xfrm>
            <a:off x="83820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41" name="Line 74"/>
          <p:cNvSpPr>
            <a:spLocks noChangeShapeType="1"/>
          </p:cNvSpPr>
          <p:nvPr/>
        </p:nvSpPr>
        <p:spPr bwMode="auto">
          <a:xfrm flipH="1">
            <a:off x="80010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42" name="Line 75"/>
          <p:cNvSpPr>
            <a:spLocks noChangeShapeType="1"/>
          </p:cNvSpPr>
          <p:nvPr/>
        </p:nvSpPr>
        <p:spPr bwMode="auto">
          <a:xfrm>
            <a:off x="8305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43" name="Oval 76"/>
          <p:cNvSpPr>
            <a:spLocks noChangeArrowheads="1"/>
          </p:cNvSpPr>
          <p:nvPr/>
        </p:nvSpPr>
        <p:spPr bwMode="auto">
          <a:xfrm>
            <a:off x="7696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44" name="Oval 77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45" name="Line 78"/>
          <p:cNvSpPr>
            <a:spLocks noChangeShapeType="1"/>
          </p:cNvSpPr>
          <p:nvPr/>
        </p:nvSpPr>
        <p:spPr bwMode="auto">
          <a:xfrm flipH="1">
            <a:off x="77724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46" name="Line 79"/>
          <p:cNvSpPr>
            <a:spLocks noChangeShapeType="1"/>
          </p:cNvSpPr>
          <p:nvPr/>
        </p:nvSpPr>
        <p:spPr bwMode="auto">
          <a:xfrm>
            <a:off x="8077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47" name="Oval 80"/>
          <p:cNvSpPr>
            <a:spLocks noChangeArrowheads="1"/>
          </p:cNvSpPr>
          <p:nvPr/>
        </p:nvSpPr>
        <p:spPr bwMode="auto">
          <a:xfrm>
            <a:off x="90678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48" name="Oval 81"/>
          <p:cNvSpPr>
            <a:spLocks noChangeArrowheads="1"/>
          </p:cNvSpPr>
          <p:nvPr/>
        </p:nvSpPr>
        <p:spPr bwMode="auto">
          <a:xfrm>
            <a:off x="9525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49" name="Line 82"/>
          <p:cNvSpPr>
            <a:spLocks noChangeShapeType="1"/>
          </p:cNvSpPr>
          <p:nvPr/>
        </p:nvSpPr>
        <p:spPr bwMode="auto">
          <a:xfrm flipH="1">
            <a:off x="9144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50" name="Line 83"/>
          <p:cNvSpPr>
            <a:spLocks noChangeShapeType="1"/>
          </p:cNvSpPr>
          <p:nvPr/>
        </p:nvSpPr>
        <p:spPr bwMode="auto">
          <a:xfrm>
            <a:off x="94488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51" name="Oval 84"/>
          <p:cNvSpPr>
            <a:spLocks noChangeArrowheads="1"/>
          </p:cNvSpPr>
          <p:nvPr/>
        </p:nvSpPr>
        <p:spPr bwMode="auto">
          <a:xfrm>
            <a:off x="6248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52" name="Oval 85"/>
          <p:cNvSpPr>
            <a:spLocks noChangeArrowheads="1"/>
          </p:cNvSpPr>
          <p:nvPr/>
        </p:nvSpPr>
        <p:spPr bwMode="auto">
          <a:xfrm>
            <a:off x="6705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53" name="Line 86"/>
          <p:cNvSpPr>
            <a:spLocks noChangeShapeType="1"/>
          </p:cNvSpPr>
          <p:nvPr/>
        </p:nvSpPr>
        <p:spPr bwMode="auto">
          <a:xfrm flipH="1">
            <a:off x="6324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54" name="Line 87"/>
          <p:cNvSpPr>
            <a:spLocks noChangeShapeType="1"/>
          </p:cNvSpPr>
          <p:nvPr/>
        </p:nvSpPr>
        <p:spPr bwMode="auto">
          <a:xfrm>
            <a:off x="6629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83" name="Rectangle 88"/>
          <p:cNvSpPr>
            <a:spLocks noChangeArrowheads="1"/>
          </p:cNvSpPr>
          <p:nvPr/>
        </p:nvSpPr>
        <p:spPr bwMode="auto">
          <a:xfrm>
            <a:off x="1951038" y="4724400"/>
            <a:ext cx="8488362" cy="8915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600" dirty="0">
                <a:latin typeface="+mn-lt"/>
              </a:rPr>
              <a:t>When we reach a leaf, compute the distance to each point in the node.</a:t>
            </a:r>
          </a:p>
        </p:txBody>
      </p:sp>
      <p:sp>
        <p:nvSpPr>
          <p:cNvPr id="109656" name="Oval 89"/>
          <p:cNvSpPr>
            <a:spLocks noChangeArrowheads="1"/>
          </p:cNvSpPr>
          <p:nvPr/>
        </p:nvSpPr>
        <p:spPr bwMode="auto">
          <a:xfrm>
            <a:off x="4191000" y="2438400"/>
            <a:ext cx="76200" cy="76200"/>
          </a:xfrm>
          <a:prstGeom prst="ellipse">
            <a:avLst/>
          </a:prstGeom>
          <a:solidFill>
            <a:srgbClr val="FF06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57" name="Rectangle 90"/>
          <p:cNvSpPr>
            <a:spLocks noChangeArrowheads="1"/>
          </p:cNvSpPr>
          <p:nvPr/>
        </p:nvSpPr>
        <p:spPr bwMode="auto">
          <a:xfrm>
            <a:off x="3886200" y="2362200"/>
            <a:ext cx="1600200" cy="6096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58" name="Rectangle 91"/>
          <p:cNvSpPr>
            <a:spLocks noChangeArrowheads="1"/>
          </p:cNvSpPr>
          <p:nvPr/>
        </p:nvSpPr>
        <p:spPr bwMode="auto">
          <a:xfrm>
            <a:off x="8763000" y="3657600"/>
            <a:ext cx="304800" cy="304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59" name="Line 92"/>
          <p:cNvSpPr>
            <a:spLocks noChangeShapeType="1"/>
          </p:cNvSpPr>
          <p:nvPr/>
        </p:nvSpPr>
        <p:spPr bwMode="auto">
          <a:xfrm>
            <a:off x="4267200" y="2438400"/>
            <a:ext cx="457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60" name="AutoShape 93"/>
          <p:cNvSpPr>
            <a:spLocks noChangeArrowheads="1"/>
          </p:cNvSpPr>
          <p:nvPr/>
        </p:nvSpPr>
        <p:spPr bwMode="auto">
          <a:xfrm>
            <a:off x="5029200" y="2667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9661" name="Line 94"/>
          <p:cNvSpPr>
            <a:spLocks noChangeShapeType="1"/>
          </p:cNvSpPr>
          <p:nvPr/>
        </p:nvSpPr>
        <p:spPr bwMode="auto">
          <a:xfrm>
            <a:off x="4267200" y="24384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with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129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3"/>
          <p:cNvGrpSpPr/>
          <p:nvPr/>
        </p:nvGrpSpPr>
        <p:grpSpPr bwMode="auto">
          <a:xfrm>
            <a:off x="2209800" y="1600200"/>
            <a:ext cx="3263900" cy="2916238"/>
            <a:chOff x="1344" y="1056"/>
            <a:chExt cx="1824" cy="1632"/>
          </a:xfrm>
        </p:grpSpPr>
        <p:sp>
          <p:nvSpPr>
            <p:cNvPr id="110653" name="AutoShape 4"/>
            <p:cNvSpPr>
              <a:spLocks noChangeArrowheads="1"/>
            </p:cNvSpPr>
            <p:nvPr/>
          </p:nvSpPr>
          <p:spPr bwMode="auto">
            <a:xfrm>
              <a:off x="1536" y="168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54" name="AutoShape 5"/>
            <p:cNvSpPr>
              <a:spLocks noChangeArrowheads="1"/>
            </p:cNvSpPr>
            <p:nvPr/>
          </p:nvSpPr>
          <p:spPr bwMode="auto">
            <a:xfrm>
              <a:off x="163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55" name="AutoShape 6"/>
            <p:cNvSpPr>
              <a:spLocks noChangeArrowheads="1"/>
            </p:cNvSpPr>
            <p:nvPr/>
          </p:nvSpPr>
          <p:spPr bwMode="auto">
            <a:xfrm>
              <a:off x="1488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56" name="AutoShape 7"/>
            <p:cNvSpPr>
              <a:spLocks noChangeArrowheads="1"/>
            </p:cNvSpPr>
            <p:nvPr/>
          </p:nvSpPr>
          <p:spPr bwMode="auto">
            <a:xfrm>
              <a:off x="240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57" name="AutoShape 8"/>
            <p:cNvSpPr>
              <a:spLocks noChangeArrowheads="1"/>
            </p:cNvSpPr>
            <p:nvPr/>
          </p:nvSpPr>
          <p:spPr bwMode="auto">
            <a:xfrm>
              <a:off x="139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58" name="AutoShape 9"/>
            <p:cNvSpPr>
              <a:spLocks noChangeArrowheads="1"/>
            </p:cNvSpPr>
            <p:nvPr/>
          </p:nvSpPr>
          <p:spPr bwMode="auto">
            <a:xfrm>
              <a:off x="2352" y="230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59" name="AutoShape 10"/>
            <p:cNvSpPr>
              <a:spLocks noChangeArrowheads="1"/>
            </p:cNvSpPr>
            <p:nvPr/>
          </p:nvSpPr>
          <p:spPr bwMode="auto">
            <a:xfrm>
              <a:off x="2304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60" name="AutoShape 11"/>
            <p:cNvSpPr>
              <a:spLocks noChangeArrowheads="1"/>
            </p:cNvSpPr>
            <p:nvPr/>
          </p:nvSpPr>
          <p:spPr bwMode="auto">
            <a:xfrm>
              <a:off x="2736" y="153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61" name="AutoShape 12"/>
            <p:cNvSpPr>
              <a:spLocks noChangeArrowheads="1"/>
            </p:cNvSpPr>
            <p:nvPr/>
          </p:nvSpPr>
          <p:spPr bwMode="auto">
            <a:xfrm>
              <a:off x="2496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62" name="AutoShape 13"/>
            <p:cNvSpPr>
              <a:spLocks noChangeArrowheads="1"/>
            </p:cNvSpPr>
            <p:nvPr/>
          </p:nvSpPr>
          <p:spPr bwMode="auto">
            <a:xfrm>
              <a:off x="220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63" name="AutoShape 14"/>
            <p:cNvSpPr>
              <a:spLocks noChangeArrowheads="1"/>
            </p:cNvSpPr>
            <p:nvPr/>
          </p:nvSpPr>
          <p:spPr bwMode="auto">
            <a:xfrm>
              <a:off x="230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64" name="AutoShape 15"/>
            <p:cNvSpPr>
              <a:spLocks noChangeArrowheads="1"/>
            </p:cNvSpPr>
            <p:nvPr/>
          </p:nvSpPr>
          <p:spPr bwMode="auto">
            <a:xfrm>
              <a:off x="2400" y="25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65" name="AutoShape 16"/>
            <p:cNvSpPr>
              <a:spLocks noChangeArrowheads="1"/>
            </p:cNvSpPr>
            <p:nvPr/>
          </p:nvSpPr>
          <p:spPr bwMode="auto">
            <a:xfrm>
              <a:off x="2400" y="24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66" name="AutoShape 17"/>
            <p:cNvSpPr>
              <a:spLocks noChangeArrowheads="1"/>
            </p:cNvSpPr>
            <p:nvPr/>
          </p:nvSpPr>
          <p:spPr bwMode="auto">
            <a:xfrm>
              <a:off x="2976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67" name="AutoShape 18"/>
            <p:cNvSpPr>
              <a:spLocks noChangeArrowheads="1"/>
            </p:cNvSpPr>
            <p:nvPr/>
          </p:nvSpPr>
          <p:spPr bwMode="auto">
            <a:xfrm>
              <a:off x="2064" y="172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68" name="AutoShape 19"/>
            <p:cNvSpPr>
              <a:spLocks noChangeArrowheads="1"/>
            </p:cNvSpPr>
            <p:nvPr/>
          </p:nvSpPr>
          <p:spPr bwMode="auto">
            <a:xfrm>
              <a:off x="2112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69" name="AutoShape 20"/>
            <p:cNvSpPr>
              <a:spLocks noChangeArrowheads="1"/>
            </p:cNvSpPr>
            <p:nvPr/>
          </p:nvSpPr>
          <p:spPr bwMode="auto">
            <a:xfrm>
              <a:off x="254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70" name="AutoShape 21"/>
            <p:cNvSpPr>
              <a:spLocks noChangeArrowheads="1"/>
            </p:cNvSpPr>
            <p:nvPr/>
          </p:nvSpPr>
          <p:spPr bwMode="auto">
            <a:xfrm>
              <a:off x="1680" y="249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71" name="AutoShape 22"/>
            <p:cNvSpPr>
              <a:spLocks noChangeArrowheads="1"/>
            </p:cNvSpPr>
            <p:nvPr/>
          </p:nvSpPr>
          <p:spPr bwMode="auto">
            <a:xfrm>
              <a:off x="1728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72" name="AutoShape 23"/>
            <p:cNvSpPr>
              <a:spLocks noChangeArrowheads="1"/>
            </p:cNvSpPr>
            <p:nvPr/>
          </p:nvSpPr>
          <p:spPr bwMode="auto">
            <a:xfrm>
              <a:off x="2496" y="13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73" name="AutoShape 24"/>
            <p:cNvSpPr>
              <a:spLocks noChangeArrowheads="1"/>
            </p:cNvSpPr>
            <p:nvPr/>
          </p:nvSpPr>
          <p:spPr bwMode="auto">
            <a:xfrm>
              <a:off x="2592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74" name="AutoShape 25"/>
            <p:cNvSpPr>
              <a:spLocks noChangeArrowheads="1"/>
            </p:cNvSpPr>
            <p:nvPr/>
          </p:nvSpPr>
          <p:spPr bwMode="auto">
            <a:xfrm>
              <a:off x="264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75" name="AutoShape 26"/>
            <p:cNvSpPr>
              <a:spLocks noChangeArrowheads="1"/>
            </p:cNvSpPr>
            <p:nvPr/>
          </p:nvSpPr>
          <p:spPr bwMode="auto">
            <a:xfrm>
              <a:off x="268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76" name="AutoShape 27"/>
            <p:cNvSpPr>
              <a:spLocks noChangeArrowheads="1"/>
            </p:cNvSpPr>
            <p:nvPr/>
          </p:nvSpPr>
          <p:spPr bwMode="auto">
            <a:xfrm>
              <a:off x="158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77" name="AutoShape 28"/>
            <p:cNvSpPr>
              <a:spLocks noChangeArrowheads="1"/>
            </p:cNvSpPr>
            <p:nvPr/>
          </p:nvSpPr>
          <p:spPr bwMode="auto">
            <a:xfrm>
              <a:off x="182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78" name="AutoShape 29"/>
            <p:cNvSpPr>
              <a:spLocks noChangeArrowheads="1"/>
            </p:cNvSpPr>
            <p:nvPr/>
          </p:nvSpPr>
          <p:spPr bwMode="auto">
            <a:xfrm>
              <a:off x="2160" y="163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79" name="AutoShape 30"/>
            <p:cNvSpPr>
              <a:spLocks noChangeArrowheads="1"/>
            </p:cNvSpPr>
            <p:nvPr/>
          </p:nvSpPr>
          <p:spPr bwMode="auto">
            <a:xfrm>
              <a:off x="2016" y="216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80" name="AutoShape 31"/>
            <p:cNvSpPr>
              <a:spLocks noChangeArrowheads="1"/>
            </p:cNvSpPr>
            <p:nvPr/>
          </p:nvSpPr>
          <p:spPr bwMode="auto">
            <a:xfrm>
              <a:off x="1680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81" name="AutoShape 32"/>
            <p:cNvSpPr>
              <a:spLocks noChangeArrowheads="1"/>
            </p:cNvSpPr>
            <p:nvPr/>
          </p:nvSpPr>
          <p:spPr bwMode="auto">
            <a:xfrm>
              <a:off x="158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82" name="AutoShape 33"/>
            <p:cNvSpPr>
              <a:spLocks noChangeArrowheads="1"/>
            </p:cNvSpPr>
            <p:nvPr/>
          </p:nvSpPr>
          <p:spPr bwMode="auto">
            <a:xfrm>
              <a:off x="1488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83" name="AutoShape 34"/>
            <p:cNvSpPr>
              <a:spLocks noChangeArrowheads="1"/>
            </p:cNvSpPr>
            <p:nvPr/>
          </p:nvSpPr>
          <p:spPr bwMode="auto">
            <a:xfrm>
              <a:off x="206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84" name="AutoShape 35"/>
            <p:cNvSpPr>
              <a:spLocks noChangeArrowheads="1"/>
            </p:cNvSpPr>
            <p:nvPr/>
          </p:nvSpPr>
          <p:spPr bwMode="auto">
            <a:xfrm>
              <a:off x="2976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85" name="AutoShape 36"/>
            <p:cNvSpPr>
              <a:spLocks noChangeArrowheads="1"/>
            </p:cNvSpPr>
            <p:nvPr/>
          </p:nvSpPr>
          <p:spPr bwMode="auto">
            <a:xfrm>
              <a:off x="302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0686" name="Rectangle 37"/>
            <p:cNvSpPr>
              <a:spLocks noChangeArrowheads="1"/>
            </p:cNvSpPr>
            <p:nvPr/>
          </p:nvSpPr>
          <p:spPr bwMode="auto">
            <a:xfrm>
              <a:off x="1344" y="1056"/>
              <a:ext cx="1824" cy="1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10595" name="Line 38"/>
          <p:cNvSpPr>
            <a:spLocks noChangeShapeType="1"/>
          </p:cNvSpPr>
          <p:nvPr/>
        </p:nvSpPr>
        <p:spPr bwMode="auto">
          <a:xfrm>
            <a:off x="3886200" y="16002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596" name="Line 39"/>
          <p:cNvSpPr>
            <a:spLocks noChangeShapeType="1"/>
          </p:cNvSpPr>
          <p:nvPr/>
        </p:nvSpPr>
        <p:spPr bwMode="auto">
          <a:xfrm>
            <a:off x="38862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597" name="Line 40"/>
          <p:cNvSpPr>
            <a:spLocks noChangeShapeType="1"/>
          </p:cNvSpPr>
          <p:nvPr/>
        </p:nvSpPr>
        <p:spPr bwMode="auto">
          <a:xfrm>
            <a:off x="4724400" y="2971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598" name="Line 41"/>
          <p:cNvSpPr>
            <a:spLocks noChangeShapeType="1"/>
          </p:cNvSpPr>
          <p:nvPr/>
        </p:nvSpPr>
        <p:spPr bwMode="auto">
          <a:xfrm>
            <a:off x="3886200" y="3962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599" name="Line 42"/>
          <p:cNvSpPr>
            <a:spLocks noChangeShapeType="1"/>
          </p:cNvSpPr>
          <p:nvPr/>
        </p:nvSpPr>
        <p:spPr bwMode="auto">
          <a:xfrm>
            <a:off x="2209800" y="32766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0" name="Line 43"/>
          <p:cNvSpPr>
            <a:spLocks noChangeShapeType="1"/>
          </p:cNvSpPr>
          <p:nvPr/>
        </p:nvSpPr>
        <p:spPr bwMode="auto">
          <a:xfrm flipV="1">
            <a:off x="3124200" y="1600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1" name="Line 44"/>
          <p:cNvSpPr>
            <a:spLocks noChangeShapeType="1"/>
          </p:cNvSpPr>
          <p:nvPr/>
        </p:nvSpPr>
        <p:spPr bwMode="auto">
          <a:xfrm>
            <a:off x="3886200" y="2362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2" name="Line 45"/>
          <p:cNvSpPr>
            <a:spLocks noChangeShapeType="1"/>
          </p:cNvSpPr>
          <p:nvPr/>
        </p:nvSpPr>
        <p:spPr bwMode="auto">
          <a:xfrm>
            <a:off x="4495800" y="1600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3" name="Line 46"/>
          <p:cNvSpPr>
            <a:spLocks noChangeShapeType="1"/>
          </p:cNvSpPr>
          <p:nvPr/>
        </p:nvSpPr>
        <p:spPr bwMode="auto">
          <a:xfrm>
            <a:off x="2971800" y="32766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4" name="Line 47"/>
          <p:cNvSpPr>
            <a:spLocks noChangeShapeType="1"/>
          </p:cNvSpPr>
          <p:nvPr/>
        </p:nvSpPr>
        <p:spPr bwMode="auto">
          <a:xfrm>
            <a:off x="2209800" y="2743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5" name="Oval 48"/>
          <p:cNvSpPr>
            <a:spLocks noChangeArrowheads="1"/>
          </p:cNvSpPr>
          <p:nvPr/>
        </p:nvSpPr>
        <p:spPr bwMode="auto">
          <a:xfrm>
            <a:off x="64770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06" name="Oval 49"/>
          <p:cNvSpPr>
            <a:spLocks noChangeArrowheads="1"/>
          </p:cNvSpPr>
          <p:nvPr/>
        </p:nvSpPr>
        <p:spPr bwMode="auto">
          <a:xfrm>
            <a:off x="73152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07" name="Oval 50"/>
          <p:cNvSpPr>
            <a:spLocks noChangeArrowheads="1"/>
          </p:cNvSpPr>
          <p:nvPr/>
        </p:nvSpPr>
        <p:spPr bwMode="auto">
          <a:xfrm>
            <a:off x="7086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08" name="Oval 51"/>
          <p:cNvSpPr>
            <a:spLocks noChangeArrowheads="1"/>
          </p:cNvSpPr>
          <p:nvPr/>
        </p:nvSpPr>
        <p:spPr bwMode="auto">
          <a:xfrm>
            <a:off x="7543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09" name="Line 52"/>
          <p:cNvSpPr>
            <a:spLocks noChangeShapeType="1"/>
          </p:cNvSpPr>
          <p:nvPr/>
        </p:nvSpPr>
        <p:spPr bwMode="auto">
          <a:xfrm flipH="1">
            <a:off x="7162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10" name="Line 53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11" name="Oval 54"/>
          <p:cNvSpPr>
            <a:spLocks noChangeArrowheads="1"/>
          </p:cNvSpPr>
          <p:nvPr/>
        </p:nvSpPr>
        <p:spPr bwMode="auto">
          <a:xfrm>
            <a:off x="81534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12" name="Oval 55"/>
          <p:cNvSpPr>
            <a:spLocks noChangeArrowheads="1"/>
          </p:cNvSpPr>
          <p:nvPr/>
        </p:nvSpPr>
        <p:spPr bwMode="auto">
          <a:xfrm>
            <a:off x="88392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13" name="Oval 56"/>
          <p:cNvSpPr>
            <a:spLocks noChangeArrowheads="1"/>
          </p:cNvSpPr>
          <p:nvPr/>
        </p:nvSpPr>
        <p:spPr bwMode="auto">
          <a:xfrm>
            <a:off x="9296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14" name="Line 57"/>
          <p:cNvSpPr>
            <a:spLocks noChangeShapeType="1"/>
          </p:cNvSpPr>
          <p:nvPr/>
        </p:nvSpPr>
        <p:spPr bwMode="auto">
          <a:xfrm flipH="1">
            <a:off x="8915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15" name="Line 58"/>
          <p:cNvSpPr>
            <a:spLocks noChangeShapeType="1"/>
          </p:cNvSpPr>
          <p:nvPr/>
        </p:nvSpPr>
        <p:spPr bwMode="auto">
          <a:xfrm>
            <a:off x="92202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16" name="Oval 59"/>
          <p:cNvSpPr>
            <a:spLocks noChangeArrowheads="1"/>
          </p:cNvSpPr>
          <p:nvPr/>
        </p:nvSpPr>
        <p:spPr bwMode="auto">
          <a:xfrm>
            <a:off x="90678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17" name="Oval 60"/>
          <p:cNvSpPr>
            <a:spLocks noChangeArrowheads="1"/>
          </p:cNvSpPr>
          <p:nvPr/>
        </p:nvSpPr>
        <p:spPr bwMode="auto">
          <a:xfrm>
            <a:off x="69342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18" name="Line 61"/>
          <p:cNvSpPr>
            <a:spLocks noChangeShapeType="1"/>
          </p:cNvSpPr>
          <p:nvPr/>
        </p:nvSpPr>
        <p:spPr bwMode="auto">
          <a:xfrm flipH="1">
            <a:off x="6553200" y="30480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19" name="Line 62"/>
          <p:cNvSpPr>
            <a:spLocks noChangeShapeType="1"/>
          </p:cNvSpPr>
          <p:nvPr/>
        </p:nvSpPr>
        <p:spPr bwMode="auto">
          <a:xfrm>
            <a:off x="70866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20" name="Oval 63"/>
          <p:cNvSpPr>
            <a:spLocks noChangeArrowheads="1"/>
          </p:cNvSpPr>
          <p:nvPr/>
        </p:nvSpPr>
        <p:spPr bwMode="auto">
          <a:xfrm>
            <a:off x="86106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21" name="Line 64"/>
          <p:cNvSpPr>
            <a:spLocks noChangeShapeType="1"/>
          </p:cNvSpPr>
          <p:nvPr/>
        </p:nvSpPr>
        <p:spPr bwMode="auto">
          <a:xfrm flipH="1">
            <a:off x="83058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22" name="Line 65"/>
          <p:cNvSpPr>
            <a:spLocks noChangeShapeType="1"/>
          </p:cNvSpPr>
          <p:nvPr/>
        </p:nvSpPr>
        <p:spPr bwMode="auto">
          <a:xfrm>
            <a:off x="87630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23" name="Oval 66"/>
          <p:cNvSpPr>
            <a:spLocks noChangeArrowheads="1"/>
          </p:cNvSpPr>
          <p:nvPr/>
        </p:nvSpPr>
        <p:spPr bwMode="auto">
          <a:xfrm>
            <a:off x="7772400" y="2133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24" name="Line 67"/>
          <p:cNvSpPr>
            <a:spLocks noChangeShapeType="1"/>
          </p:cNvSpPr>
          <p:nvPr/>
        </p:nvSpPr>
        <p:spPr bwMode="auto">
          <a:xfrm flipH="1">
            <a:off x="70866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25" name="Line 68"/>
          <p:cNvSpPr>
            <a:spLocks noChangeShapeType="1"/>
          </p:cNvSpPr>
          <p:nvPr/>
        </p:nvSpPr>
        <p:spPr bwMode="auto">
          <a:xfrm>
            <a:off x="79248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26" name="Oval 69"/>
          <p:cNvSpPr>
            <a:spLocks noChangeArrowheads="1"/>
          </p:cNvSpPr>
          <p:nvPr/>
        </p:nvSpPr>
        <p:spPr bwMode="auto">
          <a:xfrm>
            <a:off x="6858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27" name="Oval 70"/>
          <p:cNvSpPr>
            <a:spLocks noChangeArrowheads="1"/>
          </p:cNvSpPr>
          <p:nvPr/>
        </p:nvSpPr>
        <p:spPr bwMode="auto">
          <a:xfrm>
            <a:off x="7315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28" name="Line 71"/>
          <p:cNvSpPr>
            <a:spLocks noChangeShapeType="1"/>
          </p:cNvSpPr>
          <p:nvPr/>
        </p:nvSpPr>
        <p:spPr bwMode="auto">
          <a:xfrm flipH="1">
            <a:off x="6934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29" name="Line 72"/>
          <p:cNvSpPr>
            <a:spLocks noChangeShapeType="1"/>
          </p:cNvSpPr>
          <p:nvPr/>
        </p:nvSpPr>
        <p:spPr bwMode="auto">
          <a:xfrm>
            <a:off x="7239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30" name="Oval 73"/>
          <p:cNvSpPr>
            <a:spLocks noChangeArrowheads="1"/>
          </p:cNvSpPr>
          <p:nvPr/>
        </p:nvSpPr>
        <p:spPr bwMode="auto">
          <a:xfrm>
            <a:off x="7924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31" name="Oval 74"/>
          <p:cNvSpPr>
            <a:spLocks noChangeArrowheads="1"/>
          </p:cNvSpPr>
          <p:nvPr/>
        </p:nvSpPr>
        <p:spPr bwMode="auto">
          <a:xfrm>
            <a:off x="83820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32" name="Line 75"/>
          <p:cNvSpPr>
            <a:spLocks noChangeShapeType="1"/>
          </p:cNvSpPr>
          <p:nvPr/>
        </p:nvSpPr>
        <p:spPr bwMode="auto">
          <a:xfrm flipH="1">
            <a:off x="80010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33" name="Line 76"/>
          <p:cNvSpPr>
            <a:spLocks noChangeShapeType="1"/>
          </p:cNvSpPr>
          <p:nvPr/>
        </p:nvSpPr>
        <p:spPr bwMode="auto">
          <a:xfrm>
            <a:off x="8305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34" name="Oval 77"/>
          <p:cNvSpPr>
            <a:spLocks noChangeArrowheads="1"/>
          </p:cNvSpPr>
          <p:nvPr/>
        </p:nvSpPr>
        <p:spPr bwMode="auto">
          <a:xfrm>
            <a:off x="7696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35" name="Oval 78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36" name="Line 79"/>
          <p:cNvSpPr>
            <a:spLocks noChangeShapeType="1"/>
          </p:cNvSpPr>
          <p:nvPr/>
        </p:nvSpPr>
        <p:spPr bwMode="auto">
          <a:xfrm flipH="1">
            <a:off x="77724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37" name="Line 80"/>
          <p:cNvSpPr>
            <a:spLocks noChangeShapeType="1"/>
          </p:cNvSpPr>
          <p:nvPr/>
        </p:nvSpPr>
        <p:spPr bwMode="auto">
          <a:xfrm>
            <a:off x="8077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38" name="Oval 81"/>
          <p:cNvSpPr>
            <a:spLocks noChangeArrowheads="1"/>
          </p:cNvSpPr>
          <p:nvPr/>
        </p:nvSpPr>
        <p:spPr bwMode="auto">
          <a:xfrm>
            <a:off x="90678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39" name="Oval 82"/>
          <p:cNvSpPr>
            <a:spLocks noChangeArrowheads="1"/>
          </p:cNvSpPr>
          <p:nvPr/>
        </p:nvSpPr>
        <p:spPr bwMode="auto">
          <a:xfrm>
            <a:off x="9525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40" name="Line 83"/>
          <p:cNvSpPr>
            <a:spLocks noChangeShapeType="1"/>
          </p:cNvSpPr>
          <p:nvPr/>
        </p:nvSpPr>
        <p:spPr bwMode="auto">
          <a:xfrm flipH="1">
            <a:off x="9144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41" name="Line 84"/>
          <p:cNvSpPr>
            <a:spLocks noChangeShapeType="1"/>
          </p:cNvSpPr>
          <p:nvPr/>
        </p:nvSpPr>
        <p:spPr bwMode="auto">
          <a:xfrm>
            <a:off x="94488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42" name="Oval 85"/>
          <p:cNvSpPr>
            <a:spLocks noChangeArrowheads="1"/>
          </p:cNvSpPr>
          <p:nvPr/>
        </p:nvSpPr>
        <p:spPr bwMode="auto">
          <a:xfrm>
            <a:off x="6248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43" name="Oval 86"/>
          <p:cNvSpPr>
            <a:spLocks noChangeArrowheads="1"/>
          </p:cNvSpPr>
          <p:nvPr/>
        </p:nvSpPr>
        <p:spPr bwMode="auto">
          <a:xfrm>
            <a:off x="6705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44" name="Line 87"/>
          <p:cNvSpPr>
            <a:spLocks noChangeShapeType="1"/>
          </p:cNvSpPr>
          <p:nvPr/>
        </p:nvSpPr>
        <p:spPr bwMode="auto">
          <a:xfrm flipH="1">
            <a:off x="6324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45" name="Line 88"/>
          <p:cNvSpPr>
            <a:spLocks noChangeShapeType="1"/>
          </p:cNvSpPr>
          <p:nvPr/>
        </p:nvSpPr>
        <p:spPr bwMode="auto">
          <a:xfrm>
            <a:off x="6629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46" name="Rectangle 89"/>
          <p:cNvSpPr>
            <a:spLocks noChangeArrowheads="1"/>
          </p:cNvSpPr>
          <p:nvPr/>
        </p:nvSpPr>
        <p:spPr bwMode="auto">
          <a:xfrm>
            <a:off x="749300" y="4826635"/>
            <a:ext cx="1060894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600">
                <a:ea typeface="宋体" panose="02010600030101010101" pitchFamily="2" charset="-122"/>
              </a:rPr>
              <a:t>When we reach a leaf, compute the distance to each point in the node.</a:t>
            </a:r>
          </a:p>
        </p:txBody>
      </p:sp>
      <p:sp>
        <p:nvSpPr>
          <p:cNvPr id="110647" name="Oval 90"/>
          <p:cNvSpPr>
            <a:spLocks noChangeArrowheads="1"/>
          </p:cNvSpPr>
          <p:nvPr/>
        </p:nvSpPr>
        <p:spPr bwMode="auto">
          <a:xfrm>
            <a:off x="4191000" y="2438400"/>
            <a:ext cx="76200" cy="76200"/>
          </a:xfrm>
          <a:prstGeom prst="ellipse">
            <a:avLst/>
          </a:prstGeom>
          <a:solidFill>
            <a:srgbClr val="FF06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48" name="Rectangle 91"/>
          <p:cNvSpPr>
            <a:spLocks noChangeArrowheads="1"/>
          </p:cNvSpPr>
          <p:nvPr/>
        </p:nvSpPr>
        <p:spPr bwMode="auto">
          <a:xfrm>
            <a:off x="3886200" y="2362200"/>
            <a:ext cx="1600200" cy="6096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49" name="Rectangle 92"/>
          <p:cNvSpPr>
            <a:spLocks noChangeArrowheads="1"/>
          </p:cNvSpPr>
          <p:nvPr/>
        </p:nvSpPr>
        <p:spPr bwMode="auto">
          <a:xfrm>
            <a:off x="8763000" y="3657600"/>
            <a:ext cx="304800" cy="304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50" name="Oval 93"/>
          <p:cNvSpPr>
            <a:spLocks noChangeArrowheads="1"/>
          </p:cNvSpPr>
          <p:nvPr/>
        </p:nvSpPr>
        <p:spPr bwMode="auto">
          <a:xfrm>
            <a:off x="3657600" y="1981200"/>
            <a:ext cx="1066800" cy="990600"/>
          </a:xfrm>
          <a:prstGeom prst="ellipse">
            <a:avLst/>
          </a:prstGeom>
          <a:noFill/>
          <a:ln w="19050">
            <a:solidFill>
              <a:srgbClr val="FF0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0651" name="AutoShape 94"/>
          <p:cNvSpPr>
            <a:spLocks noChangeArrowheads="1"/>
          </p:cNvSpPr>
          <p:nvPr/>
        </p:nvSpPr>
        <p:spPr bwMode="auto">
          <a:xfrm>
            <a:off x="5029200" y="2667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with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130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3"/>
          <p:cNvGrpSpPr/>
          <p:nvPr/>
        </p:nvGrpSpPr>
        <p:grpSpPr bwMode="auto">
          <a:xfrm>
            <a:off x="2209800" y="1600200"/>
            <a:ext cx="3263900" cy="2916238"/>
            <a:chOff x="1344" y="1056"/>
            <a:chExt cx="1824" cy="1632"/>
          </a:xfrm>
        </p:grpSpPr>
        <p:sp>
          <p:nvSpPr>
            <p:cNvPr id="111677" name="AutoShape 4"/>
            <p:cNvSpPr>
              <a:spLocks noChangeArrowheads="1"/>
            </p:cNvSpPr>
            <p:nvPr/>
          </p:nvSpPr>
          <p:spPr bwMode="auto">
            <a:xfrm>
              <a:off x="1536" y="168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78" name="AutoShape 5"/>
            <p:cNvSpPr>
              <a:spLocks noChangeArrowheads="1"/>
            </p:cNvSpPr>
            <p:nvPr/>
          </p:nvSpPr>
          <p:spPr bwMode="auto">
            <a:xfrm>
              <a:off x="163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79" name="AutoShape 6"/>
            <p:cNvSpPr>
              <a:spLocks noChangeArrowheads="1"/>
            </p:cNvSpPr>
            <p:nvPr/>
          </p:nvSpPr>
          <p:spPr bwMode="auto">
            <a:xfrm>
              <a:off x="1488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80" name="AutoShape 7"/>
            <p:cNvSpPr>
              <a:spLocks noChangeArrowheads="1"/>
            </p:cNvSpPr>
            <p:nvPr/>
          </p:nvSpPr>
          <p:spPr bwMode="auto">
            <a:xfrm>
              <a:off x="240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81" name="AutoShape 8"/>
            <p:cNvSpPr>
              <a:spLocks noChangeArrowheads="1"/>
            </p:cNvSpPr>
            <p:nvPr/>
          </p:nvSpPr>
          <p:spPr bwMode="auto">
            <a:xfrm>
              <a:off x="139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82" name="AutoShape 9"/>
            <p:cNvSpPr>
              <a:spLocks noChangeArrowheads="1"/>
            </p:cNvSpPr>
            <p:nvPr/>
          </p:nvSpPr>
          <p:spPr bwMode="auto">
            <a:xfrm>
              <a:off x="2352" y="230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83" name="AutoShape 10"/>
            <p:cNvSpPr>
              <a:spLocks noChangeArrowheads="1"/>
            </p:cNvSpPr>
            <p:nvPr/>
          </p:nvSpPr>
          <p:spPr bwMode="auto">
            <a:xfrm>
              <a:off x="2304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84" name="AutoShape 11"/>
            <p:cNvSpPr>
              <a:spLocks noChangeArrowheads="1"/>
            </p:cNvSpPr>
            <p:nvPr/>
          </p:nvSpPr>
          <p:spPr bwMode="auto">
            <a:xfrm>
              <a:off x="2736" y="153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85" name="AutoShape 12"/>
            <p:cNvSpPr>
              <a:spLocks noChangeArrowheads="1"/>
            </p:cNvSpPr>
            <p:nvPr/>
          </p:nvSpPr>
          <p:spPr bwMode="auto">
            <a:xfrm>
              <a:off x="2496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86" name="AutoShape 13"/>
            <p:cNvSpPr>
              <a:spLocks noChangeArrowheads="1"/>
            </p:cNvSpPr>
            <p:nvPr/>
          </p:nvSpPr>
          <p:spPr bwMode="auto">
            <a:xfrm>
              <a:off x="220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87" name="AutoShape 14"/>
            <p:cNvSpPr>
              <a:spLocks noChangeArrowheads="1"/>
            </p:cNvSpPr>
            <p:nvPr/>
          </p:nvSpPr>
          <p:spPr bwMode="auto">
            <a:xfrm>
              <a:off x="230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88" name="AutoShape 15"/>
            <p:cNvSpPr>
              <a:spLocks noChangeArrowheads="1"/>
            </p:cNvSpPr>
            <p:nvPr/>
          </p:nvSpPr>
          <p:spPr bwMode="auto">
            <a:xfrm>
              <a:off x="2400" y="25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89" name="AutoShape 16"/>
            <p:cNvSpPr>
              <a:spLocks noChangeArrowheads="1"/>
            </p:cNvSpPr>
            <p:nvPr/>
          </p:nvSpPr>
          <p:spPr bwMode="auto">
            <a:xfrm>
              <a:off x="2400" y="24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90" name="AutoShape 17"/>
            <p:cNvSpPr>
              <a:spLocks noChangeArrowheads="1"/>
            </p:cNvSpPr>
            <p:nvPr/>
          </p:nvSpPr>
          <p:spPr bwMode="auto">
            <a:xfrm>
              <a:off x="2976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91" name="AutoShape 18"/>
            <p:cNvSpPr>
              <a:spLocks noChangeArrowheads="1"/>
            </p:cNvSpPr>
            <p:nvPr/>
          </p:nvSpPr>
          <p:spPr bwMode="auto">
            <a:xfrm>
              <a:off x="2064" y="172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92" name="AutoShape 19"/>
            <p:cNvSpPr>
              <a:spLocks noChangeArrowheads="1"/>
            </p:cNvSpPr>
            <p:nvPr/>
          </p:nvSpPr>
          <p:spPr bwMode="auto">
            <a:xfrm>
              <a:off x="2112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93" name="AutoShape 20"/>
            <p:cNvSpPr>
              <a:spLocks noChangeArrowheads="1"/>
            </p:cNvSpPr>
            <p:nvPr/>
          </p:nvSpPr>
          <p:spPr bwMode="auto">
            <a:xfrm>
              <a:off x="254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94" name="AutoShape 21"/>
            <p:cNvSpPr>
              <a:spLocks noChangeArrowheads="1"/>
            </p:cNvSpPr>
            <p:nvPr/>
          </p:nvSpPr>
          <p:spPr bwMode="auto">
            <a:xfrm>
              <a:off x="1680" y="249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95" name="AutoShape 22"/>
            <p:cNvSpPr>
              <a:spLocks noChangeArrowheads="1"/>
            </p:cNvSpPr>
            <p:nvPr/>
          </p:nvSpPr>
          <p:spPr bwMode="auto">
            <a:xfrm>
              <a:off x="1728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96" name="AutoShape 23"/>
            <p:cNvSpPr>
              <a:spLocks noChangeArrowheads="1"/>
            </p:cNvSpPr>
            <p:nvPr/>
          </p:nvSpPr>
          <p:spPr bwMode="auto">
            <a:xfrm>
              <a:off x="2496" y="13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97" name="AutoShape 24"/>
            <p:cNvSpPr>
              <a:spLocks noChangeArrowheads="1"/>
            </p:cNvSpPr>
            <p:nvPr/>
          </p:nvSpPr>
          <p:spPr bwMode="auto">
            <a:xfrm>
              <a:off x="2592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98" name="AutoShape 25"/>
            <p:cNvSpPr>
              <a:spLocks noChangeArrowheads="1"/>
            </p:cNvSpPr>
            <p:nvPr/>
          </p:nvSpPr>
          <p:spPr bwMode="auto">
            <a:xfrm>
              <a:off x="264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699" name="AutoShape 26"/>
            <p:cNvSpPr>
              <a:spLocks noChangeArrowheads="1"/>
            </p:cNvSpPr>
            <p:nvPr/>
          </p:nvSpPr>
          <p:spPr bwMode="auto">
            <a:xfrm>
              <a:off x="268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700" name="AutoShape 27"/>
            <p:cNvSpPr>
              <a:spLocks noChangeArrowheads="1"/>
            </p:cNvSpPr>
            <p:nvPr/>
          </p:nvSpPr>
          <p:spPr bwMode="auto">
            <a:xfrm>
              <a:off x="158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701" name="AutoShape 28"/>
            <p:cNvSpPr>
              <a:spLocks noChangeArrowheads="1"/>
            </p:cNvSpPr>
            <p:nvPr/>
          </p:nvSpPr>
          <p:spPr bwMode="auto">
            <a:xfrm>
              <a:off x="182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702" name="AutoShape 29"/>
            <p:cNvSpPr>
              <a:spLocks noChangeArrowheads="1"/>
            </p:cNvSpPr>
            <p:nvPr/>
          </p:nvSpPr>
          <p:spPr bwMode="auto">
            <a:xfrm>
              <a:off x="2160" y="163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703" name="AutoShape 30"/>
            <p:cNvSpPr>
              <a:spLocks noChangeArrowheads="1"/>
            </p:cNvSpPr>
            <p:nvPr/>
          </p:nvSpPr>
          <p:spPr bwMode="auto">
            <a:xfrm>
              <a:off x="2016" y="216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704" name="AutoShape 31"/>
            <p:cNvSpPr>
              <a:spLocks noChangeArrowheads="1"/>
            </p:cNvSpPr>
            <p:nvPr/>
          </p:nvSpPr>
          <p:spPr bwMode="auto">
            <a:xfrm>
              <a:off x="1680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705" name="AutoShape 32"/>
            <p:cNvSpPr>
              <a:spLocks noChangeArrowheads="1"/>
            </p:cNvSpPr>
            <p:nvPr/>
          </p:nvSpPr>
          <p:spPr bwMode="auto">
            <a:xfrm>
              <a:off x="158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706" name="AutoShape 33"/>
            <p:cNvSpPr>
              <a:spLocks noChangeArrowheads="1"/>
            </p:cNvSpPr>
            <p:nvPr/>
          </p:nvSpPr>
          <p:spPr bwMode="auto">
            <a:xfrm>
              <a:off x="1488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707" name="AutoShape 34"/>
            <p:cNvSpPr>
              <a:spLocks noChangeArrowheads="1"/>
            </p:cNvSpPr>
            <p:nvPr/>
          </p:nvSpPr>
          <p:spPr bwMode="auto">
            <a:xfrm>
              <a:off x="206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708" name="AutoShape 35"/>
            <p:cNvSpPr>
              <a:spLocks noChangeArrowheads="1"/>
            </p:cNvSpPr>
            <p:nvPr/>
          </p:nvSpPr>
          <p:spPr bwMode="auto">
            <a:xfrm>
              <a:off x="2976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709" name="AutoShape 36"/>
            <p:cNvSpPr>
              <a:spLocks noChangeArrowheads="1"/>
            </p:cNvSpPr>
            <p:nvPr/>
          </p:nvSpPr>
          <p:spPr bwMode="auto">
            <a:xfrm>
              <a:off x="302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1710" name="Rectangle 37"/>
            <p:cNvSpPr>
              <a:spLocks noChangeArrowheads="1"/>
            </p:cNvSpPr>
            <p:nvPr/>
          </p:nvSpPr>
          <p:spPr bwMode="auto">
            <a:xfrm>
              <a:off x="1344" y="1056"/>
              <a:ext cx="1824" cy="1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11619" name="Line 38"/>
          <p:cNvSpPr>
            <a:spLocks noChangeShapeType="1"/>
          </p:cNvSpPr>
          <p:nvPr/>
        </p:nvSpPr>
        <p:spPr bwMode="auto">
          <a:xfrm>
            <a:off x="3886200" y="16002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0" name="Line 39"/>
          <p:cNvSpPr>
            <a:spLocks noChangeShapeType="1"/>
          </p:cNvSpPr>
          <p:nvPr/>
        </p:nvSpPr>
        <p:spPr bwMode="auto">
          <a:xfrm>
            <a:off x="38862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1" name="Line 40"/>
          <p:cNvSpPr>
            <a:spLocks noChangeShapeType="1"/>
          </p:cNvSpPr>
          <p:nvPr/>
        </p:nvSpPr>
        <p:spPr bwMode="auto">
          <a:xfrm>
            <a:off x="4724400" y="2971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2" name="Line 41"/>
          <p:cNvSpPr>
            <a:spLocks noChangeShapeType="1"/>
          </p:cNvSpPr>
          <p:nvPr/>
        </p:nvSpPr>
        <p:spPr bwMode="auto">
          <a:xfrm>
            <a:off x="3886200" y="3962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3" name="Line 42"/>
          <p:cNvSpPr>
            <a:spLocks noChangeShapeType="1"/>
          </p:cNvSpPr>
          <p:nvPr/>
        </p:nvSpPr>
        <p:spPr bwMode="auto">
          <a:xfrm>
            <a:off x="2209800" y="32766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4" name="Line 43"/>
          <p:cNvSpPr>
            <a:spLocks noChangeShapeType="1"/>
          </p:cNvSpPr>
          <p:nvPr/>
        </p:nvSpPr>
        <p:spPr bwMode="auto">
          <a:xfrm flipV="1">
            <a:off x="3124200" y="1600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5" name="Line 44"/>
          <p:cNvSpPr>
            <a:spLocks noChangeShapeType="1"/>
          </p:cNvSpPr>
          <p:nvPr/>
        </p:nvSpPr>
        <p:spPr bwMode="auto">
          <a:xfrm>
            <a:off x="3886200" y="2362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6" name="Line 45"/>
          <p:cNvSpPr>
            <a:spLocks noChangeShapeType="1"/>
          </p:cNvSpPr>
          <p:nvPr/>
        </p:nvSpPr>
        <p:spPr bwMode="auto">
          <a:xfrm>
            <a:off x="4495800" y="1600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7" name="Line 46"/>
          <p:cNvSpPr>
            <a:spLocks noChangeShapeType="1"/>
          </p:cNvSpPr>
          <p:nvPr/>
        </p:nvSpPr>
        <p:spPr bwMode="auto">
          <a:xfrm>
            <a:off x="2971800" y="32766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8" name="Line 47"/>
          <p:cNvSpPr>
            <a:spLocks noChangeShapeType="1"/>
          </p:cNvSpPr>
          <p:nvPr/>
        </p:nvSpPr>
        <p:spPr bwMode="auto">
          <a:xfrm>
            <a:off x="2209800" y="2743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9" name="Oval 48"/>
          <p:cNvSpPr>
            <a:spLocks noChangeArrowheads="1"/>
          </p:cNvSpPr>
          <p:nvPr/>
        </p:nvSpPr>
        <p:spPr bwMode="auto">
          <a:xfrm>
            <a:off x="64770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30" name="Oval 49"/>
          <p:cNvSpPr>
            <a:spLocks noChangeArrowheads="1"/>
          </p:cNvSpPr>
          <p:nvPr/>
        </p:nvSpPr>
        <p:spPr bwMode="auto">
          <a:xfrm>
            <a:off x="73152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31" name="Oval 50"/>
          <p:cNvSpPr>
            <a:spLocks noChangeArrowheads="1"/>
          </p:cNvSpPr>
          <p:nvPr/>
        </p:nvSpPr>
        <p:spPr bwMode="auto">
          <a:xfrm>
            <a:off x="7086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32" name="Oval 51"/>
          <p:cNvSpPr>
            <a:spLocks noChangeArrowheads="1"/>
          </p:cNvSpPr>
          <p:nvPr/>
        </p:nvSpPr>
        <p:spPr bwMode="auto">
          <a:xfrm>
            <a:off x="7543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33" name="Line 52"/>
          <p:cNvSpPr>
            <a:spLocks noChangeShapeType="1"/>
          </p:cNvSpPr>
          <p:nvPr/>
        </p:nvSpPr>
        <p:spPr bwMode="auto">
          <a:xfrm flipH="1">
            <a:off x="7162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34" name="Line 53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35" name="Oval 54"/>
          <p:cNvSpPr>
            <a:spLocks noChangeArrowheads="1"/>
          </p:cNvSpPr>
          <p:nvPr/>
        </p:nvSpPr>
        <p:spPr bwMode="auto">
          <a:xfrm>
            <a:off x="81534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36" name="Oval 55"/>
          <p:cNvSpPr>
            <a:spLocks noChangeArrowheads="1"/>
          </p:cNvSpPr>
          <p:nvPr/>
        </p:nvSpPr>
        <p:spPr bwMode="auto">
          <a:xfrm>
            <a:off x="88392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37" name="Oval 56"/>
          <p:cNvSpPr>
            <a:spLocks noChangeArrowheads="1"/>
          </p:cNvSpPr>
          <p:nvPr/>
        </p:nvSpPr>
        <p:spPr bwMode="auto">
          <a:xfrm>
            <a:off x="9296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38" name="Line 57"/>
          <p:cNvSpPr>
            <a:spLocks noChangeShapeType="1"/>
          </p:cNvSpPr>
          <p:nvPr/>
        </p:nvSpPr>
        <p:spPr bwMode="auto">
          <a:xfrm flipH="1">
            <a:off x="8915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39" name="Line 58"/>
          <p:cNvSpPr>
            <a:spLocks noChangeShapeType="1"/>
          </p:cNvSpPr>
          <p:nvPr/>
        </p:nvSpPr>
        <p:spPr bwMode="auto">
          <a:xfrm>
            <a:off x="92202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40" name="Oval 59"/>
          <p:cNvSpPr>
            <a:spLocks noChangeArrowheads="1"/>
          </p:cNvSpPr>
          <p:nvPr/>
        </p:nvSpPr>
        <p:spPr bwMode="auto">
          <a:xfrm>
            <a:off x="90678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41" name="Oval 60"/>
          <p:cNvSpPr>
            <a:spLocks noChangeArrowheads="1"/>
          </p:cNvSpPr>
          <p:nvPr/>
        </p:nvSpPr>
        <p:spPr bwMode="auto">
          <a:xfrm>
            <a:off x="69342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42" name="Line 61"/>
          <p:cNvSpPr>
            <a:spLocks noChangeShapeType="1"/>
          </p:cNvSpPr>
          <p:nvPr/>
        </p:nvSpPr>
        <p:spPr bwMode="auto">
          <a:xfrm flipH="1">
            <a:off x="6553200" y="30480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43" name="Line 62"/>
          <p:cNvSpPr>
            <a:spLocks noChangeShapeType="1"/>
          </p:cNvSpPr>
          <p:nvPr/>
        </p:nvSpPr>
        <p:spPr bwMode="auto">
          <a:xfrm>
            <a:off x="70866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44" name="Oval 63"/>
          <p:cNvSpPr>
            <a:spLocks noChangeArrowheads="1"/>
          </p:cNvSpPr>
          <p:nvPr/>
        </p:nvSpPr>
        <p:spPr bwMode="auto">
          <a:xfrm>
            <a:off x="86106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45" name="Line 64"/>
          <p:cNvSpPr>
            <a:spLocks noChangeShapeType="1"/>
          </p:cNvSpPr>
          <p:nvPr/>
        </p:nvSpPr>
        <p:spPr bwMode="auto">
          <a:xfrm flipH="1">
            <a:off x="83058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46" name="Line 65"/>
          <p:cNvSpPr>
            <a:spLocks noChangeShapeType="1"/>
          </p:cNvSpPr>
          <p:nvPr/>
        </p:nvSpPr>
        <p:spPr bwMode="auto">
          <a:xfrm>
            <a:off x="87630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47" name="Oval 66"/>
          <p:cNvSpPr>
            <a:spLocks noChangeArrowheads="1"/>
          </p:cNvSpPr>
          <p:nvPr/>
        </p:nvSpPr>
        <p:spPr bwMode="auto">
          <a:xfrm>
            <a:off x="7772400" y="2133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48" name="Line 67"/>
          <p:cNvSpPr>
            <a:spLocks noChangeShapeType="1"/>
          </p:cNvSpPr>
          <p:nvPr/>
        </p:nvSpPr>
        <p:spPr bwMode="auto">
          <a:xfrm flipH="1">
            <a:off x="70866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49" name="Line 68"/>
          <p:cNvSpPr>
            <a:spLocks noChangeShapeType="1"/>
          </p:cNvSpPr>
          <p:nvPr/>
        </p:nvSpPr>
        <p:spPr bwMode="auto">
          <a:xfrm>
            <a:off x="79248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50" name="Oval 69"/>
          <p:cNvSpPr>
            <a:spLocks noChangeArrowheads="1"/>
          </p:cNvSpPr>
          <p:nvPr/>
        </p:nvSpPr>
        <p:spPr bwMode="auto">
          <a:xfrm>
            <a:off x="6858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51" name="Oval 70"/>
          <p:cNvSpPr>
            <a:spLocks noChangeArrowheads="1"/>
          </p:cNvSpPr>
          <p:nvPr/>
        </p:nvSpPr>
        <p:spPr bwMode="auto">
          <a:xfrm>
            <a:off x="7315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52" name="Line 71"/>
          <p:cNvSpPr>
            <a:spLocks noChangeShapeType="1"/>
          </p:cNvSpPr>
          <p:nvPr/>
        </p:nvSpPr>
        <p:spPr bwMode="auto">
          <a:xfrm flipH="1">
            <a:off x="6934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53" name="Line 72"/>
          <p:cNvSpPr>
            <a:spLocks noChangeShapeType="1"/>
          </p:cNvSpPr>
          <p:nvPr/>
        </p:nvSpPr>
        <p:spPr bwMode="auto">
          <a:xfrm>
            <a:off x="7239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54" name="Oval 73"/>
          <p:cNvSpPr>
            <a:spLocks noChangeArrowheads="1"/>
          </p:cNvSpPr>
          <p:nvPr/>
        </p:nvSpPr>
        <p:spPr bwMode="auto">
          <a:xfrm>
            <a:off x="7924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55" name="Oval 74"/>
          <p:cNvSpPr>
            <a:spLocks noChangeArrowheads="1"/>
          </p:cNvSpPr>
          <p:nvPr/>
        </p:nvSpPr>
        <p:spPr bwMode="auto">
          <a:xfrm>
            <a:off x="83820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56" name="Line 75"/>
          <p:cNvSpPr>
            <a:spLocks noChangeShapeType="1"/>
          </p:cNvSpPr>
          <p:nvPr/>
        </p:nvSpPr>
        <p:spPr bwMode="auto">
          <a:xfrm flipH="1">
            <a:off x="80010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57" name="Line 76"/>
          <p:cNvSpPr>
            <a:spLocks noChangeShapeType="1"/>
          </p:cNvSpPr>
          <p:nvPr/>
        </p:nvSpPr>
        <p:spPr bwMode="auto">
          <a:xfrm>
            <a:off x="8305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58" name="Oval 77"/>
          <p:cNvSpPr>
            <a:spLocks noChangeArrowheads="1"/>
          </p:cNvSpPr>
          <p:nvPr/>
        </p:nvSpPr>
        <p:spPr bwMode="auto">
          <a:xfrm>
            <a:off x="7696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59" name="Oval 78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60" name="Line 79"/>
          <p:cNvSpPr>
            <a:spLocks noChangeShapeType="1"/>
          </p:cNvSpPr>
          <p:nvPr/>
        </p:nvSpPr>
        <p:spPr bwMode="auto">
          <a:xfrm flipH="1">
            <a:off x="77724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61" name="Line 80"/>
          <p:cNvSpPr>
            <a:spLocks noChangeShapeType="1"/>
          </p:cNvSpPr>
          <p:nvPr/>
        </p:nvSpPr>
        <p:spPr bwMode="auto">
          <a:xfrm>
            <a:off x="8077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62" name="Oval 81"/>
          <p:cNvSpPr>
            <a:spLocks noChangeArrowheads="1"/>
          </p:cNvSpPr>
          <p:nvPr/>
        </p:nvSpPr>
        <p:spPr bwMode="auto">
          <a:xfrm>
            <a:off x="90678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63" name="Oval 82"/>
          <p:cNvSpPr>
            <a:spLocks noChangeArrowheads="1"/>
          </p:cNvSpPr>
          <p:nvPr/>
        </p:nvSpPr>
        <p:spPr bwMode="auto">
          <a:xfrm>
            <a:off x="9525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64" name="Line 83"/>
          <p:cNvSpPr>
            <a:spLocks noChangeShapeType="1"/>
          </p:cNvSpPr>
          <p:nvPr/>
        </p:nvSpPr>
        <p:spPr bwMode="auto">
          <a:xfrm flipH="1">
            <a:off x="9144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65" name="Line 84"/>
          <p:cNvSpPr>
            <a:spLocks noChangeShapeType="1"/>
          </p:cNvSpPr>
          <p:nvPr/>
        </p:nvSpPr>
        <p:spPr bwMode="auto">
          <a:xfrm>
            <a:off x="94488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66" name="Oval 85"/>
          <p:cNvSpPr>
            <a:spLocks noChangeArrowheads="1"/>
          </p:cNvSpPr>
          <p:nvPr/>
        </p:nvSpPr>
        <p:spPr bwMode="auto">
          <a:xfrm>
            <a:off x="6248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67" name="Oval 86"/>
          <p:cNvSpPr>
            <a:spLocks noChangeArrowheads="1"/>
          </p:cNvSpPr>
          <p:nvPr/>
        </p:nvSpPr>
        <p:spPr bwMode="auto">
          <a:xfrm>
            <a:off x="6705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68" name="Line 87"/>
          <p:cNvSpPr>
            <a:spLocks noChangeShapeType="1"/>
          </p:cNvSpPr>
          <p:nvPr/>
        </p:nvSpPr>
        <p:spPr bwMode="auto">
          <a:xfrm flipH="1">
            <a:off x="6324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69" name="Line 88"/>
          <p:cNvSpPr>
            <a:spLocks noChangeShapeType="1"/>
          </p:cNvSpPr>
          <p:nvPr/>
        </p:nvSpPr>
        <p:spPr bwMode="auto">
          <a:xfrm>
            <a:off x="6629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98" name="Rectangle 89"/>
          <p:cNvSpPr>
            <a:spLocks noChangeArrowheads="1"/>
          </p:cNvSpPr>
          <p:nvPr/>
        </p:nvSpPr>
        <p:spPr bwMode="auto">
          <a:xfrm>
            <a:off x="1487170" y="4724400"/>
            <a:ext cx="10241280" cy="4914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600" dirty="0">
                <a:latin typeface="+mn-lt"/>
              </a:rPr>
              <a:t>Then, backtrack and try the other branch at each node visited.</a:t>
            </a:r>
          </a:p>
        </p:txBody>
      </p:sp>
      <p:sp>
        <p:nvSpPr>
          <p:cNvPr id="111671" name="Oval 90"/>
          <p:cNvSpPr>
            <a:spLocks noChangeArrowheads="1"/>
          </p:cNvSpPr>
          <p:nvPr/>
        </p:nvSpPr>
        <p:spPr bwMode="auto">
          <a:xfrm>
            <a:off x="4191000" y="2438400"/>
            <a:ext cx="76200" cy="76200"/>
          </a:xfrm>
          <a:prstGeom prst="ellipse">
            <a:avLst/>
          </a:prstGeom>
          <a:solidFill>
            <a:srgbClr val="FF06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72" name="Rectangle 91"/>
          <p:cNvSpPr>
            <a:spLocks noChangeArrowheads="1"/>
          </p:cNvSpPr>
          <p:nvPr/>
        </p:nvSpPr>
        <p:spPr bwMode="auto">
          <a:xfrm>
            <a:off x="3886200" y="1600200"/>
            <a:ext cx="1600200" cy="7620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73" name="Rectangle 92"/>
          <p:cNvSpPr>
            <a:spLocks noChangeArrowheads="1"/>
          </p:cNvSpPr>
          <p:nvPr/>
        </p:nvSpPr>
        <p:spPr bwMode="auto">
          <a:xfrm>
            <a:off x="9067800" y="3657600"/>
            <a:ext cx="609600" cy="6096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74" name="Oval 93"/>
          <p:cNvSpPr>
            <a:spLocks noChangeArrowheads="1"/>
          </p:cNvSpPr>
          <p:nvPr/>
        </p:nvSpPr>
        <p:spPr bwMode="auto">
          <a:xfrm>
            <a:off x="3657600" y="1981200"/>
            <a:ext cx="1066800" cy="990600"/>
          </a:xfrm>
          <a:prstGeom prst="ellipse">
            <a:avLst/>
          </a:prstGeom>
          <a:noFill/>
          <a:ln w="19050">
            <a:solidFill>
              <a:srgbClr val="FF0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1675" name="AutoShape 94"/>
          <p:cNvSpPr>
            <a:spLocks noChangeArrowheads="1"/>
          </p:cNvSpPr>
          <p:nvPr/>
        </p:nvSpPr>
        <p:spPr bwMode="auto">
          <a:xfrm>
            <a:off x="5029200" y="2667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with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131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42" name="Group 3"/>
          <p:cNvGrpSpPr/>
          <p:nvPr/>
        </p:nvGrpSpPr>
        <p:grpSpPr bwMode="auto">
          <a:xfrm>
            <a:off x="2209800" y="1600200"/>
            <a:ext cx="3263900" cy="2916238"/>
            <a:chOff x="1344" y="1056"/>
            <a:chExt cx="1824" cy="1632"/>
          </a:xfrm>
        </p:grpSpPr>
        <p:sp>
          <p:nvSpPr>
            <p:cNvPr id="112701" name="AutoShape 4"/>
            <p:cNvSpPr>
              <a:spLocks noChangeArrowheads="1"/>
            </p:cNvSpPr>
            <p:nvPr/>
          </p:nvSpPr>
          <p:spPr bwMode="auto">
            <a:xfrm>
              <a:off x="1536" y="168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02" name="AutoShape 5"/>
            <p:cNvSpPr>
              <a:spLocks noChangeArrowheads="1"/>
            </p:cNvSpPr>
            <p:nvPr/>
          </p:nvSpPr>
          <p:spPr bwMode="auto">
            <a:xfrm>
              <a:off x="163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03" name="AutoShape 6"/>
            <p:cNvSpPr>
              <a:spLocks noChangeArrowheads="1"/>
            </p:cNvSpPr>
            <p:nvPr/>
          </p:nvSpPr>
          <p:spPr bwMode="auto">
            <a:xfrm>
              <a:off x="1488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04" name="AutoShape 7"/>
            <p:cNvSpPr>
              <a:spLocks noChangeArrowheads="1"/>
            </p:cNvSpPr>
            <p:nvPr/>
          </p:nvSpPr>
          <p:spPr bwMode="auto">
            <a:xfrm>
              <a:off x="240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05" name="AutoShape 8"/>
            <p:cNvSpPr>
              <a:spLocks noChangeArrowheads="1"/>
            </p:cNvSpPr>
            <p:nvPr/>
          </p:nvSpPr>
          <p:spPr bwMode="auto">
            <a:xfrm>
              <a:off x="139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06" name="AutoShape 9"/>
            <p:cNvSpPr>
              <a:spLocks noChangeArrowheads="1"/>
            </p:cNvSpPr>
            <p:nvPr/>
          </p:nvSpPr>
          <p:spPr bwMode="auto">
            <a:xfrm>
              <a:off x="2352" y="230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07" name="AutoShape 10"/>
            <p:cNvSpPr>
              <a:spLocks noChangeArrowheads="1"/>
            </p:cNvSpPr>
            <p:nvPr/>
          </p:nvSpPr>
          <p:spPr bwMode="auto">
            <a:xfrm>
              <a:off x="2304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08" name="AutoShape 11"/>
            <p:cNvSpPr>
              <a:spLocks noChangeArrowheads="1"/>
            </p:cNvSpPr>
            <p:nvPr/>
          </p:nvSpPr>
          <p:spPr bwMode="auto">
            <a:xfrm>
              <a:off x="2736" y="153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09" name="AutoShape 12"/>
            <p:cNvSpPr>
              <a:spLocks noChangeArrowheads="1"/>
            </p:cNvSpPr>
            <p:nvPr/>
          </p:nvSpPr>
          <p:spPr bwMode="auto">
            <a:xfrm>
              <a:off x="2496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10" name="AutoShape 13"/>
            <p:cNvSpPr>
              <a:spLocks noChangeArrowheads="1"/>
            </p:cNvSpPr>
            <p:nvPr/>
          </p:nvSpPr>
          <p:spPr bwMode="auto">
            <a:xfrm>
              <a:off x="220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11" name="AutoShape 14"/>
            <p:cNvSpPr>
              <a:spLocks noChangeArrowheads="1"/>
            </p:cNvSpPr>
            <p:nvPr/>
          </p:nvSpPr>
          <p:spPr bwMode="auto">
            <a:xfrm>
              <a:off x="230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12" name="AutoShape 15"/>
            <p:cNvSpPr>
              <a:spLocks noChangeArrowheads="1"/>
            </p:cNvSpPr>
            <p:nvPr/>
          </p:nvSpPr>
          <p:spPr bwMode="auto">
            <a:xfrm>
              <a:off x="2400" y="25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13" name="AutoShape 16"/>
            <p:cNvSpPr>
              <a:spLocks noChangeArrowheads="1"/>
            </p:cNvSpPr>
            <p:nvPr/>
          </p:nvSpPr>
          <p:spPr bwMode="auto">
            <a:xfrm>
              <a:off x="2400" y="24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14" name="AutoShape 17"/>
            <p:cNvSpPr>
              <a:spLocks noChangeArrowheads="1"/>
            </p:cNvSpPr>
            <p:nvPr/>
          </p:nvSpPr>
          <p:spPr bwMode="auto">
            <a:xfrm>
              <a:off x="2976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15" name="AutoShape 18"/>
            <p:cNvSpPr>
              <a:spLocks noChangeArrowheads="1"/>
            </p:cNvSpPr>
            <p:nvPr/>
          </p:nvSpPr>
          <p:spPr bwMode="auto">
            <a:xfrm>
              <a:off x="2064" y="172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16" name="AutoShape 19"/>
            <p:cNvSpPr>
              <a:spLocks noChangeArrowheads="1"/>
            </p:cNvSpPr>
            <p:nvPr/>
          </p:nvSpPr>
          <p:spPr bwMode="auto">
            <a:xfrm>
              <a:off x="2112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17" name="AutoShape 20"/>
            <p:cNvSpPr>
              <a:spLocks noChangeArrowheads="1"/>
            </p:cNvSpPr>
            <p:nvPr/>
          </p:nvSpPr>
          <p:spPr bwMode="auto">
            <a:xfrm>
              <a:off x="254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18" name="AutoShape 21"/>
            <p:cNvSpPr>
              <a:spLocks noChangeArrowheads="1"/>
            </p:cNvSpPr>
            <p:nvPr/>
          </p:nvSpPr>
          <p:spPr bwMode="auto">
            <a:xfrm>
              <a:off x="1680" y="249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19" name="AutoShape 22"/>
            <p:cNvSpPr>
              <a:spLocks noChangeArrowheads="1"/>
            </p:cNvSpPr>
            <p:nvPr/>
          </p:nvSpPr>
          <p:spPr bwMode="auto">
            <a:xfrm>
              <a:off x="1728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20" name="AutoShape 23"/>
            <p:cNvSpPr>
              <a:spLocks noChangeArrowheads="1"/>
            </p:cNvSpPr>
            <p:nvPr/>
          </p:nvSpPr>
          <p:spPr bwMode="auto">
            <a:xfrm>
              <a:off x="2496" y="13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21" name="AutoShape 24"/>
            <p:cNvSpPr>
              <a:spLocks noChangeArrowheads="1"/>
            </p:cNvSpPr>
            <p:nvPr/>
          </p:nvSpPr>
          <p:spPr bwMode="auto">
            <a:xfrm>
              <a:off x="2592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22" name="AutoShape 25"/>
            <p:cNvSpPr>
              <a:spLocks noChangeArrowheads="1"/>
            </p:cNvSpPr>
            <p:nvPr/>
          </p:nvSpPr>
          <p:spPr bwMode="auto">
            <a:xfrm>
              <a:off x="264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23" name="AutoShape 26"/>
            <p:cNvSpPr>
              <a:spLocks noChangeArrowheads="1"/>
            </p:cNvSpPr>
            <p:nvPr/>
          </p:nvSpPr>
          <p:spPr bwMode="auto">
            <a:xfrm>
              <a:off x="268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24" name="AutoShape 27"/>
            <p:cNvSpPr>
              <a:spLocks noChangeArrowheads="1"/>
            </p:cNvSpPr>
            <p:nvPr/>
          </p:nvSpPr>
          <p:spPr bwMode="auto">
            <a:xfrm>
              <a:off x="158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25" name="AutoShape 28"/>
            <p:cNvSpPr>
              <a:spLocks noChangeArrowheads="1"/>
            </p:cNvSpPr>
            <p:nvPr/>
          </p:nvSpPr>
          <p:spPr bwMode="auto">
            <a:xfrm>
              <a:off x="182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26" name="AutoShape 29"/>
            <p:cNvSpPr>
              <a:spLocks noChangeArrowheads="1"/>
            </p:cNvSpPr>
            <p:nvPr/>
          </p:nvSpPr>
          <p:spPr bwMode="auto">
            <a:xfrm>
              <a:off x="2160" y="163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27" name="AutoShape 30"/>
            <p:cNvSpPr>
              <a:spLocks noChangeArrowheads="1"/>
            </p:cNvSpPr>
            <p:nvPr/>
          </p:nvSpPr>
          <p:spPr bwMode="auto">
            <a:xfrm>
              <a:off x="2016" y="216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28" name="AutoShape 31"/>
            <p:cNvSpPr>
              <a:spLocks noChangeArrowheads="1"/>
            </p:cNvSpPr>
            <p:nvPr/>
          </p:nvSpPr>
          <p:spPr bwMode="auto">
            <a:xfrm>
              <a:off x="1680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29" name="AutoShape 32"/>
            <p:cNvSpPr>
              <a:spLocks noChangeArrowheads="1"/>
            </p:cNvSpPr>
            <p:nvPr/>
          </p:nvSpPr>
          <p:spPr bwMode="auto">
            <a:xfrm>
              <a:off x="158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30" name="AutoShape 33"/>
            <p:cNvSpPr>
              <a:spLocks noChangeArrowheads="1"/>
            </p:cNvSpPr>
            <p:nvPr/>
          </p:nvSpPr>
          <p:spPr bwMode="auto">
            <a:xfrm>
              <a:off x="1488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31" name="AutoShape 34"/>
            <p:cNvSpPr>
              <a:spLocks noChangeArrowheads="1"/>
            </p:cNvSpPr>
            <p:nvPr/>
          </p:nvSpPr>
          <p:spPr bwMode="auto">
            <a:xfrm>
              <a:off x="206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32" name="AutoShape 35"/>
            <p:cNvSpPr>
              <a:spLocks noChangeArrowheads="1"/>
            </p:cNvSpPr>
            <p:nvPr/>
          </p:nvSpPr>
          <p:spPr bwMode="auto">
            <a:xfrm>
              <a:off x="2976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33" name="AutoShape 36"/>
            <p:cNvSpPr>
              <a:spLocks noChangeArrowheads="1"/>
            </p:cNvSpPr>
            <p:nvPr/>
          </p:nvSpPr>
          <p:spPr bwMode="auto">
            <a:xfrm>
              <a:off x="302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2734" name="Rectangle 37"/>
            <p:cNvSpPr>
              <a:spLocks noChangeArrowheads="1"/>
            </p:cNvSpPr>
            <p:nvPr/>
          </p:nvSpPr>
          <p:spPr bwMode="auto">
            <a:xfrm>
              <a:off x="1344" y="1056"/>
              <a:ext cx="1824" cy="1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12643" name="Line 38"/>
          <p:cNvSpPr>
            <a:spLocks noChangeShapeType="1"/>
          </p:cNvSpPr>
          <p:nvPr/>
        </p:nvSpPr>
        <p:spPr bwMode="auto">
          <a:xfrm>
            <a:off x="3886200" y="16002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4" name="Line 39"/>
          <p:cNvSpPr>
            <a:spLocks noChangeShapeType="1"/>
          </p:cNvSpPr>
          <p:nvPr/>
        </p:nvSpPr>
        <p:spPr bwMode="auto">
          <a:xfrm>
            <a:off x="38862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5" name="Line 40"/>
          <p:cNvSpPr>
            <a:spLocks noChangeShapeType="1"/>
          </p:cNvSpPr>
          <p:nvPr/>
        </p:nvSpPr>
        <p:spPr bwMode="auto">
          <a:xfrm>
            <a:off x="4724400" y="2971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6" name="Line 41"/>
          <p:cNvSpPr>
            <a:spLocks noChangeShapeType="1"/>
          </p:cNvSpPr>
          <p:nvPr/>
        </p:nvSpPr>
        <p:spPr bwMode="auto">
          <a:xfrm>
            <a:off x="3886200" y="3962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7" name="Line 42"/>
          <p:cNvSpPr>
            <a:spLocks noChangeShapeType="1"/>
          </p:cNvSpPr>
          <p:nvPr/>
        </p:nvSpPr>
        <p:spPr bwMode="auto">
          <a:xfrm>
            <a:off x="2209800" y="32766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8" name="Line 43"/>
          <p:cNvSpPr>
            <a:spLocks noChangeShapeType="1"/>
          </p:cNvSpPr>
          <p:nvPr/>
        </p:nvSpPr>
        <p:spPr bwMode="auto">
          <a:xfrm flipV="1">
            <a:off x="3124200" y="1600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9" name="Line 44"/>
          <p:cNvSpPr>
            <a:spLocks noChangeShapeType="1"/>
          </p:cNvSpPr>
          <p:nvPr/>
        </p:nvSpPr>
        <p:spPr bwMode="auto">
          <a:xfrm>
            <a:off x="3886200" y="2362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50" name="Line 45"/>
          <p:cNvSpPr>
            <a:spLocks noChangeShapeType="1"/>
          </p:cNvSpPr>
          <p:nvPr/>
        </p:nvSpPr>
        <p:spPr bwMode="auto">
          <a:xfrm>
            <a:off x="4495800" y="1600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51" name="Line 46"/>
          <p:cNvSpPr>
            <a:spLocks noChangeShapeType="1"/>
          </p:cNvSpPr>
          <p:nvPr/>
        </p:nvSpPr>
        <p:spPr bwMode="auto">
          <a:xfrm>
            <a:off x="2971800" y="32766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52" name="Line 47"/>
          <p:cNvSpPr>
            <a:spLocks noChangeShapeType="1"/>
          </p:cNvSpPr>
          <p:nvPr/>
        </p:nvSpPr>
        <p:spPr bwMode="auto">
          <a:xfrm>
            <a:off x="2209800" y="2743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53" name="Oval 48"/>
          <p:cNvSpPr>
            <a:spLocks noChangeArrowheads="1"/>
          </p:cNvSpPr>
          <p:nvPr/>
        </p:nvSpPr>
        <p:spPr bwMode="auto">
          <a:xfrm>
            <a:off x="64770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54" name="Oval 49"/>
          <p:cNvSpPr>
            <a:spLocks noChangeArrowheads="1"/>
          </p:cNvSpPr>
          <p:nvPr/>
        </p:nvSpPr>
        <p:spPr bwMode="auto">
          <a:xfrm>
            <a:off x="73152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55" name="Oval 50"/>
          <p:cNvSpPr>
            <a:spLocks noChangeArrowheads="1"/>
          </p:cNvSpPr>
          <p:nvPr/>
        </p:nvSpPr>
        <p:spPr bwMode="auto">
          <a:xfrm>
            <a:off x="7086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56" name="Oval 51"/>
          <p:cNvSpPr>
            <a:spLocks noChangeArrowheads="1"/>
          </p:cNvSpPr>
          <p:nvPr/>
        </p:nvSpPr>
        <p:spPr bwMode="auto">
          <a:xfrm>
            <a:off x="7543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57" name="Line 52"/>
          <p:cNvSpPr>
            <a:spLocks noChangeShapeType="1"/>
          </p:cNvSpPr>
          <p:nvPr/>
        </p:nvSpPr>
        <p:spPr bwMode="auto">
          <a:xfrm flipH="1">
            <a:off x="7162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58" name="Line 53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59" name="Oval 54"/>
          <p:cNvSpPr>
            <a:spLocks noChangeArrowheads="1"/>
          </p:cNvSpPr>
          <p:nvPr/>
        </p:nvSpPr>
        <p:spPr bwMode="auto">
          <a:xfrm>
            <a:off x="81534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60" name="Oval 55"/>
          <p:cNvSpPr>
            <a:spLocks noChangeArrowheads="1"/>
          </p:cNvSpPr>
          <p:nvPr/>
        </p:nvSpPr>
        <p:spPr bwMode="auto">
          <a:xfrm>
            <a:off x="88392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61" name="Oval 56"/>
          <p:cNvSpPr>
            <a:spLocks noChangeArrowheads="1"/>
          </p:cNvSpPr>
          <p:nvPr/>
        </p:nvSpPr>
        <p:spPr bwMode="auto">
          <a:xfrm>
            <a:off x="9296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62" name="Line 57"/>
          <p:cNvSpPr>
            <a:spLocks noChangeShapeType="1"/>
          </p:cNvSpPr>
          <p:nvPr/>
        </p:nvSpPr>
        <p:spPr bwMode="auto">
          <a:xfrm flipH="1">
            <a:off x="8915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63" name="Line 58"/>
          <p:cNvSpPr>
            <a:spLocks noChangeShapeType="1"/>
          </p:cNvSpPr>
          <p:nvPr/>
        </p:nvSpPr>
        <p:spPr bwMode="auto">
          <a:xfrm>
            <a:off x="92202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64" name="Oval 59"/>
          <p:cNvSpPr>
            <a:spLocks noChangeArrowheads="1"/>
          </p:cNvSpPr>
          <p:nvPr/>
        </p:nvSpPr>
        <p:spPr bwMode="auto">
          <a:xfrm>
            <a:off x="90678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65" name="Oval 60"/>
          <p:cNvSpPr>
            <a:spLocks noChangeArrowheads="1"/>
          </p:cNvSpPr>
          <p:nvPr/>
        </p:nvSpPr>
        <p:spPr bwMode="auto">
          <a:xfrm>
            <a:off x="69342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66" name="Line 61"/>
          <p:cNvSpPr>
            <a:spLocks noChangeShapeType="1"/>
          </p:cNvSpPr>
          <p:nvPr/>
        </p:nvSpPr>
        <p:spPr bwMode="auto">
          <a:xfrm flipH="1">
            <a:off x="6553200" y="30480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67" name="Line 62"/>
          <p:cNvSpPr>
            <a:spLocks noChangeShapeType="1"/>
          </p:cNvSpPr>
          <p:nvPr/>
        </p:nvSpPr>
        <p:spPr bwMode="auto">
          <a:xfrm>
            <a:off x="70866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68" name="Oval 63"/>
          <p:cNvSpPr>
            <a:spLocks noChangeArrowheads="1"/>
          </p:cNvSpPr>
          <p:nvPr/>
        </p:nvSpPr>
        <p:spPr bwMode="auto">
          <a:xfrm>
            <a:off x="86106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69" name="Line 64"/>
          <p:cNvSpPr>
            <a:spLocks noChangeShapeType="1"/>
          </p:cNvSpPr>
          <p:nvPr/>
        </p:nvSpPr>
        <p:spPr bwMode="auto">
          <a:xfrm flipH="1">
            <a:off x="83058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70" name="Line 65"/>
          <p:cNvSpPr>
            <a:spLocks noChangeShapeType="1"/>
          </p:cNvSpPr>
          <p:nvPr/>
        </p:nvSpPr>
        <p:spPr bwMode="auto">
          <a:xfrm>
            <a:off x="87630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71" name="Oval 66"/>
          <p:cNvSpPr>
            <a:spLocks noChangeArrowheads="1"/>
          </p:cNvSpPr>
          <p:nvPr/>
        </p:nvSpPr>
        <p:spPr bwMode="auto">
          <a:xfrm>
            <a:off x="7772400" y="2133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72" name="Line 67"/>
          <p:cNvSpPr>
            <a:spLocks noChangeShapeType="1"/>
          </p:cNvSpPr>
          <p:nvPr/>
        </p:nvSpPr>
        <p:spPr bwMode="auto">
          <a:xfrm flipH="1">
            <a:off x="70866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73" name="Line 68"/>
          <p:cNvSpPr>
            <a:spLocks noChangeShapeType="1"/>
          </p:cNvSpPr>
          <p:nvPr/>
        </p:nvSpPr>
        <p:spPr bwMode="auto">
          <a:xfrm>
            <a:off x="79248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74" name="Oval 69"/>
          <p:cNvSpPr>
            <a:spLocks noChangeArrowheads="1"/>
          </p:cNvSpPr>
          <p:nvPr/>
        </p:nvSpPr>
        <p:spPr bwMode="auto">
          <a:xfrm>
            <a:off x="6858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75" name="Oval 70"/>
          <p:cNvSpPr>
            <a:spLocks noChangeArrowheads="1"/>
          </p:cNvSpPr>
          <p:nvPr/>
        </p:nvSpPr>
        <p:spPr bwMode="auto">
          <a:xfrm>
            <a:off x="7315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76" name="Line 71"/>
          <p:cNvSpPr>
            <a:spLocks noChangeShapeType="1"/>
          </p:cNvSpPr>
          <p:nvPr/>
        </p:nvSpPr>
        <p:spPr bwMode="auto">
          <a:xfrm flipH="1">
            <a:off x="6934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77" name="Line 72"/>
          <p:cNvSpPr>
            <a:spLocks noChangeShapeType="1"/>
          </p:cNvSpPr>
          <p:nvPr/>
        </p:nvSpPr>
        <p:spPr bwMode="auto">
          <a:xfrm>
            <a:off x="7239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78" name="Oval 73"/>
          <p:cNvSpPr>
            <a:spLocks noChangeArrowheads="1"/>
          </p:cNvSpPr>
          <p:nvPr/>
        </p:nvSpPr>
        <p:spPr bwMode="auto">
          <a:xfrm>
            <a:off x="7924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79" name="Oval 74"/>
          <p:cNvSpPr>
            <a:spLocks noChangeArrowheads="1"/>
          </p:cNvSpPr>
          <p:nvPr/>
        </p:nvSpPr>
        <p:spPr bwMode="auto">
          <a:xfrm>
            <a:off x="83820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80" name="Line 75"/>
          <p:cNvSpPr>
            <a:spLocks noChangeShapeType="1"/>
          </p:cNvSpPr>
          <p:nvPr/>
        </p:nvSpPr>
        <p:spPr bwMode="auto">
          <a:xfrm flipH="1">
            <a:off x="80010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81" name="Line 76"/>
          <p:cNvSpPr>
            <a:spLocks noChangeShapeType="1"/>
          </p:cNvSpPr>
          <p:nvPr/>
        </p:nvSpPr>
        <p:spPr bwMode="auto">
          <a:xfrm>
            <a:off x="8305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82" name="Oval 77"/>
          <p:cNvSpPr>
            <a:spLocks noChangeArrowheads="1"/>
          </p:cNvSpPr>
          <p:nvPr/>
        </p:nvSpPr>
        <p:spPr bwMode="auto">
          <a:xfrm>
            <a:off x="7696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83" name="Oval 78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84" name="Line 79"/>
          <p:cNvSpPr>
            <a:spLocks noChangeShapeType="1"/>
          </p:cNvSpPr>
          <p:nvPr/>
        </p:nvSpPr>
        <p:spPr bwMode="auto">
          <a:xfrm flipH="1">
            <a:off x="77724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85" name="Line 80"/>
          <p:cNvSpPr>
            <a:spLocks noChangeShapeType="1"/>
          </p:cNvSpPr>
          <p:nvPr/>
        </p:nvSpPr>
        <p:spPr bwMode="auto">
          <a:xfrm>
            <a:off x="8077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86" name="Oval 81"/>
          <p:cNvSpPr>
            <a:spLocks noChangeArrowheads="1"/>
          </p:cNvSpPr>
          <p:nvPr/>
        </p:nvSpPr>
        <p:spPr bwMode="auto">
          <a:xfrm>
            <a:off x="90678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87" name="Oval 82"/>
          <p:cNvSpPr>
            <a:spLocks noChangeArrowheads="1"/>
          </p:cNvSpPr>
          <p:nvPr/>
        </p:nvSpPr>
        <p:spPr bwMode="auto">
          <a:xfrm>
            <a:off x="9525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88" name="Line 83"/>
          <p:cNvSpPr>
            <a:spLocks noChangeShapeType="1"/>
          </p:cNvSpPr>
          <p:nvPr/>
        </p:nvSpPr>
        <p:spPr bwMode="auto">
          <a:xfrm flipH="1">
            <a:off x="9144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89" name="Line 84"/>
          <p:cNvSpPr>
            <a:spLocks noChangeShapeType="1"/>
          </p:cNvSpPr>
          <p:nvPr/>
        </p:nvSpPr>
        <p:spPr bwMode="auto">
          <a:xfrm>
            <a:off x="94488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90" name="Oval 85"/>
          <p:cNvSpPr>
            <a:spLocks noChangeArrowheads="1"/>
          </p:cNvSpPr>
          <p:nvPr/>
        </p:nvSpPr>
        <p:spPr bwMode="auto">
          <a:xfrm>
            <a:off x="6248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91" name="Oval 86"/>
          <p:cNvSpPr>
            <a:spLocks noChangeArrowheads="1"/>
          </p:cNvSpPr>
          <p:nvPr/>
        </p:nvSpPr>
        <p:spPr bwMode="auto">
          <a:xfrm>
            <a:off x="6705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92" name="Line 87"/>
          <p:cNvSpPr>
            <a:spLocks noChangeShapeType="1"/>
          </p:cNvSpPr>
          <p:nvPr/>
        </p:nvSpPr>
        <p:spPr bwMode="auto">
          <a:xfrm flipH="1">
            <a:off x="6324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93" name="Line 88"/>
          <p:cNvSpPr>
            <a:spLocks noChangeShapeType="1"/>
          </p:cNvSpPr>
          <p:nvPr/>
        </p:nvSpPr>
        <p:spPr bwMode="auto">
          <a:xfrm>
            <a:off x="6629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22" name="Rectangle 89"/>
          <p:cNvSpPr>
            <a:spLocks noChangeArrowheads="1"/>
          </p:cNvSpPr>
          <p:nvPr/>
        </p:nvSpPr>
        <p:spPr bwMode="auto">
          <a:xfrm>
            <a:off x="1036320" y="4724400"/>
            <a:ext cx="10330815" cy="4914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600" dirty="0">
                <a:latin typeface="+mn-lt"/>
              </a:rPr>
              <a:t>Each time a new closest node is found, we can update the distance bounds.</a:t>
            </a:r>
          </a:p>
        </p:txBody>
      </p:sp>
      <p:sp>
        <p:nvSpPr>
          <p:cNvPr id="112695" name="Oval 90"/>
          <p:cNvSpPr>
            <a:spLocks noChangeArrowheads="1"/>
          </p:cNvSpPr>
          <p:nvPr/>
        </p:nvSpPr>
        <p:spPr bwMode="auto">
          <a:xfrm>
            <a:off x="4191000" y="2438400"/>
            <a:ext cx="76200" cy="76200"/>
          </a:xfrm>
          <a:prstGeom prst="ellipse">
            <a:avLst/>
          </a:prstGeom>
          <a:solidFill>
            <a:srgbClr val="FF06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96" name="Rectangle 91"/>
          <p:cNvSpPr>
            <a:spLocks noChangeArrowheads="1"/>
          </p:cNvSpPr>
          <p:nvPr/>
        </p:nvSpPr>
        <p:spPr bwMode="auto">
          <a:xfrm>
            <a:off x="3886200" y="1600200"/>
            <a:ext cx="609600" cy="7620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97" name="Rectangle 92"/>
          <p:cNvSpPr>
            <a:spLocks noChangeArrowheads="1"/>
          </p:cNvSpPr>
          <p:nvPr/>
        </p:nvSpPr>
        <p:spPr bwMode="auto">
          <a:xfrm>
            <a:off x="8991600" y="3962400"/>
            <a:ext cx="304800" cy="304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698" name="AutoShape 94"/>
          <p:cNvSpPr>
            <a:spLocks noChangeArrowheads="1"/>
          </p:cNvSpPr>
          <p:nvPr/>
        </p:nvSpPr>
        <p:spPr bwMode="auto">
          <a:xfrm>
            <a:off x="5029200" y="2667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2700" name="Oval 93"/>
          <p:cNvSpPr>
            <a:spLocks noChangeArrowheads="1"/>
          </p:cNvSpPr>
          <p:nvPr/>
        </p:nvSpPr>
        <p:spPr bwMode="auto">
          <a:xfrm>
            <a:off x="3657600" y="1981200"/>
            <a:ext cx="1066800" cy="990600"/>
          </a:xfrm>
          <a:prstGeom prst="ellipse">
            <a:avLst/>
          </a:prstGeom>
          <a:noFill/>
          <a:ln w="19050">
            <a:solidFill>
              <a:srgbClr val="FF0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with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132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66" name="Group 3"/>
          <p:cNvGrpSpPr/>
          <p:nvPr/>
        </p:nvGrpSpPr>
        <p:grpSpPr bwMode="auto">
          <a:xfrm>
            <a:off x="2209800" y="1600200"/>
            <a:ext cx="3263900" cy="2916238"/>
            <a:chOff x="1344" y="1056"/>
            <a:chExt cx="1824" cy="1632"/>
          </a:xfrm>
        </p:grpSpPr>
        <p:sp>
          <p:nvSpPr>
            <p:cNvPr id="113729" name="AutoShape 4"/>
            <p:cNvSpPr>
              <a:spLocks noChangeArrowheads="1"/>
            </p:cNvSpPr>
            <p:nvPr/>
          </p:nvSpPr>
          <p:spPr bwMode="auto">
            <a:xfrm>
              <a:off x="1536" y="168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30" name="AutoShape 5"/>
            <p:cNvSpPr>
              <a:spLocks noChangeArrowheads="1"/>
            </p:cNvSpPr>
            <p:nvPr/>
          </p:nvSpPr>
          <p:spPr bwMode="auto">
            <a:xfrm>
              <a:off x="163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31" name="AutoShape 6"/>
            <p:cNvSpPr>
              <a:spLocks noChangeArrowheads="1"/>
            </p:cNvSpPr>
            <p:nvPr/>
          </p:nvSpPr>
          <p:spPr bwMode="auto">
            <a:xfrm>
              <a:off x="1488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32" name="AutoShape 7"/>
            <p:cNvSpPr>
              <a:spLocks noChangeArrowheads="1"/>
            </p:cNvSpPr>
            <p:nvPr/>
          </p:nvSpPr>
          <p:spPr bwMode="auto">
            <a:xfrm>
              <a:off x="240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33" name="AutoShape 8"/>
            <p:cNvSpPr>
              <a:spLocks noChangeArrowheads="1"/>
            </p:cNvSpPr>
            <p:nvPr/>
          </p:nvSpPr>
          <p:spPr bwMode="auto">
            <a:xfrm>
              <a:off x="139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34" name="AutoShape 9"/>
            <p:cNvSpPr>
              <a:spLocks noChangeArrowheads="1"/>
            </p:cNvSpPr>
            <p:nvPr/>
          </p:nvSpPr>
          <p:spPr bwMode="auto">
            <a:xfrm>
              <a:off x="2352" y="230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35" name="AutoShape 10"/>
            <p:cNvSpPr>
              <a:spLocks noChangeArrowheads="1"/>
            </p:cNvSpPr>
            <p:nvPr/>
          </p:nvSpPr>
          <p:spPr bwMode="auto">
            <a:xfrm>
              <a:off x="2304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36" name="AutoShape 11"/>
            <p:cNvSpPr>
              <a:spLocks noChangeArrowheads="1"/>
            </p:cNvSpPr>
            <p:nvPr/>
          </p:nvSpPr>
          <p:spPr bwMode="auto">
            <a:xfrm>
              <a:off x="2736" y="153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37" name="AutoShape 12"/>
            <p:cNvSpPr>
              <a:spLocks noChangeArrowheads="1"/>
            </p:cNvSpPr>
            <p:nvPr/>
          </p:nvSpPr>
          <p:spPr bwMode="auto">
            <a:xfrm>
              <a:off x="2496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38" name="AutoShape 13"/>
            <p:cNvSpPr>
              <a:spLocks noChangeArrowheads="1"/>
            </p:cNvSpPr>
            <p:nvPr/>
          </p:nvSpPr>
          <p:spPr bwMode="auto">
            <a:xfrm>
              <a:off x="220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39" name="AutoShape 14"/>
            <p:cNvSpPr>
              <a:spLocks noChangeArrowheads="1"/>
            </p:cNvSpPr>
            <p:nvPr/>
          </p:nvSpPr>
          <p:spPr bwMode="auto">
            <a:xfrm>
              <a:off x="230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40" name="AutoShape 15"/>
            <p:cNvSpPr>
              <a:spLocks noChangeArrowheads="1"/>
            </p:cNvSpPr>
            <p:nvPr/>
          </p:nvSpPr>
          <p:spPr bwMode="auto">
            <a:xfrm>
              <a:off x="2400" y="25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41" name="AutoShape 16"/>
            <p:cNvSpPr>
              <a:spLocks noChangeArrowheads="1"/>
            </p:cNvSpPr>
            <p:nvPr/>
          </p:nvSpPr>
          <p:spPr bwMode="auto">
            <a:xfrm>
              <a:off x="2400" y="24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42" name="AutoShape 17"/>
            <p:cNvSpPr>
              <a:spLocks noChangeArrowheads="1"/>
            </p:cNvSpPr>
            <p:nvPr/>
          </p:nvSpPr>
          <p:spPr bwMode="auto">
            <a:xfrm>
              <a:off x="2976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43" name="AutoShape 18"/>
            <p:cNvSpPr>
              <a:spLocks noChangeArrowheads="1"/>
            </p:cNvSpPr>
            <p:nvPr/>
          </p:nvSpPr>
          <p:spPr bwMode="auto">
            <a:xfrm>
              <a:off x="2064" y="172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44" name="AutoShape 19"/>
            <p:cNvSpPr>
              <a:spLocks noChangeArrowheads="1"/>
            </p:cNvSpPr>
            <p:nvPr/>
          </p:nvSpPr>
          <p:spPr bwMode="auto">
            <a:xfrm>
              <a:off x="2112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45" name="AutoShape 20"/>
            <p:cNvSpPr>
              <a:spLocks noChangeArrowheads="1"/>
            </p:cNvSpPr>
            <p:nvPr/>
          </p:nvSpPr>
          <p:spPr bwMode="auto">
            <a:xfrm>
              <a:off x="254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46" name="AutoShape 21"/>
            <p:cNvSpPr>
              <a:spLocks noChangeArrowheads="1"/>
            </p:cNvSpPr>
            <p:nvPr/>
          </p:nvSpPr>
          <p:spPr bwMode="auto">
            <a:xfrm>
              <a:off x="1680" y="249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47" name="AutoShape 22"/>
            <p:cNvSpPr>
              <a:spLocks noChangeArrowheads="1"/>
            </p:cNvSpPr>
            <p:nvPr/>
          </p:nvSpPr>
          <p:spPr bwMode="auto">
            <a:xfrm>
              <a:off x="1728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48" name="AutoShape 23"/>
            <p:cNvSpPr>
              <a:spLocks noChangeArrowheads="1"/>
            </p:cNvSpPr>
            <p:nvPr/>
          </p:nvSpPr>
          <p:spPr bwMode="auto">
            <a:xfrm>
              <a:off x="2496" y="13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49" name="AutoShape 24"/>
            <p:cNvSpPr>
              <a:spLocks noChangeArrowheads="1"/>
            </p:cNvSpPr>
            <p:nvPr/>
          </p:nvSpPr>
          <p:spPr bwMode="auto">
            <a:xfrm>
              <a:off x="2592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50" name="AutoShape 25"/>
            <p:cNvSpPr>
              <a:spLocks noChangeArrowheads="1"/>
            </p:cNvSpPr>
            <p:nvPr/>
          </p:nvSpPr>
          <p:spPr bwMode="auto">
            <a:xfrm>
              <a:off x="264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51" name="AutoShape 26"/>
            <p:cNvSpPr>
              <a:spLocks noChangeArrowheads="1"/>
            </p:cNvSpPr>
            <p:nvPr/>
          </p:nvSpPr>
          <p:spPr bwMode="auto">
            <a:xfrm>
              <a:off x="268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52" name="AutoShape 27"/>
            <p:cNvSpPr>
              <a:spLocks noChangeArrowheads="1"/>
            </p:cNvSpPr>
            <p:nvPr/>
          </p:nvSpPr>
          <p:spPr bwMode="auto">
            <a:xfrm>
              <a:off x="158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53" name="AutoShape 28"/>
            <p:cNvSpPr>
              <a:spLocks noChangeArrowheads="1"/>
            </p:cNvSpPr>
            <p:nvPr/>
          </p:nvSpPr>
          <p:spPr bwMode="auto">
            <a:xfrm>
              <a:off x="182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54" name="AutoShape 29"/>
            <p:cNvSpPr>
              <a:spLocks noChangeArrowheads="1"/>
            </p:cNvSpPr>
            <p:nvPr/>
          </p:nvSpPr>
          <p:spPr bwMode="auto">
            <a:xfrm>
              <a:off x="2160" y="163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55" name="AutoShape 30"/>
            <p:cNvSpPr>
              <a:spLocks noChangeArrowheads="1"/>
            </p:cNvSpPr>
            <p:nvPr/>
          </p:nvSpPr>
          <p:spPr bwMode="auto">
            <a:xfrm>
              <a:off x="2016" y="216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56" name="AutoShape 31"/>
            <p:cNvSpPr>
              <a:spLocks noChangeArrowheads="1"/>
            </p:cNvSpPr>
            <p:nvPr/>
          </p:nvSpPr>
          <p:spPr bwMode="auto">
            <a:xfrm>
              <a:off x="1680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57" name="AutoShape 32"/>
            <p:cNvSpPr>
              <a:spLocks noChangeArrowheads="1"/>
            </p:cNvSpPr>
            <p:nvPr/>
          </p:nvSpPr>
          <p:spPr bwMode="auto">
            <a:xfrm>
              <a:off x="158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58" name="AutoShape 33"/>
            <p:cNvSpPr>
              <a:spLocks noChangeArrowheads="1"/>
            </p:cNvSpPr>
            <p:nvPr/>
          </p:nvSpPr>
          <p:spPr bwMode="auto">
            <a:xfrm>
              <a:off x="1488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59" name="AutoShape 34"/>
            <p:cNvSpPr>
              <a:spLocks noChangeArrowheads="1"/>
            </p:cNvSpPr>
            <p:nvPr/>
          </p:nvSpPr>
          <p:spPr bwMode="auto">
            <a:xfrm>
              <a:off x="206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60" name="AutoShape 35"/>
            <p:cNvSpPr>
              <a:spLocks noChangeArrowheads="1"/>
            </p:cNvSpPr>
            <p:nvPr/>
          </p:nvSpPr>
          <p:spPr bwMode="auto">
            <a:xfrm>
              <a:off x="2976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61" name="AutoShape 36"/>
            <p:cNvSpPr>
              <a:spLocks noChangeArrowheads="1"/>
            </p:cNvSpPr>
            <p:nvPr/>
          </p:nvSpPr>
          <p:spPr bwMode="auto">
            <a:xfrm>
              <a:off x="302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3762" name="Rectangle 37"/>
            <p:cNvSpPr>
              <a:spLocks noChangeArrowheads="1"/>
            </p:cNvSpPr>
            <p:nvPr/>
          </p:nvSpPr>
          <p:spPr bwMode="auto">
            <a:xfrm>
              <a:off x="1344" y="1056"/>
              <a:ext cx="1824" cy="1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13667" name="Line 38"/>
          <p:cNvSpPr>
            <a:spLocks noChangeShapeType="1"/>
          </p:cNvSpPr>
          <p:nvPr/>
        </p:nvSpPr>
        <p:spPr bwMode="auto">
          <a:xfrm>
            <a:off x="3886200" y="16002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68" name="Line 39"/>
          <p:cNvSpPr>
            <a:spLocks noChangeShapeType="1"/>
          </p:cNvSpPr>
          <p:nvPr/>
        </p:nvSpPr>
        <p:spPr bwMode="auto">
          <a:xfrm>
            <a:off x="38862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69" name="Line 40"/>
          <p:cNvSpPr>
            <a:spLocks noChangeShapeType="1"/>
          </p:cNvSpPr>
          <p:nvPr/>
        </p:nvSpPr>
        <p:spPr bwMode="auto">
          <a:xfrm>
            <a:off x="4724400" y="2971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0" name="Line 41"/>
          <p:cNvSpPr>
            <a:spLocks noChangeShapeType="1"/>
          </p:cNvSpPr>
          <p:nvPr/>
        </p:nvSpPr>
        <p:spPr bwMode="auto">
          <a:xfrm>
            <a:off x="3886200" y="3962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1" name="Line 42"/>
          <p:cNvSpPr>
            <a:spLocks noChangeShapeType="1"/>
          </p:cNvSpPr>
          <p:nvPr/>
        </p:nvSpPr>
        <p:spPr bwMode="auto">
          <a:xfrm>
            <a:off x="2209800" y="32766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2" name="Line 43"/>
          <p:cNvSpPr>
            <a:spLocks noChangeShapeType="1"/>
          </p:cNvSpPr>
          <p:nvPr/>
        </p:nvSpPr>
        <p:spPr bwMode="auto">
          <a:xfrm flipV="1">
            <a:off x="3124200" y="1600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3" name="Line 44"/>
          <p:cNvSpPr>
            <a:spLocks noChangeShapeType="1"/>
          </p:cNvSpPr>
          <p:nvPr/>
        </p:nvSpPr>
        <p:spPr bwMode="auto">
          <a:xfrm>
            <a:off x="3886200" y="2362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4" name="Line 45"/>
          <p:cNvSpPr>
            <a:spLocks noChangeShapeType="1"/>
          </p:cNvSpPr>
          <p:nvPr/>
        </p:nvSpPr>
        <p:spPr bwMode="auto">
          <a:xfrm>
            <a:off x="4495800" y="1600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5" name="Line 46"/>
          <p:cNvSpPr>
            <a:spLocks noChangeShapeType="1"/>
          </p:cNvSpPr>
          <p:nvPr/>
        </p:nvSpPr>
        <p:spPr bwMode="auto">
          <a:xfrm>
            <a:off x="2971800" y="32766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6" name="Line 47"/>
          <p:cNvSpPr>
            <a:spLocks noChangeShapeType="1"/>
          </p:cNvSpPr>
          <p:nvPr/>
        </p:nvSpPr>
        <p:spPr bwMode="auto">
          <a:xfrm>
            <a:off x="2209800" y="2743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7" name="Oval 48"/>
          <p:cNvSpPr>
            <a:spLocks noChangeArrowheads="1"/>
          </p:cNvSpPr>
          <p:nvPr/>
        </p:nvSpPr>
        <p:spPr bwMode="auto">
          <a:xfrm>
            <a:off x="64770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678" name="Oval 49"/>
          <p:cNvSpPr>
            <a:spLocks noChangeArrowheads="1"/>
          </p:cNvSpPr>
          <p:nvPr/>
        </p:nvSpPr>
        <p:spPr bwMode="auto">
          <a:xfrm>
            <a:off x="73152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679" name="Oval 50"/>
          <p:cNvSpPr>
            <a:spLocks noChangeArrowheads="1"/>
          </p:cNvSpPr>
          <p:nvPr/>
        </p:nvSpPr>
        <p:spPr bwMode="auto">
          <a:xfrm>
            <a:off x="7086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680" name="Oval 51"/>
          <p:cNvSpPr>
            <a:spLocks noChangeArrowheads="1"/>
          </p:cNvSpPr>
          <p:nvPr/>
        </p:nvSpPr>
        <p:spPr bwMode="auto">
          <a:xfrm>
            <a:off x="7543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681" name="Line 52"/>
          <p:cNvSpPr>
            <a:spLocks noChangeShapeType="1"/>
          </p:cNvSpPr>
          <p:nvPr/>
        </p:nvSpPr>
        <p:spPr bwMode="auto">
          <a:xfrm flipH="1">
            <a:off x="7162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2" name="Line 53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3" name="Oval 54"/>
          <p:cNvSpPr>
            <a:spLocks noChangeArrowheads="1"/>
          </p:cNvSpPr>
          <p:nvPr/>
        </p:nvSpPr>
        <p:spPr bwMode="auto">
          <a:xfrm>
            <a:off x="81534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684" name="Oval 55"/>
          <p:cNvSpPr>
            <a:spLocks noChangeArrowheads="1"/>
          </p:cNvSpPr>
          <p:nvPr/>
        </p:nvSpPr>
        <p:spPr bwMode="auto">
          <a:xfrm>
            <a:off x="88392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685" name="Oval 56"/>
          <p:cNvSpPr>
            <a:spLocks noChangeArrowheads="1"/>
          </p:cNvSpPr>
          <p:nvPr/>
        </p:nvSpPr>
        <p:spPr bwMode="auto">
          <a:xfrm>
            <a:off x="9296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686" name="Line 57"/>
          <p:cNvSpPr>
            <a:spLocks noChangeShapeType="1"/>
          </p:cNvSpPr>
          <p:nvPr/>
        </p:nvSpPr>
        <p:spPr bwMode="auto">
          <a:xfrm flipH="1">
            <a:off x="8915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7" name="Line 58"/>
          <p:cNvSpPr>
            <a:spLocks noChangeShapeType="1"/>
          </p:cNvSpPr>
          <p:nvPr/>
        </p:nvSpPr>
        <p:spPr bwMode="auto">
          <a:xfrm>
            <a:off x="92202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8" name="Oval 59"/>
          <p:cNvSpPr>
            <a:spLocks noChangeArrowheads="1"/>
          </p:cNvSpPr>
          <p:nvPr/>
        </p:nvSpPr>
        <p:spPr bwMode="auto">
          <a:xfrm>
            <a:off x="90678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689" name="Oval 60"/>
          <p:cNvSpPr>
            <a:spLocks noChangeArrowheads="1"/>
          </p:cNvSpPr>
          <p:nvPr/>
        </p:nvSpPr>
        <p:spPr bwMode="auto">
          <a:xfrm>
            <a:off x="69342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690" name="Line 61"/>
          <p:cNvSpPr>
            <a:spLocks noChangeShapeType="1"/>
          </p:cNvSpPr>
          <p:nvPr/>
        </p:nvSpPr>
        <p:spPr bwMode="auto">
          <a:xfrm flipH="1">
            <a:off x="6553200" y="30480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91" name="Line 62"/>
          <p:cNvSpPr>
            <a:spLocks noChangeShapeType="1"/>
          </p:cNvSpPr>
          <p:nvPr/>
        </p:nvSpPr>
        <p:spPr bwMode="auto">
          <a:xfrm>
            <a:off x="70866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92" name="Oval 63"/>
          <p:cNvSpPr>
            <a:spLocks noChangeArrowheads="1"/>
          </p:cNvSpPr>
          <p:nvPr/>
        </p:nvSpPr>
        <p:spPr bwMode="auto">
          <a:xfrm>
            <a:off x="86106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693" name="Line 64"/>
          <p:cNvSpPr>
            <a:spLocks noChangeShapeType="1"/>
          </p:cNvSpPr>
          <p:nvPr/>
        </p:nvSpPr>
        <p:spPr bwMode="auto">
          <a:xfrm flipH="1">
            <a:off x="83058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94" name="Line 65"/>
          <p:cNvSpPr>
            <a:spLocks noChangeShapeType="1"/>
          </p:cNvSpPr>
          <p:nvPr/>
        </p:nvSpPr>
        <p:spPr bwMode="auto">
          <a:xfrm>
            <a:off x="87630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95" name="Oval 66"/>
          <p:cNvSpPr>
            <a:spLocks noChangeArrowheads="1"/>
          </p:cNvSpPr>
          <p:nvPr/>
        </p:nvSpPr>
        <p:spPr bwMode="auto">
          <a:xfrm>
            <a:off x="7772400" y="2133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696" name="Line 67"/>
          <p:cNvSpPr>
            <a:spLocks noChangeShapeType="1"/>
          </p:cNvSpPr>
          <p:nvPr/>
        </p:nvSpPr>
        <p:spPr bwMode="auto">
          <a:xfrm flipH="1">
            <a:off x="70866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97" name="Line 68"/>
          <p:cNvSpPr>
            <a:spLocks noChangeShapeType="1"/>
          </p:cNvSpPr>
          <p:nvPr/>
        </p:nvSpPr>
        <p:spPr bwMode="auto">
          <a:xfrm>
            <a:off x="79248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98" name="Oval 69"/>
          <p:cNvSpPr>
            <a:spLocks noChangeArrowheads="1"/>
          </p:cNvSpPr>
          <p:nvPr/>
        </p:nvSpPr>
        <p:spPr bwMode="auto">
          <a:xfrm>
            <a:off x="6858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699" name="Oval 70"/>
          <p:cNvSpPr>
            <a:spLocks noChangeArrowheads="1"/>
          </p:cNvSpPr>
          <p:nvPr/>
        </p:nvSpPr>
        <p:spPr bwMode="auto">
          <a:xfrm>
            <a:off x="7315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00" name="Line 71"/>
          <p:cNvSpPr>
            <a:spLocks noChangeShapeType="1"/>
          </p:cNvSpPr>
          <p:nvPr/>
        </p:nvSpPr>
        <p:spPr bwMode="auto">
          <a:xfrm flipH="1">
            <a:off x="6934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01" name="Line 72"/>
          <p:cNvSpPr>
            <a:spLocks noChangeShapeType="1"/>
          </p:cNvSpPr>
          <p:nvPr/>
        </p:nvSpPr>
        <p:spPr bwMode="auto">
          <a:xfrm>
            <a:off x="7239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02" name="Oval 73"/>
          <p:cNvSpPr>
            <a:spLocks noChangeArrowheads="1"/>
          </p:cNvSpPr>
          <p:nvPr/>
        </p:nvSpPr>
        <p:spPr bwMode="auto">
          <a:xfrm>
            <a:off x="7924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03" name="Oval 74"/>
          <p:cNvSpPr>
            <a:spLocks noChangeArrowheads="1"/>
          </p:cNvSpPr>
          <p:nvPr/>
        </p:nvSpPr>
        <p:spPr bwMode="auto">
          <a:xfrm>
            <a:off x="83820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04" name="Line 75"/>
          <p:cNvSpPr>
            <a:spLocks noChangeShapeType="1"/>
          </p:cNvSpPr>
          <p:nvPr/>
        </p:nvSpPr>
        <p:spPr bwMode="auto">
          <a:xfrm flipH="1">
            <a:off x="80010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05" name="Line 76"/>
          <p:cNvSpPr>
            <a:spLocks noChangeShapeType="1"/>
          </p:cNvSpPr>
          <p:nvPr/>
        </p:nvSpPr>
        <p:spPr bwMode="auto">
          <a:xfrm>
            <a:off x="8305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06" name="Oval 77"/>
          <p:cNvSpPr>
            <a:spLocks noChangeArrowheads="1"/>
          </p:cNvSpPr>
          <p:nvPr/>
        </p:nvSpPr>
        <p:spPr bwMode="auto">
          <a:xfrm>
            <a:off x="7696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07" name="Oval 78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08" name="Line 79"/>
          <p:cNvSpPr>
            <a:spLocks noChangeShapeType="1"/>
          </p:cNvSpPr>
          <p:nvPr/>
        </p:nvSpPr>
        <p:spPr bwMode="auto">
          <a:xfrm flipH="1">
            <a:off x="77724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09" name="Line 80"/>
          <p:cNvSpPr>
            <a:spLocks noChangeShapeType="1"/>
          </p:cNvSpPr>
          <p:nvPr/>
        </p:nvSpPr>
        <p:spPr bwMode="auto">
          <a:xfrm>
            <a:off x="8077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10" name="Oval 81"/>
          <p:cNvSpPr>
            <a:spLocks noChangeArrowheads="1"/>
          </p:cNvSpPr>
          <p:nvPr/>
        </p:nvSpPr>
        <p:spPr bwMode="auto">
          <a:xfrm>
            <a:off x="90678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11" name="Oval 82"/>
          <p:cNvSpPr>
            <a:spLocks noChangeArrowheads="1"/>
          </p:cNvSpPr>
          <p:nvPr/>
        </p:nvSpPr>
        <p:spPr bwMode="auto">
          <a:xfrm>
            <a:off x="9525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12" name="Line 83"/>
          <p:cNvSpPr>
            <a:spLocks noChangeShapeType="1"/>
          </p:cNvSpPr>
          <p:nvPr/>
        </p:nvSpPr>
        <p:spPr bwMode="auto">
          <a:xfrm flipH="1">
            <a:off x="9144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13" name="Line 84"/>
          <p:cNvSpPr>
            <a:spLocks noChangeShapeType="1"/>
          </p:cNvSpPr>
          <p:nvPr/>
        </p:nvSpPr>
        <p:spPr bwMode="auto">
          <a:xfrm>
            <a:off x="94488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14" name="Oval 85"/>
          <p:cNvSpPr>
            <a:spLocks noChangeArrowheads="1"/>
          </p:cNvSpPr>
          <p:nvPr/>
        </p:nvSpPr>
        <p:spPr bwMode="auto">
          <a:xfrm>
            <a:off x="6248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15" name="Oval 86"/>
          <p:cNvSpPr>
            <a:spLocks noChangeArrowheads="1"/>
          </p:cNvSpPr>
          <p:nvPr/>
        </p:nvSpPr>
        <p:spPr bwMode="auto">
          <a:xfrm>
            <a:off x="6705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16" name="Line 87"/>
          <p:cNvSpPr>
            <a:spLocks noChangeShapeType="1"/>
          </p:cNvSpPr>
          <p:nvPr/>
        </p:nvSpPr>
        <p:spPr bwMode="auto">
          <a:xfrm flipH="1">
            <a:off x="6324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17" name="Line 88"/>
          <p:cNvSpPr>
            <a:spLocks noChangeShapeType="1"/>
          </p:cNvSpPr>
          <p:nvPr/>
        </p:nvSpPr>
        <p:spPr bwMode="auto">
          <a:xfrm>
            <a:off x="6629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622" name="Rectangle 89"/>
          <p:cNvSpPr>
            <a:spLocks noChangeArrowheads="1"/>
          </p:cNvSpPr>
          <p:nvPr/>
        </p:nvSpPr>
        <p:spPr bwMode="auto">
          <a:xfrm>
            <a:off x="911860" y="4821555"/>
            <a:ext cx="10356850" cy="4914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600" dirty="0">
                <a:latin typeface="+mn-lt"/>
              </a:rPr>
              <a:t>Each time a new closest node is found, we can update the distance bounds.</a:t>
            </a:r>
          </a:p>
        </p:txBody>
      </p:sp>
      <p:sp>
        <p:nvSpPr>
          <p:cNvPr id="113719" name="Oval 90"/>
          <p:cNvSpPr>
            <a:spLocks noChangeArrowheads="1"/>
          </p:cNvSpPr>
          <p:nvPr/>
        </p:nvSpPr>
        <p:spPr bwMode="auto">
          <a:xfrm>
            <a:off x="4191000" y="2438400"/>
            <a:ext cx="76200" cy="76200"/>
          </a:xfrm>
          <a:prstGeom prst="ellipse">
            <a:avLst/>
          </a:prstGeom>
          <a:solidFill>
            <a:srgbClr val="FF06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20" name="Rectangle 91"/>
          <p:cNvSpPr>
            <a:spLocks noChangeArrowheads="1"/>
          </p:cNvSpPr>
          <p:nvPr/>
        </p:nvSpPr>
        <p:spPr bwMode="auto">
          <a:xfrm>
            <a:off x="3886200" y="1600200"/>
            <a:ext cx="609600" cy="7620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21" name="Rectangle 92"/>
          <p:cNvSpPr>
            <a:spLocks noChangeArrowheads="1"/>
          </p:cNvSpPr>
          <p:nvPr/>
        </p:nvSpPr>
        <p:spPr bwMode="auto">
          <a:xfrm>
            <a:off x="8991600" y="3962400"/>
            <a:ext cx="304800" cy="304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22" name="Oval 93"/>
          <p:cNvSpPr>
            <a:spLocks noChangeArrowheads="1"/>
          </p:cNvSpPr>
          <p:nvPr/>
        </p:nvSpPr>
        <p:spPr bwMode="auto">
          <a:xfrm>
            <a:off x="4038600" y="2286000"/>
            <a:ext cx="381000" cy="381000"/>
          </a:xfrm>
          <a:prstGeom prst="ellipse">
            <a:avLst/>
          </a:prstGeom>
          <a:noFill/>
          <a:ln w="19050">
            <a:solidFill>
              <a:srgbClr val="FF0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23" name="AutoShape 94"/>
          <p:cNvSpPr>
            <a:spLocks noChangeArrowheads="1"/>
          </p:cNvSpPr>
          <p:nvPr/>
        </p:nvSpPr>
        <p:spPr bwMode="auto">
          <a:xfrm>
            <a:off x="5029200" y="2667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3724" name="Line 95"/>
          <p:cNvSpPr>
            <a:spLocks noChangeShapeType="1"/>
          </p:cNvSpPr>
          <p:nvPr/>
        </p:nvSpPr>
        <p:spPr bwMode="auto">
          <a:xfrm flipH="1" flipV="1">
            <a:off x="4191000" y="22860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25" name="Line 96"/>
          <p:cNvSpPr>
            <a:spLocks noChangeShapeType="1"/>
          </p:cNvSpPr>
          <p:nvPr/>
        </p:nvSpPr>
        <p:spPr bwMode="auto">
          <a:xfrm flipV="1">
            <a:off x="4267200" y="23622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26" name="Line 97"/>
          <p:cNvSpPr>
            <a:spLocks noChangeShapeType="1"/>
          </p:cNvSpPr>
          <p:nvPr/>
        </p:nvSpPr>
        <p:spPr bwMode="auto">
          <a:xfrm flipV="1">
            <a:off x="4267200" y="2209800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27" name="Line 98"/>
          <p:cNvSpPr>
            <a:spLocks noChangeShapeType="1"/>
          </p:cNvSpPr>
          <p:nvPr/>
        </p:nvSpPr>
        <p:spPr bwMode="auto">
          <a:xfrm flipV="1">
            <a:off x="4267200" y="23622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with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133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90" name="Group 3"/>
          <p:cNvGrpSpPr/>
          <p:nvPr/>
        </p:nvGrpSpPr>
        <p:grpSpPr bwMode="auto">
          <a:xfrm>
            <a:off x="2209800" y="1600200"/>
            <a:ext cx="3263900" cy="2916238"/>
            <a:chOff x="1344" y="1056"/>
            <a:chExt cx="1824" cy="1632"/>
          </a:xfrm>
        </p:grpSpPr>
        <p:sp>
          <p:nvSpPr>
            <p:cNvPr id="114750" name="AutoShape 4"/>
            <p:cNvSpPr>
              <a:spLocks noChangeArrowheads="1"/>
            </p:cNvSpPr>
            <p:nvPr/>
          </p:nvSpPr>
          <p:spPr bwMode="auto">
            <a:xfrm>
              <a:off x="1536" y="168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51" name="AutoShape 5"/>
            <p:cNvSpPr>
              <a:spLocks noChangeArrowheads="1"/>
            </p:cNvSpPr>
            <p:nvPr/>
          </p:nvSpPr>
          <p:spPr bwMode="auto">
            <a:xfrm>
              <a:off x="163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52" name="AutoShape 6"/>
            <p:cNvSpPr>
              <a:spLocks noChangeArrowheads="1"/>
            </p:cNvSpPr>
            <p:nvPr/>
          </p:nvSpPr>
          <p:spPr bwMode="auto">
            <a:xfrm>
              <a:off x="1488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53" name="AutoShape 7"/>
            <p:cNvSpPr>
              <a:spLocks noChangeArrowheads="1"/>
            </p:cNvSpPr>
            <p:nvPr/>
          </p:nvSpPr>
          <p:spPr bwMode="auto">
            <a:xfrm>
              <a:off x="240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54" name="AutoShape 8"/>
            <p:cNvSpPr>
              <a:spLocks noChangeArrowheads="1"/>
            </p:cNvSpPr>
            <p:nvPr/>
          </p:nvSpPr>
          <p:spPr bwMode="auto">
            <a:xfrm>
              <a:off x="139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55" name="AutoShape 9"/>
            <p:cNvSpPr>
              <a:spLocks noChangeArrowheads="1"/>
            </p:cNvSpPr>
            <p:nvPr/>
          </p:nvSpPr>
          <p:spPr bwMode="auto">
            <a:xfrm>
              <a:off x="2352" y="230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56" name="AutoShape 10"/>
            <p:cNvSpPr>
              <a:spLocks noChangeArrowheads="1"/>
            </p:cNvSpPr>
            <p:nvPr/>
          </p:nvSpPr>
          <p:spPr bwMode="auto">
            <a:xfrm>
              <a:off x="2304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57" name="AutoShape 11"/>
            <p:cNvSpPr>
              <a:spLocks noChangeArrowheads="1"/>
            </p:cNvSpPr>
            <p:nvPr/>
          </p:nvSpPr>
          <p:spPr bwMode="auto">
            <a:xfrm>
              <a:off x="2736" y="153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58" name="AutoShape 12"/>
            <p:cNvSpPr>
              <a:spLocks noChangeArrowheads="1"/>
            </p:cNvSpPr>
            <p:nvPr/>
          </p:nvSpPr>
          <p:spPr bwMode="auto">
            <a:xfrm>
              <a:off x="2496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59" name="AutoShape 13"/>
            <p:cNvSpPr>
              <a:spLocks noChangeArrowheads="1"/>
            </p:cNvSpPr>
            <p:nvPr/>
          </p:nvSpPr>
          <p:spPr bwMode="auto">
            <a:xfrm>
              <a:off x="220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60" name="AutoShape 14"/>
            <p:cNvSpPr>
              <a:spLocks noChangeArrowheads="1"/>
            </p:cNvSpPr>
            <p:nvPr/>
          </p:nvSpPr>
          <p:spPr bwMode="auto">
            <a:xfrm>
              <a:off x="230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61" name="AutoShape 15"/>
            <p:cNvSpPr>
              <a:spLocks noChangeArrowheads="1"/>
            </p:cNvSpPr>
            <p:nvPr/>
          </p:nvSpPr>
          <p:spPr bwMode="auto">
            <a:xfrm>
              <a:off x="2400" y="25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62" name="AutoShape 16"/>
            <p:cNvSpPr>
              <a:spLocks noChangeArrowheads="1"/>
            </p:cNvSpPr>
            <p:nvPr/>
          </p:nvSpPr>
          <p:spPr bwMode="auto">
            <a:xfrm>
              <a:off x="2400" y="24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63" name="AutoShape 17"/>
            <p:cNvSpPr>
              <a:spLocks noChangeArrowheads="1"/>
            </p:cNvSpPr>
            <p:nvPr/>
          </p:nvSpPr>
          <p:spPr bwMode="auto">
            <a:xfrm>
              <a:off x="2976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64" name="AutoShape 18"/>
            <p:cNvSpPr>
              <a:spLocks noChangeArrowheads="1"/>
            </p:cNvSpPr>
            <p:nvPr/>
          </p:nvSpPr>
          <p:spPr bwMode="auto">
            <a:xfrm>
              <a:off x="2064" y="172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65" name="AutoShape 19"/>
            <p:cNvSpPr>
              <a:spLocks noChangeArrowheads="1"/>
            </p:cNvSpPr>
            <p:nvPr/>
          </p:nvSpPr>
          <p:spPr bwMode="auto">
            <a:xfrm>
              <a:off x="2112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66" name="AutoShape 20"/>
            <p:cNvSpPr>
              <a:spLocks noChangeArrowheads="1"/>
            </p:cNvSpPr>
            <p:nvPr/>
          </p:nvSpPr>
          <p:spPr bwMode="auto">
            <a:xfrm>
              <a:off x="254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67" name="AutoShape 21"/>
            <p:cNvSpPr>
              <a:spLocks noChangeArrowheads="1"/>
            </p:cNvSpPr>
            <p:nvPr/>
          </p:nvSpPr>
          <p:spPr bwMode="auto">
            <a:xfrm>
              <a:off x="1680" y="249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68" name="AutoShape 22"/>
            <p:cNvSpPr>
              <a:spLocks noChangeArrowheads="1"/>
            </p:cNvSpPr>
            <p:nvPr/>
          </p:nvSpPr>
          <p:spPr bwMode="auto">
            <a:xfrm>
              <a:off x="1728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69" name="AutoShape 23"/>
            <p:cNvSpPr>
              <a:spLocks noChangeArrowheads="1"/>
            </p:cNvSpPr>
            <p:nvPr/>
          </p:nvSpPr>
          <p:spPr bwMode="auto">
            <a:xfrm>
              <a:off x="2496" y="13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70" name="AutoShape 24"/>
            <p:cNvSpPr>
              <a:spLocks noChangeArrowheads="1"/>
            </p:cNvSpPr>
            <p:nvPr/>
          </p:nvSpPr>
          <p:spPr bwMode="auto">
            <a:xfrm>
              <a:off x="2592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71" name="AutoShape 25"/>
            <p:cNvSpPr>
              <a:spLocks noChangeArrowheads="1"/>
            </p:cNvSpPr>
            <p:nvPr/>
          </p:nvSpPr>
          <p:spPr bwMode="auto">
            <a:xfrm>
              <a:off x="264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72" name="AutoShape 26"/>
            <p:cNvSpPr>
              <a:spLocks noChangeArrowheads="1"/>
            </p:cNvSpPr>
            <p:nvPr/>
          </p:nvSpPr>
          <p:spPr bwMode="auto">
            <a:xfrm>
              <a:off x="268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73" name="AutoShape 27"/>
            <p:cNvSpPr>
              <a:spLocks noChangeArrowheads="1"/>
            </p:cNvSpPr>
            <p:nvPr/>
          </p:nvSpPr>
          <p:spPr bwMode="auto">
            <a:xfrm>
              <a:off x="158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74" name="AutoShape 28"/>
            <p:cNvSpPr>
              <a:spLocks noChangeArrowheads="1"/>
            </p:cNvSpPr>
            <p:nvPr/>
          </p:nvSpPr>
          <p:spPr bwMode="auto">
            <a:xfrm>
              <a:off x="182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75" name="AutoShape 29"/>
            <p:cNvSpPr>
              <a:spLocks noChangeArrowheads="1"/>
            </p:cNvSpPr>
            <p:nvPr/>
          </p:nvSpPr>
          <p:spPr bwMode="auto">
            <a:xfrm>
              <a:off x="2160" y="163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76" name="AutoShape 30"/>
            <p:cNvSpPr>
              <a:spLocks noChangeArrowheads="1"/>
            </p:cNvSpPr>
            <p:nvPr/>
          </p:nvSpPr>
          <p:spPr bwMode="auto">
            <a:xfrm>
              <a:off x="2016" y="216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77" name="AutoShape 31"/>
            <p:cNvSpPr>
              <a:spLocks noChangeArrowheads="1"/>
            </p:cNvSpPr>
            <p:nvPr/>
          </p:nvSpPr>
          <p:spPr bwMode="auto">
            <a:xfrm>
              <a:off x="1680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78" name="AutoShape 32"/>
            <p:cNvSpPr>
              <a:spLocks noChangeArrowheads="1"/>
            </p:cNvSpPr>
            <p:nvPr/>
          </p:nvSpPr>
          <p:spPr bwMode="auto">
            <a:xfrm>
              <a:off x="158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79" name="AutoShape 33"/>
            <p:cNvSpPr>
              <a:spLocks noChangeArrowheads="1"/>
            </p:cNvSpPr>
            <p:nvPr/>
          </p:nvSpPr>
          <p:spPr bwMode="auto">
            <a:xfrm>
              <a:off x="1488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80" name="AutoShape 34"/>
            <p:cNvSpPr>
              <a:spLocks noChangeArrowheads="1"/>
            </p:cNvSpPr>
            <p:nvPr/>
          </p:nvSpPr>
          <p:spPr bwMode="auto">
            <a:xfrm>
              <a:off x="206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81" name="AutoShape 35"/>
            <p:cNvSpPr>
              <a:spLocks noChangeArrowheads="1"/>
            </p:cNvSpPr>
            <p:nvPr/>
          </p:nvSpPr>
          <p:spPr bwMode="auto">
            <a:xfrm>
              <a:off x="2976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82" name="AutoShape 36"/>
            <p:cNvSpPr>
              <a:spLocks noChangeArrowheads="1"/>
            </p:cNvSpPr>
            <p:nvPr/>
          </p:nvSpPr>
          <p:spPr bwMode="auto">
            <a:xfrm>
              <a:off x="302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4783" name="Rectangle 37"/>
            <p:cNvSpPr>
              <a:spLocks noChangeArrowheads="1"/>
            </p:cNvSpPr>
            <p:nvPr/>
          </p:nvSpPr>
          <p:spPr bwMode="auto">
            <a:xfrm>
              <a:off x="1344" y="1056"/>
              <a:ext cx="1824" cy="1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14691" name="Line 38"/>
          <p:cNvSpPr>
            <a:spLocks noChangeShapeType="1"/>
          </p:cNvSpPr>
          <p:nvPr/>
        </p:nvSpPr>
        <p:spPr bwMode="auto">
          <a:xfrm>
            <a:off x="3886200" y="16002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2" name="Line 39"/>
          <p:cNvSpPr>
            <a:spLocks noChangeShapeType="1"/>
          </p:cNvSpPr>
          <p:nvPr/>
        </p:nvSpPr>
        <p:spPr bwMode="auto">
          <a:xfrm>
            <a:off x="38862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3" name="Line 40"/>
          <p:cNvSpPr>
            <a:spLocks noChangeShapeType="1"/>
          </p:cNvSpPr>
          <p:nvPr/>
        </p:nvSpPr>
        <p:spPr bwMode="auto">
          <a:xfrm>
            <a:off x="4724400" y="2971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4" name="Line 41"/>
          <p:cNvSpPr>
            <a:spLocks noChangeShapeType="1"/>
          </p:cNvSpPr>
          <p:nvPr/>
        </p:nvSpPr>
        <p:spPr bwMode="auto">
          <a:xfrm>
            <a:off x="3886200" y="3962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5" name="Line 42"/>
          <p:cNvSpPr>
            <a:spLocks noChangeShapeType="1"/>
          </p:cNvSpPr>
          <p:nvPr/>
        </p:nvSpPr>
        <p:spPr bwMode="auto">
          <a:xfrm>
            <a:off x="2209800" y="32766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6" name="Line 43"/>
          <p:cNvSpPr>
            <a:spLocks noChangeShapeType="1"/>
          </p:cNvSpPr>
          <p:nvPr/>
        </p:nvSpPr>
        <p:spPr bwMode="auto">
          <a:xfrm flipV="1">
            <a:off x="3124200" y="1600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7" name="Line 44"/>
          <p:cNvSpPr>
            <a:spLocks noChangeShapeType="1"/>
          </p:cNvSpPr>
          <p:nvPr/>
        </p:nvSpPr>
        <p:spPr bwMode="auto">
          <a:xfrm>
            <a:off x="3886200" y="2362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8" name="Line 45"/>
          <p:cNvSpPr>
            <a:spLocks noChangeShapeType="1"/>
          </p:cNvSpPr>
          <p:nvPr/>
        </p:nvSpPr>
        <p:spPr bwMode="auto">
          <a:xfrm>
            <a:off x="4495800" y="1600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9" name="Line 46"/>
          <p:cNvSpPr>
            <a:spLocks noChangeShapeType="1"/>
          </p:cNvSpPr>
          <p:nvPr/>
        </p:nvSpPr>
        <p:spPr bwMode="auto">
          <a:xfrm>
            <a:off x="2971800" y="32766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00" name="Line 47"/>
          <p:cNvSpPr>
            <a:spLocks noChangeShapeType="1"/>
          </p:cNvSpPr>
          <p:nvPr/>
        </p:nvSpPr>
        <p:spPr bwMode="auto">
          <a:xfrm>
            <a:off x="2209800" y="2743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01" name="Oval 48"/>
          <p:cNvSpPr>
            <a:spLocks noChangeArrowheads="1"/>
          </p:cNvSpPr>
          <p:nvPr/>
        </p:nvSpPr>
        <p:spPr bwMode="auto">
          <a:xfrm>
            <a:off x="64770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02" name="Oval 49"/>
          <p:cNvSpPr>
            <a:spLocks noChangeArrowheads="1"/>
          </p:cNvSpPr>
          <p:nvPr/>
        </p:nvSpPr>
        <p:spPr bwMode="auto">
          <a:xfrm>
            <a:off x="73152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03" name="Oval 50"/>
          <p:cNvSpPr>
            <a:spLocks noChangeArrowheads="1"/>
          </p:cNvSpPr>
          <p:nvPr/>
        </p:nvSpPr>
        <p:spPr bwMode="auto">
          <a:xfrm>
            <a:off x="7086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04" name="Oval 51"/>
          <p:cNvSpPr>
            <a:spLocks noChangeArrowheads="1"/>
          </p:cNvSpPr>
          <p:nvPr/>
        </p:nvSpPr>
        <p:spPr bwMode="auto">
          <a:xfrm>
            <a:off x="7543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05" name="Line 52"/>
          <p:cNvSpPr>
            <a:spLocks noChangeShapeType="1"/>
          </p:cNvSpPr>
          <p:nvPr/>
        </p:nvSpPr>
        <p:spPr bwMode="auto">
          <a:xfrm flipH="1">
            <a:off x="7162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06" name="Line 53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07" name="Oval 54"/>
          <p:cNvSpPr>
            <a:spLocks noChangeArrowheads="1"/>
          </p:cNvSpPr>
          <p:nvPr/>
        </p:nvSpPr>
        <p:spPr bwMode="auto">
          <a:xfrm>
            <a:off x="81534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08" name="Oval 55"/>
          <p:cNvSpPr>
            <a:spLocks noChangeArrowheads="1"/>
          </p:cNvSpPr>
          <p:nvPr/>
        </p:nvSpPr>
        <p:spPr bwMode="auto">
          <a:xfrm>
            <a:off x="88392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09" name="Oval 56"/>
          <p:cNvSpPr>
            <a:spLocks noChangeArrowheads="1"/>
          </p:cNvSpPr>
          <p:nvPr/>
        </p:nvSpPr>
        <p:spPr bwMode="auto">
          <a:xfrm>
            <a:off x="9296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10" name="Line 57"/>
          <p:cNvSpPr>
            <a:spLocks noChangeShapeType="1"/>
          </p:cNvSpPr>
          <p:nvPr/>
        </p:nvSpPr>
        <p:spPr bwMode="auto">
          <a:xfrm flipH="1">
            <a:off x="8915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11" name="Line 58"/>
          <p:cNvSpPr>
            <a:spLocks noChangeShapeType="1"/>
          </p:cNvSpPr>
          <p:nvPr/>
        </p:nvSpPr>
        <p:spPr bwMode="auto">
          <a:xfrm>
            <a:off x="92202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12" name="Oval 59"/>
          <p:cNvSpPr>
            <a:spLocks noChangeArrowheads="1"/>
          </p:cNvSpPr>
          <p:nvPr/>
        </p:nvSpPr>
        <p:spPr bwMode="auto">
          <a:xfrm>
            <a:off x="90678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13" name="Oval 60"/>
          <p:cNvSpPr>
            <a:spLocks noChangeArrowheads="1"/>
          </p:cNvSpPr>
          <p:nvPr/>
        </p:nvSpPr>
        <p:spPr bwMode="auto">
          <a:xfrm>
            <a:off x="69342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14" name="Line 61"/>
          <p:cNvSpPr>
            <a:spLocks noChangeShapeType="1"/>
          </p:cNvSpPr>
          <p:nvPr/>
        </p:nvSpPr>
        <p:spPr bwMode="auto">
          <a:xfrm flipH="1">
            <a:off x="6553200" y="30480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15" name="Line 62"/>
          <p:cNvSpPr>
            <a:spLocks noChangeShapeType="1"/>
          </p:cNvSpPr>
          <p:nvPr/>
        </p:nvSpPr>
        <p:spPr bwMode="auto">
          <a:xfrm>
            <a:off x="70866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16" name="Oval 63"/>
          <p:cNvSpPr>
            <a:spLocks noChangeArrowheads="1"/>
          </p:cNvSpPr>
          <p:nvPr/>
        </p:nvSpPr>
        <p:spPr bwMode="auto">
          <a:xfrm>
            <a:off x="86106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17" name="Line 64"/>
          <p:cNvSpPr>
            <a:spLocks noChangeShapeType="1"/>
          </p:cNvSpPr>
          <p:nvPr/>
        </p:nvSpPr>
        <p:spPr bwMode="auto">
          <a:xfrm flipH="1">
            <a:off x="83058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18" name="Line 65"/>
          <p:cNvSpPr>
            <a:spLocks noChangeShapeType="1"/>
          </p:cNvSpPr>
          <p:nvPr/>
        </p:nvSpPr>
        <p:spPr bwMode="auto">
          <a:xfrm>
            <a:off x="87630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19" name="Oval 66"/>
          <p:cNvSpPr>
            <a:spLocks noChangeArrowheads="1"/>
          </p:cNvSpPr>
          <p:nvPr/>
        </p:nvSpPr>
        <p:spPr bwMode="auto">
          <a:xfrm>
            <a:off x="7772400" y="2133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20" name="Line 67"/>
          <p:cNvSpPr>
            <a:spLocks noChangeShapeType="1"/>
          </p:cNvSpPr>
          <p:nvPr/>
        </p:nvSpPr>
        <p:spPr bwMode="auto">
          <a:xfrm flipH="1">
            <a:off x="70866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21" name="Line 68"/>
          <p:cNvSpPr>
            <a:spLocks noChangeShapeType="1"/>
          </p:cNvSpPr>
          <p:nvPr/>
        </p:nvSpPr>
        <p:spPr bwMode="auto">
          <a:xfrm>
            <a:off x="79248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22" name="Oval 69"/>
          <p:cNvSpPr>
            <a:spLocks noChangeArrowheads="1"/>
          </p:cNvSpPr>
          <p:nvPr/>
        </p:nvSpPr>
        <p:spPr bwMode="auto">
          <a:xfrm>
            <a:off x="6858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23" name="Oval 70"/>
          <p:cNvSpPr>
            <a:spLocks noChangeArrowheads="1"/>
          </p:cNvSpPr>
          <p:nvPr/>
        </p:nvSpPr>
        <p:spPr bwMode="auto">
          <a:xfrm>
            <a:off x="7315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24" name="Line 71"/>
          <p:cNvSpPr>
            <a:spLocks noChangeShapeType="1"/>
          </p:cNvSpPr>
          <p:nvPr/>
        </p:nvSpPr>
        <p:spPr bwMode="auto">
          <a:xfrm flipH="1">
            <a:off x="6934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25" name="Line 72"/>
          <p:cNvSpPr>
            <a:spLocks noChangeShapeType="1"/>
          </p:cNvSpPr>
          <p:nvPr/>
        </p:nvSpPr>
        <p:spPr bwMode="auto">
          <a:xfrm>
            <a:off x="7239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26" name="Oval 73"/>
          <p:cNvSpPr>
            <a:spLocks noChangeArrowheads="1"/>
          </p:cNvSpPr>
          <p:nvPr/>
        </p:nvSpPr>
        <p:spPr bwMode="auto">
          <a:xfrm>
            <a:off x="7924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27" name="Oval 74"/>
          <p:cNvSpPr>
            <a:spLocks noChangeArrowheads="1"/>
          </p:cNvSpPr>
          <p:nvPr/>
        </p:nvSpPr>
        <p:spPr bwMode="auto">
          <a:xfrm>
            <a:off x="83820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28" name="Line 75"/>
          <p:cNvSpPr>
            <a:spLocks noChangeShapeType="1"/>
          </p:cNvSpPr>
          <p:nvPr/>
        </p:nvSpPr>
        <p:spPr bwMode="auto">
          <a:xfrm flipH="1">
            <a:off x="80010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29" name="Line 76"/>
          <p:cNvSpPr>
            <a:spLocks noChangeShapeType="1"/>
          </p:cNvSpPr>
          <p:nvPr/>
        </p:nvSpPr>
        <p:spPr bwMode="auto">
          <a:xfrm>
            <a:off x="8305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30" name="Oval 77"/>
          <p:cNvSpPr>
            <a:spLocks noChangeArrowheads="1"/>
          </p:cNvSpPr>
          <p:nvPr/>
        </p:nvSpPr>
        <p:spPr bwMode="auto">
          <a:xfrm>
            <a:off x="7696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31" name="Oval 78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32" name="Line 79"/>
          <p:cNvSpPr>
            <a:spLocks noChangeShapeType="1"/>
          </p:cNvSpPr>
          <p:nvPr/>
        </p:nvSpPr>
        <p:spPr bwMode="auto">
          <a:xfrm flipH="1">
            <a:off x="77724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33" name="Line 80"/>
          <p:cNvSpPr>
            <a:spLocks noChangeShapeType="1"/>
          </p:cNvSpPr>
          <p:nvPr/>
        </p:nvSpPr>
        <p:spPr bwMode="auto">
          <a:xfrm>
            <a:off x="8077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34" name="Oval 81"/>
          <p:cNvSpPr>
            <a:spLocks noChangeArrowheads="1"/>
          </p:cNvSpPr>
          <p:nvPr/>
        </p:nvSpPr>
        <p:spPr bwMode="auto">
          <a:xfrm>
            <a:off x="90678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35" name="Oval 82"/>
          <p:cNvSpPr>
            <a:spLocks noChangeArrowheads="1"/>
          </p:cNvSpPr>
          <p:nvPr/>
        </p:nvSpPr>
        <p:spPr bwMode="auto">
          <a:xfrm>
            <a:off x="9525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36" name="Line 83"/>
          <p:cNvSpPr>
            <a:spLocks noChangeShapeType="1"/>
          </p:cNvSpPr>
          <p:nvPr/>
        </p:nvSpPr>
        <p:spPr bwMode="auto">
          <a:xfrm flipH="1">
            <a:off x="9144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37" name="Line 84"/>
          <p:cNvSpPr>
            <a:spLocks noChangeShapeType="1"/>
          </p:cNvSpPr>
          <p:nvPr/>
        </p:nvSpPr>
        <p:spPr bwMode="auto">
          <a:xfrm>
            <a:off x="94488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38" name="Oval 85"/>
          <p:cNvSpPr>
            <a:spLocks noChangeArrowheads="1"/>
          </p:cNvSpPr>
          <p:nvPr/>
        </p:nvSpPr>
        <p:spPr bwMode="auto">
          <a:xfrm>
            <a:off x="6248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39" name="Oval 86"/>
          <p:cNvSpPr>
            <a:spLocks noChangeArrowheads="1"/>
          </p:cNvSpPr>
          <p:nvPr/>
        </p:nvSpPr>
        <p:spPr bwMode="auto">
          <a:xfrm>
            <a:off x="6705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40" name="Line 87"/>
          <p:cNvSpPr>
            <a:spLocks noChangeShapeType="1"/>
          </p:cNvSpPr>
          <p:nvPr/>
        </p:nvSpPr>
        <p:spPr bwMode="auto">
          <a:xfrm flipH="1">
            <a:off x="6324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41" name="Line 88"/>
          <p:cNvSpPr>
            <a:spLocks noChangeShapeType="1"/>
          </p:cNvSpPr>
          <p:nvPr/>
        </p:nvSpPr>
        <p:spPr bwMode="auto">
          <a:xfrm>
            <a:off x="6629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46" name="Rectangle 89"/>
          <p:cNvSpPr>
            <a:spLocks noChangeArrowheads="1"/>
          </p:cNvSpPr>
          <p:nvPr/>
        </p:nvSpPr>
        <p:spPr bwMode="auto">
          <a:xfrm>
            <a:off x="1951038" y="4724400"/>
            <a:ext cx="8488362" cy="129159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600" dirty="0">
                <a:latin typeface="+mn-lt"/>
              </a:rPr>
              <a:t>Using the distance bounds and the bounds of the data below each node, we can prune parts of the tree that could NOT include the nearest neighbor.</a:t>
            </a:r>
          </a:p>
        </p:txBody>
      </p:sp>
      <p:sp>
        <p:nvSpPr>
          <p:cNvPr id="114743" name="Oval 90"/>
          <p:cNvSpPr>
            <a:spLocks noChangeArrowheads="1"/>
          </p:cNvSpPr>
          <p:nvPr/>
        </p:nvSpPr>
        <p:spPr bwMode="auto">
          <a:xfrm>
            <a:off x="4191000" y="2438400"/>
            <a:ext cx="76200" cy="76200"/>
          </a:xfrm>
          <a:prstGeom prst="ellipse">
            <a:avLst/>
          </a:prstGeom>
          <a:solidFill>
            <a:srgbClr val="FF06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44" name="Rectangle 91"/>
          <p:cNvSpPr>
            <a:spLocks noChangeArrowheads="1"/>
          </p:cNvSpPr>
          <p:nvPr/>
        </p:nvSpPr>
        <p:spPr bwMode="auto">
          <a:xfrm>
            <a:off x="4495800" y="1905000"/>
            <a:ext cx="685800" cy="457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45" name="Rectangle 92"/>
          <p:cNvSpPr>
            <a:spLocks noChangeArrowheads="1"/>
          </p:cNvSpPr>
          <p:nvPr/>
        </p:nvSpPr>
        <p:spPr bwMode="auto">
          <a:xfrm>
            <a:off x="9448800" y="3962400"/>
            <a:ext cx="304800" cy="304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46" name="Oval 93"/>
          <p:cNvSpPr>
            <a:spLocks noChangeArrowheads="1"/>
          </p:cNvSpPr>
          <p:nvPr/>
        </p:nvSpPr>
        <p:spPr bwMode="auto">
          <a:xfrm>
            <a:off x="4038600" y="2286000"/>
            <a:ext cx="381000" cy="381000"/>
          </a:xfrm>
          <a:prstGeom prst="ellipse">
            <a:avLst/>
          </a:prstGeom>
          <a:noFill/>
          <a:ln w="19050">
            <a:solidFill>
              <a:srgbClr val="FF0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47" name="AutoShape 94"/>
          <p:cNvSpPr>
            <a:spLocks noChangeArrowheads="1"/>
          </p:cNvSpPr>
          <p:nvPr/>
        </p:nvSpPr>
        <p:spPr bwMode="auto">
          <a:xfrm>
            <a:off x="5029200" y="2667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4748" name="Line 95"/>
          <p:cNvSpPr>
            <a:spLocks noChangeShapeType="1"/>
          </p:cNvSpPr>
          <p:nvPr/>
        </p:nvSpPr>
        <p:spPr bwMode="auto">
          <a:xfrm flipV="1">
            <a:off x="4267200" y="23622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with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134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714" name="Group 3"/>
          <p:cNvGrpSpPr/>
          <p:nvPr/>
        </p:nvGrpSpPr>
        <p:grpSpPr bwMode="auto">
          <a:xfrm>
            <a:off x="2209800" y="1600200"/>
            <a:ext cx="3263900" cy="2916238"/>
            <a:chOff x="1344" y="1056"/>
            <a:chExt cx="1824" cy="1632"/>
          </a:xfrm>
        </p:grpSpPr>
        <p:sp>
          <p:nvSpPr>
            <p:cNvPr id="115774" name="AutoShape 4"/>
            <p:cNvSpPr>
              <a:spLocks noChangeArrowheads="1"/>
            </p:cNvSpPr>
            <p:nvPr/>
          </p:nvSpPr>
          <p:spPr bwMode="auto">
            <a:xfrm>
              <a:off x="1536" y="168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75" name="AutoShape 5"/>
            <p:cNvSpPr>
              <a:spLocks noChangeArrowheads="1"/>
            </p:cNvSpPr>
            <p:nvPr/>
          </p:nvSpPr>
          <p:spPr bwMode="auto">
            <a:xfrm>
              <a:off x="163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76" name="AutoShape 6"/>
            <p:cNvSpPr>
              <a:spLocks noChangeArrowheads="1"/>
            </p:cNvSpPr>
            <p:nvPr/>
          </p:nvSpPr>
          <p:spPr bwMode="auto">
            <a:xfrm>
              <a:off x="1488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77" name="AutoShape 7"/>
            <p:cNvSpPr>
              <a:spLocks noChangeArrowheads="1"/>
            </p:cNvSpPr>
            <p:nvPr/>
          </p:nvSpPr>
          <p:spPr bwMode="auto">
            <a:xfrm>
              <a:off x="240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78" name="AutoShape 8"/>
            <p:cNvSpPr>
              <a:spLocks noChangeArrowheads="1"/>
            </p:cNvSpPr>
            <p:nvPr/>
          </p:nvSpPr>
          <p:spPr bwMode="auto">
            <a:xfrm>
              <a:off x="139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79" name="AutoShape 9"/>
            <p:cNvSpPr>
              <a:spLocks noChangeArrowheads="1"/>
            </p:cNvSpPr>
            <p:nvPr/>
          </p:nvSpPr>
          <p:spPr bwMode="auto">
            <a:xfrm>
              <a:off x="2352" y="230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80" name="AutoShape 10"/>
            <p:cNvSpPr>
              <a:spLocks noChangeArrowheads="1"/>
            </p:cNvSpPr>
            <p:nvPr/>
          </p:nvSpPr>
          <p:spPr bwMode="auto">
            <a:xfrm>
              <a:off x="2304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81" name="AutoShape 11"/>
            <p:cNvSpPr>
              <a:spLocks noChangeArrowheads="1"/>
            </p:cNvSpPr>
            <p:nvPr/>
          </p:nvSpPr>
          <p:spPr bwMode="auto">
            <a:xfrm>
              <a:off x="2736" y="153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82" name="AutoShape 12"/>
            <p:cNvSpPr>
              <a:spLocks noChangeArrowheads="1"/>
            </p:cNvSpPr>
            <p:nvPr/>
          </p:nvSpPr>
          <p:spPr bwMode="auto">
            <a:xfrm>
              <a:off x="2496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83" name="AutoShape 13"/>
            <p:cNvSpPr>
              <a:spLocks noChangeArrowheads="1"/>
            </p:cNvSpPr>
            <p:nvPr/>
          </p:nvSpPr>
          <p:spPr bwMode="auto">
            <a:xfrm>
              <a:off x="220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84" name="AutoShape 14"/>
            <p:cNvSpPr>
              <a:spLocks noChangeArrowheads="1"/>
            </p:cNvSpPr>
            <p:nvPr/>
          </p:nvSpPr>
          <p:spPr bwMode="auto">
            <a:xfrm>
              <a:off x="230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85" name="AutoShape 15"/>
            <p:cNvSpPr>
              <a:spLocks noChangeArrowheads="1"/>
            </p:cNvSpPr>
            <p:nvPr/>
          </p:nvSpPr>
          <p:spPr bwMode="auto">
            <a:xfrm>
              <a:off x="2400" y="25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86" name="AutoShape 16"/>
            <p:cNvSpPr>
              <a:spLocks noChangeArrowheads="1"/>
            </p:cNvSpPr>
            <p:nvPr/>
          </p:nvSpPr>
          <p:spPr bwMode="auto">
            <a:xfrm>
              <a:off x="2400" y="24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87" name="AutoShape 17"/>
            <p:cNvSpPr>
              <a:spLocks noChangeArrowheads="1"/>
            </p:cNvSpPr>
            <p:nvPr/>
          </p:nvSpPr>
          <p:spPr bwMode="auto">
            <a:xfrm>
              <a:off x="2976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88" name="AutoShape 18"/>
            <p:cNvSpPr>
              <a:spLocks noChangeArrowheads="1"/>
            </p:cNvSpPr>
            <p:nvPr/>
          </p:nvSpPr>
          <p:spPr bwMode="auto">
            <a:xfrm>
              <a:off x="2064" y="172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89" name="AutoShape 19"/>
            <p:cNvSpPr>
              <a:spLocks noChangeArrowheads="1"/>
            </p:cNvSpPr>
            <p:nvPr/>
          </p:nvSpPr>
          <p:spPr bwMode="auto">
            <a:xfrm>
              <a:off x="2112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90" name="AutoShape 20"/>
            <p:cNvSpPr>
              <a:spLocks noChangeArrowheads="1"/>
            </p:cNvSpPr>
            <p:nvPr/>
          </p:nvSpPr>
          <p:spPr bwMode="auto">
            <a:xfrm>
              <a:off x="254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91" name="AutoShape 21"/>
            <p:cNvSpPr>
              <a:spLocks noChangeArrowheads="1"/>
            </p:cNvSpPr>
            <p:nvPr/>
          </p:nvSpPr>
          <p:spPr bwMode="auto">
            <a:xfrm>
              <a:off x="1680" y="249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92" name="AutoShape 22"/>
            <p:cNvSpPr>
              <a:spLocks noChangeArrowheads="1"/>
            </p:cNvSpPr>
            <p:nvPr/>
          </p:nvSpPr>
          <p:spPr bwMode="auto">
            <a:xfrm>
              <a:off x="1728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93" name="AutoShape 23"/>
            <p:cNvSpPr>
              <a:spLocks noChangeArrowheads="1"/>
            </p:cNvSpPr>
            <p:nvPr/>
          </p:nvSpPr>
          <p:spPr bwMode="auto">
            <a:xfrm>
              <a:off x="2496" y="13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94" name="AutoShape 24"/>
            <p:cNvSpPr>
              <a:spLocks noChangeArrowheads="1"/>
            </p:cNvSpPr>
            <p:nvPr/>
          </p:nvSpPr>
          <p:spPr bwMode="auto">
            <a:xfrm>
              <a:off x="2592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95" name="AutoShape 25"/>
            <p:cNvSpPr>
              <a:spLocks noChangeArrowheads="1"/>
            </p:cNvSpPr>
            <p:nvPr/>
          </p:nvSpPr>
          <p:spPr bwMode="auto">
            <a:xfrm>
              <a:off x="264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96" name="AutoShape 26"/>
            <p:cNvSpPr>
              <a:spLocks noChangeArrowheads="1"/>
            </p:cNvSpPr>
            <p:nvPr/>
          </p:nvSpPr>
          <p:spPr bwMode="auto">
            <a:xfrm>
              <a:off x="268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97" name="AutoShape 27"/>
            <p:cNvSpPr>
              <a:spLocks noChangeArrowheads="1"/>
            </p:cNvSpPr>
            <p:nvPr/>
          </p:nvSpPr>
          <p:spPr bwMode="auto">
            <a:xfrm>
              <a:off x="158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98" name="AutoShape 28"/>
            <p:cNvSpPr>
              <a:spLocks noChangeArrowheads="1"/>
            </p:cNvSpPr>
            <p:nvPr/>
          </p:nvSpPr>
          <p:spPr bwMode="auto">
            <a:xfrm>
              <a:off x="182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799" name="AutoShape 29"/>
            <p:cNvSpPr>
              <a:spLocks noChangeArrowheads="1"/>
            </p:cNvSpPr>
            <p:nvPr/>
          </p:nvSpPr>
          <p:spPr bwMode="auto">
            <a:xfrm>
              <a:off x="2160" y="163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800" name="AutoShape 30"/>
            <p:cNvSpPr>
              <a:spLocks noChangeArrowheads="1"/>
            </p:cNvSpPr>
            <p:nvPr/>
          </p:nvSpPr>
          <p:spPr bwMode="auto">
            <a:xfrm>
              <a:off x="2016" y="216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801" name="AutoShape 31"/>
            <p:cNvSpPr>
              <a:spLocks noChangeArrowheads="1"/>
            </p:cNvSpPr>
            <p:nvPr/>
          </p:nvSpPr>
          <p:spPr bwMode="auto">
            <a:xfrm>
              <a:off x="1680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802" name="AutoShape 32"/>
            <p:cNvSpPr>
              <a:spLocks noChangeArrowheads="1"/>
            </p:cNvSpPr>
            <p:nvPr/>
          </p:nvSpPr>
          <p:spPr bwMode="auto">
            <a:xfrm>
              <a:off x="158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803" name="AutoShape 33"/>
            <p:cNvSpPr>
              <a:spLocks noChangeArrowheads="1"/>
            </p:cNvSpPr>
            <p:nvPr/>
          </p:nvSpPr>
          <p:spPr bwMode="auto">
            <a:xfrm>
              <a:off x="1488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804" name="AutoShape 34"/>
            <p:cNvSpPr>
              <a:spLocks noChangeArrowheads="1"/>
            </p:cNvSpPr>
            <p:nvPr/>
          </p:nvSpPr>
          <p:spPr bwMode="auto">
            <a:xfrm>
              <a:off x="206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805" name="AutoShape 35"/>
            <p:cNvSpPr>
              <a:spLocks noChangeArrowheads="1"/>
            </p:cNvSpPr>
            <p:nvPr/>
          </p:nvSpPr>
          <p:spPr bwMode="auto">
            <a:xfrm>
              <a:off x="2976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806" name="AutoShape 36"/>
            <p:cNvSpPr>
              <a:spLocks noChangeArrowheads="1"/>
            </p:cNvSpPr>
            <p:nvPr/>
          </p:nvSpPr>
          <p:spPr bwMode="auto">
            <a:xfrm>
              <a:off x="302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5807" name="Rectangle 37"/>
            <p:cNvSpPr>
              <a:spLocks noChangeArrowheads="1"/>
            </p:cNvSpPr>
            <p:nvPr/>
          </p:nvSpPr>
          <p:spPr bwMode="auto">
            <a:xfrm>
              <a:off x="1344" y="1056"/>
              <a:ext cx="1824" cy="1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15715" name="Line 38"/>
          <p:cNvSpPr>
            <a:spLocks noChangeShapeType="1"/>
          </p:cNvSpPr>
          <p:nvPr/>
        </p:nvSpPr>
        <p:spPr bwMode="auto">
          <a:xfrm>
            <a:off x="3886200" y="16002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16" name="Line 39"/>
          <p:cNvSpPr>
            <a:spLocks noChangeShapeType="1"/>
          </p:cNvSpPr>
          <p:nvPr/>
        </p:nvSpPr>
        <p:spPr bwMode="auto">
          <a:xfrm>
            <a:off x="38862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17" name="Line 40"/>
          <p:cNvSpPr>
            <a:spLocks noChangeShapeType="1"/>
          </p:cNvSpPr>
          <p:nvPr/>
        </p:nvSpPr>
        <p:spPr bwMode="auto">
          <a:xfrm>
            <a:off x="4724400" y="2971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18" name="Line 41"/>
          <p:cNvSpPr>
            <a:spLocks noChangeShapeType="1"/>
          </p:cNvSpPr>
          <p:nvPr/>
        </p:nvSpPr>
        <p:spPr bwMode="auto">
          <a:xfrm>
            <a:off x="3886200" y="3962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19" name="Line 42"/>
          <p:cNvSpPr>
            <a:spLocks noChangeShapeType="1"/>
          </p:cNvSpPr>
          <p:nvPr/>
        </p:nvSpPr>
        <p:spPr bwMode="auto">
          <a:xfrm>
            <a:off x="2209800" y="32766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20" name="Line 43"/>
          <p:cNvSpPr>
            <a:spLocks noChangeShapeType="1"/>
          </p:cNvSpPr>
          <p:nvPr/>
        </p:nvSpPr>
        <p:spPr bwMode="auto">
          <a:xfrm flipV="1">
            <a:off x="3124200" y="1600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21" name="Line 44"/>
          <p:cNvSpPr>
            <a:spLocks noChangeShapeType="1"/>
          </p:cNvSpPr>
          <p:nvPr/>
        </p:nvSpPr>
        <p:spPr bwMode="auto">
          <a:xfrm>
            <a:off x="3886200" y="2362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22" name="Line 45"/>
          <p:cNvSpPr>
            <a:spLocks noChangeShapeType="1"/>
          </p:cNvSpPr>
          <p:nvPr/>
        </p:nvSpPr>
        <p:spPr bwMode="auto">
          <a:xfrm>
            <a:off x="4495800" y="1600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23" name="Line 46"/>
          <p:cNvSpPr>
            <a:spLocks noChangeShapeType="1"/>
          </p:cNvSpPr>
          <p:nvPr/>
        </p:nvSpPr>
        <p:spPr bwMode="auto">
          <a:xfrm>
            <a:off x="2971800" y="32766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24" name="Line 47"/>
          <p:cNvSpPr>
            <a:spLocks noChangeShapeType="1"/>
          </p:cNvSpPr>
          <p:nvPr/>
        </p:nvSpPr>
        <p:spPr bwMode="auto">
          <a:xfrm>
            <a:off x="2209800" y="2743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25" name="Oval 48"/>
          <p:cNvSpPr>
            <a:spLocks noChangeArrowheads="1"/>
          </p:cNvSpPr>
          <p:nvPr/>
        </p:nvSpPr>
        <p:spPr bwMode="auto">
          <a:xfrm>
            <a:off x="64770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26" name="Oval 49"/>
          <p:cNvSpPr>
            <a:spLocks noChangeArrowheads="1"/>
          </p:cNvSpPr>
          <p:nvPr/>
        </p:nvSpPr>
        <p:spPr bwMode="auto">
          <a:xfrm>
            <a:off x="73152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27" name="Oval 50"/>
          <p:cNvSpPr>
            <a:spLocks noChangeArrowheads="1"/>
          </p:cNvSpPr>
          <p:nvPr/>
        </p:nvSpPr>
        <p:spPr bwMode="auto">
          <a:xfrm>
            <a:off x="7086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28" name="Oval 51"/>
          <p:cNvSpPr>
            <a:spLocks noChangeArrowheads="1"/>
          </p:cNvSpPr>
          <p:nvPr/>
        </p:nvSpPr>
        <p:spPr bwMode="auto">
          <a:xfrm>
            <a:off x="7543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29" name="Line 52"/>
          <p:cNvSpPr>
            <a:spLocks noChangeShapeType="1"/>
          </p:cNvSpPr>
          <p:nvPr/>
        </p:nvSpPr>
        <p:spPr bwMode="auto">
          <a:xfrm flipH="1">
            <a:off x="7162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30" name="Line 53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31" name="Oval 54"/>
          <p:cNvSpPr>
            <a:spLocks noChangeArrowheads="1"/>
          </p:cNvSpPr>
          <p:nvPr/>
        </p:nvSpPr>
        <p:spPr bwMode="auto">
          <a:xfrm>
            <a:off x="81534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32" name="Oval 55"/>
          <p:cNvSpPr>
            <a:spLocks noChangeArrowheads="1"/>
          </p:cNvSpPr>
          <p:nvPr/>
        </p:nvSpPr>
        <p:spPr bwMode="auto">
          <a:xfrm>
            <a:off x="88392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33" name="Oval 56"/>
          <p:cNvSpPr>
            <a:spLocks noChangeArrowheads="1"/>
          </p:cNvSpPr>
          <p:nvPr/>
        </p:nvSpPr>
        <p:spPr bwMode="auto">
          <a:xfrm>
            <a:off x="9296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34" name="Line 57"/>
          <p:cNvSpPr>
            <a:spLocks noChangeShapeType="1"/>
          </p:cNvSpPr>
          <p:nvPr/>
        </p:nvSpPr>
        <p:spPr bwMode="auto">
          <a:xfrm flipH="1">
            <a:off x="8915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35" name="Line 58"/>
          <p:cNvSpPr>
            <a:spLocks noChangeShapeType="1"/>
          </p:cNvSpPr>
          <p:nvPr/>
        </p:nvSpPr>
        <p:spPr bwMode="auto">
          <a:xfrm>
            <a:off x="92202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36" name="Oval 59"/>
          <p:cNvSpPr>
            <a:spLocks noChangeArrowheads="1"/>
          </p:cNvSpPr>
          <p:nvPr/>
        </p:nvSpPr>
        <p:spPr bwMode="auto">
          <a:xfrm>
            <a:off x="90678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37" name="Oval 60"/>
          <p:cNvSpPr>
            <a:spLocks noChangeArrowheads="1"/>
          </p:cNvSpPr>
          <p:nvPr/>
        </p:nvSpPr>
        <p:spPr bwMode="auto">
          <a:xfrm>
            <a:off x="69342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38" name="Line 61"/>
          <p:cNvSpPr>
            <a:spLocks noChangeShapeType="1"/>
          </p:cNvSpPr>
          <p:nvPr/>
        </p:nvSpPr>
        <p:spPr bwMode="auto">
          <a:xfrm flipH="1">
            <a:off x="6553200" y="30480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39" name="Line 62"/>
          <p:cNvSpPr>
            <a:spLocks noChangeShapeType="1"/>
          </p:cNvSpPr>
          <p:nvPr/>
        </p:nvSpPr>
        <p:spPr bwMode="auto">
          <a:xfrm>
            <a:off x="70866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40" name="Oval 63"/>
          <p:cNvSpPr>
            <a:spLocks noChangeArrowheads="1"/>
          </p:cNvSpPr>
          <p:nvPr/>
        </p:nvSpPr>
        <p:spPr bwMode="auto">
          <a:xfrm>
            <a:off x="86106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41" name="Line 64"/>
          <p:cNvSpPr>
            <a:spLocks noChangeShapeType="1"/>
          </p:cNvSpPr>
          <p:nvPr/>
        </p:nvSpPr>
        <p:spPr bwMode="auto">
          <a:xfrm flipH="1">
            <a:off x="83058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42" name="Line 65"/>
          <p:cNvSpPr>
            <a:spLocks noChangeShapeType="1"/>
          </p:cNvSpPr>
          <p:nvPr/>
        </p:nvSpPr>
        <p:spPr bwMode="auto">
          <a:xfrm>
            <a:off x="87630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43" name="Oval 66"/>
          <p:cNvSpPr>
            <a:spLocks noChangeArrowheads="1"/>
          </p:cNvSpPr>
          <p:nvPr/>
        </p:nvSpPr>
        <p:spPr bwMode="auto">
          <a:xfrm>
            <a:off x="7772400" y="2133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44" name="Line 67"/>
          <p:cNvSpPr>
            <a:spLocks noChangeShapeType="1"/>
          </p:cNvSpPr>
          <p:nvPr/>
        </p:nvSpPr>
        <p:spPr bwMode="auto">
          <a:xfrm flipH="1">
            <a:off x="70866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45" name="Line 68"/>
          <p:cNvSpPr>
            <a:spLocks noChangeShapeType="1"/>
          </p:cNvSpPr>
          <p:nvPr/>
        </p:nvSpPr>
        <p:spPr bwMode="auto">
          <a:xfrm>
            <a:off x="79248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46" name="Oval 69"/>
          <p:cNvSpPr>
            <a:spLocks noChangeArrowheads="1"/>
          </p:cNvSpPr>
          <p:nvPr/>
        </p:nvSpPr>
        <p:spPr bwMode="auto">
          <a:xfrm>
            <a:off x="6858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47" name="Oval 70"/>
          <p:cNvSpPr>
            <a:spLocks noChangeArrowheads="1"/>
          </p:cNvSpPr>
          <p:nvPr/>
        </p:nvSpPr>
        <p:spPr bwMode="auto">
          <a:xfrm>
            <a:off x="7315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48" name="Line 71"/>
          <p:cNvSpPr>
            <a:spLocks noChangeShapeType="1"/>
          </p:cNvSpPr>
          <p:nvPr/>
        </p:nvSpPr>
        <p:spPr bwMode="auto">
          <a:xfrm flipH="1">
            <a:off x="6934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49" name="Line 72"/>
          <p:cNvSpPr>
            <a:spLocks noChangeShapeType="1"/>
          </p:cNvSpPr>
          <p:nvPr/>
        </p:nvSpPr>
        <p:spPr bwMode="auto">
          <a:xfrm>
            <a:off x="7239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50" name="Oval 73"/>
          <p:cNvSpPr>
            <a:spLocks noChangeArrowheads="1"/>
          </p:cNvSpPr>
          <p:nvPr/>
        </p:nvSpPr>
        <p:spPr bwMode="auto">
          <a:xfrm>
            <a:off x="7924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51" name="Oval 74"/>
          <p:cNvSpPr>
            <a:spLocks noChangeArrowheads="1"/>
          </p:cNvSpPr>
          <p:nvPr/>
        </p:nvSpPr>
        <p:spPr bwMode="auto">
          <a:xfrm>
            <a:off x="83820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52" name="Line 75"/>
          <p:cNvSpPr>
            <a:spLocks noChangeShapeType="1"/>
          </p:cNvSpPr>
          <p:nvPr/>
        </p:nvSpPr>
        <p:spPr bwMode="auto">
          <a:xfrm flipH="1">
            <a:off x="80010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53" name="Line 76"/>
          <p:cNvSpPr>
            <a:spLocks noChangeShapeType="1"/>
          </p:cNvSpPr>
          <p:nvPr/>
        </p:nvSpPr>
        <p:spPr bwMode="auto">
          <a:xfrm>
            <a:off x="8305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54" name="Oval 77"/>
          <p:cNvSpPr>
            <a:spLocks noChangeArrowheads="1"/>
          </p:cNvSpPr>
          <p:nvPr/>
        </p:nvSpPr>
        <p:spPr bwMode="auto">
          <a:xfrm>
            <a:off x="7696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55" name="Oval 78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56" name="Line 79"/>
          <p:cNvSpPr>
            <a:spLocks noChangeShapeType="1"/>
          </p:cNvSpPr>
          <p:nvPr/>
        </p:nvSpPr>
        <p:spPr bwMode="auto">
          <a:xfrm flipH="1">
            <a:off x="77724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57" name="Line 80"/>
          <p:cNvSpPr>
            <a:spLocks noChangeShapeType="1"/>
          </p:cNvSpPr>
          <p:nvPr/>
        </p:nvSpPr>
        <p:spPr bwMode="auto">
          <a:xfrm>
            <a:off x="8077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58" name="Oval 81"/>
          <p:cNvSpPr>
            <a:spLocks noChangeArrowheads="1"/>
          </p:cNvSpPr>
          <p:nvPr/>
        </p:nvSpPr>
        <p:spPr bwMode="auto">
          <a:xfrm>
            <a:off x="90678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59" name="Oval 82"/>
          <p:cNvSpPr>
            <a:spLocks noChangeArrowheads="1"/>
          </p:cNvSpPr>
          <p:nvPr/>
        </p:nvSpPr>
        <p:spPr bwMode="auto">
          <a:xfrm>
            <a:off x="9525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60" name="Line 83"/>
          <p:cNvSpPr>
            <a:spLocks noChangeShapeType="1"/>
          </p:cNvSpPr>
          <p:nvPr/>
        </p:nvSpPr>
        <p:spPr bwMode="auto">
          <a:xfrm flipH="1">
            <a:off x="9144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61" name="Line 84"/>
          <p:cNvSpPr>
            <a:spLocks noChangeShapeType="1"/>
          </p:cNvSpPr>
          <p:nvPr/>
        </p:nvSpPr>
        <p:spPr bwMode="auto">
          <a:xfrm>
            <a:off x="94488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62" name="Oval 85"/>
          <p:cNvSpPr>
            <a:spLocks noChangeArrowheads="1"/>
          </p:cNvSpPr>
          <p:nvPr/>
        </p:nvSpPr>
        <p:spPr bwMode="auto">
          <a:xfrm>
            <a:off x="6248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63" name="Oval 86"/>
          <p:cNvSpPr>
            <a:spLocks noChangeArrowheads="1"/>
          </p:cNvSpPr>
          <p:nvPr/>
        </p:nvSpPr>
        <p:spPr bwMode="auto">
          <a:xfrm>
            <a:off x="6705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64" name="Line 87"/>
          <p:cNvSpPr>
            <a:spLocks noChangeShapeType="1"/>
          </p:cNvSpPr>
          <p:nvPr/>
        </p:nvSpPr>
        <p:spPr bwMode="auto">
          <a:xfrm flipH="1">
            <a:off x="6324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765" name="Line 88"/>
          <p:cNvSpPr>
            <a:spLocks noChangeShapeType="1"/>
          </p:cNvSpPr>
          <p:nvPr/>
        </p:nvSpPr>
        <p:spPr bwMode="auto">
          <a:xfrm>
            <a:off x="6629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70" name="Rectangle 89"/>
          <p:cNvSpPr>
            <a:spLocks noChangeArrowheads="1"/>
          </p:cNvSpPr>
          <p:nvPr/>
        </p:nvSpPr>
        <p:spPr bwMode="auto">
          <a:xfrm>
            <a:off x="1951038" y="4724400"/>
            <a:ext cx="8488362" cy="129159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600" dirty="0">
                <a:latin typeface="+mn-lt"/>
              </a:rPr>
              <a:t>Using the distance bounds and the bounds of the data below each node, we can prune parts of the tree that could NOT include the nearest neighbor.</a:t>
            </a:r>
          </a:p>
        </p:txBody>
      </p:sp>
      <p:sp>
        <p:nvSpPr>
          <p:cNvPr id="115767" name="Oval 90"/>
          <p:cNvSpPr>
            <a:spLocks noChangeArrowheads="1"/>
          </p:cNvSpPr>
          <p:nvPr/>
        </p:nvSpPr>
        <p:spPr bwMode="auto">
          <a:xfrm>
            <a:off x="4191000" y="2438400"/>
            <a:ext cx="76200" cy="76200"/>
          </a:xfrm>
          <a:prstGeom prst="ellipse">
            <a:avLst/>
          </a:prstGeom>
          <a:solidFill>
            <a:srgbClr val="FF06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68" name="Rectangle 91"/>
          <p:cNvSpPr>
            <a:spLocks noChangeArrowheads="1"/>
          </p:cNvSpPr>
          <p:nvPr/>
        </p:nvSpPr>
        <p:spPr bwMode="auto">
          <a:xfrm>
            <a:off x="3962400" y="3276600"/>
            <a:ext cx="1371600" cy="1066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69" name="Rectangle 92"/>
          <p:cNvSpPr>
            <a:spLocks noChangeArrowheads="1"/>
          </p:cNvSpPr>
          <p:nvPr/>
        </p:nvSpPr>
        <p:spPr bwMode="auto">
          <a:xfrm>
            <a:off x="7696200" y="3352800"/>
            <a:ext cx="914400" cy="9144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70" name="Oval 93"/>
          <p:cNvSpPr>
            <a:spLocks noChangeArrowheads="1"/>
          </p:cNvSpPr>
          <p:nvPr/>
        </p:nvSpPr>
        <p:spPr bwMode="auto">
          <a:xfrm>
            <a:off x="4038600" y="2286000"/>
            <a:ext cx="381000" cy="381000"/>
          </a:xfrm>
          <a:prstGeom prst="ellipse">
            <a:avLst/>
          </a:prstGeom>
          <a:noFill/>
          <a:ln w="19050">
            <a:solidFill>
              <a:srgbClr val="FF0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71" name="AutoShape 94"/>
          <p:cNvSpPr>
            <a:spLocks noChangeArrowheads="1"/>
          </p:cNvSpPr>
          <p:nvPr/>
        </p:nvSpPr>
        <p:spPr bwMode="auto">
          <a:xfrm>
            <a:off x="5029200" y="2667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5772" name="Line 95"/>
          <p:cNvSpPr>
            <a:spLocks noChangeShapeType="1"/>
          </p:cNvSpPr>
          <p:nvPr/>
        </p:nvSpPr>
        <p:spPr bwMode="auto">
          <a:xfrm>
            <a:off x="4267200" y="2514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with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135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38" name="Group 3"/>
          <p:cNvGrpSpPr/>
          <p:nvPr/>
        </p:nvGrpSpPr>
        <p:grpSpPr bwMode="auto">
          <a:xfrm>
            <a:off x="2209800" y="1600200"/>
            <a:ext cx="3263900" cy="2916238"/>
            <a:chOff x="1344" y="1056"/>
            <a:chExt cx="1824" cy="1632"/>
          </a:xfrm>
        </p:grpSpPr>
        <p:sp>
          <p:nvSpPr>
            <p:cNvPr id="116801" name="AutoShape 4"/>
            <p:cNvSpPr>
              <a:spLocks noChangeArrowheads="1"/>
            </p:cNvSpPr>
            <p:nvPr/>
          </p:nvSpPr>
          <p:spPr bwMode="auto">
            <a:xfrm>
              <a:off x="1536" y="168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02" name="AutoShape 5"/>
            <p:cNvSpPr>
              <a:spLocks noChangeArrowheads="1"/>
            </p:cNvSpPr>
            <p:nvPr/>
          </p:nvSpPr>
          <p:spPr bwMode="auto">
            <a:xfrm>
              <a:off x="163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03" name="AutoShape 6"/>
            <p:cNvSpPr>
              <a:spLocks noChangeArrowheads="1"/>
            </p:cNvSpPr>
            <p:nvPr/>
          </p:nvSpPr>
          <p:spPr bwMode="auto">
            <a:xfrm>
              <a:off x="1488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04" name="AutoShape 7"/>
            <p:cNvSpPr>
              <a:spLocks noChangeArrowheads="1"/>
            </p:cNvSpPr>
            <p:nvPr/>
          </p:nvSpPr>
          <p:spPr bwMode="auto">
            <a:xfrm>
              <a:off x="240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05" name="AutoShape 8"/>
            <p:cNvSpPr>
              <a:spLocks noChangeArrowheads="1"/>
            </p:cNvSpPr>
            <p:nvPr/>
          </p:nvSpPr>
          <p:spPr bwMode="auto">
            <a:xfrm>
              <a:off x="1392" y="177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06" name="AutoShape 9"/>
            <p:cNvSpPr>
              <a:spLocks noChangeArrowheads="1"/>
            </p:cNvSpPr>
            <p:nvPr/>
          </p:nvSpPr>
          <p:spPr bwMode="auto">
            <a:xfrm>
              <a:off x="2352" y="230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07" name="AutoShape 10"/>
            <p:cNvSpPr>
              <a:spLocks noChangeArrowheads="1"/>
            </p:cNvSpPr>
            <p:nvPr/>
          </p:nvSpPr>
          <p:spPr bwMode="auto">
            <a:xfrm>
              <a:off x="2304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08" name="AutoShape 11"/>
            <p:cNvSpPr>
              <a:spLocks noChangeArrowheads="1"/>
            </p:cNvSpPr>
            <p:nvPr/>
          </p:nvSpPr>
          <p:spPr bwMode="auto">
            <a:xfrm>
              <a:off x="2736" y="153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09" name="AutoShape 12"/>
            <p:cNvSpPr>
              <a:spLocks noChangeArrowheads="1"/>
            </p:cNvSpPr>
            <p:nvPr/>
          </p:nvSpPr>
          <p:spPr bwMode="auto">
            <a:xfrm>
              <a:off x="2496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10" name="AutoShape 13"/>
            <p:cNvSpPr>
              <a:spLocks noChangeArrowheads="1"/>
            </p:cNvSpPr>
            <p:nvPr/>
          </p:nvSpPr>
          <p:spPr bwMode="auto">
            <a:xfrm>
              <a:off x="220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11" name="AutoShape 14"/>
            <p:cNvSpPr>
              <a:spLocks noChangeArrowheads="1"/>
            </p:cNvSpPr>
            <p:nvPr/>
          </p:nvSpPr>
          <p:spPr bwMode="auto">
            <a:xfrm>
              <a:off x="230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12" name="AutoShape 15"/>
            <p:cNvSpPr>
              <a:spLocks noChangeArrowheads="1"/>
            </p:cNvSpPr>
            <p:nvPr/>
          </p:nvSpPr>
          <p:spPr bwMode="auto">
            <a:xfrm>
              <a:off x="2400" y="25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13" name="AutoShape 16"/>
            <p:cNvSpPr>
              <a:spLocks noChangeArrowheads="1"/>
            </p:cNvSpPr>
            <p:nvPr/>
          </p:nvSpPr>
          <p:spPr bwMode="auto">
            <a:xfrm>
              <a:off x="2400" y="24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14" name="AutoShape 17"/>
            <p:cNvSpPr>
              <a:spLocks noChangeArrowheads="1"/>
            </p:cNvSpPr>
            <p:nvPr/>
          </p:nvSpPr>
          <p:spPr bwMode="auto">
            <a:xfrm>
              <a:off x="2976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15" name="AutoShape 18"/>
            <p:cNvSpPr>
              <a:spLocks noChangeArrowheads="1"/>
            </p:cNvSpPr>
            <p:nvPr/>
          </p:nvSpPr>
          <p:spPr bwMode="auto">
            <a:xfrm>
              <a:off x="2064" y="172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16" name="AutoShape 19"/>
            <p:cNvSpPr>
              <a:spLocks noChangeArrowheads="1"/>
            </p:cNvSpPr>
            <p:nvPr/>
          </p:nvSpPr>
          <p:spPr bwMode="auto">
            <a:xfrm>
              <a:off x="2112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17" name="AutoShape 20"/>
            <p:cNvSpPr>
              <a:spLocks noChangeArrowheads="1"/>
            </p:cNvSpPr>
            <p:nvPr/>
          </p:nvSpPr>
          <p:spPr bwMode="auto">
            <a:xfrm>
              <a:off x="254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18" name="AutoShape 21"/>
            <p:cNvSpPr>
              <a:spLocks noChangeArrowheads="1"/>
            </p:cNvSpPr>
            <p:nvPr/>
          </p:nvSpPr>
          <p:spPr bwMode="auto">
            <a:xfrm>
              <a:off x="1680" y="2496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19" name="AutoShape 22"/>
            <p:cNvSpPr>
              <a:spLocks noChangeArrowheads="1"/>
            </p:cNvSpPr>
            <p:nvPr/>
          </p:nvSpPr>
          <p:spPr bwMode="auto">
            <a:xfrm>
              <a:off x="1728" y="206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20" name="AutoShape 23"/>
            <p:cNvSpPr>
              <a:spLocks noChangeArrowheads="1"/>
            </p:cNvSpPr>
            <p:nvPr/>
          </p:nvSpPr>
          <p:spPr bwMode="auto">
            <a:xfrm>
              <a:off x="2496" y="134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21" name="AutoShape 24"/>
            <p:cNvSpPr>
              <a:spLocks noChangeArrowheads="1"/>
            </p:cNvSpPr>
            <p:nvPr/>
          </p:nvSpPr>
          <p:spPr bwMode="auto">
            <a:xfrm>
              <a:off x="2592" y="144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22" name="AutoShape 25"/>
            <p:cNvSpPr>
              <a:spLocks noChangeArrowheads="1"/>
            </p:cNvSpPr>
            <p:nvPr/>
          </p:nvSpPr>
          <p:spPr bwMode="auto">
            <a:xfrm>
              <a:off x="2640" y="139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23" name="AutoShape 26"/>
            <p:cNvSpPr>
              <a:spLocks noChangeArrowheads="1"/>
            </p:cNvSpPr>
            <p:nvPr/>
          </p:nvSpPr>
          <p:spPr bwMode="auto">
            <a:xfrm>
              <a:off x="2688" y="23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24" name="AutoShape 27"/>
            <p:cNvSpPr>
              <a:spLocks noChangeArrowheads="1"/>
            </p:cNvSpPr>
            <p:nvPr/>
          </p:nvSpPr>
          <p:spPr bwMode="auto">
            <a:xfrm>
              <a:off x="158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25" name="AutoShape 28"/>
            <p:cNvSpPr>
              <a:spLocks noChangeArrowheads="1"/>
            </p:cNvSpPr>
            <p:nvPr/>
          </p:nvSpPr>
          <p:spPr bwMode="auto">
            <a:xfrm>
              <a:off x="1824" y="196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26" name="AutoShape 29"/>
            <p:cNvSpPr>
              <a:spLocks noChangeArrowheads="1"/>
            </p:cNvSpPr>
            <p:nvPr/>
          </p:nvSpPr>
          <p:spPr bwMode="auto">
            <a:xfrm>
              <a:off x="2160" y="163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27" name="AutoShape 30"/>
            <p:cNvSpPr>
              <a:spLocks noChangeArrowheads="1"/>
            </p:cNvSpPr>
            <p:nvPr/>
          </p:nvSpPr>
          <p:spPr bwMode="auto">
            <a:xfrm>
              <a:off x="2016" y="216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28" name="AutoShape 31"/>
            <p:cNvSpPr>
              <a:spLocks noChangeArrowheads="1"/>
            </p:cNvSpPr>
            <p:nvPr/>
          </p:nvSpPr>
          <p:spPr bwMode="auto">
            <a:xfrm>
              <a:off x="1680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29" name="AutoShape 32"/>
            <p:cNvSpPr>
              <a:spLocks noChangeArrowheads="1"/>
            </p:cNvSpPr>
            <p:nvPr/>
          </p:nvSpPr>
          <p:spPr bwMode="auto">
            <a:xfrm>
              <a:off x="158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30" name="AutoShape 33"/>
            <p:cNvSpPr>
              <a:spLocks noChangeArrowheads="1"/>
            </p:cNvSpPr>
            <p:nvPr/>
          </p:nvSpPr>
          <p:spPr bwMode="auto">
            <a:xfrm>
              <a:off x="1488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31" name="AutoShape 34"/>
            <p:cNvSpPr>
              <a:spLocks noChangeArrowheads="1"/>
            </p:cNvSpPr>
            <p:nvPr/>
          </p:nvSpPr>
          <p:spPr bwMode="auto">
            <a:xfrm>
              <a:off x="2064" y="1152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32" name="AutoShape 35"/>
            <p:cNvSpPr>
              <a:spLocks noChangeArrowheads="1"/>
            </p:cNvSpPr>
            <p:nvPr/>
          </p:nvSpPr>
          <p:spPr bwMode="auto">
            <a:xfrm>
              <a:off x="2976" y="1200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33" name="AutoShape 36"/>
            <p:cNvSpPr>
              <a:spLocks noChangeArrowheads="1"/>
            </p:cNvSpPr>
            <p:nvPr/>
          </p:nvSpPr>
          <p:spPr bwMode="auto">
            <a:xfrm>
              <a:off x="3024" y="2448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6834" name="Rectangle 37"/>
            <p:cNvSpPr>
              <a:spLocks noChangeArrowheads="1"/>
            </p:cNvSpPr>
            <p:nvPr/>
          </p:nvSpPr>
          <p:spPr bwMode="auto">
            <a:xfrm>
              <a:off x="1344" y="1056"/>
              <a:ext cx="1824" cy="1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16739" name="Line 38"/>
          <p:cNvSpPr>
            <a:spLocks noChangeShapeType="1"/>
          </p:cNvSpPr>
          <p:nvPr/>
        </p:nvSpPr>
        <p:spPr bwMode="auto">
          <a:xfrm>
            <a:off x="3886200" y="1600200"/>
            <a:ext cx="0" cy="289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0" name="Line 39"/>
          <p:cNvSpPr>
            <a:spLocks noChangeShapeType="1"/>
          </p:cNvSpPr>
          <p:nvPr/>
        </p:nvSpPr>
        <p:spPr bwMode="auto">
          <a:xfrm>
            <a:off x="38862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1" name="Line 40"/>
          <p:cNvSpPr>
            <a:spLocks noChangeShapeType="1"/>
          </p:cNvSpPr>
          <p:nvPr/>
        </p:nvSpPr>
        <p:spPr bwMode="auto">
          <a:xfrm>
            <a:off x="4724400" y="29718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2" name="Line 41"/>
          <p:cNvSpPr>
            <a:spLocks noChangeShapeType="1"/>
          </p:cNvSpPr>
          <p:nvPr/>
        </p:nvSpPr>
        <p:spPr bwMode="auto">
          <a:xfrm>
            <a:off x="3886200" y="3962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3" name="Line 42"/>
          <p:cNvSpPr>
            <a:spLocks noChangeShapeType="1"/>
          </p:cNvSpPr>
          <p:nvPr/>
        </p:nvSpPr>
        <p:spPr bwMode="auto">
          <a:xfrm>
            <a:off x="2209800" y="32766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4" name="Line 43"/>
          <p:cNvSpPr>
            <a:spLocks noChangeShapeType="1"/>
          </p:cNvSpPr>
          <p:nvPr/>
        </p:nvSpPr>
        <p:spPr bwMode="auto">
          <a:xfrm flipV="1">
            <a:off x="3124200" y="1600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5" name="Line 44"/>
          <p:cNvSpPr>
            <a:spLocks noChangeShapeType="1"/>
          </p:cNvSpPr>
          <p:nvPr/>
        </p:nvSpPr>
        <p:spPr bwMode="auto">
          <a:xfrm>
            <a:off x="3886200" y="2362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6" name="Line 45"/>
          <p:cNvSpPr>
            <a:spLocks noChangeShapeType="1"/>
          </p:cNvSpPr>
          <p:nvPr/>
        </p:nvSpPr>
        <p:spPr bwMode="auto">
          <a:xfrm>
            <a:off x="4495800" y="1600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7" name="Line 46"/>
          <p:cNvSpPr>
            <a:spLocks noChangeShapeType="1"/>
          </p:cNvSpPr>
          <p:nvPr/>
        </p:nvSpPr>
        <p:spPr bwMode="auto">
          <a:xfrm>
            <a:off x="2971800" y="32766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8" name="Line 47"/>
          <p:cNvSpPr>
            <a:spLocks noChangeShapeType="1"/>
          </p:cNvSpPr>
          <p:nvPr/>
        </p:nvSpPr>
        <p:spPr bwMode="auto">
          <a:xfrm>
            <a:off x="2209800" y="2743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9" name="Oval 48"/>
          <p:cNvSpPr>
            <a:spLocks noChangeArrowheads="1"/>
          </p:cNvSpPr>
          <p:nvPr/>
        </p:nvSpPr>
        <p:spPr bwMode="auto">
          <a:xfrm>
            <a:off x="64770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50" name="Oval 49"/>
          <p:cNvSpPr>
            <a:spLocks noChangeArrowheads="1"/>
          </p:cNvSpPr>
          <p:nvPr/>
        </p:nvSpPr>
        <p:spPr bwMode="auto">
          <a:xfrm>
            <a:off x="73152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51" name="Oval 50"/>
          <p:cNvSpPr>
            <a:spLocks noChangeArrowheads="1"/>
          </p:cNvSpPr>
          <p:nvPr/>
        </p:nvSpPr>
        <p:spPr bwMode="auto">
          <a:xfrm>
            <a:off x="7086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52" name="Oval 51"/>
          <p:cNvSpPr>
            <a:spLocks noChangeArrowheads="1"/>
          </p:cNvSpPr>
          <p:nvPr/>
        </p:nvSpPr>
        <p:spPr bwMode="auto">
          <a:xfrm>
            <a:off x="7543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53" name="Line 52"/>
          <p:cNvSpPr>
            <a:spLocks noChangeShapeType="1"/>
          </p:cNvSpPr>
          <p:nvPr/>
        </p:nvSpPr>
        <p:spPr bwMode="auto">
          <a:xfrm flipH="1">
            <a:off x="7162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54" name="Line 53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55" name="Oval 54"/>
          <p:cNvSpPr>
            <a:spLocks noChangeArrowheads="1"/>
          </p:cNvSpPr>
          <p:nvPr/>
        </p:nvSpPr>
        <p:spPr bwMode="auto">
          <a:xfrm>
            <a:off x="81534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56" name="Oval 55"/>
          <p:cNvSpPr>
            <a:spLocks noChangeArrowheads="1"/>
          </p:cNvSpPr>
          <p:nvPr/>
        </p:nvSpPr>
        <p:spPr bwMode="auto">
          <a:xfrm>
            <a:off x="88392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57" name="Oval 56"/>
          <p:cNvSpPr>
            <a:spLocks noChangeArrowheads="1"/>
          </p:cNvSpPr>
          <p:nvPr/>
        </p:nvSpPr>
        <p:spPr bwMode="auto">
          <a:xfrm>
            <a:off x="9296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58" name="Line 57"/>
          <p:cNvSpPr>
            <a:spLocks noChangeShapeType="1"/>
          </p:cNvSpPr>
          <p:nvPr/>
        </p:nvSpPr>
        <p:spPr bwMode="auto">
          <a:xfrm flipH="1">
            <a:off x="8915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59" name="Line 58"/>
          <p:cNvSpPr>
            <a:spLocks noChangeShapeType="1"/>
          </p:cNvSpPr>
          <p:nvPr/>
        </p:nvSpPr>
        <p:spPr bwMode="auto">
          <a:xfrm>
            <a:off x="92202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60" name="Oval 59"/>
          <p:cNvSpPr>
            <a:spLocks noChangeArrowheads="1"/>
          </p:cNvSpPr>
          <p:nvPr/>
        </p:nvSpPr>
        <p:spPr bwMode="auto">
          <a:xfrm>
            <a:off x="9067800" y="34290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61" name="Oval 60"/>
          <p:cNvSpPr>
            <a:spLocks noChangeArrowheads="1"/>
          </p:cNvSpPr>
          <p:nvPr/>
        </p:nvSpPr>
        <p:spPr bwMode="auto">
          <a:xfrm>
            <a:off x="69342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62" name="Line 61"/>
          <p:cNvSpPr>
            <a:spLocks noChangeShapeType="1"/>
          </p:cNvSpPr>
          <p:nvPr/>
        </p:nvSpPr>
        <p:spPr bwMode="auto">
          <a:xfrm flipH="1">
            <a:off x="6553200" y="30480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63" name="Line 62"/>
          <p:cNvSpPr>
            <a:spLocks noChangeShapeType="1"/>
          </p:cNvSpPr>
          <p:nvPr/>
        </p:nvSpPr>
        <p:spPr bwMode="auto">
          <a:xfrm>
            <a:off x="70866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64" name="Oval 63"/>
          <p:cNvSpPr>
            <a:spLocks noChangeArrowheads="1"/>
          </p:cNvSpPr>
          <p:nvPr/>
        </p:nvSpPr>
        <p:spPr bwMode="auto">
          <a:xfrm>
            <a:off x="8610600" y="2895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65" name="Line 64"/>
          <p:cNvSpPr>
            <a:spLocks noChangeShapeType="1"/>
          </p:cNvSpPr>
          <p:nvPr/>
        </p:nvSpPr>
        <p:spPr bwMode="auto">
          <a:xfrm flipH="1">
            <a:off x="83058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66" name="Line 65"/>
          <p:cNvSpPr>
            <a:spLocks noChangeShapeType="1"/>
          </p:cNvSpPr>
          <p:nvPr/>
        </p:nvSpPr>
        <p:spPr bwMode="auto">
          <a:xfrm>
            <a:off x="8763000" y="30480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67" name="Oval 66"/>
          <p:cNvSpPr>
            <a:spLocks noChangeArrowheads="1"/>
          </p:cNvSpPr>
          <p:nvPr/>
        </p:nvSpPr>
        <p:spPr bwMode="auto">
          <a:xfrm>
            <a:off x="7772400" y="2133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68" name="Line 67"/>
          <p:cNvSpPr>
            <a:spLocks noChangeShapeType="1"/>
          </p:cNvSpPr>
          <p:nvPr/>
        </p:nvSpPr>
        <p:spPr bwMode="auto">
          <a:xfrm flipH="1">
            <a:off x="70866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69" name="Line 68"/>
          <p:cNvSpPr>
            <a:spLocks noChangeShapeType="1"/>
          </p:cNvSpPr>
          <p:nvPr/>
        </p:nvSpPr>
        <p:spPr bwMode="auto">
          <a:xfrm>
            <a:off x="7924800" y="22860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70" name="Oval 69"/>
          <p:cNvSpPr>
            <a:spLocks noChangeArrowheads="1"/>
          </p:cNvSpPr>
          <p:nvPr/>
        </p:nvSpPr>
        <p:spPr bwMode="auto">
          <a:xfrm>
            <a:off x="6858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71" name="Oval 70"/>
          <p:cNvSpPr>
            <a:spLocks noChangeArrowheads="1"/>
          </p:cNvSpPr>
          <p:nvPr/>
        </p:nvSpPr>
        <p:spPr bwMode="auto">
          <a:xfrm>
            <a:off x="7315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72" name="Line 71"/>
          <p:cNvSpPr>
            <a:spLocks noChangeShapeType="1"/>
          </p:cNvSpPr>
          <p:nvPr/>
        </p:nvSpPr>
        <p:spPr bwMode="auto">
          <a:xfrm flipH="1">
            <a:off x="6934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73" name="Line 72"/>
          <p:cNvSpPr>
            <a:spLocks noChangeShapeType="1"/>
          </p:cNvSpPr>
          <p:nvPr/>
        </p:nvSpPr>
        <p:spPr bwMode="auto">
          <a:xfrm>
            <a:off x="7239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74" name="Oval 73"/>
          <p:cNvSpPr>
            <a:spLocks noChangeArrowheads="1"/>
          </p:cNvSpPr>
          <p:nvPr/>
        </p:nvSpPr>
        <p:spPr bwMode="auto">
          <a:xfrm>
            <a:off x="79248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75" name="Oval 74"/>
          <p:cNvSpPr>
            <a:spLocks noChangeArrowheads="1"/>
          </p:cNvSpPr>
          <p:nvPr/>
        </p:nvSpPr>
        <p:spPr bwMode="auto">
          <a:xfrm>
            <a:off x="83820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76" name="Line 75"/>
          <p:cNvSpPr>
            <a:spLocks noChangeShapeType="1"/>
          </p:cNvSpPr>
          <p:nvPr/>
        </p:nvSpPr>
        <p:spPr bwMode="auto">
          <a:xfrm flipH="1">
            <a:off x="80010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77" name="Line 76"/>
          <p:cNvSpPr>
            <a:spLocks noChangeShapeType="1"/>
          </p:cNvSpPr>
          <p:nvPr/>
        </p:nvSpPr>
        <p:spPr bwMode="auto">
          <a:xfrm>
            <a:off x="83058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78" name="Oval 77"/>
          <p:cNvSpPr>
            <a:spLocks noChangeArrowheads="1"/>
          </p:cNvSpPr>
          <p:nvPr/>
        </p:nvSpPr>
        <p:spPr bwMode="auto">
          <a:xfrm>
            <a:off x="76962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79" name="Oval 78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80" name="Line 79"/>
          <p:cNvSpPr>
            <a:spLocks noChangeShapeType="1"/>
          </p:cNvSpPr>
          <p:nvPr/>
        </p:nvSpPr>
        <p:spPr bwMode="auto">
          <a:xfrm flipH="1">
            <a:off x="77724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81" name="Line 80"/>
          <p:cNvSpPr>
            <a:spLocks noChangeShapeType="1"/>
          </p:cNvSpPr>
          <p:nvPr/>
        </p:nvSpPr>
        <p:spPr bwMode="auto">
          <a:xfrm>
            <a:off x="80772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82" name="Oval 81"/>
          <p:cNvSpPr>
            <a:spLocks noChangeArrowheads="1"/>
          </p:cNvSpPr>
          <p:nvPr/>
        </p:nvSpPr>
        <p:spPr bwMode="auto">
          <a:xfrm>
            <a:off x="90678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83" name="Oval 82"/>
          <p:cNvSpPr>
            <a:spLocks noChangeArrowheads="1"/>
          </p:cNvSpPr>
          <p:nvPr/>
        </p:nvSpPr>
        <p:spPr bwMode="auto">
          <a:xfrm>
            <a:off x="9525000" y="40386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84" name="Line 83"/>
          <p:cNvSpPr>
            <a:spLocks noChangeShapeType="1"/>
          </p:cNvSpPr>
          <p:nvPr/>
        </p:nvSpPr>
        <p:spPr bwMode="auto">
          <a:xfrm flipH="1">
            <a:off x="91440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85" name="Line 84"/>
          <p:cNvSpPr>
            <a:spLocks noChangeShapeType="1"/>
          </p:cNvSpPr>
          <p:nvPr/>
        </p:nvSpPr>
        <p:spPr bwMode="auto">
          <a:xfrm>
            <a:off x="9448800" y="38862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86" name="Oval 85"/>
          <p:cNvSpPr>
            <a:spLocks noChangeArrowheads="1"/>
          </p:cNvSpPr>
          <p:nvPr/>
        </p:nvSpPr>
        <p:spPr bwMode="auto">
          <a:xfrm>
            <a:off x="62484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87" name="Oval 86"/>
          <p:cNvSpPr>
            <a:spLocks noChangeArrowheads="1"/>
          </p:cNvSpPr>
          <p:nvPr/>
        </p:nvSpPr>
        <p:spPr bwMode="auto">
          <a:xfrm>
            <a:off x="6705600" y="37338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88" name="Line 87"/>
          <p:cNvSpPr>
            <a:spLocks noChangeShapeType="1"/>
          </p:cNvSpPr>
          <p:nvPr/>
        </p:nvSpPr>
        <p:spPr bwMode="auto">
          <a:xfrm flipH="1">
            <a:off x="63246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89" name="Line 88"/>
          <p:cNvSpPr>
            <a:spLocks noChangeShapeType="1"/>
          </p:cNvSpPr>
          <p:nvPr/>
        </p:nvSpPr>
        <p:spPr bwMode="auto">
          <a:xfrm>
            <a:off x="6629400" y="3581400"/>
            <a:ext cx="152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94" name="Rectangle 89"/>
          <p:cNvSpPr>
            <a:spLocks noChangeArrowheads="1"/>
          </p:cNvSpPr>
          <p:nvPr/>
        </p:nvSpPr>
        <p:spPr bwMode="auto">
          <a:xfrm>
            <a:off x="1951038" y="4724400"/>
            <a:ext cx="8488362" cy="129159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600" dirty="0">
                <a:latin typeface="+mn-lt"/>
              </a:rPr>
              <a:t>Using the distance bounds and the bounds of the data below each node, we can prune parts of the tree that could NOT include the nearest neighbor.</a:t>
            </a:r>
          </a:p>
        </p:txBody>
      </p:sp>
      <p:sp>
        <p:nvSpPr>
          <p:cNvPr id="116791" name="Oval 90"/>
          <p:cNvSpPr>
            <a:spLocks noChangeArrowheads="1"/>
          </p:cNvSpPr>
          <p:nvPr/>
        </p:nvSpPr>
        <p:spPr bwMode="auto">
          <a:xfrm>
            <a:off x="4191000" y="2438400"/>
            <a:ext cx="76200" cy="76200"/>
          </a:xfrm>
          <a:prstGeom prst="ellipse">
            <a:avLst/>
          </a:prstGeom>
          <a:solidFill>
            <a:srgbClr val="FF06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92" name="Oval 91"/>
          <p:cNvSpPr>
            <a:spLocks noChangeArrowheads="1"/>
          </p:cNvSpPr>
          <p:nvPr/>
        </p:nvSpPr>
        <p:spPr bwMode="auto">
          <a:xfrm>
            <a:off x="4038600" y="2286000"/>
            <a:ext cx="381000" cy="381000"/>
          </a:xfrm>
          <a:prstGeom prst="ellipse">
            <a:avLst/>
          </a:prstGeom>
          <a:noFill/>
          <a:ln w="19050">
            <a:solidFill>
              <a:srgbClr val="FF06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93" name="Rectangle 92"/>
          <p:cNvSpPr>
            <a:spLocks noChangeArrowheads="1"/>
          </p:cNvSpPr>
          <p:nvPr/>
        </p:nvSpPr>
        <p:spPr bwMode="auto">
          <a:xfrm>
            <a:off x="2209800" y="1600200"/>
            <a:ext cx="1676400" cy="2895600"/>
          </a:xfrm>
          <a:prstGeom prst="rect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94" name="Rectangle 93"/>
          <p:cNvSpPr>
            <a:spLocks noChangeArrowheads="1"/>
          </p:cNvSpPr>
          <p:nvPr/>
        </p:nvSpPr>
        <p:spPr bwMode="auto">
          <a:xfrm>
            <a:off x="3886200" y="2971800"/>
            <a:ext cx="1600200" cy="1524000"/>
          </a:xfrm>
          <a:prstGeom prst="rect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95" name="Rectangle 94"/>
          <p:cNvSpPr>
            <a:spLocks noChangeArrowheads="1"/>
          </p:cNvSpPr>
          <p:nvPr/>
        </p:nvSpPr>
        <p:spPr bwMode="auto">
          <a:xfrm>
            <a:off x="4495800" y="1600200"/>
            <a:ext cx="990600" cy="762000"/>
          </a:xfrm>
          <a:prstGeom prst="rect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96" name="Rectangle 95"/>
          <p:cNvSpPr>
            <a:spLocks noChangeArrowheads="1"/>
          </p:cNvSpPr>
          <p:nvPr/>
        </p:nvSpPr>
        <p:spPr bwMode="auto">
          <a:xfrm>
            <a:off x="9448800" y="4038600"/>
            <a:ext cx="304800" cy="228600"/>
          </a:xfrm>
          <a:prstGeom prst="rect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97" name="Rectangle 96"/>
          <p:cNvSpPr>
            <a:spLocks noChangeArrowheads="1"/>
          </p:cNvSpPr>
          <p:nvPr/>
        </p:nvSpPr>
        <p:spPr bwMode="auto">
          <a:xfrm>
            <a:off x="7696200" y="3429000"/>
            <a:ext cx="990600" cy="762000"/>
          </a:xfrm>
          <a:prstGeom prst="rect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98" name="Rectangle 97"/>
          <p:cNvSpPr>
            <a:spLocks noChangeArrowheads="1"/>
          </p:cNvSpPr>
          <p:nvPr/>
        </p:nvSpPr>
        <p:spPr bwMode="auto">
          <a:xfrm>
            <a:off x="6172200" y="2895600"/>
            <a:ext cx="1524000" cy="1371600"/>
          </a:xfrm>
          <a:prstGeom prst="rect">
            <a:avLst/>
          </a:prstGeom>
          <a:solidFill>
            <a:srgbClr val="80808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6799" name="AutoShape 98"/>
          <p:cNvSpPr>
            <a:spLocks noChangeArrowheads="1"/>
          </p:cNvSpPr>
          <p:nvPr/>
        </p:nvSpPr>
        <p:spPr bwMode="auto">
          <a:xfrm>
            <a:off x="5029200" y="2667000"/>
            <a:ext cx="85725" cy="85725"/>
          </a:xfrm>
          <a:prstGeom prst="octagon">
            <a:avLst>
              <a:gd name="adj" fmla="val 2928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with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136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4240" y="1825625"/>
            <a:ext cx="10515600" cy="4351338"/>
          </a:xfrm>
        </p:spPr>
        <p:txBody>
          <a:bodyPr/>
          <a:lstStyle/>
          <a:p>
            <a:r>
              <a:rPr lang="en-US" altLang="zh-CN" dirty="0"/>
              <a:t>the query point </a:t>
            </a:r>
            <a:r>
              <a:rPr lang="en-US" altLang="zh-CN" dirty="0">
                <a:solidFill>
                  <a:srgbClr val="0070C0"/>
                </a:solidFill>
              </a:rPr>
              <a:t>q</a:t>
            </a:r>
          </a:p>
          <a:p>
            <a:r>
              <a:rPr lang="en-US" altLang="zh-CN" dirty="0"/>
              <a:t>the current node </a:t>
            </a:r>
            <a:r>
              <a:rPr lang="en-US" altLang="zh-CN" dirty="0">
                <a:solidFill>
                  <a:srgbClr val="0070C0"/>
                </a:solidFill>
              </a:rPr>
              <a:t>p</a:t>
            </a:r>
            <a:r>
              <a:rPr lang="en-US" altLang="zh-CN" dirty="0"/>
              <a:t> of the tree</a:t>
            </a:r>
          </a:p>
          <a:p>
            <a:r>
              <a:rPr lang="en-US" altLang="zh-CN" dirty="0"/>
              <a:t>the rectangular </a:t>
            </a:r>
            <a:r>
              <a:rPr lang="en-US" altLang="zh-CN" dirty="0">
                <a:solidFill>
                  <a:srgbClr val="0070C0"/>
                </a:solidFill>
              </a:rPr>
              <a:t>cell</a:t>
            </a:r>
            <a:r>
              <a:rPr lang="en-US" altLang="zh-CN" dirty="0"/>
              <a:t> associated with this node</a:t>
            </a:r>
          </a:p>
          <a:p>
            <a:r>
              <a:rPr lang="en-US" altLang="zh-CN" dirty="0"/>
              <a:t>the smallest distance, </a:t>
            </a:r>
            <a:r>
              <a:rPr lang="en-US" altLang="zh-CN" dirty="0" err="1">
                <a:solidFill>
                  <a:srgbClr val="0070C0"/>
                </a:solidFill>
              </a:rPr>
              <a:t>bestDist</a:t>
            </a:r>
            <a:r>
              <a:rPr lang="en-US" altLang="zh-CN" dirty="0"/>
              <a:t>, between q and any point seen so far in the search. </a:t>
            </a:r>
          </a:p>
          <a:p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102994" y="1124519"/>
            <a:ext cx="6532171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rgbClr val="00B050"/>
                </a:solidFill>
                <a:effectLst/>
                <a:cs typeface="+mn-lt"/>
              </a:rPr>
              <a:t>nearNeighbor</a:t>
            </a:r>
            <a:r>
              <a:rPr lang="en-US" altLang="zh-CN" sz="2800" dirty="0">
                <a:effectLst/>
                <a:cs typeface="+mn-lt"/>
              </a:rPr>
              <a:t>(</a:t>
            </a:r>
            <a:r>
              <a:rPr lang="en-US" altLang="zh-CN" sz="2800" dirty="0">
                <a:solidFill>
                  <a:srgbClr val="0070C0"/>
                </a:solidFill>
                <a:effectLst/>
                <a:cs typeface="+mn-lt"/>
              </a:rPr>
              <a:t>q, p, cell, </a:t>
            </a:r>
            <a:r>
              <a:rPr lang="en-US" altLang="zh-CN" sz="2800" dirty="0" err="1">
                <a:solidFill>
                  <a:srgbClr val="0070C0"/>
                </a:solidFill>
                <a:effectLst/>
                <a:cs typeface="+mn-lt"/>
              </a:rPr>
              <a:t>bestDist</a:t>
            </a:r>
            <a:r>
              <a:rPr lang="en-US" altLang="zh-CN" sz="2800" dirty="0">
                <a:effectLst/>
                <a:latin typeface="CMTT10"/>
              </a:rPr>
              <a:t>) </a:t>
            </a:r>
            <a:endParaRPr lang="en-US" altLang="zh-CN" sz="2800" dirty="0"/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Nearest Neighbor with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137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3175" y="7620"/>
            <a:ext cx="12195810" cy="831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44772" y="903265"/>
            <a:ext cx="9868395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float </a:t>
            </a:r>
            <a:r>
              <a:rPr lang="en-US" altLang="zh-CN" sz="2000" dirty="0" err="1">
                <a:solidFill>
                  <a:srgbClr val="00B050"/>
                </a:solidFill>
                <a:latin typeface="Times-Roman" pitchFamily="2" charset="0"/>
              </a:rPr>
              <a:t>nearNeighbor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(Point q,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KDNode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 p, Rectangle cell, float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) {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if (p != null) {        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 		float </a:t>
            </a:r>
            <a:r>
              <a:rPr lang="en-US" altLang="zh-CN" sz="2000" dirty="0" err="1">
                <a:solidFill>
                  <a:srgbClr val="C00000"/>
                </a:solidFill>
                <a:latin typeface="Times-Roman" pitchFamily="2" charset="0"/>
              </a:rPr>
              <a:t>thisDist</a:t>
            </a:r>
            <a:r>
              <a:rPr lang="en-US" altLang="zh-CN" sz="2000" dirty="0">
                <a:solidFill>
                  <a:srgbClr val="C00000"/>
                </a:solidFill>
                <a:latin typeface="Times-Roman" pitchFamily="2" charset="0"/>
              </a:rPr>
              <a:t> = </a:t>
            </a:r>
            <a:r>
              <a:rPr lang="en-US" altLang="zh-CN" sz="2000" dirty="0" err="1">
                <a:solidFill>
                  <a:srgbClr val="C00000"/>
                </a:solidFill>
                <a:latin typeface="Times-Roman" pitchFamily="2" charset="0"/>
              </a:rPr>
              <a:t>q.distanceTo</a:t>
            </a:r>
            <a:r>
              <a:rPr lang="en-US" altLang="zh-CN" sz="2000" dirty="0">
                <a:solidFill>
                  <a:srgbClr val="C00000"/>
                </a:solidFill>
                <a:latin typeface="Times-Roman" pitchFamily="2" charset="0"/>
              </a:rPr>
              <a:t>(</a:t>
            </a:r>
            <a:r>
              <a:rPr lang="en-US" altLang="zh-CN" sz="2000" dirty="0" err="1">
                <a:solidFill>
                  <a:srgbClr val="C00000"/>
                </a:solidFill>
                <a:latin typeface="Times-Roman" pitchFamily="2" charset="0"/>
              </a:rPr>
              <a:t>p.point</a:t>
            </a:r>
            <a:r>
              <a:rPr lang="en-US" altLang="zh-CN" sz="2000" dirty="0">
                <a:solidFill>
                  <a:srgbClr val="C00000"/>
                </a:solidFill>
                <a:latin typeface="Times-Roman" pitchFamily="2" charset="0"/>
              </a:rPr>
              <a:t>);            //</a:t>
            </a:r>
            <a:r>
              <a:rPr lang="zh-CN" altLang="en-US" sz="2000" dirty="0">
                <a:solidFill>
                  <a:srgbClr val="C00000"/>
                </a:solidFill>
                <a:latin typeface="Times-Roman" pitchFamily="2" charset="0"/>
              </a:rPr>
              <a:t>查询点和</a:t>
            </a:r>
            <a:r>
              <a:rPr lang="en-US" altLang="zh-CN" sz="2000" dirty="0" err="1">
                <a:solidFill>
                  <a:srgbClr val="C00000"/>
                </a:solidFill>
                <a:latin typeface="Times-Roman" pitchFamily="2" charset="0"/>
              </a:rPr>
              <a:t>p.point</a:t>
            </a:r>
            <a:r>
              <a:rPr lang="zh-CN" altLang="en-US" sz="2000" dirty="0">
                <a:solidFill>
                  <a:srgbClr val="C00000"/>
                </a:solidFill>
                <a:latin typeface="Times-Roman" pitchFamily="2" charset="0"/>
              </a:rPr>
              <a:t>距离</a:t>
            </a:r>
            <a:endParaRPr lang="en-US" altLang="zh-CN" sz="2000" dirty="0">
              <a:solidFill>
                <a:srgbClr val="C00000"/>
              </a:solidFill>
              <a:latin typeface="Times-Roman" pitchFamily="2" charset="0"/>
            </a:endParaRP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</a:t>
            </a:r>
            <a:r>
              <a:rPr lang="en-US" altLang="zh-CN" sz="2000" dirty="0" err="1">
                <a:solidFill>
                  <a:srgbClr val="C00000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 =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Math.min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(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thisDist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, 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);             </a:t>
            </a:r>
          </a:p>
          <a:p>
            <a:endParaRPr lang="en-US" altLang="zh-CN" sz="2000" dirty="0">
              <a:solidFill>
                <a:prstClr val="black"/>
              </a:solidFill>
              <a:latin typeface="Times-Roman" pitchFamily="2" charset="0"/>
            </a:endParaRP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int cd =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p.cutDim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;         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Rectangle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leftCell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 = </a:t>
            </a:r>
            <a:r>
              <a:rPr lang="en-US" altLang="zh-CN" sz="2000" dirty="0" err="1">
                <a:solidFill>
                  <a:srgbClr val="0070C0"/>
                </a:solidFill>
                <a:latin typeface="Times-Roman" pitchFamily="2" charset="0"/>
              </a:rPr>
              <a:t>cell.leftPart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(cd,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p.point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);         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Rectangle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rightCell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 = </a:t>
            </a:r>
            <a:r>
              <a:rPr lang="en-US" altLang="zh-CN" sz="2000" dirty="0" err="1">
                <a:solidFill>
                  <a:srgbClr val="0070C0"/>
                </a:solidFill>
                <a:latin typeface="Times-Roman" pitchFamily="2" charset="0"/>
              </a:rPr>
              <a:t>cell.rightPart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(cd,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p.point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);  // right child’s cell             		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if (</a:t>
            </a:r>
            <a:r>
              <a:rPr lang="en-US" altLang="zh-CN" sz="2000" dirty="0">
                <a:solidFill>
                  <a:srgbClr val="C00000"/>
                </a:solidFill>
                <a:latin typeface="Times-Roman" pitchFamily="2" charset="0"/>
              </a:rPr>
              <a:t>q[cd] &lt; </a:t>
            </a:r>
            <a:r>
              <a:rPr lang="en-US" altLang="zh-CN" sz="2000" dirty="0" err="1">
                <a:solidFill>
                  <a:srgbClr val="C00000"/>
                </a:solidFill>
                <a:latin typeface="Times-Roman" pitchFamily="2" charset="0"/>
              </a:rPr>
              <a:t>p.point</a:t>
            </a:r>
            <a:r>
              <a:rPr lang="en-US" altLang="zh-CN" sz="2000" dirty="0">
                <a:solidFill>
                  <a:srgbClr val="C00000"/>
                </a:solidFill>
                <a:latin typeface="Times-Roman" pitchFamily="2" charset="0"/>
              </a:rPr>
              <a:t>[cd]) {                          // q </a:t>
            </a:r>
            <a:r>
              <a:rPr lang="zh-CN" altLang="en-US" sz="2000" dirty="0">
                <a:solidFill>
                  <a:srgbClr val="C00000"/>
                </a:solidFill>
                <a:latin typeface="Times-Roman" pitchFamily="2" charset="0"/>
              </a:rPr>
              <a:t>距离左分支更近</a:t>
            </a:r>
            <a:r>
              <a:rPr lang="en-US" altLang="zh-CN" sz="2000" dirty="0">
                <a:solidFill>
                  <a:srgbClr val="C00000"/>
                </a:solidFill>
                <a:latin typeface="Times-Roman" pitchFamily="2" charset="0"/>
              </a:rPr>
              <a:t>                 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					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 = </a:t>
            </a:r>
            <a:r>
              <a:rPr lang="en-US" altLang="zh-CN" sz="2000" dirty="0" err="1">
                <a:solidFill>
                  <a:srgbClr val="00B050"/>
                </a:solidFill>
                <a:latin typeface="Times-Roman" pitchFamily="2" charset="0"/>
              </a:rPr>
              <a:t>nearNeighbor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(q,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p.left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leftCell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);            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	if (</a:t>
            </a:r>
            <a:r>
              <a:rPr lang="en-US" altLang="zh-CN" sz="2000" dirty="0" err="1">
                <a:solidFill>
                  <a:srgbClr val="C00000"/>
                </a:solidFill>
                <a:latin typeface="Times-Roman" pitchFamily="2" charset="0"/>
              </a:rPr>
              <a:t>rightCell.distanceTo</a:t>
            </a:r>
            <a:r>
              <a:rPr lang="en-US" altLang="zh-CN" sz="2000" dirty="0">
                <a:solidFill>
                  <a:srgbClr val="C00000"/>
                </a:solidFill>
                <a:latin typeface="Times-Roman" pitchFamily="2" charset="0"/>
              </a:rPr>
              <a:t>(q) &lt; </a:t>
            </a:r>
            <a:r>
              <a:rPr lang="en-US" altLang="zh-CN" sz="2000" dirty="0" err="1">
                <a:solidFill>
                  <a:srgbClr val="C00000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) </a:t>
            </a:r>
            <a:r>
              <a:rPr lang="en-US" altLang="zh-CN" sz="2000" dirty="0">
                <a:solidFill>
                  <a:srgbClr val="C00000"/>
                </a:solidFill>
                <a:latin typeface="Times-Roman" pitchFamily="2" charset="0"/>
              </a:rPr>
              <a:t>{       // worth visiting right?  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                   					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 = </a:t>
            </a:r>
            <a:r>
              <a:rPr lang="en-US" altLang="zh-CN" sz="2000" dirty="0" err="1">
                <a:solidFill>
                  <a:srgbClr val="00B050"/>
                </a:solidFill>
                <a:latin typeface="Times-Roman" pitchFamily="2" charset="0"/>
              </a:rPr>
              <a:t>nearNeighbor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(q,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p.right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rightCell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);             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	}         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} else {                                            // q </a:t>
            </a:r>
            <a:r>
              <a:rPr lang="zh-CN" altLang="en-US" sz="2000" dirty="0">
                <a:solidFill>
                  <a:prstClr val="black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离右分支更近</a:t>
            </a:r>
            <a:r>
              <a:rPr lang="en-US" altLang="zh-CN" sz="2000" dirty="0">
                <a:solidFill>
                  <a:prstClr val="black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   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          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	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 = </a:t>
            </a:r>
            <a:r>
              <a:rPr lang="en-US" altLang="zh-CN" sz="2000" dirty="0" err="1">
                <a:solidFill>
                  <a:srgbClr val="00B050"/>
                </a:solidFill>
                <a:latin typeface="Times-Roman" pitchFamily="2" charset="0"/>
              </a:rPr>
              <a:t>nearNeighbor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(q,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p.right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rightCell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);             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	if (</a:t>
            </a:r>
            <a:r>
              <a:rPr lang="en-US" altLang="zh-CN" sz="2000" dirty="0" err="1">
                <a:solidFill>
                  <a:srgbClr val="C00000"/>
                </a:solidFill>
                <a:latin typeface="Times-Roman" pitchFamily="2" charset="0"/>
              </a:rPr>
              <a:t>leftCell.distanceTo</a:t>
            </a:r>
            <a:r>
              <a:rPr lang="en-US" altLang="zh-CN" sz="2000" dirty="0">
                <a:solidFill>
                  <a:srgbClr val="C00000"/>
                </a:solidFill>
                <a:latin typeface="Times-Roman" pitchFamily="2" charset="0"/>
              </a:rPr>
              <a:t>(q) &lt; </a:t>
            </a:r>
            <a:r>
              <a:rPr lang="en-US" altLang="zh-CN" sz="2000" dirty="0" err="1">
                <a:solidFill>
                  <a:srgbClr val="C00000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srgbClr val="C00000"/>
                </a:solidFill>
                <a:latin typeface="Times-Roman" pitchFamily="2" charset="0"/>
              </a:rPr>
              <a:t>) {        // worth visiting left?                 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		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 = </a:t>
            </a:r>
            <a:r>
              <a:rPr lang="en-US" altLang="zh-CN" sz="2000" dirty="0" err="1">
                <a:solidFill>
                  <a:srgbClr val="00B050"/>
                </a:solidFill>
                <a:latin typeface="Times-Roman" pitchFamily="2" charset="0"/>
              </a:rPr>
              <a:t>nearNeighbor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(q,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p.left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leftCell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,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);             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		}} }    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	return </a:t>
            </a:r>
            <a:r>
              <a:rPr lang="en-US" altLang="zh-CN" sz="2000" dirty="0" err="1">
                <a:solidFill>
                  <a:prstClr val="black"/>
                </a:solidFill>
                <a:latin typeface="Times-Roman" pitchFamily="2" charset="0"/>
              </a:rPr>
              <a:t>bestDist</a:t>
            </a:r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;     </a:t>
            </a:r>
          </a:p>
          <a:p>
            <a:r>
              <a:rPr lang="en-US" altLang="zh-CN" sz="2000" dirty="0">
                <a:solidFill>
                  <a:prstClr val="black"/>
                </a:solidFill>
                <a:latin typeface="Times-Roman" pitchFamily="2" charset="0"/>
              </a:rPr>
              <a:t>}</a:t>
            </a:r>
            <a:endParaRPr lang="en-US" sz="2000" dirty="0"/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138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3175" y="7620"/>
            <a:ext cx="12195810" cy="831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991" y="-48124"/>
            <a:ext cx="3019647" cy="177518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931" y="2517148"/>
            <a:ext cx="3338860" cy="21736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86911" y="2039831"/>
            <a:ext cx="2286000" cy="3683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prstClr val="black"/>
                </a:solidFill>
                <a:latin typeface="Times-Roman" pitchFamily="2" charset="0"/>
              </a:rPr>
              <a:t>if (</a:t>
            </a:r>
            <a:r>
              <a:rPr lang="en-US" altLang="zh-CN" sz="1800" dirty="0">
                <a:solidFill>
                  <a:srgbClr val="C00000"/>
                </a:solidFill>
                <a:latin typeface="Times-Roman" pitchFamily="2" charset="0"/>
              </a:rPr>
              <a:t>q[cd] &lt; </a:t>
            </a:r>
            <a:r>
              <a:rPr lang="en-US" altLang="zh-CN" sz="1800" dirty="0" err="1">
                <a:solidFill>
                  <a:srgbClr val="C00000"/>
                </a:solidFill>
                <a:latin typeface="Times-Roman" pitchFamily="2" charset="0"/>
              </a:rPr>
              <a:t>p.point</a:t>
            </a:r>
            <a:r>
              <a:rPr lang="en-US" altLang="zh-CN" sz="1800" dirty="0">
                <a:solidFill>
                  <a:srgbClr val="C00000"/>
                </a:solidFill>
                <a:latin typeface="Times-Roman" pitchFamily="2" charset="0"/>
              </a:rPr>
              <a:t>[cd]) </a:t>
            </a:r>
            <a:endParaRPr 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3871925" y="4985655"/>
            <a:ext cx="2652219" cy="6451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prstClr val="black"/>
                </a:solidFill>
                <a:latin typeface="Times-Roman" pitchFamily="2" charset="0"/>
              </a:rPr>
              <a:t>if (</a:t>
            </a:r>
            <a:r>
              <a:rPr lang="en-US" altLang="zh-CN" sz="1800" dirty="0" err="1">
                <a:solidFill>
                  <a:srgbClr val="C00000"/>
                </a:solidFill>
                <a:latin typeface="Times-Roman" pitchFamily="2" charset="0"/>
              </a:rPr>
              <a:t>rightCell.distanceTo</a:t>
            </a:r>
            <a:r>
              <a:rPr lang="en-US" altLang="zh-CN" sz="1800" dirty="0">
                <a:solidFill>
                  <a:srgbClr val="C00000"/>
                </a:solidFill>
                <a:latin typeface="Times-Roman" pitchFamily="2" charset="0"/>
              </a:rPr>
              <a:t>(q) &lt; </a:t>
            </a:r>
            <a:r>
              <a:rPr lang="en-US" altLang="zh-CN" sz="1800" dirty="0" err="1">
                <a:solidFill>
                  <a:srgbClr val="C00000"/>
                </a:solidFill>
                <a:latin typeface="Times-Roman" pitchFamily="2" charset="0"/>
              </a:rPr>
              <a:t>bestDist</a:t>
            </a:r>
            <a:r>
              <a:rPr lang="en-US" altLang="zh-CN" sz="1800" dirty="0">
                <a:solidFill>
                  <a:prstClr val="black"/>
                </a:solidFill>
                <a:latin typeface="Times-Roman" pitchFamily="2" charset="0"/>
              </a:rPr>
              <a:t>) </a:t>
            </a:r>
            <a:endParaRPr 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646" y="4586485"/>
            <a:ext cx="3516151" cy="2173621"/>
          </a:xfrm>
          <a:prstGeom prst="rect">
            <a:avLst/>
          </a:prstGeom>
        </p:spPr>
      </p:pic>
      <p:cxnSp>
        <p:nvCxnSpPr>
          <p:cNvPr id="15" name="直线箭头连接符 14"/>
          <p:cNvCxnSpPr>
            <a:stCxn id="4" idx="2"/>
          </p:cNvCxnSpPr>
          <p:nvPr/>
        </p:nvCxnSpPr>
        <p:spPr>
          <a:xfrm flipH="1">
            <a:off x="2943814" y="1727063"/>
            <a:ext cx="1" cy="312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9" idx="2"/>
            <a:endCxn id="5" idx="1"/>
          </p:cNvCxnSpPr>
          <p:nvPr/>
        </p:nvCxnSpPr>
        <p:spPr>
          <a:xfrm rot="5400000" flipV="1">
            <a:off x="4458388" y="2903674"/>
            <a:ext cx="1196340" cy="2051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endCxn id="12" idx="0"/>
          </p:cNvCxnSpPr>
          <p:nvPr/>
        </p:nvCxnSpPr>
        <p:spPr>
          <a:xfrm rot="5400000">
            <a:off x="6581578" y="4831862"/>
            <a:ext cx="294885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2" idx="2"/>
          </p:cNvCxnSpPr>
          <p:nvPr/>
        </p:nvCxnSpPr>
        <p:spPr>
          <a:xfrm rot="16200000" flipH="1">
            <a:off x="7430957" y="4922429"/>
            <a:ext cx="359183" cy="17757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139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2" grpId="0" bldLvl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19300" y="1227138"/>
            <a:ext cx="7924800" cy="4527550"/>
          </a:xfrm>
        </p:spPr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d=1 (binary search tree)</a:t>
            </a:r>
          </a:p>
        </p:txBody>
      </p:sp>
      <p:sp>
        <p:nvSpPr>
          <p:cNvPr id="118788" name="Line 4"/>
          <p:cNvSpPr>
            <a:spLocks noChangeShapeType="1"/>
          </p:cNvSpPr>
          <p:nvPr/>
        </p:nvSpPr>
        <p:spPr bwMode="auto">
          <a:xfrm>
            <a:off x="3124200" y="2895600"/>
            <a:ext cx="594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2895600" y="2895600"/>
            <a:ext cx="381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8763000" y="2895600"/>
            <a:ext cx="60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sz="2400"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337927" name="Line 7"/>
          <p:cNvSpPr>
            <a:spLocks noChangeShapeType="1"/>
          </p:cNvSpPr>
          <p:nvPr/>
        </p:nvSpPr>
        <p:spPr bwMode="auto">
          <a:xfrm>
            <a:off x="6019800" y="2514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28" name="Line 8"/>
          <p:cNvSpPr>
            <a:spLocks noChangeShapeType="1"/>
          </p:cNvSpPr>
          <p:nvPr/>
        </p:nvSpPr>
        <p:spPr bwMode="auto">
          <a:xfrm>
            <a:off x="4267200" y="2514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29" name="Line 9"/>
          <p:cNvSpPr>
            <a:spLocks noChangeShapeType="1"/>
          </p:cNvSpPr>
          <p:nvPr/>
        </p:nvSpPr>
        <p:spPr bwMode="auto">
          <a:xfrm>
            <a:off x="6353175" y="2514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0" name="Line 10"/>
          <p:cNvSpPr>
            <a:spLocks noChangeShapeType="1"/>
          </p:cNvSpPr>
          <p:nvPr/>
        </p:nvSpPr>
        <p:spPr bwMode="auto">
          <a:xfrm>
            <a:off x="7162800" y="2514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1" name="Line 11"/>
          <p:cNvSpPr>
            <a:spLocks noChangeShapeType="1"/>
          </p:cNvSpPr>
          <p:nvPr/>
        </p:nvSpPr>
        <p:spPr bwMode="auto">
          <a:xfrm>
            <a:off x="8382000" y="2514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2" name="Line 12"/>
          <p:cNvSpPr>
            <a:spLocks noChangeShapeType="1"/>
          </p:cNvSpPr>
          <p:nvPr/>
        </p:nvSpPr>
        <p:spPr bwMode="auto">
          <a:xfrm>
            <a:off x="5105400" y="2514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3" name="Line 13"/>
          <p:cNvSpPr>
            <a:spLocks noChangeShapeType="1"/>
          </p:cNvSpPr>
          <p:nvPr/>
        </p:nvSpPr>
        <p:spPr bwMode="auto">
          <a:xfrm>
            <a:off x="3810000" y="2514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4" name="Rectangle 14"/>
          <p:cNvSpPr>
            <a:spLocks noChangeArrowheads="1"/>
          </p:cNvSpPr>
          <p:nvPr/>
        </p:nvSpPr>
        <p:spPr bwMode="auto">
          <a:xfrm>
            <a:off x="4137025" y="5600700"/>
            <a:ext cx="838200" cy="3048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>
                <a:ea typeface="宋体" panose="02010600030101010101" pitchFamily="2" charset="-122"/>
              </a:rPr>
              <a:t>7, 8</a:t>
            </a:r>
          </a:p>
        </p:txBody>
      </p:sp>
      <p:sp>
        <p:nvSpPr>
          <p:cNvPr id="337935" name="Rectangle 15"/>
          <p:cNvSpPr>
            <a:spLocks noChangeArrowheads="1"/>
          </p:cNvSpPr>
          <p:nvPr/>
        </p:nvSpPr>
        <p:spPr bwMode="auto">
          <a:xfrm>
            <a:off x="5280025" y="5600700"/>
            <a:ext cx="685800" cy="3048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>
                <a:ea typeface="宋体" panose="02010600030101010101" pitchFamily="2" charset="-122"/>
              </a:rPr>
              <a:t>10, 12</a:t>
            </a:r>
          </a:p>
        </p:txBody>
      </p:sp>
      <p:sp>
        <p:nvSpPr>
          <p:cNvPr id="337936" name="Rectangle 16"/>
          <p:cNvSpPr>
            <a:spLocks noChangeArrowheads="1"/>
          </p:cNvSpPr>
          <p:nvPr/>
        </p:nvSpPr>
        <p:spPr bwMode="auto">
          <a:xfrm>
            <a:off x="6118225" y="5600700"/>
            <a:ext cx="685800" cy="3048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>
                <a:ea typeface="宋体" panose="02010600030101010101" pitchFamily="2" charset="-122"/>
              </a:rPr>
              <a:t>13, 15</a:t>
            </a:r>
          </a:p>
        </p:txBody>
      </p:sp>
      <p:sp>
        <p:nvSpPr>
          <p:cNvPr id="337937" name="Rectangle 17"/>
          <p:cNvSpPr>
            <a:spLocks noChangeArrowheads="1"/>
          </p:cNvSpPr>
          <p:nvPr/>
        </p:nvSpPr>
        <p:spPr bwMode="auto">
          <a:xfrm>
            <a:off x="7108825" y="5600700"/>
            <a:ext cx="685800" cy="3048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337938" name="Line 18"/>
          <p:cNvSpPr>
            <a:spLocks noChangeShapeType="1"/>
          </p:cNvSpPr>
          <p:nvPr/>
        </p:nvSpPr>
        <p:spPr bwMode="auto">
          <a:xfrm flipH="1">
            <a:off x="5280025" y="42291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9" name="Line 19"/>
          <p:cNvSpPr>
            <a:spLocks noChangeShapeType="1"/>
          </p:cNvSpPr>
          <p:nvPr/>
        </p:nvSpPr>
        <p:spPr bwMode="auto">
          <a:xfrm flipH="1">
            <a:off x="4670425" y="47625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40" name="Line 20"/>
          <p:cNvSpPr>
            <a:spLocks noChangeShapeType="1"/>
          </p:cNvSpPr>
          <p:nvPr/>
        </p:nvSpPr>
        <p:spPr bwMode="auto">
          <a:xfrm>
            <a:off x="5203825" y="47625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41" name="Line 21"/>
          <p:cNvSpPr>
            <a:spLocks noChangeShapeType="1"/>
          </p:cNvSpPr>
          <p:nvPr/>
        </p:nvSpPr>
        <p:spPr bwMode="auto">
          <a:xfrm flipH="1">
            <a:off x="6346825" y="47625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42" name="Line 22"/>
          <p:cNvSpPr>
            <a:spLocks noChangeShapeType="1"/>
          </p:cNvSpPr>
          <p:nvPr/>
        </p:nvSpPr>
        <p:spPr bwMode="auto">
          <a:xfrm>
            <a:off x="6880225" y="47625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43" name="Line 23"/>
          <p:cNvSpPr>
            <a:spLocks noChangeShapeType="1"/>
          </p:cNvSpPr>
          <p:nvPr/>
        </p:nvSpPr>
        <p:spPr bwMode="auto">
          <a:xfrm>
            <a:off x="6042025" y="42291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44" name="Line 24"/>
          <p:cNvSpPr>
            <a:spLocks noChangeShapeType="1"/>
          </p:cNvSpPr>
          <p:nvPr/>
        </p:nvSpPr>
        <p:spPr bwMode="auto">
          <a:xfrm flipH="1" flipV="1">
            <a:off x="4518025" y="54483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45" name="Line 25"/>
          <p:cNvSpPr>
            <a:spLocks noChangeShapeType="1"/>
          </p:cNvSpPr>
          <p:nvPr/>
        </p:nvSpPr>
        <p:spPr bwMode="auto">
          <a:xfrm flipH="1">
            <a:off x="5584825" y="54483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46" name="Line 26"/>
          <p:cNvSpPr>
            <a:spLocks noChangeShapeType="1"/>
          </p:cNvSpPr>
          <p:nvPr/>
        </p:nvSpPr>
        <p:spPr bwMode="auto">
          <a:xfrm>
            <a:off x="6346825" y="54483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47" name="Line 27"/>
          <p:cNvSpPr>
            <a:spLocks noChangeShapeType="1"/>
          </p:cNvSpPr>
          <p:nvPr/>
        </p:nvSpPr>
        <p:spPr bwMode="auto">
          <a:xfrm flipH="1" flipV="1">
            <a:off x="7261225" y="54483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812" name="Text Box 28"/>
          <p:cNvSpPr txBox="1">
            <a:spLocks noChangeArrowheads="1"/>
          </p:cNvSpPr>
          <p:nvPr/>
        </p:nvSpPr>
        <p:spPr bwMode="auto">
          <a:xfrm>
            <a:off x="5572125" y="31242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18813" name="Text Box 29"/>
          <p:cNvSpPr txBox="1">
            <a:spLocks noChangeArrowheads="1"/>
          </p:cNvSpPr>
          <p:nvPr/>
        </p:nvSpPr>
        <p:spPr bwMode="auto">
          <a:xfrm>
            <a:off x="6705600" y="1363663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endParaRPr lang="es-ES" altLang="zh-CN"/>
          </a:p>
        </p:txBody>
      </p:sp>
      <p:sp>
        <p:nvSpPr>
          <p:cNvPr id="118814" name="Text Box 30"/>
          <p:cNvSpPr txBox="1">
            <a:spLocks noChangeArrowheads="1"/>
          </p:cNvSpPr>
          <p:nvPr/>
        </p:nvSpPr>
        <p:spPr bwMode="auto">
          <a:xfrm>
            <a:off x="5878195" y="3084513"/>
            <a:ext cx="233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endParaRPr lang="es-ES" altLang="zh-CN"/>
          </a:p>
        </p:txBody>
      </p:sp>
      <p:sp>
        <p:nvSpPr>
          <p:cNvPr id="118815" name="Text Box 31"/>
          <p:cNvSpPr txBox="1">
            <a:spLocks noChangeArrowheads="1"/>
          </p:cNvSpPr>
          <p:nvPr/>
        </p:nvSpPr>
        <p:spPr bwMode="auto">
          <a:xfrm>
            <a:off x="7081520" y="3062288"/>
            <a:ext cx="233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endParaRPr lang="es-ES" altLang="zh-CN"/>
          </a:p>
        </p:txBody>
      </p:sp>
      <p:sp>
        <p:nvSpPr>
          <p:cNvPr id="118816" name="Text Box 32"/>
          <p:cNvSpPr txBox="1">
            <a:spLocks noChangeArrowheads="1"/>
          </p:cNvSpPr>
          <p:nvPr/>
        </p:nvSpPr>
        <p:spPr bwMode="auto">
          <a:xfrm>
            <a:off x="6705600" y="31242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118817" name="Text Box 33"/>
          <p:cNvSpPr txBox="1">
            <a:spLocks noChangeArrowheads="1"/>
          </p:cNvSpPr>
          <p:nvPr/>
        </p:nvSpPr>
        <p:spPr bwMode="auto">
          <a:xfrm>
            <a:off x="3352800" y="31242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18818" name="Text Box 34"/>
          <p:cNvSpPr txBox="1">
            <a:spLocks noChangeArrowheads="1"/>
          </p:cNvSpPr>
          <p:nvPr/>
        </p:nvSpPr>
        <p:spPr bwMode="auto">
          <a:xfrm>
            <a:off x="4038600" y="3124200"/>
            <a:ext cx="381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18819" name="Text Box 35"/>
          <p:cNvSpPr txBox="1">
            <a:spLocks noChangeArrowheads="1"/>
          </p:cNvSpPr>
          <p:nvPr/>
        </p:nvSpPr>
        <p:spPr bwMode="auto">
          <a:xfrm>
            <a:off x="4648200" y="31242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8820" name="Text Box 36"/>
          <p:cNvSpPr txBox="1">
            <a:spLocks noChangeArrowheads="1"/>
          </p:cNvSpPr>
          <p:nvPr/>
        </p:nvSpPr>
        <p:spPr bwMode="auto">
          <a:xfrm>
            <a:off x="5943600" y="31242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18821" name="Text Box 37"/>
          <p:cNvSpPr txBox="1">
            <a:spLocks noChangeArrowheads="1"/>
          </p:cNvSpPr>
          <p:nvPr/>
        </p:nvSpPr>
        <p:spPr bwMode="auto">
          <a:xfrm>
            <a:off x="7924800" y="31242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337958" name="Oval 38"/>
          <p:cNvSpPr>
            <a:spLocks noChangeArrowheads="1"/>
          </p:cNvSpPr>
          <p:nvPr/>
        </p:nvSpPr>
        <p:spPr bwMode="auto">
          <a:xfrm>
            <a:off x="5813425" y="40005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37959" name="Text Box 39"/>
          <p:cNvSpPr txBox="1">
            <a:spLocks noChangeArrowheads="1"/>
          </p:cNvSpPr>
          <p:nvPr/>
        </p:nvSpPr>
        <p:spPr bwMode="auto">
          <a:xfrm>
            <a:off x="6270625" y="3848100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13,15,18</a:t>
            </a:r>
          </a:p>
        </p:txBody>
      </p:sp>
      <p:sp>
        <p:nvSpPr>
          <p:cNvPr id="337960" name="Text Box 40"/>
          <p:cNvSpPr txBox="1">
            <a:spLocks noChangeArrowheads="1"/>
          </p:cNvSpPr>
          <p:nvPr/>
        </p:nvSpPr>
        <p:spPr bwMode="auto">
          <a:xfrm>
            <a:off x="4365625" y="3848100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7,8,10,12</a:t>
            </a:r>
          </a:p>
        </p:txBody>
      </p:sp>
      <p:sp>
        <p:nvSpPr>
          <p:cNvPr id="337961" name="Oval 41"/>
          <p:cNvSpPr>
            <a:spLocks noChangeArrowheads="1"/>
          </p:cNvSpPr>
          <p:nvPr/>
        </p:nvSpPr>
        <p:spPr bwMode="auto">
          <a:xfrm>
            <a:off x="6626225" y="44958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37962" name="Oval 42"/>
          <p:cNvSpPr>
            <a:spLocks noChangeArrowheads="1"/>
          </p:cNvSpPr>
          <p:nvPr/>
        </p:nvSpPr>
        <p:spPr bwMode="auto">
          <a:xfrm>
            <a:off x="4441825" y="51435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37963" name="Oval 43"/>
          <p:cNvSpPr>
            <a:spLocks noChangeArrowheads="1"/>
          </p:cNvSpPr>
          <p:nvPr/>
        </p:nvSpPr>
        <p:spPr bwMode="auto">
          <a:xfrm>
            <a:off x="4975225" y="45339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37964" name="Oval 44"/>
          <p:cNvSpPr>
            <a:spLocks noChangeArrowheads="1"/>
          </p:cNvSpPr>
          <p:nvPr/>
        </p:nvSpPr>
        <p:spPr bwMode="auto">
          <a:xfrm>
            <a:off x="5432425" y="51435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37965" name="Oval 45"/>
          <p:cNvSpPr>
            <a:spLocks noChangeArrowheads="1"/>
          </p:cNvSpPr>
          <p:nvPr/>
        </p:nvSpPr>
        <p:spPr bwMode="auto">
          <a:xfrm>
            <a:off x="6194425" y="51435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37966" name="Oval 46"/>
          <p:cNvSpPr>
            <a:spLocks noChangeArrowheads="1"/>
          </p:cNvSpPr>
          <p:nvPr/>
        </p:nvSpPr>
        <p:spPr bwMode="auto">
          <a:xfrm>
            <a:off x="7108825" y="51435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37967" name="Text Box 47"/>
          <p:cNvSpPr txBox="1">
            <a:spLocks noChangeArrowheads="1"/>
          </p:cNvSpPr>
          <p:nvPr/>
        </p:nvSpPr>
        <p:spPr bwMode="auto">
          <a:xfrm>
            <a:off x="6880225" y="4686300"/>
            <a:ext cx="45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337968" name="Text Box 48"/>
          <p:cNvSpPr txBox="1">
            <a:spLocks noChangeArrowheads="1"/>
          </p:cNvSpPr>
          <p:nvPr/>
        </p:nvSpPr>
        <p:spPr bwMode="auto">
          <a:xfrm>
            <a:off x="6042025" y="4686300"/>
            <a:ext cx="838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13,15</a:t>
            </a:r>
          </a:p>
        </p:txBody>
      </p:sp>
      <p:sp>
        <p:nvSpPr>
          <p:cNvPr id="337969" name="Text Box 49"/>
          <p:cNvSpPr txBox="1">
            <a:spLocks noChangeArrowheads="1"/>
          </p:cNvSpPr>
          <p:nvPr/>
        </p:nvSpPr>
        <p:spPr bwMode="auto">
          <a:xfrm>
            <a:off x="4975225" y="4762500"/>
            <a:ext cx="76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10,12</a:t>
            </a:r>
          </a:p>
        </p:txBody>
      </p:sp>
      <p:sp>
        <p:nvSpPr>
          <p:cNvPr id="337970" name="Text Box 50"/>
          <p:cNvSpPr txBox="1">
            <a:spLocks noChangeArrowheads="1"/>
          </p:cNvSpPr>
          <p:nvPr/>
        </p:nvSpPr>
        <p:spPr bwMode="auto">
          <a:xfrm>
            <a:off x="4289425" y="47625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7,8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NN example using kD trees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140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34" grpId="0" bldLvl="0" animBg="1"/>
      <p:bldP spid="337935" grpId="0" bldLvl="0" animBg="1"/>
      <p:bldP spid="337936" grpId="0" bldLvl="0" animBg="1"/>
      <p:bldP spid="337937" grpId="0" bldLvl="0" animBg="1"/>
      <p:bldP spid="337958" grpId="0" bldLvl="0" animBg="1"/>
      <p:bldP spid="337959" grpId="0"/>
      <p:bldP spid="337960" grpId="0"/>
      <p:bldP spid="337961" grpId="0" bldLvl="0" animBg="1"/>
      <p:bldP spid="337962" grpId="0" bldLvl="0" animBg="1"/>
      <p:bldP spid="337963" grpId="0" bldLvl="0" animBg="1"/>
      <p:bldP spid="337964" grpId="0" bldLvl="0" animBg="1"/>
      <p:bldP spid="337965" grpId="0" bldLvl="0" animBg="1"/>
      <p:bldP spid="337966" grpId="0" bldLvl="0" animBg="1"/>
      <p:bldP spid="337967" grpId="0"/>
      <p:bldP spid="337968" grpId="0"/>
      <p:bldP spid="337969" grpId="0"/>
      <p:bldP spid="337970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303338"/>
            <a:ext cx="7924800" cy="4527550"/>
          </a:xfrm>
        </p:spPr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d=1 (binary search tree)</a:t>
            </a:r>
          </a:p>
        </p:txBody>
      </p:sp>
      <p:sp>
        <p:nvSpPr>
          <p:cNvPr id="119812" name="Line 4"/>
          <p:cNvSpPr>
            <a:spLocks noChangeShapeType="1"/>
          </p:cNvSpPr>
          <p:nvPr/>
        </p:nvSpPr>
        <p:spPr bwMode="auto">
          <a:xfrm>
            <a:off x="2946400" y="2514600"/>
            <a:ext cx="594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3" name="Text Box 5"/>
          <p:cNvSpPr txBox="1">
            <a:spLocks noChangeArrowheads="1"/>
          </p:cNvSpPr>
          <p:nvPr/>
        </p:nvSpPr>
        <p:spPr bwMode="auto">
          <a:xfrm>
            <a:off x="2717800" y="2514600"/>
            <a:ext cx="381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9814" name="Text Box 6"/>
          <p:cNvSpPr txBox="1">
            <a:spLocks noChangeArrowheads="1"/>
          </p:cNvSpPr>
          <p:nvPr/>
        </p:nvSpPr>
        <p:spPr bwMode="auto">
          <a:xfrm>
            <a:off x="8585200" y="2514600"/>
            <a:ext cx="60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sz="2400"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119815" name="Line 7"/>
          <p:cNvSpPr>
            <a:spLocks noChangeShapeType="1"/>
          </p:cNvSpPr>
          <p:nvPr/>
        </p:nvSpPr>
        <p:spPr bwMode="auto">
          <a:xfrm>
            <a:off x="5842000" y="2133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6" name="Line 8"/>
          <p:cNvSpPr>
            <a:spLocks noChangeShapeType="1"/>
          </p:cNvSpPr>
          <p:nvPr/>
        </p:nvSpPr>
        <p:spPr bwMode="auto">
          <a:xfrm>
            <a:off x="4089400" y="2133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7" name="Line 9"/>
          <p:cNvSpPr>
            <a:spLocks noChangeShapeType="1"/>
          </p:cNvSpPr>
          <p:nvPr/>
        </p:nvSpPr>
        <p:spPr bwMode="auto">
          <a:xfrm>
            <a:off x="6175375" y="2133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8" name="Line 10"/>
          <p:cNvSpPr>
            <a:spLocks noChangeShapeType="1"/>
          </p:cNvSpPr>
          <p:nvPr/>
        </p:nvSpPr>
        <p:spPr bwMode="auto">
          <a:xfrm>
            <a:off x="6985000" y="2133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9" name="Line 11"/>
          <p:cNvSpPr>
            <a:spLocks noChangeShapeType="1"/>
          </p:cNvSpPr>
          <p:nvPr/>
        </p:nvSpPr>
        <p:spPr bwMode="auto">
          <a:xfrm>
            <a:off x="8204200" y="2133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0" name="Line 12"/>
          <p:cNvSpPr>
            <a:spLocks noChangeShapeType="1"/>
          </p:cNvSpPr>
          <p:nvPr/>
        </p:nvSpPr>
        <p:spPr bwMode="auto">
          <a:xfrm>
            <a:off x="4927600" y="2133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1" name="Line 13"/>
          <p:cNvSpPr>
            <a:spLocks noChangeShapeType="1"/>
          </p:cNvSpPr>
          <p:nvPr/>
        </p:nvSpPr>
        <p:spPr bwMode="auto">
          <a:xfrm>
            <a:off x="3632200" y="21336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2" name="Rectangle 14"/>
          <p:cNvSpPr>
            <a:spLocks noChangeArrowheads="1"/>
          </p:cNvSpPr>
          <p:nvPr/>
        </p:nvSpPr>
        <p:spPr bwMode="auto">
          <a:xfrm>
            <a:off x="4076700" y="5373688"/>
            <a:ext cx="838200" cy="3048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>
                <a:ea typeface="宋体" panose="02010600030101010101" pitchFamily="2" charset="-122"/>
              </a:rPr>
              <a:t>7, 8</a:t>
            </a:r>
          </a:p>
        </p:txBody>
      </p:sp>
      <p:sp>
        <p:nvSpPr>
          <p:cNvPr id="119823" name="Rectangle 15"/>
          <p:cNvSpPr>
            <a:spLocks noChangeArrowheads="1"/>
          </p:cNvSpPr>
          <p:nvPr/>
        </p:nvSpPr>
        <p:spPr bwMode="auto">
          <a:xfrm>
            <a:off x="5219700" y="5373688"/>
            <a:ext cx="685800" cy="3048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>
                <a:ea typeface="宋体" panose="02010600030101010101" pitchFamily="2" charset="-122"/>
              </a:rPr>
              <a:t>10, 12</a:t>
            </a:r>
          </a:p>
        </p:txBody>
      </p:sp>
      <p:sp>
        <p:nvSpPr>
          <p:cNvPr id="119824" name="Rectangle 16"/>
          <p:cNvSpPr>
            <a:spLocks noChangeArrowheads="1"/>
          </p:cNvSpPr>
          <p:nvPr/>
        </p:nvSpPr>
        <p:spPr bwMode="auto">
          <a:xfrm>
            <a:off x="6057900" y="5373688"/>
            <a:ext cx="685800" cy="3048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>
                <a:ea typeface="宋体" panose="02010600030101010101" pitchFamily="2" charset="-122"/>
              </a:rPr>
              <a:t>13, 15</a:t>
            </a:r>
          </a:p>
        </p:txBody>
      </p:sp>
      <p:sp>
        <p:nvSpPr>
          <p:cNvPr id="119825" name="Rectangle 17"/>
          <p:cNvSpPr>
            <a:spLocks noChangeArrowheads="1"/>
          </p:cNvSpPr>
          <p:nvPr/>
        </p:nvSpPr>
        <p:spPr bwMode="auto">
          <a:xfrm>
            <a:off x="7048500" y="5373688"/>
            <a:ext cx="685800" cy="3048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119826" name="Line 18"/>
          <p:cNvSpPr>
            <a:spLocks noChangeShapeType="1"/>
          </p:cNvSpPr>
          <p:nvPr/>
        </p:nvSpPr>
        <p:spPr bwMode="auto">
          <a:xfrm flipH="1">
            <a:off x="5219700" y="4002088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7" name="Line 19"/>
          <p:cNvSpPr>
            <a:spLocks noChangeShapeType="1"/>
          </p:cNvSpPr>
          <p:nvPr/>
        </p:nvSpPr>
        <p:spPr bwMode="auto">
          <a:xfrm flipH="1">
            <a:off x="4610100" y="453548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8" name="Line 20"/>
          <p:cNvSpPr>
            <a:spLocks noChangeShapeType="1"/>
          </p:cNvSpPr>
          <p:nvPr/>
        </p:nvSpPr>
        <p:spPr bwMode="auto">
          <a:xfrm>
            <a:off x="5143500" y="4535488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9" name="Line 21"/>
          <p:cNvSpPr>
            <a:spLocks noChangeShapeType="1"/>
          </p:cNvSpPr>
          <p:nvPr/>
        </p:nvSpPr>
        <p:spPr bwMode="auto">
          <a:xfrm flipH="1">
            <a:off x="6286500" y="4535488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30" name="Line 22"/>
          <p:cNvSpPr>
            <a:spLocks noChangeShapeType="1"/>
          </p:cNvSpPr>
          <p:nvPr/>
        </p:nvSpPr>
        <p:spPr bwMode="auto">
          <a:xfrm>
            <a:off x="6819900" y="453548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31" name="Line 23"/>
          <p:cNvSpPr>
            <a:spLocks noChangeShapeType="1"/>
          </p:cNvSpPr>
          <p:nvPr/>
        </p:nvSpPr>
        <p:spPr bwMode="auto">
          <a:xfrm>
            <a:off x="5981700" y="4002088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32" name="Line 24"/>
          <p:cNvSpPr>
            <a:spLocks noChangeShapeType="1"/>
          </p:cNvSpPr>
          <p:nvPr/>
        </p:nvSpPr>
        <p:spPr bwMode="auto">
          <a:xfrm flipH="1" flipV="1">
            <a:off x="4457700" y="52212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33" name="Line 25"/>
          <p:cNvSpPr>
            <a:spLocks noChangeShapeType="1"/>
          </p:cNvSpPr>
          <p:nvPr/>
        </p:nvSpPr>
        <p:spPr bwMode="auto">
          <a:xfrm flipH="1">
            <a:off x="5524500" y="52212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34" name="Line 26"/>
          <p:cNvSpPr>
            <a:spLocks noChangeShapeType="1"/>
          </p:cNvSpPr>
          <p:nvPr/>
        </p:nvSpPr>
        <p:spPr bwMode="auto">
          <a:xfrm>
            <a:off x="6286500" y="52212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35" name="Line 27"/>
          <p:cNvSpPr>
            <a:spLocks noChangeShapeType="1"/>
          </p:cNvSpPr>
          <p:nvPr/>
        </p:nvSpPr>
        <p:spPr bwMode="auto">
          <a:xfrm flipH="1" flipV="1">
            <a:off x="7200900" y="522128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36" name="Text Box 28"/>
          <p:cNvSpPr txBox="1">
            <a:spLocks noChangeArrowheads="1"/>
          </p:cNvSpPr>
          <p:nvPr/>
        </p:nvSpPr>
        <p:spPr bwMode="auto">
          <a:xfrm>
            <a:off x="5394325" y="27432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19837" name="Text Box 29"/>
          <p:cNvSpPr txBox="1">
            <a:spLocks noChangeArrowheads="1"/>
          </p:cNvSpPr>
          <p:nvPr/>
        </p:nvSpPr>
        <p:spPr bwMode="auto">
          <a:xfrm>
            <a:off x="6705600" y="1363663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endParaRPr lang="es-ES" altLang="zh-CN"/>
          </a:p>
        </p:txBody>
      </p:sp>
      <p:sp>
        <p:nvSpPr>
          <p:cNvPr id="119838" name="Text Box 30"/>
          <p:cNvSpPr txBox="1">
            <a:spLocks noChangeArrowheads="1"/>
          </p:cNvSpPr>
          <p:nvPr/>
        </p:nvSpPr>
        <p:spPr bwMode="auto">
          <a:xfrm>
            <a:off x="5700395" y="2703513"/>
            <a:ext cx="233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endParaRPr lang="es-ES" altLang="zh-CN"/>
          </a:p>
        </p:txBody>
      </p:sp>
      <p:sp>
        <p:nvSpPr>
          <p:cNvPr id="119839" name="Text Box 31"/>
          <p:cNvSpPr txBox="1">
            <a:spLocks noChangeArrowheads="1"/>
          </p:cNvSpPr>
          <p:nvPr/>
        </p:nvSpPr>
        <p:spPr bwMode="auto">
          <a:xfrm>
            <a:off x="6903720" y="2681288"/>
            <a:ext cx="233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endParaRPr lang="es-ES" altLang="zh-CN"/>
          </a:p>
        </p:txBody>
      </p:sp>
      <p:sp>
        <p:nvSpPr>
          <p:cNvPr id="119840" name="Text Box 32"/>
          <p:cNvSpPr txBox="1">
            <a:spLocks noChangeArrowheads="1"/>
          </p:cNvSpPr>
          <p:nvPr/>
        </p:nvSpPr>
        <p:spPr bwMode="auto">
          <a:xfrm>
            <a:off x="6527800" y="27432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119841" name="Text Box 33"/>
          <p:cNvSpPr txBox="1">
            <a:spLocks noChangeArrowheads="1"/>
          </p:cNvSpPr>
          <p:nvPr/>
        </p:nvSpPr>
        <p:spPr bwMode="auto">
          <a:xfrm>
            <a:off x="3175000" y="27432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19842" name="Text Box 34"/>
          <p:cNvSpPr txBox="1">
            <a:spLocks noChangeArrowheads="1"/>
          </p:cNvSpPr>
          <p:nvPr/>
        </p:nvSpPr>
        <p:spPr bwMode="auto">
          <a:xfrm>
            <a:off x="3860800" y="2743200"/>
            <a:ext cx="381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19843" name="Text Box 35"/>
          <p:cNvSpPr txBox="1">
            <a:spLocks noChangeArrowheads="1"/>
          </p:cNvSpPr>
          <p:nvPr/>
        </p:nvSpPr>
        <p:spPr bwMode="auto">
          <a:xfrm>
            <a:off x="4470400" y="27432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9844" name="Text Box 36"/>
          <p:cNvSpPr txBox="1">
            <a:spLocks noChangeArrowheads="1"/>
          </p:cNvSpPr>
          <p:nvPr/>
        </p:nvSpPr>
        <p:spPr bwMode="auto">
          <a:xfrm>
            <a:off x="5765800" y="27432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19845" name="Text Box 37"/>
          <p:cNvSpPr txBox="1">
            <a:spLocks noChangeArrowheads="1"/>
          </p:cNvSpPr>
          <p:nvPr/>
        </p:nvSpPr>
        <p:spPr bwMode="auto">
          <a:xfrm>
            <a:off x="7747000" y="27432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119846" name="Oval 38"/>
          <p:cNvSpPr>
            <a:spLocks noChangeArrowheads="1"/>
          </p:cNvSpPr>
          <p:nvPr/>
        </p:nvSpPr>
        <p:spPr bwMode="auto">
          <a:xfrm>
            <a:off x="5753100" y="3773488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9847" name="Text Box 39"/>
          <p:cNvSpPr txBox="1">
            <a:spLocks noChangeArrowheads="1"/>
          </p:cNvSpPr>
          <p:nvPr/>
        </p:nvSpPr>
        <p:spPr bwMode="auto">
          <a:xfrm>
            <a:off x="6210300" y="3621088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13,15,18</a:t>
            </a:r>
          </a:p>
        </p:txBody>
      </p:sp>
      <p:sp>
        <p:nvSpPr>
          <p:cNvPr id="119848" name="Text Box 40"/>
          <p:cNvSpPr txBox="1">
            <a:spLocks noChangeArrowheads="1"/>
          </p:cNvSpPr>
          <p:nvPr/>
        </p:nvSpPr>
        <p:spPr bwMode="auto">
          <a:xfrm>
            <a:off x="4305300" y="3621088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7,8,10,12</a:t>
            </a:r>
          </a:p>
        </p:txBody>
      </p:sp>
      <p:sp>
        <p:nvSpPr>
          <p:cNvPr id="119849" name="Oval 41"/>
          <p:cNvSpPr>
            <a:spLocks noChangeArrowheads="1"/>
          </p:cNvSpPr>
          <p:nvPr/>
        </p:nvSpPr>
        <p:spPr bwMode="auto">
          <a:xfrm>
            <a:off x="6565900" y="4268788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9850" name="Oval 42"/>
          <p:cNvSpPr>
            <a:spLocks noChangeArrowheads="1"/>
          </p:cNvSpPr>
          <p:nvPr/>
        </p:nvSpPr>
        <p:spPr bwMode="auto">
          <a:xfrm>
            <a:off x="4381500" y="4916488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9851" name="Oval 43"/>
          <p:cNvSpPr>
            <a:spLocks noChangeArrowheads="1"/>
          </p:cNvSpPr>
          <p:nvPr/>
        </p:nvSpPr>
        <p:spPr bwMode="auto">
          <a:xfrm>
            <a:off x="4914900" y="4306888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9852" name="Oval 44"/>
          <p:cNvSpPr>
            <a:spLocks noChangeArrowheads="1"/>
          </p:cNvSpPr>
          <p:nvPr/>
        </p:nvSpPr>
        <p:spPr bwMode="auto">
          <a:xfrm>
            <a:off x="5372100" y="4916488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9853" name="Oval 45"/>
          <p:cNvSpPr>
            <a:spLocks noChangeArrowheads="1"/>
          </p:cNvSpPr>
          <p:nvPr/>
        </p:nvSpPr>
        <p:spPr bwMode="auto">
          <a:xfrm>
            <a:off x="6134100" y="4916488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9854" name="Oval 46"/>
          <p:cNvSpPr>
            <a:spLocks noChangeArrowheads="1"/>
          </p:cNvSpPr>
          <p:nvPr/>
        </p:nvSpPr>
        <p:spPr bwMode="auto">
          <a:xfrm>
            <a:off x="7048500" y="4916488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9855" name="Text Box 47"/>
          <p:cNvSpPr txBox="1">
            <a:spLocks noChangeArrowheads="1"/>
          </p:cNvSpPr>
          <p:nvPr/>
        </p:nvSpPr>
        <p:spPr bwMode="auto">
          <a:xfrm>
            <a:off x="6819900" y="4459288"/>
            <a:ext cx="45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119856" name="Text Box 48"/>
          <p:cNvSpPr txBox="1">
            <a:spLocks noChangeArrowheads="1"/>
          </p:cNvSpPr>
          <p:nvPr/>
        </p:nvSpPr>
        <p:spPr bwMode="auto">
          <a:xfrm>
            <a:off x="5981700" y="4459288"/>
            <a:ext cx="838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13,15</a:t>
            </a:r>
          </a:p>
        </p:txBody>
      </p:sp>
      <p:sp>
        <p:nvSpPr>
          <p:cNvPr id="119857" name="Text Box 49"/>
          <p:cNvSpPr txBox="1">
            <a:spLocks noChangeArrowheads="1"/>
          </p:cNvSpPr>
          <p:nvPr/>
        </p:nvSpPr>
        <p:spPr bwMode="auto">
          <a:xfrm>
            <a:off x="4914900" y="4535488"/>
            <a:ext cx="76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10,12</a:t>
            </a:r>
          </a:p>
        </p:txBody>
      </p:sp>
      <p:sp>
        <p:nvSpPr>
          <p:cNvPr id="119858" name="Text Box 50"/>
          <p:cNvSpPr txBox="1">
            <a:spLocks noChangeArrowheads="1"/>
          </p:cNvSpPr>
          <p:nvPr/>
        </p:nvSpPr>
        <p:spPr bwMode="auto">
          <a:xfrm>
            <a:off x="4229100" y="4535488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7,8</a:t>
            </a:r>
          </a:p>
        </p:txBody>
      </p:sp>
      <p:sp>
        <p:nvSpPr>
          <p:cNvPr id="340019" name="Text Box 51"/>
          <p:cNvSpPr txBox="1">
            <a:spLocks noChangeArrowheads="1"/>
          </p:cNvSpPr>
          <p:nvPr/>
        </p:nvSpPr>
        <p:spPr bwMode="auto">
          <a:xfrm>
            <a:off x="8343900" y="3544888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6600"/>
                </a:solidFill>
                <a:ea typeface="宋体" panose="02010600030101010101" pitchFamily="2" charset="-122"/>
              </a:rPr>
              <a:t>17</a:t>
            </a:r>
          </a:p>
        </p:txBody>
      </p:sp>
      <p:sp>
        <p:nvSpPr>
          <p:cNvPr id="119860" name="Text Box 52"/>
          <p:cNvSpPr txBox="1">
            <a:spLocks noChangeArrowheads="1"/>
          </p:cNvSpPr>
          <p:nvPr/>
        </p:nvSpPr>
        <p:spPr bwMode="auto">
          <a:xfrm>
            <a:off x="8343900" y="3330575"/>
            <a:ext cx="838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6600"/>
                </a:solidFill>
                <a:ea typeface="宋体" panose="02010600030101010101" pitchFamily="2" charset="-122"/>
              </a:rPr>
              <a:t>query</a:t>
            </a:r>
          </a:p>
        </p:txBody>
      </p:sp>
      <p:sp>
        <p:nvSpPr>
          <p:cNvPr id="340021" name="Oval 53"/>
          <p:cNvSpPr>
            <a:spLocks noChangeArrowheads="1"/>
          </p:cNvSpPr>
          <p:nvPr/>
        </p:nvSpPr>
        <p:spPr bwMode="auto">
          <a:xfrm>
            <a:off x="5537200" y="2667000"/>
            <a:ext cx="533400" cy="533400"/>
          </a:xfrm>
          <a:prstGeom prst="ellipse">
            <a:avLst/>
          </a:prstGeom>
          <a:noFill/>
          <a:ln w="38100">
            <a:solidFill>
              <a:srgbClr val="B4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40022" name="Oval 54"/>
          <p:cNvSpPr>
            <a:spLocks noChangeArrowheads="1"/>
          </p:cNvSpPr>
          <p:nvPr/>
        </p:nvSpPr>
        <p:spPr bwMode="auto">
          <a:xfrm>
            <a:off x="6680200" y="2667000"/>
            <a:ext cx="533400" cy="533400"/>
          </a:xfrm>
          <a:prstGeom prst="ellipse">
            <a:avLst/>
          </a:prstGeom>
          <a:noFill/>
          <a:ln w="38100">
            <a:solidFill>
              <a:srgbClr val="B4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9863" name="Text Box 55"/>
          <p:cNvSpPr txBox="1">
            <a:spLocks noChangeArrowheads="1"/>
          </p:cNvSpPr>
          <p:nvPr/>
        </p:nvSpPr>
        <p:spPr bwMode="auto">
          <a:xfrm>
            <a:off x="8154670" y="2667000"/>
            <a:ext cx="233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endParaRPr lang="es-ES" altLang="zh-CN"/>
          </a:p>
        </p:txBody>
      </p:sp>
      <p:sp>
        <p:nvSpPr>
          <p:cNvPr id="340024" name="Oval 56"/>
          <p:cNvSpPr>
            <a:spLocks noChangeArrowheads="1"/>
          </p:cNvSpPr>
          <p:nvPr/>
        </p:nvSpPr>
        <p:spPr bwMode="auto">
          <a:xfrm>
            <a:off x="7899400" y="2652713"/>
            <a:ext cx="533400" cy="5334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40025" name="Freeform 57"/>
          <p:cNvSpPr/>
          <p:nvPr/>
        </p:nvSpPr>
        <p:spPr bwMode="auto">
          <a:xfrm>
            <a:off x="2997200" y="3455988"/>
            <a:ext cx="4356100" cy="2565400"/>
          </a:xfrm>
          <a:custGeom>
            <a:avLst/>
            <a:gdLst>
              <a:gd name="T0" fmla="*/ 2147483647 w 2744"/>
              <a:gd name="T1" fmla="*/ 2147483647 h 1616"/>
              <a:gd name="T2" fmla="*/ 2147483647 w 2744"/>
              <a:gd name="T3" fmla="*/ 2147483647 h 1616"/>
              <a:gd name="T4" fmla="*/ 2147483647 w 2744"/>
              <a:gd name="T5" fmla="*/ 2147483647 h 1616"/>
              <a:gd name="T6" fmla="*/ 2147483647 w 2744"/>
              <a:gd name="T7" fmla="*/ 2147483647 h 1616"/>
              <a:gd name="T8" fmla="*/ 2147483647 w 2744"/>
              <a:gd name="T9" fmla="*/ 2147483647 h 1616"/>
              <a:gd name="T10" fmla="*/ 2147483647 w 2744"/>
              <a:gd name="T11" fmla="*/ 2147483647 h 1616"/>
              <a:gd name="T12" fmla="*/ 2147483647 w 2744"/>
              <a:gd name="T13" fmla="*/ 2147483647 h 1616"/>
              <a:gd name="T14" fmla="*/ 2147483647 w 2744"/>
              <a:gd name="T15" fmla="*/ 2147483647 h 1616"/>
              <a:gd name="T16" fmla="*/ 2147483647 w 2744"/>
              <a:gd name="T17" fmla="*/ 2147483647 h 161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44"/>
              <a:gd name="T28" fmla="*/ 0 h 1616"/>
              <a:gd name="T29" fmla="*/ 2744 w 2744"/>
              <a:gd name="T30" fmla="*/ 1616 h 161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44" h="1616">
                <a:moveTo>
                  <a:pt x="296" y="1208"/>
                </a:moveTo>
                <a:cubicBezTo>
                  <a:pt x="780" y="756"/>
                  <a:pt x="1264" y="304"/>
                  <a:pt x="1592" y="152"/>
                </a:cubicBezTo>
                <a:cubicBezTo>
                  <a:pt x="1920" y="0"/>
                  <a:pt x="2104" y="208"/>
                  <a:pt x="2264" y="296"/>
                </a:cubicBezTo>
                <a:cubicBezTo>
                  <a:pt x="2424" y="384"/>
                  <a:pt x="2536" y="552"/>
                  <a:pt x="2552" y="680"/>
                </a:cubicBezTo>
                <a:cubicBezTo>
                  <a:pt x="2568" y="808"/>
                  <a:pt x="2384" y="920"/>
                  <a:pt x="2360" y="1064"/>
                </a:cubicBezTo>
                <a:cubicBezTo>
                  <a:pt x="2336" y="1208"/>
                  <a:pt x="2744" y="1472"/>
                  <a:pt x="2408" y="1544"/>
                </a:cubicBezTo>
                <a:cubicBezTo>
                  <a:pt x="2072" y="1616"/>
                  <a:pt x="688" y="1560"/>
                  <a:pt x="344" y="1496"/>
                </a:cubicBezTo>
                <a:cubicBezTo>
                  <a:pt x="0" y="1432"/>
                  <a:pt x="328" y="1216"/>
                  <a:pt x="344" y="1160"/>
                </a:cubicBezTo>
                <a:cubicBezTo>
                  <a:pt x="360" y="1104"/>
                  <a:pt x="416" y="1160"/>
                  <a:pt x="440" y="1160"/>
                </a:cubicBezTo>
              </a:path>
            </a:pathLst>
          </a:custGeom>
          <a:solidFill>
            <a:srgbClr val="969696">
              <a:alpha val="50195"/>
            </a:srgbClr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0026" name="Text Box 58"/>
          <p:cNvSpPr txBox="1">
            <a:spLocks noChangeArrowheads="1"/>
          </p:cNvSpPr>
          <p:nvPr/>
        </p:nvSpPr>
        <p:spPr bwMode="auto">
          <a:xfrm>
            <a:off x="8343900" y="4764088"/>
            <a:ext cx="1828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min dist = 1</a:t>
            </a:r>
          </a:p>
        </p:txBody>
      </p:sp>
      <p:sp>
        <p:nvSpPr>
          <p:cNvPr id="59" name="Text Box 58"/>
          <p:cNvSpPr txBox="1">
            <a:spLocks noChangeArrowheads="1"/>
          </p:cNvSpPr>
          <p:nvPr/>
        </p:nvSpPr>
        <p:spPr bwMode="auto">
          <a:xfrm>
            <a:off x="8330474" y="5351101"/>
            <a:ext cx="1956526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1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00CC"/>
                </a:solidFill>
                <a:ea typeface="宋体" panose="02010600030101010101" pitchFamily="2" charset="-122"/>
              </a:rPr>
              <a:t>Min</a:t>
            </a:r>
            <a:r>
              <a:rPr lang="zh-CN" altLang="en-US" sz="2400" dirty="0">
                <a:solidFill>
                  <a:srgbClr val="0000CC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CC"/>
                </a:solidFill>
                <a:ea typeface="宋体" panose="02010600030101010101" pitchFamily="2" charset="-122"/>
              </a:rPr>
              <a:t>possible </a:t>
            </a:r>
            <a:r>
              <a:rPr lang="en-US" altLang="zh-CN" sz="2400" dirty="0" err="1">
                <a:solidFill>
                  <a:srgbClr val="0000CC"/>
                </a:solidFill>
                <a:ea typeface="宋体" panose="02010600030101010101" pitchFamily="2" charset="-122"/>
              </a:rPr>
              <a:t>dist</a:t>
            </a:r>
            <a:r>
              <a:rPr lang="en-US" altLang="zh-CN" sz="2400" dirty="0">
                <a:solidFill>
                  <a:srgbClr val="0000CC"/>
                </a:solidFill>
                <a:ea typeface="宋体" panose="02010600030101010101" pitchFamily="2" charset="-122"/>
              </a:rPr>
              <a:t> &gt;= 2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2700" y="136525"/>
            <a:ext cx="715454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NN example using kD trees</a:t>
            </a:r>
            <a:r>
              <a:rPr lang="en-US" altLang="zh-CN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(cont’d)</a:t>
            </a:r>
            <a:endParaRPr lang="zh-CN" altLang="en-US" sz="2800" dirty="0">
              <a:solidFill>
                <a:schemeClr val="bg1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</a:endParaRPr>
          </a:p>
          <a:p>
            <a:pPr algn="ctr"/>
            <a:endParaRPr lang="zh-CN" altLang="en-US" sz="2800" dirty="0">
              <a:solidFill>
                <a:schemeClr val="bg1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86879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141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445 -0.00255 C -0.1066 -0.03287 -0.16875 -0.06296 -0.20973 -0.06366 C -0.2507 -0.06435 -0.27691 -0.01482 -0.29028 -0.00625 " pathEditMode="relative" ptsTypes="aaA">
                                      <p:cBhvr>
                                        <p:cTn id="6" dur="2000" fill="hold"/>
                                        <p:tgtEl>
                                          <p:spTgt spid="3400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028 -0.00625 L -0.21667 0.0622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400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81" y="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667 0.06227 L -0.125 0.1844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400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83" y="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6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5 0.18449 L -0.2 0.095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00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-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019" grpId="0"/>
      <p:bldP spid="340019" grpId="1"/>
      <p:bldP spid="340019" grpId="2"/>
      <p:bldP spid="340019" grpId="3"/>
      <p:bldP spid="340021" grpId="0" bldLvl="0" animBg="1"/>
      <p:bldP spid="340022" grpId="0" bldLvl="0" animBg="1"/>
      <p:bldP spid="340024" grpId="0" bldLvl="0" animBg="1"/>
      <p:bldP spid="340026" grpId="0"/>
      <p:bldP spid="59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65325" y="1249363"/>
            <a:ext cx="7924800" cy="4527550"/>
          </a:xfrm>
        </p:spPr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d=1 (binary search tree)</a:t>
            </a:r>
          </a:p>
        </p:txBody>
      </p:sp>
      <p:sp>
        <p:nvSpPr>
          <p:cNvPr id="120836" name="Line 4"/>
          <p:cNvSpPr>
            <a:spLocks noChangeShapeType="1"/>
          </p:cNvSpPr>
          <p:nvPr/>
        </p:nvSpPr>
        <p:spPr bwMode="auto">
          <a:xfrm>
            <a:off x="3019425" y="2501900"/>
            <a:ext cx="594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37" name="Text Box 5"/>
          <p:cNvSpPr txBox="1">
            <a:spLocks noChangeArrowheads="1"/>
          </p:cNvSpPr>
          <p:nvPr/>
        </p:nvSpPr>
        <p:spPr bwMode="auto">
          <a:xfrm>
            <a:off x="2790825" y="2501900"/>
            <a:ext cx="381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20838" name="Text Box 6"/>
          <p:cNvSpPr txBox="1">
            <a:spLocks noChangeArrowheads="1"/>
          </p:cNvSpPr>
          <p:nvPr/>
        </p:nvSpPr>
        <p:spPr bwMode="auto">
          <a:xfrm>
            <a:off x="8658225" y="2501900"/>
            <a:ext cx="60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sz="2400"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120839" name="Line 7"/>
          <p:cNvSpPr>
            <a:spLocks noChangeShapeType="1"/>
          </p:cNvSpPr>
          <p:nvPr/>
        </p:nvSpPr>
        <p:spPr bwMode="auto">
          <a:xfrm>
            <a:off x="5915025" y="21209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0" name="Line 8"/>
          <p:cNvSpPr>
            <a:spLocks noChangeShapeType="1"/>
          </p:cNvSpPr>
          <p:nvPr/>
        </p:nvSpPr>
        <p:spPr bwMode="auto">
          <a:xfrm>
            <a:off x="4162425" y="21209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1" name="Line 9"/>
          <p:cNvSpPr>
            <a:spLocks noChangeShapeType="1"/>
          </p:cNvSpPr>
          <p:nvPr/>
        </p:nvSpPr>
        <p:spPr bwMode="auto">
          <a:xfrm>
            <a:off x="6248400" y="21209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2" name="Line 10"/>
          <p:cNvSpPr>
            <a:spLocks noChangeShapeType="1"/>
          </p:cNvSpPr>
          <p:nvPr/>
        </p:nvSpPr>
        <p:spPr bwMode="auto">
          <a:xfrm>
            <a:off x="7058025" y="21209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3" name="Line 11"/>
          <p:cNvSpPr>
            <a:spLocks noChangeShapeType="1"/>
          </p:cNvSpPr>
          <p:nvPr/>
        </p:nvSpPr>
        <p:spPr bwMode="auto">
          <a:xfrm>
            <a:off x="8277225" y="21209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4" name="Line 12"/>
          <p:cNvSpPr>
            <a:spLocks noChangeShapeType="1"/>
          </p:cNvSpPr>
          <p:nvPr/>
        </p:nvSpPr>
        <p:spPr bwMode="auto">
          <a:xfrm>
            <a:off x="5000625" y="21209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5" name="Line 13"/>
          <p:cNvSpPr>
            <a:spLocks noChangeShapeType="1"/>
          </p:cNvSpPr>
          <p:nvPr/>
        </p:nvSpPr>
        <p:spPr bwMode="auto">
          <a:xfrm>
            <a:off x="3705225" y="2120900"/>
            <a:ext cx="0" cy="685800"/>
          </a:xfrm>
          <a:prstGeom prst="line">
            <a:avLst/>
          </a:prstGeom>
          <a:noFill/>
          <a:ln w="28575">
            <a:solidFill>
              <a:srgbClr val="80008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6" name="Rectangle 14"/>
          <p:cNvSpPr>
            <a:spLocks noChangeArrowheads="1"/>
          </p:cNvSpPr>
          <p:nvPr/>
        </p:nvSpPr>
        <p:spPr bwMode="auto">
          <a:xfrm>
            <a:off x="4137025" y="5410200"/>
            <a:ext cx="838200" cy="3048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>
                <a:ea typeface="宋体" panose="02010600030101010101" pitchFamily="2" charset="-122"/>
              </a:rPr>
              <a:t>7, 8</a:t>
            </a:r>
          </a:p>
        </p:txBody>
      </p:sp>
      <p:sp>
        <p:nvSpPr>
          <p:cNvPr id="120847" name="Rectangle 15"/>
          <p:cNvSpPr>
            <a:spLocks noChangeArrowheads="1"/>
          </p:cNvSpPr>
          <p:nvPr/>
        </p:nvSpPr>
        <p:spPr bwMode="auto">
          <a:xfrm>
            <a:off x="5280025" y="5410200"/>
            <a:ext cx="685800" cy="3048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>
                <a:ea typeface="宋体" panose="02010600030101010101" pitchFamily="2" charset="-122"/>
              </a:rPr>
              <a:t>10, 12</a:t>
            </a:r>
          </a:p>
        </p:txBody>
      </p:sp>
      <p:sp>
        <p:nvSpPr>
          <p:cNvPr id="120848" name="Rectangle 16"/>
          <p:cNvSpPr>
            <a:spLocks noChangeArrowheads="1"/>
          </p:cNvSpPr>
          <p:nvPr/>
        </p:nvSpPr>
        <p:spPr bwMode="auto">
          <a:xfrm>
            <a:off x="6118225" y="5410200"/>
            <a:ext cx="685800" cy="3048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>
                <a:ea typeface="宋体" panose="02010600030101010101" pitchFamily="2" charset="-122"/>
              </a:rPr>
              <a:t>13, 15</a:t>
            </a:r>
          </a:p>
        </p:txBody>
      </p:sp>
      <p:sp>
        <p:nvSpPr>
          <p:cNvPr id="120849" name="Rectangle 17"/>
          <p:cNvSpPr>
            <a:spLocks noChangeArrowheads="1"/>
          </p:cNvSpPr>
          <p:nvPr/>
        </p:nvSpPr>
        <p:spPr bwMode="auto">
          <a:xfrm>
            <a:off x="7108825" y="5410200"/>
            <a:ext cx="685800" cy="3048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zh-CN"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120850" name="Line 18"/>
          <p:cNvSpPr>
            <a:spLocks noChangeShapeType="1"/>
          </p:cNvSpPr>
          <p:nvPr/>
        </p:nvSpPr>
        <p:spPr bwMode="auto">
          <a:xfrm flipH="1">
            <a:off x="5280025" y="40386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51" name="Line 19"/>
          <p:cNvSpPr>
            <a:spLocks noChangeShapeType="1"/>
          </p:cNvSpPr>
          <p:nvPr/>
        </p:nvSpPr>
        <p:spPr bwMode="auto">
          <a:xfrm flipH="1">
            <a:off x="4670425" y="45720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52" name="Line 20"/>
          <p:cNvSpPr>
            <a:spLocks noChangeShapeType="1"/>
          </p:cNvSpPr>
          <p:nvPr/>
        </p:nvSpPr>
        <p:spPr bwMode="auto">
          <a:xfrm>
            <a:off x="5203825" y="45720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53" name="Line 21"/>
          <p:cNvSpPr>
            <a:spLocks noChangeShapeType="1"/>
          </p:cNvSpPr>
          <p:nvPr/>
        </p:nvSpPr>
        <p:spPr bwMode="auto">
          <a:xfrm flipH="1">
            <a:off x="6346825" y="45720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54" name="Line 22"/>
          <p:cNvSpPr>
            <a:spLocks noChangeShapeType="1"/>
          </p:cNvSpPr>
          <p:nvPr/>
        </p:nvSpPr>
        <p:spPr bwMode="auto">
          <a:xfrm>
            <a:off x="6880225" y="45720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55" name="Line 23"/>
          <p:cNvSpPr>
            <a:spLocks noChangeShapeType="1"/>
          </p:cNvSpPr>
          <p:nvPr/>
        </p:nvSpPr>
        <p:spPr bwMode="auto">
          <a:xfrm>
            <a:off x="6042025" y="40386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56" name="Line 24"/>
          <p:cNvSpPr>
            <a:spLocks noChangeShapeType="1"/>
          </p:cNvSpPr>
          <p:nvPr/>
        </p:nvSpPr>
        <p:spPr bwMode="auto">
          <a:xfrm flipH="1" flipV="1">
            <a:off x="4518025" y="5257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57" name="Line 25"/>
          <p:cNvSpPr>
            <a:spLocks noChangeShapeType="1"/>
          </p:cNvSpPr>
          <p:nvPr/>
        </p:nvSpPr>
        <p:spPr bwMode="auto">
          <a:xfrm flipH="1">
            <a:off x="5584825" y="5257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58" name="Line 26"/>
          <p:cNvSpPr>
            <a:spLocks noChangeShapeType="1"/>
          </p:cNvSpPr>
          <p:nvPr/>
        </p:nvSpPr>
        <p:spPr bwMode="auto">
          <a:xfrm>
            <a:off x="6346825" y="5257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59" name="Line 27"/>
          <p:cNvSpPr>
            <a:spLocks noChangeShapeType="1"/>
          </p:cNvSpPr>
          <p:nvPr/>
        </p:nvSpPr>
        <p:spPr bwMode="auto">
          <a:xfrm flipH="1" flipV="1">
            <a:off x="7261225" y="52578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60" name="Text Box 28"/>
          <p:cNvSpPr txBox="1">
            <a:spLocks noChangeArrowheads="1"/>
          </p:cNvSpPr>
          <p:nvPr/>
        </p:nvSpPr>
        <p:spPr bwMode="auto">
          <a:xfrm>
            <a:off x="5467350" y="27305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20861" name="Text Box 29"/>
          <p:cNvSpPr txBox="1">
            <a:spLocks noChangeArrowheads="1"/>
          </p:cNvSpPr>
          <p:nvPr/>
        </p:nvSpPr>
        <p:spPr bwMode="auto">
          <a:xfrm>
            <a:off x="6705600" y="1363663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endParaRPr lang="es-ES" altLang="zh-CN"/>
          </a:p>
        </p:txBody>
      </p:sp>
      <p:sp>
        <p:nvSpPr>
          <p:cNvPr id="120862" name="Text Box 30"/>
          <p:cNvSpPr txBox="1">
            <a:spLocks noChangeArrowheads="1"/>
          </p:cNvSpPr>
          <p:nvPr/>
        </p:nvSpPr>
        <p:spPr bwMode="auto">
          <a:xfrm>
            <a:off x="5773420" y="2690813"/>
            <a:ext cx="233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endParaRPr lang="es-ES" altLang="zh-CN"/>
          </a:p>
        </p:txBody>
      </p:sp>
      <p:sp>
        <p:nvSpPr>
          <p:cNvPr id="120863" name="Text Box 31"/>
          <p:cNvSpPr txBox="1">
            <a:spLocks noChangeArrowheads="1"/>
          </p:cNvSpPr>
          <p:nvPr/>
        </p:nvSpPr>
        <p:spPr bwMode="auto">
          <a:xfrm>
            <a:off x="6976745" y="2668588"/>
            <a:ext cx="233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endParaRPr lang="es-ES" altLang="zh-CN"/>
          </a:p>
        </p:txBody>
      </p:sp>
      <p:sp>
        <p:nvSpPr>
          <p:cNvPr id="120864" name="Text Box 32"/>
          <p:cNvSpPr txBox="1">
            <a:spLocks noChangeArrowheads="1"/>
          </p:cNvSpPr>
          <p:nvPr/>
        </p:nvSpPr>
        <p:spPr bwMode="auto">
          <a:xfrm>
            <a:off x="6600825" y="27305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120865" name="Text Box 33"/>
          <p:cNvSpPr txBox="1">
            <a:spLocks noChangeArrowheads="1"/>
          </p:cNvSpPr>
          <p:nvPr/>
        </p:nvSpPr>
        <p:spPr bwMode="auto">
          <a:xfrm>
            <a:off x="3248025" y="27305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0866" name="Text Box 34"/>
          <p:cNvSpPr txBox="1">
            <a:spLocks noChangeArrowheads="1"/>
          </p:cNvSpPr>
          <p:nvPr/>
        </p:nvSpPr>
        <p:spPr bwMode="auto">
          <a:xfrm>
            <a:off x="3933825" y="2730500"/>
            <a:ext cx="381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20867" name="Text Box 35"/>
          <p:cNvSpPr txBox="1">
            <a:spLocks noChangeArrowheads="1"/>
          </p:cNvSpPr>
          <p:nvPr/>
        </p:nvSpPr>
        <p:spPr bwMode="auto">
          <a:xfrm>
            <a:off x="4543425" y="27305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0868" name="Text Box 36"/>
          <p:cNvSpPr txBox="1">
            <a:spLocks noChangeArrowheads="1"/>
          </p:cNvSpPr>
          <p:nvPr/>
        </p:nvSpPr>
        <p:spPr bwMode="auto">
          <a:xfrm>
            <a:off x="5838825" y="27305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20869" name="Text Box 37"/>
          <p:cNvSpPr txBox="1">
            <a:spLocks noChangeArrowheads="1"/>
          </p:cNvSpPr>
          <p:nvPr/>
        </p:nvSpPr>
        <p:spPr bwMode="auto">
          <a:xfrm>
            <a:off x="7820025" y="27305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120870" name="Oval 38"/>
          <p:cNvSpPr>
            <a:spLocks noChangeArrowheads="1"/>
          </p:cNvSpPr>
          <p:nvPr/>
        </p:nvSpPr>
        <p:spPr bwMode="auto">
          <a:xfrm>
            <a:off x="5813425" y="38100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0871" name="Text Box 39"/>
          <p:cNvSpPr txBox="1">
            <a:spLocks noChangeArrowheads="1"/>
          </p:cNvSpPr>
          <p:nvPr/>
        </p:nvSpPr>
        <p:spPr bwMode="auto">
          <a:xfrm>
            <a:off x="6270625" y="3657600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13,15,18</a:t>
            </a:r>
          </a:p>
        </p:txBody>
      </p:sp>
      <p:sp>
        <p:nvSpPr>
          <p:cNvPr id="120872" name="Text Box 40"/>
          <p:cNvSpPr txBox="1">
            <a:spLocks noChangeArrowheads="1"/>
          </p:cNvSpPr>
          <p:nvPr/>
        </p:nvSpPr>
        <p:spPr bwMode="auto">
          <a:xfrm>
            <a:off x="4365625" y="3657600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7,8,10,12</a:t>
            </a:r>
          </a:p>
        </p:txBody>
      </p:sp>
      <p:sp>
        <p:nvSpPr>
          <p:cNvPr id="120873" name="Oval 41"/>
          <p:cNvSpPr>
            <a:spLocks noChangeArrowheads="1"/>
          </p:cNvSpPr>
          <p:nvPr/>
        </p:nvSpPr>
        <p:spPr bwMode="auto">
          <a:xfrm>
            <a:off x="6626225" y="43053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0874" name="Oval 42"/>
          <p:cNvSpPr>
            <a:spLocks noChangeArrowheads="1"/>
          </p:cNvSpPr>
          <p:nvPr/>
        </p:nvSpPr>
        <p:spPr bwMode="auto">
          <a:xfrm>
            <a:off x="4441825" y="49530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0875" name="Oval 43"/>
          <p:cNvSpPr>
            <a:spLocks noChangeArrowheads="1"/>
          </p:cNvSpPr>
          <p:nvPr/>
        </p:nvSpPr>
        <p:spPr bwMode="auto">
          <a:xfrm>
            <a:off x="4975225" y="43434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0876" name="Oval 44"/>
          <p:cNvSpPr>
            <a:spLocks noChangeArrowheads="1"/>
          </p:cNvSpPr>
          <p:nvPr/>
        </p:nvSpPr>
        <p:spPr bwMode="auto">
          <a:xfrm>
            <a:off x="5432425" y="49530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0877" name="Oval 45"/>
          <p:cNvSpPr>
            <a:spLocks noChangeArrowheads="1"/>
          </p:cNvSpPr>
          <p:nvPr/>
        </p:nvSpPr>
        <p:spPr bwMode="auto">
          <a:xfrm>
            <a:off x="6194425" y="49530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0878" name="Oval 46"/>
          <p:cNvSpPr>
            <a:spLocks noChangeArrowheads="1"/>
          </p:cNvSpPr>
          <p:nvPr/>
        </p:nvSpPr>
        <p:spPr bwMode="auto">
          <a:xfrm>
            <a:off x="7108825" y="4953000"/>
            <a:ext cx="228600" cy="228600"/>
          </a:xfrm>
          <a:prstGeom prst="ellipse">
            <a:avLst/>
          </a:prstGeom>
          <a:solidFill>
            <a:srgbClr val="A43700"/>
          </a:solidFill>
          <a:ln w="28575">
            <a:solidFill>
              <a:srgbClr val="6E25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0879" name="Text Box 47"/>
          <p:cNvSpPr txBox="1">
            <a:spLocks noChangeArrowheads="1"/>
          </p:cNvSpPr>
          <p:nvPr/>
        </p:nvSpPr>
        <p:spPr bwMode="auto">
          <a:xfrm>
            <a:off x="6880225" y="4495800"/>
            <a:ext cx="45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18</a:t>
            </a:r>
          </a:p>
        </p:txBody>
      </p:sp>
      <p:sp>
        <p:nvSpPr>
          <p:cNvPr id="120880" name="Text Box 48"/>
          <p:cNvSpPr txBox="1">
            <a:spLocks noChangeArrowheads="1"/>
          </p:cNvSpPr>
          <p:nvPr/>
        </p:nvSpPr>
        <p:spPr bwMode="auto">
          <a:xfrm>
            <a:off x="6042025" y="4495800"/>
            <a:ext cx="838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13,15</a:t>
            </a:r>
          </a:p>
        </p:txBody>
      </p:sp>
      <p:sp>
        <p:nvSpPr>
          <p:cNvPr id="120881" name="Text Box 49"/>
          <p:cNvSpPr txBox="1">
            <a:spLocks noChangeArrowheads="1"/>
          </p:cNvSpPr>
          <p:nvPr/>
        </p:nvSpPr>
        <p:spPr bwMode="auto">
          <a:xfrm>
            <a:off x="4975225" y="4572000"/>
            <a:ext cx="76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10,12</a:t>
            </a:r>
          </a:p>
        </p:txBody>
      </p:sp>
      <p:sp>
        <p:nvSpPr>
          <p:cNvPr id="120882" name="Text Box 50"/>
          <p:cNvSpPr txBox="1">
            <a:spLocks noChangeArrowheads="1"/>
          </p:cNvSpPr>
          <p:nvPr/>
        </p:nvSpPr>
        <p:spPr bwMode="auto">
          <a:xfrm>
            <a:off x="4289425" y="45720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7,8</a:t>
            </a:r>
          </a:p>
        </p:txBody>
      </p:sp>
      <p:sp>
        <p:nvSpPr>
          <p:cNvPr id="342067" name="Text Box 51"/>
          <p:cNvSpPr txBox="1">
            <a:spLocks noChangeArrowheads="1"/>
          </p:cNvSpPr>
          <p:nvPr/>
        </p:nvSpPr>
        <p:spPr bwMode="auto">
          <a:xfrm>
            <a:off x="8404225" y="35814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6600"/>
                </a:solidFill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20884" name="Text Box 52"/>
          <p:cNvSpPr txBox="1">
            <a:spLocks noChangeArrowheads="1"/>
          </p:cNvSpPr>
          <p:nvPr/>
        </p:nvSpPr>
        <p:spPr bwMode="auto">
          <a:xfrm>
            <a:off x="8404225" y="3367088"/>
            <a:ext cx="838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6600"/>
                </a:solidFill>
                <a:ea typeface="宋体" panose="02010600030101010101" pitchFamily="2" charset="-122"/>
              </a:rPr>
              <a:t>query</a:t>
            </a:r>
          </a:p>
        </p:txBody>
      </p:sp>
      <p:sp>
        <p:nvSpPr>
          <p:cNvPr id="342069" name="Oval 53"/>
          <p:cNvSpPr>
            <a:spLocks noChangeArrowheads="1"/>
          </p:cNvSpPr>
          <p:nvPr/>
        </p:nvSpPr>
        <p:spPr bwMode="auto">
          <a:xfrm>
            <a:off x="5610225" y="2654300"/>
            <a:ext cx="533400" cy="533400"/>
          </a:xfrm>
          <a:prstGeom prst="ellipse">
            <a:avLst/>
          </a:prstGeom>
          <a:noFill/>
          <a:ln w="38100">
            <a:solidFill>
              <a:srgbClr val="B4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42070" name="Oval 54"/>
          <p:cNvSpPr>
            <a:spLocks noChangeArrowheads="1"/>
          </p:cNvSpPr>
          <p:nvPr/>
        </p:nvSpPr>
        <p:spPr bwMode="auto">
          <a:xfrm>
            <a:off x="6753225" y="2654300"/>
            <a:ext cx="533400" cy="533400"/>
          </a:xfrm>
          <a:prstGeom prst="ellipse">
            <a:avLst/>
          </a:prstGeom>
          <a:noFill/>
          <a:ln w="38100">
            <a:solidFill>
              <a:srgbClr val="B4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0887" name="Text Box 55"/>
          <p:cNvSpPr txBox="1">
            <a:spLocks noChangeArrowheads="1"/>
          </p:cNvSpPr>
          <p:nvPr/>
        </p:nvSpPr>
        <p:spPr bwMode="auto">
          <a:xfrm>
            <a:off x="8227695" y="2654300"/>
            <a:ext cx="233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/>
            <a:endParaRPr lang="es-ES" altLang="zh-CN"/>
          </a:p>
        </p:txBody>
      </p:sp>
      <p:sp>
        <p:nvSpPr>
          <p:cNvPr id="342072" name="Oval 56"/>
          <p:cNvSpPr>
            <a:spLocks noChangeArrowheads="1"/>
          </p:cNvSpPr>
          <p:nvPr/>
        </p:nvSpPr>
        <p:spPr bwMode="auto">
          <a:xfrm>
            <a:off x="7972425" y="2640013"/>
            <a:ext cx="533400" cy="5334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42073" name="Oval 57"/>
          <p:cNvSpPr>
            <a:spLocks noChangeArrowheads="1"/>
          </p:cNvSpPr>
          <p:nvPr/>
        </p:nvSpPr>
        <p:spPr bwMode="auto">
          <a:xfrm>
            <a:off x="7972425" y="2641600"/>
            <a:ext cx="533400" cy="533400"/>
          </a:xfrm>
          <a:prstGeom prst="ellipse">
            <a:avLst/>
          </a:prstGeom>
          <a:noFill/>
          <a:ln w="38100">
            <a:solidFill>
              <a:srgbClr val="B4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42074" name="Oval 58"/>
          <p:cNvSpPr>
            <a:spLocks noChangeArrowheads="1"/>
          </p:cNvSpPr>
          <p:nvPr/>
        </p:nvSpPr>
        <p:spPr bwMode="auto">
          <a:xfrm>
            <a:off x="6753225" y="2654300"/>
            <a:ext cx="533400" cy="5334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42075" name="Freeform 59"/>
          <p:cNvSpPr/>
          <p:nvPr/>
        </p:nvSpPr>
        <p:spPr bwMode="auto">
          <a:xfrm>
            <a:off x="6842125" y="4508500"/>
            <a:ext cx="1346200" cy="1511300"/>
          </a:xfrm>
          <a:custGeom>
            <a:avLst/>
            <a:gdLst>
              <a:gd name="T0" fmla="*/ 2147483647 w 848"/>
              <a:gd name="T1" fmla="*/ 2147483647 h 952"/>
              <a:gd name="T2" fmla="*/ 2147483647 w 848"/>
              <a:gd name="T3" fmla="*/ 2147483647 h 952"/>
              <a:gd name="T4" fmla="*/ 2147483647 w 848"/>
              <a:gd name="T5" fmla="*/ 2147483647 h 952"/>
              <a:gd name="T6" fmla="*/ 2147483647 w 848"/>
              <a:gd name="T7" fmla="*/ 2147483647 h 952"/>
              <a:gd name="T8" fmla="*/ 2147483647 w 848"/>
              <a:gd name="T9" fmla="*/ 2147483647 h 9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952"/>
              <a:gd name="T17" fmla="*/ 848 w 848"/>
              <a:gd name="T18" fmla="*/ 952 h 9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952">
                <a:moveTo>
                  <a:pt x="24" y="280"/>
                </a:moveTo>
                <a:cubicBezTo>
                  <a:pt x="176" y="140"/>
                  <a:pt x="328" y="0"/>
                  <a:pt x="456" y="88"/>
                </a:cubicBezTo>
                <a:cubicBezTo>
                  <a:pt x="584" y="176"/>
                  <a:pt x="848" y="680"/>
                  <a:pt x="792" y="808"/>
                </a:cubicBezTo>
                <a:cubicBezTo>
                  <a:pt x="736" y="936"/>
                  <a:pt x="240" y="952"/>
                  <a:pt x="120" y="856"/>
                </a:cubicBezTo>
                <a:cubicBezTo>
                  <a:pt x="0" y="760"/>
                  <a:pt x="104" y="304"/>
                  <a:pt x="72" y="232"/>
                </a:cubicBezTo>
              </a:path>
            </a:pathLst>
          </a:custGeom>
          <a:solidFill>
            <a:schemeClr val="bg2">
              <a:alpha val="50195"/>
            </a:schemeClr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2076" name="Freeform 60"/>
          <p:cNvSpPr/>
          <p:nvPr/>
        </p:nvSpPr>
        <p:spPr bwMode="auto">
          <a:xfrm>
            <a:off x="3717925" y="3175000"/>
            <a:ext cx="2565400" cy="3035300"/>
          </a:xfrm>
          <a:custGeom>
            <a:avLst/>
            <a:gdLst>
              <a:gd name="T0" fmla="*/ 2147483647 w 1616"/>
              <a:gd name="T1" fmla="*/ 2147483647 h 1912"/>
              <a:gd name="T2" fmla="*/ 2147483647 w 1616"/>
              <a:gd name="T3" fmla="*/ 2147483647 h 1912"/>
              <a:gd name="T4" fmla="*/ 2147483647 w 1616"/>
              <a:gd name="T5" fmla="*/ 2147483647 h 1912"/>
              <a:gd name="T6" fmla="*/ 2147483647 w 1616"/>
              <a:gd name="T7" fmla="*/ 2147483647 h 1912"/>
              <a:gd name="T8" fmla="*/ 2147483647 w 1616"/>
              <a:gd name="T9" fmla="*/ 2147483647 h 1912"/>
              <a:gd name="T10" fmla="*/ 2147483647 w 1616"/>
              <a:gd name="T11" fmla="*/ 2147483647 h 1912"/>
              <a:gd name="T12" fmla="*/ 2147483647 w 1616"/>
              <a:gd name="T13" fmla="*/ 2147483647 h 19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16"/>
              <a:gd name="T22" fmla="*/ 0 h 1912"/>
              <a:gd name="T23" fmla="*/ 1616 w 1616"/>
              <a:gd name="T24" fmla="*/ 1912 h 191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16" h="1912">
                <a:moveTo>
                  <a:pt x="1176" y="208"/>
                </a:moveTo>
                <a:cubicBezTo>
                  <a:pt x="1440" y="0"/>
                  <a:pt x="1600" y="288"/>
                  <a:pt x="1608" y="400"/>
                </a:cubicBezTo>
                <a:cubicBezTo>
                  <a:pt x="1616" y="512"/>
                  <a:pt x="1248" y="712"/>
                  <a:pt x="1224" y="880"/>
                </a:cubicBezTo>
                <a:cubicBezTo>
                  <a:pt x="1200" y="1048"/>
                  <a:pt x="1448" y="1256"/>
                  <a:pt x="1464" y="1408"/>
                </a:cubicBezTo>
                <a:cubicBezTo>
                  <a:pt x="1480" y="1560"/>
                  <a:pt x="1560" y="1752"/>
                  <a:pt x="1320" y="1792"/>
                </a:cubicBezTo>
                <a:cubicBezTo>
                  <a:pt x="1080" y="1832"/>
                  <a:pt x="48" y="1912"/>
                  <a:pt x="24" y="1648"/>
                </a:cubicBezTo>
                <a:cubicBezTo>
                  <a:pt x="0" y="1384"/>
                  <a:pt x="912" y="416"/>
                  <a:pt x="1176" y="208"/>
                </a:cubicBezTo>
                <a:close/>
              </a:path>
            </a:pathLst>
          </a:custGeom>
          <a:solidFill>
            <a:schemeClr val="bg2">
              <a:alpha val="50195"/>
            </a:schemeClr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2077" name="Text Box 61"/>
          <p:cNvSpPr txBox="1">
            <a:spLocks noChangeArrowheads="1"/>
          </p:cNvSpPr>
          <p:nvPr/>
        </p:nvSpPr>
        <p:spPr bwMode="auto">
          <a:xfrm>
            <a:off x="8404225" y="4800600"/>
            <a:ext cx="1828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min dist = 2</a:t>
            </a:r>
          </a:p>
        </p:txBody>
      </p:sp>
      <p:sp>
        <p:nvSpPr>
          <p:cNvPr id="342078" name="Text Box 62"/>
          <p:cNvSpPr txBox="1">
            <a:spLocks noChangeArrowheads="1"/>
          </p:cNvSpPr>
          <p:nvPr/>
        </p:nvSpPr>
        <p:spPr bwMode="auto">
          <a:xfrm>
            <a:off x="8404225" y="5029200"/>
            <a:ext cx="1828800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 algn="r" rtl="1" eaLnBrk="1" fontAlgn="auto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min dist = 1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2700" y="136525"/>
            <a:ext cx="715454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NN example using kD trees</a:t>
            </a:r>
            <a:r>
              <a:rPr lang="en-US" altLang="zh-CN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(cont’d)</a:t>
            </a:r>
            <a:endParaRPr lang="zh-CN" altLang="en-US" sz="2800" dirty="0">
              <a:solidFill>
                <a:schemeClr val="bg1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</a:endParaRPr>
          </a:p>
          <a:p>
            <a:pPr algn="ctr"/>
            <a:endParaRPr lang="zh-CN" altLang="en-US" sz="2800" dirty="0">
              <a:solidFill>
                <a:schemeClr val="bg1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86879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142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445 -0.00255 C -0.1066 -0.03287 -0.16875 -0.06296 -0.20973 -0.06366 C -0.2507 -0.06435 -0.27691 -0.01482 -0.29028 -0.00625 " pathEditMode="relative" ptsTypes="aaA">
                                      <p:cBhvr>
                                        <p:cTn id="6" dur="2000" fill="hold"/>
                                        <p:tgtEl>
                                          <p:spTgt spid="3420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028 -0.00625 L -0.21667 0.0622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420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81" y="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167 0.08889 L -0.11667 0.195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420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667 0.1956 L -0.19167 0.095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20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-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667 0.06227 L -0.26667 0.1511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3420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4444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598 0.17338 C -0.24132 0.14468 -0.21667 0.11597 -0.22292 0.09005 C -0.22917 0.06412 -0.26632 0.04097 -0.30348 0.01782 " pathEditMode="relative" rAng="0" ptsTypes="aaA">
                                      <p:cBhvr>
                                        <p:cTn id="54" dur="2000" fill="hold"/>
                                        <p:tgtEl>
                                          <p:spTgt spid="3420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" y="-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67" grpId="0"/>
      <p:bldP spid="342067" grpId="1"/>
      <p:bldP spid="342067" grpId="2"/>
      <p:bldP spid="342067" grpId="3"/>
      <p:bldP spid="342067" grpId="4"/>
      <p:bldP spid="342067" grpId="5"/>
      <p:bldP spid="342069" grpId="0" bldLvl="0" animBg="1"/>
      <p:bldP spid="342070" grpId="0" bldLvl="0" animBg="1"/>
      <p:bldP spid="342072" grpId="0" bldLvl="0" animBg="1"/>
      <p:bldP spid="342073" grpId="0" bldLvl="0" animBg="1"/>
      <p:bldP spid="342074" grpId="0" bldLvl="0" animBg="1"/>
      <p:bldP spid="342077" grpId="0"/>
      <p:bldP spid="342077" grpId="1"/>
      <p:bldP spid="342078" grpId="0"/>
      <p:bldP spid="342078" grpId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181" y="1716862"/>
            <a:ext cx="3369045" cy="3424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126" y="1618658"/>
            <a:ext cx="4357693" cy="37695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53069" y="5388196"/>
            <a:ext cx="12426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q=(40,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50)</a:t>
            </a:r>
            <a:endParaRPr lang="en-US" sz="20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1374775" y="5955030"/>
            <a:ext cx="100393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the lower child of (70,30) overlaps the ball of radius </a:t>
            </a:r>
            <a:r>
              <a:rPr lang="en-US" altLang="zh-CN" dirty="0" err="1">
                <a:solidFill>
                  <a:srgbClr val="000000"/>
                </a:solidFill>
                <a:effectLst/>
                <a:latin typeface="Helvetica" pitchFamily="2" charset="0"/>
              </a:rPr>
              <a:t>bestDist</a:t>
            </a:r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, we need to inspect this subtree.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4930" y="144780"/>
            <a:ext cx="63900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Another example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627761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143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03467"/>
            <a:ext cx="4362893" cy="43628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41812"/>
            <a:ext cx="4449418" cy="388620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64241" y="5287546"/>
            <a:ext cx="888881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When we visit (50, 25), we discover that it is even closer.</a:t>
            </a:r>
            <a:r>
              <a:rPr lang="zh-CN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We</a:t>
            </a:r>
            <a:r>
              <a:rPr lang="zh-CN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visit</a:t>
            </a:r>
            <a:r>
              <a:rPr lang="zh-CN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its</a:t>
            </a:r>
            <a:r>
              <a:rPr lang="zh-CN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both</a:t>
            </a:r>
            <a:r>
              <a:rPr lang="zh-CN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children.</a:t>
            </a:r>
            <a:r>
              <a:rPr lang="zh-CN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endParaRPr lang="en-US" altLang="zh-CN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64241" y="5816188"/>
            <a:ext cx="830402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When we arrive at (60, 10),</a:t>
            </a:r>
            <a:r>
              <a:rPr lang="zh-CN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/>
              <a:t>it lies entirely outside of the ball of radius </a:t>
            </a:r>
            <a:r>
              <a:rPr lang="en-US" altLang="zh-CN" dirty="0" err="1"/>
              <a:t>bestDist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336" y="580270"/>
            <a:ext cx="3766414" cy="37066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877" y="717755"/>
            <a:ext cx="4448446" cy="34316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59294" y="4455221"/>
            <a:ext cx="830402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When we arrive at (60, 10),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sz="2000" dirty="0"/>
              <a:t>it lies outside of the ball of radius </a:t>
            </a:r>
            <a:r>
              <a:rPr lang="en-US" altLang="zh-CN" sz="2000" dirty="0" err="1"/>
              <a:t>bestDist</a:t>
            </a:r>
            <a:r>
              <a:rPr lang="en-US" altLang="zh-CN" sz="2000" dirty="0"/>
              <a:t>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159000" y="5015230"/>
            <a:ext cx="852360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We then return from the recursion. </a:t>
            </a:r>
          </a:p>
          <a:p>
            <a:endParaRPr lang="en-US" altLang="zh-CN" dirty="0">
              <a:solidFill>
                <a:srgbClr val="000000"/>
              </a:solidFill>
              <a:latin typeface="Helvetica" pitchFamily="2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On returning to (80, 40) and (70, 80), we see that the cells of their other children lie entirely outside the ball of radius </a:t>
            </a:r>
            <a:r>
              <a:rPr lang="en-US" altLang="zh-CN" dirty="0" err="1">
                <a:solidFill>
                  <a:srgbClr val="000000"/>
                </a:solidFill>
                <a:effectLst/>
                <a:latin typeface="Helvetica" pitchFamily="2" charset="0"/>
              </a:rPr>
              <a:t>bestDist</a:t>
            </a:r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, and so we do not need to visit them. </a:t>
            </a: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145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096459" y="4348403"/>
            <a:ext cx="778170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On returning to the root at (35,90) we see that its left subtree does overlap the </a:t>
            </a:r>
            <a:r>
              <a:rPr lang="en-US" altLang="zh-CN" dirty="0" err="1">
                <a:solidFill>
                  <a:srgbClr val="000000"/>
                </a:solidFill>
                <a:effectLst/>
                <a:latin typeface="Helvetica" pitchFamily="2" charset="0"/>
              </a:rPr>
              <a:t>bestDist</a:t>
            </a:r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 ball, and so we recurse on that subtree.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566" y="719398"/>
            <a:ext cx="3834662" cy="368127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571" y="863776"/>
            <a:ext cx="4155009" cy="327512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96458" y="5091053"/>
            <a:ext cx="7689039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We continue until arriving at the closest leaf to the query point, namely the right child of (25, 10).</a:t>
            </a:r>
            <a:r>
              <a:rPr lang="zh-CN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/>
              <a:t>The </a:t>
            </a:r>
            <a:r>
              <a:rPr lang="en-US" altLang="zh-CN" dirty="0" err="1"/>
              <a:t>bestDist</a:t>
            </a:r>
            <a:r>
              <a:rPr lang="en-US" altLang="zh-CN" dirty="0"/>
              <a:t> is again reduced.</a:t>
            </a:r>
          </a:p>
          <a:p>
            <a:endParaRPr lang="en-US" altLang="zh-CN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96458" y="5983099"/>
            <a:ext cx="799908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All</a:t>
            </a:r>
            <a:r>
              <a:rPr lang="zh-CN" alt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the remaining cells (shaded in white in the figure) lie outside the nearest-neighbor ball, and so we can terminate the search.</a:t>
            </a: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146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3265" y="95615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Complexity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NN</a:t>
            </a:r>
            <a:r>
              <a:rPr lang="zh-CN" altLang="en-US" dirty="0"/>
              <a:t> </a:t>
            </a:r>
            <a:r>
              <a:rPr lang="en-US" altLang="zh-CN" dirty="0"/>
              <a:t>Search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K-D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It is quite difficult to analyze from the perspective of its worst-case performance.</a:t>
            </a:r>
          </a:p>
          <a:p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122" y="2706429"/>
            <a:ext cx="6739018" cy="323717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3265" y="5923280"/>
            <a:ext cx="109461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We may need to visit almost every node of the tree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.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So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in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worst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case,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it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is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O(n).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endParaRPr lang="en-US" altLang="zh-CN" sz="2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147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10055" y="1464945"/>
            <a:ext cx="9024620" cy="4351655"/>
          </a:xfrm>
        </p:spPr>
        <p:txBody>
          <a:bodyPr/>
          <a:lstStyle/>
          <a:p>
            <a:r>
              <a:rPr lang="en-US" altLang="zh-CN" dirty="0"/>
              <a:t>1-NN</a:t>
            </a:r>
            <a:r>
              <a:rPr lang="zh-CN" altLang="en-US" dirty="0"/>
              <a:t> </a:t>
            </a:r>
            <a:r>
              <a:rPr lang="en-US" altLang="zh-CN" dirty="0"/>
              <a:t>Query</a:t>
            </a:r>
          </a:p>
          <a:p>
            <a:pPr lvl="1"/>
            <a:r>
              <a:rPr lang="en-US" altLang="zh-CN" dirty="0"/>
              <a:t>Traverse</a:t>
            </a:r>
            <a:r>
              <a:rPr lang="zh-CN" altLang="en-US" dirty="0"/>
              <a:t> </a:t>
            </a:r>
            <a:r>
              <a:rPr lang="en-US" altLang="zh-CN" dirty="0"/>
              <a:t>down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starting</a:t>
            </a:r>
            <a:r>
              <a:rPr lang="zh-CN" altLang="en-US" dirty="0"/>
              <a:t> </a:t>
            </a:r>
            <a:r>
              <a:rPr lang="en-US" altLang="zh-CN" dirty="0"/>
              <a:t>point</a:t>
            </a:r>
          </a:p>
          <a:p>
            <a:pPr lvl="1"/>
            <a:r>
              <a:rPr lang="en-US" altLang="zh-CN" dirty="0"/>
              <a:t>Maximum</a:t>
            </a:r>
            <a:r>
              <a:rPr lang="zh-CN" altLang="en-US" dirty="0"/>
              <a:t> </a:t>
            </a:r>
            <a:r>
              <a:rPr lang="en-US" altLang="zh-CN" dirty="0"/>
              <a:t>backtrack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traverse</a:t>
            </a:r>
          </a:p>
          <a:p>
            <a:pPr lvl="1"/>
            <a:r>
              <a:rPr lang="en-US" altLang="zh-CN" dirty="0"/>
              <a:t>Complexity</a:t>
            </a:r>
            <a:r>
              <a:rPr lang="zh-CN" altLang="en-US" dirty="0"/>
              <a:t> </a:t>
            </a:r>
            <a:r>
              <a:rPr lang="en-US" altLang="zh-CN" dirty="0"/>
              <a:t>range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altLang="zh-CN" dirty="0"/>
              <a:t>Under some assumptions about the distribution of points, we can get </a:t>
            </a:r>
            <a:r>
              <a:rPr lang="en-US" altLang="zh-CN" dirty="0">
                <a:solidFill>
                  <a:srgbClr val="00B050"/>
                </a:solidFill>
              </a:rPr>
              <a:t>O(</a:t>
            </a:r>
            <a:r>
              <a:rPr lang="en-US" altLang="zh-CN" dirty="0" err="1">
                <a:solidFill>
                  <a:srgbClr val="00B050"/>
                </a:solidFill>
              </a:rPr>
              <a:t>logn</a:t>
            </a:r>
            <a:r>
              <a:rPr lang="en-US" altLang="zh-CN" dirty="0">
                <a:solidFill>
                  <a:srgbClr val="00B050"/>
                </a:solidFill>
              </a:rPr>
              <a:t>) </a:t>
            </a:r>
            <a:r>
              <a:rPr lang="en-US" altLang="zh-CN" dirty="0"/>
              <a:t>but </a:t>
            </a:r>
            <a:r>
              <a:rPr lang="en-US" altLang="zh-CN" dirty="0">
                <a:solidFill>
                  <a:srgbClr val="00B050"/>
                </a:solidFill>
              </a:rPr>
              <a:t>exponential in d</a:t>
            </a:r>
            <a:r>
              <a:rPr lang="en-US" altLang="zh-CN" dirty="0"/>
              <a:t>. 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523480" y="1863120"/>
            <a:ext cx="11042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B050"/>
                </a:solidFill>
              </a:rPr>
              <a:t>O(</a:t>
            </a:r>
            <a:r>
              <a:rPr lang="en-US" altLang="zh-CN" sz="2400" dirty="0" err="1">
                <a:solidFill>
                  <a:srgbClr val="00B050"/>
                </a:solidFill>
              </a:rPr>
              <a:t>logn</a:t>
            </a:r>
            <a:r>
              <a:rPr lang="en-US" altLang="zh-CN" sz="2400" dirty="0">
                <a:solidFill>
                  <a:srgbClr val="00B050"/>
                </a:solidFill>
              </a:rPr>
              <a:t>)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06693" y="2323495"/>
            <a:ext cx="7302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B050"/>
                </a:solidFill>
              </a:rPr>
              <a:t>O(n)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89978" y="2698780"/>
            <a:ext cx="20497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B050"/>
                </a:solidFill>
              </a:rPr>
              <a:t>O(</a:t>
            </a:r>
            <a:r>
              <a:rPr lang="en-US" altLang="zh-CN" sz="2400" dirty="0" err="1">
                <a:solidFill>
                  <a:srgbClr val="00B050"/>
                </a:solidFill>
              </a:rPr>
              <a:t>logn</a:t>
            </a:r>
            <a:r>
              <a:rPr lang="en-US" altLang="zh-CN" sz="2400" dirty="0">
                <a:solidFill>
                  <a:srgbClr val="00B050"/>
                </a:solidFill>
              </a:rPr>
              <a:t>)</a:t>
            </a:r>
            <a:r>
              <a:rPr lang="zh-CN" altLang="en-US" sz="2400" dirty="0">
                <a:solidFill>
                  <a:srgbClr val="00B050"/>
                </a:solidFill>
              </a:rPr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to</a:t>
            </a:r>
            <a:r>
              <a:rPr lang="zh-CN" altLang="en-US" sz="2400" dirty="0">
                <a:solidFill>
                  <a:srgbClr val="00B050"/>
                </a:solidFill>
              </a:rPr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O(n)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00" y="136525"/>
            <a:ext cx="879665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Complexity Analysis of NN Search in K-D tree</a:t>
            </a:r>
          </a:p>
          <a:p>
            <a:pPr algn="ctr"/>
            <a:endParaRPr lang="zh-CN" altLang="en-US" sz="2800" dirty="0">
              <a:solidFill>
                <a:schemeClr val="bg1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844867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148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10005" y="1683385"/>
            <a:ext cx="9577705" cy="2732405"/>
          </a:xfrm>
        </p:spPr>
        <p:txBody>
          <a:bodyPr/>
          <a:lstStyle/>
          <a:p>
            <a:r>
              <a:rPr lang="en-US" altLang="zh-CN" dirty="0"/>
              <a:t>In most instances, the typical running time is much closer to </a:t>
            </a:r>
            <a:r>
              <a:rPr lang="en-US" altLang="zh-CN" dirty="0">
                <a:solidFill>
                  <a:srgbClr val="00B050"/>
                </a:solidFill>
              </a:rPr>
              <a:t>O(2</a:t>
            </a:r>
            <a:r>
              <a:rPr lang="en-US" altLang="zh-CN" baseline="30000" dirty="0">
                <a:solidFill>
                  <a:srgbClr val="00B050"/>
                </a:solidFill>
              </a:rPr>
              <a:t>d</a:t>
            </a:r>
            <a:r>
              <a:rPr lang="en-US" altLang="zh-CN" dirty="0">
                <a:solidFill>
                  <a:srgbClr val="00B050"/>
                </a:solidFill>
              </a:rPr>
              <a:t> + log n), </a:t>
            </a:r>
            <a:r>
              <a:rPr lang="en-US" altLang="zh-CN" dirty="0"/>
              <a:t>where </a:t>
            </a:r>
            <a:r>
              <a:rPr lang="en-US" altLang="zh-CN" dirty="0">
                <a:solidFill>
                  <a:srgbClr val="00B050"/>
                </a:solidFill>
              </a:rPr>
              <a:t>d</a:t>
            </a:r>
            <a:r>
              <a:rPr lang="en-US" altLang="zh-CN" dirty="0"/>
              <a:t> is the dimension of the space. </a:t>
            </a:r>
          </a:p>
          <a:p>
            <a:r>
              <a:rPr lang="en-US" altLang="zh-CN" dirty="0"/>
              <a:t>Generally, you expect to visit some set of nodes that are in the neighborhood of the query point (giving rise to the </a:t>
            </a:r>
            <a:r>
              <a:rPr lang="en-US" altLang="zh-CN" dirty="0">
                <a:solidFill>
                  <a:srgbClr val="00B050"/>
                </a:solidFill>
              </a:rPr>
              <a:t>2</a:t>
            </a:r>
            <a:r>
              <a:rPr lang="en-US" altLang="zh-CN" baseline="30000" dirty="0">
                <a:solidFill>
                  <a:srgbClr val="00B050"/>
                </a:solidFill>
              </a:rPr>
              <a:t>d</a:t>
            </a:r>
            <a:r>
              <a:rPr lang="en-US" altLang="zh-CN" dirty="0"/>
              <a:t> term) </a:t>
            </a:r>
          </a:p>
          <a:p>
            <a:r>
              <a:rPr lang="en-US" altLang="zh-CN" dirty="0"/>
              <a:t>Require </a:t>
            </a:r>
            <a:r>
              <a:rPr lang="en-US" altLang="zh-CN" dirty="0">
                <a:solidFill>
                  <a:srgbClr val="00B050"/>
                </a:solidFill>
              </a:rPr>
              <a:t>O(log n) </a:t>
            </a:r>
            <a:r>
              <a:rPr lang="en-US" altLang="zh-CN" dirty="0"/>
              <a:t>time to descend the tree to find these nodes.</a:t>
            </a:r>
          </a:p>
          <a:p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21080" y="5413375"/>
            <a:ext cx="102254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https://</a:t>
            </a:r>
            <a:r>
              <a:rPr lang="en-US" altLang="zh-CN" dirty="0" err="1">
                <a:solidFill>
                  <a:srgbClr val="0070C0"/>
                </a:solidFill>
              </a:rPr>
              <a:t>www.coursera.org</a:t>
            </a:r>
            <a:r>
              <a:rPr lang="en-US" altLang="zh-CN" dirty="0">
                <a:solidFill>
                  <a:srgbClr val="0070C0"/>
                </a:solidFill>
              </a:rPr>
              <a:t>/lecture/ml-clustering-and-retrieval/complexity-of-</a:t>
            </a:r>
            <a:r>
              <a:rPr lang="en-US" altLang="zh-CN" dirty="0" err="1">
                <a:solidFill>
                  <a:srgbClr val="0070C0"/>
                </a:solidFill>
              </a:rPr>
              <a:t>nn</a:t>
            </a:r>
            <a:r>
              <a:rPr lang="en-US" altLang="zh-CN" dirty="0">
                <a:solidFill>
                  <a:srgbClr val="0070C0"/>
                </a:solidFill>
              </a:rPr>
              <a:t>-search-with-</a:t>
            </a:r>
            <a:r>
              <a:rPr lang="en-US" altLang="zh-CN" dirty="0" err="1">
                <a:solidFill>
                  <a:srgbClr val="0070C0"/>
                </a:solidFill>
              </a:rPr>
              <a:t>kd</a:t>
            </a:r>
            <a:r>
              <a:rPr lang="en-US" altLang="zh-CN" dirty="0">
                <a:solidFill>
                  <a:srgbClr val="0070C0"/>
                </a:solidFill>
              </a:rPr>
              <a:t>-trees-</a:t>
            </a:r>
            <a:r>
              <a:rPr lang="en-US" altLang="zh-CN" dirty="0" err="1">
                <a:solidFill>
                  <a:srgbClr val="0070C0"/>
                </a:solidFill>
              </a:rPr>
              <a:t>BkZTg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00" y="136525"/>
            <a:ext cx="879665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Complexity Analysis of NN Search in K-D tree</a:t>
            </a:r>
          </a:p>
          <a:p>
            <a:pPr algn="ctr"/>
            <a:endParaRPr lang="zh-CN" altLang="en-US" sz="2800" dirty="0">
              <a:solidFill>
                <a:schemeClr val="bg1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844867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149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2" t="4459" r="832" b="3323"/>
          <a:stretch>
            <a:fillRect/>
          </a:stretch>
        </p:blipFill>
        <p:spPr bwMode="auto">
          <a:xfrm>
            <a:off x="3151735" y="1158234"/>
            <a:ext cx="5665824" cy="375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892935" y="5073015"/>
            <a:ext cx="936117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Verdana" panose="020B0604030504040204" pitchFamily="34" charset="0"/>
              </a:rPr>
              <a:t>Q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uery time exponentially grows as we increase the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number of dimensions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940560" y="5685274"/>
            <a:ext cx="6274274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https://</a:t>
            </a:r>
            <a:r>
              <a:rPr lang="en-US" altLang="zh-CN" dirty="0" err="1">
                <a:solidFill>
                  <a:srgbClr val="0070C0"/>
                </a:solidFill>
              </a:rPr>
              <a:t>www.alglib.net</a:t>
            </a:r>
            <a:r>
              <a:rPr lang="en-US" altLang="zh-CN" dirty="0">
                <a:solidFill>
                  <a:srgbClr val="0070C0"/>
                </a:solidFill>
              </a:rPr>
              <a:t>/other/</a:t>
            </a:r>
            <a:r>
              <a:rPr lang="en-US" altLang="zh-CN" dirty="0" err="1">
                <a:solidFill>
                  <a:srgbClr val="0070C0"/>
                </a:solidFill>
              </a:rPr>
              <a:t>nearestneighbors.php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00" y="136525"/>
            <a:ext cx="87966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Complexity Analysis of NN Search in K-D tree</a:t>
            </a:r>
            <a:endParaRPr lang="zh-CN" altLang="en-US" sz="2800" dirty="0">
              <a:solidFill>
                <a:schemeClr val="bg1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844867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150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0965857"/>
              </p:ext>
            </p:extLst>
          </p:nvPr>
        </p:nvGraphicFramePr>
        <p:xfrm>
          <a:off x="3747135" y="1075078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图形 6" descr="3D 眼镜 纯色填充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259" y="1011796"/>
            <a:ext cx="914400" cy="9144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79071" y="123825"/>
            <a:ext cx="221179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主要内容</a:t>
            </a:r>
            <a:endParaRPr lang="en-US" sz="2800" dirty="0">
              <a:solidFill>
                <a:schemeClr val="bg1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+mn-ea"/>
            </a:endParaRPr>
          </a:p>
        </p:txBody>
      </p:sp>
      <p:sp>
        <p:nvSpPr>
          <p:cNvPr id="11" name="圆角矩形 6"/>
          <p:cNvSpPr/>
          <p:nvPr/>
        </p:nvSpPr>
        <p:spPr>
          <a:xfrm>
            <a:off x="179071" y="84455"/>
            <a:ext cx="2211792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151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Content Placeholder 1"/>
          <p:cNvSpPr>
            <a:spLocks noGrp="1"/>
          </p:cNvSpPr>
          <p:nvPr>
            <p:ph idx="4294967295"/>
          </p:nvPr>
        </p:nvSpPr>
        <p:spPr>
          <a:xfrm>
            <a:off x="2047240" y="1294765"/>
            <a:ext cx="8343900" cy="4530725"/>
          </a:xfrm>
        </p:spPr>
        <p:txBody>
          <a:bodyPr/>
          <a:lstStyle/>
          <a:p>
            <a:pPr marL="566420" indent="-457200">
              <a:lnSpc>
                <a:spcPct val="80000"/>
              </a:lnSpc>
              <a:defRPr/>
            </a:pPr>
            <a:r>
              <a:rPr lang="en-US" sz="2600" dirty="0"/>
              <a:t>Can find the </a:t>
            </a:r>
            <a:r>
              <a:rPr lang="en-US" sz="2600" i="1" dirty="0"/>
              <a:t>k</a:t>
            </a:r>
            <a:r>
              <a:rPr lang="en-US" sz="2600" dirty="0"/>
              <a:t>-nearest neighbors to a query by maintaining the </a:t>
            </a:r>
            <a:r>
              <a:rPr lang="en-US" sz="2600" b="1" dirty="0">
                <a:solidFill>
                  <a:srgbClr val="549E39"/>
                </a:solidFill>
              </a:rPr>
              <a:t>k current bests instead of just one</a:t>
            </a:r>
            <a:r>
              <a:rPr lang="en-US" sz="2600" dirty="0"/>
              <a:t>. </a:t>
            </a:r>
          </a:p>
          <a:p>
            <a:pPr marL="566420" indent="-457200">
              <a:lnSpc>
                <a:spcPct val="80000"/>
              </a:lnSpc>
              <a:defRPr/>
            </a:pPr>
            <a:endParaRPr lang="en-US" sz="2600" dirty="0"/>
          </a:p>
          <a:p>
            <a:pPr marL="566420" indent="-457200">
              <a:lnSpc>
                <a:spcPct val="80000"/>
              </a:lnSpc>
              <a:defRPr/>
            </a:pPr>
            <a:r>
              <a:rPr lang="en-US" sz="2600" dirty="0"/>
              <a:t>Branches are only eliminated when they </a:t>
            </a:r>
            <a:r>
              <a:rPr lang="en-US" sz="2600" dirty="0">
                <a:solidFill>
                  <a:srgbClr val="549E39"/>
                </a:solidFill>
              </a:rPr>
              <a:t>can't have points closer than any of the k current bests</a:t>
            </a:r>
            <a:r>
              <a:rPr lang="en-US" sz="2600" dirty="0"/>
              <a:t>.</a:t>
            </a:r>
          </a:p>
          <a:p>
            <a:pPr marL="566420" indent="-457200">
              <a:lnSpc>
                <a:spcPct val="80000"/>
              </a:lnSpc>
              <a:defRPr/>
            </a:pPr>
            <a:endParaRPr lang="en-US" sz="2600" dirty="0"/>
          </a:p>
          <a:p>
            <a:pPr marL="566420" indent="-457200">
              <a:lnSpc>
                <a:spcPct val="80000"/>
              </a:lnSpc>
              <a:defRPr/>
            </a:pP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complexity</a:t>
            </a:r>
            <a:r>
              <a:rPr lang="zh-CN" altLang="en-US" sz="2600" dirty="0"/>
              <a:t> </a:t>
            </a:r>
            <a:r>
              <a:rPr lang="en-US" altLang="zh-CN" sz="2600" dirty="0"/>
              <a:t>is</a:t>
            </a:r>
            <a:r>
              <a:rPr lang="zh-CN" altLang="en-US" sz="2600" dirty="0"/>
              <a:t> </a:t>
            </a:r>
            <a:r>
              <a:rPr lang="en-US" altLang="zh-CN" sz="2600" dirty="0">
                <a:solidFill>
                  <a:srgbClr val="00B050"/>
                </a:solidFill>
              </a:rPr>
              <a:t>O(k</a:t>
            </a:r>
            <a:r>
              <a:rPr lang="zh-CN" altLang="en-US" sz="2600" dirty="0">
                <a:solidFill>
                  <a:srgbClr val="00B050"/>
                </a:solidFill>
              </a:rPr>
              <a:t> </a:t>
            </a:r>
            <a:r>
              <a:rPr lang="en-US" altLang="zh-CN" sz="2600" dirty="0">
                <a:solidFill>
                  <a:srgbClr val="00B050"/>
                </a:solidFill>
              </a:rPr>
              <a:t>(2</a:t>
            </a:r>
            <a:r>
              <a:rPr lang="en-US" altLang="zh-CN" sz="2600" baseline="30000" dirty="0">
                <a:solidFill>
                  <a:srgbClr val="00B050"/>
                </a:solidFill>
              </a:rPr>
              <a:t>d</a:t>
            </a:r>
            <a:r>
              <a:rPr lang="en-US" altLang="zh-CN" sz="2600" dirty="0">
                <a:solidFill>
                  <a:srgbClr val="00B050"/>
                </a:solidFill>
              </a:rPr>
              <a:t>+logn))</a:t>
            </a:r>
            <a:r>
              <a:rPr lang="zh-CN" altLang="en-US" sz="2600" dirty="0">
                <a:solidFill>
                  <a:srgbClr val="00B050"/>
                </a:solidFill>
              </a:rPr>
              <a:t> </a:t>
            </a:r>
            <a:r>
              <a:rPr lang="en-US" altLang="zh-CN" sz="2600" dirty="0"/>
              <a:t>which is not suitable when </a:t>
            </a:r>
            <a:r>
              <a:rPr lang="en-US" altLang="zh-CN" sz="2600" dirty="0">
                <a:solidFill>
                  <a:srgbClr val="00B050"/>
                </a:solidFill>
              </a:rPr>
              <a:t>d</a:t>
            </a:r>
            <a:r>
              <a:rPr lang="zh-CN" altLang="en-US" sz="2600" dirty="0"/>
              <a:t> </a:t>
            </a:r>
            <a:r>
              <a:rPr lang="en-US" altLang="zh-CN" sz="2600" dirty="0"/>
              <a:t>is large. It is </a:t>
            </a:r>
            <a:r>
              <a:rPr lang="en-US" altLang="zh-CN" sz="2600" dirty="0">
                <a:solidFill>
                  <a:srgbClr val="00B050"/>
                </a:solidFill>
              </a:rPr>
              <a:t>O(k</a:t>
            </a:r>
            <a:r>
              <a:rPr lang="zh-CN" altLang="en-US" sz="2600" dirty="0">
                <a:solidFill>
                  <a:srgbClr val="00B050"/>
                </a:solidFill>
              </a:rPr>
              <a:t> </a:t>
            </a:r>
            <a:r>
              <a:rPr lang="en-US" altLang="zh-CN" sz="2600" dirty="0" err="1">
                <a:solidFill>
                  <a:srgbClr val="00B050"/>
                </a:solidFill>
              </a:rPr>
              <a:t>logn</a:t>
            </a:r>
            <a:r>
              <a:rPr lang="en-US" altLang="zh-CN" sz="2600" dirty="0">
                <a:solidFill>
                  <a:srgbClr val="00B050"/>
                </a:solidFill>
              </a:rPr>
              <a:t>)</a:t>
            </a:r>
            <a:r>
              <a:rPr lang="zh-CN" altLang="en-US" sz="2600" dirty="0">
                <a:solidFill>
                  <a:srgbClr val="00B050"/>
                </a:solidFill>
              </a:rPr>
              <a:t> </a:t>
            </a:r>
            <a:r>
              <a:rPr lang="en-US" altLang="zh-CN" sz="2600" dirty="0"/>
              <a:t>when </a:t>
            </a:r>
            <a:r>
              <a:rPr lang="en-US" altLang="zh-CN" sz="2600" dirty="0">
                <a:solidFill>
                  <a:srgbClr val="00B050"/>
                </a:solidFill>
              </a:rPr>
              <a:t>d</a:t>
            </a:r>
            <a:r>
              <a:rPr lang="en-US" altLang="zh-CN" sz="2600" dirty="0"/>
              <a:t> is a considered as a constant. </a:t>
            </a:r>
          </a:p>
          <a:p>
            <a:pPr marL="566420" indent="-457200">
              <a:lnSpc>
                <a:spcPct val="80000"/>
              </a:lnSpc>
              <a:defRPr/>
            </a:pPr>
            <a:endParaRPr lang="en-US" sz="2600" dirty="0"/>
          </a:p>
          <a:p>
            <a:pPr marL="566420" indent="-457200">
              <a:lnSpc>
                <a:spcPct val="80000"/>
              </a:lnSpc>
              <a:defRPr/>
            </a:pPr>
            <a:r>
              <a:rPr lang="en-US" altLang="zh-CN" sz="2600" dirty="0"/>
              <a:t>Note</a:t>
            </a:r>
            <a:r>
              <a:rPr lang="zh-CN" altLang="en-US" sz="2600" dirty="0"/>
              <a:t> </a:t>
            </a:r>
            <a:r>
              <a:rPr lang="en-US" altLang="zh-CN" sz="2600" dirty="0"/>
              <a:t>that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region</a:t>
            </a:r>
            <a:r>
              <a:rPr lang="zh-CN" altLang="en-US" sz="2600" dirty="0"/>
              <a:t> </a:t>
            </a:r>
            <a:r>
              <a:rPr lang="en-US" altLang="zh-CN" sz="2600" dirty="0"/>
              <a:t>query</a:t>
            </a:r>
            <a:r>
              <a:rPr lang="zh-CN" altLang="en-US" sz="2600" dirty="0"/>
              <a:t> </a:t>
            </a:r>
            <a:r>
              <a:rPr lang="en-US" altLang="zh-CN" sz="2600" dirty="0"/>
              <a:t>has</a:t>
            </a:r>
            <a:r>
              <a:rPr lang="zh-CN" altLang="en-US" sz="2600" dirty="0"/>
              <a:t> </a:t>
            </a:r>
            <a:r>
              <a:rPr lang="en-US" altLang="zh-CN" sz="2600" dirty="0"/>
              <a:t>complexity</a:t>
            </a:r>
            <a:r>
              <a:rPr lang="zh-CN" altLang="en-US" sz="2600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O(n</a:t>
            </a:r>
            <a:r>
              <a:rPr lang="en-US" altLang="zh-CN" baseline="30000" dirty="0">
                <a:solidFill>
                  <a:srgbClr val="00B050"/>
                </a:solidFill>
              </a:rPr>
              <a:t>1-1/d</a:t>
            </a:r>
            <a:r>
              <a:rPr lang="en-US" altLang="zh-CN" dirty="0">
                <a:solidFill>
                  <a:srgbClr val="00B050"/>
                </a:solidFill>
              </a:rPr>
              <a:t>+ k)</a:t>
            </a:r>
            <a:r>
              <a:rPr lang="zh-CN" altLang="en-US" dirty="0"/>
              <a:t>，</a:t>
            </a:r>
            <a:endParaRPr lang="en-US" sz="2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20320" y="100965"/>
            <a:ext cx="58972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rgbClr val="FFFF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K-Nearest Neighbor Search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571563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152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Content Placeholder 5"/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Splits can be in directions other than x and y.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Divide points perpendicular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/>
              <a:t>    to the axis with widest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/>
              <a:t>    spread.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Principal Component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800" dirty="0"/>
              <a:t>   Partitioning (PCP)</a:t>
            </a:r>
          </a:p>
          <a:p>
            <a:pPr>
              <a:defRPr/>
            </a:pPr>
            <a:endParaRPr lang="en-US" sz="2800" dirty="0"/>
          </a:p>
        </p:txBody>
      </p:sp>
      <p:pic>
        <p:nvPicPr>
          <p:cNvPr id="1218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400" y="2209800"/>
            <a:ext cx="3606800" cy="363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文本框 16"/>
          <p:cNvSpPr txBox="1"/>
          <p:nvPr/>
        </p:nvSpPr>
        <p:spPr>
          <a:xfrm>
            <a:off x="213995" y="136525"/>
            <a:ext cx="516255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KD variations - PCP Trees 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539686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153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3300" y="1417638"/>
            <a:ext cx="7410450" cy="4067175"/>
          </a:xfrm>
          <a:noFill/>
        </p:spPr>
      </p:pic>
      <p:sp>
        <p:nvSpPr>
          <p:cNvPr id="17" name="文本框 16"/>
          <p:cNvSpPr txBox="1"/>
          <p:nvPr/>
        </p:nvSpPr>
        <p:spPr>
          <a:xfrm>
            <a:off x="213995" y="136525"/>
            <a:ext cx="516255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KD variations - PCP Trees 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539686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154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Content Placeholder 2"/>
          <p:cNvSpPr>
            <a:spLocks noGrp="1"/>
          </p:cNvSpPr>
          <p:nvPr>
            <p:ph idx="1"/>
          </p:nvPr>
        </p:nvSpPr>
        <p:spPr>
          <a:xfrm>
            <a:off x="1981200" y="13081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US" sz="2600" dirty="0"/>
              <a:t>KD-trees are not suitable for efficiently finding the nearest neighbor in high dimensional spaces.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600" dirty="0">
              <a:solidFill>
                <a:srgbClr val="FFC000"/>
              </a:solidFill>
            </a:endParaRPr>
          </a:p>
          <a:p>
            <a:pPr>
              <a:defRPr/>
            </a:pPr>
            <a:endParaRPr lang="en-US" sz="2600" dirty="0">
              <a:solidFill>
                <a:srgbClr val="00B050"/>
              </a:solidFill>
            </a:endParaRPr>
          </a:p>
          <a:p>
            <a:pPr>
              <a:defRPr/>
            </a:pPr>
            <a:r>
              <a:rPr lang="en-US" sz="2600" dirty="0">
                <a:solidFill>
                  <a:srgbClr val="00B050"/>
                </a:solidFill>
              </a:rPr>
              <a:t>Approximate Nearest-Neighbor (ANN)</a:t>
            </a:r>
          </a:p>
          <a:p>
            <a:pPr marL="990600" lvl="1" indent="-533400">
              <a:defRPr/>
            </a:pPr>
            <a:r>
              <a:rPr lang="en-US" sz="2400" dirty="0"/>
              <a:t>Examine only the </a:t>
            </a:r>
            <a:r>
              <a:rPr lang="en-US" sz="2400" dirty="0">
                <a:solidFill>
                  <a:srgbClr val="00B050"/>
                </a:solidFill>
              </a:rPr>
              <a:t>N closest bins </a:t>
            </a:r>
            <a:r>
              <a:rPr lang="en-US" sz="2400" dirty="0"/>
              <a:t>of the </a:t>
            </a:r>
            <a:r>
              <a:rPr lang="en-US" sz="2400" dirty="0" err="1"/>
              <a:t>kD</a:t>
            </a:r>
            <a:r>
              <a:rPr lang="en-US" sz="2400" dirty="0"/>
              <a:t>-tree</a:t>
            </a:r>
          </a:p>
          <a:p>
            <a:pPr marL="990600" lvl="1" indent="-533400">
              <a:defRPr/>
            </a:pPr>
            <a:r>
              <a:rPr lang="en-US" sz="2400" dirty="0"/>
              <a:t>Use a </a:t>
            </a:r>
            <a:r>
              <a:rPr lang="en-US" altLang="zh-CN" dirty="0"/>
              <a:t>priority queue</a:t>
            </a:r>
            <a:r>
              <a:rPr lang="en-US" sz="2400" dirty="0"/>
              <a:t> to identify bins in order by their distance from query.</a:t>
            </a:r>
            <a:endParaRPr lang="en-US" sz="2400" b="1" dirty="0"/>
          </a:p>
          <a:p>
            <a:pPr marL="990600" lvl="1" indent="-533400">
              <a:defRPr/>
            </a:pPr>
            <a:r>
              <a:rPr lang="en-US" dirty="0"/>
              <a:t>Return nearest-neighbors with high probability (e.g., 95%).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604CAC-EE4E-5C4C-973A-B42485BFB80B}" type="slidenum">
              <a:rPr lang="en-US" altLang="en-US">
                <a:latin typeface="Garamond" panose="02020404030301010803" pitchFamily="18" charset="0"/>
              </a:rPr>
              <a:t>155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23909" name="TextBox 1"/>
          <p:cNvSpPr txBox="1">
            <a:spLocks noChangeArrowheads="1"/>
          </p:cNvSpPr>
          <p:nvPr/>
        </p:nvSpPr>
        <p:spPr bwMode="auto">
          <a:xfrm>
            <a:off x="2082800" y="5581502"/>
            <a:ext cx="82296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1600" dirty="0">
                <a:ea typeface="宋体" panose="02010600030101010101" pitchFamily="2" charset="-122"/>
              </a:rPr>
              <a:t>J. </a:t>
            </a:r>
            <a:r>
              <a:rPr lang="en-US" altLang="zh-CN" sz="1600" dirty="0" err="1">
                <a:ea typeface="宋体" panose="02010600030101010101" pitchFamily="2" charset="-122"/>
              </a:rPr>
              <a:t>Beis</a:t>
            </a:r>
            <a:r>
              <a:rPr lang="en-US" altLang="zh-CN" sz="1600" dirty="0">
                <a:ea typeface="宋体" panose="02010600030101010101" pitchFamily="2" charset="-122"/>
              </a:rPr>
              <a:t> and D. Lowe, “Shape Indexing Using Approximate Nearest-</a:t>
            </a:r>
            <a:r>
              <a:rPr lang="en-US" altLang="zh-CN" sz="1600" dirty="0" err="1">
                <a:ea typeface="宋体" panose="02010600030101010101" pitchFamily="2" charset="-122"/>
              </a:rPr>
              <a:t>Neighbour</a:t>
            </a:r>
            <a:r>
              <a:rPr lang="en-US" altLang="zh-CN" sz="1600" dirty="0">
                <a:ea typeface="宋体" panose="02010600030101010101" pitchFamily="2" charset="-122"/>
              </a:rPr>
              <a:t>  Search in High-Dimensional Spaces”, </a:t>
            </a:r>
            <a:r>
              <a:rPr lang="en-US" altLang="zh-CN" sz="1600" i="1" dirty="0">
                <a:ea typeface="宋体" panose="02010600030101010101" pitchFamily="2" charset="-122"/>
              </a:rPr>
              <a:t>IEEE Computer Vision and Pattern Recognition</a:t>
            </a:r>
            <a:r>
              <a:rPr lang="en-US" altLang="zh-CN" sz="1600" dirty="0">
                <a:ea typeface="宋体" panose="02010600030101010101" pitchFamily="2" charset="-122"/>
              </a:rPr>
              <a:t>, 1997.</a:t>
            </a:r>
          </a:p>
        </p:txBody>
      </p:sp>
      <p:sp>
        <p:nvSpPr>
          <p:cNvPr id="123910" name="Rectangle 1"/>
          <p:cNvSpPr>
            <a:spLocks noChangeArrowheads="1"/>
          </p:cNvSpPr>
          <p:nvPr/>
        </p:nvSpPr>
        <p:spPr bwMode="auto">
          <a:xfrm>
            <a:off x="3720844" y="2090444"/>
            <a:ext cx="431863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Range query time: </a:t>
            </a:r>
            <a:r>
              <a:rPr lang="en-US" altLang="zh-CN" sz="2400" dirty="0">
                <a:solidFill>
                  <a:srgbClr val="00B050"/>
                </a:solidFill>
                <a:ea typeface="宋体" panose="02010600030101010101" pitchFamily="2" charset="-122"/>
              </a:rPr>
              <a:t>O(n</a:t>
            </a:r>
            <a:r>
              <a:rPr lang="en-US" altLang="zh-CN" sz="2400" baseline="30000" dirty="0">
                <a:solidFill>
                  <a:srgbClr val="00B050"/>
                </a:solidFill>
                <a:ea typeface="宋体" panose="02010600030101010101" pitchFamily="2" charset="-122"/>
              </a:rPr>
              <a:t>1-1/</a:t>
            </a:r>
            <a:r>
              <a:rPr lang="en-US" altLang="zh-CN" sz="2400" baseline="30000" dirty="0" err="1">
                <a:solidFill>
                  <a:srgbClr val="00B05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400" dirty="0" err="1">
                <a:solidFill>
                  <a:srgbClr val="00B050"/>
                </a:solidFill>
                <a:ea typeface="宋体" panose="02010600030101010101" pitchFamily="2" charset="-122"/>
              </a:rPr>
              <a:t>+k</a:t>
            </a:r>
            <a:r>
              <a:rPr lang="en-US" altLang="zh-CN" sz="2400" dirty="0">
                <a:solidFill>
                  <a:srgbClr val="00B050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20844" y="2560906"/>
            <a:ext cx="4572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ea typeface="宋体" panose="02010600030101010101" pitchFamily="2" charset="-122"/>
              </a:rPr>
              <a:t>K-NN query time: </a:t>
            </a:r>
            <a:r>
              <a:rPr lang="en-US" altLang="zh-CN" sz="2400" dirty="0">
                <a:solidFill>
                  <a:srgbClr val="00B050"/>
                </a:solidFill>
              </a:rPr>
              <a:t>O(k</a:t>
            </a:r>
            <a:r>
              <a:rPr lang="zh-CN" altLang="en-US" sz="2400" dirty="0">
                <a:solidFill>
                  <a:srgbClr val="00B050"/>
                </a:solidFill>
              </a:rPr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(2</a:t>
            </a:r>
            <a:r>
              <a:rPr lang="en-US" altLang="zh-CN" sz="2400" baseline="30000" dirty="0">
                <a:solidFill>
                  <a:srgbClr val="00B050"/>
                </a:solidFill>
              </a:rPr>
              <a:t>d</a:t>
            </a:r>
            <a:r>
              <a:rPr lang="en-US" altLang="zh-CN" sz="2400" dirty="0">
                <a:solidFill>
                  <a:srgbClr val="00B050"/>
                </a:solidFill>
              </a:rPr>
              <a:t>+logn))</a:t>
            </a:r>
            <a:r>
              <a:rPr lang="zh-CN" altLang="en-US" sz="2400" dirty="0">
                <a:solidFill>
                  <a:srgbClr val="00B050"/>
                </a:solidFill>
              </a:rPr>
              <a:t> </a:t>
            </a:r>
            <a:endParaRPr 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213995" y="136525"/>
            <a:ext cx="516255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“Curse” of dimensionality</a:t>
            </a:r>
          </a:p>
          <a:p>
            <a:pPr algn="ctr"/>
            <a:endParaRPr sz="2800" dirty="0">
              <a:solidFill>
                <a:schemeClr val="bg1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546290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155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20765" y="1388109"/>
            <a:ext cx="4262034" cy="4667249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Examine only the </a:t>
            </a:r>
            <a:r>
              <a:rPr lang="en-US" altLang="zh-CN" dirty="0">
                <a:solidFill>
                  <a:srgbClr val="00B050"/>
                </a:solidFill>
              </a:rPr>
              <a:t>N</a:t>
            </a:r>
            <a:r>
              <a:rPr lang="en-US" altLang="zh-CN" dirty="0"/>
              <a:t> closest bins of the </a:t>
            </a:r>
            <a:r>
              <a:rPr lang="en-US" altLang="zh-CN" dirty="0" err="1"/>
              <a:t>kD</a:t>
            </a:r>
            <a:r>
              <a:rPr lang="en-US" altLang="zh-CN" dirty="0"/>
              <a:t>-tree</a:t>
            </a:r>
          </a:p>
          <a:p>
            <a:r>
              <a:rPr lang="en-US" altLang="zh-CN" dirty="0"/>
              <a:t>Use a priority queue  to identify bins in order by their distance from query. </a:t>
            </a:r>
          </a:p>
          <a:p>
            <a:r>
              <a:rPr lang="en-US" altLang="zh-CN" dirty="0"/>
              <a:t>Let the current best distance be </a:t>
            </a:r>
            <a:r>
              <a:rPr lang="en-US" altLang="zh-CN" dirty="0">
                <a:solidFill>
                  <a:srgbClr val="00B050"/>
                </a:solidFill>
              </a:rPr>
              <a:t>D</a:t>
            </a:r>
            <a:r>
              <a:rPr lang="en-US" altLang="zh-CN" dirty="0"/>
              <a:t>. </a:t>
            </a:r>
          </a:p>
          <a:p>
            <a:r>
              <a:rPr lang="en-US" altLang="zh-CN" dirty="0"/>
              <a:t>In backtracking, distances to bins are compared with </a:t>
            </a:r>
            <a:r>
              <a:rPr lang="en-US" altLang="zh-CN" dirty="0">
                <a:solidFill>
                  <a:srgbClr val="00B050"/>
                </a:solidFill>
              </a:rPr>
              <a:t>D</a:t>
            </a:r>
            <a:r>
              <a:rPr lang="en-US" altLang="zh-CN" dirty="0"/>
              <a:t> and bins with smaller distances are traversed.  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548765" y="1424841"/>
            <a:ext cx="4440275" cy="431460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177415" y="3336567"/>
            <a:ext cx="1189517" cy="675135"/>
          </a:xfrm>
          <a:prstGeom prst="rect">
            <a:avLst/>
          </a:prstGeom>
          <a:solidFill>
            <a:srgbClr val="99CB38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线连接符 6"/>
          <p:cNvCxnSpPr/>
          <p:nvPr/>
        </p:nvCxnSpPr>
        <p:spPr>
          <a:xfrm>
            <a:off x="2984160" y="329451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/>
        </p:nvCxnSpPr>
        <p:spPr>
          <a:xfrm flipH="1">
            <a:off x="2675816" y="3273247"/>
            <a:ext cx="329609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/>
          <p:cNvCxnSpPr/>
          <p:nvPr/>
        </p:nvCxnSpPr>
        <p:spPr>
          <a:xfrm flipV="1">
            <a:off x="3005425" y="3273247"/>
            <a:ext cx="1" cy="6914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291825" y="5620789"/>
            <a:ext cx="33083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思源黑体 Regular" panose="020B0500000000000000" charset="-122"/>
                <a:ea typeface="思源黑体 Regular" panose="020B0500000000000000" charset="-122"/>
              </a:rPr>
              <a:t>将</a:t>
            </a:r>
            <a:r>
              <a:rPr lang="en-US" altLang="zh-CN" dirty="0" err="1"/>
              <a:t>bins</a:t>
            </a:r>
            <a:r>
              <a:rPr lang="en-US" dirty="0" err="1">
                <a:latin typeface="思源黑体 Regular" panose="020B0500000000000000" charset="-122"/>
                <a:ea typeface="思源黑体 Regular" panose="020B0500000000000000" charset="-122"/>
              </a:rPr>
              <a:t>按照距离查询的距离排序</a:t>
            </a:r>
            <a:endParaRPr lang="en-US" dirty="0">
              <a:latin typeface="思源黑体 Regular" panose="020B0500000000000000" charset="-122"/>
              <a:ea typeface="思源黑体 Regular" panose="020B05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00" y="136525"/>
            <a:ext cx="87966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rgbClr val="FFFF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Approximate Nearest-Neighbor (ANN)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844867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156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172882"/>
            <a:ext cx="4572000" cy="45122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56496"/>
            <a:ext cx="4229875" cy="339434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382385" y="4997109"/>
            <a:ext cx="4505325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With </a:t>
            </a:r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Best</a:t>
            </a:r>
            <a:r>
              <a:rPr lang="en-US" altLang="zh-CN" sz="2000" dirty="0">
                <a:solidFill>
                  <a:srgbClr val="00B050"/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Bin First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, a query point first</a:t>
            </a:r>
            <a:r>
              <a:rPr lang="en-US" altLang="zh-CN" sz="2000" dirty="0">
                <a:solidFill>
                  <a:srgbClr val="000000"/>
                </a:solidFill>
                <a:latin typeface="Helvetica" pitchFamily="2" charset="0"/>
              </a:rPr>
              <a:t> l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ooks his containing bin (D) and then in its adjacent near bin (B), rather than its closest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Helvetica" pitchFamily="2" charset="0"/>
              </a:rPr>
              <a:t>neigbour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 in the tree (C)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52095" y="136525"/>
            <a:ext cx="92246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rgbClr val="FFFF00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Approximate Nearest-Neighbor (ANN)Best Bin First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943800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157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817" y="1797015"/>
            <a:ext cx="5482525" cy="43757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29335" y="908330"/>
            <a:ext cx="1046416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BBF can give </a:t>
            </a:r>
            <a:r>
              <a:rPr lang="en-US" altLang="zh-CN" sz="2800" dirty="0">
                <a:solidFill>
                  <a:srgbClr val="00B050"/>
                </a:solidFill>
              </a:rPr>
              <a:t>speedup by factor of 1000‐5000  </a:t>
            </a:r>
            <a:r>
              <a:rPr lang="en-US" altLang="zh-CN" sz="2800" dirty="0"/>
              <a:t>for database of 1 million points while finding nearest neighbor </a:t>
            </a:r>
            <a:r>
              <a:rPr lang="en-US" altLang="zh-CN" sz="2800" dirty="0">
                <a:solidFill>
                  <a:srgbClr val="00B050"/>
                </a:solidFill>
              </a:rPr>
              <a:t>95% of the times</a:t>
            </a:r>
            <a:r>
              <a:rPr lang="en-US" altLang="zh-CN" sz="2800" dirty="0"/>
              <a:t>. </a:t>
            </a:r>
            <a:endParaRPr lang="en-US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4398685" y="4198380"/>
            <a:ext cx="52844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NN on K-d tree after examining Emax leaves. 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024143" y="2166345"/>
            <a:ext cx="1193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BBF search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429385" y="6079770"/>
            <a:ext cx="905129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Approximate NN lookup vs Emax . (100,000 stored points; dimension of space 12; averaged over 1000 queries. Emax (restricted) was 2.4 times Emax (BBF).)</a:t>
            </a: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158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986" y="1344544"/>
            <a:ext cx="5803820" cy="4372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32090" y="2783840"/>
            <a:ext cx="2931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BBF returns the closest neighbor 95% of the times. 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7150" y="136525"/>
            <a:ext cx="727519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BBF vs. restricted K-D tree NN search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704786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159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35" y="7620"/>
            <a:ext cx="12193270" cy="831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89585" y="183515"/>
            <a:ext cx="11907520" cy="1025525"/>
          </a:xfrm>
        </p:spPr>
        <p:txBody>
          <a:bodyPr>
            <a:normAutofit/>
          </a:bodyPr>
          <a:lstStyle/>
          <a:p>
            <a:r>
              <a:rPr lang="en-US" dirty="0"/>
              <a:t>BBF vs. K-D tree NN search vs. exhaustive search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896" y="1331090"/>
            <a:ext cx="6536888" cy="495396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199784" y="1689904"/>
            <a:ext cx="22945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Exact k-d tree search is not efficient in high dimension data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199784" y="2762990"/>
            <a:ext cx="229459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BBF is efficient. </a:t>
            </a: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160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221" y="1422924"/>
            <a:ext cx="5845626" cy="443736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85847" y="1575556"/>
            <a:ext cx="283001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Average of ratios of approximate to actual NN distance. </a:t>
            </a:r>
          </a:p>
          <a:p>
            <a:endParaRPr lang="en-US" altLang="zh-CN" dirty="0"/>
          </a:p>
          <a:p>
            <a:r>
              <a:rPr lang="en-US" altLang="zh-CN" dirty="0"/>
              <a:t>(100,000 stored points; Emax(BBF)=200; Emax(restricted)=480; averaged over 1000 queries.)</a:t>
            </a:r>
            <a:endParaRPr 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238760" y="136525"/>
            <a:ext cx="963041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Approximation ratio increases slowly with Dimension 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981710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161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9295" y="1158552"/>
            <a:ext cx="7886700" cy="4351338"/>
          </a:xfrm>
        </p:spPr>
        <p:txBody>
          <a:bodyPr/>
          <a:lstStyle/>
          <a:p>
            <a:r>
              <a:rPr lang="el-GR" dirty="0"/>
              <a:t>ε‐</a:t>
            </a:r>
            <a:r>
              <a:rPr lang="en-US" dirty="0"/>
              <a:t>Approximate Nearest Neighbor finds the nearest neighbor with high probability, i.e.  finds </a:t>
            </a:r>
            <a:r>
              <a:rPr lang="en-US" dirty="0">
                <a:solidFill>
                  <a:srgbClr val="00B050"/>
                </a:solidFill>
              </a:rPr>
              <a:t>points p’ in P, whose distance to q is at most (1+</a:t>
            </a:r>
            <a:r>
              <a:rPr lang="el-GR" dirty="0">
                <a:solidFill>
                  <a:srgbClr val="00B050"/>
                </a:solidFill>
              </a:rPr>
              <a:t>ε) </a:t>
            </a:r>
            <a:r>
              <a:rPr lang="en-US" dirty="0">
                <a:solidFill>
                  <a:srgbClr val="00B050"/>
                </a:solidFill>
              </a:rPr>
              <a:t>time the true nearest distance R</a:t>
            </a:r>
            <a:r>
              <a:rPr lang="en-US" dirty="0"/>
              <a:t>.  </a:t>
            </a:r>
          </a:p>
          <a:p>
            <a:r>
              <a:rPr lang="en-US" dirty="0"/>
              <a:t>It is a popular tool for fighting the curse of dimensionality.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17159"/>
          <a:stretch>
            <a:fillRect/>
          </a:stretch>
        </p:blipFill>
        <p:spPr>
          <a:xfrm>
            <a:off x="2169791" y="3773878"/>
            <a:ext cx="4060015" cy="25595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6791" t="9600" r="5397"/>
          <a:stretch>
            <a:fillRect/>
          </a:stretch>
        </p:blipFill>
        <p:spPr>
          <a:xfrm>
            <a:off x="6096265" y="5245342"/>
            <a:ext cx="4143737" cy="52909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7150" y="136525"/>
            <a:ext cx="727519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ε‐Approximate Nearest Neighbor 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704786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162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60905" y="1232118"/>
            <a:ext cx="7886700" cy="478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Locality Sensitive Hashing (LSH) </a:t>
            </a:r>
            <a:r>
              <a:rPr lang="en-US" dirty="0"/>
              <a:t>is a fast method for </a:t>
            </a:r>
            <a:r>
              <a:rPr lang="el-GR" dirty="0">
                <a:solidFill>
                  <a:srgbClr val="00B050"/>
                </a:solidFill>
              </a:rPr>
              <a:t>ε‐</a:t>
            </a:r>
            <a:r>
              <a:rPr lang="en-US" dirty="0">
                <a:solidFill>
                  <a:srgbClr val="00B050"/>
                </a:solidFill>
              </a:rPr>
              <a:t>approximate Nearest Neighbor search </a:t>
            </a:r>
            <a:r>
              <a:rPr lang="en-US" dirty="0"/>
              <a:t>in high dimensional space useful for large datasets [A. </a:t>
            </a:r>
            <a:r>
              <a:rPr lang="en-US" dirty="0" err="1"/>
              <a:t>Gionis</a:t>
            </a:r>
            <a:r>
              <a:rPr lang="en-US" dirty="0"/>
              <a:t>, P. </a:t>
            </a:r>
            <a:r>
              <a:rPr lang="en-US" dirty="0" err="1"/>
              <a:t>Indyk</a:t>
            </a:r>
            <a:r>
              <a:rPr lang="en-US" dirty="0"/>
              <a:t>, R. Motwani, 1999]. </a:t>
            </a:r>
          </a:p>
          <a:p>
            <a:r>
              <a:rPr lang="en-US" dirty="0"/>
              <a:t>LSH constructs a set of </a:t>
            </a:r>
            <a:r>
              <a:rPr lang="en-US" dirty="0">
                <a:solidFill>
                  <a:srgbClr val="00B050"/>
                </a:solidFill>
              </a:rPr>
              <a:t>locality‐sensitive hash functions</a:t>
            </a:r>
            <a:r>
              <a:rPr lang="en-US" dirty="0"/>
              <a:t> such that  the </a:t>
            </a:r>
            <a:r>
              <a:rPr lang="en-US" dirty="0">
                <a:solidFill>
                  <a:srgbClr val="00B050"/>
                </a:solidFill>
              </a:rPr>
              <a:t>probability of nearby points being close</a:t>
            </a:r>
            <a:r>
              <a:rPr lang="en-US" dirty="0"/>
              <a:t> after the transformation with the hash function </a:t>
            </a:r>
            <a:r>
              <a:rPr lang="en-US" dirty="0">
                <a:solidFill>
                  <a:srgbClr val="00B050"/>
                </a:solidFill>
              </a:rPr>
              <a:t>is  larger </a:t>
            </a:r>
            <a:r>
              <a:rPr lang="en-US" dirty="0"/>
              <a:t>than</a:t>
            </a:r>
            <a:r>
              <a:rPr lang="en-US" dirty="0">
                <a:solidFill>
                  <a:srgbClr val="00B050"/>
                </a:solidFill>
              </a:rPr>
              <a:t> the probability of two distant points being close </a:t>
            </a:r>
            <a:r>
              <a:rPr lang="en-US" dirty="0"/>
              <a:t>after the same transformation.</a:t>
            </a:r>
          </a:p>
          <a:p>
            <a:r>
              <a:rPr lang="en-US" dirty="0"/>
              <a:t>We will introduce it in the next class. 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7150" y="136525"/>
            <a:ext cx="727519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+mn-ea"/>
              </a:rPr>
              <a:t>Locality Sensitive Hashing (LSH)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79070" y="84455"/>
            <a:ext cx="7047865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defRPr/>
            </a:pPr>
            <a:fld id="{A2F90313-C3C9-4AEF-8FC9-B1F8E5E64251}" type="slidenum">
              <a:rPr lang="en-US" altLang="zh-CN" smtClean="0">
                <a:solidFill>
                  <a:schemeClr val="bg1"/>
                </a:solidFill>
              </a:rPr>
              <a:t>163</a:t>
            </a:fld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思源黑体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思源黑体 Bold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14352</TotalTime>
  <Words>7899</Words>
  <Application>Microsoft Macintosh PowerPoint</Application>
  <PresentationFormat>宽屏</PresentationFormat>
  <Paragraphs>1433</Paragraphs>
  <Slides>163</Slides>
  <Notes>81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163</vt:i4>
      </vt:variant>
    </vt:vector>
  </HeadingPairs>
  <TitlesOfParts>
    <vt:vector size="189" baseType="lpstr">
      <vt:lpstr>等线</vt:lpstr>
      <vt:lpstr>思源黑体 Bold</vt:lpstr>
      <vt:lpstr>思源黑体 CN Bold</vt:lpstr>
      <vt:lpstr>思源黑体 CN Regular</vt:lpstr>
      <vt:lpstr>思源黑体 Regular</vt:lpstr>
      <vt:lpstr>宋体</vt:lpstr>
      <vt:lpstr>CMTT10</vt:lpstr>
      <vt:lpstr>Times</vt:lpstr>
      <vt:lpstr>Times-Roman</vt:lpstr>
      <vt:lpstr>urw-din</vt:lpstr>
      <vt:lpstr>Arial</vt:lpstr>
      <vt:lpstr>Calibri</vt:lpstr>
      <vt:lpstr>Cambria Math</vt:lpstr>
      <vt:lpstr>Comic Sans MS</vt:lpstr>
      <vt:lpstr>Consolas</vt:lpstr>
      <vt:lpstr>Garamond</vt:lpstr>
      <vt:lpstr>Helvetica</vt:lpstr>
      <vt:lpstr>Menlo</vt:lpstr>
      <vt:lpstr>Palatino</vt:lpstr>
      <vt:lpstr>Symbol</vt:lpstr>
      <vt:lpstr>Tahoma</vt:lpstr>
      <vt:lpstr>Times New Roman</vt:lpstr>
      <vt:lpstr>Verdana</vt:lpstr>
      <vt:lpstr>Wingdings</vt:lpstr>
      <vt:lpstr>1_Office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Insert (55, 62)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Complexity Analysis of NN Search in K-D tree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BBF vs. K-D tree NN search vs. exhaustive search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Multi-dimensional Search Trees</dc:title>
  <dc:creator>Wang Yongcai</dc:creator>
  <cp:lastModifiedBy>Rucchao</cp:lastModifiedBy>
  <cp:revision>240</cp:revision>
  <dcterms:created xsi:type="dcterms:W3CDTF">2022-03-22T00:31:10Z</dcterms:created>
  <dcterms:modified xsi:type="dcterms:W3CDTF">2026-04-16T07:30:18Z</dcterms:modified>
</cp:coreProperties>
</file>