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tiff" ContentType="image/tiff"/>
  <Default Extension="emf" ContentType="image/x-e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87"/>
  </p:handoutMasterIdLst>
  <p:sldIdLst>
    <p:sldId id="256" r:id="rId4"/>
    <p:sldId id="427" r:id="rId6"/>
    <p:sldId id="286" r:id="rId7"/>
    <p:sldId id="325" r:id="rId8"/>
    <p:sldId id="263" r:id="rId9"/>
    <p:sldId id="267" r:id="rId10"/>
    <p:sldId id="264" r:id="rId11"/>
    <p:sldId id="265" r:id="rId12"/>
    <p:sldId id="266" r:id="rId13"/>
    <p:sldId id="268" r:id="rId14"/>
    <p:sldId id="305" r:id="rId15"/>
    <p:sldId id="269" r:id="rId16"/>
    <p:sldId id="306" r:id="rId17"/>
    <p:sldId id="307" r:id="rId18"/>
    <p:sldId id="386" r:id="rId19"/>
    <p:sldId id="369" r:id="rId20"/>
    <p:sldId id="363" r:id="rId21"/>
    <p:sldId id="387" r:id="rId22"/>
    <p:sldId id="311" r:id="rId23"/>
    <p:sldId id="388" r:id="rId24"/>
    <p:sldId id="336" r:id="rId25"/>
    <p:sldId id="370" r:id="rId26"/>
    <p:sldId id="426" r:id="rId27"/>
    <p:sldId id="313" r:id="rId28"/>
    <p:sldId id="362" r:id="rId29"/>
    <p:sldId id="371" r:id="rId30"/>
    <p:sldId id="372" r:id="rId31"/>
    <p:sldId id="361" r:id="rId32"/>
    <p:sldId id="373" r:id="rId33"/>
    <p:sldId id="374" r:id="rId34"/>
    <p:sldId id="279" r:id="rId35"/>
    <p:sldId id="332" r:id="rId36"/>
    <p:sldId id="338" r:id="rId37"/>
    <p:sldId id="375" r:id="rId38"/>
    <p:sldId id="376" r:id="rId39"/>
    <p:sldId id="377" r:id="rId40"/>
    <p:sldId id="378" r:id="rId41"/>
    <p:sldId id="379" r:id="rId42"/>
    <p:sldId id="389" r:id="rId43"/>
    <p:sldId id="293" r:id="rId44"/>
    <p:sldId id="364" r:id="rId45"/>
    <p:sldId id="408" r:id="rId46"/>
    <p:sldId id="282" r:id="rId47"/>
    <p:sldId id="283" r:id="rId48"/>
    <p:sldId id="284" r:id="rId49"/>
    <p:sldId id="285" r:id="rId50"/>
    <p:sldId id="381" r:id="rId51"/>
    <p:sldId id="287" r:id="rId52"/>
    <p:sldId id="382" r:id="rId53"/>
    <p:sldId id="289" r:id="rId54"/>
    <p:sldId id="291" r:id="rId55"/>
    <p:sldId id="290" r:id="rId56"/>
    <p:sldId id="402" r:id="rId57"/>
    <p:sldId id="380" r:id="rId58"/>
    <p:sldId id="344" r:id="rId59"/>
    <p:sldId id="424" r:id="rId60"/>
    <p:sldId id="425" r:id="rId61"/>
    <p:sldId id="288" r:id="rId62"/>
    <p:sldId id="412" r:id="rId63"/>
    <p:sldId id="413" r:id="rId64"/>
    <p:sldId id="414" r:id="rId65"/>
    <p:sldId id="415" r:id="rId66"/>
    <p:sldId id="321" r:id="rId67"/>
    <p:sldId id="339" r:id="rId68"/>
    <p:sldId id="416" r:id="rId69"/>
    <p:sldId id="308" r:id="rId70"/>
    <p:sldId id="292" r:id="rId71"/>
    <p:sldId id="417" r:id="rId72"/>
    <p:sldId id="296" r:id="rId73"/>
    <p:sldId id="418" r:id="rId74"/>
    <p:sldId id="294" r:id="rId75"/>
    <p:sldId id="295" r:id="rId76"/>
    <p:sldId id="341" r:id="rId77"/>
    <p:sldId id="419" r:id="rId78"/>
    <p:sldId id="420" r:id="rId79"/>
    <p:sldId id="421" r:id="rId80"/>
    <p:sldId id="422" r:id="rId81"/>
    <p:sldId id="298" r:id="rId82"/>
    <p:sldId id="423" r:id="rId83"/>
    <p:sldId id="300" r:id="rId84"/>
    <p:sldId id="411" r:id="rId85"/>
    <p:sldId id="297" r:id="rId8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3B63"/>
    <a:srgbClr val="FF6400"/>
    <a:srgbClr val="F0D6FF"/>
    <a:srgbClr val="D6A6FF"/>
    <a:srgbClr val="FF8200"/>
    <a:srgbClr val="005ECE"/>
    <a:srgbClr val="FF8B00"/>
    <a:srgbClr val="FFF6C9"/>
    <a:srgbClr val="FFE4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47"/>
    <p:restoredTop sz="94664"/>
  </p:normalViewPr>
  <p:slideViewPr>
    <p:cSldViewPr snapToGrid="0" snapToObjects="1">
      <p:cViewPr varScale="1">
        <p:scale>
          <a:sx n="124" d="100"/>
          <a:sy n="124" d="100"/>
        </p:scale>
        <p:origin x="7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46" d="100"/>
          <a:sy n="46" d="100"/>
        </p:scale>
        <p:origin x="2208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0" Type="http://schemas.openxmlformats.org/officeDocument/2006/relationships/tableStyles" Target="tableStyles.xml"/><Relationship Id="rId9" Type="http://schemas.openxmlformats.org/officeDocument/2006/relationships/slide" Target="slides/slide5.xml"/><Relationship Id="rId89" Type="http://schemas.openxmlformats.org/officeDocument/2006/relationships/viewProps" Target="viewProps.xml"/><Relationship Id="rId88" Type="http://schemas.openxmlformats.org/officeDocument/2006/relationships/presProps" Target="presProps.xml"/><Relationship Id="rId87" Type="http://schemas.openxmlformats.org/officeDocument/2006/relationships/handoutMaster" Target="handoutMasters/handoutMaster1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E9FFD7-BAA3-4AAD-967E-6FEACD928B3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09F42BF-8274-4DCA-969C-B5399D0CCA62}">
      <dgm:prSet/>
      <dgm:spPr/>
      <dgm:t>
        <a:bodyPr/>
        <a:lstStyle/>
        <a:p>
          <a:r>
            <a:rPr lang="en-US" b="1" u="sng" dirty="0" err="1"/>
            <a:t>复习主定理和替换法</a:t>
          </a:r>
          <a:endParaRPr lang="en-US" dirty="0"/>
        </a:p>
      </dgm:t>
    </dgm:pt>
    <dgm:pt modelId="{821FACCF-2D19-4BEF-A902-C4006F28CBF9}" cxnId="{C65BD938-4C18-49DB-83D6-D5DD84880C00}" type="parTrans">
      <dgm:prSet/>
      <dgm:spPr/>
      <dgm:t>
        <a:bodyPr/>
        <a:lstStyle/>
        <a:p>
          <a:endParaRPr lang="en-US"/>
        </a:p>
      </dgm:t>
    </dgm:pt>
    <dgm:pt modelId="{9933636C-8F9C-47F9-BE8A-B0520EBB5B43}" cxnId="{C65BD938-4C18-49DB-83D6-D5DD84880C00}" type="sibTrans">
      <dgm:prSet/>
      <dgm:spPr/>
      <dgm:t>
        <a:bodyPr/>
        <a:lstStyle/>
        <a:p>
          <a:endParaRPr lang="en-US"/>
        </a:p>
      </dgm:t>
    </dgm:pt>
    <dgm:pt modelId="{442850C4-B588-47EE-A79B-90DF23A2DEC8}">
      <dgm:prSet/>
      <dgm:spPr/>
      <dgm:t>
        <a:bodyPr/>
        <a:lstStyle/>
        <a:p>
          <a:r>
            <a:rPr lang="en-US" dirty="0"/>
            <a:t>k-SELECT problem</a:t>
          </a:r>
        </a:p>
      </dgm:t>
    </dgm:pt>
    <dgm:pt modelId="{344A91E7-6282-4F46-8BC9-B3D830162594}" cxnId="{F84D46C3-132F-4337-B979-F1E402142427}" type="parTrans">
      <dgm:prSet/>
      <dgm:spPr/>
      <dgm:t>
        <a:bodyPr/>
        <a:lstStyle/>
        <a:p>
          <a:endParaRPr lang="en-US"/>
        </a:p>
      </dgm:t>
    </dgm:pt>
    <dgm:pt modelId="{E65AA217-4478-4C3D-B0BC-007547D86A13}" cxnId="{F84D46C3-132F-4337-B979-F1E402142427}" type="sibTrans">
      <dgm:prSet/>
      <dgm:spPr/>
      <dgm:t>
        <a:bodyPr/>
        <a:lstStyle/>
        <a:p>
          <a:endParaRPr lang="en-US"/>
        </a:p>
      </dgm:t>
    </dgm:pt>
    <dgm:pt modelId="{9733B14D-1BC7-4711-86C9-D2886DB2E5E2}">
      <dgm:prSet/>
      <dgm:spPr/>
      <dgm:t>
        <a:bodyPr/>
        <a:lstStyle/>
        <a:p>
          <a:r>
            <a:rPr lang="en-US" dirty="0"/>
            <a:t>D-Select (</a:t>
          </a:r>
          <a:r>
            <a:rPr lang="en-US" dirty="0" err="1"/>
            <a:t>确定性算法</a:t>
          </a:r>
          <a:r>
            <a:rPr lang="en-US" dirty="0"/>
            <a:t>)</a:t>
          </a:r>
        </a:p>
      </dgm:t>
    </dgm:pt>
    <dgm:pt modelId="{C47065BF-2C59-4D70-8E8D-968F647A7426}" cxnId="{937F4EE3-8993-485F-B366-F7830001668B}" type="parTrans">
      <dgm:prSet/>
      <dgm:spPr/>
      <dgm:t>
        <a:bodyPr/>
        <a:lstStyle/>
        <a:p>
          <a:endParaRPr lang="en-US"/>
        </a:p>
      </dgm:t>
    </dgm:pt>
    <dgm:pt modelId="{7E67945D-2DC9-4A5C-93BA-CCC4D7369455}" cxnId="{937F4EE3-8993-485F-B366-F7830001668B}" type="sibTrans">
      <dgm:prSet/>
      <dgm:spPr/>
      <dgm:t>
        <a:bodyPr/>
        <a:lstStyle/>
        <a:p>
          <a:endParaRPr lang="en-US"/>
        </a:p>
      </dgm:t>
    </dgm:pt>
    <dgm:pt modelId="{E8599D9D-EA6C-45B5-8131-EC104B7BE3AD}">
      <dgm:prSet/>
      <dgm:spPr/>
      <dgm:t>
        <a:bodyPr/>
        <a:lstStyle/>
        <a:p>
          <a:r>
            <a:rPr lang="en-US" altLang="zh-CN" dirty="0"/>
            <a:t>R-Select,</a:t>
          </a:r>
          <a:r>
            <a:rPr lang="zh-CN" altLang="en-US" dirty="0"/>
            <a:t> </a:t>
          </a:r>
          <a:r>
            <a:rPr lang="en-US" dirty="0" err="1"/>
            <a:t>Q</a:t>
          </a:r>
          <a:r>
            <a:rPr lang="en-US" altLang="zh-CN" dirty="0" err="1"/>
            <a:t>uickSort</a:t>
          </a:r>
          <a:r>
            <a:rPr lang="en-US" altLang="zh-CN" dirty="0"/>
            <a:t>(</a:t>
          </a:r>
          <a:r>
            <a:rPr lang="en-US" dirty="0" err="1"/>
            <a:t>随机算法</a:t>
          </a:r>
          <a:r>
            <a:rPr lang="en-US" altLang="zh-CN" dirty="0"/>
            <a:t>)</a:t>
          </a:r>
          <a:endParaRPr lang="en-US" dirty="0"/>
        </a:p>
      </dgm:t>
    </dgm:pt>
    <dgm:pt modelId="{E95DBD8E-E00D-4996-AD4D-91BEAA70C62E}" cxnId="{581266AA-96B0-4B2C-9685-AE72AE19335B}" type="sibTrans">
      <dgm:prSet/>
      <dgm:spPr/>
      <dgm:t>
        <a:bodyPr/>
        <a:lstStyle/>
        <a:p>
          <a:endParaRPr lang="en-US"/>
        </a:p>
      </dgm:t>
    </dgm:pt>
    <dgm:pt modelId="{74658559-D96A-440B-9E93-564B57026926}" cxnId="{581266AA-96B0-4B2C-9685-AE72AE19335B}" type="parTrans">
      <dgm:prSet/>
      <dgm:spPr/>
      <dgm:t>
        <a:bodyPr/>
        <a:lstStyle/>
        <a:p>
          <a:endParaRPr lang="en-US"/>
        </a:p>
      </dgm:t>
    </dgm:pt>
    <dgm:pt modelId="{2931291D-3619-6E4C-A04A-763A7E14F84F}" type="pres">
      <dgm:prSet presAssocID="{B6E9FFD7-BAA3-4AAD-967E-6FEACD928B30}" presName="linear" presStyleCnt="0">
        <dgm:presLayoutVars>
          <dgm:animLvl val="lvl"/>
          <dgm:resizeHandles val="exact"/>
        </dgm:presLayoutVars>
      </dgm:prSet>
      <dgm:spPr/>
    </dgm:pt>
    <dgm:pt modelId="{C30D13C4-A1C1-8B43-B62D-5A0E7BABF33C}" type="pres">
      <dgm:prSet presAssocID="{F09F42BF-8274-4DCA-969C-B5399D0CCA6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BC1A3E1-5ED2-1C41-A0F6-1A2D59D085FE}" type="pres">
      <dgm:prSet presAssocID="{9933636C-8F9C-47F9-BE8A-B0520EBB5B43}" presName="spacer" presStyleCnt="0"/>
      <dgm:spPr/>
    </dgm:pt>
    <dgm:pt modelId="{FEB215BD-020F-D944-90FB-E5E6F7AF284B}" type="pres">
      <dgm:prSet presAssocID="{442850C4-B588-47EE-A79B-90DF23A2DEC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D125555-E791-5945-A652-6BBC5E4BB06C}" type="pres">
      <dgm:prSet presAssocID="{E65AA217-4478-4C3D-B0BC-007547D86A13}" presName="spacer" presStyleCnt="0"/>
      <dgm:spPr/>
    </dgm:pt>
    <dgm:pt modelId="{DA762869-6E23-9641-9BED-3DC5A1004954}" type="pres">
      <dgm:prSet presAssocID="{9733B14D-1BC7-4711-86C9-D2886DB2E5E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0C7D681-2E84-AF42-9D49-0F3E0279E5EA}" type="pres">
      <dgm:prSet presAssocID="{7E67945D-2DC9-4A5C-93BA-CCC4D7369455}" presName="spacer" presStyleCnt="0"/>
      <dgm:spPr/>
    </dgm:pt>
    <dgm:pt modelId="{B6F6B6C0-22AC-314B-B81C-6C8DF333568B}" type="pres">
      <dgm:prSet presAssocID="{E8599D9D-EA6C-45B5-8131-EC104B7BE3A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C521429-0563-1F49-AFB0-89B011892731}" type="presOf" srcId="{E8599D9D-EA6C-45B5-8131-EC104B7BE3AD}" destId="{B6F6B6C0-22AC-314B-B81C-6C8DF333568B}" srcOrd="0" destOrd="0" presId="urn:microsoft.com/office/officeart/2005/8/layout/vList2"/>
    <dgm:cxn modelId="{7FED0630-D9D4-034F-9C7B-473077D815FE}" type="presOf" srcId="{F09F42BF-8274-4DCA-969C-B5399D0CCA62}" destId="{C30D13C4-A1C1-8B43-B62D-5A0E7BABF33C}" srcOrd="0" destOrd="0" presId="urn:microsoft.com/office/officeart/2005/8/layout/vList2"/>
    <dgm:cxn modelId="{C65BD938-4C18-49DB-83D6-D5DD84880C00}" srcId="{B6E9FFD7-BAA3-4AAD-967E-6FEACD928B30}" destId="{F09F42BF-8274-4DCA-969C-B5399D0CCA62}" srcOrd="0" destOrd="0" parTransId="{821FACCF-2D19-4BEF-A902-C4006F28CBF9}" sibTransId="{9933636C-8F9C-47F9-BE8A-B0520EBB5B43}"/>
    <dgm:cxn modelId="{71E1B380-3258-D54C-A6BF-76871D488FF6}" type="presOf" srcId="{442850C4-B588-47EE-A79B-90DF23A2DEC8}" destId="{FEB215BD-020F-D944-90FB-E5E6F7AF284B}" srcOrd="0" destOrd="0" presId="urn:microsoft.com/office/officeart/2005/8/layout/vList2"/>
    <dgm:cxn modelId="{581266AA-96B0-4B2C-9685-AE72AE19335B}" srcId="{B6E9FFD7-BAA3-4AAD-967E-6FEACD928B30}" destId="{E8599D9D-EA6C-45B5-8131-EC104B7BE3AD}" srcOrd="3" destOrd="0" parTransId="{74658559-D96A-440B-9E93-564B57026926}" sibTransId="{E95DBD8E-E00D-4996-AD4D-91BEAA70C62E}"/>
    <dgm:cxn modelId="{9949A1B8-3DC3-D44E-AE3C-BF9565394F03}" type="presOf" srcId="{B6E9FFD7-BAA3-4AAD-967E-6FEACD928B30}" destId="{2931291D-3619-6E4C-A04A-763A7E14F84F}" srcOrd="0" destOrd="0" presId="urn:microsoft.com/office/officeart/2005/8/layout/vList2"/>
    <dgm:cxn modelId="{F0BF50BE-7118-5745-BDD0-B7B4085F1359}" type="presOf" srcId="{9733B14D-1BC7-4711-86C9-D2886DB2E5E2}" destId="{DA762869-6E23-9641-9BED-3DC5A1004954}" srcOrd="0" destOrd="0" presId="urn:microsoft.com/office/officeart/2005/8/layout/vList2"/>
    <dgm:cxn modelId="{F84D46C3-132F-4337-B979-F1E402142427}" srcId="{B6E9FFD7-BAA3-4AAD-967E-6FEACD928B30}" destId="{442850C4-B588-47EE-A79B-90DF23A2DEC8}" srcOrd="1" destOrd="0" parTransId="{344A91E7-6282-4F46-8BC9-B3D830162594}" sibTransId="{E65AA217-4478-4C3D-B0BC-007547D86A13}"/>
    <dgm:cxn modelId="{937F4EE3-8993-485F-B366-F7830001668B}" srcId="{B6E9FFD7-BAA3-4AAD-967E-6FEACD928B30}" destId="{9733B14D-1BC7-4711-86C9-D2886DB2E5E2}" srcOrd="2" destOrd="0" parTransId="{C47065BF-2C59-4D70-8E8D-968F647A7426}" sibTransId="{7E67945D-2DC9-4A5C-93BA-CCC4D7369455}"/>
    <dgm:cxn modelId="{BF1B9572-FED7-5146-B370-A051EDEAE61C}" type="presParOf" srcId="{2931291D-3619-6E4C-A04A-763A7E14F84F}" destId="{C30D13C4-A1C1-8B43-B62D-5A0E7BABF33C}" srcOrd="0" destOrd="0" presId="urn:microsoft.com/office/officeart/2005/8/layout/vList2"/>
    <dgm:cxn modelId="{CE92F4FC-9BCC-8D40-A703-B5422243D43D}" type="presParOf" srcId="{2931291D-3619-6E4C-A04A-763A7E14F84F}" destId="{3BC1A3E1-5ED2-1C41-A0F6-1A2D59D085FE}" srcOrd="1" destOrd="0" presId="urn:microsoft.com/office/officeart/2005/8/layout/vList2"/>
    <dgm:cxn modelId="{6F828A1F-474A-5243-A5D4-D9D6BBE59B51}" type="presParOf" srcId="{2931291D-3619-6E4C-A04A-763A7E14F84F}" destId="{FEB215BD-020F-D944-90FB-E5E6F7AF284B}" srcOrd="2" destOrd="0" presId="urn:microsoft.com/office/officeart/2005/8/layout/vList2"/>
    <dgm:cxn modelId="{D70D418E-08EC-EA40-B4B4-5945362750F0}" type="presParOf" srcId="{2931291D-3619-6E4C-A04A-763A7E14F84F}" destId="{FD125555-E791-5945-A652-6BBC5E4BB06C}" srcOrd="3" destOrd="0" presId="urn:microsoft.com/office/officeart/2005/8/layout/vList2"/>
    <dgm:cxn modelId="{B25DD592-DA3B-0145-988F-6E696F9D5152}" type="presParOf" srcId="{2931291D-3619-6E4C-A04A-763A7E14F84F}" destId="{DA762869-6E23-9641-9BED-3DC5A1004954}" srcOrd="4" destOrd="0" presId="urn:microsoft.com/office/officeart/2005/8/layout/vList2"/>
    <dgm:cxn modelId="{8552BABA-6124-AF46-81E8-C3D3F8D8F8C0}" type="presParOf" srcId="{2931291D-3619-6E4C-A04A-763A7E14F84F}" destId="{B0C7D681-2E84-AF42-9D49-0F3E0279E5EA}" srcOrd="5" destOrd="0" presId="urn:microsoft.com/office/officeart/2005/8/layout/vList2"/>
    <dgm:cxn modelId="{66C426D8-F16A-404A-818F-CFDE928066F5}" type="presParOf" srcId="{2931291D-3619-6E4C-A04A-763A7E14F84F}" destId="{B6F6B6C0-22AC-314B-B81C-6C8DF333568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E9FFD7-BAA3-4AAD-967E-6FEACD928B3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09F42BF-8274-4DCA-969C-B5399D0CCA62}">
      <dgm:prSet/>
      <dgm:spPr/>
      <dgm:t>
        <a:bodyPr/>
        <a:lstStyle/>
        <a:p>
          <a:r>
            <a:rPr lang="en-US" b="1" u="sng" dirty="0" err="1"/>
            <a:t>复习主定理和替换法</a:t>
          </a:r>
          <a:endParaRPr lang="en-US" dirty="0"/>
        </a:p>
      </dgm:t>
    </dgm:pt>
    <dgm:pt modelId="{821FACCF-2D19-4BEF-A902-C4006F28CBF9}" cxnId="{C65BD938-4C18-49DB-83D6-D5DD84880C00}" type="parTrans">
      <dgm:prSet/>
      <dgm:spPr/>
      <dgm:t>
        <a:bodyPr/>
        <a:lstStyle/>
        <a:p>
          <a:endParaRPr lang="en-US"/>
        </a:p>
      </dgm:t>
    </dgm:pt>
    <dgm:pt modelId="{9933636C-8F9C-47F9-BE8A-B0520EBB5B43}" cxnId="{C65BD938-4C18-49DB-83D6-D5DD84880C00}" type="sibTrans">
      <dgm:prSet/>
      <dgm:spPr/>
      <dgm:t>
        <a:bodyPr/>
        <a:lstStyle/>
        <a:p>
          <a:endParaRPr lang="en-US"/>
        </a:p>
      </dgm:t>
    </dgm:pt>
    <dgm:pt modelId="{442850C4-B588-47EE-A79B-90DF23A2DEC8}">
      <dgm:prSet/>
      <dgm:spPr/>
      <dgm:t>
        <a:bodyPr/>
        <a:lstStyle/>
        <a:p>
          <a:r>
            <a:rPr lang="en-US" dirty="0"/>
            <a:t>k-SELECT problem</a:t>
          </a:r>
        </a:p>
      </dgm:t>
    </dgm:pt>
    <dgm:pt modelId="{344A91E7-6282-4F46-8BC9-B3D830162594}" cxnId="{F84D46C3-132F-4337-B979-F1E402142427}" type="parTrans">
      <dgm:prSet/>
      <dgm:spPr/>
      <dgm:t>
        <a:bodyPr/>
        <a:lstStyle/>
        <a:p>
          <a:endParaRPr lang="en-US"/>
        </a:p>
      </dgm:t>
    </dgm:pt>
    <dgm:pt modelId="{E65AA217-4478-4C3D-B0BC-007547D86A13}" cxnId="{F84D46C3-132F-4337-B979-F1E402142427}" type="sibTrans">
      <dgm:prSet/>
      <dgm:spPr/>
      <dgm:t>
        <a:bodyPr/>
        <a:lstStyle/>
        <a:p>
          <a:endParaRPr lang="en-US"/>
        </a:p>
      </dgm:t>
    </dgm:pt>
    <dgm:pt modelId="{9733B14D-1BC7-4711-86C9-D2886DB2E5E2}">
      <dgm:prSet/>
      <dgm:spPr/>
      <dgm:t>
        <a:bodyPr/>
        <a:lstStyle/>
        <a:p>
          <a:r>
            <a:rPr lang="en-US" dirty="0"/>
            <a:t>D-Select (</a:t>
          </a:r>
          <a:r>
            <a:rPr lang="en-US" dirty="0" err="1"/>
            <a:t>确定性算法</a:t>
          </a:r>
          <a:r>
            <a:rPr lang="en-US" dirty="0"/>
            <a:t>)</a:t>
          </a:r>
        </a:p>
      </dgm:t>
    </dgm:pt>
    <dgm:pt modelId="{C47065BF-2C59-4D70-8E8D-968F647A7426}" cxnId="{937F4EE3-8993-485F-B366-F7830001668B}" type="parTrans">
      <dgm:prSet/>
      <dgm:spPr/>
      <dgm:t>
        <a:bodyPr/>
        <a:lstStyle/>
        <a:p>
          <a:endParaRPr lang="en-US"/>
        </a:p>
      </dgm:t>
    </dgm:pt>
    <dgm:pt modelId="{7E67945D-2DC9-4A5C-93BA-CCC4D7369455}" cxnId="{937F4EE3-8993-485F-B366-F7830001668B}" type="sibTrans">
      <dgm:prSet/>
      <dgm:spPr/>
      <dgm:t>
        <a:bodyPr/>
        <a:lstStyle/>
        <a:p>
          <a:endParaRPr lang="en-US"/>
        </a:p>
      </dgm:t>
    </dgm:pt>
    <dgm:pt modelId="{E8599D9D-EA6C-45B5-8131-EC104B7BE3AD}">
      <dgm:prSet/>
      <dgm:spPr/>
      <dgm:t>
        <a:bodyPr/>
        <a:lstStyle/>
        <a:p>
          <a:r>
            <a:rPr lang="en-US" altLang="zh-CN" dirty="0"/>
            <a:t>R-Select,</a:t>
          </a:r>
          <a:r>
            <a:rPr lang="zh-CN" altLang="en-US" dirty="0"/>
            <a:t> </a:t>
          </a:r>
          <a:r>
            <a:rPr lang="en-US" dirty="0" err="1"/>
            <a:t>Q</a:t>
          </a:r>
          <a:r>
            <a:rPr lang="en-US" altLang="zh-CN" dirty="0" err="1"/>
            <a:t>uickSort</a:t>
          </a:r>
          <a:r>
            <a:rPr lang="en-US" altLang="zh-CN" dirty="0"/>
            <a:t>(</a:t>
          </a:r>
          <a:r>
            <a:rPr lang="en-US" dirty="0" err="1"/>
            <a:t>随机算法</a:t>
          </a:r>
          <a:r>
            <a:rPr lang="en-US" altLang="zh-CN" dirty="0"/>
            <a:t>)</a:t>
          </a:r>
          <a:endParaRPr lang="en-US" dirty="0"/>
        </a:p>
      </dgm:t>
    </dgm:pt>
    <dgm:pt modelId="{E95DBD8E-E00D-4996-AD4D-91BEAA70C62E}" cxnId="{581266AA-96B0-4B2C-9685-AE72AE19335B}" type="sibTrans">
      <dgm:prSet/>
      <dgm:spPr/>
      <dgm:t>
        <a:bodyPr/>
        <a:lstStyle/>
        <a:p>
          <a:endParaRPr lang="en-US"/>
        </a:p>
      </dgm:t>
    </dgm:pt>
    <dgm:pt modelId="{74658559-D96A-440B-9E93-564B57026926}" cxnId="{581266AA-96B0-4B2C-9685-AE72AE19335B}" type="parTrans">
      <dgm:prSet/>
      <dgm:spPr/>
      <dgm:t>
        <a:bodyPr/>
        <a:lstStyle/>
        <a:p>
          <a:endParaRPr lang="en-US"/>
        </a:p>
      </dgm:t>
    </dgm:pt>
    <dgm:pt modelId="{2931291D-3619-6E4C-A04A-763A7E14F84F}" type="pres">
      <dgm:prSet presAssocID="{B6E9FFD7-BAA3-4AAD-967E-6FEACD928B30}" presName="linear" presStyleCnt="0">
        <dgm:presLayoutVars>
          <dgm:animLvl val="lvl"/>
          <dgm:resizeHandles val="exact"/>
        </dgm:presLayoutVars>
      </dgm:prSet>
      <dgm:spPr/>
    </dgm:pt>
    <dgm:pt modelId="{C30D13C4-A1C1-8B43-B62D-5A0E7BABF33C}" type="pres">
      <dgm:prSet presAssocID="{F09F42BF-8274-4DCA-969C-B5399D0CCA6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BC1A3E1-5ED2-1C41-A0F6-1A2D59D085FE}" type="pres">
      <dgm:prSet presAssocID="{9933636C-8F9C-47F9-BE8A-B0520EBB5B43}" presName="spacer" presStyleCnt="0"/>
      <dgm:spPr/>
    </dgm:pt>
    <dgm:pt modelId="{FEB215BD-020F-D944-90FB-E5E6F7AF284B}" type="pres">
      <dgm:prSet presAssocID="{442850C4-B588-47EE-A79B-90DF23A2DEC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D125555-E791-5945-A652-6BBC5E4BB06C}" type="pres">
      <dgm:prSet presAssocID="{E65AA217-4478-4C3D-B0BC-007547D86A13}" presName="spacer" presStyleCnt="0"/>
      <dgm:spPr/>
    </dgm:pt>
    <dgm:pt modelId="{DA762869-6E23-9641-9BED-3DC5A1004954}" type="pres">
      <dgm:prSet presAssocID="{9733B14D-1BC7-4711-86C9-D2886DB2E5E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0C7D681-2E84-AF42-9D49-0F3E0279E5EA}" type="pres">
      <dgm:prSet presAssocID="{7E67945D-2DC9-4A5C-93BA-CCC4D7369455}" presName="spacer" presStyleCnt="0"/>
      <dgm:spPr/>
    </dgm:pt>
    <dgm:pt modelId="{B6F6B6C0-22AC-314B-B81C-6C8DF333568B}" type="pres">
      <dgm:prSet presAssocID="{E8599D9D-EA6C-45B5-8131-EC104B7BE3A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C521429-0563-1F49-AFB0-89B011892731}" type="presOf" srcId="{E8599D9D-EA6C-45B5-8131-EC104B7BE3AD}" destId="{B6F6B6C0-22AC-314B-B81C-6C8DF333568B}" srcOrd="0" destOrd="0" presId="urn:microsoft.com/office/officeart/2005/8/layout/vList2"/>
    <dgm:cxn modelId="{7FED0630-D9D4-034F-9C7B-473077D815FE}" type="presOf" srcId="{F09F42BF-8274-4DCA-969C-B5399D0CCA62}" destId="{C30D13C4-A1C1-8B43-B62D-5A0E7BABF33C}" srcOrd="0" destOrd="0" presId="urn:microsoft.com/office/officeart/2005/8/layout/vList2"/>
    <dgm:cxn modelId="{C65BD938-4C18-49DB-83D6-D5DD84880C00}" srcId="{B6E9FFD7-BAA3-4AAD-967E-6FEACD928B30}" destId="{F09F42BF-8274-4DCA-969C-B5399D0CCA62}" srcOrd="0" destOrd="0" parTransId="{821FACCF-2D19-4BEF-A902-C4006F28CBF9}" sibTransId="{9933636C-8F9C-47F9-BE8A-B0520EBB5B43}"/>
    <dgm:cxn modelId="{71E1B380-3258-D54C-A6BF-76871D488FF6}" type="presOf" srcId="{442850C4-B588-47EE-A79B-90DF23A2DEC8}" destId="{FEB215BD-020F-D944-90FB-E5E6F7AF284B}" srcOrd="0" destOrd="0" presId="urn:microsoft.com/office/officeart/2005/8/layout/vList2"/>
    <dgm:cxn modelId="{581266AA-96B0-4B2C-9685-AE72AE19335B}" srcId="{B6E9FFD7-BAA3-4AAD-967E-6FEACD928B30}" destId="{E8599D9D-EA6C-45B5-8131-EC104B7BE3AD}" srcOrd="3" destOrd="0" parTransId="{74658559-D96A-440B-9E93-564B57026926}" sibTransId="{E95DBD8E-E00D-4996-AD4D-91BEAA70C62E}"/>
    <dgm:cxn modelId="{9949A1B8-3DC3-D44E-AE3C-BF9565394F03}" type="presOf" srcId="{B6E9FFD7-BAA3-4AAD-967E-6FEACD928B30}" destId="{2931291D-3619-6E4C-A04A-763A7E14F84F}" srcOrd="0" destOrd="0" presId="urn:microsoft.com/office/officeart/2005/8/layout/vList2"/>
    <dgm:cxn modelId="{F0BF50BE-7118-5745-BDD0-B7B4085F1359}" type="presOf" srcId="{9733B14D-1BC7-4711-86C9-D2886DB2E5E2}" destId="{DA762869-6E23-9641-9BED-3DC5A1004954}" srcOrd="0" destOrd="0" presId="urn:microsoft.com/office/officeart/2005/8/layout/vList2"/>
    <dgm:cxn modelId="{F84D46C3-132F-4337-B979-F1E402142427}" srcId="{B6E9FFD7-BAA3-4AAD-967E-6FEACD928B30}" destId="{442850C4-B588-47EE-A79B-90DF23A2DEC8}" srcOrd="1" destOrd="0" parTransId="{344A91E7-6282-4F46-8BC9-B3D830162594}" sibTransId="{E65AA217-4478-4C3D-B0BC-007547D86A13}"/>
    <dgm:cxn modelId="{937F4EE3-8993-485F-B366-F7830001668B}" srcId="{B6E9FFD7-BAA3-4AAD-967E-6FEACD928B30}" destId="{9733B14D-1BC7-4711-86C9-D2886DB2E5E2}" srcOrd="2" destOrd="0" parTransId="{C47065BF-2C59-4D70-8E8D-968F647A7426}" sibTransId="{7E67945D-2DC9-4A5C-93BA-CCC4D7369455}"/>
    <dgm:cxn modelId="{BF1B9572-FED7-5146-B370-A051EDEAE61C}" type="presParOf" srcId="{2931291D-3619-6E4C-A04A-763A7E14F84F}" destId="{C30D13C4-A1C1-8B43-B62D-5A0E7BABF33C}" srcOrd="0" destOrd="0" presId="urn:microsoft.com/office/officeart/2005/8/layout/vList2"/>
    <dgm:cxn modelId="{CE92F4FC-9BCC-8D40-A703-B5422243D43D}" type="presParOf" srcId="{2931291D-3619-6E4C-A04A-763A7E14F84F}" destId="{3BC1A3E1-5ED2-1C41-A0F6-1A2D59D085FE}" srcOrd="1" destOrd="0" presId="urn:microsoft.com/office/officeart/2005/8/layout/vList2"/>
    <dgm:cxn modelId="{6F828A1F-474A-5243-A5D4-D9D6BBE59B51}" type="presParOf" srcId="{2931291D-3619-6E4C-A04A-763A7E14F84F}" destId="{FEB215BD-020F-D944-90FB-E5E6F7AF284B}" srcOrd="2" destOrd="0" presId="urn:microsoft.com/office/officeart/2005/8/layout/vList2"/>
    <dgm:cxn modelId="{D70D418E-08EC-EA40-B4B4-5945362750F0}" type="presParOf" srcId="{2931291D-3619-6E4C-A04A-763A7E14F84F}" destId="{FD125555-E791-5945-A652-6BBC5E4BB06C}" srcOrd="3" destOrd="0" presId="urn:microsoft.com/office/officeart/2005/8/layout/vList2"/>
    <dgm:cxn modelId="{B25DD592-DA3B-0145-988F-6E696F9D5152}" type="presParOf" srcId="{2931291D-3619-6E4C-A04A-763A7E14F84F}" destId="{DA762869-6E23-9641-9BED-3DC5A1004954}" srcOrd="4" destOrd="0" presId="urn:microsoft.com/office/officeart/2005/8/layout/vList2"/>
    <dgm:cxn modelId="{8552BABA-6124-AF46-81E8-C3D3F8D8F8C0}" type="presParOf" srcId="{2931291D-3619-6E4C-A04A-763A7E14F84F}" destId="{B0C7D681-2E84-AF42-9D49-0F3E0279E5EA}" srcOrd="5" destOrd="0" presId="urn:microsoft.com/office/officeart/2005/8/layout/vList2"/>
    <dgm:cxn modelId="{66C426D8-F16A-404A-818F-CFDE928066F5}" type="presParOf" srcId="{2931291D-3619-6E4C-A04A-763A7E14F84F}" destId="{B6F6B6C0-22AC-314B-B81C-6C8DF333568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6E9FFD7-BAA3-4AAD-967E-6FEACD928B3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09F42BF-8274-4DCA-969C-B5399D0CCA62}">
      <dgm:prSet/>
      <dgm:spPr/>
      <dgm:t>
        <a:bodyPr/>
        <a:lstStyle/>
        <a:p>
          <a:r>
            <a:rPr lang="en-US" b="1" u="sng" dirty="0" err="1"/>
            <a:t>复习主定理和替换法</a:t>
          </a:r>
          <a:endParaRPr lang="en-US" dirty="0"/>
        </a:p>
      </dgm:t>
    </dgm:pt>
    <dgm:pt modelId="{821FACCF-2D19-4BEF-A902-C4006F28CBF9}" cxnId="{C65BD938-4C18-49DB-83D6-D5DD84880C00}" type="parTrans">
      <dgm:prSet/>
      <dgm:spPr/>
      <dgm:t>
        <a:bodyPr/>
        <a:lstStyle/>
        <a:p>
          <a:endParaRPr lang="en-US"/>
        </a:p>
      </dgm:t>
    </dgm:pt>
    <dgm:pt modelId="{9933636C-8F9C-47F9-BE8A-B0520EBB5B43}" cxnId="{C65BD938-4C18-49DB-83D6-D5DD84880C00}" type="sibTrans">
      <dgm:prSet/>
      <dgm:spPr/>
      <dgm:t>
        <a:bodyPr/>
        <a:lstStyle/>
        <a:p>
          <a:endParaRPr lang="en-US"/>
        </a:p>
      </dgm:t>
    </dgm:pt>
    <dgm:pt modelId="{442850C4-B588-47EE-A79B-90DF23A2DEC8}">
      <dgm:prSet/>
      <dgm:spPr/>
      <dgm:t>
        <a:bodyPr/>
        <a:lstStyle/>
        <a:p>
          <a:r>
            <a:rPr lang="en-US" dirty="0"/>
            <a:t>k-SELECT problem</a:t>
          </a:r>
        </a:p>
      </dgm:t>
    </dgm:pt>
    <dgm:pt modelId="{344A91E7-6282-4F46-8BC9-B3D830162594}" cxnId="{F84D46C3-132F-4337-B979-F1E402142427}" type="parTrans">
      <dgm:prSet/>
      <dgm:spPr/>
      <dgm:t>
        <a:bodyPr/>
        <a:lstStyle/>
        <a:p>
          <a:endParaRPr lang="en-US"/>
        </a:p>
      </dgm:t>
    </dgm:pt>
    <dgm:pt modelId="{E65AA217-4478-4C3D-B0BC-007547D86A13}" cxnId="{F84D46C3-132F-4337-B979-F1E402142427}" type="sibTrans">
      <dgm:prSet/>
      <dgm:spPr/>
      <dgm:t>
        <a:bodyPr/>
        <a:lstStyle/>
        <a:p>
          <a:endParaRPr lang="en-US"/>
        </a:p>
      </dgm:t>
    </dgm:pt>
    <dgm:pt modelId="{9733B14D-1BC7-4711-86C9-D2886DB2E5E2}">
      <dgm:prSet/>
      <dgm:spPr/>
      <dgm:t>
        <a:bodyPr/>
        <a:lstStyle/>
        <a:p>
          <a:r>
            <a:rPr lang="en-US" dirty="0"/>
            <a:t>D-Select (</a:t>
          </a:r>
          <a:r>
            <a:rPr lang="en-US" dirty="0" err="1"/>
            <a:t>确定性算法</a:t>
          </a:r>
          <a:r>
            <a:rPr lang="en-US" dirty="0"/>
            <a:t>)</a:t>
          </a:r>
        </a:p>
      </dgm:t>
    </dgm:pt>
    <dgm:pt modelId="{C47065BF-2C59-4D70-8E8D-968F647A7426}" cxnId="{937F4EE3-8993-485F-B366-F7830001668B}" type="parTrans">
      <dgm:prSet/>
      <dgm:spPr/>
      <dgm:t>
        <a:bodyPr/>
        <a:lstStyle/>
        <a:p>
          <a:endParaRPr lang="en-US"/>
        </a:p>
      </dgm:t>
    </dgm:pt>
    <dgm:pt modelId="{7E67945D-2DC9-4A5C-93BA-CCC4D7369455}" cxnId="{937F4EE3-8993-485F-B366-F7830001668B}" type="sibTrans">
      <dgm:prSet/>
      <dgm:spPr/>
      <dgm:t>
        <a:bodyPr/>
        <a:lstStyle/>
        <a:p>
          <a:endParaRPr lang="en-US"/>
        </a:p>
      </dgm:t>
    </dgm:pt>
    <dgm:pt modelId="{E8599D9D-EA6C-45B5-8131-EC104B7BE3AD}">
      <dgm:prSet/>
      <dgm:spPr/>
      <dgm:t>
        <a:bodyPr/>
        <a:lstStyle/>
        <a:p>
          <a:r>
            <a:rPr lang="en-US" altLang="zh-CN" dirty="0"/>
            <a:t>R-Select,</a:t>
          </a:r>
          <a:r>
            <a:rPr lang="zh-CN" altLang="en-US" dirty="0"/>
            <a:t> </a:t>
          </a:r>
          <a:r>
            <a:rPr lang="en-US" dirty="0" err="1"/>
            <a:t>Q</a:t>
          </a:r>
          <a:r>
            <a:rPr lang="en-US" altLang="zh-CN" dirty="0" err="1"/>
            <a:t>uickSort</a:t>
          </a:r>
          <a:r>
            <a:rPr lang="en-US" altLang="zh-CN" dirty="0"/>
            <a:t>(</a:t>
          </a:r>
          <a:r>
            <a:rPr lang="en-US" dirty="0" err="1"/>
            <a:t>随机算法</a:t>
          </a:r>
          <a:r>
            <a:rPr lang="en-US" altLang="zh-CN" dirty="0"/>
            <a:t>)</a:t>
          </a:r>
          <a:endParaRPr lang="en-US" dirty="0"/>
        </a:p>
      </dgm:t>
    </dgm:pt>
    <dgm:pt modelId="{E95DBD8E-E00D-4996-AD4D-91BEAA70C62E}" cxnId="{581266AA-96B0-4B2C-9685-AE72AE19335B}" type="sibTrans">
      <dgm:prSet/>
      <dgm:spPr/>
      <dgm:t>
        <a:bodyPr/>
        <a:lstStyle/>
        <a:p>
          <a:endParaRPr lang="en-US"/>
        </a:p>
      </dgm:t>
    </dgm:pt>
    <dgm:pt modelId="{74658559-D96A-440B-9E93-564B57026926}" cxnId="{581266AA-96B0-4B2C-9685-AE72AE19335B}" type="parTrans">
      <dgm:prSet/>
      <dgm:spPr/>
      <dgm:t>
        <a:bodyPr/>
        <a:lstStyle/>
        <a:p>
          <a:endParaRPr lang="en-US"/>
        </a:p>
      </dgm:t>
    </dgm:pt>
    <dgm:pt modelId="{2931291D-3619-6E4C-A04A-763A7E14F84F}" type="pres">
      <dgm:prSet presAssocID="{B6E9FFD7-BAA3-4AAD-967E-6FEACD928B30}" presName="linear" presStyleCnt="0">
        <dgm:presLayoutVars>
          <dgm:animLvl val="lvl"/>
          <dgm:resizeHandles val="exact"/>
        </dgm:presLayoutVars>
      </dgm:prSet>
      <dgm:spPr/>
    </dgm:pt>
    <dgm:pt modelId="{C30D13C4-A1C1-8B43-B62D-5A0E7BABF33C}" type="pres">
      <dgm:prSet presAssocID="{F09F42BF-8274-4DCA-969C-B5399D0CCA6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BC1A3E1-5ED2-1C41-A0F6-1A2D59D085FE}" type="pres">
      <dgm:prSet presAssocID="{9933636C-8F9C-47F9-BE8A-B0520EBB5B43}" presName="spacer" presStyleCnt="0"/>
      <dgm:spPr/>
    </dgm:pt>
    <dgm:pt modelId="{FEB215BD-020F-D944-90FB-E5E6F7AF284B}" type="pres">
      <dgm:prSet presAssocID="{442850C4-B588-47EE-A79B-90DF23A2DEC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D125555-E791-5945-A652-6BBC5E4BB06C}" type="pres">
      <dgm:prSet presAssocID="{E65AA217-4478-4C3D-B0BC-007547D86A13}" presName="spacer" presStyleCnt="0"/>
      <dgm:spPr/>
    </dgm:pt>
    <dgm:pt modelId="{DA762869-6E23-9641-9BED-3DC5A1004954}" type="pres">
      <dgm:prSet presAssocID="{9733B14D-1BC7-4711-86C9-D2886DB2E5E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0C7D681-2E84-AF42-9D49-0F3E0279E5EA}" type="pres">
      <dgm:prSet presAssocID="{7E67945D-2DC9-4A5C-93BA-CCC4D7369455}" presName="spacer" presStyleCnt="0"/>
      <dgm:spPr/>
    </dgm:pt>
    <dgm:pt modelId="{B6F6B6C0-22AC-314B-B81C-6C8DF333568B}" type="pres">
      <dgm:prSet presAssocID="{E8599D9D-EA6C-45B5-8131-EC104B7BE3A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C521429-0563-1F49-AFB0-89B011892731}" type="presOf" srcId="{E8599D9D-EA6C-45B5-8131-EC104B7BE3AD}" destId="{B6F6B6C0-22AC-314B-B81C-6C8DF333568B}" srcOrd="0" destOrd="0" presId="urn:microsoft.com/office/officeart/2005/8/layout/vList2"/>
    <dgm:cxn modelId="{7FED0630-D9D4-034F-9C7B-473077D815FE}" type="presOf" srcId="{F09F42BF-8274-4DCA-969C-B5399D0CCA62}" destId="{C30D13C4-A1C1-8B43-B62D-5A0E7BABF33C}" srcOrd="0" destOrd="0" presId="urn:microsoft.com/office/officeart/2005/8/layout/vList2"/>
    <dgm:cxn modelId="{C65BD938-4C18-49DB-83D6-D5DD84880C00}" srcId="{B6E9FFD7-BAA3-4AAD-967E-6FEACD928B30}" destId="{F09F42BF-8274-4DCA-969C-B5399D0CCA62}" srcOrd="0" destOrd="0" parTransId="{821FACCF-2D19-4BEF-A902-C4006F28CBF9}" sibTransId="{9933636C-8F9C-47F9-BE8A-B0520EBB5B43}"/>
    <dgm:cxn modelId="{71E1B380-3258-D54C-A6BF-76871D488FF6}" type="presOf" srcId="{442850C4-B588-47EE-A79B-90DF23A2DEC8}" destId="{FEB215BD-020F-D944-90FB-E5E6F7AF284B}" srcOrd="0" destOrd="0" presId="urn:microsoft.com/office/officeart/2005/8/layout/vList2"/>
    <dgm:cxn modelId="{581266AA-96B0-4B2C-9685-AE72AE19335B}" srcId="{B6E9FFD7-BAA3-4AAD-967E-6FEACD928B30}" destId="{E8599D9D-EA6C-45B5-8131-EC104B7BE3AD}" srcOrd="3" destOrd="0" parTransId="{74658559-D96A-440B-9E93-564B57026926}" sibTransId="{E95DBD8E-E00D-4996-AD4D-91BEAA70C62E}"/>
    <dgm:cxn modelId="{9949A1B8-3DC3-D44E-AE3C-BF9565394F03}" type="presOf" srcId="{B6E9FFD7-BAA3-4AAD-967E-6FEACD928B30}" destId="{2931291D-3619-6E4C-A04A-763A7E14F84F}" srcOrd="0" destOrd="0" presId="urn:microsoft.com/office/officeart/2005/8/layout/vList2"/>
    <dgm:cxn modelId="{F0BF50BE-7118-5745-BDD0-B7B4085F1359}" type="presOf" srcId="{9733B14D-1BC7-4711-86C9-D2886DB2E5E2}" destId="{DA762869-6E23-9641-9BED-3DC5A1004954}" srcOrd="0" destOrd="0" presId="urn:microsoft.com/office/officeart/2005/8/layout/vList2"/>
    <dgm:cxn modelId="{F84D46C3-132F-4337-B979-F1E402142427}" srcId="{B6E9FFD7-BAA3-4AAD-967E-6FEACD928B30}" destId="{442850C4-B588-47EE-A79B-90DF23A2DEC8}" srcOrd="1" destOrd="0" parTransId="{344A91E7-6282-4F46-8BC9-B3D830162594}" sibTransId="{E65AA217-4478-4C3D-B0BC-007547D86A13}"/>
    <dgm:cxn modelId="{937F4EE3-8993-485F-B366-F7830001668B}" srcId="{B6E9FFD7-BAA3-4AAD-967E-6FEACD928B30}" destId="{9733B14D-1BC7-4711-86C9-D2886DB2E5E2}" srcOrd="2" destOrd="0" parTransId="{C47065BF-2C59-4D70-8E8D-968F647A7426}" sibTransId="{7E67945D-2DC9-4A5C-93BA-CCC4D7369455}"/>
    <dgm:cxn modelId="{BF1B9572-FED7-5146-B370-A051EDEAE61C}" type="presParOf" srcId="{2931291D-3619-6E4C-A04A-763A7E14F84F}" destId="{C30D13C4-A1C1-8B43-B62D-5A0E7BABF33C}" srcOrd="0" destOrd="0" presId="urn:microsoft.com/office/officeart/2005/8/layout/vList2"/>
    <dgm:cxn modelId="{CE92F4FC-9BCC-8D40-A703-B5422243D43D}" type="presParOf" srcId="{2931291D-3619-6E4C-A04A-763A7E14F84F}" destId="{3BC1A3E1-5ED2-1C41-A0F6-1A2D59D085FE}" srcOrd="1" destOrd="0" presId="urn:microsoft.com/office/officeart/2005/8/layout/vList2"/>
    <dgm:cxn modelId="{6F828A1F-474A-5243-A5D4-D9D6BBE59B51}" type="presParOf" srcId="{2931291D-3619-6E4C-A04A-763A7E14F84F}" destId="{FEB215BD-020F-D944-90FB-E5E6F7AF284B}" srcOrd="2" destOrd="0" presId="urn:microsoft.com/office/officeart/2005/8/layout/vList2"/>
    <dgm:cxn modelId="{D70D418E-08EC-EA40-B4B4-5945362750F0}" type="presParOf" srcId="{2931291D-3619-6E4C-A04A-763A7E14F84F}" destId="{FD125555-E791-5945-A652-6BBC5E4BB06C}" srcOrd="3" destOrd="0" presId="urn:microsoft.com/office/officeart/2005/8/layout/vList2"/>
    <dgm:cxn modelId="{B25DD592-DA3B-0145-988F-6E696F9D5152}" type="presParOf" srcId="{2931291D-3619-6E4C-A04A-763A7E14F84F}" destId="{DA762869-6E23-9641-9BED-3DC5A1004954}" srcOrd="4" destOrd="0" presId="urn:microsoft.com/office/officeart/2005/8/layout/vList2"/>
    <dgm:cxn modelId="{8552BABA-6124-AF46-81E8-C3D3F8D8F8C0}" type="presParOf" srcId="{2931291D-3619-6E4C-A04A-763A7E14F84F}" destId="{B0C7D681-2E84-AF42-9D49-0F3E0279E5EA}" srcOrd="5" destOrd="0" presId="urn:microsoft.com/office/officeart/2005/8/layout/vList2"/>
    <dgm:cxn modelId="{66C426D8-F16A-404A-818F-CFDE928066F5}" type="presParOf" srcId="{2931291D-3619-6E4C-A04A-763A7E14F84F}" destId="{B6F6B6C0-22AC-314B-B81C-6C8DF333568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726201" cy="5878809"/>
        <a:chOff x="0" y="0"/>
        <a:chExt cx="4726201" cy="5878809"/>
      </a:xfrm>
    </dsp:grpSpPr>
    <dsp:sp modelId="{C30D13C4-A1C1-8B43-B62D-5A0E7BABF33C}">
      <dsp:nvSpPr>
        <dsp:cNvPr id="3" name="圆角矩形 2"/>
        <dsp:cNvSpPr/>
      </dsp:nvSpPr>
      <dsp:spPr bwMode="white">
        <a:xfrm>
          <a:off x="0" y="9194"/>
          <a:ext cx="4726201" cy="139382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25730" tIns="125730" rIns="125730" bIns="125730" anchor="ctr"/>
        <a:lstStyle>
          <a:lvl1pPr algn="l">
            <a:defRPr sz="3300"/>
          </a:lvl1pPr>
          <a:lvl2pPr marL="228600" indent="-228600" algn="l">
            <a:defRPr sz="2500"/>
          </a:lvl2pPr>
          <a:lvl3pPr marL="457200" indent="-228600" algn="l">
            <a:defRPr sz="2500"/>
          </a:lvl3pPr>
          <a:lvl4pPr marL="685800" indent="-228600" algn="l">
            <a:defRPr sz="2500"/>
          </a:lvl4pPr>
          <a:lvl5pPr marL="914400" indent="-228600" algn="l">
            <a:defRPr sz="2500"/>
          </a:lvl5pPr>
          <a:lvl6pPr marL="1143000" indent="-228600" algn="l">
            <a:defRPr sz="2500"/>
          </a:lvl6pPr>
          <a:lvl7pPr marL="1371600" indent="-228600" algn="l">
            <a:defRPr sz="2500"/>
          </a:lvl7pPr>
          <a:lvl8pPr marL="1600200" indent="-228600" algn="l">
            <a:defRPr sz="2500"/>
          </a:lvl8pPr>
          <a:lvl9pPr marL="1828800" indent="-228600" algn="l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u="sng" dirty="0" err="1"/>
            <a:t>复习主定理和替换法</a:t>
          </a:r>
          <a:endParaRPr lang="en-US" dirty="0"/>
        </a:p>
      </dsp:txBody>
      <dsp:txXfrm>
        <a:off x="0" y="9194"/>
        <a:ext cx="4726201" cy="1393825"/>
      </dsp:txXfrm>
    </dsp:sp>
    <dsp:sp modelId="{FEB215BD-020F-D944-90FB-E5E6F7AF284B}">
      <dsp:nvSpPr>
        <dsp:cNvPr id="4" name="圆角矩形 3"/>
        <dsp:cNvSpPr/>
      </dsp:nvSpPr>
      <dsp:spPr bwMode="white">
        <a:xfrm>
          <a:off x="0" y="1498060"/>
          <a:ext cx="4726201" cy="139382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1080000"/>
            <a:satOff val="131"/>
            <a:lumOff val="131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25730" tIns="125730" rIns="125730" bIns="125730" anchor="ctr"/>
        <a:lstStyle>
          <a:lvl1pPr algn="l">
            <a:defRPr sz="3300"/>
          </a:lvl1pPr>
          <a:lvl2pPr marL="228600" indent="-228600" algn="l">
            <a:defRPr sz="2500"/>
          </a:lvl2pPr>
          <a:lvl3pPr marL="457200" indent="-228600" algn="l">
            <a:defRPr sz="2500"/>
          </a:lvl3pPr>
          <a:lvl4pPr marL="685800" indent="-228600" algn="l">
            <a:defRPr sz="2500"/>
          </a:lvl4pPr>
          <a:lvl5pPr marL="914400" indent="-228600" algn="l">
            <a:defRPr sz="2500"/>
          </a:lvl5pPr>
          <a:lvl6pPr marL="1143000" indent="-228600" algn="l">
            <a:defRPr sz="2500"/>
          </a:lvl6pPr>
          <a:lvl7pPr marL="1371600" indent="-228600" algn="l">
            <a:defRPr sz="2500"/>
          </a:lvl7pPr>
          <a:lvl8pPr marL="1600200" indent="-228600" algn="l">
            <a:defRPr sz="2500"/>
          </a:lvl8pPr>
          <a:lvl9pPr marL="1828800" indent="-228600" algn="l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k-SELECT problem</a:t>
          </a:r>
        </a:p>
      </dsp:txBody>
      <dsp:txXfrm>
        <a:off x="0" y="1498060"/>
        <a:ext cx="4726201" cy="1393825"/>
      </dsp:txXfrm>
    </dsp:sp>
    <dsp:sp modelId="{DA762869-6E23-9641-9BED-3DC5A1004954}">
      <dsp:nvSpPr>
        <dsp:cNvPr id="5" name="圆角矩形 4"/>
        <dsp:cNvSpPr/>
      </dsp:nvSpPr>
      <dsp:spPr bwMode="white">
        <a:xfrm>
          <a:off x="0" y="2986925"/>
          <a:ext cx="4726201" cy="139382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2160000"/>
            <a:satOff val="261"/>
            <a:lumOff val="261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25730" tIns="125730" rIns="125730" bIns="125730" anchor="ctr"/>
        <a:lstStyle>
          <a:lvl1pPr algn="l">
            <a:defRPr sz="3300"/>
          </a:lvl1pPr>
          <a:lvl2pPr marL="228600" indent="-228600" algn="l">
            <a:defRPr sz="2500"/>
          </a:lvl2pPr>
          <a:lvl3pPr marL="457200" indent="-228600" algn="l">
            <a:defRPr sz="2500"/>
          </a:lvl3pPr>
          <a:lvl4pPr marL="685800" indent="-228600" algn="l">
            <a:defRPr sz="2500"/>
          </a:lvl4pPr>
          <a:lvl5pPr marL="914400" indent="-228600" algn="l">
            <a:defRPr sz="2500"/>
          </a:lvl5pPr>
          <a:lvl6pPr marL="1143000" indent="-228600" algn="l">
            <a:defRPr sz="2500"/>
          </a:lvl6pPr>
          <a:lvl7pPr marL="1371600" indent="-228600" algn="l">
            <a:defRPr sz="2500"/>
          </a:lvl7pPr>
          <a:lvl8pPr marL="1600200" indent="-228600" algn="l">
            <a:defRPr sz="2500"/>
          </a:lvl8pPr>
          <a:lvl9pPr marL="1828800" indent="-228600" algn="l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D-Select (</a:t>
          </a:r>
          <a:r>
            <a:rPr lang="en-US" dirty="0" err="1"/>
            <a:t>确定性算法</a:t>
          </a:r>
          <a:r>
            <a:rPr lang="en-US" dirty="0"/>
            <a:t>)</a:t>
          </a:r>
        </a:p>
      </dsp:txBody>
      <dsp:txXfrm>
        <a:off x="0" y="2986925"/>
        <a:ext cx="4726201" cy="1393825"/>
      </dsp:txXfrm>
    </dsp:sp>
    <dsp:sp modelId="{B6F6B6C0-22AC-314B-B81C-6C8DF333568B}">
      <dsp:nvSpPr>
        <dsp:cNvPr id="6" name="圆角矩形 5"/>
        <dsp:cNvSpPr/>
      </dsp:nvSpPr>
      <dsp:spPr bwMode="white">
        <a:xfrm>
          <a:off x="0" y="4475790"/>
          <a:ext cx="4726201" cy="139382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3240000"/>
            <a:satOff val="392"/>
            <a:lumOff val="392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25730" tIns="125730" rIns="125730" bIns="125730" anchor="ctr"/>
        <a:lstStyle>
          <a:lvl1pPr algn="l">
            <a:defRPr sz="3300"/>
          </a:lvl1pPr>
          <a:lvl2pPr marL="228600" indent="-228600" algn="l">
            <a:defRPr sz="2500"/>
          </a:lvl2pPr>
          <a:lvl3pPr marL="457200" indent="-228600" algn="l">
            <a:defRPr sz="2500"/>
          </a:lvl3pPr>
          <a:lvl4pPr marL="685800" indent="-228600" algn="l">
            <a:defRPr sz="2500"/>
          </a:lvl4pPr>
          <a:lvl5pPr marL="914400" indent="-228600" algn="l">
            <a:defRPr sz="2500"/>
          </a:lvl5pPr>
          <a:lvl6pPr marL="1143000" indent="-228600" algn="l">
            <a:defRPr sz="2500"/>
          </a:lvl6pPr>
          <a:lvl7pPr marL="1371600" indent="-228600" algn="l">
            <a:defRPr sz="2500"/>
          </a:lvl7pPr>
          <a:lvl8pPr marL="1600200" indent="-228600" algn="l">
            <a:defRPr sz="2500"/>
          </a:lvl8pPr>
          <a:lvl9pPr marL="1828800" indent="-228600" algn="l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/>
            <a:t>R-Select,</a:t>
          </a:r>
          <a:r>
            <a:rPr lang="zh-CN" altLang="en-US" dirty="0"/>
            <a:t> </a:t>
          </a:r>
          <a:r>
            <a:rPr lang="en-US" dirty="0" err="1"/>
            <a:t>Q</a:t>
          </a:r>
          <a:r>
            <a:rPr lang="en-US" altLang="zh-CN" dirty="0" err="1"/>
            <a:t>uickSort</a:t>
          </a:r>
          <a:r>
            <a:rPr lang="en-US" altLang="zh-CN" dirty="0"/>
            <a:t>(</a:t>
          </a:r>
          <a:r>
            <a:rPr lang="en-US" dirty="0" err="1"/>
            <a:t>随机算法</a:t>
          </a:r>
          <a:r>
            <a:rPr lang="en-US" altLang="zh-CN" dirty="0"/>
            <a:t>)</a:t>
          </a:r>
          <a:endParaRPr lang="en-US" dirty="0"/>
        </a:p>
      </dsp:txBody>
      <dsp:txXfrm>
        <a:off x="0" y="4475790"/>
        <a:ext cx="4726201" cy="13938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726201" cy="5878809"/>
        <a:chOff x="0" y="0"/>
        <a:chExt cx="4726201" cy="5878809"/>
      </a:xfrm>
    </dsp:grpSpPr>
    <dsp:sp modelId="{C30D13C4-A1C1-8B43-B62D-5A0E7BABF33C}">
      <dsp:nvSpPr>
        <dsp:cNvPr id="3" name="圆角矩形 2"/>
        <dsp:cNvSpPr/>
      </dsp:nvSpPr>
      <dsp:spPr bwMode="white">
        <a:xfrm>
          <a:off x="0" y="9194"/>
          <a:ext cx="4726201" cy="139382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25730" tIns="125730" rIns="125730" bIns="125730" anchor="ctr"/>
        <a:lstStyle>
          <a:lvl1pPr algn="l">
            <a:defRPr sz="3300"/>
          </a:lvl1pPr>
          <a:lvl2pPr marL="228600" indent="-228600" algn="l">
            <a:defRPr sz="2500"/>
          </a:lvl2pPr>
          <a:lvl3pPr marL="457200" indent="-228600" algn="l">
            <a:defRPr sz="2500"/>
          </a:lvl3pPr>
          <a:lvl4pPr marL="685800" indent="-228600" algn="l">
            <a:defRPr sz="2500"/>
          </a:lvl4pPr>
          <a:lvl5pPr marL="914400" indent="-228600" algn="l">
            <a:defRPr sz="2500"/>
          </a:lvl5pPr>
          <a:lvl6pPr marL="1143000" indent="-228600" algn="l">
            <a:defRPr sz="2500"/>
          </a:lvl6pPr>
          <a:lvl7pPr marL="1371600" indent="-228600" algn="l">
            <a:defRPr sz="2500"/>
          </a:lvl7pPr>
          <a:lvl8pPr marL="1600200" indent="-228600" algn="l">
            <a:defRPr sz="2500"/>
          </a:lvl8pPr>
          <a:lvl9pPr marL="1828800" indent="-228600" algn="l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u="sng" dirty="0" err="1"/>
            <a:t>复习主定理和替换法</a:t>
          </a:r>
          <a:endParaRPr lang="en-US" dirty="0"/>
        </a:p>
      </dsp:txBody>
      <dsp:txXfrm>
        <a:off x="0" y="9194"/>
        <a:ext cx="4726201" cy="1393825"/>
      </dsp:txXfrm>
    </dsp:sp>
    <dsp:sp modelId="{FEB215BD-020F-D944-90FB-E5E6F7AF284B}">
      <dsp:nvSpPr>
        <dsp:cNvPr id="4" name="圆角矩形 3"/>
        <dsp:cNvSpPr/>
      </dsp:nvSpPr>
      <dsp:spPr bwMode="white">
        <a:xfrm>
          <a:off x="0" y="1498060"/>
          <a:ext cx="4726201" cy="139382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2119999"/>
            <a:satOff val="3660"/>
            <a:lumOff val="-13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25730" tIns="125730" rIns="125730" bIns="125730" anchor="ctr"/>
        <a:lstStyle>
          <a:lvl1pPr algn="l">
            <a:defRPr sz="3300"/>
          </a:lvl1pPr>
          <a:lvl2pPr marL="228600" indent="-228600" algn="l">
            <a:defRPr sz="2500"/>
          </a:lvl2pPr>
          <a:lvl3pPr marL="457200" indent="-228600" algn="l">
            <a:defRPr sz="2500"/>
          </a:lvl3pPr>
          <a:lvl4pPr marL="685800" indent="-228600" algn="l">
            <a:defRPr sz="2500"/>
          </a:lvl4pPr>
          <a:lvl5pPr marL="914400" indent="-228600" algn="l">
            <a:defRPr sz="2500"/>
          </a:lvl5pPr>
          <a:lvl6pPr marL="1143000" indent="-228600" algn="l">
            <a:defRPr sz="2500"/>
          </a:lvl6pPr>
          <a:lvl7pPr marL="1371600" indent="-228600" algn="l">
            <a:defRPr sz="2500"/>
          </a:lvl7pPr>
          <a:lvl8pPr marL="1600200" indent="-228600" algn="l">
            <a:defRPr sz="2500"/>
          </a:lvl8pPr>
          <a:lvl9pPr marL="1828800" indent="-228600" algn="l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k-SELECT problem</a:t>
          </a:r>
        </a:p>
      </dsp:txBody>
      <dsp:txXfrm>
        <a:off x="0" y="1498060"/>
        <a:ext cx="4726201" cy="1393825"/>
      </dsp:txXfrm>
    </dsp:sp>
    <dsp:sp modelId="{DA762869-6E23-9641-9BED-3DC5A1004954}">
      <dsp:nvSpPr>
        <dsp:cNvPr id="5" name="圆角矩形 4"/>
        <dsp:cNvSpPr/>
      </dsp:nvSpPr>
      <dsp:spPr bwMode="white">
        <a:xfrm>
          <a:off x="0" y="2986925"/>
          <a:ext cx="4726201" cy="139382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4239999"/>
            <a:satOff val="7320"/>
            <a:lumOff val="-26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25730" tIns="125730" rIns="125730" bIns="125730" anchor="ctr"/>
        <a:lstStyle>
          <a:lvl1pPr algn="l">
            <a:defRPr sz="3300"/>
          </a:lvl1pPr>
          <a:lvl2pPr marL="228600" indent="-228600" algn="l">
            <a:defRPr sz="2500"/>
          </a:lvl2pPr>
          <a:lvl3pPr marL="457200" indent="-228600" algn="l">
            <a:defRPr sz="2500"/>
          </a:lvl3pPr>
          <a:lvl4pPr marL="685800" indent="-228600" algn="l">
            <a:defRPr sz="2500"/>
          </a:lvl4pPr>
          <a:lvl5pPr marL="914400" indent="-228600" algn="l">
            <a:defRPr sz="2500"/>
          </a:lvl5pPr>
          <a:lvl6pPr marL="1143000" indent="-228600" algn="l">
            <a:defRPr sz="2500"/>
          </a:lvl6pPr>
          <a:lvl7pPr marL="1371600" indent="-228600" algn="l">
            <a:defRPr sz="2500"/>
          </a:lvl7pPr>
          <a:lvl8pPr marL="1600200" indent="-228600" algn="l">
            <a:defRPr sz="2500"/>
          </a:lvl8pPr>
          <a:lvl9pPr marL="1828800" indent="-228600" algn="l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D-Select (</a:t>
          </a:r>
          <a:r>
            <a:rPr lang="en-US" dirty="0" err="1"/>
            <a:t>确定性算法</a:t>
          </a:r>
          <a:r>
            <a:rPr lang="en-US" dirty="0"/>
            <a:t>)</a:t>
          </a:r>
        </a:p>
      </dsp:txBody>
      <dsp:txXfrm>
        <a:off x="0" y="2986925"/>
        <a:ext cx="4726201" cy="1393825"/>
      </dsp:txXfrm>
    </dsp:sp>
    <dsp:sp modelId="{B6F6B6C0-22AC-314B-B81C-6C8DF333568B}">
      <dsp:nvSpPr>
        <dsp:cNvPr id="6" name="圆角矩形 5"/>
        <dsp:cNvSpPr/>
      </dsp:nvSpPr>
      <dsp:spPr bwMode="white">
        <a:xfrm>
          <a:off x="0" y="4475790"/>
          <a:ext cx="4726201" cy="139382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6360000"/>
            <a:satOff val="10980"/>
            <a:lumOff val="-391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25730" tIns="125730" rIns="125730" bIns="125730" anchor="ctr"/>
        <a:lstStyle>
          <a:lvl1pPr algn="l">
            <a:defRPr sz="3300"/>
          </a:lvl1pPr>
          <a:lvl2pPr marL="228600" indent="-228600" algn="l">
            <a:defRPr sz="2500"/>
          </a:lvl2pPr>
          <a:lvl3pPr marL="457200" indent="-228600" algn="l">
            <a:defRPr sz="2500"/>
          </a:lvl3pPr>
          <a:lvl4pPr marL="685800" indent="-228600" algn="l">
            <a:defRPr sz="2500"/>
          </a:lvl4pPr>
          <a:lvl5pPr marL="914400" indent="-228600" algn="l">
            <a:defRPr sz="2500"/>
          </a:lvl5pPr>
          <a:lvl6pPr marL="1143000" indent="-228600" algn="l">
            <a:defRPr sz="2500"/>
          </a:lvl6pPr>
          <a:lvl7pPr marL="1371600" indent="-228600" algn="l">
            <a:defRPr sz="2500"/>
          </a:lvl7pPr>
          <a:lvl8pPr marL="1600200" indent="-228600" algn="l">
            <a:defRPr sz="2500"/>
          </a:lvl8pPr>
          <a:lvl9pPr marL="1828800" indent="-228600" algn="l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/>
            <a:t>R-Select,</a:t>
          </a:r>
          <a:r>
            <a:rPr lang="zh-CN" altLang="en-US" dirty="0"/>
            <a:t> </a:t>
          </a:r>
          <a:r>
            <a:rPr lang="en-US" dirty="0" err="1"/>
            <a:t>Q</a:t>
          </a:r>
          <a:r>
            <a:rPr lang="en-US" altLang="zh-CN" dirty="0" err="1"/>
            <a:t>uickSort</a:t>
          </a:r>
          <a:r>
            <a:rPr lang="en-US" altLang="zh-CN" dirty="0"/>
            <a:t>(</a:t>
          </a:r>
          <a:r>
            <a:rPr lang="en-US" dirty="0" err="1"/>
            <a:t>随机算法</a:t>
          </a:r>
          <a:r>
            <a:rPr lang="en-US" altLang="zh-CN" dirty="0"/>
            <a:t>)</a:t>
          </a:r>
          <a:endParaRPr lang="en-US" dirty="0"/>
        </a:p>
      </dsp:txBody>
      <dsp:txXfrm>
        <a:off x="0" y="4475790"/>
        <a:ext cx="4726201" cy="13938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438559" cy="5878809"/>
        <a:chOff x="0" y="0"/>
        <a:chExt cx="5438559" cy="5878809"/>
      </a:xfrm>
    </dsp:grpSpPr>
    <dsp:sp modelId="{C30D13C4-A1C1-8B43-B62D-5A0E7BABF33C}">
      <dsp:nvSpPr>
        <dsp:cNvPr id="3" name="圆角矩形 2"/>
        <dsp:cNvSpPr/>
      </dsp:nvSpPr>
      <dsp:spPr bwMode="white">
        <a:xfrm>
          <a:off x="0" y="9194"/>
          <a:ext cx="5438559" cy="139382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25730" tIns="125730" rIns="125730" bIns="125730" anchor="ctr"/>
        <a:lstStyle>
          <a:lvl1pPr algn="l">
            <a:defRPr sz="3300"/>
          </a:lvl1pPr>
          <a:lvl2pPr marL="228600" indent="-228600" algn="l">
            <a:defRPr sz="2500"/>
          </a:lvl2pPr>
          <a:lvl3pPr marL="457200" indent="-228600" algn="l">
            <a:defRPr sz="2500"/>
          </a:lvl3pPr>
          <a:lvl4pPr marL="685800" indent="-228600" algn="l">
            <a:defRPr sz="2500"/>
          </a:lvl4pPr>
          <a:lvl5pPr marL="914400" indent="-228600" algn="l">
            <a:defRPr sz="2500"/>
          </a:lvl5pPr>
          <a:lvl6pPr marL="1143000" indent="-228600" algn="l">
            <a:defRPr sz="2500"/>
          </a:lvl6pPr>
          <a:lvl7pPr marL="1371600" indent="-228600" algn="l">
            <a:defRPr sz="2500"/>
          </a:lvl7pPr>
          <a:lvl8pPr marL="1600200" indent="-228600" algn="l">
            <a:defRPr sz="2500"/>
          </a:lvl8pPr>
          <a:lvl9pPr marL="1828800" indent="-228600" algn="l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u="sng" dirty="0" err="1"/>
            <a:t>复习主定理和替换法</a:t>
          </a:r>
          <a:endParaRPr lang="en-US" dirty="0"/>
        </a:p>
      </dsp:txBody>
      <dsp:txXfrm>
        <a:off x="0" y="9194"/>
        <a:ext cx="5438559" cy="1393825"/>
      </dsp:txXfrm>
    </dsp:sp>
    <dsp:sp modelId="{FEB215BD-020F-D944-90FB-E5E6F7AF284B}">
      <dsp:nvSpPr>
        <dsp:cNvPr id="4" name="圆角矩形 3"/>
        <dsp:cNvSpPr/>
      </dsp:nvSpPr>
      <dsp:spPr bwMode="white">
        <a:xfrm>
          <a:off x="0" y="1498060"/>
          <a:ext cx="5438559" cy="139382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2119999"/>
            <a:satOff val="3660"/>
            <a:lumOff val="-13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25730" tIns="125730" rIns="125730" bIns="125730" anchor="ctr"/>
        <a:lstStyle>
          <a:lvl1pPr algn="l">
            <a:defRPr sz="3300"/>
          </a:lvl1pPr>
          <a:lvl2pPr marL="228600" indent="-228600" algn="l">
            <a:defRPr sz="2500"/>
          </a:lvl2pPr>
          <a:lvl3pPr marL="457200" indent="-228600" algn="l">
            <a:defRPr sz="2500"/>
          </a:lvl3pPr>
          <a:lvl4pPr marL="685800" indent="-228600" algn="l">
            <a:defRPr sz="2500"/>
          </a:lvl4pPr>
          <a:lvl5pPr marL="914400" indent="-228600" algn="l">
            <a:defRPr sz="2500"/>
          </a:lvl5pPr>
          <a:lvl6pPr marL="1143000" indent="-228600" algn="l">
            <a:defRPr sz="2500"/>
          </a:lvl6pPr>
          <a:lvl7pPr marL="1371600" indent="-228600" algn="l">
            <a:defRPr sz="2500"/>
          </a:lvl7pPr>
          <a:lvl8pPr marL="1600200" indent="-228600" algn="l">
            <a:defRPr sz="2500"/>
          </a:lvl8pPr>
          <a:lvl9pPr marL="1828800" indent="-228600" algn="l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k-SELECT problem</a:t>
          </a:r>
        </a:p>
      </dsp:txBody>
      <dsp:txXfrm>
        <a:off x="0" y="1498060"/>
        <a:ext cx="5438559" cy="1393825"/>
      </dsp:txXfrm>
    </dsp:sp>
    <dsp:sp modelId="{DA762869-6E23-9641-9BED-3DC5A1004954}">
      <dsp:nvSpPr>
        <dsp:cNvPr id="5" name="圆角矩形 4"/>
        <dsp:cNvSpPr/>
      </dsp:nvSpPr>
      <dsp:spPr bwMode="white">
        <a:xfrm>
          <a:off x="0" y="2986925"/>
          <a:ext cx="5438559" cy="139382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4239999"/>
            <a:satOff val="7320"/>
            <a:lumOff val="-26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25730" tIns="125730" rIns="125730" bIns="125730" anchor="ctr"/>
        <a:lstStyle>
          <a:lvl1pPr algn="l">
            <a:defRPr sz="3300"/>
          </a:lvl1pPr>
          <a:lvl2pPr marL="228600" indent="-228600" algn="l">
            <a:defRPr sz="2500"/>
          </a:lvl2pPr>
          <a:lvl3pPr marL="457200" indent="-228600" algn="l">
            <a:defRPr sz="2500"/>
          </a:lvl3pPr>
          <a:lvl4pPr marL="685800" indent="-228600" algn="l">
            <a:defRPr sz="2500"/>
          </a:lvl4pPr>
          <a:lvl5pPr marL="914400" indent="-228600" algn="l">
            <a:defRPr sz="2500"/>
          </a:lvl5pPr>
          <a:lvl6pPr marL="1143000" indent="-228600" algn="l">
            <a:defRPr sz="2500"/>
          </a:lvl6pPr>
          <a:lvl7pPr marL="1371600" indent="-228600" algn="l">
            <a:defRPr sz="2500"/>
          </a:lvl7pPr>
          <a:lvl8pPr marL="1600200" indent="-228600" algn="l">
            <a:defRPr sz="2500"/>
          </a:lvl8pPr>
          <a:lvl9pPr marL="1828800" indent="-228600" algn="l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D-Select (</a:t>
          </a:r>
          <a:r>
            <a:rPr lang="en-US" dirty="0" err="1"/>
            <a:t>确定性算法</a:t>
          </a:r>
          <a:r>
            <a:rPr lang="en-US" dirty="0"/>
            <a:t>)</a:t>
          </a:r>
        </a:p>
      </dsp:txBody>
      <dsp:txXfrm>
        <a:off x="0" y="2986925"/>
        <a:ext cx="5438559" cy="1393825"/>
      </dsp:txXfrm>
    </dsp:sp>
    <dsp:sp modelId="{B6F6B6C0-22AC-314B-B81C-6C8DF333568B}">
      <dsp:nvSpPr>
        <dsp:cNvPr id="6" name="圆角矩形 5"/>
        <dsp:cNvSpPr/>
      </dsp:nvSpPr>
      <dsp:spPr bwMode="white">
        <a:xfrm>
          <a:off x="0" y="4475790"/>
          <a:ext cx="5438559" cy="139382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6360000"/>
            <a:satOff val="10980"/>
            <a:lumOff val="-391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25730" tIns="125730" rIns="125730" bIns="125730" anchor="ctr"/>
        <a:lstStyle>
          <a:lvl1pPr algn="l">
            <a:defRPr sz="3300"/>
          </a:lvl1pPr>
          <a:lvl2pPr marL="228600" indent="-228600" algn="l">
            <a:defRPr sz="2500"/>
          </a:lvl2pPr>
          <a:lvl3pPr marL="457200" indent="-228600" algn="l">
            <a:defRPr sz="2500"/>
          </a:lvl3pPr>
          <a:lvl4pPr marL="685800" indent="-228600" algn="l">
            <a:defRPr sz="2500"/>
          </a:lvl4pPr>
          <a:lvl5pPr marL="914400" indent="-228600" algn="l">
            <a:defRPr sz="2500"/>
          </a:lvl5pPr>
          <a:lvl6pPr marL="1143000" indent="-228600" algn="l">
            <a:defRPr sz="2500"/>
          </a:lvl6pPr>
          <a:lvl7pPr marL="1371600" indent="-228600" algn="l">
            <a:defRPr sz="2500"/>
          </a:lvl7pPr>
          <a:lvl8pPr marL="1600200" indent="-228600" algn="l">
            <a:defRPr sz="2500"/>
          </a:lvl8pPr>
          <a:lvl9pPr marL="1828800" indent="-228600" algn="l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/>
            <a:t>R-Select,</a:t>
          </a:r>
          <a:r>
            <a:rPr lang="zh-CN" altLang="en-US" dirty="0"/>
            <a:t> </a:t>
          </a:r>
          <a:r>
            <a:rPr lang="en-US" dirty="0" err="1"/>
            <a:t>Q</a:t>
          </a:r>
          <a:r>
            <a:rPr lang="en-US" altLang="zh-CN" dirty="0" err="1"/>
            <a:t>uickSort</a:t>
          </a:r>
          <a:r>
            <a:rPr lang="en-US" altLang="zh-CN" dirty="0"/>
            <a:t>(</a:t>
          </a:r>
          <a:r>
            <a:rPr lang="en-US" dirty="0" err="1"/>
            <a:t>随机算法</a:t>
          </a:r>
          <a:r>
            <a:rPr lang="en-US" altLang="zh-CN" dirty="0"/>
            <a:t>)</a:t>
          </a:r>
          <a:endParaRPr lang="en-US" dirty="0"/>
        </a:p>
      </dsp:txBody>
      <dsp:txXfrm>
        <a:off x="0" y="4475790"/>
        <a:ext cx="5438559" cy="13938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D5B9F3-2D21-B144-A225-5DB7FC88CEE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D5547-E652-B649-82B2-BAF1F5D5FC1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6B16D6-B238-FF4C-8459-96930AAE9864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69A8F-2F57-E949-97AA-E3E64E5D01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69A8F-2F57-E949-97AA-E3E64E5D016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69A8F-2F57-E949-97AA-E3E64E5D016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5FBC9-798C-DD43-A0C1-6B1822D1C07B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DB454-97F0-0B40-9696-033971A5C3B2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4E8AC-EE19-B84E-A4B1-61DBCD65CB1E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68709-0A35-2842-8E3B-B8D55A48481A}" type="datetime1">
              <a:rPr lang="zh-CN" alt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F7B0-0CDA-674E-A6ED-A24956037116}" type="datetime1">
              <a:rPr lang="zh-CN" alt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97C18-FB43-714A-8CE3-3A16546B6766}" type="datetime1">
              <a:rPr lang="zh-CN" alt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1B9FD-D105-534B-BE3E-FFD72D191B83}" type="datetime1">
              <a:rPr lang="zh-CN" alt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02BC3-BE8D-4446-B923-9A841DCC97CD}" type="datetime1">
              <a:rPr lang="zh-CN" alt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E93D2-9BBB-B149-8C4C-A46E05B56333}" type="datetime1">
              <a:rPr lang="zh-CN" alt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227F7-3C4A-BC42-BEBF-A770198DA174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76E0C-1DB4-4F4C-AA28-5A9DFFB934CA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DB982-0856-ED43-A5C9-0FA9DD744AA3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935AA-04AA-C34F-A501-1B9871694477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1DA1-EBE8-E044-8C1C-B192695B9DEE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0DF0-1ECD-814D-9DE4-BCEE0E6E6D2A}" type="datetime1">
              <a:rPr lang="zh-CN" alt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5B5A2-BC5B-984C-A266-CFF6D0424768}" type="datetime1">
              <a:rPr lang="zh-CN" alt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EE4AF-0E70-BC4E-B221-1190CB6788B0}" type="datetime1">
              <a:rPr lang="zh-CN" alt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5D149-A8C5-0043-A860-14A7F20D7010}" type="datetime1">
              <a:rPr lang="zh-CN" alt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D366F-5E03-AD44-BE8F-61F90F66A1EE}" type="datetime1">
              <a:rPr lang="zh-CN" alt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FECF3-A170-D74F-852E-5810C5D01AE8}" type="datetime1">
              <a:rPr lang="zh-CN" alt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E0496-39CE-E64D-A41D-AFDF7D9FE244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AF6B8-8BBB-CD4F-8473-A6CE8233792E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928E4-252F-924E-9686-5D4F82D1EFDB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F57CE7-4138-1740-A5C3-3C98547D81D1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tiff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tif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tif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tif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tiff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png"/><Relationship Id="rId3" Type="http://schemas.openxmlformats.org/officeDocument/2006/relationships/image" Target="../media/image16.tiff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tif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tif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tiff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tif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tif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tiff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8.png"/><Relationship Id="rId3" Type="http://schemas.openxmlformats.org/officeDocument/2006/relationships/image" Target="../media/image27.tiff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tif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5.tiff"/><Relationship Id="rId2" Type="http://schemas.openxmlformats.org/officeDocument/2006/relationships/image" Target="../media/image34.png"/><Relationship Id="rId1" Type="http://schemas.openxmlformats.org/officeDocument/2006/relationships/image" Target="../media/image32.tif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tiff"/><Relationship Id="rId1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tiff"/><Relationship Id="rId1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4.tiff"/><Relationship Id="rId4" Type="http://schemas.openxmlformats.org/officeDocument/2006/relationships/image" Target="../media/image43.tiff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6.emf"/><Relationship Id="rId1" Type="http://schemas.openxmlformats.org/officeDocument/2006/relationships/image" Target="../media/image45.e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tif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png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0.tiff"/><Relationship Id="rId1" Type="http://schemas.openxmlformats.org/officeDocument/2006/relationships/image" Target="../media/image59.tiff"/></Relationships>
</file>

<file path=ppt/slides/_rels/slide5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" Type="http://schemas.openxmlformats.org/officeDocument/2006/relationships/diagramData" Target="../diagrams/data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emf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tif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1.tiff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microsoft.com/office/2007/relationships/hdphoto" Target="../media/image64.wdp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7.png"/><Relationship Id="rId1" Type="http://schemas.openxmlformats.org/officeDocument/2006/relationships/image" Target="../media/image66.tif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8.tiff"/><Relationship Id="rId1" Type="http://schemas.openxmlformats.org/officeDocument/2006/relationships/image" Target="../media/image65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0.tiff"/><Relationship Id="rId1" Type="http://schemas.openxmlformats.org/officeDocument/2006/relationships/image" Target="../media/image69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2.tiff"/><Relationship Id="rId1" Type="http://schemas.openxmlformats.org/officeDocument/2006/relationships/image" Target="../media/image71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5.png"/><Relationship Id="rId1" Type="http://schemas.openxmlformats.org/officeDocument/2006/relationships/image" Target="../media/image74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6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7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9.tiff"/><Relationship Id="rId1" Type="http://schemas.openxmlformats.org/officeDocument/2006/relationships/image" Target="../media/image78.png"/></Relationships>
</file>

<file path=ppt/slides/_rels/slide7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3.png"/><Relationship Id="rId3" Type="http://schemas.openxmlformats.org/officeDocument/2006/relationships/image" Target="../media/image82.emf"/><Relationship Id="rId2" Type="http://schemas.openxmlformats.org/officeDocument/2006/relationships/image" Target="../media/image81.emf"/><Relationship Id="rId1" Type="http://schemas.openxmlformats.org/officeDocument/2006/relationships/image" Target="../media/image80.emf"/></Relationships>
</file>

<file path=ppt/slides/_rels/slide7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7.emf"/><Relationship Id="rId3" Type="http://schemas.openxmlformats.org/officeDocument/2006/relationships/image" Target="../media/image86.emf"/><Relationship Id="rId2" Type="http://schemas.openxmlformats.org/officeDocument/2006/relationships/image" Target="../media/image85.emf"/><Relationship Id="rId1" Type="http://schemas.openxmlformats.org/officeDocument/2006/relationships/image" Target="../media/image84.emf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8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0.tiff"/><Relationship Id="rId1" Type="http://schemas.openxmlformats.org/officeDocument/2006/relationships/image" Target="../media/image89.tif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1.png"/><Relationship Id="rId1" Type="http://schemas.openxmlformats.org/officeDocument/2006/relationships/image" Target="../media/image40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ire un livre et boire un café sur la table"/>
          <p:cNvPicPr>
            <a:picLocks noChangeAspect="1"/>
          </p:cNvPicPr>
          <p:nvPr/>
        </p:nvPicPr>
        <p:blipFill rotWithShape="1">
          <a:blip r:embed="rId1">
            <a:alphaModFix amt="50000"/>
          </a:blip>
          <a:srcRect l="6261" r="4738" b="-2"/>
          <a:stretch>
            <a:fillRect/>
          </a:stretch>
        </p:blipFill>
        <p:spPr>
          <a:xfrm>
            <a:off x="20" y="1"/>
            <a:ext cx="9143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2"/>
            <a:ext cx="6858000" cy="2011131"/>
          </a:xfrm>
        </p:spPr>
        <p:txBody>
          <a:bodyPr>
            <a:normAutofit/>
          </a:bodyPr>
          <a:lstStyle/>
          <a:p>
            <a:r>
              <a:rPr lang="en-US" sz="6600" dirty="0" err="1">
                <a:solidFill>
                  <a:srgbClr val="FFFFFF"/>
                </a:solidFill>
              </a:rPr>
              <a:t>第三讲</a:t>
            </a:r>
            <a:endParaRPr lang="en-US" sz="6600" dirty="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2210" y="3428999"/>
            <a:ext cx="6858000" cy="2306639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rgbClr val="FFFFFF"/>
                </a:solidFill>
              </a:rPr>
              <a:t>不对称分治递归渐进时间复杂度分析</a:t>
            </a:r>
            <a:endParaRPr lang="en-US" altLang="zh-CN" sz="3200" dirty="0">
              <a:solidFill>
                <a:srgbClr val="FFFFFF"/>
              </a:solidFill>
            </a:endParaRPr>
          </a:p>
          <a:p>
            <a:r>
              <a:rPr lang="zh-CN" altLang="en-US" sz="3200" dirty="0">
                <a:solidFill>
                  <a:srgbClr val="FFFFFF"/>
                </a:solidFill>
              </a:rPr>
              <a:t>随机算法期望时间复杂度分析</a:t>
            </a:r>
            <a:endParaRPr lang="en-US" altLang="zh-CN" sz="3200" dirty="0">
              <a:solidFill>
                <a:srgbClr val="FFFFFF"/>
              </a:solidFill>
            </a:endParaRPr>
          </a:p>
          <a:p>
            <a:r>
              <a:rPr lang="en-US" altLang="zh-CN" sz="3200" dirty="0">
                <a:solidFill>
                  <a:srgbClr val="FFFFFF"/>
                </a:solidFill>
              </a:rPr>
              <a:t>D-</a:t>
            </a:r>
            <a:r>
              <a:rPr lang="en-US" altLang="zh-CN" sz="3200" dirty="0" err="1">
                <a:solidFill>
                  <a:srgbClr val="FFFFFF"/>
                </a:solidFill>
              </a:rPr>
              <a:t>Select,R</a:t>
            </a:r>
            <a:r>
              <a:rPr lang="en-US" altLang="zh-CN" sz="3200" dirty="0">
                <a:solidFill>
                  <a:srgbClr val="FFFFFF"/>
                </a:solidFill>
              </a:rPr>
              <a:t>-Select</a:t>
            </a:r>
            <a:endParaRPr lang="en-US" altLang="zh-CN" sz="3200" dirty="0">
              <a:solidFill>
                <a:srgbClr val="FFFFFF"/>
              </a:solidFill>
            </a:endParaRPr>
          </a:p>
          <a:p>
            <a:r>
              <a:rPr lang="en-US" altLang="zh-CN" sz="3200" dirty="0" err="1">
                <a:solidFill>
                  <a:srgbClr val="FFFFFF"/>
                </a:solidFill>
              </a:rPr>
              <a:t>QuickSort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1195697"/>
            <a:ext cx="2599891" cy="4238118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33B63"/>
                </a:solidFill>
              </a:rPr>
              <a:t>主要内容</a:t>
            </a:r>
            <a:endParaRPr lang="en-US" dirty="0">
              <a:solidFill>
                <a:srgbClr val="033B63"/>
              </a:solidFill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5302"/>
            <a:ext cx="7886700" cy="1325563"/>
          </a:xfrm>
        </p:spPr>
        <p:txBody>
          <a:bodyPr/>
          <a:lstStyle/>
          <a:p>
            <a:r>
              <a:rPr lang="en-US" dirty="0"/>
              <a:t>The master theorem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40996"/>
                <a:ext cx="8515350" cy="4351338"/>
              </a:xfrm>
            </p:spPr>
            <p:txBody>
              <a:bodyPr/>
              <a:lstStyle/>
              <a:p>
                <a:r>
                  <a:rPr lang="en-US" b="0" dirty="0"/>
                  <a:t>Suppose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b="0" dirty="0"/>
                  <a:t> are constants (independent of n).</a:t>
                </a:r>
                <a:endParaRPr lang="en-US" b="0" dirty="0"/>
              </a:p>
              <a:p>
                <a:r>
                  <a:rPr lang="en-US" b="0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="0" dirty="0"/>
                  <a:t>.  Then</a:t>
                </a:r>
                <a:endParaRPr lang="en-US" b="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40996"/>
                <a:ext cx="8515350" cy="4351338"/>
              </a:xfrm>
              <a:blipFill rotWithShape="1">
                <a:blip r:embed="rId1"/>
                <a:stretch>
                  <a:fillRect t="-4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7475477" y="4855773"/>
            <a:ext cx="1668523" cy="200222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930861" y="5034382"/>
            <a:ext cx="2873497" cy="141009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thelas" charset="0"/>
                <a:ea typeface="Athelas" charset="0"/>
                <a:cs typeface="Athelas" charset="0"/>
              </a:rPr>
              <a:t>Many symbols those are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thelas" charset="0"/>
                <a:ea typeface="Athelas" charset="0"/>
                <a:cs typeface="Athelas" charset="0"/>
              </a:rPr>
              <a:t>…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thelas" charset="0"/>
                <a:ea typeface="Athelas" charset="0"/>
                <a:cs typeface="Athelas" charset="0"/>
              </a:rPr>
              <a:t>.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Athelas" charset="0"/>
              <a:ea typeface="Athelas" charset="0"/>
              <a:cs typeface="Athelas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3656" y="4976726"/>
            <a:ext cx="465720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Three parameters:</a:t>
            </a:r>
            <a:endParaRPr lang="en-US" sz="2000" dirty="0"/>
          </a:p>
          <a:p>
            <a:r>
              <a:rPr lang="en-US" sz="2000" dirty="0">
                <a:solidFill>
                  <a:srgbClr val="00B050"/>
                </a:solidFill>
              </a:rPr>
              <a:t>a : number of </a:t>
            </a:r>
            <a:r>
              <a:rPr lang="en-US" sz="2000" dirty="0" err="1">
                <a:solidFill>
                  <a:srgbClr val="00B050"/>
                </a:solidFill>
              </a:rPr>
              <a:t>subproblems</a:t>
            </a:r>
            <a:endParaRPr lang="en-US" sz="2000" dirty="0">
              <a:solidFill>
                <a:srgbClr val="00B050"/>
              </a:solidFill>
            </a:endParaRPr>
          </a:p>
          <a:p>
            <a:r>
              <a:rPr lang="en-US" sz="2000" dirty="0">
                <a:solidFill>
                  <a:schemeClr val="accent4"/>
                </a:solidFill>
              </a:rPr>
              <a:t>b : factor by which input size shrinks</a:t>
            </a:r>
            <a:endParaRPr lang="en-US" sz="2000" dirty="0">
              <a:solidFill>
                <a:schemeClr val="accent4"/>
              </a:solidFill>
            </a:endParaRPr>
          </a:p>
          <a:p>
            <a:r>
              <a:rPr lang="en-US" sz="2000" dirty="0">
                <a:solidFill>
                  <a:srgbClr val="FF6400"/>
                </a:solidFill>
              </a:rPr>
              <a:t>d : need to do </a:t>
            </a:r>
            <a:r>
              <a:rPr lang="en-US" sz="2000" dirty="0" err="1">
                <a:solidFill>
                  <a:srgbClr val="FF6400"/>
                </a:solidFill>
              </a:rPr>
              <a:t>n</a:t>
            </a:r>
            <a:r>
              <a:rPr lang="en-US" sz="2000" baseline="30000" dirty="0" err="1">
                <a:solidFill>
                  <a:srgbClr val="FF6400"/>
                </a:solidFill>
              </a:rPr>
              <a:t>d</a:t>
            </a:r>
            <a:r>
              <a:rPr lang="en-US" sz="2000" dirty="0">
                <a:solidFill>
                  <a:srgbClr val="FF6400"/>
                </a:solidFill>
              </a:rPr>
              <a:t> work to create all the </a:t>
            </a:r>
            <a:r>
              <a:rPr lang="en-US" sz="2000" dirty="0" err="1">
                <a:solidFill>
                  <a:srgbClr val="FF6400"/>
                </a:solidFill>
              </a:rPr>
              <a:t>subproblems</a:t>
            </a:r>
            <a:r>
              <a:rPr lang="en-US" sz="2000" dirty="0">
                <a:solidFill>
                  <a:srgbClr val="FF6400"/>
                </a:solidFill>
              </a:rPr>
              <a:t> and combine their solutions</a:t>
            </a:r>
            <a:r>
              <a:rPr lang="en-US" sz="2000" dirty="0">
                <a:solidFill>
                  <a:srgbClr val="7030A0"/>
                </a:solidFill>
              </a:rPr>
              <a:t>. </a:t>
            </a:r>
            <a:endParaRPr lang="en-US" sz="20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215050" y="95980"/>
                <a:ext cx="2908792" cy="1058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4"/>
                    </a:solidFill>
                  </a:rPr>
                  <a:t>We can also take n/b to mean either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 or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 and the theorem is still true. </a:t>
                </a:r>
                <a:endParaRPr lang="en-US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5050" y="95980"/>
                <a:ext cx="2908792" cy="1058816"/>
              </a:xfrm>
              <a:prstGeom prst="rect">
                <a:avLst/>
              </a:prstGeom>
              <a:blipFill rotWithShape="1">
                <a:blip r:embed="rId3"/>
                <a:stretch>
                  <a:fillRect l="-10" t="-9" r="6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105750" y="2870476"/>
                <a:ext cx="6458627" cy="22197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3200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     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func>
                                        <m:funcPr>
                                          <m:ctrlP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b>
                                            <m:sSubPr>
                                              <m:ctrlP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3200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log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b>
                                          </m:sSub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</m:sup>
                                  </m:sSup>
                                </m:e>
                              </m:d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750" y="2870476"/>
                <a:ext cx="6458627" cy="2219775"/>
              </a:xfrm>
              <a:prstGeom prst="rect">
                <a:avLst/>
              </a:prstGeom>
              <a:blipFill rotWithShape="1">
                <a:blip r:embed="rId4"/>
                <a:stretch>
                  <a:fillRect l="-3" t="-12" r="4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Substitution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Another way to solve recurrence relations.</a:t>
            </a:r>
            <a:endParaRPr lang="en-US" dirty="0"/>
          </a:p>
          <a:p>
            <a:r>
              <a:rPr lang="en-US" dirty="0"/>
              <a:t>More general than the master method.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chemeClr val="accent4"/>
                </a:solidFill>
              </a:rPr>
              <a:t>Step 1</a:t>
            </a:r>
            <a:r>
              <a:rPr lang="en-US" dirty="0"/>
              <a:t>: Generate a guess at the correct answer.</a:t>
            </a:r>
            <a:endParaRPr lang="en-US" dirty="0"/>
          </a:p>
          <a:p>
            <a:r>
              <a:rPr lang="en-US" dirty="0">
                <a:solidFill>
                  <a:schemeClr val="accent4"/>
                </a:solidFill>
              </a:rPr>
              <a:t>Step 2</a:t>
            </a:r>
            <a:r>
              <a:rPr lang="en-US" dirty="0"/>
              <a:t>: Try to prove that your guess is correct.</a:t>
            </a:r>
            <a:endParaRPr lang="en-US" dirty="0"/>
          </a:p>
          <a:p>
            <a:r>
              <a:rPr lang="en-US" dirty="0">
                <a:solidFill>
                  <a:schemeClr val="accent4"/>
                </a:solidFill>
              </a:rPr>
              <a:t>(Step 3</a:t>
            </a:r>
            <a:r>
              <a:rPr lang="en-US" dirty="0"/>
              <a:t>: Profit.)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15" y="96389"/>
            <a:ext cx="7886700" cy="1325563"/>
          </a:xfrm>
        </p:spPr>
        <p:txBody>
          <a:bodyPr/>
          <a:lstStyle/>
          <a:p>
            <a:r>
              <a:rPr lang="en-US" dirty="0"/>
              <a:t>The k-SELECT problem</a:t>
            </a:r>
            <a:br>
              <a:rPr lang="en-US" dirty="0"/>
            </a:br>
            <a:r>
              <a:rPr lang="en-US" sz="2400" dirty="0"/>
              <a:t>from your pre-lecture 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190627"/>
          </a:xfrm>
        </p:spPr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SELECT</a:t>
            </a:r>
            <a:r>
              <a:rPr lang="en-US" dirty="0"/>
              <a:t>(A, k):</a:t>
            </a:r>
            <a:endParaRPr lang="en-US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Return the </a:t>
            </a:r>
            <a:r>
              <a:rPr lang="en-US" dirty="0" err="1">
                <a:solidFill>
                  <a:srgbClr val="FF0000"/>
                </a:solidFill>
              </a:rPr>
              <a:t>k’th</a:t>
            </a:r>
            <a:r>
              <a:rPr lang="en-US" dirty="0">
                <a:solidFill>
                  <a:srgbClr val="FF0000"/>
                </a:solidFill>
              </a:rPr>
              <a:t> smallest element of A.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51629" y="1506023"/>
            <a:ext cx="5636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A is an array of size n, k is in {1,</a:t>
            </a:r>
            <a:r>
              <a:rPr lang="en-US" dirty="0">
                <a:solidFill>
                  <a:schemeClr val="accent4"/>
                </a:solidFill>
              </a:rPr>
              <a:t>…</a:t>
            </a:r>
            <a:r>
              <a:rPr lang="en-US" dirty="0">
                <a:solidFill>
                  <a:schemeClr val="accent4"/>
                </a:solidFill>
              </a:rPr>
              <a:t>,n}</a:t>
            </a:r>
            <a:endParaRPr lang="en-US" dirty="0">
              <a:solidFill>
                <a:schemeClr val="accent4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546324" y="3541753"/>
            <a:ext cx="5766649" cy="705201"/>
            <a:chOff x="1573619" y="3296093"/>
            <a:chExt cx="5766649" cy="705201"/>
          </a:xfrm>
        </p:grpSpPr>
        <p:sp>
          <p:nvSpPr>
            <p:cNvPr id="6" name="Rectangle 5"/>
            <p:cNvSpPr/>
            <p:nvPr/>
          </p:nvSpPr>
          <p:spPr>
            <a:xfrm>
              <a:off x="1573619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230353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17868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908601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9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635067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14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711363" y="4765343"/>
            <a:ext cx="42528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SELECT</a:t>
            </a:r>
            <a:r>
              <a:rPr lang="en-US" sz="2400" dirty="0"/>
              <a:t>(A, 1) = MIN(A)</a:t>
            </a:r>
            <a:endParaRPr lang="en-US" sz="2400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SELECT</a:t>
            </a:r>
            <a:r>
              <a:rPr lang="en-US" sz="2400" dirty="0"/>
              <a:t>(A, n/2) = MEDIAN(A)</a:t>
            </a:r>
            <a:endParaRPr lang="en-US" sz="2400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SELECT</a:t>
            </a:r>
            <a:r>
              <a:rPr lang="en-US" sz="2400" dirty="0"/>
              <a:t>(A, n) = MAX(A)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16676" y="4765343"/>
            <a:ext cx="33164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SELECT</a:t>
            </a:r>
            <a:r>
              <a:rPr lang="en-US" sz="2400" dirty="0"/>
              <a:t>(A, 1) = 1</a:t>
            </a:r>
            <a:endParaRPr lang="en-US" sz="2400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SELECT</a:t>
            </a:r>
            <a:r>
              <a:rPr lang="en-US" sz="2400" dirty="0"/>
              <a:t>(A, 2) = 3</a:t>
            </a:r>
            <a:endParaRPr lang="en-US" sz="2400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SELECT</a:t>
            </a:r>
            <a:r>
              <a:rPr lang="en-US" sz="2400" dirty="0"/>
              <a:t>(A, 3) = 4</a:t>
            </a:r>
            <a:endParaRPr lang="en-US" sz="2400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SELECT</a:t>
            </a:r>
            <a:r>
              <a:rPr lang="en-US" sz="2400" dirty="0"/>
              <a:t>(A, 8) = 14</a:t>
            </a:r>
            <a:endParaRPr lang="en-US" sz="24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 flipH="1">
            <a:off x="8589423" y="5206224"/>
            <a:ext cx="550310" cy="7594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588154" y="4719177"/>
            <a:ext cx="1624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4"/>
                </a:solidFill>
              </a:rPr>
              <a:t>Being sloppy about floors and ceilings!</a:t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42920" y="86687"/>
            <a:ext cx="2242683" cy="1015663"/>
          </a:xfrm>
          <a:prstGeom prst="rect">
            <a:avLst/>
          </a:prstGeom>
          <a:noFill/>
          <a:ln>
            <a:solidFill>
              <a:srgbClr val="CF6E6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rgbClr val="CF6E6C"/>
                </a:solidFill>
              </a:rPr>
              <a:t>For today, assume all arrays have distinct elements.</a:t>
            </a:r>
            <a:endParaRPr lang="en-US" sz="2000" i="1" dirty="0">
              <a:solidFill>
                <a:srgbClr val="CF6E6C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357" y="6484060"/>
            <a:ext cx="5134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Note that the definition </a:t>
            </a:r>
            <a:r>
              <a:rPr lang="en-US">
                <a:solidFill>
                  <a:schemeClr val="accent4"/>
                </a:solidFill>
              </a:rPr>
              <a:t>of Select is </a:t>
            </a:r>
            <a:r>
              <a:rPr lang="en-US" dirty="0">
                <a:solidFill>
                  <a:schemeClr val="accent4"/>
                </a:solidFill>
              </a:rPr>
              <a:t>1-indexed</a:t>
            </a:r>
            <a:r>
              <a:rPr lang="en-US" dirty="0">
                <a:solidFill>
                  <a:schemeClr val="accent4"/>
                </a:solidFill>
              </a:rPr>
              <a:t>…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15" grpId="0" uiExpand="1" build="p"/>
      <p:bldP spid="17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On your pre-lecture exercise…</a:t>
            </a:r>
            <a:br>
              <a:rPr lang="en-US" dirty="0"/>
            </a:br>
            <a:r>
              <a:rPr lang="en-US" dirty="0"/>
              <a:t>An O(</a:t>
            </a:r>
            <a:r>
              <a:rPr lang="en-US" dirty="0" err="1"/>
              <a:t>nlog</a:t>
            </a:r>
            <a:r>
              <a:rPr lang="en-US" dirty="0"/>
              <a:t>(n))-time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SELECT</a:t>
            </a:r>
            <a:r>
              <a:rPr lang="en-US" dirty="0"/>
              <a:t>(A, k):</a:t>
            </a:r>
            <a:endParaRPr lang="en-US" dirty="0"/>
          </a:p>
          <a:p>
            <a:pPr lvl="1"/>
            <a:r>
              <a:rPr lang="en-US" dirty="0"/>
              <a:t>A = </a:t>
            </a:r>
            <a:r>
              <a:rPr lang="en-US" dirty="0" err="1">
                <a:solidFill>
                  <a:schemeClr val="accent4"/>
                </a:solidFill>
              </a:rPr>
              <a:t>MergeSort</a:t>
            </a:r>
            <a:r>
              <a:rPr lang="en-US" dirty="0"/>
              <a:t>(A)</a:t>
            </a:r>
            <a:endParaRPr lang="en-US" dirty="0"/>
          </a:p>
          <a:p>
            <a:pPr lvl="1"/>
            <a:r>
              <a:rPr lang="en-US" b="1" dirty="0"/>
              <a:t>return</a:t>
            </a:r>
            <a:r>
              <a:rPr lang="en-US" dirty="0"/>
              <a:t> A[k-1]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Running time is </a:t>
            </a:r>
            <a:r>
              <a:rPr lang="en-US" dirty="0">
                <a:solidFill>
                  <a:schemeClr val="accent4"/>
                </a:solidFill>
              </a:rPr>
              <a:t>O(n log(n)).</a:t>
            </a:r>
            <a:endParaRPr lang="en-US" dirty="0">
              <a:solidFill>
                <a:schemeClr val="accent4"/>
              </a:solidFill>
            </a:endParaRPr>
          </a:p>
          <a:p>
            <a:r>
              <a:rPr lang="en-US" dirty="0"/>
              <a:t>So that’s the benchmark</a:t>
            </a:r>
            <a:r>
              <a:rPr lang="en-US" dirty="0"/>
              <a:t>…</a:t>
            </a:r>
            <a:r>
              <a:rPr lang="en-US" dirty="0"/>
              <a:t>.</a:t>
            </a:r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sz="3600" dirty="0">
                <a:solidFill>
                  <a:srgbClr val="CF6E6C"/>
                </a:solidFill>
              </a:rPr>
              <a:t>Can we do better?</a:t>
            </a:r>
            <a:endParaRPr lang="en-US" sz="3600" dirty="0">
              <a:solidFill>
                <a:srgbClr val="CF6E6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28725" y="5600700"/>
            <a:ext cx="4857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rgbClr val="CF6E6C"/>
                </a:solidFill>
              </a:rPr>
              <a:t>We’re hoping to get O(n)</a:t>
            </a:r>
            <a:endParaRPr lang="en-US" sz="2400" dirty="0">
              <a:solidFill>
                <a:srgbClr val="CF6E6C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86475" y="2192295"/>
            <a:ext cx="2921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>
                <a:solidFill>
                  <a:srgbClr val="7030A0"/>
                </a:solidFill>
              </a:rPr>
              <a:t>It’s k-1 and not k since my pseudocode is 0-indexed and the problem is 1-indexed</a:t>
            </a:r>
            <a:r>
              <a:rPr lang="en-US" i="1" dirty="0">
                <a:solidFill>
                  <a:srgbClr val="7030A0"/>
                </a:solidFill>
              </a:rPr>
              <a:t>…</a:t>
            </a:r>
            <a:endParaRPr lang="en-US" i="1" dirty="0">
              <a:solidFill>
                <a:srgbClr val="7030A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7720013" y="5600700"/>
            <a:ext cx="1041400" cy="11485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42347" y="5028430"/>
            <a:ext cx="1816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Show that you can’t do better than O(n).</a:t>
            </a:r>
            <a:endParaRPr lang="en-US" sz="1400" dirty="0">
              <a:solidFill>
                <a:srgbClr val="7030A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089189" y="2631989"/>
            <a:ext cx="2997286" cy="182709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 An O(n)-time algorithm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On your pre-lecture exercise: </a:t>
                </a:r>
                <a:r>
                  <a:rPr lang="en-US" dirty="0">
                    <a:solidFill>
                      <a:schemeClr val="accent4"/>
                    </a:solidFill>
                  </a:rPr>
                  <a:t>SELECT(A, 1).</a:t>
                </a:r>
                <a:endParaRPr lang="en-US" dirty="0">
                  <a:solidFill>
                    <a:schemeClr val="accent4"/>
                  </a:solidFill>
                </a:endParaRPr>
              </a:p>
              <a:p>
                <a:pPr lvl="1"/>
                <a:r>
                  <a:rPr lang="en-US" dirty="0"/>
                  <a:t>(aka, </a:t>
                </a:r>
                <a:r>
                  <a:rPr lang="en-US" dirty="0">
                    <a:solidFill>
                      <a:schemeClr val="accent4"/>
                    </a:solidFill>
                  </a:rPr>
                  <a:t>MIN(A)</a:t>
                </a:r>
                <a:r>
                  <a:rPr lang="en-US" dirty="0"/>
                  <a:t>)</a:t>
                </a:r>
                <a:endParaRPr lang="en-US" dirty="0"/>
              </a:p>
              <a:p>
                <a:r>
                  <a:rPr lang="en-US" dirty="0">
                    <a:solidFill>
                      <a:schemeClr val="accent4"/>
                    </a:solidFill>
                  </a:rPr>
                  <a:t>MIN</a:t>
                </a:r>
                <a:r>
                  <a:rPr lang="en-US" dirty="0"/>
                  <a:t>(A):</a:t>
                </a:r>
                <a:endParaRPr lang="en-US" dirty="0"/>
              </a:p>
              <a:p>
                <a:pPr lvl="1"/>
                <a:r>
                  <a:rPr lang="en-US" dirty="0"/>
                  <a:t>ret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For</a:t>
                </a:r>
                <a:r>
                  <a:rPr lang="en-US" dirty="0"/>
                  <a:t> </a:t>
                </a:r>
                <a:r>
                  <a:rPr lang="en-US" dirty="0" err="1"/>
                  <a:t>i</a:t>
                </a:r>
                <a:r>
                  <a:rPr lang="en-US" dirty="0"/>
                  <a:t>=0, ..., n-1:</a:t>
                </a:r>
                <a:endParaRPr lang="en-US" dirty="0"/>
              </a:p>
              <a:p>
                <a:pPr lvl="2"/>
                <a:r>
                  <a:rPr lang="en-US" sz="2400" dirty="0"/>
                  <a:t>If A[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 &lt; ret:</a:t>
                </a:r>
                <a:endParaRPr lang="en-US" sz="2400" dirty="0"/>
              </a:p>
              <a:p>
                <a:pPr lvl="3"/>
                <a:r>
                  <a:rPr lang="en-US" sz="2400" dirty="0"/>
                  <a:t>ret = A[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</a:t>
                </a:r>
                <a:endParaRPr lang="en-US" sz="2400" dirty="0"/>
              </a:p>
              <a:p>
                <a:pPr lvl="1"/>
                <a:r>
                  <a:rPr lang="en-US" b="1" dirty="0"/>
                  <a:t>Return</a:t>
                </a:r>
                <a:r>
                  <a:rPr lang="en-US" dirty="0"/>
                  <a:t> ret</a:t>
                </a:r>
                <a:endParaRPr lang="en-US" dirty="0"/>
              </a:p>
              <a:p>
                <a:pPr lvl="2"/>
                <a:endParaRPr lang="en-US" dirty="0"/>
              </a:p>
              <a:p>
                <a:r>
                  <a:rPr lang="en-US" dirty="0"/>
                  <a:t>Time O(n).  </a:t>
                </a:r>
                <a:r>
                  <a:rPr lang="en-US" dirty="0">
                    <a:solidFill>
                      <a:srgbClr val="CF6E6C"/>
                    </a:solidFill>
                  </a:rPr>
                  <a:t>Yay!</a:t>
                </a:r>
                <a:endParaRPr lang="en-US" dirty="0">
                  <a:solidFill>
                    <a:srgbClr val="CF6E6C"/>
                  </a:solidFill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-82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3834596" y="4206747"/>
            <a:ext cx="2620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F6E6C"/>
                </a:solidFill>
              </a:rPr>
              <a:t>This stuff is O(1)</a:t>
            </a:r>
            <a:endParaRPr lang="en-US" dirty="0">
              <a:solidFill>
                <a:srgbClr val="CF6E6C"/>
              </a:solidFill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3452459" y="4013095"/>
            <a:ext cx="382137" cy="756636"/>
          </a:xfrm>
          <a:prstGeom prst="rightBrace">
            <a:avLst/>
          </a:prstGeom>
          <a:ln w="34925"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94980" y="3925255"/>
            <a:ext cx="2620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F6E6C"/>
                </a:solidFill>
              </a:rPr>
              <a:t>This loop runs O(n) times</a:t>
            </a:r>
            <a:endParaRPr lang="en-US" dirty="0">
              <a:solidFill>
                <a:srgbClr val="CF6E6C"/>
              </a:solidFill>
            </a:endParaRPr>
          </a:p>
        </p:txBody>
      </p:sp>
      <p:sp>
        <p:nvSpPr>
          <p:cNvPr id="7" name="Right Brace 6"/>
          <p:cNvSpPr/>
          <p:nvPr/>
        </p:nvSpPr>
        <p:spPr>
          <a:xfrm>
            <a:off x="5512843" y="3518882"/>
            <a:ext cx="382137" cy="1250849"/>
          </a:xfrm>
          <a:prstGeom prst="rightBrace">
            <a:avLst/>
          </a:prstGeom>
          <a:ln w="34925"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 animBg="1"/>
      <p:bldP spid="6" grpId="0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Also on your pre-lecture exercise</a:t>
            </a:r>
            <a:br>
              <a:rPr lang="en-US" dirty="0"/>
            </a:br>
            <a:r>
              <a:rPr lang="en-US" dirty="0"/>
              <a:t>How about SELECT(A,2)?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accent4"/>
                    </a:solidFill>
                  </a:rPr>
                  <a:t>SELECT2</a:t>
                </a:r>
                <a:r>
                  <a:rPr lang="en-US" dirty="0"/>
                  <a:t>(A):</a:t>
                </a:r>
                <a:endParaRPr lang="en-US" dirty="0"/>
              </a:p>
              <a:p>
                <a:pPr lvl="1"/>
                <a:r>
                  <a:rPr lang="en-US" dirty="0"/>
                  <a:t>ret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minSoFar =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1"/>
                <a:r>
                  <a:rPr lang="en-US" b="1" dirty="0"/>
                  <a:t>For</a:t>
                </a:r>
                <a:r>
                  <a:rPr lang="en-US" dirty="0"/>
                  <a:t> </a:t>
                </a:r>
                <a:r>
                  <a:rPr lang="en-US" dirty="0" err="1"/>
                  <a:t>i</a:t>
                </a:r>
                <a:r>
                  <a:rPr lang="en-US" dirty="0"/>
                  <a:t>=0, .., n-1:</a:t>
                </a:r>
                <a:endParaRPr lang="en-US" dirty="0"/>
              </a:p>
              <a:p>
                <a:pPr lvl="2"/>
                <a:r>
                  <a:rPr lang="en-US" b="1" dirty="0"/>
                  <a:t>If</a:t>
                </a:r>
                <a:r>
                  <a:rPr lang="en-US" dirty="0"/>
                  <a:t> A[</a:t>
                </a:r>
                <a:r>
                  <a:rPr lang="en-US" dirty="0" err="1"/>
                  <a:t>i</a:t>
                </a:r>
                <a:r>
                  <a:rPr lang="en-US" dirty="0"/>
                  <a:t>] &lt; ret and A[</a:t>
                </a:r>
                <a:r>
                  <a:rPr lang="en-US" dirty="0" err="1"/>
                  <a:t>i</a:t>
                </a:r>
                <a:r>
                  <a:rPr lang="en-US" dirty="0"/>
                  <a:t>] &lt; </a:t>
                </a:r>
                <a:r>
                  <a:rPr lang="en-US" dirty="0" err="1">
                    <a:solidFill>
                      <a:srgbClr val="7030A0"/>
                    </a:solidFill>
                  </a:rPr>
                  <a:t>minSoFar</a:t>
                </a:r>
                <a:r>
                  <a:rPr lang="en-US" dirty="0"/>
                  <a:t>:</a:t>
                </a:r>
                <a:endParaRPr lang="en-US" dirty="0"/>
              </a:p>
              <a:p>
                <a:pPr lvl="3"/>
                <a:r>
                  <a:rPr lang="en-US" sz="2000" dirty="0"/>
                  <a:t>ret = </a:t>
                </a:r>
                <a:r>
                  <a:rPr lang="en-US" sz="2000" dirty="0" err="1">
                    <a:solidFill>
                      <a:srgbClr val="7030A0"/>
                    </a:solidFill>
                  </a:rPr>
                  <a:t>minSoFar</a:t>
                </a:r>
                <a:endParaRPr lang="en-US" sz="2000" dirty="0">
                  <a:solidFill>
                    <a:srgbClr val="7030A0"/>
                  </a:solidFill>
                </a:endParaRPr>
              </a:p>
              <a:p>
                <a:pPr lvl="3"/>
                <a:r>
                  <a:rPr lang="en-US" sz="2000" dirty="0" err="1">
                    <a:solidFill>
                      <a:srgbClr val="7030A0"/>
                    </a:solidFill>
                  </a:rPr>
                  <a:t>minSoFar</a:t>
                </a:r>
                <a:r>
                  <a:rPr lang="en-US" sz="2000" dirty="0"/>
                  <a:t> = A[</a:t>
                </a:r>
                <a:r>
                  <a:rPr lang="en-US" sz="2000" dirty="0" err="1"/>
                  <a:t>i</a:t>
                </a:r>
                <a:r>
                  <a:rPr lang="en-US" sz="2000" dirty="0"/>
                  <a:t>]</a:t>
                </a:r>
                <a:endParaRPr lang="en-US" sz="2000" dirty="0"/>
              </a:p>
              <a:p>
                <a:pPr lvl="2"/>
                <a:r>
                  <a:rPr lang="en-US" b="1" dirty="0"/>
                  <a:t>Else</a:t>
                </a:r>
                <a:r>
                  <a:rPr lang="en-US" dirty="0"/>
                  <a:t> if A[</a:t>
                </a:r>
                <a:r>
                  <a:rPr lang="en-US" dirty="0" err="1"/>
                  <a:t>i</a:t>
                </a:r>
                <a:r>
                  <a:rPr lang="en-US" dirty="0"/>
                  <a:t>] &lt; ret and A[</a:t>
                </a:r>
                <a:r>
                  <a:rPr lang="en-US" dirty="0" err="1"/>
                  <a:t>i</a:t>
                </a:r>
                <a:r>
                  <a:rPr lang="en-US" dirty="0"/>
                  <a:t>] &gt;= </a:t>
                </a:r>
                <a:r>
                  <a:rPr lang="en-US" dirty="0" err="1">
                    <a:solidFill>
                      <a:srgbClr val="7030A0"/>
                    </a:solidFill>
                  </a:rPr>
                  <a:t>minSoFar</a:t>
                </a:r>
                <a:r>
                  <a:rPr lang="en-US" dirty="0"/>
                  <a:t>:</a:t>
                </a:r>
                <a:endParaRPr lang="en-US" dirty="0"/>
              </a:p>
              <a:p>
                <a:pPr lvl="3"/>
                <a:r>
                  <a:rPr lang="en-US" sz="2000" dirty="0"/>
                  <a:t>ret = A[</a:t>
                </a:r>
                <a:r>
                  <a:rPr lang="en-US" sz="2000" dirty="0" err="1"/>
                  <a:t>i</a:t>
                </a:r>
                <a:r>
                  <a:rPr lang="en-US" sz="2000" dirty="0"/>
                  <a:t>]</a:t>
                </a:r>
                <a:endParaRPr lang="en-US" sz="2000" dirty="0"/>
              </a:p>
              <a:p>
                <a:pPr lvl="1"/>
                <a:r>
                  <a:rPr lang="en-US" b="1" dirty="0"/>
                  <a:t>Return</a:t>
                </a:r>
                <a:r>
                  <a:rPr lang="en-US" dirty="0"/>
                  <a:t> ret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5943174" y="1690689"/>
            <a:ext cx="28865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4"/>
                </a:solidFill>
              </a:rPr>
              <a:t>(The actual algorithm here is not very important because this won’t end up being a very good idea</a:t>
            </a:r>
            <a:r>
              <a:rPr lang="en-US" dirty="0">
                <a:solidFill>
                  <a:schemeClr val="accent4"/>
                </a:solidFill>
              </a:rPr>
              <a:t>…</a:t>
            </a:r>
            <a:r>
              <a:rPr lang="en-US" dirty="0">
                <a:solidFill>
                  <a:schemeClr val="accent4"/>
                </a:solidFill>
              </a:rPr>
              <a:t>)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174" y="5542738"/>
            <a:ext cx="32008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F6E6C"/>
                </a:solidFill>
              </a:rPr>
              <a:t>Still O(n)</a:t>
            </a:r>
            <a:endParaRPr lang="en-US" sz="3600" dirty="0">
              <a:solidFill>
                <a:srgbClr val="CF6E6C"/>
              </a:solidFill>
            </a:endParaRPr>
          </a:p>
          <a:p>
            <a:r>
              <a:rPr lang="en-US" sz="2800" dirty="0">
                <a:solidFill>
                  <a:srgbClr val="CF6E6C"/>
                </a:solidFill>
              </a:rPr>
              <a:t>SO FAR SO GOOD.</a:t>
            </a:r>
            <a:endParaRPr lang="en-US" sz="2800" dirty="0">
              <a:solidFill>
                <a:srgbClr val="CF6E6C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SELECT</a:t>
            </a:r>
            <a:r>
              <a:rPr lang="en-US" dirty="0"/>
              <a:t>(A, n/2) aka </a:t>
            </a:r>
            <a:r>
              <a:rPr lang="en-US" dirty="0">
                <a:solidFill>
                  <a:schemeClr val="accent4"/>
                </a:solidFill>
              </a:rPr>
              <a:t>MEDIAN</a:t>
            </a:r>
            <a:r>
              <a:rPr lang="en-US" dirty="0"/>
              <a:t>(A)?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8615363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accent4"/>
                    </a:solidFill>
                  </a:rPr>
                  <a:t>MEDIAN</a:t>
                </a:r>
                <a:r>
                  <a:rPr lang="en-US" dirty="0"/>
                  <a:t>(A):</a:t>
                </a:r>
                <a:endParaRPr lang="en-US" dirty="0"/>
              </a:p>
              <a:p>
                <a:pPr lvl="1"/>
                <a:r>
                  <a:rPr lang="en-US" dirty="0"/>
                  <a:t>ret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minSoFar =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1"/>
                <a:r>
                  <a:rPr lang="en-US" dirty="0" err="1">
                    <a:solidFill>
                      <a:srgbClr val="7030A0"/>
                    </a:solidFill>
                  </a:rPr>
                  <a:t>secondMinSoFar</a:t>
                </a:r>
                <a:r>
                  <a:rPr lang="en-US" dirty="0">
                    <a:solidFill>
                      <a:srgbClr val="7030A0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1"/>
                <a:r>
                  <a:rPr lang="en-US" dirty="0" err="1">
                    <a:solidFill>
                      <a:srgbClr val="7030A0"/>
                    </a:solidFill>
                  </a:rPr>
                  <a:t>thirdMinSoFar</a:t>
                </a:r>
                <a:r>
                  <a:rPr lang="en-US" dirty="0">
                    <a:solidFill>
                      <a:srgbClr val="7030A0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1"/>
                <a:r>
                  <a:rPr lang="en-US" dirty="0" err="1">
                    <a:solidFill>
                      <a:srgbClr val="7030A0"/>
                    </a:solidFill>
                  </a:rPr>
                  <a:t>fourthMinSoFar</a:t>
                </a:r>
                <a:r>
                  <a:rPr lang="en-US" dirty="0">
                    <a:solidFill>
                      <a:srgbClr val="7030A0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…</a:t>
                </a:r>
                <a:r>
                  <a:rPr lang="en-US" dirty="0">
                    <a:solidFill>
                      <a:srgbClr val="7030A0"/>
                    </a:solidFill>
                  </a:rPr>
                  <a:t>.</a:t>
                </a:r>
                <a:endParaRPr lang="en-US" dirty="0">
                  <a:solidFill>
                    <a:srgbClr val="7030A0"/>
                  </a:solidFill>
                </a:endParaRPr>
              </a:p>
              <a:p>
                <a:r>
                  <a:rPr lang="en-US" dirty="0"/>
                  <a:t>This is not a good idea for large k (like n/2 or n).</a:t>
                </a:r>
                <a:endParaRPr lang="en-US" dirty="0"/>
              </a:p>
              <a:p>
                <a:r>
                  <a:rPr lang="en-US" dirty="0"/>
                  <a:t>Basically, this is just going to turn into something like </a:t>
                </a:r>
                <a:r>
                  <a:rPr lang="en-US" dirty="0">
                    <a:solidFill>
                      <a:schemeClr val="accent4"/>
                    </a:solidFill>
                  </a:rPr>
                  <a:t>INSERTIONSORT</a:t>
                </a:r>
                <a:r>
                  <a:rPr lang="en-US" dirty="0"/>
                  <a:t>…</a:t>
                </a:r>
                <a:r>
                  <a:rPr lang="en-US" dirty="0"/>
                  <a:t>and that was O(n</a:t>
                </a:r>
                <a:r>
                  <a:rPr lang="en-US" baseline="30000" dirty="0"/>
                  <a:t>2</a:t>
                </a:r>
                <a:r>
                  <a:rPr lang="en-US" dirty="0"/>
                  <a:t>).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8615363" cy="4351338"/>
              </a:xfrm>
              <a:blipFill rotWithShape="1">
                <a:blip r:embed="rId1"/>
                <a:stretch>
                  <a:fillRect l="-7" r="4" b="-2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2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Idea: divide and conquer!</a:t>
            </a: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3688215" y="1707975"/>
            <a:ext cx="5040183" cy="705201"/>
            <a:chOff x="1573619" y="3296093"/>
            <a:chExt cx="5040183" cy="705201"/>
          </a:xfrm>
        </p:grpSpPr>
        <p:sp>
          <p:nvSpPr>
            <p:cNvPr id="7" name="Rectangle 6"/>
            <p:cNvSpPr/>
            <p:nvPr/>
          </p:nvSpPr>
          <p:spPr>
            <a:xfrm>
              <a:off x="1573619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9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30353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17868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908601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28650" y="1618597"/>
            <a:ext cx="24106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Say we want to find </a:t>
            </a:r>
            <a:r>
              <a:rPr lang="en-US" sz="2400" dirty="0">
                <a:solidFill>
                  <a:schemeClr val="accent4"/>
                </a:solidFill>
              </a:rPr>
              <a:t>SELECT(A, k)</a:t>
            </a: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8649" y="2947916"/>
            <a:ext cx="27150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First, pick a “</a:t>
            </a:r>
            <a:r>
              <a:rPr lang="en-US" sz="2400" dirty="0">
                <a:solidFill>
                  <a:schemeClr val="accent1"/>
                </a:solidFill>
              </a:rPr>
              <a:t>pivot</a:t>
            </a:r>
            <a:r>
              <a:rPr lang="en-US" sz="2400" dirty="0"/>
              <a:t>.”</a:t>
            </a:r>
            <a:endParaRPr lang="en-US" sz="2400" dirty="0"/>
          </a:p>
          <a:p>
            <a:r>
              <a:rPr lang="en-US" sz="2400" dirty="0"/>
              <a:t>We’ll see how to do this later.</a:t>
            </a:r>
            <a:endParaRPr lang="en-US" sz="2400" dirty="0"/>
          </a:p>
        </p:txBody>
      </p:sp>
      <p:sp>
        <p:nvSpPr>
          <p:cNvPr id="17" name="Triangle 16"/>
          <p:cNvSpPr/>
          <p:nvPr/>
        </p:nvSpPr>
        <p:spPr>
          <a:xfrm>
            <a:off x="5782025" y="2564598"/>
            <a:ext cx="857471" cy="61415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6796567" y="2578584"/>
            <a:ext cx="1549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How about this pivot?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8649" y="4408679"/>
            <a:ext cx="41071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Next, partition the array into “bigger than 6” or “less than 6”</a:t>
            </a:r>
            <a:endParaRPr lang="en-US" sz="2400" dirty="0"/>
          </a:p>
        </p:txBody>
      </p:sp>
      <p:sp>
        <p:nvSpPr>
          <p:cNvPr id="25" name="Rectangle 24"/>
          <p:cNvSpPr/>
          <p:nvPr/>
        </p:nvSpPr>
        <p:spPr>
          <a:xfrm>
            <a:off x="3714384" y="1718281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9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20587" y="1707976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141844" y="1707976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855707" y="1707976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587077" y="1707976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295731" y="1707976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025650" y="1707976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596787" y="6219904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L = array with things smaller than A[pivot]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72570" y="6211669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R = array with things larger than A[pivot]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344970" y="4112810"/>
            <a:ext cx="26067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This PARTITION step takes time O(n).  (Notice that we don’t sort each half).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0.00139 L 0.32952 0.5294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58" y="26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51 -2.96296E-6 L 0.33698 0.52732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15" y="26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389 0.00139 L -0.39184 0.54931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295" y="27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7 0.00996 L -0.46475 0.54931 " pathEditMode="relative" ptsTypes="AA">
                                      <p:cBhvr>
                                        <p:cTn id="38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 0.01181 L -0.45365 0.55139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813" y="269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0.00139 L -0.43247 0.54931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632" y="27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  <p:bldP spid="18" grpId="0"/>
      <p:bldP spid="23" grpId="0"/>
      <p:bldP spid="25" grpId="0" animBg="1"/>
      <p:bldP spid="26" grpId="0" animBg="1"/>
      <p:bldP spid="27" grpId="0" animBg="1"/>
      <p:bldP spid="29" grpId="0" animBg="1"/>
      <p:bldP spid="30" grpId="0" animBg="1"/>
      <p:bldP spid="31" grpId="0" animBg="1"/>
      <p:bldP spid="32" grpId="0"/>
      <p:bldP spid="33" grpId="0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Idea: divide and conquer!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853254" y="1707975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8650" y="1618597"/>
            <a:ext cx="24106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Say we want to find </a:t>
            </a:r>
            <a:r>
              <a:rPr lang="en-US" sz="2400" dirty="0">
                <a:solidFill>
                  <a:schemeClr val="accent4"/>
                </a:solidFill>
              </a:rPr>
              <a:t>SELECT(A, k)</a:t>
            </a: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8649" y="2947916"/>
            <a:ext cx="27150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First, pick a “</a:t>
            </a:r>
            <a:r>
              <a:rPr lang="en-US" sz="2400" dirty="0">
                <a:solidFill>
                  <a:schemeClr val="accent1"/>
                </a:solidFill>
              </a:rPr>
              <a:t>pivot</a:t>
            </a:r>
            <a:r>
              <a:rPr lang="en-US" sz="2400" dirty="0"/>
              <a:t>.”</a:t>
            </a:r>
            <a:endParaRPr lang="en-US" sz="2400" dirty="0"/>
          </a:p>
          <a:p>
            <a:r>
              <a:rPr lang="en-US" sz="2400" dirty="0"/>
              <a:t>We’ll see how to do this later.</a:t>
            </a:r>
            <a:endParaRPr lang="en-US" sz="2400" dirty="0"/>
          </a:p>
        </p:txBody>
      </p:sp>
      <p:sp>
        <p:nvSpPr>
          <p:cNvPr id="17" name="Triangle 16"/>
          <p:cNvSpPr/>
          <p:nvPr/>
        </p:nvSpPr>
        <p:spPr>
          <a:xfrm>
            <a:off x="5782025" y="2564598"/>
            <a:ext cx="857471" cy="61415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6796567" y="2578584"/>
            <a:ext cx="1549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How about this pivot?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8649" y="4408679"/>
            <a:ext cx="41071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Next, partition the array into “bigger than 6” or “less than 6”</a:t>
            </a:r>
            <a:endParaRPr lang="en-US" sz="2400" dirty="0"/>
          </a:p>
        </p:txBody>
      </p:sp>
      <p:sp>
        <p:nvSpPr>
          <p:cNvPr id="25" name="Rectangle 24"/>
          <p:cNvSpPr/>
          <p:nvPr/>
        </p:nvSpPr>
        <p:spPr>
          <a:xfrm>
            <a:off x="6796567" y="5323665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9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501768" y="5323665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481352" y="5377189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855707" y="1707976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236226" y="5377187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991100" y="5377188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736686" y="5377187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596787" y="6219904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L = array with things smaller than A[pivot]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72570" y="6211669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R = array with things larger than A[pivot]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344970" y="4112810"/>
            <a:ext cx="26067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This PARTITION step takes time O(n).  (Notice that we don’t sort each half).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344" y="365126"/>
            <a:ext cx="7886700" cy="603630"/>
          </a:xfrm>
        </p:spPr>
        <p:txBody>
          <a:bodyPr>
            <a:normAutofit fontScale="90000"/>
          </a:bodyPr>
          <a:lstStyle/>
          <a:p>
            <a:r>
              <a:rPr lang="en-US" dirty="0"/>
              <a:t>Idea continued</a:t>
            </a:r>
            <a:r>
              <a:rPr lang="en-US" dirty="0"/>
              <a:t>…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989943" y="2341818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9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724766" y="2341818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91259" y="2341816"/>
            <a:ext cx="763959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46694" y="1338088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496460" y="2341817"/>
            <a:ext cx="763959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207246" y="2339739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940223" y="2339739"/>
            <a:ext cx="763959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Triangle 18"/>
          <p:cNvSpPr/>
          <p:nvPr/>
        </p:nvSpPr>
        <p:spPr>
          <a:xfrm>
            <a:off x="4386178" y="2078189"/>
            <a:ext cx="403898" cy="26155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246694" y="2339739"/>
            <a:ext cx="912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pivot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77423" y="3044940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L = array with things smaller than A[pivot]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35100" y="3044939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R = array with things larger than A[pivot]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36966" y="886149"/>
            <a:ext cx="24106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Say we want to find </a:t>
            </a:r>
            <a:r>
              <a:rPr lang="en-US" sz="2400" dirty="0">
                <a:solidFill>
                  <a:schemeClr val="accent4"/>
                </a:solidFill>
              </a:rPr>
              <a:t>SELECT(A, k)</a:t>
            </a: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0501" y="3971499"/>
            <a:ext cx="67419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If k = 5 = </a:t>
            </a:r>
            <a:r>
              <a:rPr lang="en-US" sz="2400" dirty="0" err="1">
                <a:solidFill>
                  <a:schemeClr val="accent4"/>
                </a:solidFill>
              </a:rPr>
              <a:t>len</a:t>
            </a:r>
            <a:r>
              <a:rPr lang="en-US" sz="2400" dirty="0">
                <a:solidFill>
                  <a:schemeClr val="accent4"/>
                </a:solidFill>
              </a:rPr>
              <a:t>(L) + 1:</a:t>
            </a:r>
            <a:endParaRPr lang="en-US" sz="2400" dirty="0">
              <a:solidFill>
                <a:schemeClr val="accent4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sz="2400" dirty="0"/>
              <a:t>We should return </a:t>
            </a:r>
            <a:r>
              <a:rPr lang="en-US" sz="2400" dirty="0">
                <a:solidFill>
                  <a:schemeClr val="accent4"/>
                </a:solidFill>
              </a:rPr>
              <a:t>A[pivot]</a:t>
            </a:r>
            <a:endParaRPr lang="en-US" sz="2400" dirty="0">
              <a:solidFill>
                <a:schemeClr val="accent4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If k &lt; 5: </a:t>
            </a:r>
            <a:endParaRPr lang="en-US" sz="2400" dirty="0">
              <a:solidFill>
                <a:schemeClr val="accent4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sz="2400" dirty="0"/>
              <a:t>We should return </a:t>
            </a:r>
            <a:r>
              <a:rPr lang="en-US" sz="2400" dirty="0">
                <a:solidFill>
                  <a:schemeClr val="accent4"/>
                </a:solidFill>
              </a:rPr>
              <a:t>SELECT(L, k)</a:t>
            </a:r>
            <a:endParaRPr lang="en-US" sz="2400" dirty="0">
              <a:solidFill>
                <a:schemeClr val="accent4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If k &gt; 5:</a:t>
            </a:r>
            <a:endParaRPr lang="en-US" sz="2400" dirty="0">
              <a:solidFill>
                <a:schemeClr val="accent4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sz="2400" dirty="0"/>
              <a:t>We should return </a:t>
            </a:r>
            <a:r>
              <a:rPr lang="en-US" sz="2400" dirty="0">
                <a:solidFill>
                  <a:schemeClr val="accent4"/>
                </a:solidFill>
              </a:rPr>
              <a:t>SELECT(R, k </a:t>
            </a:r>
            <a:r>
              <a:rPr lang="en-US" sz="2400" dirty="0">
                <a:solidFill>
                  <a:schemeClr val="accent4"/>
                </a:solidFill>
              </a:rPr>
              <a:t>–</a:t>
            </a:r>
            <a:r>
              <a:rPr lang="en-US" sz="2400" dirty="0">
                <a:solidFill>
                  <a:schemeClr val="accent4"/>
                </a:solidFill>
              </a:rPr>
              <a:t> 5)</a:t>
            </a: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14196" y="4640051"/>
            <a:ext cx="270201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rgbClr val="CF6E6C"/>
                </a:solidFill>
              </a:rPr>
              <a:t>This suggests a recursive algorithm</a:t>
            </a:r>
            <a:endParaRPr lang="en-US" sz="2400" dirty="0">
              <a:solidFill>
                <a:srgbClr val="CF6E6C"/>
              </a:solidFill>
            </a:endParaRPr>
          </a:p>
          <a:p>
            <a:pPr algn="r"/>
            <a:endParaRPr lang="en-US" dirty="0">
              <a:solidFill>
                <a:srgbClr val="CF6E6C"/>
              </a:solidFill>
            </a:endParaRPr>
          </a:p>
          <a:p>
            <a:pPr algn="r"/>
            <a:r>
              <a:rPr lang="en-US" dirty="0">
                <a:solidFill>
                  <a:srgbClr val="CF6E6C"/>
                </a:solidFill>
              </a:rPr>
              <a:t>(still need to figure out how to pick the pivot</a:t>
            </a:r>
            <a:r>
              <a:rPr lang="en-US" dirty="0">
                <a:solidFill>
                  <a:srgbClr val="CF6E6C"/>
                </a:solidFill>
              </a:rPr>
              <a:t>…</a:t>
            </a:r>
            <a:r>
              <a:rPr lang="en-US" dirty="0">
                <a:solidFill>
                  <a:srgbClr val="CF6E6C"/>
                </a:solidFill>
              </a:rPr>
              <a:t>)</a:t>
            </a:r>
            <a:endParaRPr lang="en-US" dirty="0">
              <a:solidFill>
                <a:srgbClr val="CF6E6C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ldLvl="2" build="p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509" y="339541"/>
            <a:ext cx="7886700" cy="1325563"/>
          </a:xfrm>
        </p:spPr>
        <p:txBody>
          <a:bodyPr/>
          <a:lstStyle/>
          <a:p>
            <a:r>
              <a:rPr lang="en-US" dirty="0"/>
              <a:t>Pseudocode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20191" y="259163"/>
            <a:ext cx="5320145" cy="1598915"/>
          </a:xfrm>
          <a:ln>
            <a:solidFill>
              <a:srgbClr val="0066FF"/>
            </a:solidFill>
          </a:ln>
        </p:spPr>
        <p:txBody>
          <a:bodyPr anchor="ctr">
            <a:normAutofit/>
          </a:bodyPr>
          <a:lstStyle/>
          <a:p>
            <a:r>
              <a:rPr lang="en-US" sz="2000" b="1" dirty="0" err="1">
                <a:latin typeface="Courier" charset="0"/>
                <a:ea typeface="Courier" charset="0"/>
                <a:cs typeface="Courier" charset="0"/>
              </a:rPr>
              <a:t>getPivot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(A)</a:t>
            </a:r>
            <a:r>
              <a:rPr lang="en-US" sz="2000" dirty="0">
                <a:ea typeface="Courier" charset="0"/>
                <a:cs typeface="Courier" charset="0"/>
              </a:rPr>
              <a:t>returns some pivot for us.</a:t>
            </a:r>
            <a:endParaRPr lang="en-US" sz="2000" dirty="0">
              <a:ea typeface="Courier" charset="0"/>
              <a:cs typeface="Courier" charset="0"/>
            </a:endParaRPr>
          </a:p>
          <a:p>
            <a:pPr lvl="1"/>
            <a:r>
              <a:rPr lang="en-US" sz="1800" dirty="0">
                <a:solidFill>
                  <a:srgbClr val="FF7400"/>
                </a:solidFill>
                <a:ea typeface="Courier" charset="0"/>
                <a:cs typeface="Courier" charset="0"/>
              </a:rPr>
              <a:t>How?? We’ll see later</a:t>
            </a:r>
            <a:r>
              <a:rPr lang="en-US" sz="1800" dirty="0">
                <a:solidFill>
                  <a:srgbClr val="FF7400"/>
                </a:solidFill>
                <a:ea typeface="Courier" charset="0"/>
                <a:cs typeface="Courier" charset="0"/>
              </a:rPr>
              <a:t>…</a:t>
            </a:r>
            <a:endParaRPr lang="en-US" sz="1800" dirty="0">
              <a:solidFill>
                <a:srgbClr val="FF7400"/>
              </a:solidFill>
              <a:ea typeface="Courier" charset="0"/>
              <a:cs typeface="Courier" charset="0"/>
            </a:endParaRPr>
          </a:p>
          <a:p>
            <a:r>
              <a:rPr lang="en-US" sz="2000" b="1" dirty="0">
                <a:latin typeface="Courier" charset="0"/>
                <a:ea typeface="Courier" charset="0"/>
                <a:cs typeface="Courier" charset="0"/>
              </a:rPr>
              <a:t>Partition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sz="2000" dirty="0" err="1">
                <a:latin typeface="Courier" charset="0"/>
                <a:ea typeface="Courier" charset="0"/>
                <a:cs typeface="Courier" charset="0"/>
              </a:rPr>
              <a:t>A,p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)</a:t>
            </a:r>
            <a:r>
              <a:rPr lang="en-US" sz="2000" dirty="0">
                <a:ea typeface="Courier" charset="0"/>
                <a:cs typeface="Courier" charset="0"/>
              </a:rPr>
              <a:t> splits up A into L, A[p], R. </a:t>
            </a:r>
            <a:endParaRPr lang="en-US" sz="2000" dirty="0">
              <a:ea typeface="Courier" charset="0"/>
              <a:cs typeface="Courier" charset="0"/>
            </a:endParaRPr>
          </a:p>
          <a:p>
            <a:pPr lvl="1"/>
            <a:r>
              <a:rPr lang="en-US" sz="1800" dirty="0">
                <a:solidFill>
                  <a:srgbClr val="0066FF"/>
                </a:solidFill>
                <a:ea typeface="Courier" charset="0"/>
                <a:cs typeface="Courier" charset="0"/>
              </a:rPr>
              <a:t>See Lecture 4 Python notebook for code</a:t>
            </a:r>
            <a:endParaRPr lang="en-US" sz="1800" dirty="0">
              <a:solidFill>
                <a:srgbClr val="0066FF"/>
              </a:solidFill>
              <a:ea typeface="Courier" charset="0"/>
              <a:cs typeface="Courier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1191" y="2051052"/>
            <a:ext cx="685800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400" b="1" dirty="0">
                <a:latin typeface="Courier" charset="0"/>
                <a:ea typeface="Courier" charset="0"/>
                <a:cs typeface="Courier" charset="0"/>
              </a:rPr>
              <a:t>Select</a:t>
            </a:r>
            <a:r>
              <a:rPr lang="en-US" sz="2400" dirty="0"/>
              <a:t>(</a:t>
            </a:r>
            <a:r>
              <a:rPr lang="en-US" sz="2400" dirty="0" err="1"/>
              <a:t>A,k</a:t>
            </a:r>
            <a:r>
              <a:rPr lang="en-US" sz="2400" dirty="0"/>
              <a:t>):</a:t>
            </a:r>
            <a:endParaRPr lang="en-US" sz="2400" dirty="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sz="2400" b="1" dirty="0">
                <a:solidFill>
                  <a:srgbClr val="FF7400"/>
                </a:solidFill>
              </a:rPr>
              <a:t>If</a:t>
            </a:r>
            <a:r>
              <a:rPr lang="en-US" sz="2400" dirty="0">
                <a:solidFill>
                  <a:srgbClr val="FF7400"/>
                </a:solidFill>
              </a:rPr>
              <a:t> </a:t>
            </a:r>
            <a:r>
              <a:rPr lang="en-US" sz="2400" dirty="0" err="1">
                <a:solidFill>
                  <a:srgbClr val="FF7400"/>
                </a:solidFill>
              </a:rPr>
              <a:t>len</a:t>
            </a:r>
            <a:r>
              <a:rPr lang="en-US" sz="2400" dirty="0">
                <a:solidFill>
                  <a:srgbClr val="FF7400"/>
                </a:solidFill>
              </a:rPr>
              <a:t>(A) &lt;= 50:</a:t>
            </a:r>
            <a:endParaRPr lang="en-US" sz="2400" dirty="0">
              <a:solidFill>
                <a:srgbClr val="FF7400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en-US" sz="2400" dirty="0">
                <a:solidFill>
                  <a:srgbClr val="FF7400"/>
                </a:solidFill>
              </a:rPr>
              <a:t>A = </a:t>
            </a:r>
            <a:r>
              <a:rPr lang="en-US" sz="2400" b="1" dirty="0" err="1">
                <a:solidFill>
                  <a:srgbClr val="FF7400"/>
                </a:solidFill>
                <a:latin typeface="Courier" charset="0"/>
                <a:ea typeface="Courier" charset="0"/>
                <a:cs typeface="Courier" charset="0"/>
              </a:rPr>
              <a:t>MergeSort</a:t>
            </a:r>
            <a:r>
              <a:rPr lang="en-US" sz="2400" dirty="0">
                <a:solidFill>
                  <a:srgbClr val="FF7400"/>
                </a:solidFill>
              </a:rPr>
              <a:t>(A)</a:t>
            </a:r>
            <a:endParaRPr lang="en-US" sz="2400" dirty="0">
              <a:solidFill>
                <a:srgbClr val="FF7400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en-US" sz="2400" b="1" dirty="0">
                <a:solidFill>
                  <a:srgbClr val="FF7400"/>
                </a:solidFill>
              </a:rPr>
              <a:t>Return</a:t>
            </a:r>
            <a:r>
              <a:rPr lang="en-US" sz="2400" dirty="0">
                <a:solidFill>
                  <a:srgbClr val="FF7400"/>
                </a:solidFill>
              </a:rPr>
              <a:t> A[k-1]  </a:t>
            </a:r>
            <a:endParaRPr lang="en-US" sz="2400" dirty="0">
              <a:solidFill>
                <a:srgbClr val="FF7400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sz="2400" dirty="0"/>
              <a:t>p = </a:t>
            </a:r>
            <a:r>
              <a:rPr lang="en-US" sz="2400" b="1" dirty="0" err="1">
                <a:latin typeface="Courier" charset="0"/>
                <a:ea typeface="Courier" charset="0"/>
                <a:cs typeface="Courier" charset="0"/>
              </a:rPr>
              <a:t>getPivot</a:t>
            </a:r>
            <a:r>
              <a:rPr lang="en-US" sz="2400" dirty="0"/>
              <a:t>(A)</a:t>
            </a:r>
            <a:endParaRPr lang="en-US" sz="2400" dirty="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sz="2400" dirty="0"/>
              <a:t>L, </a:t>
            </a:r>
            <a:r>
              <a:rPr lang="en-US" sz="2400" dirty="0" err="1"/>
              <a:t>pivotVal</a:t>
            </a:r>
            <a:r>
              <a:rPr lang="en-US" sz="2400" dirty="0"/>
              <a:t>, R = </a:t>
            </a:r>
            <a:r>
              <a:rPr lang="en-US" sz="2400" b="1" dirty="0">
                <a:latin typeface="Courier" charset="0"/>
                <a:ea typeface="Courier" charset="0"/>
                <a:cs typeface="Courier" charset="0"/>
              </a:rPr>
              <a:t>Partition</a:t>
            </a:r>
            <a:r>
              <a:rPr lang="en-US" sz="2400" dirty="0"/>
              <a:t>(</a:t>
            </a:r>
            <a:r>
              <a:rPr lang="en-US" sz="2400" dirty="0" err="1"/>
              <a:t>A,p</a:t>
            </a:r>
            <a:r>
              <a:rPr lang="en-US" sz="2400" dirty="0"/>
              <a:t>)</a:t>
            </a:r>
            <a:endParaRPr lang="en-US" sz="2400" dirty="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sz="2400" b="1" dirty="0">
                <a:solidFill>
                  <a:schemeClr val="accent1"/>
                </a:solidFill>
              </a:rPr>
              <a:t>if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 err="1">
                <a:solidFill>
                  <a:schemeClr val="accent1"/>
                </a:solidFill>
              </a:rPr>
              <a:t>len</a:t>
            </a:r>
            <a:r>
              <a:rPr lang="en-US" sz="2400" dirty="0">
                <a:solidFill>
                  <a:schemeClr val="accent1"/>
                </a:solidFill>
              </a:rPr>
              <a:t>(L) == k-1:</a:t>
            </a:r>
            <a:endParaRPr lang="en-US" sz="2400" dirty="0">
              <a:solidFill>
                <a:schemeClr val="accent1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</a:rPr>
              <a:t>return </a:t>
            </a:r>
            <a:r>
              <a:rPr lang="en-US" sz="2400" dirty="0" err="1">
                <a:solidFill>
                  <a:schemeClr val="accent1"/>
                </a:solidFill>
              </a:rPr>
              <a:t>pivotVal</a:t>
            </a:r>
            <a:endParaRPr lang="en-US" sz="2400" dirty="0">
              <a:solidFill>
                <a:schemeClr val="accent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sz="2400" b="1" dirty="0">
                <a:solidFill>
                  <a:srgbClr val="7030A0"/>
                </a:solidFill>
              </a:rPr>
              <a:t>Else if </a:t>
            </a:r>
            <a:r>
              <a:rPr lang="en-US" sz="2400" dirty="0" err="1">
                <a:solidFill>
                  <a:srgbClr val="7030A0"/>
                </a:solidFill>
              </a:rPr>
              <a:t>len</a:t>
            </a:r>
            <a:r>
              <a:rPr lang="en-US" sz="2400" dirty="0">
                <a:solidFill>
                  <a:srgbClr val="7030A0"/>
                </a:solidFill>
              </a:rPr>
              <a:t>(L) &gt; k-1:</a:t>
            </a:r>
            <a:endParaRPr lang="en-US" sz="2400" dirty="0">
              <a:solidFill>
                <a:srgbClr val="7030A0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en-US" sz="2400" dirty="0">
                <a:solidFill>
                  <a:srgbClr val="7030A0"/>
                </a:solidFill>
              </a:rPr>
              <a:t>return </a:t>
            </a:r>
            <a:r>
              <a:rPr lang="en-US" sz="2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Select</a:t>
            </a:r>
            <a:r>
              <a:rPr lang="en-US" sz="2400" dirty="0">
                <a:solidFill>
                  <a:srgbClr val="7030A0"/>
                </a:solidFill>
              </a:rPr>
              <a:t>(L, k)</a:t>
            </a:r>
            <a:endParaRPr lang="en-US" sz="2400" dirty="0">
              <a:solidFill>
                <a:srgbClr val="7030A0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sz="2400" b="1" dirty="0">
                <a:solidFill>
                  <a:srgbClr val="0066FF"/>
                </a:solidFill>
              </a:rPr>
              <a:t>Else if </a:t>
            </a:r>
            <a:r>
              <a:rPr lang="en-US" sz="2400" dirty="0" err="1">
                <a:solidFill>
                  <a:srgbClr val="0066FF"/>
                </a:solidFill>
              </a:rPr>
              <a:t>len</a:t>
            </a:r>
            <a:r>
              <a:rPr lang="en-US" sz="2400" dirty="0">
                <a:solidFill>
                  <a:srgbClr val="0066FF"/>
                </a:solidFill>
              </a:rPr>
              <a:t>(L) &lt; k-1:</a:t>
            </a:r>
            <a:endParaRPr lang="en-US" sz="2400" dirty="0">
              <a:solidFill>
                <a:srgbClr val="0066FF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en-US" sz="2400" dirty="0">
                <a:solidFill>
                  <a:srgbClr val="0066FF"/>
                </a:solidFill>
              </a:rPr>
              <a:t>return </a:t>
            </a:r>
            <a:r>
              <a:rPr lang="en-US" sz="2400" b="1" dirty="0">
                <a:solidFill>
                  <a:srgbClr val="0066FF"/>
                </a:solidFill>
                <a:latin typeface="Courier" charset="0"/>
                <a:ea typeface="Courier" charset="0"/>
                <a:cs typeface="Courier" charset="0"/>
              </a:rPr>
              <a:t>Select</a:t>
            </a:r>
            <a:r>
              <a:rPr lang="en-US" sz="2400" dirty="0">
                <a:solidFill>
                  <a:srgbClr val="0066FF"/>
                </a:solidFill>
              </a:rPr>
              <a:t>(R, k </a:t>
            </a:r>
            <a:r>
              <a:rPr lang="en-US" sz="2400" dirty="0">
                <a:solidFill>
                  <a:srgbClr val="0066FF"/>
                </a:solidFill>
              </a:rPr>
              <a:t>–</a:t>
            </a:r>
            <a:r>
              <a:rPr lang="en-US" sz="2400" dirty="0">
                <a:solidFill>
                  <a:srgbClr val="0066FF"/>
                </a:solidFill>
              </a:rPr>
              <a:t> </a:t>
            </a:r>
            <a:r>
              <a:rPr lang="en-US" sz="2400" b="1" dirty="0" err="1">
                <a:solidFill>
                  <a:srgbClr val="00B050"/>
                </a:solidFill>
              </a:rPr>
              <a:t>len</a:t>
            </a:r>
            <a:r>
              <a:rPr lang="en-US" sz="2400" b="1" dirty="0">
                <a:solidFill>
                  <a:srgbClr val="00B050"/>
                </a:solidFill>
              </a:rPr>
              <a:t>(L) </a:t>
            </a:r>
            <a:r>
              <a:rPr lang="en-US" sz="2400" b="1" dirty="0">
                <a:solidFill>
                  <a:srgbClr val="00B050"/>
                </a:solidFill>
              </a:rPr>
              <a:t>–</a:t>
            </a:r>
            <a:r>
              <a:rPr lang="en-US" sz="2400" b="1" dirty="0">
                <a:solidFill>
                  <a:srgbClr val="00B050"/>
                </a:solidFill>
              </a:rPr>
              <a:t> 1</a:t>
            </a:r>
            <a:r>
              <a:rPr lang="en-US" sz="2400" dirty="0">
                <a:solidFill>
                  <a:srgbClr val="0066FF"/>
                </a:solidFill>
              </a:rPr>
              <a:t>)</a:t>
            </a:r>
            <a:endParaRPr lang="en-US" sz="2400" dirty="0">
              <a:solidFill>
                <a:srgbClr val="0066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31376" y="2244026"/>
            <a:ext cx="3108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7400"/>
                </a:solidFill>
              </a:rPr>
              <a:t>Base Case</a:t>
            </a:r>
            <a:r>
              <a:rPr lang="en-US" dirty="0">
                <a:solidFill>
                  <a:srgbClr val="FF7400"/>
                </a:solidFill>
              </a:rPr>
              <a:t>: If  </a:t>
            </a:r>
            <a:r>
              <a:rPr lang="en-US" dirty="0" err="1">
                <a:solidFill>
                  <a:srgbClr val="FF7400"/>
                </a:solidFill>
              </a:rPr>
              <a:t>len</a:t>
            </a:r>
            <a:r>
              <a:rPr lang="en-US" dirty="0">
                <a:solidFill>
                  <a:srgbClr val="FF7400"/>
                </a:solidFill>
              </a:rPr>
              <a:t>(A) = O(1), then any sorting algorithm runs in time O(1).</a:t>
            </a:r>
            <a:endParaRPr lang="en-US" dirty="0">
              <a:solidFill>
                <a:srgbClr val="FF74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31376" y="4313209"/>
            <a:ext cx="3108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accent1"/>
                </a:solidFill>
              </a:rPr>
              <a:t>Case 1</a:t>
            </a:r>
            <a:r>
              <a:rPr lang="en-US" dirty="0">
                <a:solidFill>
                  <a:schemeClr val="accent1"/>
                </a:solidFill>
              </a:rPr>
              <a:t>: We got lucky and found exactly the </a:t>
            </a:r>
            <a:r>
              <a:rPr lang="en-US" dirty="0" err="1">
                <a:solidFill>
                  <a:schemeClr val="accent1"/>
                </a:solidFill>
              </a:rPr>
              <a:t>k’th</a:t>
            </a:r>
            <a:r>
              <a:rPr lang="en-US" dirty="0">
                <a:solidFill>
                  <a:schemeClr val="accent1"/>
                </a:solidFill>
              </a:rPr>
              <a:t> smallest value!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31376" y="5059120"/>
            <a:ext cx="3108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7030A0"/>
                </a:solidFill>
              </a:rPr>
              <a:t>Case 2</a:t>
            </a:r>
            <a:r>
              <a:rPr lang="en-US" dirty="0">
                <a:solidFill>
                  <a:srgbClr val="7030A0"/>
                </a:solidFill>
              </a:rPr>
              <a:t>: The </a:t>
            </a:r>
            <a:r>
              <a:rPr lang="en-US" dirty="0" err="1">
                <a:solidFill>
                  <a:srgbClr val="7030A0"/>
                </a:solidFill>
              </a:rPr>
              <a:t>k’th</a:t>
            </a:r>
            <a:r>
              <a:rPr lang="en-US" dirty="0">
                <a:solidFill>
                  <a:srgbClr val="7030A0"/>
                </a:solidFill>
              </a:rPr>
              <a:t> smallest value is in the first part of the list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04111" y="5798845"/>
            <a:ext cx="3108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0066FF"/>
                </a:solidFill>
              </a:rPr>
              <a:t>Case 3</a:t>
            </a:r>
            <a:r>
              <a:rPr lang="en-US" dirty="0">
                <a:solidFill>
                  <a:srgbClr val="0066FF"/>
                </a:solidFill>
              </a:rPr>
              <a:t>: The </a:t>
            </a:r>
            <a:r>
              <a:rPr lang="en-US" dirty="0" err="1">
                <a:solidFill>
                  <a:srgbClr val="0066FF"/>
                </a:solidFill>
              </a:rPr>
              <a:t>k’th</a:t>
            </a:r>
            <a:r>
              <a:rPr lang="en-US" dirty="0">
                <a:solidFill>
                  <a:srgbClr val="0066FF"/>
                </a:solidFill>
              </a:rPr>
              <a:t> smallest value is in the second part of the list</a:t>
            </a:r>
            <a:endParaRPr lang="en-US" dirty="0">
              <a:solidFill>
                <a:srgbClr val="0066FF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it work?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5032375"/>
          </a:xfrm>
        </p:spPr>
        <p:txBody>
          <a:bodyPr>
            <a:normAutofit/>
          </a:bodyPr>
          <a:lstStyle/>
          <a:p>
            <a:r>
              <a:rPr lang="en-US" dirty="0"/>
              <a:t>Check out the Python notebook for Lecture 4, which implements this with a bunch of different pivot-selection methods.</a:t>
            </a:r>
            <a:endParaRPr lang="en-US" dirty="0"/>
          </a:p>
          <a:p>
            <a:pPr lvl="1"/>
            <a:r>
              <a:rPr lang="en-US" dirty="0">
                <a:solidFill>
                  <a:schemeClr val="accent4"/>
                </a:solidFill>
              </a:rPr>
              <a:t>Seems to work!</a:t>
            </a:r>
            <a:endParaRPr lang="en-US" dirty="0">
              <a:solidFill>
                <a:schemeClr val="accent4"/>
              </a:solidFill>
            </a:endParaRPr>
          </a:p>
          <a:p>
            <a:pPr lvl="1"/>
            <a:endParaRPr lang="en-US" dirty="0"/>
          </a:p>
          <a:p>
            <a:r>
              <a:rPr lang="en-US" dirty="0"/>
              <a:t>Check out the lecture notes for a rigorous proof based on induction that this works, with any pivot-choosing mechanism.</a:t>
            </a:r>
            <a:endParaRPr lang="en-US" dirty="0"/>
          </a:p>
          <a:p>
            <a:pPr lvl="1"/>
            <a:r>
              <a:rPr lang="en-US" dirty="0">
                <a:solidFill>
                  <a:schemeClr val="accent4"/>
                </a:solidFill>
              </a:rPr>
              <a:t>It provably works!</a:t>
            </a:r>
            <a:endParaRPr lang="en-US" dirty="0">
              <a:solidFill>
                <a:schemeClr val="accent4"/>
              </a:solidFill>
            </a:endParaRPr>
          </a:p>
          <a:p>
            <a:pPr lvl="1"/>
            <a:r>
              <a:rPr lang="en-US" dirty="0">
                <a:solidFill>
                  <a:schemeClr val="accent4"/>
                </a:solidFill>
              </a:rPr>
              <a:t>Also, this is a good example of proving that a recursive algorithm is correct.</a:t>
            </a:r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7561980" y="79534"/>
            <a:ext cx="1582020" cy="16111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75766" y="146925"/>
            <a:ext cx="23151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Convince yourself that </a:t>
            </a:r>
            <a:r>
              <a:rPr lang="en-US" sz="16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Select</a:t>
            </a:r>
            <a:r>
              <a:rPr lang="en-US" sz="1600" dirty="0">
                <a:solidFill>
                  <a:srgbClr val="7030A0"/>
                </a:solidFill>
                <a:ea typeface="Courier" charset="0"/>
                <a:cs typeface="Courier" charset="0"/>
              </a:rPr>
              <a:t> is correct!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011611"/>
          </a:xfrm>
        </p:spPr>
        <p:txBody>
          <a:bodyPr/>
          <a:lstStyle/>
          <a:p>
            <a:r>
              <a:rPr lang="en-US" dirty="0" err="1"/>
              <a:t>证明</a:t>
            </a:r>
            <a:r>
              <a:rPr lang="en-US" altLang="zh-CN" dirty="0" err="1"/>
              <a:t>Select</a:t>
            </a:r>
            <a:r>
              <a:rPr lang="en-US" altLang="zh-CN" dirty="0"/>
              <a:t>(</a:t>
            </a:r>
            <a:r>
              <a:rPr lang="en-US" altLang="zh-CN" dirty="0" err="1"/>
              <a:t>A,k</a:t>
            </a:r>
            <a:r>
              <a:rPr lang="en-US" altLang="zh-CN" dirty="0"/>
              <a:t>)</a:t>
            </a:r>
            <a:r>
              <a:rPr lang="zh-CN" altLang="en-US" dirty="0"/>
              <a:t>是正确的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76737"/>
            <a:ext cx="7886700" cy="4800226"/>
          </a:xfrm>
        </p:spPr>
        <p:txBody>
          <a:bodyPr>
            <a:normAutofit fontScale="92500" lnSpcReduction="10000"/>
          </a:bodyPr>
          <a:lstStyle/>
          <a:p>
            <a:r>
              <a:rPr lang="fr-FR" altLang="zh-CN" b="1" dirty="0"/>
              <a:t>Base Case (n = 1)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k=1,</a:t>
            </a:r>
            <a:r>
              <a:rPr lang="zh-CN" altLang="en-US" dirty="0"/>
              <a:t> </a:t>
            </a:r>
            <a:r>
              <a:rPr lang="en-US" altLang="zh-CN" dirty="0"/>
              <a:t>Select(</a:t>
            </a:r>
            <a:r>
              <a:rPr lang="en-US" altLang="zh-CN" dirty="0" err="1"/>
              <a:t>A,k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A[0]</a:t>
            </a:r>
            <a:r>
              <a:rPr lang="zh-CN" altLang="en-US" dirty="0"/>
              <a:t>，正确</a:t>
            </a:r>
            <a:endParaRPr lang="en-US" altLang="zh-CN" dirty="0"/>
          </a:p>
          <a:p>
            <a:r>
              <a:rPr lang="fr-FR" altLang="zh-CN" b="1" dirty="0"/>
              <a:t>Inductive </a:t>
            </a:r>
            <a:r>
              <a:rPr lang="fr-FR" altLang="zh-CN" b="1" dirty="0" err="1"/>
              <a:t>Step</a:t>
            </a:r>
            <a:r>
              <a:rPr lang="fr-FR" altLang="zh-CN" dirty="0"/>
              <a:t>. Let i ≥ 2, and suppose </a:t>
            </a:r>
            <a:r>
              <a:rPr lang="fr-FR" altLang="zh-CN" dirty="0" err="1"/>
              <a:t>that</a:t>
            </a:r>
            <a:r>
              <a:rPr lang="fr-FR" altLang="zh-CN" dirty="0"/>
              <a:t> the inductive </a:t>
            </a:r>
            <a:r>
              <a:rPr lang="fr-FR" altLang="zh-CN" dirty="0" err="1"/>
              <a:t>hypothesis</a:t>
            </a:r>
            <a:r>
              <a:rPr lang="fr-FR" altLang="zh-CN" dirty="0"/>
              <a:t> </a:t>
            </a:r>
            <a:r>
              <a:rPr lang="fr-FR" altLang="zh-CN" dirty="0" err="1">
                <a:solidFill>
                  <a:srgbClr val="00B050"/>
                </a:solidFill>
              </a:rPr>
              <a:t>holds</a:t>
            </a:r>
            <a:r>
              <a:rPr lang="fr-FR" altLang="zh-CN" dirty="0">
                <a:solidFill>
                  <a:srgbClr val="00B050"/>
                </a:solidFill>
              </a:rPr>
              <a:t> for all n </a:t>
            </a:r>
            <a:r>
              <a:rPr lang="fr-FR" altLang="zh-CN" dirty="0" err="1">
                <a:solidFill>
                  <a:srgbClr val="00B050"/>
                </a:solidFill>
              </a:rPr>
              <a:t>with</a:t>
            </a:r>
            <a:r>
              <a:rPr lang="fr-FR" altLang="zh-CN" dirty="0">
                <a:solidFill>
                  <a:srgbClr val="00B050"/>
                </a:solidFill>
              </a:rPr>
              <a:t> 1≤n&lt;i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r>
              <a:rPr lang="fr-FR" altLang="zh-CN" dirty="0"/>
              <a:t>Select(</a:t>
            </a:r>
            <a:r>
              <a:rPr lang="fr-FR" altLang="zh-CN" dirty="0" err="1"/>
              <a:t>A,k</a:t>
            </a:r>
            <a:r>
              <a:rPr lang="fr-FR" altLang="zh-CN" dirty="0"/>
              <a:t>) </a:t>
            </a:r>
            <a:r>
              <a:rPr lang="fr-FR" altLang="zh-CN" dirty="0" err="1"/>
              <a:t>returns</a:t>
            </a:r>
            <a:r>
              <a:rPr lang="fr-FR" altLang="zh-CN" dirty="0"/>
              <a:t> the k-th </a:t>
            </a:r>
            <a:r>
              <a:rPr lang="fr-FR" altLang="zh-CN" dirty="0" err="1"/>
              <a:t>smallest</a:t>
            </a:r>
            <a:r>
              <a:rPr lang="fr-FR" altLang="zh-CN" dirty="0"/>
              <a:t> </a:t>
            </a:r>
            <a:r>
              <a:rPr lang="fr-FR" altLang="zh-CN" dirty="0" err="1"/>
              <a:t>element</a:t>
            </a:r>
            <a:r>
              <a:rPr lang="fr-FR" altLang="zh-CN" dirty="0"/>
              <a:t> of A</a:t>
            </a:r>
            <a:endParaRPr lang="fr-FR" altLang="zh-CN" dirty="0"/>
          </a:p>
          <a:p>
            <a:r>
              <a:rPr lang="fr-FR" altLang="zh-CN" b="1" dirty="0"/>
              <a:t>Our</a:t>
            </a:r>
            <a:r>
              <a:rPr lang="zh-CN" altLang="en-US" b="1" dirty="0"/>
              <a:t> </a:t>
            </a:r>
            <a:r>
              <a:rPr lang="fr-FR" altLang="zh-CN" b="1" dirty="0"/>
              <a:t>goal</a:t>
            </a:r>
            <a:r>
              <a:rPr lang="zh-CN" altLang="en-US" b="1" dirty="0"/>
              <a:t> </a:t>
            </a:r>
            <a:r>
              <a:rPr lang="fr-FR" altLang="zh-CN" b="1" dirty="0" err="1"/>
              <a:t>is</a:t>
            </a:r>
            <a:r>
              <a:rPr lang="zh-CN" altLang="en-US" b="1" dirty="0"/>
              <a:t> </a:t>
            </a:r>
            <a:r>
              <a:rPr lang="fr-FR" altLang="zh-CN" b="1" dirty="0"/>
              <a:t>to</a:t>
            </a:r>
            <a:r>
              <a:rPr lang="zh-CN" altLang="en-US" b="1" dirty="0"/>
              <a:t> </a:t>
            </a:r>
            <a:r>
              <a:rPr lang="fr-FR" altLang="zh-CN" b="1" dirty="0"/>
              <a:t>show</a:t>
            </a:r>
            <a:r>
              <a:rPr lang="zh-CN" altLang="en-US" b="1" dirty="0"/>
              <a:t> </a:t>
            </a:r>
            <a:r>
              <a:rPr lang="fr-FR" altLang="zh-CN" b="1" dirty="0" err="1"/>
              <a:t>that</a:t>
            </a:r>
            <a:r>
              <a:rPr lang="zh-CN" altLang="en-US" b="1" dirty="0"/>
              <a:t> </a:t>
            </a:r>
            <a:r>
              <a:rPr lang="fr-FR" altLang="zh-CN" b="1" dirty="0" err="1"/>
              <a:t>it</a:t>
            </a:r>
            <a:r>
              <a:rPr lang="zh-CN" altLang="en-US" b="1" dirty="0"/>
              <a:t> </a:t>
            </a:r>
            <a:r>
              <a:rPr lang="fr-FR" altLang="zh-CN" b="1" dirty="0" err="1"/>
              <a:t>holds</a:t>
            </a:r>
            <a:r>
              <a:rPr lang="zh-CN" altLang="en-US" b="1" dirty="0"/>
              <a:t> </a:t>
            </a:r>
            <a:r>
              <a:rPr lang="fr-FR" altLang="zh-CN" b="1" dirty="0"/>
              <a:t>for</a:t>
            </a:r>
            <a:r>
              <a:rPr lang="zh-CN" altLang="en-US" b="1" dirty="0"/>
              <a:t> </a:t>
            </a:r>
            <a:r>
              <a:rPr lang="fr-FR" altLang="zh-CN" b="1" dirty="0"/>
              <a:t>n=i</a:t>
            </a:r>
            <a:r>
              <a:rPr lang="en-US" altLang="zh-CN" b="1" dirty="0"/>
              <a:t>.</a:t>
            </a:r>
            <a:endParaRPr lang="en-US" altLang="zh-CN" b="1" dirty="0"/>
          </a:p>
          <a:p>
            <a:r>
              <a:rPr lang="en-US" altLang="zh-CN" b="1" dirty="0"/>
              <a:t>Suppose</a:t>
            </a:r>
            <a:r>
              <a:rPr lang="zh-CN" altLang="en-US" b="1" dirty="0"/>
              <a:t>  </a:t>
            </a:r>
            <a:r>
              <a:rPr lang="en-US" altLang="zh-CN" b="1" dirty="0"/>
              <a:t>k&lt;</a:t>
            </a:r>
            <a:r>
              <a:rPr lang="fr-FR" altLang="zh-CN" b="1" dirty="0"/>
              <a:t> i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pivot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p,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partitioned</a:t>
            </a:r>
            <a:r>
              <a:rPr lang="zh-CN" altLang="en-US" dirty="0"/>
              <a:t> </a:t>
            </a:r>
            <a:r>
              <a:rPr lang="en-US" altLang="zh-CN" dirty="0"/>
              <a:t>array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fr-FR" altLang="zh-CN" dirty="0"/>
              <a:t>A</a:t>
            </a:r>
            <a:r>
              <a:rPr lang="fr-FR" altLang="zh-CN" baseline="-25000" dirty="0"/>
              <a:t>&lt;</a:t>
            </a:r>
            <a:r>
              <a:rPr lang="fr-FR" altLang="zh-CN" dirty="0"/>
              <a:t>, A</a:t>
            </a:r>
            <a:r>
              <a:rPr lang="fr-FR" altLang="zh-CN" baseline="-25000" dirty="0"/>
              <a:t>&gt;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endParaRPr lang="fr-FR" altLang="zh-CN" dirty="0"/>
          </a:p>
          <a:p>
            <a:pPr lvl="1"/>
            <a:r>
              <a:rPr lang="en-US" altLang="zh-CN" dirty="0"/>
              <a:t>Case</a:t>
            </a:r>
            <a:r>
              <a:rPr lang="zh-CN" altLang="en-US" dirty="0"/>
              <a:t> </a:t>
            </a:r>
            <a:r>
              <a:rPr lang="en-US" altLang="zh-CN" dirty="0"/>
              <a:t>1,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p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k-smallest.</a:t>
            </a:r>
            <a:endParaRPr lang="en-US" altLang="zh-CN" dirty="0"/>
          </a:p>
          <a:p>
            <a:pPr lvl="1"/>
            <a:r>
              <a:rPr lang="en-US" altLang="zh-CN" dirty="0"/>
              <a:t>Case</a:t>
            </a:r>
            <a:r>
              <a:rPr lang="zh-CN" altLang="en-US" dirty="0"/>
              <a:t> </a:t>
            </a:r>
            <a:r>
              <a:rPr lang="en-US" altLang="zh-CN" dirty="0"/>
              <a:t>2,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 </a:t>
            </a:r>
            <a:r>
              <a:rPr lang="en-US" altLang="zh-CN" dirty="0"/>
              <a:t>|</a:t>
            </a:r>
            <a:r>
              <a:rPr lang="fr-FR" altLang="zh-CN" dirty="0"/>
              <a:t>A</a:t>
            </a:r>
            <a:r>
              <a:rPr lang="fr-FR" altLang="zh-CN" baseline="-25000" dirty="0"/>
              <a:t>&lt;</a:t>
            </a:r>
            <a:r>
              <a:rPr lang="en-US" altLang="zh-CN" dirty="0"/>
              <a:t>|</a:t>
            </a:r>
            <a:r>
              <a:rPr lang="zh-CN" altLang="en-US" dirty="0"/>
              <a:t> </a:t>
            </a:r>
            <a:r>
              <a:rPr lang="en-US" altLang="zh-CN" dirty="0"/>
              <a:t>&gt;</a:t>
            </a:r>
            <a:r>
              <a:rPr lang="zh-CN" altLang="en-US" dirty="0"/>
              <a:t> </a:t>
            </a:r>
            <a:r>
              <a:rPr lang="en-US" altLang="zh-CN" dirty="0"/>
              <a:t>k,</a:t>
            </a:r>
            <a:r>
              <a:rPr lang="zh-CN" altLang="en-US" dirty="0"/>
              <a:t> </a:t>
            </a:r>
            <a:r>
              <a:rPr lang="fr-FR" altLang="zh-CN" dirty="0"/>
              <a:t>Select(A</a:t>
            </a:r>
            <a:r>
              <a:rPr lang="fr-FR" altLang="zh-CN" baseline="-25000" dirty="0"/>
              <a:t>&lt;</a:t>
            </a:r>
            <a:r>
              <a:rPr lang="fr-FR" altLang="zh-CN" dirty="0"/>
              <a:t>,k)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return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correct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hypothesis.</a:t>
            </a:r>
            <a:endParaRPr lang="en-US" altLang="zh-CN" dirty="0"/>
          </a:p>
          <a:p>
            <a:pPr lvl="1"/>
            <a:r>
              <a:rPr lang="en-US" altLang="zh-CN" dirty="0"/>
              <a:t>Case</a:t>
            </a:r>
            <a:r>
              <a:rPr lang="zh-CN" altLang="en-US" dirty="0"/>
              <a:t> </a:t>
            </a:r>
            <a:r>
              <a:rPr lang="en-US" altLang="zh-CN" dirty="0"/>
              <a:t>3,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 </a:t>
            </a:r>
            <a:r>
              <a:rPr lang="en-US" altLang="zh-CN" dirty="0"/>
              <a:t>|</a:t>
            </a:r>
            <a:r>
              <a:rPr lang="fr-FR" altLang="zh-CN" dirty="0"/>
              <a:t>A</a:t>
            </a:r>
            <a:r>
              <a:rPr lang="fr-FR" altLang="zh-CN" baseline="-25000" dirty="0"/>
              <a:t>&lt;</a:t>
            </a:r>
            <a:r>
              <a:rPr lang="en-US" altLang="zh-CN" dirty="0"/>
              <a:t>|</a:t>
            </a:r>
            <a:r>
              <a:rPr lang="zh-CN" altLang="en-US" dirty="0"/>
              <a:t> </a:t>
            </a:r>
            <a:r>
              <a:rPr lang="en-US" altLang="zh-CN" dirty="0"/>
              <a:t>&lt;</a:t>
            </a:r>
            <a:r>
              <a:rPr lang="zh-CN" altLang="en-US" dirty="0"/>
              <a:t> </a:t>
            </a:r>
            <a:r>
              <a:rPr lang="en-US" altLang="zh-CN" dirty="0"/>
              <a:t>k,</a:t>
            </a:r>
            <a:r>
              <a:rPr lang="zh-CN" altLang="en-US" dirty="0"/>
              <a:t> </a:t>
            </a:r>
            <a:r>
              <a:rPr lang="fr-FR" altLang="zh-CN" dirty="0"/>
              <a:t>Select(A</a:t>
            </a:r>
            <a:r>
              <a:rPr lang="fr-FR" altLang="zh-CN" baseline="-25000" dirty="0"/>
              <a:t> &gt;</a:t>
            </a:r>
            <a:r>
              <a:rPr lang="fr-FR" altLang="zh-CN" dirty="0"/>
              <a:t>,k</a:t>
            </a:r>
            <a:r>
              <a:rPr lang="en-US" altLang="zh-CN" dirty="0"/>
              <a:t>- |</a:t>
            </a:r>
            <a:r>
              <a:rPr lang="fr-FR" altLang="zh-CN" dirty="0"/>
              <a:t>A</a:t>
            </a:r>
            <a:r>
              <a:rPr lang="fr-FR" altLang="zh-CN" baseline="-25000" dirty="0"/>
              <a:t>&lt;</a:t>
            </a:r>
            <a:r>
              <a:rPr lang="en-US" altLang="zh-CN" dirty="0"/>
              <a:t>|</a:t>
            </a:r>
            <a:r>
              <a:rPr lang="zh-CN" altLang="en-US" dirty="0"/>
              <a:t> </a:t>
            </a:r>
            <a:r>
              <a:rPr lang="en-US" altLang="zh-CN" dirty="0"/>
              <a:t>-1</a:t>
            </a:r>
            <a:r>
              <a:rPr lang="fr-FR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return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correct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hypothesis.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b="1" dirty="0"/>
              <a:t>Conclusion:</a:t>
            </a:r>
            <a:r>
              <a:rPr lang="zh-CN" altLang="en-US" b="1" dirty="0"/>
              <a:t> </a:t>
            </a:r>
            <a:r>
              <a:rPr lang="fr-FR" altLang="zh-CN" dirty="0"/>
              <a:t>the inductive </a:t>
            </a:r>
            <a:r>
              <a:rPr lang="fr-FR" altLang="zh-CN" dirty="0" err="1"/>
              <a:t>hypothesis</a:t>
            </a:r>
            <a:r>
              <a:rPr lang="fr-FR" altLang="zh-CN" dirty="0"/>
              <a:t> </a:t>
            </a:r>
            <a:r>
              <a:rPr lang="fr-FR" altLang="zh-CN" dirty="0" err="1"/>
              <a:t>holds</a:t>
            </a:r>
            <a:r>
              <a:rPr lang="fr-FR" altLang="zh-CN" dirty="0"/>
              <a:t> for all n ≥ 1</a:t>
            </a:r>
            <a:endParaRPr lang="fr-FR" altLang="zh-CN" dirty="0"/>
          </a:p>
          <a:p>
            <a:endParaRPr lang="en-US" altLang="zh-CN" dirty="0"/>
          </a:p>
          <a:p>
            <a:pPr lvl="1"/>
            <a:endParaRPr lang="fr-FR" altLang="zh-CN" dirty="0"/>
          </a:p>
          <a:p>
            <a:endParaRPr lang="en-US" altLang="zh-CN" dirty="0"/>
          </a:p>
          <a:p>
            <a:endParaRPr lang="fr-FR" altLang="zh-CN" dirty="0"/>
          </a:p>
          <a:p>
            <a:endParaRPr lang="fr-FR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726" y="289241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What is the running time?</a:t>
            </a:r>
            <a:br>
              <a:rPr lang="en-US" dirty="0"/>
            </a:br>
            <a:r>
              <a:rPr lang="en-US" sz="2400" dirty="0"/>
              <a:t>Assuming we pick the pivot in time O(n)…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70126" y="1785937"/>
                <a:ext cx="7886700" cy="507206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400" b="1" i="0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𝐥</m:t>
                                  </m:r>
                                  <m:r>
                                    <a:rPr lang="en-US" sz="2400" b="1" i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𝐞𝐧</m:t>
                                  </m:r>
                                  <m:d>
                                    <m:dPr>
                                      <m:ctrlPr>
                                        <a:rPr lang="en-US" sz="2400" b="1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1" i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𝐋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      </m:t>
                              </m:r>
                              <m:r>
                                <a:rPr lang="en-US" sz="2400" b="1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𝐥𝐞𝐧</m:t>
                              </m:r>
                              <m:d>
                                <m:dPr>
                                  <m:ctrlPr>
                                    <a:rPr lang="en-US" sz="2400" b="1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400" b="1" i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𝐋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𝐥𝐞𝐧</m:t>
                                  </m:r>
                                  <m:d>
                                    <m:dPr>
                                      <m:ctrlPr>
                                        <a:rPr lang="en-US" sz="2400" b="1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1" i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       </m:t>
                              </m:r>
                              <m:r>
                                <a:rPr lang="en-US" sz="2400" b="1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𝐥𝐞𝐧</m:t>
                              </m:r>
                              <m:d>
                                <m:dPr>
                                  <m:ctrlPr>
                                    <a:rPr lang="en-US" sz="2400" b="1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𝐋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                               </m:t>
                              </m:r>
                              <m:r>
                                <a:rPr lang="en-US" sz="2400" b="1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𝐥𝐞𝐧</m:t>
                              </m:r>
                              <m:d>
                                <m:dPr>
                                  <m:ctrlPr>
                                    <a:rPr lang="en-US" sz="2400" b="1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𝐋</m:t>
                                  </m:r>
                                </m:e>
                              </m:d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 </a:t>
                </a:r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What are </a:t>
                </a:r>
                <a:r>
                  <a:rPr lang="en-US" sz="2400" b="1" dirty="0" err="1">
                    <a:solidFill>
                      <a:schemeClr val="accent4"/>
                    </a:solidFill>
                  </a:rPr>
                  <a:t>len</a:t>
                </a:r>
                <a:r>
                  <a:rPr lang="en-US" sz="2400" b="1" dirty="0">
                    <a:solidFill>
                      <a:schemeClr val="accent4"/>
                    </a:solidFill>
                  </a:rPr>
                  <a:t>(L)</a:t>
                </a:r>
                <a:r>
                  <a:rPr lang="en-US" sz="2400" dirty="0"/>
                  <a:t> and </a:t>
                </a:r>
                <a:r>
                  <a:rPr lang="en-US" sz="2400" b="1" dirty="0" err="1">
                    <a:solidFill>
                      <a:schemeClr val="accent1"/>
                    </a:solidFill>
                  </a:rPr>
                  <a:t>len</a:t>
                </a:r>
                <a:r>
                  <a:rPr lang="en-US" sz="2400" b="1" dirty="0">
                    <a:solidFill>
                      <a:schemeClr val="accent1"/>
                    </a:solidFill>
                  </a:rPr>
                  <a:t>(R)</a:t>
                </a:r>
                <a:r>
                  <a:rPr lang="en-US" sz="2400" dirty="0"/>
                  <a:t>?</a:t>
                </a:r>
                <a:endParaRPr lang="en-US" sz="2400" dirty="0"/>
              </a:p>
              <a:p>
                <a:r>
                  <a:rPr lang="en-US" sz="2400" dirty="0"/>
                  <a:t>That depends on how we pick the pivot</a:t>
                </a:r>
                <a:r>
                  <a:rPr lang="en-US" sz="2400" dirty="0"/>
                  <a:t>…</a:t>
                </a:r>
                <a:endParaRPr lang="en-U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0126" y="1785937"/>
                <a:ext cx="7886700" cy="5072063"/>
              </a:xfrm>
              <a:blipFill rotWithShape="1">
                <a:blip r:embed="rId1"/>
                <a:stretch>
                  <a:fillRect l="-3" t="-44" r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4436076" y="5119678"/>
            <a:ext cx="3991231" cy="148709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273872" y="4615332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sz="2000" dirty="0"/>
              <a:t>What would be a “good” pivot?</a:t>
            </a:r>
            <a:endParaRPr lang="en-US" sz="2000" dirty="0"/>
          </a:p>
          <a:p>
            <a:pPr lvl="1"/>
            <a:r>
              <a:rPr lang="en-US" sz="2000" dirty="0"/>
              <a:t>What would be a “bad” pivot?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5080857" y="6317535"/>
            <a:ext cx="3346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Think-Share Terrapins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0713" y="6119336"/>
            <a:ext cx="41653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7400"/>
                </a:solidFill>
              </a:rPr>
              <a:t>The best way would be to always pick the pivot so that </a:t>
            </a:r>
            <a:r>
              <a:rPr lang="en-US" sz="1400" dirty="0" err="1">
                <a:solidFill>
                  <a:srgbClr val="FF7400"/>
                </a:solidFill>
              </a:rPr>
              <a:t>len</a:t>
            </a:r>
            <a:r>
              <a:rPr lang="en-US" sz="1400" dirty="0">
                <a:solidFill>
                  <a:srgbClr val="FF7400"/>
                </a:solidFill>
              </a:rPr>
              <a:t>(L) = k-1.  But say we don’t have control over k, just over how we pick the pivot.</a:t>
            </a:r>
            <a:endParaRPr lang="en-US" sz="1400" dirty="0">
              <a:solidFill>
                <a:srgbClr val="FF74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476" y="5112490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algn="r"/>
            <a:r>
              <a:rPr lang="en-US" sz="2000" dirty="0">
                <a:solidFill>
                  <a:srgbClr val="7030A0"/>
                </a:solidFill>
              </a:rPr>
              <a:t>Think: one minute</a:t>
            </a:r>
            <a:endParaRPr lang="en-US" sz="2000" dirty="0">
              <a:solidFill>
                <a:srgbClr val="7030A0"/>
              </a:solidFill>
            </a:endParaRPr>
          </a:p>
          <a:p>
            <a:pPr lvl="1" algn="r"/>
            <a:r>
              <a:rPr lang="en-US" sz="2000" dirty="0">
                <a:solidFill>
                  <a:srgbClr val="7030A0"/>
                </a:solidFill>
              </a:rPr>
              <a:t>Share: (wait) one minute</a:t>
            </a:r>
            <a:endParaRPr lang="en-US" sz="2000" dirty="0">
              <a:solidFill>
                <a:srgbClr val="7030A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  <p:bldP spid="8" grpId="0"/>
      <p:bldP spid="8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944" y="265605"/>
            <a:ext cx="7886700" cy="1325563"/>
          </a:xfrm>
        </p:spPr>
        <p:txBody>
          <a:bodyPr/>
          <a:lstStyle/>
          <a:p>
            <a:r>
              <a:rPr lang="en-US" dirty="0"/>
              <a:t>The ideal pivot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6822474" cy="4351338"/>
          </a:xfrm>
        </p:spPr>
        <p:txBody>
          <a:bodyPr/>
          <a:lstStyle/>
          <a:p>
            <a:r>
              <a:rPr lang="en-US" dirty="0"/>
              <a:t>We split the input exactly in half:</a:t>
            </a:r>
            <a:endParaRPr lang="en-US" dirty="0"/>
          </a:p>
          <a:p>
            <a:pPr lvl="1"/>
            <a:r>
              <a:rPr lang="en-US" dirty="0" err="1">
                <a:solidFill>
                  <a:schemeClr val="accent4"/>
                </a:solidFill>
              </a:rPr>
              <a:t>len</a:t>
            </a:r>
            <a:r>
              <a:rPr lang="en-US" dirty="0">
                <a:solidFill>
                  <a:schemeClr val="accent4"/>
                </a:solidFill>
              </a:rPr>
              <a:t>(L) = </a:t>
            </a:r>
            <a:r>
              <a:rPr lang="en-US" dirty="0" err="1">
                <a:solidFill>
                  <a:schemeClr val="accent4"/>
                </a:solidFill>
              </a:rPr>
              <a:t>len</a:t>
            </a:r>
            <a:r>
              <a:rPr lang="en-US" dirty="0">
                <a:solidFill>
                  <a:schemeClr val="accent4"/>
                </a:solidFill>
              </a:rPr>
              <a:t>(R) = (n-1)/2</a:t>
            </a:r>
            <a:endParaRPr lang="en-US" dirty="0">
              <a:solidFill>
                <a:schemeClr val="accent4"/>
              </a:solidFill>
            </a:endParaRPr>
          </a:p>
          <a:p>
            <a:pPr lvl="1"/>
            <a:endParaRPr lang="en-US" b="1" dirty="0">
              <a:solidFill>
                <a:schemeClr val="accent1"/>
              </a:solidFill>
            </a:endParaRPr>
          </a:p>
          <a:p>
            <a:r>
              <a:rPr lang="en-US" dirty="0"/>
              <a:t>Let’s pretend that’s the case and  use the </a:t>
            </a:r>
            <a:r>
              <a:rPr lang="en-US" b="1" dirty="0"/>
              <a:t>Master Theorem</a:t>
            </a:r>
            <a:r>
              <a:rPr lang="en-US" dirty="0"/>
              <a:t>!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/>
              <p:cNvSpPr txBox="1"/>
              <p:nvPr/>
            </p:nvSpPr>
            <p:spPr>
              <a:xfrm>
                <a:off x="4430841" y="4961044"/>
                <a:ext cx="4589869" cy="48656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9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800" dirty="0"/>
                  <a:t>Suppose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/>
                  <a:t>.  Then</a:t>
                </a:r>
                <a:endParaRPr lang="en-US" sz="1800" dirty="0"/>
              </a:p>
            </p:txBody>
          </p:sp>
        </mc:Choice>
        <mc:Fallback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0841" y="4961044"/>
                <a:ext cx="4589869" cy="486569"/>
              </a:xfrm>
              <a:prstGeom prst="rect">
                <a:avLst/>
              </a:prstGeom>
              <a:blipFill rotWithShape="1">
                <a:blip r:embed="rId1"/>
                <a:stretch>
                  <a:fillRect l="-10" t="-87" r="12" b="1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/>
          <p:cNvSpPr/>
          <p:nvPr/>
        </p:nvSpPr>
        <p:spPr>
          <a:xfrm>
            <a:off x="6021365" y="1353507"/>
            <a:ext cx="3418943" cy="1774221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Athelas" charset="0"/>
                <a:ea typeface="Athelas" charset="0"/>
                <a:cs typeface="Athelas" charset="0"/>
              </a:rPr>
              <a:t>Apply here, the Master Theorem does NOT.  Making unsubstantiated assumptions about problem sizes, we are.</a:t>
            </a:r>
            <a:endParaRPr lang="en-US" sz="1600" dirty="0">
              <a:solidFill>
                <a:schemeClr val="accent2">
                  <a:lumMod val="50000"/>
                </a:schemeClr>
              </a:solidFill>
              <a:latin typeface="Athelas" charset="0"/>
              <a:ea typeface="Athelas" charset="0"/>
              <a:cs typeface="Athelas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44823" y="4400371"/>
            <a:ext cx="1952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Jedi master Yoda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716102" y="3842525"/>
                <a:ext cx="3546929" cy="20423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chemeClr val="accent4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en-US" sz="2400" dirty="0">
                    <a:solidFill>
                      <a:schemeClr val="accent4"/>
                    </a:solidFill>
                  </a:rPr>
                  <a:t>So a = 1, b = 2, d = 1</a:t>
                </a:r>
                <a:endParaRPr lang="en-US" sz="2400" dirty="0">
                  <a:solidFill>
                    <a:schemeClr val="accent4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102" y="3842525"/>
                <a:ext cx="3546929" cy="2042354"/>
              </a:xfrm>
              <a:prstGeom prst="rect">
                <a:avLst/>
              </a:prstGeom>
              <a:blipFill rotWithShape="1">
                <a:blip r:embed="rId2"/>
                <a:stretch>
                  <a:fillRect l="-13" t="-7" r="8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7730837" y="3002909"/>
            <a:ext cx="1180406" cy="141648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4039887" y="5468125"/>
                <a:ext cx="5215677" cy="12485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func>
                                        <m:func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log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b>
                                          </m:sSub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887" y="5468125"/>
                <a:ext cx="5215677" cy="1248547"/>
              </a:xfrm>
              <a:prstGeom prst="rect">
                <a:avLst/>
              </a:prstGeom>
              <a:blipFill rotWithShape="1">
                <a:blip r:embed="rId4"/>
                <a:stretch>
                  <a:fillRect t="-11" r="8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1655180" y="6108104"/>
            <a:ext cx="3717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CF6E6C"/>
                </a:solidFill>
              </a:rPr>
              <a:t>That would be great!</a:t>
            </a:r>
            <a:endParaRPr lang="en-US" sz="2800" b="1" i="1" dirty="0">
              <a:solidFill>
                <a:srgbClr val="CF6E6C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2" grpId="0" bldLvl="2" build="p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75305"/>
          </a:xfrm>
        </p:spPr>
        <p:txBody>
          <a:bodyPr/>
          <a:lstStyle/>
          <a:p>
            <a:r>
              <a:rPr lang="en-US" altLang="zh-CN" dirty="0"/>
              <a:t>Random</a:t>
            </a:r>
            <a:r>
              <a:rPr lang="zh-CN" altLang="en-US" dirty="0"/>
              <a:t> </a:t>
            </a:r>
            <a:r>
              <a:rPr lang="en-US" altLang="zh-CN" dirty="0"/>
              <a:t>Select:</a:t>
            </a:r>
            <a:r>
              <a:rPr lang="zh-CN" altLang="en-US" dirty="0"/>
              <a:t> </a:t>
            </a:r>
            <a:r>
              <a:rPr lang="en-US" altLang="zh-CN" dirty="0" err="1"/>
              <a:t>RSelect</a:t>
            </a:r>
            <a:r>
              <a:rPr lang="en-US" altLang="zh-CN" dirty="0"/>
              <a:t>(A,</a:t>
            </a:r>
            <a:r>
              <a:rPr lang="zh-CN" altLang="en-US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440" y="1268973"/>
            <a:ext cx="7211532" cy="5223901"/>
          </a:xfrm>
          <a:prstGeom prst="rect">
            <a:avLst/>
          </a:prstGeom>
        </p:spPr>
      </p:pic>
      <p:sp>
        <p:nvSpPr>
          <p:cNvPr id="3" name="框架 2"/>
          <p:cNvSpPr/>
          <p:nvPr/>
        </p:nvSpPr>
        <p:spPr>
          <a:xfrm>
            <a:off x="978946" y="3366389"/>
            <a:ext cx="7261412" cy="775305"/>
          </a:xfrm>
          <a:prstGeom prst="frame">
            <a:avLst/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628" y="281676"/>
            <a:ext cx="8486285" cy="1325563"/>
          </a:xfrm>
        </p:spPr>
        <p:txBody>
          <a:bodyPr>
            <a:normAutofit/>
          </a:bodyPr>
          <a:lstStyle/>
          <a:p>
            <a:r>
              <a:rPr lang="en-US" dirty="0"/>
              <a:t>The worst </a:t>
            </a:r>
            <a:r>
              <a:rPr lang="en-US" altLang="zh-CN" dirty="0"/>
              <a:t>running</a:t>
            </a:r>
            <a:r>
              <a:rPr lang="zh-CN" altLang="en-US" dirty="0"/>
              <a:t> </a:t>
            </a:r>
            <a:r>
              <a:rPr lang="en-US" altLang="zh-CN" dirty="0"/>
              <a:t>time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 err="1"/>
              <a:t>RSelect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628" y="1607239"/>
            <a:ext cx="7886700" cy="4351338"/>
          </a:xfrm>
        </p:spPr>
        <p:txBody>
          <a:bodyPr/>
          <a:lstStyle/>
          <a:p>
            <a:r>
              <a:rPr lang="en-US" dirty="0"/>
              <a:t>Say our choice of pivot doesn’t depend on A.</a:t>
            </a:r>
            <a:endParaRPr lang="en-US" dirty="0"/>
          </a:p>
          <a:p>
            <a:r>
              <a:rPr lang="en-US" dirty="0"/>
              <a:t>A bad guy who </a:t>
            </a:r>
            <a:r>
              <a:rPr lang="en-US" b="1" dirty="0">
                <a:solidFill>
                  <a:srgbClr val="CF6E6C"/>
                </a:solidFill>
              </a:rPr>
              <a:t>knows what pivots we will choose</a:t>
            </a:r>
            <a:r>
              <a:rPr lang="en-US" dirty="0"/>
              <a:t> gets to come up with A. 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6620994" y="3985578"/>
            <a:ext cx="3519701" cy="3016886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854345" y="3627625"/>
            <a:ext cx="5766649" cy="705201"/>
            <a:chOff x="1573619" y="3296093"/>
            <a:chExt cx="5766649" cy="705201"/>
          </a:xfrm>
        </p:grpSpPr>
        <p:sp>
          <p:nvSpPr>
            <p:cNvPr id="6" name="Rectangle 5"/>
            <p:cNvSpPr/>
            <p:nvPr/>
          </p:nvSpPr>
          <p:spPr>
            <a:xfrm>
              <a:off x="1573619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230353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17868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908601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635067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019384" y="4416830"/>
            <a:ext cx="912159" cy="630882"/>
            <a:chOff x="3019384" y="4069582"/>
            <a:chExt cx="912159" cy="630882"/>
          </a:xfrm>
        </p:grpSpPr>
        <p:sp>
          <p:nvSpPr>
            <p:cNvPr id="14" name="Triangle 13"/>
            <p:cNvSpPr/>
            <p:nvPr/>
          </p:nvSpPr>
          <p:spPr>
            <a:xfrm>
              <a:off x="3158868" y="4069582"/>
              <a:ext cx="403898" cy="26155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019384" y="4331132"/>
              <a:ext cx="9121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3">
                      <a:lumMod val="75000"/>
                    </a:schemeClr>
                  </a:solidFill>
                </a:rPr>
                <a:t>pivot</a:t>
              </a:r>
              <a:endParaRPr lang="en-US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3169056" y="3657059"/>
            <a:ext cx="403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1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762676" y="3657059"/>
            <a:ext cx="403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2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048179" y="3657058"/>
            <a:ext cx="403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3</a:t>
            </a:r>
            <a:endParaRPr lang="en-US" dirty="0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3.7037E-6 C -0.01788 0.03588 -0.03559 0.07199 -0.05607 0.08634 C -0.07656 0.10069 -0.10781 0.10069 -0.12239 0.08634 C -0.13697 0.07199 -0.1401 0.03588 -0.14322 3.7037E-6 " pathEditMode="relative" rAng="0" ptsTypes="AAAA">
                                      <p:cBhvr>
                                        <p:cTn id="2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70" y="48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475 0.00555 C -0.16944 0.05486 -0.17413 0.10393 -0.12656 0.12453 C -0.07916 0.1449 0.04983 0.14027 0.12066 0.12801 C 0.19115 0.11574 0.2632 0.07314 0.29705 0.05069 C 0.33091 0.02801 0.32744 0.01041 0.32396 -0.00695 " pathEditMode="relative" rAng="0" ptsTypes="AAAAA">
                                      <p:cBhvr>
                                        <p:cTn id="3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392" y="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9" grpId="0"/>
      <p:bldP spid="21" grpId="0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worst running</a:t>
            </a:r>
            <a:r>
              <a:rPr lang="zh-CN" altLang="en-US" dirty="0"/>
              <a:t> </a:t>
            </a:r>
            <a:r>
              <a:rPr lang="en-US" altLang="zh-CN" dirty="0"/>
              <a:t>time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 err="1"/>
              <a:t>RSelect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partition</a:t>
            </a:r>
            <a:r>
              <a:rPr lang="zh-CN" altLang="en-US" dirty="0"/>
              <a:t> </a:t>
            </a:r>
            <a:r>
              <a:rPr lang="en-US" altLang="zh-CN" dirty="0"/>
              <a:t>use</a:t>
            </a:r>
            <a:r>
              <a:rPr lang="zh-CN" altLang="en-US" dirty="0"/>
              <a:t> </a:t>
            </a:r>
            <a:r>
              <a:rPr lang="en-US" altLang="zh-CN" dirty="0"/>
              <a:t>linear</a:t>
            </a:r>
            <a:r>
              <a:rPr lang="zh-CN" altLang="en-US" dirty="0"/>
              <a:t> </a:t>
            </a:r>
            <a:r>
              <a:rPr lang="en-US" altLang="zh-CN" dirty="0"/>
              <a:t>time,</a:t>
            </a:r>
            <a:r>
              <a:rPr lang="zh-CN" altLang="en-US" dirty="0"/>
              <a:t> </a:t>
            </a:r>
            <a:r>
              <a:rPr lang="en-US" altLang="zh-CN" dirty="0"/>
              <a:t>so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worst</a:t>
            </a:r>
            <a:r>
              <a:rPr lang="zh-CN" altLang="en-US" dirty="0"/>
              <a:t> </a:t>
            </a:r>
            <a:r>
              <a:rPr lang="en-US" altLang="zh-CN" dirty="0"/>
              <a:t>case:</a:t>
            </a:r>
            <a:endParaRPr lang="fr-FR" altLang="zh-CN" dirty="0"/>
          </a:p>
          <a:p>
            <a:pPr marL="0" indent="0">
              <a:buNone/>
            </a:pPr>
            <a:r>
              <a:rPr lang="fr-FR" altLang="zh-CN" dirty="0"/>
              <a:t>                        </a:t>
            </a:r>
            <a:r>
              <a:rPr lang="fr-FR" altLang="zh-CN" dirty="0" err="1"/>
              <a:t>T</a:t>
            </a:r>
            <a:r>
              <a:rPr lang="fr-FR" altLang="zh-CN" dirty="0"/>
              <a:t> (n) = </a:t>
            </a:r>
            <a:r>
              <a:rPr lang="fr-FR" altLang="zh-CN" dirty="0" err="1"/>
              <a:t>T</a:t>
            </a:r>
            <a:r>
              <a:rPr lang="fr-FR" altLang="zh-CN" dirty="0"/>
              <a:t> (n − 1) + </a:t>
            </a:r>
            <a:r>
              <a:rPr lang="el-GR" altLang="zh-CN" dirty="0"/>
              <a:t>Θ(</a:t>
            </a:r>
            <a:r>
              <a:rPr lang="fr-FR" altLang="zh-CN" dirty="0"/>
              <a:t>n)</a:t>
            </a:r>
            <a:endParaRPr lang="fr-FR" altLang="zh-CN" dirty="0"/>
          </a:p>
          <a:p>
            <a:r>
              <a:rPr lang="en-US" altLang="zh-CN" dirty="0"/>
              <a:t>So there is:</a:t>
            </a:r>
            <a:endParaRPr lang="fr-FR" altLang="zh-CN" dirty="0"/>
          </a:p>
          <a:p>
            <a:pPr lvl="1"/>
            <a:r>
              <a:rPr lang="fr-FR" altLang="zh-CN" sz="2800" dirty="0" err="1"/>
              <a:t>T</a:t>
            </a:r>
            <a:r>
              <a:rPr lang="fr-FR" altLang="zh-CN" sz="2800" dirty="0"/>
              <a:t>(n)≤c</a:t>
            </a:r>
            <a:r>
              <a:rPr lang="fr-FR" altLang="zh-CN" sz="2800" baseline="-25000" dirty="0"/>
              <a:t>1</a:t>
            </a:r>
            <a:r>
              <a:rPr lang="fr-FR" altLang="zh-CN" sz="2800" dirty="0"/>
              <a:t>n+c</a:t>
            </a:r>
            <a:r>
              <a:rPr lang="fr-FR" altLang="zh-CN" sz="2800" baseline="-25000" dirty="0"/>
              <a:t>1</a:t>
            </a:r>
            <a:r>
              <a:rPr lang="fr-FR" altLang="zh-CN" sz="2800" dirty="0"/>
              <a:t>(n−1)+c</a:t>
            </a:r>
            <a:r>
              <a:rPr lang="fr-FR" altLang="zh-CN" sz="2800" baseline="-25000" dirty="0"/>
              <a:t>1</a:t>
            </a:r>
            <a:r>
              <a:rPr lang="fr-FR" altLang="zh-CN" sz="2800" dirty="0"/>
              <a:t>(n−2)+...+c</a:t>
            </a:r>
            <a:r>
              <a:rPr lang="fr-FR" altLang="zh-CN" sz="2800" baseline="-25000" dirty="0"/>
              <a:t>1</a:t>
            </a:r>
            <a:r>
              <a:rPr lang="fr-FR" altLang="zh-CN" sz="2800" dirty="0"/>
              <a:t> =c</a:t>
            </a:r>
            <a:r>
              <a:rPr lang="fr-FR" altLang="zh-CN" sz="2800" baseline="-25000" dirty="0"/>
              <a:t>1</a:t>
            </a:r>
            <a:r>
              <a:rPr lang="fr-FR" altLang="zh-CN" sz="2800" dirty="0"/>
              <a:t>n(n+1)/2</a:t>
            </a:r>
            <a:endParaRPr lang="fr-FR" altLang="zh-CN" sz="2800" dirty="0"/>
          </a:p>
          <a:p>
            <a:r>
              <a:rPr lang="en-US" altLang="zh-CN" dirty="0"/>
              <a:t>At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time</a:t>
            </a:r>
            <a:endParaRPr lang="fr-FR" altLang="zh-CN" dirty="0"/>
          </a:p>
          <a:p>
            <a:pPr lvl="1"/>
            <a:r>
              <a:rPr lang="fr-FR" altLang="zh-CN" sz="2800" dirty="0" err="1"/>
              <a:t>T</a:t>
            </a:r>
            <a:r>
              <a:rPr lang="fr-FR" altLang="zh-CN" sz="2800" dirty="0"/>
              <a:t>(n)≥c</a:t>
            </a:r>
            <a:r>
              <a:rPr lang="fr-FR" altLang="zh-CN" sz="2800" baseline="-25000" dirty="0"/>
              <a:t>2</a:t>
            </a:r>
            <a:r>
              <a:rPr lang="fr-FR" altLang="zh-CN" sz="2800" dirty="0"/>
              <a:t>n+c</a:t>
            </a:r>
            <a:r>
              <a:rPr lang="fr-FR" altLang="zh-CN" sz="2800" baseline="-25000" dirty="0"/>
              <a:t>2</a:t>
            </a:r>
            <a:r>
              <a:rPr lang="fr-FR" altLang="zh-CN" sz="2800" dirty="0"/>
              <a:t>(n−1)+c</a:t>
            </a:r>
            <a:r>
              <a:rPr lang="fr-FR" altLang="zh-CN" sz="2800" baseline="-25000" dirty="0"/>
              <a:t>2</a:t>
            </a:r>
            <a:r>
              <a:rPr lang="fr-FR" altLang="zh-CN" sz="2800" dirty="0"/>
              <a:t>(n−2)+...+c</a:t>
            </a:r>
            <a:r>
              <a:rPr lang="fr-FR" altLang="zh-CN" sz="2800" baseline="-25000" dirty="0"/>
              <a:t>2</a:t>
            </a:r>
            <a:r>
              <a:rPr lang="fr-FR" altLang="zh-CN" sz="2800" dirty="0"/>
              <a:t> =c</a:t>
            </a:r>
            <a:r>
              <a:rPr lang="fr-FR" altLang="zh-CN" sz="2800" baseline="-25000" dirty="0"/>
              <a:t>2</a:t>
            </a:r>
            <a:r>
              <a:rPr lang="fr-FR" altLang="zh-CN" sz="2800" dirty="0"/>
              <a:t>n(n+1)/2.</a:t>
            </a:r>
            <a:endParaRPr lang="fr-FR" altLang="zh-CN" sz="2800" dirty="0"/>
          </a:p>
          <a:p>
            <a:r>
              <a:rPr lang="fr-FR" altLang="zh-CN" dirty="0" err="1"/>
              <a:t>We</a:t>
            </a:r>
            <a:r>
              <a:rPr lang="fr-FR" altLang="zh-CN" dirty="0"/>
              <a:t> </a:t>
            </a:r>
            <a:r>
              <a:rPr lang="fr-FR" altLang="zh-CN" dirty="0" err="1"/>
              <a:t>conclude</a:t>
            </a:r>
            <a:r>
              <a:rPr lang="fr-FR" altLang="zh-CN" dirty="0"/>
              <a:t> </a:t>
            </a:r>
            <a:r>
              <a:rPr lang="fr-FR" altLang="zh-CN" dirty="0" err="1"/>
              <a:t>that</a:t>
            </a:r>
            <a:r>
              <a:rPr lang="fr-FR" altLang="zh-CN" dirty="0"/>
              <a:t> </a:t>
            </a:r>
            <a:endParaRPr lang="fr-FR" altLang="zh-CN" dirty="0"/>
          </a:p>
          <a:p>
            <a:pPr marL="457200" lvl="1" indent="0">
              <a:buNone/>
            </a:pPr>
            <a:r>
              <a:rPr lang="en-US" altLang="zh-CN" dirty="0"/>
              <a:t>                     </a:t>
            </a:r>
            <a:r>
              <a:rPr lang="en-US" altLang="zh-CN" sz="2800" dirty="0"/>
              <a:t>T</a:t>
            </a:r>
            <a:r>
              <a:rPr lang="fr-FR" altLang="zh-CN" sz="2800" dirty="0"/>
              <a:t> (n) = </a:t>
            </a:r>
            <a:r>
              <a:rPr lang="el-GR" altLang="zh-CN" sz="2800" dirty="0"/>
              <a:t>Θ(</a:t>
            </a:r>
            <a:r>
              <a:rPr lang="fr-FR" altLang="zh-CN" sz="2800" dirty="0"/>
              <a:t>n</a:t>
            </a:r>
            <a:r>
              <a:rPr lang="fr-FR" altLang="zh-CN" sz="2800" baseline="30000" dirty="0"/>
              <a:t>2</a:t>
            </a:r>
            <a:r>
              <a:rPr lang="fr-FR" altLang="zh-CN" sz="2800" dirty="0"/>
              <a:t>).</a:t>
            </a:r>
            <a:endParaRPr lang="fr-FR" altLang="zh-CN" sz="2800" dirty="0"/>
          </a:p>
          <a:p>
            <a:endParaRPr lang="fr-FR" altLang="zh-CN" dirty="0"/>
          </a:p>
          <a:p>
            <a:endParaRPr lang="fr-FR" altLang="zh-CN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833" y="1209185"/>
            <a:ext cx="7017263" cy="50538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96" y="-28244"/>
            <a:ext cx="7886700" cy="1325563"/>
          </a:xfrm>
        </p:spPr>
        <p:txBody>
          <a:bodyPr/>
          <a:lstStyle/>
          <a:p>
            <a:r>
              <a:rPr lang="en-US"/>
              <a:t>The distinction matters!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626822" y="6379448"/>
            <a:ext cx="6783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Lecture 4 Python notebook for code that generated this picture.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974379" y="4571999"/>
            <a:ext cx="2111433" cy="1200329"/>
          </a:xfrm>
          <a:prstGeom prst="rect">
            <a:avLst/>
          </a:prstGeom>
          <a:solidFill>
            <a:schemeClr val="bg1"/>
          </a:solidFill>
          <a:ln>
            <a:solidFill>
              <a:srgbClr val="CF6E6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CF6E6C"/>
                </a:solidFill>
              </a:rPr>
              <a:t>This one is a random pivot, so it splits the array about in half.</a:t>
            </a:r>
            <a:endParaRPr lang="en-US" i="1" dirty="0">
              <a:solidFill>
                <a:srgbClr val="CF6E6C"/>
              </a:solidFill>
            </a:endParaRPr>
          </a:p>
          <a:p>
            <a:pPr algn="ctr"/>
            <a:r>
              <a:rPr lang="en-US" i="1" dirty="0">
                <a:solidFill>
                  <a:srgbClr val="CF6E6C"/>
                </a:solidFill>
              </a:rPr>
              <a:t>Looks fast!</a:t>
            </a:r>
            <a:endParaRPr lang="en-US" i="1" dirty="0">
              <a:solidFill>
                <a:srgbClr val="CF6E6C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6367549" y="5037513"/>
            <a:ext cx="598516" cy="199505"/>
          </a:xfrm>
          <a:prstGeom prst="line">
            <a:avLst/>
          </a:prstGeom>
          <a:ln>
            <a:solidFill>
              <a:srgbClr val="CF6E6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85310" y="2978726"/>
            <a:ext cx="3280755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accent6"/>
                </a:solidFill>
              </a:rPr>
              <a:t>For this one I chose the worst possible pivot.  Looks like O(n</a:t>
            </a:r>
            <a:r>
              <a:rPr lang="en-US" i="1" baseline="30000" dirty="0">
                <a:solidFill>
                  <a:schemeClr val="accent6"/>
                </a:solidFill>
              </a:rPr>
              <a:t>2</a:t>
            </a:r>
            <a:r>
              <a:rPr lang="en-US" i="1" dirty="0">
                <a:solidFill>
                  <a:schemeClr val="accent6"/>
                </a:solidFill>
              </a:rPr>
              <a:t>).</a:t>
            </a:r>
            <a:endParaRPr lang="en-US" i="1" dirty="0">
              <a:solidFill>
                <a:schemeClr val="accent6"/>
              </a:solidFill>
            </a:endParaRPr>
          </a:p>
        </p:txBody>
      </p:sp>
      <p:cxnSp>
        <p:nvCxnSpPr>
          <p:cNvPr id="13" name="Straight Arrow Connector 12"/>
          <p:cNvCxnSpPr>
            <a:stCxn id="11" idx="1"/>
          </p:cNvCxnSpPr>
          <p:nvPr/>
        </p:nvCxnSpPr>
        <p:spPr>
          <a:xfrm flipH="1">
            <a:off x="3125586" y="3301892"/>
            <a:ext cx="559724" cy="322457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 rot="20849657">
            <a:off x="4286861" y="4066506"/>
            <a:ext cx="3091947" cy="369332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>
                <a:solidFill>
                  <a:srgbClr val="0070C0"/>
                </a:solidFill>
              </a:rPr>
              <a:t>MergeSort</a:t>
            </a:r>
            <a:r>
              <a:rPr lang="en-US" i="1" dirty="0">
                <a:solidFill>
                  <a:srgbClr val="0070C0"/>
                </a:solidFill>
              </a:rPr>
              <a:t>-based solution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pick a good pivot?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7291" y="4966095"/>
            <a:ext cx="5886450" cy="1526779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In practice, there is often no bad guy.  In that case, just pick a random pivot and it works really well!</a:t>
            </a:r>
            <a:endParaRPr lang="en-US" sz="2400" dirty="0">
              <a:solidFill>
                <a:schemeClr val="accent4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(More on this next lecture)</a:t>
            </a:r>
            <a:endParaRPr lang="en-US" sz="2400" dirty="0">
              <a:solidFill>
                <a:schemeClr val="accent4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6933741" y="5019376"/>
            <a:ext cx="2083027" cy="1325563"/>
          </a:xfrm>
          <a:prstGeom prst="rect">
            <a:avLst/>
          </a:prstGeom>
        </p:spPr>
      </p:pic>
      <p:sp>
        <p:nvSpPr>
          <p:cNvPr id="5" name="Title 1"/>
          <p:cNvSpPr txBox="1"/>
          <p:nvPr/>
        </p:nvSpPr>
        <p:spPr>
          <a:xfrm>
            <a:off x="628650" y="4073722"/>
            <a:ext cx="15336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Aside: 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6" name="Content Placeholder 2"/>
          <p:cNvSpPr txBox="1"/>
          <p:nvPr/>
        </p:nvSpPr>
        <p:spPr>
          <a:xfrm>
            <a:off x="857250" y="1600598"/>
            <a:ext cx="7886700" cy="3013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Randomly?</a:t>
            </a:r>
            <a:endParaRPr lang="en-US" dirty="0"/>
          </a:p>
          <a:p>
            <a:pPr lvl="1"/>
            <a:r>
              <a:rPr lang="en-US" dirty="0">
                <a:solidFill>
                  <a:schemeClr val="accent4"/>
                </a:solidFill>
              </a:rPr>
              <a:t>That works well if there’s no bad guy.</a:t>
            </a:r>
            <a:endParaRPr lang="en-US" dirty="0">
              <a:solidFill>
                <a:schemeClr val="accent4"/>
              </a:solidFill>
            </a:endParaRPr>
          </a:p>
          <a:p>
            <a:pPr lvl="1"/>
            <a:r>
              <a:rPr lang="en-US" dirty="0">
                <a:solidFill>
                  <a:schemeClr val="accent4"/>
                </a:solidFill>
              </a:rPr>
              <a:t>But if there is a bad guy who gets to see our pivot choices, that’s just as bad as the worst-case pivot.</a:t>
            </a:r>
            <a:endParaRPr lang="en-US" dirty="0">
              <a:solidFill>
                <a:schemeClr val="accent4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-297927" y="4330691"/>
            <a:ext cx="995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 bldLvl="2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1195697"/>
            <a:ext cx="2599891" cy="4238118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33B63"/>
                </a:solidFill>
              </a:rPr>
              <a:t>主要内容</a:t>
            </a:r>
            <a:endParaRPr lang="en-US" dirty="0">
              <a:solidFill>
                <a:srgbClr val="033B63"/>
              </a:solidFill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D-Select:</a:t>
            </a:r>
            <a:r>
              <a:rPr lang="zh-CN" altLang="en-US" dirty="0"/>
              <a:t> </a:t>
            </a:r>
            <a:r>
              <a:rPr lang="en-US" dirty="0"/>
              <a:t>How do we pick a good pivot?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r>
              <a:rPr lang="en-US" dirty="0"/>
              <a:t>For today, let’s assume there’s this bad guy.</a:t>
            </a:r>
            <a:endParaRPr lang="en-US" dirty="0"/>
          </a:p>
          <a:p>
            <a:r>
              <a:rPr lang="en-US" dirty="0"/>
              <a:t>Reasons:</a:t>
            </a:r>
            <a:endParaRPr lang="en-US" dirty="0"/>
          </a:p>
          <a:p>
            <a:pPr lvl="1"/>
            <a:r>
              <a:rPr lang="en-US" dirty="0"/>
              <a:t>This gives us a very strong guarantee</a:t>
            </a:r>
            <a:endParaRPr lang="en-US" dirty="0"/>
          </a:p>
          <a:p>
            <a:pPr lvl="1"/>
            <a:r>
              <a:rPr lang="en-US" dirty="0"/>
              <a:t>We’ll get to see a </a:t>
            </a:r>
            <a:r>
              <a:rPr lang="en-US" dirty="0">
                <a:solidFill>
                  <a:schemeClr val="accent4"/>
                </a:solidFill>
              </a:rPr>
              <a:t>really clever algorithm.</a:t>
            </a:r>
            <a:endParaRPr lang="en-US" dirty="0">
              <a:solidFill>
                <a:schemeClr val="accent4"/>
              </a:solidFill>
            </a:endParaRPr>
          </a:p>
          <a:p>
            <a:pPr lvl="2"/>
            <a:r>
              <a:rPr lang="en-US" dirty="0"/>
              <a:t>Necessarily it will look at A to pick the pivot.</a:t>
            </a:r>
            <a:endParaRPr lang="en-US" dirty="0"/>
          </a:p>
          <a:p>
            <a:pPr lvl="1"/>
            <a:r>
              <a:rPr lang="en-US" dirty="0"/>
              <a:t>We’ll get to use the</a:t>
            </a:r>
            <a:r>
              <a:rPr lang="en-US" dirty="0">
                <a:solidFill>
                  <a:schemeClr val="accent4"/>
                </a:solidFill>
              </a:rPr>
              <a:t> substitution method.</a:t>
            </a:r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6361580" y="4012869"/>
            <a:ext cx="3519701" cy="301688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28650" y="4576833"/>
            <a:ext cx="563858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dirty="0">
                <a:solidFill>
                  <a:srgbClr val="000000"/>
                </a:solidFill>
                <a:effectLst/>
                <a:latin typeface="Helvetica" pitchFamily="2" charset="0"/>
              </a:rPr>
              <a:t>“</a:t>
            </a:r>
            <a:r>
              <a:rPr lang="fr-FR" altLang="zh-CN" b="1" dirty="0">
                <a:solidFill>
                  <a:srgbClr val="000000"/>
                </a:solidFill>
                <a:effectLst/>
                <a:latin typeface="Helvetica" pitchFamily="2" charset="0"/>
              </a:rPr>
              <a:t>Times </a:t>
            </a:r>
            <a:r>
              <a:rPr lang="fr-FR" altLang="zh-CN" b="1" dirty="0" err="1">
                <a:solidFill>
                  <a:srgbClr val="000000"/>
                </a:solidFill>
                <a:effectLst/>
                <a:latin typeface="Helvetica" pitchFamily="2" charset="0"/>
              </a:rPr>
              <a:t>Bounds</a:t>
            </a:r>
            <a:r>
              <a:rPr lang="fr-FR" altLang="zh-CN" b="1" dirty="0">
                <a:solidFill>
                  <a:srgbClr val="000000"/>
                </a:solidFill>
                <a:effectLst/>
                <a:latin typeface="Helvetica" pitchFamily="2" charset="0"/>
              </a:rPr>
              <a:t> for </a:t>
            </a:r>
            <a:r>
              <a:rPr lang="fr-FR" altLang="zh-CN" b="1" dirty="0" err="1">
                <a:solidFill>
                  <a:srgbClr val="000000"/>
                </a:solidFill>
                <a:effectLst/>
                <a:latin typeface="Helvetica" pitchFamily="2" charset="0"/>
              </a:rPr>
              <a:t>Selection</a:t>
            </a:r>
            <a:r>
              <a:rPr lang="fr-FR" altLang="zh-CN" dirty="0">
                <a:solidFill>
                  <a:srgbClr val="000000"/>
                </a:solidFill>
                <a:effectLst/>
                <a:latin typeface="Helvetica" pitchFamily="2" charset="0"/>
              </a:rPr>
              <a:t>,” by </a:t>
            </a:r>
            <a:r>
              <a:rPr lang="fr-FR" altLang="zh-CN" dirty="0">
                <a:solidFill>
                  <a:srgbClr val="FF0000"/>
                </a:solidFill>
                <a:effectLst/>
                <a:latin typeface="Helvetica" pitchFamily="2" charset="0"/>
              </a:rPr>
              <a:t>Manuel Blum</a:t>
            </a:r>
            <a:r>
              <a:rPr lang="zh-CN" altLang="en-US" dirty="0">
                <a:solidFill>
                  <a:srgbClr val="FF0000"/>
                </a:solidFill>
                <a:effectLst/>
                <a:latin typeface="Helvetica" pitchFamily="2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effectLst/>
                <a:latin typeface="Helvetica" pitchFamily="2" charset="0"/>
              </a:rPr>
              <a:t>(1995</a:t>
            </a:r>
            <a:r>
              <a:rPr lang="zh-CN" altLang="en-US" dirty="0">
                <a:solidFill>
                  <a:srgbClr val="FF0000"/>
                </a:solidFill>
                <a:effectLst/>
                <a:latin typeface="Helvetica" pitchFamily="2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effectLst/>
                <a:latin typeface="Helvetica" pitchFamily="2" charset="0"/>
              </a:rPr>
              <a:t>Turing</a:t>
            </a:r>
            <a:r>
              <a:rPr lang="zh-CN" altLang="en-US" dirty="0">
                <a:solidFill>
                  <a:srgbClr val="FF0000"/>
                </a:solidFill>
                <a:effectLst/>
                <a:latin typeface="Helvetica" pitchFamily="2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effectLst/>
                <a:latin typeface="Helvetica" pitchFamily="2" charset="0"/>
              </a:rPr>
              <a:t>award)</a:t>
            </a:r>
            <a:r>
              <a:rPr lang="fr-FR" altLang="zh-CN" dirty="0">
                <a:solidFill>
                  <a:srgbClr val="000000"/>
                </a:solidFill>
                <a:effectLst/>
                <a:latin typeface="Helvetica" pitchFamily="2" charset="0"/>
              </a:rPr>
              <a:t>, </a:t>
            </a:r>
            <a:r>
              <a:rPr lang="fr-FR" altLang="zh-CN" dirty="0">
                <a:solidFill>
                  <a:srgbClr val="FF0000"/>
                </a:solidFill>
                <a:effectLst/>
                <a:latin typeface="Helvetica" pitchFamily="2" charset="0"/>
              </a:rPr>
              <a:t>Robert W. Floyd</a:t>
            </a:r>
            <a:r>
              <a:rPr lang="zh-CN" altLang="en-US" dirty="0">
                <a:solidFill>
                  <a:srgbClr val="FF0000"/>
                </a:solidFill>
                <a:effectLst/>
                <a:latin typeface="Helvetica" pitchFamily="2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effectLst/>
                <a:latin typeface="Helvetica" pitchFamily="2" charset="0"/>
              </a:rPr>
              <a:t>(1978</a:t>
            </a:r>
            <a:r>
              <a:rPr lang="zh-CN" altLang="en-US" dirty="0">
                <a:solidFill>
                  <a:srgbClr val="FF0000"/>
                </a:solidFill>
                <a:effectLst/>
                <a:latin typeface="Helvetica" pitchFamily="2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effectLst/>
                <a:latin typeface="Helvetica" pitchFamily="2" charset="0"/>
              </a:rPr>
              <a:t>Turing</a:t>
            </a:r>
            <a:r>
              <a:rPr lang="zh-CN" altLang="en-US" dirty="0">
                <a:solidFill>
                  <a:srgbClr val="FF0000"/>
                </a:solidFill>
                <a:effectLst/>
                <a:latin typeface="Helvetica" pitchFamily="2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effectLst/>
                <a:latin typeface="Helvetica" pitchFamily="2" charset="0"/>
              </a:rPr>
              <a:t>award)</a:t>
            </a:r>
            <a:r>
              <a:rPr lang="fr-FR" altLang="zh-CN" dirty="0">
                <a:solidFill>
                  <a:srgbClr val="000000"/>
                </a:solidFill>
                <a:effectLst/>
                <a:latin typeface="Helvetica" pitchFamily="2" charset="0"/>
              </a:rPr>
              <a:t>, Vaughan Pratt, </a:t>
            </a:r>
            <a:r>
              <a:rPr lang="fr-FR" altLang="zh-CN" dirty="0">
                <a:solidFill>
                  <a:srgbClr val="FF0000"/>
                </a:solidFill>
                <a:effectLst/>
                <a:latin typeface="Helvetica" pitchFamily="2" charset="0"/>
              </a:rPr>
              <a:t>Ronald L. </a:t>
            </a:r>
            <a:r>
              <a:rPr lang="fr-FR" altLang="zh-CN" dirty="0" err="1">
                <a:solidFill>
                  <a:srgbClr val="FF0000"/>
                </a:solidFill>
                <a:effectLst/>
                <a:latin typeface="Helvetica" pitchFamily="2" charset="0"/>
              </a:rPr>
              <a:t>Rivest</a:t>
            </a:r>
            <a:r>
              <a:rPr lang="zh-CN" altLang="en-US" dirty="0">
                <a:solidFill>
                  <a:srgbClr val="FF0000"/>
                </a:solidFill>
                <a:effectLst/>
                <a:latin typeface="Helvetica" pitchFamily="2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effectLst/>
                <a:latin typeface="Helvetica" pitchFamily="2" charset="0"/>
              </a:rPr>
              <a:t>(2002</a:t>
            </a:r>
            <a:r>
              <a:rPr lang="zh-CN" altLang="en-US" dirty="0">
                <a:solidFill>
                  <a:srgbClr val="FF0000"/>
                </a:solidFill>
                <a:effectLst/>
                <a:latin typeface="Helvetica" pitchFamily="2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effectLst/>
                <a:latin typeface="Helvetica" pitchFamily="2" charset="0"/>
              </a:rPr>
              <a:t>Turning</a:t>
            </a:r>
            <a:r>
              <a:rPr lang="zh-CN" altLang="en-US" dirty="0">
                <a:solidFill>
                  <a:srgbClr val="FF0000"/>
                </a:solidFill>
                <a:effectLst/>
                <a:latin typeface="Helvetica" pitchFamily="2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effectLst/>
                <a:latin typeface="Helvetica" pitchFamily="2" charset="0"/>
              </a:rPr>
              <a:t>award)</a:t>
            </a:r>
            <a:r>
              <a:rPr lang="fr-FR" altLang="zh-CN" dirty="0">
                <a:solidFill>
                  <a:srgbClr val="000000"/>
                </a:solidFill>
                <a:effectLst/>
                <a:latin typeface="Helvetica" pitchFamily="2" charset="0"/>
              </a:rPr>
              <a:t>, and </a:t>
            </a:r>
            <a:r>
              <a:rPr lang="fr-FR" altLang="zh-CN" dirty="0">
                <a:solidFill>
                  <a:srgbClr val="FF0000"/>
                </a:solidFill>
                <a:effectLst/>
                <a:latin typeface="Helvetica" pitchFamily="2" charset="0"/>
              </a:rPr>
              <a:t>Robert E. </a:t>
            </a:r>
            <a:r>
              <a:rPr lang="fr-FR" altLang="zh-CN" dirty="0" err="1">
                <a:solidFill>
                  <a:srgbClr val="FF0000"/>
                </a:solidFill>
                <a:effectLst/>
                <a:latin typeface="Helvetica" pitchFamily="2" charset="0"/>
              </a:rPr>
              <a:t>Tarjan</a:t>
            </a:r>
            <a:r>
              <a:rPr lang="zh-CN" altLang="en-US" dirty="0">
                <a:solidFill>
                  <a:srgbClr val="FF0000"/>
                </a:solidFill>
                <a:effectLst/>
                <a:latin typeface="Helvetica" pitchFamily="2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effectLst/>
                <a:latin typeface="Helvetica" pitchFamily="2" charset="0"/>
              </a:rPr>
              <a:t>(1986</a:t>
            </a:r>
            <a:r>
              <a:rPr lang="zh-CN" altLang="en-US" dirty="0">
                <a:solidFill>
                  <a:srgbClr val="FF0000"/>
                </a:solidFill>
                <a:effectLst/>
                <a:latin typeface="Helvetica" pitchFamily="2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effectLst/>
                <a:latin typeface="Helvetica" pitchFamily="2" charset="0"/>
              </a:rPr>
              <a:t>Turin</a:t>
            </a:r>
            <a:r>
              <a:rPr lang="en-US" altLang="zh-CN" dirty="0">
                <a:solidFill>
                  <a:srgbClr val="FF0000"/>
                </a:solidFill>
                <a:latin typeface="Helvetica" pitchFamily="2" charset="0"/>
              </a:rPr>
              <a:t>g</a:t>
            </a:r>
            <a:r>
              <a:rPr lang="zh-CN" altLang="en-US" dirty="0">
                <a:solidFill>
                  <a:srgbClr val="FF0000"/>
                </a:solidFill>
                <a:latin typeface="Helvetica" pitchFamily="2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Helvetica" pitchFamily="2" charset="0"/>
              </a:rPr>
              <a:t>award</a:t>
            </a:r>
            <a:r>
              <a:rPr lang="en-US" altLang="zh-CN" dirty="0">
                <a:solidFill>
                  <a:srgbClr val="FF0000"/>
                </a:solidFill>
                <a:effectLst/>
                <a:latin typeface="Helvetica" pitchFamily="2" charset="0"/>
              </a:rPr>
              <a:t>)</a:t>
            </a:r>
            <a:r>
              <a:rPr lang="fr-FR" altLang="zh-CN" dirty="0">
                <a:solidFill>
                  <a:srgbClr val="FF0000"/>
                </a:solidFill>
                <a:effectLst/>
                <a:latin typeface="Helvetica" pitchFamily="2" charset="0"/>
              </a:rPr>
              <a:t> </a:t>
            </a:r>
            <a:r>
              <a:rPr lang="fr-FR" altLang="zh-CN" dirty="0">
                <a:solidFill>
                  <a:srgbClr val="000000"/>
                </a:solidFill>
                <a:effectLst/>
                <a:latin typeface="Helvetica" pitchFamily="2" charset="0"/>
              </a:rPr>
              <a:t>(Journal of Computer and System Sciences, 1973).</a:t>
            </a:r>
            <a:endParaRPr lang="fr-FR" altLang="zh-CN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2432" y="1871924"/>
            <a:ext cx="8781568" cy="4351338"/>
          </a:xfrm>
        </p:spPr>
        <p:txBody>
          <a:bodyPr/>
          <a:lstStyle/>
          <a:p>
            <a:r>
              <a:rPr lang="en-US" dirty="0"/>
              <a:t>First, we’ll figure out what the ideal pivot would be.</a:t>
            </a:r>
            <a:endParaRPr lang="en-US" dirty="0"/>
          </a:p>
          <a:p>
            <a:pPr lvl="1"/>
            <a:r>
              <a:rPr lang="en-US" dirty="0">
                <a:solidFill>
                  <a:schemeClr val="accent4"/>
                </a:solidFill>
              </a:rPr>
              <a:t>But we won’t be able to get it.</a:t>
            </a:r>
            <a:endParaRPr lang="en-US" dirty="0">
              <a:solidFill>
                <a:schemeClr val="accent4"/>
              </a:solidFill>
            </a:endParaRPr>
          </a:p>
          <a:p>
            <a:pPr lvl="1"/>
            <a:endParaRPr lang="en-US" dirty="0"/>
          </a:p>
          <a:p>
            <a:r>
              <a:rPr lang="en-US" dirty="0"/>
              <a:t>Then, we’ll figure out what a </a:t>
            </a:r>
            <a:r>
              <a:rPr lang="en-US" b="1" dirty="0"/>
              <a:t>pretty good </a:t>
            </a:r>
            <a:r>
              <a:rPr lang="en-US" dirty="0"/>
              <a:t>pivot would be.</a:t>
            </a:r>
            <a:endParaRPr lang="en-US" dirty="0"/>
          </a:p>
          <a:p>
            <a:pPr lvl="1"/>
            <a:r>
              <a:rPr lang="en-US" dirty="0">
                <a:solidFill>
                  <a:schemeClr val="accent4"/>
                </a:solidFill>
              </a:rPr>
              <a:t>But we still won’t know how to get it.</a:t>
            </a:r>
            <a:endParaRPr lang="en-US" dirty="0">
              <a:solidFill>
                <a:schemeClr val="accent4"/>
              </a:solidFill>
            </a:endParaRPr>
          </a:p>
          <a:p>
            <a:pPr lvl="1"/>
            <a:endParaRPr lang="en-US" dirty="0"/>
          </a:p>
          <a:p>
            <a:r>
              <a:rPr lang="en-US" dirty="0"/>
              <a:t>Finally, we will see how to get our pretty good pivot!</a:t>
            </a:r>
            <a:endParaRPr lang="en-US" dirty="0"/>
          </a:p>
          <a:p>
            <a:pPr lvl="1"/>
            <a:r>
              <a:rPr lang="en-US" dirty="0">
                <a:solidFill>
                  <a:schemeClr val="accent4"/>
                </a:solidFill>
              </a:rPr>
              <a:t>And then we will celebrate.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673" y="376701"/>
            <a:ext cx="7886700" cy="1325563"/>
          </a:xfrm>
        </p:spPr>
        <p:txBody>
          <a:bodyPr/>
          <a:lstStyle/>
          <a:p>
            <a:r>
              <a:rPr lang="en-US" dirty="0"/>
              <a:t>How do we pick our ideal pivot?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ideal</a:t>
            </a:r>
            <a:r>
              <a:rPr lang="zh-CN" altLang="en-US" dirty="0"/>
              <a:t> </a:t>
            </a:r>
            <a:r>
              <a:rPr lang="en-US" altLang="zh-CN" dirty="0"/>
              <a:t>case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p</a:t>
            </a:r>
            <a:r>
              <a:rPr lang="en-US" dirty="0"/>
              <a:t>ick the pivot to divide the input in half.</a:t>
            </a:r>
            <a:endParaRPr lang="en-US" dirty="0"/>
          </a:p>
          <a:p>
            <a:r>
              <a:rPr lang="en-US" dirty="0"/>
              <a:t>Aka, pick the median!</a:t>
            </a:r>
            <a:endParaRPr lang="en-US" dirty="0"/>
          </a:p>
          <a:p>
            <a:r>
              <a:rPr lang="en-US" altLang="zh-CN" dirty="0">
                <a:solidFill>
                  <a:schemeClr val="accent4"/>
                </a:solidFill>
                <a:latin typeface="Courier" charset="0"/>
                <a:ea typeface="Courier" charset="0"/>
                <a:cs typeface="Courier" charset="0"/>
              </a:rPr>
              <a:t>Median</a:t>
            </a:r>
            <a:r>
              <a:rPr lang="zh-CN" altLang="en-US" dirty="0">
                <a:solidFill>
                  <a:schemeClr val="accent4"/>
                </a:solidFill>
                <a:latin typeface="Courier" charset="0"/>
                <a:ea typeface="Courier" charset="0"/>
                <a:cs typeface="Courier" charset="0"/>
              </a:rPr>
              <a:t>（中间数）</a:t>
            </a:r>
            <a:r>
              <a:rPr lang="en-US" altLang="zh-CN" dirty="0">
                <a:solidFill>
                  <a:schemeClr val="accent4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zh-CN" altLang="en-US" dirty="0">
                <a:solidFill>
                  <a:schemeClr val="accent4"/>
                </a:solidFill>
                <a:latin typeface="Courier" charset="0"/>
                <a:ea typeface="Courier" charset="0"/>
                <a:cs typeface="Courier" charset="0"/>
              </a:rPr>
              <a:t> 第</a:t>
            </a:r>
            <a:r>
              <a:rPr lang="en-US" altLang="zh-CN" dirty="0">
                <a:solidFill>
                  <a:schemeClr val="accent4"/>
                </a:solidFill>
                <a:latin typeface="Courier" charset="0"/>
                <a:ea typeface="Courier" charset="0"/>
                <a:cs typeface="Courier" charset="0"/>
              </a:rPr>
              <a:t>n/2</a:t>
            </a:r>
            <a:r>
              <a:rPr lang="zh-CN" altLang="en-US" dirty="0">
                <a:solidFill>
                  <a:schemeClr val="accent4"/>
                </a:solidFill>
                <a:latin typeface="Courier" charset="0"/>
                <a:ea typeface="Courier" charset="0"/>
                <a:cs typeface="Courier" charset="0"/>
              </a:rPr>
              <a:t>大的数</a:t>
            </a:r>
            <a:endParaRPr lang="en-US" dirty="0">
              <a:solidFill>
                <a:schemeClr val="accent4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dirty="0"/>
              <a:t>Aka, pick </a:t>
            </a:r>
            <a:r>
              <a:rPr lang="en-US" altLang="zh-CN" dirty="0">
                <a:solidFill>
                  <a:schemeClr val="accent4"/>
                </a:solidFill>
              </a:rPr>
              <a:t>SELECT(A, n/2)!</a:t>
            </a:r>
            <a:endParaRPr lang="en-US" altLang="zh-CN" dirty="0">
              <a:solidFill>
                <a:schemeClr val="accent4"/>
              </a:solidFill>
            </a:endParaRPr>
          </a:p>
          <a:p>
            <a:endParaRPr lang="en-US" altLang="zh-CN" dirty="0">
              <a:solidFill>
                <a:schemeClr val="accent4"/>
              </a:solidFill>
            </a:endParaRPr>
          </a:p>
          <a:p>
            <a:r>
              <a:rPr lang="zh-CN" altLang="en-US" dirty="0">
                <a:solidFill>
                  <a:schemeClr val="accent4"/>
                </a:solidFill>
                <a:latin typeface="Courier" charset="0"/>
                <a:ea typeface="Courier" charset="0"/>
                <a:cs typeface="Courier" charset="0"/>
              </a:rPr>
              <a:t>计算下列数</a:t>
            </a:r>
            <a:r>
              <a:rPr lang="en-US" altLang="zh-CN" dirty="0">
                <a:solidFill>
                  <a:schemeClr val="accent4"/>
                </a:solidFill>
                <a:latin typeface="Courier" charset="0"/>
                <a:ea typeface="Courier" charset="0"/>
                <a:cs typeface="Courier" charset="0"/>
              </a:rPr>
              <a:t>102, 56, 34, 99, 89, 101, 10</a:t>
            </a:r>
            <a:r>
              <a:rPr lang="zh-CN" altLang="en-US" dirty="0">
                <a:solidFill>
                  <a:schemeClr val="accent4"/>
                </a:solidFill>
                <a:latin typeface="Courier" charset="0"/>
                <a:ea typeface="Courier" charset="0"/>
                <a:cs typeface="Courier" charset="0"/>
              </a:rPr>
              <a:t> 的</a:t>
            </a:r>
            <a:r>
              <a:rPr lang="en-US" altLang="zh-CN" dirty="0">
                <a:solidFill>
                  <a:schemeClr val="accent4"/>
                </a:solidFill>
                <a:latin typeface="Courier" charset="0"/>
                <a:ea typeface="Courier" charset="0"/>
                <a:cs typeface="Courier" charset="0"/>
              </a:rPr>
              <a:t>Median</a:t>
            </a:r>
            <a:endParaRPr lang="en-US" altLang="zh-CN" dirty="0">
              <a:solidFill>
                <a:schemeClr val="accent4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dirty="0">
                <a:solidFill>
                  <a:schemeClr val="accent4"/>
                </a:solidFill>
              </a:rPr>
              <a:t>需要先排序、再找中间数</a:t>
            </a:r>
            <a:endParaRPr lang="en-US" altLang="zh-CN" dirty="0">
              <a:solidFill>
                <a:schemeClr val="accent4"/>
              </a:solidFill>
            </a:endParaRPr>
          </a:p>
          <a:p>
            <a:endParaRPr lang="en-US" dirty="0">
              <a:solidFill>
                <a:schemeClr val="accent4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1936" y="5156200"/>
            <a:ext cx="2301398" cy="17018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74" y="190413"/>
            <a:ext cx="7886700" cy="1325563"/>
          </a:xfrm>
        </p:spPr>
        <p:txBody>
          <a:bodyPr/>
          <a:lstStyle/>
          <a:p>
            <a:r>
              <a:rPr lang="en-US" dirty="0"/>
              <a:t>How about a good enough pivot?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334" y="1632821"/>
            <a:ext cx="7886700" cy="4351338"/>
          </a:xfrm>
        </p:spPr>
        <p:txBody>
          <a:bodyPr/>
          <a:lstStyle/>
          <a:p>
            <a:r>
              <a:rPr lang="en-US" dirty="0" err="1"/>
              <a:t>我们可以用近似的思路找一个近似的中间数</a:t>
            </a:r>
            <a:r>
              <a:rPr lang="en-US" dirty="0"/>
              <a:t>.</a:t>
            </a:r>
            <a:endParaRPr lang="en-US" dirty="0"/>
          </a:p>
          <a:p>
            <a:r>
              <a:rPr lang="en-US" altLang="zh-CN" b="1" u="sng" dirty="0">
                <a:solidFill>
                  <a:srgbClr val="FF0000"/>
                </a:solidFill>
                <a:ea typeface="Courier" charset="0"/>
                <a:cs typeface="Courier" charset="0"/>
              </a:rPr>
              <a:t>Lemma*: </a:t>
            </a:r>
            <a:r>
              <a:rPr lang="en-US" altLang="zh-CN" dirty="0">
                <a:solidFill>
                  <a:srgbClr val="FF0000"/>
                </a:solidFill>
                <a:ea typeface="Courier" charset="0"/>
                <a:cs typeface="Courier" charset="0"/>
              </a:rPr>
              <a:t>The median of sub-medians is close to the median</a:t>
            </a:r>
            <a:r>
              <a:rPr lang="en-US" altLang="zh-CN" dirty="0">
                <a:ea typeface="Courier" charset="0"/>
                <a:cs typeface="Courier" charset="0"/>
              </a:rPr>
              <a:t>.</a:t>
            </a:r>
            <a:endParaRPr lang="en-US" altLang="zh-CN" dirty="0">
              <a:ea typeface="Courier" charset="0"/>
              <a:cs typeface="Courier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1376" y="5374567"/>
            <a:ext cx="1583750" cy="1265728"/>
          </a:xfrm>
          <a:prstGeom prst="rect">
            <a:avLst/>
          </a:prstGeom>
        </p:spPr>
      </p:pic>
      <p:sp>
        <p:nvSpPr>
          <p:cNvPr id="7" name="Rectangle 4"/>
          <p:cNvSpPr/>
          <p:nvPr/>
        </p:nvSpPr>
        <p:spPr>
          <a:xfrm>
            <a:off x="468274" y="5977485"/>
            <a:ext cx="7384819" cy="5153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476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6"/>
          <p:cNvCxnSpPr/>
          <p:nvPr/>
        </p:nvCxnSpPr>
        <p:spPr>
          <a:xfrm>
            <a:off x="2022945" y="5445438"/>
            <a:ext cx="0" cy="1230283"/>
          </a:xfrm>
          <a:prstGeom prst="line">
            <a:avLst/>
          </a:prstGeom>
          <a:ln w="28575"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7"/>
          <p:cNvCxnSpPr/>
          <p:nvPr/>
        </p:nvCxnSpPr>
        <p:spPr>
          <a:xfrm>
            <a:off x="3493085" y="5445438"/>
            <a:ext cx="0" cy="1230283"/>
          </a:xfrm>
          <a:prstGeom prst="line">
            <a:avLst/>
          </a:prstGeom>
          <a:ln w="28575"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8"/>
          <p:cNvCxnSpPr/>
          <p:nvPr/>
        </p:nvCxnSpPr>
        <p:spPr>
          <a:xfrm>
            <a:off x="5018298" y="5445438"/>
            <a:ext cx="0" cy="1230283"/>
          </a:xfrm>
          <a:prstGeom prst="line">
            <a:avLst/>
          </a:prstGeom>
          <a:ln w="28575"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9"/>
          <p:cNvCxnSpPr/>
          <p:nvPr/>
        </p:nvCxnSpPr>
        <p:spPr>
          <a:xfrm>
            <a:off x="6514589" y="5445438"/>
            <a:ext cx="0" cy="1230283"/>
          </a:xfrm>
          <a:prstGeom prst="line">
            <a:avLst/>
          </a:prstGeom>
          <a:ln w="28575"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Left Brace 10"/>
          <p:cNvSpPr/>
          <p:nvPr/>
        </p:nvSpPr>
        <p:spPr>
          <a:xfrm rot="5400000">
            <a:off x="5580196" y="4548522"/>
            <a:ext cx="391856" cy="1496291"/>
          </a:xfrm>
          <a:prstGeom prst="leftBrace">
            <a:avLst/>
          </a:prstGeom>
          <a:ln w="28575">
            <a:solidFill>
              <a:srgbClr val="FF7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 Brace 11"/>
          <p:cNvSpPr/>
          <p:nvPr/>
        </p:nvSpPr>
        <p:spPr>
          <a:xfrm rot="5400000">
            <a:off x="4036192" y="4567313"/>
            <a:ext cx="391857" cy="1458711"/>
          </a:xfrm>
          <a:prstGeom prst="leftBrace">
            <a:avLst/>
          </a:prstGeom>
          <a:ln w="28575">
            <a:solidFill>
              <a:srgbClr val="FF7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Brace 12"/>
          <p:cNvSpPr/>
          <p:nvPr/>
        </p:nvSpPr>
        <p:spPr>
          <a:xfrm rot="5400000">
            <a:off x="1088552" y="4548523"/>
            <a:ext cx="391856" cy="1496291"/>
          </a:xfrm>
          <a:prstGeom prst="leftBrace">
            <a:avLst/>
          </a:prstGeom>
          <a:ln w="28575">
            <a:solidFill>
              <a:srgbClr val="FF7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3"/>
          <p:cNvSpPr/>
          <p:nvPr/>
        </p:nvSpPr>
        <p:spPr>
          <a:xfrm rot="5400000">
            <a:off x="2562061" y="4589475"/>
            <a:ext cx="373687" cy="1432559"/>
          </a:xfrm>
          <a:prstGeom prst="leftBrace">
            <a:avLst/>
          </a:prstGeom>
          <a:ln w="28575">
            <a:solidFill>
              <a:srgbClr val="FF7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Brace 14"/>
          <p:cNvSpPr/>
          <p:nvPr/>
        </p:nvSpPr>
        <p:spPr>
          <a:xfrm rot="5400000">
            <a:off x="6992754" y="4632255"/>
            <a:ext cx="391854" cy="1328823"/>
          </a:xfrm>
          <a:prstGeom prst="leftBrace">
            <a:avLst/>
          </a:prstGeom>
          <a:ln w="28575">
            <a:solidFill>
              <a:srgbClr val="FF7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5"/>
          <p:cNvSpPr txBox="1"/>
          <p:nvPr/>
        </p:nvSpPr>
        <p:spPr>
          <a:xfrm>
            <a:off x="6590772" y="4731407"/>
            <a:ext cx="139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sub-median</a:t>
            </a:r>
            <a:endParaRPr lang="en-US"/>
          </a:p>
        </p:txBody>
      </p:sp>
      <p:sp>
        <p:nvSpPr>
          <p:cNvPr id="18" name="TextBox 16"/>
          <p:cNvSpPr txBox="1"/>
          <p:nvPr/>
        </p:nvSpPr>
        <p:spPr>
          <a:xfrm>
            <a:off x="5080972" y="4749579"/>
            <a:ext cx="139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sub-median</a:t>
            </a:r>
            <a:endParaRPr lang="en-US"/>
          </a:p>
        </p:txBody>
      </p:sp>
      <p:sp>
        <p:nvSpPr>
          <p:cNvPr id="19" name="TextBox 17"/>
          <p:cNvSpPr txBox="1"/>
          <p:nvPr/>
        </p:nvSpPr>
        <p:spPr>
          <a:xfrm>
            <a:off x="3554203" y="4749579"/>
            <a:ext cx="139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sub-median</a:t>
            </a:r>
            <a:endParaRPr lang="en-US"/>
          </a:p>
        </p:txBody>
      </p:sp>
      <p:sp>
        <p:nvSpPr>
          <p:cNvPr id="20" name="TextBox 18"/>
          <p:cNvSpPr txBox="1"/>
          <p:nvPr/>
        </p:nvSpPr>
        <p:spPr>
          <a:xfrm>
            <a:off x="2128053" y="4763695"/>
            <a:ext cx="139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sub-median</a:t>
            </a:r>
            <a:endParaRPr lang="en-US" dirty="0"/>
          </a:p>
        </p:txBody>
      </p:sp>
      <p:sp>
        <p:nvSpPr>
          <p:cNvPr id="21" name="TextBox 19"/>
          <p:cNvSpPr txBox="1"/>
          <p:nvPr/>
        </p:nvSpPr>
        <p:spPr>
          <a:xfrm>
            <a:off x="649425" y="4718355"/>
            <a:ext cx="139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sub-median</a:t>
            </a:r>
            <a:endParaRPr lang="en-US"/>
          </a:p>
        </p:txBody>
      </p:sp>
      <p:sp>
        <p:nvSpPr>
          <p:cNvPr id="22" name="Left Brace 20"/>
          <p:cNvSpPr/>
          <p:nvPr/>
        </p:nvSpPr>
        <p:spPr>
          <a:xfrm rot="5400000">
            <a:off x="4030721" y="1025415"/>
            <a:ext cx="525932" cy="6886055"/>
          </a:xfrm>
          <a:prstGeom prst="leftBrac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1"/>
          <p:cNvSpPr txBox="1"/>
          <p:nvPr/>
        </p:nvSpPr>
        <p:spPr>
          <a:xfrm>
            <a:off x="3561823" y="3544086"/>
            <a:ext cx="1399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median </a:t>
            </a:r>
            <a:r>
              <a:rPr lang="en-US"/>
              <a:t>of sub-medians</a:t>
            </a:r>
            <a:endParaRPr lang="en-US" dirty="0"/>
          </a:p>
        </p:txBody>
      </p:sp>
      <p:sp>
        <p:nvSpPr>
          <p:cNvPr id="24" name="TextBox 22"/>
          <p:cNvSpPr txBox="1"/>
          <p:nvPr/>
        </p:nvSpPr>
        <p:spPr>
          <a:xfrm>
            <a:off x="5098072" y="3501549"/>
            <a:ext cx="1723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median of the </a:t>
            </a:r>
            <a:r>
              <a:rPr lang="en-US"/>
              <a:t>whole thing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3"/>
              <p:cNvSpPr txBox="1"/>
              <p:nvPr/>
            </p:nvSpPr>
            <p:spPr>
              <a:xfrm>
                <a:off x="4915063" y="3623824"/>
                <a:ext cx="3660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F6E6C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dirty="0">
                  <a:solidFill>
                    <a:srgbClr val="CF6E6C"/>
                  </a:solidFill>
                </a:endParaRPr>
              </a:p>
            </p:txBody>
          </p:sp>
        </mc:Choice>
        <mc:Fallback>
          <p:sp>
            <p:nvSpPr>
              <p:cNvPr id="25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063" y="3623824"/>
                <a:ext cx="36601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45" t="-139" r="115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5"/>
          <p:cNvSpPr txBox="1"/>
          <p:nvPr/>
        </p:nvSpPr>
        <p:spPr>
          <a:xfrm>
            <a:off x="91102" y="3381851"/>
            <a:ext cx="2896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>
                <a:solidFill>
                  <a:srgbClr val="CF6E6C"/>
                </a:solidFill>
              </a:rPr>
              <a:t>What we’ll use as the pivot</a:t>
            </a:r>
            <a:endParaRPr lang="en-US" i="1" dirty="0">
              <a:solidFill>
                <a:srgbClr val="CF6E6C"/>
              </a:solidFill>
            </a:endParaRPr>
          </a:p>
        </p:txBody>
      </p:sp>
      <p:cxnSp>
        <p:nvCxnSpPr>
          <p:cNvPr id="27" name="Straight Arrow Connector 25"/>
          <p:cNvCxnSpPr>
            <a:stCxn id="26" idx="3"/>
            <a:endCxn id="23" idx="1"/>
          </p:cNvCxnSpPr>
          <p:nvPr/>
        </p:nvCxnSpPr>
        <p:spPr>
          <a:xfrm>
            <a:off x="2987571" y="3566517"/>
            <a:ext cx="574252" cy="300735"/>
          </a:xfrm>
          <a:prstGeom prst="straightConnector1">
            <a:avLst/>
          </a:prstGeom>
          <a:ln>
            <a:solidFill>
              <a:srgbClr val="CF6E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6"/>
          <p:cNvSpPr txBox="1"/>
          <p:nvPr/>
        </p:nvSpPr>
        <p:spPr>
          <a:xfrm>
            <a:off x="7187384" y="3291908"/>
            <a:ext cx="1308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>
                <a:solidFill>
                  <a:srgbClr val="CF6E6C"/>
                </a:solidFill>
              </a:rPr>
              <a:t>Ideal </a:t>
            </a:r>
            <a:r>
              <a:rPr lang="en-US" i="1" dirty="0">
                <a:solidFill>
                  <a:srgbClr val="CF6E6C"/>
                </a:solidFill>
              </a:rPr>
              <a:t>pivot</a:t>
            </a:r>
            <a:endParaRPr lang="en-US" i="1" dirty="0">
              <a:solidFill>
                <a:srgbClr val="CF6E6C"/>
              </a:solidFill>
            </a:endParaRPr>
          </a:p>
        </p:txBody>
      </p:sp>
      <p:cxnSp>
        <p:nvCxnSpPr>
          <p:cNvPr id="29" name="Straight Arrow Connector 27"/>
          <p:cNvCxnSpPr>
            <a:stCxn id="28" idx="2"/>
            <a:endCxn id="24" idx="3"/>
          </p:cNvCxnSpPr>
          <p:nvPr/>
        </p:nvCxnSpPr>
        <p:spPr>
          <a:xfrm flipH="1">
            <a:off x="6821626" y="3661240"/>
            <a:ext cx="1020203" cy="163475"/>
          </a:xfrm>
          <a:prstGeom prst="straightConnector1">
            <a:avLst/>
          </a:prstGeom>
          <a:ln>
            <a:solidFill>
              <a:srgbClr val="CF6E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 animBg="1"/>
      <p:bldP spid="23" grpId="0"/>
      <p:bldP spid="24" grpId="0"/>
      <p:bldP spid="25" grpId="0"/>
      <p:bldP spid="26" grpId="0"/>
      <p:bldP spid="2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944" y="265605"/>
            <a:ext cx="7886700" cy="1325563"/>
          </a:xfrm>
        </p:spPr>
        <p:txBody>
          <a:bodyPr/>
          <a:lstStyle/>
          <a:p>
            <a:r>
              <a:rPr lang="en-US" dirty="0"/>
              <a:t>A good enough pivot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0441" y="1657241"/>
            <a:ext cx="8324850" cy="4351338"/>
          </a:xfrm>
        </p:spPr>
        <p:txBody>
          <a:bodyPr/>
          <a:lstStyle/>
          <a:p>
            <a:r>
              <a:rPr lang="en-US" dirty="0" err="1"/>
              <a:t>只要这个</a:t>
            </a:r>
            <a:r>
              <a:rPr lang="en-US" altLang="zh-CN" dirty="0" err="1"/>
              <a:t>pivot</a:t>
            </a:r>
            <a:r>
              <a:rPr lang="zh-CN" altLang="en-US" dirty="0"/>
              <a:t>不要太偏两边即可</a:t>
            </a:r>
            <a:r>
              <a:rPr lang="en-US" dirty="0"/>
              <a:t>:</a:t>
            </a:r>
            <a:endParaRPr lang="en-US" dirty="0"/>
          </a:p>
          <a:p>
            <a:pPr lvl="1"/>
            <a:r>
              <a:rPr lang="en-US" dirty="0">
                <a:solidFill>
                  <a:schemeClr val="accent4"/>
                </a:solidFill>
              </a:rPr>
              <a:t>3n/10 &lt; </a:t>
            </a:r>
            <a:r>
              <a:rPr lang="en-US" dirty="0" err="1">
                <a:solidFill>
                  <a:schemeClr val="accent4"/>
                </a:solidFill>
              </a:rPr>
              <a:t>len</a:t>
            </a:r>
            <a:r>
              <a:rPr lang="en-US" dirty="0">
                <a:solidFill>
                  <a:schemeClr val="accent4"/>
                </a:solidFill>
              </a:rPr>
              <a:t>(L) &lt; 7n/10</a:t>
            </a:r>
            <a:endParaRPr lang="en-US" dirty="0">
              <a:solidFill>
                <a:schemeClr val="accent4"/>
              </a:solidFill>
            </a:endParaRPr>
          </a:p>
          <a:p>
            <a:pPr lvl="1"/>
            <a:r>
              <a:rPr lang="en-US" dirty="0">
                <a:solidFill>
                  <a:schemeClr val="accent4"/>
                </a:solidFill>
              </a:rPr>
              <a:t>3n/10 &lt; </a:t>
            </a:r>
            <a:r>
              <a:rPr lang="en-US" dirty="0" err="1">
                <a:solidFill>
                  <a:schemeClr val="accent4"/>
                </a:solidFill>
              </a:rPr>
              <a:t>len</a:t>
            </a:r>
            <a:r>
              <a:rPr lang="en-US" dirty="0">
                <a:solidFill>
                  <a:schemeClr val="accent4"/>
                </a:solidFill>
              </a:rPr>
              <a:t>(R) &lt; 7n/10</a:t>
            </a:r>
            <a:endParaRPr lang="en-US" dirty="0">
              <a:solidFill>
                <a:schemeClr val="accent4"/>
              </a:solidFill>
            </a:endParaRPr>
          </a:p>
          <a:p>
            <a:pPr lvl="1"/>
            <a:endParaRPr lang="en-US" b="1" dirty="0">
              <a:solidFill>
                <a:schemeClr val="accent1"/>
              </a:solidFill>
            </a:endParaRPr>
          </a:p>
          <a:p>
            <a:r>
              <a:rPr lang="en-US" dirty="0"/>
              <a:t>If we could do that (let’s say, in time O(n)), the </a:t>
            </a:r>
            <a:r>
              <a:rPr lang="en-US" b="1" dirty="0"/>
              <a:t>Master Theorem</a:t>
            </a:r>
            <a:r>
              <a:rPr lang="en-US" dirty="0"/>
              <a:t> would say: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/>
              <p:cNvSpPr txBox="1"/>
              <p:nvPr/>
            </p:nvSpPr>
            <p:spPr>
              <a:xfrm>
                <a:off x="4452504" y="4962454"/>
                <a:ext cx="7886700" cy="48656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9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800" dirty="0"/>
                  <a:t>Suppose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180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/>
                  <a:t>.  Then</a:t>
                </a:r>
                <a:endParaRPr lang="en-US" sz="1800" dirty="0"/>
              </a:p>
            </p:txBody>
          </p:sp>
        </mc:Choice>
        <mc:Fallback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504" y="4962454"/>
                <a:ext cx="7886700" cy="486569"/>
              </a:xfrm>
              <a:prstGeom prst="rect">
                <a:avLst/>
              </a:prstGeom>
              <a:blipFill rotWithShape="1">
                <a:blip r:embed="rId1"/>
                <a:stretch>
                  <a:fillRect l="-7" t="-116" r="7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4572000" y="5515096"/>
            <a:ext cx="4126487" cy="10258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6664824" y="1156492"/>
            <a:ext cx="1655007" cy="18289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08201" y="96389"/>
            <a:ext cx="25682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4"/>
                </a:solidFill>
              </a:rPr>
              <a:t>We still don’t know that we can get such a pivot, but at least it gives us a goal and a direction to pursue!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85248" y="2864635"/>
            <a:ext cx="25100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4"/>
                </a:solidFill>
              </a:rPr>
              <a:t>Lucky the lackadaisical lemur</a:t>
            </a:r>
            <a:endParaRPr lang="en-US" sz="1400" dirty="0">
              <a:solidFill>
                <a:schemeClr val="accent4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650562" y="4184561"/>
                <a:ext cx="3546929" cy="20423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chemeClr val="accent4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en-US" sz="2400" dirty="0">
                    <a:solidFill>
                      <a:schemeClr val="accent4"/>
                    </a:solidFill>
                  </a:rPr>
                  <a:t>So a = 1, b = 10/7, d = 1</a:t>
                </a:r>
                <a:endParaRPr lang="en-US" sz="2400" dirty="0">
                  <a:solidFill>
                    <a:schemeClr val="accent4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62" y="4184561"/>
                <a:ext cx="3546929" cy="2042354"/>
              </a:xfrm>
              <a:prstGeom prst="rect">
                <a:avLst/>
              </a:prstGeom>
              <a:blipFill rotWithShape="1">
                <a:blip r:embed="rId4"/>
                <a:stretch>
                  <a:fillRect l="-9" t="-27" r="4" b="-25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2480829" y="6345396"/>
            <a:ext cx="3111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CF6E6C"/>
                </a:solidFill>
              </a:rPr>
              <a:t>STILL GOOD!</a:t>
            </a:r>
            <a:endParaRPr lang="en-US" sz="2800" b="1" i="1" dirty="0">
              <a:solidFill>
                <a:srgbClr val="CF6E6C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8" grpId="0"/>
      <p:bldP spid="17" grpId="0"/>
      <p:bldP spid="13" grpId="0" build="p"/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Efficiently pick the pivot so that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208880" y="3588727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9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943703" y="3588727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10196" y="3588725"/>
            <a:ext cx="763959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65631" y="2584997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715397" y="3588726"/>
            <a:ext cx="763959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426183" y="3586648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59160" y="3586648"/>
            <a:ext cx="763959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riangle 10"/>
          <p:cNvSpPr/>
          <p:nvPr/>
        </p:nvSpPr>
        <p:spPr>
          <a:xfrm>
            <a:off x="4605115" y="3325098"/>
            <a:ext cx="403898" cy="26155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465631" y="3586648"/>
            <a:ext cx="912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pivot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96360" y="4291849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L = array with things smaller than A[pivot]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854037" y="4291848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R = array with things larger than A[pivot]</a:t>
            </a:r>
            <a:endParaRPr lang="en-US" dirty="0">
              <a:solidFill>
                <a:schemeClr val="accent5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/>
              <p:cNvSpPr/>
              <p:nvPr/>
            </p:nvSpPr>
            <p:spPr>
              <a:xfrm>
                <a:off x="447973" y="5150604"/>
                <a:ext cx="3956419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den>
                      </m:f>
                      <m:r>
                        <a:rPr lang="en-US" sz="2800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&lt; </m:t>
                      </m:r>
                      <m:r>
                        <a:rPr lang="en-US" sz="2800" b="1" i="0" dirty="0" err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𝐥𝐞𝐧</m:t>
                      </m:r>
                      <m:d>
                        <m:dPr>
                          <m:ctrlPr>
                            <a:rPr lang="en-US" sz="2800" b="1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</m:d>
                      <m:r>
                        <a:rPr lang="en-US" sz="2800" b="1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den>
                      </m:f>
                    </m:oMath>
                  </m:oMathPara>
                </a14:m>
                <a:endParaRPr lang="en-US" sz="2800" b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973" y="5150604"/>
                <a:ext cx="3956419" cy="901785"/>
              </a:xfrm>
              <a:prstGeom prst="rect">
                <a:avLst/>
              </a:prstGeom>
              <a:blipFill rotWithShape="1">
                <a:blip r:embed="rId1"/>
                <a:stretch>
                  <a:fillRect l="-8" t="-13" r="-144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4807064" y="5146411"/>
                <a:ext cx="3956419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den>
                      </m:f>
                      <m:r>
                        <a:rPr lang="en-US" sz="2800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&lt; </m:t>
                      </m:r>
                      <m:r>
                        <a:rPr lang="en-US" sz="2800" b="1" i="0" dirty="0" err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𝐥𝐞𝐧</m:t>
                      </m:r>
                      <m:d>
                        <m:dPr>
                          <m:ctrlPr>
                            <a:rPr lang="en-US" sz="2800" b="1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a:rPr lang="en-US" sz="2800" b="1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den>
                      </m:f>
                    </m:oMath>
                  </m:oMathPara>
                </a14:m>
                <a:endParaRPr lang="en-US" sz="2800" b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64" y="5146411"/>
                <a:ext cx="3956419" cy="901785"/>
              </a:xfrm>
              <a:prstGeom prst="rect">
                <a:avLst/>
              </a:prstGeom>
              <a:blipFill rotWithShape="1">
                <a:blip r:embed="rId2"/>
                <a:stretch>
                  <a:fillRect l="-3" t="-41" r="-726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890" y="0"/>
            <a:ext cx="7886700" cy="1325563"/>
          </a:xfrm>
        </p:spPr>
        <p:txBody>
          <a:bodyPr/>
          <a:lstStyle/>
          <a:p>
            <a:r>
              <a:rPr lang="en-US" dirty="0" err="1"/>
              <a:t>基于近似中间数的</a:t>
            </a:r>
            <a:r>
              <a:rPr lang="en-US" altLang="zh-CN" dirty="0" err="1"/>
              <a:t>pivot</a:t>
            </a:r>
            <a:r>
              <a:rPr lang="zh-CN" altLang="en-US" dirty="0"/>
              <a:t>选择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195" y="1078257"/>
            <a:ext cx="8764733" cy="4351338"/>
          </a:xfrm>
        </p:spPr>
        <p:txBody>
          <a:bodyPr>
            <a:normAutofit/>
          </a:bodyPr>
          <a:lstStyle/>
          <a:p>
            <a:r>
              <a:rPr lang="en-US" sz="2400" dirty="0"/>
              <a:t>We can’t solve </a:t>
            </a:r>
            <a:r>
              <a:rPr lang="en-US" sz="2400" dirty="0">
                <a:solidFill>
                  <a:schemeClr val="accent4"/>
                </a:solidFill>
                <a:ea typeface="Courier" charset="0"/>
                <a:cs typeface="Courier" charset="0"/>
              </a:rPr>
              <a:t>SELECT(</a:t>
            </a:r>
            <a:r>
              <a:rPr lang="en-US" sz="2400" dirty="0" err="1">
                <a:solidFill>
                  <a:schemeClr val="accent4"/>
                </a:solidFill>
                <a:ea typeface="Courier" charset="0"/>
                <a:cs typeface="Courier" charset="0"/>
              </a:rPr>
              <a:t>A,n</a:t>
            </a:r>
            <a:r>
              <a:rPr lang="en-US" sz="2400" dirty="0">
                <a:solidFill>
                  <a:schemeClr val="accent4"/>
                </a:solidFill>
                <a:ea typeface="Courier" charset="0"/>
                <a:cs typeface="Courier" charset="0"/>
              </a:rPr>
              <a:t>/2)</a:t>
            </a:r>
            <a:r>
              <a:rPr lang="en-US" sz="2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2400" dirty="0">
                <a:ea typeface="Courier" charset="0"/>
                <a:cs typeface="Courier" charset="0"/>
              </a:rPr>
              <a:t>(yet)</a:t>
            </a:r>
            <a:endParaRPr lang="en-US" sz="2400" dirty="0">
              <a:ea typeface="Courier" charset="0"/>
              <a:cs typeface="Courier" charset="0"/>
            </a:endParaRPr>
          </a:p>
          <a:p>
            <a:r>
              <a:rPr lang="en-US" sz="2400" dirty="0">
                <a:ea typeface="Courier" charset="0"/>
                <a:cs typeface="Courier" charset="0"/>
              </a:rPr>
              <a:t>But we can divide and conquer and solve </a:t>
            </a:r>
            <a:r>
              <a:rPr lang="en-US" sz="2400" dirty="0">
                <a:solidFill>
                  <a:schemeClr val="accent4"/>
                </a:solidFill>
                <a:ea typeface="Courier" charset="0"/>
                <a:cs typeface="Courier" charset="0"/>
              </a:rPr>
              <a:t>SELECT(</a:t>
            </a:r>
            <a:r>
              <a:rPr lang="en-US" sz="2400" dirty="0" err="1">
                <a:solidFill>
                  <a:schemeClr val="accent4"/>
                </a:solidFill>
                <a:ea typeface="Courier" charset="0"/>
                <a:cs typeface="Courier" charset="0"/>
              </a:rPr>
              <a:t>B,m</a:t>
            </a:r>
            <a:r>
              <a:rPr lang="en-US" sz="2400" dirty="0">
                <a:solidFill>
                  <a:schemeClr val="accent4"/>
                </a:solidFill>
                <a:ea typeface="Courier" charset="0"/>
                <a:cs typeface="Courier" charset="0"/>
              </a:rPr>
              <a:t>/2) </a:t>
            </a:r>
            <a:r>
              <a:rPr lang="en-US" sz="2400" dirty="0">
                <a:ea typeface="Courier" charset="0"/>
                <a:cs typeface="Courier" charset="0"/>
              </a:rPr>
              <a:t>for smaller values of m (where </a:t>
            </a:r>
            <a:r>
              <a:rPr lang="en-US" sz="2400" dirty="0" err="1">
                <a:ea typeface="Courier" charset="0"/>
                <a:cs typeface="Courier" charset="0"/>
              </a:rPr>
              <a:t>len</a:t>
            </a:r>
            <a:r>
              <a:rPr lang="en-US" sz="2400" dirty="0">
                <a:ea typeface="Courier" charset="0"/>
                <a:cs typeface="Courier" charset="0"/>
              </a:rPr>
              <a:t>(B) = m). </a:t>
            </a:r>
            <a:endParaRPr lang="en-US" sz="2400" dirty="0">
              <a:ea typeface="Courier" charset="0"/>
              <a:cs typeface="Courier" charset="0"/>
            </a:endParaRPr>
          </a:p>
          <a:p>
            <a:r>
              <a:rPr lang="en-US" sz="2400" b="1" u="sng" dirty="0">
                <a:solidFill>
                  <a:srgbClr val="FF0000"/>
                </a:solidFill>
                <a:ea typeface="Courier" charset="0"/>
                <a:cs typeface="Courier" charset="0"/>
              </a:rPr>
              <a:t>Lemma*: </a:t>
            </a:r>
            <a:r>
              <a:rPr lang="en-US" sz="2400" dirty="0">
                <a:solidFill>
                  <a:srgbClr val="FF0000"/>
                </a:solidFill>
                <a:ea typeface="Courier" charset="0"/>
                <a:cs typeface="Courier" charset="0"/>
              </a:rPr>
              <a:t>The median of sub-medians is close to the median</a:t>
            </a:r>
            <a:r>
              <a:rPr lang="en-US" sz="2400" dirty="0">
                <a:ea typeface="Courier" charset="0"/>
                <a:cs typeface="Courier" charset="0"/>
              </a:rPr>
              <a:t>.</a:t>
            </a:r>
            <a:endParaRPr lang="en-US" sz="2400" dirty="0">
              <a:ea typeface="Courier" charset="0"/>
              <a:cs typeface="Courier" charset="0"/>
            </a:endParaRPr>
          </a:p>
          <a:p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9871" y="6536952"/>
            <a:ext cx="8894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6FF"/>
                </a:solidFill>
              </a:rPr>
              <a:t>*we will make this a bit more precise.</a:t>
            </a:r>
            <a:endParaRPr lang="en-US" dirty="0">
              <a:solidFill>
                <a:srgbClr val="0066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81149" y="5560523"/>
            <a:ext cx="7384819" cy="5153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476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2445501" y="5228014"/>
            <a:ext cx="0" cy="1230283"/>
          </a:xfrm>
          <a:prstGeom prst="line">
            <a:avLst/>
          </a:prstGeom>
          <a:ln w="28575"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915641" y="5228014"/>
            <a:ext cx="0" cy="1230283"/>
          </a:xfrm>
          <a:prstGeom prst="line">
            <a:avLst/>
          </a:prstGeom>
          <a:ln w="28575"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440854" y="5228014"/>
            <a:ext cx="0" cy="1230283"/>
          </a:xfrm>
          <a:prstGeom prst="line">
            <a:avLst/>
          </a:prstGeom>
          <a:ln w="28575"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937145" y="5228014"/>
            <a:ext cx="0" cy="1230283"/>
          </a:xfrm>
          <a:prstGeom prst="line">
            <a:avLst/>
          </a:prstGeom>
          <a:ln w="28575"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Left Brace 10"/>
          <p:cNvSpPr/>
          <p:nvPr/>
        </p:nvSpPr>
        <p:spPr>
          <a:xfrm rot="5400000">
            <a:off x="5993071" y="4131560"/>
            <a:ext cx="391856" cy="1496291"/>
          </a:xfrm>
          <a:prstGeom prst="leftBrace">
            <a:avLst/>
          </a:prstGeom>
          <a:ln w="28575">
            <a:solidFill>
              <a:srgbClr val="FF7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/>
          <p:cNvSpPr/>
          <p:nvPr/>
        </p:nvSpPr>
        <p:spPr>
          <a:xfrm rot="5400000">
            <a:off x="4449067" y="4150351"/>
            <a:ext cx="391857" cy="1458711"/>
          </a:xfrm>
          <a:prstGeom prst="leftBrace">
            <a:avLst/>
          </a:prstGeom>
          <a:ln w="28575">
            <a:solidFill>
              <a:srgbClr val="FF7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 Brace 12"/>
          <p:cNvSpPr/>
          <p:nvPr/>
        </p:nvSpPr>
        <p:spPr>
          <a:xfrm rot="5400000">
            <a:off x="1501427" y="4131561"/>
            <a:ext cx="391856" cy="1496291"/>
          </a:xfrm>
          <a:prstGeom prst="leftBrace">
            <a:avLst/>
          </a:prstGeom>
          <a:ln w="28575">
            <a:solidFill>
              <a:srgbClr val="FF7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Brace 13"/>
          <p:cNvSpPr/>
          <p:nvPr/>
        </p:nvSpPr>
        <p:spPr>
          <a:xfrm rot="5400000">
            <a:off x="2974936" y="4172513"/>
            <a:ext cx="373687" cy="1432559"/>
          </a:xfrm>
          <a:prstGeom prst="leftBrace">
            <a:avLst/>
          </a:prstGeom>
          <a:ln w="28575">
            <a:solidFill>
              <a:srgbClr val="FF7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/>
          <p:cNvSpPr/>
          <p:nvPr/>
        </p:nvSpPr>
        <p:spPr>
          <a:xfrm rot="5400000">
            <a:off x="7405629" y="4215293"/>
            <a:ext cx="391854" cy="1328823"/>
          </a:xfrm>
          <a:prstGeom prst="leftBrace">
            <a:avLst/>
          </a:prstGeom>
          <a:ln w="28575">
            <a:solidFill>
              <a:srgbClr val="FF7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003647" y="4314445"/>
            <a:ext cx="139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sub-median</a:t>
            </a:r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5493847" y="4332617"/>
            <a:ext cx="139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sub-median</a:t>
            </a:r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3967078" y="4332617"/>
            <a:ext cx="139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sub-median</a:t>
            </a:r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540928" y="4346733"/>
            <a:ext cx="139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sub-median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062300" y="4301393"/>
            <a:ext cx="139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sub-median</a:t>
            </a:r>
            <a:endParaRPr lang="en-US"/>
          </a:p>
        </p:txBody>
      </p:sp>
      <p:sp>
        <p:nvSpPr>
          <p:cNvPr id="21" name="Left Brace 20"/>
          <p:cNvSpPr/>
          <p:nvPr/>
        </p:nvSpPr>
        <p:spPr>
          <a:xfrm rot="5400000">
            <a:off x="4443596" y="608453"/>
            <a:ext cx="525932" cy="6886055"/>
          </a:xfrm>
          <a:prstGeom prst="leftBrac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3974698" y="3127124"/>
            <a:ext cx="1399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median </a:t>
            </a:r>
            <a:r>
              <a:rPr lang="en-US"/>
              <a:t>of sub-medians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5510947" y="3084587"/>
            <a:ext cx="1723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median of the </a:t>
            </a:r>
            <a:r>
              <a:rPr lang="en-US"/>
              <a:t>whole thing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5327938" y="3206862"/>
                <a:ext cx="3660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F6E6C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dirty="0">
                  <a:solidFill>
                    <a:srgbClr val="CF6E6C"/>
                  </a:solidFill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7938" y="3206862"/>
                <a:ext cx="366019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79" t="-30" r="149" b="1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-9681" y="3069260"/>
            <a:ext cx="2896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>
                <a:solidFill>
                  <a:srgbClr val="CF6E6C"/>
                </a:solidFill>
              </a:rPr>
              <a:t>What we’ll use as the pivot</a:t>
            </a:r>
            <a:endParaRPr lang="en-US" i="1" dirty="0">
              <a:solidFill>
                <a:srgbClr val="CF6E6C"/>
              </a:solidFill>
            </a:endParaRPr>
          </a:p>
        </p:txBody>
      </p:sp>
      <p:cxnSp>
        <p:nvCxnSpPr>
          <p:cNvPr id="26" name="Straight Arrow Connector 25"/>
          <p:cNvCxnSpPr>
            <a:stCxn id="6" idx="3"/>
            <a:endCxn id="22" idx="1"/>
          </p:cNvCxnSpPr>
          <p:nvPr/>
        </p:nvCxnSpPr>
        <p:spPr>
          <a:xfrm>
            <a:off x="2886788" y="3253926"/>
            <a:ext cx="1087910" cy="196364"/>
          </a:xfrm>
          <a:prstGeom prst="straightConnector1">
            <a:avLst/>
          </a:prstGeom>
          <a:ln>
            <a:solidFill>
              <a:srgbClr val="CF6E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600259" y="2874946"/>
            <a:ext cx="1308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>
                <a:solidFill>
                  <a:srgbClr val="CF6E6C"/>
                </a:solidFill>
              </a:rPr>
              <a:t>Ideal </a:t>
            </a:r>
            <a:r>
              <a:rPr lang="en-US" i="1" dirty="0">
                <a:solidFill>
                  <a:srgbClr val="CF6E6C"/>
                </a:solidFill>
              </a:rPr>
              <a:t>pivot</a:t>
            </a:r>
            <a:endParaRPr lang="en-US" i="1" dirty="0">
              <a:solidFill>
                <a:srgbClr val="CF6E6C"/>
              </a:solidFill>
            </a:endParaRPr>
          </a:p>
        </p:txBody>
      </p:sp>
      <p:cxnSp>
        <p:nvCxnSpPr>
          <p:cNvPr id="28" name="Straight Arrow Connector 27"/>
          <p:cNvCxnSpPr>
            <a:stCxn id="27" idx="2"/>
            <a:endCxn id="23" idx="3"/>
          </p:cNvCxnSpPr>
          <p:nvPr/>
        </p:nvCxnSpPr>
        <p:spPr>
          <a:xfrm flipH="1">
            <a:off x="7234501" y="3244278"/>
            <a:ext cx="1020203" cy="163475"/>
          </a:xfrm>
          <a:prstGeom prst="straightConnector1">
            <a:avLst/>
          </a:prstGeom>
          <a:ln>
            <a:solidFill>
              <a:srgbClr val="CF6E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灯片编号占位符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17" grpId="0"/>
      <p:bldP spid="18" grpId="0"/>
      <p:bldP spid="19" grpId="0"/>
      <p:bldP spid="20" grpId="0"/>
      <p:bldP spid="21" grpId="0" animBg="1"/>
      <p:bldP spid="22" grpId="0"/>
      <p:bldP spid="23" grpId="0"/>
      <p:bldP spid="24" grpId="0"/>
      <p:bldP spid="6" grpId="0"/>
      <p:bldP spid="2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2422"/>
            <a:ext cx="5131558" cy="617513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pick the pivot</a:t>
            </a:r>
            <a:br>
              <a:rPr lang="en-US" dirty="0"/>
            </a:b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78539" y="921669"/>
                <a:ext cx="5928768" cy="2450192"/>
              </a:xfrm>
              <a:ln w="28575">
                <a:solidFill>
                  <a:srgbClr val="7030A0"/>
                </a:solidFill>
              </a:ln>
            </p:spPr>
            <p:txBody>
              <a:bodyPr>
                <a:normAutofit fontScale="92500"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CHOOSEPIVOT(A):</a:t>
                </a:r>
                <a:endParaRPr lang="en-US" dirty="0">
                  <a:solidFill>
                    <a:srgbClr val="7030A0"/>
                  </a:solidFill>
                </a:endParaRPr>
              </a:p>
              <a:p>
                <a:pPr lvl="1"/>
                <a:r>
                  <a:rPr lang="en-US" dirty="0"/>
                  <a:t>Split A into m =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groups, of size &lt;=5 each.</a:t>
                </a:r>
                <a:endParaRPr lang="en-US" dirty="0"/>
              </a:p>
              <a:p>
                <a:pPr lvl="1"/>
                <a:r>
                  <a:rPr lang="en-US" b="1" dirty="0"/>
                  <a:t>For</a:t>
                </a:r>
                <a:r>
                  <a:rPr lang="en-US" dirty="0"/>
                  <a:t> </a:t>
                </a:r>
                <a:r>
                  <a:rPr lang="en-US" dirty="0" err="1"/>
                  <a:t>i</a:t>
                </a:r>
                <a:r>
                  <a:rPr lang="en-US" dirty="0"/>
                  <a:t>=1, .., m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Find the median within the </a:t>
                </a:r>
                <a:r>
                  <a:rPr lang="en-US" dirty="0" err="1"/>
                  <a:t>i’th</a:t>
                </a:r>
                <a:r>
                  <a:rPr lang="en-US" dirty="0"/>
                  <a:t> group, call it </a:t>
                </a:r>
                <a:r>
                  <a:rPr lang="en-US" dirty="0">
                    <a:solidFill>
                      <a:schemeClr val="accent4"/>
                    </a:solidFill>
                  </a:rPr>
                  <a:t>p</a:t>
                </a:r>
                <a:r>
                  <a:rPr lang="en-US" baseline="-25000" dirty="0">
                    <a:solidFill>
                      <a:schemeClr val="accent4"/>
                    </a:solidFill>
                  </a:rPr>
                  <a:t>i</a:t>
                </a:r>
                <a:endParaRPr lang="en-US" baseline="-25000" dirty="0">
                  <a:solidFill>
                    <a:schemeClr val="accent4"/>
                  </a:solidFill>
                </a:endParaRPr>
              </a:p>
              <a:p>
                <a:pPr lvl="1"/>
                <a:r>
                  <a:rPr lang="en-US" dirty="0"/>
                  <a:t>p = SELECT( </a:t>
                </a:r>
                <a:r>
                  <a:rPr lang="en-US" dirty="0">
                    <a:solidFill>
                      <a:schemeClr val="accent4"/>
                    </a:solidFill>
                  </a:rPr>
                  <a:t>[ p</a:t>
                </a:r>
                <a:r>
                  <a:rPr lang="en-US" baseline="-25000" dirty="0">
                    <a:solidFill>
                      <a:schemeClr val="accent4"/>
                    </a:solidFill>
                  </a:rPr>
                  <a:t>1, </a:t>
                </a:r>
                <a:r>
                  <a:rPr lang="en-US" dirty="0">
                    <a:solidFill>
                      <a:schemeClr val="accent4"/>
                    </a:solidFill>
                  </a:rPr>
                  <a:t>p</a:t>
                </a:r>
                <a:r>
                  <a:rPr lang="en-US" baseline="-25000" dirty="0">
                    <a:solidFill>
                      <a:schemeClr val="accent4"/>
                    </a:solidFill>
                  </a:rPr>
                  <a:t>2</a:t>
                </a:r>
                <a:r>
                  <a:rPr lang="en-US" dirty="0">
                    <a:solidFill>
                      <a:schemeClr val="accent4"/>
                    </a:solidFill>
                  </a:rPr>
                  <a:t>, p</a:t>
                </a:r>
                <a:r>
                  <a:rPr lang="en-US" baseline="-25000" dirty="0">
                    <a:solidFill>
                      <a:schemeClr val="accent4"/>
                    </a:solidFill>
                  </a:rPr>
                  <a:t>3</a:t>
                </a:r>
                <a:r>
                  <a:rPr lang="en-US" dirty="0">
                    <a:solidFill>
                      <a:schemeClr val="accent4"/>
                    </a:solidFill>
                  </a:rPr>
                  <a:t>, </a:t>
                </a:r>
                <a:r>
                  <a:rPr lang="en-US" dirty="0">
                    <a:solidFill>
                      <a:schemeClr val="accent4"/>
                    </a:solidFill>
                  </a:rPr>
                  <a:t>…</a:t>
                </a:r>
                <a:r>
                  <a:rPr lang="en-US" dirty="0">
                    <a:solidFill>
                      <a:schemeClr val="accent4"/>
                    </a:solidFill>
                  </a:rPr>
                  <a:t>, p</a:t>
                </a:r>
                <a:r>
                  <a:rPr lang="en-US" baseline="-25000" dirty="0">
                    <a:solidFill>
                      <a:schemeClr val="accent4"/>
                    </a:solidFill>
                  </a:rPr>
                  <a:t>m</a:t>
                </a:r>
                <a:r>
                  <a:rPr lang="en-US" dirty="0">
                    <a:solidFill>
                      <a:schemeClr val="accent4"/>
                    </a:solidFill>
                  </a:rPr>
                  <a:t> ] , </a:t>
                </a:r>
                <a:r>
                  <a:rPr lang="en-US" dirty="0"/>
                  <a:t>m/2</a:t>
                </a:r>
                <a:r>
                  <a:rPr lang="en-US" dirty="0">
                    <a:solidFill>
                      <a:schemeClr val="accent4"/>
                    </a:solidFill>
                  </a:rPr>
                  <a:t> </a:t>
                </a:r>
                <a:r>
                  <a:rPr lang="en-US" dirty="0"/>
                  <a:t>) </a:t>
                </a:r>
                <a:endParaRPr lang="en-US" dirty="0"/>
              </a:p>
              <a:p>
                <a:pPr lvl="1"/>
                <a:r>
                  <a:rPr lang="en-US" b="1" dirty="0"/>
                  <a:t>return</a:t>
                </a:r>
                <a:r>
                  <a:rPr lang="en-US" dirty="0"/>
                  <a:t> the index of p in A</a:t>
                </a:r>
                <a:endParaRPr lang="en-US" dirty="0"/>
              </a:p>
              <a:p>
                <a:pPr lvl="1"/>
                <a:endParaRPr lang="en-US" dirty="0">
                  <a:solidFill>
                    <a:schemeClr val="accent1"/>
                  </a:solidFill>
                </a:endParaRPr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8539" y="921669"/>
                <a:ext cx="5928768" cy="2450192"/>
              </a:xfrm>
              <a:blipFill rotWithShape="1">
                <a:blip r:embed="rId1"/>
                <a:stretch>
                  <a:fillRect l="-252" t="-608" r="-234" b="-61007"/>
                </a:stretch>
              </a:blipFill>
              <a:ln w="28575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/>
          <p:cNvGrpSpPr/>
          <p:nvPr/>
        </p:nvGrpSpPr>
        <p:grpSpPr>
          <a:xfrm>
            <a:off x="1924786" y="4457929"/>
            <a:ext cx="1776075" cy="352601"/>
            <a:chOff x="338594" y="807460"/>
            <a:chExt cx="3589007" cy="705201"/>
          </a:xfrm>
        </p:grpSpPr>
        <p:sp>
          <p:nvSpPr>
            <p:cNvPr id="7" name="Rectangle 6"/>
            <p:cNvSpPr/>
            <p:nvPr/>
          </p:nvSpPr>
          <p:spPr>
            <a:xfrm>
              <a:off x="338594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5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52457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9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783827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492481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3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222400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4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36479" y="4457930"/>
            <a:ext cx="1776075" cy="352601"/>
            <a:chOff x="338594" y="807460"/>
            <a:chExt cx="3589007" cy="705201"/>
          </a:xfrm>
        </p:grpSpPr>
        <p:sp>
          <p:nvSpPr>
            <p:cNvPr id="32" name="Rectangle 31"/>
            <p:cNvSpPr/>
            <p:nvPr/>
          </p:nvSpPr>
          <p:spPr>
            <a:xfrm>
              <a:off x="338594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052457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8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783827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9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492481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3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222400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15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3723073" y="4447457"/>
            <a:ext cx="1776075" cy="352601"/>
            <a:chOff x="338594" y="807460"/>
            <a:chExt cx="3589007" cy="705201"/>
          </a:xfrm>
        </p:grpSpPr>
        <p:sp>
          <p:nvSpPr>
            <p:cNvPr id="38" name="Rectangle 37"/>
            <p:cNvSpPr/>
            <p:nvPr/>
          </p:nvSpPr>
          <p:spPr>
            <a:xfrm>
              <a:off x="338594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12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052457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2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783827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492481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5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222400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20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5501399" y="4457929"/>
            <a:ext cx="1776075" cy="352601"/>
            <a:chOff x="338594" y="807460"/>
            <a:chExt cx="3589007" cy="705201"/>
          </a:xfrm>
        </p:grpSpPr>
        <p:sp>
          <p:nvSpPr>
            <p:cNvPr id="44" name="Rectangle 43"/>
            <p:cNvSpPr/>
            <p:nvPr/>
          </p:nvSpPr>
          <p:spPr>
            <a:xfrm>
              <a:off x="338594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15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052457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13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783827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2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2492481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4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222400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6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7299686" y="4457928"/>
            <a:ext cx="1776075" cy="352601"/>
            <a:chOff x="338594" y="807460"/>
            <a:chExt cx="3589007" cy="705201"/>
          </a:xfrm>
        </p:grpSpPr>
        <p:sp>
          <p:nvSpPr>
            <p:cNvPr id="50" name="Rectangle 49"/>
            <p:cNvSpPr/>
            <p:nvPr/>
          </p:nvSpPr>
          <p:spPr>
            <a:xfrm>
              <a:off x="338594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12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052457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783827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15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2492481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22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3222400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3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3890798" y="3434712"/>
            <a:ext cx="5184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F6E6C"/>
                </a:solidFill>
              </a:rPr>
              <a:t>This takes time O(1) for each group, since each group has size 5.  So that’s O(m)=O(n) total in the for loop.</a:t>
            </a:r>
            <a:endParaRPr lang="en-US" dirty="0">
              <a:solidFill>
                <a:srgbClr val="CF6E6C"/>
              </a:solidFill>
            </a:endParaRPr>
          </a:p>
        </p:txBody>
      </p:sp>
      <p:cxnSp>
        <p:nvCxnSpPr>
          <p:cNvPr id="58" name="Straight Arrow Connector 57"/>
          <p:cNvCxnSpPr/>
          <p:nvPr/>
        </p:nvCxnSpPr>
        <p:spPr>
          <a:xfrm flipH="1" flipV="1">
            <a:off x="3556273" y="2530299"/>
            <a:ext cx="742773" cy="936233"/>
          </a:xfrm>
          <a:prstGeom prst="straightConnector1">
            <a:avLst/>
          </a:prstGeom>
          <a:ln>
            <a:solidFill>
              <a:srgbClr val="CF6E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485458" y="3515418"/>
            <a:ext cx="348979" cy="3526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8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3351882" y="4042477"/>
            <a:ext cx="348979" cy="3526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4776942" y="4457928"/>
            <a:ext cx="348979" cy="3528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928495" y="4848826"/>
            <a:ext cx="348979" cy="3526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372722" y="5201425"/>
            <a:ext cx="348979" cy="3526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12</a:t>
            </a:r>
            <a:endParaRPr lang="en-US" sz="1200" b="1" dirty="0">
              <a:solidFill>
                <a:schemeClr val="tx1"/>
              </a:solidFill>
            </a:endParaRPr>
          </a:p>
        </p:txBody>
      </p:sp>
      <p:grpSp>
        <p:nvGrpSpPr>
          <p:cNvPr id="82" name="Group 81"/>
          <p:cNvGrpSpPr/>
          <p:nvPr/>
        </p:nvGrpSpPr>
        <p:grpSpPr>
          <a:xfrm>
            <a:off x="274392" y="5046096"/>
            <a:ext cx="4415726" cy="382980"/>
            <a:chOff x="310968" y="5338704"/>
            <a:chExt cx="4415726" cy="382980"/>
          </a:xfrm>
        </p:grpSpPr>
        <p:sp>
          <p:nvSpPr>
            <p:cNvPr id="75" name="TextBox 74"/>
            <p:cNvSpPr txBox="1"/>
            <p:nvPr/>
          </p:nvSpPr>
          <p:spPr>
            <a:xfrm>
              <a:off x="310968" y="5352352"/>
              <a:ext cx="44157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Pivot is SELECT(                                      , 3  ) = 6: </a:t>
              </a:r>
              <a:endParaRPr lang="en-US" dirty="0"/>
            </a:p>
          </p:txBody>
        </p:sp>
        <p:grpSp>
          <p:nvGrpSpPr>
            <p:cNvPr id="76" name="Group 75"/>
            <p:cNvGrpSpPr/>
            <p:nvPr/>
          </p:nvGrpSpPr>
          <p:grpSpPr>
            <a:xfrm>
              <a:off x="1938156" y="5338704"/>
              <a:ext cx="1784739" cy="352601"/>
              <a:chOff x="1828904" y="654462"/>
              <a:chExt cx="3606515" cy="705201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77" name="Rectangle 76"/>
              <p:cNvSpPr/>
              <p:nvPr/>
            </p:nvSpPr>
            <p:spPr>
              <a:xfrm>
                <a:off x="1828904" y="654462"/>
                <a:ext cx="705200" cy="705201"/>
              </a:xfrm>
              <a:prstGeom prst="rect">
                <a:avLst/>
              </a:prstGeom>
              <a:grpFill/>
              <a:ln w="22225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8</a:t>
                </a:r>
                <a:endParaRPr 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Rectangle 77"/>
              <p:cNvSpPr/>
              <p:nvPr/>
            </p:nvSpPr>
            <p:spPr>
              <a:xfrm>
                <a:off x="2560275" y="654462"/>
                <a:ext cx="705200" cy="705201"/>
              </a:xfrm>
              <a:prstGeom prst="rect">
                <a:avLst/>
              </a:prstGeom>
              <a:grpFill/>
              <a:ln w="22225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4</a:t>
                </a:r>
                <a:endParaRPr 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3291646" y="654462"/>
                <a:ext cx="705200" cy="705201"/>
              </a:xfrm>
              <a:prstGeom prst="rect">
                <a:avLst/>
              </a:prstGeom>
              <a:grpFill/>
              <a:ln w="22225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5</a:t>
                </a:r>
                <a:endParaRPr 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4000299" y="654462"/>
                <a:ext cx="705200" cy="705201"/>
              </a:xfrm>
              <a:prstGeom prst="rect">
                <a:avLst/>
              </a:prstGeom>
              <a:grpFill/>
              <a:ln w="22225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6</a:t>
                </a:r>
                <a:endParaRPr 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4730219" y="654462"/>
                <a:ext cx="705200" cy="705201"/>
              </a:xfrm>
              <a:prstGeom prst="rect">
                <a:avLst/>
              </a:prstGeom>
              <a:grpFill/>
              <a:ln w="22225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12</a:t>
                </a:r>
                <a:endParaRPr lang="en-US" sz="1200" b="1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84" name="Rectangle 83"/>
          <p:cNvSpPr/>
          <p:nvPr/>
        </p:nvSpPr>
        <p:spPr>
          <a:xfrm>
            <a:off x="1924786" y="568097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2278052" y="568097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9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2639982" y="568097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2990670" y="568097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3351882" y="568097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136479" y="5680976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489745" y="5680976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8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851675" y="5680976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9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1202363" y="5680976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1563575" y="5680976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15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3723073" y="5670503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12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4076339" y="5670503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4438269" y="5670503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4790517" y="5659750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5150169" y="5670503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20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5501399" y="568097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15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5854665" y="568097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13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6216595" y="568097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6567283" y="568097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6928495" y="5534750"/>
            <a:ext cx="348979" cy="3526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7299686" y="5680974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12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7652952" y="5680974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8014882" y="5680974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15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8365570" y="5680974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22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8726782" y="5680974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851152" y="6328146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6256588" y="6313831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9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1206238" y="6325420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1568835" y="6325420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1927558" y="6325420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136479" y="6325422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5178471" y="6313831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8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5534822" y="6313831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9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485458" y="6325420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5903322" y="6313831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15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6605567" y="6313831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12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2293488" y="6325419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2647386" y="6325418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4486273" y="6304946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6961730" y="6317798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20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7314996" y="630916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15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7675446" y="6317798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13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3014268" y="6325418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3381784" y="6325418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4818021" y="6137530"/>
            <a:ext cx="348979" cy="3526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8019037" y="6309219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12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3763573" y="6325418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8385051" y="630916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15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8751065" y="630916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22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4124923" y="6325418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36579" y="6033575"/>
            <a:ext cx="30836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PARTITION around that 6:</a:t>
            </a:r>
            <a:endParaRPr lang="en-US" sz="1600" dirty="0"/>
          </a:p>
        </p:txBody>
      </p:sp>
      <p:sp>
        <p:nvSpPr>
          <p:cNvPr id="140" name="TextBox 139"/>
          <p:cNvSpPr txBox="1"/>
          <p:nvPr/>
        </p:nvSpPr>
        <p:spPr>
          <a:xfrm>
            <a:off x="1459540" y="6610758"/>
            <a:ext cx="25833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This part is L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5549694" y="6618710"/>
            <a:ext cx="3375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This part </a:t>
            </a:r>
            <a:r>
              <a:rPr lang="en-US" sz="1400">
                <a:solidFill>
                  <a:srgbClr val="7030A0"/>
                </a:solidFill>
              </a:rPr>
              <a:t>is R: it’s almost the same size as L.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9 0.00695 L 8.33333E-7 -0.13842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" y="-7269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093 L -0.00121 0.05672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2778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69 -0.00115 L 0.00608 0.10834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5463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2.59259E-6 L 0.00191 -0.06064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9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2" animBg="1" uiExpand="1" build="p"/>
      <p:bldP spid="56" grpId="0"/>
      <p:bldP spid="59" grpId="0" animBg="1"/>
      <p:bldP spid="60" grpId="0" animBg="1"/>
      <p:bldP spid="61" grpId="0" animBg="1"/>
      <p:bldP spid="62" grpId="0" animBg="1"/>
      <p:bldP spid="6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6" grpId="0" animBg="1"/>
      <p:bldP spid="97" grpId="0" animBg="1"/>
      <p:bldP spid="98" grpId="0" animBg="1"/>
      <p:bldP spid="99" grpId="0" animBg="1"/>
      <p:bldP spid="99" grpId="1" animBg="1"/>
      <p:bldP spid="100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40" grpId="0"/>
      <p:bldP spid="14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93517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CLAIM: this works</a:t>
            </a:r>
            <a:br>
              <a:rPr lang="en-US" dirty="0"/>
            </a:br>
            <a:r>
              <a:rPr lang="en-US" sz="3600" dirty="0"/>
              <a:t>divides the array </a:t>
            </a:r>
            <a:r>
              <a:rPr lang="en-US" sz="3600" b="1" i="1" dirty="0">
                <a:solidFill>
                  <a:schemeClr val="accent1"/>
                </a:solidFill>
              </a:rPr>
              <a:t>approximately</a:t>
            </a:r>
            <a:r>
              <a:rPr lang="en-US" sz="3600" dirty="0"/>
              <a:t> in half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51836"/>
            <a:ext cx="8099714" cy="5006163"/>
          </a:xfrm>
        </p:spPr>
        <p:txBody>
          <a:bodyPr>
            <a:normAutofit/>
          </a:bodyPr>
          <a:lstStyle/>
          <a:p>
            <a:r>
              <a:rPr lang="en-US" dirty="0"/>
              <a:t>Empirically (see Lecture 4 Python Notebook):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5797" y="2377437"/>
            <a:ext cx="5951912" cy="4220998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93517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CLAIM: this works</a:t>
            </a:r>
            <a:br>
              <a:rPr lang="en-US" dirty="0"/>
            </a:br>
            <a:r>
              <a:rPr lang="en-US" sz="3600" dirty="0"/>
              <a:t>divides the array </a:t>
            </a:r>
            <a:r>
              <a:rPr lang="en-US" sz="3600" b="1" i="1" dirty="0">
                <a:solidFill>
                  <a:schemeClr val="accent1"/>
                </a:solidFill>
              </a:rPr>
              <a:t>approximately</a:t>
            </a:r>
            <a:r>
              <a:rPr lang="en-US" sz="3600" dirty="0"/>
              <a:t> in half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51836"/>
            <a:ext cx="8099714" cy="5006163"/>
          </a:xfrm>
        </p:spPr>
        <p:txBody>
          <a:bodyPr>
            <a:normAutofit/>
          </a:bodyPr>
          <a:lstStyle/>
          <a:p>
            <a:r>
              <a:rPr lang="en-US" dirty="0"/>
              <a:t>Formally, we will prove (later):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628650" y="2671281"/>
            <a:ext cx="7726634" cy="3215811"/>
            <a:chOff x="628650" y="2671281"/>
            <a:chExt cx="7726634" cy="3215811"/>
          </a:xfrm>
        </p:grpSpPr>
        <p:sp>
          <p:nvSpPr>
            <p:cNvPr id="4" name="文本框 3"/>
            <p:cNvSpPr txBox="1"/>
            <p:nvPr/>
          </p:nvSpPr>
          <p:spPr>
            <a:xfrm>
              <a:off x="628650" y="2671281"/>
              <a:ext cx="7726634" cy="3215811"/>
            </a:xfrm>
            <a:prstGeom prst="rect">
              <a:avLst/>
            </a:prstGeom>
            <a:ln w="28575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Rectangle 4"/>
                <p:cNvSpPr/>
                <p:nvPr/>
              </p:nvSpPr>
              <p:spPr>
                <a:xfrm>
                  <a:off x="872836" y="2864432"/>
                  <a:ext cx="7398328" cy="256736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2800" b="1" dirty="0">
                      <a:solidFill>
                        <a:schemeClr val="accent4"/>
                      </a:solidFill>
                    </a:rPr>
                    <a:t>Lemma: </a:t>
                  </a:r>
                  <a:r>
                    <a:rPr lang="en-US" sz="2800" dirty="0">
                      <a:solidFill>
                        <a:schemeClr val="accent4"/>
                      </a:solidFill>
                    </a:rPr>
                    <a:t>If we choose the pivots like this, then</a:t>
                  </a:r>
                  <a:endParaRPr lang="en-US" sz="2800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  <a:p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US" sz="280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  <m:r>
                          <a:rPr lang="en-US" sz="2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en-US" sz="28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US" sz="28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8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a:rPr lang="en-US" sz="2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2800" dirty="0">
                    <a:solidFill>
                      <a:schemeClr val="accent4"/>
                    </a:solidFill>
                  </a:endParaRPr>
                </a:p>
                <a:p>
                  <a:r>
                    <a:rPr lang="en-US" sz="2800" dirty="0">
                      <a:solidFill>
                        <a:schemeClr val="accent4"/>
                      </a:solidFill>
                    </a:rPr>
                    <a:t>and</a:t>
                  </a:r>
                  <a:endParaRPr lang="en-US" sz="2800" dirty="0">
                    <a:solidFill>
                      <a:schemeClr val="accent4"/>
                    </a:solidFill>
                  </a:endParaRPr>
                </a:p>
                <a:p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US" sz="28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  <m:r>
                          <a:rPr lang="en-US" sz="2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en-US" sz="28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US" sz="28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8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a:rPr lang="en-US" sz="2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2800" dirty="0">
                    <a:solidFill>
                      <a:schemeClr val="accent4"/>
                    </a:solidFill>
                  </a:endParaRPr>
                </a:p>
              </p:txBody>
            </p:sp>
          </mc:Choice>
          <mc:Fallback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836" y="2864432"/>
                  <a:ext cx="7398328" cy="2567369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2059705"/>
            <a:ext cx="4721629" cy="334850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itle 4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4900" dirty="0" err="1"/>
                  <a:t>实验检测</a:t>
                </a:r>
                <a:br>
                  <a:rPr lang="en-US" i="1" dirty="0">
                    <a:solidFill>
                      <a:schemeClr val="accent4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70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sz="27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27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70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70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700" dirty="0">
                    <a:solidFill>
                      <a:schemeClr val="accent2">
                        <a:lumMod val="50000"/>
                      </a:schemeClr>
                    </a:solidFill>
                  </a:rPr>
                  <a:t>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7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27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7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" name="Title 4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 Brace 7"/>
          <p:cNvSpPr/>
          <p:nvPr/>
        </p:nvSpPr>
        <p:spPr>
          <a:xfrm rot="16200000">
            <a:off x="2563022" y="4706145"/>
            <a:ext cx="1300162" cy="1828797"/>
          </a:xfrm>
          <a:prstGeom prst="leftBrace">
            <a:avLst>
              <a:gd name="adj1" fmla="val 8333"/>
              <a:gd name="adj2" fmla="val 50629"/>
            </a:avLst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791431" y="6256635"/>
            <a:ext cx="2781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That’s this window</a:t>
            </a:r>
            <a:endParaRPr lang="en-US" sz="2400" dirty="0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>
            <a:stCxn id="8" idx="2"/>
          </p:cNvCxnSpPr>
          <p:nvPr/>
        </p:nvCxnSpPr>
        <p:spPr>
          <a:xfrm flipV="1">
            <a:off x="4127502" y="2362201"/>
            <a:ext cx="0" cy="2608262"/>
          </a:xfrm>
          <a:prstGeom prst="line">
            <a:avLst/>
          </a:prstGeom>
          <a:ln w="381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2298704" y="2362201"/>
            <a:ext cx="0" cy="2608262"/>
          </a:xfrm>
          <a:prstGeom prst="line">
            <a:avLst/>
          </a:prstGeom>
          <a:ln w="381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7116448" y="4791918"/>
            <a:ext cx="1548391" cy="19263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79076" y="2512170"/>
            <a:ext cx="16603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/>
              <a:t>在实际中</a:t>
            </a:r>
            <a:r>
              <a:rPr lang="zh-CN" altLang="en-US" sz="1600" dirty="0"/>
              <a:t>，在随机数组中</a:t>
            </a:r>
            <a:r>
              <a:rPr lang="zh-CN" altLang="en-US" sz="1600" b="1" dirty="0">
                <a:solidFill>
                  <a:srgbClr val="00B050"/>
                </a:solidFill>
              </a:rPr>
              <a:t>实际表现更好</a:t>
            </a:r>
            <a:r>
              <a:rPr lang="en-US" sz="1600" dirty="0"/>
              <a:t>!</a:t>
            </a:r>
            <a:endParaRPr lang="en-US" sz="1600" dirty="0"/>
          </a:p>
          <a:p>
            <a:pPr algn="ctr"/>
            <a:r>
              <a:rPr lang="en-US" sz="1600" dirty="0"/>
              <a:t>  </a:t>
            </a:r>
            <a:endParaRPr lang="en-US" sz="1600" dirty="0"/>
          </a:p>
          <a:p>
            <a:pPr algn="ctr"/>
            <a:r>
              <a:rPr lang="en-US" sz="1600" dirty="0" err="1"/>
              <a:t>给出的是</a:t>
            </a:r>
            <a:r>
              <a:rPr lang="en-US" altLang="zh-CN" sz="1600" dirty="0" err="1"/>
              <a:t>worst</a:t>
            </a:r>
            <a:r>
              <a:rPr lang="en-US" altLang="zh-CN" sz="1600" dirty="0"/>
              <a:t>-case</a:t>
            </a:r>
            <a:r>
              <a:rPr lang="zh-CN" altLang="en-US" sz="1600" dirty="0"/>
              <a:t>的界</a:t>
            </a:r>
            <a:endParaRPr lang="en-US" sz="1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about the running time?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the Lemma is true.  (It is).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Recurrence relation:</a:t>
                </a: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≤ ?</m:t>
                    </m:r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 </a:t>
                </a:r>
                <a:endParaRPr lang="en-US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2913456" y="4649722"/>
            <a:ext cx="28010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7030A0"/>
                </a:solidFill>
              </a:rPr>
              <a:t>估计一下大概是多少</a:t>
            </a:r>
            <a:r>
              <a:rPr lang="zh-CN" altLang="en-US" sz="2000" dirty="0">
                <a:solidFill>
                  <a:srgbClr val="7030A0"/>
                </a:solidFill>
              </a:rPr>
              <a:t>？</a:t>
            </a:r>
            <a:endParaRPr lang="en-US" altLang="zh-CN" sz="2000" dirty="0">
              <a:solidFill>
                <a:srgbClr val="7030A0"/>
              </a:solidFill>
            </a:endParaRPr>
          </a:p>
          <a:p>
            <a:endParaRPr lang="en-US" altLang="zh-CN" sz="2000" dirty="0">
              <a:solidFill>
                <a:srgbClr val="7030A0"/>
              </a:solidFill>
            </a:endParaRPr>
          </a:p>
          <a:p>
            <a:r>
              <a:rPr lang="zh-CN" altLang="en-US" sz="2000" dirty="0">
                <a:solidFill>
                  <a:srgbClr val="7030A0"/>
                </a:solidFill>
              </a:rPr>
              <a:t>应该如何证明呢？</a:t>
            </a:r>
            <a:endParaRPr lang="en-US" altLang="zh-CN" sz="2000" dirty="0">
              <a:solidFill>
                <a:srgbClr val="7030A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509" y="339541"/>
            <a:ext cx="7886700" cy="1325563"/>
          </a:xfrm>
        </p:spPr>
        <p:txBody>
          <a:bodyPr/>
          <a:lstStyle/>
          <a:p>
            <a:r>
              <a:rPr lang="en-US" dirty="0"/>
              <a:t>Pseudocode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39168" y="59470"/>
                <a:ext cx="5604832" cy="2054366"/>
              </a:xfrm>
              <a:ln>
                <a:solidFill>
                  <a:schemeClr val="tx1"/>
                </a:solidFill>
              </a:ln>
            </p:spPr>
            <p:txBody>
              <a:bodyPr anchor="t">
                <a:normAutofit/>
              </a:bodyPr>
              <a:lstStyle/>
              <a:p>
                <a:r>
                  <a:rPr lang="en-US" sz="1800" dirty="0">
                    <a:solidFill>
                      <a:schemeClr val="accent4"/>
                    </a:solidFill>
                    <a:ea typeface="Courier" charset="0"/>
                    <a:cs typeface="Courier" charset="0"/>
                  </a:rPr>
                  <a:t>Lemma says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sz="18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1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sz="1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1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18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80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chemeClr val="accent4"/>
                    </a:solidFill>
                  </a:rPr>
                  <a:t>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18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1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sz="1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1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18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sz="1800" dirty="0">
                  <a:solidFill>
                    <a:schemeClr val="accent4"/>
                  </a:solidFill>
                </a:endParaRPr>
              </a:p>
              <a:p>
                <a:r>
                  <a:rPr lang="en-US" sz="1800" dirty="0">
                    <a:solidFill>
                      <a:schemeClr val="accent4"/>
                    </a:solidFill>
                    <a:ea typeface="Courier" charset="0"/>
                    <a:cs typeface="Courier" charset="0"/>
                  </a:rPr>
                  <a:t>Suppose </a:t>
                </a:r>
                <a:r>
                  <a:rPr lang="en-US" sz="1800" b="1" dirty="0">
                    <a:solidFill>
                      <a:schemeClr val="accent4"/>
                    </a:solidFill>
                    <a:latin typeface="Courier" charset="0"/>
                    <a:ea typeface="Courier" charset="0"/>
                    <a:cs typeface="Courier" charset="0"/>
                  </a:rPr>
                  <a:t>Partition</a:t>
                </a:r>
                <a:r>
                  <a:rPr lang="en-US" sz="1800" dirty="0">
                    <a:solidFill>
                      <a:schemeClr val="accent4"/>
                    </a:solidFill>
                    <a:ea typeface="Courier" charset="0"/>
                    <a:cs typeface="Courier" charset="0"/>
                  </a:rPr>
                  <a:t> runs in time O(n)</a:t>
                </a:r>
                <a:endParaRPr lang="en-US" sz="1800" dirty="0">
                  <a:solidFill>
                    <a:schemeClr val="accent4"/>
                  </a:solidFill>
                  <a:ea typeface="Courier" charset="0"/>
                  <a:cs typeface="Courier" charset="0"/>
                </a:endParaRPr>
              </a:p>
              <a:p>
                <a:r>
                  <a:rPr lang="en-US" sz="1800" dirty="0">
                    <a:solidFill>
                      <a:schemeClr val="accent4"/>
                    </a:solidFill>
                    <a:ea typeface="Courier" charset="0"/>
                    <a:cs typeface="Courier" charset="0"/>
                  </a:rPr>
                  <a:t>Come up with a recurrence relation for T(n), the running time of </a:t>
                </a:r>
                <a:r>
                  <a:rPr lang="en-US" sz="1800" b="1" dirty="0">
                    <a:solidFill>
                      <a:schemeClr val="accent4"/>
                    </a:solidFill>
                    <a:latin typeface="Courier" charset="0"/>
                    <a:ea typeface="Courier" charset="0"/>
                    <a:cs typeface="Big Caslon Medium" panose="02000603090000020003" pitchFamily="2" charset="-79"/>
                  </a:rPr>
                  <a:t>Select</a:t>
                </a:r>
                <a:r>
                  <a:rPr lang="en-US" sz="1800" dirty="0">
                    <a:solidFill>
                      <a:schemeClr val="accent4"/>
                    </a:solidFill>
                    <a:ea typeface="Courier" charset="0"/>
                    <a:cs typeface="Big Caslon Medium" panose="02000603090000020003" pitchFamily="2" charset="-79"/>
                  </a:rPr>
                  <a:t>, using the </a:t>
                </a:r>
                <a:r>
                  <a:rPr lang="en-US" sz="1800" b="1" dirty="0" err="1">
                    <a:solidFill>
                      <a:schemeClr val="accent4"/>
                    </a:solidFill>
                    <a:latin typeface="Courier" charset="0"/>
                    <a:ea typeface="Courier" charset="0"/>
                    <a:cs typeface="Big Caslon Medium" panose="02000603090000020003" pitchFamily="2" charset="-79"/>
                  </a:rPr>
                  <a:t>choosePivot</a:t>
                </a:r>
                <a:r>
                  <a:rPr lang="en-US" sz="1800" dirty="0">
                    <a:solidFill>
                      <a:schemeClr val="accent4"/>
                    </a:solidFill>
                    <a:ea typeface="Courier" charset="0"/>
                    <a:cs typeface="Big Caslon Medium" panose="02000603090000020003" pitchFamily="2" charset="-79"/>
                  </a:rPr>
                  <a:t> algorithm we just described.</a:t>
                </a:r>
                <a:endParaRPr lang="en-US" sz="1800" dirty="0">
                  <a:solidFill>
                    <a:schemeClr val="accent4"/>
                  </a:solidFill>
                  <a:ea typeface="Courier" charset="0"/>
                  <a:cs typeface="Courier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39168" y="59470"/>
                <a:ext cx="5604832" cy="2054366"/>
              </a:xfrm>
              <a:blipFill rotWithShape="1">
                <a:blip r:embed="rId1"/>
                <a:stretch>
                  <a:fillRect l="-119" t="-329" r="-113" b="-2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191191" y="2051052"/>
            <a:ext cx="685800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400" b="1" dirty="0">
                <a:latin typeface="Courier" charset="0"/>
                <a:ea typeface="Courier" charset="0"/>
                <a:cs typeface="Courier" charset="0"/>
              </a:rPr>
              <a:t>Select</a:t>
            </a:r>
            <a:r>
              <a:rPr lang="en-US" sz="2400" dirty="0"/>
              <a:t>(</a:t>
            </a:r>
            <a:r>
              <a:rPr lang="en-US" sz="2400" dirty="0" err="1"/>
              <a:t>A,k</a:t>
            </a:r>
            <a:r>
              <a:rPr lang="en-US" sz="2400" dirty="0"/>
              <a:t>):</a:t>
            </a:r>
            <a:endParaRPr lang="en-US" sz="2400" dirty="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sz="2400" b="1" dirty="0">
                <a:solidFill>
                  <a:srgbClr val="FF7400"/>
                </a:solidFill>
              </a:rPr>
              <a:t>If</a:t>
            </a:r>
            <a:r>
              <a:rPr lang="en-US" sz="2400" dirty="0">
                <a:solidFill>
                  <a:srgbClr val="FF7400"/>
                </a:solidFill>
              </a:rPr>
              <a:t> </a:t>
            </a:r>
            <a:r>
              <a:rPr lang="en-US" sz="2400" dirty="0" err="1">
                <a:solidFill>
                  <a:srgbClr val="FF7400"/>
                </a:solidFill>
              </a:rPr>
              <a:t>len</a:t>
            </a:r>
            <a:r>
              <a:rPr lang="en-US" sz="2400" dirty="0">
                <a:solidFill>
                  <a:srgbClr val="FF7400"/>
                </a:solidFill>
              </a:rPr>
              <a:t>(A) &lt;= 50:</a:t>
            </a:r>
            <a:endParaRPr lang="en-US" sz="2400" dirty="0">
              <a:solidFill>
                <a:srgbClr val="FF7400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en-US" sz="2400" dirty="0">
                <a:solidFill>
                  <a:srgbClr val="FF7400"/>
                </a:solidFill>
              </a:rPr>
              <a:t>A = </a:t>
            </a:r>
            <a:r>
              <a:rPr lang="en-US" sz="2400" b="1" dirty="0" err="1">
                <a:solidFill>
                  <a:srgbClr val="FF7400"/>
                </a:solidFill>
                <a:latin typeface="Courier" charset="0"/>
                <a:ea typeface="Courier" charset="0"/>
                <a:cs typeface="Courier" charset="0"/>
              </a:rPr>
              <a:t>MergeSort</a:t>
            </a:r>
            <a:r>
              <a:rPr lang="en-US" sz="2400" dirty="0">
                <a:solidFill>
                  <a:srgbClr val="FF7400"/>
                </a:solidFill>
              </a:rPr>
              <a:t>(A)</a:t>
            </a:r>
            <a:endParaRPr lang="en-US" sz="2400" dirty="0">
              <a:solidFill>
                <a:srgbClr val="FF7400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en-US" sz="2400" b="1" dirty="0">
                <a:solidFill>
                  <a:srgbClr val="FF7400"/>
                </a:solidFill>
              </a:rPr>
              <a:t>Return</a:t>
            </a:r>
            <a:r>
              <a:rPr lang="en-US" sz="2400" dirty="0">
                <a:solidFill>
                  <a:srgbClr val="FF7400"/>
                </a:solidFill>
              </a:rPr>
              <a:t> A[k-1]  </a:t>
            </a:r>
            <a:endParaRPr lang="en-US" sz="2400" dirty="0">
              <a:solidFill>
                <a:srgbClr val="FF7400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sz="2400" dirty="0"/>
              <a:t>p = </a:t>
            </a:r>
            <a:r>
              <a:rPr lang="en-US" sz="2400" b="1" dirty="0" err="1">
                <a:latin typeface="Courier" charset="0"/>
                <a:ea typeface="Courier" charset="0"/>
                <a:cs typeface="Courier" charset="0"/>
              </a:rPr>
              <a:t>choosePivot</a:t>
            </a:r>
            <a:r>
              <a:rPr lang="en-US" sz="2400" dirty="0"/>
              <a:t>(A)</a:t>
            </a:r>
            <a:endParaRPr lang="en-US" sz="2400" dirty="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sz="2400" dirty="0"/>
              <a:t>L, </a:t>
            </a:r>
            <a:r>
              <a:rPr lang="en-US" sz="2400" dirty="0" err="1"/>
              <a:t>pivotVal</a:t>
            </a:r>
            <a:r>
              <a:rPr lang="en-US" sz="2400" dirty="0"/>
              <a:t>, R = </a:t>
            </a:r>
            <a:r>
              <a:rPr lang="en-US" sz="2400" b="1" dirty="0">
                <a:latin typeface="Courier" charset="0"/>
                <a:ea typeface="Courier" charset="0"/>
                <a:cs typeface="Courier" charset="0"/>
              </a:rPr>
              <a:t>Partition</a:t>
            </a:r>
            <a:r>
              <a:rPr lang="en-US" sz="2400" dirty="0"/>
              <a:t>(</a:t>
            </a:r>
            <a:r>
              <a:rPr lang="en-US" sz="2400" dirty="0" err="1"/>
              <a:t>A,p</a:t>
            </a:r>
            <a:r>
              <a:rPr lang="en-US" sz="2400" dirty="0"/>
              <a:t>)</a:t>
            </a:r>
            <a:endParaRPr lang="en-US" sz="2400" dirty="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sz="2400" b="1" dirty="0">
                <a:solidFill>
                  <a:schemeClr val="accent1"/>
                </a:solidFill>
              </a:rPr>
              <a:t>if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 err="1">
                <a:solidFill>
                  <a:schemeClr val="accent1"/>
                </a:solidFill>
              </a:rPr>
              <a:t>len</a:t>
            </a:r>
            <a:r>
              <a:rPr lang="en-US" sz="2400" dirty="0">
                <a:solidFill>
                  <a:schemeClr val="accent1"/>
                </a:solidFill>
              </a:rPr>
              <a:t>(L) == k-1:</a:t>
            </a:r>
            <a:endParaRPr lang="en-US" sz="2400" dirty="0">
              <a:solidFill>
                <a:schemeClr val="accent1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</a:rPr>
              <a:t>return </a:t>
            </a:r>
            <a:r>
              <a:rPr lang="en-US" sz="2400" dirty="0" err="1">
                <a:solidFill>
                  <a:schemeClr val="accent1"/>
                </a:solidFill>
              </a:rPr>
              <a:t>pivotVal</a:t>
            </a:r>
            <a:endParaRPr lang="en-US" sz="2400" dirty="0">
              <a:solidFill>
                <a:schemeClr val="accent1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sz="2400" b="1" dirty="0">
                <a:solidFill>
                  <a:srgbClr val="7030A0"/>
                </a:solidFill>
              </a:rPr>
              <a:t>Else if </a:t>
            </a:r>
            <a:r>
              <a:rPr lang="en-US" sz="2400" dirty="0" err="1">
                <a:solidFill>
                  <a:srgbClr val="7030A0"/>
                </a:solidFill>
              </a:rPr>
              <a:t>len</a:t>
            </a:r>
            <a:r>
              <a:rPr lang="en-US" sz="2400" dirty="0">
                <a:solidFill>
                  <a:srgbClr val="7030A0"/>
                </a:solidFill>
              </a:rPr>
              <a:t>(L) &gt; k-1:</a:t>
            </a:r>
            <a:endParaRPr lang="en-US" sz="2400" dirty="0">
              <a:solidFill>
                <a:srgbClr val="7030A0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en-US" sz="2400" dirty="0">
                <a:solidFill>
                  <a:srgbClr val="7030A0"/>
                </a:solidFill>
              </a:rPr>
              <a:t>return </a:t>
            </a:r>
            <a:r>
              <a:rPr lang="en-US" sz="2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Select</a:t>
            </a:r>
            <a:r>
              <a:rPr lang="en-US" sz="2400" dirty="0">
                <a:solidFill>
                  <a:srgbClr val="7030A0"/>
                </a:solidFill>
              </a:rPr>
              <a:t>(L, k)</a:t>
            </a:r>
            <a:endParaRPr lang="en-US" sz="2400" dirty="0">
              <a:solidFill>
                <a:srgbClr val="7030A0"/>
              </a:solidFill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sz="2400" b="1" dirty="0">
                <a:solidFill>
                  <a:srgbClr val="0066FF"/>
                </a:solidFill>
              </a:rPr>
              <a:t>Else if </a:t>
            </a:r>
            <a:r>
              <a:rPr lang="en-US" sz="2400" dirty="0" err="1">
                <a:solidFill>
                  <a:srgbClr val="0066FF"/>
                </a:solidFill>
              </a:rPr>
              <a:t>len</a:t>
            </a:r>
            <a:r>
              <a:rPr lang="en-US" sz="2400" dirty="0">
                <a:solidFill>
                  <a:srgbClr val="0066FF"/>
                </a:solidFill>
              </a:rPr>
              <a:t>(L) &lt; k-1:</a:t>
            </a:r>
            <a:endParaRPr lang="en-US" sz="2400" dirty="0">
              <a:solidFill>
                <a:srgbClr val="0066FF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en-US" sz="2400" dirty="0">
                <a:solidFill>
                  <a:srgbClr val="0066FF"/>
                </a:solidFill>
              </a:rPr>
              <a:t>return </a:t>
            </a:r>
            <a:r>
              <a:rPr lang="en-US" sz="2400" b="1" dirty="0">
                <a:solidFill>
                  <a:srgbClr val="0066FF"/>
                </a:solidFill>
                <a:latin typeface="Courier" charset="0"/>
                <a:ea typeface="Courier" charset="0"/>
                <a:cs typeface="Courier" charset="0"/>
              </a:rPr>
              <a:t>Select</a:t>
            </a:r>
            <a:r>
              <a:rPr lang="en-US" sz="2400" dirty="0">
                <a:solidFill>
                  <a:srgbClr val="0066FF"/>
                </a:solidFill>
              </a:rPr>
              <a:t>(R, k </a:t>
            </a:r>
            <a:r>
              <a:rPr lang="en-US" sz="2400" dirty="0">
                <a:solidFill>
                  <a:srgbClr val="0066FF"/>
                </a:solidFill>
              </a:rPr>
              <a:t>–</a:t>
            </a:r>
            <a:r>
              <a:rPr lang="en-US" sz="2400" dirty="0">
                <a:solidFill>
                  <a:srgbClr val="0066FF"/>
                </a:solidFill>
              </a:rPr>
              <a:t> </a:t>
            </a:r>
            <a:r>
              <a:rPr lang="en-US" sz="2400" dirty="0" err="1">
                <a:solidFill>
                  <a:srgbClr val="0066FF"/>
                </a:solidFill>
              </a:rPr>
              <a:t>len</a:t>
            </a:r>
            <a:r>
              <a:rPr lang="en-US" sz="2400" dirty="0">
                <a:solidFill>
                  <a:srgbClr val="0066FF"/>
                </a:solidFill>
              </a:rPr>
              <a:t>(L) </a:t>
            </a:r>
            <a:r>
              <a:rPr lang="en-US" sz="2400" dirty="0">
                <a:solidFill>
                  <a:srgbClr val="0066FF"/>
                </a:solidFill>
              </a:rPr>
              <a:t>–</a:t>
            </a:r>
            <a:r>
              <a:rPr lang="en-US" sz="2400" dirty="0">
                <a:solidFill>
                  <a:srgbClr val="0066FF"/>
                </a:solidFill>
              </a:rPr>
              <a:t> 1)</a:t>
            </a:r>
            <a:endParaRPr lang="en-US" sz="2400" dirty="0">
              <a:solidFill>
                <a:srgbClr val="0066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31376" y="2244026"/>
            <a:ext cx="3108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7400"/>
                </a:solidFill>
              </a:rPr>
              <a:t>Base Case</a:t>
            </a:r>
            <a:r>
              <a:rPr lang="en-US" dirty="0">
                <a:solidFill>
                  <a:srgbClr val="FF7400"/>
                </a:solidFill>
              </a:rPr>
              <a:t>: If </a:t>
            </a:r>
            <a:r>
              <a:rPr lang="en-US" dirty="0" err="1">
                <a:solidFill>
                  <a:srgbClr val="FF7400"/>
                </a:solidFill>
              </a:rPr>
              <a:t>len</a:t>
            </a:r>
            <a:r>
              <a:rPr lang="en-US" dirty="0">
                <a:solidFill>
                  <a:srgbClr val="FF7400"/>
                </a:solidFill>
              </a:rPr>
              <a:t>(A) = O(1), then any sorting algorithm runs in time O(1).</a:t>
            </a:r>
            <a:endParaRPr lang="en-US" dirty="0">
              <a:solidFill>
                <a:srgbClr val="FF74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31376" y="4313209"/>
            <a:ext cx="3108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accent1"/>
                </a:solidFill>
              </a:rPr>
              <a:t>Case 1</a:t>
            </a:r>
            <a:r>
              <a:rPr lang="en-US" dirty="0">
                <a:solidFill>
                  <a:schemeClr val="accent1"/>
                </a:solidFill>
              </a:rPr>
              <a:t>: We got lucky and found exactly the </a:t>
            </a:r>
            <a:r>
              <a:rPr lang="en-US" dirty="0" err="1">
                <a:solidFill>
                  <a:schemeClr val="accent1"/>
                </a:solidFill>
              </a:rPr>
              <a:t>k’th</a:t>
            </a:r>
            <a:r>
              <a:rPr lang="en-US" dirty="0">
                <a:solidFill>
                  <a:schemeClr val="accent1"/>
                </a:solidFill>
              </a:rPr>
              <a:t> smallest value!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31376" y="5059120"/>
            <a:ext cx="3108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7030A0"/>
                </a:solidFill>
              </a:rPr>
              <a:t>Case 2</a:t>
            </a:r>
            <a:r>
              <a:rPr lang="en-US" dirty="0">
                <a:solidFill>
                  <a:srgbClr val="7030A0"/>
                </a:solidFill>
              </a:rPr>
              <a:t>: The </a:t>
            </a:r>
            <a:r>
              <a:rPr lang="en-US" dirty="0" err="1">
                <a:solidFill>
                  <a:srgbClr val="7030A0"/>
                </a:solidFill>
              </a:rPr>
              <a:t>k’th</a:t>
            </a:r>
            <a:r>
              <a:rPr lang="en-US" dirty="0">
                <a:solidFill>
                  <a:srgbClr val="7030A0"/>
                </a:solidFill>
              </a:rPr>
              <a:t> smallest value is in the first part of the list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04111" y="5798845"/>
            <a:ext cx="3108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0066FF"/>
                </a:solidFill>
              </a:rPr>
              <a:t>Case 3</a:t>
            </a:r>
            <a:r>
              <a:rPr lang="en-US" dirty="0">
                <a:solidFill>
                  <a:srgbClr val="0066FF"/>
                </a:solidFill>
              </a:rPr>
              <a:t>: The </a:t>
            </a:r>
            <a:r>
              <a:rPr lang="en-US" dirty="0" err="1">
                <a:solidFill>
                  <a:srgbClr val="0066FF"/>
                </a:solidFill>
              </a:rPr>
              <a:t>k’th</a:t>
            </a:r>
            <a:r>
              <a:rPr lang="en-US" dirty="0">
                <a:solidFill>
                  <a:srgbClr val="0066FF"/>
                </a:solidFill>
              </a:rPr>
              <a:t> smallest value is in the second part of the list</a:t>
            </a:r>
            <a:endParaRPr lang="en-US" dirty="0">
              <a:solidFill>
                <a:srgbClr val="0066FF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7522701" y="1524308"/>
            <a:ext cx="1490370" cy="479397"/>
          </a:xfrm>
          <a:prstGeom prst="rect">
            <a:avLst/>
          </a:prstGeom>
        </p:spPr>
      </p:pic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push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about the running time?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the Lemma is true.  (It is).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Recurrence relation:</a:t>
                </a: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 </a:t>
                </a:r>
                <a:endParaRPr lang="en-US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4051139" y="4726859"/>
            <a:ext cx="5092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7400"/>
                </a:solidFill>
              </a:rPr>
              <a:t>Outside of CHOOSEPIVOT, there’s at most one recursive call to SELECT on array of size 7n/10 + 5.  </a:t>
            </a:r>
            <a:endParaRPr lang="en-US" dirty="0">
              <a:solidFill>
                <a:srgbClr val="FF7400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5416952" y="4479403"/>
            <a:ext cx="1480805" cy="271501"/>
          </a:xfrm>
          <a:prstGeom prst="straightConnector1">
            <a:avLst/>
          </a:prstGeom>
          <a:ln>
            <a:solidFill>
              <a:srgbClr val="FF74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1097" y="4563797"/>
            <a:ext cx="32159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0" i="0" dirty="0">
                <a:solidFill>
                  <a:srgbClr val="00B05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对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CHOOSEPIVOT</a:t>
            </a:r>
            <a:r>
              <a:rPr lang="zh-CN" altLang="en-US" b="0" i="0" dirty="0">
                <a:solidFill>
                  <a:srgbClr val="00B05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的调用在大小为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n/5</a:t>
            </a:r>
            <a:r>
              <a:rPr lang="zh-CN" altLang="en-US" b="0" i="0" dirty="0">
                <a:solidFill>
                  <a:srgbClr val="00B05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的数组上再次递归调用</a:t>
            </a:r>
            <a:r>
              <a:rPr lang="en-US" altLang="zh-CN" b="0" i="0" dirty="0">
                <a:solidFill>
                  <a:srgbClr val="00B05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SELECT</a:t>
            </a:r>
            <a:r>
              <a:rPr lang="zh-CN" altLang="en-US" b="0" i="0" dirty="0">
                <a:solidFill>
                  <a:srgbClr val="00B05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。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8" name="Straight Arrow Connector 7"/>
          <p:cNvCxnSpPr>
            <a:stCxn id="7" idx="0"/>
          </p:cNvCxnSpPr>
          <p:nvPr/>
        </p:nvCxnSpPr>
        <p:spPr>
          <a:xfrm flipV="1">
            <a:off x="2119073" y="4292297"/>
            <a:ext cx="1583144" cy="271500"/>
          </a:xfrm>
          <a:prstGeom prst="straightConnector1">
            <a:avLst/>
          </a:prstGeom>
          <a:ln>
            <a:solidFill>
              <a:srgbClr val="FF74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2031963" y="5354389"/>
            <a:ext cx="7218023" cy="1445421"/>
            <a:chOff x="2031963" y="5354389"/>
            <a:chExt cx="7218023" cy="1445421"/>
          </a:xfrm>
        </p:grpSpPr>
        <p:grpSp>
          <p:nvGrpSpPr>
            <p:cNvPr id="13" name="Group 12"/>
            <p:cNvGrpSpPr/>
            <p:nvPr/>
          </p:nvGrpSpPr>
          <p:grpSpPr>
            <a:xfrm>
              <a:off x="2031963" y="5354389"/>
              <a:ext cx="6539577" cy="1148533"/>
              <a:chOff x="3194841" y="5589375"/>
              <a:chExt cx="6539577" cy="1148533"/>
            </a:xfrm>
          </p:grpSpPr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2" cstate="screen"/>
              <a:stretch>
                <a:fillRect/>
              </a:stretch>
            </p:blipFill>
            <p:spPr>
              <a:xfrm>
                <a:off x="8693018" y="5589375"/>
                <a:ext cx="1041400" cy="1148533"/>
              </a:xfrm>
              <a:prstGeom prst="rect">
                <a:avLst/>
              </a:prstGeom>
            </p:spPr>
          </p:pic>
          <p:sp>
            <p:nvSpPr>
              <p:cNvPr id="12" name="TextBox 11"/>
              <p:cNvSpPr txBox="1"/>
              <p:nvPr/>
            </p:nvSpPr>
            <p:spPr>
              <a:xfrm>
                <a:off x="3194841" y="5690544"/>
                <a:ext cx="5613653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We’re going to drop the “+5” for convenience,</a:t>
                </a:r>
                <a:endParaRPr lang="en-US" dirty="0">
                  <a:solidFill>
                    <a:srgbClr val="7030A0"/>
                  </a:solidFill>
                </a:endParaRPr>
              </a:p>
              <a:p>
                <a:r>
                  <a:rPr lang="en-US" dirty="0">
                    <a:solidFill>
                      <a:srgbClr val="7030A0"/>
                    </a:solidFill>
                  </a:rPr>
                  <a:t>but it does not change the final answer. Why?</a:t>
                </a:r>
                <a:endParaRPr lang="en-US" dirty="0">
                  <a:solidFill>
                    <a:srgbClr val="7030A0"/>
                  </a:solidFill>
                </a:endParaRPr>
              </a:p>
              <a:p>
                <a:r>
                  <a:rPr lang="en-US" dirty="0">
                    <a:solidFill>
                      <a:srgbClr val="7030A0"/>
                    </a:solidFill>
                  </a:rPr>
                  <a:t>Hint: Define T’(n) := T(n+1000) and write recurrence for T’</a:t>
                </a:r>
                <a:endParaRPr lang="en-US" dirty="0">
                  <a:solidFill>
                    <a:srgbClr val="7030A0"/>
                  </a:solidFill>
                </a:endParaRPr>
              </a:p>
            </p:txBody>
          </p:sp>
        </p:grpSp>
        <p:sp>
          <p:nvSpPr>
            <p:cNvPr id="14" name="TextBox 13"/>
            <p:cNvSpPr txBox="1"/>
            <p:nvPr/>
          </p:nvSpPr>
          <p:spPr>
            <a:xfrm>
              <a:off x="6699855" y="6461256"/>
              <a:ext cx="25501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rgbClr val="7030A0"/>
                  </a:solidFill>
                </a:rPr>
                <a:t>Siggi</a:t>
              </a:r>
              <a:r>
                <a:rPr lang="en-US" sz="1600" dirty="0">
                  <a:solidFill>
                    <a:srgbClr val="7030A0"/>
                  </a:solidFill>
                </a:rPr>
                <a:t> the Studious Stork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911" y="198895"/>
            <a:ext cx="7886700" cy="52781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+mn-lt"/>
              </a:rPr>
              <a:t>This sounds like a job for</a:t>
            </a:r>
            <a:r>
              <a:rPr lang="en-US" sz="2800" dirty="0">
                <a:latin typeface="+mn-lt"/>
              </a:rPr>
              <a:t>…</a:t>
            </a:r>
            <a:endParaRPr lang="en-US" sz="28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21307387">
            <a:off x="420222" y="955704"/>
            <a:ext cx="7886700" cy="260798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i="1" dirty="0">
                <a:solidFill>
                  <a:srgbClr val="CF6E6C"/>
                </a:solidFill>
                <a:latin typeface="Bernard MT Condensed" charset="0"/>
                <a:ea typeface="Bernard MT Condensed" charset="0"/>
                <a:cs typeface="Bernard MT Condensed" charset="0"/>
              </a:rPr>
              <a:t>The Substitution Method!</a:t>
            </a:r>
            <a:endParaRPr lang="en-US" sz="5400" i="1" dirty="0">
              <a:solidFill>
                <a:srgbClr val="CF6E6C"/>
              </a:solidFill>
              <a:latin typeface="Bernard MT Condensed" charset="0"/>
              <a:ea typeface="Bernard MT Condensed" charset="0"/>
              <a:cs typeface="Bernard MT Condensed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505344" y="2847685"/>
                <a:ext cx="4288546" cy="7916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US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d>
                      <m:r>
                        <a:rPr lang="en-US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344" y="2847685"/>
                <a:ext cx="4288546" cy="791627"/>
              </a:xfrm>
              <a:prstGeom prst="rect">
                <a:avLst/>
              </a:prstGeom>
              <a:blipFill rotWithShape="1">
                <a:blip r:embed="rId1"/>
                <a:stretch>
                  <a:fillRect l="-12" t="-44" r="6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505344" y="4836083"/>
                <a:ext cx="399885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chemeClr val="accent4"/>
                    </a:solidFill>
                  </a:rPr>
                  <a:t>Conclusion: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chemeClr val="accent4"/>
                    </a:solidFill>
                  </a:rPr>
                  <a:t> </a:t>
                </a:r>
                <a:endParaRPr lang="en-US" sz="2800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344" y="4836083"/>
                <a:ext cx="3998851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13" t="-107" r="-4347" b="-41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4693954" y="1746731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Step 1: generate a guess</a:t>
            </a:r>
            <a:endParaRPr lang="en-US" dirty="0"/>
          </a:p>
          <a:p>
            <a:r>
              <a:rPr lang="en-US" dirty="0"/>
              <a:t>Step 2: try to prove that your guess is correct</a:t>
            </a:r>
            <a:endParaRPr lang="en-US" dirty="0"/>
          </a:p>
          <a:p>
            <a:r>
              <a:rPr lang="en-US" dirty="0"/>
              <a:t>Step 3: profit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5683730" y="4071833"/>
                <a:ext cx="3234478" cy="14457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7030A0"/>
                    </a:solidFill>
                  </a:rPr>
                  <a:t>Technically we only did it for </a:t>
                </a:r>
                <a:endParaRPr lang="en-US" sz="1600" dirty="0">
                  <a:solidFill>
                    <a:srgbClr val="7030A0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6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6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sz="16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US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  <m:r>
                      <a:rPr lang="en-US" sz="16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>
                    <a:solidFill>
                      <a:srgbClr val="7030A0"/>
                    </a:solidFill>
                  </a:rPr>
                  <a:t>, </a:t>
                </a:r>
                <a:endParaRPr lang="en-US" sz="1600" dirty="0">
                  <a:solidFill>
                    <a:srgbClr val="7030A0"/>
                  </a:solidFill>
                </a:endParaRPr>
              </a:p>
              <a:p>
                <a:pPr algn="ctr"/>
                <a:r>
                  <a:rPr lang="en-US" sz="1600" dirty="0">
                    <a:solidFill>
                      <a:srgbClr val="7030A0"/>
                    </a:solidFill>
                  </a:rPr>
                  <a:t>not when the last term </a:t>
                </a:r>
                <a:endParaRPr lang="en-US" sz="1600" dirty="0">
                  <a:solidFill>
                    <a:srgbClr val="7030A0"/>
                  </a:solidFill>
                </a:endParaRPr>
              </a:p>
              <a:p>
                <a:pPr algn="ctr"/>
                <a:r>
                  <a:rPr lang="en-US" sz="1600" dirty="0">
                    <a:solidFill>
                      <a:srgbClr val="7030A0"/>
                    </a:solidFill>
                  </a:rPr>
                  <a:t>has a big-Oh…</a:t>
                </a:r>
                <a:endParaRPr lang="en-US" sz="1600" dirty="0">
                  <a:solidFill>
                    <a:srgbClr val="7030A0"/>
                  </a:solidFill>
                </a:endParaRPr>
              </a:p>
              <a:p>
                <a:pPr algn="ctr"/>
                <a:r>
                  <a:rPr lang="en-US" sz="1600" dirty="0">
                    <a:solidFill>
                      <a:srgbClr val="7030A0"/>
                    </a:solidFill>
                  </a:rPr>
                  <a:t> </a:t>
                </a:r>
                <a:endParaRPr lang="en-US" sz="16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3730" y="4071833"/>
                <a:ext cx="3234478" cy="1445717"/>
              </a:xfrm>
              <a:prstGeom prst="rect">
                <a:avLst/>
              </a:prstGeom>
              <a:blipFill rotWithShape="1">
                <a:blip r:embed="rId3"/>
                <a:stretch>
                  <a:fillRect l="-15" t="-15" r="8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821" y="5254305"/>
            <a:ext cx="936296" cy="1168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83730" y="6445490"/>
            <a:ext cx="3234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</a:rPr>
              <a:t>Plucky the Pedantic Penguin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2906" y="3946965"/>
            <a:ext cx="4343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我们上节课用替换法已经证明</a:t>
            </a:r>
            <a:r>
              <a:rPr lang="zh-CN" altLang="en-US" dirty="0"/>
              <a:t>：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1658698" y="5505646"/>
            <a:ext cx="1692141" cy="1352354"/>
          </a:xfrm>
          <a:prstGeom prst="rect">
            <a:avLst/>
          </a:prstGeom>
        </p:spPr>
      </p:pic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6" grpId="0"/>
      <p:bldP spid="14" grpId="0"/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6457" y="433992"/>
            <a:ext cx="7886700" cy="723935"/>
          </a:xfrm>
        </p:spPr>
        <p:txBody>
          <a:bodyPr/>
          <a:lstStyle/>
          <a:p>
            <a:r>
              <a:rPr lang="en-US" altLang="zh-CN" dirty="0">
                <a:solidFill>
                  <a:srgbClr val="7030A0"/>
                </a:solidFill>
              </a:rPr>
              <a:t>When the last term has a big-Oh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489752"/>
            <a:ext cx="7886700" cy="5003121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W</a:t>
            </a:r>
            <a:r>
              <a:rPr lang="fr-FR" altLang="zh-CN" dirty="0"/>
              <a:t>e </a:t>
            </a:r>
            <a:r>
              <a:rPr lang="fr-FR" altLang="zh-CN" dirty="0" err="1"/>
              <a:t>consider</a:t>
            </a:r>
            <a:r>
              <a:rPr lang="fr-FR" altLang="zh-CN" dirty="0"/>
              <a:t> the </a:t>
            </a:r>
            <a:r>
              <a:rPr lang="fr-FR" altLang="zh-CN" dirty="0" err="1"/>
              <a:t>recurrence</a:t>
            </a:r>
            <a:r>
              <a:rPr lang="fr-FR" altLang="zh-CN" dirty="0"/>
              <a:t> </a:t>
            </a:r>
            <a:endParaRPr lang="fr-FR" altLang="zh-CN" dirty="0"/>
          </a:p>
          <a:p>
            <a:pPr marL="0" indent="0">
              <a:buNone/>
            </a:pPr>
            <a:r>
              <a:rPr lang="zh-CN" altLang="en-US" dirty="0"/>
              <a:t>                   </a:t>
            </a:r>
            <a:r>
              <a:rPr lang="fr-FR" altLang="zh-CN" dirty="0" err="1"/>
              <a:t>T</a:t>
            </a:r>
            <a:r>
              <a:rPr lang="fr-FR" altLang="zh-CN" dirty="0"/>
              <a:t>(n) ≤ </a:t>
            </a:r>
            <a:r>
              <a:rPr lang="fr-FR" altLang="zh-CN" dirty="0" err="1"/>
              <a:t>T</a:t>
            </a:r>
            <a:r>
              <a:rPr lang="fr-FR" altLang="zh-CN" dirty="0"/>
              <a:t>(n/5) + </a:t>
            </a:r>
            <a:r>
              <a:rPr lang="fr-FR" altLang="zh-CN" dirty="0" err="1"/>
              <a:t>T</a:t>
            </a:r>
            <a:r>
              <a:rPr lang="fr-FR" altLang="zh-CN" dirty="0"/>
              <a:t>(7n/10) </a:t>
            </a:r>
            <a:r>
              <a:rPr lang="fr-FR" altLang="zh-CN" sz="3500" b="1" dirty="0">
                <a:solidFill>
                  <a:srgbClr val="C00000"/>
                </a:solidFill>
              </a:rPr>
              <a:t>+ </a:t>
            </a:r>
            <a:r>
              <a:rPr lang="fr-FR" altLang="zh-CN" sz="3500" b="1" dirty="0" err="1">
                <a:solidFill>
                  <a:srgbClr val="C00000"/>
                </a:solidFill>
              </a:rPr>
              <a:t>cn</a:t>
            </a:r>
            <a:r>
              <a:rPr lang="fr-FR" altLang="zh-CN" sz="3500" b="1" dirty="0">
                <a:solidFill>
                  <a:srgbClr val="C00000"/>
                </a:solidFill>
              </a:rPr>
              <a:t> </a:t>
            </a:r>
            <a:endParaRPr lang="fr-FR" altLang="zh-CN" b="1" dirty="0">
              <a:solidFill>
                <a:srgbClr val="C00000"/>
              </a:solidFill>
            </a:endParaRPr>
          </a:p>
          <a:p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guess:</a:t>
            </a:r>
            <a:endParaRPr lang="en-US" altLang="zh-CN" dirty="0"/>
          </a:p>
          <a:p>
            <a:endParaRPr lang="en-US" dirty="0"/>
          </a:p>
          <a:p>
            <a:r>
              <a:rPr lang="fr-FR" altLang="zh-CN" dirty="0"/>
              <a:t>To </a:t>
            </a:r>
            <a:r>
              <a:rPr lang="fr-FR" altLang="zh-CN" dirty="0" err="1"/>
              <a:t>prove</a:t>
            </a:r>
            <a:r>
              <a:rPr lang="fr-FR" altLang="zh-CN" dirty="0"/>
              <a:t> for n = k, </a:t>
            </a:r>
            <a:r>
              <a:rPr lang="fr-FR" altLang="zh-CN" dirty="0" err="1"/>
              <a:t>we</a:t>
            </a:r>
            <a:r>
              <a:rPr lang="fr-FR" altLang="zh-CN" dirty="0"/>
              <a:t> </a:t>
            </a:r>
            <a:r>
              <a:rPr lang="fr-FR" altLang="zh-CN" dirty="0" err="1"/>
              <a:t>solve</a:t>
            </a:r>
            <a:r>
              <a:rPr lang="fr-FR" altLang="zh-CN" dirty="0"/>
              <a:t> the </a:t>
            </a:r>
            <a:r>
              <a:rPr lang="fr-FR" altLang="zh-CN" dirty="0" err="1"/>
              <a:t>following</a:t>
            </a:r>
            <a:r>
              <a:rPr lang="fr-FR" altLang="zh-CN" dirty="0"/>
              <a:t> </a:t>
            </a:r>
            <a:r>
              <a:rPr lang="fr-FR" altLang="zh-CN" dirty="0" err="1"/>
              <a:t>equation</a:t>
            </a:r>
            <a:r>
              <a:rPr lang="fr-FR" altLang="zh-CN" dirty="0"/>
              <a:t>:</a:t>
            </a:r>
            <a:endParaRPr lang="fr-FR" altLang="zh-CN" dirty="0"/>
          </a:p>
          <a:p>
            <a:endParaRPr lang="fr-FR" altLang="zh-CN" dirty="0"/>
          </a:p>
          <a:p>
            <a:endParaRPr lang="fr-FR" altLang="zh-CN" dirty="0"/>
          </a:p>
          <a:p>
            <a:endParaRPr lang="fr-FR" altLang="zh-CN" dirty="0"/>
          </a:p>
          <a:p>
            <a:endParaRPr lang="fr-FR" altLang="zh-CN" dirty="0"/>
          </a:p>
          <a:p>
            <a:r>
              <a:rPr lang="en-US" altLang="zh-CN" dirty="0"/>
              <a:t>W</a:t>
            </a:r>
            <a:r>
              <a:rPr lang="fr-FR" altLang="zh-CN" dirty="0"/>
              <a:t>e </a:t>
            </a:r>
            <a:r>
              <a:rPr lang="fr-FR" altLang="zh-CN" dirty="0" err="1"/>
              <a:t>can</a:t>
            </a:r>
            <a:r>
              <a:rPr lang="fr-FR" altLang="zh-CN" dirty="0"/>
              <a:t> </a:t>
            </a:r>
            <a:r>
              <a:rPr lang="fr-FR" altLang="zh-CN" dirty="0" err="1"/>
              <a:t>choose</a:t>
            </a:r>
            <a:r>
              <a:rPr lang="fr-FR" altLang="zh-CN" dirty="0"/>
              <a:t> d = max (1, 10c ),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proof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completed.</a:t>
            </a:r>
            <a:r>
              <a:rPr lang="zh-CN" altLang="en-US" dirty="0"/>
              <a:t> </a:t>
            </a:r>
            <a:endParaRPr lang="fr-FR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1011" y="2573924"/>
            <a:ext cx="3021771" cy="7267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832" y="3829656"/>
            <a:ext cx="6475575" cy="1741167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Substitution method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76726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Suppose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Let’s guess the solution is</a:t>
                </a:r>
                <a:endParaRPr lang="en-US" dirty="0"/>
              </a:p>
              <a:p>
                <a:pPr marL="0" indent="0">
                  <a:buNone/>
                </a:pPr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         (*)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>
                    <a:solidFill>
                      <a:srgbClr val="7030A0"/>
                    </a:solidFill>
                  </a:rPr>
                  <a:t>(aka, guessing T(n) = O(g(n)))</a:t>
                </a:r>
                <a:endParaRPr lang="en-US" dirty="0">
                  <a:solidFill>
                    <a:srgbClr val="7030A0"/>
                  </a:solidFill>
                </a:endParaRPr>
              </a:p>
              <a:p>
                <a:r>
                  <a:rPr lang="en-US" dirty="0"/>
                  <a:t>Prove this by induction, with the inductive hypothesis (*) for all smaller n’s.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767261"/>
              </a:xfrm>
              <a:blipFill rotWithShape="1">
                <a:blip r:embed="rId1"/>
                <a:stretch>
                  <a:fillRect t="-473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5872164" y="566242"/>
            <a:ext cx="22431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work to call </a:t>
            </a:r>
            <a:r>
              <a:rPr lang="en-US">
                <a:solidFill>
                  <a:schemeClr val="accent4"/>
                </a:solidFill>
              </a:rPr>
              <a:t>recursive sub-problems and merge them back</a:t>
            </a:r>
            <a:endParaRPr lang="en-US">
              <a:solidFill>
                <a:schemeClr val="accent4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00825" y="2416087"/>
            <a:ext cx="22145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Work in r different sub-problems, which might </a:t>
            </a:r>
            <a:r>
              <a:rPr lang="en-US">
                <a:solidFill>
                  <a:schemeClr val="accent1"/>
                </a:solidFill>
              </a:rPr>
              <a:t>have different sizes.</a:t>
            </a:r>
            <a:endParaRPr lang="en-US">
              <a:solidFill>
                <a:schemeClr val="accent1"/>
              </a:solidFill>
            </a:endParaRPr>
          </a:p>
        </p:txBody>
      </p:sp>
      <p:cxnSp>
        <p:nvCxnSpPr>
          <p:cNvPr id="7" name="Straight Connector 6"/>
          <p:cNvCxnSpPr>
            <a:stCxn id="4" idx="1"/>
          </p:cNvCxnSpPr>
          <p:nvPr/>
        </p:nvCxnSpPr>
        <p:spPr>
          <a:xfrm flipH="1">
            <a:off x="4843463" y="1027907"/>
            <a:ext cx="1028701" cy="662781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5" idx="0"/>
          </p:cNvCxnSpPr>
          <p:nvPr/>
        </p:nvCxnSpPr>
        <p:spPr>
          <a:xfrm flipH="1" flipV="1">
            <a:off x="6600825" y="2185988"/>
            <a:ext cx="1107282" cy="2300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708" y="1814050"/>
            <a:ext cx="8908889" cy="4351338"/>
          </a:xfrm>
        </p:spPr>
        <p:txBody>
          <a:bodyPr/>
          <a:lstStyle/>
          <a:p>
            <a:r>
              <a:rPr lang="en-US" dirty="0"/>
              <a:t>First, we figured out what the ideal pivot would be.</a:t>
            </a:r>
            <a:endParaRPr lang="en-US" dirty="0"/>
          </a:p>
          <a:p>
            <a:pPr lvl="1"/>
            <a:r>
              <a:rPr lang="en-US" dirty="0">
                <a:solidFill>
                  <a:schemeClr val="accent4"/>
                </a:solidFill>
              </a:rPr>
              <a:t>Find the median</a:t>
            </a:r>
            <a:endParaRPr lang="en-US" dirty="0">
              <a:solidFill>
                <a:schemeClr val="accent4"/>
              </a:solidFill>
            </a:endParaRPr>
          </a:p>
          <a:p>
            <a:pPr lvl="1"/>
            <a:endParaRPr lang="en-US" dirty="0"/>
          </a:p>
          <a:p>
            <a:r>
              <a:rPr lang="en-US" dirty="0"/>
              <a:t>Then, we figured out what a </a:t>
            </a:r>
            <a:r>
              <a:rPr lang="en-US" b="1" dirty="0"/>
              <a:t>pretty good </a:t>
            </a:r>
            <a:r>
              <a:rPr lang="en-US" dirty="0"/>
              <a:t>pivot would be.</a:t>
            </a:r>
            <a:endParaRPr lang="en-US" dirty="0"/>
          </a:p>
          <a:p>
            <a:pPr lvl="1"/>
            <a:r>
              <a:rPr lang="en-US" dirty="0">
                <a:solidFill>
                  <a:schemeClr val="accent4"/>
                </a:solidFill>
              </a:rPr>
              <a:t>An approximate median</a:t>
            </a:r>
            <a:endParaRPr lang="en-US" dirty="0">
              <a:solidFill>
                <a:schemeClr val="accent4"/>
              </a:solidFill>
            </a:endParaRPr>
          </a:p>
          <a:p>
            <a:pPr lvl="1"/>
            <a:endParaRPr lang="en-US" dirty="0"/>
          </a:p>
          <a:p>
            <a:r>
              <a:rPr lang="en-US" dirty="0"/>
              <a:t>Finally, we saw how to get our pretty good pivot!</a:t>
            </a:r>
            <a:endParaRPr lang="en-US" dirty="0"/>
          </a:p>
          <a:p>
            <a:pPr lvl="1"/>
            <a:r>
              <a:rPr lang="en-US" dirty="0">
                <a:solidFill>
                  <a:schemeClr val="accent4"/>
                </a:solidFill>
              </a:rPr>
              <a:t>Median of medians and divide and conquer!</a:t>
            </a:r>
            <a:endParaRPr lang="en-US" dirty="0">
              <a:solidFill>
                <a:schemeClr val="accent4"/>
              </a:solidFill>
            </a:endParaRPr>
          </a:p>
          <a:p>
            <a:pPr lvl="1"/>
            <a:r>
              <a:rPr lang="en-US" dirty="0">
                <a:solidFill>
                  <a:schemeClr val="accent4"/>
                </a:solidFill>
              </a:rPr>
              <a:t>Hooray!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分析思考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fr-FR" dirty="0"/>
              <a:t>如果</a:t>
            </a:r>
            <a:r>
              <a:rPr lang="zh-CN" altLang="en-US" dirty="0"/>
              <a:t>某个算法的时间复杂度的递推关系式如下，请分析算法的渐进时间复杂度</a:t>
            </a:r>
            <a:endParaRPr lang="fr-FR" altLang="zh-CN" dirty="0"/>
          </a:p>
          <a:p>
            <a:pPr marL="0" indent="0">
              <a:buNone/>
            </a:pPr>
            <a:r>
              <a:rPr lang="zh-CN" altLang="en-US" dirty="0"/>
              <a:t>          </a:t>
            </a:r>
            <a:r>
              <a:rPr lang="fr-FR" altLang="zh-CN" dirty="0" err="1"/>
              <a:t>T</a:t>
            </a:r>
            <a:r>
              <a:rPr lang="fr-FR" altLang="zh-CN" dirty="0"/>
              <a:t>(n) </a:t>
            </a:r>
            <a:r>
              <a:rPr lang="en-US" altLang="zh-CN" dirty="0"/>
              <a:t>=</a:t>
            </a:r>
            <a:r>
              <a:rPr lang="fr-FR" altLang="zh-CN" dirty="0"/>
              <a:t> </a:t>
            </a:r>
            <a:r>
              <a:rPr lang="fr-FR" altLang="zh-CN" dirty="0" err="1"/>
              <a:t>T</a:t>
            </a:r>
            <a:r>
              <a:rPr lang="fr-FR" altLang="zh-CN" dirty="0"/>
              <a:t>(n/</a:t>
            </a:r>
            <a:r>
              <a:rPr lang="en-US" altLang="zh-CN" dirty="0"/>
              <a:t>100</a:t>
            </a:r>
            <a:r>
              <a:rPr lang="fr-FR" altLang="zh-CN" dirty="0"/>
              <a:t>) + </a:t>
            </a:r>
            <a:r>
              <a:rPr lang="fr-FR" altLang="zh-CN" dirty="0" err="1"/>
              <a:t>T</a:t>
            </a:r>
            <a:r>
              <a:rPr lang="fr-FR" altLang="zh-CN" dirty="0"/>
              <a:t>(</a:t>
            </a:r>
            <a:r>
              <a:rPr lang="en-US" altLang="zh-CN" dirty="0"/>
              <a:t>98</a:t>
            </a:r>
            <a:r>
              <a:rPr lang="fr-FR" altLang="zh-CN" dirty="0"/>
              <a:t>n/10</a:t>
            </a:r>
            <a:r>
              <a:rPr lang="en-US" altLang="zh-CN" dirty="0"/>
              <a:t>0</a:t>
            </a:r>
            <a:r>
              <a:rPr lang="fr-FR" altLang="zh-CN" dirty="0"/>
              <a:t>) + O(n</a:t>
            </a:r>
            <a:r>
              <a:rPr lang="en-US" altLang="zh-CN" dirty="0"/>
              <a:t>)</a:t>
            </a:r>
            <a:r>
              <a:rPr lang="fr-FR" altLang="zh-CN" dirty="0"/>
              <a:t> </a:t>
            </a:r>
            <a:endParaRPr lang="fr-FR" altLang="zh-CN" dirty="0"/>
          </a:p>
          <a:p>
            <a:endParaRPr lang="en-US" dirty="0"/>
          </a:p>
          <a:p>
            <a:pPr marL="514350" indent="-514350">
              <a:buAutoNum type="arabicPeriod" startAt="2"/>
            </a:pPr>
            <a:r>
              <a:rPr lang="fr-FR" altLang="zh-CN" dirty="0" err="1"/>
              <a:t>T</a:t>
            </a:r>
            <a:r>
              <a:rPr lang="fr-FR" altLang="zh-CN" dirty="0"/>
              <a:t>(n) </a:t>
            </a:r>
            <a:r>
              <a:rPr lang="en-US" altLang="zh-CN" dirty="0"/>
              <a:t>=</a:t>
            </a:r>
            <a:r>
              <a:rPr lang="fr-FR" altLang="zh-CN" dirty="0"/>
              <a:t> </a:t>
            </a:r>
            <a:r>
              <a:rPr lang="fr-FR" altLang="zh-CN" dirty="0" err="1"/>
              <a:t>T</a:t>
            </a:r>
            <a:r>
              <a:rPr lang="fr-FR" altLang="zh-CN" dirty="0"/>
              <a:t>(n/</a:t>
            </a:r>
            <a:r>
              <a:rPr lang="en-US" altLang="zh-CN" dirty="0"/>
              <a:t>100</a:t>
            </a:r>
            <a:r>
              <a:rPr lang="fr-FR" altLang="zh-CN" dirty="0"/>
              <a:t>) + </a:t>
            </a:r>
            <a:r>
              <a:rPr lang="fr-FR" altLang="zh-CN" dirty="0" err="1"/>
              <a:t>T</a:t>
            </a:r>
            <a:r>
              <a:rPr lang="fr-FR" altLang="zh-CN" dirty="0"/>
              <a:t>(</a:t>
            </a:r>
            <a:r>
              <a:rPr lang="en-US" altLang="zh-CN" dirty="0"/>
              <a:t>48</a:t>
            </a:r>
            <a:r>
              <a:rPr lang="fr-FR" altLang="zh-CN" dirty="0"/>
              <a:t>n/10</a:t>
            </a:r>
            <a:r>
              <a:rPr lang="en-US" altLang="zh-CN" dirty="0"/>
              <a:t>0</a:t>
            </a:r>
            <a:r>
              <a:rPr lang="fr-FR" altLang="zh-CN" dirty="0"/>
              <a:t>) + O(</a:t>
            </a:r>
            <a:r>
              <a:rPr lang="en-US" altLang="zh-CN" dirty="0"/>
              <a:t>1)</a:t>
            </a:r>
            <a:r>
              <a:rPr lang="fr-FR" altLang="zh-CN" dirty="0"/>
              <a:t> </a:t>
            </a:r>
            <a:r>
              <a:rPr lang="zh-CN" altLang="fr-FR" dirty="0"/>
              <a:t>是</a:t>
            </a:r>
            <a:r>
              <a:rPr lang="en-US" altLang="zh-CN" dirty="0"/>
              <a:t>O(log(n))</a:t>
            </a:r>
            <a:r>
              <a:rPr lang="zh-CN" altLang="en-US" dirty="0"/>
              <a:t>的么？</a:t>
            </a:r>
            <a:endParaRPr lang="en-US" altLang="zh-CN" dirty="0"/>
          </a:p>
          <a:p>
            <a:pPr marL="514350" indent="-514350">
              <a:buAutoNum type="arabicPeriod" startAt="2"/>
            </a:pPr>
            <a:endParaRPr lang="en-US" altLang="zh-CN" dirty="0"/>
          </a:p>
          <a:p>
            <a:pPr marL="514350" indent="-514350">
              <a:buAutoNum type="arabicPeriod" startAt="2"/>
            </a:pPr>
            <a:r>
              <a:rPr lang="en-US" altLang="zh-CN" dirty="0"/>
              <a:t>T(n)=</a:t>
            </a:r>
            <a:r>
              <a:rPr lang="zh-CN" altLang="en-US" dirty="0"/>
              <a:t> </a:t>
            </a:r>
            <a:r>
              <a:rPr lang="fr-FR" altLang="zh-CN" dirty="0"/>
              <a:t> </a:t>
            </a:r>
            <a:r>
              <a:rPr lang="fr-FR" altLang="zh-CN" dirty="0" err="1"/>
              <a:t>T</a:t>
            </a:r>
            <a:r>
              <a:rPr lang="fr-FR" altLang="zh-CN" dirty="0"/>
              <a:t>(</a:t>
            </a:r>
            <a:r>
              <a:rPr lang="en-US" altLang="zh-CN" dirty="0"/>
              <a:t>98</a:t>
            </a:r>
            <a:r>
              <a:rPr lang="fr-FR" altLang="zh-CN" dirty="0"/>
              <a:t>n/10</a:t>
            </a:r>
            <a:r>
              <a:rPr lang="en-US" altLang="zh-CN" dirty="0"/>
              <a:t>0</a:t>
            </a:r>
            <a:r>
              <a:rPr lang="fr-FR" altLang="zh-CN" dirty="0"/>
              <a:t>) + O(</a:t>
            </a:r>
            <a:r>
              <a:rPr lang="en-US" altLang="zh-CN" dirty="0"/>
              <a:t>1)</a:t>
            </a:r>
            <a:r>
              <a:rPr lang="zh-CN" altLang="en-US" dirty="0"/>
              <a:t> 是</a:t>
            </a:r>
            <a:r>
              <a:rPr lang="en-US" altLang="zh-CN" dirty="0"/>
              <a:t>O(log(n))</a:t>
            </a:r>
            <a:r>
              <a:rPr lang="zh-CN" altLang="en-US" dirty="0"/>
              <a:t>的么？</a:t>
            </a:r>
            <a:r>
              <a:rPr lang="fr-FR" altLang="zh-CN" dirty="0"/>
              <a:t> 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76" y="213698"/>
            <a:ext cx="9001124" cy="779462"/>
          </a:xfrm>
        </p:spPr>
        <p:txBody>
          <a:bodyPr>
            <a:noAutofit/>
          </a:bodyPr>
          <a:lstStyle/>
          <a:p>
            <a:r>
              <a:rPr lang="fr-FR" altLang="zh-CN" sz="2800" b="1" dirty="0" err="1"/>
              <a:t>T</a:t>
            </a:r>
            <a:r>
              <a:rPr lang="fr-FR" altLang="zh-CN" sz="2800" b="1" dirty="0"/>
              <a:t>(n) ≤ </a:t>
            </a:r>
            <a:r>
              <a:rPr lang="fr-FR" altLang="zh-CN" sz="2800" b="1" dirty="0" err="1"/>
              <a:t>T</a:t>
            </a:r>
            <a:r>
              <a:rPr lang="fr-FR" altLang="zh-CN" sz="2800" b="1" dirty="0"/>
              <a:t>(n/5) + </a:t>
            </a:r>
            <a:r>
              <a:rPr lang="fr-FR" altLang="zh-CN" sz="2800" b="1" dirty="0" err="1"/>
              <a:t>T</a:t>
            </a:r>
            <a:r>
              <a:rPr lang="fr-FR" altLang="zh-CN" sz="2800" b="1" dirty="0"/>
              <a:t>(7n/10) + </a:t>
            </a:r>
            <a:r>
              <a:rPr lang="fr-FR" altLang="zh-CN" sz="2800" b="1" dirty="0" err="1"/>
              <a:t>cn</a:t>
            </a:r>
            <a:r>
              <a:rPr lang="fr-FR" altLang="zh-CN" sz="2800" b="1" dirty="0"/>
              <a:t> </a:t>
            </a:r>
            <a:r>
              <a:rPr lang="zh-CN" altLang="fr-FR" sz="3500" b="1" dirty="0">
                <a:solidFill>
                  <a:srgbClr val="C00000"/>
                </a:solidFill>
              </a:rPr>
              <a:t>究竟</a:t>
            </a:r>
            <a:r>
              <a:rPr lang="zh-CN" altLang="en-US" sz="3500" b="1" dirty="0">
                <a:solidFill>
                  <a:srgbClr val="C00000"/>
                </a:solidFill>
              </a:rPr>
              <a:t>是怎么来的</a:t>
            </a:r>
            <a:r>
              <a:rPr lang="en-US" altLang="zh-CN" sz="3500" b="1" dirty="0">
                <a:solidFill>
                  <a:srgbClr val="C00000"/>
                </a:solidFill>
              </a:rPr>
              <a:t>?</a:t>
            </a:r>
            <a:endParaRPr 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92944" y="1255097"/>
                <a:ext cx="7900987" cy="5580063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>
                    <a:solidFill>
                      <a:schemeClr val="tx1"/>
                    </a:solidFill>
                  </a:rPr>
                  <a:t>Lemma: </a:t>
                </a:r>
                <a:r>
                  <a:rPr lang="en-US" dirty="0">
                    <a:solidFill>
                      <a:schemeClr val="tx1"/>
                    </a:solidFill>
                  </a:rPr>
                  <a:t>If L and R are as in the algorithm SELECT given above, then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>
                  <a:solidFill>
                    <a:schemeClr val="accent4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and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>
                  <a:solidFill>
                    <a:schemeClr val="accent4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We will see a </a:t>
                </a:r>
                <a:r>
                  <a:rPr lang="en-US" dirty="0">
                    <a:solidFill>
                      <a:schemeClr val="accent4"/>
                    </a:solidFill>
                  </a:rPr>
                  <a:t>proof by picture</a:t>
                </a:r>
                <a:r>
                  <a:rPr lang="en-US" dirty="0"/>
                  <a:t>.</a:t>
                </a:r>
                <a:endParaRPr lang="en-US" dirty="0"/>
              </a:p>
              <a:p>
                <a:r>
                  <a:rPr lang="en-US" dirty="0"/>
                  <a:t>See lecture notes for </a:t>
                </a:r>
                <a:r>
                  <a:rPr lang="en-US" dirty="0">
                    <a:solidFill>
                      <a:schemeClr val="accent4"/>
                    </a:solidFill>
                  </a:rPr>
                  <a:t>proof by proof</a:t>
                </a:r>
                <a:r>
                  <a:rPr lang="en-US" dirty="0"/>
                  <a:t>.</a:t>
                </a:r>
                <a:endParaRPr lang="en-US" dirty="0">
                  <a:solidFill>
                    <a:schemeClr val="accent5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944" y="1255097"/>
                <a:ext cx="7900987" cy="5580063"/>
              </a:xfrm>
              <a:blipFill rotWithShape="1">
                <a:blip r:embed="rId1"/>
                <a:stretch>
                  <a:fillRect l="-2" t="-6" r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77862"/>
          </a:xfrm>
        </p:spPr>
        <p:txBody>
          <a:bodyPr>
            <a:normAutofit fontScale="90000"/>
          </a:bodyPr>
          <a:lstStyle/>
          <a:p>
            <a:r>
              <a:rPr lang="en-US" dirty="0"/>
              <a:t>Proof </a:t>
            </a:r>
            <a:r>
              <a:rPr lang="en-US"/>
              <a:t>by picture</a:t>
            </a:r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800648" y="1543281"/>
            <a:ext cx="632908" cy="3213540"/>
            <a:chOff x="1078627" y="-2390593"/>
            <a:chExt cx="705201" cy="3526005"/>
          </a:xfrm>
        </p:grpSpPr>
        <p:sp>
          <p:nvSpPr>
            <p:cNvPr id="5" name="Rectangle 4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8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9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15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581823" y="1543281"/>
            <a:ext cx="632908" cy="3213540"/>
            <a:chOff x="1078627" y="-2390593"/>
            <a:chExt cx="705201" cy="3526005"/>
          </a:xfrm>
        </p:grpSpPr>
        <p:sp>
          <p:nvSpPr>
            <p:cNvPr id="11" name="Rectangle 10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5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18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35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362998" y="1543281"/>
            <a:ext cx="632908" cy="3213540"/>
            <a:chOff x="1078627" y="-2390593"/>
            <a:chExt cx="705201" cy="3526005"/>
          </a:xfrm>
        </p:grpSpPr>
        <p:sp>
          <p:nvSpPr>
            <p:cNvPr id="17" name="Rectangle 16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10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12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11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172791" y="1543281"/>
            <a:ext cx="632908" cy="3213540"/>
            <a:chOff x="1078627" y="-2390593"/>
            <a:chExt cx="705201" cy="3526005"/>
          </a:xfrm>
        </p:grpSpPr>
        <p:sp>
          <p:nvSpPr>
            <p:cNvPr id="23" name="Rectangle 22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13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70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7982584" y="1543281"/>
            <a:ext cx="632908" cy="2570832"/>
            <a:chOff x="1078627" y="-2390593"/>
            <a:chExt cx="705201" cy="2820804"/>
          </a:xfrm>
        </p:grpSpPr>
        <p:sp>
          <p:nvSpPr>
            <p:cNvPr id="29" name="Rectangle 28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17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22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609643" y="5997382"/>
            <a:ext cx="8251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Say these are our m = [n/5] sub-arrays of </a:t>
            </a:r>
            <a:r>
              <a:rPr lang="en-US" sz="2800"/>
              <a:t>size at most 5</a:t>
            </a:r>
            <a:r>
              <a:rPr lang="en-US" sz="2800" dirty="0"/>
              <a:t>.</a:t>
            </a:r>
            <a:endParaRPr 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-68977" y="2936809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5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6" name="Right Brace 35"/>
          <p:cNvSpPr/>
          <p:nvPr/>
        </p:nvSpPr>
        <p:spPr>
          <a:xfrm rot="5400000">
            <a:off x="4412657" y="1130892"/>
            <a:ext cx="642938" cy="8253815"/>
          </a:xfrm>
          <a:prstGeom prst="righ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Left Brace 36"/>
          <p:cNvSpPr/>
          <p:nvPr/>
        </p:nvSpPr>
        <p:spPr>
          <a:xfrm>
            <a:off x="257179" y="1585174"/>
            <a:ext cx="446759" cy="3213540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4510131" y="5542630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m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77862"/>
          </a:xfrm>
        </p:spPr>
        <p:txBody>
          <a:bodyPr>
            <a:normAutofit fontScale="90000"/>
          </a:bodyPr>
          <a:lstStyle/>
          <a:p>
            <a:r>
              <a:rPr lang="en-US" dirty="0"/>
              <a:t>Proof by picture 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800648" y="1543281"/>
            <a:ext cx="632908" cy="3213540"/>
            <a:chOff x="1078627" y="-2390593"/>
            <a:chExt cx="705201" cy="3526005"/>
          </a:xfrm>
        </p:grpSpPr>
        <p:sp>
          <p:nvSpPr>
            <p:cNvPr id="5" name="Rectangle 4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8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9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15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581823" y="1543281"/>
            <a:ext cx="632908" cy="3213540"/>
            <a:chOff x="1078627" y="-2390593"/>
            <a:chExt cx="705201" cy="3526005"/>
          </a:xfrm>
        </p:grpSpPr>
        <p:sp>
          <p:nvSpPr>
            <p:cNvPr id="11" name="Rectangle 10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5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18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35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362998" y="1543281"/>
            <a:ext cx="632908" cy="3213540"/>
            <a:chOff x="1078627" y="-2390593"/>
            <a:chExt cx="705201" cy="3526005"/>
          </a:xfrm>
        </p:grpSpPr>
        <p:sp>
          <p:nvSpPr>
            <p:cNvPr id="17" name="Rectangle 16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10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11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12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172791" y="1543281"/>
            <a:ext cx="632908" cy="3213540"/>
            <a:chOff x="1078627" y="-2390593"/>
            <a:chExt cx="705201" cy="3526005"/>
          </a:xfrm>
        </p:grpSpPr>
        <p:sp>
          <p:nvSpPr>
            <p:cNvPr id="23" name="Rectangle 22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13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70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7982584" y="1543281"/>
            <a:ext cx="632908" cy="2570832"/>
            <a:chOff x="1078627" y="-2390593"/>
            <a:chExt cx="705201" cy="2820804"/>
          </a:xfrm>
        </p:grpSpPr>
        <p:sp>
          <p:nvSpPr>
            <p:cNvPr id="29" name="Rectangle 28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17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22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384435" y="5740419"/>
            <a:ext cx="8251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 our head, let’s sort them.</a:t>
            </a:r>
            <a:endParaRPr lang="en-US" sz="2800" dirty="0"/>
          </a:p>
        </p:txBody>
      </p:sp>
      <p:sp>
        <p:nvSpPr>
          <p:cNvPr id="33" name="TextBox 32"/>
          <p:cNvSpPr txBox="1"/>
          <p:nvPr/>
        </p:nvSpPr>
        <p:spPr>
          <a:xfrm>
            <a:off x="-68977" y="2936809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5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5" name="Right Brace 34"/>
          <p:cNvSpPr/>
          <p:nvPr/>
        </p:nvSpPr>
        <p:spPr>
          <a:xfrm rot="5400000">
            <a:off x="4412657" y="1130892"/>
            <a:ext cx="642938" cy="8253815"/>
          </a:xfrm>
          <a:prstGeom prst="righ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Left Brace 35"/>
          <p:cNvSpPr/>
          <p:nvPr/>
        </p:nvSpPr>
        <p:spPr>
          <a:xfrm>
            <a:off x="257179" y="1585174"/>
            <a:ext cx="446759" cy="3213540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4510131" y="5542630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m</a:t>
            </a:r>
            <a:endParaRPr lang="en-US" sz="2400" dirty="0">
              <a:solidFill>
                <a:schemeClr val="accent1"/>
              </a:solidFill>
            </a:endParaRP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7117644" y="4283708"/>
            <a:ext cx="1932652" cy="257429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84435" y="6259053"/>
            <a:ext cx="5405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Then find medians.</a:t>
            </a:r>
            <a:endParaRPr lang="en-US" sz="2800" dirty="0"/>
          </a:p>
        </p:txBody>
      </p:sp>
      <p:sp>
        <p:nvSpPr>
          <p:cNvPr id="40" name="Rectangle 39"/>
          <p:cNvSpPr/>
          <p:nvPr/>
        </p:nvSpPr>
        <p:spPr>
          <a:xfrm>
            <a:off x="785162" y="2845511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8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582529" y="2829809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6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362998" y="2823740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10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203763" y="2823740"/>
            <a:ext cx="601936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4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982584" y="2161816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95022"/>
          </a:xfrm>
        </p:spPr>
        <p:txBody>
          <a:bodyPr/>
          <a:lstStyle/>
          <a:p>
            <a:r>
              <a:rPr lang="en-US" dirty="0"/>
              <a:t>Proof by picture 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6108750" y="1561000"/>
            <a:ext cx="632908" cy="3213540"/>
            <a:chOff x="1078627" y="-2390593"/>
            <a:chExt cx="705201" cy="3526005"/>
          </a:xfrm>
        </p:grpSpPr>
        <p:sp>
          <p:nvSpPr>
            <p:cNvPr id="6" name="Rectangle 5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8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9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15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67171" y="1585174"/>
            <a:ext cx="632908" cy="3213540"/>
            <a:chOff x="1078627" y="-2390593"/>
            <a:chExt cx="705201" cy="3526005"/>
          </a:xfrm>
        </p:grpSpPr>
        <p:sp>
          <p:nvSpPr>
            <p:cNvPr id="12" name="Rectangle 11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5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18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35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755888" y="1561000"/>
            <a:ext cx="632908" cy="3213540"/>
            <a:chOff x="1078627" y="-2390593"/>
            <a:chExt cx="705201" cy="3526005"/>
          </a:xfrm>
        </p:grpSpPr>
        <p:sp>
          <p:nvSpPr>
            <p:cNvPr id="18" name="Rectangle 17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10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11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12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024207" y="1588836"/>
            <a:ext cx="632908" cy="3213540"/>
            <a:chOff x="1078627" y="-2390593"/>
            <a:chExt cx="705201" cy="3526005"/>
          </a:xfrm>
        </p:grpSpPr>
        <p:sp>
          <p:nvSpPr>
            <p:cNvPr id="24" name="Rectangle 23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13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70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4417672" y="2227882"/>
            <a:ext cx="632908" cy="2570832"/>
            <a:chOff x="1078627" y="-2390593"/>
            <a:chExt cx="705201" cy="2820804"/>
          </a:xfrm>
        </p:grpSpPr>
        <p:sp>
          <p:nvSpPr>
            <p:cNvPr id="30" name="Rectangle 29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17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22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-68977" y="2936809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5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5" name="Right Brace 34"/>
          <p:cNvSpPr/>
          <p:nvPr/>
        </p:nvSpPr>
        <p:spPr>
          <a:xfrm rot="5400000">
            <a:off x="4412657" y="1130892"/>
            <a:ext cx="642938" cy="8253815"/>
          </a:xfrm>
          <a:prstGeom prst="righ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Left Brace 35"/>
          <p:cNvSpPr/>
          <p:nvPr/>
        </p:nvSpPr>
        <p:spPr>
          <a:xfrm>
            <a:off x="257179" y="1585174"/>
            <a:ext cx="446759" cy="3213540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4510131" y="5542630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m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80558" y="6148815"/>
            <a:ext cx="8251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Then let’s sort them by the median</a:t>
            </a:r>
            <a:endParaRPr lang="en-US" sz="28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0848"/>
          </a:xfrm>
        </p:spPr>
        <p:txBody>
          <a:bodyPr/>
          <a:lstStyle/>
          <a:p>
            <a:r>
              <a:rPr lang="en-US" dirty="0"/>
              <a:t>Proof by picture 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6108750" y="1561000"/>
            <a:ext cx="632908" cy="3213540"/>
            <a:chOff x="1078627" y="-2390593"/>
            <a:chExt cx="705201" cy="3526005"/>
          </a:xfrm>
        </p:grpSpPr>
        <p:sp>
          <p:nvSpPr>
            <p:cNvPr id="5" name="Rectangle 4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8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9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15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567171" y="1585174"/>
            <a:ext cx="632908" cy="3213540"/>
            <a:chOff x="1078627" y="-2390593"/>
            <a:chExt cx="705201" cy="3526005"/>
          </a:xfrm>
        </p:grpSpPr>
        <p:sp>
          <p:nvSpPr>
            <p:cNvPr id="11" name="Rectangle 10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5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18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35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755888" y="1561000"/>
            <a:ext cx="632908" cy="3213540"/>
            <a:chOff x="1078627" y="-2390593"/>
            <a:chExt cx="705201" cy="3526005"/>
          </a:xfrm>
        </p:grpSpPr>
        <p:sp>
          <p:nvSpPr>
            <p:cNvPr id="17" name="Rectangle 16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10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11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12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024207" y="1588836"/>
            <a:ext cx="632908" cy="3213540"/>
            <a:chOff x="1078627" y="-2390593"/>
            <a:chExt cx="705201" cy="3526005"/>
          </a:xfrm>
        </p:grpSpPr>
        <p:sp>
          <p:nvSpPr>
            <p:cNvPr id="23" name="Rectangle 22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13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70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4417672" y="2227882"/>
            <a:ext cx="632908" cy="2570832"/>
            <a:chOff x="1078627" y="-2390593"/>
            <a:chExt cx="705201" cy="2820804"/>
          </a:xfrm>
        </p:grpSpPr>
        <p:sp>
          <p:nvSpPr>
            <p:cNvPr id="29" name="Rectangle 28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22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17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22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-68977" y="2936809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5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4" name="Right Brace 33"/>
          <p:cNvSpPr/>
          <p:nvPr/>
        </p:nvSpPr>
        <p:spPr>
          <a:xfrm rot="5400000">
            <a:off x="4412657" y="1130892"/>
            <a:ext cx="642938" cy="8253815"/>
          </a:xfrm>
          <a:prstGeom prst="righ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Left Brace 34"/>
          <p:cNvSpPr/>
          <p:nvPr/>
        </p:nvSpPr>
        <p:spPr>
          <a:xfrm>
            <a:off x="257179" y="1585174"/>
            <a:ext cx="446759" cy="3213540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4510131" y="5542630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m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71486" y="6131096"/>
            <a:ext cx="7917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median of the medians is 7.  That’s our pivot!</a:t>
            </a:r>
            <a:endParaRPr lang="en-US" sz="28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0848"/>
          </a:xfrm>
        </p:spPr>
        <p:txBody>
          <a:bodyPr/>
          <a:lstStyle/>
          <a:p>
            <a:r>
              <a:rPr lang="en-US" dirty="0"/>
              <a:t>Proof by picture 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6108750" y="1561000"/>
            <a:ext cx="632908" cy="3213540"/>
            <a:chOff x="1078627" y="-2390593"/>
            <a:chExt cx="705201" cy="3526005"/>
          </a:xfrm>
        </p:grpSpPr>
        <p:sp>
          <p:nvSpPr>
            <p:cNvPr id="5" name="Rectangle 4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8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9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15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567171" y="1585174"/>
            <a:ext cx="632908" cy="3213540"/>
            <a:chOff x="1078627" y="-2390593"/>
            <a:chExt cx="705201" cy="3526005"/>
          </a:xfrm>
        </p:grpSpPr>
        <p:sp>
          <p:nvSpPr>
            <p:cNvPr id="11" name="Rectangle 10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5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18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35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755888" y="1561000"/>
            <a:ext cx="632908" cy="3213540"/>
            <a:chOff x="1078627" y="-2390593"/>
            <a:chExt cx="705201" cy="3526005"/>
          </a:xfrm>
        </p:grpSpPr>
        <p:sp>
          <p:nvSpPr>
            <p:cNvPr id="17" name="Rectangle 16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10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11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12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024207" y="1588836"/>
            <a:ext cx="632908" cy="3213540"/>
            <a:chOff x="1078627" y="-2390593"/>
            <a:chExt cx="705201" cy="3526005"/>
          </a:xfrm>
        </p:grpSpPr>
        <p:sp>
          <p:nvSpPr>
            <p:cNvPr id="23" name="Rectangle 22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13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70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4417672" y="2227882"/>
            <a:ext cx="632908" cy="2570832"/>
            <a:chOff x="1078627" y="-2390593"/>
            <a:chExt cx="705201" cy="2820804"/>
          </a:xfrm>
        </p:grpSpPr>
        <p:sp>
          <p:nvSpPr>
            <p:cNvPr id="29" name="Rectangle 28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22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17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22</a:t>
              </a:r>
              <a:endParaRPr lang="en-US" sz="28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-68977" y="2936809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5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4" name="Right Brace 33"/>
          <p:cNvSpPr/>
          <p:nvPr/>
        </p:nvSpPr>
        <p:spPr>
          <a:xfrm rot="5400000">
            <a:off x="4412657" y="1130892"/>
            <a:ext cx="642938" cy="8253815"/>
          </a:xfrm>
          <a:prstGeom prst="righ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Left Brace 34"/>
          <p:cNvSpPr/>
          <p:nvPr/>
        </p:nvSpPr>
        <p:spPr>
          <a:xfrm>
            <a:off x="257179" y="1585174"/>
            <a:ext cx="446759" cy="3213540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4510131" y="5542630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m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71486" y="6131096"/>
            <a:ext cx="7917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How many elements are SMALLER than the pivot? 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5050580" y="47083"/>
            <a:ext cx="406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F7400"/>
                </a:solidFill>
              </a:rPr>
              <a:t>We will show that lots of elements are smaller than the pivot, hence not too many are larger than the pivot.</a:t>
            </a:r>
            <a:endParaRPr lang="en-US" dirty="0">
              <a:solidFill>
                <a:srgbClr val="FF7400"/>
              </a:solidFill>
            </a:endParaRPr>
          </a:p>
        </p:txBody>
      </p:sp>
      <p:sp>
        <p:nvSpPr>
          <p:cNvPr id="38" name="灯片编号占位符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0848"/>
          </a:xfrm>
        </p:spPr>
        <p:txBody>
          <a:bodyPr/>
          <a:lstStyle/>
          <a:p>
            <a:r>
              <a:rPr lang="en-US" dirty="0"/>
              <a:t>Proof by picture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108750" y="1561000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08750" y="220370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08750" y="2846416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8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08750" y="3489124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9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08750" y="4131832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15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567171" y="1585174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4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67171" y="2227882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5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567171" y="2870590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6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67171" y="351329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18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567171" y="4156006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35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755888" y="1561000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755888" y="220370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755888" y="2846416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10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755888" y="3489124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11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55888" y="4131832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12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024207" y="1588836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024207" y="2231544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024207" y="2874252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4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24207" y="3516960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13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24207" y="415966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70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417672" y="2227882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6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417672" y="2870590"/>
            <a:ext cx="632908" cy="6427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417672" y="351329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17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417672" y="4156006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22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-68977" y="2936809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5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4" name="Right Brace 33"/>
          <p:cNvSpPr/>
          <p:nvPr/>
        </p:nvSpPr>
        <p:spPr>
          <a:xfrm rot="5400000">
            <a:off x="4412657" y="1130892"/>
            <a:ext cx="642938" cy="8253815"/>
          </a:xfrm>
          <a:prstGeom prst="righ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Left Brace 34"/>
          <p:cNvSpPr/>
          <p:nvPr/>
        </p:nvSpPr>
        <p:spPr>
          <a:xfrm>
            <a:off x="257179" y="1585174"/>
            <a:ext cx="446759" cy="3213540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4510131" y="5542630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m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71486" y="6131096"/>
            <a:ext cx="7917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At least these ones: everything above and to the left.</a:t>
            </a:r>
            <a:endParaRPr lang="en-US" sz="28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0848"/>
          </a:xfrm>
        </p:spPr>
        <p:txBody>
          <a:bodyPr/>
          <a:lstStyle/>
          <a:p>
            <a:r>
              <a:rPr lang="en-US" dirty="0"/>
              <a:t>Proof by picture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108750" y="1561000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08750" y="220370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08750" y="2846416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8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08750" y="3489124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9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08750" y="4131832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15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567171" y="1585174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4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67171" y="2227882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5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567171" y="2870590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6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67171" y="351329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18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567171" y="4156006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35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755888" y="1561000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755888" y="220370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755888" y="2846416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10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755888" y="3489124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11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55888" y="4131832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12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024207" y="1588836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024207" y="2231544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024207" y="2874252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4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24207" y="3516960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13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24207" y="415966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70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417672" y="2227882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6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417672" y="2870590"/>
            <a:ext cx="632908" cy="6427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417672" y="351329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17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417672" y="4156006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22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-68977" y="2936809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5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4" name="Right Brace 33"/>
          <p:cNvSpPr/>
          <p:nvPr/>
        </p:nvSpPr>
        <p:spPr>
          <a:xfrm rot="5400000">
            <a:off x="4412657" y="1130892"/>
            <a:ext cx="642938" cy="8253815"/>
          </a:xfrm>
          <a:prstGeom prst="rightBrace">
            <a:avLst>
              <a:gd name="adj1" fmla="val 8333"/>
              <a:gd name="adj2" fmla="val 26285"/>
            </a:avLst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Left Brace 34"/>
          <p:cNvSpPr/>
          <p:nvPr/>
        </p:nvSpPr>
        <p:spPr>
          <a:xfrm>
            <a:off x="257179" y="1585174"/>
            <a:ext cx="446759" cy="3213540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6446584" y="5482390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m</a:t>
            </a:r>
            <a:endParaRPr lang="en-US" sz="2400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155033" y="5521170"/>
                <a:ext cx="8706001" cy="1168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How many of those are there?</a:t>
                </a:r>
                <a:endParaRPr lang="en-US" sz="2800" dirty="0"/>
              </a:p>
              <a:p>
                <a:r>
                  <a:rPr lang="en-US" sz="2800" b="0" dirty="0"/>
                  <a:t>                             at least 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⌈"/>
                            <m:endChr m:val="⌉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33" y="5521170"/>
                <a:ext cx="8706001" cy="1168077"/>
              </a:xfrm>
              <a:prstGeom prst="rect">
                <a:avLst/>
              </a:prstGeom>
              <a:blipFill rotWithShape="1">
                <a:blip r:embed="rId1"/>
                <a:stretch>
                  <a:fillRect l="-1" t="-41" r="3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5200369" y="317816"/>
                <a:ext cx="2997774" cy="10608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F6E6C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solidFill>
                          <a:srgbClr val="CF6E6C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F6E6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⌈"/>
                            <m:endChr m:val="⌉"/>
                            <m:ctrlPr>
                              <a:rPr lang="en-US" b="0" i="1" smtClean="0">
                                <a:solidFill>
                                  <a:srgbClr val="CF6E6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solidFill>
                                      <a:srgbClr val="CF6E6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solidFill>
                                      <a:srgbClr val="CF6E6C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srgbClr val="CF6E6C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b="0" i="1" smtClean="0">
                            <a:solidFill>
                              <a:srgbClr val="CF6E6C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CF6E6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CF6E6C"/>
                    </a:solidFill>
                  </a:rPr>
                  <a:t> of these, but then one of them could have been the “leftovers” group.</a:t>
                </a:r>
                <a:endParaRPr lang="en-US" dirty="0">
                  <a:solidFill>
                    <a:srgbClr val="CF6E6C"/>
                  </a:solidFill>
                </a:endParaRPr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0369" y="317816"/>
                <a:ext cx="2997774" cy="1060868"/>
              </a:xfrm>
              <a:prstGeom prst="rect">
                <a:avLst/>
              </a:prstGeom>
              <a:blipFill rotWithShape="1">
                <a:blip r:embed="rId2"/>
                <a:stretch>
                  <a:fillRect l="-12" t="-30" r="10" b="-18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>
            <a:stCxn id="3" idx="1"/>
          </p:cNvCxnSpPr>
          <p:nvPr/>
        </p:nvCxnSpPr>
        <p:spPr>
          <a:xfrm flipH="1">
            <a:off x="1614713" y="848250"/>
            <a:ext cx="3585656" cy="617598"/>
          </a:xfrm>
          <a:prstGeom prst="line">
            <a:avLst/>
          </a:prstGeom>
          <a:ln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3" idx="1"/>
          </p:cNvCxnSpPr>
          <p:nvPr/>
        </p:nvCxnSpPr>
        <p:spPr>
          <a:xfrm flipH="1">
            <a:off x="3157677" y="848250"/>
            <a:ext cx="2042692" cy="649096"/>
          </a:xfrm>
          <a:prstGeom prst="line">
            <a:avLst/>
          </a:prstGeom>
          <a:ln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0848"/>
          </a:xfrm>
        </p:spPr>
        <p:txBody>
          <a:bodyPr/>
          <a:lstStyle/>
          <a:p>
            <a:r>
              <a:rPr lang="en-US" dirty="0"/>
              <a:t>Proof by picture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108750" y="1561000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08750" y="220370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08750" y="2846416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8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08750" y="3489124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9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08750" y="4131832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15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567171" y="1585174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4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67171" y="2227882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5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567171" y="2870590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6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67171" y="351329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18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567171" y="4156006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35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755888" y="1561000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755888" y="220370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755888" y="2846416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10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755888" y="3489124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11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55888" y="4131832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12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024207" y="1588836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024207" y="2231544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024207" y="2874252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4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24207" y="3516960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13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24207" y="415966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70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417672" y="2227882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6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417672" y="2870590"/>
            <a:ext cx="632908" cy="6427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417672" y="351329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17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417672" y="4156006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22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-68977" y="2936809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5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4" name="Right Brace 33"/>
          <p:cNvSpPr/>
          <p:nvPr/>
        </p:nvSpPr>
        <p:spPr>
          <a:xfrm rot="5400000">
            <a:off x="4412657" y="867888"/>
            <a:ext cx="642938" cy="8253815"/>
          </a:xfrm>
          <a:prstGeom prst="rightBrace">
            <a:avLst>
              <a:gd name="adj1" fmla="val 8333"/>
              <a:gd name="adj2" fmla="val 26285"/>
            </a:avLst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Left Brace 34"/>
          <p:cNvSpPr/>
          <p:nvPr/>
        </p:nvSpPr>
        <p:spPr>
          <a:xfrm>
            <a:off x="257179" y="1585174"/>
            <a:ext cx="446759" cy="3213540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6741658" y="5057365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m</a:t>
            </a:r>
            <a:endParaRPr lang="en-US" sz="2400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155033" y="5441422"/>
                <a:ext cx="8706001" cy="1332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So how many are LARGER than the pivot?  At most…</a:t>
                </a:r>
                <a:endParaRPr lang="en-US" sz="28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⌈"/>
                              <m:endChr m:val="⌉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33" y="5441422"/>
                <a:ext cx="8706001" cy="1332673"/>
              </a:xfrm>
              <a:prstGeom prst="rect">
                <a:avLst/>
              </a:prstGeom>
              <a:blipFill rotWithShape="1">
                <a:blip r:embed="rId1"/>
                <a:stretch>
                  <a:fillRect l="-1" t="-8" r="3" b="-268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7755888" y="5930338"/>
                <a:ext cx="1475870" cy="843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4"/>
                    </a:solidFill>
                  </a:rPr>
                  <a:t>Remember </a:t>
                </a:r>
                <a:endParaRPr lang="en-US" dirty="0">
                  <a:solidFill>
                    <a:schemeClr val="accent4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5888" y="5930338"/>
                <a:ext cx="1475870" cy="843757"/>
              </a:xfrm>
              <a:prstGeom prst="rect">
                <a:avLst/>
              </a:prstGeom>
              <a:blipFill rotWithShape="1">
                <a:blip r:embed="rId2"/>
                <a:stretch>
                  <a:fillRect l="-43" t="-9" r="9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57179" y="6129338"/>
            <a:ext cx="1399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F6E6C"/>
                </a:solidFill>
              </a:rPr>
              <a:t>(derivation on board)</a:t>
            </a:r>
            <a:endParaRPr lang="en-US" dirty="0">
              <a:solidFill>
                <a:srgbClr val="CF6E6C"/>
              </a:solidFill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 was one part of the lemma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Lemma: </a:t>
                </a:r>
                <a:r>
                  <a:rPr lang="en-US" dirty="0"/>
                  <a:t>If L and R are as in the algorithm SELECT given above, then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>
                  <a:solidFill>
                    <a:schemeClr val="accent4">
                      <a:lumMod val="75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and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>
                  <a:solidFill>
                    <a:schemeClr val="accent4">
                      <a:lumMod val="75000"/>
                    </a:schemeClr>
                  </a:solidFill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 txBox="1"/>
          <p:nvPr/>
        </p:nvSpPr>
        <p:spPr>
          <a:xfrm>
            <a:off x="495300" y="5289551"/>
            <a:ext cx="84915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The other part is exactly the same.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707482" y="3500438"/>
            <a:ext cx="4029075" cy="1457325"/>
          </a:xfrm>
          <a:prstGeom prst="ellipse">
            <a:avLst/>
          </a:prstGeom>
          <a:noFill/>
          <a:ln w="41275">
            <a:solidFill>
              <a:srgbClr val="CF6E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思考题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60499"/>
                <a:ext cx="7886700" cy="5032375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回顾</m:t>
                    </m:r>
                    <m:r>
                      <m:rPr>
                        <m:nor/>
                      </m:rPr>
                      <a:rPr lang="en-US" altLang="zh-CN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en-US" altLang="zh-CN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begChr m:val="⌈"/>
                        <m:endChr m:val="⌉"/>
                        <m:ctrlPr>
                          <a:rPr lang="en-US" altLang="zh-CN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zh-CN" alt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时，</m:t>
                    </m:r>
                    <m:r>
                      <a:rPr lang="en-US" altLang="zh-CN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US" altLang="zh-CN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solidFill>
                      <a:schemeClr val="accent4"/>
                    </a:solidFill>
                  </a:rPr>
                  <a:t>是怎么得来的</a:t>
                </a:r>
                <a:r>
                  <a:rPr lang="en-US" altLang="zh-CN" sz="2800" dirty="0">
                    <a:solidFill>
                      <a:schemeClr val="accent4"/>
                    </a:solidFill>
                  </a:rPr>
                  <a:t>?</a:t>
                </a:r>
                <a:endParaRPr lang="en-US" altLang="zh-CN" sz="2800" dirty="0">
                  <a:solidFill>
                    <a:schemeClr val="accent4"/>
                  </a:solidFill>
                </a:endParaRPr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zh-CN" altLang="en-US" dirty="0"/>
                  <a:t>如果选</a:t>
                </a:r>
                <a:r>
                  <a:rPr lang="en-US" altLang="zh-CN" dirty="0"/>
                  <a:t>m =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dirty="0"/>
                  <a:t>，递归表达式将如何变化？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如果选</a:t>
                </a:r>
                <a:r>
                  <a:rPr lang="en-US" altLang="zh-CN" dirty="0"/>
                  <a:t>m =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dirty="0"/>
                  <a:t>，递归表达式将如何变化？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zh-CN" altLang="en-US" dirty="0"/>
                  <a:t>猜测一下此时的渐进复杂度是多少？</a:t>
                </a:r>
                <a:endParaRPr lang="en-US" altLang="zh-CN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60499"/>
                <a:ext cx="7886700" cy="5032375"/>
              </a:xfrm>
              <a:blipFill rotWithShape="1">
                <a:blip r:embed="rId1"/>
                <a:stretch>
                  <a:fillRect t="-13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1240970" y="3659229"/>
                <a:ext cx="6026727" cy="7371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8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8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8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800" dirty="0"/>
                  <a:t>+</a:t>
                </a:r>
                <a:r>
                  <a:rPr lang="en-US" altLang="zh-CN" sz="2800" dirty="0">
                    <a:solidFill>
                      <a:schemeClr val="accent4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8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altLang="zh-CN" sz="28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8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en-US" altLang="zh-CN" sz="28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970" y="3659229"/>
                <a:ext cx="6026727" cy="737189"/>
              </a:xfrm>
              <a:prstGeom prst="rect">
                <a:avLst/>
              </a:prstGeom>
              <a:blipFill rotWithShape="1">
                <a:blip r:embed="rId2"/>
                <a:stretch>
                  <a:fillRect l="-3" t="-49" r="2" b="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240970" y="5028906"/>
                <a:ext cx="6356271" cy="7371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8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8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8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800" dirty="0"/>
                  <a:t>+</a:t>
                </a:r>
                <a:r>
                  <a:rPr lang="en-US" altLang="zh-CN" sz="2800" dirty="0">
                    <a:solidFill>
                      <a:schemeClr val="accent4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8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8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sz="28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970" y="5028906"/>
                <a:ext cx="6356271" cy="737189"/>
              </a:xfrm>
              <a:prstGeom prst="rect">
                <a:avLst/>
              </a:prstGeom>
              <a:blipFill rotWithShape="1">
                <a:blip r:embed="rId3"/>
                <a:stretch>
                  <a:fillRect l="-3" t="-46" r="2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>
                <a:solidFill>
                  <a:schemeClr val="accent4"/>
                </a:solidFill>
              </a:rPr>
              <a:t>我们总结一下</a:t>
            </a:r>
            <a:endParaRPr lang="en-US" sz="3200" dirty="0">
              <a:solidFill>
                <a:schemeClr val="accent4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8164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要设计一个</a:t>
                </a:r>
                <a:r>
                  <a:rPr lang="en-US" altLang="zh-CN" dirty="0" err="1"/>
                  <a:t>O</a:t>
                </a:r>
                <a:r>
                  <a:rPr lang="en-US" altLang="zh-CN" dirty="0"/>
                  <a:t>(n)</a:t>
                </a:r>
                <a:r>
                  <a:rPr lang="zh-CN" altLang="en-US" dirty="0"/>
                  <a:t>的分治递归算法有哪些需要注意的？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zh-CN" altLang="en-US" dirty="0"/>
                  <a:t>   要怎样设计</a:t>
                </a:r>
                <a:r>
                  <a:rPr lang="en-US" altLang="zh-CN" dirty="0" err="1"/>
                  <a:t>a,b,c</a:t>
                </a:r>
                <a:r>
                  <a:rPr lang="zh-CN" altLang="en-US" dirty="0"/>
                  <a:t>才能使算法是</a:t>
                </a:r>
                <a:r>
                  <a:rPr lang="en-US" altLang="zh-CN" i="1" dirty="0"/>
                  <a:t>O</a:t>
                </a:r>
                <a:r>
                  <a:rPr lang="en-US" altLang="zh-CN" dirty="0"/>
                  <a:t>(n)</a:t>
                </a:r>
                <a:r>
                  <a:rPr lang="zh-CN" altLang="en-US" dirty="0"/>
                  <a:t>时间的？    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zh-CN" altLang="en-US" dirty="0"/>
                  <a:t>采用替换法根据递推公式证明算法的渐进复杂度</a:t>
                </a:r>
                <a:endParaRPr lang="en-US" altLang="zh-CN" dirty="0"/>
              </a:p>
              <a:p>
                <a:endParaRPr lang="en-US" dirty="0"/>
              </a:p>
              <a:p>
                <a:r>
                  <a:rPr lang="zh-CN" altLang="en-US" dirty="0"/>
                  <a:t>分治出两个</a:t>
                </a:r>
                <a:r>
                  <a:rPr lang="en-US" altLang="zh-CN" dirty="0"/>
                  <a:t>subproblem</a:t>
                </a:r>
                <a:r>
                  <a:rPr lang="zh-CN" altLang="en-US" dirty="0"/>
                  <a:t>的算法，有可能是</a:t>
                </a:r>
                <a:r>
                  <a:rPr lang="en-US" altLang="zh-CN" dirty="0"/>
                  <a:t>O(log(n))</a:t>
                </a:r>
                <a:r>
                  <a:rPr lang="zh-CN" altLang="en-US" dirty="0"/>
                  <a:t>的么？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816475"/>
              </a:xfrm>
              <a:blipFill rotWithShape="1">
                <a:blip r:embed="rId1"/>
                <a:stretch>
                  <a:fillRect t="-13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050" y="-220585"/>
            <a:ext cx="7886700" cy="1325563"/>
          </a:xfrm>
        </p:spPr>
        <p:txBody>
          <a:bodyPr/>
          <a:lstStyle/>
          <a:p>
            <a:r>
              <a:rPr lang="en-US" dirty="0"/>
              <a:t>In practice?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03250" y="922670"/>
            <a:ext cx="78867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000" dirty="0"/>
              <a:t>With not-very-slick implementation, our fancy version of SELECT</a:t>
            </a:r>
            <a:r>
              <a:rPr lang="en-US" sz="2000" b="1" dirty="0">
                <a:latin typeface="Courier" charset="0"/>
              </a:rPr>
              <a:t> </a:t>
            </a:r>
            <a:r>
              <a:rPr lang="en-US" sz="2000" dirty="0">
                <a:ea typeface="Courier" charset="0"/>
                <a:cs typeface="Courier" charset="0"/>
              </a:rPr>
              <a:t>is worse than the </a:t>
            </a:r>
            <a:r>
              <a:rPr lang="en-US" sz="2000" dirty="0" err="1">
                <a:ea typeface="Courier" charset="0"/>
                <a:cs typeface="Courier" charset="0"/>
              </a:rPr>
              <a:t>MergeSort</a:t>
            </a:r>
            <a:r>
              <a:rPr lang="en-US" sz="2000" dirty="0">
                <a:ea typeface="Courier" charset="0"/>
                <a:cs typeface="Courier" charset="0"/>
              </a:rPr>
              <a:t>-based SELECT </a:t>
            </a:r>
            <a:r>
              <a:rPr lang="en-US" sz="2000" dirty="0">
                <a:ea typeface="Courier" charset="0"/>
                <a:cs typeface="Courier" charset="0"/>
                <a:sym typeface="Wingdings" panose="05000000000000000000"/>
              </a:rPr>
              <a:t></a:t>
            </a:r>
            <a:endParaRPr lang="en-US" sz="2000" dirty="0">
              <a:ea typeface="Courier" charset="0"/>
              <a:cs typeface="Courier" charset="0"/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sz="2000" dirty="0">
                <a:solidFill>
                  <a:schemeClr val="accent4"/>
                </a:solidFill>
                <a:ea typeface="Courier" charset="0"/>
                <a:cs typeface="Courier" charset="0"/>
              </a:rPr>
              <a:t>But O(n) is better than O(n log(n))!  How can that be?</a:t>
            </a:r>
            <a:endParaRPr lang="en-US" sz="2000" dirty="0">
              <a:solidFill>
                <a:schemeClr val="accent4"/>
              </a:solidFill>
              <a:ea typeface="Courier" charset="0"/>
              <a:cs typeface="Courier" charset="0"/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sz="2000" i="1" dirty="0">
                <a:solidFill>
                  <a:schemeClr val="accent4"/>
                </a:solidFill>
                <a:ea typeface="Courier" charset="0"/>
                <a:cs typeface="Courier" charset="0"/>
              </a:rPr>
              <a:t>What’s the constant in front of the n in our proof?  20?  30? </a:t>
            </a:r>
            <a:endParaRPr lang="en-US" sz="2000" i="1" dirty="0">
              <a:solidFill>
                <a:schemeClr val="accent4"/>
              </a:solidFill>
              <a:ea typeface="Courier" charset="0"/>
              <a:cs typeface="Courier" charset="0"/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 sz="2000" dirty="0">
              <a:solidFill>
                <a:schemeClr val="accent4"/>
              </a:solidFill>
              <a:ea typeface="Courier" charset="0"/>
              <a:cs typeface="Courier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/>
              <a:t>On </a:t>
            </a:r>
            <a:r>
              <a:rPr lang="en-US" sz="2000" b="1" dirty="0"/>
              <a:t>non-adversarial</a:t>
            </a:r>
            <a:r>
              <a:rPr lang="en-US" sz="2000" dirty="0"/>
              <a:t> inputs, random pivot choice is much better.</a:t>
            </a:r>
            <a:endParaRPr lang="en-US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 flipH="1">
            <a:off x="146050" y="5337770"/>
            <a:ext cx="1327149" cy="15136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0738" y="4501906"/>
            <a:ext cx="32080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Optimize the implementation of </a:t>
            </a:r>
            <a:r>
              <a:rPr lang="en-US" dirty="0">
                <a:solidFill>
                  <a:srgbClr val="7030A0"/>
                </a:solidFill>
                <a:ea typeface="Courier" charset="0"/>
                <a:cs typeface="Courier" charset="0"/>
              </a:rPr>
              <a:t>SELECT </a:t>
            </a:r>
            <a:r>
              <a:rPr lang="en-US" dirty="0">
                <a:solidFill>
                  <a:srgbClr val="7030A0"/>
                </a:solidFill>
              </a:rPr>
              <a:t>(with the fancy pivot).  Can you beat </a:t>
            </a:r>
            <a:r>
              <a:rPr lang="en-US" dirty="0" err="1">
                <a:solidFill>
                  <a:srgbClr val="7030A0"/>
                </a:solidFill>
              </a:rPr>
              <a:t>MergeSort</a:t>
            </a:r>
            <a:r>
              <a:rPr lang="en-US" dirty="0">
                <a:solidFill>
                  <a:srgbClr val="7030A0"/>
                </a:solidFill>
              </a:rPr>
              <a:t>?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 rot="21228585">
            <a:off x="360738" y="2999040"/>
            <a:ext cx="2484062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CF6E6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F6E6C"/>
                </a:solidFill>
                <a:ea typeface="Britannic Bold" charset="0"/>
                <a:cs typeface="Britannic Bold" charset="0"/>
              </a:rPr>
              <a:t>Moral: </a:t>
            </a:r>
            <a:endParaRPr lang="en-US" b="1" dirty="0">
              <a:solidFill>
                <a:srgbClr val="CF6E6C"/>
              </a:solidFill>
              <a:ea typeface="Britannic Bold" charset="0"/>
              <a:cs typeface="Britannic Bold" charset="0"/>
            </a:endParaRPr>
          </a:p>
          <a:p>
            <a:pPr algn="ctr"/>
            <a:r>
              <a:rPr lang="en-US" i="1" dirty="0">
                <a:solidFill>
                  <a:srgbClr val="CF6E6C"/>
                </a:solidFill>
                <a:ea typeface="Britannic Bold" charset="0"/>
                <a:cs typeface="Britannic Bold" charset="0"/>
              </a:rPr>
              <a:t>Just pick a random pivot if you don’t expect nefarious arrays.</a:t>
            </a:r>
            <a:endParaRPr lang="en-US" i="1" dirty="0">
              <a:solidFill>
                <a:srgbClr val="CF6E6C"/>
              </a:solidFill>
              <a:ea typeface="Britannic Bold" charset="0"/>
              <a:cs typeface="Britannic Bold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0612" y="6390886"/>
            <a:ext cx="25501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7030A0"/>
                </a:solidFill>
              </a:rPr>
              <a:t>Siggi</a:t>
            </a:r>
            <a:r>
              <a:rPr lang="en-US" sz="1600" dirty="0">
                <a:solidFill>
                  <a:srgbClr val="7030A0"/>
                </a:solidFill>
              </a:rPr>
              <a:t> the Studious Stork</a:t>
            </a:r>
            <a:endParaRPr lang="en-US" sz="1600" dirty="0">
              <a:solidFill>
                <a:srgbClr val="7030A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836" y="3149858"/>
            <a:ext cx="5289995" cy="3627425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3" uiExpand="1" build="p"/>
      <p:bldP spid="8" grpId="0"/>
      <p:bldP spid="9" grpId="0" animBg="1"/>
      <p:bldP spid="10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1195697"/>
            <a:ext cx="2599891" cy="4238118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33B63"/>
                </a:solidFill>
              </a:rPr>
              <a:t>主要内容</a:t>
            </a:r>
            <a:endParaRPr lang="en-US" dirty="0">
              <a:solidFill>
                <a:srgbClr val="033B63"/>
              </a:solidFill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3400746" y="477540"/>
          <a:ext cx="5438559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75305"/>
          </a:xfrm>
        </p:spPr>
        <p:txBody>
          <a:bodyPr/>
          <a:lstStyle/>
          <a:p>
            <a:r>
              <a:rPr lang="en-US" altLang="zh-CN" dirty="0"/>
              <a:t>Random</a:t>
            </a:r>
            <a:r>
              <a:rPr lang="zh-CN" altLang="en-US" dirty="0"/>
              <a:t> </a:t>
            </a:r>
            <a:r>
              <a:rPr lang="en-US" altLang="zh-CN" dirty="0"/>
              <a:t>Select:</a:t>
            </a:r>
            <a:r>
              <a:rPr lang="zh-CN" altLang="en-US" dirty="0"/>
              <a:t> </a:t>
            </a:r>
            <a:r>
              <a:rPr lang="en-US" altLang="zh-CN" dirty="0" err="1"/>
              <a:t>RSelect</a:t>
            </a:r>
            <a:r>
              <a:rPr lang="en-US" altLang="zh-CN" dirty="0"/>
              <a:t>(A,</a:t>
            </a:r>
            <a:r>
              <a:rPr lang="zh-CN" altLang="en-US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440" y="1268973"/>
            <a:ext cx="7211532" cy="5223901"/>
          </a:xfrm>
          <a:prstGeom prst="rect">
            <a:avLst/>
          </a:prstGeom>
        </p:spPr>
      </p:pic>
      <p:sp>
        <p:nvSpPr>
          <p:cNvPr id="3" name="框架 2"/>
          <p:cNvSpPr/>
          <p:nvPr/>
        </p:nvSpPr>
        <p:spPr>
          <a:xfrm>
            <a:off x="978946" y="3366389"/>
            <a:ext cx="7261412" cy="775305"/>
          </a:xfrm>
          <a:prstGeom prst="frame">
            <a:avLst/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14553"/>
            <a:ext cx="78867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a better </a:t>
            </a:r>
            <a:r>
              <a:rPr lang="en-US" altLang="zh-CN" sz="3600" dirty="0"/>
              <a:t>explained</a:t>
            </a:r>
            <a:r>
              <a:rPr lang="zh-CN" altLang="en-US" sz="3600" dirty="0"/>
              <a:t> </a:t>
            </a:r>
            <a:r>
              <a:rPr lang="en-US" sz="3600" dirty="0"/>
              <a:t>randomized algorithm: </a:t>
            </a:r>
            <a:br>
              <a:rPr lang="en-US" dirty="0"/>
            </a:br>
            <a:r>
              <a:rPr lang="en-US" dirty="0" err="1">
                <a:solidFill>
                  <a:schemeClr val="accent4"/>
                </a:solidFill>
              </a:rPr>
              <a:t>QuickSort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168525"/>
            <a:ext cx="7886700" cy="3952875"/>
          </a:xfrm>
        </p:spPr>
        <p:txBody>
          <a:bodyPr/>
          <a:lstStyle/>
          <a:p>
            <a:r>
              <a:rPr lang="en-US" dirty="0"/>
              <a:t>Expected runtime </a:t>
            </a:r>
            <a:r>
              <a:rPr lang="en-US" dirty="0">
                <a:solidFill>
                  <a:srgbClr val="00B050"/>
                </a:solidFill>
              </a:rPr>
              <a:t>O(</a:t>
            </a:r>
            <a:r>
              <a:rPr lang="en-US" dirty="0" err="1">
                <a:solidFill>
                  <a:srgbClr val="00B050"/>
                </a:solidFill>
              </a:rPr>
              <a:t>nlog</a:t>
            </a:r>
            <a:r>
              <a:rPr lang="en-US" dirty="0">
                <a:solidFill>
                  <a:srgbClr val="00B050"/>
                </a:solidFill>
              </a:rPr>
              <a:t>(n)).</a:t>
            </a:r>
            <a:endParaRPr lang="en-US" dirty="0">
              <a:solidFill>
                <a:srgbClr val="00B050"/>
              </a:solidFill>
            </a:endParaRPr>
          </a:p>
          <a:p>
            <a:endParaRPr lang="en-US" sz="1400" dirty="0"/>
          </a:p>
          <a:p>
            <a:r>
              <a:rPr lang="en-US" dirty="0"/>
              <a:t>Worst-case runtime </a:t>
            </a:r>
            <a:r>
              <a:rPr lang="en-US" dirty="0">
                <a:solidFill>
                  <a:srgbClr val="00B050"/>
                </a:solidFill>
              </a:rPr>
              <a:t>O(n</a:t>
            </a:r>
            <a:r>
              <a:rPr lang="en-US" baseline="30000" dirty="0">
                <a:solidFill>
                  <a:srgbClr val="00B050"/>
                </a:solidFill>
              </a:rPr>
              <a:t>2</a:t>
            </a:r>
            <a:r>
              <a:rPr lang="en-US" dirty="0">
                <a:solidFill>
                  <a:srgbClr val="00B050"/>
                </a:solidFill>
              </a:rPr>
              <a:t>).</a:t>
            </a:r>
            <a:endParaRPr lang="en-US" dirty="0">
              <a:solidFill>
                <a:srgbClr val="00B050"/>
              </a:solidFill>
            </a:endParaRPr>
          </a:p>
          <a:p>
            <a:endParaRPr lang="en-US" sz="1600" dirty="0"/>
          </a:p>
          <a:p>
            <a:r>
              <a:rPr lang="en-US" dirty="0"/>
              <a:t>In practice works great!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181265" y="4998026"/>
            <a:ext cx="8068721" cy="1445421"/>
            <a:chOff x="1181265" y="5354389"/>
            <a:chExt cx="8068721" cy="1445421"/>
          </a:xfrm>
        </p:grpSpPr>
        <p:grpSp>
          <p:nvGrpSpPr>
            <p:cNvPr id="5" name="Group 4"/>
            <p:cNvGrpSpPr/>
            <p:nvPr/>
          </p:nvGrpSpPr>
          <p:grpSpPr>
            <a:xfrm>
              <a:off x="1181265" y="5354389"/>
              <a:ext cx="7390275" cy="1148533"/>
              <a:chOff x="2344143" y="5589375"/>
              <a:chExt cx="7390275" cy="1148533"/>
            </a:xfrm>
          </p:grpSpPr>
          <p:pic>
            <p:nvPicPr>
              <p:cNvPr id="7" name="Picture 6"/>
              <p:cNvPicPr>
                <a:picLocks noChangeAspect="1"/>
              </p:cNvPicPr>
              <p:nvPr/>
            </p:nvPicPr>
            <p:blipFill>
              <a:blip r:embed="rId1" cstate="screen"/>
              <a:stretch>
                <a:fillRect/>
              </a:stretch>
            </p:blipFill>
            <p:spPr>
              <a:xfrm>
                <a:off x="8693018" y="5589375"/>
                <a:ext cx="1041400" cy="1148533"/>
              </a:xfrm>
              <a:prstGeom prst="rect">
                <a:avLst/>
              </a:prstGeom>
            </p:spPr>
          </p:pic>
          <p:sp>
            <p:nvSpPr>
              <p:cNvPr id="8" name="TextBox 7"/>
              <p:cNvSpPr txBox="1"/>
              <p:nvPr/>
            </p:nvSpPr>
            <p:spPr>
              <a:xfrm>
                <a:off x="2344143" y="5709082"/>
                <a:ext cx="645619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solidFill>
                      <a:srgbClr val="7030A0"/>
                    </a:solidFill>
                  </a:rPr>
                  <a:t>QuickSort</a:t>
                </a:r>
                <a:r>
                  <a:rPr lang="en-US" dirty="0">
                    <a:solidFill>
                      <a:srgbClr val="7030A0"/>
                    </a:solidFill>
                  </a:rPr>
                  <a:t> uses very similar methods to the Select algorithm</a:t>
                </a:r>
                <a:br>
                  <a:rPr lang="en-US" dirty="0">
                    <a:solidFill>
                      <a:srgbClr val="7030A0"/>
                    </a:solidFill>
                  </a:rPr>
                </a:br>
                <a:r>
                  <a:rPr lang="en-US" dirty="0">
                    <a:solidFill>
                      <a:srgbClr val="7030A0"/>
                    </a:solidFill>
                  </a:rPr>
                  <a:t>we saw last time. Can you modify the </a:t>
                </a:r>
                <a:r>
                  <a:rPr lang="en-US" dirty="0" err="1">
                    <a:solidFill>
                      <a:srgbClr val="7030A0"/>
                    </a:solidFill>
                  </a:rPr>
                  <a:t>QuickSort</a:t>
                </a:r>
                <a:r>
                  <a:rPr lang="en-US" dirty="0">
                    <a:solidFill>
                      <a:srgbClr val="7030A0"/>
                    </a:solidFill>
                  </a:rPr>
                  <a:t> algorithm</a:t>
                </a:r>
                <a:br>
                  <a:rPr lang="en-US" dirty="0">
                    <a:solidFill>
                      <a:srgbClr val="7030A0"/>
                    </a:solidFill>
                  </a:rPr>
                </a:br>
                <a:r>
                  <a:rPr lang="en-US" dirty="0">
                    <a:solidFill>
                      <a:srgbClr val="7030A0"/>
                    </a:solidFill>
                  </a:rPr>
                  <a:t>we’ll learn today to make sure its worst-case runtime is O(</a:t>
                </a:r>
                <a:r>
                  <a:rPr lang="en-US" dirty="0" err="1">
                    <a:solidFill>
                      <a:srgbClr val="7030A0"/>
                    </a:solidFill>
                  </a:rPr>
                  <a:t>nlog</a:t>
                </a:r>
                <a:r>
                  <a:rPr lang="en-US" dirty="0">
                    <a:solidFill>
                      <a:srgbClr val="7030A0"/>
                    </a:solidFill>
                  </a:rPr>
                  <a:t>(n))?</a:t>
                </a:r>
                <a:endParaRPr lang="en-US" dirty="0">
                  <a:solidFill>
                    <a:srgbClr val="7030A0"/>
                  </a:solidFill>
                </a:endParaRPr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6699855" y="6461256"/>
              <a:ext cx="25501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rgbClr val="7030A0"/>
                  </a:solidFill>
                </a:rPr>
                <a:t>Siggi</a:t>
              </a:r>
              <a:r>
                <a:rPr lang="en-US" sz="1600" dirty="0">
                  <a:solidFill>
                    <a:srgbClr val="7030A0"/>
                  </a:solidFill>
                </a:rPr>
                <a:t> the Studious Stork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</p:grp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307287"/>
            <a:ext cx="7886700" cy="1123829"/>
          </a:xfrm>
        </p:spPr>
        <p:txBody>
          <a:bodyPr/>
          <a:lstStyle/>
          <a:p>
            <a:r>
              <a:rPr lang="en-US" dirty="0"/>
              <a:t>Quicksort</a:t>
            </a: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3688215" y="1694611"/>
            <a:ext cx="5040183" cy="718565"/>
            <a:chOff x="1573619" y="3296093"/>
            <a:chExt cx="5040183" cy="705201"/>
          </a:xfrm>
        </p:grpSpPr>
        <p:sp>
          <p:nvSpPr>
            <p:cNvPr id="7" name="Rectangle 6"/>
            <p:cNvSpPr/>
            <p:nvPr/>
          </p:nvSpPr>
          <p:spPr>
            <a:xfrm>
              <a:off x="1573619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30353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17868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908601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343701" y="544383"/>
            <a:ext cx="24106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want to sort this array.</a:t>
            </a: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9261" y="1671348"/>
            <a:ext cx="27150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First, pick a “</a:t>
            </a:r>
            <a:r>
              <a:rPr lang="en-US" sz="2400" dirty="0">
                <a:solidFill>
                  <a:schemeClr val="accent1"/>
                </a:solidFill>
              </a:rPr>
              <a:t>pivot</a:t>
            </a:r>
            <a:r>
              <a:rPr lang="en-US" sz="2400" dirty="0"/>
              <a:t>.”</a:t>
            </a:r>
            <a:endParaRPr lang="en-US" sz="2400" dirty="0"/>
          </a:p>
          <a:p>
            <a:r>
              <a:rPr lang="en-US" sz="2400" b="1" dirty="0">
                <a:solidFill>
                  <a:srgbClr val="CF6E6C"/>
                </a:solidFill>
              </a:rPr>
              <a:t>Do it at random.</a:t>
            </a:r>
            <a:endParaRPr lang="en-US" sz="2400" b="1" dirty="0">
              <a:solidFill>
                <a:srgbClr val="CF6E6C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5494444" y="2564598"/>
            <a:ext cx="1549878" cy="967306"/>
            <a:chOff x="5494444" y="2564598"/>
            <a:chExt cx="1549878" cy="967306"/>
          </a:xfrm>
        </p:grpSpPr>
        <p:sp>
          <p:nvSpPr>
            <p:cNvPr id="17" name="Triangle 16"/>
            <p:cNvSpPr/>
            <p:nvPr/>
          </p:nvSpPr>
          <p:spPr>
            <a:xfrm>
              <a:off x="5782025" y="2564598"/>
              <a:ext cx="857471" cy="61415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494444" y="3162572"/>
              <a:ext cx="15498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chemeClr val="accent1"/>
                  </a:solidFill>
                </a:rPr>
                <a:t>random pivot!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50976" y="2858092"/>
            <a:ext cx="41071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Next, partition the array into “bigger than 5” or “less than 5”</a:t>
            </a:r>
            <a:endParaRPr lang="en-US" sz="2400" dirty="0"/>
          </a:p>
        </p:txBody>
      </p:sp>
      <p:sp>
        <p:nvSpPr>
          <p:cNvPr id="25" name="Rectangle 24"/>
          <p:cNvSpPr/>
          <p:nvPr/>
        </p:nvSpPr>
        <p:spPr>
          <a:xfrm>
            <a:off x="3714384" y="1718281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20587" y="1707976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141844" y="1707976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214578" y="2611870"/>
            <a:ext cx="19294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4"/>
                </a:solidFill>
              </a:rPr>
              <a:t>This PARTITION step takes time O(n).  (Notice that we don’t sort each half).</a:t>
            </a:r>
            <a:endParaRPr lang="en-US" sz="1600" dirty="0">
              <a:solidFill>
                <a:schemeClr val="accent4"/>
              </a:solidFill>
            </a:endParaRPr>
          </a:p>
          <a:p>
            <a:pPr algn="ctr"/>
            <a:r>
              <a:rPr lang="en-US" sz="1600" dirty="0">
                <a:solidFill>
                  <a:schemeClr val="accent4"/>
                </a:solidFill>
              </a:rPr>
              <a:t>[same as in SELECT]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855707" y="1707976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587077" y="1707976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282311" y="1715506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011558" y="1694611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298085" y="4792897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L = array with things smaller than A[pivot]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99226" y="4792897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R = array with things larger than A[pivot]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39261" y="4285068"/>
            <a:ext cx="17800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Arrange them like so:</a:t>
            </a:r>
            <a:endParaRPr lang="en-US" sz="2400" dirty="0"/>
          </a:p>
        </p:txBody>
      </p:sp>
      <p:sp>
        <p:nvSpPr>
          <p:cNvPr id="36" name="TextBox 35"/>
          <p:cNvSpPr txBox="1"/>
          <p:nvPr/>
        </p:nvSpPr>
        <p:spPr>
          <a:xfrm>
            <a:off x="239261" y="5712044"/>
            <a:ext cx="20588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Recurse</a:t>
            </a:r>
            <a:r>
              <a:rPr lang="en-US" sz="2400" dirty="0"/>
              <a:t> on </a:t>
            </a:r>
            <a:endParaRPr lang="en-US" sz="2400" dirty="0"/>
          </a:p>
          <a:p>
            <a:r>
              <a:rPr lang="en-US" sz="2400" dirty="0"/>
              <a:t>L and R:</a:t>
            </a:r>
            <a:endParaRPr lang="en-US" sz="2400" dirty="0"/>
          </a:p>
        </p:txBody>
      </p:sp>
      <p:sp>
        <p:nvSpPr>
          <p:cNvPr id="38" name="Rectangle 37"/>
          <p:cNvSpPr/>
          <p:nvPr/>
        </p:nvSpPr>
        <p:spPr>
          <a:xfrm>
            <a:off x="7645878" y="5712043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899226" y="5712042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046821" y="5702723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853253" y="5702722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567800" y="5702723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798070" y="5702723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317575" y="5712043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29204" y="121871"/>
            <a:ext cx="364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CF6E6C"/>
                </a:solidFill>
              </a:rPr>
              <a:t>For the rest of the lecture, assume all elements of A are distinct.</a:t>
            </a:r>
            <a:endParaRPr lang="en-US" dirty="0">
              <a:solidFill>
                <a:srgbClr val="CF6E6C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9 -4.44444E-6 C 0.02882 -0.0155 0.05903 -0.03101 0.1 -0.04236 C 0.14097 -0.05393 0.21319 -0.07291 0.24444 -0.06828 C 0.27569 -0.06365 0.28785 -0.02986 0.2875 -0.01458 C 0.28733 0.00047 0.26441 0.02084 0.24306 0.02223 C 0.22188 0.02385 0.19167 0.00625 0.15972 -0.00555 C 0.12778 -0.01713 0.10122 -0.03495 0.05139 -0.04791 C 0.00174 -0.06088 -0.07986 -0.07986 -0.13889 -0.0831 C -0.19792 -0.08657 -0.27049 -0.08287 -0.30278 -0.06828 C -0.3349 -0.05393 -0.33299 -0.01134 -0.33194 0.00371 C -0.33073 0.01899 -0.31493 0.02084 -0.29583 0.02223 C -0.27656 0.02385 -0.25781 0.02315 -0.21667 0.01297 C -0.17535 0.00278 -0.12187 -0.02338 -0.04861 -0.03865 C 0.02483 -0.05416 0.17222 -0.09004 0.22361 -0.07939 C 0.275 -0.06898 0.27882 0.0044 0.25972 0.02408 C 0.2408 0.04399 0.1526 0.04445 0.10972 0.03889 C 0.06701 0.03334 0.00278 -0.00902 0.00278 -0.00879 " pathEditMode="relative" rAng="0" ptsTypes="AAAAAAAAAAAAAAAAA">
                                      <p:cBhvr>
                                        <p:cTn id="1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8" y="-2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0.00139 L 0.39271 0.35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18" y="17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51 -2.96296E-6 L 0.39878 0.34954 " pathEditMode="relative" rAng="0" ptsTypes="AA">
                                      <p:cBhvr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705" y="17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389 0.00139 L -0.32587 0.34213 " pathEditMode="relative" rAng="0" ptsTypes="AA">
                                      <p:cBhvr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997" y="17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7 0.00996 L -0.39322 0.33473 " pathEditMode="relative" rAng="0" ptsTypes="AA">
                                      <p:cBhvr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740" y="162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 0.01181 L -0.36841 0.34398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559" y="16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0.00139 L -0.35313 0.33843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674" y="168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3 0.0176 L 0.0066 0.32824 " pathEditMode="relative" ptsTypes="AA">
                                      <p:cBhvr>
                                        <p:cTn id="5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/>
      <p:bldP spid="25" grpId="0" animBg="1"/>
      <p:bldP spid="26" grpId="0" animBg="1"/>
      <p:bldP spid="27" grpId="0" animBg="1"/>
      <p:bldP spid="34" grpId="0"/>
      <p:bldP spid="28" grpId="0" animBg="1"/>
      <p:bldP spid="29" grpId="0" animBg="1"/>
      <p:bldP spid="30" grpId="0" animBg="1"/>
      <p:bldP spid="31" grpId="0" animBg="1"/>
      <p:bldP spid="32" grpId="0"/>
      <p:bldP spid="33" grpId="0"/>
      <p:bldP spid="35" grpId="0"/>
      <p:bldP spid="36" grpId="0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14374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PseudoPseudoCode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for what we just saw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274050" cy="4351338"/>
          </a:xfrm>
        </p:spPr>
        <p:txBody>
          <a:bodyPr/>
          <a:lstStyle/>
          <a:p>
            <a:r>
              <a:rPr lang="en-US" dirty="0" err="1"/>
              <a:t>QuickSort</a:t>
            </a:r>
            <a:r>
              <a:rPr lang="en-US" dirty="0"/>
              <a:t>(A)</a:t>
            </a:r>
            <a:r>
              <a:rPr lang="en-US" dirty="0">
                <a:solidFill>
                  <a:srgbClr val="7030A0"/>
                </a:solidFill>
              </a:rPr>
              <a:t>:</a:t>
            </a:r>
            <a:endParaRPr lang="en-US" dirty="0">
              <a:solidFill>
                <a:srgbClr val="7030A0"/>
              </a:solidFill>
            </a:endParaRPr>
          </a:p>
          <a:p>
            <a:pPr lvl="1"/>
            <a:r>
              <a:rPr lang="en-US" b="1" dirty="0"/>
              <a:t>If </a:t>
            </a:r>
            <a:r>
              <a:rPr lang="en-US" dirty="0" err="1"/>
              <a:t>len</a:t>
            </a:r>
            <a:r>
              <a:rPr lang="en-US" dirty="0"/>
              <a:t>(A) &lt;= 1:</a:t>
            </a:r>
            <a:endParaRPr lang="en-US" dirty="0"/>
          </a:p>
          <a:p>
            <a:pPr lvl="2"/>
            <a:r>
              <a:rPr lang="en-US" sz="2400" b="1" dirty="0"/>
              <a:t>return</a:t>
            </a:r>
            <a:r>
              <a:rPr lang="en-US" sz="2400" dirty="0"/>
              <a:t> </a:t>
            </a:r>
            <a:endParaRPr lang="en-US" sz="2400" dirty="0"/>
          </a:p>
          <a:p>
            <a:pPr lvl="1"/>
            <a:r>
              <a:rPr lang="en-US" dirty="0"/>
              <a:t>Pick some x = A[</a:t>
            </a:r>
            <a:r>
              <a:rPr lang="en-US" dirty="0" err="1"/>
              <a:t>i</a:t>
            </a:r>
            <a:r>
              <a:rPr lang="en-US" dirty="0"/>
              <a:t>] at random.  Call this the </a:t>
            </a:r>
            <a:r>
              <a:rPr lang="en-US" b="1" dirty="0">
                <a:solidFill>
                  <a:srgbClr val="CF6E6C"/>
                </a:solidFill>
              </a:rPr>
              <a:t>pivot</a:t>
            </a:r>
            <a:r>
              <a:rPr lang="en-US" dirty="0"/>
              <a:t>.</a:t>
            </a:r>
            <a:endParaRPr lang="en-US" dirty="0"/>
          </a:p>
          <a:p>
            <a:pPr lvl="1"/>
            <a:r>
              <a:rPr lang="en-US" dirty="0">
                <a:solidFill>
                  <a:schemeClr val="accent4"/>
                </a:solidFill>
              </a:rPr>
              <a:t>PARTITION</a:t>
            </a:r>
            <a:r>
              <a:rPr lang="en-US" dirty="0"/>
              <a:t> the rest of A into: </a:t>
            </a:r>
            <a:endParaRPr lang="en-US" dirty="0"/>
          </a:p>
          <a:p>
            <a:pPr lvl="2"/>
            <a:r>
              <a:rPr lang="en-US" sz="2400" dirty="0">
                <a:solidFill>
                  <a:schemeClr val="accent4"/>
                </a:solidFill>
              </a:rPr>
              <a:t>L (less than x) and </a:t>
            </a:r>
            <a:endParaRPr lang="en-US" sz="2400" dirty="0">
              <a:solidFill>
                <a:schemeClr val="accent4"/>
              </a:solidFill>
            </a:endParaRPr>
          </a:p>
          <a:p>
            <a:pPr lvl="2"/>
            <a:r>
              <a:rPr lang="en-US" sz="2400" dirty="0">
                <a:solidFill>
                  <a:schemeClr val="accent4"/>
                </a:solidFill>
              </a:rPr>
              <a:t>R (greater than x)</a:t>
            </a:r>
            <a:endParaRPr lang="en-US" sz="2400" dirty="0">
              <a:solidFill>
                <a:schemeClr val="accent4"/>
              </a:solidFill>
            </a:endParaRPr>
          </a:p>
          <a:p>
            <a:pPr lvl="1"/>
            <a:r>
              <a:rPr lang="en-US" dirty="0"/>
              <a:t>Replace A with  [L, x, R]  </a:t>
            </a:r>
            <a:r>
              <a:rPr lang="en-US" dirty="0">
                <a:solidFill>
                  <a:schemeClr val="accent4"/>
                </a:solidFill>
              </a:rPr>
              <a:t>(that is, rearrange A in this order)</a:t>
            </a:r>
            <a:endParaRPr lang="en-US" dirty="0">
              <a:solidFill>
                <a:schemeClr val="accent4"/>
              </a:solidFill>
            </a:endParaRPr>
          </a:p>
          <a:p>
            <a:pPr lvl="1"/>
            <a:r>
              <a:rPr lang="en-US" dirty="0" err="1"/>
              <a:t>QuickSort</a:t>
            </a:r>
            <a:r>
              <a:rPr lang="en-US" dirty="0"/>
              <a:t>(L) </a:t>
            </a:r>
            <a:endParaRPr lang="en-US" dirty="0"/>
          </a:p>
          <a:p>
            <a:pPr lvl="1"/>
            <a:r>
              <a:rPr lang="en-US" dirty="0" err="1"/>
              <a:t>QuickSort</a:t>
            </a:r>
            <a:r>
              <a:rPr lang="en-US" dirty="0"/>
              <a:t>(R</a:t>
            </a:r>
            <a:r>
              <a:rPr lang="en-US" dirty="0">
                <a:solidFill>
                  <a:srgbClr val="7030A0"/>
                </a:solidFill>
              </a:rPr>
              <a:t>) </a:t>
            </a:r>
            <a:endParaRPr lang="en-US" dirty="0">
              <a:solidFill>
                <a:srgbClr val="7030A0"/>
              </a:solidFill>
            </a:endParaRP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035800" y="260649"/>
            <a:ext cx="1866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Lecture 5 Python notebook for actual code.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486400" y="3611301"/>
            <a:ext cx="21876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CF6E6C"/>
                </a:solidFill>
              </a:rPr>
              <a:t>Assume that all elements of A are distinct.  How would you change this if that’s not the case?</a:t>
            </a:r>
            <a:endParaRPr lang="en-US" sz="1400" dirty="0">
              <a:solidFill>
                <a:srgbClr val="CF6E6C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7458402" y="3611301"/>
            <a:ext cx="1056948" cy="993039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3" uiExpand="1" build="p"/>
      <p:bldP spid="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time?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636959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  <a:p>
                <a:r>
                  <a:rPr lang="en-US" dirty="0"/>
                  <a:t>In an ideal world</a:t>
                </a:r>
                <a:r>
                  <a:rPr lang="en-US" dirty="0"/>
                  <a:t>…</a:t>
                </a:r>
                <a:endParaRPr lang="en-US" dirty="0"/>
              </a:p>
              <a:p>
                <a:pPr lvl="1"/>
                <a:r>
                  <a:rPr lang="en-US" dirty="0"/>
                  <a:t>if the pivot splits the array exactly in half</a:t>
                </a:r>
                <a:r>
                  <a:rPr lang="en-US" dirty="0"/>
                  <a:t>…</a:t>
                </a: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  <a:p>
                <a:pPr marL="0" indent="0" algn="ctr">
                  <a:buNone/>
                </a:pPr>
                <a:endParaRPr lang="en-US" dirty="0">
                  <a:solidFill>
                    <a:schemeClr val="accent1"/>
                  </a:solidFill>
                </a:endParaRPr>
              </a:p>
              <a:p>
                <a:r>
                  <a:rPr lang="en-US" dirty="0"/>
                  <a:t>We’ve seen that a bunch: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err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dirty="0" err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636959"/>
              </a:xfrm>
              <a:blipFill rotWithShape="1">
                <a:blip r:embed="rId1"/>
                <a:stretch>
                  <a:fillRect t="-14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270"/>
                    </a14:imgEffect>
                    <a14:imgEffect>
                      <a14:saturation sat="9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28031" y="3461675"/>
            <a:ext cx="1912161" cy="1079237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808" y="208252"/>
            <a:ext cx="7886700" cy="1325563"/>
          </a:xfrm>
        </p:spPr>
        <p:txBody>
          <a:bodyPr/>
          <a:lstStyle/>
          <a:p>
            <a:r>
              <a:rPr lang="en-US" dirty="0"/>
              <a:t>The expected running time of </a:t>
            </a:r>
            <a:r>
              <a:rPr lang="en-US" dirty="0" err="1"/>
              <a:t>QuickSort</a:t>
            </a:r>
            <a:r>
              <a:rPr lang="en-US" dirty="0"/>
              <a:t> is O(</a:t>
            </a:r>
            <a:r>
              <a:rPr lang="en-US" dirty="0" err="1"/>
              <a:t>nlog</a:t>
            </a:r>
            <a:r>
              <a:rPr lang="en-US" dirty="0"/>
              <a:t>(n)).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28808" y="2506662"/>
                <a:ext cx="7886700" cy="36401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 smtClean="0">
                            <a:latin typeface="Cambria Math" panose="02040503050406030204" pitchFamily="18" charset="0"/>
                            <a:sym typeface="Wingdings" panose="0500000000000000000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  <a:sym typeface="Wingdings" panose="05000000000000000000"/>
                              </a:rPr>
                            </m:ctrlPr>
                          </m:d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  <a:sym typeface="Wingdings" panose="05000000000000000000"/>
                              </a:rPr>
                              <m:t>𝐿</m:t>
                            </m:r>
                          </m:e>
                        </m:d>
                      </m:e>
                    </m:d>
                    <m:r>
                      <a:rPr lang="en-US" sz="2400" i="1" dirty="0" smtClean="0">
                        <a:latin typeface="Cambria Math" panose="02040503050406030204" pitchFamily="18" charset="0"/>
                        <a:sym typeface="Wingdings" panose="05000000000000000000"/>
                      </a:rPr>
                      <m:t>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Wingdings" panose="0500000000000000000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 smtClean="0">
                            <a:latin typeface="Cambria Math" panose="02040503050406030204" pitchFamily="18" charset="0"/>
                            <a:sym typeface="Wingdings" panose="0500000000000000000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  <a:sym typeface="Wingdings" panose="05000000000000000000"/>
                              </a:rPr>
                            </m:ctrlPr>
                          </m:d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  <a:sym typeface="Wingdings" panose="05000000000000000000"/>
                              </a:rPr>
                              <m:t>𝑅</m:t>
                            </m:r>
                          </m:e>
                        </m:d>
                      </m:e>
                    </m:d>
                    <m:r>
                      <a:rPr lang="en-US" sz="2400" i="1" dirty="0" smtClean="0">
                        <a:latin typeface="Cambria Math" panose="02040503050406030204" pitchFamily="18" charset="0"/>
                        <a:sym typeface="Wingdings" panose="05000000000000000000"/>
                      </a:rPr>
                      <m:t>=</m:t>
                    </m:r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  <a:sym typeface="Wingdings" panose="05000000000000000000"/>
                          </a:rPr>
                        </m:ctrlPr>
                      </m:fPr>
                      <m:num>
                        <m:r>
                          <a:rPr lang="en-US" sz="2400" i="1" dirty="0" smtClean="0">
                            <a:latin typeface="Cambria Math" panose="02040503050406030204" pitchFamily="18" charset="0"/>
                            <a:sym typeface="Wingdings" panose="05000000000000000000"/>
                          </a:rPr>
                          <m:t>𝑛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sym typeface="Wingdings" panose="05000000000000000000"/>
                          </a:rPr>
                          <m:t>−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sym typeface="Wingdings" panose="05000000000000000000"/>
                          </a:rPr>
                          <m:t>1</m:t>
                        </m:r>
                      </m:num>
                      <m:den>
                        <m:r>
                          <a:rPr lang="en-US" sz="2400" i="1" dirty="0" smtClean="0">
                            <a:latin typeface="Cambria Math" panose="02040503050406030204" pitchFamily="18" charset="0"/>
                            <a:sym typeface="Wingdings" panose="0500000000000000000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sym typeface="Wingdings" panose="05000000000000000000"/>
                  </a:rPr>
                  <a:t>.</a:t>
                </a:r>
                <a:endParaRPr lang="en-US" sz="2400" dirty="0">
                  <a:sym typeface="Wingdings" panose="05000000000000000000"/>
                </a:endParaRPr>
              </a:p>
              <a:p>
                <a:pPr lvl="1"/>
                <a:r>
                  <a:rPr lang="en-US" sz="2000" dirty="0">
                    <a:solidFill>
                      <a:schemeClr val="accent4"/>
                    </a:solidFill>
                    <a:sym typeface="Wingdings" panose="05000000000000000000"/>
                  </a:rPr>
                  <a:t>The expected number of items on each side of the pivot is half of the things.</a:t>
                </a:r>
                <a:endParaRPr lang="en-US" sz="2000" dirty="0">
                  <a:solidFill>
                    <a:schemeClr val="accent4"/>
                  </a:solidFill>
                  <a:sym typeface="Wingdings" panose="05000000000000000000"/>
                </a:endParaRPr>
              </a:p>
              <a:p>
                <a:r>
                  <a:rPr lang="en-US" sz="2400" dirty="0">
                    <a:sym typeface="Wingdings" panose="05000000000000000000"/>
                  </a:rPr>
                  <a:t>If that occurs, </a:t>
                </a:r>
                <a:r>
                  <a:rPr lang="en-US" sz="2400" dirty="0">
                    <a:solidFill>
                      <a:schemeClr val="tx1"/>
                    </a:solidFill>
                    <a:sym typeface="Wingdings" panose="05000000000000000000"/>
                  </a:rPr>
                  <a:t>the running time is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2000" dirty="0">
                    <a:solidFill>
                      <a:schemeClr val="accent4"/>
                    </a:solidFill>
                  </a:rPr>
                  <a:t>Since the relevant recurrence relation is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dirty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dirty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000" b="0" i="1" dirty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dirty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dirty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000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accent4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  <a:sym typeface="Wingdings" panose="05000000000000000000"/>
                  </a:rPr>
                  <a:t>Therefore, the expected running time is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8808" y="2506662"/>
                <a:ext cx="7886700" cy="3640138"/>
              </a:xfrm>
              <a:blipFill rotWithShape="1">
                <a:blip r:embed="rId1"/>
                <a:stretch>
                  <a:fillRect l="-6" t="-9" r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220133" y="1758628"/>
            <a:ext cx="203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F6E6C"/>
                </a:solidFill>
              </a:rPr>
              <a:t>Proof:</a:t>
            </a:r>
            <a:endParaRPr lang="en-US" sz="2800" b="1" dirty="0">
              <a:solidFill>
                <a:srgbClr val="CF6E6C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42757" y="6371614"/>
            <a:ext cx="41124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F6E6C"/>
                </a:solidFill>
              </a:rPr>
              <a:t>*Disclaimer: this proof is WRONG.</a:t>
            </a:r>
            <a:endParaRPr lang="en-US" b="1" dirty="0">
              <a:solidFill>
                <a:srgbClr val="CF6E6C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86092" y="171460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CF6E6C"/>
                </a:solidFill>
              </a:rPr>
              <a:t>*</a:t>
            </a:r>
            <a:endParaRPr lang="en-US" b="1" dirty="0">
              <a:solidFill>
                <a:srgbClr val="CF6E6C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65125"/>
            <a:ext cx="7886700" cy="1325563"/>
          </a:xfrm>
        </p:spPr>
        <p:txBody>
          <a:bodyPr/>
          <a:lstStyle/>
          <a:p>
            <a:pPr algn="r"/>
            <a:r>
              <a:rPr lang="en-US" dirty="0"/>
              <a:t>Red flag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31904" y="1246715"/>
            <a:ext cx="9012096" cy="5171017"/>
          </a:xfrm>
        </p:spPr>
        <p:txBody>
          <a:bodyPr>
            <a:normAutofit/>
          </a:bodyPr>
          <a:lstStyle/>
          <a:p>
            <a:r>
              <a:rPr lang="en-US" dirty="0" err="1"/>
              <a:t>QuickSort</a:t>
            </a:r>
            <a:r>
              <a:rPr lang="en-US" dirty="0"/>
              <a:t>(A):</a:t>
            </a:r>
            <a:endParaRPr lang="en-US" dirty="0"/>
          </a:p>
          <a:p>
            <a:pPr lvl="1"/>
            <a:r>
              <a:rPr lang="en-US" b="1" dirty="0"/>
              <a:t>If </a:t>
            </a:r>
            <a:r>
              <a:rPr lang="en-US" dirty="0" err="1"/>
              <a:t>len</a:t>
            </a:r>
            <a:r>
              <a:rPr lang="en-US" dirty="0"/>
              <a:t>(A) &lt;= 1:</a:t>
            </a:r>
            <a:endParaRPr lang="en-US" dirty="0"/>
          </a:p>
          <a:p>
            <a:pPr lvl="2"/>
            <a:r>
              <a:rPr lang="en-US" sz="2400" b="1" dirty="0"/>
              <a:t>return</a:t>
            </a:r>
            <a:r>
              <a:rPr lang="en-US" sz="2400" dirty="0"/>
              <a:t> </a:t>
            </a:r>
            <a:endParaRPr lang="en-US" sz="2400" dirty="0"/>
          </a:p>
          <a:p>
            <a:pPr lvl="1"/>
            <a:r>
              <a:rPr lang="en-US" dirty="0"/>
              <a:t>Pick some x = A[</a:t>
            </a:r>
            <a:r>
              <a:rPr lang="en-US" dirty="0" err="1"/>
              <a:t>i</a:t>
            </a:r>
            <a:r>
              <a:rPr lang="en-US" dirty="0"/>
              <a:t>] at random.  Call this the </a:t>
            </a:r>
            <a:r>
              <a:rPr lang="en-US" b="1" dirty="0"/>
              <a:t>pivot</a:t>
            </a:r>
            <a:r>
              <a:rPr lang="en-US" dirty="0"/>
              <a:t>.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accent4"/>
                </a:solidFill>
              </a:rPr>
              <a:t>PARTITION</a:t>
            </a:r>
            <a:r>
              <a:rPr lang="en-US" dirty="0"/>
              <a:t> the rest of A into: </a:t>
            </a:r>
            <a:endParaRPr lang="en-US" dirty="0"/>
          </a:p>
          <a:p>
            <a:pPr lvl="2"/>
            <a:r>
              <a:rPr lang="en-US" sz="2400" dirty="0">
                <a:solidFill>
                  <a:schemeClr val="accent4"/>
                </a:solidFill>
              </a:rPr>
              <a:t>L (less than x) and </a:t>
            </a:r>
            <a:endParaRPr lang="en-US" sz="2400" dirty="0">
              <a:solidFill>
                <a:schemeClr val="accent4"/>
              </a:solidFill>
            </a:endParaRPr>
          </a:p>
          <a:p>
            <a:pPr lvl="2"/>
            <a:r>
              <a:rPr lang="en-US" sz="2400" dirty="0">
                <a:solidFill>
                  <a:schemeClr val="accent4"/>
                </a:solidFill>
              </a:rPr>
              <a:t>R (greater than x)</a:t>
            </a:r>
            <a:endParaRPr lang="en-US" sz="2400" dirty="0">
              <a:solidFill>
                <a:schemeClr val="accent4"/>
              </a:solidFill>
            </a:endParaRPr>
          </a:p>
          <a:p>
            <a:pPr lvl="1"/>
            <a:r>
              <a:rPr lang="en-US" dirty="0"/>
              <a:t>Replace A with  [L, x, R]  </a:t>
            </a:r>
            <a:r>
              <a:rPr lang="en-US" dirty="0">
                <a:solidFill>
                  <a:schemeClr val="accent4"/>
                </a:solidFill>
              </a:rPr>
              <a:t>(that is, rearrange A in this order)</a:t>
            </a:r>
            <a:endParaRPr lang="en-US" dirty="0">
              <a:solidFill>
                <a:schemeClr val="accent4"/>
              </a:solidFill>
            </a:endParaRPr>
          </a:p>
          <a:p>
            <a:pPr lvl="1"/>
            <a:r>
              <a:rPr lang="en-US" dirty="0" err="1"/>
              <a:t>QuickSort</a:t>
            </a:r>
            <a:r>
              <a:rPr lang="en-US" dirty="0"/>
              <a:t>(L) </a:t>
            </a:r>
            <a:endParaRPr lang="en-US" dirty="0"/>
          </a:p>
          <a:p>
            <a:pPr lvl="1"/>
            <a:r>
              <a:rPr lang="en-US" dirty="0" err="1"/>
              <a:t>QuickSort</a:t>
            </a:r>
            <a:r>
              <a:rPr lang="en-US" dirty="0"/>
              <a:t>(R) 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 rot="19710290" flipH="1">
            <a:off x="5434961" y="-75450"/>
            <a:ext cx="1253943" cy="204602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3142412" y="5033725"/>
                <a:ext cx="5869684" cy="1758045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rgbClr val="7030A0"/>
                </a:solidFill>
              </a:ln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Arial" panose="020B0604020202090204" pitchFamily="34" charset="0"/>
                  <a:buChar char="•"/>
                </a:pPr>
                <a:r>
                  <a:rPr lang="en-US" sz="2000" dirty="0">
                    <a:solidFill>
                      <a:srgbClr val="7030A0"/>
                    </a:solidFill>
                  </a:rPr>
                  <a:t>Same recurrence relation:</a:t>
                </a:r>
                <a:endParaRPr lang="en-US" sz="2000" dirty="0">
                  <a:solidFill>
                    <a:srgbClr val="7030A0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d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e>
                      </m:d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7030A0"/>
                  </a:solidFill>
                </a:endParaRPr>
              </a:p>
              <a:p>
                <a:pPr marL="342900" indent="-342900">
                  <a:buFont typeface="Arial" panose="020B0604020202090204" pitchFamily="34" charset="0"/>
                  <a:buChar char="•"/>
                </a:pPr>
                <a:r>
                  <a:rPr lang="en-US" sz="2000" dirty="0">
                    <a:solidFill>
                      <a:srgbClr val="7030A0"/>
                    </a:solidFill>
                  </a:rPr>
                  <a:t>We still have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0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e>
                    </m:d>
                    <m:r>
                      <a:rPr lang="en-US" sz="20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0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0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</m:e>
                    </m:d>
                    <m:r>
                      <a:rPr lang="en-US" sz="20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sz="20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>
                  <a:solidFill>
                    <a:srgbClr val="7030A0"/>
                  </a:solidFill>
                </a:endParaRPr>
              </a:p>
              <a:p>
                <a:pPr marL="285750" indent="-285750">
                  <a:buFont typeface="Arial" panose="020B0604020202090204" pitchFamily="34" charset="0"/>
                  <a:buChar char="•"/>
                </a:pPr>
                <a:r>
                  <a:rPr lang="en-US" sz="2000" dirty="0">
                    <a:solidFill>
                      <a:srgbClr val="7030A0"/>
                    </a:solidFill>
                  </a:rPr>
                  <a:t>But now, one of |L| or |R| is always n-1.</a:t>
                </a:r>
                <a:endParaRPr lang="en-US" sz="2000" dirty="0">
                  <a:solidFill>
                    <a:srgbClr val="7030A0"/>
                  </a:solidFill>
                </a:endParaRPr>
              </a:p>
              <a:p>
                <a:pPr marL="285750" indent="-285750">
                  <a:buFont typeface="Arial" panose="020B0604020202090204" pitchFamily="34" charset="0"/>
                  <a:buChar char="•"/>
                </a:pPr>
                <a:r>
                  <a:rPr lang="en-US" sz="2000" dirty="0">
                    <a:solidFill>
                      <a:srgbClr val="7030A0"/>
                    </a:solidFill>
                  </a:rPr>
                  <a:t>You check: </a:t>
                </a:r>
                <a:r>
                  <a:rPr lang="en-US" sz="2000" dirty="0">
                    <a:solidFill>
                      <a:srgbClr val="C00000"/>
                    </a:solidFill>
                  </a:rPr>
                  <a:t>Running time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(n</a:t>
                </a:r>
                <a:r>
                  <a:rPr lang="en-US" sz="2000" baseline="30000" dirty="0">
                    <a:solidFill>
                      <a:srgbClr val="C00000"/>
                    </a:solidFill>
                  </a:rPr>
                  <a:t>2</a:t>
                </a:r>
                <a:r>
                  <a:rPr lang="en-US" sz="2000" dirty="0">
                    <a:solidFill>
                      <a:srgbClr val="C00000"/>
                    </a:solidFill>
                  </a:rPr>
                  <a:t>), with probability 1.</a:t>
                </a:r>
                <a:endParaRPr lang="en-US" sz="20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2412" y="5033725"/>
                <a:ext cx="5869684" cy="1758045"/>
              </a:xfrm>
              <a:prstGeom prst="rect">
                <a:avLst/>
              </a:prstGeom>
              <a:blipFill rotWithShape="1">
                <a:blip r:embed="rId2"/>
                <a:stretch>
                  <a:fillRect l="-116" t="-366" r="-7213" b="-279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710095" y="1501084"/>
            <a:ext cx="3302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CF6E6C"/>
                </a:solidFill>
              </a:rPr>
              <a:t>We can use the same argument to prove something false.</a:t>
            </a:r>
            <a:endParaRPr lang="en-US" dirty="0">
              <a:solidFill>
                <a:srgbClr val="CF6E6C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2472699"/>
            <a:ext cx="8195733" cy="769441"/>
          </a:xfrm>
          <a:prstGeom prst="rect">
            <a:avLst/>
          </a:prstGeom>
          <a:solidFill>
            <a:schemeClr val="bg1"/>
          </a:solidFill>
          <a:ln>
            <a:solidFill>
              <a:srgbClr val="CF6E6C"/>
            </a:solidFill>
          </a:ln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sz="2400" b="1" dirty="0">
                <a:solidFill>
                  <a:srgbClr val="CF6E6C"/>
                </a:solidFill>
              </a:rPr>
              <a:t>Pick the pivot x to be either max(A) or min(A), randomly</a:t>
            </a:r>
            <a:endParaRPr lang="en-US" sz="2400" b="1" dirty="0">
              <a:solidFill>
                <a:srgbClr val="CF6E6C"/>
              </a:solidFill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en-US" sz="2000" dirty="0">
                <a:solidFill>
                  <a:srgbClr val="CF6E6C"/>
                </a:solidFill>
              </a:rPr>
              <a:t>\\ We can find the max and min in O(n) time</a:t>
            </a:r>
            <a:endParaRPr lang="en-US" sz="2000" dirty="0">
              <a:solidFill>
                <a:srgbClr val="CF6E6C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7716" y="1175754"/>
            <a:ext cx="895350" cy="523220"/>
          </a:xfrm>
          <a:prstGeom prst="rect">
            <a:avLst/>
          </a:prstGeom>
          <a:solidFill>
            <a:schemeClr val="bg1"/>
          </a:solidFill>
          <a:ln>
            <a:solidFill>
              <a:srgbClr val="CF6E6C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F6E6C"/>
                </a:solidFill>
              </a:rPr>
              <a:t>Slow</a:t>
            </a:r>
            <a:endParaRPr lang="en-US" sz="2800" b="1" dirty="0">
              <a:solidFill>
                <a:srgbClr val="CF6E6C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7508" y="4802893"/>
            <a:ext cx="810683" cy="461665"/>
          </a:xfrm>
          <a:prstGeom prst="rect">
            <a:avLst/>
          </a:prstGeom>
          <a:solidFill>
            <a:schemeClr val="bg1"/>
          </a:solidFill>
          <a:ln>
            <a:solidFill>
              <a:srgbClr val="CF6E6C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CF6E6C"/>
                </a:solidFill>
              </a:rPr>
              <a:t>Slow</a:t>
            </a:r>
            <a:endParaRPr lang="en-US" sz="2400" b="1" dirty="0">
              <a:solidFill>
                <a:srgbClr val="CF6E6C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0574" y="5175424"/>
            <a:ext cx="810683" cy="461665"/>
          </a:xfrm>
          <a:prstGeom prst="rect">
            <a:avLst/>
          </a:prstGeom>
          <a:solidFill>
            <a:schemeClr val="bg1"/>
          </a:solidFill>
          <a:ln>
            <a:solidFill>
              <a:srgbClr val="CF6E6C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CF6E6C"/>
                </a:solidFill>
              </a:rPr>
              <a:t>Slow</a:t>
            </a:r>
            <a:endParaRPr lang="en-US" sz="2400" b="1" dirty="0">
              <a:solidFill>
                <a:srgbClr val="CF6E6C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3"/>
      <p:bldP spid="6" grpId="0" animBg="1" uiExpand="1" build="p"/>
      <p:bldP spid="10" grpId="0" animBg="1"/>
      <p:bldP spid="12" grpId="0" animBg="1"/>
      <p:bldP spid="13" grpId="0" animBg="1"/>
      <p:bldP spid="1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808" y="208252"/>
            <a:ext cx="7886700" cy="1325563"/>
          </a:xfrm>
        </p:spPr>
        <p:txBody>
          <a:bodyPr/>
          <a:lstStyle/>
          <a:p>
            <a:r>
              <a:rPr lang="en-US" dirty="0" err="1"/>
              <a:t>SlowSort的期望运行时间仍然是</a:t>
            </a:r>
            <a:r>
              <a:rPr lang="en-US" dirty="0"/>
              <a:t> O(</a:t>
            </a:r>
            <a:r>
              <a:rPr lang="en-US" dirty="0" err="1"/>
              <a:t>nlog</a:t>
            </a:r>
            <a:r>
              <a:rPr lang="en-US" dirty="0"/>
              <a:t>(n)).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28808" y="2506662"/>
                <a:ext cx="7886700" cy="36401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 smtClean="0">
                            <a:latin typeface="Cambria Math" panose="02040503050406030204" pitchFamily="18" charset="0"/>
                            <a:sym typeface="Wingdings" panose="0500000000000000000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  <a:sym typeface="Wingdings" panose="05000000000000000000"/>
                              </a:rPr>
                            </m:ctrlPr>
                          </m:d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  <a:sym typeface="Wingdings" panose="05000000000000000000"/>
                              </a:rPr>
                              <m:t>𝐿</m:t>
                            </m:r>
                          </m:e>
                        </m:d>
                      </m:e>
                    </m:d>
                    <m:r>
                      <a:rPr lang="en-US" sz="2400" i="1" dirty="0" smtClean="0">
                        <a:latin typeface="Cambria Math" panose="02040503050406030204" pitchFamily="18" charset="0"/>
                        <a:sym typeface="Wingdings" panose="05000000000000000000"/>
                      </a:rPr>
                      <m:t>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Wingdings" panose="0500000000000000000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 smtClean="0">
                            <a:latin typeface="Cambria Math" panose="02040503050406030204" pitchFamily="18" charset="0"/>
                            <a:sym typeface="Wingdings" panose="0500000000000000000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  <a:sym typeface="Wingdings" panose="05000000000000000000"/>
                              </a:rPr>
                            </m:ctrlPr>
                          </m:d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  <a:sym typeface="Wingdings" panose="05000000000000000000"/>
                              </a:rPr>
                              <m:t>𝑅</m:t>
                            </m:r>
                          </m:e>
                        </m:d>
                      </m:e>
                    </m:d>
                    <m:r>
                      <a:rPr lang="en-US" sz="2400" i="1" dirty="0" smtClean="0">
                        <a:latin typeface="Cambria Math" panose="02040503050406030204" pitchFamily="18" charset="0"/>
                        <a:sym typeface="Wingdings" panose="05000000000000000000"/>
                      </a:rPr>
                      <m:t>=</m:t>
                    </m:r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  <a:sym typeface="Wingdings" panose="05000000000000000000"/>
                          </a:rPr>
                        </m:ctrlPr>
                      </m:fPr>
                      <m:num>
                        <m:r>
                          <a:rPr lang="en-US" sz="2400" i="1" dirty="0" smtClean="0">
                            <a:latin typeface="Cambria Math" panose="02040503050406030204" pitchFamily="18" charset="0"/>
                            <a:sym typeface="Wingdings" panose="05000000000000000000"/>
                          </a:rPr>
                          <m:t>𝑛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sym typeface="Wingdings" panose="05000000000000000000"/>
                          </a:rPr>
                          <m:t>−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sym typeface="Wingdings" panose="05000000000000000000"/>
                          </a:rPr>
                          <m:t>1</m:t>
                        </m:r>
                      </m:num>
                      <m:den>
                        <m:r>
                          <a:rPr lang="en-US" sz="2400" i="1" dirty="0" smtClean="0">
                            <a:latin typeface="Cambria Math" panose="02040503050406030204" pitchFamily="18" charset="0"/>
                            <a:sym typeface="Wingdings" panose="0500000000000000000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sym typeface="Wingdings" panose="05000000000000000000"/>
                  </a:rPr>
                  <a:t>.</a:t>
                </a:r>
                <a:endParaRPr lang="en-US" sz="2400" dirty="0">
                  <a:sym typeface="Wingdings" panose="05000000000000000000"/>
                </a:endParaRPr>
              </a:p>
              <a:p>
                <a:pPr lvl="1"/>
                <a:r>
                  <a:rPr lang="en-US" sz="2000" dirty="0">
                    <a:solidFill>
                      <a:schemeClr val="accent4"/>
                    </a:solidFill>
                    <a:sym typeface="Wingdings" panose="05000000000000000000"/>
                  </a:rPr>
                  <a:t>The expected number of items on each side of the pivot is half of the things.</a:t>
                </a:r>
                <a:endParaRPr lang="en-US" sz="2000" dirty="0">
                  <a:solidFill>
                    <a:schemeClr val="accent4"/>
                  </a:solidFill>
                  <a:sym typeface="Wingdings" panose="05000000000000000000"/>
                </a:endParaRPr>
              </a:p>
              <a:p>
                <a:r>
                  <a:rPr lang="en-US" sz="2400" dirty="0">
                    <a:sym typeface="Wingdings" panose="05000000000000000000"/>
                  </a:rPr>
                  <a:t>If that occurs, </a:t>
                </a:r>
                <a:r>
                  <a:rPr lang="en-US" sz="2400" dirty="0">
                    <a:solidFill>
                      <a:schemeClr val="tx1"/>
                    </a:solidFill>
                    <a:sym typeface="Wingdings" panose="05000000000000000000"/>
                  </a:rPr>
                  <a:t>the running time is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2000" dirty="0">
                    <a:solidFill>
                      <a:schemeClr val="accent4"/>
                    </a:solidFill>
                  </a:rPr>
                  <a:t>Since the relevant recurrence relation is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dirty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dirty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000" b="0" i="1" dirty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dirty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dirty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000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accent4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  <a:sym typeface="Wingdings" panose="05000000000000000000"/>
                  </a:rPr>
                  <a:t>Therefore, the expected running time is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8808" y="2506662"/>
                <a:ext cx="7886700" cy="3640138"/>
              </a:xfrm>
              <a:blipFill rotWithShape="1">
                <a:blip r:embed="rId1"/>
                <a:stretch>
                  <a:fillRect l="-6" t="-9" r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220133" y="1758628"/>
            <a:ext cx="203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F6E6C"/>
                </a:solidFill>
              </a:rPr>
              <a:t>Proof:</a:t>
            </a:r>
            <a:endParaRPr lang="en-US" sz="2800" b="1" dirty="0">
              <a:solidFill>
                <a:srgbClr val="CF6E6C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42757" y="6371614"/>
            <a:ext cx="41124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F6E6C"/>
                </a:solidFill>
              </a:rPr>
              <a:t>*Disclaimer: this proof is WRONG.</a:t>
            </a:r>
            <a:endParaRPr lang="en-US" b="1" dirty="0">
              <a:solidFill>
                <a:srgbClr val="CF6E6C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86092" y="171460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CF6E6C"/>
                </a:solidFill>
              </a:rPr>
              <a:t>*</a:t>
            </a:r>
            <a:endParaRPr lang="en-US" b="1" dirty="0">
              <a:solidFill>
                <a:srgbClr val="CF6E6C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5609966" y="2020238"/>
            <a:ext cx="2998745" cy="9501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14641" y="1132397"/>
            <a:ext cx="27308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What’s wrong???</a:t>
            </a:r>
            <a:endParaRPr lang="en-US" sz="2000" dirty="0"/>
          </a:p>
          <a:p>
            <a:r>
              <a:rPr lang="en-US" sz="2000" dirty="0"/>
              <a:t>1 minutes: think</a:t>
            </a:r>
            <a:endParaRPr lang="en-US" sz="2000" dirty="0"/>
          </a:p>
          <a:p>
            <a:r>
              <a:rPr lang="en-US" sz="2000" dirty="0"/>
              <a:t>1 minute: (wait) share</a:t>
            </a:r>
            <a:endParaRPr 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push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808" y="-11882"/>
            <a:ext cx="7886700" cy="1325563"/>
          </a:xfrm>
        </p:spPr>
        <p:txBody>
          <a:bodyPr/>
          <a:lstStyle/>
          <a:p>
            <a:r>
              <a:rPr lang="en-US" dirty="0" err="1"/>
              <a:t>哪里错了呢</a:t>
            </a:r>
            <a:r>
              <a:rPr lang="zh-CN" altLang="en-US" dirty="0"/>
              <a:t>？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1799" y="1313681"/>
                <a:ext cx="7886700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sym typeface="Wingdings" panose="0500000000000000000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i="1" dirty="0">
                                <a:latin typeface="Cambria Math" panose="02040503050406030204" pitchFamily="18" charset="0"/>
                                <a:sym typeface="Wingdings" panose="0500000000000000000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sym typeface="Wingdings" panose="05000000000000000000"/>
                              </a:rPr>
                              <m:t>𝐿</m:t>
                            </m:r>
                          </m:e>
                        </m:d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  <a:sym typeface="Wingdings" panose="05000000000000000000"/>
                      </a:rPr>
                      <m:t>= </m:t>
                    </m:r>
                    <m:r>
                      <a:rPr lang="en-US" sz="2400" i="1" dirty="0">
                        <a:latin typeface="Cambria Math" panose="02040503050406030204" pitchFamily="18" charset="0"/>
                        <a:sym typeface="Wingdings" panose="0500000000000000000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  <a:sym typeface="Wingdings" panose="0500000000000000000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i="1" dirty="0">
                                <a:latin typeface="Cambria Math" panose="02040503050406030204" pitchFamily="18" charset="0"/>
                                <a:sym typeface="Wingdings" panose="0500000000000000000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sym typeface="Wingdings" panose="05000000000000000000"/>
                              </a:rPr>
                              <m:t>𝑅</m:t>
                            </m:r>
                          </m:e>
                        </m:d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  <a:sym typeface="Wingdings" panose="0500000000000000000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sym typeface="Wingdings" panose="0500000000000000000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sym typeface="Wingdings" panose="05000000000000000000"/>
                          </a:rPr>
                          <m:t>𝑛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sym typeface="Wingdings" panose="05000000000000000000"/>
                          </a:rPr>
                          <m:t>−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sym typeface="Wingdings" panose="05000000000000000000"/>
                          </a:rPr>
                          <m:t>1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sym typeface="Wingdings" panose="0500000000000000000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sym typeface="Wingdings" panose="05000000000000000000"/>
                  </a:rPr>
                  <a:t>.</a:t>
                </a:r>
                <a:endParaRPr lang="en-US" sz="2400" dirty="0">
                  <a:sym typeface="Wingdings" panose="05000000000000000000"/>
                </a:endParaRPr>
              </a:p>
              <a:p>
                <a:pPr lvl="1"/>
                <a:r>
                  <a:rPr lang="en-US" sz="2000" dirty="0">
                    <a:solidFill>
                      <a:schemeClr val="accent4"/>
                    </a:solidFill>
                    <a:sym typeface="Wingdings" panose="05000000000000000000"/>
                  </a:rPr>
                  <a:t>The expected number of items on each side of the pivot is half of the things.</a:t>
                </a:r>
                <a:endParaRPr lang="en-US" sz="2000" dirty="0">
                  <a:solidFill>
                    <a:schemeClr val="accent4"/>
                  </a:solidFill>
                  <a:sym typeface="Wingdings" panose="05000000000000000000"/>
                </a:endParaRPr>
              </a:p>
              <a:p>
                <a:r>
                  <a:rPr lang="en-US" sz="2400" dirty="0">
                    <a:sym typeface="Wingdings" panose="05000000000000000000"/>
                  </a:rPr>
                  <a:t>If that occurs, the running time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dirty="0" err="1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2400" i="1" dirty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000" dirty="0">
                    <a:solidFill>
                      <a:schemeClr val="accent4"/>
                    </a:solidFill>
                  </a:rPr>
                  <a:t>Since the relevant recurrence relation is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 dirty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 dirty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000" i="1" dirty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 dirty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 dirty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000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accent4"/>
                  </a:solidFill>
                </a:endParaRPr>
              </a:p>
              <a:p>
                <a:r>
                  <a:rPr lang="en-US" sz="2400" dirty="0">
                    <a:sym typeface="Wingdings" panose="05000000000000000000"/>
                  </a:rPr>
                  <a:t>Therefore, the expected running time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dirty="0" err="1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2400" i="1" dirty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1799" y="1313681"/>
                <a:ext cx="7886700" cy="4351338"/>
              </a:xfrm>
              <a:blipFill rotWithShape="1">
                <a:blip r:embed="rId1"/>
                <a:stretch>
                  <a:fillRect l="-4" t="-12" r="4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32367" y="5405848"/>
            <a:ext cx="792883" cy="11049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367" y="6429736"/>
            <a:ext cx="2999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F6E6C"/>
                </a:solidFill>
              </a:rPr>
              <a:t>Plucky the Pedantic Penguin</a:t>
            </a:r>
            <a:endParaRPr lang="en-US" dirty="0">
              <a:solidFill>
                <a:srgbClr val="CF6E6C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2367" y="4608582"/>
            <a:ext cx="26860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CF6E6C"/>
                </a:solidFill>
              </a:rPr>
              <a:t>That’s not how expectations work!</a:t>
            </a:r>
            <a:endParaRPr lang="en-US" sz="1200" dirty="0">
              <a:solidFill>
                <a:srgbClr val="CF6E6C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71323" y="5106297"/>
            <a:ext cx="55866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</a:rPr>
              <a:t>“期望场景” 下的运行时间不是预期运行时间。</a:t>
            </a:r>
            <a:endParaRPr lang="en-US" sz="20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sz="2000" dirty="0">
              <a:solidFill>
                <a:srgbClr val="7030A0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000" dirty="0">
                <a:solidFill>
                  <a:srgbClr val="7030A0"/>
                </a:solidFill>
              </a:rPr>
              <a:t>Sort of like how E[X</a:t>
            </a:r>
            <a:r>
              <a:rPr lang="en-US" sz="2000" baseline="30000" dirty="0">
                <a:solidFill>
                  <a:srgbClr val="7030A0"/>
                </a:solidFill>
              </a:rPr>
              <a:t>2</a:t>
            </a:r>
            <a:r>
              <a:rPr lang="en-US" sz="2000" dirty="0">
                <a:solidFill>
                  <a:srgbClr val="7030A0"/>
                </a:solidFill>
              </a:rPr>
              <a:t>] is not the same as (E[X])</a:t>
            </a:r>
            <a:r>
              <a:rPr lang="en-US" sz="2000" baseline="30000" dirty="0">
                <a:solidFill>
                  <a:srgbClr val="7030A0"/>
                </a:solidFill>
              </a:rPr>
              <a:t>2</a:t>
            </a:r>
            <a:endParaRPr lang="en-US" sz="2000" dirty="0">
              <a:solidFill>
                <a:srgbClr val="7030A0"/>
              </a:solidFill>
            </a:endParaRPr>
          </a:p>
        </p:txBody>
      </p:sp>
      <p:sp>
        <p:nvSpPr>
          <p:cNvPr id="8" name="右箭头标注 7"/>
          <p:cNvSpPr/>
          <p:nvPr/>
        </p:nvSpPr>
        <p:spPr>
          <a:xfrm>
            <a:off x="4045077" y="4148700"/>
            <a:ext cx="4370431" cy="813825"/>
          </a:xfrm>
          <a:prstGeom prst="rightArrowCallout">
            <a:avLst>
              <a:gd name="adj1" fmla="val 20786"/>
              <a:gd name="adj2" fmla="val 25000"/>
              <a:gd name="adj3" fmla="val 72958"/>
              <a:gd name="adj4" fmla="val 809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刚好左右各一半是期望场景</a:t>
            </a:r>
            <a:r>
              <a:rPr lang="zh-CN" altLang="en-US" dirty="0"/>
              <a:t>，但不一定发生，这种情况下的时间不是期望运行时间</a:t>
            </a:r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所以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5621"/>
            <a:ext cx="7886700" cy="4351338"/>
          </a:xfrm>
        </p:spPr>
        <p:txBody>
          <a:bodyPr/>
          <a:lstStyle/>
          <a:p>
            <a:r>
              <a:rPr lang="en-US" dirty="0" err="1">
                <a:solidFill>
                  <a:schemeClr val="accent4"/>
                </a:solidFill>
              </a:rPr>
              <a:t>在计算期望运行时间时</a:t>
            </a:r>
            <a:r>
              <a:rPr lang="zh-CN" altLang="en-US" dirty="0">
                <a:solidFill>
                  <a:schemeClr val="accent4"/>
                </a:solidFill>
              </a:rPr>
              <a:t>，要</a:t>
            </a:r>
            <a:r>
              <a:rPr lang="zh-CN" altLang="en-US" b="1" dirty="0">
                <a:solidFill>
                  <a:srgbClr val="FF0000"/>
                </a:solidFill>
              </a:rPr>
              <a:t>避免简单的使用期望场景的运行时间</a:t>
            </a:r>
            <a:r>
              <a:rPr lang="zh-CN" altLang="en-US" dirty="0">
                <a:solidFill>
                  <a:schemeClr val="accent4"/>
                </a:solidFill>
              </a:rPr>
              <a:t>评估算法的期望运行时间。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628650" y="249910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正确的方式</a:t>
            </a:r>
            <a:r>
              <a:rPr lang="en-US" dirty="0"/>
              <a:t>:</a:t>
            </a:r>
            <a:endParaRPr lang="en-US" dirty="0"/>
          </a:p>
        </p:txBody>
      </p:sp>
      <p:sp>
        <p:nvSpPr>
          <p:cNvPr id="5" name="Content Placeholder 2"/>
          <p:cNvSpPr txBox="1"/>
          <p:nvPr/>
        </p:nvSpPr>
        <p:spPr>
          <a:xfrm>
            <a:off x="628649" y="3654072"/>
            <a:ext cx="7886700" cy="1633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accent4"/>
                </a:solidFill>
              </a:rPr>
              <a:t>详细分析算法的可能的各种运行情况</a:t>
            </a:r>
            <a:r>
              <a:rPr lang="zh-CN" altLang="en-US" dirty="0">
                <a:solidFill>
                  <a:schemeClr val="accent4"/>
                </a:solidFill>
              </a:rPr>
              <a:t>，</a:t>
            </a:r>
            <a:r>
              <a:rPr lang="zh-CN" altLang="en-US" b="1" dirty="0">
                <a:solidFill>
                  <a:srgbClr val="FF0000"/>
                </a:solidFill>
              </a:rPr>
              <a:t>采用统计分析的方法，计算算法的期望运行时间</a:t>
            </a:r>
            <a:r>
              <a:rPr lang="zh-CN" altLang="en-US" dirty="0">
                <a:solidFill>
                  <a:schemeClr val="accent4"/>
                </a:solidFill>
              </a:rPr>
              <a:t>。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520" y="289328"/>
            <a:ext cx="7886700" cy="600074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of recursive calls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926215" y="1113283"/>
            <a:ext cx="427510" cy="6266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368710" y="1113283"/>
            <a:ext cx="427510" cy="6266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98314" y="1113283"/>
            <a:ext cx="427510" cy="6266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38716" y="1113283"/>
            <a:ext cx="427510" cy="6266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82091" y="1113283"/>
            <a:ext cx="427510" cy="6266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111694" y="1113283"/>
            <a:ext cx="427510" cy="6266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554190" y="1113283"/>
            <a:ext cx="427510" cy="6266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28172" y="1964183"/>
            <a:ext cx="427510" cy="6266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270667" y="1964183"/>
            <a:ext cx="427510" cy="6266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76751" y="1964183"/>
            <a:ext cx="427510" cy="6266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52266" y="1964183"/>
            <a:ext cx="427510" cy="626618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804261" y="1964183"/>
            <a:ext cx="427510" cy="6266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233864" y="1964183"/>
            <a:ext cx="427510" cy="6266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676360" y="1964183"/>
            <a:ext cx="427510" cy="6266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361765" y="2823466"/>
            <a:ext cx="427510" cy="6266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789275" y="2823466"/>
            <a:ext cx="427510" cy="6266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218878" y="2823466"/>
            <a:ext cx="427510" cy="6266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661374" y="2823466"/>
            <a:ext cx="427510" cy="6266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828172" y="2831849"/>
            <a:ext cx="427510" cy="6266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270667" y="2831849"/>
            <a:ext cx="427510" cy="6266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321226" y="3647824"/>
            <a:ext cx="427510" cy="626618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258677" y="3647824"/>
            <a:ext cx="427510" cy="6266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854433" y="3647824"/>
            <a:ext cx="427510" cy="6266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738929" y="3647824"/>
            <a:ext cx="427510" cy="6266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252266" y="2842613"/>
            <a:ext cx="427510" cy="626618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264853" y="3647824"/>
            <a:ext cx="427510" cy="626618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794664" y="3647824"/>
            <a:ext cx="427510" cy="6266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247763" y="3647824"/>
            <a:ext cx="427510" cy="626618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258677" y="4486024"/>
            <a:ext cx="427510" cy="6266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738929" y="4486024"/>
            <a:ext cx="427510" cy="6266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358698" y="4486024"/>
            <a:ext cx="427510" cy="626618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923949" y="4472182"/>
            <a:ext cx="427510" cy="626618"/>
          </a:xfrm>
          <a:prstGeom prst="rect">
            <a:avLst/>
          </a:prstGeom>
          <a:solidFill>
            <a:srgbClr val="FDFFC2"/>
          </a:solidFill>
          <a:ln w="508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264853" y="4435167"/>
            <a:ext cx="427510" cy="626618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794664" y="4435167"/>
            <a:ext cx="427510" cy="626618"/>
          </a:xfrm>
          <a:prstGeom prst="rect">
            <a:avLst/>
          </a:prstGeom>
          <a:solidFill>
            <a:srgbClr val="FDFFC2"/>
          </a:solidFill>
          <a:ln w="508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247763" y="4435167"/>
            <a:ext cx="427510" cy="626618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117688" y="1254515"/>
            <a:ext cx="1962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Pick 5 as a pivot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5826414" y="1985067"/>
            <a:ext cx="282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Partition on either side of 5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944919" y="2788005"/>
            <a:ext cx="2070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Recurse</a:t>
            </a:r>
            <a:r>
              <a:rPr lang="en-US" dirty="0"/>
              <a:t> on [76] and pick 6 as a pivot.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6341565" y="3611586"/>
            <a:ext cx="1622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Partition on either side of 6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116072" y="2820713"/>
            <a:ext cx="2171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Recurse</a:t>
            </a:r>
            <a:r>
              <a:rPr lang="en-US" dirty="0"/>
              <a:t> on [3142] and pick 3 as a pivot.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334354" y="4415454"/>
            <a:ext cx="2228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Recurse</a:t>
            </a:r>
            <a:r>
              <a:rPr lang="en-US" dirty="0"/>
              <a:t> on [7], it has size 1 so we’re done.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67868" y="3650861"/>
            <a:ext cx="1307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Partition around 3.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3350379" y="4613194"/>
            <a:ext cx="875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Recurse</a:t>
            </a:r>
            <a:r>
              <a:rPr lang="en-US" sz="1200" dirty="0"/>
              <a:t> on [4] (done).</a:t>
            </a:r>
            <a:endParaRPr lang="en-US" sz="1200" dirty="0"/>
          </a:p>
        </p:txBody>
      </p:sp>
      <p:sp>
        <p:nvSpPr>
          <p:cNvPr id="55" name="TextBox 54"/>
          <p:cNvSpPr txBox="1"/>
          <p:nvPr/>
        </p:nvSpPr>
        <p:spPr>
          <a:xfrm>
            <a:off x="67812" y="4360136"/>
            <a:ext cx="11897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Recurse</a:t>
            </a:r>
            <a:r>
              <a:rPr lang="en-US" sz="1600" dirty="0"/>
              <a:t> on [12] and pick 2 as a pivot.</a:t>
            </a:r>
            <a:endParaRPr lang="en-US" sz="1600" dirty="0"/>
          </a:p>
        </p:txBody>
      </p:sp>
      <p:sp>
        <p:nvSpPr>
          <p:cNvPr id="56" name="TextBox 55"/>
          <p:cNvSpPr txBox="1"/>
          <p:nvPr/>
        </p:nvSpPr>
        <p:spPr>
          <a:xfrm>
            <a:off x="27959" y="5480820"/>
            <a:ext cx="1032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partition around 2.</a:t>
            </a:r>
            <a:endParaRPr lang="en-US" sz="1400" dirty="0"/>
          </a:p>
        </p:txBody>
      </p:sp>
      <p:sp>
        <p:nvSpPr>
          <p:cNvPr id="57" name="Rectangle 56"/>
          <p:cNvSpPr/>
          <p:nvPr/>
        </p:nvSpPr>
        <p:spPr>
          <a:xfrm>
            <a:off x="1114921" y="5297777"/>
            <a:ext cx="427510" cy="6266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747573" y="5297777"/>
            <a:ext cx="427510" cy="626618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4824" y="6124494"/>
            <a:ext cx="875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Recurse</a:t>
            </a:r>
            <a:r>
              <a:rPr lang="en-US" sz="1200" dirty="0"/>
              <a:t> on [1] (done).</a:t>
            </a:r>
            <a:endParaRPr lang="en-US" sz="1200" dirty="0"/>
          </a:p>
        </p:txBody>
      </p:sp>
      <p:sp>
        <p:nvSpPr>
          <p:cNvPr id="60" name="Rectangle 59"/>
          <p:cNvSpPr/>
          <p:nvPr/>
        </p:nvSpPr>
        <p:spPr>
          <a:xfrm>
            <a:off x="1114921" y="6022935"/>
            <a:ext cx="427510" cy="626618"/>
          </a:xfrm>
          <a:prstGeom prst="rect">
            <a:avLst/>
          </a:prstGeom>
          <a:solidFill>
            <a:srgbClr val="FDFFC2"/>
          </a:solidFill>
          <a:ln w="508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2386505" y="5285154"/>
            <a:ext cx="427510" cy="626618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2951756" y="5271312"/>
            <a:ext cx="427510" cy="626618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4292660" y="5234297"/>
            <a:ext cx="427510" cy="626618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5822471" y="5234297"/>
            <a:ext cx="427510" cy="626618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5275570" y="5234297"/>
            <a:ext cx="427510" cy="626618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1747573" y="6036533"/>
            <a:ext cx="427510" cy="626618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2386505" y="6023910"/>
            <a:ext cx="427510" cy="626618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2951756" y="6010068"/>
            <a:ext cx="427510" cy="626618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4292660" y="5973053"/>
            <a:ext cx="427510" cy="626618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5822471" y="5973053"/>
            <a:ext cx="427510" cy="626618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5275570" y="5973053"/>
            <a:ext cx="427510" cy="626618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55" grpId="0"/>
      <p:bldP spid="56" grpId="0"/>
      <p:bldP spid="57" grpId="0" animBg="1"/>
      <p:bldP spid="58" grpId="0" animBg="1"/>
      <p:bldP spid="59" grpId="0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17348"/>
          </a:xfrm>
        </p:spPr>
        <p:txBody>
          <a:bodyPr>
            <a:normAutofit fontScale="90000"/>
          </a:bodyPr>
          <a:lstStyle/>
          <a:p>
            <a:r>
              <a:rPr lang="en-US" dirty="0"/>
              <a:t>How long does this take to run?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926" y="1180215"/>
            <a:ext cx="7886700" cy="1555091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We will count the number of </a:t>
            </a:r>
            <a:r>
              <a:rPr lang="en-US" dirty="0">
                <a:solidFill>
                  <a:srgbClr val="CF6E6C"/>
                </a:solidFill>
              </a:rPr>
              <a:t>comparisons</a:t>
            </a:r>
            <a:r>
              <a:rPr lang="en-US" dirty="0"/>
              <a:t> that the algorithm does.</a:t>
            </a:r>
            <a:endParaRPr lang="en-US" dirty="0"/>
          </a:p>
          <a:p>
            <a:pPr lvl="1"/>
            <a:r>
              <a:rPr lang="en-US" dirty="0">
                <a:solidFill>
                  <a:schemeClr val="accent4"/>
                </a:solidFill>
              </a:rPr>
              <a:t>This turns out to give us a good idea of the runtime. (Not obvious).</a:t>
            </a:r>
            <a:endParaRPr lang="en-US" dirty="0">
              <a:solidFill>
                <a:schemeClr val="accent4"/>
              </a:solidFill>
            </a:endParaRPr>
          </a:p>
          <a:p>
            <a:r>
              <a:rPr lang="en-US" dirty="0"/>
              <a:t>How many times are any two items compared?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276965" y="2810440"/>
            <a:ext cx="3055485" cy="573347"/>
            <a:chOff x="1573619" y="3296093"/>
            <a:chExt cx="5040183" cy="705201"/>
          </a:xfrm>
        </p:grpSpPr>
        <p:sp>
          <p:nvSpPr>
            <p:cNvPr id="5" name="Rectangle 4"/>
            <p:cNvSpPr/>
            <p:nvPr/>
          </p:nvSpPr>
          <p:spPr>
            <a:xfrm>
              <a:off x="1573619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230353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508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17868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08601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Rectangle 19"/>
          <p:cNvSpPr/>
          <p:nvPr/>
        </p:nvSpPr>
        <p:spPr>
          <a:xfrm>
            <a:off x="3232217" y="3598062"/>
            <a:ext cx="427510" cy="573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674712" y="3598062"/>
            <a:ext cx="427510" cy="573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80796" y="3598062"/>
            <a:ext cx="427510" cy="573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656311" y="3598062"/>
            <a:ext cx="427510" cy="573347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208306" y="3598062"/>
            <a:ext cx="427510" cy="573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637909" y="3598062"/>
            <a:ext cx="427510" cy="573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080405" y="3598062"/>
            <a:ext cx="427510" cy="573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537200" y="2918524"/>
            <a:ext cx="2806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example before, everything was compared to 5 once in the first step</a:t>
            </a:r>
            <a:r>
              <a:rPr lang="en-US" dirty="0"/>
              <a:t>…</a:t>
            </a:r>
            <a:r>
              <a:rPr lang="en-US" dirty="0"/>
              <a:t>.and never again.</a:t>
            </a:r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1317504" y="5175017"/>
            <a:ext cx="427510" cy="5157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745014" y="5175017"/>
            <a:ext cx="427510" cy="515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174617" y="5175017"/>
            <a:ext cx="427510" cy="515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617113" y="5175017"/>
            <a:ext cx="427510" cy="515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783911" y="5183400"/>
            <a:ext cx="427510" cy="515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226406" y="5183400"/>
            <a:ext cx="427510" cy="5157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276965" y="5999375"/>
            <a:ext cx="427510" cy="515725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14416" y="5999375"/>
            <a:ext cx="427510" cy="515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810172" y="5999375"/>
            <a:ext cx="427510" cy="515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94668" y="5999375"/>
            <a:ext cx="427510" cy="515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208005" y="5194164"/>
            <a:ext cx="427510" cy="515725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220592" y="5999375"/>
            <a:ext cx="427510" cy="515725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750403" y="5999375"/>
            <a:ext cx="427510" cy="515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203502" y="5999375"/>
            <a:ext cx="427510" cy="515725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899150" y="5194164"/>
            <a:ext cx="3130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 not everything was compared to 3.  </a:t>
            </a:r>
            <a:endParaRPr lang="en-US" dirty="0"/>
          </a:p>
          <a:p>
            <a:r>
              <a:rPr lang="en-US" dirty="0"/>
              <a:t>5 was, and so were 1,2 and 4.  </a:t>
            </a:r>
            <a:endParaRPr lang="en-US" dirty="0"/>
          </a:p>
          <a:p>
            <a:r>
              <a:rPr lang="en-US" dirty="0"/>
              <a:t>But not 6 or 7.</a:t>
            </a:r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Each pair of items is compared either 0 or 1 times.  Which is it?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330200" y="2000712"/>
            <a:ext cx="4686300" cy="887456"/>
            <a:chOff x="1573619" y="3296093"/>
            <a:chExt cx="5040183" cy="705201"/>
          </a:xfrm>
        </p:grpSpPr>
        <p:sp>
          <p:nvSpPr>
            <p:cNvPr id="6" name="Rectangle 5"/>
            <p:cNvSpPr/>
            <p:nvPr/>
          </p:nvSpPr>
          <p:spPr>
            <a:xfrm>
              <a:off x="1573619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230353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17868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908601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5383458" y="2077969"/>
            <a:ext cx="34024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chemeClr val="accent4"/>
                </a:solidFill>
              </a:rPr>
              <a:t>Let’s assume that the numbers in the array are actually the numbers 1,</a:t>
            </a:r>
            <a:r>
              <a:rPr lang="en-US" sz="2000" dirty="0">
                <a:solidFill>
                  <a:schemeClr val="accent4"/>
                </a:solidFill>
              </a:rPr>
              <a:t>…</a:t>
            </a:r>
            <a:r>
              <a:rPr lang="en-US" sz="2000" dirty="0">
                <a:solidFill>
                  <a:schemeClr val="accent4"/>
                </a:solidFill>
              </a:rPr>
              <a:t>,n</a:t>
            </a:r>
            <a:endParaRPr lang="en-US" sz="2000" dirty="0">
              <a:solidFill>
                <a:schemeClr val="accent4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/>
              <p:cNvSpPr/>
              <p:nvPr/>
            </p:nvSpPr>
            <p:spPr>
              <a:xfrm>
                <a:off x="171834" y="4081550"/>
                <a:ext cx="8807066" cy="2675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90204" pitchFamily="34" charset="0"/>
                  <a:buChar char="•"/>
                </a:pPr>
                <a:r>
                  <a:rPr lang="en-US" sz="2100" b="1" dirty="0">
                    <a:solidFill>
                      <a:schemeClr val="accent4"/>
                    </a:solidFill>
                  </a:rPr>
                  <a:t>Whether or not </a:t>
                </a:r>
                <a:r>
                  <a:rPr lang="en-US" sz="2100" b="1" dirty="0" err="1">
                    <a:solidFill>
                      <a:schemeClr val="accent4"/>
                    </a:solidFill>
                  </a:rPr>
                  <a:t>a,b</a:t>
                </a:r>
                <a:r>
                  <a:rPr lang="en-US" sz="2100" b="1" dirty="0">
                    <a:solidFill>
                      <a:schemeClr val="accent4"/>
                    </a:solidFill>
                  </a:rPr>
                  <a:t> are compared </a:t>
                </a:r>
                <a:r>
                  <a:rPr lang="en-US" sz="2100" dirty="0"/>
                  <a:t>is a random variable, that depends on the choice of pivots.  Let’s say </a:t>
                </a:r>
                <a:endParaRPr lang="en-US" sz="21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00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2100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2100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100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lang="en-US" sz="2100" b="1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100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100" b="1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100" b="1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100" b="1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</m:t>
                              </m:r>
                              <m:r>
                                <m:rPr>
                                  <m:nor/>
                                </m:rPr>
                                <a:rPr lang="en-US" sz="2100" b="1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100" b="1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100" b="1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2100" b="1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100" b="1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sz="2100" b="1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100" b="1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US" sz="2100" b="1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100" b="1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</m:t>
                              </m:r>
                              <m:r>
                                <m:rPr>
                                  <m:nor/>
                                </m:rPr>
                                <a:rPr lang="en-US" sz="2100" b="1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100" b="1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ever</m:t>
                              </m:r>
                              <m:r>
                                <m:rPr>
                                  <m:nor/>
                                </m:rPr>
                                <a:rPr lang="en-US" sz="2100" b="1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100" b="1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compared</m:t>
                              </m:r>
                            </m:e>
                            <m:e>
                              <m:r>
                                <a:rPr lang="en-US" sz="2100" b="1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100" b="1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100" b="1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          </m:t>
                              </m:r>
                              <m:r>
                                <m:rPr>
                                  <m:nor/>
                                </m:rPr>
                                <a:rPr lang="en-US" sz="2100" b="1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100" b="1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100" b="1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2100" b="1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100" b="1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sz="2100" b="1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100" b="1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US" sz="2100" b="1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100" b="1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are</m:t>
                              </m:r>
                              <m:r>
                                <m:rPr>
                                  <m:nor/>
                                </m:rPr>
                                <a:rPr lang="en-US" sz="2100" b="1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100" b="1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never</m:t>
                              </m:r>
                              <m:r>
                                <m:rPr>
                                  <m:nor/>
                                </m:rPr>
                                <a:rPr lang="en-US" sz="2100" b="1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100" b="1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compared</m:t>
                              </m:r>
                              <m:r>
                                <a:rPr lang="en-US" sz="2100" b="1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100" b="1" dirty="0">
                  <a:solidFill>
                    <a:schemeClr val="accent1"/>
                  </a:solidFill>
                </a:endParaRPr>
              </a:p>
              <a:p>
                <a:endParaRPr lang="en-US" sz="2100" b="1" dirty="0">
                  <a:solidFill>
                    <a:schemeClr val="accent1"/>
                  </a:solidFill>
                </a:endParaRPr>
              </a:p>
              <a:p>
                <a:pPr marL="285750" indent="-285750">
                  <a:buFont typeface="Arial" panose="020B0604020202090204" pitchFamily="34" charset="0"/>
                  <a:buChar char="•"/>
                </a:pPr>
                <a:r>
                  <a:rPr lang="en-US" sz="2100" dirty="0"/>
                  <a:t>In the previous example </a:t>
                </a:r>
                <a:r>
                  <a:rPr lang="en-US" sz="2100" b="1" dirty="0">
                    <a:solidFill>
                      <a:schemeClr val="accent4"/>
                    </a:solidFill>
                  </a:rPr>
                  <a:t>X</a:t>
                </a:r>
                <a:r>
                  <a:rPr lang="en-US" sz="2100" b="1" baseline="-25000" dirty="0">
                    <a:solidFill>
                      <a:schemeClr val="accent4"/>
                    </a:solidFill>
                  </a:rPr>
                  <a:t>1,5</a:t>
                </a:r>
                <a:r>
                  <a:rPr lang="en-US" sz="2100" b="1" dirty="0">
                    <a:solidFill>
                      <a:schemeClr val="accent4"/>
                    </a:solidFill>
                  </a:rPr>
                  <a:t> = 1</a:t>
                </a:r>
                <a:r>
                  <a:rPr lang="en-US" sz="2100" dirty="0"/>
                  <a:t>, because item 1</a:t>
                </a:r>
                <a:r>
                  <a:rPr lang="en-US" sz="2100" dirty="0">
                    <a:solidFill>
                      <a:schemeClr val="accent4"/>
                    </a:solidFill>
                  </a:rPr>
                  <a:t> </a:t>
                </a:r>
                <a:r>
                  <a:rPr lang="en-US" sz="2100" dirty="0"/>
                  <a:t>and item 5 were compared.</a:t>
                </a:r>
                <a:endParaRPr lang="en-US" sz="2100" dirty="0"/>
              </a:p>
              <a:p>
                <a:pPr marL="285750" indent="-285750">
                  <a:buFont typeface="Arial" panose="020B0604020202090204" pitchFamily="34" charset="0"/>
                  <a:buChar char="•"/>
                </a:pPr>
                <a:r>
                  <a:rPr lang="en-US" sz="2100" dirty="0"/>
                  <a:t>But </a:t>
                </a:r>
                <a:r>
                  <a:rPr lang="en-US" sz="2100" b="1" dirty="0">
                    <a:solidFill>
                      <a:schemeClr val="accent4"/>
                    </a:solidFill>
                  </a:rPr>
                  <a:t>X</a:t>
                </a:r>
                <a:r>
                  <a:rPr lang="en-US" sz="2100" b="1" baseline="-25000" dirty="0">
                    <a:solidFill>
                      <a:schemeClr val="accent4"/>
                    </a:solidFill>
                  </a:rPr>
                  <a:t>3,6</a:t>
                </a:r>
                <a:r>
                  <a:rPr lang="en-US" sz="2100" b="1" dirty="0">
                    <a:solidFill>
                      <a:schemeClr val="accent4"/>
                    </a:solidFill>
                  </a:rPr>
                  <a:t> = 0</a:t>
                </a:r>
                <a:r>
                  <a:rPr lang="en-US" sz="2100" dirty="0"/>
                  <a:t>, because item 3</a:t>
                </a:r>
                <a:r>
                  <a:rPr lang="en-US" sz="2100" dirty="0">
                    <a:solidFill>
                      <a:schemeClr val="accent4"/>
                    </a:solidFill>
                  </a:rPr>
                  <a:t> </a:t>
                </a:r>
                <a:r>
                  <a:rPr lang="en-US" sz="2100" dirty="0"/>
                  <a:t>and item 6 were NOT compared.</a:t>
                </a:r>
                <a:endParaRPr lang="en-US" sz="2100" dirty="0"/>
              </a:p>
              <a:p>
                <a:pPr marL="285750" indent="-285750">
                  <a:buFont typeface="Arial" panose="020B0604020202090204" pitchFamily="34" charset="0"/>
                  <a:buChar char="•"/>
                </a:pPr>
                <a:endParaRPr lang="en-US" sz="2400" baseline="-250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34" y="4081550"/>
                <a:ext cx="8807066" cy="2675220"/>
              </a:xfrm>
              <a:prstGeom prst="rect">
                <a:avLst/>
              </a:prstGeom>
              <a:blipFill rotWithShape="1">
                <a:blip r:embed="rId1"/>
                <a:stretch>
                  <a:fillRect l="-4" t="-15" r="7" b="-71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30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8137888" y="3145831"/>
            <a:ext cx="754924" cy="93571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365500" y="3198192"/>
            <a:ext cx="49083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rgbClr val="7030A0"/>
                </a:solidFill>
              </a:rPr>
              <a:t>Of course this doesn’t have to be the case!  It’s a good exercise to convince yourself that the analysis will still go through without this assumption.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0" grpId="0" uiExpand="1" build="p"/>
      <p:bldP spid="3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54074"/>
          </a:xfrm>
        </p:spPr>
        <p:txBody>
          <a:bodyPr/>
          <a:lstStyle/>
          <a:p>
            <a:r>
              <a:rPr lang="en-US" dirty="0" err="1">
                <a:solidFill>
                  <a:srgbClr val="00B050"/>
                </a:solidFill>
              </a:rPr>
              <a:t>比较次数的统计分析</a:t>
            </a:r>
            <a:endParaRPr lang="en-US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11300"/>
                <a:ext cx="7886700" cy="5105399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The number of comparisons total during the algorithm is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is-IS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is-IS" sz="240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/>
              </a:p>
              <a:p>
                <a:r>
                  <a:rPr lang="en-US" sz="2400" dirty="0"/>
                  <a:t>The expected number of comparisons is</a:t>
                </a:r>
                <a:endParaRPr lang="en-US" sz="2400" dirty="0"/>
              </a:p>
              <a:p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is-IS" sz="240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is-IS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is-IS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is-I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[ </m:t>
                                  </m:r>
                                  <m:r>
                                    <a:rPr lang="en-US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]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accent4"/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4"/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/>
                  <a:t>     using linearity of expectations.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11300"/>
                <a:ext cx="7886700" cy="5105399"/>
              </a:xfrm>
              <a:blipFill rotWithShape="1">
                <a:blip r:embed="rId1"/>
                <a:stretch>
                  <a:fillRect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5999357" y="2497873"/>
            <a:ext cx="2297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计算任何两个数被比较的次数之和</a:t>
            </a:r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2474"/>
          </a:xfrm>
        </p:spPr>
        <p:txBody>
          <a:bodyPr/>
          <a:lstStyle/>
          <a:p>
            <a:r>
              <a:rPr lang="en-US" dirty="0"/>
              <a:t>Counting comparisons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09417" y="1306956"/>
                <a:ext cx="9765855" cy="4351338"/>
              </a:xfrm>
            </p:spPr>
            <p:txBody>
              <a:bodyPr/>
              <a:lstStyle/>
              <a:p>
                <a:r>
                  <a:rPr lang="en-US" dirty="0"/>
                  <a:t>So we just need to figure out </a:t>
                </a:r>
                <a:r>
                  <a:rPr lang="en-US" dirty="0">
                    <a:solidFill>
                      <a:schemeClr val="accent4"/>
                    </a:solidFill>
                  </a:rPr>
                  <a:t>E[ </a:t>
                </a:r>
                <a:r>
                  <a:rPr lang="en-US" dirty="0" err="1">
                    <a:solidFill>
                      <a:schemeClr val="accent4"/>
                    </a:solidFill>
                  </a:rPr>
                  <a:t>X</a:t>
                </a:r>
                <a:r>
                  <a:rPr lang="en-US" baseline="-25000" dirty="0" err="1">
                    <a:solidFill>
                      <a:schemeClr val="accent4"/>
                    </a:solidFill>
                  </a:rPr>
                  <a:t>a,b</a:t>
                </a:r>
                <a:r>
                  <a:rPr lang="en-US" dirty="0">
                    <a:solidFill>
                      <a:schemeClr val="accent4"/>
                    </a:solidFill>
                  </a:rPr>
                  <a:t> ]</a:t>
                </a:r>
                <a:endParaRPr lang="en-US" dirty="0">
                  <a:solidFill>
                    <a:schemeClr val="accent4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)⋅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)⋅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chemeClr val="accent4"/>
                  </a:solidFill>
                </a:endParaRPr>
              </a:p>
              <a:p>
                <a:pPr lvl="1"/>
                <a:r>
                  <a:rPr lang="en-US" dirty="0"/>
                  <a:t>(using definition of expectation)</a:t>
                </a:r>
                <a:endParaRPr lang="en-US" dirty="0"/>
              </a:p>
              <a:p>
                <a:r>
                  <a:rPr lang="en-US" dirty="0"/>
                  <a:t>So we need to figure out: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accent4"/>
                    </a:solidFill>
                  </a:rPr>
                  <a:t>P(</a:t>
                </a:r>
                <a:r>
                  <a:rPr lang="en-US" dirty="0" err="1">
                    <a:solidFill>
                      <a:schemeClr val="accent4"/>
                    </a:solidFill>
                  </a:rPr>
                  <a:t>X</a:t>
                </a:r>
                <a:r>
                  <a:rPr lang="en-US" baseline="-25000" dirty="0" err="1">
                    <a:solidFill>
                      <a:schemeClr val="accent4"/>
                    </a:solidFill>
                  </a:rPr>
                  <a:t>a,b</a:t>
                </a:r>
                <a:r>
                  <a:rPr lang="en-US" dirty="0">
                    <a:solidFill>
                      <a:schemeClr val="accent4"/>
                    </a:solidFill>
                  </a:rPr>
                  <a:t> = 1) = the probability that a and b are ever compared.</a:t>
                </a:r>
                <a:endParaRPr lang="en-US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9417" y="1306956"/>
                <a:ext cx="9765855" cy="4351338"/>
              </a:xfrm>
              <a:blipFill rotWithShape="1">
                <a:blip r:embed="rId1"/>
                <a:stretch>
                  <a:fillRect l="-5" t="-3" r="1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476865" y="4343294"/>
            <a:ext cx="3096630" cy="573347"/>
            <a:chOff x="1573619" y="3296093"/>
            <a:chExt cx="5108054" cy="705201"/>
          </a:xfrm>
        </p:grpSpPr>
        <p:sp>
          <p:nvSpPr>
            <p:cNvPr id="5" name="Rectangle 4"/>
            <p:cNvSpPr/>
            <p:nvPr/>
          </p:nvSpPr>
          <p:spPr>
            <a:xfrm>
              <a:off x="1573619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230353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976473" y="3296093"/>
              <a:ext cx="705200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217276" y="3296093"/>
              <a:ext cx="705200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000500" y="4306801"/>
            <a:ext cx="476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考虑</a:t>
            </a:r>
            <a:r>
              <a:rPr lang="en-US" altLang="zh-CN" dirty="0"/>
              <a:t>a=2</a:t>
            </a:r>
            <a:r>
              <a:rPr lang="zh-CN" altLang="en-US" dirty="0"/>
              <a:t>，</a:t>
            </a:r>
            <a:r>
              <a:rPr lang="en-US" altLang="zh-CN" dirty="0"/>
              <a:t>b=6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和</a:t>
            </a:r>
            <a:r>
              <a:rPr lang="en-US" altLang="zh-CN" dirty="0"/>
              <a:t>6</a:t>
            </a:r>
            <a:r>
              <a:rPr lang="zh-CN" altLang="en-US" dirty="0"/>
              <a:t>被比较的概率是多少？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475378" y="5169305"/>
            <a:ext cx="3110817" cy="573347"/>
            <a:chOff x="1573619" y="3296093"/>
            <a:chExt cx="5131455" cy="705201"/>
          </a:xfrm>
        </p:grpSpPr>
        <p:sp>
          <p:nvSpPr>
            <p:cNvPr id="14" name="Rectangle 13"/>
            <p:cNvSpPr/>
            <p:nvPr/>
          </p:nvSpPr>
          <p:spPr>
            <a:xfrm>
              <a:off x="1573619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303538" y="3296093"/>
              <a:ext cx="705201" cy="705201"/>
            </a:xfrm>
            <a:prstGeom prst="rect">
              <a:avLst/>
            </a:prstGeom>
            <a:solidFill>
              <a:srgbClr val="FDFFC2"/>
            </a:solidFill>
            <a:ln w="508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rgbClr val="FDFFC2"/>
            </a:solidFill>
            <a:ln w="508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rgbClr val="FDFFC2"/>
            </a:solidFill>
            <a:ln w="508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999874" y="3296093"/>
              <a:ext cx="705200" cy="705201"/>
            </a:xfrm>
            <a:prstGeom prst="rect">
              <a:avLst/>
            </a:prstGeom>
            <a:solidFill>
              <a:srgbClr val="FDFFC2"/>
            </a:solidFill>
            <a:ln w="508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257844" y="3296093"/>
              <a:ext cx="705200" cy="705201"/>
            </a:xfrm>
            <a:prstGeom prst="rect">
              <a:avLst/>
            </a:prstGeom>
            <a:solidFill>
              <a:srgbClr val="FDFFC2"/>
            </a:solidFill>
            <a:ln w="508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4000500" y="5096321"/>
            <a:ext cx="514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这正是从高亮显示的几个数字中首先选择</a:t>
            </a:r>
            <a:r>
              <a:rPr lang="en-US" altLang="zh-CN" dirty="0"/>
              <a:t>2</a:t>
            </a:r>
            <a:r>
              <a:rPr lang="zh-CN" altLang="en-US" dirty="0"/>
              <a:t>或</a:t>
            </a:r>
            <a:r>
              <a:rPr lang="en-US" altLang="zh-CN" dirty="0"/>
              <a:t>6</a:t>
            </a:r>
            <a:r>
              <a:rPr lang="zh-CN" altLang="en-US" dirty="0"/>
              <a:t>做</a:t>
            </a:r>
            <a:r>
              <a:rPr lang="en-US" altLang="zh-CN" dirty="0"/>
              <a:t>pivot</a:t>
            </a:r>
            <a:r>
              <a:rPr lang="zh-CN" altLang="en-US" dirty="0"/>
              <a:t>的概率，为什么呢？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4017995" y="5949341"/>
            <a:ext cx="5108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比如说，如果先选了</a:t>
            </a:r>
            <a:r>
              <a:rPr lang="en-US" altLang="zh-CN" dirty="0"/>
              <a:t>5</a:t>
            </a:r>
            <a:r>
              <a:rPr lang="zh-CN" altLang="en-US" dirty="0"/>
              <a:t>，那么</a:t>
            </a:r>
            <a:r>
              <a:rPr lang="en-US" altLang="zh-CN" dirty="0"/>
              <a:t>2</a:t>
            </a:r>
            <a:r>
              <a:rPr lang="zh-CN" altLang="en-US" dirty="0"/>
              <a:t>个和</a:t>
            </a:r>
            <a:r>
              <a:rPr lang="en-US" altLang="zh-CN" dirty="0"/>
              <a:t>6</a:t>
            </a:r>
            <a:r>
              <a:rPr lang="zh-CN" altLang="en-US" dirty="0"/>
              <a:t>个就会被分开，再也见不到对方，不会相互比较。</a:t>
            </a:r>
            <a:endParaRPr lang="en-US" dirty="0"/>
          </a:p>
        </p:txBody>
      </p:sp>
      <p:sp>
        <p:nvSpPr>
          <p:cNvPr id="23" name="Triangle 22"/>
          <p:cNvSpPr/>
          <p:nvPr/>
        </p:nvSpPr>
        <p:spPr>
          <a:xfrm rot="10800000">
            <a:off x="917873" y="3963081"/>
            <a:ext cx="329012" cy="28553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riangle 23"/>
          <p:cNvSpPr/>
          <p:nvPr/>
        </p:nvSpPr>
        <p:spPr>
          <a:xfrm rot="10800000">
            <a:off x="2728029" y="3981966"/>
            <a:ext cx="329012" cy="23913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1589785" y="3797300"/>
            <a:ext cx="658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2728029" y="6007323"/>
            <a:ext cx="427510" cy="573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170524" y="6007323"/>
            <a:ext cx="427510" cy="573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76608" y="6007323"/>
            <a:ext cx="427510" cy="573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152123" y="6007323"/>
            <a:ext cx="427510" cy="573347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04118" y="6007323"/>
            <a:ext cx="427510" cy="573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133721" y="6007323"/>
            <a:ext cx="427510" cy="573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576217" y="6007323"/>
            <a:ext cx="427510" cy="573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Rectangle 41"/>
              <p:cNvSpPr/>
              <p:nvPr/>
            </p:nvSpPr>
            <p:spPr>
              <a:xfrm>
                <a:off x="5623100" y="38266"/>
                <a:ext cx="3520579" cy="11474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is-IS" dirty="0">
                    <a:solidFill>
                      <a:schemeClr val="accent4"/>
                    </a:solidFill>
                    <a:latin typeface="Cambria Math" panose="02040503050406030204" pitchFamily="18" charset="0"/>
                  </a:rPr>
                  <a:t>expected number of comparisons:</a:t>
                </a:r>
                <a:endParaRPr lang="is-IS" i="1" dirty="0">
                  <a:solidFill>
                    <a:schemeClr val="accent4"/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is-IS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is-I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[ 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]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3100" y="38266"/>
                <a:ext cx="3520579" cy="1147494"/>
              </a:xfrm>
              <a:prstGeom prst="rect">
                <a:avLst/>
              </a:prstGeom>
              <a:blipFill rotWithShape="1">
                <a:blip r:embed="rId2"/>
                <a:stretch>
                  <a:fillRect l="-5" t="-14" r="9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灯片编号占位符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/>
      <p:bldP spid="21" grpId="0"/>
      <p:bldP spid="22" grpId="0"/>
      <p:bldP spid="23" grpId="0" animBg="1"/>
      <p:bldP spid="2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comparisons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51535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= probability </a:t>
                </a:r>
                <a:r>
                  <a:rPr lang="en-US" dirty="0" err="1"/>
                  <a:t>a,b</a:t>
                </a:r>
                <a:r>
                  <a:rPr lang="en-US" dirty="0"/>
                  <a:t> are ever compared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= probability that one of </a:t>
                </a:r>
                <a:r>
                  <a:rPr lang="en-US" dirty="0" err="1"/>
                  <a:t>a,b</a:t>
                </a:r>
                <a:r>
                  <a:rPr lang="en-US" dirty="0"/>
                  <a:t> are picked first out of 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all of the </a:t>
                </a:r>
                <a:r>
                  <a:rPr lang="en-US" dirty="0">
                    <a:solidFill>
                      <a:schemeClr val="accent4"/>
                    </a:solidFill>
                  </a:rPr>
                  <a:t>b </a:t>
                </a:r>
                <a:r>
                  <a:rPr lang="en-US" dirty="0">
                    <a:solidFill>
                      <a:schemeClr val="accent4"/>
                    </a:solidFill>
                  </a:rPr>
                  <a:t>–</a:t>
                </a:r>
                <a:r>
                  <a:rPr lang="en-US" dirty="0">
                    <a:solidFill>
                      <a:schemeClr val="accent4"/>
                    </a:solidFill>
                  </a:rPr>
                  <a:t> a +1</a:t>
                </a:r>
                <a:r>
                  <a:rPr lang="en-US" dirty="0">
                    <a:solidFill>
                      <a:schemeClr val="accent1"/>
                    </a:solidFill>
                  </a:rPr>
                  <a:t> </a:t>
                </a:r>
                <a:r>
                  <a:rPr lang="en-US" dirty="0"/>
                  <a:t>numbers between them.</a:t>
                </a:r>
                <a:endParaRPr lang="en-US" dirty="0"/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>
                  <a:buNone/>
                </a:pPr>
                <a:r>
                  <a:rPr lang="en-US" dirty="0"/>
                  <a:t> 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515350" cy="4351338"/>
              </a:xfrm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4889501" y="5448300"/>
            <a:ext cx="4000856" cy="863599"/>
            <a:chOff x="1573619" y="3296093"/>
            <a:chExt cx="5113684" cy="705201"/>
          </a:xfrm>
        </p:grpSpPr>
        <p:sp>
          <p:nvSpPr>
            <p:cNvPr id="6" name="Rectangle 5"/>
            <p:cNvSpPr/>
            <p:nvPr/>
          </p:nvSpPr>
          <p:spPr>
            <a:xfrm>
              <a:off x="1573619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2303538" y="3296093"/>
              <a:ext cx="705201" cy="705201"/>
            </a:xfrm>
            <a:prstGeom prst="rect">
              <a:avLst/>
            </a:prstGeom>
            <a:solidFill>
              <a:srgbClr val="FDFFC2"/>
            </a:solidFill>
            <a:ln w="508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rgbClr val="FDFFC2"/>
            </a:solidFill>
            <a:ln w="508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rgbClr val="FDFFC2"/>
            </a:solidFill>
            <a:ln w="508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82102" y="3296093"/>
              <a:ext cx="705201" cy="705201"/>
            </a:xfrm>
            <a:prstGeom prst="rect">
              <a:avLst/>
            </a:prstGeom>
            <a:solidFill>
              <a:srgbClr val="FDFFC2"/>
            </a:solidFill>
            <a:ln w="508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232043" y="3296093"/>
              <a:ext cx="705201" cy="705201"/>
            </a:xfrm>
            <a:prstGeom prst="rect">
              <a:avLst/>
            </a:prstGeom>
            <a:solidFill>
              <a:srgbClr val="FDFFC2"/>
            </a:solidFill>
            <a:ln w="508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3" name="Triangle 12"/>
          <p:cNvSpPr/>
          <p:nvPr/>
        </p:nvSpPr>
        <p:spPr>
          <a:xfrm rot="10800000">
            <a:off x="5578773" y="5027829"/>
            <a:ext cx="329012" cy="28553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riangle 13"/>
          <p:cNvSpPr/>
          <p:nvPr/>
        </p:nvSpPr>
        <p:spPr>
          <a:xfrm rot="10800000">
            <a:off x="7863149" y="4992327"/>
            <a:ext cx="329012" cy="28553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248400" y="3816628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F6E6C"/>
                </a:solidFill>
              </a:rPr>
              <a:t>2 choices out of b-a+1</a:t>
            </a:r>
            <a:r>
              <a:rPr lang="en-US" dirty="0">
                <a:solidFill>
                  <a:srgbClr val="CF6E6C"/>
                </a:solidFill>
              </a:rPr>
              <a:t>…</a:t>
            </a:r>
            <a:endParaRPr lang="en-US" dirty="0">
              <a:solidFill>
                <a:srgbClr val="CF6E6C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3599" y="5187133"/>
            <a:ext cx="3650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我们为什么不关心</a:t>
            </a:r>
            <a:r>
              <a:rPr lang="en-US" altLang="zh-CN" sz="2400" dirty="0"/>
              <a:t>1,7</a:t>
            </a:r>
            <a:r>
              <a:rPr lang="zh-CN" altLang="en-US" sz="2400" dirty="0"/>
              <a:t>呢？</a:t>
            </a:r>
            <a:endParaRPr lang="en-US" sz="2400" dirty="0"/>
          </a:p>
        </p:txBody>
      </p:sp>
      <p:sp>
        <p:nvSpPr>
          <p:cNvPr id="16" name="文本框 15"/>
          <p:cNvSpPr txBox="1"/>
          <p:nvPr/>
        </p:nvSpPr>
        <p:spPr>
          <a:xfrm>
            <a:off x="663600" y="5782766"/>
            <a:ext cx="37857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因为选择</a:t>
            </a:r>
            <a:r>
              <a:rPr lang="en-US" altLang="zh-CN" sz="2400" dirty="0">
                <a:solidFill>
                  <a:srgbClr val="FF0000"/>
                </a:solidFill>
              </a:rPr>
              <a:t>1,7</a:t>
            </a:r>
            <a:r>
              <a:rPr lang="zh-CN" altLang="en-US" sz="2400" dirty="0">
                <a:solidFill>
                  <a:srgbClr val="FF0000"/>
                </a:solidFill>
              </a:rPr>
              <a:t>与</a:t>
            </a:r>
            <a:r>
              <a:rPr lang="en-US" altLang="zh-CN" sz="2400" dirty="0">
                <a:solidFill>
                  <a:srgbClr val="FF0000"/>
                </a:solidFill>
              </a:rPr>
              <a:t>2</a:t>
            </a:r>
            <a:r>
              <a:rPr lang="zh-CN" altLang="en-US" sz="2400" dirty="0">
                <a:solidFill>
                  <a:srgbClr val="FF0000"/>
                </a:solidFill>
              </a:rPr>
              <a:t>和</a:t>
            </a:r>
            <a:r>
              <a:rPr lang="en-US" altLang="zh-CN" sz="2400" dirty="0">
                <a:solidFill>
                  <a:srgbClr val="FF0000"/>
                </a:solidFill>
              </a:rPr>
              <a:t>6</a:t>
            </a:r>
            <a:r>
              <a:rPr lang="zh-CN" altLang="en-US" sz="2400" dirty="0">
                <a:solidFill>
                  <a:srgbClr val="FF0000"/>
                </a:solidFill>
              </a:rPr>
              <a:t>是否比较是无关的。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/>
      <p:bldP spid="4" grpId="0"/>
      <p:bldP spid="16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000" dirty="0"/>
              <a:t>Aside:</a:t>
            </a:r>
            <a:br>
              <a:rPr lang="en-US" dirty="0"/>
            </a:br>
            <a:r>
              <a:rPr lang="en-US" dirty="0"/>
              <a:t>Why can we assume that the elements of the array are {1,2,..,n}?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2024463"/>
                <a:ext cx="7886700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More generally, say the elements of the array are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&lt;⋯&lt;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, so the array looks like: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Then we’d do exactly the same thing, except we’d focus on the subscripts instead of the values.  For example, the probability that a</a:t>
                </a:r>
                <a:r>
                  <a:rPr lang="en-US" baseline="-25000" dirty="0"/>
                  <a:t>2 </a:t>
                </a:r>
                <a:r>
                  <a:rPr lang="en-US" dirty="0"/>
                  <a:t>and a</a:t>
                </a:r>
                <a:r>
                  <a:rPr lang="en-US" baseline="-25000" dirty="0"/>
                  <a:t>6 </a:t>
                </a:r>
                <a:r>
                  <a:rPr lang="en-US" dirty="0"/>
                  <a:t>are ever compared is the probability that a</a:t>
                </a:r>
                <a:r>
                  <a:rPr lang="en-US" baseline="-25000" dirty="0"/>
                  <a:t>2 </a:t>
                </a:r>
                <a:r>
                  <a:rPr lang="en-US" dirty="0"/>
                  <a:t>or a</a:t>
                </a:r>
                <a:r>
                  <a:rPr lang="en-US" baseline="-25000" dirty="0"/>
                  <a:t>6</a:t>
                </a:r>
                <a:r>
                  <a:rPr lang="en-US" dirty="0"/>
                  <a:t> are picked as a pivot before a</a:t>
                </a:r>
                <a:r>
                  <a:rPr lang="en-US" baseline="-25000" dirty="0"/>
                  <a:t>3</a:t>
                </a:r>
                <a:r>
                  <a:rPr lang="en-US" dirty="0"/>
                  <a:t>,a</a:t>
                </a:r>
                <a:r>
                  <a:rPr lang="en-US" baseline="-25000" dirty="0"/>
                  <a:t>4</a:t>
                </a:r>
                <a:r>
                  <a:rPr lang="en-US" dirty="0"/>
                  <a:t>,or a</a:t>
                </a:r>
                <a:r>
                  <a:rPr lang="en-US" baseline="-25000" dirty="0"/>
                  <a:t>5 </a:t>
                </a:r>
                <a:r>
                  <a:rPr lang="en-US" dirty="0"/>
                  <a:t>are.</a:t>
                </a:r>
                <a:endParaRPr lang="en-US" baseline="-250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024463"/>
                <a:ext cx="7886700" cy="4351338"/>
              </a:xfrm>
              <a:blipFill rotWithShape="1">
                <a:blip r:embed="rId1"/>
                <a:stretch>
                  <a:fillRect t="-323" b="-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2132496" y="3206659"/>
            <a:ext cx="4686300" cy="887456"/>
            <a:chOff x="1573619" y="3296093"/>
            <a:chExt cx="5040183" cy="705201"/>
          </a:xfrm>
        </p:grpSpPr>
        <p:sp>
          <p:nvSpPr>
            <p:cNvPr id="5" name="Rectangle 4"/>
            <p:cNvSpPr/>
            <p:nvPr/>
          </p:nvSpPr>
          <p:spPr>
            <a:xfrm>
              <a:off x="1573619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a</a:t>
              </a:r>
              <a:r>
                <a:rPr lang="en-US" sz="3200" baseline="-25000" dirty="0">
                  <a:solidFill>
                    <a:schemeClr val="tx1"/>
                  </a:solidFill>
                </a:rPr>
                <a:t>7</a:t>
              </a:r>
              <a:endParaRPr 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230353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a</a:t>
              </a:r>
              <a:r>
                <a:rPr lang="en-US" sz="3200" baseline="-25000" dirty="0">
                  <a:solidFill>
                    <a:schemeClr val="tx1"/>
                  </a:solidFill>
                </a:rPr>
                <a:t>6</a:t>
              </a:r>
              <a:endParaRPr 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a</a:t>
              </a:r>
              <a:r>
                <a:rPr lang="en-US" sz="3200" baseline="-25000" dirty="0">
                  <a:solidFill>
                    <a:schemeClr val="tx1"/>
                  </a:solidFill>
                </a:rPr>
                <a:t>3</a:t>
              </a:r>
              <a:endParaRPr 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a</a:t>
              </a:r>
              <a:r>
                <a:rPr lang="en-US" sz="3200" baseline="-25000" dirty="0">
                  <a:solidFill>
                    <a:schemeClr val="tx1"/>
                  </a:solidFill>
                </a:rPr>
                <a:t>5</a:t>
              </a:r>
              <a:endParaRPr 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a</a:t>
              </a:r>
              <a:r>
                <a:rPr lang="en-US" sz="3200" baseline="-25000" dirty="0">
                  <a:solidFill>
                    <a:schemeClr val="tx1"/>
                  </a:solidFill>
                </a:rPr>
                <a:t>1</a:t>
              </a:r>
              <a:endParaRPr 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17868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a</a:t>
              </a:r>
              <a:r>
                <a:rPr lang="en-US" sz="3200" baseline="-25000" dirty="0">
                  <a:solidFill>
                    <a:schemeClr val="tx1"/>
                  </a:solidFill>
                </a:rPr>
                <a:t>2</a:t>
              </a:r>
              <a:endParaRPr 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08601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a</a:t>
              </a:r>
              <a:r>
                <a:rPr lang="en-US" sz="3200" baseline="-25000" dirty="0">
                  <a:solidFill>
                    <a:schemeClr val="tx1"/>
                  </a:solidFill>
                </a:rPr>
                <a:t>4</a:t>
              </a:r>
              <a:endParaRPr lang="en-US" baseline="-25000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6771860" y="45524"/>
            <a:ext cx="227357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Slide skipped in class</a:t>
            </a:r>
            <a:endParaRPr lang="en-US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All together now</a:t>
            </a:r>
            <a:r>
              <a:rPr lang="en-US" sz="2800" dirty="0"/>
              <a:t>…</a:t>
            </a:r>
            <a:br>
              <a:rPr lang="en-US" dirty="0"/>
            </a:br>
            <a:r>
              <a:rPr lang="en-US" dirty="0"/>
              <a:t>Expected number of comparisons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is-I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is-I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i="1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e>
                    </m:d>
                  </m:oMath>
                </a14:m>
                <a:endParaRPr lang="en-US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is-I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is-I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[ </m:t>
                                </m:r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] </m:t>
                            </m:r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is-I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is-I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( </m:t>
                                </m:r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is-I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is-I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f>
                              <m:fPr>
                                <m:ctrlPr>
                                  <a:rPr lang="en-US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This is a big nasty sum, but we can do it.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4991100" y="2425700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linearity </a:t>
            </a:r>
            <a:r>
              <a:rPr lang="en-US"/>
              <a:t>of expectation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645150" y="29299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definition of expectation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207000" y="3543300"/>
            <a:ext cx="279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reasoning we just did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991100" y="1748522"/>
            <a:ext cx="3797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the expected number of comparisons throughout the algorithm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748217" y="4947439"/>
            <a:ext cx="1421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7030A0"/>
                </a:solidFill>
              </a:rPr>
              <a:t>Do this sum!</a:t>
            </a:r>
            <a:endParaRPr lang="en-US" dirty="0">
              <a:solidFill>
                <a:srgbClr val="7030A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8164732" y="5384239"/>
            <a:ext cx="783779" cy="1161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4413" y="6442505"/>
            <a:ext cx="3074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Ollie the over-achieving ostrich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  <p:bldP spid="7" grpId="0"/>
      <p:bldP spid="8" grpId="0"/>
      <p:bldP spid="10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Expected number of comparisons</a:t>
            </a:r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926" y="1779548"/>
            <a:ext cx="5533571" cy="9525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596" y="3150438"/>
            <a:ext cx="5098605" cy="105414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543" y="5044332"/>
            <a:ext cx="6353556" cy="132556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45446" y="4439790"/>
            <a:ext cx="572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我们想基于这个式子找一个时间复杂度的上界</a:t>
            </a:r>
            <a:r>
              <a:rPr lang="zh-CN" altLang="en-US" dirty="0"/>
              <a:t>，所以：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5925092" y="3320092"/>
                <a:ext cx="2089996" cy="526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+⋯+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5092" y="3320092"/>
                <a:ext cx="2089996" cy="526298"/>
              </a:xfrm>
              <a:prstGeom prst="rect">
                <a:avLst/>
              </a:prstGeom>
              <a:blipFill rotWithShape="1">
                <a:blip r:embed="rId4"/>
                <a:stretch>
                  <a:fillRect l="-26" t="-59" r="6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742" y="1204770"/>
            <a:ext cx="7801672" cy="548463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r="5053"/>
          <a:stretch>
            <a:fillRect/>
          </a:stretch>
        </p:blipFill>
        <p:spPr>
          <a:xfrm>
            <a:off x="789415" y="168596"/>
            <a:ext cx="1608098" cy="86855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797" y="591285"/>
            <a:ext cx="2885038" cy="12269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2528" y="1985873"/>
            <a:ext cx="4025086" cy="947079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Expected number of comparisons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/>
              <p:cNvSpPr txBox="1"/>
              <p:nvPr/>
            </p:nvSpPr>
            <p:spPr>
              <a:xfrm>
                <a:off x="781050" y="1978025"/>
                <a:ext cx="78867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9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9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is-I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is-I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i="1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e>
                    </m:d>
                  </m:oMath>
                </a14:m>
                <a:endParaRPr lang="en-US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is-I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is-I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[ </m:t>
                                </m:r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] </m:t>
                            </m:r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is-I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is-I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( </m:t>
                                </m:r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is-I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is-I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f>
                              <m:fPr>
                                <m:ctrlPr>
                                  <a:rPr lang="en-US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nary>
                      </m:e>
                    </m:nary>
                  </m:oMath>
                </a14:m>
                <a:endParaRPr lang="en-US" altLang="zh-CN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altLang="zh-CN" b="0" dirty="0">
                  <a:ea typeface="Cambria Math" panose="02040503050406030204" pitchFamily="18" charset="0"/>
                </a:endParaRPr>
              </a:p>
              <a:p>
                <a:r>
                  <a:rPr lang="en-US" altLang="zh-CN" dirty="0">
                    <a:ea typeface="Cambria Math" panose="02040503050406030204" pitchFamily="18" charset="0"/>
                  </a:rPr>
                  <a:t>=O(</a:t>
                </a:r>
                <a:r>
                  <a:rPr lang="en-US" altLang="zh-CN" dirty="0" err="1">
                    <a:ea typeface="Cambria Math" panose="02040503050406030204" pitchFamily="18" charset="0"/>
                  </a:rPr>
                  <a:t>nlogn</a:t>
                </a:r>
                <a:r>
                  <a:rPr lang="en-US" altLang="zh-CN" dirty="0">
                    <a:ea typeface="Cambria Math" panose="02040503050406030204" pitchFamily="18" charset="0"/>
                  </a:rPr>
                  <a:t>)</a:t>
                </a:r>
                <a:endParaRPr lang="en-US" altLang="zh-CN" b="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50" y="1978025"/>
                <a:ext cx="7886700" cy="4351338"/>
              </a:xfrm>
              <a:prstGeom prst="rect">
                <a:avLst/>
              </a:prstGeom>
              <a:blipFill rotWithShape="1">
                <a:blip r:embed="rId1"/>
                <a:stretch>
                  <a:fillRect b="-3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Almost done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r>
              <a:rPr lang="en-US" dirty="0"/>
              <a:t>We saw that </a:t>
            </a:r>
            <a:r>
              <a:rPr lang="en-US" dirty="0">
                <a:solidFill>
                  <a:srgbClr val="C00000"/>
                </a:solidFill>
              </a:rPr>
              <a:t>E[ number of comparisons ] = O(n log(n))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Is that the same as </a:t>
            </a:r>
            <a:r>
              <a:rPr lang="en-US" dirty="0">
                <a:solidFill>
                  <a:schemeClr val="accent4"/>
                </a:solidFill>
              </a:rPr>
              <a:t>E[ running time ]?</a:t>
            </a:r>
            <a:endParaRPr lang="en-US" dirty="0">
              <a:solidFill>
                <a:schemeClr val="accent4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2"/>
          <p:cNvSpPr txBox="1"/>
          <p:nvPr/>
        </p:nvSpPr>
        <p:spPr>
          <a:xfrm>
            <a:off x="3867150" y="3097561"/>
            <a:ext cx="4768851" cy="28574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err="1"/>
              <a:t>QuickSort</a:t>
            </a:r>
            <a:r>
              <a:rPr lang="en-US" sz="2000" dirty="0"/>
              <a:t>(A):</a:t>
            </a:r>
            <a:endParaRPr lang="en-US" sz="2000" dirty="0"/>
          </a:p>
          <a:p>
            <a:pPr lvl="1"/>
            <a:r>
              <a:rPr lang="en-US" sz="1600" b="1" dirty="0"/>
              <a:t>If </a:t>
            </a:r>
            <a:r>
              <a:rPr lang="en-US" sz="1600" dirty="0" err="1"/>
              <a:t>len</a:t>
            </a:r>
            <a:r>
              <a:rPr lang="en-US" sz="1600" dirty="0"/>
              <a:t>(A) &lt;= 1:</a:t>
            </a:r>
            <a:endParaRPr lang="en-US" sz="1600" dirty="0"/>
          </a:p>
          <a:p>
            <a:pPr lvl="2"/>
            <a:r>
              <a:rPr lang="en-US" sz="1600" b="1" dirty="0"/>
              <a:t>return</a:t>
            </a:r>
            <a:r>
              <a:rPr lang="en-US" sz="1600" dirty="0"/>
              <a:t> </a:t>
            </a:r>
            <a:endParaRPr lang="en-US" sz="1600" dirty="0"/>
          </a:p>
          <a:p>
            <a:pPr lvl="1"/>
            <a:r>
              <a:rPr lang="en-US" sz="1600" dirty="0"/>
              <a:t>Pick some x = A[</a:t>
            </a:r>
            <a:r>
              <a:rPr lang="en-US" sz="1600" dirty="0" err="1"/>
              <a:t>i</a:t>
            </a:r>
            <a:r>
              <a:rPr lang="en-US" sz="1600" dirty="0"/>
              <a:t>] at random.  Call this the </a:t>
            </a:r>
            <a:r>
              <a:rPr lang="en-US" sz="1600" dirty="0">
                <a:solidFill>
                  <a:srgbClr val="CF6E6C"/>
                </a:solidFill>
              </a:rPr>
              <a:t>pivot.</a:t>
            </a:r>
            <a:endParaRPr lang="en-US" sz="1600" dirty="0">
              <a:solidFill>
                <a:srgbClr val="CF6E6C"/>
              </a:solidFill>
            </a:endParaRPr>
          </a:p>
          <a:p>
            <a:pPr lvl="1"/>
            <a:r>
              <a:rPr lang="en-US" sz="1600" dirty="0">
                <a:solidFill>
                  <a:schemeClr val="accent4"/>
                </a:solidFill>
              </a:rPr>
              <a:t>PARTITION</a:t>
            </a:r>
            <a:r>
              <a:rPr lang="en-US" sz="1600" dirty="0"/>
              <a:t> the rest of A into: </a:t>
            </a:r>
            <a:endParaRPr lang="en-US" sz="1600" dirty="0"/>
          </a:p>
          <a:p>
            <a:pPr lvl="2"/>
            <a:r>
              <a:rPr lang="en-US" sz="1600" dirty="0">
                <a:solidFill>
                  <a:schemeClr val="accent4"/>
                </a:solidFill>
              </a:rPr>
              <a:t>L (less than x) and </a:t>
            </a:r>
            <a:endParaRPr lang="en-US" sz="1600" dirty="0">
              <a:solidFill>
                <a:schemeClr val="accent4"/>
              </a:solidFill>
            </a:endParaRPr>
          </a:p>
          <a:p>
            <a:pPr lvl="2"/>
            <a:r>
              <a:rPr lang="en-US" sz="1600" dirty="0">
                <a:solidFill>
                  <a:schemeClr val="accent4"/>
                </a:solidFill>
              </a:rPr>
              <a:t>R (greater than x)</a:t>
            </a:r>
            <a:endParaRPr lang="en-US" sz="1600" dirty="0">
              <a:solidFill>
                <a:schemeClr val="accent4"/>
              </a:solidFill>
            </a:endParaRPr>
          </a:p>
          <a:p>
            <a:pPr lvl="1"/>
            <a:r>
              <a:rPr lang="en-US" sz="1600" dirty="0"/>
              <a:t>Replace A with  [L, x, R]  </a:t>
            </a:r>
            <a:r>
              <a:rPr lang="en-US" sz="1600" dirty="0">
                <a:solidFill>
                  <a:schemeClr val="accent4"/>
                </a:solidFill>
              </a:rPr>
              <a:t>(that is, rearrange A in this order)</a:t>
            </a:r>
            <a:endParaRPr lang="en-US" sz="1600" dirty="0">
              <a:solidFill>
                <a:schemeClr val="accent4"/>
              </a:solidFill>
            </a:endParaRPr>
          </a:p>
          <a:p>
            <a:pPr lvl="1"/>
            <a:r>
              <a:rPr lang="en-US" sz="1600" dirty="0" err="1"/>
              <a:t>QuickSort</a:t>
            </a:r>
            <a:r>
              <a:rPr lang="en-US" sz="1600" dirty="0"/>
              <a:t>(L) </a:t>
            </a:r>
            <a:endParaRPr lang="en-US" sz="1600" dirty="0"/>
          </a:p>
          <a:p>
            <a:pPr lvl="1"/>
            <a:r>
              <a:rPr lang="en-US" sz="1600" dirty="0" err="1"/>
              <a:t>QuickSort</a:t>
            </a:r>
            <a:r>
              <a:rPr lang="en-US" sz="1600" dirty="0"/>
              <a:t>(R) </a:t>
            </a:r>
            <a:endParaRPr lang="en-US" sz="1600" dirty="0"/>
          </a:p>
          <a:p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507999" y="3340100"/>
            <a:ext cx="355600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400" dirty="0"/>
              <a:t>In this case, </a:t>
            </a:r>
            <a:r>
              <a:rPr lang="en-US" sz="2400" b="1" dirty="0">
                <a:solidFill>
                  <a:srgbClr val="FF0000"/>
                </a:solidFill>
              </a:rPr>
              <a:t>yes</a:t>
            </a:r>
            <a:r>
              <a:rPr lang="en-US" sz="2400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400" dirty="0"/>
              <a:t>We need to argue that the running time is dominated by the time to do comparisons.</a:t>
            </a:r>
            <a:endParaRPr lang="en-US" sz="2400" dirty="0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400" dirty="0"/>
              <a:t>See lecture notes.</a:t>
            </a:r>
            <a:endParaRPr lang="en-US" sz="24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 uiExpand="1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running time is dominated by the time to do comparisons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fr-FR" altLang="zh-CN" dirty="0" err="1"/>
              <a:t>each</a:t>
            </a:r>
            <a:r>
              <a:rPr lang="fr-FR" altLang="zh-CN" dirty="0"/>
              <a:t> </a:t>
            </a:r>
            <a:r>
              <a:rPr lang="fr-FR" altLang="zh-CN" dirty="0" err="1"/>
              <a:t>recursive</a:t>
            </a:r>
            <a:r>
              <a:rPr lang="fr-FR" altLang="zh-CN" dirty="0"/>
              <a:t> call on an </a:t>
            </a:r>
            <a:r>
              <a:rPr lang="fr-FR" altLang="zh-CN" dirty="0" err="1"/>
              <a:t>array</a:t>
            </a:r>
            <a:r>
              <a:rPr lang="fr-FR" altLang="zh-CN" dirty="0"/>
              <a:t> of size </a:t>
            </a:r>
            <a:r>
              <a:rPr lang="fr-FR" altLang="zh-CN" dirty="0">
                <a:solidFill>
                  <a:srgbClr val="00B050"/>
                </a:solidFill>
              </a:rPr>
              <a:t>k</a:t>
            </a:r>
            <a:r>
              <a:rPr lang="fr-FR" altLang="zh-CN" dirty="0"/>
              <a:t>, the </a:t>
            </a:r>
            <a:r>
              <a:rPr lang="fr-FR" altLang="zh-CN" dirty="0" err="1"/>
              <a:t>algorithm</a:t>
            </a:r>
            <a:r>
              <a:rPr lang="fr-FR" altLang="zh-CN" dirty="0"/>
              <a:t> </a:t>
            </a:r>
            <a:r>
              <a:rPr lang="fr-FR" altLang="zh-CN" dirty="0" err="1"/>
              <a:t>performs</a:t>
            </a:r>
            <a:r>
              <a:rPr lang="fr-FR" altLang="zh-CN" dirty="0"/>
              <a:t> </a:t>
            </a:r>
            <a:r>
              <a:rPr lang="fr-FR" altLang="zh-CN" dirty="0">
                <a:solidFill>
                  <a:srgbClr val="00B050"/>
                </a:solidFill>
              </a:rPr>
              <a:t>k − 1 </a:t>
            </a:r>
            <a:r>
              <a:rPr lang="fr-FR" altLang="zh-CN" dirty="0" err="1">
                <a:solidFill>
                  <a:srgbClr val="00B050"/>
                </a:solidFill>
              </a:rPr>
              <a:t>comparisons</a:t>
            </a:r>
            <a:r>
              <a:rPr lang="fr-FR" altLang="zh-CN" dirty="0">
                <a:solidFill>
                  <a:srgbClr val="00B050"/>
                </a:solidFill>
              </a:rPr>
              <a:t> in </a:t>
            </a:r>
            <a:r>
              <a:rPr lang="fr-FR" altLang="zh-CN" dirty="0" err="1">
                <a:solidFill>
                  <a:srgbClr val="00B050"/>
                </a:solidFill>
              </a:rPr>
              <a:t>order</a:t>
            </a:r>
            <a:r>
              <a:rPr lang="fr-FR" altLang="zh-CN" dirty="0">
                <a:solidFill>
                  <a:srgbClr val="00B050"/>
                </a:solidFill>
              </a:rPr>
              <a:t> to split the </a:t>
            </a:r>
            <a:r>
              <a:rPr lang="fr-FR" altLang="zh-CN" dirty="0" err="1">
                <a:solidFill>
                  <a:srgbClr val="00B050"/>
                </a:solidFill>
              </a:rPr>
              <a:t>array</a:t>
            </a:r>
            <a:r>
              <a:rPr lang="fr-FR" altLang="zh-CN" dirty="0"/>
              <a:t>, and the </a:t>
            </a:r>
            <a:r>
              <a:rPr lang="fr-FR" altLang="zh-CN" dirty="0" err="1"/>
              <a:t>amount</a:t>
            </a:r>
            <a:r>
              <a:rPr lang="fr-FR" altLang="zh-CN" dirty="0"/>
              <a:t> of </a:t>
            </a:r>
            <a:r>
              <a:rPr lang="fr-FR" altLang="zh-CN" dirty="0" err="1"/>
              <a:t>work</a:t>
            </a:r>
            <a:r>
              <a:rPr lang="fr-FR" altLang="zh-CN" dirty="0"/>
              <a:t> </a:t>
            </a:r>
            <a:r>
              <a:rPr lang="fr-FR" altLang="zh-CN" dirty="0" err="1"/>
              <a:t>done</a:t>
            </a:r>
            <a:r>
              <a:rPr lang="fr-FR" altLang="zh-CN" dirty="0"/>
              <a:t> </a:t>
            </a:r>
            <a:r>
              <a:rPr lang="fr-FR" altLang="zh-CN" dirty="0" err="1"/>
              <a:t>is</a:t>
            </a:r>
            <a:r>
              <a:rPr lang="fr-FR" altLang="zh-CN" dirty="0"/>
              <a:t> O(k).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>
                <a:solidFill>
                  <a:srgbClr val="00B050"/>
                </a:solidFill>
              </a:rPr>
              <a:t>These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comparisions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are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counted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in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C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endParaRPr lang="fr-FR" altLang="zh-CN" dirty="0"/>
          </a:p>
          <a:p>
            <a:r>
              <a:rPr lang="fr-FR" altLang="zh-CN" dirty="0" err="1"/>
              <a:t>Quicksort</a:t>
            </a:r>
            <a:r>
              <a:rPr lang="fr-FR" altLang="zh-CN" dirty="0"/>
              <a:t> </a:t>
            </a:r>
            <a:r>
              <a:rPr lang="fr-FR" altLang="zh-CN" dirty="0" err="1"/>
              <a:t>will</a:t>
            </a:r>
            <a:r>
              <a:rPr lang="fr-FR" altLang="zh-CN" dirty="0"/>
              <a:t> </a:t>
            </a:r>
            <a:r>
              <a:rPr lang="fr-FR" altLang="zh-CN" dirty="0" err="1"/>
              <a:t>be</a:t>
            </a:r>
            <a:r>
              <a:rPr lang="fr-FR" altLang="zh-CN" dirty="0"/>
              <a:t> </a:t>
            </a:r>
            <a:r>
              <a:rPr lang="fr-FR" altLang="zh-CN" dirty="0" err="1"/>
              <a:t>called</a:t>
            </a:r>
            <a:r>
              <a:rPr lang="fr-FR" altLang="zh-CN" dirty="0"/>
              <a:t> on single-</a:t>
            </a:r>
            <a:r>
              <a:rPr lang="fr-FR" altLang="zh-CN" dirty="0" err="1"/>
              <a:t>element</a:t>
            </a:r>
            <a:r>
              <a:rPr lang="fr-FR" altLang="zh-CN" dirty="0"/>
              <a:t> </a:t>
            </a:r>
            <a:r>
              <a:rPr lang="fr-FR" altLang="zh-CN" dirty="0" err="1"/>
              <a:t>arrays</a:t>
            </a:r>
            <a:r>
              <a:rPr lang="fr-FR" altLang="zh-CN" dirty="0"/>
              <a:t> at </a:t>
            </a:r>
            <a:r>
              <a:rPr lang="fr-FR" altLang="zh-CN" dirty="0" err="1"/>
              <a:t>most</a:t>
            </a:r>
            <a:r>
              <a:rPr lang="fr-FR" altLang="zh-CN" dirty="0"/>
              <a:t> once for </a:t>
            </a:r>
            <a:r>
              <a:rPr lang="fr-FR" altLang="zh-CN" dirty="0" err="1"/>
              <a:t>each</a:t>
            </a:r>
            <a:r>
              <a:rPr lang="fr-FR" altLang="zh-CN" dirty="0"/>
              <a:t> </a:t>
            </a:r>
            <a:r>
              <a:rPr lang="fr-FR" altLang="zh-CN" dirty="0" err="1"/>
              <a:t>element</a:t>
            </a:r>
            <a:r>
              <a:rPr lang="fr-FR" altLang="zh-CN" dirty="0"/>
              <a:t> in the original </a:t>
            </a:r>
            <a:r>
              <a:rPr lang="fr-FR" altLang="zh-CN" dirty="0" err="1"/>
              <a:t>array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S</a:t>
            </a:r>
            <a:r>
              <a:rPr lang="fr-FR" altLang="zh-CN" dirty="0"/>
              <a:t>o the total running time of </a:t>
            </a:r>
            <a:r>
              <a:rPr lang="fr-FR" altLang="zh-CN" dirty="0" err="1"/>
              <a:t>Quicksort</a:t>
            </a:r>
            <a:r>
              <a:rPr lang="fr-FR" altLang="zh-CN" dirty="0"/>
              <a:t> </a:t>
            </a:r>
            <a:r>
              <a:rPr lang="fr-FR" altLang="zh-CN" dirty="0" err="1"/>
              <a:t>is</a:t>
            </a:r>
            <a:r>
              <a:rPr lang="fr-FR" altLang="zh-CN" dirty="0"/>
              <a:t> </a:t>
            </a:r>
            <a:r>
              <a:rPr lang="fr-FR" altLang="zh-CN" dirty="0">
                <a:solidFill>
                  <a:srgbClr val="C00000"/>
                </a:solidFill>
              </a:rPr>
              <a:t>O(C + n)</a:t>
            </a:r>
            <a:r>
              <a:rPr lang="en-US" altLang="zh-CN" dirty="0">
                <a:solidFill>
                  <a:srgbClr val="C00000"/>
                </a:solidFill>
              </a:rPr>
              <a:t>.</a:t>
            </a:r>
            <a:endParaRPr lang="fr-FR" altLang="zh-CN" dirty="0">
              <a:solidFill>
                <a:srgbClr val="C00000"/>
              </a:solidFill>
            </a:endParaRPr>
          </a:p>
          <a:p>
            <a:r>
              <a:rPr lang="fr-FR" altLang="zh-CN" dirty="0"/>
              <a:t>In conclusion, the </a:t>
            </a:r>
            <a:r>
              <a:rPr lang="fr-FR" altLang="zh-CN" dirty="0" err="1"/>
              <a:t>expected</a:t>
            </a:r>
            <a:r>
              <a:rPr lang="fr-FR" altLang="zh-CN" dirty="0"/>
              <a:t> running time of </a:t>
            </a:r>
            <a:r>
              <a:rPr lang="fr-FR" altLang="zh-CN" dirty="0" err="1"/>
              <a:t>Quicksort</a:t>
            </a:r>
            <a:r>
              <a:rPr lang="fr-FR" altLang="zh-CN" dirty="0"/>
              <a:t> on </a:t>
            </a:r>
            <a:r>
              <a:rPr lang="fr-FR" altLang="zh-CN" dirty="0" err="1"/>
              <a:t>worst</a:t>
            </a:r>
            <a:r>
              <a:rPr lang="fr-FR" altLang="zh-CN" dirty="0"/>
              <a:t>-case input </a:t>
            </a:r>
            <a:r>
              <a:rPr lang="fr-FR" altLang="zh-CN" dirty="0" err="1"/>
              <a:t>is</a:t>
            </a:r>
            <a:r>
              <a:rPr lang="fr-FR" altLang="zh-CN" dirty="0"/>
              <a:t> </a:t>
            </a:r>
            <a:r>
              <a:rPr lang="fr-FR" altLang="zh-CN" b="1" dirty="0">
                <a:solidFill>
                  <a:srgbClr val="C00000"/>
                </a:solidFill>
              </a:rPr>
              <a:t>O(n log n)</a:t>
            </a:r>
            <a:endParaRPr lang="fr-FR" altLang="zh-CN" b="1" dirty="0">
              <a:solidFill>
                <a:srgbClr val="C00000"/>
              </a:solidFill>
            </a:endParaRPr>
          </a:p>
          <a:p>
            <a:endParaRPr lang="fr-FR" altLang="zh-CN" dirty="0"/>
          </a:p>
          <a:p>
            <a:endParaRPr lang="fr-FR" altLang="zh-CN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77" y="93278"/>
            <a:ext cx="8119934" cy="1325563"/>
          </a:xfrm>
        </p:spPr>
        <p:txBody>
          <a:bodyPr/>
          <a:lstStyle/>
          <a:p>
            <a:r>
              <a:rPr lang="en-US" dirty="0"/>
              <a:t>Worst-case running time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479" y="1317633"/>
            <a:ext cx="7886700" cy="2479675"/>
          </a:xfrm>
        </p:spPr>
        <p:txBody>
          <a:bodyPr/>
          <a:lstStyle/>
          <a:p>
            <a:r>
              <a:rPr lang="en-US" dirty="0"/>
              <a:t>Suppose that an adversary is choosing the “random” pivots for you.</a:t>
            </a:r>
            <a:endParaRPr lang="en-US" dirty="0"/>
          </a:p>
          <a:p>
            <a:r>
              <a:rPr lang="en-US" dirty="0"/>
              <a:t>Then the running time might be O(n</a:t>
            </a:r>
            <a:r>
              <a:rPr lang="en-US" baseline="30000" dirty="0"/>
              <a:t>2</a:t>
            </a:r>
            <a:r>
              <a:rPr lang="en-US" dirty="0"/>
              <a:t>)</a:t>
            </a:r>
            <a:endParaRPr lang="en-US" dirty="0"/>
          </a:p>
          <a:p>
            <a:pPr lvl="1"/>
            <a:r>
              <a:rPr lang="en-US" dirty="0">
                <a:solidFill>
                  <a:schemeClr val="accent4"/>
                </a:solidFill>
              </a:rPr>
              <a:t>E.g., they’d choose to implement </a:t>
            </a:r>
            <a:r>
              <a:rPr lang="en-US" dirty="0" err="1">
                <a:solidFill>
                  <a:schemeClr val="accent4"/>
                </a:solidFill>
              </a:rPr>
              <a:t>SlowSort</a:t>
            </a:r>
            <a:endParaRPr lang="en-US" dirty="0">
              <a:solidFill>
                <a:schemeClr val="accent4"/>
              </a:solidFill>
            </a:endParaRPr>
          </a:p>
          <a:p>
            <a:pPr lvl="1"/>
            <a:r>
              <a:rPr lang="en-US" dirty="0">
                <a:solidFill>
                  <a:srgbClr val="CF6E6C"/>
                </a:solidFill>
              </a:rPr>
              <a:t>In practice, this doesn’t usually happen.</a:t>
            </a:r>
            <a:endParaRPr lang="en-US" dirty="0">
              <a:solidFill>
                <a:srgbClr val="CF6E6C"/>
              </a:solidFill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 flipH="1">
            <a:off x="6020744" y="4580742"/>
            <a:ext cx="2981833" cy="22772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8028122" y="3281470"/>
            <a:ext cx="974455" cy="1299272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总结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589319"/>
            <a:ext cx="7886700" cy="4351338"/>
          </a:xfrm>
        </p:spPr>
        <p:txBody>
          <a:bodyPr/>
          <a:lstStyle/>
          <a:p>
            <a:r>
              <a:rPr lang="en-US" altLang="zh-CN" dirty="0"/>
              <a:t>D-Select:</a:t>
            </a:r>
            <a:r>
              <a:rPr lang="zh-CN" altLang="en-US" dirty="0"/>
              <a:t> 确定性算法</a:t>
            </a:r>
            <a:endParaRPr lang="en-US" altLang="zh-CN" dirty="0"/>
          </a:p>
          <a:p>
            <a:pPr lvl="1"/>
            <a:r>
              <a:rPr lang="en-US" dirty="0" err="1"/>
              <a:t>不对称划分的分治递归算法的渐进时间复杂度分析</a:t>
            </a:r>
            <a:r>
              <a:rPr lang="zh-CN" altLang="en-US" dirty="0"/>
              <a:t>，</a:t>
            </a:r>
            <a:r>
              <a:rPr lang="zh-CN" altLang="en-US" b="1" dirty="0">
                <a:solidFill>
                  <a:srgbClr val="00B050"/>
                </a:solidFill>
              </a:rPr>
              <a:t>用替换法分析证明。</a:t>
            </a:r>
            <a:endParaRPr lang="en-US" altLang="zh-CN" b="1" dirty="0">
              <a:solidFill>
                <a:srgbClr val="00B050"/>
              </a:solidFill>
            </a:endParaRP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 err="1"/>
              <a:t>QuickSort</a:t>
            </a:r>
            <a:r>
              <a:rPr lang="en-US" altLang="zh-CN" dirty="0"/>
              <a:t>:</a:t>
            </a:r>
            <a:r>
              <a:rPr lang="zh-CN" altLang="en-US" dirty="0"/>
              <a:t> 随机算法</a:t>
            </a:r>
            <a:endParaRPr lang="en-US" altLang="zh-CN" dirty="0"/>
          </a:p>
          <a:p>
            <a:pPr lvl="1"/>
            <a:r>
              <a:rPr lang="zh-CN" altLang="en-US" dirty="0"/>
              <a:t>随机算法的</a:t>
            </a:r>
            <a:r>
              <a:rPr lang="zh-CN" altLang="en-US" b="1" dirty="0">
                <a:solidFill>
                  <a:srgbClr val="00B050"/>
                </a:solidFill>
              </a:rPr>
              <a:t>期望时间复杂度分析，并非期望场景的时间复杂度。</a:t>
            </a:r>
            <a:endParaRPr lang="en-US" altLang="zh-CN" dirty="0"/>
          </a:p>
          <a:p>
            <a:pPr lvl="1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4"/>
              <p:cNvSpPr/>
              <p:nvPr/>
            </p:nvSpPr>
            <p:spPr>
              <a:xfrm>
                <a:off x="1234809" y="2924422"/>
                <a:ext cx="4288546" cy="7916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US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d>
                      <m:r>
                        <a:rPr lang="en-US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4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809" y="2924422"/>
                <a:ext cx="4288546" cy="791627"/>
              </a:xfrm>
              <a:prstGeom prst="rect">
                <a:avLst/>
              </a:prstGeom>
              <a:blipFill rotWithShape="1">
                <a:blip r:embed="rId1"/>
                <a:stretch>
                  <a:fillRect l="-9" t="-31" r="3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77056" y="5246361"/>
                <a:ext cx="4572000" cy="11298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is-IS" altLang="zh-CN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4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is-IS" altLang="zh-CN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CN" sz="240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altLang="zh-CN" sz="2400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sz="2400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56" y="5246361"/>
                <a:ext cx="4572000" cy="1129861"/>
              </a:xfrm>
              <a:prstGeom prst="rect">
                <a:avLst/>
              </a:prstGeom>
              <a:blipFill rotWithShape="1">
                <a:blip r:embed="rId2"/>
                <a:stretch>
                  <a:fillRect l="-5" t="-55" r="5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63599"/>
          </a:xfrm>
        </p:spPr>
        <p:txBody>
          <a:bodyPr>
            <a:normAutofit/>
          </a:bodyPr>
          <a:lstStyle/>
          <a:p>
            <a:r>
              <a:rPr lang="en-US" dirty="0" err="1"/>
              <a:t>算法设计分析与算法实现关系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8429"/>
            <a:ext cx="8143874" cy="5792391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希望大家提升到算法的设计、分析、理论性证明的“术”的层面。</a:t>
            </a:r>
            <a:endParaRPr lang="en-US" dirty="0"/>
          </a:p>
          <a:p>
            <a:r>
              <a:rPr lang="en-US" sz="3200" dirty="0" err="1"/>
              <a:t>实现的</a:t>
            </a:r>
            <a:r>
              <a:rPr lang="zh-CN" altLang="en-US" sz="3200" dirty="0"/>
              <a:t>“技”</a:t>
            </a:r>
            <a:r>
              <a:rPr lang="en-US" sz="3200" dirty="0" err="1"/>
              <a:t>也很重要</a:t>
            </a:r>
            <a:r>
              <a:rPr lang="zh-CN" altLang="en-US" sz="3200" dirty="0"/>
              <a:t>，大家需要继续锻炼数据结构、程序设计的基础，提高实现能力。</a:t>
            </a:r>
            <a:endParaRPr lang="en-US" altLang="zh-CN" sz="3200" dirty="0"/>
          </a:p>
          <a:p>
            <a:r>
              <a:rPr lang="en-US" sz="3200" dirty="0" err="1"/>
              <a:t>在以后的实际工作</a:t>
            </a:r>
            <a:r>
              <a:rPr lang="zh-CN" altLang="en-US" sz="3200" dirty="0"/>
              <a:t>科研中，可以广泛使用</a:t>
            </a:r>
            <a:r>
              <a:rPr lang="en-US" altLang="zh-CN" sz="3200" dirty="0"/>
              <a:t>STL</a:t>
            </a:r>
            <a:r>
              <a:rPr lang="zh-CN" altLang="en-US" sz="3200" dirty="0"/>
              <a:t>等基础数据结构和基础算法，所以实际工作中对于求解复杂问题的算法设计与分析是更为重要的。</a:t>
            </a:r>
            <a:endParaRPr lang="en-US" altLang="zh-CN" sz="3200" dirty="0"/>
          </a:p>
          <a:p>
            <a:r>
              <a:rPr lang="zh-CN" altLang="en-US" sz="3200" b="1" dirty="0"/>
              <a:t>但是基础是重要的，不能只是用，知道基础的东西是怎么来的，才能创造。</a:t>
            </a:r>
            <a:endParaRPr lang="en-US" sz="3200" b="1" dirty="0"/>
          </a:p>
          <a:p>
            <a:endParaRPr lang="en-US" sz="32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942F-BF72-B047-B677-10DA8C95790A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黄绿色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24126</Words>
  <Application>WPS 演示</Application>
  <PresentationFormat>全屏显示(4:3)</PresentationFormat>
  <Paragraphs>2240</Paragraphs>
  <Slides>82</Slides>
  <Notes>2</Notes>
  <HiddenSlides>1</HiddenSlides>
  <MMClips>0</MMClips>
  <ScaleCrop>false</ScaleCrop>
  <HeadingPairs>
    <vt:vector size="6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82</vt:i4>
      </vt:variant>
    </vt:vector>
  </HeadingPairs>
  <TitlesOfParts>
    <vt:vector size="113" baseType="lpstr">
      <vt:lpstr>Arial</vt:lpstr>
      <vt:lpstr>宋体</vt:lpstr>
      <vt:lpstr>Wingdings</vt:lpstr>
      <vt:lpstr>Cambria Math</vt:lpstr>
      <vt:lpstr>Kingsoft Math</vt:lpstr>
      <vt:lpstr>Athelas</vt:lpstr>
      <vt:lpstr>Calibri Light</vt:lpstr>
      <vt:lpstr>Helvetica Neue</vt:lpstr>
      <vt:lpstr>宋体</vt:lpstr>
      <vt:lpstr>汉仪书宋二KW</vt:lpstr>
      <vt:lpstr>等线</vt:lpstr>
      <vt:lpstr>汉仪中等线KW</vt:lpstr>
      <vt:lpstr>Calibri</vt:lpstr>
      <vt:lpstr>微软雅黑</vt:lpstr>
      <vt:lpstr>汉仪旗黑</vt:lpstr>
      <vt:lpstr>Arial Unicode MS</vt:lpstr>
      <vt:lpstr>等线 Light</vt:lpstr>
      <vt:lpstr>DengXian</vt:lpstr>
      <vt:lpstr>Courier</vt:lpstr>
      <vt:lpstr>苹方-简</vt:lpstr>
      <vt:lpstr>Helvetica</vt:lpstr>
      <vt:lpstr>Big Caslon Medium</vt:lpstr>
      <vt:lpstr>PingFang SC</vt:lpstr>
      <vt:lpstr>Bernard MT Condensed</vt:lpstr>
      <vt:lpstr>Wingdings</vt:lpstr>
      <vt:lpstr>Britannic Bold</vt:lpstr>
      <vt:lpstr>Big Caslon Medium</vt:lpstr>
      <vt:lpstr>Wingdings</vt:lpstr>
      <vt:lpstr>DejaVu Math TeX Gyre</vt:lpstr>
      <vt:lpstr>1_Office Theme</vt:lpstr>
      <vt:lpstr>Office 主题​​</vt:lpstr>
      <vt:lpstr>第三讲</vt:lpstr>
      <vt:lpstr>主要内容</vt:lpstr>
      <vt:lpstr>The master theorem</vt:lpstr>
      <vt:lpstr>The Substitution Method</vt:lpstr>
      <vt:lpstr>The k-SELECT problem from your pre-lecture exercise</vt:lpstr>
      <vt:lpstr>On your pre-lecture exercise… An O(nlog(n))-time algorithm</vt:lpstr>
      <vt:lpstr>Goal: An O(n)-time algorithm</vt:lpstr>
      <vt:lpstr>Also on your pre-lecture exercise How about SELECT(A,2)?</vt:lpstr>
      <vt:lpstr>SELECT(A, n/2) aka MEDIAN(A)?</vt:lpstr>
      <vt:lpstr>Idea: divide and conquer!</vt:lpstr>
      <vt:lpstr>Idea: divide and conquer!</vt:lpstr>
      <vt:lpstr>Idea continued…</vt:lpstr>
      <vt:lpstr>Pseudocode</vt:lpstr>
      <vt:lpstr>Does it work?</vt:lpstr>
      <vt:lpstr>证明Select(A,k)是正确的</vt:lpstr>
      <vt:lpstr>What is the running time? Assuming we pick the pivot in time O(n)…</vt:lpstr>
      <vt:lpstr>The ideal pivot</vt:lpstr>
      <vt:lpstr>Random Select: RSelect(A, i) </vt:lpstr>
      <vt:lpstr>The worst running time of RSelect</vt:lpstr>
      <vt:lpstr>The worst running time of RSelect</vt:lpstr>
      <vt:lpstr>The distinction matters!</vt:lpstr>
      <vt:lpstr>How do we pick a good pivot?</vt:lpstr>
      <vt:lpstr>主要内容</vt:lpstr>
      <vt:lpstr>D-Select: How do we pick a good pivot?</vt:lpstr>
      <vt:lpstr>Approach</vt:lpstr>
      <vt:lpstr>How do we pick our ideal pivot?</vt:lpstr>
      <vt:lpstr>How about a good enough pivot?</vt:lpstr>
      <vt:lpstr>A good enough pivot</vt:lpstr>
      <vt:lpstr>Goal</vt:lpstr>
      <vt:lpstr>基于近似中间数的pivot选择</vt:lpstr>
      <vt:lpstr>How to pick the pivot </vt:lpstr>
      <vt:lpstr>CLAIM: this works divides the array approximately in half</vt:lpstr>
      <vt:lpstr>CLAIM: this works divides the array approximately in half</vt:lpstr>
      <vt:lpstr>实验检测 and </vt:lpstr>
      <vt:lpstr>How about the running time?</vt:lpstr>
      <vt:lpstr>Pseudocode</vt:lpstr>
      <vt:lpstr>How about the running time?</vt:lpstr>
      <vt:lpstr>This sounds like a job for…</vt:lpstr>
      <vt:lpstr>When the last term has a big-Oh</vt:lpstr>
      <vt:lpstr>Substitution method</vt:lpstr>
      <vt:lpstr>Recap of approach</vt:lpstr>
      <vt:lpstr>分析思考</vt:lpstr>
      <vt:lpstr>T(n) ≤ T(n/5) + T(7n/10) + cn 究竟是怎么来的?</vt:lpstr>
      <vt:lpstr>Proof by picture</vt:lpstr>
      <vt:lpstr>Proof by picture </vt:lpstr>
      <vt:lpstr>Proof by picture </vt:lpstr>
      <vt:lpstr>Proof by picture </vt:lpstr>
      <vt:lpstr>Proof by picture </vt:lpstr>
      <vt:lpstr>Proof by picture</vt:lpstr>
      <vt:lpstr>Proof by picture</vt:lpstr>
      <vt:lpstr>Proof by picture</vt:lpstr>
      <vt:lpstr>That was one part of the lemma</vt:lpstr>
      <vt:lpstr>思考题</vt:lpstr>
      <vt:lpstr>我们总结一下</vt:lpstr>
      <vt:lpstr>In practice?</vt:lpstr>
      <vt:lpstr>主要内容</vt:lpstr>
      <vt:lpstr>Random Select: RSelect(A, i) </vt:lpstr>
      <vt:lpstr>a better explained randomized algorithm:  QuickSort</vt:lpstr>
      <vt:lpstr>Quicksort</vt:lpstr>
      <vt:lpstr>PseudoPseudoCode  for what we just saw</vt:lpstr>
      <vt:lpstr>Running time?</vt:lpstr>
      <vt:lpstr>The expected running time of QuickSort is O(nlog(n)).</vt:lpstr>
      <vt:lpstr>Red flag</vt:lpstr>
      <vt:lpstr>SlowSort的期望运行时间仍然是 O(nlog(n)).</vt:lpstr>
      <vt:lpstr>哪里错了呢？</vt:lpstr>
      <vt:lpstr>所以</vt:lpstr>
      <vt:lpstr>Example of recursive calls</vt:lpstr>
      <vt:lpstr>How long does this take to run?</vt:lpstr>
      <vt:lpstr>Each pair of items is compared either 0 or 1 times.  Which is it?</vt:lpstr>
      <vt:lpstr>比较次数的统计分析</vt:lpstr>
      <vt:lpstr>Counting comparisons</vt:lpstr>
      <vt:lpstr>Counting comparisons</vt:lpstr>
      <vt:lpstr>Aside: Why can we assume that the elements of the array are {1,2,..,n}?</vt:lpstr>
      <vt:lpstr>All together now… Expected number of comparisons</vt:lpstr>
      <vt:lpstr>Expected number of comparisons</vt:lpstr>
      <vt:lpstr>PowerPoint 演示文稿</vt:lpstr>
      <vt:lpstr>Expected number of comparisons</vt:lpstr>
      <vt:lpstr>Almost done</vt:lpstr>
      <vt:lpstr>The running time is dominated by the time to do comparisons</vt:lpstr>
      <vt:lpstr>Worst-case running time </vt:lpstr>
      <vt:lpstr>总结</vt:lpstr>
      <vt:lpstr>算法设计分析与算法实现关系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</dc:title>
  <dc:creator>Mary Katherine Wootters</dc:creator>
  <cp:lastModifiedBy>王永才</cp:lastModifiedBy>
  <cp:revision>193</cp:revision>
  <cp:lastPrinted>2025-03-03T05:09:21Z</cp:lastPrinted>
  <dcterms:created xsi:type="dcterms:W3CDTF">2025-03-03T05:09:21Z</dcterms:created>
  <dcterms:modified xsi:type="dcterms:W3CDTF">2025-03-03T05:09:21Z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992ED332F0C7279B8039C567FFE33171_42</vt:lpwstr>
  </property>
  <property fmtid="{D5CDD505-2E9C-101B-9397-08002B2CF9AE}" pid="3" name="KSOProductBuildVer">
    <vt:lpwstr>2052-6.13.2.8918</vt:lpwstr>
  </property>
</Properties>
</file>