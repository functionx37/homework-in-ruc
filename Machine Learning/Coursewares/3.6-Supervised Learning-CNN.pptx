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80"/>
  </p:notesMasterIdLst>
  <p:handoutMasterIdLst>
    <p:handoutMasterId r:id="rId81"/>
  </p:handoutMasterIdLst>
  <p:sldIdLst>
    <p:sldId id="11265" r:id="rId2"/>
    <p:sldId id="894" r:id="rId3"/>
    <p:sldId id="11267" r:id="rId4"/>
    <p:sldId id="1414" r:id="rId5"/>
    <p:sldId id="1415" r:id="rId6"/>
    <p:sldId id="1417" r:id="rId7"/>
    <p:sldId id="1418" r:id="rId8"/>
    <p:sldId id="1419" r:id="rId9"/>
    <p:sldId id="1437" r:id="rId10"/>
    <p:sldId id="1438" r:id="rId11"/>
    <p:sldId id="1439" r:id="rId12"/>
    <p:sldId id="1440" r:id="rId13"/>
    <p:sldId id="898" r:id="rId14"/>
    <p:sldId id="1441" r:id="rId15"/>
    <p:sldId id="1484" r:id="rId16"/>
    <p:sldId id="1442" r:id="rId17"/>
    <p:sldId id="1443" r:id="rId18"/>
    <p:sldId id="1444" r:id="rId19"/>
    <p:sldId id="1445" r:id="rId20"/>
    <p:sldId id="935" r:id="rId21"/>
    <p:sldId id="911" r:id="rId22"/>
    <p:sldId id="934" r:id="rId23"/>
    <p:sldId id="1486" r:id="rId24"/>
    <p:sldId id="1485" r:id="rId25"/>
    <p:sldId id="11263" r:id="rId26"/>
    <p:sldId id="11178" r:id="rId27"/>
    <p:sldId id="11179" r:id="rId28"/>
    <p:sldId id="11180" r:id="rId29"/>
    <p:sldId id="11181" r:id="rId30"/>
    <p:sldId id="11182" r:id="rId31"/>
    <p:sldId id="11183" r:id="rId32"/>
    <p:sldId id="11184" r:id="rId33"/>
    <p:sldId id="11264" r:id="rId34"/>
    <p:sldId id="11185" r:id="rId35"/>
    <p:sldId id="11186" r:id="rId36"/>
    <p:sldId id="11187" r:id="rId37"/>
    <p:sldId id="11189" r:id="rId38"/>
    <p:sldId id="11190" r:id="rId39"/>
    <p:sldId id="11191" r:id="rId40"/>
    <p:sldId id="11192" r:id="rId41"/>
    <p:sldId id="11193" r:id="rId42"/>
    <p:sldId id="11194" r:id="rId43"/>
    <p:sldId id="11195" r:id="rId44"/>
    <p:sldId id="11196" r:id="rId45"/>
    <p:sldId id="11197" r:id="rId46"/>
    <p:sldId id="11198" r:id="rId47"/>
    <p:sldId id="11199" r:id="rId48"/>
    <p:sldId id="11200" r:id="rId49"/>
    <p:sldId id="11201" r:id="rId50"/>
    <p:sldId id="11202" r:id="rId51"/>
    <p:sldId id="11203" r:id="rId52"/>
    <p:sldId id="11204" r:id="rId53"/>
    <p:sldId id="11217" r:id="rId54"/>
    <p:sldId id="11219" r:id="rId55"/>
    <p:sldId id="11220" r:id="rId56"/>
    <p:sldId id="11218" r:id="rId57"/>
    <p:sldId id="11205" r:id="rId58"/>
    <p:sldId id="11206" r:id="rId59"/>
    <p:sldId id="11211" r:id="rId60"/>
    <p:sldId id="11212" r:id="rId61"/>
    <p:sldId id="11208" r:id="rId62"/>
    <p:sldId id="11209" r:id="rId63"/>
    <p:sldId id="1446" r:id="rId64"/>
    <p:sldId id="1487" r:id="rId65"/>
    <p:sldId id="900" r:id="rId66"/>
    <p:sldId id="11268" r:id="rId67"/>
    <p:sldId id="1447" r:id="rId68"/>
    <p:sldId id="1448" r:id="rId69"/>
    <p:sldId id="1449" r:id="rId70"/>
    <p:sldId id="1450" r:id="rId71"/>
    <p:sldId id="1451" r:id="rId72"/>
    <p:sldId id="1452" r:id="rId73"/>
    <p:sldId id="1453" r:id="rId74"/>
    <p:sldId id="1454" r:id="rId75"/>
    <p:sldId id="1455" r:id="rId76"/>
    <p:sldId id="1434" r:id="rId77"/>
    <p:sldId id="11274" r:id="rId78"/>
    <p:sldId id="11275" r:id="rId79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3300"/>
    <a:srgbClr val="00CE98"/>
    <a:srgbClr val="FFFF00"/>
    <a:srgbClr val="FAE2F6"/>
    <a:srgbClr val="F6E6EA"/>
    <a:srgbClr val="170981"/>
    <a:srgbClr val="121328"/>
    <a:srgbClr val="8FF9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38291" autoAdjust="0"/>
    <p:restoredTop sz="94620" autoAdjust="0"/>
  </p:normalViewPr>
  <p:slideViewPr>
    <p:cSldViewPr>
      <p:cViewPr varScale="1">
        <p:scale>
          <a:sx n="71" d="100"/>
          <a:sy n="71" d="100"/>
        </p:scale>
        <p:origin x="184" y="13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8056"/>
    </p:cViewPr>
  </p:sorterViewPr>
  <p:notesViewPr>
    <p:cSldViewPr>
      <p:cViewPr varScale="1">
        <p:scale>
          <a:sx n="38" d="100"/>
          <a:sy n="38" d="100"/>
        </p:scale>
        <p:origin x="-1530" y="-72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39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39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05B5182-7205-437C-965A-ABBFE97C0E5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2.84789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0-04-11T15:02:37.9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5795 939 0,'-14'0'94,"-12"0"15,0 0-62,12 0-31,1 27 0,13-14 30,-13 0-30,13 14 15,-13-14-31,13 0 32,-27 14-17,14-27 1,0 13-1,0 0 1,13 0 0,-14 0-1,-25 27 1,39-27 0,0 1-1,0-1 1,-14 0-1,14 27 1,0-27 0,0 0 15,0 0 0,0 27 0,0-27-15,14 1 0,12-1-1,-13 0 1,1-13 0,-1 13-1,0 1 1,27 12-1,-27-26 1,0 0 31,0 0-16,1 0 125,25 0-109,-26 0 125,1 0-172,-1 0 31,13 0 16,1 0-15,-14 0-17,0 0 63,14 0 32,-14 0-95,27 13 17,-14-13 14,1 0-30,-14 13-16,0-13 47,14 40-16,-1-40 94,-13-13-109,0 0 15,1-1-15,12 1 15,1 0-15,-27 0 15,0-14 0,0 1-15,0 13-1,0-1 1,0 1 0,0-27-1,0 27 1,0 0-1,0 0 1,0-27 0,0 14-1,0 12 1,0-12 0,0-1-1,0 14 16,0 0 1,0-13-1,-14 12-31,1-25 31,13 12-15,-13 1-1,0 12 1,-1-12 0,1 13-1,-13-27 1,13 40 125,-14 0-79,14 0-62,0 0 16,-14 0-1,1 0 1,-1 0 0,14 0-1,-13 0 1,-1 27-1,14-27 48,0 13-47</inkml:trace>
  <inkml:trace contextRef="#ctx0" brushRef="#br0" timeOffset="3585.29">9049 1654 0,'-26'0'109,"12"0"-93,-12 0-16,13 13 16,-27 0-1,27 0 1,-27 14 0,14 12-1,-1 1 16,27-13-15,-13 26 0,13-40-1,0 13 1,-13 1 0,13-1-16,0-13 15,0 1-15,0 12 16,0-13 31,0 14 0,0-14 124,13-13-155,27 13 0,-27-13 46,13 0-31,14 13-15,-27 1 15,14-14 16,-1 0-16,-13 0 16,1 0 0,12 0-16,-13 0 16,14 0-47,-14 0 32,0 0-17,0 0 1,1 0 15,-1 0 0,0 0 1,27 0-17,-27 0 16,14 0 173,12 0-158,-26-14-46,1 14 47,-1 0-31,13 0 0,-12 0-1,12-13-15,-13 13 172,1-13-141,12 0 1,-13-14 14,-13 14 33,0-13-79,0 12 15,0 1 1,0-13-1,-13-14 17,0 14-1,0 12 0,-1 14-31,1-13 16,-27-13-1,27-1 1,0 14 0,0 0-1,-27-14 1,14 1 15,12 13-15,-12-1-1,-1 1 1,14 0 0,-27-14-1,27 14 1,-13 13 15,13-13 0,-14 13-31,14 0 47,-14 0-15,14 0 30,0 0-31,-14 0-15,1 40 125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2.84789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0-04-11T15:03:07.3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9816 767 0,'-13'0'125,"-27"0"-78,27 27-16,0-14-15,0 0 15,-27 14-15,27-1 15,13-13 47,-27 14-62,27-14 31,0 13-32,0-12 1,0 12 15,0-13-15,0 1 0,0 12-1,0 1-15,0-14 16,0 0-1,0 0 1,0 27 15,0-27 16,14 0-47,-14 1 31,13-1-15,-13 13-16,13-12 16,0-1-1,1 0 1,12 0 31,-13 0-16,0 1-31,1-14 47,-1 0-31,0 26-1,27-26 1,-27 13-1,0-13 17,1 0-1,25 0-15,-26 0 15,1 0-16,-1 0 17,13 0-17,-12 0 17,12 0 93,-13 0-110,0-26 63,1 26-46,-1-13-17,0-1 1,0 1-1,14 0 1,-14-27 15,0 27 1,1 0-1,-14 0 0,13-1-15,0 1 15,-13-13 31,0-1 17,0 14-48,0 0-16,0 0-15,0-40 16,-13 39 15,0-12-15,-1 13 0,1-1-1,-13 1 1,-1-26-1,14 25 1,0-12 0,-14 13 15,14-1 0,0 1-15,0 13 31,-1 0 0,-25 0-32,12-26 1,14 13-1,-27 13 32,27 0-31,0 0 0,0 0-1,-27 0 1,27 0 31,-1 0 125</inkml:trace>
  <inkml:trace contextRef="#ctx0" brushRef="#br0" timeOffset="2558.04">9433 1931 0,'-27'0'109,"14"0"-93,-27 0-1,27 14 1,13 39 0,-40-27-1,27 27 1,13-27 15,0 1-15,0-1-1,0 1 1,0-14 0,13 27-1,1-27 1,-14 13 0,26 1-1,-26-14 1,27 14-1,-14-14 1,0-13 0,14 13-1,12 27 1,-26-27 15,14 0-15,-1-13-1,-12 0 1,-1 0-16,0 13 16,13-13-1,1 27 1,13-27 0,-27 0-1,0 0 1,0 0-1,40 0 1,-26 0 0,12 0-1,-25 0 1,-1 0 0,13 0-1,-12 0 1,25-13-1,-26-1 17,14 14-17,-14-13 32,14-27-16,-14 27-15,-13-13 0,13-1-1,-13 1 1,0-14 15,0 27-15,0-40-1,0 27 1,0-27 0,0 39-1,0-25 1,-53-27 0,27 52-1,12-25 1,1 25-16,-13-12 15,13 13 17,-27 13-1,27 0-31,-14-27 31,-13 14-15,14 13-1,13-13 1,-80 0 0,53 13-1,1 0 1,-27 0 0,52 0-1,1 0 1,0 0-1,0 0 1,0 0 0,-14 0-1,1 0 1,12 0 15,1 13-15,13 0 15,0 0 0,0 27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2.84789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0-04-11T15:20:21.7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5623 1191 0,'-13'0'110,"13"26"-79,0-13-31,0 14 15,0-14 1,0 27 0,0-14-1,0 14 1,0-27 0,0 27-1,0-27 1,0 0-1,0 0 17,0 14 30,26 13-15,-13-27 0,0 0-16,14 14 0,-1-1-15,-12 0 15,-1-12 16,0-14-31,27 26-1,-27-13 17,13-13-17,-12 14 1,12-14 46,-13 26-62,14-26 32,-14 0-17,0 0 17,14 0-17,-1 0 1,-13 0-1,1 0 1,-1 0 15,27 0-15,-27 0 46,0 0-46,0-13 0,0 0 15,1-1 0,12 14-15,-13 0-1,1-13 1,12 13 47,-13 0-32,14-13-16,-14 13 79,0-13-31,-13-1-32,0 1 31,0-13 1,0 13-32</inkml:trace>
  <inkml:trace contextRef="#ctx0" brushRef="#br0" timeOffset="3495.85">5662 1244 0,'0'-14'157,"0"-12"-126,0 13-31,14-1 31,-1 14-15,0-13-1,0 0 17,27 13-1,-27 0-16,0-13 1,1 13 0,25 0 62,-25 0-47,-1 0-31,0 0 16,27 0-16,-27 0 15,0 0 1,0 0 31,14 0-32,-14 0 32,14 0-31,-14 0 0,13 0 15,-12 0-16,-1 0 1,26 26 31,1 1-16,-27-14 0,1 0 16,12-13 31,0 13-62,-12 1 15,-14 12 110,0-13-110,0 14-15,13-14-1,-13 0 1,0 0 0,0 27 15,13-27-15,-13 1 30,0-1-30,0 26 15,0-25 1,13 12-1,1 1 0,-14-14-15,26 13 15,-26-12 172,-13-1-140</inkml:trace>
  <inkml:trace contextRef="#ctx0" brushRef="#br0" timeOffset="6942.36">9009 1984 0,'0'-26'47,"0"39"0,-13 0-32,0 1-15,13-1 16,0 0 0,0 14-1,0 12 1,0-12 0,0 26-1,0-27 1,0 27-1,0-27 17,0-12-17,0 12 1,0-13 0,0 14-1,0-14 1,0 13-1,0-12 32,0-1-15,13 13 46,14-26-47,-1 14-15,-13-14 15,14 26-16,-14-26 17,0 0-17,14 0 1,-14 0 0,13 0-1,-12 0 1,-1 0-1,13 0 1,1 0 0,-14 0 15,0 0-15,0 0-1,27 0 110,-27 0-78,1 0 16,-1 0-32,0 0 0,14 0-15,-14 0-1,0 0 32,0 13-16,0-13 94,1-13-109,-1 0 0,13-40 15,-26 40-15,0-1-1,0-25-15,14 12 16,-14-12-1,0-14 17,0 13-17,13 14 1,-13 12 0,0-12-1,0 13 1,0-14-1,0 1 1,-13-1 0,-1 27-1,-12 0 1,-14-13 0,1 13-1,-28-26 1,1 26-1,40 0 17,-54-14-17,27 14 1,-13-39 0,27 39-16,-28-14 15,28 14 1,26 0-16,-14 0 15,1 0 1</inkml:trace>
  <inkml:trace contextRef="#ctx0" brushRef="#br0" timeOffset="9318.2">9168 635 0,'-13'40'47,"13"-27"-47,0 13 15,0 27 1,0 40 0,0 39-1,0-39 1,0-27-1,0 0 1,0-39 0,0-14-1,0 13 1,0 1 15,0-14 16,0 0-31,0 40 15,13-40 0,0 1-15,14-14 15,-14 0 0,0 0-15,40 0 0,-40 0-1,1 0-15,-1 0 16,27 0-16,-27 0 15,13 0 1,14 0 0,-27 0-1,53 0 1,-39 0 0,-14-14-1,0 1 16,0 13-31,14 0 16,-14-13 0,0 13 15,1-27-15,-1 27 15,0-13 0,0 0 47,-13 0-62,27-1 15,-27-25-15,0 12-1,0 14 1,0-13 0,0-1-1,0 1 1,0-14-1,0-26 17,0 53-17,0-54 1,0 41 0,0 13-1,0 0-15,0-14 16,0 14-16,0-14 15,-13 1 1,-1 13 0,1 0-1,0-1 1,-27-25 0,14 12-1,12 14 1,1-14-1,0 14 17,-27-13-17,-26-1 1,53 14 0,-40 13-1,40 0 1,0 0-1,-54 0 1,41 0 0,-27 0-1,27 0 1,-1 0 0,1 0-1,12 0 1,-12 13-1,13 14 32,0-14-15,-1 0-1</inkml:trace>
  <inkml:trace contextRef="#ctx0" brushRef="#br0" timeOffset="17598.32">12198 1336 0,'0'13'94,"0"14"-78,0-14-1,0 14 1,0-14 0,0 13-1,0-13 1,0 1 0,13 25-1,-13-25 1,13-1 15,-13 0-15,0 14-1,0-1 17,0-13-17,13 0 1,1 1-1,-1-1 1,0 13 15,0 1-15,14-14 0,-14 0 93,0-13-47,0 0-15,1 0-31,25 0 15,-25 0-15,-1 0-1,0 0 17,13 0 15,1 0-32,-14 0 16,0 0 1,14 0-17,-14 0 1,13 0 0,-12 0 15,12 0 0,-13 0 0,1 0 1,12 0 14,-13-13 33,1-13-64,-1-1 32,0 27 16,0-13-48,0 0 32,-13-1-31,0 1 46,27 0-46,-14 0-16,-13 0 31,0-14 16,0 14-31,0 0-1,0-14 1,0 14-1,0-14 1,0 14 0,0-13-1,0 13 1,-13-27 0,0 13-1,-1 14 16,1 13 16,0-13 16,0 13-48,0 0 17,-40 0-17,39-13 1,1-14 0,-27 27-1,27 0 16,0 0-15,-40-26 0,40 26 15,0-13 0,-1 13-15,-25 0-1,26-27 1,-1 27 15,1 0 32,-13 0-32,-1 0-15,14 0-1,0 0 17,-14 0-1,14 13-31,-13 1 15,12-1 1,1 0 0,0 40-1,0-40 1,-1 0 93</inkml:trace>
  <inkml:trace contextRef="#ctx0" brushRef="#br0" timeOffset="29622.21">15121 2077 0,'-13'0'94,"0"0"-78,-27 0 15,14 0-31,12 13 16,-25 27-1,12-27 16,1 27-15,26-27 0,-13 13-1,-14 27 1,1-26 0,26-1-1,-14 1 1,14 12-1,0-25 1,0-1 0,0 0 15,27 27-15,-27-27-16,13 0 15,14 14 16,-14-1-15,27 14 0,-27-27-1,13-13 1,-13 13 0,1 1-1,-1-1 16,27-13 32,-1 26-32,-26-26-15,14 0 15,-14 0-15,0 0-1,14 0 1,-1 0 0,-12 0-1,-1 0 1,0 0-1,27 0 1,-27 0 0,0 0-1,0 0 1,27 0 0,-27 0 15,1 0-16,-1 0 17,26 0 15,-25 0-1,-1-13 1,0 0-31,0 0 0,27-14-1,-27 1 1,1 12-1,-14 1 1,13 0 0,26-40-1,-25 27 1,-14-1 0,13-13-1,-13 27 1,13-26-1,-13 12-15,0-13 16,0 27 0,0 0 15,0-14 47,0 1-62,-40-14 15,27 27-15,-13-13-1,-14-14 1,27 27-1,0 0 1,-1-1 0,1 1-1,-13-13 1,12 12 15,1 14-15,-13 0 15,13 0 0,-14 0-15,-13 0 0,14 0-1,-27 0 1,13 0-1,-26 0 1,26 27 0,-12-14-1,-1 0 1,39-13 0,1 14-1,0 12 1,0-13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2.84789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0-04-11T15:21:25.4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17092 2183 0,'0'0'0,"-13"13"47,0 13-16,13-12-16,-13 12 1,0-13 0,-14 54-1,27-41 17,0 0-17,-13-12-15,13-1 31,0 0-15,0 27 0,0-27-1,0 0 1,0 1 0,0 25-1,0-26 1,0 1-1,0-1 17,13 0-32,27 14 109,-27-14-78,0 0-15,0-13 484</inkml:trace>
  <inkml:trace contextRef="#ctx0" brushRef="#br0" timeOffset="4880.02">17066 2672 0,'13'-13'78,"0"13"-46,1 0-17,12 0 1,1 0 0,-14 13-1,0-13 16,0 0-15,27 0 0,-27 0-16,0 0 31,1 0 16,25 0 31,-25 0 0,-1 0-47,0 0 63,13 0-31,1 0-32,-14-13-16,0 13 32,1-13 0,-1 13-31,0-13 31,0-1-16,14 1-15,-14-13 46,0 12-15,0 1-47,-13 0 62,0 0-62,0 0 32,0-1-17,0-12 1,0 13 0,0-14-1,0 14 1,0-40-1,0 40 1,0-14 15,-26-12-15,13 25 0,0 1-1,-1 0 1,1-14-1,13 14 1,-13 0 0,13 0 15,-27 0 16,27-1-32,-13 1 1,0 13 31,0 0-31,-1-26-1,-12 26 1,-14-14-1,27 14 1,-13 0 0,12 0-1,-12 0 48,13 0 15,-14 0-62,14 0-1,0 0 1,-14 0-1,1 0 1,13 0 0,-1 0-1,1 0 1,-26 27 31,25-27-16</inkml:trace>
  <inkml:trace contextRef="#ctx0" brushRef="#br0" timeOffset="41639.8">15492 2037 0,'-14'0'78,"1"0"-62,13 14 15,-13 12-15,13-13 0,-13 0-1,-14 14 1,14 13-1,0-27 17,0 0-17,-1 13 17,14-12 61,-13-1-46,13 0-31,0 14-1,-26 12 17,12-25 15,14-1-16,14 13 0,-1-13 16,27 14 15,-1-1 17,1 1-1,-27-27-47,0 26-15,1-26 15,12 0 0,1 0 0,-14 0-15,0 0 15,0 0 0,1 0-15,-1 0 15,0 0 1,13 14-1,-12-14-16,-1 0 1,0 0 0,0 0-1,1 13 1,25-13 15,-25 0 16,-1 0 16,0 0-17,13 0-14,14 13-1,-27 0 16,1-13 15,12 0 1,0-13-1,1-40 48,-27 27-79,0 12 0,0-12-15,0 13-1,0-1 32,0-12-31,0 0 15,0 12-15,0 1-1,0 0 1,-13-14-16,-14 1 16,27 13 15,0-1-15,-13 1-1,13-13-15,0 13 16,0-1 15,-13 1-15,13-13 46,0-1-46,-27 14-1,14 0 1,0 0 0,0-1 15,-1 1-31,1 0 16,0-14 15,-13 27 156,12 0-155,-25 0-17,12 0 1,14 0-1,-14 0 17,14 0-17,0 0-15,-13 0 16,-1 0 0,-26 27-1,27-27 48,12 13-63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2.84789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0-04-11T15:23:05.9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20095 2553 0,'-26'0'141,"13"0"-141,0 0 15,-1 0 1,-25 0-16,12 0 15,-26 0 17,40 0-17,-13 0 1,-27 0 0,26 0-1,-13 0 1,14 0-1,13 0 1,-14 0 0,14 0-1,0 0 1,0 0 15,-27 0 0,27 0-15,0 0 0,-1 0-1,-25 0 1,12 0 0,-26 0-1,40 0 1,-13 0-1,-27 0 1,-14 0 0,54 0-1,-13 0 1,-1 0 0,14 0-1,-27 0 1,14 0-1,13 0 17,-1 0-17,-12 0 17,0 0-17,-14-13 16,27 13-15,-14 0 78,14 0-79,-14-13-15,14 13 16,-13 0 15,13 0-15,-1 0 0,-25-40-1,25 40 1,1-13-1,-26 0 1</inkml:trace>
  <inkml:trace contextRef="#ctx0" brushRef="#br0" timeOffset="28592.68">17304 2011 0,'-13'0'32,"0"0"46,-14 0-63,1 13 32,12-13-15,1 13-32,-26 14 31,-1-1-16,27 1 1,-1-14 78,-12-13-94,-14 40 31,27-27 0,-27 0 1,27 0-17,0 0 16,13 1-31,0-1 16,-13 27 15,13-14-15,0-13 0,0 14-1,0-1 1,0-13-1,0 1 1,0-1 15,13 0-15,0 14 0,0-14-1,1 0 1,-1-13 15,13 13-15,-12-13 15,-1 14-15,13-14-1,14 39 1,-27-39-1,40 0 1,-40 0 0,14 13-1,-1-13 1,1 0 0,26 0-1,-40 0 1,13 0-1,1 0 1,12 0 15,-25 0 32,25-13-48,-25 13 32,-1 0 0,0-13-16,-13-27 48,0 27-64,0 0 1,0 0-1,13-40 1,-13 39 0,0 1-1,0-26 1,0 25 0,0 1-1,0 0 16,0 0-15,0-1 0,27-25-1,-14 25 1,-26-38 46,13 38-15,-14-12-31,14-1 31,-13 14-47,0-13 47,0 26 0,-27-13-32,14 13 32,-1 0-16,14 0-15,0 0 0,-14 0-1,14 0 1,0 0 15,-14 0-31,1 0 16,13 0 15,-1 0-15,1 0-1,-27 0 1,14 0-1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4992388-FC0B-4783-B690-13F5C8565C7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5313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5488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4376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9298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92980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zh-CN" altLang="en-US"/>
              <a:t>Data Mining: Concepts and Techniques</a:t>
            </a: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z="1400"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305F3970-DBF3-4183-9494-79077F0C71F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8649790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4DFBEE-26CD-4F2F-95E7-1B115DE4297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7329174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6A9CA5-507D-4E4B-8285-34A0AB84C60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705824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41529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1529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F5F712-7800-4008-88CE-F2FE87CFD31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7939527"/>
      </p:ext>
    </p:extLst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EA5661-9858-49E2-AE03-1340B6A08D0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8541593"/>
      </p:ext>
    </p:extLst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EFA7B3-67FF-45AA-9F19-4B04C851DA8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7596488"/>
      </p:ext>
    </p:extLst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6A83D4-3D09-4F7B-9106-F2CFA64C65B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957839"/>
      </p:ext>
    </p:extLst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98D0F4-BB15-4112-B681-E56106F0CE1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2128325"/>
      </p:ext>
    </p:extLst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1395D8-3124-4FF7-85BE-69CBD419480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7882079"/>
      </p:ext>
    </p:extLst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A8AE15-9F0F-409C-8491-93BCB59460A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3508614"/>
      </p:ext>
    </p:extLst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8450" y="381000"/>
            <a:ext cx="2114550" cy="6096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381000"/>
            <a:ext cx="6191250" cy="6096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B647D7-C940-4D2E-ACE4-A12E500851C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2919712"/>
      </p:ext>
    </p:extLst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402638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04800" y="1371600"/>
            <a:ext cx="4152900" cy="5105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152900" cy="5105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12AC13-42C6-4E06-B6CF-58039C32590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5978729"/>
      </p:ext>
    </p:extLst>
  </p:cSld>
  <p:clrMapOvr>
    <a:masterClrMapping/>
  </p:clrMapOvr>
  <p:transition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04800" y="1371600"/>
            <a:ext cx="4152900" cy="5105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10100" y="1371600"/>
            <a:ext cx="4152900" cy="24765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10100" y="4000500"/>
            <a:ext cx="4152900" cy="24765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1782D3-32B7-4B61-B600-4A4761A06C5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CB798896-EC1E-3349-8470-36076E3DA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310521156"/>
      </p:ext>
    </p:extLst>
  </p:cSld>
  <p:clrMapOvr>
    <a:masterClrMapping/>
  </p:clrMapOvr>
  <p:transition>
    <p:zo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63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  <p:extLst>
      <p:ext uri="{BB962C8B-B14F-4D97-AF65-F5344CB8AC3E}">
        <p14:creationId xmlns:p14="http://schemas.microsoft.com/office/powerpoint/2010/main" val="297249828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056"/>
          <p:cNvSpPr>
            <a:spLocks noChangeArrowheads="1"/>
          </p:cNvSpPr>
          <p:nvPr/>
        </p:nvSpPr>
        <p:spPr bwMode="gray">
          <a:xfrm>
            <a:off x="304800" y="1219200"/>
            <a:ext cx="8410575" cy="46038"/>
          </a:xfrm>
          <a:prstGeom prst="rect">
            <a:avLst/>
          </a:prstGeom>
          <a:gradFill rotWithShape="1">
            <a:gsLst>
              <a:gs pos="0">
                <a:srgbClr val="00CE98">
                  <a:alpha val="50000"/>
                </a:srgbClr>
              </a:gs>
              <a:gs pos="100000">
                <a:srgbClr val="8FF9EF">
                  <a:alpha val="51999"/>
                </a:srgbClr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zh-CN" altLang="en-US">
              <a:ea typeface="宋体" panose="02010600030101010101" pitchFamily="2" charset="-122"/>
            </a:endParaRPr>
          </a:p>
        </p:txBody>
      </p:sp>
      <p:sp>
        <p:nvSpPr>
          <p:cNvPr id="1027" name="Rectangle 2057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381000"/>
            <a:ext cx="840263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8" name="Rectangle 205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371600"/>
            <a:ext cx="84582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928780" name="Rectangle 206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477000"/>
            <a:ext cx="2895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8781" name="Rectangle 206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E044D1E-0C9C-4C37-B32D-190C0604951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  <p:sldLayoutId id="2147483800" r:id="rId12"/>
    <p:sldLayoutId id="2147483801" r:id="rId13"/>
    <p:sldLayoutId id="2147483803" r:id="rId14"/>
  </p:sldLayoutIdLst>
  <p:transition>
    <p:zoom/>
  </p:transition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tiff"/><Relationship Id="rId3" Type="http://schemas.openxmlformats.org/officeDocument/2006/relationships/image" Target="../media/image9.tiff"/><Relationship Id="rId7" Type="http://schemas.openxmlformats.org/officeDocument/2006/relationships/image" Target="../media/image13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tiff"/><Relationship Id="rId5" Type="http://schemas.openxmlformats.org/officeDocument/2006/relationships/image" Target="../media/image11.tiff"/><Relationship Id="rId4" Type="http://schemas.openxmlformats.org/officeDocument/2006/relationships/image" Target="../media/image10.gif"/><Relationship Id="rId9" Type="http://schemas.openxmlformats.org/officeDocument/2006/relationships/image" Target="../media/image15.gi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gif"/><Relationship Id="rId5" Type="http://schemas.openxmlformats.org/officeDocument/2006/relationships/image" Target="../media/image29.gif"/><Relationship Id="rId4" Type="http://schemas.openxmlformats.org/officeDocument/2006/relationships/image" Target="../media/image28.gi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8.em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9.emf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2.emf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emf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5.emf"/><Relationship Id="rId4" Type="http://schemas.openxmlformats.org/officeDocument/2006/relationships/customXml" Target="../ink/ink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89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12" Type="http://schemas.openxmlformats.org/officeDocument/2006/relationships/image" Target="../media/image88.png"/><Relationship Id="rId17" Type="http://schemas.openxmlformats.org/officeDocument/2006/relationships/image" Target="../media/image93.png"/><Relationship Id="rId2" Type="http://schemas.openxmlformats.org/officeDocument/2006/relationships/image" Target="../media/image78.png"/><Relationship Id="rId16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11" Type="http://schemas.openxmlformats.org/officeDocument/2006/relationships/image" Target="../media/image87.png"/><Relationship Id="rId5" Type="http://schemas.openxmlformats.org/officeDocument/2006/relationships/image" Target="../media/image81.png"/><Relationship Id="rId15" Type="http://schemas.openxmlformats.org/officeDocument/2006/relationships/image" Target="../media/image91.pn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Relationship Id="rId14" Type="http://schemas.openxmlformats.org/officeDocument/2006/relationships/image" Target="../media/image90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22B963E-4CCE-2540-8ED4-BC406639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6A83D4-3D09-4F7B-9106-F2CFA64C65BA}" type="slidenum">
              <a:rPr lang="zh-CN" altLang="en-US" smtClean="0"/>
              <a:pPr>
                <a:defRPr/>
              </a:pPr>
              <a:t>1</a:t>
            </a:fld>
            <a:endParaRPr lang="en-US" altLang="zh-CN"/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A03316B9-9096-C54E-9C9C-C6743439467D}"/>
              </a:ext>
            </a:extLst>
          </p:cNvPr>
          <p:cNvSpPr txBox="1"/>
          <p:nvPr/>
        </p:nvSpPr>
        <p:spPr bwMode="auto">
          <a:xfrm>
            <a:off x="228900" y="1507612"/>
            <a:ext cx="8398697" cy="22516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68555" tIns="34277" rIns="68555" bIns="34277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492" dirty="0"/>
              <a:t>卷积神经网络</a:t>
            </a:r>
          </a:p>
        </p:txBody>
      </p:sp>
    </p:spTree>
    <p:extLst>
      <p:ext uri="{BB962C8B-B14F-4D97-AF65-F5344CB8AC3E}">
        <p14:creationId xmlns:p14="http://schemas.microsoft.com/office/powerpoint/2010/main" val="4270544234"/>
      </p:ext>
    </p:extLst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99F8B9-E61E-E781-9D83-A3532FA6C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全连接神经网络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9261A1-9891-BDD4-A2F1-7D9D6D89E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>
                <a:latin typeface="Cambria Math" panose="02040503050406030204" pitchFamily="18" charset="0"/>
              </a:rPr>
              <a:t>存在问题</a:t>
            </a:r>
            <a:endParaRPr lang="en-US" altLang="zh-CN" b="0" dirty="0">
              <a:latin typeface="Cambria Math" panose="02040503050406030204" pitchFamily="18" charset="0"/>
            </a:endParaRPr>
          </a:p>
          <a:p>
            <a:pPr lvl="1"/>
            <a:r>
              <a:rPr lang="zh-CN" altLang="en-US" dirty="0">
                <a:latin typeface="Cambria Math" panose="02040503050406030204" pitchFamily="18" charset="0"/>
              </a:rPr>
              <a:t>权重矩阵</a:t>
            </a:r>
            <a:r>
              <a:rPr lang="zh-CN" altLang="en-US" b="1" dirty="0">
                <a:solidFill>
                  <a:srgbClr val="FF0000"/>
                </a:solidFill>
                <a:latin typeface="Cambria Math" panose="02040503050406030204" pitchFamily="18" charset="0"/>
              </a:rPr>
              <a:t>参数非常多</a:t>
            </a:r>
            <a:endParaRPr lang="en-US" altLang="zh-CN" b="1" dirty="0">
              <a:solidFill>
                <a:srgbClr val="FF0000"/>
              </a:solidFill>
              <a:latin typeface="Cambria Math" panose="02040503050406030204" pitchFamily="18" charset="0"/>
            </a:endParaRPr>
          </a:p>
          <a:p>
            <a:pPr lvl="1"/>
            <a:r>
              <a:rPr lang="zh-CN" altLang="en-US" b="1" dirty="0">
                <a:solidFill>
                  <a:srgbClr val="FF0000"/>
                </a:solidFill>
                <a:latin typeface="Cambria Math" panose="02040503050406030204" pitchFamily="18" charset="0"/>
              </a:rPr>
              <a:t>很难</a:t>
            </a:r>
            <a:r>
              <a:rPr lang="zh-CN" altLang="en-US" b="0" dirty="0">
                <a:latin typeface="Cambria Math" panose="02040503050406030204" pitchFamily="18" charset="0"/>
              </a:rPr>
              <a:t>提取</a:t>
            </a:r>
            <a:r>
              <a:rPr lang="zh-CN" altLang="en-US" b="1" dirty="0">
                <a:solidFill>
                  <a:srgbClr val="FF0000"/>
                </a:solidFill>
                <a:latin typeface="Cambria Math" panose="02040503050406030204" pitchFamily="18" charset="0"/>
              </a:rPr>
              <a:t>局部不变特征</a:t>
            </a:r>
            <a:endParaRPr lang="en-US" altLang="zh-CN" b="1" dirty="0">
              <a:solidFill>
                <a:srgbClr val="FF0000"/>
              </a:solidFill>
              <a:latin typeface="Cambria Math" panose="020405030504060302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80B6F7-9FD4-E4B9-CE69-E2B0D1637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EE9DE-39C0-45B1-B406-4DEC767CB4A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584686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99F8B9-E61E-E781-9D83-A3532FA6C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全连接神经网络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9261A1-9891-BDD4-A2F1-7D9D6D89E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1800" b="0" dirty="0">
                <a:latin typeface="Cambria Math" panose="02040503050406030204" pitchFamily="18" charset="0"/>
              </a:rPr>
              <a:t>存在问题</a:t>
            </a:r>
            <a:endParaRPr lang="en-US" altLang="zh-CN" sz="1800" b="0" dirty="0">
              <a:latin typeface="Cambria Math" panose="02040503050406030204" pitchFamily="18" charset="0"/>
            </a:endParaRPr>
          </a:p>
          <a:p>
            <a:pPr lvl="1"/>
            <a:r>
              <a:rPr lang="zh-CN" altLang="en-US" sz="1800" dirty="0">
                <a:latin typeface="Cambria Math" panose="02040503050406030204" pitchFamily="18" charset="0"/>
              </a:rPr>
              <a:t>权重矩阵</a:t>
            </a:r>
            <a:r>
              <a:rPr lang="zh-CN" altLang="en-US" sz="1800" b="1" dirty="0">
                <a:solidFill>
                  <a:srgbClr val="FF0000"/>
                </a:solidFill>
                <a:latin typeface="Cambria Math" panose="02040503050406030204" pitchFamily="18" charset="0"/>
              </a:rPr>
              <a:t>参数非常多</a:t>
            </a:r>
            <a:endParaRPr lang="en-US" altLang="zh-CN" sz="1800" b="1" dirty="0">
              <a:solidFill>
                <a:srgbClr val="FF0000"/>
              </a:solidFill>
              <a:latin typeface="Cambria Math" panose="02040503050406030204" pitchFamily="18" charset="0"/>
            </a:endParaRPr>
          </a:p>
          <a:p>
            <a:pPr lvl="1"/>
            <a:r>
              <a:rPr lang="zh-CN" altLang="en-US" sz="1800" b="1" dirty="0">
                <a:solidFill>
                  <a:srgbClr val="FF0000"/>
                </a:solidFill>
                <a:latin typeface="Cambria Math" panose="02040503050406030204" pitchFamily="18" charset="0"/>
              </a:rPr>
              <a:t>很难</a:t>
            </a:r>
            <a:r>
              <a:rPr lang="zh-CN" altLang="en-US" sz="1800" b="0" dirty="0">
                <a:latin typeface="Cambria Math" panose="02040503050406030204" pitchFamily="18" charset="0"/>
              </a:rPr>
              <a:t>提取</a:t>
            </a:r>
            <a:r>
              <a:rPr lang="zh-CN" altLang="en-US" sz="1800" b="1" dirty="0">
                <a:solidFill>
                  <a:srgbClr val="FF0000"/>
                </a:solidFill>
                <a:latin typeface="Cambria Math" panose="02040503050406030204" pitchFamily="18" charset="0"/>
              </a:rPr>
              <a:t>局部不变特征</a:t>
            </a:r>
            <a:endParaRPr lang="en-US" altLang="zh-CN" sz="1800" b="1" dirty="0">
              <a:solidFill>
                <a:srgbClr val="FF0000"/>
              </a:solidFill>
              <a:latin typeface="Cambria Math" panose="02040503050406030204" pitchFamily="18" charset="0"/>
            </a:endParaRPr>
          </a:p>
          <a:p>
            <a:pPr lvl="1"/>
            <a:r>
              <a:rPr lang="zh-CN" altLang="en-US" sz="1800" b="1" dirty="0">
                <a:latin typeface="Cambria Math" panose="02040503050406030204" pitchFamily="18" charset="0"/>
              </a:rPr>
              <a:t>将二维图像展开成一维作为输入，使得图像的</a:t>
            </a:r>
            <a:r>
              <a:rPr lang="zh-CN" altLang="en-US" sz="1800" b="1" dirty="0">
                <a:solidFill>
                  <a:srgbClr val="FF0000"/>
                </a:solidFill>
                <a:latin typeface="Cambria Math" panose="02040503050406030204" pitchFamily="18" charset="0"/>
              </a:rPr>
              <a:t>空间结构被破坏</a:t>
            </a:r>
            <a:endParaRPr lang="en-US" altLang="zh-CN" sz="1800" b="1" dirty="0">
              <a:solidFill>
                <a:srgbClr val="FF0000"/>
              </a:solidFill>
              <a:latin typeface="Cambria Math" panose="020405030504060302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80B6F7-9FD4-E4B9-CE69-E2B0D1637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EE9DE-39C0-45B1-B406-4DEC767CB4A8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9CC5069-8187-1A4B-9374-AB284120A1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3144225"/>
            <a:ext cx="9144000" cy="371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014355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402638" cy="609600"/>
          </a:xfrm>
        </p:spPr>
        <p:txBody>
          <a:bodyPr/>
          <a:lstStyle/>
          <a:p>
            <a:r>
              <a:rPr lang="zh-CN" altLang="en-US" b="1">
                <a:ea typeface="宋体" panose="02010600030101010101" pitchFamily="2" charset="-122"/>
              </a:rPr>
              <a:t>人类视觉原理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5059" name="文本占位符 2"/>
          <p:cNvSpPr>
            <a:spLocks noGrp="1"/>
          </p:cNvSpPr>
          <p:nvPr>
            <p:ph type="body" sz="half" idx="1"/>
          </p:nvPr>
        </p:nvSpPr>
        <p:spPr>
          <a:xfrm>
            <a:off x="279918" y="1485900"/>
            <a:ext cx="8229600" cy="2209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ea typeface="宋体" panose="02010600030101010101" pitchFamily="2" charset="-122"/>
              </a:rPr>
              <a:t>深度学习的许多研究成果，离不开对大脑认知原理的研究，尤其是视觉原理的研究</a:t>
            </a:r>
          </a:p>
          <a:p>
            <a:endParaRPr lang="zh-CN" altLang="en-US" sz="1800" dirty="0">
              <a:ea typeface="宋体" panose="02010600030101010101" pitchFamily="2" charset="-122"/>
            </a:endParaRPr>
          </a:p>
          <a:p>
            <a:endParaRPr lang="zh-CN" altLang="en-US" dirty="0">
              <a:ea typeface="宋体" panose="02010600030101010101" pitchFamily="2" charset="-122"/>
            </a:endParaRP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5060" name="内容占位符 3"/>
          <p:cNvSpPr>
            <a:spLocks noGrp="1"/>
          </p:cNvSpPr>
          <p:nvPr>
            <p:ph sz="quarter" idx="2"/>
          </p:nvPr>
        </p:nvSpPr>
        <p:spPr>
          <a:xfrm>
            <a:off x="304800" y="3124200"/>
            <a:ext cx="8229600" cy="3429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1800" dirty="0">
                <a:ea typeface="宋体" panose="02010600030101010101" pitchFamily="2" charset="-122"/>
              </a:rPr>
              <a:t>1981 </a:t>
            </a:r>
            <a:r>
              <a:rPr lang="zh-CN" altLang="en-US" sz="1800" dirty="0">
                <a:ea typeface="宋体" panose="02010600030101010101" pitchFamily="2" charset="-122"/>
              </a:rPr>
              <a:t>年的诺贝尔医学奖，颁发给了 </a:t>
            </a:r>
            <a:r>
              <a:rPr lang="en-US" altLang="zh-CN" sz="1800" dirty="0">
                <a:ea typeface="宋体" panose="02010600030101010101" pitchFamily="2" charset="-122"/>
              </a:rPr>
              <a:t>David Hubel</a:t>
            </a:r>
            <a:r>
              <a:rPr lang="zh-CN" altLang="en-US" sz="1800" dirty="0">
                <a:ea typeface="宋体" panose="02010600030101010101" pitchFamily="2" charset="-122"/>
              </a:rPr>
              <a:t>（出生于加拿大的美国神经生物学家） 和</a:t>
            </a:r>
            <a:r>
              <a:rPr lang="en-US" altLang="zh-CN" sz="1800" dirty="0" err="1">
                <a:ea typeface="宋体" panose="02010600030101010101" pitchFamily="2" charset="-122"/>
              </a:rPr>
              <a:t>Torsten</a:t>
            </a:r>
            <a:r>
              <a:rPr lang="en-US" altLang="zh-CN" sz="1800" dirty="0">
                <a:ea typeface="宋体" panose="02010600030101010101" pitchFamily="2" charset="-122"/>
              </a:rPr>
              <a:t> Wiesel</a:t>
            </a:r>
            <a:r>
              <a:rPr lang="zh-CN" altLang="en-US" sz="1800" dirty="0">
                <a:ea typeface="宋体" panose="02010600030101010101" pitchFamily="2" charset="-122"/>
              </a:rPr>
              <a:t>，以及 </a:t>
            </a:r>
            <a:r>
              <a:rPr lang="en-US" altLang="zh-CN" sz="1800" dirty="0">
                <a:ea typeface="宋体" panose="02010600030101010101" pitchFamily="2" charset="-122"/>
              </a:rPr>
              <a:t>Roger Sperry</a:t>
            </a:r>
            <a:r>
              <a:rPr lang="zh-CN" altLang="en-US" sz="1800" dirty="0">
                <a:ea typeface="宋体" panose="02010600030101010101" pitchFamily="2" charset="-122"/>
              </a:rPr>
              <a:t>。前两位的主要贡献，是“发现了视觉系统的信息处理”，</a:t>
            </a:r>
            <a:r>
              <a:rPr lang="zh-CN" altLang="en-US" sz="1800" dirty="0">
                <a:solidFill>
                  <a:srgbClr val="FF0000"/>
                </a:solidFill>
                <a:ea typeface="宋体" panose="02010600030101010101" pitchFamily="2" charset="-122"/>
              </a:rPr>
              <a:t>可视皮层是分级的</a:t>
            </a:r>
            <a:r>
              <a:rPr lang="zh-CN" altLang="en-US" sz="1800" dirty="0"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45061" name="日期占位符 5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0523C26-89D7-4960-B469-4F34FD2FB51C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2026年5月10日星期日</a:t>
            </a:fld>
            <a:endParaRPr lang="en-US" altLang="zh-CN" sz="1200"/>
          </a:p>
        </p:txBody>
      </p:sp>
      <p:sp>
        <p:nvSpPr>
          <p:cNvPr id="45062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C876F7B-BA8D-461A-AB94-735DD19CF3EF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zh-CN" sz="1200"/>
          </a:p>
        </p:txBody>
      </p:sp>
    </p:spTree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CNN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6083" name="内容占位符 2"/>
          <p:cNvSpPr>
            <a:spLocks noGrp="1"/>
          </p:cNvSpPr>
          <p:nvPr>
            <p:ph idx="1"/>
          </p:nvPr>
        </p:nvSpPr>
        <p:spPr>
          <a:xfrm>
            <a:off x="304800" y="1371600"/>
            <a:ext cx="3581400" cy="51054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ea typeface="宋体" panose="02010600030101010101" pitchFamily="2" charset="-122"/>
              </a:rPr>
              <a:t>人类的视觉原理如下：</a:t>
            </a:r>
            <a:endParaRPr lang="en-US" altLang="zh-CN" sz="1800" dirty="0"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ea typeface="宋体" panose="02010600030101010101" pitchFamily="2" charset="-122"/>
              </a:rPr>
              <a:t>从原始信号摄入开始（瞳孔摄入像素 </a:t>
            </a:r>
            <a:r>
              <a:rPr lang="en-US" altLang="zh-CN" sz="1800" dirty="0">
                <a:ea typeface="宋体" panose="02010600030101010101" pitchFamily="2" charset="-122"/>
              </a:rPr>
              <a:t>Pixels</a:t>
            </a:r>
            <a:r>
              <a:rPr lang="zh-CN" altLang="en-US" sz="1800" dirty="0">
                <a:ea typeface="宋体" panose="02010600030101010101" pitchFamily="2" charset="-122"/>
              </a:rPr>
              <a:t>），接着做初步处理（大脑皮层某些细胞发现边缘和方向），然后抽象（大脑判定，眼前的物体的形状，是圆形的），然后进一步抽象（大脑进一步判定该物体是只气球）</a:t>
            </a:r>
            <a:endParaRPr lang="en-US" altLang="zh-CN" sz="1800" dirty="0">
              <a:ea typeface="宋体" panose="02010600030101010101" pitchFamily="2" charset="-122"/>
            </a:endParaRPr>
          </a:p>
          <a:p>
            <a:endParaRPr lang="zh-CN" altLang="en-US" sz="2000" dirty="0">
              <a:ea typeface="宋体" panose="02010600030101010101" pitchFamily="2" charset="-122"/>
            </a:endParaRPr>
          </a:p>
        </p:txBody>
      </p:sp>
      <p:sp>
        <p:nvSpPr>
          <p:cNvPr id="46084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FAED954-A11E-4538-9836-A46981D9F261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2026年5月10日星期日</a:t>
            </a:fld>
            <a:endParaRPr lang="en-US" altLang="zh-CN" sz="1200"/>
          </a:p>
        </p:txBody>
      </p:sp>
      <p:sp>
        <p:nvSpPr>
          <p:cNvPr id="46085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E78727E-E812-4CDC-9F77-7FF7D8E4DAC5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zh-CN" sz="1200"/>
          </a:p>
        </p:txBody>
      </p:sp>
      <p:pic>
        <p:nvPicPr>
          <p:cNvPr id="460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4825" y="1600200"/>
            <a:ext cx="4357688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内容占位符 2"/>
          <p:cNvSpPr>
            <a:spLocks noGrp="1"/>
          </p:cNvSpPr>
          <p:nvPr>
            <p:ph idx="1"/>
          </p:nvPr>
        </p:nvSpPr>
        <p:spPr>
          <a:xfrm>
            <a:off x="304800" y="609600"/>
            <a:ext cx="8458200" cy="6477000"/>
          </a:xfrm>
        </p:spPr>
        <p:txBody>
          <a:bodyPr/>
          <a:lstStyle/>
          <a:p>
            <a:r>
              <a:rPr lang="zh-CN" altLang="en-US" sz="1800" dirty="0">
                <a:ea typeface="宋体" panose="02010600030101010101" pitchFamily="2" charset="-122"/>
              </a:rPr>
              <a:t>对于不同的物体，人类视觉也是通过这样逐层分级，来进行认知的：</a:t>
            </a:r>
            <a:endParaRPr lang="en-US" altLang="zh-CN" sz="1800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sz="1800" dirty="0">
              <a:ea typeface="宋体" panose="02010600030101010101" pitchFamily="2" charset="-122"/>
            </a:endParaRPr>
          </a:p>
          <a:p>
            <a:r>
              <a:rPr lang="zh-CN" altLang="en-US" sz="1800" dirty="0">
                <a:ea typeface="宋体" panose="02010600030101010101" pitchFamily="2" charset="-122"/>
              </a:rPr>
              <a:t>可以看到，在最底层特征基本上是类似的，就是各种边缘，越往上，越能提取出此类物体的一些特征（轮子、眼睛、躯干等），到最上层，不同的高级特征最终组合成相应的图像，从而能够让人类准确的区分不同的物体。</a:t>
            </a:r>
          </a:p>
          <a:p>
            <a:endParaRPr lang="zh-CN" altLang="en-US" dirty="0">
              <a:ea typeface="宋体" panose="02010600030101010101" pitchFamily="2" charset="-122"/>
            </a:endParaRP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7108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86E527F-BE89-4646-92FE-568A68788106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zh-CN" sz="1200"/>
          </a:p>
        </p:txBody>
      </p:sp>
      <p:pic>
        <p:nvPicPr>
          <p:cNvPr id="4710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219200"/>
            <a:ext cx="6858000" cy="416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CNN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813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ea typeface="宋体" panose="02010600030101010101" pitchFamily="2" charset="-122"/>
              </a:rPr>
              <a:t>可以很自然的想到：可以不可以模仿人类大脑的这个特点，构造多层的神经网络，较低层的识别初级的图像特征，若干底层特征组成更上一层特征，最终通过多个层级的组合，最终在顶层做出分类呢？答案是肯定的，这也是许多深度学习算法（包括</a:t>
            </a:r>
            <a:r>
              <a:rPr lang="en-US" altLang="zh-CN" sz="1800" dirty="0">
                <a:ea typeface="宋体" panose="02010600030101010101" pitchFamily="2" charset="-122"/>
              </a:rPr>
              <a:t>CNN</a:t>
            </a:r>
            <a:r>
              <a:rPr lang="zh-CN" altLang="en-US" sz="1800" dirty="0">
                <a:ea typeface="宋体" panose="02010600030101010101" pitchFamily="2" charset="-122"/>
              </a:rPr>
              <a:t>）的灵感来源</a:t>
            </a:r>
          </a:p>
        </p:txBody>
      </p:sp>
      <p:sp>
        <p:nvSpPr>
          <p:cNvPr id="48132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801D70F-B5BF-42A9-B52C-0CFCBEBC0B6F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2026年5月10日星期日</a:t>
            </a:fld>
            <a:endParaRPr lang="en-US" altLang="zh-CN" sz="1200"/>
          </a:p>
        </p:txBody>
      </p:sp>
      <p:sp>
        <p:nvSpPr>
          <p:cNvPr id="48133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F01E140-E0F2-40A1-8C0B-DBF889E28D10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zh-CN" sz="1200"/>
          </a:p>
        </p:txBody>
      </p:sp>
    </p:spTree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CNN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017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ea typeface="宋体" panose="02010600030101010101" pitchFamily="2" charset="-122"/>
              </a:rPr>
              <a:t>卷积神经网络是一种多层神经网络，擅长处理图像特别是大图像的相关机器学习问题。</a:t>
            </a:r>
          </a:p>
          <a:p>
            <a:pPr>
              <a:lnSpc>
                <a:spcPct val="150000"/>
              </a:lnSpc>
            </a:pPr>
            <a:r>
              <a:rPr lang="zh-CN" altLang="en-US" sz="1800" dirty="0">
                <a:ea typeface="宋体" panose="02010600030101010101" pitchFamily="2" charset="-122"/>
              </a:rPr>
              <a:t>卷积网络通过一系列方法，成功将数据量庞大的图像识别问题不断降维，最终使其能够被训练。</a:t>
            </a:r>
            <a:endParaRPr lang="en-US" altLang="zh-CN" sz="1800" dirty="0"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ea typeface="宋体" panose="02010600030101010101" pitchFamily="2" charset="-122"/>
              </a:rPr>
              <a:t>CNN</a:t>
            </a:r>
            <a:r>
              <a:rPr lang="zh-CN" altLang="en-US" sz="1800" dirty="0">
                <a:ea typeface="宋体" panose="02010600030101010101" pitchFamily="2" charset="-122"/>
              </a:rPr>
              <a:t>最早由</a:t>
            </a:r>
            <a:r>
              <a:rPr lang="en-US" altLang="zh-CN" sz="1800" dirty="0">
                <a:ea typeface="宋体" panose="02010600030101010101" pitchFamily="2" charset="-122"/>
              </a:rPr>
              <a:t>Yann </a:t>
            </a:r>
            <a:r>
              <a:rPr lang="en-US" altLang="zh-CN" sz="1800" dirty="0" err="1">
                <a:ea typeface="宋体" panose="02010600030101010101" pitchFamily="2" charset="-122"/>
              </a:rPr>
              <a:t>LeCun</a:t>
            </a:r>
            <a:r>
              <a:rPr lang="zh-CN" altLang="en-US" sz="1800" dirty="0">
                <a:ea typeface="宋体" panose="02010600030101010101" pitchFamily="2" charset="-122"/>
              </a:rPr>
              <a:t>提出并应用在手写字体识别上</a:t>
            </a: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50180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E93F359-B3A6-45DD-A0B6-265829A669BE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2026年5月10日星期日</a:t>
            </a:fld>
            <a:endParaRPr lang="en-US" altLang="zh-CN" sz="1200"/>
          </a:p>
        </p:txBody>
      </p:sp>
      <p:sp>
        <p:nvSpPr>
          <p:cNvPr id="50181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F3A84FA-8954-4116-8495-F3117B82AC45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zh-CN" sz="1200"/>
          </a:p>
        </p:txBody>
      </p:sp>
    </p:spTree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内容占位符 2"/>
          <p:cNvSpPr>
            <a:spLocks noGrp="1"/>
          </p:cNvSpPr>
          <p:nvPr>
            <p:ph idx="1"/>
          </p:nvPr>
        </p:nvSpPr>
        <p:spPr>
          <a:xfrm>
            <a:off x="304800" y="304800"/>
            <a:ext cx="8458200" cy="6172200"/>
          </a:xfrm>
        </p:spPr>
        <p:txBody>
          <a:bodyPr/>
          <a:lstStyle/>
          <a:p>
            <a:r>
              <a:rPr lang="en-US" altLang="zh-CN" dirty="0" err="1">
                <a:ea typeface="宋体" panose="02010600030101010101" pitchFamily="2" charset="-122"/>
              </a:rPr>
              <a:t>LeCun</a:t>
            </a:r>
            <a:r>
              <a:rPr lang="zh-CN" altLang="en-US" dirty="0">
                <a:ea typeface="宋体" panose="02010600030101010101" pitchFamily="2" charset="-122"/>
              </a:rPr>
              <a:t>提出的网络称为</a:t>
            </a:r>
            <a:r>
              <a:rPr lang="en-US" altLang="zh-CN" dirty="0" err="1">
                <a:ea typeface="宋体" panose="02010600030101010101" pitchFamily="2" charset="-122"/>
              </a:rPr>
              <a:t>LeNet</a:t>
            </a:r>
            <a:r>
              <a:rPr lang="zh-CN" altLang="en-US" dirty="0">
                <a:ea typeface="宋体" panose="02010600030101010101" pitchFamily="2" charset="-122"/>
              </a:rPr>
              <a:t>，其网络结构如下：</a:t>
            </a:r>
          </a:p>
        </p:txBody>
      </p:sp>
      <p:sp>
        <p:nvSpPr>
          <p:cNvPr id="51203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8B0E5F1-3AC5-47B3-8E38-D5A834F317D6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2026年5月10日星期日</a:t>
            </a:fld>
            <a:endParaRPr lang="en-US" altLang="zh-CN" sz="1200"/>
          </a:p>
        </p:txBody>
      </p:sp>
      <p:sp>
        <p:nvSpPr>
          <p:cNvPr id="51204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80CD57E-D01E-4E03-A06D-CB49D9AC3A35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zh-CN" sz="1200"/>
          </a:p>
        </p:txBody>
      </p:sp>
      <p:pic>
        <p:nvPicPr>
          <p:cNvPr id="51205" name="图片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95400"/>
            <a:ext cx="82296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222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ea typeface="宋体" panose="02010600030101010101" pitchFamily="2" charset="-122"/>
              </a:rPr>
              <a:t>这是一个最典型的卷积网络，由</a:t>
            </a:r>
            <a:r>
              <a:rPr lang="zh-CN" altLang="en-US" sz="1800" dirty="0">
                <a:solidFill>
                  <a:srgbClr val="FF0000"/>
                </a:solidFill>
                <a:ea typeface="宋体" panose="02010600030101010101" pitchFamily="2" charset="-122"/>
              </a:rPr>
              <a:t>卷积层</a:t>
            </a:r>
            <a:r>
              <a:rPr lang="zh-CN" altLang="en-US" sz="1800" dirty="0">
                <a:ea typeface="宋体" panose="02010600030101010101" pitchFamily="2" charset="-122"/>
              </a:rPr>
              <a:t>、</a:t>
            </a:r>
            <a:r>
              <a:rPr lang="zh-CN" altLang="en-US" sz="1800" dirty="0">
                <a:solidFill>
                  <a:srgbClr val="FF0000"/>
                </a:solidFill>
                <a:ea typeface="宋体" panose="02010600030101010101" pitchFamily="2" charset="-122"/>
              </a:rPr>
              <a:t>池化层</a:t>
            </a:r>
            <a:r>
              <a:rPr lang="zh-CN" altLang="en-US" sz="1800" dirty="0">
                <a:ea typeface="宋体" panose="02010600030101010101" pitchFamily="2" charset="-122"/>
              </a:rPr>
              <a:t>、</a:t>
            </a:r>
            <a:r>
              <a:rPr lang="zh-CN" altLang="en-US" sz="1800" dirty="0">
                <a:solidFill>
                  <a:srgbClr val="FF0000"/>
                </a:solidFill>
                <a:ea typeface="宋体" panose="02010600030101010101" pitchFamily="2" charset="-122"/>
              </a:rPr>
              <a:t>全连接层</a:t>
            </a:r>
            <a:r>
              <a:rPr lang="zh-CN" altLang="en-US" sz="1800" dirty="0">
                <a:ea typeface="宋体" panose="02010600030101010101" pitchFamily="2" charset="-122"/>
              </a:rPr>
              <a:t>组成。其中卷积层与池化层配合，组成多个</a:t>
            </a:r>
            <a:r>
              <a:rPr lang="zh-CN" altLang="en-US" sz="1800" dirty="0">
                <a:solidFill>
                  <a:srgbClr val="FF0000"/>
                </a:solidFill>
                <a:ea typeface="宋体" panose="02010600030101010101" pitchFamily="2" charset="-122"/>
              </a:rPr>
              <a:t>卷积组</a:t>
            </a:r>
            <a:r>
              <a:rPr lang="zh-CN" altLang="en-US" sz="1800" dirty="0">
                <a:ea typeface="宋体" panose="02010600030101010101" pitchFamily="2" charset="-122"/>
              </a:rPr>
              <a:t>，逐层提取特征，最终通过若干个全连接层完成分类。</a:t>
            </a:r>
          </a:p>
          <a:p>
            <a:pPr>
              <a:lnSpc>
                <a:spcPct val="150000"/>
              </a:lnSpc>
            </a:pPr>
            <a:endParaRPr lang="en-US" altLang="zh-CN" sz="1800" dirty="0"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ea typeface="宋体" panose="02010600030101010101" pitchFamily="2" charset="-122"/>
              </a:rPr>
              <a:t>CNN</a:t>
            </a:r>
            <a:r>
              <a:rPr lang="zh-CN" altLang="en-US" sz="1800" dirty="0">
                <a:ea typeface="宋体" panose="02010600030101010101" pitchFamily="2" charset="-122"/>
              </a:rPr>
              <a:t>通过卷积来模拟特征区分，并且通过卷积的权值共享及池化，来降低网络参数的数量级，最后通过传统神经网络完成分类等任务</a:t>
            </a: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52228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83EF729-9C20-4873-9A9D-C60BB59D75AF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2026年5月10日星期日</a:t>
            </a:fld>
            <a:endParaRPr lang="en-US" altLang="zh-CN" sz="1200"/>
          </a:p>
        </p:txBody>
      </p:sp>
      <p:sp>
        <p:nvSpPr>
          <p:cNvPr id="52229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465B367-0C72-425C-8545-9B9C594A8AE8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zh-CN" sz="1200"/>
          </a:p>
        </p:txBody>
      </p:sp>
    </p:spTree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为什么要降低参数量级？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251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676400"/>
                <a:ext cx="3733800" cy="4800600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800" dirty="0">
                    <a:ea typeface="宋体" panose="02010600030101010101" pitchFamily="2" charset="-122"/>
                  </a:rPr>
                  <a:t>如果使用传统神经网络方式，对一张图片进行分类，那么，把图片的每个像素都连接到隐藏层节点上，对于一张</a:t>
                </a:r>
                <a:r>
                  <a:rPr lang="en-US" altLang="zh-CN" sz="1800" dirty="0">
                    <a:ea typeface="宋体" panose="02010600030101010101" pitchFamily="2" charset="-122"/>
                  </a:rPr>
                  <a:t>1000x1000</a:t>
                </a:r>
                <a:r>
                  <a:rPr lang="zh-CN" altLang="en-US" sz="1800" dirty="0">
                    <a:ea typeface="宋体" panose="02010600030101010101" pitchFamily="2" charset="-122"/>
                  </a:rPr>
                  <a:t>像素的图片，如果有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zh-CN" altLang="en-US" sz="1800" dirty="0">
                    <a:ea typeface="宋体" panose="02010600030101010101" pitchFamily="2" charset="-122"/>
                  </a:rPr>
                  <a:t>个隐藏层单元，一共有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sup>
                    </m:sSup>
                    <m:r>
                      <a:rPr lang="en-US" altLang="zh-CN" sz="1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sup>
                    </m:sSup>
                    <m:r>
                      <a:rPr lang="en-US" altLang="zh-CN" sz="1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sup>
                    </m:sSup>
                  </m:oMath>
                </a14:m>
                <a:r>
                  <a:rPr lang="zh-CN" altLang="en-US" sz="1800" dirty="0">
                    <a:ea typeface="宋体" panose="02010600030101010101" pitchFamily="2" charset="-122"/>
                  </a:rPr>
                  <a:t>个参数，这显然是不能接受的</a:t>
                </a:r>
                <a:endParaRPr lang="zh-CN" altLang="en-US" dirty="0"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53251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676400"/>
                <a:ext cx="3733800" cy="4800600"/>
              </a:xfrm>
              <a:blipFill>
                <a:blip r:embed="rId2"/>
                <a:stretch>
                  <a:fillRect r="-10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252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5EF0FD9-991B-4518-9814-5D6185F8BC67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2026年5月10日星期日</a:t>
            </a:fld>
            <a:endParaRPr lang="en-US" altLang="zh-CN" sz="1200"/>
          </a:p>
        </p:txBody>
      </p:sp>
      <p:sp>
        <p:nvSpPr>
          <p:cNvPr id="53253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D54A16A-FAF1-467C-A428-9919586A2CBB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zh-CN" sz="1200"/>
          </a:p>
        </p:txBody>
      </p:sp>
      <p:pic>
        <p:nvPicPr>
          <p:cNvPr id="5325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508502"/>
            <a:ext cx="4191000" cy="3977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CNN</a:t>
            </a:r>
            <a:endParaRPr lang="zh-CN" altLang="en-US" dirty="0"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275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0" y="1371600"/>
                <a:ext cx="5410200" cy="5105400"/>
              </a:xfrm>
            </p:spPr>
            <p:txBody>
              <a:bodyPr/>
              <a:lstStyle/>
              <a:p>
                <a:r>
                  <a:rPr lang="zh-CN" altLang="en-US" sz="1800" dirty="0">
                    <a:latin typeface="SimSun" panose="02010600030101010101" pitchFamily="2" charset="-122"/>
                    <a:ea typeface="SimSun" panose="02010600030101010101" pitchFamily="2" charset="-122"/>
                    <a:cs typeface="LingWai SC Medium" panose="03050602040302020204" pitchFamily="66" charset="-122"/>
                  </a:rPr>
                  <a:t>但是在</a:t>
                </a:r>
                <a:r>
                  <a:rPr lang="en-US" altLang="zh-CN" sz="1800" dirty="0">
                    <a:latin typeface="SimSun" panose="02010600030101010101" pitchFamily="2" charset="-122"/>
                    <a:ea typeface="SimSun" panose="02010600030101010101" pitchFamily="2" charset="-122"/>
                    <a:cs typeface="LingWai SC Medium" panose="03050602040302020204" pitchFamily="66" charset="-122"/>
                  </a:rPr>
                  <a:t>CNN</a:t>
                </a:r>
                <a:r>
                  <a:rPr lang="zh-CN" altLang="en-US" sz="1800" dirty="0">
                    <a:latin typeface="SimSun" panose="02010600030101010101" pitchFamily="2" charset="-122"/>
                    <a:ea typeface="SimSun" panose="02010600030101010101" pitchFamily="2" charset="-122"/>
                    <a:cs typeface="LingWai SC Medium" panose="03050602040302020204" pitchFamily="66" charset="-122"/>
                  </a:rPr>
                  <a:t>里，可以大大减少参数个数，基于以下两个假设：</a:t>
                </a:r>
              </a:p>
              <a:p>
                <a:r>
                  <a:rPr lang="en-US" altLang="zh-CN" sz="1800" dirty="0">
                    <a:latin typeface="SimSun" panose="02010600030101010101" pitchFamily="2" charset="-122"/>
                    <a:ea typeface="SimSun" panose="02010600030101010101" pitchFamily="2" charset="-122"/>
                    <a:cs typeface="LingWai SC Medium" panose="03050602040302020204" pitchFamily="66" charset="-122"/>
                  </a:rPr>
                  <a:t>1</a:t>
                </a:r>
                <a:r>
                  <a:rPr lang="zh-CN" altLang="en-US" sz="1800" dirty="0">
                    <a:latin typeface="SimSun" panose="02010600030101010101" pitchFamily="2" charset="-122"/>
                    <a:ea typeface="SimSun" panose="02010600030101010101" pitchFamily="2" charset="-122"/>
                    <a:cs typeface="LingWai SC Medium" panose="03050602040302020204" pitchFamily="66" charset="-122"/>
                  </a:rPr>
                  <a:t>）最底层特征都是局部性的，也就是说，用</a:t>
                </a:r>
                <a:r>
                  <a:rPr lang="en-US" altLang="zh-CN" sz="1800" dirty="0">
                    <a:latin typeface="SimSun" panose="02010600030101010101" pitchFamily="2" charset="-122"/>
                    <a:ea typeface="SimSun" panose="02010600030101010101" pitchFamily="2" charset="-122"/>
                    <a:cs typeface="LingWai SC Medium" panose="03050602040302020204" pitchFamily="66" charset="-122"/>
                  </a:rPr>
                  <a:t>10x10</a:t>
                </a:r>
                <a:r>
                  <a:rPr lang="zh-CN" altLang="en-US" sz="1800" dirty="0">
                    <a:latin typeface="SimSun" panose="02010600030101010101" pitchFamily="2" charset="-122"/>
                    <a:ea typeface="SimSun" panose="02010600030101010101" pitchFamily="2" charset="-122"/>
                    <a:cs typeface="LingWai SC Medium" panose="03050602040302020204" pitchFamily="66" charset="-122"/>
                  </a:rPr>
                  <a:t>这样大小的过滤器就能表示边缘等底层特征</a:t>
                </a:r>
              </a:p>
              <a:p>
                <a:r>
                  <a:rPr lang="en-US" altLang="zh-CN" sz="1800" dirty="0">
                    <a:latin typeface="SimSun" panose="02010600030101010101" pitchFamily="2" charset="-122"/>
                    <a:ea typeface="SimSun" panose="02010600030101010101" pitchFamily="2" charset="-122"/>
                    <a:cs typeface="LingWai SC Medium" panose="03050602040302020204" pitchFamily="66" charset="-122"/>
                  </a:rPr>
                  <a:t>2</a:t>
                </a:r>
                <a:r>
                  <a:rPr lang="zh-CN" altLang="en-US" sz="1800" dirty="0">
                    <a:latin typeface="SimSun" panose="02010600030101010101" pitchFamily="2" charset="-122"/>
                    <a:ea typeface="SimSun" panose="02010600030101010101" pitchFamily="2" charset="-122"/>
                    <a:cs typeface="LingWai SC Medium" panose="03050602040302020204" pitchFamily="66" charset="-122"/>
                  </a:rPr>
                  <a:t>）图像上不同小片段，以及不同图像上的小片段的特征是类似的，也就是说，能用同样的一组分类器来描述各种各样不同的图像</a:t>
                </a:r>
              </a:p>
              <a:p>
                <a:r>
                  <a:rPr lang="zh-CN" altLang="en-US" sz="1800" dirty="0">
                    <a:latin typeface="SimSun" panose="02010600030101010101" pitchFamily="2" charset="-122"/>
                    <a:ea typeface="SimSun" panose="02010600030101010101" pitchFamily="2" charset="-122"/>
                    <a:cs typeface="LingWai SC Medium" panose="03050602040302020204" pitchFamily="66" charset="-122"/>
                  </a:rPr>
                  <a:t>基于以上两个假设，就能把第一层网络结构简化</a:t>
                </a:r>
                <a:endParaRPr lang="en-US" altLang="zh-CN" sz="1800" dirty="0">
                  <a:latin typeface="SimSun" panose="02010600030101010101" pitchFamily="2" charset="-122"/>
                  <a:ea typeface="SimSun" panose="02010600030101010101" pitchFamily="2" charset="-122"/>
                  <a:cs typeface="LingWai SC Medium" panose="03050602040302020204" pitchFamily="66" charset="-122"/>
                </a:endParaRPr>
              </a:p>
              <a:p>
                <a:r>
                  <a:rPr lang="zh-CN" altLang="en-US" sz="1800" dirty="0">
                    <a:latin typeface="SimSun" panose="02010600030101010101" pitchFamily="2" charset="-122"/>
                    <a:ea typeface="SimSun" panose="02010600030101010101" pitchFamily="2" charset="-122"/>
                    <a:cs typeface="LingWai SC Medium" panose="03050602040302020204" pitchFamily="66" charset="-122"/>
                  </a:rPr>
                  <a:t>卷积：</a:t>
                </a:r>
                <a:endParaRPr lang="en-US" altLang="zh-CN" sz="1800" dirty="0">
                  <a:latin typeface="SimSun" panose="02010600030101010101" pitchFamily="2" charset="-122"/>
                  <a:ea typeface="SimSun" panose="02010600030101010101" pitchFamily="2" charset="-122"/>
                  <a:cs typeface="LingWai SC Medium" panose="03050602040302020204" pitchFamily="66" charset="-122"/>
                </a:endParaRPr>
              </a:p>
              <a:p>
                <a:pPr lvl="1"/>
                <a:r>
                  <a:rPr lang="zh-CN" altLang="en-US" sz="1800" dirty="0">
                    <a:latin typeface="SimSun" panose="02010600030101010101" pitchFamily="2" charset="-122"/>
                    <a:ea typeface="SimSun" panose="02010600030101010101" pitchFamily="2" charset="-122"/>
                    <a:cs typeface="LingWai SC Medium" panose="03050602040302020204" pitchFamily="66" charset="-122"/>
                  </a:rPr>
                  <a:t>输入数据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1000×1000</m:t>
                    </m:r>
                  </m:oMath>
                </a14:m>
                <a:r>
                  <a:rPr lang="en-US" altLang="zh-CN" sz="1800" dirty="0">
                    <a:latin typeface="SimSun" panose="02010600030101010101" pitchFamily="2" charset="-122"/>
                    <a:ea typeface="SimSun" panose="02010600030101010101" pitchFamily="2" charset="-122"/>
                    <a:cs typeface="LingWai SC Medium" panose="03050602040302020204" pitchFamily="66" charset="-122"/>
                  </a:rPr>
                  <a:t>, </a:t>
                </a:r>
                <a:r>
                  <a:rPr lang="zh-CN" altLang="en-US" sz="1800" dirty="0">
                    <a:latin typeface="SimSun" panose="02010600030101010101" pitchFamily="2" charset="-122"/>
                    <a:ea typeface="SimSun" panose="02010600030101010101" pitchFamily="2" charset="-122"/>
                    <a:cs typeface="LingWai SC Medium" panose="03050602040302020204" pitchFamily="66" charset="-122"/>
                  </a:rPr>
                  <a:t>如果神经元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zh-CN" altLang="en-US" sz="1800" dirty="0">
                    <a:latin typeface="SimSun" panose="02010600030101010101" pitchFamily="2" charset="-122"/>
                    <a:ea typeface="SimSun" panose="02010600030101010101" pitchFamily="2" charset="-122"/>
                    <a:cs typeface="LingWai SC Medium" panose="03050602040302020204" pitchFamily="66" charset="-122"/>
                  </a:rPr>
                  <a:t>，</a:t>
                </a:r>
                <a:endParaRPr lang="en-US" altLang="zh-CN" sz="1800" dirty="0">
                  <a:latin typeface="SimSun" panose="02010600030101010101" pitchFamily="2" charset="-122"/>
                  <a:ea typeface="SimSun" panose="02010600030101010101" pitchFamily="2" charset="-122"/>
                  <a:cs typeface="LingWai SC Medium" panose="03050602040302020204" pitchFamily="66" charset="-122"/>
                </a:endParaRPr>
              </a:p>
              <a:p>
                <a:pPr lvl="2"/>
                <a:r>
                  <a:rPr lang="zh-CN" altLang="en-US" sz="1800" dirty="0">
                    <a:latin typeface="SimSun" panose="02010600030101010101" pitchFamily="2" charset="-122"/>
                    <a:ea typeface="SimSun" panose="02010600030101010101" pitchFamily="2" charset="-122"/>
                    <a:cs typeface="LingWai SC Medium" panose="03050602040302020204" pitchFamily="66" charset="-122"/>
                  </a:rPr>
                  <a:t>每个神经元只能感受到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10×10</m:t>
                    </m:r>
                  </m:oMath>
                </a14:m>
                <a:r>
                  <a:rPr lang="en-US" altLang="zh-CN" sz="1800" dirty="0">
                    <a:latin typeface="SimSun" panose="02010600030101010101" pitchFamily="2" charset="-122"/>
                    <a:ea typeface="SimSun" panose="02010600030101010101" pitchFamily="2" charset="-122"/>
                    <a:cs typeface="LingWai SC Medium" panose="03050602040302020204" pitchFamily="66" charset="-122"/>
                  </a:rPr>
                  <a:t>, </a:t>
                </a:r>
                <a:r>
                  <a:rPr lang="zh-CN" altLang="en-US" sz="1800" dirty="0">
                    <a:latin typeface="SimSun" panose="02010600030101010101" pitchFamily="2" charset="-122"/>
                    <a:ea typeface="SimSun" panose="02010600030101010101" pitchFamily="2" charset="-122"/>
                    <a:cs typeface="LingWai SC Medium" panose="03050602040302020204" pitchFamily="66" charset="-122"/>
                  </a:rPr>
                  <a:t>那么参数量为：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10×10×</m:t>
                    </m:r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endParaRPr lang="en-US" altLang="zh-CN" sz="1800" dirty="0">
                  <a:latin typeface="SimSun" panose="02010600030101010101" pitchFamily="2" charset="-122"/>
                  <a:ea typeface="SimSun" panose="02010600030101010101" pitchFamily="2" charset="-122"/>
                  <a:cs typeface="LingWai SC Medium" panose="03050602040302020204" pitchFamily="66" charset="-122"/>
                </a:endParaRPr>
              </a:p>
              <a:p>
                <a:pPr lvl="2"/>
                <a:r>
                  <a:rPr lang="zh-CN" altLang="en-US" sz="1800" dirty="0">
                    <a:latin typeface="SimSun" panose="02010600030101010101" pitchFamily="2" charset="-122"/>
                    <a:ea typeface="SimSun" panose="02010600030101010101" pitchFamily="2" charset="-122"/>
                    <a:cs typeface="LingWai SC Medium" panose="03050602040302020204" pitchFamily="66" charset="-122"/>
                  </a:rPr>
                  <a:t>如果每个神经元的</a:t>
                </a:r>
                <a:r>
                  <a:rPr lang="zh-CN" altLang="en-US" sz="1800" b="1" dirty="0">
                    <a:solidFill>
                      <a:srgbClr val="FF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LingWai SC Medium" panose="03050602040302020204" pitchFamily="66" charset="-122"/>
                  </a:rPr>
                  <a:t>权重还共享</a:t>
                </a:r>
                <a:r>
                  <a:rPr lang="zh-CN" altLang="en-US" sz="1800" dirty="0">
                    <a:latin typeface="SimSun" panose="02010600030101010101" pitchFamily="2" charset="-122"/>
                    <a:ea typeface="SimSun" panose="02010600030101010101" pitchFamily="2" charset="-122"/>
                    <a:cs typeface="LingWai SC Medium" panose="03050602040302020204" pitchFamily="66" charset="-122"/>
                  </a:rPr>
                  <a:t>，即所有神经元的参数相同，那么参数量为</a:t>
                </a:r>
                <a14:m>
                  <m:oMath xmlns:m="http://schemas.openxmlformats.org/officeDocument/2006/math">
                    <m:r>
                      <a:rPr lang="en-US" altLang="zh-CN" sz="1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altLang="zh-CN" sz="1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1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altLang="zh-CN" sz="1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endParaRPr lang="en-US" altLang="zh-CN" sz="1800" b="1" dirty="0">
                  <a:solidFill>
                    <a:srgbClr val="FF0000"/>
                  </a:solidFill>
                  <a:latin typeface="SimSun" panose="02010600030101010101" pitchFamily="2" charset="-122"/>
                  <a:ea typeface="SimSun" panose="02010600030101010101" pitchFamily="2" charset="-122"/>
                  <a:cs typeface="LingWai SC Medium" panose="03050602040302020204" pitchFamily="66" charset="-122"/>
                </a:endParaRPr>
              </a:p>
              <a:p>
                <a:endParaRPr lang="zh-CN" altLang="en-US" dirty="0"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54275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71600"/>
                <a:ext cx="5410200" cy="5105400"/>
              </a:xfrm>
              <a:blipFill>
                <a:blip r:embed="rId2"/>
                <a:stretch>
                  <a:fillRect t="-4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276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3AC7B58-8BA8-4920-B3C0-99030528DD56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2026年5月10日星期日</a:t>
            </a:fld>
            <a:endParaRPr lang="en-US" altLang="zh-CN" sz="1200"/>
          </a:p>
        </p:txBody>
      </p:sp>
      <p:sp>
        <p:nvSpPr>
          <p:cNvPr id="54277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D9BB784-8A6E-4490-B175-963F086EEBE7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zh-CN" sz="1200"/>
          </a:p>
        </p:txBody>
      </p:sp>
      <p:pic>
        <p:nvPicPr>
          <p:cNvPr id="5427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524000"/>
            <a:ext cx="37338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99F8B9-E61E-E781-9D83-A3532FA6C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ea typeface="宋体" panose="02010600030101010101" pitchFamily="2" charset="-122"/>
              </a:rPr>
              <a:t>卷积（</a:t>
            </a:r>
            <a:r>
              <a:rPr lang="en-US" altLang="zh-CN" b="1" dirty="0">
                <a:ea typeface="宋体" panose="02010600030101010101" pitchFamily="2" charset="-122"/>
              </a:rPr>
              <a:t>Convolution</a:t>
            </a:r>
            <a:r>
              <a:rPr lang="zh-CN" altLang="en-US" b="1" dirty="0">
                <a:ea typeface="宋体" panose="02010600030101010101" pitchFamily="2" charset="-122"/>
              </a:rPr>
              <a:t>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9261A1-9891-BDD4-A2F1-7D9D6D89E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受生物学上</a:t>
            </a:r>
            <a:r>
              <a:rPr lang="zh-CN" altLang="en-US" sz="18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感受野</a:t>
            </a:r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Receptive Field</a:t>
            </a:r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）机制而提出的</a:t>
            </a:r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/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在视觉神经系统中，一个神经元的</a:t>
            </a:r>
            <a:r>
              <a:rPr lang="zh-CN" altLang="en-US" sz="18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感受野</a:t>
            </a:r>
            <a:r>
              <a:rPr lang="zh-CN" altLang="en-US" sz="1800" b="1" dirty="0">
                <a:latin typeface="SimSun" panose="02010600030101010101" pitchFamily="2" charset="-122"/>
                <a:ea typeface="SimSun" panose="02010600030101010101" pitchFamily="2" charset="-122"/>
              </a:rPr>
              <a:t>是指视网膜上的</a:t>
            </a:r>
            <a:r>
              <a:rPr lang="zh-CN" altLang="en-US" sz="18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特定区域</a:t>
            </a:r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，只有这个区域内的</a:t>
            </a:r>
            <a:r>
              <a:rPr lang="zh-CN" altLang="en-US" sz="18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刺激才能够激活该神经元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80B6F7-9FD4-E4B9-CE69-E2B0D1637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EE9DE-39C0-45B1-B406-4DEC767CB4A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0221576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ea typeface="宋体" panose="02010600030101010101" pitchFamily="2" charset="-122"/>
              </a:rPr>
              <a:t>2</a:t>
            </a:r>
            <a:r>
              <a:rPr kumimoji="1" lang="zh-CN" altLang="en-US" dirty="0">
                <a:ea typeface="宋体" panose="02010600030101010101" pitchFamily="2" charset="-122"/>
              </a:rPr>
              <a:t>维卷积</a:t>
            </a:r>
          </a:p>
        </p:txBody>
      </p:sp>
      <p:pic>
        <p:nvPicPr>
          <p:cNvPr id="55299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3738" y="1292225"/>
            <a:ext cx="5497512" cy="509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一层全连接"/>
          <p:cNvSpPr txBox="1">
            <a:spLocks noGrp="1"/>
          </p:cNvSpPr>
          <p:nvPr>
            <p:ph type="body" idx="1"/>
          </p:nvPr>
        </p:nvSpPr>
        <p:spPr>
          <a:xfrm>
            <a:off x="304800" y="1371600"/>
            <a:ext cx="8415870" cy="154124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>
              <a:buSzPct val="100000"/>
              <a:buChar char="•"/>
            </a:lvl1pPr>
          </a:lstStyle>
          <a:p>
            <a:r>
              <a:rPr lang="zh-CN" altLang="en-US" dirty="0"/>
              <a:t>卷积运算</a:t>
            </a:r>
            <a:endParaRPr lang="en-US" altLang="zh-CN" dirty="0"/>
          </a:p>
          <a:p>
            <a:pPr lvl="1">
              <a:lnSpc>
                <a:spcPct val="160000"/>
              </a:lnSpc>
            </a:pPr>
            <a:r>
              <a:rPr lang="zh-CN" altLang="en-US" sz="2200" dirty="0"/>
              <a:t>用一个固定大小的卷积核扫过输入图，将输入特征图（</a:t>
            </a:r>
            <a:r>
              <a:rPr lang="en-US" altLang="zh-CN" sz="2200" dirty="0"/>
              <a:t>feature</a:t>
            </a:r>
            <a:r>
              <a:rPr lang="zh-CN" altLang="en-US" sz="2200" dirty="0"/>
              <a:t> </a:t>
            </a:r>
            <a:r>
              <a:rPr lang="en-US" altLang="zh-CN" sz="2200" dirty="0"/>
              <a:t>map</a:t>
            </a:r>
            <a:r>
              <a:rPr lang="zh-CN" altLang="en-US" sz="2200" dirty="0"/>
              <a:t>）上对应位置和卷积核上进行内积运算（</a:t>
            </a:r>
            <a:r>
              <a:rPr lang="en-US" altLang="zh-CN" sz="2200" dirty="0"/>
              <a:t>element-wise</a:t>
            </a:r>
            <a:r>
              <a:rPr lang="zh-CN" altLang="en-US" sz="2200" dirty="0"/>
              <a:t>相乘再求和）</a:t>
            </a:r>
            <a:r>
              <a:rPr lang="en-US" altLang="zh-CN" dirty="0"/>
              <a:t>	</a:t>
            </a:r>
          </a:p>
          <a:p>
            <a:endParaRPr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E7FD233-1CA7-4E40-AA05-58570303B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61" y="2902361"/>
            <a:ext cx="2494457" cy="1971564"/>
          </a:xfrm>
          <a:prstGeom prst="rect">
            <a:avLst/>
          </a:prstGeom>
        </p:spPr>
      </p:pic>
      <p:pic>
        <p:nvPicPr>
          <p:cNvPr id="5" name="图片 4" descr="图片包含 名片&#10;&#10;描述已自动生成">
            <a:extLst>
              <a:ext uri="{FF2B5EF4-FFF2-40B4-BE49-F238E27FC236}">
                <a16:creationId xmlns:a16="http://schemas.microsoft.com/office/drawing/2014/main" id="{33964FEE-622E-8A4F-BFE7-F6D9477F30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9083" y="2912847"/>
            <a:ext cx="1805173" cy="1971565"/>
          </a:xfrm>
          <a:prstGeom prst="rect">
            <a:avLst/>
          </a:prstGeom>
        </p:spPr>
      </p:pic>
      <p:sp>
        <p:nvSpPr>
          <p:cNvPr id="8" name="一层全连接">
            <a:extLst>
              <a:ext uri="{FF2B5EF4-FFF2-40B4-BE49-F238E27FC236}">
                <a16:creationId xmlns:a16="http://schemas.microsoft.com/office/drawing/2014/main" id="{DCCBB0C6-1852-C44A-B527-3BAC005B7052}"/>
              </a:ext>
            </a:extLst>
          </p:cNvPr>
          <p:cNvSpPr txBox="1">
            <a:spLocks/>
          </p:cNvSpPr>
          <p:nvPr/>
        </p:nvSpPr>
        <p:spPr>
          <a:xfrm>
            <a:off x="854014" y="4884411"/>
            <a:ext cx="7866656" cy="1083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4289" tIns="34289" rIns="34289" bIns="34289">
            <a:normAutofit/>
          </a:bodyPr>
          <a:lstStyle>
            <a:lvl1pPr marL="361950" marR="0" indent="-361950" algn="just" defTabSz="685800" rtl="0" latinLnBrk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ct val="100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rgbClr val="454749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360045" marR="0" indent="0" algn="just" defTabSz="685800" rtl="0" latinLnBrk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ct val="100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rgbClr val="454749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914400" marR="0" indent="-228600" algn="just" defTabSz="685800" rtl="0" latinLnBrk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ct val="100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rgbClr val="454749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1257300" marR="0" indent="-228600" algn="just" defTabSz="685800" rtl="0" latinLnBrk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ct val="100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rgbClr val="454749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1600200" marR="0" indent="-228600" algn="just" defTabSz="685800" rtl="0" latinLnBrk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ct val="100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rgbClr val="454749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2031022" marR="0" indent="-316522" algn="just" defTabSz="685800" rtl="0" latinLnBrk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ct val="100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rgbClr val="454749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2373922" marR="0" indent="-316522" algn="just" defTabSz="685800" rtl="0" latinLnBrk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ct val="100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rgbClr val="454749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2716822" marR="0" indent="-316522" algn="just" defTabSz="685800" rtl="0" latinLnBrk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ct val="100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rgbClr val="454749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3059722" marR="0" indent="-316522" algn="just" defTabSz="685800" rtl="0" latinLnBrk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ct val="100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rgbClr val="454749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hangingPunct="1"/>
            <a:r>
              <a:rPr lang="zh-CN" altLang="en-US" sz="1800" dirty="0"/>
              <a:t>目前有很多人为设计好的卷积核</a:t>
            </a:r>
            <a:r>
              <a:rPr lang="en-US" altLang="zh-CN" sz="1800" dirty="0"/>
              <a:t>	</a:t>
            </a:r>
          </a:p>
          <a:p>
            <a:pPr hangingPunct="1"/>
            <a:endParaRPr lang="en-US" altLang="zh-CN" sz="18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FAC0163-8992-8D44-9881-1F386D935E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446" y="5233894"/>
            <a:ext cx="734043" cy="73404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1AAFC6F-A7FB-BE41-941F-1B359AC1EC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6431" y="5233894"/>
            <a:ext cx="734043" cy="72355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74006CF-8189-7347-BF6E-AE63FAB699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4415" y="5233894"/>
            <a:ext cx="734043" cy="7288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0EDD676-28F2-C748-ABF8-DBB5C2B77A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55523" y="5233894"/>
            <a:ext cx="728838" cy="723557"/>
          </a:xfrm>
          <a:prstGeom prst="rect">
            <a:avLst/>
          </a:prstGeom>
        </p:spPr>
      </p:pic>
      <p:pic>
        <p:nvPicPr>
          <p:cNvPr id="12" name="图片 11" descr="图片包含 纵横字谜, 文字&#10;&#10;描述已自动生成">
            <a:extLst>
              <a:ext uri="{FF2B5EF4-FFF2-40B4-BE49-F238E27FC236}">
                <a16:creationId xmlns:a16="http://schemas.microsoft.com/office/drawing/2014/main" id="{40A453FF-A9F6-6E49-912D-465A2B5C4F1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7744" y="2984228"/>
            <a:ext cx="2505075" cy="1828800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02123F4-EB58-4984-BDF7-6BC3960622A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6353581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ea typeface="宋体" panose="02010600030101010101" pitchFamily="2" charset="-122"/>
              </a:rPr>
              <a:t>卷积（</a:t>
            </a:r>
            <a:r>
              <a:rPr lang="en-US" altLang="zh-CN" b="1" dirty="0">
                <a:ea typeface="宋体" panose="02010600030101010101" pitchFamily="2" charset="-122"/>
              </a:rPr>
              <a:t>Convolution</a:t>
            </a:r>
            <a:r>
              <a:rPr lang="zh-CN" altLang="en-US" b="1" dirty="0">
                <a:ea typeface="宋体" panose="02010600030101010101" pitchFamily="2" charset="-122"/>
              </a:rPr>
              <a:t>）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5632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卷积运算的定义如下图所示：</a:t>
            </a: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6324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6C68A11-5517-4291-BA85-C649658372B6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2026年5月10日星期日</a:t>
            </a:fld>
            <a:endParaRPr lang="en-US" altLang="zh-CN" sz="1200"/>
          </a:p>
        </p:txBody>
      </p:sp>
      <p:sp>
        <p:nvSpPr>
          <p:cNvPr id="56325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F5D1B10-5961-4E35-86AB-E2F62A3178F6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zh-CN" sz="1200"/>
          </a:p>
        </p:txBody>
      </p:sp>
      <p:pic>
        <p:nvPicPr>
          <p:cNvPr id="563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057400"/>
            <a:ext cx="5562600" cy="395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ea typeface="宋体" panose="02010600030101010101" pitchFamily="2" charset="-122"/>
              </a:rPr>
              <a:t>卷积（</a:t>
            </a:r>
            <a:r>
              <a:rPr lang="en-US" altLang="zh-CN" b="1">
                <a:ea typeface="宋体" panose="02010600030101010101" pitchFamily="2" charset="-122"/>
              </a:rPr>
              <a:t>Convolution</a:t>
            </a:r>
            <a:r>
              <a:rPr lang="zh-CN" altLang="en-US" b="1">
                <a:ea typeface="宋体" panose="02010600030101010101" pitchFamily="2" charset="-122"/>
              </a:rPr>
              <a:t>）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7347" name="内容占位符 2"/>
          <p:cNvSpPr>
            <a:spLocks noGrp="1"/>
          </p:cNvSpPr>
          <p:nvPr>
            <p:ph idx="1"/>
          </p:nvPr>
        </p:nvSpPr>
        <p:spPr>
          <a:xfrm>
            <a:off x="228600" y="1371600"/>
            <a:ext cx="8915400" cy="5105400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如上图所示，一个</a:t>
            </a:r>
            <a:r>
              <a:rPr lang="en-US" altLang="zh-CN" dirty="0">
                <a:ea typeface="宋体" panose="02010600030101010101" pitchFamily="2" charset="-122"/>
              </a:rPr>
              <a:t>5x5</a:t>
            </a:r>
            <a:r>
              <a:rPr lang="zh-CN" altLang="en-US" dirty="0">
                <a:ea typeface="宋体" panose="02010600030101010101" pitchFamily="2" charset="-122"/>
              </a:rPr>
              <a:t>的图像，用一个</a:t>
            </a:r>
            <a:r>
              <a:rPr lang="en-US" altLang="zh-CN" dirty="0">
                <a:ea typeface="宋体" panose="02010600030101010101" pitchFamily="2" charset="-122"/>
              </a:rPr>
              <a:t>3x3</a:t>
            </a:r>
            <a:r>
              <a:rPr lang="zh-CN" altLang="en-US" dirty="0">
                <a:ea typeface="宋体" panose="02010600030101010101" pitchFamily="2" charset="-122"/>
              </a:rPr>
              <a:t>的卷积核：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ea typeface="宋体" panose="02010600030101010101" pitchFamily="2" charset="-122"/>
              </a:rPr>
              <a:t>   </a:t>
            </a:r>
            <a:r>
              <a:rPr lang="en-US" altLang="zh-CN" dirty="0">
                <a:ea typeface="宋体" panose="02010600030101010101" pitchFamily="2" charset="-122"/>
              </a:rPr>
              <a:t>1</a:t>
            </a:r>
            <a:r>
              <a:rPr lang="zh-CN" altLang="en-US" dirty="0">
                <a:ea typeface="宋体" panose="02010600030101010101" pitchFamily="2" charset="-122"/>
              </a:rPr>
              <a:t>　　</a:t>
            </a:r>
            <a:r>
              <a:rPr lang="en-US" altLang="zh-CN" dirty="0">
                <a:ea typeface="宋体" panose="02010600030101010101" pitchFamily="2" charset="-122"/>
              </a:rPr>
              <a:t>0</a:t>
            </a:r>
            <a:r>
              <a:rPr lang="zh-CN" altLang="en-US" dirty="0">
                <a:ea typeface="宋体" panose="02010600030101010101" pitchFamily="2" charset="-122"/>
              </a:rPr>
              <a:t>　　</a:t>
            </a:r>
            <a:r>
              <a:rPr lang="en-US" altLang="zh-CN" dirty="0">
                <a:ea typeface="宋体" panose="02010600030101010101" pitchFamily="2" charset="-122"/>
              </a:rPr>
              <a:t>1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ea typeface="宋体" panose="02010600030101010101" pitchFamily="2" charset="-122"/>
              </a:rPr>
              <a:t>   </a:t>
            </a:r>
            <a:r>
              <a:rPr lang="en-US" altLang="zh-CN" dirty="0">
                <a:ea typeface="宋体" panose="02010600030101010101" pitchFamily="2" charset="-122"/>
              </a:rPr>
              <a:t>0</a:t>
            </a:r>
            <a:r>
              <a:rPr lang="zh-CN" altLang="en-US" dirty="0">
                <a:ea typeface="宋体" panose="02010600030101010101" pitchFamily="2" charset="-122"/>
              </a:rPr>
              <a:t>　　</a:t>
            </a:r>
            <a:r>
              <a:rPr lang="en-US" altLang="zh-CN" dirty="0">
                <a:ea typeface="宋体" panose="02010600030101010101" pitchFamily="2" charset="-122"/>
              </a:rPr>
              <a:t>1</a:t>
            </a:r>
            <a:r>
              <a:rPr lang="zh-CN" altLang="en-US" dirty="0">
                <a:ea typeface="宋体" panose="02010600030101010101" pitchFamily="2" charset="-122"/>
              </a:rPr>
              <a:t>　　</a:t>
            </a:r>
            <a:r>
              <a:rPr lang="en-US" altLang="zh-CN" dirty="0">
                <a:ea typeface="宋体" panose="02010600030101010101" pitchFamily="2" charset="-122"/>
              </a:rPr>
              <a:t>0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ea typeface="宋体" panose="02010600030101010101" pitchFamily="2" charset="-122"/>
              </a:rPr>
              <a:t>   </a:t>
            </a:r>
            <a:r>
              <a:rPr lang="en-US" altLang="zh-CN" dirty="0">
                <a:ea typeface="宋体" panose="02010600030101010101" pitchFamily="2" charset="-122"/>
              </a:rPr>
              <a:t>1</a:t>
            </a:r>
            <a:r>
              <a:rPr lang="zh-CN" altLang="en-US" dirty="0">
                <a:ea typeface="宋体" panose="02010600030101010101" pitchFamily="2" charset="-122"/>
              </a:rPr>
              <a:t>　　</a:t>
            </a:r>
            <a:r>
              <a:rPr lang="en-US" altLang="zh-CN" dirty="0">
                <a:ea typeface="宋体" panose="02010600030101010101" pitchFamily="2" charset="-122"/>
              </a:rPr>
              <a:t>0</a:t>
            </a:r>
            <a:r>
              <a:rPr lang="zh-CN" altLang="en-US" dirty="0">
                <a:ea typeface="宋体" panose="02010600030101010101" pitchFamily="2" charset="-122"/>
              </a:rPr>
              <a:t>　　</a:t>
            </a:r>
            <a:r>
              <a:rPr lang="en-US" altLang="zh-CN" dirty="0">
                <a:ea typeface="宋体" panose="02010600030101010101" pitchFamily="2" charset="-122"/>
              </a:rPr>
              <a:t>1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ea typeface="宋体" panose="02010600030101010101" pitchFamily="2" charset="-122"/>
              </a:rPr>
              <a:t>   来对图像进行卷积操作（可以理解为有一个滑动窗口，把卷积核与对应的图像像素做乘积然后求和），得到了</a:t>
            </a:r>
            <a:r>
              <a:rPr lang="en-US" altLang="zh-CN" dirty="0">
                <a:ea typeface="宋体" panose="02010600030101010101" pitchFamily="2" charset="-122"/>
              </a:rPr>
              <a:t>3x3</a:t>
            </a:r>
            <a:r>
              <a:rPr lang="zh-CN" altLang="en-US" dirty="0">
                <a:ea typeface="宋体" panose="02010600030101010101" pitchFamily="2" charset="-122"/>
              </a:rPr>
              <a:t>的卷积结果</a:t>
            </a: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57348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D20DDDD-B0B0-49BA-A812-0656942FDBA0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2026年5月10日星期日</a:t>
            </a:fld>
            <a:endParaRPr lang="en-US" altLang="zh-CN" sz="1200"/>
          </a:p>
        </p:txBody>
      </p:sp>
      <p:sp>
        <p:nvSpPr>
          <p:cNvPr id="57349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0088090-AF1F-4FE4-A3C8-45F525285874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zh-CN" sz="1200"/>
          </a:p>
        </p:txBody>
      </p:sp>
    </p:spTree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ea typeface="宋体" panose="02010600030101010101" pitchFamily="2" charset="-122"/>
              </a:rPr>
              <a:t>卷积（</a:t>
            </a:r>
            <a:r>
              <a:rPr lang="en-US" altLang="zh-CN" b="1" dirty="0">
                <a:ea typeface="宋体" panose="02010600030101010101" pitchFamily="2" charset="-122"/>
              </a:rPr>
              <a:t>Convolution</a:t>
            </a:r>
            <a:r>
              <a:rPr lang="zh-CN" altLang="en-US" b="1" dirty="0">
                <a:ea typeface="宋体" panose="02010600030101010101" pitchFamily="2" charset="-122"/>
              </a:rPr>
              <a:t>）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5837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ea typeface="宋体" panose="02010600030101010101" pitchFamily="2" charset="-122"/>
              </a:rPr>
              <a:t>这个过程可以理解为使用一个过滤器（卷积核）来过滤图像的各个小区域，从而得到这些小区域的特征值</a:t>
            </a:r>
          </a:p>
          <a:p>
            <a:pPr>
              <a:lnSpc>
                <a:spcPct val="150000"/>
              </a:lnSpc>
            </a:pPr>
            <a:r>
              <a:rPr lang="zh-CN" altLang="en-US" sz="1800" dirty="0">
                <a:ea typeface="宋体" panose="02010600030101010101" pitchFamily="2" charset="-122"/>
              </a:rPr>
              <a:t>在实际训练过程中，卷积核的值是在学习过程中学到的</a:t>
            </a:r>
          </a:p>
          <a:p>
            <a:pPr>
              <a:lnSpc>
                <a:spcPct val="150000"/>
              </a:lnSpc>
            </a:pPr>
            <a:r>
              <a:rPr lang="zh-CN" altLang="en-US" sz="1800" dirty="0">
                <a:ea typeface="宋体" panose="02010600030101010101" pitchFamily="2" charset="-122"/>
              </a:rPr>
              <a:t>在具体应用中，往往有多个卷积核，可以认为，每个卷积核代表了一种图像模式，如果某个图像块与此卷积核卷积出的值大，则认为此图像块十分接近于此卷积核。如果设计了</a:t>
            </a:r>
            <a:r>
              <a:rPr lang="en-US" altLang="zh-CN" sz="1800" dirty="0">
                <a:ea typeface="宋体" panose="02010600030101010101" pitchFamily="2" charset="-122"/>
              </a:rPr>
              <a:t>6</a:t>
            </a:r>
            <a:r>
              <a:rPr lang="zh-CN" altLang="en-US" sz="1800" dirty="0">
                <a:ea typeface="宋体" panose="02010600030101010101" pitchFamily="2" charset="-122"/>
              </a:rPr>
              <a:t>个卷积核，可以理解为这个图像上有</a:t>
            </a:r>
            <a:r>
              <a:rPr lang="en-US" altLang="zh-CN" sz="1800" dirty="0">
                <a:ea typeface="宋体" panose="02010600030101010101" pitchFamily="2" charset="-122"/>
              </a:rPr>
              <a:t>6</a:t>
            </a:r>
            <a:r>
              <a:rPr lang="zh-CN" altLang="en-US" sz="1800" dirty="0">
                <a:ea typeface="宋体" panose="02010600030101010101" pitchFamily="2" charset="-122"/>
              </a:rPr>
              <a:t>种底层纹理模式，也就是用</a:t>
            </a:r>
            <a:r>
              <a:rPr lang="en-US" altLang="zh-CN" sz="1800" dirty="0">
                <a:ea typeface="宋体" panose="02010600030101010101" pitchFamily="2" charset="-122"/>
              </a:rPr>
              <a:t>6</a:t>
            </a:r>
            <a:r>
              <a:rPr lang="zh-CN" altLang="en-US" sz="1800" dirty="0">
                <a:ea typeface="宋体" panose="02010600030101010101" pitchFamily="2" charset="-122"/>
              </a:rPr>
              <a:t>种基础模式就能描绘出一副图像</a:t>
            </a: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58372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4C1BAE4-85F4-43C5-90FD-00EFF48022E9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2026年5月10日星期日</a:t>
            </a:fld>
            <a:endParaRPr lang="en-US" altLang="zh-CN" sz="1200"/>
          </a:p>
        </p:txBody>
      </p:sp>
      <p:sp>
        <p:nvSpPr>
          <p:cNvPr id="58373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F3A2155-33F6-4959-80C0-5118689CD164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zh-CN" sz="1200"/>
          </a:p>
        </p:txBody>
      </p:sp>
    </p:spTree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93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1800" dirty="0">
                <a:ea typeface="宋体" panose="02010600030101010101" pitchFamily="2" charset="-122"/>
              </a:rPr>
              <a:t>以下就是</a:t>
            </a:r>
            <a:r>
              <a:rPr lang="en-US" altLang="zh-CN" sz="1800" dirty="0">
                <a:ea typeface="宋体" panose="02010600030101010101" pitchFamily="2" charset="-122"/>
              </a:rPr>
              <a:t>24</a:t>
            </a:r>
            <a:r>
              <a:rPr lang="zh-CN" altLang="en-US" sz="1800" dirty="0">
                <a:ea typeface="宋体" panose="02010600030101010101" pitchFamily="2" charset="-122"/>
              </a:rPr>
              <a:t>种不同的卷积核的示例：</a:t>
            </a:r>
          </a:p>
        </p:txBody>
      </p:sp>
      <p:sp>
        <p:nvSpPr>
          <p:cNvPr id="59396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5D3F209-3522-40DA-9679-99FB782A2669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2026年5月10日星期日</a:t>
            </a:fld>
            <a:endParaRPr lang="en-US" altLang="zh-CN" sz="1200"/>
          </a:p>
        </p:txBody>
      </p:sp>
      <p:sp>
        <p:nvSpPr>
          <p:cNvPr id="59397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82D4B9A-031D-4C95-862C-054D68528356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zh-CN" sz="1200"/>
          </a:p>
        </p:txBody>
      </p:sp>
      <p:pic>
        <p:nvPicPr>
          <p:cNvPr id="593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28800"/>
            <a:ext cx="6553200" cy="409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0E820D-B6B5-2FF8-6891-64A028E6E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ea typeface="宋体" panose="02010600030101010101" pitchFamily="2" charset="-122"/>
              </a:rPr>
              <a:t>卷积（</a:t>
            </a:r>
            <a:r>
              <a:rPr lang="en-US" altLang="zh-CN" b="1" dirty="0">
                <a:ea typeface="宋体" panose="02010600030101010101" pitchFamily="2" charset="-122"/>
              </a:rPr>
              <a:t>Convolution</a:t>
            </a:r>
            <a:r>
              <a:rPr lang="zh-CN" altLang="en-US" b="1" dirty="0">
                <a:ea typeface="宋体" panose="02010600030101010101" pitchFamily="2" charset="-122"/>
              </a:rPr>
              <a:t>）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54CA727-CE40-3F85-31F1-C37A7B0D29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8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局部感知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18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人对外界的认知：</a:t>
                </a:r>
                <a:r>
                  <a:rPr lang="zh-CN" altLang="en-US" sz="1800" dirty="0">
                    <a:solidFill>
                      <a:srgbClr val="FF0000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局部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zh-CN" altLang="en-US" sz="18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全局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18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图像的空间联系：</a:t>
                </a:r>
                <a:r>
                  <a:rPr lang="zh-CN" altLang="en-US" sz="1800" dirty="0">
                    <a:solidFill>
                      <a:srgbClr val="FF0000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局部的像素联系较为紧密</a:t>
                </a:r>
                <a:r>
                  <a:rPr lang="zh-CN" altLang="en-US" sz="18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，而距离较远的像素相关性则较弱。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18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因此，个体神经元其实</a:t>
                </a:r>
                <a:r>
                  <a:rPr lang="zh-CN" altLang="en-US" sz="1800" dirty="0">
                    <a:solidFill>
                      <a:srgbClr val="FF0000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没有必要对全局图像进行感知</a:t>
                </a:r>
                <a:r>
                  <a:rPr lang="zh-CN" altLang="en-US" sz="18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，只需要对局部进行感知。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18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然后在更高层间局部的信息综合起来就得到了全局的信息。</a:t>
                </a:r>
              </a:p>
              <a:p>
                <a:pPr marL="457070" lvl="1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54CA727-CE40-3F85-31F1-C37A7B0D2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611EEC-928D-D387-329C-1C8422D6C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EE9DE-39C0-45B1-B406-4DEC767CB4A8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856502"/>
      </p:ext>
    </p:extLst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99F8B9-E61E-E781-9D83-A3532FA6C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卷积作为特征提取器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80B6F7-9FD4-E4B9-CE69-E2B0D1637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EE9DE-39C0-45B1-B406-4DEC767CB4A8}" type="slidenum">
              <a:rPr lang="zh-CN" altLang="en-US" smtClean="0"/>
              <a:t>21</a:t>
            </a:fld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B336B56-B6B6-C444-A579-56080F7661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104" y="2705100"/>
            <a:ext cx="2400300" cy="15748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AAA9CD3-475B-884B-B357-D24C6934906A}"/>
              </a:ext>
            </a:extLst>
          </p:cNvPr>
          <p:cNvSpPr txBox="1"/>
          <p:nvPr/>
        </p:nvSpPr>
        <p:spPr>
          <a:xfrm>
            <a:off x="1192504" y="4559300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800" dirty="0"/>
              <a:t>输入图像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38576A0C-2589-B543-9C2A-BDFE46BB24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104" y="1587500"/>
            <a:ext cx="1701800" cy="17018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328EA395-3290-8A4B-BFFD-DBDEED4B11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1004" y="1581150"/>
            <a:ext cx="2476500" cy="17145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1B906426-874A-634E-B852-F67776835D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104" y="3822700"/>
            <a:ext cx="1727200" cy="167640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08FE6439-8565-5D45-AF00-216AF0D86F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4504" y="3810000"/>
            <a:ext cx="2413000" cy="1689100"/>
          </a:xfrm>
          <a:prstGeom prst="rect">
            <a:avLst/>
          </a:prstGeom>
        </p:spPr>
      </p:pic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5DECA30B-EF0B-6945-B18C-1CDAD3572E61}"/>
              </a:ext>
            </a:extLst>
          </p:cNvPr>
          <p:cNvCxnSpPr>
            <a:stCxn id="11" idx="3"/>
            <a:endCxn id="15" idx="1"/>
          </p:cNvCxnSpPr>
          <p:nvPr/>
        </p:nvCxnSpPr>
        <p:spPr bwMode="auto">
          <a:xfrm flipV="1">
            <a:off x="3059404" y="2438400"/>
            <a:ext cx="647700" cy="10541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B76838B5-6430-684D-8C26-673CDB019479}"/>
              </a:ext>
            </a:extLst>
          </p:cNvPr>
          <p:cNvCxnSpPr>
            <a:stCxn id="11" idx="3"/>
            <a:endCxn id="20" idx="1"/>
          </p:cNvCxnSpPr>
          <p:nvPr/>
        </p:nvCxnSpPr>
        <p:spPr bwMode="auto">
          <a:xfrm>
            <a:off x="3059404" y="3492500"/>
            <a:ext cx="647700" cy="11684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86CB573C-BCAF-1845-BF7C-467BD850DEBA}"/>
              </a:ext>
            </a:extLst>
          </p:cNvPr>
          <p:cNvCxnSpPr>
            <a:stCxn id="15" idx="3"/>
            <a:endCxn id="18" idx="1"/>
          </p:cNvCxnSpPr>
          <p:nvPr/>
        </p:nvCxnSpPr>
        <p:spPr bwMode="auto">
          <a:xfrm>
            <a:off x="5408904" y="2438400"/>
            <a:ext cx="2921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176CAE6E-8344-034B-86FF-B84910F90764}"/>
              </a:ext>
            </a:extLst>
          </p:cNvPr>
          <p:cNvCxnSpPr>
            <a:cxnSpLocks/>
            <a:stCxn id="20" idx="3"/>
            <a:endCxn id="22" idx="1"/>
          </p:cNvCxnSpPr>
          <p:nvPr/>
        </p:nvCxnSpPr>
        <p:spPr bwMode="auto">
          <a:xfrm flipV="1">
            <a:off x="5434304" y="4654550"/>
            <a:ext cx="330200" cy="635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32492425-BB0E-9648-860A-BB5512DD7A2A}"/>
              </a:ext>
            </a:extLst>
          </p:cNvPr>
          <p:cNvSpPr/>
          <p:nvPr/>
        </p:nvSpPr>
        <p:spPr>
          <a:xfrm>
            <a:off x="6107404" y="3278100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1800" dirty="0"/>
              <a:t>检测到垂直边缘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794DF3E-97EF-9245-8930-815769DAA6E6}"/>
              </a:ext>
            </a:extLst>
          </p:cNvPr>
          <p:cNvSpPr/>
          <p:nvPr/>
        </p:nvSpPr>
        <p:spPr>
          <a:xfrm>
            <a:off x="6096000" y="5499100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1800" dirty="0"/>
              <a:t>检测到水平边缘</a:t>
            </a:r>
          </a:p>
        </p:txBody>
      </p:sp>
    </p:spTree>
    <p:extLst>
      <p:ext uri="{BB962C8B-B14F-4D97-AF65-F5344CB8AC3E}">
        <p14:creationId xmlns:p14="http://schemas.microsoft.com/office/powerpoint/2010/main" val="2249626345"/>
      </p:ext>
    </p:extLst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DD3330-5C14-F37C-2A35-F37B8AD86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卷积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CE6118-E01A-1544-95D0-CAEC4B65C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83581"/>
            <a:ext cx="5177448" cy="3393953"/>
          </a:xfrm>
        </p:spPr>
        <p:txBody>
          <a:bodyPr/>
          <a:lstStyle/>
          <a:p>
            <a:r>
              <a:rPr lang="zh-CN" altLang="en-US" sz="1800" b="1" dirty="0">
                <a:latin typeface="SimSun" panose="02010600030101010101" pitchFamily="2" charset="-122"/>
                <a:ea typeface="SimSun" panose="02010600030101010101" pitchFamily="2" charset="-122"/>
              </a:rPr>
              <a:t>权值共享（提取局部不变特征）</a:t>
            </a:r>
          </a:p>
          <a:p>
            <a:pPr lvl="1"/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如果在图像中的某个小区域里，一组像素表示一只鸟嘴，那么当同样的一组像素值出现在图像的其它位置时，它仍然该表示一只鸟嘴，只不过位置不同</a:t>
            </a:r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/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神经网络需要能够做到：</a:t>
            </a:r>
            <a:r>
              <a:rPr lang="zh-CN" altLang="en-US" sz="1800" b="1" dirty="0">
                <a:latin typeface="SimSun" panose="02010600030101010101" pitchFamily="2" charset="-122"/>
                <a:ea typeface="SimSun" panose="02010600030101010101" pitchFamily="2" charset="-122"/>
              </a:rPr>
              <a:t>将在某一个位置学到的特征，</a:t>
            </a:r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泛化到图像中的所有其它位置</a:t>
            </a:r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/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为实现这一点</a:t>
            </a:r>
            <a:r>
              <a:rPr lang="en-US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,</a:t>
            </a:r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在图像的多个位置复制同一组隐藏单元权重</a:t>
            </a:r>
            <a:r>
              <a:rPr lang="en-US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,</a:t>
            </a:r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也就是：用同一个卷积核在整张图像上滑动共享</a:t>
            </a:r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457200" lvl="1" indent="0">
              <a:buNone/>
            </a:pPr>
            <a:endParaRPr lang="zh-CN" altLang="en-US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/>
            <a:endParaRPr lang="zh-CN" altLang="en-US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457200" lvl="1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E2CA13-B8B9-DA7C-B4B9-F49B562E2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EE9DE-39C0-45B1-B406-4DEC767CB4A8}" type="slidenum">
              <a:rPr lang="zh-CN" altLang="en-US" smtClean="0"/>
              <a:t>22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33650E7-0B11-4542-8D1F-F1B4D578E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0368" y="1589236"/>
            <a:ext cx="1790700" cy="16002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22A0645-DEBA-A746-9EA8-9204A5C8B3CA}"/>
              </a:ext>
            </a:extLst>
          </p:cNvPr>
          <p:cNvSpPr txBox="1"/>
          <p:nvPr/>
        </p:nvSpPr>
        <p:spPr>
          <a:xfrm>
            <a:off x="6324600" y="3349347"/>
            <a:ext cx="220980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例子：一维输入数组，用一个宽度为 </a:t>
            </a:r>
            <a:r>
              <a:rPr lang="en-US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2 </a:t>
            </a:r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的卷积核，进行卷积。同样颜色的连接表示相同权值</a:t>
            </a:r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可以看到：网络连接是稀疏的，所有隐藏单元共享同样的权重值</a:t>
            </a:r>
          </a:p>
          <a:p>
            <a:endParaRPr kumimoji="1" lang="zh-CN" altLang="en-US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C034FE2-842B-9F48-AA09-43C4DDF0EC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4965174"/>
            <a:ext cx="1870963" cy="128322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23560B46-A6D8-F849-BDCC-1E87B7EA3B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999" y="4965174"/>
            <a:ext cx="1729979" cy="1283226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0B9A99F-F0F3-FB43-AB8A-12A56A2A18B4}"/>
              </a:ext>
            </a:extLst>
          </p:cNvPr>
          <p:cNvSpPr txBox="1"/>
          <p:nvPr/>
        </p:nvSpPr>
        <p:spPr>
          <a:xfrm>
            <a:off x="1217123" y="6288613"/>
            <a:ext cx="16764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latin typeface="SimSun" panose="02010600030101010101" pitchFamily="2" charset="-122"/>
                <a:ea typeface="SimSun" panose="02010600030101010101" pitchFamily="2" charset="-122"/>
              </a:rPr>
              <a:t>某神经元负责检测左上有无鸟嘴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C142706-DB18-514E-B7E9-02DE2E50F8FD}"/>
              </a:ext>
            </a:extLst>
          </p:cNvPr>
          <p:cNvSpPr txBox="1"/>
          <p:nvPr/>
        </p:nvSpPr>
        <p:spPr>
          <a:xfrm>
            <a:off x="3426923" y="6288613"/>
            <a:ext cx="16764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latin typeface="SimSun" panose="02010600030101010101" pitchFamily="2" charset="-122"/>
                <a:ea typeface="SimSun" panose="02010600030101010101" pitchFamily="2" charset="-122"/>
              </a:rPr>
              <a:t>某神经元负责检测中间有无鸟嘴</a:t>
            </a:r>
          </a:p>
        </p:txBody>
      </p:sp>
    </p:spTree>
    <p:extLst>
      <p:ext uri="{BB962C8B-B14F-4D97-AF65-F5344CB8AC3E}">
        <p14:creationId xmlns:p14="http://schemas.microsoft.com/office/powerpoint/2010/main" val="3555912684"/>
      </p:ext>
    </p:extLst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一层全连接"/>
          <p:cNvSpPr txBox="1">
            <a:spLocks noGrp="1"/>
          </p:cNvSpPr>
          <p:nvPr>
            <p:ph type="body" idx="1"/>
          </p:nvPr>
        </p:nvSpPr>
        <p:spPr>
          <a:xfrm>
            <a:off x="0" y="228600"/>
            <a:ext cx="9144000" cy="6400800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>
              <a:buSzPct val="100000"/>
              <a:buChar char="•"/>
            </a:lvl1pPr>
          </a:lstStyle>
          <a:p>
            <a:pPr>
              <a:lnSpc>
                <a:spcPct val="170000"/>
              </a:lnSpc>
            </a:pPr>
            <a:r>
              <a:rPr lang="zh-CN" altLang="en-US" dirty="0"/>
              <a:t>卷积核大小（</a:t>
            </a:r>
            <a:r>
              <a:rPr lang="en-US" altLang="zh-CN" dirty="0"/>
              <a:t>kernel</a:t>
            </a:r>
            <a:r>
              <a:rPr lang="zh-CN" altLang="en-US" dirty="0"/>
              <a:t> </a:t>
            </a:r>
            <a:r>
              <a:rPr lang="en-US" altLang="zh-CN" dirty="0"/>
              <a:t>size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lnSpc>
                <a:spcPct val="170000"/>
              </a:lnSpc>
            </a:pPr>
            <a:r>
              <a:rPr lang="zh-CN" altLang="en-US" dirty="0"/>
              <a:t>决定一个点的输出值与多大的范围的输入有关</a:t>
            </a:r>
            <a:r>
              <a:rPr lang="en-US" altLang="zh-CN" dirty="0"/>
              <a:t>-&gt;</a:t>
            </a:r>
            <a:r>
              <a:rPr lang="zh-CN" altLang="en-US" dirty="0"/>
              <a:t>感受野（</a:t>
            </a:r>
            <a:r>
              <a:rPr lang="en-US" altLang="zh-CN" dirty="0"/>
              <a:t>respective</a:t>
            </a:r>
            <a:r>
              <a:rPr lang="zh-CN" altLang="en-US" dirty="0"/>
              <a:t> </a:t>
            </a:r>
            <a:r>
              <a:rPr lang="en-US" altLang="zh-CN" dirty="0"/>
              <a:t>filed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lnSpc>
                <a:spcPct val="170000"/>
              </a:lnSpc>
            </a:pPr>
            <a:r>
              <a:rPr lang="zh-CN" altLang="en-US" dirty="0"/>
              <a:t>通常是奇数，因为奇数大小的核，才能保证中心点四周的长度是相等的。</a:t>
            </a:r>
            <a:endParaRPr lang="en-US" altLang="zh-CN" dirty="0"/>
          </a:p>
          <a:p>
            <a:pPr lvl="1">
              <a:lnSpc>
                <a:spcPct val="170000"/>
              </a:lnSpc>
            </a:pPr>
            <a:r>
              <a:rPr lang="zh-CN" altLang="en-US" dirty="0"/>
              <a:t>通常卷积核越大效果越好，但增大卷积核伴随着参数个数平方增长。</a:t>
            </a:r>
            <a:endParaRPr lang="en-US" altLang="zh-CN" dirty="0"/>
          </a:p>
          <a:p>
            <a:pPr marL="457200" lvl="1" indent="0">
              <a:lnSpc>
                <a:spcPct val="170000"/>
              </a:lnSpc>
              <a:buNone/>
            </a:pPr>
            <a:endParaRPr lang="en-US" altLang="zh-CN" dirty="0"/>
          </a:p>
          <a:p>
            <a:pPr>
              <a:lnSpc>
                <a:spcPct val="170000"/>
              </a:lnSpc>
            </a:pPr>
            <a:r>
              <a:rPr lang="zh-CN" altLang="en-US" dirty="0"/>
              <a:t>填充（</a:t>
            </a:r>
            <a:r>
              <a:rPr lang="en-US" altLang="zh-CN" dirty="0"/>
              <a:t>padding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lnSpc>
                <a:spcPct val="170000"/>
              </a:lnSpc>
            </a:pPr>
            <a:r>
              <a:rPr lang="zh-CN" altLang="en-US" dirty="0"/>
              <a:t>目的是不减小</a:t>
            </a:r>
            <a:r>
              <a:rPr lang="en-US" altLang="zh-CN" dirty="0"/>
              <a:t>feature</a:t>
            </a:r>
            <a:r>
              <a:rPr lang="zh-CN" altLang="en-US" dirty="0"/>
              <a:t> </a:t>
            </a:r>
            <a:r>
              <a:rPr lang="en-US" altLang="zh-CN" dirty="0"/>
              <a:t>map</a:t>
            </a:r>
            <a:r>
              <a:rPr lang="zh-CN" altLang="en-US" dirty="0"/>
              <a:t>的大小</a:t>
            </a:r>
            <a:endParaRPr lang="en-US" altLang="zh-CN" dirty="0"/>
          </a:p>
          <a:p>
            <a:pPr lvl="1">
              <a:lnSpc>
                <a:spcPct val="170000"/>
              </a:lnSpc>
            </a:pPr>
            <a:r>
              <a:rPr lang="zh-CN" altLang="en-US" dirty="0"/>
              <a:t>常见策略：周边补</a:t>
            </a:r>
            <a:r>
              <a:rPr lang="en-US" altLang="zh-CN" dirty="0"/>
              <a:t>0</a:t>
            </a:r>
            <a:r>
              <a:rPr lang="zh-CN" altLang="en-US" dirty="0"/>
              <a:t>；向外对称。</a:t>
            </a:r>
            <a:endParaRPr lang="en-US" altLang="zh-CN" dirty="0"/>
          </a:p>
          <a:p>
            <a:pPr marL="342900" lvl="1" indent="-342900" defTabSz="514350">
              <a:lnSpc>
                <a:spcPct val="170000"/>
              </a:lnSpc>
              <a:buClr>
                <a:schemeClr val="folHlink"/>
              </a:buClr>
              <a:buSzPct val="100000"/>
              <a:buFont typeface="Wingdings" panose="05000000000000000000" pitchFamily="2" charset="2"/>
              <a:buChar char="•"/>
            </a:pPr>
            <a:r>
              <a:rPr lang="zh-CN" altLang="en-US" dirty="0">
                <a:ea typeface="+mn-ea"/>
                <a:cs typeface="+mn-cs"/>
                <a:sym typeface="Arial"/>
              </a:rPr>
              <a:t>步长（</a:t>
            </a:r>
            <a:r>
              <a:rPr lang="en-US" altLang="zh-CN" dirty="0">
                <a:ea typeface="+mn-ea"/>
                <a:cs typeface="+mn-cs"/>
                <a:sym typeface="Arial"/>
              </a:rPr>
              <a:t>stride</a:t>
            </a:r>
            <a:r>
              <a:rPr lang="zh-CN" altLang="en-US" dirty="0">
                <a:ea typeface="+mn-ea"/>
                <a:cs typeface="+mn-cs"/>
                <a:sym typeface="Arial"/>
              </a:rPr>
              <a:t>）</a:t>
            </a:r>
            <a:endParaRPr lang="en-US" altLang="zh-CN" dirty="0">
              <a:ea typeface="+mn-ea"/>
              <a:cs typeface="+mn-cs"/>
              <a:sym typeface="Arial"/>
            </a:endParaRPr>
          </a:p>
          <a:p>
            <a:pPr lvl="1" defTabSz="514350">
              <a:lnSpc>
                <a:spcPct val="170000"/>
              </a:lnSpc>
            </a:pPr>
            <a:r>
              <a:rPr lang="zh-CN" altLang="en-US" dirty="0">
                <a:sym typeface="Arial"/>
              </a:rPr>
              <a:t>用于降低</a:t>
            </a:r>
            <a:r>
              <a:rPr lang="en-US" altLang="zh-CN" dirty="0">
                <a:sym typeface="Arial"/>
              </a:rPr>
              <a:t>feature</a:t>
            </a:r>
            <a:r>
              <a:rPr lang="zh-CN" altLang="en-US" dirty="0">
                <a:sym typeface="Arial"/>
              </a:rPr>
              <a:t> </a:t>
            </a:r>
            <a:r>
              <a:rPr lang="en-US" altLang="zh-CN" dirty="0">
                <a:sym typeface="Arial"/>
              </a:rPr>
              <a:t>maps</a:t>
            </a:r>
            <a:r>
              <a:rPr lang="zh-CN" altLang="en-US" dirty="0">
                <a:sym typeface="Arial"/>
              </a:rPr>
              <a:t>的尺寸</a:t>
            </a:r>
            <a:endParaRPr lang="en-US" altLang="zh-CN" dirty="0">
              <a:sym typeface="Arial"/>
            </a:endParaRPr>
          </a:p>
          <a:p>
            <a:pPr marL="457200" lvl="1" indent="0">
              <a:buNone/>
            </a:pPr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F49F971-E586-4320-9DA6-A6EB79D0A7C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3721052"/>
      </p:ext>
    </p:extLst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一层全连接"/>
          <p:cNvSpPr txBox="1">
            <a:spLocks noGrp="1"/>
          </p:cNvSpPr>
          <p:nvPr>
            <p:ph type="body" idx="1"/>
          </p:nvPr>
        </p:nvSpPr>
        <p:spPr>
          <a:xfrm>
            <a:off x="304800" y="380999"/>
            <a:ext cx="8763000" cy="268756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SzPct val="100000"/>
              <a:buChar char="•"/>
            </a:lvl1pPr>
          </a:lstStyle>
          <a:p>
            <a:pPr>
              <a:lnSpc>
                <a:spcPct val="150000"/>
              </a:lnSpc>
            </a:pPr>
            <a:r>
              <a:rPr lang="zh-CN" altLang="en-US" sz="2000" dirty="0"/>
              <a:t>卷积中的常用参数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输入输出通道数：输入通道数通常固定，就是上一层输出的通道数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卷积核大小（</a:t>
            </a:r>
            <a:r>
              <a:rPr lang="en-US" altLang="zh-CN" sz="2000" dirty="0"/>
              <a:t>kernel</a:t>
            </a:r>
            <a:r>
              <a:rPr lang="zh-CN" altLang="en-US" sz="2000" dirty="0"/>
              <a:t> </a:t>
            </a:r>
            <a:r>
              <a:rPr lang="en-US" altLang="zh-CN" sz="2000" dirty="0"/>
              <a:t>size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填充（</a:t>
            </a:r>
            <a:r>
              <a:rPr lang="en-US" altLang="zh-CN" sz="2000" dirty="0"/>
              <a:t>padding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步长（</a:t>
            </a:r>
            <a:r>
              <a:rPr lang="en-US" altLang="zh-CN" sz="2000" dirty="0"/>
              <a:t>stride</a:t>
            </a:r>
            <a:r>
              <a:rPr lang="zh-CN" altLang="en-US" sz="2000" dirty="0"/>
              <a:t>）</a:t>
            </a:r>
            <a:endParaRPr lang="en-US" altLang="zh-CN" sz="20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28892D6-F565-F449-9BF6-134681F7EE13}"/>
              </a:ext>
            </a:extLst>
          </p:cNvPr>
          <p:cNvSpPr/>
          <p:nvPr/>
        </p:nvSpPr>
        <p:spPr>
          <a:xfrm>
            <a:off x="1133444" y="5257800"/>
            <a:ext cx="557117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800" dirty="0"/>
              <a:t>各种卷积操作的示意https://github.com/vdumoulin/conv_arithmetic/blob/master/README.md</a:t>
            </a:r>
          </a:p>
        </p:txBody>
      </p:sp>
      <p:pic>
        <p:nvPicPr>
          <p:cNvPr id="11" name="图片 10" descr="图片包含 名片&#10;&#10;描述已自动生成">
            <a:extLst>
              <a:ext uri="{FF2B5EF4-FFF2-40B4-BE49-F238E27FC236}">
                <a16:creationId xmlns:a16="http://schemas.microsoft.com/office/drawing/2014/main" id="{A417A637-5BBB-354D-8141-81BBD7DCF9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4668" y="3168214"/>
            <a:ext cx="1162050" cy="122872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7A1A94E-35D8-284A-ABBD-D6F8C85B05E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544" y="3149603"/>
            <a:ext cx="1080620" cy="122872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458BCE1-FE0D-7F4C-8938-FFBE1DE716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9609" y="3168214"/>
            <a:ext cx="1254323" cy="1228725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CC00882C-2B0A-E046-A19C-756532B5BE1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8292" y="3053537"/>
            <a:ext cx="1392896" cy="1343402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33463D85-B11E-1949-866F-CB8B0A039EE6}"/>
              </a:ext>
            </a:extLst>
          </p:cNvPr>
          <p:cNvSpPr txBox="1"/>
          <p:nvPr/>
        </p:nvSpPr>
        <p:spPr>
          <a:xfrm>
            <a:off x="2988973" y="4378328"/>
            <a:ext cx="930061" cy="553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4289" tIns="34289" rIns="34289" bIns="34289" numCol="1" spcCol="38100" rtlCol="0" anchor="t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350" dirty="0">
                <a:solidFill>
                  <a:srgbClr val="47494B"/>
                </a:solidFill>
                <a:latin typeface="+mn-lt"/>
                <a:sym typeface="Calibri"/>
              </a:rPr>
              <a:t>padding=0</a:t>
            </a:r>
          </a:p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/>
              <a:t>stride=1</a:t>
            </a:r>
            <a:endParaRPr lang="zh-CN" altLang="en-US" sz="1350" dirty="0">
              <a:solidFill>
                <a:srgbClr val="47494B"/>
              </a:solidFill>
              <a:latin typeface="+mn-lt"/>
              <a:sym typeface="Calibri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76838C6-7CA8-3C47-9EB7-657E58651718}"/>
              </a:ext>
            </a:extLst>
          </p:cNvPr>
          <p:cNvSpPr txBox="1"/>
          <p:nvPr/>
        </p:nvSpPr>
        <p:spPr>
          <a:xfrm>
            <a:off x="4344133" y="4378327"/>
            <a:ext cx="930061" cy="553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4289" tIns="34289" rIns="34289" bIns="34289" numCol="1" spcCol="38100" rtlCol="0" anchor="t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350" dirty="0">
                <a:solidFill>
                  <a:srgbClr val="47494B"/>
                </a:solidFill>
                <a:latin typeface="+mn-lt"/>
                <a:sym typeface="Calibri"/>
              </a:rPr>
              <a:t>padding=1</a:t>
            </a:r>
          </a:p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/>
              <a:t>stride=1</a:t>
            </a:r>
            <a:endParaRPr lang="zh-CN" altLang="en-US" sz="1350" dirty="0">
              <a:solidFill>
                <a:srgbClr val="47494B"/>
              </a:solidFill>
              <a:latin typeface="+mn-lt"/>
              <a:sym typeface="Calibri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A763850-C83A-E74D-A961-3CFCF23D2841}"/>
              </a:ext>
            </a:extLst>
          </p:cNvPr>
          <p:cNvSpPr txBox="1"/>
          <p:nvPr/>
        </p:nvSpPr>
        <p:spPr>
          <a:xfrm>
            <a:off x="5854801" y="4349477"/>
            <a:ext cx="930061" cy="553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4289" tIns="34289" rIns="34289" bIns="34289" numCol="1" spcCol="38100" rtlCol="0" anchor="t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350" dirty="0">
                <a:solidFill>
                  <a:srgbClr val="47494B"/>
                </a:solidFill>
                <a:latin typeface="+mn-lt"/>
                <a:sym typeface="Calibri"/>
              </a:rPr>
              <a:t>padding=0</a:t>
            </a:r>
          </a:p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/>
              <a:t>stride=2</a:t>
            </a:r>
            <a:endParaRPr lang="zh-CN" altLang="en-US" sz="1350" dirty="0">
              <a:solidFill>
                <a:srgbClr val="47494B"/>
              </a:solidFill>
              <a:latin typeface="+mn-lt"/>
              <a:sym typeface="Calibri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2CC2973-5577-CD4F-B95B-99870D8333BE}"/>
              </a:ext>
            </a:extLst>
          </p:cNvPr>
          <p:cNvSpPr txBox="1"/>
          <p:nvPr/>
        </p:nvSpPr>
        <p:spPr>
          <a:xfrm>
            <a:off x="7388018" y="4393137"/>
            <a:ext cx="930061" cy="553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4289" tIns="34289" rIns="34289" bIns="34289" numCol="1" spcCol="38100" rtlCol="0" anchor="t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350" dirty="0">
                <a:solidFill>
                  <a:srgbClr val="47494B"/>
                </a:solidFill>
                <a:latin typeface="+mn-lt"/>
                <a:sym typeface="Calibri"/>
              </a:rPr>
              <a:t>padding=1</a:t>
            </a:r>
          </a:p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/>
              <a:t>stride=2</a:t>
            </a:r>
            <a:endParaRPr lang="zh-CN" altLang="en-US" sz="1350" dirty="0">
              <a:solidFill>
                <a:srgbClr val="47494B"/>
              </a:solidFill>
              <a:latin typeface="+mn-lt"/>
              <a:sym typeface="Calibri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BFE522E-FA69-48FF-86AF-B9870F57B54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942256"/>
      </p:ext>
    </p:extLst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F07B84-08BE-DD41-AD53-99628F51F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多维卷积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F3056719-5545-2F44-866C-76E4AE1B7D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4169562"/>
            <a:ext cx="4267200" cy="2218422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F3956A-4F9D-8340-A21B-0C0E93E7D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25</a:t>
            </a:fld>
            <a:endParaRPr lang="en-US" altLang="zh-CN"/>
          </a:p>
        </p:txBody>
      </p:sp>
      <p:sp>
        <p:nvSpPr>
          <p:cNvPr id="7" name="一层全连接">
            <a:extLst>
              <a:ext uri="{FF2B5EF4-FFF2-40B4-BE49-F238E27FC236}">
                <a16:creationId xmlns:a16="http://schemas.microsoft.com/office/drawing/2014/main" id="{DE0C42A0-234F-4941-8899-C23BEBAA7616}"/>
              </a:ext>
            </a:extLst>
          </p:cNvPr>
          <p:cNvSpPr txBox="1">
            <a:spLocks/>
          </p:cNvSpPr>
          <p:nvPr/>
        </p:nvSpPr>
        <p:spPr bwMode="auto">
          <a:xfrm>
            <a:off x="292865" y="1447800"/>
            <a:ext cx="8763000" cy="2687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00000"/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/>
              <a:t>到目前为止，考虑的卷积都是针对单个灰度图像的。对于彩色图像，会有三个通道（</a:t>
            </a:r>
            <a:r>
              <a:rPr lang="en" altLang="zh-CN" sz="2000" dirty="0"/>
              <a:t>channel</a:t>
            </a:r>
            <a:r>
              <a:rPr lang="zh-CN" altLang="en" sz="2000" dirty="0"/>
              <a:t>），</a:t>
            </a:r>
            <a:r>
              <a:rPr lang="zh-CN" altLang="en-US" sz="2000" dirty="0"/>
              <a:t>分别对应：红色、绿色、蓝色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可以很容易地将卷积扩展到多通道情况，只需要扩展卷积核的维度即可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给定一个具有</a:t>
            </a:r>
            <a:r>
              <a:rPr lang="en" altLang="zh-CN" sz="2000" dirty="0"/>
              <a:t>J×K</a:t>
            </a:r>
            <a:r>
              <a:rPr lang="zh-CN" altLang="en-US" sz="2000" dirty="0"/>
              <a:t>个像素、</a:t>
            </a:r>
            <a:r>
              <a:rPr lang="en" altLang="zh-CN" sz="2000" dirty="0"/>
              <a:t>C </a:t>
            </a:r>
            <a:r>
              <a:rPr lang="zh-CN" altLang="en-US" sz="2000" dirty="0"/>
              <a:t>个通道的图像</a:t>
            </a:r>
            <a:r>
              <a:rPr lang="en-US" altLang="zh-CN" sz="2000" dirty="0"/>
              <a:t>(</a:t>
            </a:r>
            <a:r>
              <a:rPr lang="zh-CN" altLang="en-US" sz="2000" dirty="0"/>
              <a:t>表示为</a:t>
            </a:r>
            <a:r>
              <a:rPr lang="en" altLang="zh-CN" sz="2000" dirty="0"/>
              <a:t>J×K×C </a:t>
            </a:r>
            <a:r>
              <a:rPr lang="zh-CN" altLang="en-US" sz="2000" dirty="0"/>
              <a:t>的张量</a:t>
            </a:r>
            <a:r>
              <a:rPr lang="en-US" altLang="zh-CN" sz="2000" dirty="0"/>
              <a:t>),</a:t>
            </a:r>
            <a:r>
              <a:rPr lang="zh-CN" altLang="en-US" sz="2000" dirty="0"/>
              <a:t>可以引入一个大小为</a:t>
            </a:r>
            <a:r>
              <a:rPr lang="en" altLang="zh-CN" sz="2000" dirty="0"/>
              <a:t>M×M×C</a:t>
            </a:r>
            <a:r>
              <a:rPr lang="zh-CN" altLang="en-US" sz="2000" dirty="0"/>
              <a:t>卷积核对其进行卷积。即：每一个通道采用一个独立的</a:t>
            </a:r>
            <a:r>
              <a:rPr lang="en" altLang="zh-CN" sz="2000" dirty="0"/>
              <a:t>M×M</a:t>
            </a:r>
            <a:r>
              <a:rPr lang="zh-CN" altLang="en" sz="2000" dirty="0"/>
              <a:t>大</a:t>
            </a:r>
            <a:r>
              <a:rPr lang="zh-CN" altLang="en-US" sz="2000" dirty="0"/>
              <a:t>小的卷积核进行卷积，最后将各个通道结果相加，得到一个输出值。</a:t>
            </a:r>
          </a:p>
          <a:p>
            <a:endParaRPr lang="zh-CN" altLang="en" sz="2000" dirty="0"/>
          </a:p>
          <a:p>
            <a:pPr>
              <a:lnSpc>
                <a:spcPct val="150000"/>
              </a:lnSpc>
            </a:pPr>
            <a:endParaRPr lang="en-US" altLang="zh-CN" sz="2000" kern="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8BCF997-D995-874C-9AD1-4CE3E079F3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83" y="4191551"/>
            <a:ext cx="3464370" cy="2687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18895"/>
      </p:ext>
    </p:extLst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87E136E-FF2F-8C48-9739-584E5009F8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076741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643242"/>
      </p:ext>
    </p:extLst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351FDBC-7ADB-E74C-AB52-28D00ACCF8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557678"/>
      </p:ext>
    </p:extLst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4094C70-70FF-ED4A-8117-EDFA9699F3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8200"/>
            <a:ext cx="9144000" cy="601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970855"/>
      </p:ext>
    </p:extLst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8E03B55-37A5-1B4F-AF01-4A1C77620C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313384"/>
      </p:ext>
    </p:extLst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EF1B97D-7961-424B-A38B-0173C4CF0D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6800"/>
            <a:ext cx="91440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009382"/>
      </p:ext>
    </p:extLst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1622F10-EC18-414C-889E-70933A5C8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0970"/>
            <a:ext cx="9144000" cy="598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227148"/>
      </p:ext>
    </p:extLst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9F6A5443-6808-CF40-AF1F-F357AB704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0602"/>
            <a:ext cx="9144000" cy="5967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023211"/>
      </p:ext>
    </p:extLst>
  </p:cSld>
  <p:clrMapOvr>
    <a:masterClrMapping/>
  </p:clrMapOvr>
  <p:transition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509B214-225A-7045-B78C-60AFA8370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6A83D4-3D09-4F7B-9106-F2CFA64C65BA}" type="slidenum">
              <a:rPr lang="zh-CN" altLang="en-US" smtClean="0"/>
              <a:pPr>
                <a:defRPr/>
              </a:pPr>
              <a:t>33</a:t>
            </a:fld>
            <a:endParaRPr lang="en-US" alt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05223B8-3218-8746-A17B-293FE36C4D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4103"/>
            <a:ext cx="9144000" cy="512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822613"/>
      </p:ext>
    </p:extLst>
  </p:cSld>
  <p:clrMapOvr>
    <a:masterClrMapping/>
  </p:clrMapOvr>
  <p:transition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EE74D68-0980-054B-835F-BCB12B2260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6740"/>
            <a:ext cx="9144000" cy="5981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240145"/>
      </p:ext>
    </p:extLst>
  </p:cSld>
  <p:clrMapOvr>
    <a:masterClrMapping/>
  </p:clrMapOvr>
  <p:transition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5E85632-3A2E-8A49-8ABE-522FB3F116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7722"/>
            <a:ext cx="9144000" cy="599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048856"/>
      </p:ext>
    </p:extLst>
  </p:cSld>
  <p:clrMapOvr>
    <a:masterClrMapping/>
  </p:clrMapOvr>
  <p:transition>
    <p:zo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D323F1D-9996-0B0D-9D1C-B7A09DDC9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826734"/>
      </p:ext>
    </p:extLst>
  </p:cSld>
  <p:clrMapOvr>
    <a:masterClrMapping/>
  </p:clrMapOvr>
  <p:transition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D858A4E-AF4C-6C05-7111-767B3AEFA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117975"/>
      </p:ext>
    </p:extLst>
  </p:cSld>
  <p:clrMapOvr>
    <a:masterClrMapping/>
  </p:clrMapOvr>
  <p:transition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9667A08-1433-784B-E85D-3FF88322D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160324"/>
      </p:ext>
    </p:extLst>
  </p:cSld>
  <p:clrMapOvr>
    <a:masterClrMapping/>
  </p:clrMapOvr>
  <p:transition>
    <p:zo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4B8F76E-916D-8F00-53CA-EB44E30D7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240426"/>
      </p:ext>
    </p:extLst>
  </p:cSld>
  <p:clrMapOvr>
    <a:masterClrMapping/>
  </p:clrMapOvr>
  <p:transition>
    <p:zo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0FE0F68-B823-77F5-9604-BA1896482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355543"/>
      </p:ext>
    </p:extLst>
  </p:cSld>
  <p:clrMapOvr>
    <a:masterClrMapping/>
  </p:clrMapOvr>
  <p:transition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BB142F5-FCCA-7ACB-A312-D261CDD85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200161"/>
      </p:ext>
    </p:extLst>
  </p:cSld>
  <p:clrMapOvr>
    <a:masterClrMapping/>
  </p:clrMapOvr>
  <p:transition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352AAAF-2027-DB76-F29F-3860FC498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734601"/>
      </p:ext>
    </p:extLst>
  </p:cSld>
  <p:clrMapOvr>
    <a:masterClrMapping/>
  </p:clrMapOvr>
  <p:transition>
    <p:zo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06C229B-552C-4DE9-587B-032C0951D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486076"/>
      </p:ext>
    </p:extLst>
  </p:cSld>
  <p:clrMapOvr>
    <a:masterClrMapping/>
  </p:clrMapOvr>
  <p:transition>
    <p:zo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6E0F88B-8115-DABD-7A0B-3572E0BEB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911085"/>
      </p:ext>
    </p:extLst>
  </p:cSld>
  <p:clrMapOvr>
    <a:masterClrMapping/>
  </p:clrMapOvr>
  <p:transition>
    <p:zo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9B0E6BC-E2D3-0FEA-6DB0-AD792AF8A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8033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184997"/>
      </p:ext>
    </p:extLst>
  </p:cSld>
  <p:clrMapOvr>
    <a:masterClrMapping/>
  </p:clrMapOvr>
  <p:transition>
    <p:zo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4B43CC4-71D7-7ECA-02C9-E937DAF6B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7641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598198"/>
      </p:ext>
    </p:extLst>
  </p:cSld>
  <p:clrMapOvr>
    <a:masterClrMapping/>
  </p:clrMapOvr>
  <p:transition>
    <p:zo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4B3C38A-A36F-5F66-A994-8D576C17F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7641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851706"/>
      </p:ext>
    </p:extLst>
  </p:cSld>
  <p:clrMapOvr>
    <a:masterClrMapping/>
  </p:clrMapOvr>
  <p:transition>
    <p:zo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8E77547-25A4-B635-12B2-4361FFA05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372337"/>
      </p:ext>
    </p:extLst>
  </p:cSld>
  <p:clrMapOvr>
    <a:masterClrMapping/>
  </p:clrMapOvr>
  <p:transition>
    <p:zo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1356A56-E5BF-B08E-09DB-67E6B2335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7641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461811"/>
      </p:ext>
    </p:extLst>
  </p:cSld>
  <p:clrMapOvr>
    <a:masterClrMapping/>
  </p:clrMapOvr>
  <p:transition>
    <p:zo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4674566-A48D-2753-0C16-7F25B24C1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885181"/>
      </p:ext>
    </p:extLst>
  </p:cSld>
  <p:clrMapOvr>
    <a:masterClrMapping/>
  </p:clrMapOvr>
  <p:transition>
    <p:zo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1A2FAB7-0DDC-9596-6E22-6C30FE827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587759"/>
      </p:ext>
    </p:extLst>
  </p:cSld>
  <p:clrMapOvr>
    <a:masterClrMapping/>
  </p:clrMapOvr>
  <p:transition>
    <p:zo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790AF38-45E4-DFEB-8373-BF815D8B5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26775"/>
      </p:ext>
    </p:extLst>
  </p:cSld>
  <p:clrMapOvr>
    <a:masterClrMapping/>
  </p:clrMapOvr>
  <p:transition>
    <p:zo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1D7897E-5A3B-0AD2-2F18-C8FDEB09A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000872"/>
      </p:ext>
    </p:extLst>
  </p:cSld>
  <p:clrMapOvr>
    <a:masterClrMapping/>
  </p:clrMapOvr>
  <p:transition>
    <p:zo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7853192-1AFD-0F49-FF62-811C34F38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894737"/>
      </p:ext>
    </p:extLst>
  </p:cSld>
  <p:clrMapOvr>
    <a:masterClrMapping/>
  </p:clrMapOvr>
  <p:transition>
    <p:zo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7352E79-BCB8-1B9C-FFDE-9BC6E38B7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8033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549513"/>
      </p:ext>
    </p:extLst>
  </p:cSld>
  <p:clrMapOvr>
    <a:masterClrMapping/>
  </p:clrMapOvr>
  <p:transition>
    <p:zo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60F5934-8469-9244-C515-9646B3943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390236"/>
      </p:ext>
    </p:extLst>
  </p:cSld>
  <p:clrMapOvr>
    <a:masterClrMapping/>
  </p:clrMapOvr>
  <p:transition>
    <p:zoom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D0DFF11-8268-06ED-9566-0E85D92F9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098939"/>
      </p:ext>
    </p:extLst>
  </p:cSld>
  <p:clrMapOvr>
    <a:masterClrMapping/>
  </p:clrMapOvr>
  <p:transition>
    <p:zoom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66BFDD3-B805-6234-8CD2-4FB892ECA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399050"/>
      </p:ext>
    </p:extLst>
  </p:cSld>
  <p:clrMapOvr>
    <a:masterClrMapping/>
  </p:clrMapOvr>
  <p:transition>
    <p:zoom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BDDA46F-E303-C89D-B52F-7E6E21CA0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693213"/>
      </p:ext>
    </p:extLst>
  </p:cSld>
  <p:clrMapOvr>
    <a:masterClrMapping/>
  </p:clrMapOvr>
  <p:transition>
    <p:zoom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B70F1DA-4D1A-3A1F-2385-137B3567A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776901"/>
      </p:ext>
    </p:extLst>
  </p:cSld>
  <p:clrMapOvr>
    <a:masterClrMapping/>
  </p:clrMapOvr>
  <p:transition>
    <p:zoom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776D198-E4D7-6CB3-F491-6852EA82A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078341"/>
      </p:ext>
    </p:extLst>
  </p:cSld>
  <p:clrMapOvr>
    <a:masterClrMapping/>
  </p:clrMapOvr>
  <p:transition>
    <p:zoom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57D194A-99D0-63BE-CF98-23D51742F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176702"/>
      </p:ext>
    </p:extLst>
  </p:cSld>
  <p:clrMapOvr>
    <a:masterClrMapping/>
  </p:clrMapOvr>
  <p:transition>
    <p:zoom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>
                <a:ea typeface="宋体" panose="02010600030101010101" pitchFamily="2" charset="-122"/>
              </a:rPr>
              <a:t>池化（</a:t>
            </a:r>
            <a:r>
              <a:rPr lang="en-US" altLang="zh-CN" b="1">
                <a:ea typeface="宋体" panose="02010600030101010101" pitchFamily="2" charset="-122"/>
              </a:rPr>
              <a:t>Pooling</a:t>
            </a:r>
            <a:r>
              <a:rPr lang="zh-CN" altLang="en-US" b="1">
                <a:ea typeface="宋体" panose="02010600030101010101" pitchFamily="2" charset="-122"/>
              </a:rPr>
              <a:t>）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0419" name="内容占位符 2"/>
          <p:cNvSpPr>
            <a:spLocks noGrp="1"/>
          </p:cNvSpPr>
          <p:nvPr>
            <p:ph idx="1"/>
          </p:nvPr>
        </p:nvSpPr>
        <p:spPr>
          <a:xfrm>
            <a:off x="228600" y="2057400"/>
            <a:ext cx="8458200" cy="4800600"/>
          </a:xfrm>
        </p:spPr>
        <p:txBody>
          <a:bodyPr/>
          <a:lstStyle/>
          <a:p>
            <a:r>
              <a:rPr lang="zh-CN" altLang="en-US" sz="2400">
                <a:ea typeface="宋体" panose="02010600030101010101" pitchFamily="2" charset="-122"/>
              </a:rPr>
              <a:t>池化的过程如下图所示：</a:t>
            </a:r>
            <a:endParaRPr lang="en-US" altLang="zh-CN" sz="2400">
              <a:ea typeface="宋体" panose="02010600030101010101" pitchFamily="2" charset="-122"/>
            </a:endParaRPr>
          </a:p>
          <a:p>
            <a:r>
              <a:rPr lang="zh-CN" altLang="en-US" sz="2400">
                <a:ea typeface="宋体" panose="02010600030101010101" pitchFamily="2" charset="-122"/>
              </a:rPr>
              <a:t>可以看到，原始图片是</a:t>
            </a:r>
            <a:r>
              <a:rPr lang="en-US" altLang="zh-CN" sz="2400">
                <a:ea typeface="宋体" panose="02010600030101010101" pitchFamily="2" charset="-122"/>
              </a:rPr>
              <a:t>20x20</a:t>
            </a:r>
            <a:r>
              <a:rPr lang="zh-CN" altLang="en-US" sz="2400">
                <a:ea typeface="宋体" panose="02010600030101010101" pitchFamily="2" charset="-122"/>
              </a:rPr>
              <a:t>的，对其进行采样，采样窗口为</a:t>
            </a:r>
            <a:r>
              <a:rPr lang="en-US" altLang="zh-CN" sz="2400">
                <a:ea typeface="宋体" panose="02010600030101010101" pitchFamily="2" charset="-122"/>
              </a:rPr>
              <a:t>10x10</a:t>
            </a:r>
            <a:r>
              <a:rPr lang="zh-CN" altLang="en-US" sz="2400">
                <a:ea typeface="宋体" panose="02010600030101010101" pitchFamily="2" charset="-122"/>
              </a:rPr>
              <a:t>，最终将其采样成为一个</a:t>
            </a:r>
            <a:r>
              <a:rPr lang="en-US" altLang="zh-CN" sz="2400">
                <a:ea typeface="宋体" panose="02010600030101010101" pitchFamily="2" charset="-122"/>
              </a:rPr>
              <a:t>2x2</a:t>
            </a:r>
            <a:r>
              <a:rPr lang="zh-CN" altLang="en-US" sz="2400">
                <a:ea typeface="宋体" panose="02010600030101010101" pitchFamily="2" charset="-122"/>
              </a:rPr>
              <a:t>大小的特征图。</a:t>
            </a:r>
          </a:p>
          <a:p>
            <a:r>
              <a:rPr lang="zh-CN" altLang="en-US" sz="2400">
                <a:ea typeface="宋体" panose="02010600030101010101" pitchFamily="2" charset="-122"/>
              </a:rPr>
              <a:t>之所以这么做，是因为即使做完了卷积，图像仍然很大（因为卷积核比较小），所以为了降低数据维度，就进行采样。</a:t>
            </a:r>
          </a:p>
          <a:p>
            <a:r>
              <a:rPr lang="zh-CN" altLang="en-US" sz="2400">
                <a:ea typeface="宋体" panose="02010600030101010101" pitchFamily="2" charset="-122"/>
              </a:rPr>
              <a:t>即使减少了许多数据，特征的统计属性仍能够描述图像，而且由于降低了数据维度，有效地避免了过拟合。</a:t>
            </a:r>
          </a:p>
          <a:p>
            <a:r>
              <a:rPr lang="zh-CN" altLang="en-US" sz="2400">
                <a:ea typeface="宋体" panose="02010600030101010101" pitchFamily="2" charset="-122"/>
              </a:rPr>
              <a:t>在实际应用中，分为最大值采样（</a:t>
            </a:r>
            <a:r>
              <a:rPr lang="en-US" altLang="zh-CN" sz="2400">
                <a:ea typeface="宋体" panose="02010600030101010101" pitchFamily="2" charset="-122"/>
              </a:rPr>
              <a:t>Max-Pooling</a:t>
            </a:r>
            <a:r>
              <a:rPr lang="zh-CN" altLang="en-US" sz="2400">
                <a:ea typeface="宋体" panose="02010600030101010101" pitchFamily="2" charset="-122"/>
              </a:rPr>
              <a:t>）与平均值采样（</a:t>
            </a:r>
            <a:r>
              <a:rPr lang="en-US" altLang="zh-CN" sz="2400">
                <a:ea typeface="宋体" panose="02010600030101010101" pitchFamily="2" charset="-122"/>
              </a:rPr>
              <a:t>Mean-Pooling</a:t>
            </a:r>
            <a:r>
              <a:rPr lang="zh-CN" altLang="en-US" sz="2400">
                <a:ea typeface="宋体" panose="02010600030101010101" pitchFamily="2" charset="-122"/>
              </a:rPr>
              <a:t>）。</a:t>
            </a:r>
          </a:p>
          <a:p>
            <a:endParaRPr lang="en-US" altLang="zh-CN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0420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2551DBF-2964-4F8C-9870-3C5E865776CE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2026年5月10日星期日</a:t>
            </a:fld>
            <a:endParaRPr lang="en-US" altLang="zh-CN" sz="1200"/>
          </a:p>
        </p:txBody>
      </p:sp>
      <p:sp>
        <p:nvSpPr>
          <p:cNvPr id="60421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7AA996A-DECA-4141-B623-F766DB071319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63</a:t>
            </a:fld>
            <a:endParaRPr lang="en-US" altLang="zh-CN" sz="1200"/>
          </a:p>
        </p:txBody>
      </p:sp>
      <p:pic>
        <p:nvPicPr>
          <p:cNvPr id="6042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0"/>
            <a:ext cx="3743325" cy="210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2362200"/>
            <a:ext cx="4972363" cy="41148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1250" y="152400"/>
            <a:ext cx="4446596" cy="2743199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64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8820964"/>
      </p:ext>
    </p:extLst>
  </p:cSld>
  <p:clrMapOvr>
    <a:masterClrMapping/>
  </p:clrMapOvr>
  <p:transition>
    <p:zoom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99F8B9-E61E-E781-9D83-A3532FA6C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卷积神经网络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9261A1-9891-BDD4-A2F1-7D9D6D89E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卷积神经网络有三个结构上的特性：</a:t>
            </a:r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/>
            <a:r>
              <a:rPr lang="zh-CN" altLang="en-US" sz="1800" b="1" dirty="0">
                <a:latin typeface="SimSun" panose="02010600030101010101" pitchFamily="2" charset="-122"/>
                <a:ea typeface="SimSun" panose="02010600030101010101" pitchFamily="2" charset="-122"/>
              </a:rPr>
              <a:t>局部连接</a:t>
            </a:r>
            <a:endParaRPr lang="en-US" altLang="zh-CN" sz="1800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/>
            <a:r>
              <a:rPr lang="zh-CN" altLang="en-US" sz="1800" b="1" dirty="0">
                <a:latin typeface="SimSun" panose="02010600030101010101" pitchFamily="2" charset="-122"/>
                <a:ea typeface="SimSun" panose="02010600030101010101" pitchFamily="2" charset="-122"/>
              </a:rPr>
              <a:t>权重共享</a:t>
            </a:r>
            <a:endParaRPr lang="en-US" altLang="zh-CN" sz="1800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/>
            <a:r>
              <a:rPr lang="zh-CN" altLang="en-US" sz="1800" b="1" dirty="0">
                <a:latin typeface="SimSun" panose="02010600030101010101" pitchFamily="2" charset="-122"/>
                <a:ea typeface="SimSun" panose="02010600030101010101" pitchFamily="2" charset="-122"/>
              </a:rPr>
              <a:t>池化</a:t>
            </a:r>
            <a:endParaRPr lang="en-US" altLang="zh-CN" sz="1800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457070" lvl="1" indent="0">
              <a:buNone/>
            </a:pPr>
            <a:endParaRPr lang="en-US" altLang="zh-CN" sz="1800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这些特性使得卷积具有一定程度上的</a:t>
            </a:r>
            <a:r>
              <a:rPr lang="zh-CN" altLang="en-US" sz="18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平移、缩放和旋转不变性</a:t>
            </a:r>
            <a:endParaRPr lang="en-US" altLang="zh-CN" sz="1800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与全连接神经网络相比，卷积神经网络的</a:t>
            </a:r>
            <a:r>
              <a:rPr lang="zh-CN" altLang="en-US" sz="18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参数更少</a:t>
            </a:r>
            <a:endParaRPr lang="en-US" altLang="zh-CN" sz="1800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卷积神经网络：</a:t>
            </a:r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/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主要使用在图像和视频分析的各种任务（图像分类、人脸识别、物体识别、图像分割）上</a:t>
            </a:r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/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也在自然语言上有一些应用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80B6F7-9FD4-E4B9-CE69-E2B0D1637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EE9DE-39C0-45B1-B406-4DEC767CB4A8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447827"/>
      </p:ext>
    </p:extLst>
  </p:cSld>
  <p:clrMapOvr>
    <a:masterClrMapping/>
  </p:clrMapOvr>
  <p:transition>
    <p:zoom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B2FF87-F24E-F94A-932E-F7A014C34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卷积神经网络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F61094-6226-DE49-BE8E-029A28501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66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E0C2823-0FB8-3A47-B7AF-EAE9B02E3C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74790"/>
            <a:ext cx="9144000" cy="458321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9080F1B-163F-9E48-B3D1-37C9222C6541}"/>
              </a:ext>
            </a:extLst>
          </p:cNvPr>
          <p:cNvSpPr txBox="1"/>
          <p:nvPr/>
        </p:nvSpPr>
        <p:spPr>
          <a:xfrm>
            <a:off x="1408804" y="1443792"/>
            <a:ext cx="41857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卷积和池化操作在抽取特征的</a:t>
            </a:r>
            <a:endParaRPr kumimoji="1" lang="en-US" altLang="zh-CN" dirty="0"/>
          </a:p>
          <a:p>
            <a:r>
              <a:rPr kumimoji="1" lang="zh-CN" altLang="en-US" dirty="0"/>
              <a:t>同时保留了二维图像结构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1021766-88FB-FF45-9F5B-65C4CAADA11B}"/>
              </a:ext>
            </a:extLst>
          </p:cNvPr>
          <p:cNvSpPr txBox="1"/>
          <p:nvPr/>
        </p:nvSpPr>
        <p:spPr>
          <a:xfrm>
            <a:off x="5980804" y="1371600"/>
            <a:ext cx="2743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最后用全连接层用</a:t>
            </a:r>
            <a:endParaRPr kumimoji="1" lang="en-US" altLang="zh-CN" dirty="0"/>
          </a:p>
          <a:p>
            <a:r>
              <a:rPr kumimoji="1" lang="zh-CN" altLang="en-US" dirty="0"/>
              <a:t>来进行预测</a:t>
            </a:r>
          </a:p>
        </p:txBody>
      </p:sp>
    </p:spTree>
    <p:extLst>
      <p:ext uri="{BB962C8B-B14F-4D97-AF65-F5344CB8AC3E}">
        <p14:creationId xmlns:p14="http://schemas.microsoft.com/office/powerpoint/2010/main" val="840276301"/>
      </p:ext>
    </p:extLst>
  </p:cSld>
  <p:clrMapOvr>
    <a:masterClrMapping/>
  </p:clrMapOvr>
  <p:transition>
    <p:zoom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144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zh-CN">
                <a:ea typeface="宋体" panose="02010600030101010101" pitchFamily="2" charset="-122"/>
              </a:rPr>
              <a:t>给定一个大小为</a:t>
            </a:r>
            <a:r>
              <a:rPr lang="en-US" altLang="zh-CN">
                <a:ea typeface="宋体" panose="02010600030101010101" pitchFamily="2" charset="-122"/>
              </a:rPr>
              <a:t>32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ea typeface="宋体" panose="02010600030101010101" pitchFamily="2" charset="-122"/>
              </a:rPr>
              <a:t>32</a:t>
            </a:r>
            <a:r>
              <a:rPr lang="zh-CN" altLang="zh-CN">
                <a:ea typeface="宋体" panose="02010600030101010101" pitchFamily="2" charset="-122"/>
              </a:rPr>
              <a:t>的图像，将其输入</a:t>
            </a:r>
            <a:r>
              <a:rPr lang="en-US" altLang="zh-CN">
                <a:ea typeface="宋体" panose="02010600030101010101" pitchFamily="2" charset="-122"/>
              </a:rPr>
              <a:t>LeNet-5</a:t>
            </a:r>
            <a:r>
              <a:rPr lang="zh-CN" altLang="zh-CN">
                <a:ea typeface="宋体" panose="02010600030101010101" pitchFamily="2" charset="-122"/>
              </a:rPr>
              <a:t>后，后续各层的处理如下：</a:t>
            </a: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1444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CA7E862-10A3-4AEE-9E06-2B83C66BC962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2026年5月10日星期日</a:t>
            </a:fld>
            <a:endParaRPr lang="en-US" altLang="zh-CN" sz="1200"/>
          </a:p>
        </p:txBody>
      </p:sp>
      <p:sp>
        <p:nvSpPr>
          <p:cNvPr id="61445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9A0CAEB-9997-4FE2-81F8-1B2D178D272F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67</a:t>
            </a:fld>
            <a:endParaRPr lang="en-US" altLang="zh-CN" sz="1200"/>
          </a:p>
        </p:txBody>
      </p:sp>
      <p:pic>
        <p:nvPicPr>
          <p:cNvPr id="614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759"/>
          <a:stretch>
            <a:fillRect/>
          </a:stretch>
        </p:blipFill>
        <p:spPr bwMode="auto">
          <a:xfrm>
            <a:off x="152400" y="228600"/>
            <a:ext cx="8991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7" name="图片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47800"/>
            <a:ext cx="76962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2467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D12989C-AF3C-41DB-906D-DBFD7490556B}" type="datetime4">
              <a:rPr lang="zh-CN" altLang="en-US" sz="1200" smtClean="0"/>
              <a:pPr/>
              <a:t>2026年5月10日星期日</a:t>
            </a:fld>
            <a:endParaRPr lang="en-US" altLang="zh-CN" sz="1200"/>
          </a:p>
        </p:txBody>
      </p:sp>
      <p:sp>
        <p:nvSpPr>
          <p:cNvPr id="62468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949F89C-C2BD-4D5E-98FF-8125B9A1100A}" type="slidenum">
              <a:rPr lang="zh-CN" altLang="en-US" sz="1200"/>
              <a:pPr/>
              <a:t>68</a:t>
            </a:fld>
            <a:endParaRPr lang="en-US" altLang="zh-CN" sz="1200"/>
          </a:p>
        </p:txBody>
      </p:sp>
      <p:sp>
        <p:nvSpPr>
          <p:cNvPr id="62469" name="内容占位符 2"/>
          <p:cNvSpPr>
            <a:spLocks noGrp="1"/>
          </p:cNvSpPr>
          <p:nvPr>
            <p:ph idx="1"/>
          </p:nvPr>
        </p:nvSpPr>
        <p:spPr>
          <a:xfrm>
            <a:off x="76200" y="3048000"/>
            <a:ext cx="8686800" cy="3429000"/>
          </a:xfrm>
        </p:spPr>
        <p:txBody>
          <a:bodyPr/>
          <a:lstStyle/>
          <a:p>
            <a:pPr marL="457200" lvl="1" indent="0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zh-CN" altLang="zh-CN">
                <a:ea typeface="宋体" panose="02010600030101010101" pitchFamily="2" charset="-122"/>
              </a:rPr>
              <a:t>卷积层</a:t>
            </a:r>
            <a:r>
              <a:rPr lang="en-US" altLang="zh-CN">
                <a:ea typeface="宋体" panose="02010600030101010101" pitchFamily="2" charset="-122"/>
              </a:rPr>
              <a:t>C1</a:t>
            </a:r>
            <a:r>
              <a:rPr lang="zh-CN" altLang="zh-CN">
                <a:ea typeface="宋体" panose="02010600030101010101" pitchFamily="2" charset="-122"/>
              </a:rPr>
              <a:t>：原始的</a:t>
            </a:r>
            <a:r>
              <a:rPr lang="en-US" altLang="zh-CN">
                <a:ea typeface="宋体" panose="02010600030101010101" pitchFamily="2" charset="-122"/>
              </a:rPr>
              <a:t>32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ea typeface="宋体" panose="02010600030101010101" pitchFamily="2" charset="-122"/>
              </a:rPr>
              <a:t>32</a:t>
            </a:r>
            <a:r>
              <a:rPr lang="zh-CN" altLang="zh-CN">
                <a:ea typeface="宋体" panose="02010600030101010101" pitchFamily="2" charset="-122"/>
              </a:rPr>
              <a:t>的图像输入进来以后，先进入一个卷积层</a:t>
            </a:r>
            <a:r>
              <a:rPr lang="en-US" altLang="zh-CN">
                <a:ea typeface="宋体" panose="02010600030101010101" pitchFamily="2" charset="-122"/>
              </a:rPr>
              <a:t>C1</a:t>
            </a:r>
            <a:r>
              <a:rPr lang="zh-CN" altLang="zh-CN">
                <a:ea typeface="宋体" panose="02010600030101010101" pitchFamily="2" charset="-122"/>
              </a:rPr>
              <a:t>（由</a:t>
            </a:r>
            <a:r>
              <a:rPr lang="en-US" altLang="zh-CN">
                <a:ea typeface="宋体" panose="02010600030101010101" pitchFamily="2" charset="-122"/>
              </a:rPr>
              <a:t>6</a:t>
            </a:r>
            <a:r>
              <a:rPr lang="zh-CN" altLang="zh-CN">
                <a:ea typeface="宋体" panose="02010600030101010101" pitchFamily="2" charset="-122"/>
              </a:rPr>
              <a:t>个</a:t>
            </a: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zh-CN" altLang="zh-CN">
                <a:ea typeface="宋体" panose="02010600030101010101" pitchFamily="2" charset="-122"/>
              </a:rPr>
              <a:t>的卷积核组成），卷积计算出</a:t>
            </a:r>
            <a:r>
              <a:rPr lang="en-US" altLang="zh-CN">
                <a:ea typeface="宋体" panose="02010600030101010101" pitchFamily="2" charset="-122"/>
              </a:rPr>
              <a:t>6</a:t>
            </a:r>
            <a:r>
              <a:rPr lang="zh-CN" altLang="zh-CN">
                <a:ea typeface="宋体" panose="02010600030101010101" pitchFamily="2" charset="-122"/>
              </a:rPr>
              <a:t>个</a:t>
            </a:r>
            <a:r>
              <a:rPr lang="en-US" altLang="zh-CN">
                <a:ea typeface="宋体" panose="02010600030101010101" pitchFamily="2" charset="-122"/>
              </a:rPr>
              <a:t>28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ea typeface="宋体" panose="02010600030101010101" pitchFamily="2" charset="-122"/>
              </a:rPr>
              <a:t>28</a:t>
            </a:r>
            <a:r>
              <a:rPr lang="zh-CN" altLang="zh-CN">
                <a:ea typeface="宋体" panose="02010600030101010101" pitchFamily="2" charset="-122"/>
              </a:rPr>
              <a:t>的图像。</a:t>
            </a:r>
          </a:p>
          <a:p>
            <a:pPr marL="457200" lvl="1" indent="0">
              <a:buFont typeface="Wingdings" panose="05000000000000000000" pitchFamily="2" charset="2"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 marL="457200" lvl="1" indent="0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2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zh-CN" altLang="zh-CN">
                <a:ea typeface="宋体" panose="02010600030101010101" pitchFamily="2" charset="-122"/>
              </a:rPr>
              <a:t>池化层</a:t>
            </a:r>
            <a:r>
              <a:rPr lang="en-US" altLang="zh-CN">
                <a:ea typeface="宋体" panose="02010600030101010101" pitchFamily="2" charset="-122"/>
              </a:rPr>
              <a:t>S2</a:t>
            </a:r>
            <a:r>
              <a:rPr lang="zh-CN" altLang="zh-CN">
                <a:ea typeface="宋体" panose="02010600030101010101" pitchFamily="2" charset="-122"/>
              </a:rPr>
              <a:t>：然后用</a:t>
            </a:r>
            <a:r>
              <a:rPr lang="en-US" altLang="zh-CN">
                <a:ea typeface="宋体" panose="02010600030101010101" pitchFamily="2" charset="-122"/>
              </a:rPr>
              <a:t>2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ea typeface="宋体" panose="02010600030101010101" pitchFamily="2" charset="-122"/>
              </a:rPr>
              <a:t>2</a:t>
            </a:r>
            <a:r>
              <a:rPr lang="zh-CN" altLang="zh-CN">
                <a:ea typeface="宋体" panose="02010600030101010101" pitchFamily="2" charset="-122"/>
              </a:rPr>
              <a:t>的采样窗口进行下采样，得到</a:t>
            </a:r>
            <a:r>
              <a:rPr lang="en-US" altLang="zh-CN">
                <a:ea typeface="宋体" panose="02010600030101010101" pitchFamily="2" charset="-122"/>
              </a:rPr>
              <a:t>6</a:t>
            </a:r>
            <a:r>
              <a:rPr lang="zh-CN" altLang="zh-CN">
                <a:ea typeface="宋体" panose="02010600030101010101" pitchFamily="2" charset="-122"/>
              </a:rPr>
              <a:t>个</a:t>
            </a:r>
            <a:r>
              <a:rPr lang="en-US" altLang="zh-CN">
                <a:ea typeface="宋体" panose="02010600030101010101" pitchFamily="2" charset="-122"/>
              </a:rPr>
              <a:t>14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ea typeface="宋体" panose="02010600030101010101" pitchFamily="2" charset="-122"/>
              </a:rPr>
              <a:t>14</a:t>
            </a:r>
            <a:r>
              <a:rPr lang="zh-CN" altLang="zh-CN">
                <a:ea typeface="宋体" panose="02010600030101010101" pitchFamily="2" charset="-122"/>
              </a:rPr>
              <a:t>的图像。</a:t>
            </a:r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62470" name="图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88" y="176213"/>
            <a:ext cx="8913812" cy="294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/>
              <p14:cNvContentPartPr/>
              <p14:nvPr/>
            </p14:nvContentPartPr>
            <p14:xfrm>
              <a:off x="1995480" y="314280"/>
              <a:ext cx="1410120" cy="448200"/>
            </p14:xfrm>
          </p:contentPart>
        </mc:Choice>
        <mc:Fallback xmlns="">
          <p:pic>
            <p:nvPicPr>
              <p:cNvPr id="2" name="墨迹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86120" y="304920"/>
                <a:ext cx="1428840" cy="466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zoom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内容占位符 2"/>
          <p:cNvSpPr>
            <a:spLocks noGrp="1"/>
          </p:cNvSpPr>
          <p:nvPr>
            <p:ph idx="1"/>
          </p:nvPr>
        </p:nvSpPr>
        <p:spPr>
          <a:xfrm>
            <a:off x="0" y="3352800"/>
            <a:ext cx="8763000" cy="3124200"/>
          </a:xfrm>
        </p:spPr>
        <p:txBody>
          <a:bodyPr/>
          <a:lstStyle/>
          <a:p>
            <a:pPr marL="457200" lvl="1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3</a:t>
            </a:r>
            <a:r>
              <a:rPr lang="zh-CN" altLang="en-US" dirty="0">
                <a:ea typeface="宋体" panose="02010600030101010101" pitchFamily="2" charset="-122"/>
              </a:rPr>
              <a:t>，</a:t>
            </a:r>
            <a:r>
              <a:rPr lang="zh-CN" altLang="zh-CN" dirty="0">
                <a:ea typeface="宋体" panose="02010600030101010101" pitchFamily="2" charset="-122"/>
              </a:rPr>
              <a:t>卷积层</a:t>
            </a:r>
            <a:r>
              <a:rPr lang="en-US" altLang="zh-CN" dirty="0">
                <a:ea typeface="宋体" panose="02010600030101010101" pitchFamily="2" charset="-122"/>
              </a:rPr>
              <a:t>C3</a:t>
            </a:r>
            <a:r>
              <a:rPr lang="zh-CN" altLang="zh-CN" dirty="0">
                <a:ea typeface="宋体" panose="02010600030101010101" pitchFamily="2" charset="-122"/>
              </a:rPr>
              <a:t>：由</a:t>
            </a:r>
            <a:r>
              <a:rPr lang="en-US" altLang="zh-CN" dirty="0">
                <a:ea typeface="宋体" panose="02010600030101010101" pitchFamily="2" charset="-122"/>
              </a:rPr>
              <a:t>16</a:t>
            </a:r>
            <a:r>
              <a:rPr lang="zh-CN" altLang="zh-CN" dirty="0">
                <a:ea typeface="宋体" panose="02010600030101010101" pitchFamily="2" charset="-122"/>
              </a:rPr>
              <a:t>个</a:t>
            </a:r>
            <a:r>
              <a:rPr lang="en-US" altLang="zh-CN" dirty="0">
                <a:ea typeface="宋体" panose="02010600030101010101" pitchFamily="2" charset="-122"/>
              </a:rPr>
              <a:t>5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dirty="0">
                <a:ea typeface="宋体" panose="02010600030101010101" pitchFamily="2" charset="-122"/>
              </a:rPr>
              <a:t>5</a:t>
            </a:r>
            <a:r>
              <a:rPr lang="zh-CN" altLang="zh-CN" dirty="0">
                <a:ea typeface="宋体" panose="02010600030101010101" pitchFamily="2" charset="-122"/>
              </a:rPr>
              <a:t>的卷积核组成，将</a:t>
            </a:r>
            <a:r>
              <a:rPr lang="en-US" altLang="zh-CN" dirty="0">
                <a:ea typeface="宋体" panose="02010600030101010101" pitchFamily="2" charset="-122"/>
              </a:rPr>
              <a:t>6</a:t>
            </a:r>
            <a:r>
              <a:rPr lang="zh-CN" altLang="zh-CN" dirty="0">
                <a:ea typeface="宋体" panose="02010600030101010101" pitchFamily="2" charset="-122"/>
              </a:rPr>
              <a:t>个</a:t>
            </a:r>
            <a:r>
              <a:rPr lang="en-US" altLang="zh-CN" dirty="0">
                <a:ea typeface="宋体" panose="02010600030101010101" pitchFamily="2" charset="-122"/>
              </a:rPr>
              <a:t>14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dirty="0">
                <a:ea typeface="宋体" panose="02010600030101010101" pitchFamily="2" charset="-122"/>
              </a:rPr>
              <a:t>14</a:t>
            </a:r>
            <a:r>
              <a:rPr lang="zh-CN" altLang="zh-CN" dirty="0">
                <a:ea typeface="宋体" panose="02010600030101010101" pitchFamily="2" charset="-122"/>
              </a:rPr>
              <a:t>的图像进行卷积计算后，得到</a:t>
            </a:r>
            <a:r>
              <a:rPr lang="en-US" altLang="zh-CN" dirty="0">
                <a:ea typeface="宋体" panose="02010600030101010101" pitchFamily="2" charset="-122"/>
              </a:rPr>
              <a:t>16</a:t>
            </a:r>
            <a:r>
              <a:rPr lang="zh-CN" altLang="zh-CN" dirty="0">
                <a:ea typeface="宋体" panose="02010600030101010101" pitchFamily="2" charset="-122"/>
              </a:rPr>
              <a:t>个</a:t>
            </a:r>
            <a:r>
              <a:rPr lang="en-US" altLang="zh-CN" dirty="0">
                <a:ea typeface="宋体" panose="02010600030101010101" pitchFamily="2" charset="-122"/>
              </a:rPr>
              <a:t>10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dirty="0">
                <a:ea typeface="宋体" panose="02010600030101010101" pitchFamily="2" charset="-122"/>
              </a:rPr>
              <a:t>10</a:t>
            </a:r>
            <a:r>
              <a:rPr lang="zh-CN" altLang="zh-CN" dirty="0">
                <a:ea typeface="宋体" panose="02010600030101010101" pitchFamily="2" charset="-122"/>
              </a:rPr>
              <a:t>的图像。需要注意的是，</a:t>
            </a:r>
            <a:r>
              <a:rPr lang="en-US" altLang="zh-CN" dirty="0">
                <a:ea typeface="宋体" panose="02010600030101010101" pitchFamily="2" charset="-122"/>
              </a:rPr>
              <a:t>C3</a:t>
            </a:r>
            <a:r>
              <a:rPr lang="zh-CN" altLang="zh-CN" dirty="0">
                <a:ea typeface="宋体" panose="02010600030101010101" pitchFamily="2" charset="-122"/>
              </a:rPr>
              <a:t>中的每个特征图可以连接到</a:t>
            </a:r>
            <a:r>
              <a:rPr lang="en-US" altLang="zh-CN" dirty="0">
                <a:ea typeface="宋体" panose="02010600030101010101" pitchFamily="2" charset="-122"/>
              </a:rPr>
              <a:t>S2</a:t>
            </a:r>
            <a:r>
              <a:rPr lang="zh-CN" altLang="zh-CN" dirty="0">
                <a:ea typeface="宋体" panose="02010600030101010101" pitchFamily="2" charset="-122"/>
              </a:rPr>
              <a:t>中的所有</a:t>
            </a:r>
            <a:r>
              <a:rPr lang="en-US" altLang="zh-CN" dirty="0">
                <a:ea typeface="宋体" panose="02010600030101010101" pitchFamily="2" charset="-122"/>
              </a:rPr>
              <a:t>6</a:t>
            </a:r>
            <a:r>
              <a:rPr lang="zh-CN" altLang="zh-CN" dirty="0">
                <a:ea typeface="宋体" panose="02010600030101010101" pitchFamily="2" charset="-122"/>
              </a:rPr>
              <a:t>个或几个特征图，表示本层的特征图是上一层提取到的特征图的不同组合。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3491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3F83D57-8709-4CD4-B749-0E44DA2A08C8}" type="datetime4">
              <a:rPr lang="zh-CN" altLang="en-US" sz="1200" smtClean="0"/>
              <a:pPr/>
              <a:t>2026年5月10日星期日</a:t>
            </a:fld>
            <a:endParaRPr lang="en-US" altLang="zh-CN" sz="1200"/>
          </a:p>
        </p:txBody>
      </p:sp>
      <p:sp>
        <p:nvSpPr>
          <p:cNvPr id="63492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EF3D55B-BD68-4D97-8F11-BD50478D0CE3}" type="slidenum">
              <a:rPr lang="zh-CN" altLang="en-US" sz="1200"/>
              <a:pPr/>
              <a:t>69</a:t>
            </a:fld>
            <a:endParaRPr lang="en-US" altLang="zh-CN" sz="1200"/>
          </a:p>
        </p:txBody>
      </p:sp>
      <p:pic>
        <p:nvPicPr>
          <p:cNvPr id="63493" name="图片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"/>
            <a:ext cx="8839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/>
              <p14:cNvContentPartPr/>
              <p14:nvPr/>
            </p14:nvContentPartPr>
            <p14:xfrm>
              <a:off x="3343320" y="276120"/>
              <a:ext cx="329040" cy="614880"/>
            </p14:xfrm>
          </p:contentPart>
        </mc:Choice>
        <mc:Fallback xmlns="">
          <p:pic>
            <p:nvPicPr>
              <p:cNvPr id="2" name="墨迹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33960" y="266760"/>
                <a:ext cx="347760" cy="633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zoom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8450" y="76200"/>
            <a:ext cx="8458200" cy="3392488"/>
          </a:xfrm>
        </p:spPr>
        <p:txBody>
          <a:bodyPr/>
          <a:lstStyle/>
          <a:p>
            <a:pPr marL="457200" lvl="1" indent="0">
              <a:buFont typeface="Wingdings" panose="05000000000000000000" pitchFamily="2" charset="2"/>
              <a:buNone/>
            </a:pPr>
            <a:r>
              <a:rPr lang="zh-CN" altLang="zh-CN">
                <a:ea typeface="宋体" panose="02010600030101010101" pitchFamily="2" charset="-122"/>
              </a:rPr>
              <a:t>一种可能的连接方式如图所示：</a:t>
            </a:r>
            <a:r>
              <a:rPr lang="en-US" altLang="zh-CN">
                <a:ea typeface="宋体" panose="02010600030101010101" pitchFamily="2" charset="-122"/>
              </a:rPr>
              <a:t>C3</a:t>
            </a:r>
            <a:r>
              <a:rPr lang="zh-CN" altLang="zh-CN">
                <a:ea typeface="宋体" panose="02010600030101010101" pitchFamily="2" charset="-122"/>
              </a:rPr>
              <a:t>的前</a:t>
            </a: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zh-CN" altLang="zh-CN">
                <a:ea typeface="宋体" panose="02010600030101010101" pitchFamily="2" charset="-122"/>
              </a:rPr>
              <a:t>个特征图以</a:t>
            </a:r>
            <a:r>
              <a:rPr lang="en-US" altLang="zh-CN">
                <a:ea typeface="宋体" panose="02010600030101010101" pitchFamily="2" charset="-122"/>
              </a:rPr>
              <a:t>S2</a:t>
            </a:r>
            <a:r>
              <a:rPr lang="zh-CN" altLang="zh-CN">
                <a:ea typeface="宋体" panose="02010600030101010101" pitchFamily="2" charset="-122"/>
              </a:rPr>
              <a:t>中</a:t>
            </a:r>
            <a:r>
              <a:rPr lang="en-US" altLang="zh-CN">
                <a:ea typeface="宋体" panose="02010600030101010101" pitchFamily="2" charset="-122"/>
              </a:rPr>
              <a:t>3</a:t>
            </a:r>
            <a:r>
              <a:rPr lang="zh-CN" altLang="zh-CN">
                <a:ea typeface="宋体" panose="02010600030101010101" pitchFamily="2" charset="-122"/>
              </a:rPr>
              <a:t>个相邻的特征图子集为输入。接下来</a:t>
            </a: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zh-CN" altLang="zh-CN">
                <a:ea typeface="宋体" panose="02010600030101010101" pitchFamily="2" charset="-122"/>
              </a:rPr>
              <a:t>个特征图以</a:t>
            </a:r>
            <a:r>
              <a:rPr lang="en-US" altLang="zh-CN">
                <a:ea typeface="宋体" panose="02010600030101010101" pitchFamily="2" charset="-122"/>
              </a:rPr>
              <a:t>S2</a:t>
            </a:r>
            <a:r>
              <a:rPr lang="zh-CN" altLang="zh-CN">
                <a:ea typeface="宋体" panose="02010600030101010101" pitchFamily="2" charset="-122"/>
              </a:rPr>
              <a:t>中</a:t>
            </a:r>
            <a:r>
              <a:rPr lang="en-US" altLang="zh-CN">
                <a:ea typeface="宋体" panose="02010600030101010101" pitchFamily="2" charset="-122"/>
              </a:rPr>
              <a:t>4</a:t>
            </a:r>
            <a:r>
              <a:rPr lang="zh-CN" altLang="zh-CN">
                <a:ea typeface="宋体" panose="02010600030101010101" pitchFamily="2" charset="-122"/>
              </a:rPr>
              <a:t>个相邻的特征图子集为输入。接下来的</a:t>
            </a: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zh-CN" altLang="zh-CN">
                <a:ea typeface="宋体" panose="02010600030101010101" pitchFamily="2" charset="-122"/>
              </a:rPr>
              <a:t>个特征图以不相邻的</a:t>
            </a:r>
            <a:r>
              <a:rPr lang="en-US" altLang="zh-CN">
                <a:ea typeface="宋体" panose="02010600030101010101" pitchFamily="2" charset="-122"/>
              </a:rPr>
              <a:t>4</a:t>
            </a:r>
            <a:r>
              <a:rPr lang="zh-CN" altLang="zh-CN">
                <a:ea typeface="宋体" panose="02010600030101010101" pitchFamily="2" charset="-122"/>
              </a:rPr>
              <a:t>个特征图子集为输入。最后一个特征图将</a:t>
            </a:r>
            <a:r>
              <a:rPr lang="en-US" altLang="zh-CN">
                <a:ea typeface="宋体" panose="02010600030101010101" pitchFamily="2" charset="-122"/>
              </a:rPr>
              <a:t>S2</a:t>
            </a:r>
            <a:r>
              <a:rPr lang="zh-CN" altLang="zh-CN">
                <a:ea typeface="宋体" panose="02010600030101010101" pitchFamily="2" charset="-122"/>
              </a:rPr>
              <a:t>中所有特征图作为输入。之所以要采取这种方式，一是为了减少参数，二是这种不对称的组合连接的方式有利于提取多种组合特征。</a:t>
            </a:r>
          </a:p>
          <a:p>
            <a:pPr marL="457200" lvl="1" inden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4515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5DF473A-89A4-4BC0-A6C1-2B4341D39270}" type="datetime4">
              <a:rPr lang="zh-CN" altLang="en-US" sz="1200" smtClean="0"/>
              <a:pPr/>
              <a:t>2026年5月10日星期日</a:t>
            </a:fld>
            <a:endParaRPr lang="en-US" altLang="zh-CN" sz="1200"/>
          </a:p>
        </p:txBody>
      </p:sp>
      <p:sp>
        <p:nvSpPr>
          <p:cNvPr id="6451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ACAE742-E8A9-4EBF-8A86-EE81A008880D}" type="slidenum">
              <a:rPr lang="zh-CN" altLang="en-US" sz="1200"/>
              <a:pPr/>
              <a:t>70</a:t>
            </a:fld>
            <a:endParaRPr lang="en-US" altLang="zh-CN" sz="1200"/>
          </a:p>
        </p:txBody>
      </p:sp>
      <p:pic>
        <p:nvPicPr>
          <p:cNvPr id="6451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13" y="3503613"/>
            <a:ext cx="7953375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内容占位符 2"/>
          <p:cNvSpPr>
            <a:spLocks noGrp="1"/>
          </p:cNvSpPr>
          <p:nvPr>
            <p:ph idx="1"/>
          </p:nvPr>
        </p:nvSpPr>
        <p:spPr>
          <a:xfrm>
            <a:off x="307975" y="1371600"/>
            <a:ext cx="8610600" cy="60960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C3</a:t>
            </a:r>
            <a:r>
              <a:rPr lang="zh-CN" altLang="zh-CN">
                <a:ea typeface="宋体" panose="02010600030101010101" pitchFamily="2" charset="-122"/>
              </a:rPr>
              <a:t>与</a:t>
            </a:r>
            <a:r>
              <a:rPr lang="en-US" altLang="zh-CN">
                <a:ea typeface="宋体" panose="02010600030101010101" pitchFamily="2" charset="-122"/>
              </a:rPr>
              <a:t>S2</a:t>
            </a:r>
            <a:r>
              <a:rPr lang="zh-CN" altLang="zh-CN">
                <a:ea typeface="宋体" panose="02010600030101010101" pitchFamily="2" charset="-122"/>
              </a:rPr>
              <a:t>中的第</a:t>
            </a:r>
            <a:r>
              <a:rPr lang="en-US" altLang="zh-CN">
                <a:ea typeface="宋体" panose="02010600030101010101" pitchFamily="2" charset="-122"/>
              </a:rPr>
              <a:t>1-3</a:t>
            </a:r>
            <a:r>
              <a:rPr lang="zh-CN" altLang="zh-CN">
                <a:ea typeface="宋体" panose="02010600030101010101" pitchFamily="2" charset="-122"/>
              </a:rPr>
              <a:t>个图像相连的卷积结构如图所示：</a:t>
            </a: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5539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F5C1A94-B3E7-4543-87D1-4779C34ACCB5}" type="datetime4">
              <a:rPr lang="zh-CN" altLang="en-US" sz="1200" smtClean="0"/>
              <a:pPr/>
              <a:t>2026年5月10日星期日</a:t>
            </a:fld>
            <a:endParaRPr lang="en-US" altLang="zh-CN" sz="1200"/>
          </a:p>
        </p:txBody>
      </p:sp>
      <p:sp>
        <p:nvSpPr>
          <p:cNvPr id="6554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C42C0B5-F10C-4159-86C1-33A4305D4CF2}" type="slidenum">
              <a:rPr lang="zh-CN" altLang="en-US" sz="1200"/>
              <a:pPr/>
              <a:t>71</a:t>
            </a:fld>
            <a:endParaRPr lang="en-US" altLang="zh-CN" sz="1200"/>
          </a:p>
        </p:txBody>
      </p:sp>
      <p:pic>
        <p:nvPicPr>
          <p:cNvPr id="65541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981200"/>
            <a:ext cx="6600825" cy="380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4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zh-CN" altLang="zh-CN">
                <a:ea typeface="宋体" panose="02010600030101010101" pitchFamily="2" charset="-122"/>
              </a:rPr>
              <a:t>池化层</a:t>
            </a:r>
            <a:r>
              <a:rPr lang="en-US" altLang="zh-CN">
                <a:ea typeface="宋体" panose="02010600030101010101" pitchFamily="2" charset="-122"/>
              </a:rPr>
              <a:t>S4</a:t>
            </a:r>
            <a:r>
              <a:rPr lang="zh-CN" altLang="zh-CN">
                <a:ea typeface="宋体" panose="02010600030101010101" pitchFamily="2" charset="-122"/>
              </a:rPr>
              <a:t>：用</a:t>
            </a:r>
            <a:r>
              <a:rPr lang="en-US" altLang="zh-CN">
                <a:ea typeface="宋体" panose="02010600030101010101" pitchFamily="2" charset="-122"/>
              </a:rPr>
              <a:t>2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ea typeface="宋体" panose="02010600030101010101" pitchFamily="2" charset="-122"/>
              </a:rPr>
              <a:t>2</a:t>
            </a:r>
            <a:r>
              <a:rPr lang="zh-CN" altLang="zh-CN">
                <a:ea typeface="宋体" panose="02010600030101010101" pitchFamily="2" charset="-122"/>
              </a:rPr>
              <a:t>的采样窗口进行下采样，得到</a:t>
            </a:r>
            <a:r>
              <a:rPr lang="en-US" altLang="zh-CN">
                <a:ea typeface="宋体" panose="02010600030101010101" pitchFamily="2" charset="-122"/>
              </a:rPr>
              <a:t>16</a:t>
            </a:r>
            <a:r>
              <a:rPr lang="zh-CN" altLang="zh-CN">
                <a:ea typeface="宋体" panose="02010600030101010101" pitchFamily="2" charset="-122"/>
              </a:rPr>
              <a:t>个</a:t>
            </a: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zh-CN" altLang="zh-CN">
                <a:ea typeface="宋体" panose="02010600030101010101" pitchFamily="2" charset="-122"/>
              </a:rPr>
              <a:t>的图像</a:t>
            </a:r>
            <a:endParaRPr lang="en-US" altLang="zh-CN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zh-CN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zh-CN" altLang="zh-CN">
                <a:ea typeface="宋体" panose="02010600030101010101" pitchFamily="2" charset="-122"/>
              </a:rPr>
              <a:t>卷积层</a:t>
            </a:r>
            <a:r>
              <a:rPr lang="en-US" altLang="zh-CN">
                <a:ea typeface="宋体" panose="02010600030101010101" pitchFamily="2" charset="-122"/>
              </a:rPr>
              <a:t>C5</a:t>
            </a:r>
            <a:r>
              <a:rPr lang="zh-CN" altLang="zh-CN">
                <a:ea typeface="宋体" panose="02010600030101010101" pitchFamily="2" charset="-122"/>
              </a:rPr>
              <a:t>：由</a:t>
            </a:r>
            <a:r>
              <a:rPr lang="en-US" altLang="zh-CN">
                <a:ea typeface="宋体" panose="02010600030101010101" pitchFamily="2" charset="-122"/>
              </a:rPr>
              <a:t>120</a:t>
            </a:r>
            <a:r>
              <a:rPr lang="zh-CN" altLang="zh-CN">
                <a:ea typeface="宋体" panose="02010600030101010101" pitchFamily="2" charset="-122"/>
              </a:rPr>
              <a:t>个</a:t>
            </a: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zh-CN" altLang="zh-CN">
                <a:ea typeface="宋体" panose="02010600030101010101" pitchFamily="2" charset="-122"/>
              </a:rPr>
              <a:t>的卷积核组成，在</a:t>
            </a:r>
            <a:r>
              <a:rPr lang="en-US" altLang="zh-CN">
                <a:ea typeface="宋体" panose="02010600030101010101" pitchFamily="2" charset="-122"/>
              </a:rPr>
              <a:t>16</a:t>
            </a:r>
            <a:r>
              <a:rPr lang="zh-CN" altLang="zh-CN">
                <a:ea typeface="宋体" panose="02010600030101010101" pitchFamily="2" charset="-122"/>
              </a:rPr>
              <a:t>个</a:t>
            </a: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zh-CN" altLang="zh-CN">
                <a:ea typeface="宋体" panose="02010600030101010101" pitchFamily="2" charset="-122"/>
              </a:rPr>
              <a:t>的图像上进行卷积操作后得到</a:t>
            </a:r>
            <a:r>
              <a:rPr lang="en-US" altLang="zh-CN">
                <a:ea typeface="宋体" panose="02010600030101010101" pitchFamily="2" charset="-122"/>
              </a:rPr>
              <a:t>120</a:t>
            </a:r>
            <a:r>
              <a:rPr lang="zh-CN" altLang="zh-CN">
                <a:ea typeface="宋体" panose="02010600030101010101" pitchFamily="2" charset="-122"/>
              </a:rPr>
              <a:t>个</a:t>
            </a:r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zh-CN" altLang="zh-CN">
                <a:ea typeface="宋体" panose="02010600030101010101" pitchFamily="2" charset="-122"/>
              </a:rPr>
              <a:t>的图像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6563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742D24D-5436-45C5-9A91-B4509A901239}" type="datetime4">
              <a:rPr lang="zh-CN" altLang="en-US" sz="1200" smtClean="0"/>
              <a:pPr/>
              <a:t>2026年5月10日星期日</a:t>
            </a:fld>
            <a:endParaRPr lang="en-US" altLang="zh-CN" sz="1200"/>
          </a:p>
        </p:txBody>
      </p:sp>
      <p:sp>
        <p:nvSpPr>
          <p:cNvPr id="66564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67EB0B1-6D49-431F-A061-2FA17686FDFA}" type="slidenum">
              <a:rPr lang="zh-CN" altLang="en-US" sz="1200"/>
              <a:pPr/>
              <a:t>72</a:t>
            </a:fld>
            <a:endParaRPr lang="en-US" altLang="zh-CN" sz="1200"/>
          </a:p>
        </p:txBody>
      </p:sp>
      <p:pic>
        <p:nvPicPr>
          <p:cNvPr id="66565" name="图片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76213"/>
            <a:ext cx="8759825" cy="370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/>
              <p14:cNvContentPartPr/>
              <p14:nvPr/>
            </p14:nvContentPartPr>
            <p14:xfrm>
              <a:off x="2019600" y="209520"/>
              <a:ext cx="3629160" cy="752760"/>
            </p14:xfrm>
          </p:contentPart>
        </mc:Choice>
        <mc:Fallback xmlns="">
          <p:pic>
            <p:nvPicPr>
              <p:cNvPr id="2" name="墨迹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10240" y="200160"/>
                <a:ext cx="3647880" cy="771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zoom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6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zh-CN" altLang="zh-CN">
                <a:ea typeface="宋体" panose="02010600030101010101" pitchFamily="2" charset="-122"/>
              </a:rPr>
              <a:t>全连接层</a:t>
            </a:r>
            <a:r>
              <a:rPr lang="en-US" altLang="zh-CN">
                <a:ea typeface="宋体" panose="02010600030101010101" pitchFamily="2" charset="-122"/>
              </a:rPr>
              <a:t>F6</a:t>
            </a:r>
            <a:r>
              <a:rPr lang="zh-CN" altLang="zh-CN">
                <a:ea typeface="宋体" panose="02010600030101010101" pitchFamily="2" charset="-122"/>
              </a:rPr>
              <a:t>：该层由</a:t>
            </a:r>
            <a:r>
              <a:rPr lang="en-US" altLang="zh-CN">
                <a:ea typeface="宋体" panose="02010600030101010101" pitchFamily="2" charset="-122"/>
              </a:rPr>
              <a:t>12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ea typeface="宋体" panose="02010600030101010101" pitchFamily="2" charset="-122"/>
              </a:rPr>
              <a:t>7</a:t>
            </a:r>
            <a:r>
              <a:rPr lang="zh-CN" altLang="zh-CN">
                <a:ea typeface="宋体" panose="02010600030101010101" pitchFamily="2" charset="-122"/>
              </a:rPr>
              <a:t>个神经元（假设真实数字</a:t>
            </a:r>
            <a:r>
              <a:rPr lang="en-US" altLang="zh-CN">
                <a:ea typeface="宋体" panose="02010600030101010101" pitchFamily="2" charset="-122"/>
              </a:rPr>
              <a:t>0-9</a:t>
            </a:r>
            <a:r>
              <a:rPr lang="zh-CN" altLang="zh-CN">
                <a:ea typeface="宋体" panose="02010600030101010101" pitchFamily="2" charset="-122"/>
              </a:rPr>
              <a:t>的图像大小为</a:t>
            </a:r>
            <a:r>
              <a:rPr lang="en-US" altLang="zh-CN">
                <a:ea typeface="宋体" panose="02010600030101010101" pitchFamily="2" charset="-122"/>
              </a:rPr>
              <a:t>12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ea typeface="宋体" panose="02010600030101010101" pitchFamily="2" charset="-122"/>
              </a:rPr>
              <a:t>7</a:t>
            </a:r>
            <a:r>
              <a:rPr lang="zh-CN" altLang="zh-CN">
                <a:ea typeface="宋体" panose="02010600030101010101" pitchFamily="2" charset="-122"/>
              </a:rPr>
              <a:t>）组成，每个神经元代表图像上的一个像素。用</a:t>
            </a:r>
            <a:r>
              <a:rPr lang="en-US" altLang="zh-CN">
                <a:ea typeface="宋体" panose="02010600030101010101" pitchFamily="2" charset="-122"/>
              </a:rPr>
              <a:t>C5</a:t>
            </a:r>
            <a:r>
              <a:rPr lang="zh-CN" altLang="zh-CN">
                <a:ea typeface="宋体" panose="02010600030101010101" pitchFamily="2" charset="-122"/>
              </a:rPr>
              <a:t>层得到的</a:t>
            </a:r>
            <a:r>
              <a:rPr lang="en-US" altLang="zh-CN">
                <a:ea typeface="宋体" panose="02010600030101010101" pitchFamily="2" charset="-122"/>
              </a:rPr>
              <a:t>120</a:t>
            </a:r>
            <a:r>
              <a:rPr lang="zh-CN" altLang="zh-CN">
                <a:ea typeface="宋体" panose="02010600030101010101" pitchFamily="2" charset="-122"/>
              </a:rPr>
              <a:t>维的向量作为输入，和该层的</a:t>
            </a:r>
            <a:r>
              <a:rPr lang="en-US" altLang="zh-CN">
                <a:ea typeface="宋体" panose="02010600030101010101" pitchFamily="2" charset="-122"/>
              </a:rPr>
              <a:t>84</a:t>
            </a:r>
            <a:r>
              <a:rPr lang="zh-CN" altLang="zh-CN">
                <a:ea typeface="宋体" panose="02010600030101010101" pitchFamily="2" charset="-122"/>
              </a:rPr>
              <a:t>个神经元进行全连接。计算输入向量和连接权重向量之间的点积，再加上一个偏置，结果通过</a:t>
            </a:r>
            <a:r>
              <a:rPr lang="en-US" altLang="zh-CN">
                <a:ea typeface="宋体" panose="02010600030101010101" pitchFamily="2" charset="-122"/>
              </a:rPr>
              <a:t>sigmod</a:t>
            </a:r>
            <a:r>
              <a:rPr lang="zh-CN" altLang="zh-CN">
                <a:ea typeface="宋体" panose="02010600030101010101" pitchFamily="2" charset="-122"/>
              </a:rPr>
              <a:t>函数输出。</a:t>
            </a: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7587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32535D7-3BF1-4E4D-A374-9D334DC3D6F0}" type="datetime4">
              <a:rPr lang="zh-CN" altLang="en-US" sz="1200" smtClean="0"/>
              <a:pPr/>
              <a:t>2026年5月10日星期日</a:t>
            </a:fld>
            <a:endParaRPr lang="en-US" altLang="zh-CN" sz="1200"/>
          </a:p>
        </p:txBody>
      </p:sp>
      <p:sp>
        <p:nvSpPr>
          <p:cNvPr id="67588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D48FC80-7BFC-40EA-B421-71E23BEA277C}" type="slidenum">
              <a:rPr lang="zh-CN" altLang="en-US" sz="1200"/>
              <a:pPr/>
              <a:t>73</a:t>
            </a:fld>
            <a:endParaRPr lang="en-US" altLang="zh-CN" sz="1200"/>
          </a:p>
        </p:txBody>
      </p:sp>
      <p:pic>
        <p:nvPicPr>
          <p:cNvPr id="67589" name="图片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228600"/>
            <a:ext cx="8988425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/>
              <p14:cNvContentPartPr/>
              <p14:nvPr/>
            </p14:nvContentPartPr>
            <p14:xfrm>
              <a:off x="5510160" y="714240"/>
              <a:ext cx="810000" cy="248040"/>
            </p14:xfrm>
          </p:contentPart>
        </mc:Choice>
        <mc:Fallback xmlns="">
          <p:pic>
            <p:nvPicPr>
              <p:cNvPr id="2" name="墨迹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00800" y="704880"/>
                <a:ext cx="828720" cy="266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zoom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>
                <a:ea typeface="宋体" panose="02010600030101010101" pitchFamily="2" charset="-122"/>
              </a:rPr>
              <a:t>7</a:t>
            </a:r>
            <a:r>
              <a:rPr lang="zh-CN" altLang="en-US" sz="2000">
                <a:ea typeface="宋体" panose="02010600030101010101" pitchFamily="2" charset="-122"/>
              </a:rPr>
              <a:t>，</a:t>
            </a:r>
            <a:r>
              <a:rPr lang="zh-CN" altLang="zh-CN" sz="2000">
                <a:ea typeface="宋体" panose="02010600030101010101" pitchFamily="2" charset="-122"/>
              </a:rPr>
              <a:t>输出层（</a:t>
            </a:r>
            <a:r>
              <a:rPr lang="en-US" altLang="zh-CN" sz="2000">
                <a:ea typeface="宋体" panose="02010600030101010101" pitchFamily="2" charset="-122"/>
              </a:rPr>
              <a:t>OUTPUT</a:t>
            </a:r>
            <a:r>
              <a:rPr lang="zh-CN" altLang="zh-CN" sz="2000">
                <a:ea typeface="宋体" panose="02010600030101010101" pitchFamily="2" charset="-122"/>
              </a:rPr>
              <a:t>）：该层也是全连接层，共包含</a:t>
            </a:r>
            <a:r>
              <a:rPr lang="en-US" altLang="zh-CN" sz="2000">
                <a:ea typeface="宋体" panose="02010600030101010101" pitchFamily="2" charset="-122"/>
              </a:rPr>
              <a:t>10</a:t>
            </a:r>
            <a:r>
              <a:rPr lang="zh-CN" altLang="zh-CN" sz="2000">
                <a:ea typeface="宋体" panose="02010600030101010101" pitchFamily="2" charset="-122"/>
              </a:rPr>
              <a:t>个神经元，分别对应于</a:t>
            </a:r>
            <a:r>
              <a:rPr lang="en-US" altLang="zh-CN" sz="2000">
                <a:ea typeface="宋体" panose="02010600030101010101" pitchFamily="2" charset="-122"/>
              </a:rPr>
              <a:t>0-9</a:t>
            </a:r>
            <a:r>
              <a:rPr lang="zh-CN" altLang="zh-CN" sz="2000">
                <a:ea typeface="宋体" panose="02010600030101010101" pitchFamily="2" charset="-122"/>
              </a:rPr>
              <a:t>共</a:t>
            </a:r>
            <a:r>
              <a:rPr lang="en-US" altLang="zh-CN" sz="2000">
                <a:ea typeface="宋体" panose="02010600030101010101" pitchFamily="2" charset="-122"/>
              </a:rPr>
              <a:t>10</a:t>
            </a:r>
            <a:r>
              <a:rPr lang="zh-CN" altLang="zh-CN" sz="2000">
                <a:ea typeface="宋体" panose="02010600030101010101" pitchFamily="2" charset="-122"/>
              </a:rPr>
              <a:t>个数字。</a:t>
            </a:r>
            <a:r>
              <a:rPr lang="en-US" altLang="zh-CN" sz="2000">
                <a:ea typeface="宋体" panose="02010600030101010101" pitchFamily="2" charset="-122"/>
              </a:rPr>
              <a:t>F6</a:t>
            </a:r>
            <a:r>
              <a:rPr lang="zh-CN" altLang="zh-CN" sz="2000">
                <a:ea typeface="宋体" panose="02010600030101010101" pitchFamily="2" charset="-122"/>
              </a:rPr>
              <a:t>层的</a:t>
            </a:r>
            <a:r>
              <a:rPr lang="en-US" altLang="zh-CN" sz="2000">
                <a:ea typeface="宋体" panose="02010600030101010101" pitchFamily="2" charset="-122"/>
              </a:rPr>
              <a:t>84</a:t>
            </a:r>
            <a:r>
              <a:rPr lang="zh-CN" altLang="zh-CN" sz="2000">
                <a:ea typeface="宋体" panose="02010600030101010101" pitchFamily="2" charset="-122"/>
              </a:rPr>
              <a:t>个神经元与该层的</a:t>
            </a:r>
            <a:r>
              <a:rPr lang="en-US" altLang="zh-CN" sz="2000">
                <a:ea typeface="宋体" panose="02010600030101010101" pitchFamily="2" charset="-122"/>
              </a:rPr>
              <a:t>10</a:t>
            </a:r>
            <a:r>
              <a:rPr lang="zh-CN" altLang="zh-CN" sz="2000">
                <a:ea typeface="宋体" panose="02010600030101010101" pitchFamily="2" charset="-122"/>
              </a:rPr>
              <a:t>个神经元进行全连接。假设</a:t>
            </a:r>
            <a:r>
              <a:rPr lang="en-US" altLang="zh-CN" sz="2000">
                <a:ea typeface="宋体" panose="02010600030101010101" pitchFamily="2" charset="-122"/>
              </a:rPr>
              <a:t>x</a:t>
            </a:r>
            <a:r>
              <a:rPr lang="en-US" altLang="zh-CN" sz="2000" baseline="-25000">
                <a:ea typeface="宋体" panose="02010600030101010101" pitchFamily="2" charset="-122"/>
              </a:rPr>
              <a:t>j</a:t>
            </a:r>
            <a:r>
              <a:rPr lang="zh-CN" altLang="zh-CN" sz="2000">
                <a:ea typeface="宋体" panose="02010600030101010101" pitchFamily="2" charset="-122"/>
              </a:rPr>
              <a:t>对应</a:t>
            </a:r>
            <a:r>
              <a:rPr lang="en-US" altLang="zh-CN" sz="2000">
                <a:ea typeface="宋体" panose="02010600030101010101" pitchFamily="2" charset="-122"/>
              </a:rPr>
              <a:t>F6</a:t>
            </a:r>
            <a:r>
              <a:rPr lang="zh-CN" altLang="zh-CN" sz="2000">
                <a:ea typeface="宋体" panose="02010600030101010101" pitchFamily="2" charset="-122"/>
              </a:rPr>
              <a:t>层第</a:t>
            </a:r>
            <a:r>
              <a:rPr lang="en-US" altLang="zh-CN" sz="2000">
                <a:ea typeface="宋体" panose="02010600030101010101" pitchFamily="2" charset="-122"/>
              </a:rPr>
              <a:t>j</a:t>
            </a:r>
            <a:r>
              <a:rPr lang="zh-CN" altLang="zh-CN" sz="2000">
                <a:ea typeface="宋体" panose="02010600030101010101" pitchFamily="2" charset="-122"/>
              </a:rPr>
              <a:t>个单元的输出，</a:t>
            </a:r>
            <a:r>
              <a:rPr lang="en-US" altLang="zh-CN" sz="2000">
                <a:ea typeface="宋体" panose="02010600030101010101" pitchFamily="2" charset="-122"/>
              </a:rPr>
              <a:t>w</a:t>
            </a:r>
            <a:r>
              <a:rPr lang="en-US" altLang="zh-CN" sz="2000" baseline="-25000">
                <a:ea typeface="宋体" panose="02010600030101010101" pitchFamily="2" charset="-122"/>
              </a:rPr>
              <a:t>ij</a:t>
            </a:r>
            <a:r>
              <a:rPr lang="zh-CN" altLang="zh-CN" sz="2000">
                <a:ea typeface="宋体" panose="02010600030101010101" pitchFamily="2" charset="-122"/>
              </a:rPr>
              <a:t>对应第</a:t>
            </a:r>
            <a:r>
              <a:rPr lang="en-US" altLang="zh-CN" sz="2000">
                <a:ea typeface="宋体" panose="02010600030101010101" pitchFamily="2" charset="-122"/>
              </a:rPr>
              <a:t>i</a:t>
            </a:r>
            <a:r>
              <a:rPr lang="zh-CN" altLang="zh-CN" sz="2000">
                <a:ea typeface="宋体" panose="02010600030101010101" pitchFamily="2" charset="-122"/>
              </a:rPr>
              <a:t>个数字的图像的第</a:t>
            </a:r>
            <a:r>
              <a:rPr lang="en-US" altLang="zh-CN" sz="2000">
                <a:ea typeface="宋体" panose="02010600030101010101" pitchFamily="2" charset="-122"/>
              </a:rPr>
              <a:t>j</a:t>
            </a:r>
            <a:r>
              <a:rPr lang="zh-CN" altLang="zh-CN" sz="2000">
                <a:ea typeface="宋体" panose="02010600030101010101" pitchFamily="2" charset="-122"/>
              </a:rPr>
              <a:t>个像素的</a:t>
            </a:r>
            <a:r>
              <a:rPr lang="en-US" altLang="zh-CN" sz="2000">
                <a:ea typeface="宋体" panose="02010600030101010101" pitchFamily="2" charset="-122"/>
              </a:rPr>
              <a:t>bitmap</a:t>
            </a:r>
            <a:r>
              <a:rPr lang="zh-CN" altLang="zh-CN" sz="2000">
                <a:ea typeface="宋体" panose="02010600030101010101" pitchFamily="2" charset="-122"/>
              </a:rPr>
              <a:t>编码，则输出层</a:t>
            </a:r>
            <a:r>
              <a:rPr lang="en-US" altLang="zh-CN" sz="2000">
                <a:ea typeface="宋体" panose="02010600030101010101" pitchFamily="2" charset="-122"/>
              </a:rPr>
              <a:t>10</a:t>
            </a:r>
            <a:r>
              <a:rPr lang="zh-CN" altLang="zh-CN" sz="2000">
                <a:ea typeface="宋体" panose="02010600030101010101" pitchFamily="2" charset="-122"/>
              </a:rPr>
              <a:t>个神经元中第</a:t>
            </a:r>
            <a:r>
              <a:rPr lang="en-US" altLang="zh-CN" sz="2000">
                <a:ea typeface="宋体" panose="02010600030101010101" pitchFamily="2" charset="-122"/>
              </a:rPr>
              <a:t>i</a:t>
            </a:r>
            <a:r>
              <a:rPr lang="zh-CN" altLang="zh-CN" sz="2000">
                <a:ea typeface="宋体" panose="02010600030101010101" pitchFamily="2" charset="-122"/>
              </a:rPr>
              <a:t>个神经元的输出</a:t>
            </a:r>
            <a:r>
              <a:rPr lang="en-US" altLang="zh-CN" sz="2000">
                <a:ea typeface="宋体" panose="02010600030101010101" pitchFamily="2" charset="-122"/>
              </a:rPr>
              <a:t>y</a:t>
            </a:r>
            <a:r>
              <a:rPr lang="en-US" altLang="zh-CN" sz="2000" baseline="-25000">
                <a:ea typeface="宋体" panose="02010600030101010101" pitchFamily="2" charset="-122"/>
              </a:rPr>
              <a:t>i</a:t>
            </a:r>
            <a:r>
              <a:rPr lang="zh-CN" altLang="zh-CN" sz="2000">
                <a:ea typeface="宋体" panose="02010600030101010101" pitchFamily="2" charset="-122"/>
              </a:rPr>
              <a:t>由如下式子得出：</a:t>
            </a:r>
            <a:endParaRPr lang="en-US" altLang="zh-CN" sz="2000">
              <a:ea typeface="宋体" panose="02010600030101010101" pitchFamily="2" charset="-122"/>
            </a:endParaRPr>
          </a:p>
          <a:p>
            <a:endParaRPr lang="en-US" altLang="zh-CN" sz="2000">
              <a:ea typeface="宋体" panose="02010600030101010101" pitchFamily="2" charset="-122"/>
            </a:endParaRPr>
          </a:p>
          <a:p>
            <a:endParaRPr lang="en-US" altLang="zh-CN" sz="200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zh-CN" sz="2000">
                <a:ea typeface="宋体" panose="02010600030101010101" pitchFamily="2" charset="-122"/>
              </a:rPr>
              <a:t>该值越接近于</a:t>
            </a:r>
            <a:r>
              <a:rPr lang="en-US" altLang="zh-CN" sz="2000">
                <a:ea typeface="宋体" panose="02010600030101010101" pitchFamily="2" charset="-122"/>
              </a:rPr>
              <a:t>0</a:t>
            </a:r>
            <a:r>
              <a:rPr lang="zh-CN" altLang="zh-CN" sz="2000">
                <a:ea typeface="宋体" panose="02010600030101010101" pitchFamily="2" charset="-122"/>
              </a:rPr>
              <a:t>，则原始图像越接近于第</a:t>
            </a:r>
            <a:r>
              <a:rPr lang="en-US" altLang="zh-CN" sz="2000">
                <a:ea typeface="宋体" panose="02010600030101010101" pitchFamily="2" charset="-122"/>
              </a:rPr>
              <a:t>i</a:t>
            </a:r>
            <a:r>
              <a:rPr lang="zh-CN" altLang="zh-CN" sz="2000">
                <a:ea typeface="宋体" panose="02010600030101010101" pitchFamily="2" charset="-122"/>
              </a:rPr>
              <a:t>个数字的图像（越接近于其</a:t>
            </a:r>
            <a:r>
              <a:rPr lang="en-US" altLang="zh-CN" sz="2000">
                <a:ea typeface="宋体" panose="02010600030101010101" pitchFamily="2" charset="-122"/>
              </a:rPr>
              <a:t>bitmap</a:t>
            </a:r>
            <a:r>
              <a:rPr lang="zh-CN" altLang="zh-CN" sz="2000">
                <a:ea typeface="宋体" panose="02010600030101010101" pitchFamily="2" charset="-122"/>
              </a:rPr>
              <a:t>编码图），则表示当前网络输入的识别结果就是数字</a:t>
            </a:r>
            <a:r>
              <a:rPr lang="en-US" altLang="zh-CN" sz="2000">
                <a:ea typeface="宋体" panose="02010600030101010101" pitchFamily="2" charset="-122"/>
              </a:rPr>
              <a:t>i</a:t>
            </a:r>
            <a:endParaRPr lang="zh-CN" altLang="zh-CN" sz="2000">
              <a:ea typeface="宋体" panose="02010600030101010101" pitchFamily="2" charset="-122"/>
            </a:endParaRPr>
          </a:p>
          <a:p>
            <a:endParaRPr lang="zh-CN" altLang="zh-CN" sz="2000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8611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EBB29DB-D255-450F-8D6B-F1A701BC9DDA}" type="datetime4">
              <a:rPr lang="zh-CN" altLang="en-US" sz="1200" smtClean="0"/>
              <a:pPr/>
              <a:t>2026年5月10日星期日</a:t>
            </a:fld>
            <a:endParaRPr lang="en-US" altLang="zh-CN" sz="1200"/>
          </a:p>
        </p:txBody>
      </p:sp>
      <p:sp>
        <p:nvSpPr>
          <p:cNvPr id="68612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16CDD92-0497-4FE9-9F63-6A0DEF0B4BBF}" type="slidenum">
              <a:rPr lang="zh-CN" altLang="en-US" sz="1200"/>
              <a:pPr/>
              <a:t>74</a:t>
            </a:fld>
            <a:endParaRPr lang="en-US" altLang="zh-CN" sz="1200"/>
          </a:p>
        </p:txBody>
      </p:sp>
      <p:pic>
        <p:nvPicPr>
          <p:cNvPr id="68613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4876800"/>
            <a:ext cx="2124075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4" name="图片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76213"/>
            <a:ext cx="8988425" cy="325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/>
              <p14:cNvContentPartPr/>
              <p14:nvPr/>
            </p14:nvContentPartPr>
            <p14:xfrm>
              <a:off x="6096240" y="723960"/>
              <a:ext cx="1138320" cy="200160"/>
            </p14:xfrm>
          </p:contentPart>
        </mc:Choice>
        <mc:Fallback xmlns="">
          <p:pic>
            <p:nvPicPr>
              <p:cNvPr id="2" name="墨迹 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86880" y="714600"/>
                <a:ext cx="1157040" cy="218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zoom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卷积神经网络</a:t>
            </a:r>
          </a:p>
        </p:txBody>
      </p:sp>
      <p:sp>
        <p:nvSpPr>
          <p:cNvPr id="69635" name="内容占位符 2"/>
          <p:cNvSpPr>
            <a:spLocks noGrp="1"/>
          </p:cNvSpPr>
          <p:nvPr>
            <p:ph idx="1"/>
          </p:nvPr>
        </p:nvSpPr>
        <p:spPr>
          <a:xfrm>
            <a:off x="304800" y="1562100"/>
            <a:ext cx="8458200" cy="510540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卷积神经网络在使用时，往往使用多层卷积，然后再使用全连接层进行训练</a:t>
            </a:r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zh-CN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卷积和池化层只会提取特征，并减少原始图像带来的参数</a:t>
            </a:r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zh-CN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全连接层在整个卷积神经网络中起到</a:t>
            </a:r>
            <a:r>
              <a:rPr lang="en-US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“</a:t>
            </a:r>
            <a:r>
              <a:rPr lang="zh-CN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分类器</a:t>
            </a:r>
            <a:r>
              <a:rPr lang="en-US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”</a:t>
            </a:r>
            <a:r>
              <a:rPr lang="zh-CN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的作用</a:t>
            </a:r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zh-CN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之所以要多层卷积，是因为单层卷积学到的特征是局部的，卷积的层数越多，学到的特征就越全局化。当然，网络也就越复杂</a:t>
            </a:r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zh-CN" altLang="zh-CN" dirty="0">
              <a:ea typeface="宋体" panose="02010600030101010101" pitchFamily="2" charset="-122"/>
            </a:endParaRP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9636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8F6AD53-C089-40AE-BEAA-6343415F8D2E}" type="datetime4">
              <a:rPr lang="zh-CN" altLang="en-US" sz="1200" smtClean="0"/>
              <a:pPr/>
              <a:t>2026年5月10日星期日</a:t>
            </a:fld>
            <a:endParaRPr lang="en-US" altLang="zh-CN" sz="1200"/>
          </a:p>
        </p:txBody>
      </p:sp>
      <p:sp>
        <p:nvSpPr>
          <p:cNvPr id="69637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9622746A-0E90-4790-BF9A-D266BF4BBAE5}" type="slidenum">
              <a:rPr lang="zh-CN" altLang="en-US" sz="1200"/>
              <a:pPr/>
              <a:t>75</a:t>
            </a:fld>
            <a:endParaRPr lang="en-US" altLang="zh-CN" sz="1200"/>
          </a:p>
        </p:txBody>
      </p:sp>
    </p:spTree>
  </p:cSld>
  <p:clrMapOvr>
    <a:masterClrMapping/>
  </p:clrMapOvr>
  <p:transition>
    <p:zoom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ea typeface="宋体" panose="02010600030101010101" pitchFamily="2" charset="-122"/>
              </a:rPr>
              <a:t>训练过程</a:t>
            </a:r>
            <a:endParaRPr lang="zh-CN" altLang="en-US" dirty="0"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0659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None/>
                </a:pPr>
                <a:r>
                  <a:rPr lang="zh-CN" altLang="en-US" sz="18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卷积神经网络的训练过程与传统神经网络类似，也是参照了反向传播算法</a:t>
                </a:r>
                <a:endParaRPr lang="en-US" altLang="zh-CN" sz="1800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endParaRPr lang="zh-CN" altLang="en-US" sz="1800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8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前向传播：</a:t>
                </a:r>
                <a:endParaRPr lang="en-US" altLang="zh-CN" sz="1800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b="1" i="1" dirty="0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p>
                        <m:r>
                          <a:rPr lang="en-US" altLang="zh-CN" sz="1800" b="1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800" i="1" dirty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1800" b="1" i="1" dirty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800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p>
                        <m:d>
                          <m:d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sup>
                    </m:sSup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⊗</m:t>
                    </m:r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d>
                          <m:d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sup>
                    </m:sSup>
                    <m:r>
                      <a:rPr lang="en-US" altLang="zh-CN" sz="1800" i="1">
                        <a:latin typeface="Cambria Math" panose="02040503050406030204" pitchFamily="18" charset="0"/>
                      </a:rPr>
                      <m:t>,  </m:t>
                    </m:r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8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b="1" i="1" dirty="0"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  <m:sup>
                            <m:r>
                              <a:rPr lang="en-US" altLang="zh-CN" sz="1800" b="1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1800" i="1" dirty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zh-CN" sz="1800" b="1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sz="18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800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 b="1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endParaRPr lang="en-US" altLang="zh-CN" sz="1800" b="1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8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更新：</a:t>
                </a:r>
                <a:endParaRPr lang="en-US" altLang="zh-CN" sz="1800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p>
                        <m:d>
                          <m:d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sup>
                    </m:sSup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altLang="zh-CN" sz="18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p>
                        <m:d>
                          <m:d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sup>
                    </m:sSup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ℒ</m:t>
                        </m:r>
                      </m:num>
                      <m:den>
                        <m:sSup>
                          <m:sSup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d>
                          </m:sup>
                        </m:sSup>
                      </m:den>
                    </m:f>
                  </m:oMath>
                </a14:m>
                <a:endParaRPr lang="en-US" altLang="zh-CN" sz="1800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8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怎么算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ℒ</m:t>
                        </m:r>
                      </m:num>
                      <m:den>
                        <m:sSup>
                          <m:sSup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d>
                          </m:sup>
                        </m:sSup>
                      </m:den>
                    </m:f>
                  </m:oMath>
                </a14:m>
                <a:r>
                  <a:rPr lang="zh-CN" altLang="en-US" sz="18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？</a:t>
                </a:r>
              </a:p>
              <a:p>
                <a:pPr marL="0" indent="0">
                  <a:buNone/>
                </a:pPr>
                <a:endParaRPr lang="zh-CN" altLang="en-US" dirty="0"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70659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660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B6ABC51-0FB5-4C0E-841A-1F9543EE345C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2026年5月10日星期日</a:t>
            </a:fld>
            <a:endParaRPr lang="en-US" altLang="zh-CN" sz="1200"/>
          </a:p>
        </p:txBody>
      </p:sp>
      <p:sp>
        <p:nvSpPr>
          <p:cNvPr id="70661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2480483-0B13-4CA5-8E29-80860EE41719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76</a:t>
            </a:fld>
            <a:endParaRPr lang="en-US" altLang="zh-CN" sz="1200"/>
          </a:p>
        </p:txBody>
      </p:sp>
    </p:spTree>
  </p:cSld>
  <p:clrMapOvr>
    <a:masterClrMapping/>
  </p:clrMapOvr>
  <p:transition>
    <p:zoom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801933-9342-E7DA-A57B-E6569C546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ea typeface="宋体" panose="02010600030101010101" pitchFamily="2" charset="-122"/>
              </a:rPr>
              <a:t>训练过程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表格 5">
                <a:extLst>
                  <a:ext uri="{FF2B5EF4-FFF2-40B4-BE49-F238E27FC236}">
                    <a16:creationId xmlns:a16="http://schemas.microsoft.com/office/drawing/2014/main" id="{1F5EF0BC-45B5-7B61-89EF-85AFA4660E50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884065" y="2453515"/>
              <a:ext cx="2271675" cy="115756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7225">
                      <a:extLst>
                        <a:ext uri="{9D8B030D-6E8A-4147-A177-3AD203B41FA5}">
                          <a16:colId xmlns:a16="http://schemas.microsoft.com/office/drawing/2014/main" val="2765991080"/>
                        </a:ext>
                      </a:extLst>
                    </a:gridCol>
                    <a:gridCol w="757225">
                      <a:extLst>
                        <a:ext uri="{9D8B030D-6E8A-4147-A177-3AD203B41FA5}">
                          <a16:colId xmlns:a16="http://schemas.microsoft.com/office/drawing/2014/main" val="728603018"/>
                        </a:ext>
                      </a:extLst>
                    </a:gridCol>
                    <a:gridCol w="757225">
                      <a:extLst>
                        <a:ext uri="{9D8B030D-6E8A-4147-A177-3AD203B41FA5}">
                          <a16:colId xmlns:a16="http://schemas.microsoft.com/office/drawing/2014/main" val="2587056671"/>
                        </a:ext>
                      </a:extLst>
                    </a:gridCol>
                  </a:tblGrid>
                  <a:tr h="38585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0" dirty="0"/>
                        </a:p>
                      </a:txBody>
                      <a:tcPr marL="72567" marR="72567" marT="36284" marB="36284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2567" marR="72567" marT="36284" marB="36284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2567" marR="72567" marT="36284" marB="36284"/>
                    </a:tc>
                    <a:extLst>
                      <a:ext uri="{0D108BD9-81ED-4DB2-BD59-A6C34878D82A}">
                        <a16:rowId xmlns:a16="http://schemas.microsoft.com/office/drawing/2014/main" val="530682214"/>
                      </a:ext>
                    </a:extLst>
                  </a:tr>
                  <a:tr h="38585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0" dirty="0"/>
                        </a:p>
                      </a:txBody>
                      <a:tcPr marL="72567" marR="72567" marT="36284" marB="36284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2567" marR="72567" marT="36284" marB="36284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2567" marR="72567" marT="36284" marB="36284"/>
                    </a:tc>
                    <a:extLst>
                      <a:ext uri="{0D108BD9-81ED-4DB2-BD59-A6C34878D82A}">
                        <a16:rowId xmlns:a16="http://schemas.microsoft.com/office/drawing/2014/main" val="1108299681"/>
                      </a:ext>
                    </a:extLst>
                  </a:tr>
                  <a:tr h="38585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0" dirty="0"/>
                        </a:p>
                      </a:txBody>
                      <a:tcPr marL="72567" marR="72567" marT="36284" marB="36284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2567" marR="72567" marT="36284" marB="36284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2567" marR="72567" marT="36284" marB="36284"/>
                    </a:tc>
                    <a:extLst>
                      <a:ext uri="{0D108BD9-81ED-4DB2-BD59-A6C34878D82A}">
                        <a16:rowId xmlns:a16="http://schemas.microsoft.com/office/drawing/2014/main" val="203366076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表格 5">
                <a:extLst>
                  <a:ext uri="{FF2B5EF4-FFF2-40B4-BE49-F238E27FC236}">
                    <a16:creationId xmlns:a16="http://schemas.microsoft.com/office/drawing/2014/main" id="{1F5EF0BC-45B5-7B61-89EF-85AFA4660E50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884065" y="2453515"/>
              <a:ext cx="2271675" cy="115756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7225">
                      <a:extLst>
                        <a:ext uri="{9D8B030D-6E8A-4147-A177-3AD203B41FA5}">
                          <a16:colId xmlns:a16="http://schemas.microsoft.com/office/drawing/2014/main" val="2765991080"/>
                        </a:ext>
                      </a:extLst>
                    </a:gridCol>
                    <a:gridCol w="757225">
                      <a:extLst>
                        <a:ext uri="{9D8B030D-6E8A-4147-A177-3AD203B41FA5}">
                          <a16:colId xmlns:a16="http://schemas.microsoft.com/office/drawing/2014/main" val="728603018"/>
                        </a:ext>
                      </a:extLst>
                    </a:gridCol>
                    <a:gridCol w="757225">
                      <a:extLst>
                        <a:ext uri="{9D8B030D-6E8A-4147-A177-3AD203B41FA5}">
                          <a16:colId xmlns:a16="http://schemas.microsoft.com/office/drawing/2014/main" val="2587056671"/>
                        </a:ext>
                      </a:extLst>
                    </a:gridCol>
                  </a:tblGrid>
                  <a:tr h="38585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567" marR="72567" marT="36284" marB="36284">
                        <a:blipFill>
                          <a:blip r:embed="rId2"/>
                          <a:stretch>
                            <a:fillRect l="-1667" t="-3226" r="-201667" b="-196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567" marR="72567" marT="36284" marB="36284">
                        <a:blipFill>
                          <a:blip r:embed="rId2"/>
                          <a:stretch>
                            <a:fillRect l="-101667" t="-3226" r="-101667" b="-196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567" marR="72567" marT="36284" marB="36284">
                        <a:blipFill>
                          <a:blip r:embed="rId2"/>
                          <a:stretch>
                            <a:fillRect l="-201667" t="-3226" r="-1667" b="-1967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0682214"/>
                      </a:ext>
                    </a:extLst>
                  </a:tr>
                  <a:tr h="38585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567" marR="72567" marT="36284" marB="36284">
                        <a:blipFill>
                          <a:blip r:embed="rId2"/>
                          <a:stretch>
                            <a:fillRect l="-1667" t="-106667" r="-201667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567" marR="72567" marT="36284" marB="36284">
                        <a:blipFill>
                          <a:blip r:embed="rId2"/>
                          <a:stretch>
                            <a:fillRect l="-101667" t="-106667" r="-101667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567" marR="72567" marT="36284" marB="36284">
                        <a:blipFill>
                          <a:blip r:embed="rId2"/>
                          <a:stretch>
                            <a:fillRect l="-201667" t="-106667" r="-1667" b="-1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8299681"/>
                      </a:ext>
                    </a:extLst>
                  </a:tr>
                  <a:tr h="38585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567" marR="72567" marT="36284" marB="36284">
                        <a:blipFill>
                          <a:blip r:embed="rId2"/>
                          <a:stretch>
                            <a:fillRect l="-1667" t="-200000" r="-2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567" marR="72567" marT="36284" marB="36284">
                        <a:blipFill>
                          <a:blip r:embed="rId2"/>
                          <a:stretch>
                            <a:fillRect l="-101667" t="-200000" r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567" marR="72567" marT="36284" marB="36284">
                        <a:blipFill>
                          <a:blip r:embed="rId2"/>
                          <a:stretch>
                            <a:fillRect l="-201667" t="-200000" r="-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3366076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1EBD80-B4E1-E38A-FC00-9CEB25A9C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140" eaLnBrk="1" fontAlgn="auto" hangingPunct="1">
              <a:spcBef>
                <a:spcPts val="0"/>
              </a:spcBef>
              <a:spcAft>
                <a:spcPts val="0"/>
              </a:spcAft>
            </a:pPr>
            <a:fld id="{B91EE9DE-39C0-45B1-B406-4DEC767CB4A8}" type="slidenum">
              <a:rPr lang="zh-CN" altLang="en-US">
                <a:solidFill>
                  <a:prstClr val="black">
                    <a:tint val="75000"/>
                  </a:prstClr>
                </a:solidFill>
                <a:latin typeface="Lucida Sans"/>
                <a:ea typeface="黑体"/>
              </a:rPr>
              <a:pPr defTabSz="914140" eaLnBrk="1" fontAlgn="auto" hangingPunct="1">
                <a:spcBef>
                  <a:spcPts val="0"/>
                </a:spcBef>
                <a:spcAft>
                  <a:spcPts val="0"/>
                </a:spcAft>
              </a:pPr>
              <a:t>77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Lucida Sans"/>
              <a:ea typeface="黑体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0B2BDDD9-D80B-68C6-6577-EFA24C8EB0B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627075" y="2681552"/>
              <a:ext cx="1600090" cy="586586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800045">
                      <a:extLst>
                        <a:ext uri="{9D8B030D-6E8A-4147-A177-3AD203B41FA5}">
                          <a16:colId xmlns:a16="http://schemas.microsoft.com/office/drawing/2014/main" val="4142501544"/>
                        </a:ext>
                      </a:extLst>
                    </a:gridCol>
                    <a:gridCol w="800045">
                      <a:extLst>
                        <a:ext uri="{9D8B030D-6E8A-4147-A177-3AD203B41FA5}">
                          <a16:colId xmlns:a16="http://schemas.microsoft.com/office/drawing/2014/main" val="1338819294"/>
                        </a:ext>
                      </a:extLst>
                    </a:gridCol>
                  </a:tblGrid>
                  <a:tr h="29329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0" dirty="0"/>
                        </a:p>
                      </a:txBody>
                      <a:tcPr marL="72567" marR="72567" marT="36284" marB="36284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0" dirty="0"/>
                        </a:p>
                      </a:txBody>
                      <a:tcPr marL="72567" marR="72567" marT="36284" marB="36284"/>
                    </a:tc>
                    <a:extLst>
                      <a:ext uri="{0D108BD9-81ED-4DB2-BD59-A6C34878D82A}">
                        <a16:rowId xmlns:a16="http://schemas.microsoft.com/office/drawing/2014/main" val="4140116406"/>
                      </a:ext>
                    </a:extLst>
                  </a:tr>
                  <a:tr h="29329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0" dirty="0"/>
                        </a:p>
                      </a:txBody>
                      <a:tcPr marL="72567" marR="72567" marT="36284" marB="36284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0" dirty="0"/>
                        </a:p>
                      </a:txBody>
                      <a:tcPr marL="72567" marR="72567" marT="36284" marB="36284"/>
                    </a:tc>
                    <a:extLst>
                      <a:ext uri="{0D108BD9-81ED-4DB2-BD59-A6C34878D82A}">
                        <a16:rowId xmlns:a16="http://schemas.microsoft.com/office/drawing/2014/main" val="333339297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0B2BDDD9-D80B-68C6-6577-EFA24C8EB0B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627075" y="2681552"/>
              <a:ext cx="1600090" cy="586586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800045">
                      <a:extLst>
                        <a:ext uri="{9D8B030D-6E8A-4147-A177-3AD203B41FA5}">
                          <a16:colId xmlns:a16="http://schemas.microsoft.com/office/drawing/2014/main" val="4142501544"/>
                        </a:ext>
                      </a:extLst>
                    </a:gridCol>
                    <a:gridCol w="800045">
                      <a:extLst>
                        <a:ext uri="{9D8B030D-6E8A-4147-A177-3AD203B41FA5}">
                          <a16:colId xmlns:a16="http://schemas.microsoft.com/office/drawing/2014/main" val="1338819294"/>
                        </a:ext>
                      </a:extLst>
                    </a:gridCol>
                  </a:tblGrid>
                  <a:tr h="29329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567" marR="72567" marT="36284" marB="36284">
                        <a:blipFill>
                          <a:blip r:embed="rId3"/>
                          <a:stretch>
                            <a:fillRect l="-1563" t="-4167" r="-100000" b="-95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567" marR="72567" marT="36284" marB="36284">
                        <a:blipFill>
                          <a:blip r:embed="rId3"/>
                          <a:stretch>
                            <a:fillRect l="-103175" t="-4167" r="-1587" b="-958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0116406"/>
                      </a:ext>
                    </a:extLst>
                  </a:tr>
                  <a:tr h="29329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567" marR="72567" marT="36284" marB="36284">
                        <a:blipFill>
                          <a:blip r:embed="rId3"/>
                          <a:stretch>
                            <a:fillRect l="-1563" t="-108696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567" marR="72567" marT="36284" marB="36284">
                        <a:blipFill>
                          <a:blip r:embed="rId3"/>
                          <a:stretch>
                            <a:fillRect l="-103175" t="-108696" r="-15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339297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DB91C3E-066E-BB8D-4813-161CEC16EBA4}"/>
                  </a:ext>
                </a:extLst>
              </p:cNvPr>
              <p:cNvSpPr txBox="1"/>
              <p:nvPr/>
            </p:nvSpPr>
            <p:spPr>
              <a:xfrm>
                <a:off x="1505588" y="1939200"/>
                <a:ext cx="1028629" cy="6540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4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825" dirty="0">
                    <a:solidFill>
                      <a:prstClr val="black"/>
                    </a:solidFill>
                    <a:latin typeface="Lucida Sans"/>
                    <a:ea typeface="黑体"/>
                  </a:rPr>
                  <a:t>单通道</a:t>
                </a:r>
                <a14:m>
                  <m:oMath xmlns:m="http://schemas.openxmlformats.org/officeDocument/2006/math">
                    <m:r>
                      <a:rPr lang="en-US" altLang="zh-CN" sz="1825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zh-CN" altLang="en-US" sz="1825" b="1" dirty="0">
                  <a:solidFill>
                    <a:prstClr val="black"/>
                  </a:solidFill>
                  <a:latin typeface="Lucida Sans"/>
                  <a:ea typeface="黑体"/>
                </a:endParaRP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DB91C3E-066E-BB8D-4813-161CEC16EB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5588" y="1939200"/>
                <a:ext cx="1028629" cy="654025"/>
              </a:xfrm>
              <a:prstGeom prst="rect">
                <a:avLst/>
              </a:prstGeom>
              <a:blipFill>
                <a:blip r:embed="rId4"/>
                <a:stretch>
                  <a:fillRect l="-4878" t="-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772C5AC-8A2E-9393-D409-8D062324D4DD}"/>
                  </a:ext>
                </a:extLst>
              </p:cNvPr>
              <p:cNvSpPr txBox="1"/>
              <p:nvPr/>
            </p:nvSpPr>
            <p:spPr>
              <a:xfrm>
                <a:off x="4006562" y="2276431"/>
                <a:ext cx="1028629" cy="373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14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825" dirty="0">
                    <a:solidFill>
                      <a:prstClr val="black"/>
                    </a:solidFill>
                    <a:latin typeface="Lucida Sans"/>
                    <a:ea typeface="黑体"/>
                  </a:rPr>
                  <a:t>卷积</a:t>
                </a:r>
                <a14:m>
                  <m:oMath xmlns:m="http://schemas.openxmlformats.org/officeDocument/2006/math">
                    <m:r>
                      <a:rPr lang="en-US" altLang="zh-CN" sz="1825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endParaRPr lang="zh-CN" altLang="en-US" sz="1825" b="1" dirty="0">
                  <a:solidFill>
                    <a:prstClr val="black"/>
                  </a:solidFill>
                  <a:latin typeface="Lucida Sans"/>
                  <a:ea typeface="黑体"/>
                </a:endParaRPr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772C5AC-8A2E-9393-D409-8D062324D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6562" y="2276431"/>
                <a:ext cx="1028629" cy="373179"/>
              </a:xfrm>
              <a:prstGeom prst="rect">
                <a:avLst/>
              </a:prstGeom>
              <a:blipFill>
                <a:blip r:embed="rId5"/>
                <a:stretch>
                  <a:fillRect t="-6452" b="-193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箭头: 下 8">
            <a:extLst>
              <a:ext uri="{FF2B5EF4-FFF2-40B4-BE49-F238E27FC236}">
                <a16:creationId xmlns:a16="http://schemas.microsoft.com/office/drawing/2014/main" id="{D612BF34-FF2D-E033-7A1B-E5FB18C475F5}"/>
              </a:ext>
            </a:extLst>
          </p:cNvPr>
          <p:cNvSpPr/>
          <p:nvPr/>
        </p:nvSpPr>
        <p:spPr>
          <a:xfrm>
            <a:off x="1912978" y="3710727"/>
            <a:ext cx="228584" cy="28573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4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825">
              <a:solidFill>
                <a:prstClr val="white"/>
              </a:solidFill>
              <a:latin typeface="Lucida Sans"/>
              <a:ea typeface="黑体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B9ABA30-C8EA-56EB-0A00-125C2B40E09F}"/>
              </a:ext>
            </a:extLst>
          </p:cNvPr>
          <p:cNvSpPr/>
          <p:nvPr/>
        </p:nvSpPr>
        <p:spPr>
          <a:xfrm>
            <a:off x="884065" y="2413785"/>
            <a:ext cx="1543227" cy="860541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14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825">
              <a:solidFill>
                <a:prstClr val="black"/>
              </a:solidFill>
              <a:latin typeface="Lucida Sans"/>
              <a:ea typeface="黑体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35A5311-0727-7E42-3E34-FFC82A16703E}"/>
              </a:ext>
            </a:extLst>
          </p:cNvPr>
          <p:cNvSpPr/>
          <p:nvPr/>
        </p:nvSpPr>
        <p:spPr>
          <a:xfrm>
            <a:off x="1640464" y="2453514"/>
            <a:ext cx="1543227" cy="800045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14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825">
              <a:solidFill>
                <a:prstClr val="black"/>
              </a:solidFill>
              <a:latin typeface="Lucida Sans"/>
              <a:ea typeface="黑体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" name="表格 5">
                <a:extLst>
                  <a:ext uri="{FF2B5EF4-FFF2-40B4-BE49-F238E27FC236}">
                    <a16:creationId xmlns:a16="http://schemas.microsoft.com/office/drawing/2014/main" id="{5D6BF98C-DE68-7613-92C4-C90823592E40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912016" y="4096108"/>
              <a:ext cx="2271676" cy="15434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7919">
                      <a:extLst>
                        <a:ext uri="{9D8B030D-6E8A-4147-A177-3AD203B41FA5}">
                          <a16:colId xmlns:a16="http://schemas.microsoft.com/office/drawing/2014/main" val="2765991080"/>
                        </a:ext>
                      </a:extLst>
                    </a:gridCol>
                    <a:gridCol w="567919">
                      <a:extLst>
                        <a:ext uri="{9D8B030D-6E8A-4147-A177-3AD203B41FA5}">
                          <a16:colId xmlns:a16="http://schemas.microsoft.com/office/drawing/2014/main" val="728603018"/>
                        </a:ext>
                      </a:extLst>
                    </a:gridCol>
                    <a:gridCol w="567919">
                      <a:extLst>
                        <a:ext uri="{9D8B030D-6E8A-4147-A177-3AD203B41FA5}">
                          <a16:colId xmlns:a16="http://schemas.microsoft.com/office/drawing/2014/main" val="2587056671"/>
                        </a:ext>
                      </a:extLst>
                    </a:gridCol>
                    <a:gridCol w="567919">
                      <a:extLst>
                        <a:ext uri="{9D8B030D-6E8A-4147-A177-3AD203B41FA5}">
                          <a16:colId xmlns:a16="http://schemas.microsoft.com/office/drawing/2014/main" val="4291600636"/>
                        </a:ext>
                      </a:extLst>
                    </a:gridCol>
                  </a:tblGrid>
                  <a:tr h="38585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0" dirty="0"/>
                        </a:p>
                      </a:txBody>
                      <a:tcPr marL="72567" marR="72567" marT="36284" marB="36284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2567" marR="72567" marT="36284" marB="36284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2567" marR="72567" marT="36284" marB="36284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2567" marR="72567" marT="36284" marB="36284"/>
                    </a:tc>
                    <a:extLst>
                      <a:ext uri="{0D108BD9-81ED-4DB2-BD59-A6C34878D82A}">
                        <a16:rowId xmlns:a16="http://schemas.microsoft.com/office/drawing/2014/main" val="530682214"/>
                      </a:ext>
                    </a:extLst>
                  </a:tr>
                  <a:tr h="38585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0" dirty="0"/>
                        </a:p>
                      </a:txBody>
                      <a:tcPr marL="72567" marR="72567" marT="36284" marB="36284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2567" marR="72567" marT="36284" marB="36284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2567" marR="72567" marT="36284" marB="36284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2567" marR="72567" marT="36284" marB="36284"/>
                    </a:tc>
                    <a:extLst>
                      <a:ext uri="{0D108BD9-81ED-4DB2-BD59-A6C34878D82A}">
                        <a16:rowId xmlns:a16="http://schemas.microsoft.com/office/drawing/2014/main" val="1108299681"/>
                      </a:ext>
                    </a:extLst>
                  </a:tr>
                  <a:tr h="38585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0" dirty="0"/>
                        </a:p>
                      </a:txBody>
                      <a:tcPr marL="72567" marR="72567" marT="36284" marB="36284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2567" marR="72567" marT="36284" marB="36284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2567" marR="72567" marT="36284" marB="36284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2567" marR="72567" marT="36284" marB="36284"/>
                    </a:tc>
                    <a:extLst>
                      <a:ext uri="{0D108BD9-81ED-4DB2-BD59-A6C34878D82A}">
                        <a16:rowId xmlns:a16="http://schemas.microsoft.com/office/drawing/2014/main" val="2033660761"/>
                      </a:ext>
                    </a:extLst>
                  </a:tr>
                  <a:tr h="38585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0" dirty="0"/>
                        </a:p>
                      </a:txBody>
                      <a:tcPr marL="72567" marR="72567" marT="36284" marB="36284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2567" marR="72567" marT="36284" marB="36284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2567" marR="72567" marT="36284" marB="36284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2567" marR="72567" marT="36284" marB="36284"/>
                    </a:tc>
                    <a:extLst>
                      <a:ext uri="{0D108BD9-81ED-4DB2-BD59-A6C34878D82A}">
                        <a16:rowId xmlns:a16="http://schemas.microsoft.com/office/drawing/2014/main" val="33305937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3" name="表格 5">
                <a:extLst>
                  <a:ext uri="{FF2B5EF4-FFF2-40B4-BE49-F238E27FC236}">
                    <a16:creationId xmlns:a16="http://schemas.microsoft.com/office/drawing/2014/main" id="{5D6BF98C-DE68-7613-92C4-C90823592E40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912016" y="4096108"/>
              <a:ext cx="2271676" cy="15434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7919">
                      <a:extLst>
                        <a:ext uri="{9D8B030D-6E8A-4147-A177-3AD203B41FA5}">
                          <a16:colId xmlns:a16="http://schemas.microsoft.com/office/drawing/2014/main" val="2765991080"/>
                        </a:ext>
                      </a:extLst>
                    </a:gridCol>
                    <a:gridCol w="567919">
                      <a:extLst>
                        <a:ext uri="{9D8B030D-6E8A-4147-A177-3AD203B41FA5}">
                          <a16:colId xmlns:a16="http://schemas.microsoft.com/office/drawing/2014/main" val="728603018"/>
                        </a:ext>
                      </a:extLst>
                    </a:gridCol>
                    <a:gridCol w="567919">
                      <a:extLst>
                        <a:ext uri="{9D8B030D-6E8A-4147-A177-3AD203B41FA5}">
                          <a16:colId xmlns:a16="http://schemas.microsoft.com/office/drawing/2014/main" val="2587056671"/>
                        </a:ext>
                      </a:extLst>
                    </a:gridCol>
                    <a:gridCol w="567919">
                      <a:extLst>
                        <a:ext uri="{9D8B030D-6E8A-4147-A177-3AD203B41FA5}">
                          <a16:colId xmlns:a16="http://schemas.microsoft.com/office/drawing/2014/main" val="4291600636"/>
                        </a:ext>
                      </a:extLst>
                    </a:gridCol>
                  </a:tblGrid>
                  <a:tr h="38585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567" marR="72567" marT="36284" marB="36284">
                        <a:blipFill>
                          <a:blip r:embed="rId6"/>
                          <a:stretch>
                            <a:fillRect t="-3226" r="-302222" b="-296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567" marR="72567" marT="36284" marB="36284">
                        <a:blipFill>
                          <a:blip r:embed="rId6"/>
                          <a:stretch>
                            <a:fillRect l="-100000" t="-3226" r="-202222" b="-296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567" marR="72567" marT="36284" marB="36284">
                        <a:blipFill>
                          <a:blip r:embed="rId6"/>
                          <a:stretch>
                            <a:fillRect l="-200000" t="-3226" r="-102222" b="-296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567" marR="72567" marT="36284" marB="36284">
                        <a:blipFill>
                          <a:blip r:embed="rId6"/>
                          <a:stretch>
                            <a:fillRect l="-300000" t="-3226" r="-2222" b="-2967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0682214"/>
                      </a:ext>
                    </a:extLst>
                  </a:tr>
                  <a:tr h="38585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567" marR="72567" marT="36284" marB="36284">
                        <a:blipFill>
                          <a:blip r:embed="rId6"/>
                          <a:stretch>
                            <a:fillRect t="-103226" r="-302222" b="-196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567" marR="72567" marT="36284" marB="36284">
                        <a:blipFill>
                          <a:blip r:embed="rId6"/>
                          <a:stretch>
                            <a:fillRect l="-100000" t="-103226" r="-202222" b="-196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567" marR="72567" marT="36284" marB="36284">
                        <a:blipFill>
                          <a:blip r:embed="rId6"/>
                          <a:stretch>
                            <a:fillRect l="-200000" t="-103226" r="-102222" b="-196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567" marR="72567" marT="36284" marB="36284">
                        <a:blipFill>
                          <a:blip r:embed="rId6"/>
                          <a:stretch>
                            <a:fillRect l="-300000" t="-103226" r="-2222" b="-1967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8299681"/>
                      </a:ext>
                    </a:extLst>
                  </a:tr>
                  <a:tr h="38585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567" marR="72567" marT="36284" marB="36284">
                        <a:blipFill>
                          <a:blip r:embed="rId6"/>
                          <a:stretch>
                            <a:fillRect t="-210000" r="-302222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567" marR="72567" marT="36284" marB="36284">
                        <a:blipFill>
                          <a:blip r:embed="rId6"/>
                          <a:stretch>
                            <a:fillRect l="-100000" t="-210000" r="-202222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567" marR="72567" marT="36284" marB="36284">
                        <a:blipFill>
                          <a:blip r:embed="rId6"/>
                          <a:stretch>
                            <a:fillRect l="-200000" t="-210000" r="-102222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567" marR="72567" marT="36284" marB="36284">
                        <a:blipFill>
                          <a:blip r:embed="rId6"/>
                          <a:stretch>
                            <a:fillRect l="-300000" t="-210000" r="-2222" b="-1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33660761"/>
                      </a:ext>
                    </a:extLst>
                  </a:tr>
                  <a:tr h="38585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567" marR="72567" marT="36284" marB="36284">
                        <a:blipFill>
                          <a:blip r:embed="rId6"/>
                          <a:stretch>
                            <a:fillRect t="-300000" r="-30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567" marR="72567" marT="36284" marB="36284">
                        <a:blipFill>
                          <a:blip r:embed="rId6"/>
                          <a:stretch>
                            <a:fillRect l="-100000" t="-300000" r="-20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567" marR="72567" marT="36284" marB="36284">
                        <a:blipFill>
                          <a:blip r:embed="rId6"/>
                          <a:stretch>
                            <a:fillRect l="-200000" t="-300000" r="-10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567" marR="72567" marT="36284" marB="36284">
                        <a:blipFill>
                          <a:blip r:embed="rId6"/>
                          <a:stretch>
                            <a:fillRect l="-300000" t="-300000" r="-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05937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矩形 13">
            <a:extLst>
              <a:ext uri="{FF2B5EF4-FFF2-40B4-BE49-F238E27FC236}">
                <a16:creationId xmlns:a16="http://schemas.microsoft.com/office/drawing/2014/main" id="{814D5E69-5F18-C974-4D61-64C472BD528B}"/>
              </a:ext>
            </a:extLst>
          </p:cNvPr>
          <p:cNvSpPr/>
          <p:nvPr/>
        </p:nvSpPr>
        <p:spPr>
          <a:xfrm>
            <a:off x="912015" y="4096109"/>
            <a:ext cx="2271676" cy="385381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14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825">
              <a:solidFill>
                <a:prstClr val="black"/>
              </a:solidFill>
              <a:latin typeface="Lucida Sans"/>
              <a:ea typeface="黑体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A14FBE73-BAF1-793B-4F6D-4E09BD1DD39A}"/>
                  </a:ext>
                </a:extLst>
              </p:cNvPr>
              <p:cNvSpPr txBox="1"/>
              <p:nvPr/>
            </p:nvSpPr>
            <p:spPr>
              <a:xfrm>
                <a:off x="483418" y="4090867"/>
                <a:ext cx="285730" cy="3767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91414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825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altLang="zh-CN" sz="1825" b="1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825" b="1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acc>
                        </m:e>
                        <m:sub>
                          <m:r>
                            <a:rPr lang="en-US" altLang="zh-CN" sz="1825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1825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zh-CN" altLang="en-US" sz="1825" dirty="0">
                  <a:solidFill>
                    <a:prstClr val="black"/>
                  </a:solidFill>
                  <a:latin typeface="Lucida Sans"/>
                  <a:ea typeface="黑体"/>
                </a:endParaRPr>
              </a:p>
            </p:txBody>
          </p:sp>
        </mc:Choice>
        <mc:Fallback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A14FBE73-BAF1-793B-4F6D-4E09BD1DD3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418" y="4090867"/>
                <a:ext cx="285730" cy="376706"/>
              </a:xfrm>
              <a:prstGeom prst="rect">
                <a:avLst/>
              </a:prstGeom>
              <a:blipFill>
                <a:blip r:embed="rId7"/>
                <a:stretch>
                  <a:fillRect r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 16">
            <a:extLst>
              <a:ext uri="{FF2B5EF4-FFF2-40B4-BE49-F238E27FC236}">
                <a16:creationId xmlns:a16="http://schemas.microsoft.com/office/drawing/2014/main" id="{DA4DC54A-E5B0-A762-CD5E-95AE25EAC43F}"/>
              </a:ext>
            </a:extLst>
          </p:cNvPr>
          <p:cNvSpPr/>
          <p:nvPr/>
        </p:nvSpPr>
        <p:spPr>
          <a:xfrm>
            <a:off x="912015" y="4481490"/>
            <a:ext cx="2271676" cy="385381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14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825">
              <a:solidFill>
                <a:prstClr val="black"/>
              </a:solidFill>
              <a:latin typeface="Lucida Sans"/>
              <a:ea typeface="黑体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DC1AC538-E624-91DF-4B4A-7F4372D23730}"/>
                  </a:ext>
                </a:extLst>
              </p:cNvPr>
              <p:cNvSpPr txBox="1"/>
              <p:nvPr/>
            </p:nvSpPr>
            <p:spPr>
              <a:xfrm>
                <a:off x="483418" y="4512703"/>
                <a:ext cx="285730" cy="377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91414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825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altLang="zh-CN" sz="1825" b="1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825" b="1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acc>
                        </m:e>
                        <m:sub>
                          <m:r>
                            <a:rPr lang="en-US" altLang="zh-CN" sz="1825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1825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zh-CN" altLang="en-US" sz="1825" dirty="0">
                  <a:solidFill>
                    <a:prstClr val="black"/>
                  </a:solidFill>
                  <a:latin typeface="Lucida Sans"/>
                  <a:ea typeface="黑体"/>
                </a:endParaRPr>
              </a:p>
            </p:txBody>
          </p:sp>
        </mc:Choice>
        <mc:Fallback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DC1AC538-E624-91DF-4B4A-7F4372D237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418" y="4512703"/>
                <a:ext cx="285730" cy="377219"/>
              </a:xfrm>
              <a:prstGeom prst="rect">
                <a:avLst/>
              </a:prstGeom>
              <a:blipFill>
                <a:blip r:embed="rId8"/>
                <a:stretch>
                  <a:fillRect r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箭头: 下 18">
            <a:extLst>
              <a:ext uri="{FF2B5EF4-FFF2-40B4-BE49-F238E27FC236}">
                <a16:creationId xmlns:a16="http://schemas.microsoft.com/office/drawing/2014/main" id="{B48D44C4-85F2-9E6E-66AB-BF32E4C89038}"/>
              </a:ext>
            </a:extLst>
          </p:cNvPr>
          <p:cNvSpPr/>
          <p:nvPr/>
        </p:nvSpPr>
        <p:spPr>
          <a:xfrm>
            <a:off x="4312829" y="3558000"/>
            <a:ext cx="228584" cy="28573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4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825">
              <a:solidFill>
                <a:prstClr val="white"/>
              </a:solidFill>
              <a:latin typeface="Lucida Sans"/>
              <a:ea typeface="黑体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" name="表格 20">
                <a:extLst>
                  <a:ext uri="{FF2B5EF4-FFF2-40B4-BE49-F238E27FC236}">
                    <a16:creationId xmlns:a16="http://schemas.microsoft.com/office/drawing/2014/main" id="{EF616537-78BC-BC0D-2FEF-A3F2A9EA380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135445" y="3990286"/>
              <a:ext cx="583352" cy="1177204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583352">
                      <a:extLst>
                        <a:ext uri="{9D8B030D-6E8A-4147-A177-3AD203B41FA5}">
                          <a16:colId xmlns:a16="http://schemas.microsoft.com/office/drawing/2014/main" val="543489153"/>
                        </a:ext>
                      </a:extLst>
                    </a:gridCol>
                  </a:tblGrid>
                  <a:tr h="29430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2567" marR="72567" marT="36284" marB="36284"/>
                    </a:tc>
                    <a:extLst>
                      <a:ext uri="{0D108BD9-81ED-4DB2-BD59-A6C34878D82A}">
                        <a16:rowId xmlns:a16="http://schemas.microsoft.com/office/drawing/2014/main" val="2457185017"/>
                      </a:ext>
                    </a:extLst>
                  </a:tr>
                  <a:tr h="29430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2567" marR="72567" marT="36284" marB="36284"/>
                    </a:tc>
                    <a:extLst>
                      <a:ext uri="{0D108BD9-81ED-4DB2-BD59-A6C34878D82A}">
                        <a16:rowId xmlns:a16="http://schemas.microsoft.com/office/drawing/2014/main" val="747967463"/>
                      </a:ext>
                    </a:extLst>
                  </a:tr>
                  <a:tr h="29430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2567" marR="72567" marT="36284" marB="36284"/>
                    </a:tc>
                    <a:extLst>
                      <a:ext uri="{0D108BD9-81ED-4DB2-BD59-A6C34878D82A}">
                        <a16:rowId xmlns:a16="http://schemas.microsoft.com/office/drawing/2014/main" val="3111820561"/>
                      </a:ext>
                    </a:extLst>
                  </a:tr>
                  <a:tr h="29430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2567" marR="72567" marT="36284" marB="36284"/>
                    </a:tc>
                    <a:extLst>
                      <a:ext uri="{0D108BD9-81ED-4DB2-BD59-A6C34878D82A}">
                        <a16:rowId xmlns:a16="http://schemas.microsoft.com/office/drawing/2014/main" val="33836204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" name="表格 20">
                <a:extLst>
                  <a:ext uri="{FF2B5EF4-FFF2-40B4-BE49-F238E27FC236}">
                    <a16:creationId xmlns:a16="http://schemas.microsoft.com/office/drawing/2014/main" id="{EF616537-78BC-BC0D-2FEF-A3F2A9EA380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135445" y="3990286"/>
              <a:ext cx="583352" cy="1177204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583352">
                      <a:extLst>
                        <a:ext uri="{9D8B030D-6E8A-4147-A177-3AD203B41FA5}">
                          <a16:colId xmlns:a16="http://schemas.microsoft.com/office/drawing/2014/main" val="543489153"/>
                        </a:ext>
                      </a:extLst>
                    </a:gridCol>
                  </a:tblGrid>
                  <a:tr h="29430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567" marR="72567" marT="36284" marB="36284">
                        <a:blipFill>
                          <a:blip r:embed="rId9"/>
                          <a:stretch>
                            <a:fillRect l="-2128" t="-4348" r="-2128" b="-3086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7185017"/>
                      </a:ext>
                    </a:extLst>
                  </a:tr>
                  <a:tr h="29430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567" marR="72567" marT="36284" marB="36284">
                        <a:blipFill>
                          <a:blip r:embed="rId9"/>
                          <a:stretch>
                            <a:fillRect l="-2128" t="-100000" r="-2128" b="-1958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7967463"/>
                      </a:ext>
                    </a:extLst>
                  </a:tr>
                  <a:tr h="29430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567" marR="72567" marT="36284" marB="36284">
                        <a:blipFill>
                          <a:blip r:embed="rId9"/>
                          <a:stretch>
                            <a:fillRect l="-2128" t="-208696" r="-2128" b="-1043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1820561"/>
                      </a:ext>
                    </a:extLst>
                  </a:tr>
                  <a:tr h="29430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567" marR="72567" marT="36284" marB="36284">
                        <a:blipFill>
                          <a:blip r:embed="rId9"/>
                          <a:stretch>
                            <a:fillRect l="-2128" t="-308696" r="-2128" b="-43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36204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9F872140-7460-E048-55A8-39208C2C2669}"/>
                  </a:ext>
                </a:extLst>
              </p:cNvPr>
              <p:cNvSpPr txBox="1"/>
              <p:nvPr/>
            </p:nvSpPr>
            <p:spPr>
              <a:xfrm>
                <a:off x="4167132" y="5428966"/>
                <a:ext cx="519977" cy="373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4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1825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1825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acc>
                    </m:oMath>
                  </m:oMathPara>
                </a14:m>
                <a:endParaRPr lang="zh-CN" altLang="en-US" sz="1825" b="1" dirty="0">
                  <a:solidFill>
                    <a:prstClr val="black"/>
                  </a:solidFill>
                  <a:latin typeface="Lucida Sans"/>
                  <a:ea typeface="黑体"/>
                </a:endParaRPr>
              </a:p>
            </p:txBody>
          </p:sp>
        </mc:Choice>
        <mc:Fallback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9F872140-7460-E048-55A8-39208C2C26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7132" y="5428966"/>
                <a:ext cx="519977" cy="37317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0EAE3AFC-904A-2F09-6453-2B672AE890D1}"/>
                  </a:ext>
                </a:extLst>
              </p:cNvPr>
              <p:cNvSpPr txBox="1"/>
              <p:nvPr/>
            </p:nvSpPr>
            <p:spPr>
              <a:xfrm>
                <a:off x="3253641" y="2844055"/>
                <a:ext cx="114292" cy="373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4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25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⊗</m:t>
                      </m:r>
                    </m:oMath>
                  </m:oMathPara>
                </a14:m>
                <a:endParaRPr lang="zh-CN" altLang="en-US" sz="1825" dirty="0">
                  <a:solidFill>
                    <a:prstClr val="black"/>
                  </a:solidFill>
                  <a:latin typeface="Lucida Sans"/>
                  <a:ea typeface="黑体"/>
                </a:endParaRPr>
              </a:p>
            </p:txBody>
          </p:sp>
        </mc:Choice>
        <mc:Fallback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0EAE3AFC-904A-2F09-6453-2B672AE89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3641" y="2844055"/>
                <a:ext cx="114292" cy="373179"/>
              </a:xfrm>
              <a:prstGeom prst="rect">
                <a:avLst/>
              </a:prstGeom>
              <a:blipFill>
                <a:blip r:embed="rId11"/>
                <a:stretch>
                  <a:fillRect l="-30000" r="-210000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箭头: 右 23">
            <a:extLst>
              <a:ext uri="{FF2B5EF4-FFF2-40B4-BE49-F238E27FC236}">
                <a16:creationId xmlns:a16="http://schemas.microsoft.com/office/drawing/2014/main" id="{BC96B577-1307-399D-E291-1E366F3B3F44}"/>
              </a:ext>
            </a:extLst>
          </p:cNvPr>
          <p:cNvSpPr/>
          <p:nvPr/>
        </p:nvSpPr>
        <p:spPr>
          <a:xfrm>
            <a:off x="5486236" y="3040536"/>
            <a:ext cx="228584" cy="1770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4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825">
              <a:solidFill>
                <a:prstClr val="white"/>
              </a:solidFill>
              <a:latin typeface="Lucida Sans"/>
              <a:ea typeface="黑体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5" name="表格 25">
                <a:extLst>
                  <a:ext uri="{FF2B5EF4-FFF2-40B4-BE49-F238E27FC236}">
                    <a16:creationId xmlns:a16="http://schemas.microsoft.com/office/drawing/2014/main" id="{6653AF67-3E86-8283-1228-9530EBCB18E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025933" y="2689794"/>
              <a:ext cx="2000112" cy="588602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000056">
                      <a:extLst>
                        <a:ext uri="{9D8B030D-6E8A-4147-A177-3AD203B41FA5}">
                          <a16:colId xmlns:a16="http://schemas.microsoft.com/office/drawing/2014/main" val="2734349248"/>
                        </a:ext>
                      </a:extLst>
                    </a:gridCol>
                    <a:gridCol w="1000056">
                      <a:extLst>
                        <a:ext uri="{9D8B030D-6E8A-4147-A177-3AD203B41FA5}">
                          <a16:colId xmlns:a16="http://schemas.microsoft.com/office/drawing/2014/main" val="1495524883"/>
                        </a:ext>
                      </a:extLst>
                    </a:gridCol>
                  </a:tblGrid>
                  <a:tr h="29430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0" dirty="0"/>
                        </a:p>
                      </a:txBody>
                      <a:tcPr marL="72567" marR="72567" marT="36284" marB="36284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2567" marR="72567" marT="36284" marB="36284"/>
                    </a:tc>
                    <a:extLst>
                      <a:ext uri="{0D108BD9-81ED-4DB2-BD59-A6C34878D82A}">
                        <a16:rowId xmlns:a16="http://schemas.microsoft.com/office/drawing/2014/main" val="332355749"/>
                      </a:ext>
                    </a:extLst>
                  </a:tr>
                  <a:tr h="29430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2567" marR="72567" marT="36284" marB="36284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2567" marR="72567" marT="36284" marB="36284"/>
                    </a:tc>
                    <a:extLst>
                      <a:ext uri="{0D108BD9-81ED-4DB2-BD59-A6C34878D82A}">
                        <a16:rowId xmlns:a16="http://schemas.microsoft.com/office/drawing/2014/main" val="141088404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5" name="表格 25">
                <a:extLst>
                  <a:ext uri="{FF2B5EF4-FFF2-40B4-BE49-F238E27FC236}">
                    <a16:creationId xmlns:a16="http://schemas.microsoft.com/office/drawing/2014/main" id="{6653AF67-3E86-8283-1228-9530EBCB18E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025933" y="2689794"/>
              <a:ext cx="2000112" cy="588602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000056">
                      <a:extLst>
                        <a:ext uri="{9D8B030D-6E8A-4147-A177-3AD203B41FA5}">
                          <a16:colId xmlns:a16="http://schemas.microsoft.com/office/drawing/2014/main" val="2734349248"/>
                        </a:ext>
                      </a:extLst>
                    </a:gridCol>
                    <a:gridCol w="1000056">
                      <a:extLst>
                        <a:ext uri="{9D8B030D-6E8A-4147-A177-3AD203B41FA5}">
                          <a16:colId xmlns:a16="http://schemas.microsoft.com/office/drawing/2014/main" val="1495524883"/>
                        </a:ext>
                      </a:extLst>
                    </a:gridCol>
                  </a:tblGrid>
                  <a:tr h="29430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567" marR="72567" marT="36284" marB="36284">
                        <a:blipFill>
                          <a:blip r:embed="rId12"/>
                          <a:stretch>
                            <a:fillRect l="-1266" r="-102532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567" marR="72567" marT="36284" marB="36284">
                        <a:blipFill>
                          <a:blip r:embed="rId12"/>
                          <a:stretch>
                            <a:fillRect l="-101266" r="-2532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2355749"/>
                      </a:ext>
                    </a:extLst>
                  </a:tr>
                  <a:tr h="29430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567" marR="72567" marT="36284" marB="36284">
                        <a:blipFill>
                          <a:blip r:embed="rId12"/>
                          <a:stretch>
                            <a:fillRect l="-1266" t="-100000" r="-1025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567" marR="72567" marT="36284" marB="36284">
                        <a:blipFill>
                          <a:blip r:embed="rId12"/>
                          <a:stretch>
                            <a:fillRect l="-101266" t="-100000" r="-25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088404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43A409E7-33DC-2860-E14B-87B501C3212B}"/>
                  </a:ext>
                </a:extLst>
              </p:cNvPr>
              <p:cNvSpPr txBox="1"/>
              <p:nvPr/>
            </p:nvSpPr>
            <p:spPr>
              <a:xfrm>
                <a:off x="3484210" y="4448547"/>
                <a:ext cx="285730" cy="5808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4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174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</m:oMath>
                  </m:oMathPara>
                </a14:m>
                <a:endParaRPr lang="zh-CN" altLang="en-US" sz="3174" dirty="0">
                  <a:solidFill>
                    <a:prstClr val="black"/>
                  </a:solidFill>
                  <a:latin typeface="Lucida Sans"/>
                  <a:ea typeface="黑体"/>
                </a:endParaRPr>
              </a:p>
            </p:txBody>
          </p:sp>
        </mc:Choice>
        <mc:Fallback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43A409E7-33DC-2860-E14B-87B501C32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4210" y="4448547"/>
                <a:ext cx="285730" cy="5808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箭头: 下 27">
            <a:extLst>
              <a:ext uri="{FF2B5EF4-FFF2-40B4-BE49-F238E27FC236}">
                <a16:creationId xmlns:a16="http://schemas.microsoft.com/office/drawing/2014/main" id="{4C480217-1B65-EAE2-3936-85E091CA4919}"/>
              </a:ext>
            </a:extLst>
          </p:cNvPr>
          <p:cNvSpPr/>
          <p:nvPr/>
        </p:nvSpPr>
        <p:spPr>
          <a:xfrm>
            <a:off x="6932096" y="3558000"/>
            <a:ext cx="228584" cy="28573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4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825">
              <a:solidFill>
                <a:prstClr val="white"/>
              </a:solidFill>
              <a:latin typeface="Lucida Sans"/>
              <a:ea typeface="黑体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9" name="表格 29">
                <a:extLst>
                  <a:ext uri="{FF2B5EF4-FFF2-40B4-BE49-F238E27FC236}">
                    <a16:creationId xmlns:a16="http://schemas.microsoft.com/office/drawing/2014/main" id="{EC27B12B-C32F-CEC5-C301-3FAE66008A5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756614" y="4003494"/>
              <a:ext cx="628607" cy="1177204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628607">
                      <a:extLst>
                        <a:ext uri="{9D8B030D-6E8A-4147-A177-3AD203B41FA5}">
                          <a16:colId xmlns:a16="http://schemas.microsoft.com/office/drawing/2014/main" val="1416305230"/>
                        </a:ext>
                      </a:extLst>
                    </a:gridCol>
                  </a:tblGrid>
                  <a:tr h="29430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2567" marR="72567" marT="36284" marB="36284"/>
                    </a:tc>
                    <a:extLst>
                      <a:ext uri="{0D108BD9-81ED-4DB2-BD59-A6C34878D82A}">
                        <a16:rowId xmlns:a16="http://schemas.microsoft.com/office/drawing/2014/main" val="3088622342"/>
                      </a:ext>
                    </a:extLst>
                  </a:tr>
                  <a:tr h="29430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2567" marR="72567" marT="36284" marB="36284"/>
                    </a:tc>
                    <a:extLst>
                      <a:ext uri="{0D108BD9-81ED-4DB2-BD59-A6C34878D82A}">
                        <a16:rowId xmlns:a16="http://schemas.microsoft.com/office/drawing/2014/main" val="3641117614"/>
                      </a:ext>
                    </a:extLst>
                  </a:tr>
                  <a:tr h="29430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2567" marR="72567" marT="36284" marB="36284"/>
                    </a:tc>
                    <a:extLst>
                      <a:ext uri="{0D108BD9-81ED-4DB2-BD59-A6C34878D82A}">
                        <a16:rowId xmlns:a16="http://schemas.microsoft.com/office/drawing/2014/main" val="215805937"/>
                      </a:ext>
                    </a:extLst>
                  </a:tr>
                  <a:tr h="29430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2567" marR="72567" marT="36284" marB="36284"/>
                    </a:tc>
                    <a:extLst>
                      <a:ext uri="{0D108BD9-81ED-4DB2-BD59-A6C34878D82A}">
                        <a16:rowId xmlns:a16="http://schemas.microsoft.com/office/drawing/2014/main" val="102193266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9" name="表格 29">
                <a:extLst>
                  <a:ext uri="{FF2B5EF4-FFF2-40B4-BE49-F238E27FC236}">
                    <a16:creationId xmlns:a16="http://schemas.microsoft.com/office/drawing/2014/main" id="{EC27B12B-C32F-CEC5-C301-3FAE66008A5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756614" y="4003494"/>
              <a:ext cx="628607" cy="1177204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628607">
                      <a:extLst>
                        <a:ext uri="{9D8B030D-6E8A-4147-A177-3AD203B41FA5}">
                          <a16:colId xmlns:a16="http://schemas.microsoft.com/office/drawing/2014/main" val="1416305230"/>
                        </a:ext>
                      </a:extLst>
                    </a:gridCol>
                  </a:tblGrid>
                  <a:tr h="29430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567" marR="72567" marT="36284" marB="36284">
                        <a:blipFill>
                          <a:blip r:embed="rId14"/>
                          <a:stretch>
                            <a:fillRect l="-2000" t="-4348" r="-2000" b="-3043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8622342"/>
                      </a:ext>
                    </a:extLst>
                  </a:tr>
                  <a:tr h="29430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567" marR="72567" marT="36284" marB="36284">
                        <a:blipFill>
                          <a:blip r:embed="rId14"/>
                          <a:stretch>
                            <a:fillRect l="-2000" t="-100000" r="-2000" b="-19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1117614"/>
                      </a:ext>
                    </a:extLst>
                  </a:tr>
                  <a:tr h="29430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567" marR="72567" marT="36284" marB="36284">
                        <a:blipFill>
                          <a:blip r:embed="rId14"/>
                          <a:stretch>
                            <a:fillRect l="-2000" t="-208696" r="-2000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805937"/>
                      </a:ext>
                    </a:extLst>
                  </a:tr>
                  <a:tr h="29430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567" marR="72567" marT="36284" marB="36284">
                        <a:blipFill>
                          <a:blip r:embed="rId14"/>
                          <a:stretch>
                            <a:fillRect l="-2000" t="-308696" r="-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193266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00CAA3A5-E729-28ED-0525-9ABB9C08E5D1}"/>
                  </a:ext>
                </a:extLst>
              </p:cNvPr>
              <p:cNvSpPr txBox="1"/>
              <p:nvPr/>
            </p:nvSpPr>
            <p:spPr>
              <a:xfrm>
                <a:off x="6711686" y="2211531"/>
                <a:ext cx="628607" cy="373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4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25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𝒁</m:t>
                      </m:r>
                    </m:oMath>
                  </m:oMathPara>
                </a14:m>
                <a:endParaRPr lang="zh-CN" altLang="en-US" sz="1825" b="1" dirty="0">
                  <a:solidFill>
                    <a:prstClr val="black"/>
                  </a:solidFill>
                  <a:latin typeface="Lucida Sans"/>
                  <a:ea typeface="黑体"/>
                </a:endParaRPr>
              </a:p>
            </p:txBody>
          </p:sp>
        </mc:Choice>
        <mc:Fallback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00CAA3A5-E729-28ED-0525-9ABB9C08E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1686" y="2211531"/>
                <a:ext cx="628607" cy="37317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225FDF39-57D4-CA04-BF40-D804A2ED6AE0}"/>
                  </a:ext>
                </a:extLst>
              </p:cNvPr>
              <p:cNvSpPr txBox="1"/>
              <p:nvPr/>
            </p:nvSpPr>
            <p:spPr>
              <a:xfrm>
                <a:off x="6959245" y="5404227"/>
                <a:ext cx="201435" cy="373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4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1825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1825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CN" altLang="en-US" sz="1825" b="1" dirty="0">
                  <a:solidFill>
                    <a:prstClr val="black"/>
                  </a:solidFill>
                  <a:latin typeface="Lucida Sans"/>
                  <a:ea typeface="黑体"/>
                </a:endParaRPr>
              </a:p>
            </p:txBody>
          </p:sp>
        </mc:Choice>
        <mc:Fallback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225FDF39-57D4-CA04-BF40-D804A2ED6A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245" y="5404227"/>
                <a:ext cx="201435" cy="373179"/>
              </a:xfrm>
              <a:prstGeom prst="rect">
                <a:avLst/>
              </a:prstGeom>
              <a:blipFill>
                <a:blip r:embed="rId16"/>
                <a:stretch>
                  <a:fillRect r="-29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箭头: 右 31">
            <a:extLst>
              <a:ext uri="{FF2B5EF4-FFF2-40B4-BE49-F238E27FC236}">
                <a16:creationId xmlns:a16="http://schemas.microsoft.com/office/drawing/2014/main" id="{870D2BB0-93EC-6DE2-3889-32BC803B4497}"/>
              </a:ext>
            </a:extLst>
          </p:cNvPr>
          <p:cNvSpPr/>
          <p:nvPr/>
        </p:nvSpPr>
        <p:spPr>
          <a:xfrm>
            <a:off x="5623414" y="4603229"/>
            <a:ext cx="228584" cy="1770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4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825">
              <a:solidFill>
                <a:prstClr val="white"/>
              </a:solidFill>
              <a:latin typeface="Lucida Sans"/>
              <a:ea typeface="黑体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3EEB2196-748B-DF44-A7ED-BF75564C78A6}"/>
                  </a:ext>
                </a:extLst>
              </p:cNvPr>
              <p:cNvSpPr txBox="1"/>
              <p:nvPr/>
            </p:nvSpPr>
            <p:spPr>
              <a:xfrm>
                <a:off x="1868779" y="5741951"/>
                <a:ext cx="519977" cy="3826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4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1825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1825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</m:oMath>
                  </m:oMathPara>
                </a14:m>
                <a:endParaRPr lang="zh-CN" altLang="en-US" sz="1825" b="1" dirty="0">
                  <a:solidFill>
                    <a:prstClr val="black"/>
                  </a:solidFill>
                  <a:latin typeface="Lucida Sans"/>
                  <a:ea typeface="黑体"/>
                </a:endParaRPr>
              </a:p>
            </p:txBody>
          </p:sp>
        </mc:Choice>
        <mc:Fallback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3EEB2196-748B-DF44-A7ED-BF75564C78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8779" y="5741951"/>
                <a:ext cx="519977" cy="38260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003598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4" grpId="0" animBg="1"/>
      <p:bldP spid="16" grpId="0"/>
      <p:bldP spid="17" grpId="0" animBg="1"/>
      <p:bldP spid="18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217FF7-F9B0-2D44-A2F4-74AA6D3C2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ea typeface="宋体" panose="02010600030101010101" pitchFamily="2" charset="-122"/>
              </a:rPr>
              <a:t>训练过程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08BC8D-EEA5-9346-9EB5-430A05EFE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78</a:t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4080CBC4-B90C-3B4E-9F5D-6CDB22AD7D6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2445" y="1511895"/>
                <a:ext cx="10369868" cy="4486121"/>
              </a:xfrm>
              <a:prstGeom prst="rect">
                <a:avLst/>
              </a:prstGeom>
            </p:spPr>
            <p:txBody>
              <a:bodyPr vert="horz" lIns="115214" tIns="57607" rIns="115214" bIns="57607" rtlCol="0">
                <a:normAutofit fontScale="85000" lnSpcReduction="10000"/>
              </a:bodyPr>
              <a:lstStyle>
                <a:lvl1pPr marL="431800" indent="-431800" algn="l" defTabSz="1151890" rtl="0" eaLnBrk="1" latinLnBrk="0" hangingPunct="1">
                  <a:lnSpc>
                    <a:spcPct val="120000"/>
                  </a:lnSpc>
                  <a:spcBef>
                    <a:spcPts val="8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35990" indent="-360045" algn="l" defTabSz="1151890" rtl="0" eaLnBrk="1" latinLnBrk="0" hangingPunct="1">
                  <a:lnSpc>
                    <a:spcPct val="120000"/>
                  </a:lnSpc>
                  <a:spcBef>
                    <a:spcPts val="800"/>
                  </a:spcBef>
                  <a:buFont typeface="Arial" panose="020B0604020202020204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440180" indent="-288290" algn="l" defTabSz="1151890" rtl="0" eaLnBrk="1" latinLnBrk="0" hangingPunct="1">
                  <a:lnSpc>
                    <a:spcPct val="120000"/>
                  </a:lnSpc>
                  <a:spcBef>
                    <a:spcPts val="8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016125" indent="-288290" algn="l" defTabSz="1151890" rtl="0" eaLnBrk="1" latinLnBrk="0" hangingPunct="1">
                  <a:lnSpc>
                    <a:spcPct val="120000"/>
                  </a:lnSpc>
                  <a:spcBef>
                    <a:spcPts val="800"/>
                  </a:spcBef>
                  <a:buFont typeface="Arial" panose="020B0604020202020204" pitchFamily="34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592070" indent="-288290" algn="l" defTabSz="1151890" rtl="0" eaLnBrk="1" latinLnBrk="0" hangingPunct="1">
                  <a:lnSpc>
                    <a:spcPct val="120000"/>
                  </a:lnSpc>
                  <a:spcBef>
                    <a:spcPts val="800"/>
                  </a:spcBef>
                  <a:buFont typeface="Arial" panose="020B0604020202020204" pitchFamily="34" charset="0"/>
                  <a:buChar char="»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168650" indent="-288290" algn="l" defTabSz="115189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744595" indent="-288290" algn="l" defTabSz="115189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320540" indent="-288290" algn="l" defTabSz="115189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96485" indent="-288290" algn="l" defTabSz="115189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𝒁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𝑾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⊗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en-US" altLang="zh-CN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⊗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b="1" dirty="0"/>
              </a:p>
              <a:p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acc>
                    <m:r>
                      <a:rPr lang="en-US" altLang="zh-CN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  <m:acc>
                      <m:accPr>
                        <m:chr m:val="̃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acc>
                  </m:oMath>
                </a14:m>
                <a:endParaRPr lang="en-US" altLang="zh-CN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eqArr>
                                <m:eqArr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21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22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b="1" dirty="0"/>
              </a:p>
              <a:p>
                <a:endParaRPr lang="en-US" altLang="zh-CN" b="1" dirty="0"/>
              </a:p>
            </p:txBody>
          </p:sp>
        </mc:Choice>
        <mc:Fallback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4080CBC4-B90C-3B4E-9F5D-6CDB22AD7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445" y="1511895"/>
                <a:ext cx="10369868" cy="4486121"/>
              </a:xfrm>
              <a:prstGeom prst="rect">
                <a:avLst/>
              </a:prstGeom>
              <a:blipFill>
                <a:blip r:embed="rId2"/>
                <a:stretch>
                  <a:fillRect l="-7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0537019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29447</TotalTime>
  <Words>2761</Words>
  <Application>Microsoft Macintosh PowerPoint</Application>
  <PresentationFormat>全屏显示(4:3)</PresentationFormat>
  <Paragraphs>308</Paragraphs>
  <Slides>78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78</vt:i4>
      </vt:variant>
    </vt:vector>
  </HeadingPairs>
  <TitlesOfParts>
    <vt:vector size="86" baseType="lpstr">
      <vt:lpstr>宋体</vt:lpstr>
      <vt:lpstr>Arial</vt:lpstr>
      <vt:lpstr>Cambria Math</vt:lpstr>
      <vt:lpstr>Lucida Sans</vt:lpstr>
      <vt:lpstr>Tahoma</vt:lpstr>
      <vt:lpstr>Times New Roman</vt:lpstr>
      <vt:lpstr>Wingdings</vt:lpstr>
      <vt:lpstr>Blends</vt:lpstr>
      <vt:lpstr>PowerPoint 演示文稿</vt:lpstr>
      <vt:lpstr>全连接神经网络</vt:lpstr>
      <vt:lpstr>全连接神经网络</vt:lpstr>
      <vt:lpstr>人类视觉原理</vt:lpstr>
      <vt:lpstr>CNN</vt:lpstr>
      <vt:lpstr>PowerPoint 演示文稿</vt:lpstr>
      <vt:lpstr>CNN</vt:lpstr>
      <vt:lpstr>CNN</vt:lpstr>
      <vt:lpstr>PowerPoint 演示文稿</vt:lpstr>
      <vt:lpstr>PowerPoint 演示文稿</vt:lpstr>
      <vt:lpstr>为什么要降低参数量级？</vt:lpstr>
      <vt:lpstr>CNN</vt:lpstr>
      <vt:lpstr>卷积（Convolution）</vt:lpstr>
      <vt:lpstr>2维卷积</vt:lpstr>
      <vt:lpstr>PowerPoint 演示文稿</vt:lpstr>
      <vt:lpstr>卷积（Convolution）</vt:lpstr>
      <vt:lpstr>卷积（Convolution）</vt:lpstr>
      <vt:lpstr>卷积（Convolution）</vt:lpstr>
      <vt:lpstr>PowerPoint 演示文稿</vt:lpstr>
      <vt:lpstr>卷积（Convolution）</vt:lpstr>
      <vt:lpstr>卷积作为特征提取器</vt:lpstr>
      <vt:lpstr>卷积</vt:lpstr>
      <vt:lpstr>PowerPoint 演示文稿</vt:lpstr>
      <vt:lpstr>PowerPoint 演示文稿</vt:lpstr>
      <vt:lpstr>多维卷积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池化（Pooling）</vt:lpstr>
      <vt:lpstr>PowerPoint 演示文稿</vt:lpstr>
      <vt:lpstr>卷积神经网络</vt:lpstr>
      <vt:lpstr>卷积神经网络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卷积神经网络</vt:lpstr>
      <vt:lpstr>训练过程</vt:lpstr>
      <vt:lpstr>训练过程</vt:lpstr>
      <vt:lpstr>训练过程</vt:lpstr>
    </vt:vector>
  </TitlesOfParts>
  <Company>S.F.U.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7class</dc:title>
  <dc:creator>Jiawei Han</dc:creator>
  <cp:lastModifiedBy>Microsoft Office User</cp:lastModifiedBy>
  <cp:revision>573</cp:revision>
  <cp:lastPrinted>1999-09-10T20:38:56Z</cp:lastPrinted>
  <dcterms:created xsi:type="dcterms:W3CDTF">1998-06-19T04:38:52Z</dcterms:created>
  <dcterms:modified xsi:type="dcterms:W3CDTF">2026-05-11T03:52:37Z</dcterms:modified>
  <cp:category>data mining book slides</cp:category>
</cp:coreProperties>
</file>