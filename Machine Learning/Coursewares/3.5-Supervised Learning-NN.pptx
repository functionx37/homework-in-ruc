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6"/>
  </p:notesMasterIdLst>
  <p:handoutMasterIdLst>
    <p:handoutMasterId r:id="rId87"/>
  </p:handoutMasterIdLst>
  <p:sldIdLst>
    <p:sldId id="1344" r:id="rId2"/>
    <p:sldId id="1353" r:id="rId3"/>
    <p:sldId id="1345" r:id="rId4"/>
    <p:sldId id="11221" r:id="rId5"/>
    <p:sldId id="11224" r:id="rId6"/>
    <p:sldId id="11223" r:id="rId7"/>
    <p:sldId id="11225" r:id="rId8"/>
    <p:sldId id="11226" r:id="rId9"/>
    <p:sldId id="1462" r:id="rId10"/>
    <p:sldId id="11233" r:id="rId11"/>
    <p:sldId id="11235" r:id="rId12"/>
    <p:sldId id="11227" r:id="rId13"/>
    <p:sldId id="11234" r:id="rId14"/>
    <p:sldId id="11236" r:id="rId15"/>
    <p:sldId id="11228" r:id="rId16"/>
    <p:sldId id="11237" r:id="rId17"/>
    <p:sldId id="1346" r:id="rId18"/>
    <p:sldId id="1347" r:id="rId19"/>
    <p:sldId id="1348" r:id="rId20"/>
    <p:sldId id="1349" r:id="rId21"/>
    <p:sldId id="1435" r:id="rId22"/>
    <p:sldId id="1436" r:id="rId23"/>
    <p:sldId id="1350" r:id="rId24"/>
    <p:sldId id="1380" r:id="rId25"/>
    <p:sldId id="1413" r:id="rId26"/>
    <p:sldId id="1382" r:id="rId27"/>
    <p:sldId id="1383" r:id="rId28"/>
    <p:sldId id="1384" r:id="rId29"/>
    <p:sldId id="1385" r:id="rId30"/>
    <p:sldId id="1386" r:id="rId31"/>
    <p:sldId id="1387" r:id="rId32"/>
    <p:sldId id="1388" r:id="rId33"/>
    <p:sldId id="1351" r:id="rId34"/>
    <p:sldId id="1352" r:id="rId35"/>
    <p:sldId id="1324" r:id="rId36"/>
    <p:sldId id="1325" r:id="rId37"/>
    <p:sldId id="1326" r:id="rId38"/>
    <p:sldId id="1327" r:id="rId39"/>
    <p:sldId id="1339" r:id="rId40"/>
    <p:sldId id="1340" r:id="rId41"/>
    <p:sldId id="1328" r:id="rId42"/>
    <p:sldId id="1329" r:id="rId43"/>
    <p:sldId id="1330" r:id="rId44"/>
    <p:sldId id="1331" r:id="rId45"/>
    <p:sldId id="1332" r:id="rId46"/>
    <p:sldId id="1341" r:id="rId47"/>
    <p:sldId id="1469" r:id="rId48"/>
    <p:sldId id="1470" r:id="rId49"/>
    <p:sldId id="1471" r:id="rId50"/>
    <p:sldId id="1472" r:id="rId51"/>
    <p:sldId id="1473" r:id="rId52"/>
    <p:sldId id="11241" r:id="rId53"/>
    <p:sldId id="1474" r:id="rId54"/>
    <p:sldId id="1342" r:id="rId55"/>
    <p:sldId id="1343" r:id="rId56"/>
    <p:sldId id="1337" r:id="rId57"/>
    <p:sldId id="1235" r:id="rId58"/>
    <p:sldId id="1463" r:id="rId59"/>
    <p:sldId id="1489" r:id="rId60"/>
    <p:sldId id="913" r:id="rId61"/>
    <p:sldId id="973" r:id="rId62"/>
    <p:sldId id="978" r:id="rId63"/>
    <p:sldId id="979" r:id="rId64"/>
    <p:sldId id="981" r:id="rId65"/>
    <p:sldId id="1492" r:id="rId66"/>
    <p:sldId id="1493" r:id="rId67"/>
    <p:sldId id="1464" r:id="rId68"/>
    <p:sldId id="1465" r:id="rId69"/>
    <p:sldId id="1466" r:id="rId70"/>
    <p:sldId id="1461" r:id="rId71"/>
    <p:sldId id="1482" r:id="rId72"/>
    <p:sldId id="1480" r:id="rId73"/>
    <p:sldId id="1481" r:id="rId74"/>
    <p:sldId id="11246" r:id="rId75"/>
    <p:sldId id="1495" r:id="rId76"/>
    <p:sldId id="11229" r:id="rId77"/>
    <p:sldId id="11230" r:id="rId78"/>
    <p:sldId id="11231" r:id="rId79"/>
    <p:sldId id="1355" r:id="rId80"/>
    <p:sldId id="11238" r:id="rId81"/>
    <p:sldId id="1095" r:id="rId82"/>
    <p:sldId id="11242" r:id="rId83"/>
    <p:sldId id="1087" r:id="rId84"/>
    <p:sldId id="11245" r:id="rId8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00CE98"/>
    <a:srgbClr val="FFFF00"/>
    <a:srgbClr val="FAE2F6"/>
    <a:srgbClr val="F6E6EA"/>
    <a:srgbClr val="170981"/>
    <a:srgbClr val="121328"/>
    <a:srgbClr val="8F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97" autoAdjust="0"/>
    <p:restoredTop sz="80372" autoAdjust="0"/>
  </p:normalViewPr>
  <p:slideViewPr>
    <p:cSldViewPr>
      <p:cViewPr>
        <p:scale>
          <a:sx n="83" d="100"/>
          <a:sy n="83" d="100"/>
        </p:scale>
        <p:origin x="392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056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5B5182-7205-437C-965A-ABBFE97C0E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5T05:08:01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5733 1794 111 0,'0'0'98'15,"0"0"-50"-15,0 0-13 16,0 0 1-16,0 0 0 16,0 0 0-16,-2 2 3 15,2-2-13-15,0 0-16 16,0 2-10-16,0 1 0 16,0 2-55-16,0 5-7 15,10 5-23-15,-4-4-20 16,0 0-25-16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4992388-FC0B-4783-B690-13F5C8565C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07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E3BAD-15B5-4674-826F-A2FA4BED5D1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1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1518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代码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E3BAD-15B5-4674-826F-A2FA4BED5D1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97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1513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注意：这里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函数用的是（</a:t>
            </a:r>
            <a:r>
              <a:rPr kumimoji="1" lang="en-US" altLang="zh-CN" dirty="0"/>
              <a:t>T-O</a:t>
            </a:r>
            <a:r>
              <a:rPr kumimoji="1" lang="zh-CN" altLang="en-US" dirty="0"/>
              <a:t>），如果用（</a:t>
            </a:r>
            <a:r>
              <a:rPr kumimoji="1" lang="en-US" altLang="zh-CN" dirty="0"/>
              <a:t>O-T</a:t>
            </a:r>
            <a:r>
              <a:rPr kumimoji="1" lang="zh-CN" altLang="en-US" dirty="0"/>
              <a:t>），则</a:t>
            </a:r>
            <a:r>
              <a:rPr kumimoji="1" lang="en-US" altLang="zh-CN" dirty="0"/>
              <a:t>err</a:t>
            </a:r>
            <a:r>
              <a:rPr kumimoji="1" lang="zh-CN" altLang="en-US" dirty="0"/>
              <a:t>会变号，则更新</a:t>
            </a:r>
            <a:r>
              <a:rPr kumimoji="1" lang="en-US" altLang="zh-CN" dirty="0"/>
              <a:t>w</a:t>
            </a:r>
            <a:r>
              <a:rPr kumimoji="1" lang="zh-CN" altLang="en-US" dirty="0"/>
              <a:t>时也相应变成 减去梯度， 而不是加上梯度。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992388-FC0B-4783-B690-13F5C8565C77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8871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992388-FC0B-4783-B690-13F5C8565C77}" type="slidenum">
              <a:rPr lang="zh-CN" altLang="en-US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040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992388-FC0B-4783-B690-13F5C8565C77}" type="slidenum">
              <a:rPr lang="zh-CN" altLang="en-US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638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Data Mining: Concepts and Techniques</a:t>
            </a: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05F3970-DBF3-4183-9494-79077F0C71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4979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DFBEE-26CD-4F2F-95E7-1B115DE429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32917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A9CA5-507D-4E4B-8285-34A0AB84C6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70582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5F712-7800-4008-88CE-F2FE87CFD3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93952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A5661-9858-49E2-AE03-1340B6A08D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54159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FA7B3-67FF-45AA-9F19-4B04C851DA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59648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83D4-3D09-4F7B-9106-F2CFA64C65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5783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8D0F4-BB15-4112-B681-E56106F0CE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12832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395D8-3124-4FF7-85BE-69CBD41948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88207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8AE15-9F0F-409C-8491-93BCB59460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50861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47D7-C940-4D2E-ACE4-A12E50085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91971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2AC13-42C6-4E06-B6CF-58039C3259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978729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782D3-32B7-4B61-B600-4A4761A06C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52115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027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044D1E-0C9C-4C37-B32D-190C060495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ransition>
    <p:zo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5.png"/><Relationship Id="rId4" Type="http://schemas.openxmlformats.org/officeDocument/2006/relationships/image" Target="../media/image34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6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44.png"/><Relationship Id="rId4" Type="http://schemas.openxmlformats.org/officeDocument/2006/relationships/image" Target="../media/image40.wmf"/><Relationship Id="rId9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2.png"/><Relationship Id="rId7" Type="http://schemas.openxmlformats.org/officeDocument/2006/relationships/image" Target="../media/image4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4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4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6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61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4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0.wmf"/><Relationship Id="rId11" Type="http://schemas.openxmlformats.org/officeDocument/2006/relationships/image" Target="../media/image35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43.png"/><Relationship Id="rId4" Type="http://schemas.openxmlformats.org/officeDocument/2006/relationships/image" Target="../media/image61.png"/><Relationship Id="rId9" Type="http://schemas.openxmlformats.org/officeDocument/2006/relationships/image" Target="../media/image42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4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1.wmf"/><Relationship Id="rId12" Type="http://schemas.openxmlformats.org/officeDocument/2006/relationships/image" Target="../media/image4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4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5.png"/><Relationship Id="rId5" Type="http://schemas.openxmlformats.org/officeDocument/2006/relationships/image" Target="../media/image40.wmf"/><Relationship Id="rId15" Type="http://schemas.openxmlformats.org/officeDocument/2006/relationships/image" Target="../media/image73.png"/><Relationship Id="rId10" Type="http://schemas.openxmlformats.org/officeDocument/2006/relationships/image" Target="../media/image72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71.png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E6C50A-1DEF-42D9-8B56-9F63373F20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本讲内容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1663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基于神经网络的分类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2063160" y="645840"/>
              <a:ext cx="8280" cy="216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8840" y="642240"/>
                <a:ext cx="15120" cy="2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93D9B6-BFF8-48FC-AEB7-21575A22AB5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71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6B6D89-0CB9-4F3B-873D-FB627E8A47A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2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神经网络最早是由心理学家和神经学家提出的，旨在寻求开发和测试神经的计算模拟。</a:t>
            </a:r>
          </a:p>
          <a:p>
            <a:pPr algn="just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粗略地说，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神经网络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是一组连接的输入/输出单元，其中每个连接都与一个权相关联。在学习阶段，通过调整权值，使得神经网络的预测准确性逐步提高。由于单元之间的连接，神经网络学习又称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连接者学习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4139DE-2B3A-4A19-B6C6-B9F409BDD67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43F8F7-58EE-4ACA-8B96-5E48439A36A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神经网络是以模拟人脑神经元的数学模型为基础而建立的，它由一系列神经元组成，单元之间彼此连接。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从信息处理角度看，神经元可以看作是一个多输入单输出的信息处理单元，根据神经元的特性和功能，可以把神经元抽象成一个简单的数学模型。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B6941-712F-9749-B7B3-A7807F44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神经元：线性组合</a:t>
            </a:r>
            <a:r>
              <a:rPr kumimoji="1" lang="en-US" altLang="zh-CN" dirty="0"/>
              <a:t>+</a:t>
            </a:r>
            <a:r>
              <a:rPr kumimoji="1" lang="zh-CN" altLang="en-US" dirty="0"/>
              <a:t>非线性变换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2923E-56DB-2346-8954-D654A723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634468"/>
            <a:ext cx="8305800" cy="2743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zh-CN" sz="2000" dirty="0"/>
              <a:t>﻿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输入值 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与对应的权重 </a:t>
            </a:r>
            <a:r>
              <a:rPr lang="en" altLang="zh-CN" sz="1800" dirty="0" err="1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相乘，然后神经元会将这些乘积的结果加总。如果这个总和大于等于阈值 </a:t>
            </a:r>
            <a:r>
              <a:rPr lang="el-GR" altLang="zh-CN" sz="1800" dirty="0">
                <a:ea typeface="SimSun" panose="02010600030101010101" pitchFamily="2" charset="-122"/>
              </a:rPr>
              <a:t>θ</a:t>
            </a:r>
            <a:r>
              <a:rPr lang="zh-CN" altLang="el-GR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那么神经元就会被激活，输出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；否则，神经元不被激活，输出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设：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 ﻿x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=1, 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=0, 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=0.5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=1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=−0.5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=−1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则：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h=1×1+0×−0.5+0.5×−1=1+0+(−0.5)=0.5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如果设定阈值 </a:t>
            </a:r>
            <a:r>
              <a:rPr lang="el-GR" altLang="zh-CN" sz="1800" dirty="0">
                <a:ea typeface="SimSun" panose="02010600030101010101" pitchFamily="2" charset="-122"/>
              </a:rPr>
              <a:t>θ=0</a:t>
            </a:r>
            <a:r>
              <a:rPr lang="zh-CN" altLang="el-GR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因为 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h=0.5&gt;0</a:t>
            </a:r>
            <a:r>
              <a:rPr lang="zh-CN" altLang="en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所以神经元会被激活，输出为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endParaRPr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B591C-D29B-1146-9729-F21DCF5A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A75AA4-1711-A049-895F-166C226AF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5374821" cy="222885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F8DFC74-540C-6A46-9EAF-062C08EDC336}"/>
              </a:ext>
            </a:extLst>
          </p:cNvPr>
          <p:cNvSpPr txBox="1">
            <a:spLocks/>
          </p:cNvSpPr>
          <p:nvPr/>
        </p:nvSpPr>
        <p:spPr bwMode="auto">
          <a:xfrm>
            <a:off x="495300" y="6278336"/>
            <a:ext cx="84582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kumimoji="1" lang="en" altLang="zh-CN" sz="2400" kern="0" dirty="0"/>
              <a:t>﻿</a:t>
            </a:r>
          </a:p>
        </p:txBody>
      </p:sp>
    </p:spTree>
    <p:extLst>
      <p:ext uri="{BB962C8B-B14F-4D97-AF65-F5344CB8AC3E}">
        <p14:creationId xmlns:p14="http://schemas.microsoft.com/office/powerpoint/2010/main" val="161827273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8C416-4646-F242-B742-710F118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偏置（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9BA84-1984-F047-AB7E-39DF5100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激活阈值</a:t>
            </a:r>
            <a:r>
              <a:rPr lang="el-GR" altLang="zh-CN" sz="2000" dirty="0">
                <a:solidFill>
                  <a:srgbClr val="00CE98"/>
                </a:solidFill>
                <a:ea typeface="SimSun" panose="02010600030101010101" pitchFamily="2" charset="-122"/>
              </a:rPr>
              <a:t>θ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决定了神经元的输入累计到多少才会“激活”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假设所有输入都是零。这时，无论权重（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weights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是多少都没有意义（因为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乘以任何数还是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）。这时候唯一能决定神经元是否被激活的就是阈值。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如果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阈值是固定的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想让某一个神经元在所有输入都是零的情况下被激活，而另一个神经元却不被激活，就会遇到麻烦。因为既然所有神经元的输入相同、阈值也一样，那它们的行为也应该一样。无论怎么设置权重，都无法做出不同的反应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如果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阈值是动态的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，需额外增加一个参数来表示它，写代码时也得专门处理这个参数（比如需要更新该参数）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097E6-C03D-BA4D-A023-33F8CF76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03745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8C416-4646-F242-B742-710F118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偏置（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9BA84-1984-F047-AB7E-39DF5100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9248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解决方法：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阈值仍然固定为</a:t>
            </a:r>
            <a:r>
              <a:rPr lang="en-US" altLang="zh-CN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。增加一个额外的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输入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，其值始终固定（通常设为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，但其实任何非零值都可以），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其对应的权重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-US" altLang="zh-CN" sz="20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可调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因为这个额外输入的值始终是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，即使其他所有输入都是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，也仍然有一个固定的输入值在起作用。这样，权重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-US" altLang="zh-CN" sz="20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的值会在训练过程中自动调整，使得神经元能在需要的时候被激活，或者不被激活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这个额外的输入与其权重的乘积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1*W</a:t>
            </a:r>
            <a:r>
              <a:rPr lang="en-US" altLang="zh-CN" sz="2000" baseline="-25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en-US" altLang="zh-CN" sz="2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被称为偏置（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097E6-C03D-BA4D-A023-33F8CF76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B48307-23AD-8C42-AC87-240BCB29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5295900"/>
            <a:ext cx="4765221" cy="1562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999BC68-C1F7-4A44-8888-E67D56A209C6}"/>
              </a:ext>
            </a:extLst>
          </p:cNvPr>
          <p:cNvSpPr txBox="1"/>
          <p:nvPr/>
        </p:nvSpPr>
        <p:spPr>
          <a:xfrm>
            <a:off x="1752600" y="477891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en-US" altLang="zh-CN" sz="1800" dirty="0">
                <a:solidFill>
                  <a:srgbClr val="FF0000"/>
                </a:solidFill>
              </a:rPr>
              <a:t>1</a:t>
            </a:r>
            <a:endParaRPr kumimoji="1"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7684AAB-EA0A-A740-94D9-9AB1FDF5DB21}"/>
              </a:ext>
            </a:extLst>
          </p:cNvPr>
          <p:cNvCxnSpPr>
            <a:cxnSpLocks/>
          </p:cNvCxnSpPr>
          <p:nvPr/>
        </p:nvCxnSpPr>
        <p:spPr bwMode="auto">
          <a:xfrm>
            <a:off x="2209800" y="4984750"/>
            <a:ext cx="1143000" cy="806450"/>
          </a:xfrm>
          <a:prstGeom prst="straightConnector1">
            <a:avLst/>
          </a:prstGeom>
          <a:solidFill>
            <a:schemeClr val="accent1"/>
          </a:solidFill>
          <a:ln w="2095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D9AB2F8-25F1-D543-9AE7-9A3B147071F3}"/>
              </a:ext>
            </a:extLst>
          </p:cNvPr>
          <p:cNvSpPr txBox="1"/>
          <p:nvPr/>
        </p:nvSpPr>
        <p:spPr>
          <a:xfrm>
            <a:off x="2692398" y="5070302"/>
            <a:ext cx="77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W</a:t>
            </a:r>
            <a:r>
              <a:rPr kumimoji="1" lang="en-US" altLang="zh-CN" sz="1400" baseline="-25000" dirty="0">
                <a:solidFill>
                  <a:srgbClr val="FF0000"/>
                </a:solidFill>
              </a:rPr>
              <a:t>0</a:t>
            </a:r>
            <a:endParaRPr kumimoji="1" lang="zh-CN" altLang="en-US" sz="14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9519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65B6-F159-424F-A71D-0E0DA459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感知机（</a:t>
            </a:r>
            <a:r>
              <a:rPr lang="en" altLang="zh-CN" dirty="0">
                <a:solidFill>
                  <a:srgbClr val="FF0000"/>
                </a:solidFill>
              </a:rPr>
              <a:t>Perceptron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14707-01E5-5940-BD10-D12BF161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E2190B0-D776-A344-866C-B318A1514289}"/>
              </a:ext>
            </a:extLst>
          </p:cNvPr>
          <p:cNvGrpSpPr/>
          <p:nvPr/>
        </p:nvGrpSpPr>
        <p:grpSpPr>
          <a:xfrm>
            <a:off x="5791200" y="1676400"/>
            <a:ext cx="3107267" cy="2209800"/>
            <a:chOff x="5791200" y="1676400"/>
            <a:chExt cx="3107267" cy="22098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37E5E13-BCEE-EC4E-9C17-1BEB2FDD4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1200" y="1676400"/>
              <a:ext cx="3107267" cy="22098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5CB49FD-1E08-CC4F-9DF1-A966D587F551}"/>
                </a:ext>
              </a:extLst>
            </p:cNvPr>
            <p:cNvSpPr txBox="1"/>
            <p:nvPr/>
          </p:nvSpPr>
          <p:spPr>
            <a:xfrm>
              <a:off x="6705600" y="1676400"/>
              <a:ext cx="276551" cy="2960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E02B62E3-065E-AD47-80DD-EAAADF1CE1D0}"/>
              </a:ext>
            </a:extLst>
          </p:cNvPr>
          <p:cNvSpPr txBox="1">
            <a:spLocks/>
          </p:cNvSpPr>
          <p:nvPr/>
        </p:nvSpPr>
        <p:spPr bwMode="auto">
          <a:xfrm>
            <a:off x="838200" y="1524000"/>
            <a:ext cx="4800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感知机</a:t>
            </a:r>
            <a:r>
              <a:rPr lang="zh-CN" altLang="en-US" sz="1400" dirty="0"/>
              <a:t>是由一组</a:t>
            </a:r>
            <a:r>
              <a:rPr lang="zh-CN" altLang="en-US" sz="1400" b="1" dirty="0">
                <a:solidFill>
                  <a:srgbClr val="0070C0"/>
                </a:solidFill>
              </a:rPr>
              <a:t>神经元</a:t>
            </a:r>
            <a:r>
              <a:rPr lang="zh-CN" altLang="en-US" sz="1400" dirty="0"/>
              <a:t>组成的集合，加上一些输入节点和将输入连接到神经元的权重，如右图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图的左侧用</a:t>
            </a:r>
            <a:r>
              <a:rPr lang="zh-CN" altLang="en-US" sz="1400" dirty="0">
                <a:solidFill>
                  <a:srgbClr val="0070C0"/>
                </a:solidFill>
              </a:rPr>
              <a:t>浅灰色</a:t>
            </a:r>
            <a:r>
              <a:rPr lang="zh-CN" altLang="en-US" sz="1400" dirty="0"/>
              <a:t>阴影表示的是</a:t>
            </a:r>
            <a:r>
              <a:rPr lang="zh-CN" altLang="en-US" sz="1400" b="1" dirty="0">
                <a:solidFill>
                  <a:srgbClr val="FF0000"/>
                </a:solidFill>
              </a:rPr>
              <a:t>输入节点</a:t>
            </a:r>
            <a:r>
              <a:rPr lang="zh-CN" altLang="en-US" sz="1400" dirty="0"/>
              <a:t>。这些</a:t>
            </a:r>
            <a:r>
              <a:rPr lang="zh-CN" altLang="en-US" sz="1400" dirty="0">
                <a:solidFill>
                  <a:srgbClr val="FF0000"/>
                </a:solidFill>
              </a:rPr>
              <a:t>并不是神经元</a:t>
            </a:r>
            <a:r>
              <a:rPr lang="zh-CN" altLang="en-US" sz="1400" dirty="0"/>
              <a:t>，而只是用来直观表示网络是如何接收输入数值的，以及输入值有多少个（也就是输入向量的</a:t>
            </a:r>
            <a:r>
              <a:rPr lang="zh-CN" altLang="en-US" sz="1400" b="1" dirty="0"/>
              <a:t>维度</a:t>
            </a:r>
            <a:r>
              <a:rPr lang="zh-CN" altLang="en-US" sz="1400" dirty="0"/>
              <a:t>或元素个数）。这些输入节点几乎总是画成圆形，看起来像神经元一样，容易让人混淆，这里用不同的颜色以示区分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图的右侧是神经元，可以看到它们的</a:t>
            </a:r>
            <a:r>
              <a:rPr lang="zh-CN" altLang="en-US" sz="1400" b="1" dirty="0"/>
              <a:t>加法部分</a:t>
            </a:r>
            <a:r>
              <a:rPr lang="zh-CN" altLang="en-US" sz="1400" dirty="0"/>
              <a:t>（用一个圆圈表示）以及</a:t>
            </a:r>
            <a:r>
              <a:rPr lang="zh-CN" altLang="en-US" sz="1400" b="1" dirty="0"/>
              <a:t>阈值判断部分</a:t>
            </a:r>
            <a:r>
              <a:rPr lang="zh-CN" altLang="en-US" sz="1400" dirty="0"/>
              <a:t>。不过在实际使用中，通常不会把阈值器单独画出。只需要记住它是神经元的一部分就可以了</a:t>
            </a:r>
          </a:p>
          <a:p>
            <a:endParaRPr kumimoji="1"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06040460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61EF8-3E2C-2B41-B6CB-D46FC22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8F46D-1CE5-3341-BCF7-321FBB2D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4724400" cy="5105400"/>
          </a:xfrm>
        </p:spPr>
        <p:txBody>
          <a:bodyPr/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前面提到的激活函数是阈值激活函数。其问题是：不连续，有突变，无法求导（无法求梯度）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可以使用一种看起来像阈值函数、但可导的激活函数来替代（如果眯着眼看阈值函数的图像，会发现它看起来有点像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形曲线）。这种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形曲线在数学上确实是有对应的表达形式，叫做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型函数（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sigmoid functions</a:t>
            </a:r>
            <a:r>
              <a:rPr lang="zh-CN" altLang="en" sz="18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。这类函数中最常用的形式如右图（其中</a:t>
            </a:r>
            <a:r>
              <a:rPr lang="el-GR" altLang="zh-CN" sz="1800" dirty="0">
                <a:ea typeface="SimSun" panose="02010600030101010101" pitchFamily="2" charset="-122"/>
              </a:rPr>
              <a:t>β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是一个正的参数）。它的导数形式很优美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E453D-6158-814C-ADE9-76B9CDA3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789870-5B1C-3E45-8659-313246BD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18" y="1200150"/>
            <a:ext cx="2590800" cy="10858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D6BD4F-A5CA-4442-A9D1-C0FBED12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893" y="2475592"/>
            <a:ext cx="2482850" cy="10858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F56907-E669-2045-9D10-77029BA21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918" y="3623683"/>
            <a:ext cx="28321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2426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简单导数计算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常用函数的导数和链式求导法则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B0E4B7-ACBD-C44F-A0C9-CC217960E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3600"/>
            <a:ext cx="4114800" cy="29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36151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Sigmod</a:t>
            </a:r>
            <a:r>
              <a:rPr lang="zh-CN" altLang="en-US" dirty="0"/>
              <a:t>激活函数的求导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658CA7-F79F-4645-854E-112D0B6D94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60" t="1756" r="260" b="17396"/>
          <a:stretch/>
        </p:blipFill>
        <p:spPr>
          <a:xfrm>
            <a:off x="438918" y="1905000"/>
            <a:ext cx="702868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66884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B98B26-DCCC-174B-B4FE-2644B276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Sigmod</a:t>
            </a:r>
            <a:r>
              <a:rPr lang="zh-CN" altLang="en-US" dirty="0"/>
              <a:t>激活函数：梯度消失问题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C4702-6EC2-6B4B-A066-6C39420C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导数为：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g(h)(1-g(h))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，由于两项和固定为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，故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g(h)=0.5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时梯度最大，这时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h=0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，梯度最大值为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0.25</a:t>
            </a:r>
          </a:p>
          <a:p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当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远大于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或者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远小于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时，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sigmoid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会饱和，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g(h) 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趋近于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或者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，使得梯度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 g(h)(1-g(h))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趋近于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</a:p>
          <a:p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由于反向传播过程的“链式相乘”，假设一个 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20 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层网络：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每层 </a:t>
            </a:r>
            <a:r>
              <a:rPr kumimoji="1"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sigmoid 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导数平均为：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0.1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梯度传到最前面层：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0.1</a:t>
            </a:r>
            <a:r>
              <a:rPr kumimoji="1" lang="en-US" altLang="zh-CN" sz="1800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20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=10</a:t>
            </a:r>
            <a:r>
              <a:rPr kumimoji="1" lang="en-US" altLang="zh-CN" sz="1800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−20</a:t>
            </a:r>
          </a:p>
          <a:p>
            <a:pPr marL="0" indent="0">
              <a:buNone/>
            </a:pPr>
            <a:r>
              <a:rPr kumimoji="1" lang="en-US" altLang="zh-CN" sz="1800" baseline="30000" dirty="0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几乎变成 </a:t>
            </a:r>
            <a:r>
              <a:rPr kumimoji="1"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endParaRPr kumimoji="1"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1800" dirty="0"/>
          </a:p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造成结果：前面层的参数几乎不更新，网络训练停滞</a:t>
            </a:r>
          </a:p>
          <a:p>
            <a:endParaRPr kumimoji="1" lang="en-US" altLang="zh-CN" sz="1800" dirty="0"/>
          </a:p>
          <a:p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756BE0-B567-0A4D-A5D2-066261A8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51906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61EF8-3E2C-2B41-B6CB-D46FC22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tanh</a:t>
            </a:r>
            <a:r>
              <a:rPr kumimoji="1" lang="zh-CN" altLang="en-US" dirty="0"/>
              <a:t>激活函数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8F46D-1CE5-3341-BCF7-321FBB2D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5105400"/>
          </a:xfrm>
        </p:spPr>
        <p:txBody>
          <a:bodyPr/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另一种激活函数是双曲正切函数（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hyperbolic tangent function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）。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它是一种与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sigmoid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函数不同但类似的函数；它依然是一个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型函数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但它在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±1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处“饱和”（也就是说，函数值趋近于某个固定值），而不是在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之间饱和，这在某些情况下会更有用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tanh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函数的导数形式也很优美：</a:t>
            </a:r>
            <a:endParaRPr lang="en-US" altLang="zh-CN" sz="2000" dirty="0"/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可以很容易地在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sigmoid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tanh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函数的形式之间进行转换：</a:t>
            </a:r>
            <a:b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因为如果一个函数的饱和值是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±1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，那么可以通过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0.5×(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x+1)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将其转换为区间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(0,1)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内的形式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E453D-6158-814C-ADE9-76B9CDA3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9152EF-8627-DD46-8367-3EAC0DEDF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5" y="2676525"/>
            <a:ext cx="4495800" cy="749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B4FD4F-D56E-F741-8510-EF1C77CF6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5" t="12160" b="64925"/>
          <a:stretch/>
        </p:blipFill>
        <p:spPr>
          <a:xfrm>
            <a:off x="5709559" y="2895600"/>
            <a:ext cx="2590800" cy="685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02334C-AAA8-1F46-A0D4-B8D8A48DB1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00"/>
          <a:stretch/>
        </p:blipFill>
        <p:spPr>
          <a:xfrm>
            <a:off x="4414159" y="3978729"/>
            <a:ext cx="2590800" cy="31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50833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6E4B1-2725-3841-8170-14CCF95D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ReLU</a:t>
            </a:r>
            <a:r>
              <a:rPr kumimoji="1" lang="zh-CN" altLang="en-US" dirty="0"/>
              <a:t>激活函数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4FD4E0-DC4B-854A-8E33-64304121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CA632D5-1AAE-BF4E-8319-66CB598E7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447800"/>
                <a:ext cx="8610600" cy="518160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altLang="zh-CN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ReLU</a:t>
                </a:r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激活函数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+mn-cs"/>
                      </a:rPr>
                      <m:t>ReLU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+mn-cs"/>
                          </a:rPr>
                          <m:t>𝑧</m:t>
                        </m:r>
                      </m:e>
                    </m:d>
                    <m:r>
                      <a:rPr lang="en-US" altLang="zh-CN" sz="2000" dirty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unc>
                      <m:func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  <a:cs typeface="+mn-cs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0,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func>
                    <m:r>
                      <a:rPr lang="en-US" altLang="zh-CN" sz="2000" dirty="0"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eqArrPr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  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0  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𝑧</m:t>
                            </m:r>
                            <m:r>
                              <a:rPr lang="en-US" altLang="zh-CN" sz="2000" dirty="0">
                                <a:latin typeface="Cambria Math" panose="02040503050406030204" pitchFamily="18" charset="0"/>
                                <a:cs typeface="+mn-cs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  <a:p>
                <a:pPr lvl="1"/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  <a:cs typeface="+mn-cs"/>
                  </a:rPr>
                  <a:t>优点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  <a:p>
                <a:pPr lvl="2"/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  <a:cs typeface="+mn-cs"/>
                  </a:rPr>
                  <a:t>容易计算函数值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  <a:p>
                <a:pPr lvl="2"/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  <a:cs typeface="+mn-cs"/>
                  </a:rPr>
                  <a:t>求导计算快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altLang="zh-CN" sz="16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6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6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≥0</m:t>
                            </m:r>
                            <m:r>
                              <a:rPr lang="zh-CN" altLang="en-US" sz="1600" b="0" i="0" dirty="0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这时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梯度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恒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为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sz="1600" b="0" i="1" dirty="0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正常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传播</m:t>
                            </m:r>
                            <m:r>
                              <a:rPr lang="zh-CN" altLang="en-US" sz="1600" b="0" i="1" dirty="0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避免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梯度消失</m:t>
                            </m:r>
                          </m:e>
                          <m:e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0  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1600" dirty="0">
                                <a:latin typeface="Cambria Math" panose="02040503050406030204" pitchFamily="18" charset="0"/>
                              </a:rPr>
                              <m:t>&lt;0</m:t>
                            </m:r>
                            <m:r>
                              <a:rPr lang="zh-CN" altLang="en-US" sz="1600" b="0" i="1" dirty="0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这时梯度恒为</m:t>
                            </m:r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神经元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关闭</m:t>
                            </m:r>
                            <m:r>
                              <a:rPr lang="zh-CN" altLang="en-US" sz="1600" b="0" i="1" dirty="0" smtClea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不</m:t>
                            </m:r>
                            <m:r>
                              <a:rPr lang="zh-CN" altLang="en-US" sz="1600" i="1" dirty="0" smtClean="0">
                                <a:latin typeface="Cambria Math" panose="02040503050406030204" pitchFamily="18" charset="0"/>
                              </a:rPr>
                              <m:t>传递梯度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6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  <a:p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/>
                <a:r>
                  <a:rPr lang="en-US" altLang="zh-CN" sz="2000" dirty="0" err="1">
                    <a:latin typeface="SimSun" panose="02010600030101010101" pitchFamily="2" charset="-122"/>
                    <a:ea typeface="SimSun" panose="02010600030101010101" pitchFamily="2" charset="-122"/>
                  </a:rPr>
                  <a:t>ReLU</a:t>
                </a:r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激活函数的神经元“关闭”问题</a:t>
                </a:r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2"/>
                <a:r>
                  <a:rPr lang="zh-CN" altLang="en-US" sz="19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如果对于所有数据，神经</a:t>
                </a:r>
                <a14:m>
                  <m:oMath xmlns:m="http://schemas.openxmlformats.org/officeDocument/2006/math">
                    <m:r>
                      <a:rPr lang="zh-CN" altLang="en-US" sz="1900" dirty="0">
                        <a:latin typeface="Cambria Math" panose="02040503050406030204" pitchFamily="18" charset="0"/>
                      </a:rPr>
                      <m:t>元</m:t>
                    </m:r>
                    <m:r>
                      <a:rPr lang="zh-CN" altLang="en-US" sz="1900" i="1" dirty="0">
                        <a:latin typeface="Cambria Math" panose="02040503050406030204" pitchFamily="18" charset="0"/>
                      </a:rPr>
                      <m:t>中</m:t>
                    </m:r>
                    <m:r>
                      <a:rPr lang="en-US" altLang="zh-CN" sz="19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19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90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90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90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90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en-US" sz="19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，那么肯定不会更新该神经元</a:t>
                </a:r>
                <a:endParaRPr lang="en-US" altLang="zh-CN" sz="19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2"/>
                <a:r>
                  <a:rPr lang="zh-CN" altLang="en-US" sz="19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例如：如果所有数据</a:t>
                </a:r>
                <a14:m>
                  <m:oMath xmlns:m="http://schemas.openxmlformats.org/officeDocument/2006/math">
                    <m:r>
                      <a:rPr lang="en-US" altLang="zh-CN" sz="190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9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90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en-US" sz="190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9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初始化</a:t>
                </a:r>
                <a14:m>
                  <m:oMath xmlns:m="http://schemas.openxmlformats.org/officeDocument/2006/math">
                    <m:r>
                      <a:rPr lang="en-US" altLang="zh-CN" sz="1900" dirty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zh-CN" altLang="en-US" sz="19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为负数</a:t>
                </a:r>
              </a:p>
              <a:p>
                <a:endParaRPr lang="en-US" altLang="zh-CN" sz="20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因此，</a:t>
                </a:r>
                <a:r>
                  <a:rPr lang="en-US" altLang="zh-CN" sz="2000" dirty="0" err="1">
                    <a:latin typeface="SimSun" panose="02010600030101010101" pitchFamily="2" charset="-122"/>
                    <a:ea typeface="SimSun" panose="02010600030101010101" pitchFamily="2" charset="-122"/>
                  </a:rPr>
                  <a:t>ReLU</a:t>
                </a:r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激活函数既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避免了梯度消失</a:t>
                </a:r>
                <a:r>
                  <a:rPr lang="zh-CN" altLang="en-US" sz="20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，也通过关闭部分神经元实现了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稀疏激活</a:t>
                </a:r>
                <a:endParaRPr lang="en-US" altLang="zh-CN" sz="1600" dirty="0">
                  <a:solidFill>
                    <a:srgbClr val="C00000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3"/>
                <a:endParaRPr lang="en-US" altLang="zh-CN" sz="1600" dirty="0"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CA632D5-1AAE-BF4E-8319-66CB598E7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447800"/>
                <a:ext cx="8610600" cy="5181600"/>
              </a:xfrm>
              <a:blipFill>
                <a:blip r:embed="rId2"/>
                <a:stretch>
                  <a:fillRect t="-19560" b="-1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A7F9BA2-EDA8-ED48-A65C-D782C99B4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645" y="998349"/>
            <a:ext cx="3048000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56443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8EE13-A388-E24B-9E8B-5C31D256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“改进”版</a:t>
            </a:r>
            <a:r>
              <a:rPr lang="en-US" altLang="zh-CN" dirty="0" err="1"/>
              <a:t>ReLU</a:t>
            </a:r>
            <a:r>
              <a:rPr lang="zh-CN" altLang="en-US" dirty="0"/>
              <a:t>激活函数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522AC-58CC-7C48-85D0-8185FE7F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4793FD1-4F2A-5F42-B872-C2AA65590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7314" y="1828800"/>
                <a:ext cx="7970124" cy="449580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LeakyReLU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0">
                        <a:latin typeface="Cambria Math" panose="02040503050406030204" pitchFamily="18" charset="0"/>
                      </a:rPr>
                      <m:t>LeakyReLU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负区间保留一点梯度，能避免关闭神经元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一般取比较小，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如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=0.001,0.01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等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4793FD1-4F2A-5F42-B872-C2AA65590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314" y="1828800"/>
                <a:ext cx="7970124" cy="4495800"/>
              </a:xfrm>
              <a:blipFill>
                <a:blip r:embed="rId2"/>
                <a:stretch>
                  <a:fillRect t="-11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A80E885-72A5-4C44-BEDE-11AECB6E0F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143000"/>
            <a:ext cx="3619112" cy="27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96977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F4684-D5C9-254A-98F5-CAA3CFE3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9C248-2714-064B-948B-E8EDC4CA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ABBB04-37B8-094C-8FD8-91445524B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07" y="2209800"/>
            <a:ext cx="7654793" cy="3921716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C6EA3B0-EA58-F546-BFE6-DE8C72A4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68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更多激活函数：</a:t>
            </a:r>
          </a:p>
        </p:txBody>
      </p:sp>
    </p:spTree>
    <p:extLst>
      <p:ext uri="{BB962C8B-B14F-4D97-AF65-F5344CB8AC3E}">
        <p14:creationId xmlns:p14="http://schemas.microsoft.com/office/powerpoint/2010/main" val="652535537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38CA9-D251-2444-B2A8-448B30911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4C8B6D-F228-E040-825B-4C14AD28A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以前很多人研究激活函数，现在很少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缺省情况下，现在通常用</a:t>
            </a:r>
            <a:r>
              <a:rPr kumimoji="1" lang="en-US" altLang="zh-CN" sz="1800" dirty="0" err="1">
                <a:latin typeface="SimSun" panose="02010600030101010101" pitchFamily="2" charset="-122"/>
                <a:ea typeface="SimSun" panose="02010600030101010101" pitchFamily="2" charset="-122"/>
              </a:rPr>
              <a:t>ReLU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原因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函数值和导数计算快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  <a:cs typeface="+mn-cs"/>
            </a:endParaRPr>
          </a:p>
          <a:p>
            <a:pPr lvl="1"/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表达能力强，多个</a:t>
            </a:r>
            <a:r>
              <a:rPr kumimoji="1" lang="en-US" altLang="zh-CN" sz="1800" dirty="0" err="1"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ReLU</a:t>
            </a:r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  <a:cs typeface="+mn-cs"/>
              </a:rPr>
              <a:t>叠加后可以逼近任意连续函数</a:t>
            </a:r>
            <a:endParaRPr kumimoji="1" lang="en-US" altLang="zh-CN" sz="1800" dirty="0">
              <a:latin typeface="SimSun" panose="02010600030101010101" pitchFamily="2" charset="-122"/>
              <a:ea typeface="SimSun" panose="02010600030101010101" pitchFamily="2" charset="-122"/>
              <a:cs typeface="+mn-cs"/>
            </a:endParaRPr>
          </a:p>
          <a:p>
            <a:pPr lvl="1"/>
            <a:r>
              <a:rPr kumimoji="1"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稀疏激活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EF8576-C870-6F46-92A4-6DB7BD76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235327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CD6629-620C-46EE-8663-A42A3356D88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921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D366B5-2C4B-44DB-A2E0-C613EB709F2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7848600" cy="5105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神经网络有三个要素：拓扑结构、连接方式、学习规则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可以从这三方面对神经网络进行分类</a:t>
            </a:r>
          </a:p>
        </p:txBody>
      </p:sp>
      <p:pic>
        <p:nvPicPr>
          <p:cNvPr id="9222" name="Picture 4" descr="fig7_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057400"/>
            <a:ext cx="5105400" cy="2846388"/>
          </a:xfrm>
          <a:noFill/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06228-35C6-4920-B838-339AE66D758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F3EE3-775C-45FB-BA9B-FC9449F56D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神经网络的拓扑结构</a:t>
            </a:r>
            <a:r>
              <a:rPr lang="zh-CN" altLang="en-US">
                <a:ea typeface="宋体" panose="02010600030101010101" pitchFamily="2" charset="-122"/>
              </a:rPr>
              <a:t>：神经网络的单元通常按照层次排列，根据网络的层次数，可以将神经网络分为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单层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两层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三层</a:t>
            </a:r>
            <a:r>
              <a:rPr lang="zh-CN" altLang="en-US">
                <a:ea typeface="宋体" panose="02010600030101010101" pitchFamily="2" charset="-122"/>
              </a:rPr>
              <a:t>神经网络等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结构简单的神经网络，在学习时收敛的速度快，但准确度低。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神经网络的层数和每层的单元数由问题的复杂程度而定。问题越复杂，神经网络的层数就越多。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例如，两层神经网络常用来解决线性问题，而多层网络就可以解决多元非线性问题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DCED6-705E-4D11-B630-1D14F60E056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2C00A7-85F6-49F7-ACB1-79E38D9D6EF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solidFill>
                  <a:schemeClr val="folHlink"/>
                </a:solidFill>
                <a:ea typeface="宋体" panose="02010600030101010101" pitchFamily="2" charset="-122"/>
              </a:rPr>
              <a:t>神经网络的连接</a:t>
            </a:r>
            <a:r>
              <a:rPr lang="zh-CN" altLang="en-US" sz="2400">
                <a:ea typeface="宋体" panose="02010600030101010101" pitchFamily="2" charset="-122"/>
              </a:rPr>
              <a:t>：包括层次之间的连接和每一层内部的连接，连接的强度用权来表示。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根据层次之间的连接方式，分为：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前馈式网络：连接是单向的，上层单元的输出是下层单元的输入，如反向传播网络，</a:t>
            </a:r>
            <a:r>
              <a:rPr lang="en-US" altLang="zh-CN" sz="2400">
                <a:ea typeface="宋体" panose="02010600030101010101" pitchFamily="2" charset="-122"/>
              </a:rPr>
              <a:t>Kohonen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反馈式网络：除了单项的连接外，还把最后一层单元的输出作为第一层单元的输入，如</a:t>
            </a:r>
            <a:r>
              <a:rPr lang="en-US" altLang="zh-CN" sz="2400">
                <a:ea typeface="宋体" panose="02010600030101010101" pitchFamily="2" charset="-122"/>
              </a:rPr>
              <a:t>Hopfield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根据连接的范围，分为：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全连接神经网络：每个单元和相邻层上的所有单元相连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局部连接网络：每个单元只和相邻层上的部分单元相连</a:t>
            </a: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11CB33-B051-4DC4-BD37-9DBA8CA7317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5C29AC-2B75-40A1-915E-E76BE4D6CE6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神经网络的学习</a:t>
            </a: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根据学习方法分：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感知器：有监督的学习方法，训练样本的类别是已知的，并在学习的过程中指导模型的训练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认知器：无监督的学习方法，训练样本类别未知，各单元通过竞争学习。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根据学习时间分：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离线网络：学习过程和使用过程是独立的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在线网络：学习过程和使用过程是同时进行的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根据学习规则分：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相关学习网络：根据连接间的激活水平改变权系数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纠错学习网络：根据输出单元的外部反馈改变权系数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自组织学习网络：对输入进行自适应地学习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前馈神经网络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BD0A4C-23C4-4477-AD46-70B17F28792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331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1E6EDB-59AA-4881-B963-72E3AF1252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/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143000"/>
            <a:ext cx="90709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前馈神经网络</a:t>
            </a:r>
          </a:p>
        </p:txBody>
      </p:sp>
      <p:sp>
        <p:nvSpPr>
          <p:cNvPr id="1434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51810D-0F20-42BA-9753-CD4E2F48094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434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3E3543-4E82-4C96-B2B8-558E6B9A391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/>
          </a:p>
        </p:txBody>
      </p:sp>
      <p:pic>
        <p:nvPicPr>
          <p:cNvPr id="143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9" t="43115" r="28406"/>
          <a:stretch/>
        </p:blipFill>
        <p:spPr bwMode="auto">
          <a:xfrm>
            <a:off x="1981200" y="1600199"/>
            <a:ext cx="3372609" cy="2514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90D70E5-53EA-7340-A236-E60ED83D904D}"/>
              </a:ext>
            </a:extLst>
          </p:cNvPr>
          <p:cNvSpPr txBox="1"/>
          <p:nvPr/>
        </p:nvSpPr>
        <p:spPr>
          <a:xfrm>
            <a:off x="429004" y="4495800"/>
            <a:ext cx="6477000" cy="3167009"/>
          </a:xfrm>
          <a:prstGeom prst="rect">
            <a:avLst/>
          </a:prstGeom>
        </p:spPr>
        <p:txBody>
          <a:bodyPr vert="horz" lIns="115214" tIns="57607" rIns="115214" bIns="57607" rtlCol="0">
            <a:normAutofit/>
          </a:bodyPr>
          <a:lstStyle>
            <a:lvl1pPr marL="431800" indent="-431800" algn="l" defTabSz="1151890" rtl="0" eaLnBrk="1" latinLnBrk="0" hangingPunct="1">
              <a:lnSpc>
                <a:spcPct val="120000"/>
              </a:lnSpc>
              <a:spcBef>
                <a:spcPts val="8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5990" indent="-360045" algn="l" defTabSz="1151890" rtl="0" eaLnBrk="1" latinLnBrk="0" hangingPunct="1">
              <a:lnSpc>
                <a:spcPct val="120000"/>
              </a:lnSpc>
              <a:spcBef>
                <a:spcPts val="800"/>
              </a:spcBef>
              <a:buFont typeface="Arial" panose="020B060402020209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180" indent="-288290" algn="l" defTabSz="1151890" rtl="0" eaLnBrk="1" latinLnBrk="0" hangingPunct="1">
              <a:lnSpc>
                <a:spcPct val="120000"/>
              </a:lnSpc>
              <a:spcBef>
                <a:spcPts val="8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6125" indent="-288290" algn="l" defTabSz="1151890" rtl="0" eaLnBrk="1" latinLnBrk="0" hangingPunct="1">
              <a:lnSpc>
                <a:spcPct val="120000"/>
              </a:lnSpc>
              <a:spcBef>
                <a:spcPts val="800"/>
              </a:spcBef>
              <a:buFont typeface="Arial" panose="020B060402020209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92070" indent="-288290" algn="l" defTabSz="1151890" rtl="0" eaLnBrk="1" latinLnBrk="0" hangingPunct="1">
              <a:lnSpc>
                <a:spcPct val="120000"/>
              </a:lnSpc>
              <a:spcBef>
                <a:spcPts val="800"/>
              </a:spcBef>
              <a:buFont typeface="Arial" panose="020B060402020209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8650" indent="-288290" algn="l" defTabSz="115189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44595" indent="-288290" algn="l" defTabSz="115189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540" indent="-288290" algn="l" defTabSz="115189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96485" indent="-288290" algn="l" defTabSz="115189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全连接神经网络、多层感知器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各神经元分别属于不同的层，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层内无连接</a:t>
            </a:r>
            <a:endParaRPr lang="en-US" altLang="zh-CN" sz="1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相邻两层之间的神经元全部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两两连接</a:t>
            </a:r>
            <a:endParaRPr lang="en-US" altLang="zh-CN" sz="1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整个网络中无反馈，信号从输入层向输出层</a:t>
            </a:r>
            <a:r>
              <a:rPr lang="zh-CN" altLang="en-US" sz="1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单向传播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D84D0A-BF08-4083-BB7D-AEEF6E03FA0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9A5308-4396-4D22-A39A-2F05B27ECAF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常用的神经网络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神经网络种类很多，常用的有如下四种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Hopfield</a:t>
            </a:r>
            <a:r>
              <a:rPr lang="zh-CN" altLang="en-US">
                <a:ea typeface="宋体" panose="02010600030101010101" pitchFamily="2" charset="-122"/>
              </a:rPr>
              <a:t>网络，典型的反馈网络，结构单层，有相同的单元组成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反向传播网络，前馈网络，结构多层，采用最小均方差的纠错学习规则，常用于语言识别和分类等问题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Kohonen</a:t>
            </a:r>
            <a:r>
              <a:rPr lang="zh-CN" altLang="en-US">
                <a:ea typeface="宋体" panose="02010600030101010101" pitchFamily="2" charset="-122"/>
              </a:rPr>
              <a:t>网络：典型的自组织网络，由输入层和输出层构成，全连接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ART</a:t>
            </a:r>
            <a:r>
              <a:rPr lang="zh-CN" altLang="en-US">
                <a:ea typeface="宋体" panose="02010600030101010101" pitchFamily="2" charset="-122"/>
              </a:rPr>
              <a:t>网络：自组织网络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深度神经网络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Convolutional Neural Networks(CNN)</a:t>
            </a:r>
            <a:r>
              <a:rPr lang="zh-CN" altLang="en-US">
                <a:ea typeface="宋体" panose="02010600030101010101" pitchFamily="2" charset="-122"/>
              </a:rPr>
              <a:t>卷积神经网络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Recurrent neural Network(RNN)</a:t>
            </a:r>
            <a:r>
              <a:rPr lang="zh-CN" altLang="en-US">
                <a:ea typeface="宋体" panose="02010600030101010101" pitchFamily="2" charset="-122"/>
              </a:rPr>
              <a:t> 循环神经网络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Deep Belief Networks(DBN)</a:t>
            </a:r>
            <a:r>
              <a:rPr lang="zh-CN" altLang="en-US">
                <a:ea typeface="宋体" panose="02010600030101010101" pitchFamily="2" charset="-122"/>
              </a:rPr>
              <a:t>深度信念网络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A9D152-22C4-4C4B-BDAD-94B390DA0D2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638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72DB5-E513-410E-9287-304DBEFD164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深度学习是指多层神经网络上运用各种机器学习算法解决图像、文本等各种问题的算法集合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深度学习从大类上可以归入神经网络，不过在具体实现上有许多变化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深度学习的核心是特征学习，旨在通过分层网络获取分层次的特征信息，从而解决以往需要人工设计特征的重要难题</a:t>
            </a: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69C087-F70C-43FC-B56F-9EFD3E78E82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741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C78FAF-3689-4552-8342-C4C7E6C6EF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FC3CA-491C-4BAA-B405-47EE4D35641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84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B73E8A-6D1E-4029-89DC-85212CBFE0D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/>
          </a:p>
        </p:txBody>
      </p:sp>
      <p:pic>
        <p:nvPicPr>
          <p:cNvPr id="184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3437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6BB371-C370-4668-B516-37A9AAA39F7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8AC23-600F-4F21-A542-6443CF2EBF3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200"/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2048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C3E5E6-40C3-4035-91B7-7F2B83E7A89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048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2AAEB8-ECAF-463A-A024-D67F8FFC1AF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200"/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D430D-B3D0-4661-B51A-E7ADCD3A480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150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E55079-9AF2-4882-816C-ED08ABD151B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200"/>
          </a:p>
        </p:txBody>
      </p:sp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304800"/>
            <a:ext cx="880745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6F917-3643-4BEE-BF3F-1A10EDDFD35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253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657C0E-DBE0-4522-93C4-91F0D9B2322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20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381000"/>
            <a:ext cx="85661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F17ACC-FA9F-4BE0-92DD-6D77D26E893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355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1A4488-A58A-44DF-B8B6-8502AEA42F8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20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04800"/>
            <a:ext cx="8890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865718-A18A-4EC0-AF76-DB274857081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BFAA52-E449-46EA-B084-61B274CAD08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20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661400" cy="6096000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4ED461F-BCC3-E841-A3FB-3EB45006B5C0}"/>
              </a:ext>
            </a:extLst>
          </p:cNvPr>
          <p:cNvSpPr txBox="1"/>
          <p:nvPr/>
        </p:nvSpPr>
        <p:spPr>
          <a:xfrm>
            <a:off x="4724400" y="838200"/>
            <a:ext cx="4343400" cy="60016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" altLang="zh-CN" dirty="0" err="1"/>
              <a:t>NeurIPS</a:t>
            </a:r>
            <a:r>
              <a:rPr lang="en" altLang="zh-CN" dirty="0"/>
              <a:t> 2022 </a:t>
            </a:r>
            <a:r>
              <a:rPr lang="zh-CN" altLang="en-US" dirty="0"/>
              <a:t>会议上，图灵奖得主、深度学习先驱 </a:t>
            </a:r>
            <a:r>
              <a:rPr lang="en" altLang="zh-CN" dirty="0">
                <a:solidFill>
                  <a:srgbClr val="FF0000"/>
                </a:solidFill>
              </a:rPr>
              <a:t>Geoffrey Hinton</a:t>
            </a:r>
            <a:r>
              <a:rPr lang="en" altLang="zh-CN" dirty="0"/>
              <a:t> </a:t>
            </a:r>
            <a:r>
              <a:rPr lang="zh-CN" altLang="en-US" dirty="0"/>
              <a:t>被邀请发表演讲，以表彰他十年前与其研究生 </a:t>
            </a:r>
            <a:r>
              <a:rPr lang="en" altLang="zh-CN" dirty="0"/>
              <a:t>Alex </a:t>
            </a:r>
            <a:r>
              <a:rPr lang="en" altLang="zh-CN" dirty="0" err="1"/>
              <a:t>Krizhevsky</a:t>
            </a:r>
            <a:r>
              <a:rPr lang="en" altLang="zh-CN" dirty="0"/>
              <a:t> </a:t>
            </a:r>
            <a:r>
              <a:rPr lang="zh-CN" altLang="en-US" dirty="0"/>
              <a:t>和 </a:t>
            </a:r>
            <a:r>
              <a:rPr lang="en" altLang="zh-CN" dirty="0"/>
              <a:t>Ilya </a:t>
            </a:r>
            <a:r>
              <a:rPr lang="en" altLang="zh-CN" dirty="0" err="1"/>
              <a:t>Sutskever</a:t>
            </a:r>
            <a:r>
              <a:rPr lang="en" altLang="zh-CN" dirty="0"/>
              <a:t> </a:t>
            </a:r>
            <a:r>
              <a:rPr lang="zh-CN" altLang="en-US" dirty="0"/>
              <a:t>共同撰写的论文</a:t>
            </a:r>
            <a:r>
              <a:rPr lang="en-US" altLang="zh-CN" dirty="0"/>
              <a:t>《</a:t>
            </a:r>
            <a:r>
              <a:rPr lang="en" altLang="zh-CN" dirty="0"/>
              <a:t>ImageNet Classification with Deep Convolutional Neural Networks》</a:t>
            </a:r>
            <a:r>
              <a:rPr lang="zh-CN" altLang="en" dirty="0"/>
              <a:t>，</a:t>
            </a:r>
            <a:r>
              <a:rPr lang="zh-CN" altLang="en-US" dirty="0"/>
              <a:t>该论文因对该领域的「巨大影响」而被授予</a:t>
            </a:r>
            <a:r>
              <a:rPr lang="zh-CN" altLang="en-US" dirty="0">
                <a:solidFill>
                  <a:srgbClr val="FF0000"/>
                </a:solidFill>
              </a:rPr>
              <a:t>时间检验奖</a:t>
            </a:r>
            <a:r>
              <a:rPr lang="zh-CN" altLang="en-US" dirty="0"/>
              <a:t>。这项工作发表于 </a:t>
            </a:r>
            <a:r>
              <a:rPr lang="en-US" altLang="zh-CN" dirty="0"/>
              <a:t>2012 </a:t>
            </a:r>
            <a:r>
              <a:rPr lang="zh-CN" altLang="en-US" dirty="0"/>
              <a:t>年，是卷积神经网络首次在 </a:t>
            </a:r>
            <a:r>
              <a:rPr lang="en" altLang="zh-CN" dirty="0"/>
              <a:t>ImageNet </a:t>
            </a:r>
            <a:r>
              <a:rPr lang="zh-CN" altLang="en-US" dirty="0"/>
              <a:t>图像识别竞赛中表现人类水平的能力，它是启动第三次人工智能浪潮的关键事件。</a:t>
            </a:r>
            <a:endParaRPr kumimoji="1" lang="zh-CN" altLang="en-US" dirty="0"/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AF779C-B8B0-4B7E-BD9D-0AE985EDFB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DFBF2F-DCFD-4B76-8C80-F7DB4B253E3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2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神经网络（主要是感知器）经常用于分类</a:t>
            </a: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神经网络的分类知识体现在网络连接上，被隐式地存储在连接的权值中。</a:t>
            </a: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神经网络的学习就是通过迭代算法，对权值逐步修改的优化过程，学习的目标就是通过改变权值使训练集的样本都能被正确分类。</a:t>
            </a: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9B4ECE-9433-4618-A035-A12775FDE8B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BFAE32-0A75-47FA-9D48-E500A418A7B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2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神经网络特别适用于下列情况的分类问题：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数据量比较小，缺少足够的样本建立模型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数据的结构难以用传统的统计方法来描述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分类模型难以表示为传统的统计模型</a:t>
            </a: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F050F8-1A5A-4B87-91CA-6B6E9F174E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242AFE-2C4F-4BB0-A946-E74DB8742AA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2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缺点：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需要很长的训练时间，因而对于有足够长训练时间的应用更合适。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需要大量的参数，这些通常主要靠经验确定，如网络拓扑或“结构”。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可解释性差。该特点使得神经网络在数据挖掘的初期并不看好。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652A28-8DBA-41F0-9185-270AA40CE3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093A72-C739-459D-ADAB-2E7CBBB7D3E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2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优点：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分类的准确度高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并行分布处理能力强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分布存储及学习能力高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对噪音数据有很强的鲁棒性和容错能力</a:t>
            </a: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最流行的基于神经网络的分类算法是80年代提出的后向传播算法。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4CA0D3-4785-468D-A87C-25271098125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5721F-429C-4BDB-A0A8-8DA1C952AB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200"/>
          </a:p>
        </p:txBody>
      </p:sp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</a:t>
            </a:r>
          </a:p>
        </p:txBody>
      </p:sp>
      <p:sp>
        <p:nvSpPr>
          <p:cNvPr id="2970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后向传播算法在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多路前馈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神经网络上学习。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2" name="Rectangle 2053"/>
          <p:cNvSpPr>
            <a:spLocks noChangeArrowheads="1"/>
          </p:cNvSpPr>
          <p:nvPr/>
        </p:nvSpPr>
        <p:spPr bwMode="auto">
          <a:xfrm>
            <a:off x="3000375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29703" name="Picture 2052" descr="fig7_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9800"/>
            <a:ext cx="59436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911594-7A53-4932-A4C5-593F2AE975D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D7F5DB-B6B2-46B4-A6B7-1DB5EE4534D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200"/>
          </a:p>
        </p:txBody>
      </p:sp>
      <p:sp>
        <p:nvSpPr>
          <p:cNvPr id="3072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2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在开始训练之前，用户必须说明输入层的单元数、隐藏层数（如果多于一层）、每一隐藏层的单元数和输出层的单元数，以确定网络拓扑。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2E8016-318D-4279-A64E-215F606B66C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440B87-2112-4B38-9655-8CECDE8F942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2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对训练样本中每个属性的值进行规格化将有助于加快学习过程。通常，对输入值规格化，使得它们落入0.0和1.0之间。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离散值属性可以重新编码，使得每个域值一个输入单元。例如，如果属性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的定义域为(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a0 ,a1 ,a2)，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则可以分配三个输入单元表示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即，我们可以用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 ,I1 ,I2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作为输入单元。每个单元初始化为0。如果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a0，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置为1；如果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a1，I1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置1；如此下去。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7F52B0-331F-4E64-8FD5-BE0E4F1CD1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D8D47B-9AA3-4DD7-8990-DDED7DB3E1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2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一个输出单元可以用来表示两个类（值1代表一个类，而值0代表另一个）。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如果多于两个类，则每个类使用一个输出单元。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C5F0D8-EFD8-4D9F-ABD3-F8BA42E18BB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55C6C4-F748-4F81-828D-72F2C2DAF40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2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隐藏层单元数设多少个“最好” ，没有明确的规则。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网络设计是一个实验过程，并可能影响准确性。权的初值也可能影响准确性。如果某个经过训练的网络的准确率太低，则通常需要采用不同的网络拓扑或使用不同的初始权值，重复进行训练。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A61D88-2438-41FB-BFE8-A533392911E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847449-8EB6-4A9C-A88E-433C4A51EA7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2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后向传播算法学习过程：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迭代地处理一组训练样本，将每个样本的网络预测与实际的类标号比较。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每次迭代后，修改权值，使得网络预测和实际类之间的均方差最小。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这种修改“后向”进行。即，由输出层，经由每个隐藏层，到第一个隐藏层（因此称作后向传播）。尽管不能保证，一般地，权将最终收敛，学习过程停止。</a:t>
            </a:r>
            <a:r>
              <a:rPr lang="zh-CN" altLang="en-US" sz="2400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ea typeface="宋体" panose="02010600030101010101" pitchFamily="2" charset="-122"/>
              </a:rPr>
              <a:t>算法终止条件：训练集中被正确分类的样本达到一定的比例，或者权系数趋近稳定。</a:t>
            </a: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0DE8FB-D6F8-4AF0-86F1-0B5EB97411D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627825-AAC2-4F82-9A09-044E68CB106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2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算法分为如下几步：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初始化权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向前传播输入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 </a:t>
            </a:r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0CE6EF-699F-4A13-93FC-6643BCD8937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CE2F1F-F0B1-4837-A886-B6906545D20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2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初始化权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网络的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通常被初始化为很小的随机数（例如，范围从-1.0到1.0，或从-0.5到0.5）。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每个单元都设有一个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偏置（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，偏置也被初始化为小随机数。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7C511D-F3FA-468A-B1E4-9D315F31DF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0E821-5BB2-4ED3-AE03-A0E2DD3055D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2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对于每一个样本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，重复下面两步：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94FDAD-CE3E-4009-9358-C924E7DC8AA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8915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283764-7EF5-489E-AF75-11121401B0B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2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计算各层每个单元的输入和输出。</a:t>
            </a:r>
          </a:p>
          <a:p>
            <a:pPr lvl="1" algn="just" eaLnBrk="1" hangingPunct="1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输入层：</a:t>
            </a:r>
          </a:p>
          <a:p>
            <a:pPr lvl="2" algn="just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样本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的属性；</a:t>
            </a:r>
          </a:p>
          <a:p>
            <a:pPr lvl="3" algn="just" eaLnBrk="1" hangingPunct="1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 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1800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隐藏层和输出层：</a:t>
            </a:r>
          </a:p>
          <a:p>
            <a:pPr lvl="2" algn="just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前一层的输出的线性组合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lvl="3" algn="just" eaLnBrk="1" hangingPunct="1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endParaRPr lang="en-US" altLang="zh-CN" sz="1800" i="1" baseline="-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  <a:p>
            <a:pPr marL="914400" lvl="2" indent="0" algn="just" eaLnBrk="1" hangingPunct="1">
              <a:buNone/>
            </a:pPr>
            <a:endParaRPr lang="el-GR" altLang="en-US" sz="2000" i="1" baseline="-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891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4343400"/>
          <a:ext cx="121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7" r:id="rId3" imgW="787058" imgH="393529" progId="Equation.3">
                  <p:embed/>
                </p:oleObj>
              </mc:Choice>
              <mc:Fallback>
                <p:oleObj r:id="rId3" imgW="787058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43400"/>
                        <a:ext cx="1219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65B6C5D2-B37B-F940-AF2B-3ACA9F600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899" y="3733800"/>
            <a:ext cx="1844202" cy="44450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0"/>
            <a:ext cx="920315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97502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0693"/>
            <a:ext cx="8915400" cy="646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62057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3825"/>
            <a:ext cx="89154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93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9" y="194061"/>
            <a:ext cx="8839200" cy="651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78401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-43543"/>
            <a:ext cx="8839201" cy="67865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7650" y="64817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239000" y="67103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781448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9B2DF-372C-B441-BD34-653692EC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7C4886-48C1-9E4B-95C8-207ABFD1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0CF9F5-0176-9E4E-BB2B-44394FEBB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7321238" cy="330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FB4EC30-FBA3-9F4E-8FC6-ACCA6CB3C6DD}"/>
                  </a:ext>
                </a:extLst>
              </p:cNvPr>
              <p:cNvSpPr/>
              <p:nvPr/>
            </p:nvSpPr>
            <p:spPr>
              <a:xfrm>
                <a:off x="838200" y="4926552"/>
                <a:ext cx="4572000" cy="122129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zh-CN" altLang="en-US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神经网络是一个复合函数：</a:t>
                </a:r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</a:t>
                </a:r>
                <a:r>
                  <a:rPr lang="zh-CN" altLang="en-US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(⋯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FB4EC30-FBA3-9F4E-8FC6-ACCA6CB3C6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26552"/>
                <a:ext cx="4572000" cy="1221296"/>
              </a:xfrm>
              <a:prstGeom prst="rect">
                <a:avLst/>
              </a:prstGeom>
              <a:blipFill>
                <a:blip r:embed="rId3"/>
                <a:stretch>
                  <a:fillRect r="-27147" b="-3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085301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76518"/>
            <a:ext cx="8991600" cy="644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03674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FDFC9-5D7D-4589-802F-B8106640C84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3993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1DA46-8D75-4C49-AFCC-E2DC4298659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2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计算各层每个单元的误差项。</a:t>
            </a:r>
          </a:p>
          <a:p>
            <a:pPr lvl="1" algn="just" eaLnBrk="1" hangingPunct="1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向后传播误差项，并更新权和偏置</a:t>
            </a:r>
          </a:p>
          <a:p>
            <a:pPr algn="just" eaLnBrk="1" hangingPunct="1"/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15A002-D587-4EF1-B951-8C6009F0BE7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40963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B14FE-5A59-41C7-901C-030DDA987CB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CN" sz="12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153400" cy="5105400"/>
          </a:xfrm>
        </p:spPr>
        <p:txBody>
          <a:bodyPr/>
          <a:lstStyle/>
          <a:p>
            <a:pPr algn="just" eaLnBrk="1" hangingPunct="1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计算各层每个单元的误差项</a:t>
            </a:r>
          </a:p>
          <a:p>
            <a:pPr lvl="1" algn="just" eaLnBrk="1" hangingPunct="1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输出层单元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j，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误差项：</a:t>
            </a:r>
            <a:r>
              <a:rPr lang="en-US" altLang="zh-CN" sz="1800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algn="just" eaLnBrk="1" hangingPunct="1">
              <a:buNone/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algn="just" eaLnBrk="1" hangingPunct="1"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其中，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是单元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的实际输出，而</a:t>
            </a:r>
            <a:r>
              <a:rPr lang="en-US" altLang="zh-CN" sz="1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1800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的真正输出。</a:t>
            </a:r>
          </a:p>
          <a:p>
            <a:pPr algn="just" eaLnBrk="1" hangingPunct="1"/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隐藏层单元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，误差项：</a:t>
            </a:r>
          </a:p>
          <a:p>
            <a:pPr lvl="2" algn="just" eaLnBrk="1" hangingPunct="1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2" indent="0" algn="just" eaLnBrk="1" hangingPunct="1"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其中， </a:t>
            </a:r>
            <a:r>
              <a:rPr lang="en-US" altLang="zh-CN" sz="1800" dirty="0" err="1">
                <a:ea typeface="宋体" panose="02010600030101010101" pitchFamily="2" charset="-122"/>
              </a:rPr>
              <a:t>w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jk</a:t>
            </a:r>
            <a:r>
              <a:rPr lang="zh-CN" altLang="en-US" sz="1800" dirty="0">
                <a:ea typeface="宋体" panose="02010600030101010101" pitchFamily="2" charset="-122"/>
              </a:rPr>
              <a:t>是由</a:t>
            </a:r>
            <a:r>
              <a:rPr lang="en-US" altLang="zh-CN" sz="1800" dirty="0"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ea typeface="宋体" panose="02010600030101010101" pitchFamily="2" charset="-122"/>
              </a:rPr>
              <a:t>到下一层中单元</a:t>
            </a:r>
            <a:r>
              <a:rPr lang="en-US" altLang="zh-CN" sz="1800" dirty="0">
                <a:ea typeface="宋体" panose="02010600030101010101" pitchFamily="2" charset="-122"/>
              </a:rPr>
              <a:t>k</a:t>
            </a:r>
            <a:r>
              <a:rPr lang="zh-CN" altLang="en-US" sz="1800" dirty="0">
                <a:ea typeface="宋体" panose="02010600030101010101" pitchFamily="2" charset="-122"/>
              </a:rPr>
              <a:t>的连接的权，</a:t>
            </a:r>
            <a:r>
              <a:rPr lang="en-US" altLang="zh-CN" sz="1800" dirty="0" err="1">
                <a:ea typeface="宋体" panose="02010600030101010101" pitchFamily="2" charset="-122"/>
              </a:rPr>
              <a:t>Err</a:t>
            </a:r>
            <a:r>
              <a:rPr lang="en-US" altLang="zh-CN" sz="1800" baseline="-25000" dirty="0" err="1">
                <a:ea typeface="宋体" panose="02010600030101010101" pitchFamily="2" charset="-122"/>
              </a:rPr>
              <a:t>k</a:t>
            </a:r>
            <a:r>
              <a:rPr lang="zh-CN" altLang="en-US" sz="1800" dirty="0">
                <a:ea typeface="宋体" panose="02010600030101010101" pitchFamily="2" charset="-122"/>
              </a:rPr>
              <a:t>是单元</a:t>
            </a:r>
            <a:r>
              <a:rPr lang="en-US" altLang="zh-CN" sz="1800" dirty="0">
                <a:ea typeface="宋体" panose="02010600030101010101" pitchFamily="2" charset="-122"/>
              </a:rPr>
              <a:t>k</a:t>
            </a:r>
            <a:r>
              <a:rPr lang="zh-CN" altLang="en-US" sz="1800" dirty="0">
                <a:ea typeface="宋体" panose="02010600030101010101" pitchFamily="2" charset="-122"/>
              </a:rPr>
              <a:t>的误差</a:t>
            </a:r>
          </a:p>
        </p:txBody>
      </p:sp>
      <p:graphicFrame>
        <p:nvGraphicFramePr>
          <p:cNvPr id="40967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10169025"/>
              </p:ext>
            </p:extLst>
          </p:nvPr>
        </p:nvGraphicFramePr>
        <p:xfrm>
          <a:off x="2211729" y="4346032"/>
          <a:ext cx="24971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8" name="公式" r:id="rId3" imgW="1739900" imgH="342900" progId="Equation.3">
                  <p:embed/>
                </p:oleObj>
              </mc:Choice>
              <mc:Fallback>
                <p:oleObj name="公式" r:id="rId3" imgW="17399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729" y="4346032"/>
                        <a:ext cx="249713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4469F386-2959-A743-B1A8-388578142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12432"/>
            <a:ext cx="3234653" cy="417011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35EAF5-3079-46B5-97BB-5CAAE0E2C56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2026年5月9日星期六</a:t>
            </a:fld>
            <a:endParaRPr lang="en-US" altLang="zh-CN" sz="1200"/>
          </a:p>
        </p:txBody>
      </p:sp>
      <p:sp>
        <p:nvSpPr>
          <p:cNvPr id="4198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B56A56-A090-4FCE-B103-DF59C96F78E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CN" sz="1200"/>
          </a:p>
        </p:txBody>
      </p:sp>
      <p:sp>
        <p:nvSpPr>
          <p:cNvPr id="4198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</a:p>
        </p:txBody>
      </p:sp>
      <p:sp>
        <p:nvSpPr>
          <p:cNvPr id="4198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更新权和偏差，以反映传播的误差。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权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</a:pP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其中，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1800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是权</a:t>
            </a:r>
            <a:r>
              <a:rPr lang="en-US" altLang="zh-CN" sz="18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1800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学习率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，通常取0和1之间的值。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1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其中，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</a:t>
            </a:r>
            <a:r>
              <a:rPr lang="en-US" altLang="zh-CN" sz="18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是偏置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 </a:t>
            </a:r>
          </a:p>
          <a:p>
            <a:pPr algn="r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         </a:t>
            </a:r>
          </a:p>
        </p:txBody>
      </p:sp>
      <p:sp>
        <p:nvSpPr>
          <p:cNvPr id="41990" name="Rectangle 2053"/>
          <p:cNvSpPr>
            <a:spLocks noChangeArrowheads="1"/>
          </p:cNvSpPr>
          <p:nvPr/>
        </p:nvSpPr>
        <p:spPr bwMode="auto">
          <a:xfrm>
            <a:off x="40957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1" name="Object 2052"/>
          <p:cNvGraphicFramePr>
            <a:graphicFrameLocks noChangeAspect="1"/>
          </p:cNvGraphicFramePr>
          <p:nvPr/>
        </p:nvGraphicFramePr>
        <p:xfrm>
          <a:off x="3124200" y="2362200"/>
          <a:ext cx="15240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4" r:id="rId3" imgW="952087" imgH="228501" progId="Equation.3">
                  <p:embed/>
                </p:oleObj>
              </mc:Choice>
              <mc:Fallback>
                <p:oleObj r:id="rId3" imgW="952087" imgH="228501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62200"/>
                        <a:ext cx="15240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2055"/>
          <p:cNvSpPr>
            <a:spLocks noChangeArrowheads="1"/>
          </p:cNvSpPr>
          <p:nvPr/>
        </p:nvSpPr>
        <p:spPr bwMode="auto">
          <a:xfrm>
            <a:off x="41195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41994" name="Rectangle 2057"/>
          <p:cNvSpPr>
            <a:spLocks noChangeArrowheads="1"/>
          </p:cNvSpPr>
          <p:nvPr/>
        </p:nvSpPr>
        <p:spPr bwMode="auto">
          <a:xfrm>
            <a:off x="41671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5" name="Object 2056"/>
          <p:cNvGraphicFramePr>
            <a:graphicFrameLocks noChangeAspect="1"/>
          </p:cNvGraphicFramePr>
          <p:nvPr/>
        </p:nvGraphicFramePr>
        <p:xfrm>
          <a:off x="3352800" y="4651375"/>
          <a:ext cx="1447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5" r:id="rId5" imgW="812447" imgH="228501" progId="Equation.3">
                  <p:embed/>
                </p:oleObj>
              </mc:Choice>
              <mc:Fallback>
                <p:oleObj r:id="rId5" imgW="812447" imgH="228501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651375"/>
                        <a:ext cx="1447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Rectangle 2059"/>
          <p:cNvSpPr>
            <a:spLocks noChangeArrowheads="1"/>
          </p:cNvSpPr>
          <p:nvPr/>
        </p:nvSpPr>
        <p:spPr bwMode="auto">
          <a:xfrm>
            <a:off x="41529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7CAECC-BD94-CF4A-B179-E7C6CD36C3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513" y="2817812"/>
            <a:ext cx="2324100" cy="482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FC24E1-7D95-5745-AA53-26F977AB00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5080000"/>
            <a:ext cx="1981200" cy="53340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457200"/>
            <a:ext cx="7735887" cy="533400"/>
          </a:xfrm>
          <a:noFill/>
        </p:spPr>
        <p:txBody>
          <a:bodyPr lIns="92075" tIns="46038" rIns="92075" bIns="46038"/>
          <a:lstStyle/>
          <a:p>
            <a:pPr algn="l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 dirty="0">
                <a:ea typeface="宋体" panose="02010600030101010101" pitchFamily="2" charset="-122"/>
              </a:rPr>
              <a:t>算法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438400" y="1701800"/>
            <a:ext cx="3409950" cy="4948238"/>
            <a:chOff x="1536" y="1072"/>
            <a:chExt cx="2148" cy="3117"/>
          </a:xfrm>
        </p:grpSpPr>
        <p:sp>
          <p:nvSpPr>
            <p:cNvPr id="43025" name="Oval 4"/>
            <p:cNvSpPr>
              <a:spLocks noChangeArrowheads="1"/>
            </p:cNvSpPr>
            <p:nvPr/>
          </p:nvSpPr>
          <p:spPr bwMode="auto">
            <a:xfrm>
              <a:off x="1730" y="1625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6" name="Oval 5"/>
            <p:cNvSpPr>
              <a:spLocks noChangeArrowheads="1"/>
            </p:cNvSpPr>
            <p:nvPr/>
          </p:nvSpPr>
          <p:spPr bwMode="auto">
            <a:xfrm>
              <a:off x="2430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7" name="Oval 6"/>
            <p:cNvSpPr>
              <a:spLocks noChangeArrowheads="1"/>
            </p:cNvSpPr>
            <p:nvPr/>
          </p:nvSpPr>
          <p:spPr bwMode="auto">
            <a:xfrm>
              <a:off x="3094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8" name="Oval 7"/>
            <p:cNvSpPr>
              <a:spLocks noChangeArrowheads="1"/>
            </p:cNvSpPr>
            <p:nvPr/>
          </p:nvSpPr>
          <p:spPr bwMode="auto">
            <a:xfrm>
              <a:off x="2449" y="2432"/>
              <a:ext cx="339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9" name="Oval 8"/>
            <p:cNvSpPr>
              <a:spLocks noChangeArrowheads="1"/>
            </p:cNvSpPr>
            <p:nvPr/>
          </p:nvSpPr>
          <p:spPr bwMode="auto">
            <a:xfrm>
              <a:off x="3344" y="2432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0" name="Oval 9"/>
            <p:cNvSpPr>
              <a:spLocks noChangeArrowheads="1"/>
            </p:cNvSpPr>
            <p:nvPr/>
          </p:nvSpPr>
          <p:spPr bwMode="auto">
            <a:xfrm>
              <a:off x="1536" y="2448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1" name="Oval 10"/>
            <p:cNvSpPr>
              <a:spLocks noChangeArrowheads="1"/>
            </p:cNvSpPr>
            <p:nvPr/>
          </p:nvSpPr>
          <p:spPr bwMode="auto">
            <a:xfrm>
              <a:off x="2055" y="3288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2" name="Oval 11"/>
            <p:cNvSpPr>
              <a:spLocks noChangeArrowheads="1"/>
            </p:cNvSpPr>
            <p:nvPr/>
          </p:nvSpPr>
          <p:spPr bwMode="auto">
            <a:xfrm>
              <a:off x="2897" y="3269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3" name="Line 12"/>
            <p:cNvSpPr>
              <a:spLocks noChangeShapeType="1"/>
            </p:cNvSpPr>
            <p:nvPr/>
          </p:nvSpPr>
          <p:spPr bwMode="auto">
            <a:xfrm flipH="1" flipV="1">
              <a:off x="1768" y="2781"/>
              <a:ext cx="32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4" name="Line 13"/>
            <p:cNvSpPr>
              <a:spLocks noChangeShapeType="1"/>
            </p:cNvSpPr>
            <p:nvPr/>
          </p:nvSpPr>
          <p:spPr bwMode="auto">
            <a:xfrm flipV="1">
              <a:off x="2217" y="2732"/>
              <a:ext cx="303" cy="5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5" name="Line 14"/>
            <p:cNvSpPr>
              <a:spLocks noChangeShapeType="1"/>
            </p:cNvSpPr>
            <p:nvPr/>
          </p:nvSpPr>
          <p:spPr bwMode="auto">
            <a:xfrm flipV="1">
              <a:off x="2358" y="2715"/>
              <a:ext cx="1022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Line 15"/>
            <p:cNvSpPr>
              <a:spLocks noChangeShapeType="1"/>
            </p:cNvSpPr>
            <p:nvPr/>
          </p:nvSpPr>
          <p:spPr bwMode="auto">
            <a:xfrm flipH="1" flipV="1">
              <a:off x="1875" y="2714"/>
              <a:ext cx="1020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Line 16"/>
            <p:cNvSpPr>
              <a:spLocks noChangeShapeType="1"/>
            </p:cNvSpPr>
            <p:nvPr/>
          </p:nvSpPr>
          <p:spPr bwMode="auto">
            <a:xfrm flipH="1" flipV="1">
              <a:off x="2735" y="2765"/>
              <a:ext cx="322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Line 17"/>
            <p:cNvSpPr>
              <a:spLocks noChangeShapeType="1"/>
            </p:cNvSpPr>
            <p:nvPr/>
          </p:nvSpPr>
          <p:spPr bwMode="auto">
            <a:xfrm flipV="1">
              <a:off x="3219" y="2799"/>
              <a:ext cx="28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Line 18"/>
            <p:cNvSpPr>
              <a:spLocks noChangeShapeType="1"/>
            </p:cNvSpPr>
            <p:nvPr/>
          </p:nvSpPr>
          <p:spPr bwMode="auto">
            <a:xfrm flipV="1">
              <a:off x="1606" y="1943"/>
              <a:ext cx="268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" name="Line 19"/>
            <p:cNvSpPr>
              <a:spLocks noChangeShapeType="1"/>
            </p:cNvSpPr>
            <p:nvPr/>
          </p:nvSpPr>
          <p:spPr bwMode="auto">
            <a:xfrm flipV="1">
              <a:off x="1767" y="1940"/>
              <a:ext cx="78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" name="Line 20"/>
            <p:cNvSpPr>
              <a:spLocks noChangeShapeType="1"/>
            </p:cNvSpPr>
            <p:nvPr/>
          </p:nvSpPr>
          <p:spPr bwMode="auto">
            <a:xfrm flipV="1">
              <a:off x="1858" y="1959"/>
              <a:ext cx="138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" name="Line 21"/>
            <p:cNvSpPr>
              <a:spLocks noChangeShapeType="1"/>
            </p:cNvSpPr>
            <p:nvPr/>
          </p:nvSpPr>
          <p:spPr bwMode="auto">
            <a:xfrm flipH="1" flipV="1">
              <a:off x="2017" y="1905"/>
              <a:ext cx="1342" cy="5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Line 22"/>
            <p:cNvSpPr>
              <a:spLocks noChangeShapeType="1"/>
            </p:cNvSpPr>
            <p:nvPr/>
          </p:nvSpPr>
          <p:spPr bwMode="auto">
            <a:xfrm flipH="1" flipV="1">
              <a:off x="3341" y="1940"/>
              <a:ext cx="19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Line 23"/>
            <p:cNvSpPr>
              <a:spLocks noChangeShapeType="1"/>
            </p:cNvSpPr>
            <p:nvPr/>
          </p:nvSpPr>
          <p:spPr bwMode="auto">
            <a:xfrm flipH="1" flipV="1">
              <a:off x="2679" y="1990"/>
              <a:ext cx="734" cy="4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Line 24"/>
            <p:cNvSpPr>
              <a:spLocks noChangeShapeType="1"/>
            </p:cNvSpPr>
            <p:nvPr/>
          </p:nvSpPr>
          <p:spPr bwMode="auto">
            <a:xfrm flipH="1" flipV="1">
              <a:off x="1965" y="1960"/>
              <a:ext cx="53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6" name="Line 25"/>
            <p:cNvSpPr>
              <a:spLocks noChangeShapeType="1"/>
            </p:cNvSpPr>
            <p:nvPr/>
          </p:nvSpPr>
          <p:spPr bwMode="auto">
            <a:xfrm flipV="1">
              <a:off x="2610" y="1977"/>
              <a:ext cx="0" cy="4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7" name="Line 26"/>
            <p:cNvSpPr>
              <a:spLocks noChangeShapeType="1"/>
            </p:cNvSpPr>
            <p:nvPr/>
          </p:nvSpPr>
          <p:spPr bwMode="auto">
            <a:xfrm flipV="1">
              <a:off x="2736" y="2011"/>
              <a:ext cx="501" cy="4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8" name="Line 27"/>
            <p:cNvSpPr>
              <a:spLocks noChangeShapeType="1"/>
            </p:cNvSpPr>
            <p:nvPr/>
          </p:nvSpPr>
          <p:spPr bwMode="auto">
            <a:xfrm flipV="1">
              <a:off x="2179" y="3604"/>
              <a:ext cx="0" cy="5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9" name="Line 28"/>
            <p:cNvSpPr>
              <a:spLocks noChangeShapeType="1"/>
            </p:cNvSpPr>
            <p:nvPr/>
          </p:nvSpPr>
          <p:spPr bwMode="auto">
            <a:xfrm flipV="1">
              <a:off x="3075" y="362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0" name="Line 29"/>
            <p:cNvSpPr>
              <a:spLocks noChangeShapeType="1"/>
            </p:cNvSpPr>
            <p:nvPr/>
          </p:nvSpPr>
          <p:spPr bwMode="auto">
            <a:xfrm flipV="1">
              <a:off x="1875" y="1088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1" name="Line 30"/>
            <p:cNvSpPr>
              <a:spLocks noChangeShapeType="1"/>
            </p:cNvSpPr>
            <p:nvPr/>
          </p:nvSpPr>
          <p:spPr bwMode="auto">
            <a:xfrm flipV="1">
              <a:off x="2591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2" name="Line 31"/>
            <p:cNvSpPr>
              <a:spLocks noChangeShapeType="1"/>
            </p:cNvSpPr>
            <p:nvPr/>
          </p:nvSpPr>
          <p:spPr bwMode="auto">
            <a:xfrm flipV="1">
              <a:off x="3235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12" name="Rectangle 32"/>
          <p:cNvSpPr>
            <a:spLocks noChangeArrowheads="1"/>
          </p:cNvSpPr>
          <p:nvPr/>
        </p:nvSpPr>
        <p:spPr bwMode="auto">
          <a:xfrm>
            <a:off x="465138" y="2514600"/>
            <a:ext cx="195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Rectangle 33"/>
          <p:cNvSpPr>
            <a:spLocks noChangeArrowheads="1"/>
          </p:cNvSpPr>
          <p:nvPr/>
        </p:nvSpPr>
        <p:spPr bwMode="auto">
          <a:xfrm>
            <a:off x="452438" y="5191125"/>
            <a:ext cx="173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nodes</a:t>
            </a:r>
          </a:p>
        </p:txBody>
      </p:sp>
      <p:sp>
        <p:nvSpPr>
          <p:cNvPr id="43014" name="Rectangle 34"/>
          <p:cNvSpPr>
            <a:spLocks noChangeArrowheads="1"/>
          </p:cNvSpPr>
          <p:nvPr/>
        </p:nvSpPr>
        <p:spPr bwMode="auto">
          <a:xfrm>
            <a:off x="461963" y="3863975"/>
            <a:ext cx="197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Hidden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5" name="Rectangle 35"/>
          <p:cNvSpPr>
            <a:spLocks noChangeArrowheads="1"/>
          </p:cNvSpPr>
          <p:nvPr/>
        </p:nvSpPr>
        <p:spPr bwMode="auto">
          <a:xfrm>
            <a:off x="403225" y="1677988"/>
            <a:ext cx="202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vector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6" name="Rectangle 36"/>
          <p:cNvSpPr>
            <a:spLocks noChangeArrowheads="1"/>
          </p:cNvSpPr>
          <p:nvPr/>
        </p:nvSpPr>
        <p:spPr bwMode="auto">
          <a:xfrm>
            <a:off x="417513" y="6076950"/>
            <a:ext cx="2189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vector: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3017" name="Rectangle 37"/>
          <p:cNvSpPr>
            <a:spLocks noChangeArrowheads="1"/>
          </p:cNvSpPr>
          <p:nvPr/>
        </p:nvSpPr>
        <p:spPr bwMode="auto">
          <a:xfrm>
            <a:off x="5983288" y="4521200"/>
            <a:ext cx="50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</a:p>
        </p:txBody>
      </p:sp>
      <p:sp>
        <p:nvSpPr>
          <p:cNvPr id="43018" name="Freeform 38"/>
          <p:cNvSpPr>
            <a:spLocks/>
          </p:cNvSpPr>
          <p:nvPr/>
        </p:nvSpPr>
        <p:spPr bwMode="auto">
          <a:xfrm>
            <a:off x="5249863" y="4808538"/>
            <a:ext cx="611187" cy="160337"/>
          </a:xfrm>
          <a:custGeom>
            <a:avLst/>
            <a:gdLst>
              <a:gd name="T0" fmla="*/ 2147483646 w 385"/>
              <a:gd name="T1" fmla="*/ 0 h 101"/>
              <a:gd name="T2" fmla="*/ 2147483646 w 385"/>
              <a:gd name="T3" fmla="*/ 2147483646 h 101"/>
              <a:gd name="T4" fmla="*/ 2147483646 w 385"/>
              <a:gd name="T5" fmla="*/ 2147483646 h 101"/>
              <a:gd name="T6" fmla="*/ 2147483646 w 385"/>
              <a:gd name="T7" fmla="*/ 2147483646 h 101"/>
              <a:gd name="T8" fmla="*/ 2147483646 w 385"/>
              <a:gd name="T9" fmla="*/ 2147483646 h 101"/>
              <a:gd name="T10" fmla="*/ 2147483646 w 385"/>
              <a:gd name="T11" fmla="*/ 2147483646 h 101"/>
              <a:gd name="T12" fmla="*/ 2147483646 w 385"/>
              <a:gd name="T13" fmla="*/ 2147483646 h 101"/>
              <a:gd name="T14" fmla="*/ 2147483646 w 385"/>
              <a:gd name="T15" fmla="*/ 2147483646 h 101"/>
              <a:gd name="T16" fmla="*/ 2147483646 w 385"/>
              <a:gd name="T17" fmla="*/ 2147483646 h 101"/>
              <a:gd name="T18" fmla="*/ 2147483646 w 385"/>
              <a:gd name="T19" fmla="*/ 2147483646 h 101"/>
              <a:gd name="T20" fmla="*/ 2147483646 w 385"/>
              <a:gd name="T21" fmla="*/ 2147483646 h 101"/>
              <a:gd name="T22" fmla="*/ 2147483646 w 385"/>
              <a:gd name="T23" fmla="*/ 2147483646 h 101"/>
              <a:gd name="T24" fmla="*/ 0 w 385"/>
              <a:gd name="T25" fmla="*/ 2147483646 h 10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85"/>
              <a:gd name="T40" fmla="*/ 0 h 101"/>
              <a:gd name="T41" fmla="*/ 385 w 385"/>
              <a:gd name="T42" fmla="*/ 101 h 10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85" h="101">
                <a:moveTo>
                  <a:pt x="384" y="0"/>
                </a:moveTo>
                <a:lnTo>
                  <a:pt x="313" y="5"/>
                </a:lnTo>
                <a:lnTo>
                  <a:pt x="254" y="15"/>
                </a:lnTo>
                <a:lnTo>
                  <a:pt x="230" y="25"/>
                </a:lnTo>
                <a:lnTo>
                  <a:pt x="213" y="30"/>
                </a:lnTo>
                <a:lnTo>
                  <a:pt x="201" y="40"/>
                </a:lnTo>
                <a:lnTo>
                  <a:pt x="195" y="50"/>
                </a:lnTo>
                <a:lnTo>
                  <a:pt x="189" y="60"/>
                </a:lnTo>
                <a:lnTo>
                  <a:pt x="177" y="70"/>
                </a:lnTo>
                <a:lnTo>
                  <a:pt x="160" y="75"/>
                </a:lnTo>
                <a:lnTo>
                  <a:pt x="136" y="85"/>
                </a:lnTo>
                <a:lnTo>
                  <a:pt x="71" y="95"/>
                </a:ln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068259"/>
              </p:ext>
            </p:extLst>
          </p:nvPr>
        </p:nvGraphicFramePr>
        <p:xfrm>
          <a:off x="6934200" y="4302344"/>
          <a:ext cx="2095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69" name="Equation" r:id="rId3" imgW="2095500" imgH="571500" progId="Equation.3">
                  <p:embed/>
                </p:oleObj>
              </mc:Choice>
              <mc:Fallback>
                <p:oleObj name="Equation" r:id="rId3" imgW="2095500" imgH="571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302344"/>
                        <a:ext cx="20955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171392"/>
              </p:ext>
            </p:extLst>
          </p:nvPr>
        </p:nvGraphicFramePr>
        <p:xfrm>
          <a:off x="7467600" y="3286221"/>
          <a:ext cx="156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70" name="Equation" r:id="rId5" imgW="1562100" imgH="774700" progId="Equation.3">
                  <p:embed/>
                </p:oleObj>
              </mc:Choice>
              <mc:Fallback>
                <p:oleObj name="Equation" r:id="rId5" imgW="1562100" imgH="774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286221"/>
                        <a:ext cx="1562100" cy="7747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图片 44">
            <a:extLst>
              <a:ext uri="{FF2B5EF4-FFF2-40B4-BE49-F238E27FC236}">
                <a16:creationId xmlns:a16="http://schemas.microsoft.com/office/drawing/2014/main" id="{BB1689EF-7DE1-A844-B7AC-1BD1A5EA7A9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631060" y="1911261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2D7C68A-9D90-704F-9150-B92C8A68C4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2594716"/>
            <a:ext cx="2768600" cy="482600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9D1F7A1E-F8F5-CD4E-B0A4-87F6A2F2C0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610" y="203914"/>
            <a:ext cx="3644900" cy="469900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6D6EE9FF-F466-4747-B4D6-DEF14B51AB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862" y="912922"/>
            <a:ext cx="3713723" cy="733283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反向传播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利用梯度下降法优化损失函数，迭代修改参数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362200"/>
            <a:ext cx="7858919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用一个合适的损失函数来度量训练样本的输出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和真正输出之间的差别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，接着对这个损失函数进行优化求最小值，对应的一系列线性系数矩阵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,偏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置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向量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即为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要求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的最终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参数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神经网络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中，损失函数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最小值的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求解过程最常见的一般是通过梯度下降法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 Gradient Descent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GD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一步步迭代完成，当然也可以是其他的迭代方法</a:t>
            </a:r>
          </a:p>
        </p:txBody>
      </p:sp>
    </p:spTree>
    <p:extLst>
      <p:ext uri="{BB962C8B-B14F-4D97-AF65-F5344CB8AC3E}">
        <p14:creationId xmlns:p14="http://schemas.microsoft.com/office/powerpoint/2010/main" val="3121550005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损失函数（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854014" y="1707357"/>
            <a:ext cx="7866656" cy="37026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衡量预测结果（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prediction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）和实际结果（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ground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truth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target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）间的差异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网络训练的目标：使损失（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loss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）尽可能小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一个好的的损失函数的要求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预测结果越好，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</a:rPr>
              <a:t>loss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越小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</a:rPr>
              <a:t>要考虑数据的分布、难易程度等多个方面</a:t>
            </a:r>
            <a:endParaRPr lang="en-US" altLang="zh-CN" sz="2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3B3EB6-E273-4707-8623-0B47C64CE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167028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1EB3B-5294-9C92-5212-6CBE526F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F044DC-8875-E601-39B3-8A05AB30B7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常见损失函数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回归：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MSE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3"/>
                <a:r>
                  <a:rPr lang="zh-CN" altLang="en-US" b="1" dirty="0">
                    <a:solidFill>
                      <a:srgbClr val="FF0000"/>
                    </a:solidFill>
                  </a:rPr>
                  <a:t>最常见</a:t>
                </a:r>
                <a:r>
                  <a:rPr lang="zh-CN" altLang="en-US" dirty="0"/>
                  <a:t>的回归问题损失函数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MAE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endParaRPr lang="en-US" altLang="zh-CN" dirty="0"/>
              </a:p>
              <a:p>
                <a:pPr lvl="3"/>
                <a:r>
                  <a:rPr lang="zh-CN" altLang="en-US" dirty="0"/>
                  <a:t>更鲁棒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不过不是光滑函数，不好优化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F044DC-8875-E601-39B3-8A05AB30B7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0" t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6668B-B0F6-9DDA-B973-F80E629C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76565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C787A-7FD3-FBD5-BFAA-51F60A37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KL</a:t>
            </a:r>
            <a:r>
              <a:rPr lang="zh-CN" altLang="en-US" dirty="0"/>
              <a:t>散度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要训练模型，需要衡量两个分布的差异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KL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散度：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/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一种最常见的</a:t>
                </a:r>
                <a:r>
                  <a:rPr lang="zh-CN" altLang="en-US" sz="1800" dirty="0">
                    <a:solidFill>
                      <a:srgbClr val="FF0000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衡量两个分布差异的度量函数</a:t>
                </a:r>
                <a:endParaRPr lang="en-US" altLang="zh-CN" sz="1800" dirty="0">
                  <a:solidFill>
                    <a:srgbClr val="FF0000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为两个分布，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为类别数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9F4636-77D9-3799-3321-46B9084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A84450-51AF-8D8A-3DD2-92449D9E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14600"/>
            <a:ext cx="3777852" cy="8236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D239836-7C94-E74C-ACCF-EB126C329841}"/>
              </a:ext>
            </a:extLst>
          </p:cNvPr>
          <p:cNvSpPr txBox="1"/>
          <p:nvPr/>
        </p:nvSpPr>
        <p:spPr>
          <a:xfrm>
            <a:off x="824753" y="4038600"/>
            <a:ext cx="83058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，预测正确时，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q(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 log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 没有损失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，模型低估真实概率时，如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=0.9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 q(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=0.1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log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9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很大，损失大</a:t>
            </a:r>
            <a:endParaRPr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，公式前面乘 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，表明不是所有类别同样重要。真正重要的是：真实分布经常发生的事件。但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-US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很小，如等于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0.00001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时，即使预测错了，也影响不大。所以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KL</a:t>
            </a:r>
            <a:r>
              <a:rPr lang="zh-CN" altLang="en" sz="1400" dirty="0">
                <a:latin typeface="SimSun" panose="02010600030101010101" pitchFamily="2" charset="-122"/>
                <a:ea typeface="SimSun" panose="02010600030101010101" pitchFamily="2" charset="-122"/>
              </a:rPr>
              <a:t>实际上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是用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 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作为权重。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4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，模型高估真实概率时，如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p(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=0.1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 q(</a:t>
            </a:r>
            <a:r>
              <a:rPr lang="en" altLang="zh-CN" sz="14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=0.5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log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0.2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是负数。但因为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KL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是所有类别的加权总和，虽然某些项是负的，但由于概率总和为</a:t>
            </a:r>
            <a:r>
              <a:rPr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，模型必然在别处低估了概率，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KL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对“低估真实高概率事件”惩罚极大，最终总</a:t>
            </a:r>
            <a:r>
              <a:rPr lang="en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KL</a:t>
            </a:r>
            <a:r>
              <a:rPr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仍非负。</a:t>
            </a:r>
          </a:p>
          <a:p>
            <a:endParaRPr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42EF1C-2FD6-A944-9C61-4E084F9606C2}"/>
                  </a:ext>
                </a:extLst>
              </p:cNvPr>
              <p:cNvSpPr txBox="1"/>
              <p:nvPr/>
            </p:nvSpPr>
            <p:spPr>
              <a:xfrm>
                <a:off x="6276378" y="2461044"/>
                <a:ext cx="286762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2"/>
                    </a:solidFill>
                  </a:rPr>
                  <a:t>性质：</a:t>
                </a:r>
                <a:endParaRPr lang="en-US" altLang="zh-CN" sz="1400" dirty="0">
                  <a:solidFill>
                    <a:schemeClr val="tx2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zh-CN" sz="1400" dirty="0">
                  <a:solidFill>
                    <a:schemeClr val="tx2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2"/>
                    </a:solidFill>
                  </a:rPr>
                  <a:t>仅当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1400" dirty="0">
                    <a:solidFill>
                      <a:schemeClr val="tx2"/>
                    </a:solidFill>
                  </a:rPr>
                  <a:t>时，</a:t>
                </a:r>
                <a:r>
                  <a:rPr lang="en-US" altLang="zh-CN" sz="140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CN" sz="1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1400" dirty="0">
                  <a:solidFill>
                    <a:schemeClr val="tx2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>
                    <a:solidFill>
                      <a:schemeClr val="tx2"/>
                    </a:solidFill>
                  </a:rPr>
                  <a:t>值越小说明越相似</a:t>
                </a:r>
                <a:endParaRPr lang="en-US" altLang="zh-CN" sz="1400" dirty="0">
                  <a:solidFill>
                    <a:schemeClr val="tx2"/>
                  </a:solidFill>
                </a:endParaRPr>
              </a:p>
              <a:p>
                <a:endParaRPr kumimoji="1" lang="zh-CN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42EF1C-2FD6-A944-9C61-4E084F960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378" y="2461044"/>
                <a:ext cx="2867622" cy="1754326"/>
              </a:xfrm>
              <a:prstGeom prst="rect">
                <a:avLst/>
              </a:prstGeom>
              <a:blipFill>
                <a:blip r:embed="rId4"/>
                <a:stretch>
                  <a:fillRect l="-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3076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C787A-7FD3-FBD5-BFAA-51F60A37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交叉熵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一般</m:t>
                    </m:r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给定</m:t>
                    </m:r>
                  </m:oMath>
                </a14:m>
                <a:r>
                  <a:rPr lang="zh-CN" altLang="en-US" sz="1800" dirty="0"/>
                  <a:t>分布：如标签真实的概率分布</a:t>
                </a:r>
                <a:endParaRPr lang="en-US" altLang="zh-CN" sz="1800" dirty="0"/>
              </a:p>
              <a:p>
                <a:pPr lvl="1">
                  <a:lnSpc>
                    <a:spcPct val="200000"/>
                  </a:lnSpc>
                </a:pPr>
                <a:r>
                  <a:rPr lang="zh-CN" altLang="en-US" sz="1800" dirty="0"/>
                  <a:t>信息熵（</a:t>
                </a:r>
                <a:r>
                  <a:rPr lang="zh-CN" altLang="en-US" sz="1800" dirty="0">
                    <a:solidFill>
                      <a:schemeClr val="tx2"/>
                    </a:solidFill>
                  </a:rPr>
                  <a:t>与严格定义比少了个负号</a:t>
                </a:r>
                <a:r>
                  <a:rPr lang="zh-CN" altLang="en-US" sz="1800" dirty="0"/>
                  <a:t>）为定值</a:t>
                </a:r>
                <a:endParaRPr lang="en-US" altLang="zh-CN" sz="1800" dirty="0"/>
              </a:p>
              <a:p>
                <a:pPr lvl="1">
                  <a:lnSpc>
                    <a:spcPct val="200000"/>
                  </a:lnSpc>
                </a:pPr>
                <a:r>
                  <a:rPr lang="zh-CN" altLang="en-US" sz="1800" b="1" dirty="0">
                    <a:solidFill>
                      <a:srgbClr val="FF0000"/>
                    </a:solidFill>
                  </a:rPr>
                  <a:t>最小化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KL</a:t>
                </a:r>
                <a:r>
                  <a:rPr lang="zh-CN" altLang="en-US" sz="1800" b="1" dirty="0">
                    <a:solidFill>
                      <a:srgbClr val="FF0000"/>
                    </a:solidFill>
                  </a:rPr>
                  <a:t>距离等价于最小化交叉熵</a:t>
                </a:r>
                <a:endParaRPr lang="en-US" altLang="zh-CN" sz="1800" b="1" dirty="0">
                  <a:solidFill>
                    <a:srgbClr val="FF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9F4636-77D9-3799-3321-46B9084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62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BDC36E-DC4B-28DD-97DF-4B9843C5D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069" y="1828800"/>
            <a:ext cx="5607931" cy="182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177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C787A-7FD3-FBD5-BFAA-51F60A37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交叉熵损失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/>
                  <a:t>交叉熵损失：</a:t>
                </a:r>
                <a:endParaRPr lang="en-US" altLang="zh-CN" sz="1800" dirty="0"/>
              </a:p>
              <a:p>
                <a:pPr marL="45707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/>
              </a:p>
              <a:p>
                <a:pPr marL="457070" lvl="1" indent="0">
                  <a:lnSpc>
                    <a:spcPct val="150000"/>
                  </a:lnSpc>
                  <a:buNone/>
                </a:pPr>
                <a:r>
                  <a:rPr lang="zh-CN" altLang="en-US" sz="1800" dirty="0"/>
                  <a:t>其中，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800" dirty="0"/>
                  <a:t>为真实概率分布，</a:t>
                </a:r>
                <a:endParaRPr lang="en-US" altLang="zh-CN" sz="1800" dirty="0"/>
              </a:p>
              <a:p>
                <a:pPr marL="457070" lvl="1" indent="0">
                  <a:lnSpc>
                    <a:spcPct val="150000"/>
                  </a:lnSpc>
                  <a:buNone/>
                </a:pPr>
                <a:r>
                  <a:rPr lang="zh-CN" altLang="en-US" sz="1800" dirty="0"/>
                  <a:t>如果数据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1800" dirty="0"/>
                  <a:t>为第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类</m:t>
                    </m:r>
                  </m:oMath>
                </a14:m>
                <a:r>
                  <a:rPr lang="zh-CN" altLang="en-US" sz="1800" dirty="0"/>
                  <a:t>，则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1800" dirty="0"/>
                  <a:t>otherwise 0;</a:t>
                </a:r>
              </a:p>
              <a:p>
                <a:pPr marL="45707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800" dirty="0"/>
                  <a:t>为模型预测分布</a:t>
                </a:r>
                <a:endParaRPr lang="en-US" altLang="zh-CN" sz="1800" dirty="0"/>
              </a:p>
              <a:p>
                <a:pPr marL="457070" lvl="1" indent="0">
                  <a:buNone/>
                </a:pPr>
                <a:endParaRPr lang="en-US" altLang="zh-CN" dirty="0"/>
              </a:p>
              <a:p>
                <a:pPr marL="457070" lvl="1" indent="0"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457070" lvl="1" indent="0">
                  <a:buNone/>
                </a:pPr>
                <a:endParaRPr lang="zh-CN" altLang="en-US" dirty="0"/>
              </a:p>
              <a:p>
                <a:pPr marL="342676" lvl="1" indent="-342676">
                  <a:buFont typeface="Arial" panose="020B0604020202020204" pitchFamily="34" charset="0"/>
                  <a:buChar char="•"/>
                </a:pPr>
                <a:endParaRPr lang="en-US" altLang="zh-CN" sz="254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FADE03-491D-55BF-27E0-31005B6AD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9F4636-77D9-3799-3321-46B9084A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450689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CA793-1AEE-0A0D-7F36-F41FEB68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交叉熵损失函数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F6CBFD-B28E-04EE-4149-EA344932E3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8610600" cy="5105400"/>
              </a:xfrm>
            </p:spPr>
            <p:txBody>
              <a:bodyPr/>
              <a:lstStyle/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负对数似然损失函数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对于一个三类分类问题，类别为</a:t>
                </a:r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[0,0,1]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，预测的类别概率为</a:t>
                </a:r>
                <a:r>
                  <a:rPr lang="en-US" altLang="zh-CN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[0.3,0.3,0.4]</a:t>
                </a:r>
                <a:r>
                  <a:rPr lang="zh-CN" altLang="en-US" sz="18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，则</a:t>
                </a:r>
                <a:endParaRPr lang="en-US" altLang="zh-CN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0.4</m:t>
                          </m:r>
                        </m:e>
                      </m:func>
                    </m:oMath>
                  </m:oMathPara>
                </a14:m>
                <a:endParaRPr lang="zh-CN" altLang="en-US" sz="18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F6CBFD-B28E-04EE-4149-EA344932E3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8610600" cy="5105400"/>
              </a:xfrm>
              <a:blipFill>
                <a:blip r:embed="rId3"/>
                <a:stretch>
                  <a:fillRect t="-11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7992C-DD73-7227-F1DA-827247E66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043661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最优化（</a:t>
            </a:r>
            <a:r>
              <a:rPr lang="en-US" altLang="zh-CN" dirty="0"/>
              <a:t>Optimize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415870" cy="28956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有了损失函数，目标是找到合适的网络权重，使得（验证集</a:t>
            </a:r>
            <a:r>
              <a:rPr lang="en-US" altLang="zh-CN" dirty="0"/>
              <a:t>/</a:t>
            </a:r>
            <a:r>
              <a:rPr lang="zh-CN" altLang="en-US" dirty="0"/>
              <a:t>测试集）损失函数最小。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优化的难度：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1</a:t>
            </a:r>
            <a:r>
              <a:rPr lang="zh-CN" altLang="en-US" dirty="0">
                <a:sym typeface="Wingdings" pitchFamily="2" charset="2"/>
              </a:rPr>
              <a:t>）网络参数数量大都超过百万级，搜索的空间巨大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2</a:t>
            </a:r>
            <a:r>
              <a:rPr lang="zh-CN" altLang="en-US" dirty="0">
                <a:sym typeface="Wingdings" pitchFamily="2" charset="2"/>
              </a:rPr>
              <a:t>）损失函数和参数的关系及其复杂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3</a:t>
            </a:r>
            <a:r>
              <a:rPr lang="zh-CN" altLang="en-US" dirty="0">
                <a:sym typeface="Wingdings" pitchFamily="2" charset="2"/>
              </a:rPr>
              <a:t>）计算能力的限制，不可能一次考虑到所有的训练数据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4</a:t>
            </a:r>
            <a:r>
              <a:rPr lang="zh-CN" altLang="en-US" dirty="0">
                <a:sym typeface="Wingdings" pitchFamily="2" charset="2"/>
              </a:rPr>
              <a:t>）由于过拟合的问题，即使在训练集上损失函数最小，在</a:t>
            </a:r>
            <a:r>
              <a:rPr lang="zh-CN" altLang="en-US" dirty="0"/>
              <a:t>验证集</a:t>
            </a:r>
            <a:r>
              <a:rPr lang="en-US" altLang="zh-CN" dirty="0"/>
              <a:t>/</a:t>
            </a:r>
            <a:r>
              <a:rPr lang="zh-CN" altLang="en-US" dirty="0"/>
              <a:t>测试集并不一定理想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F13BAC-4018-3647-8D71-F71A354C72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43" y="4467573"/>
            <a:ext cx="2316526" cy="2006568"/>
          </a:xfrm>
          <a:prstGeom prst="rect">
            <a:avLst/>
          </a:prstGeom>
        </p:spPr>
      </p:pic>
      <p:pic>
        <p:nvPicPr>
          <p:cNvPr id="7" name="图片 6" descr="图片包含 文字, 地图&#10;&#10;描述已自动生成">
            <a:extLst>
              <a:ext uri="{FF2B5EF4-FFF2-40B4-BE49-F238E27FC236}">
                <a16:creationId xmlns:a16="http://schemas.microsoft.com/office/drawing/2014/main" id="{313EF78E-A27C-614C-BB76-DC68743366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697" y="4464716"/>
            <a:ext cx="2683045" cy="201228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2C9179-47AE-4E96-915B-91842DE61B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096468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dirty="0"/>
              <a:t>基本思想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对于每一个样本，进行一个网络权重的更新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更新的方向：“使</a:t>
            </a:r>
            <a:r>
              <a:rPr lang="en-US" altLang="zh-CN" dirty="0"/>
              <a:t>loss</a:t>
            </a:r>
            <a:r>
              <a:rPr lang="zh-CN" altLang="en-US" dirty="0"/>
              <a:t>下降最快的方向”</a:t>
            </a:r>
            <a:r>
              <a:rPr lang="en-US" altLang="zh-CN" dirty="0"/>
              <a:t>-&gt;</a:t>
            </a:r>
            <a:r>
              <a:rPr lang="zh-CN" altLang="en-US" dirty="0"/>
              <a:t>梯度的反方向</a:t>
            </a:r>
            <a:r>
              <a:rPr lang="en-US" altLang="zh-CN" dirty="0"/>
              <a:t>-&gt;loss</a:t>
            </a:r>
            <a:r>
              <a:rPr lang="zh-CN" altLang="en-US" dirty="0"/>
              <a:t>对权重求导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更新的步长：学习率</a:t>
            </a:r>
            <a:r>
              <a:rPr lang="en-US" altLang="zh-CN" dirty="0"/>
              <a:t>-&gt;</a:t>
            </a:r>
            <a:r>
              <a:rPr lang="zh-CN" altLang="en-US" dirty="0"/>
              <a:t>超参数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556969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4" y="76200"/>
            <a:ext cx="8992131" cy="67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7263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" y="76200"/>
            <a:ext cx="90678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57877"/>
      </p:ext>
    </p:extLst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1"/>
            <a:ext cx="89916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63955"/>
      </p:ext>
    </p:extLst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sz="1200" dirty="0">
                <a:hlinkClick r:id="rId2"/>
              </a:rPr>
              <a:t>https://www.cnblogs.com/pinard/p/5970503.html</a:t>
            </a:r>
            <a:endParaRPr lang="zh-CN" altLang="en-US" sz="1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</a:t>
            </a: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282562"/>
      </p:ext>
    </p:extLst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000" dirty="0"/>
          </a:p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）：是梯度下降法最常用的形式，具体做法也就是在更新参数时使用所有的样本来进行更新。对应的更新公式是：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由于有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个样本，这里求梯度的时候就用了所有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个样本的梯度数据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ED52C27-54F1-D347-8553-C9C4322BBE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859343-D049-394D-8A4E-5F4F5C856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403" y="3105150"/>
            <a:ext cx="5803194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16515"/>
      </p:ext>
    </p:extLst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）：和批量梯度下降法原理类似，区别在与求梯度时没有用所有的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个样本的数据，而是仅仅选取一个样本</a:t>
            </a:r>
            <a:r>
              <a:rPr lang="en-US" altLang="zh-CN" sz="2000" dirty="0"/>
              <a:t>j</a:t>
            </a:r>
            <a:r>
              <a:rPr lang="zh-CN" altLang="en-US" sz="2000" dirty="0"/>
              <a:t>来求梯度。对应的更新公式是：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zh-CN" altLang="en-US" sz="2000" dirty="0"/>
              <a:t>随机梯度下降法和批量梯度下降法是两个极端，一个采用所有数据来梯度下降，一个用一个样本来梯度下降。</a:t>
            </a:r>
            <a:endParaRPr lang="en-US" altLang="zh-CN" sz="2000" dirty="0"/>
          </a:p>
          <a:p>
            <a:r>
              <a:rPr lang="zh-CN" altLang="en-US" sz="2000" dirty="0"/>
              <a:t>对于训练速度来说，随机梯度下降法由于每次仅仅采用一个样本来迭代，训练速度很快，而批量梯度下降法在样本量很大的时候，训练速度不能让人满意</a:t>
            </a:r>
            <a:endParaRPr lang="en-US" altLang="zh-CN" sz="2000" dirty="0"/>
          </a:p>
          <a:p>
            <a:r>
              <a:rPr lang="zh-CN" altLang="en-US" sz="2000" dirty="0"/>
              <a:t>对于准确度来说，随机梯度下降法仅仅用一个样本决定梯度方向，导致解很有可能不是最优。对于收敛速度来说，由于随机梯度下降法一次迭代一个样本，导致迭代方向变化很大，不能很快的收敛到局部最优解</a:t>
            </a:r>
            <a:endParaRPr lang="en-US" altLang="zh-CN" sz="2000" dirty="0"/>
          </a:p>
          <a:p>
            <a:r>
              <a:rPr lang="zh-CN" altLang="en-US" sz="2000" dirty="0"/>
              <a:t>中庸的办法</a:t>
            </a:r>
            <a:r>
              <a:rPr lang="en-US" altLang="zh-CN" sz="2000" dirty="0"/>
              <a:t>: </a:t>
            </a:r>
            <a:r>
              <a:rPr lang="zh-CN" altLang="en-US" sz="2000" dirty="0"/>
              <a:t>小批量梯度下降法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CC416D-41F5-1248-A853-C1BF558C1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069" y="2438400"/>
            <a:ext cx="33401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1966"/>
      </p:ext>
    </p:extLst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）：小批量梯度下降法是批量梯度下降法和随机梯度下降法的折衷，也就是对于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个样本，我们采用</a:t>
            </a:r>
            <a:r>
              <a:rPr lang="en-US" altLang="zh-CN" sz="2000" dirty="0"/>
              <a:t>x</a:t>
            </a:r>
            <a:r>
              <a:rPr lang="zh-CN" altLang="en-US" sz="2000" dirty="0"/>
              <a:t>个本来迭代，</a:t>
            </a:r>
            <a:r>
              <a:rPr lang="en-US" altLang="zh-CN" sz="2000" dirty="0"/>
              <a:t>1&lt;x&lt;m</a:t>
            </a:r>
            <a:r>
              <a:rPr lang="zh-CN" altLang="en-US" sz="2000" dirty="0"/>
              <a:t>。一般可以取</a:t>
            </a:r>
            <a:r>
              <a:rPr lang="en-US" altLang="zh-CN" sz="2000" dirty="0"/>
              <a:t>x=10</a:t>
            </a:r>
            <a:r>
              <a:rPr lang="zh-CN" altLang="en-US" sz="2000" dirty="0"/>
              <a:t>，当然根据样本的数据，可以调整</a:t>
            </a:r>
            <a:r>
              <a:rPr lang="en-US" altLang="zh-CN" sz="2000" dirty="0"/>
              <a:t>x</a:t>
            </a:r>
            <a:r>
              <a:rPr lang="zh-CN" altLang="en-US" sz="2000" dirty="0"/>
              <a:t>的值。对应的更新公式是：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73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4CA36F-9B57-3F41-A70D-BCBD2DE45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100" y="3016250"/>
            <a:ext cx="42418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9172"/>
      </p:ext>
    </p:extLst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简单导数计算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常用函数的导数和链式求导法则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B0E4B7-ACBD-C44F-A0C9-CC217960E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3600"/>
            <a:ext cx="4114800" cy="29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49369"/>
      </p:ext>
    </p:extLst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Sigmod</a:t>
            </a:r>
            <a:r>
              <a:rPr lang="zh-CN" altLang="en-US" dirty="0"/>
              <a:t>激活函数的求导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4C9BCB-EEE5-5449-A42B-D8F29AE9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2600"/>
            <a:ext cx="730914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84749"/>
      </p:ext>
    </p:extLst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>
            <a:spLocks/>
          </p:cNvSpPr>
          <p:nvPr/>
        </p:nvSpPr>
        <p:spPr bwMode="auto">
          <a:xfrm>
            <a:off x="101989" y="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l"/>
            <a:r>
              <a:rPr lang="zh-CN" altLang="en-US" kern="0" dirty="0"/>
              <a:t>后向传播</a:t>
            </a:r>
            <a:r>
              <a:rPr lang="zh-CN" altLang="en-US" dirty="0"/>
              <a:t>修改权值和偏置</a:t>
            </a:r>
            <a:endParaRPr lang="zh-CN" altLang="en-US" kern="0" dirty="0"/>
          </a:p>
        </p:txBody>
      </p:sp>
      <p:pic>
        <p:nvPicPr>
          <p:cNvPr id="17" name="Picture 4" descr="fig7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4653844"/>
            <a:ext cx="4038600" cy="2209800"/>
          </a:xfrm>
          <a:prstGeom prst="rect">
            <a:avLst/>
          </a:prstGeom>
          <a:noFill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D5D83F-9886-0146-9E61-0F3ED5F74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02" y="2352717"/>
            <a:ext cx="5770252" cy="24058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F80A9E0-EA4C-694C-A353-DE5D6A3D4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0" y="1632735"/>
            <a:ext cx="2019300" cy="59391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B61E5B1-3719-5F45-B604-FE561B2B5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181600"/>
            <a:ext cx="3071403" cy="58407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306621C-0F99-9841-8F22-73A68CAE75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631060" y="1911261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0AE8EA0-94F8-6340-B7A4-53B8B7253F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2594716"/>
            <a:ext cx="2768600" cy="482600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70F9085-C318-C947-AE66-F588BE6AFB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610" y="203914"/>
            <a:ext cx="3644900" cy="469900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83C6613-0C3B-E445-B802-75CA8B7F73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82" y="912922"/>
            <a:ext cx="3935204" cy="777015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52915443"/>
      </p:ext>
    </p:extLst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4953000"/>
            <a:ext cx="3276600" cy="1905000"/>
          </a:xfrm>
          <a:prstGeom prst="rect">
            <a:avLst/>
          </a:prstGeom>
          <a:noFill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DFCC8F0-9F03-F542-BCDE-969A5ED28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1" y="1489544"/>
            <a:ext cx="5676900" cy="37034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4E772D1-1DFE-A44D-849A-6750673C8B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631060" y="1911261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64CA2D-62F6-B547-AF7C-215112821D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2594716"/>
            <a:ext cx="2768600" cy="482600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D7C4EC6-0E87-B341-8538-797D90D263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610" y="203914"/>
            <a:ext cx="3644900" cy="469900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2A4DF15-AF46-824E-B2AD-40FF1A7F85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82" y="912922"/>
            <a:ext cx="3935204" cy="777015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24519804"/>
      </p:ext>
    </p:extLst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0E00B5-5595-5D49-8104-EF4B82EFD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490"/>
            <a:ext cx="6513304" cy="47716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98266" y="4754784"/>
            <a:ext cx="3276600" cy="1905000"/>
          </a:xfrm>
          <a:prstGeom prst="rect">
            <a:avLst/>
          </a:prstGeom>
          <a:noFill/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DD7611C-5F16-414C-8455-3434E798B21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631060" y="1911261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10DF4A3-4426-034C-913D-24D2C7DCB8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2594716"/>
            <a:ext cx="2768600" cy="482600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A13810-7F79-144E-A6BD-E9812FB321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610" y="203914"/>
            <a:ext cx="3644900" cy="469900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7F2C584-D4C4-EF4A-B95C-CC26C9209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82" y="912922"/>
            <a:ext cx="3935204" cy="777015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7575648"/>
      </p:ext>
    </p:extLst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8222C-44C9-4CEA-AAAF-20B76194E95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zh-CN" sz="12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533400"/>
            <a:ext cx="9144000" cy="533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设学习率为</a:t>
            </a:r>
            <a:r>
              <a:rPr lang="en-US" altLang="zh-CN" sz="2400">
                <a:ea typeface="宋体" panose="02010600030101010101" pitchFamily="2" charset="-122"/>
              </a:rPr>
              <a:t>0.9</a:t>
            </a:r>
            <a:r>
              <a:rPr lang="zh-CN" altLang="en-US" sz="2400">
                <a:ea typeface="宋体" panose="02010600030101010101" pitchFamily="2" charset="-122"/>
              </a:rPr>
              <a:t>。训练样本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 = {1,0,1}</a:t>
            </a:r>
            <a:r>
              <a:rPr lang="zh-CN" altLang="en-US" sz="2400">
                <a:ea typeface="宋体" panose="02010600030101010101" pitchFamily="2" charset="-122"/>
              </a:rPr>
              <a:t>    类标号为</a:t>
            </a: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44038" name="Picture 4" descr="fig7_1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78228" y="1554240"/>
            <a:ext cx="2521543" cy="1700576"/>
          </a:xfrm>
          <a:noFill/>
        </p:spPr>
      </p:pic>
      <p:graphicFrame>
        <p:nvGraphicFramePr>
          <p:cNvPr id="1868805" name="Group 5"/>
          <p:cNvGraphicFramePr>
            <a:graphicFrameLocks noGrp="1"/>
          </p:cNvGraphicFramePr>
          <p:nvPr>
            <p:ph sz="quarter" idx="3"/>
          </p:nvPr>
        </p:nvGraphicFramePr>
        <p:xfrm>
          <a:off x="152400" y="990600"/>
          <a:ext cx="8839200" cy="487440"/>
        </p:xfrm>
        <a:graphic>
          <a:graphicData uri="http://schemas.openxmlformats.org/drawingml/2006/table">
            <a:tbl>
              <a:tblPr/>
              <a:tblGrid>
                <a:gridCol w="6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5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57934"/>
              </p:ext>
            </p:extLst>
          </p:nvPr>
        </p:nvGraphicFramePr>
        <p:xfrm>
          <a:off x="152400" y="1524000"/>
          <a:ext cx="5562600" cy="1181100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357808521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833002459"/>
                    </a:ext>
                  </a:extLst>
                </a:gridCol>
                <a:gridCol w="1660525">
                  <a:extLst>
                    <a:ext uri="{9D8B030D-6E8A-4147-A177-3AD203B41FA5}">
                      <a16:colId xmlns:a16="http://schemas.microsoft.com/office/drawing/2014/main" val="151886076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净输入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657618"/>
                  </a:ext>
                </a:extLst>
              </a:tr>
              <a:tr h="895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0.2+0-0.5-0.4 = -0.7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-0.3+0+0.2+0.2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(-0.3)(0.332)-(0.2)(0.525)+0.1 = -0.105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0.332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-0.1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0.525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0.105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0.474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28699"/>
                  </a:ext>
                </a:extLst>
              </a:tr>
            </a:tbl>
          </a:graphicData>
        </a:graphic>
      </p:graphicFrame>
      <p:graphicFrame>
        <p:nvGraphicFramePr>
          <p:cNvPr id="1868866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90909"/>
              </p:ext>
            </p:extLst>
          </p:nvPr>
        </p:nvGraphicFramePr>
        <p:xfrm>
          <a:off x="145973" y="2773037"/>
          <a:ext cx="5562600" cy="104782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5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Err</a:t>
                      </a:r>
                      <a:r>
                        <a:rPr kumimoji="0" lang="en-US" altLang="zh-CN" sz="1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(0.474)(1-0.474)(0.474-1) = -0.1311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(0.525)(1-0.525)(-0.1311)(-0.2) = 0.0065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(0.332)(1-0.332)(-0.1311)(-0.3) = 0.02087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77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057599"/>
              </p:ext>
            </p:extLst>
          </p:nvPr>
        </p:nvGraphicFramePr>
        <p:xfrm>
          <a:off x="145973" y="3879791"/>
          <a:ext cx="5638800" cy="2951163"/>
        </p:xfrm>
        <a:graphic>
          <a:graphicData uri="http://schemas.openxmlformats.org/drawingml/2006/table">
            <a:tbl>
              <a:tblPr/>
              <a:tblGrid>
                <a:gridCol w="1376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权或偏差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新值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2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34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-0.3 - (0.9)(-0.1311)(0.332) = -0.261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-0.2 - (0.9)(-0.1311)(0.525) = -0.138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0.2 - (0.9)(0.02087)(1) = 0.181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-0.3 - (0.9)(0.0065)(1) = -0.306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0.4 - (0.9)(0.02087)(0) = 0.4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0.1- (0.9)(0.0065)(0)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-0.5 - (0.9)(0.02087)(1) = -0.519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0.2- (0.9)(0.0065)(1)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0.1-(0.9)(-0.1311) = 0.218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0.2-(0.9)(0.0065)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-0.4-(0.9)(0.02087) = -0.419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122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018903"/>
              </p:ext>
            </p:extLst>
          </p:nvPr>
        </p:nvGraphicFramePr>
        <p:xfrm>
          <a:off x="6172200" y="3276600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48" name="Equation" r:id="rId5" imgW="2095500" imgH="571500" progId="Equation.3">
                  <p:embed/>
                </p:oleObj>
              </mc:Choice>
              <mc:Fallback>
                <p:oleObj name="Equation" r:id="rId5" imgW="2095500" imgH="5715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276600"/>
                        <a:ext cx="20955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3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111404"/>
              </p:ext>
            </p:extLst>
          </p:nvPr>
        </p:nvGraphicFramePr>
        <p:xfrm>
          <a:off x="6172200" y="3733800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49" name="Equation" r:id="rId7" imgW="1562100" imgH="774700" progId="Equation.3">
                  <p:embed/>
                </p:oleObj>
              </mc:Choice>
              <mc:Fallback>
                <p:oleObj name="Equation" r:id="rId7" imgW="1562100" imgH="7747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733800"/>
                        <a:ext cx="1600200" cy="5334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>
            <a:extLst>
              <a:ext uri="{FF2B5EF4-FFF2-40B4-BE49-F238E27FC236}">
                <a16:creationId xmlns:a16="http://schemas.microsoft.com/office/drawing/2014/main" id="{878492D7-8C75-7F4E-BF6A-CEEF653680B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192910" y="5795711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D588E2F-F5EB-B54B-BC59-CD68CD698D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6388996"/>
            <a:ext cx="2514528" cy="346844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202B937-1D71-B540-B708-CE997E034A9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4407450"/>
            <a:ext cx="2705100" cy="419101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341B375-1C99-C548-90FB-48531F4964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0" y="5092596"/>
            <a:ext cx="2768600" cy="492671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8B879-A6A0-0340-B88B-3F4D5147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复合函数求导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4F16B4-F1B4-7048-A10F-0DC7D123B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8458200" cy="5257800"/>
              </a:xfrm>
            </p:spPr>
            <p:txBody>
              <a:bodyPr/>
              <a:lstStyle/>
              <a:p>
                <a:pPr lvl="1">
                  <a:lnSpc>
                    <a:spcPct val="150000"/>
                  </a:lnSpc>
                </a:pPr>
                <a:r>
                  <a:rPr lang="zh-CN" altLang="en-US" sz="2400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求导的链式法则：</a:t>
                </a:r>
                <a:endParaRPr lang="en-US" altLang="zh-CN" sz="2400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复合函数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CN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marL="1151890" lvl="2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zh-CN" altLang="en-US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全导数链式法则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marL="1151890" lvl="2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altLang="zh-CN" dirty="0">
                    <a:latin typeface="SimSun" panose="02010600030101010101" pitchFamily="2" charset="-122"/>
                    <a:ea typeface="SimSun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altLang="zh-CN" dirty="0"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  <a:p>
                <a:pPr marL="0" indent="0">
                  <a:buNone/>
                </a:pPr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44F16B4-F1B4-7048-A10F-0DC7D123B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8458200" cy="5257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231D96-2672-D64D-8D60-6AAABC81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381"/>
      </p:ext>
    </p:extLst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自动梯度计算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b="1" dirty="0"/>
                  <a:t>自动微分</a:t>
                </a:r>
                <a:r>
                  <a:rPr lang="zh-CN" altLang="en-US" sz="1800" dirty="0"/>
                  <a:t>：</a:t>
                </a:r>
                <a:endParaRPr lang="en-US" altLang="zh-CN" sz="1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/>
                  <a:t>利用链式法则来自动计算一个复合函数的梯度</a:t>
                </a:r>
                <a:endParaRPr lang="en-US" altLang="zh-CN" sz="1800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1800" dirty="0"/>
                  <a:t>令复合函数为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8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𝑤𝑥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altLang="zh-CN" sz="1800" b="0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sz="1800" dirty="0"/>
                  <a:t>可写成：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+1, 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800" i="1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sz="1800" dirty="0"/>
                  <a:t>由链式法则可得：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5 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423662"/>
      </p:ext>
    </p:extLst>
  </p:cSld>
  <p:clrMapOvr>
    <a:masterClrMapping/>
  </p:clrMapOvr>
  <p:transition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D7F21-0649-AE4D-9B92-0332E210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计算图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22637A-5595-0B40-8B08-7759E07D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1B907C-7C7E-2F4E-A378-1D1580E41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752600"/>
            <a:ext cx="6571384" cy="42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07591"/>
      </p:ext>
    </p:extLst>
  </p:cSld>
  <p:clrMapOvr>
    <a:masterClrMapping/>
  </p:clrMapOvr>
  <p:transition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后向传播算法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得到启示：</a:t>
            </a:r>
            <a:endParaRPr lang="en-US" altLang="zh-CN" sz="1800" dirty="0"/>
          </a:p>
          <a:p>
            <a:pPr lvl="1"/>
            <a:r>
              <a:rPr lang="zh-CN" altLang="en-US" sz="1800" dirty="0"/>
              <a:t>先算高层梯度，然后算底层梯度</a:t>
            </a:r>
            <a:endParaRPr lang="en-US" altLang="zh-CN" sz="1800" dirty="0"/>
          </a:p>
          <a:p>
            <a:pPr lvl="1"/>
            <a:r>
              <a:rPr lang="zh-CN" altLang="en-US" sz="1800" dirty="0"/>
              <a:t>算下层梯度可以复用上层的一些结果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E9DE-39C0-45B1-B406-4DEC767CB4A8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647220"/>
      </p:ext>
    </p:extLst>
  </p:cSld>
  <p:clrMapOvr>
    <a:masterClrMapping/>
  </p:clrMapOvr>
  <p:transition>
    <p:zo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122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646415"/>
              </p:ext>
            </p:extLst>
          </p:nvPr>
        </p:nvGraphicFramePr>
        <p:xfrm>
          <a:off x="5357893" y="72106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3" name="Equation" r:id="rId4" imgW="2095500" imgH="571500" progId="Equation.3">
                  <p:embed/>
                </p:oleObj>
              </mc:Choice>
              <mc:Fallback>
                <p:oleObj name="Equation" r:id="rId4" imgW="2095500" imgH="571500" progId="Equation.3">
                  <p:embed/>
                  <p:pic>
                    <p:nvPicPr>
                      <p:cNvPr id="44122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93" y="72106"/>
                        <a:ext cx="20955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3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156033"/>
              </p:ext>
            </p:extLst>
          </p:nvPr>
        </p:nvGraphicFramePr>
        <p:xfrm>
          <a:off x="7510764" y="82321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94" name="Equation" r:id="rId6" imgW="1562100" imgH="774700" progId="Equation.3">
                  <p:embed/>
                </p:oleObj>
              </mc:Choice>
              <mc:Fallback>
                <p:oleObj name="Equation" r:id="rId6" imgW="1562100" imgH="774700" progId="Equation.3">
                  <p:embed/>
                  <p:pic>
                    <p:nvPicPr>
                      <p:cNvPr id="44123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0764" y="82321"/>
                        <a:ext cx="1600200" cy="5334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5F32D41-6948-7E48-B768-C33DF6010CF7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280686" y="566736"/>
            <a:ext cx="4648200" cy="6138863"/>
          </a:xfrm>
        </p:spPr>
        <p:txBody>
          <a:bodyPr/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设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Loss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令：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输出层误差项通过求导直接得出：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中间层误差项可推导得出：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梯度：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权重更新：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D93469E-5C65-E24E-BE0A-106682BA6D9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0" b="8509"/>
          <a:stretch/>
        </p:blipFill>
        <p:spPr>
          <a:xfrm>
            <a:off x="720524" y="3294141"/>
            <a:ext cx="6172200" cy="17526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0D4A26E-935C-7F44-9536-1F49E4E1B1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23" y="349021"/>
            <a:ext cx="2933700" cy="7239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125F416-10FC-6549-B282-AED42D69B9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71" y="1149879"/>
            <a:ext cx="1574800" cy="66954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B45F845A-B9AD-F945-97D5-9332B0B05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23" y="2306592"/>
            <a:ext cx="3234653" cy="417011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FA65F3E7-34B8-484D-A34F-624AD8CC96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820" y="6069338"/>
            <a:ext cx="2546306" cy="443852"/>
          </a:xfrm>
          <a:prstGeom prst="rect">
            <a:avLst/>
          </a:prstGeom>
          <a:ln w="76200"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495D1C-19F4-F744-841A-4B1D2F7CD2A6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20" b="16930"/>
          <a:stretch/>
        </p:blipFill>
        <p:spPr>
          <a:xfrm>
            <a:off x="6402836" y="1966337"/>
            <a:ext cx="2330450" cy="419101"/>
          </a:xfrm>
          <a:prstGeom prst="rect">
            <a:avLst/>
          </a:prstGeom>
          <a:solidFill>
            <a:srgbClr val="7030A0"/>
          </a:solidFill>
          <a:ln w="76200">
            <a:solidFill>
              <a:schemeClr val="tx2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A494F4-EF84-4744-AF69-7A4A648AEF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36" y="2536875"/>
            <a:ext cx="2514528" cy="346844"/>
          </a:xfrm>
          <a:prstGeom prst="rect">
            <a:avLst/>
          </a:prstGeom>
          <a:ln w="76200">
            <a:solidFill>
              <a:srgbClr val="7030A0"/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9D800F4-4D54-CB4F-9F4B-19CC990FDD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643" y="730778"/>
            <a:ext cx="2705100" cy="419101"/>
          </a:xfrm>
          <a:prstGeom prst="rect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26D6D95-89A7-F84C-98D2-8B2625527C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836" y="1322229"/>
            <a:ext cx="2768600" cy="492671"/>
          </a:xfrm>
          <a:prstGeom prst="rect">
            <a:avLst/>
          </a:prstGeom>
          <a:ln w="79375">
            <a:solidFill>
              <a:schemeClr val="accent1">
                <a:lumMod val="50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C93D608-1614-0542-AC3F-0769EA4DFAE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72" y="4868415"/>
            <a:ext cx="2701577" cy="12874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26D1D3-9BA0-C54F-9103-D9F911467A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88" y="5117509"/>
            <a:ext cx="3460276" cy="174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69122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31739</TotalTime>
  <Words>4607</Words>
  <Application>Microsoft Macintosh PowerPoint</Application>
  <PresentationFormat>全屏显示(4:3)</PresentationFormat>
  <Paragraphs>643</Paragraphs>
  <Slides>84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84</vt:i4>
      </vt:variant>
    </vt:vector>
  </HeadingPairs>
  <TitlesOfParts>
    <vt:vector size="95" baseType="lpstr">
      <vt:lpstr>宋体</vt:lpstr>
      <vt:lpstr>宋体</vt:lpstr>
      <vt:lpstr>Arial</vt:lpstr>
      <vt:lpstr>Cambria Math</vt:lpstr>
      <vt:lpstr>Tahoma</vt:lpstr>
      <vt:lpstr>Times New Roman</vt:lpstr>
      <vt:lpstr>Wingdings</vt:lpstr>
      <vt:lpstr>Blends</vt:lpstr>
      <vt:lpstr>Equation.3</vt:lpstr>
      <vt:lpstr>公式</vt:lpstr>
      <vt:lpstr>Equation</vt:lpstr>
      <vt:lpstr>本讲内容</vt:lpstr>
      <vt:lpstr>神经网络</vt:lpstr>
      <vt:lpstr>神经网络</vt:lpstr>
      <vt:lpstr>神经元：线性组合+非线性变换</vt:lpstr>
      <vt:lpstr>偏置（bias）</vt:lpstr>
      <vt:lpstr>偏置（bias）</vt:lpstr>
      <vt:lpstr>感知机（Perceptron）</vt:lpstr>
      <vt:lpstr>激活函数</vt:lpstr>
      <vt:lpstr>简单导数计算</vt:lpstr>
      <vt:lpstr>Sigmod激活函数的求导</vt:lpstr>
      <vt:lpstr>Sigmod激活函数：梯度消失问题</vt:lpstr>
      <vt:lpstr>tanh激活函数</vt:lpstr>
      <vt:lpstr>ReLU激活函数</vt:lpstr>
      <vt:lpstr>“改进”版ReLU激活函数</vt:lpstr>
      <vt:lpstr>激活函数</vt:lpstr>
      <vt:lpstr>激活函数</vt:lpstr>
      <vt:lpstr>神经网络</vt:lpstr>
      <vt:lpstr>神经网络</vt:lpstr>
      <vt:lpstr>神经网络</vt:lpstr>
      <vt:lpstr>神经网络</vt:lpstr>
      <vt:lpstr>前馈神经网络</vt:lpstr>
      <vt:lpstr>前馈神经网络</vt:lpstr>
      <vt:lpstr>常用的神经网络</vt:lpstr>
      <vt:lpstr>深度神经网络</vt:lpstr>
      <vt:lpstr>深度学习</vt:lpstr>
      <vt:lpstr>深度学习</vt:lpstr>
      <vt:lpstr>PowerPoint 演示文稿</vt:lpstr>
      <vt:lpstr>深度学习</vt:lpstr>
      <vt:lpstr>PowerPoint 演示文稿</vt:lpstr>
      <vt:lpstr>PowerPoint 演示文稿</vt:lpstr>
      <vt:lpstr>PowerPoint 演示文稿</vt:lpstr>
      <vt:lpstr>PowerPoint 演示文稿</vt:lpstr>
      <vt:lpstr>基于神经网络的分类方法</vt:lpstr>
      <vt:lpstr>基于神经网络的分类方法</vt:lpstr>
      <vt:lpstr>基于神经网络的分类方法</vt:lpstr>
      <vt:lpstr>基于神经网络的分类方法</vt:lpstr>
      <vt:lpstr>后向传播算法</vt:lpstr>
      <vt:lpstr>定义网络拓扑 </vt:lpstr>
      <vt:lpstr>定义网络拓扑 </vt:lpstr>
      <vt:lpstr>定义网络拓扑 </vt:lpstr>
      <vt:lpstr>定义网络拓扑</vt:lpstr>
      <vt:lpstr>后向传播算法</vt:lpstr>
      <vt:lpstr>后向传播算法</vt:lpstr>
      <vt:lpstr>后向传播算法</vt:lpstr>
      <vt:lpstr>后向传播算法</vt:lpstr>
      <vt:lpstr>向前传播输入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向后传播误差</vt:lpstr>
      <vt:lpstr>向后传播误差</vt:lpstr>
      <vt:lpstr>向后传播误差</vt:lpstr>
      <vt:lpstr>后向传播算法</vt:lpstr>
      <vt:lpstr>反向传播</vt:lpstr>
      <vt:lpstr>损失函数（Loss function）</vt:lpstr>
      <vt:lpstr>损失函数</vt:lpstr>
      <vt:lpstr>KL散度</vt:lpstr>
      <vt:lpstr>交叉熵</vt:lpstr>
      <vt:lpstr>交叉熵损失</vt:lpstr>
      <vt:lpstr>交叉熵损失函数</vt:lpstr>
      <vt:lpstr>最优化（Optimize）</vt:lpstr>
      <vt:lpstr>梯度下降</vt:lpstr>
      <vt:lpstr>PowerPoint 演示文稿</vt:lpstr>
      <vt:lpstr>PowerPoint 演示文稿</vt:lpstr>
      <vt:lpstr>PowerPoint 演示文稿</vt:lpstr>
      <vt:lpstr>梯度下降（GD） https://www.cnblogs.com/pinard/p/5970503.html</vt:lpstr>
      <vt:lpstr>梯度下降（GD）</vt:lpstr>
      <vt:lpstr>梯度下降（GD）</vt:lpstr>
      <vt:lpstr>梯度下降（GD）</vt:lpstr>
      <vt:lpstr>简单导数计算</vt:lpstr>
      <vt:lpstr>Sigmod激活函数的求导</vt:lpstr>
      <vt:lpstr>PowerPoint 演示文稿</vt:lpstr>
      <vt:lpstr>PowerPoint 演示文稿</vt:lpstr>
      <vt:lpstr>PowerPoint 演示文稿</vt:lpstr>
      <vt:lpstr>Example</vt:lpstr>
      <vt:lpstr>复合函数求导</vt:lpstr>
      <vt:lpstr>自动梯度计算</vt:lpstr>
      <vt:lpstr>计算图</vt:lpstr>
      <vt:lpstr>后向传播算法</vt:lpstr>
      <vt:lpstr>PowerPoint 演示文稿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lastModifiedBy>Microsoft Office User</cp:lastModifiedBy>
  <cp:revision>600</cp:revision>
  <cp:lastPrinted>1999-09-10T20:38:56Z</cp:lastPrinted>
  <dcterms:created xsi:type="dcterms:W3CDTF">1998-06-19T04:38:52Z</dcterms:created>
  <dcterms:modified xsi:type="dcterms:W3CDTF">2026-05-10T03:11:00Z</dcterms:modified>
  <cp:category>data mining book slides</cp:category>
</cp:coreProperties>
</file>