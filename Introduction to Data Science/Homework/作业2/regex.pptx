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2123" r:id="rId3"/>
    <p:sldId id="376" r:id="rId4"/>
    <p:sldId id="345" r:id="rId5"/>
    <p:sldId id="2146" r:id="rId6"/>
    <p:sldId id="2147" r:id="rId7"/>
    <p:sldId id="2148" r:id="rId8"/>
    <p:sldId id="2149" r:id="rId9"/>
    <p:sldId id="2150" r:id="rId10"/>
    <p:sldId id="2151" r:id="rId11"/>
    <p:sldId id="2153" r:id="rId12"/>
    <p:sldId id="2154" r:id="rId13"/>
    <p:sldId id="2156" r:id="rId14"/>
    <p:sldId id="2155" r:id="rId15"/>
    <p:sldId id="2157" r:id="rId16"/>
    <p:sldId id="2158" r:id="rId17"/>
    <p:sldId id="2159" r:id="rId18"/>
    <p:sldId id="2160" r:id="rId19"/>
    <p:sldId id="2161" r:id="rId20"/>
    <p:sldId id="2162" r:id="rId21"/>
    <p:sldId id="2163" r:id="rId22"/>
    <p:sldId id="1908" r:id="rId23"/>
    <p:sldId id="2165" r:id="rId24"/>
    <p:sldId id="2164" r:id="rId25"/>
    <p:sldId id="2167" r:id="rId26"/>
    <p:sldId id="2168" r:id="rId27"/>
    <p:sldId id="2169" r:id="rId28"/>
    <p:sldId id="213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4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93"/>
    <p:restoredTop sz="94643"/>
  </p:normalViewPr>
  <p:slideViewPr>
    <p:cSldViewPr snapToGrid="0">
      <p:cViewPr varScale="1">
        <p:scale>
          <a:sx n="139" d="100"/>
          <a:sy n="139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E3488-600C-48B6-953D-A312D20A41F4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EC090-1D11-44F3-AF8F-F6F93BF0AA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FA86E-575D-F544-882E-C4F534F99C7D}" type="slidenum">
              <a:rPr lang="en-US" altLang="zh-CN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AD53D-8A36-4298-8A68-41675434C277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A7D43-4CEA-4845-B182-C210261521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1.png"/><Relationship Id="rId1" Type="http://schemas.openxmlformats.org/officeDocument/2006/relationships/tags" Target="../tags/tag1.xml"/><Relationship Id="rId2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3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653564309@qq.com" TargetMode="External"/><Relationship Id="rId4" Type="http://schemas.openxmlformats.org/officeDocument/2006/relationships/hyperlink" Target="mailto:hehehe@gmail.com" TargetMode="External"/><Relationship Id="rId5" Type="http://schemas.openxmlformats.org/officeDocument/2006/relationships/hyperlink" Target="mailto:chigua@sina.cn" TargetMode="External"/><Relationship Id="rId6" Type="http://schemas.openxmlformats.org/officeDocument/2006/relationships/hyperlink" Target="mailto:34gdggfdgrtyhyr@163.com" TargetMode="External"/><Relationship Id="rId7" Type="http://schemas.openxmlformats.org/officeDocument/2006/relationships/image" Target="../media/image13.jpeg"/><Relationship Id="rId1" Type="http://schemas.openxmlformats.org/officeDocument/2006/relationships/slideLayout" Target="../slideLayouts/slideLayout18.xml"/><Relationship Id="rId2" Type="http://schemas.openxmlformats.org/officeDocument/2006/relationships/hyperlink" Target="mailto:34sdg4gfwr4@ruc.edu.cn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4" Type="http://schemas.openxmlformats.org/officeDocument/2006/relationships/hyperlink" Target="mailto:34sdg4gfwr4@ruc.edu.cn" TargetMode="External"/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s://regex101.com/quiz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s://regex101.com/quiz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11" Type="http://schemas.openxmlformats.org/officeDocument/2006/relationships/hyperlink" Target="http://paper.people.com.cn/rmrb/html/2021-03/25/nbs.D110000renmrb_01.htm" TargetMode="External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2" Type="http://schemas.openxmlformats.org/officeDocument/2006/relationships/hyperlink" Target="mailto:34sdg4gfwr4@ruc.edu.cn" TargetMode="External"/><Relationship Id="rId3" Type="http://schemas.openxmlformats.org/officeDocument/2006/relationships/hyperlink" Target="mailto:653564309@qq.com" TargetMode="External"/><Relationship Id="rId4" Type="http://schemas.openxmlformats.org/officeDocument/2006/relationships/hyperlink" Target="mailto:wdddang@ghwz@.com" TargetMode="External"/><Relationship Id="rId5" Type="http://schemas.openxmlformats.org/officeDocument/2006/relationships/hyperlink" Target="mailto:Trer.fsew@sdcs.com" TargetMode="External"/><Relationship Id="rId6" Type="http://schemas.openxmlformats.org/officeDocument/2006/relationships/hyperlink" Target="mailto:hehehe@gmail.com" TargetMode="External"/><Relationship Id="rId7" Type="http://schemas.openxmlformats.org/officeDocument/2006/relationships/hyperlink" Target="mailto:Sfw$$$dfgdg@126.com" TargetMode="External"/><Relationship Id="rId8" Type="http://schemas.openxmlformats.org/officeDocument/2006/relationships/hyperlink" Target="mailto:ghhhh@gmail.ussr" TargetMode="External"/><Relationship Id="rId9" Type="http://schemas.openxmlformats.org/officeDocument/2006/relationships/hyperlink" Target="mailto:Chi_gua@sina.cn" TargetMode="External"/><Relationship Id="rId10" Type="http://schemas.openxmlformats.org/officeDocument/2006/relationships/hyperlink" Target="mailto:34gdggfdgrtyhyr@163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9.jpeg"/><Relationship Id="rId1" Type="http://schemas.openxmlformats.org/officeDocument/2006/relationships/tags" Target="../tags/tag4.xml"/><Relationship Id="rId2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6"/>
          <p:cNvSpPr/>
          <p:nvPr/>
        </p:nvSpPr>
        <p:spPr>
          <a:xfrm rot="2700000">
            <a:off x="4718984" y="-359874"/>
            <a:ext cx="7511244" cy="7318723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4" name="矩形: 圆角 6"/>
          <p:cNvSpPr/>
          <p:nvPr/>
        </p:nvSpPr>
        <p:spPr>
          <a:xfrm rot="2700000">
            <a:off x="-2804729" y="566645"/>
            <a:ext cx="5609457" cy="546568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5" name="Rounded Rectangle 8"/>
          <p:cNvSpPr/>
          <p:nvPr/>
        </p:nvSpPr>
        <p:spPr>
          <a:xfrm>
            <a:off x="245110" y="1748790"/>
            <a:ext cx="4988560" cy="3591560"/>
          </a:xfrm>
          <a:prstGeom prst="roundRect">
            <a:avLst>
              <a:gd name="adj" fmla="val 3093"/>
            </a:avLst>
          </a:prstGeom>
          <a:blipFill rotWithShape="1">
            <a:blip r:embed="rId6"/>
            <a:srcRect/>
            <a:stretch>
              <a:fillRect l="-6000" r="-10000"/>
            </a:stretch>
          </a:blip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36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6" name="PA-矩形 3"/>
          <p:cNvSpPr/>
          <p:nvPr>
            <p:custDataLst>
              <p:tags r:id="rId1"/>
            </p:custDataLst>
          </p:nvPr>
        </p:nvSpPr>
        <p:spPr>
          <a:xfrm>
            <a:off x="5846961" y="1855212"/>
            <a:ext cx="4844918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ngLiU_HKSCS-ExtB" panose="02020500000000000000" charset="-120"/>
                <a:ea typeface="MingLiU_HKSCS-ExtB" panose="02020500000000000000" charset="-120"/>
                <a:cs typeface="+mn-ea"/>
                <a:sym typeface="思源黑体" panose="020B0500000000000000" pitchFamily="34" charset="-122"/>
              </a:rPr>
              <a:t>正则表达式</a:t>
            </a:r>
          </a:p>
        </p:txBody>
      </p:sp>
      <p:sp>
        <p:nvSpPr>
          <p:cNvPr id="7" name="PA-文本框 6"/>
          <p:cNvSpPr txBox="1"/>
          <p:nvPr>
            <p:custDataLst>
              <p:tags r:id="rId2"/>
            </p:custDataLst>
          </p:nvPr>
        </p:nvSpPr>
        <p:spPr>
          <a:xfrm>
            <a:off x="5931939" y="2963357"/>
            <a:ext cx="5929119" cy="583565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32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——</a:t>
            </a:r>
            <a:r>
              <a:rPr lang="zh-CN" altLang="en-US" sz="32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字符串处理的</a:t>
            </a:r>
            <a:r>
              <a:rPr lang="en-US" altLang="zh-CN" sz="32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“</a:t>
            </a:r>
            <a:r>
              <a:rPr lang="zh-CN" altLang="en-US" sz="32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瑞士军刀</a:t>
            </a:r>
            <a:r>
              <a:rPr lang="en-US" altLang="zh-CN" sz="32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”</a:t>
            </a:r>
          </a:p>
        </p:txBody>
      </p:sp>
      <p:sp>
        <p:nvSpPr>
          <p:cNvPr id="8" name="PA-文本框 6"/>
          <p:cNvSpPr txBox="1"/>
          <p:nvPr>
            <p:custDataLst>
              <p:tags r:id="rId3"/>
            </p:custDataLst>
          </p:nvPr>
        </p:nvSpPr>
        <p:spPr>
          <a:xfrm>
            <a:off x="5964161" y="3755758"/>
            <a:ext cx="3022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bg1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Regular Expression</a:t>
            </a:r>
          </a:p>
        </p:txBody>
      </p:sp>
      <p:sp>
        <p:nvSpPr>
          <p:cNvPr id="9" name="矩形: 圆角 6"/>
          <p:cNvSpPr/>
          <p:nvPr/>
        </p:nvSpPr>
        <p:spPr>
          <a:xfrm>
            <a:off x="5932170" y="4677410"/>
            <a:ext cx="3248406" cy="662940"/>
          </a:xfrm>
          <a:prstGeom prst="roundRect">
            <a:avLst/>
          </a:prstGeom>
          <a:solidFill>
            <a:schemeClr val="accent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数据科学导论课程组</a:t>
            </a:r>
            <a:endParaRPr lang="zh-CN" altLang="en-GB" sz="24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0" name="矩形: 圆角 6"/>
          <p:cNvSpPr/>
          <p:nvPr/>
        </p:nvSpPr>
        <p:spPr>
          <a:xfrm rot="2700000">
            <a:off x="10719226" y="-602045"/>
            <a:ext cx="2027189" cy="197523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 bldLvl="0" animBg="1"/>
      <p:bldP spid="8" grpId="0"/>
      <p:bldP spid="9" grpId="0" bldLvl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1"/>
          <p:cNvSpPr/>
          <p:nvPr/>
        </p:nvSpPr>
        <p:spPr>
          <a:xfrm rot="2700000">
            <a:off x="4692776" y="-550492"/>
            <a:ext cx="8168338" cy="7958976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3" name="矩形: 圆角 10"/>
          <p:cNvSpPr/>
          <p:nvPr/>
        </p:nvSpPr>
        <p:spPr>
          <a:xfrm rot="2700000">
            <a:off x="-3088588" y="-550489"/>
            <a:ext cx="8168338" cy="7958976"/>
          </a:xfrm>
          <a:prstGeom prst="round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4" name="矩形: 圆角 9"/>
          <p:cNvSpPr/>
          <p:nvPr/>
        </p:nvSpPr>
        <p:spPr>
          <a:xfrm rot="2700000">
            <a:off x="-3667365" y="-550489"/>
            <a:ext cx="8168338" cy="7958976"/>
          </a:xfrm>
          <a:prstGeom prst="round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5" name="矩形: 圆角 8"/>
          <p:cNvSpPr/>
          <p:nvPr/>
        </p:nvSpPr>
        <p:spPr>
          <a:xfrm rot="2700000">
            <a:off x="-4246142" y="-550489"/>
            <a:ext cx="8168338" cy="795897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6" name="矩形: 圆角 6"/>
          <p:cNvSpPr/>
          <p:nvPr/>
        </p:nvSpPr>
        <p:spPr>
          <a:xfrm rot="2700000">
            <a:off x="-4824920" y="-550488"/>
            <a:ext cx="8168338" cy="79589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374758" y="2589902"/>
            <a:ext cx="2380877" cy="1678196"/>
            <a:chOff x="1637031" y="2589902"/>
            <a:chExt cx="2380877" cy="1678196"/>
          </a:xfrm>
        </p:grpSpPr>
        <p:sp>
          <p:nvSpPr>
            <p:cNvPr id="8" name="添加标题"/>
            <p:cNvSpPr/>
            <p:nvPr/>
          </p:nvSpPr>
          <p:spPr>
            <a:xfrm>
              <a:off x="1637031" y="2589902"/>
              <a:ext cx="2380877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目录</a:t>
              </a:r>
              <a:endParaRPr lang="en-US" altLang="zh-CN" sz="8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874346" y="3929544"/>
              <a:ext cx="190624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CONTENTS</a:t>
              </a:r>
              <a:endParaRPr lang="en-US" altLang="zh-CN" sz="4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234783" y="1675049"/>
            <a:ext cx="4536027" cy="593113"/>
            <a:chOff x="1204686" y="2163479"/>
            <a:chExt cx="4537667" cy="593327"/>
          </a:xfrm>
        </p:grpSpPr>
        <p:sp>
          <p:nvSpPr>
            <p:cNvPr id="11" name="椭圆 10"/>
            <p:cNvSpPr/>
            <p:nvPr/>
          </p:nvSpPr>
          <p:spPr>
            <a:xfrm>
              <a:off x="1204686" y="2176235"/>
              <a:ext cx="580571" cy="580571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960196" y="2163479"/>
              <a:ext cx="3782157" cy="46054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400" b="1" kern="0" dirty="0">
                  <a:solidFill>
                    <a:schemeClr val="accent1"/>
                  </a:solidFill>
                  <a:uFillTx/>
                  <a:latin typeface="思源黑体" charset="0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Python</a:t>
              </a:r>
              <a:r>
                <a:rPr lang="zh-CN" altLang="en-US" sz="2400" b="1" spc="600" dirty="0">
                  <a:solidFill>
                    <a:schemeClr val="accent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字符串常用函数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234785" y="2710422"/>
            <a:ext cx="4378546" cy="593113"/>
            <a:chOff x="1204686" y="3150828"/>
            <a:chExt cx="4380130" cy="593327"/>
          </a:xfrm>
        </p:grpSpPr>
        <p:sp>
          <p:nvSpPr>
            <p:cNvPr id="16" name="椭圆 15"/>
            <p:cNvSpPr/>
            <p:nvPr/>
          </p:nvSpPr>
          <p:spPr>
            <a:xfrm>
              <a:off x="1204686" y="3163584"/>
              <a:ext cx="580571" cy="580571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0196" y="3150828"/>
              <a:ext cx="3624620" cy="46054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spc="600" dirty="0">
                  <a:solidFill>
                    <a:schemeClr val="accent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为何需要正则表达式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234783" y="3745795"/>
            <a:ext cx="3996277" cy="593113"/>
            <a:chOff x="1204686" y="4138177"/>
            <a:chExt cx="3997722" cy="593327"/>
          </a:xfrm>
        </p:grpSpPr>
        <p:sp>
          <p:nvSpPr>
            <p:cNvPr id="21" name="椭圆 20"/>
            <p:cNvSpPr/>
            <p:nvPr/>
          </p:nvSpPr>
          <p:spPr>
            <a:xfrm>
              <a:off x="1204686" y="4150933"/>
              <a:ext cx="580571" cy="580571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960196" y="4138177"/>
              <a:ext cx="3242212" cy="46054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spc="600" dirty="0">
                  <a:solidFill>
                    <a:schemeClr val="accent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正则表达式的写法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234785" y="4781167"/>
            <a:ext cx="4378546" cy="593114"/>
            <a:chOff x="1204686" y="5125526"/>
            <a:chExt cx="4380130" cy="593328"/>
          </a:xfrm>
        </p:grpSpPr>
        <p:sp>
          <p:nvSpPr>
            <p:cNvPr id="26" name="椭圆 25"/>
            <p:cNvSpPr/>
            <p:nvPr/>
          </p:nvSpPr>
          <p:spPr>
            <a:xfrm>
              <a:off x="1204686" y="5138283"/>
              <a:ext cx="580571" cy="580571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960196" y="5125526"/>
              <a:ext cx="3624620" cy="46054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spc="600" dirty="0">
                  <a:solidFill>
                    <a:schemeClr val="accent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正则表达式的小练习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45127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/>
          <p:cNvSpPr txBox="1"/>
          <p:nvPr/>
        </p:nvSpPr>
        <p:spPr>
          <a:xfrm rot="5400000">
            <a:off x="11275812" y="5566173"/>
            <a:ext cx="8274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DESIGH</a:t>
            </a:r>
          </a:p>
        </p:txBody>
      </p:sp>
      <p:sp>
        <p:nvSpPr>
          <p:cNvPr id="5" name="Oval 10"/>
          <p:cNvSpPr/>
          <p:nvPr/>
        </p:nvSpPr>
        <p:spPr>
          <a:xfrm>
            <a:off x="11509437" y="6316045"/>
            <a:ext cx="360219" cy="36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/>
          <p:cNvSpPr/>
          <p:nvPr/>
        </p:nvSpPr>
        <p:spPr>
          <a:xfrm flipV="1">
            <a:off x="6580910" y="3196246"/>
            <a:ext cx="4118513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le: Hollow 14"/>
          <p:cNvSpPr/>
          <p:nvPr/>
        </p:nvSpPr>
        <p:spPr>
          <a:xfrm>
            <a:off x="11319163" y="-397083"/>
            <a:ext cx="1274614" cy="1274614"/>
          </a:xfrm>
          <a:prstGeom prst="donut">
            <a:avLst>
              <a:gd name="adj" fmla="val 158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9535753" y="2028443"/>
            <a:ext cx="1420996" cy="108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7200" b="1" i="1" dirty="0">
                <a:solidFill>
                  <a:schemeClr val="bg1">
                    <a:lumMod val="9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01</a:t>
            </a:r>
          </a:p>
        </p:txBody>
      </p:sp>
      <p:sp>
        <p:nvSpPr>
          <p:cNvPr id="9" name="TextBox 23"/>
          <p:cNvSpPr txBox="1"/>
          <p:nvPr/>
        </p:nvSpPr>
        <p:spPr>
          <a:xfrm>
            <a:off x="6407785" y="2397125"/>
            <a:ext cx="4549140" cy="368935"/>
          </a:xfrm>
          <a:prstGeom prst="rect">
            <a:avLst/>
          </a:prstGeom>
          <a:noFill/>
        </p:spPr>
        <p:txBody>
          <a:bodyPr wrap="square" lIns="91423" tIns="0" rIns="91423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Comic Sans MS" panose="030F0702030302020204" charset="0"/>
                <a:sym typeface="+mn-ea"/>
              </a:rPr>
              <a:t>Python</a:t>
            </a:r>
            <a:r>
              <a:rPr lang="zh-CN" altLang="en-US" sz="24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Comic Sans MS" panose="030F0702030302020204" charset="0"/>
                <a:sym typeface="+mn-ea"/>
              </a:rPr>
              <a:t>字符串常用函数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11" name="TextBox 24"/>
          <p:cNvSpPr txBox="1"/>
          <p:nvPr/>
        </p:nvSpPr>
        <p:spPr>
          <a:xfrm>
            <a:off x="6426044" y="3730760"/>
            <a:ext cx="3730928" cy="1885315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本节首先介绍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python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字符串的几个重要处理函数，在一般情况下可以满足大部分常用需求</a:t>
            </a:r>
          </a:p>
          <a:p>
            <a:pPr marL="285750" marR="0" lvl="0" indent="-28575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replace</a:t>
            </a:r>
          </a:p>
          <a:p>
            <a:pPr marL="285750" marR="0" lvl="0" indent="-28575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split</a:t>
            </a:r>
          </a:p>
          <a:p>
            <a:pPr marL="285750" marR="0" lvl="0" indent="-28575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strip</a:t>
            </a:r>
          </a:p>
          <a:p>
            <a:pPr marL="285750" marR="0" lvl="0" indent="-28575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upper/lower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8"/>
          <p:cNvGrpSpPr/>
          <p:nvPr/>
        </p:nvGrpSpPr>
        <p:grpSpPr>
          <a:xfrm>
            <a:off x="0" y="594791"/>
            <a:ext cx="12192000" cy="6263209"/>
            <a:chOff x="0" y="594791"/>
            <a:chExt cx="12192000" cy="6263209"/>
          </a:xfrm>
        </p:grpSpPr>
        <p:sp>
          <p:nvSpPr>
            <p:cNvPr id="1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3" name="Rectangle 10"/>
            <p:cNvSpPr/>
            <p:nvPr/>
          </p:nvSpPr>
          <p:spPr>
            <a:xfrm>
              <a:off x="1181804" y="594791"/>
              <a:ext cx="31165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kern="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Python </a:t>
              </a:r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字符串常用函数</a:t>
              </a:r>
            </a:p>
          </p:txBody>
        </p:sp>
        <p:sp>
          <p:nvSpPr>
            <p:cNvPr id="17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963295"/>
            <a:ext cx="7177405" cy="54940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384" y="1893068"/>
            <a:ext cx="7870674" cy="32256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8"/>
          <p:cNvGrpSpPr/>
          <p:nvPr/>
        </p:nvGrpSpPr>
        <p:grpSpPr>
          <a:xfrm>
            <a:off x="0" y="594791"/>
            <a:ext cx="12192000" cy="6263209"/>
            <a:chOff x="0" y="594791"/>
            <a:chExt cx="12192000" cy="6263209"/>
          </a:xfrm>
        </p:grpSpPr>
        <p:sp>
          <p:nvSpPr>
            <p:cNvPr id="1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3" name="Rectangle 10"/>
            <p:cNvSpPr/>
            <p:nvPr/>
          </p:nvSpPr>
          <p:spPr>
            <a:xfrm>
              <a:off x="1181804" y="594791"/>
              <a:ext cx="31165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kern="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Python </a:t>
              </a:r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字符串常用函数</a:t>
              </a:r>
            </a:p>
          </p:txBody>
        </p:sp>
        <p:sp>
          <p:nvSpPr>
            <p:cNvPr id="17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4" y="1227743"/>
            <a:ext cx="7315200" cy="4591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124" y="2077186"/>
            <a:ext cx="8609437" cy="2004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8"/>
          <p:cNvGrpSpPr/>
          <p:nvPr/>
        </p:nvGrpSpPr>
        <p:grpSpPr>
          <a:xfrm>
            <a:off x="0" y="623072"/>
            <a:ext cx="12192000" cy="6263209"/>
            <a:chOff x="0" y="594791"/>
            <a:chExt cx="12192000" cy="6263209"/>
          </a:xfrm>
        </p:grpSpPr>
        <p:sp>
          <p:nvSpPr>
            <p:cNvPr id="1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3" name="Rectangle 10"/>
            <p:cNvSpPr/>
            <p:nvPr/>
          </p:nvSpPr>
          <p:spPr>
            <a:xfrm>
              <a:off x="1181804" y="594791"/>
              <a:ext cx="31165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kern="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Python </a:t>
              </a:r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字符串常用函数</a:t>
              </a:r>
            </a:p>
          </p:txBody>
        </p:sp>
        <p:sp>
          <p:nvSpPr>
            <p:cNvPr id="17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65" y="1165830"/>
            <a:ext cx="6296025" cy="47148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916" y="1987091"/>
            <a:ext cx="5830326" cy="2302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4" y="1588721"/>
            <a:ext cx="8124825" cy="3800475"/>
          </a:xfrm>
          <a:prstGeom prst="rect">
            <a:avLst/>
          </a:prstGeom>
        </p:spPr>
      </p:pic>
      <p:grpSp>
        <p:nvGrpSpPr>
          <p:cNvPr id="11" name="Group 8"/>
          <p:cNvGrpSpPr/>
          <p:nvPr/>
        </p:nvGrpSpPr>
        <p:grpSpPr>
          <a:xfrm>
            <a:off x="0" y="594791"/>
            <a:ext cx="12192000" cy="6263209"/>
            <a:chOff x="0" y="594791"/>
            <a:chExt cx="12192000" cy="6263209"/>
          </a:xfrm>
        </p:grpSpPr>
        <p:sp>
          <p:nvSpPr>
            <p:cNvPr id="1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3" name="Rectangle 10"/>
            <p:cNvSpPr/>
            <p:nvPr/>
          </p:nvSpPr>
          <p:spPr>
            <a:xfrm>
              <a:off x="1181804" y="594791"/>
              <a:ext cx="31165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kern="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Python </a:t>
              </a:r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字符串常用函数</a:t>
              </a:r>
            </a:p>
          </p:txBody>
        </p:sp>
        <p:sp>
          <p:nvSpPr>
            <p:cNvPr id="17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72" y="2089091"/>
            <a:ext cx="5476040" cy="23862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99" y="896625"/>
            <a:ext cx="10065401" cy="5468670"/>
          </a:xfrm>
          <a:prstGeom prst="rect">
            <a:avLst/>
          </a:prstGeom>
        </p:spPr>
      </p:pic>
      <p:grpSp>
        <p:nvGrpSpPr>
          <p:cNvPr id="11" name="Group 8"/>
          <p:cNvGrpSpPr/>
          <p:nvPr/>
        </p:nvGrpSpPr>
        <p:grpSpPr>
          <a:xfrm>
            <a:off x="0" y="594791"/>
            <a:ext cx="12192000" cy="6263209"/>
            <a:chOff x="0" y="594791"/>
            <a:chExt cx="12192000" cy="6263209"/>
          </a:xfrm>
        </p:grpSpPr>
        <p:sp>
          <p:nvSpPr>
            <p:cNvPr id="1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3" name="Rectangle 10"/>
            <p:cNvSpPr/>
            <p:nvPr/>
          </p:nvSpPr>
          <p:spPr>
            <a:xfrm>
              <a:off x="1181804" y="594791"/>
              <a:ext cx="31165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kern="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Python </a:t>
              </a:r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字符串常用函数</a:t>
              </a:r>
            </a:p>
          </p:txBody>
        </p:sp>
        <p:sp>
          <p:nvSpPr>
            <p:cNvPr id="17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4" name="Group 8"/>
          <p:cNvGrpSpPr/>
          <p:nvPr/>
        </p:nvGrpSpPr>
        <p:grpSpPr>
          <a:xfrm>
            <a:off x="0" y="686766"/>
            <a:ext cx="12192000" cy="6199514"/>
            <a:chOff x="0" y="658486"/>
            <a:chExt cx="12192000" cy="6199514"/>
          </a:xfrm>
        </p:grpSpPr>
        <p:sp>
          <p:nvSpPr>
            <p:cNvPr id="15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8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45127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/>
          <p:cNvSpPr txBox="1"/>
          <p:nvPr/>
        </p:nvSpPr>
        <p:spPr>
          <a:xfrm rot="5400000">
            <a:off x="11275812" y="5566173"/>
            <a:ext cx="8274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DESIGH</a:t>
            </a:r>
          </a:p>
        </p:txBody>
      </p:sp>
      <p:sp>
        <p:nvSpPr>
          <p:cNvPr id="5" name="Oval 10"/>
          <p:cNvSpPr/>
          <p:nvPr/>
        </p:nvSpPr>
        <p:spPr>
          <a:xfrm>
            <a:off x="11509437" y="6316045"/>
            <a:ext cx="360219" cy="36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le: Hollow 14"/>
          <p:cNvSpPr/>
          <p:nvPr/>
        </p:nvSpPr>
        <p:spPr>
          <a:xfrm>
            <a:off x="11319163" y="-397083"/>
            <a:ext cx="1274614" cy="1274614"/>
          </a:xfrm>
          <a:prstGeom prst="donut">
            <a:avLst>
              <a:gd name="adj" fmla="val 158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9535753" y="2028443"/>
            <a:ext cx="1420996" cy="108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7200" b="1" i="1" dirty="0">
                <a:solidFill>
                  <a:schemeClr val="bg1">
                    <a:lumMod val="9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02</a:t>
            </a:r>
          </a:p>
        </p:txBody>
      </p:sp>
      <p:sp>
        <p:nvSpPr>
          <p:cNvPr id="9" name="TextBox 23"/>
          <p:cNvSpPr txBox="1"/>
          <p:nvPr/>
        </p:nvSpPr>
        <p:spPr>
          <a:xfrm>
            <a:off x="6407785" y="2397125"/>
            <a:ext cx="4549140" cy="368935"/>
          </a:xfrm>
          <a:prstGeom prst="rect">
            <a:avLst/>
          </a:prstGeom>
          <a:noFill/>
        </p:spPr>
        <p:txBody>
          <a:bodyPr wrap="square" lIns="91423" tIns="0" rIns="91423" bIns="0" rtlCol="0" anchor="t">
            <a:spAutoFit/>
          </a:bodyPr>
          <a:lstStyle/>
          <a:p>
            <a:r>
              <a:rPr lang="zh-CN" altLang="en-US" sz="2400" b="1" spc="6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为何需要正则表达式</a:t>
            </a:r>
          </a:p>
        </p:txBody>
      </p:sp>
      <p:sp>
        <p:nvSpPr>
          <p:cNvPr id="11" name="TextBox 24"/>
          <p:cNvSpPr txBox="1"/>
          <p:nvPr/>
        </p:nvSpPr>
        <p:spPr>
          <a:xfrm>
            <a:off x="6426044" y="3730760"/>
            <a:ext cx="3730928" cy="605278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本节通过一个例子说明为何需要正则表达式来参与字符串操作。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0" name="Rectangle 13"/>
          <p:cNvSpPr/>
          <p:nvPr/>
        </p:nvSpPr>
        <p:spPr>
          <a:xfrm flipV="1">
            <a:off x="6580910" y="3196246"/>
            <a:ext cx="4118513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24"/>
          <p:cNvSpPr txBox="1"/>
          <p:nvPr/>
        </p:nvSpPr>
        <p:spPr>
          <a:xfrm>
            <a:off x="6096000" y="1083349"/>
            <a:ext cx="4675141" cy="96992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要求从这个日志数据中提取出年、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月、</a:t>
            </a:r>
            <a:r>
              <a:rPr lang="zh-CN" altLang="en-US" sz="2000" noProof="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日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、时、分、秒，该如何操作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6250" y="2603114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169.237.46.168 - - [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26/Jan/2014:10:47:58 </a:t>
            </a:r>
            <a:endParaRPr lang="en-US" altLang="zh-CN" dirty="0"/>
          </a:p>
          <a:p>
            <a:r>
              <a:rPr lang="en-US" altLang="zh-CN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-0800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"GET /stat141/Winter04/ HTTP/1.1" 200 </a:t>
            </a:r>
            <a:endParaRPr lang="en-US" altLang="zh-CN" dirty="0"/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2585 "http://anson.ucdavis.edu/courses/"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690298"/>
            <a:ext cx="11239500" cy="222885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9546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为何需要正则表达式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16" name="Picture 2" descr="举个例子 的图像结果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9" t="6134" r="11965" b="29207"/>
          <a:stretch>
            <a:fillRect/>
          </a:stretch>
        </p:blipFill>
        <p:spPr bwMode="auto">
          <a:xfrm>
            <a:off x="1024933" y="1091734"/>
            <a:ext cx="2783496" cy="138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24"/>
          <p:cNvSpPr txBox="1"/>
          <p:nvPr/>
        </p:nvSpPr>
        <p:spPr>
          <a:xfrm>
            <a:off x="6096000" y="1083349"/>
            <a:ext cx="4675141" cy="97249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如果验证一个字符串是否是电子邮箱呢？</a:t>
            </a:r>
            <a:endParaRPr lang="en-US" altLang="zh-CN" sz="2000" noProof="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依然自己写规则判断吗？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6250" y="2396117"/>
            <a:ext cx="60944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Consolas" panose="020B0609020204030204" pitchFamily="49" charset="0"/>
                <a:hlinkClick r:id="rId2"/>
              </a:rPr>
              <a:t>34sdg4gfwr4</a:t>
            </a:r>
            <a:r>
              <a:rPr lang="en-US" altLang="zh-CN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2"/>
              </a:rPr>
              <a:t>@ruc.edu.cn</a:t>
            </a:r>
            <a:endParaRPr lang="en-US" altLang="zh-CN" sz="3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653564309@qq.com</a:t>
            </a:r>
            <a:endParaRPr lang="en-US" altLang="zh-CN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Consolas" panose="020B0609020204030204" pitchFamily="49" charset="0"/>
                <a:hlinkClick r:id="rId4"/>
              </a:rPr>
              <a:t>hehehe@gmail.com</a:t>
            </a:r>
            <a:endParaRPr lang="en-US" altLang="zh-CN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Consolas" panose="020B0609020204030204" pitchFamily="49" charset="0"/>
                <a:hlinkClick r:id="rId5"/>
              </a:rPr>
              <a:t>chigua@sina.cn</a:t>
            </a:r>
            <a:endParaRPr lang="en-US" altLang="zh-CN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Consolas" panose="020B0609020204030204" pitchFamily="49" charset="0"/>
                <a:hlinkClick r:id="rId6"/>
              </a:rPr>
              <a:t>34gdggfdgrtyhyr@163.com</a:t>
            </a:r>
            <a:endParaRPr lang="en-US" altLang="zh-CN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Consolas" panose="020B0609020204030204" pitchFamily="49" charset="0"/>
              </a:rPr>
              <a:t>... ...</a:t>
            </a:r>
          </a:p>
        </p:txBody>
      </p:sp>
      <p:pic>
        <p:nvPicPr>
          <p:cNvPr id="1026" name="Picture 2" descr="地铁老人看手机 的图像结果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916" y="2396117"/>
            <a:ext cx="3247225" cy="37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9546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为何需要正则表达式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9546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为何需要正则表达式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85" y="2395553"/>
            <a:ext cx="10896600" cy="92392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08085" y="1264707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169.237.46.168 - - [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26/Jan/2014:10:47:58 </a:t>
            </a:r>
            <a:endParaRPr lang="en-US" altLang="zh-CN" dirty="0"/>
          </a:p>
          <a:p>
            <a:r>
              <a:rPr lang="en-US" altLang="zh-CN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-0800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"GET /stat141/Winter04/ HTTP/1.1" 200 </a:t>
            </a:r>
            <a:endParaRPr lang="en-US" altLang="zh-CN" dirty="0"/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2585 "http://anson.ucdavis.edu/courses/" </a:t>
            </a:r>
            <a:endParaRPr lang="zh-CN" altLang="en-US" dirty="0"/>
          </a:p>
        </p:txBody>
      </p:sp>
      <p:pic>
        <p:nvPicPr>
          <p:cNvPr id="4100" name="Picture 4" descr="目瞪口呆 的图像结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575" y="3654802"/>
            <a:ext cx="2370112" cy="26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24"/>
          <p:cNvSpPr txBox="1"/>
          <p:nvPr/>
        </p:nvSpPr>
        <p:spPr>
          <a:xfrm>
            <a:off x="989814" y="3827415"/>
            <a:ext cx="6655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判断是否为邮箱的正则表达式是今天的思考题哦！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662205" y="4505919"/>
            <a:ext cx="4659757" cy="190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思考题</a:t>
            </a:r>
            <a:r>
              <a:rPr lang="en-US" altLang="zh-CN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zh-CN" altLang="en-US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判断是否是合法邮箱（格式正确即可，不管是否真的存在）</a:t>
            </a:r>
            <a:endParaRPr lang="en-US" altLang="zh-CN" b="0" i="0" dirty="0">
              <a:solidFill>
                <a:srgbClr val="4D4D4D"/>
              </a:solidFill>
              <a:effectLst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邮箱的规则为，输入的只能是字母、数字、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以及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五种， 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前后只能是字母或者数字，而且最后一个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后只能是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com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或者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cn</a:t>
            </a:r>
            <a:endParaRPr lang="en-US" altLang="zh-CN" sz="18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4"/>
            </a:endParaRPr>
          </a:p>
          <a:p>
            <a:endParaRPr lang="en-US" altLang="zh-CN" sz="18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45127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/>
          <p:cNvSpPr txBox="1"/>
          <p:nvPr/>
        </p:nvSpPr>
        <p:spPr>
          <a:xfrm rot="5400000">
            <a:off x="11275812" y="5566173"/>
            <a:ext cx="8274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DESIGH</a:t>
            </a:r>
          </a:p>
        </p:txBody>
      </p:sp>
      <p:sp>
        <p:nvSpPr>
          <p:cNvPr id="5" name="Oval 10"/>
          <p:cNvSpPr/>
          <p:nvPr/>
        </p:nvSpPr>
        <p:spPr>
          <a:xfrm>
            <a:off x="11509437" y="6316045"/>
            <a:ext cx="360219" cy="36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le: Hollow 14"/>
          <p:cNvSpPr/>
          <p:nvPr/>
        </p:nvSpPr>
        <p:spPr>
          <a:xfrm>
            <a:off x="11319163" y="-397083"/>
            <a:ext cx="1274614" cy="1274614"/>
          </a:xfrm>
          <a:prstGeom prst="donut">
            <a:avLst>
              <a:gd name="adj" fmla="val 158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9535753" y="2028443"/>
            <a:ext cx="1420996" cy="108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7200" b="1" i="1" dirty="0">
                <a:solidFill>
                  <a:schemeClr val="bg1">
                    <a:lumMod val="9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03</a:t>
            </a:r>
          </a:p>
        </p:txBody>
      </p:sp>
      <p:sp>
        <p:nvSpPr>
          <p:cNvPr id="9" name="TextBox 23"/>
          <p:cNvSpPr txBox="1"/>
          <p:nvPr/>
        </p:nvSpPr>
        <p:spPr>
          <a:xfrm>
            <a:off x="6407609" y="2397125"/>
            <a:ext cx="4549140" cy="368935"/>
          </a:xfrm>
          <a:prstGeom prst="rect">
            <a:avLst/>
          </a:prstGeom>
          <a:noFill/>
        </p:spPr>
        <p:txBody>
          <a:bodyPr wrap="square" lIns="91423" tIns="0" rIns="91423" bIns="0" rtlCol="0" anchor="t">
            <a:spAutoFit/>
          </a:bodyPr>
          <a:lstStyle/>
          <a:p>
            <a:r>
              <a:rPr lang="zh-CN" altLang="en-US" sz="2400" b="1" spc="6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正则表达式的写法</a:t>
            </a:r>
          </a:p>
        </p:txBody>
      </p:sp>
      <p:sp>
        <p:nvSpPr>
          <p:cNvPr id="11" name="TextBox 24"/>
          <p:cNvSpPr txBox="1"/>
          <p:nvPr/>
        </p:nvSpPr>
        <p:spPr>
          <a:xfrm>
            <a:off x="6426044" y="3730760"/>
            <a:ext cx="3730928" cy="137471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正则表达式主要用于查找、筛选、替换、检查格式等复杂操作。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本节通过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简单的教程来说明正则表达式的用法，让大家尽快掌握正则表达式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0" name="Rectangle 13"/>
          <p:cNvSpPr/>
          <p:nvPr/>
        </p:nvSpPr>
        <p:spPr>
          <a:xfrm flipV="1">
            <a:off x="6580910" y="3196246"/>
            <a:ext cx="4118513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16" name="TextBox 7"/>
          <p:cNvSpPr txBox="1"/>
          <p:nvPr/>
        </p:nvSpPr>
        <p:spPr>
          <a:xfrm>
            <a:off x="824640" y="1533051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首先重点介绍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pattern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charset="0"/>
              <a:ea typeface="Comic Sans MS" panose="030F0702030302020204" charset="0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824640" y="2328378"/>
            <a:ext cx="102801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pattern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即为正则表达式，可以是一个普通的字符串，也可以是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re.compile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(string)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生成的对象。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charset="0"/>
              <a:ea typeface="Comic Sans MS" panose="030F0702030302020204" charset="0"/>
            </a:endParaRPr>
          </a:p>
          <a:p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charset="0"/>
              <a:ea typeface="Comic Sans MS" panose="030F0702030302020204" charset="0"/>
            </a:endParaRPr>
          </a:p>
          <a:p>
            <a:pPr algn="l"/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当我们在</a:t>
            </a:r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Python</a:t>
            </a: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中使用正则表达式时，</a:t>
            </a:r>
            <a:r>
              <a:rPr lang="en-US" altLang="zh-CN" sz="2400" b="0" i="0" dirty="0">
                <a:solidFill>
                  <a:srgbClr val="4D4D4D"/>
                </a:solidFill>
                <a:effectLst/>
                <a:latin typeface="-apple-system"/>
              </a:rPr>
              <a:t>re</a:t>
            </a: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模块内部会干两件事情：</a:t>
            </a:r>
          </a:p>
          <a:p>
            <a:pPr lvl="1"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编译正则表达式，如果正则表达式的字符串本身不合法，会报错；</a:t>
            </a:r>
          </a:p>
          <a:p>
            <a:pPr lvl="1"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用编译后的正则表达式去匹配字符串。</a:t>
            </a:r>
            <a:endParaRPr lang="en-US" altLang="zh-CN" sz="24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lvl="1">
              <a:buFont typeface="+mj-lt"/>
              <a:buAutoNum type="arabicPeriod"/>
            </a:pPr>
            <a:endParaRPr lang="zh-CN" altLang="en-US" sz="24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所以如果调用次数较多时，建议提前编译好。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16" name="TextBox 7"/>
          <p:cNvSpPr txBox="1"/>
          <p:nvPr/>
        </p:nvSpPr>
        <p:spPr>
          <a:xfrm>
            <a:off x="885783" y="1118272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然后介绍正则表达式语法（此处进入正餐）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1688387"/>
            <a:ext cx="9991725" cy="46577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04" y="1659197"/>
            <a:ext cx="10001250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1852612"/>
            <a:ext cx="10001250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9" y="1393055"/>
            <a:ext cx="10020300" cy="4524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32367"/>
          <a:stretch>
            <a:fillRect/>
          </a:stretch>
        </p:blipFill>
        <p:spPr>
          <a:xfrm>
            <a:off x="5863471" y="1393055"/>
            <a:ext cx="5649242" cy="4524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181804" y="121521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正则表达式在线练习：</a:t>
            </a:r>
            <a:r>
              <a:rPr lang="zh-CN" altLang="en-US" dirty="0">
                <a:hlinkClick r:id="rId2"/>
              </a:rPr>
              <a:t>https://regex101.com/quiz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854697" y="1781666"/>
            <a:ext cx="104826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一些小思考：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匹配</a:t>
            </a:r>
            <a:r>
              <a:rPr lang="en-US" altLang="zh-CN" dirty="0"/>
              <a:t>moon, </a:t>
            </a:r>
            <a:r>
              <a:rPr lang="en-US" altLang="zh-CN" dirty="0" err="1"/>
              <a:t>moooon</a:t>
            </a:r>
            <a:r>
              <a:rPr lang="en-US" altLang="zh-CN" dirty="0"/>
              <a:t>, </a:t>
            </a:r>
            <a:r>
              <a:rPr lang="en-US" altLang="zh-CN" dirty="0" err="1"/>
              <a:t>moooooon</a:t>
            </a:r>
            <a:r>
              <a:rPr lang="zh-CN" altLang="en-US" dirty="0"/>
              <a:t>等，要求中间</a:t>
            </a:r>
            <a:r>
              <a:rPr lang="en-US" altLang="zh-CN" dirty="0"/>
              <a:t>o</a:t>
            </a:r>
            <a:r>
              <a:rPr lang="zh-CN" altLang="en-US" dirty="0"/>
              <a:t>为正偶数个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匹配</a:t>
            </a:r>
            <a:r>
              <a:rPr lang="en-US" altLang="zh-CN" dirty="0"/>
              <a:t>moon, </a:t>
            </a:r>
            <a:r>
              <a:rPr lang="en-US" altLang="zh-CN" dirty="0" err="1"/>
              <a:t>muun</a:t>
            </a:r>
            <a:r>
              <a:rPr lang="en-US" altLang="zh-CN" dirty="0"/>
              <a:t>, </a:t>
            </a:r>
            <a:r>
              <a:rPr lang="en-US" altLang="zh-CN" dirty="0" err="1"/>
              <a:t>moooon</a:t>
            </a:r>
            <a:r>
              <a:rPr lang="en-US" altLang="zh-CN" dirty="0"/>
              <a:t>, </a:t>
            </a:r>
            <a:r>
              <a:rPr lang="en-US" altLang="zh-CN" dirty="0" err="1"/>
              <a:t>muuuun</a:t>
            </a:r>
            <a:r>
              <a:rPr lang="zh-CN" altLang="en-US" dirty="0"/>
              <a:t>，要求中间可以为正偶数个连续的</a:t>
            </a:r>
            <a:r>
              <a:rPr lang="en-US" altLang="zh-CN" dirty="0"/>
              <a:t>o</a:t>
            </a:r>
            <a:r>
              <a:rPr lang="zh-CN" altLang="en-US" dirty="0"/>
              <a:t>或</a:t>
            </a:r>
            <a:r>
              <a:rPr lang="en-US" altLang="zh-CN" dirty="0"/>
              <a:t>u</a:t>
            </a:r>
          </a:p>
          <a:p>
            <a:pPr marL="342900" indent="-342900">
              <a:buAutoNum type="arabicPeriod"/>
            </a:pP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题要扩展为也可以匹配</a:t>
            </a:r>
            <a:r>
              <a:rPr lang="en-US" altLang="zh-CN" dirty="0" err="1"/>
              <a:t>moouuuuoouun</a:t>
            </a:r>
            <a:r>
              <a:rPr lang="zh-CN" altLang="en-US" dirty="0"/>
              <a:t>等，即可以</a:t>
            </a:r>
            <a:r>
              <a:rPr lang="en-US" altLang="zh-CN" dirty="0"/>
              <a:t>o</a:t>
            </a:r>
            <a:r>
              <a:rPr lang="zh-CN" altLang="en-US" dirty="0"/>
              <a:t>或</a:t>
            </a:r>
            <a:r>
              <a:rPr lang="en-US" altLang="zh-CN" dirty="0"/>
              <a:t>u</a:t>
            </a:r>
            <a:r>
              <a:rPr lang="zh-CN" altLang="en-US" dirty="0"/>
              <a:t>穿插，但连续的部分必须为偶数</a:t>
            </a:r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zh-CN" altLang="en-US" dirty="0"/>
              <a:t>匹配</a:t>
            </a:r>
            <a:r>
              <a:rPr lang="en-US" altLang="zh-CN" dirty="0"/>
              <a:t>11</a:t>
            </a:r>
            <a:r>
              <a:rPr lang="zh-CN" altLang="en-US" dirty="0"/>
              <a:t>位手机号，规律为第一位一定是</a:t>
            </a:r>
            <a:r>
              <a:rPr lang="en-US" altLang="zh-CN" dirty="0"/>
              <a:t>1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匹配</a:t>
            </a:r>
            <a:r>
              <a:rPr lang="en-US" altLang="zh-CN" dirty="0" err="1"/>
              <a:t>ip</a:t>
            </a:r>
            <a:r>
              <a:rPr lang="zh-CN" altLang="en-US" dirty="0"/>
              <a:t>地址，分为四节，每节最少</a:t>
            </a:r>
            <a:r>
              <a:rPr lang="en-US" altLang="zh-CN" dirty="0"/>
              <a:t>1</a:t>
            </a:r>
            <a:r>
              <a:rPr lang="zh-CN" altLang="en-US" dirty="0"/>
              <a:t>位数，最多三位数，形如</a:t>
            </a:r>
            <a:r>
              <a:rPr lang="en-US" altLang="zh-CN" dirty="0"/>
              <a:t>110.242.68.4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181804" y="121521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正则表达式在线练习：</a:t>
            </a:r>
            <a:r>
              <a:rPr lang="zh-CN" altLang="en-US" dirty="0">
                <a:hlinkClick r:id="rId2"/>
              </a:rPr>
              <a:t>https://regex101.com/quiz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0" name="TextBox 24"/>
          <p:cNvSpPr txBox="1"/>
          <p:nvPr/>
        </p:nvSpPr>
        <p:spPr>
          <a:xfrm>
            <a:off x="1181804" y="1701794"/>
            <a:ext cx="4675141" cy="507619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lvl="0" defTabSz="1217930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一些小思考：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1.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匹配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moon,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moooon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moooooon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等，要求中间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o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为正偶数个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2.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匹配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moon,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muun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moooon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muuuun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，要求中间可以为正偶数个连续的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o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或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u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3.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第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2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题要扩展为也可以匹配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moouuuuoouun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等，即可以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o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或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u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穿插，但连续的部分必须为偶数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4.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匹配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11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位手机号，规律为第一位一定是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1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5.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匹配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ip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地址，分为四节，每节最少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1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位数，最多三位数，形如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110.242.68.4</a:t>
            </a:r>
          </a:p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mbria" panose="02040503050406030204" charset="0"/>
              <a:ea typeface="Comic Sans MS" panose="030F0702030302020204" charset="0"/>
              <a:cs typeface="Cambria" panose="02040503050406030204" charset="0"/>
              <a:sym typeface="FZHei-B01S" panose="02010601030101010101" pitchFamily="2" charset="-122"/>
            </a:endParaRPr>
          </a:p>
        </p:txBody>
      </p:sp>
      <p:sp>
        <p:nvSpPr>
          <p:cNvPr id="11" name="TextBox 24"/>
          <p:cNvSpPr txBox="1"/>
          <p:nvPr/>
        </p:nvSpPr>
        <p:spPr>
          <a:xfrm>
            <a:off x="6120465" y="1701795"/>
            <a:ext cx="5832723" cy="378333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lvl="0" defTabSz="121793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答案：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1. m(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oo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)+n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2. m((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oo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)+|(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uu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)+)n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3. m((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oo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)+|(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uu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)+)+n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4. 1\d{10}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或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1[0-9]{10}</a:t>
            </a:r>
          </a:p>
          <a:p>
            <a:pPr lvl="0" defTabSz="121793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ea typeface="Comic Sans MS" panose="030F0702030302020204" charset="0"/>
                <a:cs typeface="Cambria" panose="02040503050406030204" charset="0"/>
                <a:sym typeface="FZHei-B01S" panose="02010601030101010101" pitchFamily="2" charset="-122"/>
              </a:rPr>
              <a:t>5. (\d{1,3}\.){3}\d{1,3}</a:t>
            </a:r>
          </a:p>
          <a:p>
            <a:pPr lvl="0" defTabSz="1217930">
              <a:lnSpc>
                <a:spcPct val="150000"/>
              </a:lnSpc>
              <a:defRPr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ambria" panose="02040503050406030204" charset="0"/>
              <a:ea typeface="Comic Sans MS" panose="030F0702030302020204" charset="0"/>
              <a:cs typeface="Cambria" panose="02040503050406030204" charset="0"/>
              <a:sym typeface="FZHei-B01S" panose="02010601030101010101" pitchFamily="2" charset="-122"/>
            </a:endParaRPr>
          </a:p>
          <a:p>
            <a:pPr lvl="0" defTabSz="1217930">
              <a:lnSpc>
                <a:spcPct val="150000"/>
              </a:lnSpc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mbria" panose="02040503050406030204" charset="0"/>
              <a:ea typeface="Comic Sans MS" panose="030F0702030302020204" charset="0"/>
              <a:cs typeface="Cambria" panose="02040503050406030204" charset="0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0"/>
          <p:cNvSpPr/>
          <p:nvPr/>
        </p:nvSpPr>
        <p:spPr>
          <a:xfrm>
            <a:off x="4090697" y="2146621"/>
            <a:ext cx="1687416" cy="152272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+mj-lt"/>
            </a:endParaRPr>
          </a:p>
        </p:txBody>
      </p:sp>
      <p:sp>
        <p:nvSpPr>
          <p:cNvPr id="3" name="Rounded Rectangle 37"/>
          <p:cNvSpPr/>
          <p:nvPr/>
        </p:nvSpPr>
        <p:spPr>
          <a:xfrm>
            <a:off x="1767507" y="2146621"/>
            <a:ext cx="1687416" cy="152272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+mj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67507" y="2406751"/>
            <a:ext cx="1609601" cy="1041948"/>
            <a:chOff x="1303308" y="2623111"/>
            <a:chExt cx="1609601" cy="1041948"/>
          </a:xfrm>
        </p:grpSpPr>
        <p:sp>
          <p:nvSpPr>
            <p:cNvPr id="5" name="TextBox 4"/>
            <p:cNvSpPr txBox="1"/>
            <p:nvPr/>
          </p:nvSpPr>
          <p:spPr>
            <a:xfrm>
              <a:off x="1303308" y="2623111"/>
              <a:ext cx="1609601" cy="70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935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match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367493" y="3364015"/>
              <a:ext cx="1531786" cy="3010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265"/>
                </a:lnSpc>
              </a:pPr>
              <a:r>
                <a:rPr lang="zh-CN" altLang="en-US" sz="2400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检查格式</a:t>
              </a:r>
              <a:endParaRPr lang="en-US" sz="2400" dirty="0"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77301" y="2406751"/>
            <a:ext cx="1700812" cy="1041948"/>
            <a:chOff x="3302206" y="2623111"/>
            <a:chExt cx="1700812" cy="1041948"/>
          </a:xfrm>
        </p:grpSpPr>
        <p:sp>
          <p:nvSpPr>
            <p:cNvPr id="8" name="TextBox 7"/>
            <p:cNvSpPr txBox="1"/>
            <p:nvPr/>
          </p:nvSpPr>
          <p:spPr>
            <a:xfrm>
              <a:off x="3611190" y="2623111"/>
              <a:ext cx="1096241" cy="70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935" dirty="0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sub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302206" y="3364015"/>
              <a:ext cx="1700812" cy="3010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265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替换子串</a:t>
              </a:r>
              <a:endParaRPr lang="en-US" sz="2400" dirty="0">
                <a:solidFill>
                  <a:schemeClr val="bg1"/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sp>
        <p:nvSpPr>
          <p:cNvPr id="10" name="Rounded Rectangle 40"/>
          <p:cNvSpPr/>
          <p:nvPr/>
        </p:nvSpPr>
        <p:spPr>
          <a:xfrm>
            <a:off x="8737077" y="2146621"/>
            <a:ext cx="1687416" cy="152272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+mj-lt"/>
            </a:endParaRPr>
          </a:p>
        </p:txBody>
      </p:sp>
      <p:sp>
        <p:nvSpPr>
          <p:cNvPr id="11" name="Rounded Rectangle 37"/>
          <p:cNvSpPr/>
          <p:nvPr/>
        </p:nvSpPr>
        <p:spPr>
          <a:xfrm>
            <a:off x="6413887" y="2146621"/>
            <a:ext cx="1687416" cy="152272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+mj-lt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240544" y="2406751"/>
            <a:ext cx="2000717" cy="1041948"/>
            <a:chOff x="1129965" y="2623111"/>
            <a:chExt cx="2000717" cy="1041948"/>
          </a:xfrm>
        </p:grpSpPr>
        <p:sp>
          <p:nvSpPr>
            <p:cNvPr id="13" name="TextBox 12"/>
            <p:cNvSpPr txBox="1"/>
            <p:nvPr/>
          </p:nvSpPr>
          <p:spPr>
            <a:xfrm>
              <a:off x="1129965" y="2623111"/>
              <a:ext cx="2000717" cy="70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935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search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81123" y="3364015"/>
              <a:ext cx="1531786" cy="3010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265"/>
                </a:lnSpc>
              </a:pPr>
              <a:r>
                <a:rPr lang="zh-CN" altLang="en-US" sz="2400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查找位置</a:t>
              </a:r>
              <a:endParaRPr lang="en-US" sz="2400" dirty="0"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703692" y="2406751"/>
            <a:ext cx="1720801" cy="1045026"/>
            <a:chOff x="3282217" y="2623111"/>
            <a:chExt cx="1720801" cy="1045026"/>
          </a:xfrm>
        </p:grpSpPr>
        <p:sp>
          <p:nvSpPr>
            <p:cNvPr id="16" name="TextBox 15"/>
            <p:cNvSpPr txBox="1"/>
            <p:nvPr/>
          </p:nvSpPr>
          <p:spPr>
            <a:xfrm>
              <a:off x="3282217" y="2623111"/>
              <a:ext cx="1720801" cy="70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935" dirty="0" err="1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findall</a:t>
              </a:r>
              <a:endParaRPr lang="en-US" sz="2935" dirty="0">
                <a:solidFill>
                  <a:schemeClr val="bg1"/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  <a:cs typeface="Roboto Black" panose="020000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407047" y="3364015"/>
              <a:ext cx="1531786" cy="304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265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找到全部</a:t>
              </a:r>
              <a:endParaRPr lang="en-US" sz="2400" dirty="0">
                <a:solidFill>
                  <a:schemeClr val="bg1"/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sp>
        <p:nvSpPr>
          <p:cNvPr id="18" name="TextBox 7"/>
          <p:cNvSpPr txBox="1"/>
          <p:nvPr/>
        </p:nvSpPr>
        <p:spPr>
          <a:xfrm>
            <a:off x="2436192" y="1360789"/>
            <a:ext cx="7319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此处只讲解最常用的函数、参数和功能</a:t>
            </a:r>
          </a:p>
        </p:txBody>
      </p:sp>
      <p:sp>
        <p:nvSpPr>
          <p:cNvPr id="19" name="Google Shape;86;p19"/>
          <p:cNvSpPr txBox="1"/>
          <p:nvPr/>
        </p:nvSpPr>
        <p:spPr>
          <a:xfrm>
            <a:off x="4526303" y="926519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cs typeface="Lato"/>
                <a:sym typeface="Lato"/>
              </a:rPr>
              <a:t>最常用的四个函数</a:t>
            </a:r>
            <a:endParaRPr sz="2400" b="0" i="0" u="none" strike="noStrike" cap="none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cs typeface="Lato"/>
              <a:sym typeface="Lato"/>
            </a:endParaRPr>
          </a:p>
        </p:txBody>
      </p:sp>
      <p:sp>
        <p:nvSpPr>
          <p:cNvPr id="20" name="TextBox 24"/>
          <p:cNvSpPr txBox="1"/>
          <p:nvPr/>
        </p:nvSpPr>
        <p:spPr>
          <a:xfrm>
            <a:off x="1988181" y="3936589"/>
            <a:ext cx="8748949" cy="2308308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lvl="0" defTabSz="1217930"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用法：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342900" lvl="0" indent="-342900" defTabSz="1217930"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re.match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string)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，从字符串开头进行匹配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342900" lvl="0" indent="-342900" defTabSz="1217930"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re.sub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repl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, string)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repl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为替换的字符串，也可为一个函数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342900" lvl="0" indent="-342900" defTabSz="1217930"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re.search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string)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，可以在字符串任何位置匹配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342900" lvl="0" indent="-342900" defTabSz="1217930"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re.findall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string)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，找到所有满足匹配条件的子串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</p:txBody>
      </p:sp>
      <p:grpSp>
        <p:nvGrpSpPr>
          <p:cNvPr id="21" name="Group 8"/>
          <p:cNvGrpSpPr/>
          <p:nvPr/>
        </p:nvGrpSpPr>
        <p:grpSpPr>
          <a:xfrm>
            <a:off x="0" y="594791"/>
            <a:ext cx="12192000" cy="6263209"/>
            <a:chOff x="0" y="594791"/>
            <a:chExt cx="12192000" cy="6263209"/>
          </a:xfrm>
        </p:grpSpPr>
        <p:sp>
          <p:nvSpPr>
            <p:cNvPr id="2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3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24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60779"/>
            <a:ext cx="12192000" cy="6263209"/>
            <a:chOff x="0" y="594791"/>
            <a:chExt cx="12192000" cy="6263209"/>
          </a:xfrm>
        </p:grpSpPr>
        <p:sp>
          <p:nvSpPr>
            <p:cNvPr id="13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15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9" name="TextBox 24"/>
          <p:cNvSpPr txBox="1"/>
          <p:nvPr/>
        </p:nvSpPr>
        <p:spPr>
          <a:xfrm>
            <a:off x="1102061" y="1259377"/>
            <a:ext cx="4572875" cy="4216523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lvl="0" defTabSz="1217930">
              <a:defRPr/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匹配对象方法：</a:t>
            </a:r>
            <a:endParaRPr lang="en-US" altLang="zh-CN" sz="28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342900" lvl="0" indent="-342900" defTabSz="1217930"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span():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返回匹配的范围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(start, end)</a:t>
            </a:r>
          </a:p>
          <a:p>
            <a:pPr marL="342900" lvl="0" indent="-342900" defTabSz="1217930"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group(num):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在正则表达式中用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可以分组，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group()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可以一次输入多个组号，在这种情况下它将返回一个包含那些组所对应值的元组。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342900" lvl="0" indent="-342900" defTabSz="1217930"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groups():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返回一个包含所有小组字符串的元组，从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1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到 所含的小组号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521" y="1009822"/>
            <a:ext cx="5619750" cy="4791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8"/>
          <p:cNvGrpSpPr/>
          <p:nvPr/>
        </p:nvGrpSpPr>
        <p:grpSpPr>
          <a:xfrm>
            <a:off x="0" y="594791"/>
            <a:ext cx="12192000" cy="6263209"/>
            <a:chOff x="0" y="594791"/>
            <a:chExt cx="12192000" cy="6263209"/>
          </a:xfrm>
        </p:grpSpPr>
        <p:sp>
          <p:nvSpPr>
            <p:cNvPr id="2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3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24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4" y="1305464"/>
            <a:ext cx="3971925" cy="14001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057" y="1305464"/>
            <a:ext cx="5476875" cy="11049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4"/>
          <a:srcRect r="2377"/>
          <a:stretch>
            <a:fillRect/>
          </a:stretch>
        </p:blipFill>
        <p:spPr>
          <a:xfrm>
            <a:off x="5290057" y="2609752"/>
            <a:ext cx="5476875" cy="34861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5"/>
          <a:srcRect r="17098"/>
          <a:stretch>
            <a:fillRect/>
          </a:stretch>
        </p:blipFill>
        <p:spPr>
          <a:xfrm>
            <a:off x="719523" y="2981545"/>
            <a:ext cx="3971925" cy="14478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6"/>
          <a:srcRect r="4577"/>
          <a:stretch>
            <a:fillRect/>
          </a:stretch>
        </p:blipFill>
        <p:spPr>
          <a:xfrm>
            <a:off x="719523" y="4705252"/>
            <a:ext cx="3971925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8"/>
          <p:cNvGrpSpPr/>
          <p:nvPr/>
        </p:nvGrpSpPr>
        <p:grpSpPr>
          <a:xfrm>
            <a:off x="0" y="594791"/>
            <a:ext cx="12192000" cy="6263209"/>
            <a:chOff x="0" y="594791"/>
            <a:chExt cx="12192000" cy="6263209"/>
          </a:xfrm>
        </p:grpSpPr>
        <p:sp>
          <p:nvSpPr>
            <p:cNvPr id="22" name="矩形: 圆角 6"/>
            <p:cNvSpPr/>
            <p:nvPr/>
          </p:nvSpPr>
          <p:spPr>
            <a:xfrm rot="2700000">
              <a:off x="600435" y="661538"/>
              <a:ext cx="238178" cy="23207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3" name="Rectangle 10"/>
            <p:cNvSpPr/>
            <p:nvPr/>
          </p:nvSpPr>
          <p:spPr>
            <a:xfrm>
              <a:off x="1181804" y="594791"/>
              <a:ext cx="26468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kern="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charset="0"/>
                  <a:ea typeface="思源黑体" panose="020B0500000000000000" pitchFamily="34" charset="-122"/>
                  <a:sym typeface="思源黑体" panose="020B0500000000000000" pitchFamily="34" charset="-122"/>
                </a:rPr>
                <a:t>正则表达式的写法</a:t>
              </a:r>
            </a:p>
          </p:txBody>
        </p:sp>
        <p:sp>
          <p:nvSpPr>
            <p:cNvPr id="24" name="Rectangle 6"/>
            <p:cNvSpPr/>
            <p:nvPr/>
          </p:nvSpPr>
          <p:spPr>
            <a:xfrm>
              <a:off x="0" y="6525480"/>
              <a:ext cx="12192000" cy="332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4" y="1305464"/>
            <a:ext cx="3971925" cy="14001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057" y="1305464"/>
            <a:ext cx="5476875" cy="11049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4"/>
          <a:srcRect r="2377"/>
          <a:stretch>
            <a:fillRect/>
          </a:stretch>
        </p:blipFill>
        <p:spPr>
          <a:xfrm>
            <a:off x="5290057" y="2609752"/>
            <a:ext cx="5476875" cy="34861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5"/>
          <a:srcRect r="17098"/>
          <a:stretch>
            <a:fillRect/>
          </a:stretch>
        </p:blipFill>
        <p:spPr>
          <a:xfrm>
            <a:off x="719523" y="2981545"/>
            <a:ext cx="3971925" cy="14478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6"/>
          <a:srcRect r="4577"/>
          <a:stretch>
            <a:fillRect/>
          </a:stretch>
        </p:blipFill>
        <p:spPr>
          <a:xfrm>
            <a:off x="719523" y="4705252"/>
            <a:ext cx="3971925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45127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/>
          <p:cNvSpPr txBox="1"/>
          <p:nvPr/>
        </p:nvSpPr>
        <p:spPr>
          <a:xfrm rot="5400000">
            <a:off x="11275812" y="5566173"/>
            <a:ext cx="8274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DESIGH</a:t>
            </a:r>
          </a:p>
        </p:txBody>
      </p:sp>
      <p:sp>
        <p:nvSpPr>
          <p:cNvPr id="5" name="Oval 10"/>
          <p:cNvSpPr/>
          <p:nvPr/>
        </p:nvSpPr>
        <p:spPr>
          <a:xfrm>
            <a:off x="11509437" y="6316045"/>
            <a:ext cx="360219" cy="36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/>
          <p:cNvSpPr/>
          <p:nvPr/>
        </p:nvSpPr>
        <p:spPr>
          <a:xfrm flipV="1">
            <a:off x="6580910" y="3196246"/>
            <a:ext cx="4118513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le: Hollow 14"/>
          <p:cNvSpPr/>
          <p:nvPr/>
        </p:nvSpPr>
        <p:spPr>
          <a:xfrm>
            <a:off x="11319163" y="-397083"/>
            <a:ext cx="1274614" cy="1274614"/>
          </a:xfrm>
          <a:prstGeom prst="donut">
            <a:avLst>
              <a:gd name="adj" fmla="val 158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9535753" y="2028443"/>
            <a:ext cx="1420996" cy="108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7200" b="1" i="1" dirty="0">
                <a:solidFill>
                  <a:schemeClr val="bg1">
                    <a:lumMod val="95000"/>
                  </a:schemeClr>
                </a:solidFill>
                <a:latin typeface="Comic Sans MS" panose="030F0702030302020204" charset="0"/>
                <a:ea typeface="Comic Sans MS" panose="030F0702030302020204" charset="0"/>
              </a:rPr>
              <a:t>04</a:t>
            </a:r>
          </a:p>
        </p:txBody>
      </p:sp>
      <p:sp>
        <p:nvSpPr>
          <p:cNvPr id="9" name="TextBox 23"/>
          <p:cNvSpPr txBox="1"/>
          <p:nvPr/>
        </p:nvSpPr>
        <p:spPr>
          <a:xfrm>
            <a:off x="6407609" y="2397125"/>
            <a:ext cx="4549140" cy="369332"/>
          </a:xfrm>
          <a:prstGeom prst="rect">
            <a:avLst/>
          </a:prstGeom>
          <a:noFill/>
        </p:spPr>
        <p:txBody>
          <a:bodyPr wrap="square" lIns="91423" tIns="0" rIns="91423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Comic Sans MS" panose="030F0702030302020204" charset="0"/>
                <a:sym typeface="+mn-ea"/>
              </a:rPr>
              <a:t>正则表达式的小练习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11" name="TextBox 24"/>
          <p:cNvSpPr txBox="1"/>
          <p:nvPr/>
        </p:nvSpPr>
        <p:spPr>
          <a:xfrm>
            <a:off x="6426044" y="3730760"/>
            <a:ext cx="3730928" cy="197193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FZHei-B01S" panose="02010601030101010101" pitchFamily="2" charset="-122"/>
              </a:rPr>
              <a:t>只有两个非常简单的练习哦！！！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  <a:p>
            <a:pPr lvl="0" defTabSz="1217930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第一个练习比较综合，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lvl="0" defTabSz="1217930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第二个练习比较实用，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lvl="0" defTabSz="1217930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大家自行练习即可，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lvl="0" defTabSz="1217930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之后我会在群里公布答案</a:t>
            </a:r>
          </a:p>
        </p:txBody>
      </p:sp>
      <p:pic>
        <p:nvPicPr>
          <p:cNvPr id="18438" name="Picture 6" descr="查看源图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019" y="2397125"/>
            <a:ext cx="3352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5400000">
            <a:off x="-346364" y="346363"/>
            <a:ext cx="1357745" cy="665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文本框 9"/>
          <p:cNvSpPr txBox="1"/>
          <p:nvPr/>
        </p:nvSpPr>
        <p:spPr>
          <a:xfrm>
            <a:off x="836070" y="347122"/>
            <a:ext cx="4659757" cy="190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思考题</a:t>
            </a:r>
            <a:r>
              <a:rPr lang="en-US" altLang="zh-CN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zh-CN" altLang="en-US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判断是否是合法邮箱（格式正确即可，不管是否真的存在）</a:t>
            </a:r>
            <a:endParaRPr lang="en-US" altLang="zh-CN" b="0" i="0" dirty="0">
              <a:solidFill>
                <a:srgbClr val="4D4D4D"/>
              </a:solidFill>
              <a:effectLst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邮箱的规则为，输入的只能是字母、数字、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以及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五种， 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前后只能是字母或者数字，而且最后一个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后只能是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com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或者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cn</a:t>
            </a:r>
            <a:endParaRPr lang="en-US" altLang="zh-CN" sz="18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endParaRPr lang="en-US" altLang="zh-CN" sz="18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6070" y="2857776"/>
            <a:ext cx="360266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2"/>
              </a:rPr>
              <a:t>34sdg4gfwr4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2"/>
              </a:rPr>
              <a:t>@ruc.edu.cn</a:t>
            </a: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653564309@qq.com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hlinkClick r:id="rId4"/>
              </a:rPr>
              <a:t>wdddangghwz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4"/>
              </a:rPr>
              <a:t>@.com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10.44.75.123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5"/>
              </a:rPr>
              <a:t>Trer.fsew@sdcs.com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6"/>
              </a:rPr>
              <a:t>hehehe@gmail.com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7"/>
              </a:rPr>
              <a:t>Sfw$$$dfgdg@126.com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hlinkClick r:id="rId8"/>
              </a:rPr>
              <a:t>ghhhh@gmail.ussr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9"/>
              </a:rPr>
              <a:t>Chigua@sina.cn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hlinkClick r:id="rId10"/>
              </a:rPr>
              <a:t>34gdggfdgrtyhyr@163.com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61484" y="414211"/>
            <a:ext cx="5414800" cy="301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思考题</a:t>
            </a:r>
            <a:r>
              <a:rPr lang="en-US" altLang="zh-CN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</a:t>
            </a:r>
            <a:r>
              <a:rPr lang="zh-CN" altLang="en-US" sz="280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抽取人民日报某天某版的要闻</a:t>
            </a:r>
            <a:r>
              <a:rPr lang="zh-CN" altLang="en-US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标题：</a:t>
            </a:r>
            <a:r>
              <a:rPr lang="en-US" altLang="zh-CN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1"/>
              </a:rPr>
              <a:t>http://paper.people.com.cn/rmrb/html/2021-03/25/nbs.D110000renmrb_01.htm</a:t>
            </a:r>
            <a:endParaRPr lang="en-US" altLang="zh-CN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zh-CN" altLang="en-US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源码链接：</a:t>
            </a:r>
            <a:endParaRPr lang="en-US" altLang="zh-CN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dirty="0" err="1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view-source:http</a:t>
            </a:r>
            <a:r>
              <a:rPr lang="en-US" altLang="zh-CN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://paper.people.com.cn/</a:t>
            </a:r>
            <a:r>
              <a:rPr lang="en-US" altLang="zh-CN" dirty="0" err="1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rmrb</a:t>
            </a:r>
            <a:r>
              <a:rPr lang="en-US" altLang="zh-CN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/html/2021-03/25/nbs.D110000renmrb_01.htm</a:t>
            </a:r>
          </a:p>
          <a:p>
            <a:endParaRPr lang="en-US" altLang="zh-CN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en-US" altLang="zh-CN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en-US" altLang="zh-CN" b="0" i="0" dirty="0">
              <a:solidFill>
                <a:srgbClr val="4D4D4D"/>
              </a:solidFill>
              <a:effectLst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2"/>
          <a:srcRect l="11999" r="10417"/>
          <a:stretch>
            <a:fillRect/>
          </a:stretch>
        </p:blipFill>
        <p:spPr>
          <a:xfrm>
            <a:off x="5613699" y="2857776"/>
            <a:ext cx="6162585" cy="390124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6"/>
          <p:cNvSpPr/>
          <p:nvPr/>
        </p:nvSpPr>
        <p:spPr>
          <a:xfrm rot="2700000">
            <a:off x="4718985" y="-359875"/>
            <a:ext cx="7511244" cy="7318723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4" name="矩形: 圆角 6"/>
          <p:cNvSpPr/>
          <p:nvPr/>
        </p:nvSpPr>
        <p:spPr>
          <a:xfrm rot="2700000">
            <a:off x="-2804729" y="566645"/>
            <a:ext cx="5609457" cy="546568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5" name="Rounded Rectangle 8"/>
          <p:cNvSpPr/>
          <p:nvPr/>
        </p:nvSpPr>
        <p:spPr>
          <a:xfrm>
            <a:off x="1300112" y="1748777"/>
            <a:ext cx="3933536" cy="3591451"/>
          </a:xfrm>
          <a:prstGeom prst="roundRect">
            <a:avLst>
              <a:gd name="adj" fmla="val 3093"/>
            </a:avLst>
          </a:prstGeom>
          <a:blipFill>
            <a:blip r:embed="rId4"/>
            <a:srcRect/>
            <a:stretch>
              <a:fillRect l="-18477" r="-18477"/>
            </a:stretch>
          </a:blip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36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6" name="PA-矩形 3"/>
          <p:cNvSpPr/>
          <p:nvPr>
            <p:custDataLst>
              <p:tags r:id="rId1"/>
            </p:custDataLst>
          </p:nvPr>
        </p:nvSpPr>
        <p:spPr>
          <a:xfrm>
            <a:off x="5846961" y="1855212"/>
            <a:ext cx="484491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ngLiU_HKSCS-ExtB" panose="02020500000000000000" charset="-120"/>
                <a:ea typeface="MingLiU_HKSCS-ExtB" panose="02020500000000000000" charset="-120"/>
                <a:cs typeface="+mn-ea"/>
                <a:sym typeface="思源黑体" panose="020B0500000000000000" pitchFamily="34" charset="-122"/>
              </a:rPr>
              <a:t>上机愉快</a:t>
            </a:r>
            <a:endParaRPr lang="en-US" altLang="zh-CN" sz="6600" b="1" dirty="0">
              <a:solidFill>
                <a:schemeClr val="tx1">
                  <a:lumMod val="75000"/>
                  <a:lumOff val="25000"/>
                </a:schemeClr>
              </a:solidFill>
              <a:latin typeface="MingLiU_HKSCS-ExtB" panose="02020500000000000000" charset="-120"/>
              <a:ea typeface="MingLiU_HKSCS-ExtB" panose="02020500000000000000" charset="-120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7" name="PA-文本框 6"/>
          <p:cNvSpPr txBox="1"/>
          <p:nvPr>
            <p:custDataLst>
              <p:tags r:id="rId2"/>
            </p:custDataLst>
          </p:nvPr>
        </p:nvSpPr>
        <p:spPr>
          <a:xfrm>
            <a:off x="5931939" y="2963357"/>
            <a:ext cx="5929119" cy="584775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3200" dirty="0">
                <a:solidFill>
                  <a:schemeClr val="accen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3Q for your listening!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9" name="矩形: 圆角 6"/>
          <p:cNvSpPr/>
          <p:nvPr/>
        </p:nvSpPr>
        <p:spPr>
          <a:xfrm>
            <a:off x="5964160" y="4125926"/>
            <a:ext cx="2868555" cy="792125"/>
          </a:xfrm>
          <a:prstGeom prst="roundRect">
            <a:avLst/>
          </a:prstGeom>
          <a:solidFill>
            <a:schemeClr val="accent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数据科学导论课程组</a:t>
            </a:r>
            <a:endParaRPr lang="zh-CN" altLang="en-GB" sz="20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0" name="矩形: 圆角 6"/>
          <p:cNvSpPr/>
          <p:nvPr/>
        </p:nvSpPr>
        <p:spPr>
          <a:xfrm rot="2700000">
            <a:off x="10719226" y="-602045"/>
            <a:ext cx="2027189" cy="197523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7" grpId="0" animBg="1"/>
      <p:bldP spid="9" grpId="0" animBg="1"/>
      <p:bldP spid="1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1"/>
</p:tagLst>
</file>

<file path=ppt/theme/theme1.xml><?xml version="1.0" encoding="utf-8"?>
<a:theme xmlns:a="http://schemas.openxmlformats.org/drawingml/2006/main" name="Office 主题​​">
  <a:themeElements>
    <a:clrScheme name="自定义 4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14457"/>
      </a:accent1>
      <a:accent2>
        <a:srgbClr val="48637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14457"/>
      </a:accent1>
      <a:accent2>
        <a:srgbClr val="48637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1051</Words>
  <Application>Microsoft Macintosh PowerPoint</Application>
  <PresentationFormat>Widescreen</PresentationFormat>
  <Paragraphs>144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6" baseType="lpstr">
      <vt:lpstr>-apple-system</vt:lpstr>
      <vt:lpstr>Calibri</vt:lpstr>
      <vt:lpstr>Cambria</vt:lpstr>
      <vt:lpstr>Comic Sans MS</vt:lpstr>
      <vt:lpstr>Consolas</vt:lpstr>
      <vt:lpstr>FZHei-B01S</vt:lpstr>
      <vt:lpstr>Lato</vt:lpstr>
      <vt:lpstr>MingLiU_HKSCS-ExtB</vt:lpstr>
      <vt:lpstr>Roboto Black</vt:lpstr>
      <vt:lpstr>Roboto Medium</vt:lpstr>
      <vt:lpstr>Source Han Sans HC</vt:lpstr>
      <vt:lpstr>宋体</vt:lpstr>
      <vt:lpstr>思源黑体</vt:lpstr>
      <vt:lpstr>思源黑体 CN Normal</vt:lpstr>
      <vt:lpstr>等线</vt:lpstr>
      <vt:lpstr>等线 Light</vt:lpstr>
      <vt:lpstr>Arial</vt:lpstr>
      <vt:lpstr>Office 主题​​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Administrater</dc:creator>
  <cp:lastModifiedBy>范 举</cp:lastModifiedBy>
  <cp:revision>39</cp:revision>
  <dcterms:created xsi:type="dcterms:W3CDTF">2019-09-29T09:08:00Z</dcterms:created>
  <dcterms:modified xsi:type="dcterms:W3CDTF">2025-10-17T01:34:26Z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KSOTemplateUUID">
    <vt:lpwstr>v1.0_mb_i8acGVeq2ly73e2PUZJpvw==</vt:lpwstr>
  </property>
  <property fmtid="{D5CDD505-2E9C-101B-9397-08002B2CF9AE}" pid="4" name="ICV">
    <vt:lpwstr>B9DC43206F65447A9BCCD00B353A294D</vt:lpwstr>
  </property>
</Properties>
</file>