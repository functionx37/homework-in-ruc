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emf" ContentType="image/x-emf"/>
  <Default Extension="rels" ContentType="application/vnd.openxmlformats-package.relationships+xml"/>
  <Default Extension="wdp" ContentType="image/vnd.ms-photo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1" r:id="rId2"/>
  </p:sldMasterIdLst>
  <p:notesMasterIdLst>
    <p:notesMasterId r:id="rId74"/>
  </p:notesMasterIdLst>
  <p:sldIdLst>
    <p:sldId id="853" r:id="rId3"/>
    <p:sldId id="903" r:id="rId4"/>
    <p:sldId id="904" r:id="rId5"/>
    <p:sldId id="905" r:id="rId6"/>
    <p:sldId id="906" r:id="rId7"/>
    <p:sldId id="925" r:id="rId8"/>
    <p:sldId id="907" r:id="rId9"/>
    <p:sldId id="908" r:id="rId10"/>
    <p:sldId id="909" r:id="rId11"/>
    <p:sldId id="910" r:id="rId12"/>
    <p:sldId id="911" r:id="rId13"/>
    <p:sldId id="912" r:id="rId14"/>
    <p:sldId id="913" r:id="rId15"/>
    <p:sldId id="914" r:id="rId16"/>
    <p:sldId id="915" r:id="rId17"/>
    <p:sldId id="916" r:id="rId18"/>
    <p:sldId id="917" r:id="rId19"/>
    <p:sldId id="918" r:id="rId20"/>
    <p:sldId id="919" r:id="rId21"/>
    <p:sldId id="920" r:id="rId22"/>
    <p:sldId id="921" r:id="rId23"/>
    <p:sldId id="922" r:id="rId24"/>
    <p:sldId id="923" r:id="rId25"/>
    <p:sldId id="924" r:id="rId26"/>
    <p:sldId id="926" r:id="rId27"/>
    <p:sldId id="799" r:id="rId28"/>
    <p:sldId id="800" r:id="rId29"/>
    <p:sldId id="801" r:id="rId30"/>
    <p:sldId id="802" r:id="rId31"/>
    <p:sldId id="803" r:id="rId32"/>
    <p:sldId id="804" r:id="rId33"/>
    <p:sldId id="805" r:id="rId34"/>
    <p:sldId id="833" r:id="rId35"/>
    <p:sldId id="806" r:id="rId36"/>
    <p:sldId id="807" r:id="rId37"/>
    <p:sldId id="821" r:id="rId38"/>
    <p:sldId id="822" r:id="rId39"/>
    <p:sldId id="823" r:id="rId40"/>
    <p:sldId id="824" r:id="rId41"/>
    <p:sldId id="825" r:id="rId42"/>
    <p:sldId id="826" r:id="rId43"/>
    <p:sldId id="827" r:id="rId44"/>
    <p:sldId id="828" r:id="rId45"/>
    <p:sldId id="829" r:id="rId46"/>
    <p:sldId id="830" r:id="rId47"/>
    <p:sldId id="831" r:id="rId48"/>
    <p:sldId id="809" r:id="rId49"/>
    <p:sldId id="810" r:id="rId50"/>
    <p:sldId id="811" r:id="rId51"/>
    <p:sldId id="812" r:id="rId52"/>
    <p:sldId id="813" r:id="rId53"/>
    <p:sldId id="814" r:id="rId54"/>
    <p:sldId id="850" r:id="rId55"/>
    <p:sldId id="837" r:id="rId56"/>
    <p:sldId id="849" r:id="rId57"/>
    <p:sldId id="852" r:id="rId58"/>
    <p:sldId id="927" r:id="rId59"/>
    <p:sldId id="838" r:id="rId60"/>
    <p:sldId id="836" r:id="rId61"/>
    <p:sldId id="842" r:id="rId62"/>
    <p:sldId id="843" r:id="rId63"/>
    <p:sldId id="839" r:id="rId64"/>
    <p:sldId id="844" r:id="rId65"/>
    <p:sldId id="845" r:id="rId66"/>
    <p:sldId id="846" r:id="rId67"/>
    <p:sldId id="847" r:id="rId68"/>
    <p:sldId id="848" r:id="rId69"/>
    <p:sldId id="817" r:id="rId70"/>
    <p:sldId id="818" r:id="rId71"/>
    <p:sldId id="819" r:id="rId72"/>
    <p:sldId id="851" r:id="rId73"/>
  </p:sldIdLst>
  <p:sldSz cx="9144000" cy="5143500" type="screen16x9"/>
  <p:notesSz cx="6858000" cy="9144000"/>
  <p:custDataLst>
    <p:tags r:id="rId7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452"/>
    <a:srgbClr val="55A868"/>
    <a:srgbClr val="4F81BD"/>
    <a:srgbClr val="FEC002"/>
    <a:srgbClr val="ED7D31"/>
    <a:srgbClr val="46BCDE"/>
    <a:srgbClr val="1A3F6C"/>
    <a:srgbClr val="0E2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41" autoAdjust="0"/>
    <p:restoredTop sz="83333" autoAdjust="0"/>
  </p:normalViewPr>
  <p:slideViewPr>
    <p:cSldViewPr snapToGrid="0">
      <p:cViewPr>
        <p:scale>
          <a:sx n="153" d="100"/>
          <a:sy n="153" d="100"/>
        </p:scale>
        <p:origin x="1920" y="32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63" Type="http://schemas.openxmlformats.org/officeDocument/2006/relationships/slide" Target="slides/slide61.xml"/><Relationship Id="rId64" Type="http://schemas.openxmlformats.org/officeDocument/2006/relationships/slide" Target="slides/slide62.xml"/><Relationship Id="rId65" Type="http://schemas.openxmlformats.org/officeDocument/2006/relationships/slide" Target="slides/slide63.xml"/><Relationship Id="rId66" Type="http://schemas.openxmlformats.org/officeDocument/2006/relationships/slide" Target="slides/slide64.xml"/><Relationship Id="rId67" Type="http://schemas.openxmlformats.org/officeDocument/2006/relationships/slide" Target="slides/slide65.xml"/><Relationship Id="rId68" Type="http://schemas.openxmlformats.org/officeDocument/2006/relationships/slide" Target="slides/slide66.xml"/><Relationship Id="rId69" Type="http://schemas.openxmlformats.org/officeDocument/2006/relationships/slide" Target="slides/slide6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5.xml"/><Relationship Id="rId58" Type="http://schemas.openxmlformats.org/officeDocument/2006/relationships/slide" Target="slides/slide56.xml"/><Relationship Id="rId59" Type="http://schemas.openxmlformats.org/officeDocument/2006/relationships/slide" Target="slides/slide5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70" Type="http://schemas.openxmlformats.org/officeDocument/2006/relationships/slide" Target="slides/slide68.xml"/><Relationship Id="rId71" Type="http://schemas.openxmlformats.org/officeDocument/2006/relationships/slide" Target="slides/slide69.xml"/><Relationship Id="rId72" Type="http://schemas.openxmlformats.org/officeDocument/2006/relationships/slide" Target="slides/slide70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73" Type="http://schemas.openxmlformats.org/officeDocument/2006/relationships/slide" Target="slides/slide71.xml"/><Relationship Id="rId74" Type="http://schemas.openxmlformats.org/officeDocument/2006/relationships/notesMaster" Target="notesMasters/notesMaster1.xml"/><Relationship Id="rId75" Type="http://schemas.openxmlformats.org/officeDocument/2006/relationships/tags" Target="tags/tag1.xml"/><Relationship Id="rId76" Type="http://schemas.openxmlformats.org/officeDocument/2006/relationships/presProps" Target="presProps.xml"/><Relationship Id="rId77" Type="http://schemas.openxmlformats.org/officeDocument/2006/relationships/viewProps" Target="viewProps.xml"/><Relationship Id="rId78" Type="http://schemas.openxmlformats.org/officeDocument/2006/relationships/theme" Target="theme/theme1.xml"/><Relationship Id="rId79" Type="http://schemas.openxmlformats.org/officeDocument/2006/relationships/tableStyles" Target="tableStyles.xml"/><Relationship Id="rId60" Type="http://schemas.openxmlformats.org/officeDocument/2006/relationships/slide" Target="slides/slide58.xml"/><Relationship Id="rId61" Type="http://schemas.openxmlformats.org/officeDocument/2006/relationships/slide" Target="slides/slide59.xml"/><Relationship Id="rId62" Type="http://schemas.openxmlformats.org/officeDocument/2006/relationships/slide" Target="slides/slide60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7FD7A-F41B-4FED-8E35-F78DB9F4D037}" type="datetimeFigureOut">
              <a:rPr lang="zh-CN" altLang="en-US" smtClean="0"/>
              <a:t>2025/11/14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37CBA-0E44-4282-A4F0-C3BCC1A4C2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836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DEAE63-D6C4-437F-B8DA-DA689F991AA7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591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7181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7186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6224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7378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843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6335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mr-IN" dirty="0" smtClean="0"/>
              <a:t>[ 2. -2. -1.][ 2. -4. -1.]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729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56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2776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70513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69615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8668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5352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22012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056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00375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0901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23749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6030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3981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5165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  <a:pPr/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66266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8325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47783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537CBA-0E44-4282-A4F0-C3BCC1A4C2D1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569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501127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77444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18166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850969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61265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1343882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3712181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7382833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4744713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536575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847810"/>
      </p:ext>
    </p:extLst>
  </p:cSld>
  <p:clrMapOvr>
    <a:masterClrMapping/>
  </p:clrMapOvr>
  <p:transition spd="slow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2327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026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016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770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="" xmlns:a16="http://schemas.microsoft.com/office/drawing/2014/main" id="{C3CF4CA7-7AAC-4C45-88E6-57EAF6DA16C9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498872"/>
          </a:xfrm>
        </p:spPr>
        <p:txBody>
          <a:bodyPr>
            <a:noAutofit/>
          </a:bodyPr>
          <a:lstStyle>
            <a:lvl1pPr>
              <a:defRPr sz="2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3937000"/>
          </a:xfrm>
        </p:spPr>
        <p:txBody>
          <a:bodyPr>
            <a:normAutofit/>
          </a:bodyPr>
          <a:lstStyle>
            <a:lvl1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4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4426" y="4482306"/>
            <a:ext cx="409574" cy="273844"/>
          </a:xfrm>
        </p:spPr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="" xmlns:a16="http://schemas.microsoft.com/office/drawing/2014/main" id="{0EDCEBCB-EE73-45D6-92CE-B2AE1D434CFB}"/>
              </a:ext>
            </a:extLst>
          </p:cNvPr>
          <p:cNvSpPr/>
          <p:nvPr userDrawn="1"/>
        </p:nvSpPr>
        <p:spPr>
          <a:xfrm>
            <a:off x="646880" y="268997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 spd="slow">
    <p:pull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7" y="624114"/>
            <a:ext cx="3192647" cy="523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6" y="629351"/>
            <a:ext cx="326465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标题幻灯片">
    <p:bg>
      <p:bgPr>
        <a:pattFill prst="ltUpDiag">
          <a:fgClr>
            <a:schemeClr val="accent6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="" xmlns:a16="http://schemas.microsoft.com/office/drawing/2014/main" id="{36B1EA47-AA99-4F55-AEF3-3DA66267A0C2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="" xmlns:a16="http://schemas.microsoft.com/office/drawing/2014/main" id="{B9470B42-93C0-4049-B9CB-A8EBAAC780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</p:spTree>
  </p:cSld>
  <p:clrMapOvr>
    <a:masterClrMapping/>
  </p:clrMapOvr>
  <p:transition spd="slow">
    <p:cover dir="rd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78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0">
        <p:blinds dir="vert"/>
      </p:transition>
    </mc:Choice>
    <mc:Fallback xmlns="">
      <p:transition spd="slow" advClick="0" advTm="0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jpg"/><Relationship Id="rId18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theme" Target="../theme/theme2.xml"/><Relationship Id="rId18" Type="http://schemas.openxmlformats.org/officeDocument/2006/relationships/image" Target="../media/image1.jpg"/><Relationship Id="rId19" Type="http://schemas.openxmlformats.org/officeDocument/2006/relationships/image" Target="../media/image3.png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8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70" r:id="rId15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341F63DC-E866-4077-8215-C471E38E730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5054" y="0"/>
            <a:ext cx="1064467" cy="963887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="" xmlns:a16="http://schemas.microsoft.com/office/drawing/2014/main" id="{3FFCFCD4-6DCF-4A23-AD20-AF62BB293DA8}"/>
              </a:ext>
            </a:extLst>
          </p:cNvPr>
          <p:cNvSpPr/>
          <p:nvPr userDrawn="1"/>
        </p:nvSpPr>
        <p:spPr>
          <a:xfrm>
            <a:off x="0" y="4835507"/>
            <a:ext cx="9144000" cy="307777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38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</p:sldLayoutIdLst>
  <p:transition spd="slow">
    <p:pull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4" Type="http://schemas.openxmlformats.org/officeDocument/2006/relationships/image" Target="../media/image4.png"/><Relationship Id="rId5" Type="http://schemas.microsoft.com/office/2007/relationships/hdphoto" Target="../media/hdphoto1.wdp"/><Relationship Id="rId6" Type="http://schemas.openxmlformats.org/officeDocument/2006/relationships/image" Target="../media/image5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jpe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1.png"/><Relationship Id="rId4" Type="http://schemas.openxmlformats.org/officeDocument/2006/relationships/image" Target="../media/image19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image" Target="../media/image91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7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4" Type="http://schemas.openxmlformats.org/officeDocument/2006/relationships/image" Target="../media/image180.png"/><Relationship Id="rId5" Type="http://schemas.openxmlformats.org/officeDocument/2006/relationships/image" Target="../media/image190.png"/><Relationship Id="rId6" Type="http://schemas.openxmlformats.org/officeDocument/2006/relationships/image" Target="../media/image200.png"/><Relationship Id="rId7" Type="http://schemas.openxmlformats.org/officeDocument/2006/relationships/image" Target="../media/image210.png"/><Relationship Id="rId8" Type="http://schemas.openxmlformats.org/officeDocument/2006/relationships/image" Target="../media/image24.png"/><Relationship Id="rId9" Type="http://schemas.openxmlformats.org/officeDocument/2006/relationships/image" Target="../media/image230.png"/><Relationship Id="rId10" Type="http://schemas.openxmlformats.org/officeDocument/2006/relationships/image" Target="../media/image22.emf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23.emf"/><Relationship Id="rId5" Type="http://schemas.openxmlformats.org/officeDocument/2006/relationships/image" Target="../media/image28.png"/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3.emf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0.jp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8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Relationship Id="rId3" Type="http://schemas.openxmlformats.org/officeDocument/2006/relationships/image" Target="../media/image47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Relationship Id="rId3" Type="http://schemas.openxmlformats.org/officeDocument/2006/relationships/image" Target="../media/image472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21.png"/><Relationship Id="rId3" Type="http://schemas.openxmlformats.org/officeDocument/2006/relationships/image" Target="../media/image472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7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4" Type="http://schemas.openxmlformats.org/officeDocument/2006/relationships/image" Target="../media/image180.png"/><Relationship Id="rId5" Type="http://schemas.openxmlformats.org/officeDocument/2006/relationships/image" Target="../media/image190.png"/><Relationship Id="rId6" Type="http://schemas.openxmlformats.org/officeDocument/2006/relationships/image" Target="../media/image200.png"/><Relationship Id="rId7" Type="http://schemas.openxmlformats.org/officeDocument/2006/relationships/image" Target="../media/image67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0.xml"/></Relationships>
</file>

<file path=ppt/slides/_rels/slide24.xml.rels><?xml version="1.0" encoding="UTF-8" standalone="yes"?>
<Relationships xmlns="http://schemas.openxmlformats.org/package/2006/relationships"><Relationship Id="rId11" Type="http://schemas.openxmlformats.org/officeDocument/2006/relationships/image" Target="../media/image80.png"/><Relationship Id="rId12" Type="http://schemas.openxmlformats.org/officeDocument/2006/relationships/image" Target="../media/image81.png"/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80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76.png"/><Relationship Id="rId8" Type="http://schemas.openxmlformats.org/officeDocument/2006/relationships/image" Target="../media/image77.png"/><Relationship Id="rId9" Type="http://schemas.openxmlformats.org/officeDocument/2006/relationships/image" Target="../media/image78.png"/><Relationship Id="rId10" Type="http://schemas.openxmlformats.org/officeDocument/2006/relationships/image" Target="../media/image7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7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png"/><Relationship Id="rId3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0.png"/><Relationship Id="rId3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1.png"/><Relationship Id="rId3" Type="http://schemas.openxmlformats.org/officeDocument/2006/relationships/image" Target="../media/image5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1.png"/><Relationship Id="rId3" Type="http://schemas.openxmlformats.org/officeDocument/2006/relationships/image" Target="../media/image56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7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Relationship Id="rId3" Type="http://schemas.openxmlformats.org/officeDocument/2006/relationships/image" Target="../media/image58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4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1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4" Type="http://schemas.openxmlformats.org/officeDocument/2006/relationships/image" Target="../media/image220.png"/><Relationship Id="rId5" Type="http://schemas.openxmlformats.org/officeDocument/2006/relationships/image" Target="../media/image231.png"/><Relationship Id="rId6" Type="http://schemas.openxmlformats.org/officeDocument/2006/relationships/image" Target="../media/image241.png"/><Relationship Id="rId7" Type="http://schemas.openxmlformats.org/officeDocument/2006/relationships/image" Target="../media/image250.png"/><Relationship Id="rId8" Type="http://schemas.openxmlformats.org/officeDocument/2006/relationships/image" Target="../media/image26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1.png"/></Relationships>
</file>

<file path=ppt/slides/_rels/slide48.xml.rels><?xml version="1.0" encoding="UTF-8" standalone="yes"?>
<Relationships xmlns="http://schemas.openxmlformats.org/package/2006/relationships"><Relationship Id="rId11" Type="http://schemas.openxmlformats.org/officeDocument/2006/relationships/image" Target="../media/image370.png"/><Relationship Id="rId12" Type="http://schemas.openxmlformats.org/officeDocument/2006/relationships/image" Target="../media/image380.png"/><Relationship Id="rId13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0.png"/><Relationship Id="rId3" Type="http://schemas.openxmlformats.org/officeDocument/2006/relationships/image" Target="../media/image440.png"/><Relationship Id="rId4" Type="http://schemas.openxmlformats.org/officeDocument/2006/relationships/image" Target="../media/image450.png"/><Relationship Id="rId5" Type="http://schemas.openxmlformats.org/officeDocument/2006/relationships/image" Target="../media/image460.png"/><Relationship Id="rId6" Type="http://schemas.openxmlformats.org/officeDocument/2006/relationships/image" Target="../media/image310.png"/><Relationship Id="rId7" Type="http://schemas.openxmlformats.org/officeDocument/2006/relationships/image" Target="../media/image470.png"/><Relationship Id="rId8" Type="http://schemas.openxmlformats.org/officeDocument/2006/relationships/image" Target="../media/image330.png"/><Relationship Id="rId9" Type="http://schemas.openxmlformats.org/officeDocument/2006/relationships/image" Target="../media/image340.png"/><Relationship Id="rId10" Type="http://schemas.openxmlformats.org/officeDocument/2006/relationships/image" Target="../media/image350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0.png"/><Relationship Id="rId3" Type="http://schemas.openxmlformats.org/officeDocument/2006/relationships/image" Target="../media/image6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4" Type="http://schemas.openxmlformats.org/officeDocument/2006/relationships/image" Target="../media/image270.png"/><Relationship Id="rId5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0.png"/><Relationship Id="rId4" Type="http://schemas.openxmlformats.org/officeDocument/2006/relationships/image" Target="../media/image560.png"/><Relationship Id="rId5" Type="http://schemas.openxmlformats.org/officeDocument/2006/relationships/image" Target="../media/image570.png"/><Relationship Id="rId6" Type="http://schemas.openxmlformats.org/officeDocument/2006/relationships/image" Target="../media/image580.png"/><Relationship Id="rId7" Type="http://schemas.openxmlformats.org/officeDocument/2006/relationships/image" Target="../media/image590.png"/><Relationship Id="rId8" Type="http://schemas.openxmlformats.org/officeDocument/2006/relationships/image" Target="../media/image600.png"/><Relationship Id="rId9" Type="http://schemas.openxmlformats.org/officeDocument/2006/relationships/image" Target="../media/image61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0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0.png"/><Relationship Id="rId4" Type="http://schemas.openxmlformats.org/officeDocument/2006/relationships/image" Target="../media/image630.png"/><Relationship Id="rId5" Type="http://schemas.openxmlformats.org/officeDocument/2006/relationships/image" Target="../media/image640.png"/><Relationship Id="rId6" Type="http://schemas.openxmlformats.org/officeDocument/2006/relationships/image" Target="../media/image650.png"/><Relationship Id="rId7" Type="http://schemas.openxmlformats.org/officeDocument/2006/relationships/image" Target="../media/image660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0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4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4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4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Relationship Id="rId3" Type="http://schemas.openxmlformats.org/officeDocument/2006/relationships/image" Target="../media/image85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4" Type="http://schemas.openxmlformats.org/officeDocument/2006/relationships/image" Target="../media/image9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9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2068379"/>
            <a:ext cx="9144000" cy="854123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pic>
        <p:nvPicPr>
          <p:cNvPr id="103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941" y="57100"/>
            <a:ext cx="1967244" cy="196697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" name="Picture 3" descr="C:\Users\Administrator\Desktop\微立体创业计划\002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1057" y="-74527"/>
            <a:ext cx="2230535" cy="2230233"/>
          </a:xfrm>
          <a:prstGeom prst="rect">
            <a:avLst/>
          </a:prstGeom>
          <a:noFill/>
          <a:effectLst>
            <a:outerShdw blurRad="292100" dist="177800" dir="2460000" sx="99000" sy="99000" algn="l" rotWithShape="0">
              <a:prstClr val="black">
                <a:alpha val="39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圆角矩形 22"/>
          <p:cNvSpPr/>
          <p:nvPr/>
        </p:nvSpPr>
        <p:spPr>
          <a:xfrm>
            <a:off x="2349113" y="3859402"/>
            <a:ext cx="3919063" cy="409134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3" tIns="45706" rIns="91413" bIns="45706" rtlCol="0" anchor="ctr"/>
          <a:lstStyle/>
          <a:p>
            <a:pPr algn="ctr"/>
            <a:endParaRPr lang="zh-CN" altLang="en-US">
              <a:solidFill>
                <a:prstClr val="white"/>
              </a:solidFill>
            </a:endParaRPr>
          </a:p>
        </p:txBody>
      </p:sp>
      <p:grpSp>
        <p:nvGrpSpPr>
          <p:cNvPr id="25" name="Group 91"/>
          <p:cNvGrpSpPr>
            <a:grpSpLocks/>
          </p:cNvGrpSpPr>
          <p:nvPr/>
        </p:nvGrpSpPr>
        <p:grpSpPr bwMode="auto">
          <a:xfrm>
            <a:off x="1822357" y="3859401"/>
            <a:ext cx="390552" cy="616758"/>
            <a:chOff x="936" y="1480"/>
            <a:chExt cx="1589" cy="2510"/>
          </a:xfrm>
        </p:grpSpPr>
        <p:grpSp>
          <p:nvGrpSpPr>
            <p:cNvPr id="26" name="组合 33"/>
            <p:cNvGrpSpPr>
              <a:grpSpLocks/>
            </p:cNvGrpSpPr>
            <p:nvPr/>
          </p:nvGrpSpPr>
          <p:grpSpPr bwMode="auto">
            <a:xfrm>
              <a:off x="985" y="1583"/>
              <a:ext cx="1441" cy="2407"/>
              <a:chOff x="1754168" y="3653262"/>
              <a:chExt cx="1857599" cy="3107815"/>
            </a:xfrm>
          </p:grpSpPr>
          <p:sp>
            <p:nvSpPr>
              <p:cNvPr id="31" name="椭圆 30"/>
              <p:cNvSpPr/>
              <p:nvPr/>
            </p:nvSpPr>
            <p:spPr>
              <a:xfrm>
                <a:off x="1754168" y="3653262"/>
                <a:ext cx="1857599" cy="1857597"/>
              </a:xfrm>
              <a:prstGeom prst="ellips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prstClr val="white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1911556" y="3810650"/>
                <a:ext cx="1542822" cy="1542820"/>
              </a:xfrm>
              <a:prstGeom prst="ellipse">
                <a:avLst/>
              </a:prstGeom>
              <a:solidFill>
                <a:srgbClr val="C20100"/>
              </a:solidFill>
              <a:ln w="28575">
                <a:gradFill flip="none" rotWithShape="1">
                  <a:gsLst>
                    <a:gs pos="100000">
                      <a:srgbClr val="FFFFFF"/>
                    </a:gs>
                    <a:gs pos="0">
                      <a:srgbClr val="CECED0"/>
                    </a:gs>
                  </a:gsLst>
                  <a:lin ang="13500000" scaled="1"/>
                  <a:tileRect/>
                </a:gradFill>
              </a:ln>
              <a:effectLst>
                <a:outerShdw blurRad="190500" dist="88900" dir="2700000" algn="tl" rotWithShape="0">
                  <a:prstClr val="black">
                    <a:alpha val="3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890879" y="3789973"/>
                <a:ext cx="1584176" cy="1584174"/>
              </a:xfrm>
              <a:prstGeom prst="ellipse">
                <a:avLst/>
              </a:prstGeom>
              <a:solidFill>
                <a:srgbClr val="1A3F6C"/>
              </a:solidFill>
              <a:ln>
                <a:noFill/>
              </a:ln>
              <a:effectLst>
                <a:innerShdw blurRad="88900" dist="63500" dir="135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anchor="ctr"/>
              <a:lstStyle/>
              <a:p>
                <a:pPr algn="ctr">
                  <a:defRPr/>
                </a:pPr>
                <a:endParaRPr lang="zh-CN" altLang="en-US" sz="3000" dirty="0">
                  <a:solidFill>
                    <a:srgbClr val="0087CF"/>
                  </a:solidFill>
                  <a:ea typeface="方正超粗黑简体" panose="03000509000000000000" pitchFamily="65" charset="-122"/>
                </a:endParaRPr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2196990" y="4093185"/>
                <a:ext cx="968886" cy="266789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pitchFamily="2" charset="-122"/>
                  </a:defRPr>
                </a:lvl9pPr>
              </a:lstStyle>
              <a:p>
                <a:pPr algn="ctr"/>
                <a:endParaRPr lang="zh-CN" altLang="zh-CN" sz="2700" b="1">
                  <a:solidFill>
                    <a:srgbClr val="CA0098"/>
                  </a:solidFill>
                  <a:latin typeface="微软雅黑" pitchFamily="34" charset="-122"/>
                  <a:ea typeface="微软雅黑" pitchFamily="34" charset="-122"/>
                </a:endParaRPr>
              </a:p>
            </p:txBody>
          </p:sp>
        </p:grpSp>
        <p:grpSp>
          <p:nvGrpSpPr>
            <p:cNvPr id="27" name="组合 4"/>
            <p:cNvGrpSpPr>
              <a:grpSpLocks/>
            </p:cNvGrpSpPr>
            <p:nvPr/>
          </p:nvGrpSpPr>
          <p:grpSpPr bwMode="auto">
            <a:xfrm>
              <a:off x="936" y="1480"/>
              <a:ext cx="1589" cy="1588"/>
              <a:chOff x="3733576" y="3930057"/>
              <a:chExt cx="1801556" cy="1800152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4003576" y="4200057"/>
                <a:ext cx="1260000" cy="126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100000">
                      <a:schemeClr val="bg1"/>
                    </a:gs>
                    <a:gs pos="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29" name="任意多边形 6"/>
              <p:cNvSpPr/>
              <p:nvPr/>
            </p:nvSpPr>
            <p:spPr>
              <a:xfrm>
                <a:off x="3734710" y="3930057"/>
                <a:ext cx="1800422" cy="1800152"/>
              </a:xfrm>
              <a:custGeom>
                <a:avLst/>
                <a:gdLst>
                  <a:gd name="connsiteX0" fmla="*/ 900000 w 1800000"/>
                  <a:gd name="connsiteY0" fmla="*/ 0 h 1800000"/>
                  <a:gd name="connsiteX1" fmla="*/ 1800000 w 1800000"/>
                  <a:gd name="connsiteY1" fmla="*/ 900000 h 1800000"/>
                  <a:gd name="connsiteX2" fmla="*/ 900000 w 1800000"/>
                  <a:gd name="connsiteY2" fmla="*/ 1800000 h 1800000"/>
                  <a:gd name="connsiteX3" fmla="*/ 0 w 1800000"/>
                  <a:gd name="connsiteY3" fmla="*/ 900000 h 1800000"/>
                  <a:gd name="connsiteX4" fmla="*/ 900000 w 1800000"/>
                  <a:gd name="connsiteY4" fmla="*/ 0 h 1800000"/>
                  <a:gd name="connsiteX5" fmla="*/ 900000 w 1800000"/>
                  <a:gd name="connsiteY5" fmla="*/ 270000 h 1800000"/>
                  <a:gd name="connsiteX6" fmla="*/ 270000 w 1800000"/>
                  <a:gd name="connsiteY6" fmla="*/ 900000 h 1800000"/>
                  <a:gd name="connsiteX7" fmla="*/ 900000 w 1800000"/>
                  <a:gd name="connsiteY7" fmla="*/ 1530000 h 1800000"/>
                  <a:gd name="connsiteX8" fmla="*/ 1530000 w 1800000"/>
                  <a:gd name="connsiteY8" fmla="*/ 900000 h 1800000"/>
                  <a:gd name="connsiteX9" fmla="*/ 900000 w 1800000"/>
                  <a:gd name="connsiteY9" fmla="*/ 270000 h 180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00000" h="1800000">
                    <a:moveTo>
                      <a:pt x="900000" y="0"/>
                    </a:moveTo>
                    <a:cubicBezTo>
                      <a:pt x="1397056" y="0"/>
                      <a:pt x="1800000" y="402944"/>
                      <a:pt x="1800000" y="900000"/>
                    </a:cubicBezTo>
                    <a:cubicBezTo>
                      <a:pt x="1800000" y="1397056"/>
                      <a:pt x="1397056" y="1800000"/>
                      <a:pt x="900000" y="1800000"/>
                    </a:cubicBezTo>
                    <a:cubicBezTo>
                      <a:pt x="402944" y="1800000"/>
                      <a:pt x="0" y="1397056"/>
                      <a:pt x="0" y="900000"/>
                    </a:cubicBezTo>
                    <a:cubicBezTo>
                      <a:pt x="0" y="402944"/>
                      <a:pt x="402944" y="0"/>
                      <a:pt x="900000" y="0"/>
                    </a:cubicBezTo>
                    <a:close/>
                    <a:moveTo>
                      <a:pt x="900000" y="270000"/>
                    </a:moveTo>
                    <a:cubicBezTo>
                      <a:pt x="552061" y="270000"/>
                      <a:pt x="270000" y="552061"/>
                      <a:pt x="270000" y="900000"/>
                    </a:cubicBezTo>
                    <a:cubicBezTo>
                      <a:pt x="270000" y="1247939"/>
                      <a:pt x="552061" y="1530000"/>
                      <a:pt x="900000" y="1530000"/>
                    </a:cubicBezTo>
                    <a:cubicBezTo>
                      <a:pt x="1247939" y="1530000"/>
                      <a:pt x="1530000" y="1247939"/>
                      <a:pt x="1530000" y="900000"/>
                    </a:cubicBezTo>
                    <a:cubicBezTo>
                      <a:pt x="1530000" y="552061"/>
                      <a:pt x="1247939" y="270000"/>
                      <a:pt x="900000" y="270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F0F0F0"/>
                  </a:gs>
                  <a:gs pos="100000">
                    <a:srgbClr val="DBDBDB"/>
                  </a:gs>
                </a:gsLst>
                <a:lin ang="2700000" scaled="1"/>
              </a:gradFill>
              <a:ln>
                <a:noFill/>
              </a:ln>
              <a:effectLst>
                <a:outerShdw blurRad="88900" dist="635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30" name="椭圆 7"/>
              <p:cNvSpPr/>
              <p:nvPr/>
            </p:nvSpPr>
            <p:spPr>
              <a:xfrm>
                <a:off x="3733576" y="3930057"/>
                <a:ext cx="1800000" cy="1800000"/>
              </a:xfrm>
              <a:prstGeom prst="ellipse">
                <a:avLst/>
              </a:prstGeom>
              <a:noFill/>
              <a:ln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lumMod val="75000"/>
                      </a:schemeClr>
                    </a:gs>
                  </a:gsLst>
                  <a:lin ang="2700000" scaled="1"/>
                  <a:tileRect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122153" y="2178371"/>
            <a:ext cx="8945065" cy="584747"/>
          </a:xfrm>
          <a:prstGeom prst="rect">
            <a:avLst/>
          </a:prstGeom>
          <a:noFill/>
        </p:spPr>
        <p:txBody>
          <a:bodyPr wrap="square" lIns="91413" tIns="45706" rIns="91413" bIns="45706" rtlCol="0">
            <a:spAutoFit/>
          </a:bodyPr>
          <a:lstStyle/>
          <a:p>
            <a:pPr algn="ctr"/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b="1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</a:t>
            </a:r>
            <a:r>
              <a:rPr lang="zh-CN" altLang="en-US" sz="3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：分类问题与决策树分类器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="" xmlns:a16="http://schemas.microsoft.com/office/drawing/2014/main" id="{B11913AF-7BDC-6A43-974D-C041DD8A3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92275" y="3908859"/>
            <a:ext cx="5256213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lnSpc>
                <a:spcPct val="80000"/>
              </a:lnSpc>
              <a:spcBef>
                <a:spcPct val="20000"/>
              </a:spcBef>
              <a:buSzPct val="100000"/>
              <a:defRPr/>
            </a:pPr>
            <a:r>
              <a:rPr kumimoji="1" lang="zh-CN" altLang="mr-IN" b="1" kern="0" dirty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范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举</a:t>
            </a:r>
            <a:r>
              <a:rPr kumimoji="1" lang="zh-CN" altLang="en-US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 </a:t>
            </a:r>
            <a:r>
              <a:rPr kumimoji="1" lang="zh-CN" altLang="mr-IN" b="1" kern="0" dirty="0" smtClean="0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教授         </a:t>
            </a:r>
            <a:r>
              <a:rPr kumimoji="1" lang="mr-IN" altLang="zh-CN" b="1" kern="0" dirty="0" err="1">
                <a:solidFill>
                  <a:prstClr val="white"/>
                </a:solidFill>
                <a:latin typeface="Times-Roman" charset="0"/>
                <a:ea typeface="隶书" pitchFamily="49" charset="-122"/>
              </a:rPr>
              <a:t>fanj@ruc.edu.cn</a:t>
            </a:r>
            <a:endParaRPr kumimoji="1" lang="mr-IN" altLang="zh-CN" b="1" kern="0" dirty="0">
              <a:solidFill>
                <a:prstClr val="white"/>
              </a:solidFill>
              <a:latin typeface="Times-Roman" charset="0"/>
              <a:ea typeface="隶书" pitchFamily="49" charset="-122"/>
            </a:endParaRPr>
          </a:p>
        </p:txBody>
      </p:sp>
      <p:sp>
        <p:nvSpPr>
          <p:cNvPr id="18" name="Title 7">
            <a:extLst>
              <a:ext uri="{FF2B5EF4-FFF2-40B4-BE49-F238E27FC236}">
                <a16:creationId xmlns="" xmlns:a16="http://schemas.microsoft.com/office/drawing/2014/main" id="{9951EC0A-19E6-B749-9332-D3931CB533BE}"/>
              </a:ext>
            </a:extLst>
          </p:cNvPr>
          <p:cNvSpPr txBox="1">
            <a:spLocks/>
          </p:cNvSpPr>
          <p:nvPr/>
        </p:nvSpPr>
        <p:spPr>
          <a:xfrm>
            <a:off x="0" y="2996097"/>
            <a:ext cx="9144000" cy="498872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“数据科学导论”专业核心课</a:t>
            </a:r>
            <a:endParaRPr lang="en-US" sz="2400" dirty="0">
              <a:solidFill>
                <a:prstClr val="black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31115" y="53164"/>
            <a:ext cx="4565575" cy="212365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本周五（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14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日）</a:t>
            </a:r>
            <a:endParaRPr lang="en-US" altLang="zh-CN" sz="2400" dirty="0" smtClean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【Lab02</a:t>
            </a:r>
            <a:r>
              <a:rPr lang="zh-CN" altLang="en-US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讲解与答疑</a:t>
            </a:r>
            <a:r>
              <a:rPr lang="en-US" altLang="zh-CN" sz="24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】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  <a:defRPr/>
            </a:pPr>
            <a:r>
              <a:rPr lang="en-US" altLang="zh-CN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18:00-20:15</a:t>
            </a:r>
          </a:p>
          <a:p>
            <a:pPr marL="342900" indent="-342900">
              <a:lnSpc>
                <a:spcPct val="150000"/>
              </a:lnSpc>
              <a:buFont typeface="Arial" charset="0"/>
              <a:buChar char="•"/>
              <a:defRPr/>
            </a:pPr>
            <a:r>
              <a:rPr lang="zh-CN" altLang="en-US" sz="20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理工配楼二层</a:t>
            </a:r>
            <a:endParaRPr lang="en-US" altLang="zh-CN" sz="20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665519" y="275942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53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复习与巩固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241974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什么是分类问题？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利用</a:t>
            </a:r>
            <a:r>
              <a:rPr lang="zh-CN" altLang="en-US" dirty="0" smtClean="0">
                <a:solidFill>
                  <a:srgbClr val="C00000"/>
                </a:solidFill>
              </a:rPr>
              <a:t>训练集</a:t>
            </a:r>
            <a:r>
              <a:rPr lang="zh-CN" altLang="en-US" dirty="0" smtClean="0"/>
              <a:t>学习出某个</a:t>
            </a:r>
            <a:r>
              <a:rPr lang="zh-CN" altLang="en-US" dirty="0" smtClean="0">
                <a:solidFill>
                  <a:srgbClr val="C00000"/>
                </a:solidFill>
              </a:rPr>
              <a:t>函数</a:t>
            </a:r>
            <a:r>
              <a:rPr lang="zh-CN" altLang="en-US" dirty="0" smtClean="0"/>
              <a:t>，用来预测某些</a:t>
            </a:r>
            <a:r>
              <a:rPr lang="zh-CN" altLang="en-US" dirty="0" smtClean="0">
                <a:solidFill>
                  <a:srgbClr val="C00000"/>
                </a:solidFill>
              </a:rPr>
              <a:t>未知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C00000"/>
                </a:solidFill>
              </a:rPr>
              <a:t>类别型变量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业界的真实示例：</a:t>
            </a:r>
            <a:r>
              <a:rPr lang="zh-CN" altLang="en-US" dirty="0"/>
              <a:t>微信朋友圈</a:t>
            </a:r>
            <a:r>
              <a:rPr lang="zh-CN" altLang="en-US" dirty="0" smtClean="0"/>
              <a:t>广告互动行为预测</a:t>
            </a:r>
            <a:endParaRPr lang="en-US" altLang="zh-CN" dirty="0" smtClean="0"/>
          </a:p>
          <a:p>
            <a:pPr lvl="1"/>
            <a:r>
              <a:rPr lang="zh-CN" altLang="en-US" dirty="0"/>
              <a:t>广告互动：微信朋友圈广告具有互动属性</a:t>
            </a:r>
          </a:p>
          <a:p>
            <a:pPr lvl="1"/>
            <a:r>
              <a:rPr lang="zh-CN" altLang="en-US" dirty="0" smtClean="0"/>
              <a:t>品牌</a:t>
            </a:r>
            <a:r>
              <a:rPr lang="zh-CN" altLang="en-US" dirty="0"/>
              <a:t>随着关系链传播，好友的互动加强传播效果 </a:t>
            </a:r>
          </a:p>
        </p:txBody>
      </p:sp>
      <p:sp>
        <p:nvSpPr>
          <p:cNvPr id="5" name="微信朋友圈广告是典型的feeds流广告…">
            <a:extLst>
              <a:ext uri="{FF2B5EF4-FFF2-40B4-BE49-F238E27FC236}">
                <a16:creationId xmlns:a16="http://schemas.microsoft.com/office/drawing/2014/main" xmlns="" id="{A10FFC91-14FB-4A4F-BA86-CEBA92EF3D55}"/>
              </a:ext>
            </a:extLst>
          </p:cNvPr>
          <p:cNvSpPr txBox="1"/>
          <p:nvPr/>
        </p:nvSpPr>
        <p:spPr>
          <a:xfrm>
            <a:off x="457201" y="3984768"/>
            <a:ext cx="5926038" cy="291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square" lIns="26789" tIns="26789" rIns="26789" bIns="26789" anchor="ctr">
            <a:spAutoFit/>
          </a:bodyPr>
          <a:lstStyle/>
          <a:p>
            <a:pPr marL="232164" indent="-232164">
              <a:lnSpc>
                <a:spcPct val="120000"/>
              </a:lnSpc>
              <a:buSzPct val="75000"/>
              <a:buFont typeface="Helvetica Neue"/>
              <a:buChar char="•"/>
              <a:defRPr sz="2500" b="0"/>
            </a:pPr>
            <a:endParaRPr sz="1406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" name="Group">
            <a:extLst>
              <a:ext uri="{FF2B5EF4-FFF2-40B4-BE49-F238E27FC236}">
                <a16:creationId xmlns:a16="http://schemas.microsoft.com/office/drawing/2014/main" xmlns="" id="{FDFD5BE2-8EC1-9C45-AF62-CFD81ABC0C28}"/>
              </a:ext>
            </a:extLst>
          </p:cNvPr>
          <p:cNvGrpSpPr/>
          <p:nvPr/>
        </p:nvGrpSpPr>
        <p:grpSpPr>
          <a:xfrm>
            <a:off x="1872178" y="3082869"/>
            <a:ext cx="2504413" cy="1530837"/>
            <a:chOff x="0" y="0"/>
            <a:chExt cx="3561830" cy="2177188"/>
          </a:xfrm>
        </p:grpSpPr>
        <p:sp>
          <p:nvSpPr>
            <p:cNvPr id="7" name="广告互动">
              <a:extLst>
                <a:ext uri="{FF2B5EF4-FFF2-40B4-BE49-F238E27FC236}">
                  <a16:creationId xmlns:a16="http://schemas.microsoft.com/office/drawing/2014/main" xmlns="" id="{DA24BD10-DD0F-0446-9EEF-7B809EA44A82}"/>
                </a:ext>
              </a:extLst>
            </p:cNvPr>
            <p:cNvSpPr txBox="1"/>
            <p:nvPr/>
          </p:nvSpPr>
          <p:spPr>
            <a:xfrm>
              <a:off x="0" y="884977"/>
              <a:ext cx="1457222" cy="466309"/>
            </a:xfrm>
            <a:prstGeom prst="rect">
              <a:avLst/>
            </a:prstGeom>
            <a:solidFill>
              <a:srgbClr val="DCCAB0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4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300" b="0"/>
              </a:lvl1pPr>
            </a:lstStyle>
            <a:p>
              <a:r>
                <a:rPr sz="1800" dirty="0" err="1">
                  <a:latin typeface="Microsoft YaHei" charset="-122"/>
                  <a:ea typeface="Microsoft YaHei" charset="-122"/>
                  <a:cs typeface="Microsoft YaHei" charset="-122"/>
                </a:rPr>
                <a:t>广告互动</a:t>
              </a:r>
              <a:endParaRPr sz="1800" dirty="0">
                <a:latin typeface="Microsoft YaHei" charset="-122"/>
                <a:ea typeface="Microsoft YaHei" charset="-122"/>
                <a:cs typeface="Microsoft YaHei" charset="-122"/>
              </a:endParaRPr>
            </a:p>
          </p:txBody>
        </p:sp>
        <p:sp>
          <p:nvSpPr>
            <p:cNvPr id="8" name="评论">
              <a:extLst>
                <a:ext uri="{FF2B5EF4-FFF2-40B4-BE49-F238E27FC236}">
                  <a16:creationId xmlns:a16="http://schemas.microsoft.com/office/drawing/2014/main" xmlns="" id="{5EE775B5-338F-1C44-BB53-CCEADA7906AC}"/>
                </a:ext>
              </a:extLst>
            </p:cNvPr>
            <p:cNvSpPr txBox="1"/>
            <p:nvPr/>
          </p:nvSpPr>
          <p:spPr>
            <a:xfrm>
              <a:off x="2282551" y="855440"/>
              <a:ext cx="1267008" cy="466309"/>
            </a:xfrm>
            <a:prstGeom prst="rect">
              <a:avLst/>
            </a:prstGeom>
            <a:solidFill>
              <a:srgbClr val="DCCAB0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4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300" b="0"/>
              </a:lvl1pPr>
            </a:lstStyle>
            <a:p>
              <a:r>
                <a:rPr sz="1800">
                  <a:latin typeface="Microsoft YaHei" charset="-122"/>
                  <a:ea typeface="Microsoft YaHei" charset="-122"/>
                  <a:cs typeface="Microsoft YaHei" charset="-122"/>
                </a:rPr>
                <a:t>评论</a:t>
              </a:r>
            </a:p>
          </p:txBody>
        </p:sp>
        <p:sp>
          <p:nvSpPr>
            <p:cNvPr id="9" name="@好友">
              <a:extLst>
                <a:ext uri="{FF2B5EF4-FFF2-40B4-BE49-F238E27FC236}">
                  <a16:creationId xmlns:a16="http://schemas.microsoft.com/office/drawing/2014/main" xmlns="" id="{507A1BE3-8DB9-1D42-8CF7-A84157DE9BB0}"/>
                </a:ext>
              </a:extLst>
            </p:cNvPr>
            <p:cNvSpPr txBox="1"/>
            <p:nvPr/>
          </p:nvSpPr>
          <p:spPr>
            <a:xfrm>
              <a:off x="2294822" y="1710880"/>
              <a:ext cx="1267009" cy="466309"/>
            </a:xfrm>
            <a:prstGeom prst="rect">
              <a:avLst/>
            </a:prstGeom>
            <a:solidFill>
              <a:srgbClr val="DCCAB0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4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300" b="0"/>
              </a:lvl1pPr>
            </a:lstStyle>
            <a:p>
              <a:r>
                <a:rPr sz="1800">
                  <a:latin typeface="Microsoft YaHei" charset="-122"/>
                  <a:ea typeface="Microsoft YaHei" charset="-122"/>
                  <a:cs typeface="Microsoft YaHei" charset="-122"/>
                </a:rPr>
                <a:t>@好友</a:t>
              </a:r>
            </a:p>
          </p:txBody>
        </p:sp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xmlns="" id="{1EB1F8A6-2BAE-A14A-BE5D-2CFF82E295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1436" y="221905"/>
              <a:ext cx="367130" cy="179245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1" name="点赞">
              <a:extLst>
                <a:ext uri="{FF2B5EF4-FFF2-40B4-BE49-F238E27FC236}">
                  <a16:creationId xmlns:a16="http://schemas.microsoft.com/office/drawing/2014/main" xmlns="" id="{1085A0E0-C2BE-E14E-BFB5-2DE4A8C060F7}"/>
                </a:ext>
              </a:extLst>
            </p:cNvPr>
            <p:cNvSpPr txBox="1"/>
            <p:nvPr/>
          </p:nvSpPr>
          <p:spPr>
            <a:xfrm>
              <a:off x="2282551" y="0"/>
              <a:ext cx="1267008" cy="466308"/>
            </a:xfrm>
            <a:prstGeom prst="rect">
              <a:avLst/>
            </a:prstGeom>
            <a:solidFill>
              <a:srgbClr val="DCCAB0"/>
            </a:solidFill>
            <a:ln w="12700" cap="flat">
              <a:noFill/>
              <a:miter lim="400000"/>
            </a:ln>
            <a:effectLst>
              <a:outerShdw blurRad="25400" dist="12700" dir="5400000" rotWithShape="0">
                <a:srgbClr val="000000">
                  <a:alpha val="40000"/>
                </a:srgbClr>
              </a:outerShdw>
            </a:effectLst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26789" tIns="26789" rIns="26789" bIns="26789" numCol="1" anchor="ctr">
              <a:noAutofit/>
            </a:bodyPr>
            <a:lstStyle>
              <a:lvl1pPr>
                <a:defRPr sz="2300" b="0"/>
              </a:lvl1pPr>
            </a:lstStyle>
            <a:p>
              <a:r>
                <a:rPr sz="1800" dirty="0">
                  <a:latin typeface="Microsoft YaHei" charset="-122"/>
                  <a:ea typeface="Microsoft YaHei" charset="-122"/>
                  <a:cs typeface="Microsoft YaHei" charset="-122"/>
                </a:rPr>
                <a:t>点赞</a:t>
              </a:r>
            </a:p>
          </p:txBody>
        </p:sp>
      </p:grpSp>
      <p:grpSp>
        <p:nvGrpSpPr>
          <p:cNvPr id="12" name="Group">
            <a:extLst>
              <a:ext uri="{FF2B5EF4-FFF2-40B4-BE49-F238E27FC236}">
                <a16:creationId xmlns:a16="http://schemas.microsoft.com/office/drawing/2014/main" xmlns="" id="{31395000-2BF0-5D41-9D9F-1729E05CB80A}"/>
              </a:ext>
            </a:extLst>
          </p:cNvPr>
          <p:cNvGrpSpPr/>
          <p:nvPr/>
        </p:nvGrpSpPr>
        <p:grpSpPr>
          <a:xfrm>
            <a:off x="6951879" y="1729604"/>
            <a:ext cx="1801742" cy="2956706"/>
            <a:chOff x="0" y="0"/>
            <a:chExt cx="2562477" cy="4205091"/>
          </a:xfrm>
        </p:grpSpPr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xmlns="" id="{90009E2B-646E-C04C-8EB1-65CFD938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2562478" cy="420509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blurRad="88900" dist="50800" dir="5520000" rotWithShape="0">
                <a:srgbClr val="000000">
                  <a:alpha val="60000"/>
                </a:srgbClr>
              </a:outerShdw>
            </a:effectLst>
          </p:spPr>
        </p:pic>
        <p:sp>
          <p:nvSpPr>
            <p:cNvPr id="14" name="Rectangle">
              <a:extLst>
                <a:ext uri="{FF2B5EF4-FFF2-40B4-BE49-F238E27FC236}">
                  <a16:creationId xmlns:a16="http://schemas.microsoft.com/office/drawing/2014/main" xmlns="" id="{EFF47B5C-B863-5C4C-8910-08B541B24CF6}"/>
                </a:ext>
              </a:extLst>
            </p:cNvPr>
            <p:cNvSpPr/>
            <p:nvPr/>
          </p:nvSpPr>
          <p:spPr>
            <a:xfrm>
              <a:off x="380138" y="1924643"/>
              <a:ext cx="2123413" cy="1247879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3400" b="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sz="2391"/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xmlns="" id="{DBFAF0A7-D206-FD40-AEA3-D765CB29E330}"/>
                </a:ext>
              </a:extLst>
            </p:cNvPr>
            <p:cNvSpPr/>
            <p:nvPr/>
          </p:nvSpPr>
          <p:spPr>
            <a:xfrm>
              <a:off x="380137" y="3201792"/>
              <a:ext cx="2123414" cy="902451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3400" b="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sz="2391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1F220133-2EC7-1B46-83C5-6AA97F1C12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432" y="3377420"/>
            <a:ext cx="996382" cy="9832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439909" y="3572957"/>
                <a:ext cx="2470537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zh-CN" altLang="en-US" dirty="0" smtClean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请将上述问题建模成</a:t>
                </a:r>
                <a:endParaRPr lang="en-US" altLang="zh-CN" dirty="0" smtClean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𝑦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𝑓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𝑥</m:t>
                      </m:r>
                      <m:r>
                        <a:rPr lang="en-US" altLang="zh-CN" b="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altLang="zh-CN" dirty="0" smtClean="0">
                  <a:solidFill>
                    <a:srgbClr val="C00000"/>
                  </a:solidFill>
                  <a:latin typeface="Helvetica Neue" charset="0"/>
                </a:endParaRPr>
              </a:p>
              <a:p>
                <a:pPr algn="ctr"/>
                <a:r>
                  <a:rPr lang="zh-CN" altLang="en-US" dirty="0" smtClean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形式</a:t>
                </a:r>
                <a:endParaRPr lang="en-US" altLang="zh-CN" dirty="0" smtClean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909" y="3572957"/>
                <a:ext cx="2470537" cy="923330"/>
              </a:xfrm>
              <a:prstGeom prst="rect">
                <a:avLst/>
              </a:prstGeom>
              <a:blipFill rotWithShape="0">
                <a:blip r:embed="rId5"/>
                <a:stretch>
                  <a:fillRect t="-3289"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5271123" y="2995264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57833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复习与巩固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8229600" cy="2419746"/>
          </a:xfrm>
        </p:spPr>
        <p:txBody>
          <a:bodyPr>
            <a:normAutofit/>
          </a:bodyPr>
          <a:lstStyle/>
          <a:p>
            <a:r>
              <a:rPr lang="zh-CN" altLang="en-US" dirty="0" smtClean="0"/>
              <a:t>什么是分类问题？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利用</a:t>
            </a:r>
            <a:r>
              <a:rPr lang="zh-CN" altLang="en-US" dirty="0" smtClean="0">
                <a:solidFill>
                  <a:srgbClr val="C00000"/>
                </a:solidFill>
              </a:rPr>
              <a:t>训练集</a:t>
            </a:r>
            <a:r>
              <a:rPr lang="zh-CN" altLang="en-US" dirty="0" smtClean="0"/>
              <a:t>学习出某个</a:t>
            </a:r>
            <a:r>
              <a:rPr lang="zh-CN" altLang="en-US" dirty="0" smtClean="0">
                <a:solidFill>
                  <a:srgbClr val="C00000"/>
                </a:solidFill>
              </a:rPr>
              <a:t>函数</a:t>
            </a:r>
            <a:r>
              <a:rPr lang="zh-CN" altLang="en-US" dirty="0" smtClean="0"/>
              <a:t>，用来预测某些</a:t>
            </a:r>
            <a:r>
              <a:rPr lang="zh-CN" altLang="en-US" dirty="0" smtClean="0">
                <a:solidFill>
                  <a:srgbClr val="C00000"/>
                </a:solidFill>
              </a:rPr>
              <a:t>未知</a:t>
            </a:r>
            <a:r>
              <a:rPr lang="zh-CN" altLang="en-US" dirty="0" smtClean="0"/>
              <a:t>的</a:t>
            </a:r>
            <a:r>
              <a:rPr lang="zh-CN" altLang="en-US" dirty="0" smtClean="0">
                <a:solidFill>
                  <a:srgbClr val="C00000"/>
                </a:solidFill>
              </a:rPr>
              <a:t>类别型变量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业界的真实示例：朋友圈广告互动行为预测</a:t>
            </a:r>
            <a:endParaRPr lang="en-US" altLang="zh-CN" dirty="0" smtClean="0"/>
          </a:p>
        </p:txBody>
      </p:sp>
      <p:grpSp>
        <p:nvGrpSpPr>
          <p:cNvPr id="12" name="Group">
            <a:extLst>
              <a:ext uri="{FF2B5EF4-FFF2-40B4-BE49-F238E27FC236}">
                <a16:creationId xmlns:a16="http://schemas.microsoft.com/office/drawing/2014/main" xmlns="" id="{31395000-2BF0-5D41-9D9F-1729E05CB80A}"/>
              </a:ext>
            </a:extLst>
          </p:cNvPr>
          <p:cNvGrpSpPr/>
          <p:nvPr/>
        </p:nvGrpSpPr>
        <p:grpSpPr>
          <a:xfrm>
            <a:off x="6951879" y="1729604"/>
            <a:ext cx="1801742" cy="2956706"/>
            <a:chOff x="0" y="0"/>
            <a:chExt cx="2562477" cy="4205091"/>
          </a:xfrm>
        </p:grpSpPr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xmlns="" id="{90009E2B-646E-C04C-8EB1-65CFD9388B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562478" cy="4205092"/>
            </a:xfrm>
            <a:prstGeom prst="rect">
              <a:avLst/>
            </a:prstGeom>
            <a:ln w="25400" cap="flat">
              <a:noFill/>
              <a:miter lim="400000"/>
            </a:ln>
            <a:effectLst>
              <a:outerShdw blurRad="88900" dist="50800" dir="5520000" rotWithShape="0">
                <a:srgbClr val="000000">
                  <a:alpha val="60000"/>
                </a:srgbClr>
              </a:outerShdw>
            </a:effectLst>
          </p:spPr>
        </p:pic>
        <p:sp>
          <p:nvSpPr>
            <p:cNvPr id="14" name="Rectangle">
              <a:extLst>
                <a:ext uri="{FF2B5EF4-FFF2-40B4-BE49-F238E27FC236}">
                  <a16:creationId xmlns:a16="http://schemas.microsoft.com/office/drawing/2014/main" xmlns="" id="{EFF47B5C-B863-5C4C-8910-08B541B24CF6}"/>
                </a:ext>
              </a:extLst>
            </p:cNvPr>
            <p:cNvSpPr/>
            <p:nvPr/>
          </p:nvSpPr>
          <p:spPr>
            <a:xfrm>
              <a:off x="380138" y="1924643"/>
              <a:ext cx="2123413" cy="1247879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3400" b="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sz="2391"/>
            </a:p>
          </p:txBody>
        </p:sp>
        <p:sp>
          <p:nvSpPr>
            <p:cNvPr id="15" name="Rectangle">
              <a:extLst>
                <a:ext uri="{FF2B5EF4-FFF2-40B4-BE49-F238E27FC236}">
                  <a16:creationId xmlns:a16="http://schemas.microsoft.com/office/drawing/2014/main" xmlns="" id="{DBFAF0A7-D206-FD40-AEA3-D765CB29E330}"/>
                </a:ext>
              </a:extLst>
            </p:cNvPr>
            <p:cNvSpPr/>
            <p:nvPr/>
          </p:nvSpPr>
          <p:spPr>
            <a:xfrm>
              <a:off x="380137" y="3201792"/>
              <a:ext cx="2123414" cy="902451"/>
            </a:xfrm>
            <a:prstGeom prst="rect">
              <a:avLst/>
            </a:prstGeom>
            <a:noFill/>
            <a:ln w="25400" cap="flat">
              <a:solidFill>
                <a:srgbClr val="FF2600"/>
              </a:solidFill>
              <a:prstDash val="solid"/>
              <a:miter lim="400000"/>
            </a:ln>
            <a:effectLst/>
          </p:spPr>
          <p:txBody>
            <a:bodyPr wrap="square" lIns="26789" tIns="26789" rIns="26789" bIns="26789" numCol="1" anchor="ctr">
              <a:noAutofit/>
            </a:bodyPr>
            <a:lstStyle/>
            <a:p>
              <a:pPr>
                <a:defRPr sz="3400" b="0">
                  <a:solidFill>
                    <a:srgbClr val="FFFFFF"/>
                  </a:solidFill>
                  <a:latin typeface="Helvetica Neue Light"/>
                  <a:ea typeface="Helvetica Neue Light"/>
                  <a:cs typeface="Helvetica Neue Light"/>
                  <a:sym typeface="Helvetica Neue Light"/>
                </a:defRPr>
              </a:pPr>
              <a:endParaRPr sz="2391"/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1941" y="2585640"/>
            <a:ext cx="5056094" cy="12438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77118" y="2296529"/>
            <a:ext cx="1136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1:</a:t>
            </a:r>
            <a:r>
              <a:rPr lang="zh-CN" altLang="en-US" dirty="0" smtClean="0">
                <a:solidFill>
                  <a:srgbClr val="00B05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互动</a:t>
            </a:r>
            <a:endParaRPr lang="en-US" altLang="zh-CN" dirty="0" smtClean="0">
              <a:solidFill>
                <a:srgbClr val="00B05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  <a:p>
            <a:r>
              <a:rPr lang="en-US" altLang="zh-CN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0:</a:t>
            </a:r>
            <a:r>
              <a:rPr lang="zh-CN" altLang="en-US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 不互动</a:t>
            </a:r>
            <a:endParaRPr lang="en-US" dirty="0">
              <a:solidFill>
                <a:srgbClr val="C00000"/>
              </a:solidFill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5745543" y="2892672"/>
            <a:ext cx="0" cy="216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Left Brace 21"/>
          <p:cNvSpPr/>
          <p:nvPr/>
        </p:nvSpPr>
        <p:spPr>
          <a:xfrm rot="16200000">
            <a:off x="3056777" y="2179888"/>
            <a:ext cx="205479" cy="3524223"/>
          </a:xfrm>
          <a:prstGeom prst="leftBrace">
            <a:avLst>
              <a:gd name="adj1" fmla="val 46171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1202559" y="4235573"/>
                <a:ext cx="389241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b="1" i="1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altLang="zh-CN" sz="1600" dirty="0" smtClean="0"/>
                  <a:t>:</a:t>
                </a:r>
                <a:r>
                  <a:rPr lang="zh-CN" altLang="en-US" sz="1600" dirty="0"/>
                  <a:t> </a:t>
                </a:r>
                <a:r>
                  <a:rPr lang="zh-CN" altLang="en-US" sz="1600" dirty="0">
                    <a:latin typeface="Microsoft YaHei" charset="-122"/>
                    <a:ea typeface="Microsoft YaHei" charset="-122"/>
                    <a:cs typeface="Microsoft YaHei" charset="-122"/>
                  </a:rPr>
                  <a:t>采用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用户特征</a:t>
                </a:r>
                <a:r>
                  <a:rPr lang="zh-CN" altLang="en-US" sz="1600" dirty="0">
                    <a:latin typeface="Microsoft YaHei" charset="-122"/>
                    <a:ea typeface="Microsoft YaHei" charset="-122"/>
                    <a:cs typeface="Microsoft YaHei" charset="-122"/>
                  </a:rPr>
                  <a:t>、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广告特征</a:t>
                </a:r>
                <a:r>
                  <a:rPr lang="zh-CN" altLang="en-US" sz="1600" dirty="0">
                    <a:latin typeface="Microsoft YaHei" charset="-122"/>
                    <a:ea typeface="Microsoft YaHei" charset="-122"/>
                    <a:cs typeface="Microsoft YaHei" charset="-122"/>
                  </a:rPr>
                  <a:t>和</a:t>
                </a:r>
                <a:r>
                  <a:rPr lang="zh-CN" altLang="en-US" sz="1600" dirty="0">
                    <a:solidFill>
                      <a:srgbClr val="C00000"/>
                    </a:solidFill>
                    <a:latin typeface="Microsoft YaHei" charset="-122"/>
                    <a:ea typeface="Microsoft YaHei" charset="-122"/>
                    <a:cs typeface="Microsoft YaHei" charset="-122"/>
                  </a:rPr>
                  <a:t>上下文特征</a:t>
                </a:r>
                <a:endParaRPr lang="en-US" sz="1600" dirty="0">
                  <a:solidFill>
                    <a:srgbClr val="C00000"/>
                  </a:solidFill>
                  <a:latin typeface="Microsoft YaHei" charset="-122"/>
                  <a:ea typeface="Microsoft YaHei" charset="-122"/>
                  <a:cs typeface="Microsoft YaHei" charset="-122"/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559" y="4235573"/>
                <a:ext cx="3892412" cy="338554"/>
              </a:xfrm>
              <a:prstGeom prst="rect">
                <a:avLst/>
              </a:prstGeom>
              <a:blipFill rotWithShape="0">
                <a:blip r:embed="rId4"/>
                <a:stretch>
                  <a:fillRect t="-7273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136777" y="3487589"/>
                <a:ext cx="1440331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𝑃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𝑦</m:t>
                      </m:r>
                      <m:r>
                        <a:rPr lang="en-US" altLang="zh-CN" sz="2000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=1|</m:t>
                      </m:r>
                      <m:r>
                        <a:rPr lang="en-US" altLang="zh-CN" sz="2000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𝒙</m:t>
                      </m:r>
                      <m:r>
                        <a:rPr lang="zh-CN" altLang="en-US" sz="2000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）</m:t>
                      </m:r>
                    </m:oMath>
                  </m:oMathPara>
                </a14:m>
                <a:endParaRPr lang="en-US" sz="20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777" y="3487589"/>
                <a:ext cx="1440331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3814" t="-3922" r="-5085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5715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复习：线性回归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 smtClean="0"/>
                  <a:t>预测问题：</a:t>
                </a:r>
                <a:r>
                  <a:rPr lang="zh-CN" altLang="en-US" dirty="0" smtClean="0"/>
                  <a:t>根据若干个协</a:t>
                </a:r>
                <a:r>
                  <a:rPr lang="zh-CN" altLang="en-US" dirty="0"/>
                  <a:t>变量（特征）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 smtClean="0"/>
                  <a:t>预测目标变量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𝑦</m:t>
                    </m:r>
                  </m:oMath>
                </a14:m>
                <a:endParaRPr lang="en-US" altLang="zh-CN" b="1" dirty="0" smtClean="0"/>
              </a:p>
              <a:p>
                <a:r>
                  <a:rPr lang="zh-CN" altLang="en-US" b="1" dirty="0" smtClean="0"/>
                  <a:t>回归</a:t>
                </a:r>
                <a:r>
                  <a:rPr lang="zh-CN" altLang="en-US" b="1" dirty="0"/>
                  <a:t>：</a:t>
                </a:r>
                <a:r>
                  <a:rPr lang="zh-CN" altLang="en-US" dirty="0" smtClean="0"/>
                  <a:t>估计随机变量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𝑋</m:t>
                    </m:r>
                    <m:r>
                      <a:rPr lang="en-US" altLang="zh-CN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𝑌</m:t>
                    </m:r>
                    <m:r>
                      <a:rPr lang="en-US" altLang="zh-CN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上未知分布的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charset="0"/>
                          </a:rPr>
                          <m:t>𝑓</m:t>
                        </m:r>
                      </m:e>
                      <m:sup>
                        <m:r>
                          <a:rPr lang="zh-CN" altLang="en-US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𝒙</m:t>
                    </m:r>
                    <m:r>
                      <a:rPr lang="en-US" altLang="zh-CN" i="1" dirty="0" smtClean="0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r>
                  <a:rPr lang="zh-CN" altLang="en-US" b="1" dirty="0" smtClean="0"/>
                  <a:t>线性</a:t>
                </a:r>
                <a:r>
                  <a:rPr lang="zh-CN" altLang="en-US" b="1" dirty="0"/>
                  <a:t>回归：</a:t>
                </a:r>
                <a:r>
                  <a:rPr lang="zh-CN" altLang="en-US" dirty="0" smtClean="0"/>
                  <a:t>假设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charset="0"/>
                          </a:rPr>
                          <m:t>𝑓</m:t>
                        </m:r>
                      </m:e>
                      <m:sup>
                        <m:r>
                          <a:rPr lang="zh-CN" altLang="en-US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>
                        <a:latin typeface="Cambria Math" charset="0"/>
                      </a:rPr>
                      <m:t>(</m:t>
                    </m:r>
                    <m:r>
                      <a:rPr lang="en-US" altLang="zh-CN" b="1" i="1" dirty="0">
                        <a:latin typeface="Cambria Math" charset="0"/>
                      </a:rPr>
                      <m:t>𝒙</m:t>
                    </m:r>
                    <m:r>
                      <a:rPr lang="en-US" altLang="zh-CN" i="1" dirty="0">
                        <a:latin typeface="Cambria Math" charset="0"/>
                      </a:rPr>
                      <m:t>) = 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 err="1">
                            <a:latin typeface="Cambria Math" charset="0"/>
                          </a:rPr>
                          <m:t>𝜃</m:t>
                        </m:r>
                      </m:e>
                      <m:sup>
                        <m:r>
                          <a:rPr lang="zh-CN" altLang="en-US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  <m:r>
                      <a:rPr lang="en-US" altLang="zh-CN" i="1" dirty="0">
                        <a:latin typeface="Cambria Math" charset="0"/>
                      </a:rPr>
                      <m:t>·</m:t>
                    </m:r>
                    <m:r>
                      <a:rPr lang="en-US" altLang="zh-CN" b="1" i="1" dirty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并</a:t>
                </a:r>
                <a:r>
                  <a:rPr lang="zh-CN" altLang="en-US" dirty="0" smtClean="0"/>
                  <a:t>估计参数向量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i="1" dirty="0" smtClean="0">
                            <a:latin typeface="Cambria Math" charset="0"/>
                          </a:rPr>
                          <m:t>𝜃</m:t>
                        </m:r>
                      </m:e>
                      <m:sup>
                        <m:r>
                          <a:rPr lang="zh-CN" altLang="en-US" b="0" i="1" dirty="0" smtClean="0">
                            <a:latin typeface="Cambria Math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altLang="zh-CN" dirty="0" smtClean="0"/>
              </a:p>
              <a:p>
                <a:r>
                  <a:rPr lang="zh-CN" altLang="en-US" b="1" dirty="0" smtClean="0"/>
                  <a:t>模型</a:t>
                </a:r>
                <a:r>
                  <a:rPr lang="zh-CN" altLang="en-US" b="1" dirty="0"/>
                  <a:t>：</a:t>
                </a:r>
                <a:r>
                  <a:rPr lang="zh-CN" altLang="en-US" dirty="0"/>
                  <a:t>通过选择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𝜃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可以得到的所有分布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𝜃</m:t>
                    </m:r>
                    <m:r>
                      <a:rPr lang="en-US" altLang="zh-CN" i="1" dirty="0" smtClean="0">
                        <a:latin typeface="Cambria Math" charset="0"/>
                      </a:rPr>
                      <m:t>·</m:t>
                    </m:r>
                    <m:r>
                      <a:rPr lang="en-US" altLang="zh-CN" b="1" i="1" dirty="0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/>
                  <a:t>的集合</a:t>
                </a:r>
                <a:r>
                  <a:rPr lang="zh-CN" altLang="en-US" dirty="0" smtClean="0"/>
                  <a:t>。</a:t>
                </a:r>
                <a:endParaRPr lang="en-US" altLang="zh-CN" dirty="0" smtClean="0"/>
              </a:p>
              <a:p>
                <a:r>
                  <a:rPr lang="zh-CN" altLang="en-US" b="1" dirty="0" smtClean="0"/>
                  <a:t>拟合</a:t>
                </a:r>
                <a:r>
                  <a:rPr lang="zh-CN" altLang="en-US" b="1" dirty="0"/>
                  <a:t>模型：</a:t>
                </a:r>
                <a:r>
                  <a:rPr lang="zh-CN" altLang="en-US" dirty="0"/>
                  <a:t>选择一个</a:t>
                </a:r>
                <a:r>
                  <a:rPr lang="zh-CN" altLang="en-US" dirty="0" smtClean="0"/>
                  <a:t>损失函数，</a:t>
                </a:r>
                <a:r>
                  <a:rPr lang="zh-CN" altLang="en-US" dirty="0"/>
                  <a:t>然后最小化</a:t>
                </a:r>
                <a:r>
                  <a:rPr lang="zh-CN" altLang="en-US" dirty="0" smtClean="0"/>
                  <a:t>损失</a:t>
                </a:r>
                <a:endParaRPr lang="en-US" altLang="zh-CN" dirty="0"/>
              </a:p>
              <a:p>
                <a:endParaRPr lang="en-US" altLang="zh-CN" dirty="0"/>
              </a:p>
              <a:p>
                <a:endParaRPr lang="en-US" altLang="zh-CN" dirty="0" smtClean="0"/>
              </a:p>
              <a:p>
                <a:endParaRPr lang="en-US" altLang="zh-CN" dirty="0" smtClean="0"/>
              </a:p>
              <a:p>
                <a:r>
                  <a:rPr lang="zh-CN" altLang="en-US" b="1" dirty="0" smtClean="0"/>
                  <a:t>思考：</a:t>
                </a:r>
                <a:r>
                  <a:rPr lang="zh-CN" altLang="en-US" dirty="0" smtClean="0">
                    <a:solidFill>
                      <a:srgbClr val="C00000"/>
                    </a:solidFill>
                  </a:rPr>
                  <a:t>分类问题能建模成类似的形式吗？</a:t>
                </a:r>
                <a:endParaRPr lang="en-US" altLang="zh-CN" dirty="0" smtClean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9880" y="2794877"/>
            <a:ext cx="1343025" cy="92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0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4880" y="2774577"/>
            <a:ext cx="4114800" cy="8763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0619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如何类似地解决分类问题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 smtClean="0"/>
                  <a:t>思路：</a:t>
                </a:r>
                <a:r>
                  <a:rPr lang="zh-CN" altLang="en-US" dirty="0" smtClean="0"/>
                  <a:t>目标变量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</a:rPr>
                      <m:t>𝑦</m:t>
                    </m:r>
                  </m:oMath>
                </a14:m>
                <a:r>
                  <a:rPr lang="zh-CN" altLang="en-US" dirty="0" smtClean="0"/>
                  <a:t>感觉上是与特征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charset="0"/>
                      </a:rPr>
                      <m:t>𝒙</m:t>
                    </m:r>
                  </m:oMath>
                </a14:m>
                <a:r>
                  <a:rPr lang="zh-CN" altLang="en-US" dirty="0" smtClean="0"/>
                  <a:t>相关的伯努利（</a:t>
                </a:r>
                <a:r>
                  <a:rPr lang="en-US" altLang="zh-CN" dirty="0" smtClean="0"/>
                  <a:t>0/1</a:t>
                </a:r>
                <a:r>
                  <a:rPr lang="zh-CN" altLang="en-US" dirty="0" smtClean="0"/>
                  <a:t>）变量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令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(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𝑋</m:t>
                    </m:r>
                    <m:r>
                      <a:rPr lang="en-US" altLang="zh-CN" i="1" dirty="0" smtClean="0">
                        <a:latin typeface="Cambria Math" charset="0"/>
                      </a:rPr>
                      <m:t>, </m:t>
                    </m:r>
                    <m:r>
                      <a:rPr lang="en-US" altLang="zh-CN" i="1" dirty="0" smtClean="0">
                        <a:latin typeface="Cambria Math" charset="0"/>
                      </a:rPr>
                      <m:t>𝑌</m:t>
                    </m:r>
                    <m:r>
                      <a:rPr lang="en-US" altLang="zh-CN" i="1" dirty="0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altLang="zh-CN" dirty="0"/>
                  <a:t> </a:t>
                </a:r>
                <a:r>
                  <a:rPr lang="zh-CN" altLang="en-US" dirty="0" smtClean="0"/>
                  <a:t>表示一组随机变量，其中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𝑋</m:t>
                    </m:r>
                  </m:oMath>
                </a14:m>
                <a:r>
                  <a:rPr lang="zh-CN" altLang="en-US" dirty="0" smtClean="0"/>
                  <a:t>为特征、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charset="0"/>
                      </a:rPr>
                      <m:t>𝑌</m:t>
                    </m:r>
                  </m:oMath>
                </a14:m>
                <a:r>
                  <a:rPr lang="zh-CN" altLang="en-US" dirty="0" smtClean="0"/>
                  <a:t>为目标变量</a:t>
                </a:r>
                <a:endParaRPr lang="en-US" altLang="zh-CN" dirty="0" smtClean="0"/>
              </a:p>
              <a:p>
                <a:pPr lvl="1"/>
                <a:endParaRPr lang="en-US" dirty="0"/>
              </a:p>
              <a:p>
                <a:r>
                  <a:rPr lang="zh-CN" altLang="en-US" b="1" dirty="0" smtClean="0"/>
                  <a:t>问题建模：</a:t>
                </a:r>
                <a:r>
                  <a:rPr lang="zh-CN" altLang="en-US" dirty="0" smtClean="0"/>
                  <a:t>估计期望</a:t>
                </a:r>
                <a:endParaRPr lang="en-US" altLang="zh-CN" dirty="0" smtClean="0"/>
              </a:p>
              <a:p>
                <a:endParaRPr lang="en-US" dirty="0"/>
              </a:p>
              <a:p>
                <a:endParaRPr lang="en-US" dirty="0" smtClean="0"/>
              </a:p>
              <a:p>
                <a:r>
                  <a:rPr lang="zh-CN" altLang="en-US" b="1" dirty="0" smtClean="0"/>
                  <a:t>线性分类器：</a:t>
                </a:r>
                <a:r>
                  <a:rPr lang="zh-CN" altLang="en-US" dirty="0" smtClean="0"/>
                  <a:t>将回归问题进行</a:t>
                </a:r>
                <a:r>
                  <a:rPr lang="zh-CN" altLang="en-US" b="1" dirty="0" smtClean="0">
                    <a:solidFill>
                      <a:srgbClr val="C00000"/>
                    </a:solidFill>
                  </a:rPr>
                  <a:t>某种转化</a:t>
                </a:r>
                <a:r>
                  <a:rPr lang="zh-CN" altLang="en-US" dirty="0" smtClean="0"/>
                  <a:t>，估计</a:t>
                </a:r>
                <a:endParaRPr lang="en-US" altLang="zh-CN" dirty="0" smtClean="0"/>
              </a:p>
              <a:p>
                <a:endParaRPr lang="en-US" dirty="0"/>
              </a:p>
              <a:p>
                <a:r>
                  <a:rPr lang="zh-CN" altLang="en-US" b="1" dirty="0" smtClean="0"/>
                  <a:t>本讲重点：</a:t>
                </a:r>
                <a:endParaRPr lang="en-US" altLang="zh-CN" b="1" dirty="0" smtClean="0"/>
              </a:p>
              <a:p>
                <a:pPr lvl="1"/>
                <a:r>
                  <a:rPr lang="zh-CN" altLang="en-US" b="1" dirty="0" smtClean="0"/>
                  <a:t>问题建模：</a:t>
                </a:r>
                <a:r>
                  <a:rPr lang="zh-CN" altLang="en-US" dirty="0" smtClean="0"/>
                  <a:t>掌握如何“调整”线性回归模型，以解决分类问题</a:t>
                </a:r>
                <a:endParaRPr lang="en-US" altLang="zh-CN" dirty="0" smtClean="0"/>
              </a:p>
              <a:p>
                <a:pPr lvl="1"/>
                <a:r>
                  <a:rPr lang="zh-CN" altLang="en-US" b="1" dirty="0" smtClean="0"/>
                  <a:t>问题求解：</a:t>
                </a:r>
                <a:r>
                  <a:rPr lang="zh-CN" altLang="en-US" dirty="0" smtClean="0"/>
                  <a:t>掌握如何对上述问题进行求解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 b="-1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451" y="1855841"/>
            <a:ext cx="10668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2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1" y="1855841"/>
            <a:ext cx="4448175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2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6251" y="2357441"/>
            <a:ext cx="186690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2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11038" y="2357441"/>
            <a:ext cx="1123950" cy="37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27;p24"/>
          <p:cNvPicPr preferRelativeResize="0"/>
          <p:nvPr/>
        </p:nvPicPr>
        <p:blipFill rotWithShape="1">
          <a:blip r:embed="rId5">
            <a:alphaModFix/>
          </a:blip>
          <a:srcRect l="12604" t="6403"/>
          <a:stretch/>
        </p:blipFill>
        <p:spPr>
          <a:xfrm>
            <a:off x="5945644" y="2970201"/>
            <a:ext cx="1631588" cy="347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8592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8667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分类问题</a:t>
            </a:r>
            <a:r>
              <a:rPr lang="zh-CN" altLang="en-US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与典型分类模型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27703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分类问题与监督学习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感知机模型</a:t>
            </a:r>
            <a:endParaRPr lang="en-US" altLang="zh-CN" b="1" dirty="0" smtClean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决策树模型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案例分析：鸢尾花分类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007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线性分类器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7</a:t>
            </a:fld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550" y="1484668"/>
            <a:ext cx="3278764" cy="2815274"/>
          </a:xfrm>
          <a:prstGeom prst="rect">
            <a:avLst/>
          </a:prstGeom>
        </p:spPr>
      </p:pic>
      <p:cxnSp>
        <p:nvCxnSpPr>
          <p:cNvPr id="27" name="直接连接符 26"/>
          <p:cNvCxnSpPr/>
          <p:nvPr/>
        </p:nvCxnSpPr>
        <p:spPr>
          <a:xfrm flipH="1">
            <a:off x="5495274" y="1221600"/>
            <a:ext cx="1362726" cy="3402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/>
          <p:cNvCxnSpPr/>
          <p:nvPr/>
        </p:nvCxnSpPr>
        <p:spPr>
          <a:xfrm flipH="1">
            <a:off x="4403380" y="2031690"/>
            <a:ext cx="3597620" cy="158309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5064737" y="1221600"/>
            <a:ext cx="2593364" cy="307834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直接连接符 49"/>
          <p:cNvCxnSpPr/>
          <p:nvPr/>
        </p:nvCxnSpPr>
        <p:spPr>
          <a:xfrm flipH="1">
            <a:off x="4403380" y="1221600"/>
            <a:ext cx="3597621" cy="31323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文本框 51"/>
          <p:cNvSpPr txBox="1"/>
          <p:nvPr/>
        </p:nvSpPr>
        <p:spPr>
          <a:xfrm>
            <a:off x="1155974" y="2760771"/>
            <a:ext cx="3416320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所有的模型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分类面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错误率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/>
            </a:r>
            <a:b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</a:b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100" dirty="0">
                <a:latin typeface="楷体" panose="02010609060101010101" pitchFamily="49" charset="-122"/>
                <a:ea typeface="楷体" panose="02010609060101010101" pitchFamily="49" charset="-122"/>
              </a:rPr>
              <a:t>0,</a:t>
            </a:r>
            <a:r>
              <a:rPr lang="zh-CN" altLang="en-US" sz="2100" dirty="0">
                <a:latin typeface="楷体" panose="02010609060101010101" pitchFamily="49" charset="-122"/>
                <a:ea typeface="楷体" panose="02010609060101010101" pitchFamily="49" charset="-122"/>
              </a:rPr>
              <a:t>哪个最好？</a:t>
            </a:r>
          </a:p>
        </p:txBody>
      </p:sp>
      <p:sp>
        <p:nvSpPr>
          <p:cNvPr id="54" name="矩形 53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6" name="直接箭头连接符 55"/>
          <p:cNvCxnSpPr>
            <a:stCxn id="55" idx="3"/>
            <a:endCxn id="54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直接箭头连接符 57"/>
          <p:cNvCxnSpPr>
            <a:stCxn id="57" idx="2"/>
            <a:endCxn id="54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54" idx="3"/>
            <a:endCxn id="60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0" name="矩形 59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文本框 60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61" name="文本框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blipFill rotWithShape="0">
                <a:blip r:embed="rId3"/>
                <a:stretch>
                  <a:fillRect l="-2612" b="-339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/>
          <p:cNvSpPr/>
          <p:nvPr/>
        </p:nvSpPr>
        <p:spPr>
          <a:xfrm>
            <a:off x="181133" y="3607899"/>
            <a:ext cx="4167736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latin typeface="Microsoft YaHei" charset="-122"/>
                <a:ea typeface="Microsoft YaHei" charset="-122"/>
                <a:cs typeface="Microsoft YaHei" charset="-122"/>
              </a:rPr>
              <a:t>问题建模</a:t>
            </a:r>
            <a:r>
              <a:rPr lang="zh-CN" altLang="en-US" b="1" dirty="0" smtClean="0">
                <a:latin typeface="Microsoft YaHei" charset="-122"/>
                <a:ea typeface="Microsoft YaHei" charset="-122"/>
                <a:cs typeface="Microsoft YaHei" charset="-122"/>
              </a:rPr>
              <a:t>：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通过</a:t>
            </a:r>
            <a:r>
              <a:rPr lang="zh-CN" altLang="en-US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线性函数的符号（</a:t>
            </a:r>
            <a:r>
              <a:rPr lang="en-US" altLang="zh-CN" dirty="0" err="1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sgn</a:t>
            </a:r>
            <a:r>
              <a:rPr lang="zh-CN" altLang="en-US" dirty="0" smtClean="0">
                <a:solidFill>
                  <a:srgbClr val="C00000"/>
                </a:solidFill>
                <a:latin typeface="Microsoft YaHei" charset="-122"/>
                <a:ea typeface="Microsoft YaHei" charset="-122"/>
                <a:cs typeface="Microsoft YaHei" charset="-122"/>
              </a:rPr>
              <a:t>）</a:t>
            </a:r>
            <a:r>
              <a:rPr lang="zh-CN" altLang="en-US" dirty="0" smtClean="0">
                <a:latin typeface="Microsoft YaHei" charset="-122"/>
                <a:ea typeface="Microsoft YaHei" charset="-122"/>
                <a:cs typeface="Microsoft YaHei" charset="-122"/>
              </a:rPr>
              <a:t>估计条件概率</a:t>
            </a:r>
            <a:endParaRPr lang="en-US" dirty="0">
              <a:latin typeface="Microsoft YaHei" charset="-122"/>
              <a:ea typeface="Microsoft YaHei" charset="-122"/>
              <a:cs typeface="Microsoft YaHei" charset="-122"/>
            </a:endParaRPr>
          </a:p>
        </p:txBody>
      </p:sp>
      <p:pic>
        <p:nvPicPr>
          <p:cNvPr id="19" name="Google Shape;127;p24"/>
          <p:cNvPicPr preferRelativeResize="0"/>
          <p:nvPr/>
        </p:nvPicPr>
        <p:blipFill rotWithShape="1">
          <a:blip r:embed="rId4">
            <a:alphaModFix/>
          </a:blip>
          <a:srcRect l="12604" t="6403"/>
          <a:stretch/>
        </p:blipFill>
        <p:spPr>
          <a:xfrm>
            <a:off x="1625320" y="4134618"/>
            <a:ext cx="1631588" cy="3476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8091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简单的学习规则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844952"/>
                <a:ext cx="6172200" cy="4103062"/>
              </a:xfrm>
            </p:spPr>
            <p:txBody>
              <a:bodyPr>
                <a:normAutofit fontScale="85000" lnSpcReduction="20000"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线性感知机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(Perceptron)</a:t>
                </a:r>
                <a:r>
                  <a:rPr lang="zh-CN" altLang="en-US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算法</a:t>
                </a:r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训练数据</a:t>
                </a:r>
                <a14:m>
                  <m:oMath xmlns:m="http://schemas.openxmlformats.org/officeDocument/2006/math">
                    <m:r>
                      <a:rPr lang="en-US" altLang="zh-C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sz="2100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100" b="0" i="1" smtClean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sz="2100" b="0" i="1" smtClean="0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100" b="0" i="1" smtClean="0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100" b="1" i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1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sz="2100" b="0" i="1" smtClean="0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sz="21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1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学习步长</a:t>
                </a:r>
                <a:r>
                  <a:rPr lang="zh-CN" altLang="en-US" sz="21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</a:pP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感知机模型</a:t>
                </a:r>
                <a14:m>
                  <m:oMath xmlns:m="http://schemas.openxmlformats.org/officeDocument/2006/math">
                    <m:r>
                      <a:rPr lang="en-US" altLang="zh-CN" sz="2100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21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)←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随机值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b="0" i="1" smtClean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b="0" i="1" smtClean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	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选取数据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 	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		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	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	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if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9.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convergence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844952"/>
                <a:ext cx="6172200" cy="4103062"/>
              </a:xfrm>
              <a:blipFill rotWithShape="0">
                <a:blip r:embed="rId2"/>
                <a:stretch>
                  <a:fillRect l="-692" t="-8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8</a:t>
            </a:fld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2814659" y="3581675"/>
            <a:ext cx="2214246" cy="623112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7" name="组合 6"/>
          <p:cNvGrpSpPr/>
          <p:nvPr/>
        </p:nvGrpSpPr>
        <p:grpSpPr>
          <a:xfrm>
            <a:off x="5186361" y="1962421"/>
            <a:ext cx="3500439" cy="2519885"/>
            <a:chOff x="5832999" y="3923454"/>
            <a:chExt cx="3559768" cy="2152734"/>
          </a:xfrm>
        </p:grpSpPr>
        <p:cxnSp>
          <p:nvCxnSpPr>
            <p:cNvPr id="8" name="直接箭头连接符 7"/>
            <p:cNvCxnSpPr/>
            <p:nvPr/>
          </p:nvCxnSpPr>
          <p:spPr>
            <a:xfrm flipV="1">
              <a:off x="5832999" y="5764505"/>
              <a:ext cx="32403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V="1">
              <a:off x="7309412" y="3934414"/>
              <a:ext cx="0" cy="19442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/>
                <p:cNvSpPr/>
                <p:nvPr/>
              </p:nvSpPr>
              <p:spPr>
                <a:xfrm>
                  <a:off x="8524145" y="5819828"/>
                  <a:ext cx="868622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35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350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zh-CN" sz="1350" b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350" b="1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35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4145" y="5819828"/>
                  <a:ext cx="822487" cy="236640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矩形 10"/>
            <p:cNvSpPr/>
            <p:nvPr/>
          </p:nvSpPr>
          <p:spPr>
            <a:xfrm>
              <a:off x="6450266" y="3923454"/>
              <a:ext cx="859145" cy="611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350" dirty="0">
                  <a:latin typeface="楷体" panose="02010609060101010101" pitchFamily="49" charset="-122"/>
                  <a:ea typeface="楷体" panose="02010609060101010101" pitchFamily="49" charset="-122"/>
                </a:rPr>
                <a:t>单个训练样本损失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7020499" y="5730133"/>
                  <a:ext cx="373635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20499" y="5730133"/>
                  <a:ext cx="326686" cy="236640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箭头连接符 12"/>
            <p:cNvCxnSpPr/>
            <p:nvPr/>
          </p:nvCxnSpPr>
          <p:spPr>
            <a:xfrm flipH="1" flipV="1">
              <a:off x="8264787" y="5760370"/>
              <a:ext cx="0" cy="69198"/>
            </a:xfrm>
            <a:prstGeom prst="straightConnector1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/>
                <p:cNvSpPr/>
                <p:nvPr/>
              </p:nvSpPr>
              <p:spPr>
                <a:xfrm>
                  <a:off x="8097116" y="5789401"/>
                  <a:ext cx="373635" cy="2563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350" i="1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zh-CN" altLang="en-US" sz="135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3" name="矩形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97116" y="5789401"/>
                  <a:ext cx="326686" cy="236640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直接连接符 14"/>
          <p:cNvCxnSpPr/>
          <p:nvPr/>
        </p:nvCxnSpPr>
        <p:spPr>
          <a:xfrm>
            <a:off x="5313286" y="3348713"/>
            <a:ext cx="1324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6646637" y="4077228"/>
            <a:ext cx="190700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1740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关于更新规则的说明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1200150"/>
                <a:ext cx="6172200" cy="356711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b="1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1" i="1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𝐰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 smtClean="0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b="0" i="1" dirty="0" smtClean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b="1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𝐰</m:t>
                                </m:r>
                              </m:e>
                              <m:sup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𝜂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altLang="zh-CN" i="1" dirty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  <m:sSub>
                          <m:sSubPr>
                            <m:ctrlPr>
                              <a:rPr lang="en-US" altLang="zh-CN" i="1" dirty="0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1" i="1">
                                <a:solidFill>
                                  <a:srgbClr val="FF000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𝐰</m:t>
                            </m:r>
                          </m:e>
                          <m:sup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US" altLang="zh-CN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⟨"/>
                        <m:endChr m:val="⟩"/>
                        <m:ctrlPr>
                          <a:rPr lang="en-US" altLang="zh-CN" i="1">
                            <a:solidFill>
                              <a:srgbClr val="00B05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𝜂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zh-CN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rgbClr val="FF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𝜂</m:t>
                    </m:r>
                    <m:d>
                      <m:dPr>
                        <m:ctrlP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en-US" altLang="zh-CN" b="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CN" b="0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zh-CN" i="1">
                                <a:solidFill>
                                  <a:schemeClr val="tx1"/>
                                </a:solidFill>
                                <a:latin typeface="Cambria Math" charset="0"/>
                              </a:rPr>
                            </m:ctrlPr>
                          </m:sSupPr>
                          <m:e>
                            <m: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zh-CN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每次更新都将减少当前的错误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收敛性：在线性可分的数据上，在有限步更新后收敛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en-US" altLang="zh-CN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Novikoff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(1962))</a:t>
                </a:r>
                <a:endParaRPr lang="en-US" altLang="zh-CN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1200150"/>
                <a:ext cx="6172200" cy="3567112"/>
              </a:xfrm>
              <a:blipFill rotWithShape="0">
                <a:blip r:embed="rId2"/>
                <a:stretch>
                  <a:fillRect l="-889" t="-1026" r="-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70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分析案例</a:t>
            </a:r>
            <a:endParaRPr lang="en-US" dirty="0"/>
          </a:p>
        </p:txBody>
      </p:sp>
      <p:grpSp>
        <p:nvGrpSpPr>
          <p:cNvPr id="87" name="Group 86"/>
          <p:cNvGrpSpPr/>
          <p:nvPr/>
        </p:nvGrpSpPr>
        <p:grpSpPr>
          <a:xfrm>
            <a:off x="240339" y="1159934"/>
            <a:ext cx="4619528" cy="3347307"/>
            <a:chOff x="45605" y="1261534"/>
            <a:chExt cx="4619528" cy="3347307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641995" y="4343560"/>
              <a:ext cx="4023138" cy="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/>
            <p:cNvCxnSpPr/>
            <p:nvPr/>
          </p:nvCxnSpPr>
          <p:spPr>
            <a:xfrm flipV="1">
              <a:off x="641995" y="1261534"/>
              <a:ext cx="0" cy="30910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4" name="Group 23"/>
            <p:cNvGrpSpPr/>
            <p:nvPr/>
          </p:nvGrpSpPr>
          <p:grpSpPr>
            <a:xfrm>
              <a:off x="1402033" y="4259168"/>
              <a:ext cx="806824" cy="87408"/>
              <a:chOff x="2655099" y="4293034"/>
              <a:chExt cx="806824" cy="87408"/>
            </a:xfrm>
          </p:grpSpPr>
          <p:cxnSp>
            <p:nvCxnSpPr>
              <p:cNvPr id="17" name="Straight Connector 16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/>
            <p:cNvGrpSpPr/>
            <p:nvPr/>
          </p:nvGrpSpPr>
          <p:grpSpPr>
            <a:xfrm>
              <a:off x="2208856" y="4256153"/>
              <a:ext cx="806824" cy="87408"/>
              <a:chOff x="2655099" y="4293034"/>
              <a:chExt cx="806824" cy="87408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0" name="Group 29"/>
            <p:cNvGrpSpPr/>
            <p:nvPr/>
          </p:nvGrpSpPr>
          <p:grpSpPr>
            <a:xfrm>
              <a:off x="3015678" y="4256153"/>
              <a:ext cx="806824" cy="87408"/>
              <a:chOff x="2655099" y="4293034"/>
              <a:chExt cx="806824" cy="87408"/>
            </a:xfrm>
          </p:grpSpPr>
          <p:cxnSp>
            <p:nvCxnSpPr>
              <p:cNvPr id="31" name="Straight Connector 30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/>
            <p:cNvGrpSpPr/>
            <p:nvPr/>
          </p:nvGrpSpPr>
          <p:grpSpPr>
            <a:xfrm rot="5400000">
              <a:off x="332561" y="3209133"/>
              <a:ext cx="706276" cy="87408"/>
              <a:chOff x="2755647" y="4293034"/>
              <a:chExt cx="706276" cy="87408"/>
            </a:xfrm>
          </p:grpSpPr>
          <p:cxnSp>
            <p:nvCxnSpPr>
              <p:cNvPr id="39" name="Straight Connector 38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Group 50"/>
            <p:cNvGrpSpPr/>
            <p:nvPr/>
          </p:nvGrpSpPr>
          <p:grpSpPr>
            <a:xfrm rot="5400000">
              <a:off x="332561" y="2502857"/>
              <a:ext cx="706276" cy="87408"/>
              <a:chOff x="2755647" y="4293034"/>
              <a:chExt cx="706276" cy="87408"/>
            </a:xfrm>
          </p:grpSpPr>
          <p:cxnSp>
            <p:nvCxnSpPr>
              <p:cNvPr id="52" name="Straight Connector 51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60" name="Oval 59"/>
            <p:cNvSpPr/>
            <p:nvPr/>
          </p:nvSpPr>
          <p:spPr>
            <a:xfrm>
              <a:off x="2111489" y="4242534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Oval 60"/>
            <p:cNvSpPr/>
            <p:nvPr/>
          </p:nvSpPr>
          <p:spPr>
            <a:xfrm>
              <a:off x="2909060" y="4242535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64214" y="4250226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/>
                <p:cNvSpPr txBox="1"/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=(0,0)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7" name="TextBox 6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Box 67"/>
                <p:cNvSpPr txBox="1"/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8" name="TextBox 6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TextBox 68"/>
                <p:cNvSpPr txBox="1"/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9" name="TextBox 6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1" name="Straight Connector 70"/>
            <p:cNvCxnSpPr/>
            <p:nvPr/>
          </p:nvCxnSpPr>
          <p:spPr>
            <a:xfrm flipV="1">
              <a:off x="806667" y="1744133"/>
              <a:ext cx="3072699" cy="2864708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Rectangle 75"/>
            <p:cNvSpPr/>
            <p:nvPr/>
          </p:nvSpPr>
          <p:spPr>
            <a:xfrm>
              <a:off x="2125566" y="2815032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TextBox 76"/>
                <p:cNvSpPr txBox="1"/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=(3,0)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7" name="TextBox 7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/>
              <p:cNvSpPr txBox="1"/>
              <p:nvPr/>
            </p:nvSpPr>
            <p:spPr>
              <a:xfrm>
                <a:off x="5841871" y="1466861"/>
                <a:ext cx="1190839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71" y="1466861"/>
                <a:ext cx="1190839" cy="102047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/>
              <p:cNvSpPr txBox="1"/>
              <p:nvPr/>
            </p:nvSpPr>
            <p:spPr>
              <a:xfrm>
                <a:off x="7475938" y="1466861"/>
                <a:ext cx="995272" cy="10204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𝑌</m:t>
                      </m:r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mr-IN" i="1" smtClean="0">
                              <a:latin typeface="Cambria Math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mr-IN" altLang="zh-CN" b="0" i="1" smtClean="0">
                                  <a:latin typeface="Cambria Math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b="0" i="1" smtClean="0">
                                    <a:latin typeface="Cambria Math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−1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+1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b="0" i="1" smtClean="0">
                                    <a:latin typeface="Cambria Math" charset="0"/>
                                  </a:rPr>
                                  <m:t>+1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6" name="TextBox 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5938" y="1466861"/>
                <a:ext cx="995272" cy="102047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8" name="Content Placeholder 2"/>
          <p:cNvSpPr>
            <a:spLocks noGrp="1"/>
          </p:cNvSpPr>
          <p:nvPr>
            <p:ph idx="1"/>
          </p:nvPr>
        </p:nvSpPr>
        <p:spPr>
          <a:xfrm>
            <a:off x="5106840" y="819150"/>
            <a:ext cx="3579959" cy="3937000"/>
          </a:xfrm>
        </p:spPr>
        <p:txBody>
          <a:bodyPr/>
          <a:lstStyle/>
          <a:p>
            <a:r>
              <a:rPr lang="zh-CN" altLang="en-US" dirty="0" smtClean="0"/>
              <a:t>训练样本</a:t>
            </a:r>
            <a:endParaRPr lang="en-US" altLang="zh-CN" dirty="0" smtClean="0"/>
          </a:p>
          <a:p>
            <a:pPr lvl="1"/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en-US" dirty="0" smtClean="0"/>
              <a:t>训练目标</a:t>
            </a:r>
            <a:endParaRPr lang="en-US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angle 88"/>
              <p:cNvSpPr/>
              <p:nvPr/>
            </p:nvSpPr>
            <p:spPr>
              <a:xfrm>
                <a:off x="5841871" y="3088947"/>
                <a:ext cx="29868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9" name="Rectangle 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871" y="3088947"/>
                <a:ext cx="2986843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" name="Picture 9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27217" y="3461439"/>
            <a:ext cx="2216150" cy="1196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353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学习模型的损失函数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 smtClean="0"/>
                  <a:t>学习目标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在训练集上，减少错误的分类，最终实现所有分类正确（线性可分）</a:t>
                </a:r>
                <a:endParaRPr lang="en-US" altLang="zh-CN" dirty="0" smtClean="0"/>
              </a:p>
              <a:p>
                <a:endParaRPr lang="en-US" dirty="0"/>
              </a:p>
              <a:p>
                <a:r>
                  <a:rPr lang="zh-CN" altLang="en-US" dirty="0" smtClean="0"/>
                  <a:t>针对任一训练样本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，分类错误表示为</a:t>
                </a:r>
                <a:endParaRPr lang="en-US" altLang="zh-CN" dirty="0" smtClean="0"/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d>
                          <m:dPr>
                            <m:begChr m:val="⟨"/>
                            <m:endChr m:val="⟩"/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𝐰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+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&gt;0</m:t>
                    </m:r>
                  </m:oMath>
                </a14:m>
                <a:endParaRPr lang="en-US" altLang="zh-CN" i="1" dirty="0">
                  <a:solidFill>
                    <a:srgbClr val="C00000"/>
                  </a:solidFill>
                  <a:latin typeface="Cambria Math" charset="0"/>
                </a:endParaRPr>
              </a:p>
              <a:p>
                <a:endParaRPr lang="en-US" altLang="zh-CN" dirty="0"/>
              </a:p>
              <a:p>
                <a:r>
                  <a:rPr lang="zh-CN" altLang="en-US" dirty="0" smtClean="0"/>
                  <a:t>针对整个训练集，损失函数</a:t>
                </a:r>
                <a:r>
                  <a:rPr lang="en-US" altLang="zh-CN" dirty="0" smtClean="0"/>
                  <a:t>Loss</a:t>
                </a:r>
                <a:r>
                  <a:rPr lang="zh-CN" altLang="en-US" dirty="0" smtClean="0"/>
                  <a:t> </a:t>
                </a:r>
                <a:r>
                  <a:rPr lang="en-US" altLang="zh-CN" dirty="0" smtClean="0"/>
                  <a:t>Function</a:t>
                </a:r>
                <a:r>
                  <a:rPr lang="zh-CN" altLang="en-US" dirty="0" smtClean="0"/>
                  <a:t>可以定义为</a:t>
                </a:r>
                <a:endParaRPr lang="en-US" altLang="zh-CN" dirty="0" smtClean="0"/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dirty="0" smtClean="0">
                        <a:solidFill>
                          <a:srgbClr val="C00000"/>
                        </a:solidFill>
                        <a:latin typeface="Cambria Math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b="0" i="1" dirty="0" smtClean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 smtClean="0">
                  <a:solidFill>
                    <a:srgbClr val="C00000"/>
                  </a:solidFill>
                </a:endParaRPr>
              </a:p>
              <a:p>
                <a:pPr lvl="1">
                  <a:buFont typeface="Arial" charset="0"/>
                  <a:buChar char="•"/>
                </a:pPr>
                <a:r>
                  <a:rPr lang="zh-CN" altLang="en-US" dirty="0" smtClean="0"/>
                  <a:t>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𝑀</m:t>
                    </m:r>
                  </m:oMath>
                </a14:m>
                <a:r>
                  <a:rPr lang="zh-CN" altLang="en-US" dirty="0" smtClean="0"/>
                  <a:t>为所有错误分类实例的集合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240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如何训练感知机模型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6273800" cy="246591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计算损失函数对于参数的梯度</a:t>
                </a:r>
                <a:endParaRPr lang="en-US" altLang="zh-CN" dirty="0" smtClean="0"/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solidFill>
                          <a:srgbClr val="C00000"/>
                        </a:solidFill>
                        <a:latin typeface="Cambria Math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 smtClean="0">
                  <a:solidFill>
                    <a:srgbClr val="C00000"/>
                  </a:solidFill>
                </a:endParaRPr>
              </a:p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 smtClean="0"/>
              </a:p>
              <a:p>
                <a:endParaRPr lang="en-US" altLang="zh-CN" dirty="0" smtClean="0"/>
              </a:p>
              <a:p>
                <a:r>
                  <a:rPr lang="zh-CN" altLang="en-US" dirty="0" smtClean="0"/>
                  <a:t>观察感知机的训练算法</a:t>
                </a:r>
                <a:endParaRPr lang="en-US" altLang="zh-CN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6273800" cy="2465917"/>
              </a:xfrm>
              <a:blipFill rotWithShape="0">
                <a:blip r:embed="rId2"/>
                <a:stretch>
                  <a:fillRect l="-875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51596" y="3645723"/>
                <a:ext cx="2470537" cy="116147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请计算梯度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 smtClean="0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rgbClr val="C00000"/>
                            </a:solidFill>
                            <a:latin typeface="Cambria Math" charset="0"/>
                            <a:ea typeface="Cambria Math" charset="0"/>
                            <a:cs typeface="Cambria Math" charset="0"/>
                          </a:rPr>
                          <m:t>𝛻</m:t>
                        </m:r>
                      </m:e>
                      <m:sub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</m:sub>
                    </m:sSub>
                    <m:r>
                      <a:rPr lang="en-US" altLang="zh-CN" sz="1600" i="1" dirty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600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sz="16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n-US" altLang="zh-CN" sz="1600" b="1" dirty="0" smtClean="0">
                  <a:solidFill>
                    <a:srgbClr val="C00000"/>
                  </a:solidFill>
                  <a:latin typeface="Helvetica Neue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b="1" dirty="0" smtClean="0">
                    <a:solidFill>
                      <a:srgbClr val="C00000"/>
                    </a:solidFill>
                    <a:latin typeface="Helvetica Neue" charset="0"/>
                  </a:rPr>
                  <a:t>A.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1600" b="1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altLang="zh-CN" sz="1600" b="1" dirty="0" smtClean="0">
                  <a:solidFill>
                    <a:srgbClr val="C00000"/>
                  </a:solidFill>
                  <a:latin typeface="Helvetica Neue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b="1" dirty="0" smtClean="0">
                    <a:solidFill>
                      <a:srgbClr val="C00000"/>
                    </a:solidFill>
                    <a:latin typeface="Helvetica Neue" charset="0"/>
                  </a:rPr>
                  <a:t>B.</a:t>
                </a:r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solidFill>
                          <a:srgbClr val="C00000"/>
                        </a:solidFill>
                        <a:latin typeface="Cambria Math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sz="1600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1600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zh-CN" altLang="en-US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1596" y="3645723"/>
                <a:ext cx="2470537" cy="1161472"/>
              </a:xfrm>
              <a:prstGeom prst="rect">
                <a:avLst/>
              </a:prstGeom>
              <a:blipFill rotWithShape="0">
                <a:blip r:embed="rId3"/>
                <a:stretch>
                  <a:fillRect l="-1481" t="-2094" b="-439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524412" y="3678107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5545" y="819150"/>
            <a:ext cx="3810000" cy="41529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-152317" y="2968554"/>
                <a:ext cx="4008533" cy="70955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  <a:buFont typeface="Arial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𝐿</m:t>
                    </m:r>
                    <m:d>
                      <m:dPr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b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𝐰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,</m:t>
                        </m:r>
                        <m:r>
                          <a:rPr lang="en-US" altLang="zh-CN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i="1" dirty="0">
                        <a:solidFill>
                          <a:srgbClr val="C00000"/>
                        </a:solidFill>
                        <a:latin typeface="Cambria Math" charset="0"/>
                      </a:rPr>
                      <m:t>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∈</m:t>
                        </m:r>
                        <m:r>
                          <a:rPr lang="en-US" altLang="zh-CN" i="1" dirty="0">
                            <a:solidFill>
                              <a:srgbClr val="C00000"/>
                            </a:solidFill>
                            <a:latin typeface="Cambria Math" charset="0"/>
                          </a:rPr>
                          <m:t>𝑀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zh-CN" i="1">
                                    <a:solidFill>
                                      <a:srgbClr val="C00000"/>
                                    </a:solidFill>
                                    <a:latin typeface="Cambria Math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𝐰</m:t>
                                </m:r>
                                <m:r>
                                  <a:rPr lang="en-US" altLang="zh-CN" b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b="1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solidFill>
                                          <a:srgbClr val="C00000"/>
                                        </a:solidFill>
                                        <a:latin typeface="Cambria Math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d>
                      </m:e>
                    </m:nary>
                  </m:oMath>
                </a14:m>
                <a:endParaRPr lang="en-US" altLang="zh-C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2317" y="2968554"/>
                <a:ext cx="4008533" cy="709553"/>
              </a:xfrm>
              <a:prstGeom prst="rect">
                <a:avLst/>
              </a:prstGeom>
              <a:blipFill rotWithShape="0">
                <a:blip r:embed="rId5"/>
                <a:stretch>
                  <a:fillRect t="-30172" b="-818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2523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随机梯度下降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49"/>
                <a:ext cx="4140200" cy="178755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随机梯度下降（</a:t>
                </a:r>
                <a:r>
                  <a:rPr lang="en-US" altLang="zh-CN" dirty="0" smtClean="0"/>
                  <a:t>Stochastic Gradient Descent</a:t>
                </a:r>
                <a:r>
                  <a:rPr lang="zh-CN" altLang="en-US" dirty="0" smtClean="0"/>
                  <a:t>）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选择任意分类错误实例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i="1">
                        <a:latin typeface="Cambria Math" charset="0"/>
                      </a:rPr>
                      <m:t>)</m:t>
                    </m:r>
                  </m:oMath>
                </a14:m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按照梯度的负方向更新参数</a:t>
                </a:r>
                <a:endParaRPr lang="en-US" altLang="zh-CN" dirty="0" smtClean="0"/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𝜂</m:t>
                    </m:r>
                  </m:oMath>
                </a14:m>
                <a:r>
                  <a:rPr lang="zh-CN" altLang="en-US" dirty="0" smtClean="0"/>
                  <a:t>：学习率</a:t>
                </a:r>
                <a:r>
                  <a:rPr lang="en-US" altLang="zh-CN" dirty="0" smtClean="0">
                    <a:latin typeface="Calibri" charset="0"/>
                    <a:ea typeface="Calibri" charset="0"/>
                    <a:cs typeface="Calibri" charset="0"/>
                  </a:rPr>
                  <a:t>Learning</a:t>
                </a:r>
                <a:r>
                  <a:rPr lang="zh-CN" altLang="en-US" dirty="0" smtClean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r>
                  <a:rPr lang="en-US" altLang="zh-CN" dirty="0" smtClean="0">
                    <a:latin typeface="Calibri" charset="0"/>
                    <a:ea typeface="Calibri" charset="0"/>
                    <a:cs typeface="Calibri" charset="0"/>
                  </a:rPr>
                  <a:t>Rate</a:t>
                </a:r>
                <a:r>
                  <a:rPr lang="zh-CN" altLang="en-US" dirty="0" smtClean="0">
                    <a:latin typeface="Calibri" charset="0"/>
                    <a:ea typeface="Calibri" charset="0"/>
                    <a:cs typeface="Calibri" charset="0"/>
                  </a:rPr>
                  <a:t> </a:t>
                </a:r>
                <a:endParaRPr lang="en-US" altLang="zh-CN" dirty="0" smtClean="0">
                  <a:latin typeface="Calibri" charset="0"/>
                  <a:ea typeface="Calibri" charset="0"/>
                  <a:cs typeface="Calibri" charset="0"/>
                </a:endParaRP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49"/>
                <a:ext cx="4140200" cy="1787551"/>
              </a:xfrm>
              <a:blipFill rotWithShape="0">
                <a:blip r:embed="rId3"/>
                <a:stretch>
                  <a:fillRect l="-1325" t="-17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330200" y="2434166"/>
                <a:ext cx="40351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" y="2434166"/>
                <a:ext cx="4035144" cy="64633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330200" y="3540151"/>
                <a:ext cx="3655616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C00000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𝛻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i="1" dirty="0">
                          <a:solidFill>
                            <a:srgbClr val="C00000"/>
                          </a:solidFill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altLang="zh-CN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𝑏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200" y="3540151"/>
                <a:ext cx="3655616" cy="646331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5545" y="819150"/>
            <a:ext cx="3810000" cy="41529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4365344" y="3080497"/>
            <a:ext cx="2374123" cy="610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3985816" y="3976594"/>
            <a:ext cx="2753651" cy="620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6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随机梯度下降</a:t>
            </a:r>
            <a:r>
              <a:rPr lang="en-US" altLang="zh-CN" dirty="0" smtClean="0"/>
              <a:t>SGD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4922328" cy="3937000"/>
          </a:xfrm>
        </p:spPr>
        <p:txBody>
          <a:bodyPr/>
          <a:lstStyle/>
          <a:p>
            <a:r>
              <a:rPr lang="zh-CN" altLang="en-US" dirty="0" smtClean="0"/>
              <a:t>深度学习训练算法的基础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435" y="1264775"/>
            <a:ext cx="4567766" cy="342161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068620" y="1264775"/>
            <a:ext cx="24705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Helvetica Neue" charset="0"/>
              </a:rPr>
              <a:t>如果损失函数为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541436" y="1297159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605552" y="1759835"/>
                <a:ext cx="3433697" cy="7323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𝐿</m:t>
                      </m:r>
                      <m:d>
                        <m:dPr>
                          <m:ctrlPr>
                            <a:rPr lang="en-US" altLang="zh-CN" sz="1600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600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1600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,</m:t>
                          </m:r>
                          <m:r>
                            <a:rPr lang="en-US" altLang="zh-CN" sz="16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1600" i="1" dirty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sz="1600" i="1" dirty="0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sz="1600" b="0" i="1" dirty="0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600" b="0" i="1" dirty="0" smtClean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altLang="zh-CN" sz="1600" i="1" dirty="0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6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600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sz="1600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1600" b="0" i="1" dirty="0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1600" b="0" i="1" dirty="0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1600" b="0" i="1" smtClean="0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altLang="zh-CN" sz="1600" i="1" smtClean="0">
                                          <a:solidFill>
                                            <a:srgbClr val="C00000"/>
                                          </a:solidFill>
                                          <a:latin typeface="Cambria Math" charset="0"/>
                                        </a:rPr>
                                      </m:ctrlPr>
                                    </m:dPr>
                                    <m:e>
                                      <m:d>
                                        <m:dPr>
                                          <m:begChr m:val="⟨"/>
                                          <m:endChr m:val="⟩"/>
                                          <m:ctrlPr>
                                            <a:rPr lang="en-US" altLang="zh-CN" sz="1600" i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1600" b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𝐰</m:t>
                                          </m:r>
                                          <m:r>
                                            <a:rPr lang="en-US" altLang="zh-CN" sz="1600" b="1">
                                              <a:solidFill>
                                                <a:srgbClr val="C0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1600" b="1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1600" b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𝐱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1600" i="1">
                                                  <a:solidFill>
                                                    <a:srgbClr val="C00000"/>
                                                  </a:solidFill>
                                                  <a:latin typeface="Cambria Math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  <m: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CN" sz="1600" i="1">
                                          <a:solidFill>
                                            <a:srgbClr val="C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600" b="0" i="1" smtClean="0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552" y="1759835"/>
                <a:ext cx="3433697" cy="732316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5736906" y="2571213"/>
                <a:ext cx="2687427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请计算参数</a:t>
                </a:r>
                <a14:m>
                  <m:oMath xmlns:m="http://schemas.openxmlformats.org/officeDocument/2006/math">
                    <m:r>
                      <a:rPr lang="en-US" altLang="zh-CN" sz="1600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</m:oMath>
                </a14:m>
                <a:r>
                  <a:rPr lang="zh-CN" altLang="en-US" sz="1600" b="1" dirty="0" smtClean="0">
                    <a:solidFill>
                      <a:srgbClr val="C00000"/>
                    </a:solidFill>
                    <a:latin typeface="Helvetica Neue" charset="0"/>
                  </a:rPr>
                  <a:t>应该如何更新</a:t>
                </a:r>
                <a:endParaRPr lang="zh-CN" altLang="en-US" sz="1600" b="1" dirty="0">
                  <a:solidFill>
                    <a:srgbClr val="C00000"/>
                  </a:solidFill>
                  <a:latin typeface="Helvetica Neue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906" y="2571213"/>
                <a:ext cx="2687427" cy="338554"/>
              </a:xfrm>
              <a:prstGeom prst="rect">
                <a:avLst/>
              </a:prstGeom>
              <a:blipFill rotWithShape="0">
                <a:blip r:embed="rId5"/>
                <a:stretch>
                  <a:fillRect l="-1134" t="-7273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5379528" y="2988829"/>
                <a:ext cx="2178032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528" y="2988829"/>
                <a:ext cx="2178032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379528" y="3432836"/>
                <a:ext cx="38857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528" y="3432836"/>
                <a:ext cx="3885744" cy="6463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379528" y="3903717"/>
                <a:ext cx="3885744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1">
                  <a:lnSpc>
                    <a:spcPct val="2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=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𝜂</m:t>
                      </m:r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solidFill>
                            <a:srgbClr val="C00000"/>
                          </a:solidFill>
                          <a:latin typeface="Cambria Math" charset="0"/>
                        </a:rPr>
                        <m:t>−</m:t>
                      </m:r>
                      <m:d>
                        <m:dPr>
                          <m:ctrlP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i="1">
                                  <a:solidFill>
                                    <a:srgbClr val="C00000"/>
                                  </a:solidFill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b="1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zh-CN" b="1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1">
                                      <a:solidFill>
                                        <a:srgbClr val="C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solidFill>
                                        <a:srgbClr val="C00000"/>
                                      </a:solidFill>
                                      <a:latin typeface="Cambria Math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C00000"/>
                          </a:solidFill>
                          <a:latin typeface="Cambria Math" charset="0"/>
                        </a:rPr>
                        <m:t>)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rgbClr val="C00000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528" y="3903717"/>
                <a:ext cx="3885744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5475855" y="3184213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smtClean="0">
                <a:solidFill>
                  <a:srgbClr val="C00000"/>
                </a:solidFill>
                <a:latin typeface="Helvetica Neue" charset="0"/>
              </a:rPr>
              <a:t>A</a:t>
            </a:r>
            <a:r>
              <a:rPr lang="en-US" altLang="zh-CN" b="1">
                <a:solidFill>
                  <a:srgbClr val="C00000"/>
                </a:solidFill>
                <a:latin typeface="Helvetica Neue" charset="0"/>
              </a:rPr>
              <a:t>.</a:t>
            </a:r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475855" y="3635160"/>
            <a:ext cx="4074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Helvetica Neue" charset="0"/>
              </a:rPr>
              <a:t>B.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5475855" y="4084890"/>
            <a:ext cx="420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 smtClean="0">
                <a:solidFill>
                  <a:srgbClr val="C00000"/>
                </a:solidFill>
                <a:latin typeface="Helvetica Neue" charset="0"/>
              </a:rPr>
              <a:t>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8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感知机训练算法的实现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3869267" cy="3937000"/>
              </a:xfrm>
            </p:spPr>
            <p:txBody>
              <a:bodyPr/>
              <a:lstStyle/>
              <a:p>
                <a:r>
                  <a:rPr lang="zh-CN" altLang="en-US" dirty="0" smtClean="0"/>
                  <a:t>使用</a:t>
                </a:r>
                <a:r>
                  <a:rPr lang="en-US" altLang="zh-CN" dirty="0" err="1" smtClean="0"/>
                  <a:t>NumPy</a:t>
                </a:r>
                <a:r>
                  <a:rPr lang="zh-CN" altLang="en-US" dirty="0" smtClean="0"/>
                  <a:t>实现</a:t>
                </a:r>
                <a:endParaRPr lang="en-US" altLang="zh-CN" dirty="0" smtClean="0"/>
              </a:p>
              <a:p>
                <a:pPr lvl="1"/>
                <a:r>
                  <a:rPr lang="zh-CN" altLang="en-US" dirty="0" smtClean="0"/>
                  <a:t>输入变量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训练特征：</a:t>
                </a:r>
                <a:r>
                  <a:rPr lang="en-US" altLang="zh-CN" dirty="0" err="1" smtClean="0"/>
                  <a:t>X_train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训练标签：</a:t>
                </a:r>
                <a:r>
                  <a:rPr lang="en-US" altLang="zh-CN" dirty="0" err="1" smtClean="0"/>
                  <a:t>y_train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学习率：</a:t>
                </a:r>
                <a:r>
                  <a:rPr lang="en-US" altLang="zh-CN" dirty="0" smtClean="0"/>
                  <a:t>eta</a:t>
                </a:r>
              </a:p>
              <a:p>
                <a:pPr lvl="1"/>
                <a:r>
                  <a:rPr lang="zh-CN" altLang="en-US" dirty="0" smtClean="0"/>
                  <a:t>输出变量</a:t>
                </a:r>
                <a:endParaRPr lang="en-US" altLang="zh-CN" dirty="0" smtClean="0"/>
              </a:p>
              <a:p>
                <a:pPr lvl="2"/>
                <a:r>
                  <a:rPr lang="zh-CN" altLang="en-US" dirty="0" smtClean="0"/>
                  <a:t>参数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charset="0"/>
                      </a:rPr>
                      <m:t>,</m:t>
                    </m:r>
                    <m:r>
                      <a:rPr lang="en-US" altLang="zh-CN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altLang="zh-CN" dirty="0" smtClean="0"/>
              </a:p>
              <a:p>
                <a:pPr lvl="1"/>
                <a:endParaRPr lang="en-US" altLang="zh-CN" dirty="0" smtClean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3869267" cy="3937000"/>
              </a:xfrm>
              <a:blipFill rotWithShape="0">
                <a:blip r:embed="rId3"/>
                <a:stretch>
                  <a:fillRect l="-141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467" y="897467"/>
            <a:ext cx="4618567" cy="412954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491863" y="3576451"/>
            <a:ext cx="24705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 smtClean="0">
                <a:solidFill>
                  <a:srgbClr val="C00000"/>
                </a:solidFill>
                <a:latin typeface="Helvetica Neue" charset="0"/>
              </a:rPr>
              <a:t>请填写</a:t>
            </a:r>
            <a:r>
              <a:rPr lang="zh-CN" altLang="en-US" sz="1600" b="1" smtClean="0">
                <a:solidFill>
                  <a:srgbClr val="C00000"/>
                </a:solidFill>
                <a:latin typeface="Helvetica Neue" charset="0"/>
              </a:rPr>
              <a:t>右侧的代码</a:t>
            </a:r>
            <a:endParaRPr lang="zh-CN" altLang="en-US" sz="1600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52503" y="3523892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97988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简单了解：感知机的对偶形式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3970867" cy="916517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 smtClean="0"/>
                  <a:t>如果初始化</a:t>
                </a:r>
                <a:r>
                  <a:rPr lang="zh-CN" altLang="en-US" dirty="0" smtClean="0">
                    <a:solidFill>
                      <a:schemeClr val="tx1"/>
                    </a:solidFill>
                  </a:rPr>
                  <a:t>参数</a:t>
                </a:r>
                <a14:m>
                  <m:oMath xmlns:m="http://schemas.openxmlformats.org/officeDocument/2006/math">
                    <m:r>
                      <a:rPr lang="en-US" altLang="zh-CN" b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←</m:t>
                    </m:r>
                    <m:r>
                      <a:rPr lang="en-US" altLang="zh-CN" b="1" i="1" smtClean="0">
                        <a:solidFill>
                          <a:schemeClr val="tx1"/>
                        </a:solidFill>
                        <a:latin typeface="Cambria Math" charset="0"/>
                      </a:rPr>
                      <m:t>𝟎</m:t>
                    </m:r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，而实例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被分错的次数是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 smtClean="0">
                    <a:solidFill>
                      <a:schemeClr val="tx1"/>
                    </a:solidFill>
                  </a:rPr>
                  <a:t>次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3970867" cy="916517"/>
              </a:xfrm>
              <a:blipFill rotWithShape="0">
                <a:blip r:embed="rId3"/>
                <a:stretch>
                  <a:fillRect l="-1382" t="-33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624731" y="1860551"/>
                <a:ext cx="3635803" cy="67031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𝜂</m:t>
                          </m:r>
                        </m:e>
                      </m:nary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is-I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𝐷</m:t>
                          </m:r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CN" b="0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731" y="1860551"/>
                <a:ext cx="3635803" cy="67031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 txBox="1">
                <a:spLocks/>
              </p:cNvSpPr>
              <p:nvPr/>
            </p:nvSpPr>
            <p:spPr>
              <a:xfrm>
                <a:off x="457200" y="3147484"/>
                <a:ext cx="3141133" cy="110278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3429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1pPr>
                <a:lvl2pPr marL="742950" indent="-28575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8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–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»"/>
                  <a:defRPr sz="1400" kern="120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 smtClean="0"/>
                  <a:t>训练的目标变为寻找每个实例的“权重”：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charset="0"/>
                          </a:rPr>
                          <m:t>𝛼</m:t>
                        </m:r>
                      </m:e>
                      <m:sub>
                        <m:r>
                          <a:rPr lang="en-US" altLang="zh-CN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147484"/>
                <a:ext cx="3141133" cy="1102783"/>
              </a:xfrm>
              <a:prstGeom prst="rect">
                <a:avLst/>
              </a:prstGeom>
              <a:blipFill rotWithShape="0">
                <a:blip r:embed="rId5"/>
                <a:stretch>
                  <a:fillRect l="-1748" t="-2762" r="-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4373918" y="1092200"/>
            <a:ext cx="4499150" cy="3465988"/>
            <a:chOff x="4373918" y="1092200"/>
            <a:chExt cx="4499150" cy="3465988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1920"/>
            <a:stretch/>
          </p:blipFill>
          <p:spPr>
            <a:xfrm>
              <a:off x="4373918" y="1092200"/>
              <a:ext cx="4499150" cy="3465988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8221133" y="4131733"/>
              <a:ext cx="651934" cy="29633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4209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课堂练习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6155267" cy="3937000"/>
          </a:xfrm>
        </p:spPr>
        <p:txBody>
          <a:bodyPr/>
          <a:lstStyle/>
          <a:p>
            <a:r>
              <a:rPr lang="zh-CN" altLang="en-US" dirty="0" smtClean="0"/>
              <a:t>请按照不同的顺序输入实例，观察最后的结果</a:t>
            </a:r>
            <a:endParaRPr lang="en-US" altLang="zh-CN" dirty="0" smtClean="0"/>
          </a:p>
          <a:p>
            <a:pPr lvl="1"/>
            <a:r>
              <a:rPr lang="pt-BR" dirty="0" err="1"/>
              <a:t>X</a:t>
            </a:r>
            <a:r>
              <a:rPr lang="pt-BR" dirty="0"/>
              <a:t>=[[0,0],[2,2],[2,0],[3,0</a:t>
            </a:r>
            <a:r>
              <a:rPr lang="pt-BR" dirty="0" smtClean="0"/>
              <a:t>]]</a:t>
            </a:r>
            <a:r>
              <a:rPr lang="zh-CN" altLang="en-US" dirty="0" smtClean="0"/>
              <a:t> </a:t>
            </a:r>
            <a:r>
              <a:rPr lang="en-US" altLang="zh-CN" dirty="0" smtClean="0"/>
              <a:t>;</a:t>
            </a:r>
            <a:r>
              <a:rPr lang="zh-CN" altLang="en-US" dirty="0" smtClean="0"/>
              <a:t> </a:t>
            </a:r>
            <a:r>
              <a:rPr lang="mr-IN" altLang="zh-CN" dirty="0" err="1"/>
              <a:t>y</a:t>
            </a:r>
            <a:r>
              <a:rPr lang="mr-IN" altLang="zh-CN" dirty="0"/>
              <a:t>=[-1,-1,1,1]</a:t>
            </a:r>
            <a:endParaRPr lang="pt-BR" dirty="0" smtClean="0"/>
          </a:p>
          <a:p>
            <a:pPr lvl="1"/>
            <a:r>
              <a:rPr lang="pt-BR" dirty="0" err="1"/>
              <a:t>X</a:t>
            </a:r>
            <a:r>
              <a:rPr lang="pt-BR" dirty="0"/>
              <a:t>=[[0,0],[2,0],[3,0],[2,2</a:t>
            </a:r>
            <a:r>
              <a:rPr lang="pt-BR" dirty="0" smtClean="0"/>
              <a:t>]]</a:t>
            </a:r>
            <a:r>
              <a:rPr lang="en-US" altLang="zh-CN" dirty="0" smtClean="0"/>
              <a:t>;</a:t>
            </a:r>
            <a:r>
              <a:rPr lang="zh-CN" altLang="en-US" dirty="0" smtClean="0"/>
              <a:t> </a:t>
            </a:r>
            <a:r>
              <a:rPr lang="mr-IN" altLang="zh-CN" dirty="0" err="1"/>
              <a:t>y</a:t>
            </a:r>
            <a:r>
              <a:rPr lang="mr-IN" altLang="zh-CN" dirty="0"/>
              <a:t>=[-1,1,1,-1]</a:t>
            </a:r>
            <a:endParaRPr lang="en-US" dirty="0"/>
          </a:p>
        </p:txBody>
      </p:sp>
      <p:grpSp>
        <p:nvGrpSpPr>
          <p:cNvPr id="48" name="Group 47"/>
          <p:cNvGrpSpPr/>
          <p:nvPr/>
        </p:nvGrpSpPr>
        <p:grpSpPr>
          <a:xfrm>
            <a:off x="0" y="1617134"/>
            <a:ext cx="6095200" cy="3347307"/>
            <a:chOff x="0" y="1617134"/>
            <a:chExt cx="6095200" cy="3347307"/>
          </a:xfrm>
        </p:grpSpPr>
        <p:grpSp>
          <p:nvGrpSpPr>
            <p:cNvPr id="4" name="Group 3"/>
            <p:cNvGrpSpPr/>
            <p:nvPr/>
          </p:nvGrpSpPr>
          <p:grpSpPr>
            <a:xfrm>
              <a:off x="0" y="1617134"/>
              <a:ext cx="4619528" cy="3347307"/>
              <a:chOff x="45605" y="1261534"/>
              <a:chExt cx="4619528" cy="3347307"/>
            </a:xfrm>
          </p:grpSpPr>
          <p:cxnSp>
            <p:nvCxnSpPr>
              <p:cNvPr id="5" name="Straight Arrow Connector 4"/>
              <p:cNvCxnSpPr/>
              <p:nvPr/>
            </p:nvCxnSpPr>
            <p:spPr>
              <a:xfrm flipV="1">
                <a:off x="641995" y="4343560"/>
                <a:ext cx="4023138" cy="904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" name="Straight Arrow Connector 5"/>
              <p:cNvCxnSpPr/>
              <p:nvPr/>
            </p:nvCxnSpPr>
            <p:spPr>
              <a:xfrm flipV="1">
                <a:off x="641995" y="1261534"/>
                <a:ext cx="0" cy="309106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7" name="Group 6"/>
              <p:cNvGrpSpPr/>
              <p:nvPr/>
            </p:nvGrpSpPr>
            <p:grpSpPr>
              <a:xfrm>
                <a:off x="1402033" y="4259168"/>
                <a:ext cx="806824" cy="87408"/>
                <a:chOff x="2655099" y="4293034"/>
                <a:chExt cx="806824" cy="87408"/>
              </a:xfrm>
            </p:grpSpPr>
            <p:cxnSp>
              <p:nvCxnSpPr>
                <p:cNvPr id="33" name="Straight Connector 32"/>
                <p:cNvCxnSpPr/>
                <p:nvPr/>
              </p:nvCxnSpPr>
              <p:spPr>
                <a:xfrm>
                  <a:off x="2655099" y="4380441"/>
                  <a:ext cx="80682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/>
                <p:nvPr/>
              </p:nvCxnSpPr>
              <p:spPr>
                <a:xfrm flipV="1">
                  <a:off x="2655099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/>
              <p:cNvGrpSpPr/>
              <p:nvPr/>
            </p:nvGrpSpPr>
            <p:grpSpPr>
              <a:xfrm>
                <a:off x="2208856" y="4256153"/>
                <a:ext cx="806824" cy="87408"/>
                <a:chOff x="2655099" y="4293034"/>
                <a:chExt cx="806824" cy="87408"/>
              </a:xfrm>
            </p:grpSpPr>
            <p:cxnSp>
              <p:nvCxnSpPr>
                <p:cNvPr id="30" name="Straight Connector 29"/>
                <p:cNvCxnSpPr/>
                <p:nvPr/>
              </p:nvCxnSpPr>
              <p:spPr>
                <a:xfrm>
                  <a:off x="2655099" y="4380441"/>
                  <a:ext cx="80682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/>
                <p:cNvCxnSpPr/>
                <p:nvPr/>
              </p:nvCxnSpPr>
              <p:spPr>
                <a:xfrm flipV="1">
                  <a:off x="2655099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/>
              <p:cNvGrpSpPr/>
              <p:nvPr/>
            </p:nvGrpSpPr>
            <p:grpSpPr>
              <a:xfrm>
                <a:off x="3015678" y="4256153"/>
                <a:ext cx="806824" cy="87408"/>
                <a:chOff x="2655099" y="4293034"/>
                <a:chExt cx="806824" cy="87408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>
                  <a:off x="2655099" y="4380441"/>
                  <a:ext cx="806824" cy="0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V="1">
                  <a:off x="2655099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" name="Group 9"/>
              <p:cNvGrpSpPr/>
              <p:nvPr/>
            </p:nvGrpSpPr>
            <p:grpSpPr>
              <a:xfrm rot="5400000">
                <a:off x="332561" y="3209133"/>
                <a:ext cx="706276" cy="87408"/>
                <a:chOff x="2755647" y="4293034"/>
                <a:chExt cx="706276" cy="87408"/>
              </a:xfrm>
            </p:grpSpPr>
            <p:cxnSp>
              <p:nvCxnSpPr>
                <p:cNvPr id="24" name="Straight Connector 23"/>
                <p:cNvCxnSpPr/>
                <p:nvPr/>
              </p:nvCxnSpPr>
              <p:spPr>
                <a:xfrm rot="16200000">
                  <a:off x="3114139" y="4032657"/>
                  <a:ext cx="0" cy="69556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/>
                <p:nvPr/>
              </p:nvCxnSpPr>
              <p:spPr>
                <a:xfrm flipV="1">
                  <a:off x="2755647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10"/>
              <p:cNvGrpSpPr/>
              <p:nvPr/>
            </p:nvGrpSpPr>
            <p:grpSpPr>
              <a:xfrm rot="5400000">
                <a:off x="332561" y="2502857"/>
                <a:ext cx="706276" cy="87408"/>
                <a:chOff x="2755647" y="4293034"/>
                <a:chExt cx="706276" cy="87408"/>
              </a:xfrm>
            </p:grpSpPr>
            <p:cxnSp>
              <p:nvCxnSpPr>
                <p:cNvPr id="21" name="Straight Connector 20"/>
                <p:cNvCxnSpPr/>
                <p:nvPr/>
              </p:nvCxnSpPr>
              <p:spPr>
                <a:xfrm rot="16200000">
                  <a:off x="3114139" y="4032657"/>
                  <a:ext cx="0" cy="695569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/>
                <p:nvPr/>
              </p:nvCxnSpPr>
              <p:spPr>
                <a:xfrm flipV="1">
                  <a:off x="2755647" y="4293035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/>
                <p:cNvCxnSpPr/>
                <p:nvPr/>
              </p:nvCxnSpPr>
              <p:spPr>
                <a:xfrm flipV="1">
                  <a:off x="3461923" y="4293034"/>
                  <a:ext cx="0" cy="87407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" name="Oval 11"/>
              <p:cNvSpPr/>
              <p:nvPr/>
            </p:nvSpPr>
            <p:spPr>
              <a:xfrm>
                <a:off x="2111489" y="4242534"/>
                <a:ext cx="194733" cy="194733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/>
              <p:cNvSpPr/>
              <p:nvPr/>
            </p:nvSpPr>
            <p:spPr>
              <a:xfrm>
                <a:off x="2909060" y="4242535"/>
                <a:ext cx="194733" cy="194733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/>
              <p:cNvSpPr/>
              <p:nvPr/>
            </p:nvSpPr>
            <p:spPr>
              <a:xfrm>
                <a:off x="564214" y="4250226"/>
                <a:ext cx="169333" cy="16933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/>
                  <p:cNvSpPr txBox="1"/>
                  <p:nvPr/>
                </p:nvSpPr>
                <p:spPr>
                  <a:xfrm>
                    <a:off x="45605" y="3900041"/>
                    <a:ext cx="125906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=(0,0)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605" y="3900041"/>
                    <a:ext cx="1259063" cy="369332"/>
                  </a:xfrm>
                  <a:prstGeom prst="rect">
                    <a:avLst/>
                  </a:prstGeom>
                  <a:blipFill rotWithShape="0">
                    <a:blip r:embed="rId3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/>
                  <p:cNvSpPr txBox="1"/>
                  <p:nvPr/>
                </p:nvSpPr>
                <p:spPr>
                  <a:xfrm>
                    <a:off x="1839408" y="2238513"/>
                    <a:ext cx="1264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=(2,2)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6" name="Text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39408" y="2238513"/>
                    <a:ext cx="1264385" cy="369332"/>
                  </a:xfrm>
                  <a:prstGeom prst="rect">
                    <a:avLst/>
                  </a:prstGeom>
                  <a:blipFill rotWithShape="0">
                    <a:blip r:embed="rId4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TextBox 16"/>
                  <p:cNvSpPr txBox="1"/>
                  <p:nvPr/>
                </p:nvSpPr>
                <p:spPr>
                  <a:xfrm>
                    <a:off x="1674029" y="3745859"/>
                    <a:ext cx="1264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=(2,0)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7" name="TextBox 1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74029" y="3745859"/>
                    <a:ext cx="1264385" cy="369332"/>
                  </a:xfrm>
                  <a:prstGeom prst="rect">
                    <a:avLst/>
                  </a:prstGeom>
                  <a:blipFill rotWithShape="0">
                    <a:blip r:embed="rId5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8" name="Straight Connector 17"/>
              <p:cNvCxnSpPr/>
              <p:nvPr/>
            </p:nvCxnSpPr>
            <p:spPr>
              <a:xfrm flipV="1">
                <a:off x="806667" y="1744133"/>
                <a:ext cx="3072699" cy="2864708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ectangle 18"/>
              <p:cNvSpPr/>
              <p:nvPr/>
            </p:nvSpPr>
            <p:spPr>
              <a:xfrm>
                <a:off x="2125566" y="2815032"/>
                <a:ext cx="169333" cy="169333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/>
                  <p:cNvSpPr txBox="1"/>
                  <p:nvPr/>
                </p:nvSpPr>
                <p:spPr>
                  <a:xfrm>
                    <a:off x="3015678" y="3709120"/>
                    <a:ext cx="1264385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=(3,0)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0" name="TextBox 1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015678" y="3709120"/>
                    <a:ext cx="1264385" cy="369332"/>
                  </a:xfrm>
                  <a:prstGeom prst="rect">
                    <a:avLst/>
                  </a:prstGeom>
                  <a:blipFill rotWithShape="0">
                    <a:blip r:embed="rId6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6" name="Rectangle 35"/>
            <p:cNvSpPr/>
            <p:nvPr/>
          </p:nvSpPr>
          <p:spPr>
            <a:xfrm>
              <a:off x="4945526" y="2363280"/>
              <a:ext cx="1149674" cy="12003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[ 2. -2. -1</a:t>
              </a:r>
              <a:r>
                <a:rPr lang="en-US" dirty="0" smtClean="0">
                  <a:solidFill>
                    <a:srgbClr val="FF0000"/>
                  </a:solidFill>
                </a:rPr>
                <a:t>.]</a:t>
              </a:r>
            </a:p>
            <a:p>
              <a:endParaRPr lang="en-US" dirty="0">
                <a:solidFill>
                  <a:srgbClr val="FF0000"/>
                </a:solidFill>
              </a:endParaRPr>
            </a:p>
            <a:p>
              <a:endParaRPr lang="en-US" dirty="0" smtClean="0">
                <a:solidFill>
                  <a:srgbClr val="FF0000"/>
                </a:solidFill>
              </a:endParaRPr>
            </a:p>
            <a:p>
              <a:r>
                <a:rPr lang="en-US" dirty="0" smtClean="0">
                  <a:solidFill>
                    <a:srgbClr val="FF0000"/>
                  </a:solidFill>
                </a:rPr>
                <a:t>[ </a:t>
              </a:r>
              <a:r>
                <a:rPr lang="en-US" dirty="0">
                  <a:solidFill>
                    <a:srgbClr val="FF0000"/>
                  </a:solidFill>
                </a:rPr>
                <a:t>2. -4. -1.]</a:t>
              </a:r>
            </a:p>
          </p:txBody>
        </p:sp>
        <p:cxnSp>
          <p:nvCxnSpPr>
            <p:cNvPr id="37" name="Straight Connector 36"/>
            <p:cNvCxnSpPr/>
            <p:nvPr/>
          </p:nvCxnSpPr>
          <p:spPr>
            <a:xfrm flipV="1">
              <a:off x="574196" y="3114996"/>
              <a:ext cx="3968725" cy="1793810"/>
            </a:xfrm>
            <a:prstGeom prst="line">
              <a:avLst/>
            </a:prstGeom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flipH="1" flipV="1">
              <a:off x="4013200" y="2269067"/>
              <a:ext cx="821267" cy="203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/>
            <p:nvPr/>
          </p:nvCxnSpPr>
          <p:spPr>
            <a:xfrm flipH="1" flipV="1">
              <a:off x="4423833" y="3339965"/>
              <a:ext cx="521694" cy="7742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312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550" y="998614"/>
            <a:ext cx="3278764" cy="281527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 rot="1301816">
            <a:off x="6208284" y="629904"/>
            <a:ext cx="78096" cy="3315882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36303" y="145703"/>
            <a:ext cx="6172200" cy="85725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分类边距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(Margin)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18</a:t>
            </a:fld>
            <a:endParaRPr lang="zh-CN" altLang="en-US"/>
          </a:p>
        </p:txBody>
      </p:sp>
      <p:cxnSp>
        <p:nvCxnSpPr>
          <p:cNvPr id="27" name="直接连接符 26"/>
          <p:cNvCxnSpPr/>
          <p:nvPr/>
        </p:nvCxnSpPr>
        <p:spPr>
          <a:xfrm flipH="1">
            <a:off x="5509152" y="735546"/>
            <a:ext cx="1362726" cy="340237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1217859" y="2859431"/>
            <a:ext cx="3651897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分类边距</a:t>
            </a:r>
            <a:r>
              <a:rPr lang="en-US" altLang="zh-CN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(Margin):</a:t>
            </a:r>
            <a:r>
              <a:rPr lang="zh-CN" altLang="en-US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对线性分类</a:t>
            </a:r>
            <a:r>
              <a:rPr lang="en-US" altLang="zh-CN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器而言，边距是从分类面到</a:t>
            </a:r>
            <a:r>
              <a:rPr lang="en-US" altLang="zh-CN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sz="21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最近</a:t>
            </a:r>
            <a:r>
              <a:rPr lang="zh-CN" altLang="en-US" sz="2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的训练样本的距离。</a:t>
            </a:r>
          </a:p>
        </p:txBody>
      </p:sp>
      <p:sp>
        <p:nvSpPr>
          <p:cNvPr id="22" name="矩形 21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箭头连接符 24"/>
          <p:cNvCxnSpPr>
            <a:stCxn id="23" idx="3"/>
            <a:endCxn id="22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8" name="直接箭头连接符 27"/>
          <p:cNvCxnSpPr>
            <a:stCxn id="26" idx="2"/>
            <a:endCxn id="22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3"/>
            <a:endCxn id="30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" y="2506504"/>
                <a:ext cx="4354141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907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带边距感知机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(Perceptron with Margin)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1200151"/>
                <a:ext cx="6172200" cy="3840956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输入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训练数据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</m:sSubSup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学习步长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边距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&gt;0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输出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感知机模型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1.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)←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随机值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func>
                      <m:func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repeat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	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选取数据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 	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>
                        <a:latin typeface="Cambria Math" panose="02040503050406030204" pitchFamily="18" charset="0"/>
                      </a:rPr>
                      <m:t>)≤</m:t>
                    </m:r>
                    <m:r>
                      <a:rPr lang="en-US" altLang="zh-CN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then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6. 		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 b="1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b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𝐰</m:t>
                    </m:r>
                    <m:r>
                      <a:rPr lang="en-US" altLang="zh-CN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7. 		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𝑏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𝜂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𝑅</m:t>
                    </m:r>
                    <m:sSub>
                      <m:sSubPr>
                        <m:ctrlPr>
                          <a:rPr lang="en-US" altLang="zh-CN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8. 	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end if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9. </a:t>
                </a:r>
                <a:r>
                  <a:rPr lang="en-US" altLang="zh-CN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convergence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85900" y="1200151"/>
                <a:ext cx="6172200" cy="3840956"/>
              </a:xfrm>
              <a:blipFill rotWithShape="0">
                <a:blip r:embed="rId2"/>
                <a:stretch>
                  <a:fillRect l="-988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867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396" y="1198475"/>
            <a:ext cx="3278764" cy="28152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69034" y="87425"/>
            <a:ext cx="6172200" cy="857250"/>
          </a:xfrm>
        </p:spPr>
        <p:txBody>
          <a:bodyPr/>
          <a:lstStyle/>
          <a:p>
            <a:r>
              <a:rPr lang="en-US" altLang="zh-CN" dirty="0"/>
              <a:t>SVM</a:t>
            </a:r>
            <a:r>
              <a:rPr lang="zh-CN" altLang="en-US" dirty="0"/>
              <a:t>：最大边距分类器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stCxn id="7" idx="3"/>
            <a:endCxn id="6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stCxn id="11" idx="2"/>
            <a:endCxn id="6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3"/>
            <a:endCxn id="19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" y="2506504"/>
                <a:ext cx="4354141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文本框 51"/>
          <p:cNvSpPr txBox="1"/>
          <p:nvPr/>
        </p:nvSpPr>
        <p:spPr>
          <a:xfrm>
            <a:off x="600972" y="2642878"/>
            <a:ext cx="39869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不同的模型有不同大小的边距。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SVM (support vector machine)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的目标：</a:t>
            </a:r>
            <a:endParaRPr lang="en-US" altLang="zh-CN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最大化分类边距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 rot="1957138">
            <a:off x="6267639" y="718085"/>
            <a:ext cx="195725" cy="384958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7" name="直接连接符 46"/>
          <p:cNvCxnSpPr/>
          <p:nvPr/>
        </p:nvCxnSpPr>
        <p:spPr>
          <a:xfrm flipH="1">
            <a:off x="5166067" y="897564"/>
            <a:ext cx="2324780" cy="3618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600972" y="4013749"/>
            <a:ext cx="412806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直观含义：寻找正确划分数据的最“胖”的分界</a:t>
            </a:r>
            <a:r>
              <a:rPr lang="zh-CN" alt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面</a:t>
            </a:r>
            <a:endParaRPr lang="en-US" sz="2000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782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550" y="998614"/>
            <a:ext cx="3278764" cy="281527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36164" y="205978"/>
            <a:ext cx="6172200" cy="857250"/>
          </a:xfrm>
        </p:spPr>
        <p:txBody>
          <a:bodyPr/>
          <a:lstStyle/>
          <a:p>
            <a:r>
              <a:rPr lang="zh-CN" altLang="en-US" dirty="0"/>
              <a:t>为什么最大化边距？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21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042925" y="1063229"/>
            <a:ext cx="1134126" cy="6480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3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53313" y="1167974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箭头连接符 8"/>
          <p:cNvCxnSpPr>
            <a:stCxn id="7" idx="3"/>
            <a:endCxn id="6" idx="1"/>
          </p:cNvCxnSpPr>
          <p:nvPr/>
        </p:nvCxnSpPr>
        <p:spPr>
          <a:xfrm flipV="1">
            <a:off x="1591867" y="1387265"/>
            <a:ext cx="451058" cy="115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2254142" y="269865"/>
            <a:ext cx="6983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w, 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35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>
            <a:stCxn id="11" idx="2"/>
            <a:endCxn id="6" idx="0"/>
          </p:cNvCxnSpPr>
          <p:nvPr/>
        </p:nvCxnSpPr>
        <p:spPr>
          <a:xfrm>
            <a:off x="2603309" y="731530"/>
            <a:ext cx="6679" cy="33169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6" idx="3"/>
            <a:endCxn id="19" idx="1"/>
          </p:cNvCxnSpPr>
          <p:nvPr/>
        </p:nvCxnSpPr>
        <p:spPr>
          <a:xfrm>
            <a:off x="3177051" y="1387265"/>
            <a:ext cx="401026" cy="1154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3578077" y="1167973"/>
            <a:ext cx="5677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4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endParaRPr lang="zh-CN" altLang="en-US" sz="135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/>
              <p:cNvSpPr txBox="1"/>
              <p:nvPr/>
            </p:nvSpPr>
            <p:spPr>
              <a:xfrm>
                <a:off x="1176402" y="1879878"/>
                <a:ext cx="3265125" cy="3231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𝐱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;</m:t>
                          </m:r>
                          <m:r>
                            <a:rPr lang="en-US" altLang="zh-CN" sz="2100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US" altLang="zh-CN" sz="2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zh-CN" sz="2100">
                          <a:latin typeface="Cambria Math" panose="02040503050406030204" pitchFamily="18" charset="0"/>
                        </a:rPr>
                        <m:t>sgn</m:t>
                      </m:r>
                      <m:d>
                        <m:dPr>
                          <m:ctrlPr>
                            <a:rPr lang="en-US" altLang="zh-CN" sz="2100" i="1">
                              <a:latin typeface="Cambria Math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altLang="zh-CN" sz="2100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21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1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zh-CN" altLang="en-US" sz="2100" dirty="0"/>
              </a:p>
            </p:txBody>
          </p:sp>
        </mc:Choice>
        <mc:Fallback xmlns=""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5" y="2506504"/>
                <a:ext cx="4354141" cy="43088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/>
          <p:cNvSpPr/>
          <p:nvPr/>
        </p:nvSpPr>
        <p:spPr>
          <a:xfrm rot="1957138">
            <a:off x="6267639" y="718085"/>
            <a:ext cx="195725" cy="3849587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47" name="直接连接符 46"/>
          <p:cNvCxnSpPr/>
          <p:nvPr/>
        </p:nvCxnSpPr>
        <p:spPr>
          <a:xfrm flipH="1">
            <a:off x="5166067" y="897564"/>
            <a:ext cx="2324780" cy="361840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28862" y="2473619"/>
            <a:ext cx="3637603" cy="2559691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2500" lnSpcReduction="10000"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直觉上，比其它分类界面更不容易出错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分类面的微小扰动不会导致错误发生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理论上，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理论证明最大边距分类器具有较好的泛化能力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(generalization ability)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实际应用：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在很多应用上取得了很好的效果</a:t>
            </a:r>
          </a:p>
        </p:txBody>
      </p:sp>
    </p:spTree>
    <p:extLst>
      <p:ext uri="{BB962C8B-B14F-4D97-AF65-F5344CB8AC3E}">
        <p14:creationId xmlns:p14="http://schemas.microsoft.com/office/powerpoint/2010/main" val="515271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边距的表示</a:t>
            </a:r>
          </a:p>
        </p:txBody>
      </p:sp>
      <p:sp>
        <p:nvSpPr>
          <p:cNvPr id="39" name="内容占位符 38"/>
          <p:cNvSpPr>
            <a:spLocks noGrp="1"/>
          </p:cNvSpPr>
          <p:nvPr>
            <p:ph idx="1"/>
          </p:nvPr>
        </p:nvSpPr>
        <p:spPr>
          <a:xfrm>
            <a:off x="2000857" y="3720731"/>
            <a:ext cx="5481086" cy="99252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如何（在高维空间中）计算边距的大小？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22</a:t>
            </a:fld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 rot="4214600">
            <a:off x="3581884" y="492722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10" name="直接连接符 9"/>
          <p:cNvCxnSpPr/>
          <p:nvPr/>
        </p:nvCxnSpPr>
        <p:spPr>
          <a:xfrm flipV="1">
            <a:off x="2161741" y="1363280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2161741" y="1495277"/>
            <a:ext cx="864095" cy="324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1503869" y="1356778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正边距</a:t>
            </a:r>
          </a:p>
        </p:txBody>
      </p:sp>
      <p:cxnSp>
        <p:nvCxnSpPr>
          <p:cNvPr id="30" name="直接箭头连接符 29"/>
          <p:cNvCxnSpPr/>
          <p:nvPr/>
        </p:nvCxnSpPr>
        <p:spPr>
          <a:xfrm flipV="1">
            <a:off x="3098310" y="2611922"/>
            <a:ext cx="383560" cy="598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2696900" y="3217689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负边距</a:t>
            </a:r>
          </a:p>
        </p:txBody>
      </p:sp>
      <p:cxnSp>
        <p:nvCxnSpPr>
          <p:cNvPr id="34" name="直接箭头连接符 33"/>
          <p:cNvCxnSpPr/>
          <p:nvPr/>
        </p:nvCxnSpPr>
        <p:spPr>
          <a:xfrm flipV="1">
            <a:off x="1993329" y="2561198"/>
            <a:ext cx="383560" cy="5980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1591920" y="3166965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分类面</a:t>
            </a:r>
          </a:p>
        </p:txBody>
      </p:sp>
      <p:cxnSp>
        <p:nvCxnSpPr>
          <p:cNvPr id="36" name="直接箭头连接符 35"/>
          <p:cNvCxnSpPr/>
          <p:nvPr/>
        </p:nvCxnSpPr>
        <p:spPr>
          <a:xfrm flipH="1" flipV="1">
            <a:off x="3781920" y="1171241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5402100" y="987361"/>
            <a:ext cx="138562" cy="3967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弧形 47"/>
          <p:cNvSpPr/>
          <p:nvPr/>
        </p:nvSpPr>
        <p:spPr>
          <a:xfrm>
            <a:off x="5008093" y="1152857"/>
            <a:ext cx="1026113" cy="462536"/>
          </a:xfrm>
          <a:prstGeom prst="arc">
            <a:avLst/>
          </a:prstGeom>
          <a:ln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9" name="矩形 48"/>
          <p:cNvSpPr/>
          <p:nvPr/>
        </p:nvSpPr>
        <p:spPr>
          <a:xfrm>
            <a:off x="5605127" y="1410784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</a:rPr>
              <a:t>边距大小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矩形 49"/>
              <p:cNvSpPr/>
              <p:nvPr/>
            </p:nvSpPr>
            <p:spPr>
              <a:xfrm>
                <a:off x="3599300" y="924658"/>
                <a:ext cx="36260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50" name="矩形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5066" y="1232877"/>
                <a:ext cx="423514" cy="36933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131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SVM</a:t>
            </a:r>
            <a:r>
              <a:rPr lang="zh-CN" altLang="en-US" dirty="0"/>
              <a:t>：最大边距分类器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9228" y="829598"/>
            <a:ext cx="3471333" cy="1177002"/>
          </a:xfrm>
        </p:spPr>
        <p:txBody>
          <a:bodyPr/>
          <a:lstStyle/>
          <a:p>
            <a:r>
              <a:rPr lang="zh-CN" altLang="en-US" dirty="0" smtClean="0"/>
              <a:t>优化目标：最大边距</a:t>
            </a:r>
            <a:endParaRPr lang="en-US" altLang="zh-CN" dirty="0" smtClean="0"/>
          </a:p>
          <a:p>
            <a:r>
              <a:rPr lang="zh-CN" altLang="en-US" dirty="0" smtClean="0"/>
              <a:t>约束条件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所有样本分类正确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240339" y="1159934"/>
            <a:ext cx="4619528" cy="3175734"/>
            <a:chOff x="45605" y="1261534"/>
            <a:chExt cx="4619528" cy="3175734"/>
          </a:xfrm>
        </p:grpSpPr>
        <p:cxnSp>
          <p:nvCxnSpPr>
            <p:cNvPr id="5" name="Straight Arrow Connector 4"/>
            <p:cNvCxnSpPr/>
            <p:nvPr/>
          </p:nvCxnSpPr>
          <p:spPr>
            <a:xfrm flipV="1">
              <a:off x="641995" y="4343560"/>
              <a:ext cx="4023138" cy="904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Straight Arrow Connector 5"/>
            <p:cNvCxnSpPr/>
            <p:nvPr/>
          </p:nvCxnSpPr>
          <p:spPr>
            <a:xfrm flipV="1">
              <a:off x="641995" y="1261534"/>
              <a:ext cx="0" cy="309106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7" name="Group 6"/>
            <p:cNvGrpSpPr/>
            <p:nvPr/>
          </p:nvGrpSpPr>
          <p:grpSpPr>
            <a:xfrm>
              <a:off x="1402033" y="4259168"/>
              <a:ext cx="806824" cy="87408"/>
              <a:chOff x="2655099" y="4293034"/>
              <a:chExt cx="806824" cy="87408"/>
            </a:xfrm>
          </p:grpSpPr>
          <p:cxnSp>
            <p:nvCxnSpPr>
              <p:cNvPr id="33" name="Straight Connector 32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/>
            <p:cNvGrpSpPr/>
            <p:nvPr/>
          </p:nvGrpSpPr>
          <p:grpSpPr>
            <a:xfrm>
              <a:off x="2208856" y="4256153"/>
              <a:ext cx="806824" cy="87408"/>
              <a:chOff x="2655099" y="4293034"/>
              <a:chExt cx="806824" cy="87408"/>
            </a:xfrm>
          </p:grpSpPr>
          <p:cxnSp>
            <p:nvCxnSpPr>
              <p:cNvPr id="30" name="Straight Connector 29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/>
            <p:cNvGrpSpPr/>
            <p:nvPr/>
          </p:nvGrpSpPr>
          <p:grpSpPr>
            <a:xfrm>
              <a:off x="3015678" y="4256153"/>
              <a:ext cx="806824" cy="87408"/>
              <a:chOff x="2655099" y="4293034"/>
              <a:chExt cx="806824" cy="87408"/>
            </a:xfrm>
          </p:grpSpPr>
          <p:cxnSp>
            <p:nvCxnSpPr>
              <p:cNvPr id="27" name="Straight Connector 26"/>
              <p:cNvCxnSpPr/>
              <p:nvPr/>
            </p:nvCxnSpPr>
            <p:spPr>
              <a:xfrm>
                <a:off x="2655099" y="4380441"/>
                <a:ext cx="806824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/>
              <p:nvPr/>
            </p:nvCxnSpPr>
            <p:spPr>
              <a:xfrm flipV="1">
                <a:off x="2655099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/>
            <p:cNvGrpSpPr/>
            <p:nvPr/>
          </p:nvGrpSpPr>
          <p:grpSpPr>
            <a:xfrm rot="5400000">
              <a:off x="332561" y="3209133"/>
              <a:ext cx="706276" cy="87408"/>
              <a:chOff x="2755647" y="4293034"/>
              <a:chExt cx="706276" cy="87408"/>
            </a:xfrm>
          </p:grpSpPr>
          <p:cxnSp>
            <p:nvCxnSpPr>
              <p:cNvPr id="24" name="Straight Connector 23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6" name="Straight Connector 25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/>
            <p:cNvGrpSpPr/>
            <p:nvPr/>
          </p:nvGrpSpPr>
          <p:grpSpPr>
            <a:xfrm rot="5400000">
              <a:off x="332561" y="2502857"/>
              <a:ext cx="706276" cy="87408"/>
              <a:chOff x="2755647" y="4293034"/>
              <a:chExt cx="706276" cy="87408"/>
            </a:xfrm>
          </p:grpSpPr>
          <p:cxnSp>
            <p:nvCxnSpPr>
              <p:cNvPr id="21" name="Straight Connector 20"/>
              <p:cNvCxnSpPr/>
              <p:nvPr/>
            </p:nvCxnSpPr>
            <p:spPr>
              <a:xfrm rot="16200000">
                <a:off x="3114139" y="4032657"/>
                <a:ext cx="0" cy="695569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/>
              <p:nvPr/>
            </p:nvCxnSpPr>
            <p:spPr>
              <a:xfrm flipV="1">
                <a:off x="2755647" y="4293035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/>
              <p:cNvCxnSpPr/>
              <p:nvPr/>
            </p:nvCxnSpPr>
            <p:spPr>
              <a:xfrm flipV="1">
                <a:off x="3461923" y="4293034"/>
                <a:ext cx="0" cy="87407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/>
            <p:cNvSpPr/>
            <p:nvPr/>
          </p:nvSpPr>
          <p:spPr>
            <a:xfrm>
              <a:off x="2111489" y="4242534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2909060" y="4242535"/>
              <a:ext cx="194733" cy="19473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64214" y="4250226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=(0,0)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5" y="3900041"/>
                  <a:ext cx="1259063" cy="369332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=(2,2)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9408" y="2238513"/>
                  <a:ext cx="1264385" cy="369332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3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=(2,0)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4029" y="3745859"/>
                  <a:ext cx="1264385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Rectangle 18"/>
            <p:cNvSpPr/>
            <p:nvPr/>
          </p:nvSpPr>
          <p:spPr>
            <a:xfrm>
              <a:off x="2125566" y="2815032"/>
              <a:ext cx="169333" cy="16933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</a:rPr>
                              <m:t>4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charset="0"/>
                          </a:rPr>
                          <m:t>=(3,0)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5678" y="3709120"/>
                  <a:ext cx="1264385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5493562" y="2004461"/>
                <a:ext cx="19411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a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zh-CN" altLang="en-US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margin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3562" y="2004461"/>
                <a:ext cx="1941172" cy="369332"/>
              </a:xfrm>
              <a:prstGeom prst="rect">
                <a:avLst/>
              </a:prstGeom>
              <a:blipFill rotWithShape="0">
                <a:blip r:embed="rId7"/>
                <a:stretch>
                  <a:fillRect t="-98333" b="-1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5497921" y="2506245"/>
                <a:ext cx="2933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 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921" y="2506245"/>
                <a:ext cx="2933945" cy="369332"/>
              </a:xfrm>
              <a:prstGeom prst="rect">
                <a:avLst/>
              </a:prstGeom>
              <a:blipFill rotWithShape="0">
                <a:blip r:embed="rId8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5806829" y="3191250"/>
                <a:ext cx="3132845" cy="4530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charset="0"/>
                        </a:rPr>
                        <m:t>margin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lim>
                      </m:limLow>
                      <m:r>
                        <a:rPr lang="zh-CN" altLang="en-US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dist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6829" y="3191250"/>
                <a:ext cx="3132845" cy="453009"/>
              </a:xfrm>
              <a:prstGeom prst="rect">
                <a:avLst/>
              </a:prstGeom>
              <a:blipFill rotWithShape="0">
                <a:blip r:embed="rId9"/>
                <a:stretch>
                  <a:fillRect t="-76000" b="-8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/>
          <p:cNvSpPr/>
          <p:nvPr/>
        </p:nvSpPr>
        <p:spPr>
          <a:xfrm>
            <a:off x="7213600" y="2506245"/>
            <a:ext cx="694267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ine Callout 1 40"/>
          <p:cNvSpPr/>
          <p:nvPr/>
        </p:nvSpPr>
        <p:spPr>
          <a:xfrm>
            <a:off x="5528353" y="4068484"/>
            <a:ext cx="3319314" cy="369332"/>
          </a:xfrm>
          <a:prstGeom prst="borderCallout1">
            <a:avLst>
              <a:gd name="adj1" fmla="val -15636"/>
              <a:gd name="adj2" fmla="val 35659"/>
              <a:gd name="adj3" fmla="val -125912"/>
              <a:gd name="adj4" fmla="val 649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mtClean="0"/>
              <a:t>数据点到达</a:t>
            </a:r>
            <a:r>
              <a:rPr lang="zh-CN" altLang="en-US" dirty="0" smtClean="0"/>
              <a:t>分界面的最近距离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890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SVM</a:t>
            </a:r>
            <a:r>
              <a:rPr lang="zh-CN" altLang="en-US" dirty="0"/>
              <a:t>：最大边距分类器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490016"/>
              </a:xfrm>
            </p:spPr>
            <p:txBody>
              <a:bodyPr/>
              <a:lstStyle/>
              <a:p>
                <a:r>
                  <a:rPr lang="zh-CN" altLang="en-US" dirty="0" smtClean="0"/>
                  <a:t>怎么度量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>
                        <a:latin typeface="Cambria Math" charset="0"/>
                      </a:rPr>
                      <m:t>dist</m:t>
                    </m:r>
                    <m:r>
                      <a:rPr lang="en-US" altLang="zh-CN" i="1">
                        <a:latin typeface="Cambria Math" charset="0"/>
                      </a:rPr>
                      <m:t>(</m:t>
                    </m:r>
                    <m:sSub>
                      <m:sSubPr>
                        <m:ctrlPr>
                          <a:rPr lang="en-US" altLang="zh-CN" b="1" i="1">
                            <a:latin typeface="Cambria Math" charset="0"/>
                          </a:rPr>
                        </m:ctrlPr>
                      </m:sSub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altLang="zh-CN" i="1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altLang="zh-CN" b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>
                        <a:latin typeface="Cambria Math" panose="02040503050406030204" pitchFamily="18" charset="0"/>
                      </a:rPr>
                      <m:t>𝐰</m:t>
                    </m:r>
                    <m:r>
                      <a:rPr lang="en-US" altLang="zh-CN" i="1">
                        <a:latin typeface="Cambria Math" charset="0"/>
                      </a:rPr>
                      <m:t>)</m:t>
                    </m:r>
                  </m:oMath>
                </a14:m>
                <a:r>
                  <a:rPr lang="zh-CN" altLang="en-US" dirty="0" smtClean="0"/>
                  <a:t>，考虑分界面上任意点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zh-CN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p>
                        <m:r>
                          <a:rPr lang="en-US" altLang="zh-CN" b="1" i="1" smtClean="0">
                            <a:latin typeface="Cambria Math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490016"/>
              </a:xfrm>
              <a:blipFill rotWithShape="0">
                <a:blip r:embed="rId3"/>
                <a:stretch>
                  <a:fillRect l="-667" t="-6173" b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20"/>
          <p:cNvSpPr/>
          <p:nvPr/>
        </p:nvSpPr>
        <p:spPr>
          <a:xfrm rot="4214600">
            <a:off x="2017517" y="1369313"/>
            <a:ext cx="843158" cy="2922384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cxnSp>
        <p:nvCxnSpPr>
          <p:cNvPr id="5" name="直接连接符 9"/>
          <p:cNvCxnSpPr/>
          <p:nvPr/>
        </p:nvCxnSpPr>
        <p:spPr>
          <a:xfrm flipV="1">
            <a:off x="597374" y="2239872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33"/>
          <p:cNvCxnSpPr/>
          <p:nvPr/>
        </p:nvCxnSpPr>
        <p:spPr>
          <a:xfrm flipV="1">
            <a:off x="1981520" y="2913801"/>
            <a:ext cx="180064" cy="711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34"/>
          <p:cNvSpPr txBox="1"/>
          <p:nvPr/>
        </p:nvSpPr>
        <p:spPr>
          <a:xfrm>
            <a:off x="1667695" y="3607518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分类面</a:t>
            </a:r>
          </a:p>
        </p:txBody>
      </p:sp>
      <p:cxnSp>
        <p:nvCxnSpPr>
          <p:cNvPr id="12" name="直接箭头连接符 35"/>
          <p:cNvCxnSpPr/>
          <p:nvPr/>
        </p:nvCxnSpPr>
        <p:spPr>
          <a:xfrm flipH="1" flipV="1">
            <a:off x="2217554" y="2047833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39"/>
              <p:cNvSpPr txBox="1"/>
              <p:nvPr/>
            </p:nvSpPr>
            <p:spPr>
              <a:xfrm>
                <a:off x="1719056" y="1818318"/>
                <a:ext cx="996996" cy="3000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b="1">
                          <a:latin typeface="Cambria Math" panose="02040503050406030204" pitchFamily="18" charset="0"/>
                        </a:rPr>
                        <m:t>𝐰</m:t>
                      </m:r>
                    </m:oMath>
                  </m:oMathPara>
                </a14:m>
                <a:endParaRPr lang="zh-CN" altLang="en-US" sz="135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9056" y="1818318"/>
                <a:ext cx="996996" cy="3000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连接符 19"/>
          <p:cNvCxnSpPr/>
          <p:nvPr/>
        </p:nvCxnSpPr>
        <p:spPr>
          <a:xfrm flipV="1">
            <a:off x="805415" y="2642379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21"/>
          <p:cNvCxnSpPr/>
          <p:nvPr/>
        </p:nvCxnSpPr>
        <p:spPr>
          <a:xfrm flipV="1">
            <a:off x="457200" y="1837365"/>
            <a:ext cx="3456384" cy="12421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椭圆 7"/>
          <p:cNvSpPr/>
          <p:nvPr/>
        </p:nvSpPr>
        <p:spPr>
          <a:xfrm>
            <a:off x="3157500" y="1990309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+</a:t>
            </a:r>
            <a:endParaRPr lang="zh-CN" altLang="en-US" sz="1350" dirty="0"/>
          </a:p>
        </p:txBody>
      </p:sp>
      <p:sp>
        <p:nvSpPr>
          <p:cNvPr id="23" name="椭圆 26"/>
          <p:cNvSpPr/>
          <p:nvPr/>
        </p:nvSpPr>
        <p:spPr>
          <a:xfrm>
            <a:off x="3459452" y="2858962"/>
            <a:ext cx="108012" cy="102832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/>
              <a:t>-</a:t>
            </a:r>
            <a:endParaRPr lang="zh-CN" alt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8"/>
              <p:cNvSpPr/>
              <p:nvPr/>
            </p:nvSpPr>
            <p:spPr>
              <a:xfrm>
                <a:off x="3505960" y="2892508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4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960" y="2892508"/>
                <a:ext cx="419795" cy="3000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8"/>
              <p:cNvSpPr/>
              <p:nvPr/>
            </p:nvSpPr>
            <p:spPr>
              <a:xfrm>
                <a:off x="3048274" y="1738480"/>
                <a:ext cx="41979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5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274" y="1738480"/>
                <a:ext cx="419795" cy="30008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接箭头连接符 30"/>
          <p:cNvCxnSpPr/>
          <p:nvPr/>
        </p:nvCxnSpPr>
        <p:spPr>
          <a:xfrm flipH="1" flipV="1">
            <a:off x="3217657" y="2113590"/>
            <a:ext cx="270030" cy="756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4667982" y="1254376"/>
                <a:ext cx="3199401" cy="68544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mtClean="0">
                          <a:latin typeface="Cambria Math" charset="0"/>
                        </a:rPr>
                        <m:t>dist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altLang="zh-CN" b="0" i="1" smtClean="0">
                          <a:latin typeface="Cambria Math" charset="0"/>
                        </a:rPr>
                        <m:t>=|</m:t>
                      </m:r>
                      <m:f>
                        <m:fPr>
                          <m:ctrlPr>
                            <a:rPr lang="mr-IN" altLang="zh-CN" b="1" i="1" smtClean="0">
                              <a:latin typeface="Cambria Math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1" i="1" smtClean="0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 smtClean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b="1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latin typeface="Cambria Math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0" i="1" smtClean="0">
                          <a:latin typeface="Cambria Math" charset="0"/>
                        </a:rPr>
                        <m:t>)|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7982" y="1254376"/>
                <a:ext cx="3199401" cy="685444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9" name="直接箭头连接符 33"/>
          <p:cNvCxnSpPr/>
          <p:nvPr/>
        </p:nvCxnSpPr>
        <p:spPr>
          <a:xfrm>
            <a:off x="1718581" y="2149450"/>
            <a:ext cx="464209" cy="1733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34"/>
          <p:cNvSpPr txBox="1"/>
          <p:nvPr/>
        </p:nvSpPr>
        <p:spPr>
          <a:xfrm>
            <a:off x="1014542" y="2003706"/>
            <a:ext cx="70403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dirty="0" smtClean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法向量</a:t>
            </a:r>
            <a:endParaRPr lang="zh-CN" altLang="en-US" sz="135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3" name="椭圆 26"/>
          <p:cNvSpPr/>
          <p:nvPr/>
        </p:nvSpPr>
        <p:spPr>
          <a:xfrm>
            <a:off x="3146184" y="2494892"/>
            <a:ext cx="108012" cy="102832"/>
          </a:xfrm>
          <a:prstGeom prst="ellipse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矩形 28"/>
              <p:cNvSpPr/>
              <p:nvPr/>
            </p:nvSpPr>
            <p:spPr>
              <a:xfrm>
                <a:off x="2864080" y="2569155"/>
                <a:ext cx="373307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350" i="1" smtClean="0">
                              <a:latin typeface="Cambria Math" charset="0"/>
                            </a:rPr>
                          </m:ctrlPr>
                        </m:sSupPr>
                        <m:e>
                          <m:r>
                            <a:rPr lang="en-US" altLang="zh-CN" sz="1350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lang="en-US" altLang="zh-CN" sz="1350" b="0" i="0" smtClean="0">
                              <a:latin typeface="Cambria Math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4" name="矩形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4080" y="2569155"/>
                <a:ext cx="373307" cy="30008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5856255" y="1909200"/>
                <a:ext cx="2857250" cy="6854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|</m:t>
                          </m:r>
                          <m:sSup>
                            <m:sSup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charset="0"/>
                                </a:rPr>
                                <m:t>𝑇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</a:rPr>
                            <m:t>|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charset="0"/>
                        </a:rPr>
                        <m:t>=</m:t>
                      </m:r>
                      <m:f>
                        <m:fPr>
                          <m:ctrlPr>
                            <a:rPr lang="mr-IN" altLang="zh-CN" b="0" i="1" smtClean="0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255" y="1909200"/>
                <a:ext cx="2857250" cy="685444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/>
              <p:cNvSpPr/>
              <p:nvPr/>
            </p:nvSpPr>
            <p:spPr>
              <a:xfrm>
                <a:off x="4973695" y="3003592"/>
                <a:ext cx="19411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a</m:t>
                      </m:r>
                      <m:sSub>
                        <m:sSub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x</m:t>
                          </m:r>
                        </m:e>
                        <m:sub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r>
                        <a:rPr lang="zh-CN" altLang="en-US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margin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(</m:t>
                      </m:r>
                      <m:r>
                        <a:rPr lang="en-US" altLang="zh-CN" b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3695" y="3003592"/>
                <a:ext cx="1941172" cy="369332"/>
              </a:xfrm>
              <a:prstGeom prst="rect">
                <a:avLst/>
              </a:prstGeom>
              <a:blipFill rotWithShape="0">
                <a:blip r:embed="rId10"/>
                <a:stretch>
                  <a:fillRect t="-98333" b="-12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4978054" y="3505376"/>
                <a:ext cx="2933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s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t</m:t>
                      </m:r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. 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∀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b="1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en-US" altLang="zh-CN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,</m:t>
                      </m:r>
                      <m:r>
                        <a:rPr lang="zh-CN" altLang="en-US" b="1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 </m:t>
                      </m:r>
                      <m:sSub>
                        <m:sSubPr>
                          <m:ctrlPr>
                            <a:rPr lang="en-US" altLang="zh-CN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solidFill>
                                    <a:schemeClr val="tx1"/>
                                  </a:solidFill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&gt;0</m:t>
                      </m:r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054" y="3505376"/>
                <a:ext cx="2933945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5286962" y="4007160"/>
                <a:ext cx="3523209" cy="6499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>
                          <a:latin typeface="Cambria Math" charset="0"/>
                        </a:rPr>
                        <m:t>margin</m:t>
                      </m:r>
                      <m:d>
                        <m:dPr>
                          <m:ctrlPr>
                            <a:rPr lang="en-US" altLang="zh-CN" b="1" i="1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𝐰</m:t>
                          </m:r>
                        </m:e>
                      </m:d>
                      <m:r>
                        <a:rPr lang="en-US" altLang="zh-CN" b="1" i="0" smtClean="0">
                          <a:solidFill>
                            <a:schemeClr val="tx1"/>
                          </a:solidFill>
                          <a:latin typeface="Cambria Math" charset="0"/>
                        </a:rPr>
                        <m:t>=</m:t>
                      </m:r>
                      <m:limLow>
                        <m:limLowPr>
                          <m:ctrlP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min</m:t>
                          </m:r>
                        </m:e>
                        <m:lim>
                          <m:r>
                            <a:rPr lang="en-US" altLang="zh-CN" b="0" i="1" smtClean="0">
                              <a:solidFill>
                                <a:schemeClr val="tx1"/>
                              </a:solidFill>
                              <a:latin typeface="Cambria Math" charset="0"/>
                            </a:rPr>
                            <m:t>𝑖</m:t>
                          </m:r>
                        </m:lim>
                      </m:limLow>
                      <m:f>
                        <m:fPr>
                          <m:ctrlPr>
                            <a:rPr lang="mr-IN" altLang="zh-CN" i="1">
                              <a:latin typeface="Cambria Math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begChr m:val="‖"/>
                              <m:endChr m:val="‖"/>
                              <m:ctrlPr>
                                <a:rPr lang="mr-IN" altLang="zh-CN" b="1" i="1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𝐰</m:t>
                              </m:r>
                            </m:e>
                          </m:d>
                        </m:den>
                      </m:f>
                      <m:sSub>
                        <m:sSubPr>
                          <m:ctrlP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CN" i="1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i="1">
                          <a:latin typeface="Cambria Math" charset="0"/>
                          <a:ea typeface="Cambria Math" charset="0"/>
                          <a:cs typeface="Cambria Math" charset="0"/>
                        </a:rPr>
                        <m:t>⋅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altLang="zh-CN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𝐰</m:t>
                          </m:r>
                          <m:r>
                            <a:rPr lang="en-US" altLang="zh-CN" b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b="1" i="1">
                                  <a:latin typeface="Cambria Math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962" y="4007160"/>
                <a:ext cx="3523209" cy="649922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7100088" y="1968359"/>
            <a:ext cx="1539415" cy="6740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89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8667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分类问题</a:t>
            </a:r>
            <a:r>
              <a:rPr lang="zh-CN" altLang="en-US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与典型分类模型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27703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分类问题与监督学习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感知机模型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决策树模型</a:t>
            </a:r>
            <a:endParaRPr lang="en-US" altLang="zh-CN" b="1" dirty="0" smtClean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案例分析：鸢尾花分类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918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监督学习算法分类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26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内容占位符 5"/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1925707" y="1545636"/>
              <a:ext cx="5495376" cy="2476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541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1208723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133731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  <a:gridCol w="1573933">
                      <a:extLst>
                        <a:ext uri="{9D8B030D-6E8A-4147-A177-3AD203B41FA5}">
                          <a16:colId xmlns="" xmlns:a16="http://schemas.microsoft.com/office/drawing/2014/main" val="20003"/>
                        </a:ext>
                      </a:extLst>
                    </a:gridCol>
                  </a:tblGrid>
                  <a:tr h="480060">
                    <a:tc>
                      <a:txBody>
                        <a:bodyPr/>
                        <a:lstStyle/>
                        <a:p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14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sz="14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二值</a:t>
                          </a:r>
                          <a:r>
                            <a:rPr lang="en-US" altLang="zh-CN" sz="14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zh-CN" altLang="en-US" sz="14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分类</a:t>
                          </a:r>
                          <a:endParaRPr lang="en-US" altLang="zh-CN" sz="1400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altLang="zh-CN" sz="14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zh-CN" altLang="en-US" sz="1400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为类别集合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回归</a:t>
                          </a:r>
                          <a:endParaRPr lang="en-US" altLang="zh-CN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zh-CN" altLang="en-US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为实数集合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结构预测</a:t>
                          </a:r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排序</a:t>
                          </a:r>
                          <a:endParaRPr lang="en-US" altLang="zh-CN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zh-CN" altLang="en-US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为结构类型</a:t>
                          </a:r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排列</a:t>
                          </a: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80060">
                    <a:tc>
                      <a:txBody>
                        <a:bodyPr/>
                        <a:lstStyle/>
                        <a:p>
                          <a:r>
                            <a:rPr lang="zh-CN" altLang="en-US" sz="1400" b="1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线性函数</a:t>
                          </a:r>
                          <a:endParaRPr lang="en-US" altLang="zh-CN" sz="1400" b="1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altLang="zh-CN" sz="1400" b="1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f(x)=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⟨"/>
                                  <m:endChr m:val="⟩"/>
                                  <m:ctrlPr>
                                    <a:rPr lang="en-US" altLang="zh-CN" sz="1400" b="1" i="1" smtClean="0">
                                      <a:latin typeface="Cambria Math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400" b="1" i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𝐰</m:t>
                                  </m:r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400" b="1" i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</m:e>
                              </m:d>
                            </m:oMath>
                          </a14:m>
                          <a:endParaRPr lang="zh-CN" altLang="en-US" sz="1400" b="1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Perceptron, </a:t>
                          </a:r>
                          <a:b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a:br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SVM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Ridge regression</a:t>
                          </a:r>
                        </a:p>
                        <a:p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SVR</a:t>
                          </a:r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CRF</a:t>
                          </a:r>
                        </a:p>
                        <a:p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Ranking SVM</a:t>
                          </a:r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zh-CN" altLang="en-US" sz="1400" b="1" kern="1200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树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kern="1200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Decision tree</a:t>
                          </a:r>
                          <a:endParaRPr lang="zh-CN" altLang="en-US" sz="1400" kern="1200" dirty="0">
                            <a:solidFill>
                              <a:schemeClr val="dk1"/>
                            </a:solidFill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Regression tree</a:t>
                          </a:r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 err="1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LambdaMART</a:t>
                          </a:r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278130">
                    <a:tc>
                      <a:txBody>
                        <a:bodyPr/>
                        <a:lstStyle/>
                        <a:p>
                          <a:r>
                            <a:rPr lang="zh-CN" altLang="en-US" sz="1400" b="1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神经网络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神经网络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神经网络</a:t>
                          </a: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 err="1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RankNet</a:t>
                          </a:r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685800">
                    <a:tc>
                      <a:txBody>
                        <a:bodyPr/>
                        <a:lstStyle/>
                        <a:p>
                          <a:r>
                            <a:rPr lang="zh-CN" altLang="en-US" sz="1400" b="1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叠加函数</a:t>
                          </a:r>
                          <a:endParaRPr lang="en-US" altLang="zh-CN" sz="1400" b="1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altLang="zh-CN" sz="1400" b="1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f(x)=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limLoc m:val="subSup"/>
                                  <m:supHide m:val="on"/>
                                  <m:ctrlPr>
                                    <a:rPr lang="en-US" altLang="zh-CN" sz="1400" b="1" i="1" smtClean="0">
                                      <a:latin typeface="Cambria Math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9"/>
                                    </m:rP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𝒕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en-US" altLang="zh-CN" sz="1400" b="1" i="1" smtClean="0">
                                          <a:latin typeface="Cambria Math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400" b="1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𝒉</m:t>
                                      </m:r>
                                    </m:e>
                                    <m:sub>
                                      <m:r>
                                        <a:rPr lang="en-US" altLang="zh-CN" sz="1400" b="1" i="1" smtClean="0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  <a:cs typeface="Times New Roman" panose="02020603050405020304" pitchFamily="18" charset="0"/>
                                        </a:rPr>
                                        <m:t>𝒕</m:t>
                                      </m:r>
                                    </m:sub>
                                  </m:sSub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sz="1400" b="1" i="0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𝐱</m:t>
                                  </m:r>
                                  <m:r>
                                    <a:rPr lang="en-US" altLang="zh-CN" sz="1400" b="1" i="1" smtClean="0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  <a:cs typeface="Times New Roman" panose="020206030504050203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oMath>
                          </a14:m>
                          <a:endParaRPr lang="en-US" altLang="zh-CN" sz="1400" b="1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r>
                            <a:rPr lang="en-US" altLang="zh-CN" sz="1400" b="1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(additive</a:t>
                          </a:r>
                          <a:r>
                            <a:rPr lang="en-US" altLang="zh-CN" sz="1400" b="1" baseline="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 model)</a:t>
                          </a:r>
                          <a:endParaRPr lang="zh-CN" altLang="en-US" sz="1400" b="1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 err="1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AdaBoost</a:t>
                          </a:r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Boosted Regression Tree</a:t>
                          </a:r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400" dirty="0" err="1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RankBoost</a:t>
                          </a:r>
                          <a:endParaRPr lang="zh-CN" altLang="en-US" sz="1400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34290" marB="34290"/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内容占位符 5"/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79577451"/>
                  </p:ext>
                </p:extLst>
              </p:nvPr>
            </p:nvGraphicFramePr>
            <p:xfrm>
              <a:off x="1043608" y="2060848"/>
              <a:ext cx="7327167" cy="29362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83388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6116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78308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09857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(</a:t>
                          </a:r>
                          <a:r>
                            <a:rPr lang="zh-CN" altLang="en-US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二值</a:t>
                          </a:r>
                          <a:r>
                            <a:rPr lang="en-US" altLang="zh-CN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)</a:t>
                          </a:r>
                          <a:r>
                            <a:rPr lang="zh-CN" altLang="en-US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分类</a:t>
                          </a:r>
                          <a:endParaRPr lang="en-US" altLang="zh-CN" dirty="0">
                            <a:solidFill>
                              <a:srgbClr val="C00000"/>
                            </a:solidFill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altLang="zh-CN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zh-CN" altLang="en-US" dirty="0">
                              <a:solidFill>
                                <a:srgbClr val="C00000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为类别集合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回归</a:t>
                          </a:r>
                          <a:endParaRPr lang="en-US" altLang="zh-CN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为实数集合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结构预测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排序</a:t>
                          </a:r>
                          <a:endParaRPr lang="en-US" altLang="zh-CN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Y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为结构类型</a:t>
                          </a: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/</a:t>
                          </a:r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排列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90" t="-108000" r="-299310" b="-3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Perceptron, </a:t>
                          </a:r>
                          <a:b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</a:br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SVM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Ridge regression</a:t>
                          </a:r>
                        </a:p>
                        <a:p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SVR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CRF</a:t>
                          </a:r>
                        </a:p>
                        <a:p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Ranking SVM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sz="1800" b="1" kern="1200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树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800" kern="1200" dirty="0">
                              <a:solidFill>
                                <a:schemeClr val="dk1"/>
                              </a:solidFill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Decision tree</a:t>
                          </a:r>
                          <a:endParaRPr lang="zh-CN" altLang="en-US" sz="1800" kern="1200" dirty="0">
                            <a:solidFill>
                              <a:schemeClr val="dk1"/>
                            </a:solidFill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Regression tree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LambdaMART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b="1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神经网络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神经网络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神经网络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RankNet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3"/>
                          <a:stretch>
                            <a:fillRect l="-690" t="-226389" r="-299310" b="-388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AdaBoost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Boosted Regression Tree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dirty="0" err="1">
                              <a:latin typeface="Times New Roman" panose="02020603050405020304" pitchFamily="18" charset="0"/>
                              <a:ea typeface="楷体" panose="02010609060101010101" pitchFamily="49" charset="-122"/>
                              <a:cs typeface="Times New Roman" panose="02020603050405020304" pitchFamily="18" charset="0"/>
                            </a:rPr>
                            <a:t>RankBoost</a:t>
                          </a:r>
                          <a:endParaRPr lang="zh-CN" altLang="en-US" dirty="0">
                            <a:latin typeface="Times New Roman" panose="020206030504050203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矩形 7"/>
          <p:cNvSpPr/>
          <p:nvPr/>
        </p:nvSpPr>
        <p:spPr>
          <a:xfrm>
            <a:off x="4324580" y="1036304"/>
            <a:ext cx="6976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任务</a:t>
            </a:r>
          </a:p>
        </p:txBody>
      </p:sp>
      <p:sp>
        <p:nvSpPr>
          <p:cNvPr id="9" name="矩形 8"/>
          <p:cNvSpPr/>
          <p:nvPr/>
        </p:nvSpPr>
        <p:spPr>
          <a:xfrm>
            <a:off x="929966" y="2460720"/>
            <a:ext cx="8082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模型函数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525165" y="4169914"/>
            <a:ext cx="629645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本课程关注</a:t>
            </a:r>
            <a:r>
              <a:rPr lang="zh-CN" altLang="en-US" sz="2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Wingdings" panose="05000000000000000000" pitchFamily="2" charset="2"/>
              </a:rPr>
              <a:t>（二值）</a:t>
            </a:r>
            <a:r>
              <a:rPr lang="zh-CN" altLang="en-US" sz="2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分类 </a:t>
            </a:r>
            <a:r>
              <a:rPr lang="en-US" altLang="zh-CN" sz="2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(Binary) Classification</a:t>
            </a:r>
            <a:endParaRPr lang="zh-CN" altLang="en-US" sz="2100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825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 </a:t>
            </a:r>
            <a:r>
              <a:rPr lang="mr-IN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Decision</a:t>
            </a:r>
            <a:r>
              <a:rPr lang="zh-CN" altLang="en-US" dirty="0"/>
              <a:t> </a:t>
            </a:r>
            <a:r>
              <a:rPr lang="en-US" altLang="zh-CN" dirty="0"/>
              <a:t>Tree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决策树是分类问题中最常用的模型之一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能够接受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类别型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的特征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分类效果与其它分类算法相当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训练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测试效率高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分类函数</a:t>
            </a:r>
            <a:r>
              <a:rPr lang="en-US" altLang="zh-C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为一棵树，称为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决策树</a:t>
            </a:r>
            <a:endParaRPr lang="en-US" altLang="zh-CN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373" y="1285687"/>
            <a:ext cx="4532627" cy="319577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10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二值分类数据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28</a:t>
            </a:fld>
            <a:endParaRPr lang="zh-CN" altLang="en-US"/>
          </a:p>
        </p:txBody>
      </p:sp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027113"/>
            <a:ext cx="6172200" cy="35921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6490001" y="704850"/>
            <a:ext cx="153136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是否批准放贷？</a:t>
            </a:r>
            <a:endParaRPr lang="en-US" altLang="en-US" sz="1600" b="1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6390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中间节点：决策步骤</a:t>
            </a:r>
            <a:endParaRPr lang="en-US" altLang="zh-CN" dirty="0"/>
          </a:p>
          <a:p>
            <a:r>
              <a:rPr lang="zh-CN" altLang="en-US" dirty="0"/>
              <a:t>叶子节点：决策结果</a:t>
            </a:r>
            <a:r>
              <a:rPr lang="en-US" altLang="zh-CN" dirty="0"/>
              <a:t>/</a:t>
            </a:r>
            <a:r>
              <a:rPr lang="zh-CN" altLang="en-US" dirty="0"/>
              <a:t>类别标签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18335"/>
            <a:ext cx="6779649" cy="30563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699727" y="972004"/>
            <a:ext cx="3317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以下数据批准放贷吗？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Yes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No</a:t>
            </a:r>
            <a:endParaRPr lang="zh-CN" altLang="en-US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83799" y="1032448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613673"/>
              </p:ext>
            </p:extLst>
          </p:nvPr>
        </p:nvGraphicFramePr>
        <p:xfrm>
          <a:off x="5110150" y="1616111"/>
          <a:ext cx="3834131" cy="63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63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178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521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18840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18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Age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Has_iob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Own_house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Credit_rating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86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middle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false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true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fair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269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决策函数测试</a:t>
            </a: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2205" y="1839917"/>
            <a:ext cx="6172200" cy="2782490"/>
          </a:xfrm>
          <a:prstGeom prst="rect">
            <a:avLst/>
          </a:prstGeom>
        </p:spPr>
      </p:pic>
      <p:pic>
        <p:nvPicPr>
          <p:cNvPr id="7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0964" y="915992"/>
            <a:ext cx="6020990" cy="701278"/>
          </a:xfrm>
          <a:noFill/>
        </p:spPr>
      </p:pic>
      <p:sp>
        <p:nvSpPr>
          <p:cNvPr id="8" name="Line 7"/>
          <p:cNvSpPr>
            <a:spLocks noChangeShapeType="1"/>
          </p:cNvSpPr>
          <p:nvPr/>
        </p:nvSpPr>
        <p:spPr bwMode="auto">
          <a:xfrm flipH="1">
            <a:off x="2664667" y="2292354"/>
            <a:ext cx="1107281" cy="43219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9" name="Line 9"/>
          <p:cNvSpPr>
            <a:spLocks noChangeShapeType="1"/>
          </p:cNvSpPr>
          <p:nvPr/>
        </p:nvSpPr>
        <p:spPr bwMode="auto">
          <a:xfrm>
            <a:off x="2718245" y="3263904"/>
            <a:ext cx="459581" cy="56673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877097" y="1427960"/>
            <a:ext cx="891779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en-US" altLang="en-US" sz="2250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37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决策函数的选择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给定训练数据，可能存在多棵能够拟合数据的决策树</a:t>
            </a:r>
            <a:endParaRPr lang="en-US" altLang="zh-CN" dirty="0"/>
          </a:p>
          <a:p>
            <a:r>
              <a:rPr lang="zh-CN" altLang="en-US" dirty="0"/>
              <a:t>如何选择？</a:t>
            </a:r>
            <a:endParaRPr lang="en-US" altLang="zh-CN" dirty="0"/>
          </a:p>
          <a:p>
            <a:pPr lvl="1"/>
            <a:r>
              <a:rPr lang="zh-CN" altLang="en-US" dirty="0"/>
              <a:t>小</a:t>
            </a:r>
            <a:r>
              <a:rPr lang="en-US" altLang="zh-CN" dirty="0"/>
              <a:t>(</a:t>
            </a:r>
            <a:r>
              <a:rPr lang="zh-CN" altLang="en-US" dirty="0"/>
              <a:t>简单</a:t>
            </a:r>
            <a:r>
              <a:rPr lang="en-US" altLang="zh-CN" dirty="0"/>
              <a:t>)</a:t>
            </a:r>
            <a:r>
              <a:rPr lang="zh-CN" altLang="en-US" dirty="0"/>
              <a:t>的树</a:t>
            </a:r>
            <a:endParaRPr lang="en-US" altLang="zh-CN" dirty="0"/>
          </a:p>
          <a:p>
            <a:pPr lvl="1"/>
            <a:r>
              <a:rPr lang="zh-CN" altLang="en-US" dirty="0"/>
              <a:t>拟合精度高的树</a:t>
            </a:r>
            <a:endParaRPr lang="en-US" altLang="zh-CN" dirty="0"/>
          </a:p>
          <a:p>
            <a:r>
              <a:rPr lang="zh-CN" altLang="en-US" dirty="0"/>
              <a:t>决策树学习过程</a:t>
            </a:r>
            <a:endParaRPr lang="en-US" altLang="zh-CN" dirty="0"/>
          </a:p>
          <a:p>
            <a:pPr lvl="1"/>
            <a:r>
              <a:rPr lang="zh-CN" altLang="en-US" dirty="0"/>
              <a:t>全局最优：</a:t>
            </a:r>
            <a:r>
              <a:rPr lang="en-US" altLang="zh-CN" dirty="0"/>
              <a:t>NP-hard</a:t>
            </a:r>
          </a:p>
          <a:p>
            <a:pPr lvl="1"/>
            <a:r>
              <a:rPr lang="zh-CN" altLang="en-US" dirty="0"/>
              <a:t>利用启发式规则建立次优决策树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48249" y="1372361"/>
            <a:ext cx="3972339" cy="338378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112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决策树训练算法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贪心分治算法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假设所有的特征都是类别类型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自顶向下递归建树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初始状态：所有的训练数据都在根节点上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根据选择的特征，对训练数据进行划分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选择特征的依据：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信息增益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(information gain)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终止条件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节点上的所有训练样本都属于一个类别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节点上没有训练样本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没有更多的特征可以供选择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320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决策树算法</a:t>
            </a:r>
            <a:endParaRPr lang="en-US" dirty="0"/>
          </a:p>
        </p:txBody>
      </p:sp>
      <p:pic>
        <p:nvPicPr>
          <p:cNvPr id="4" name="图片 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244"/>
          <a:stretch>
            <a:fillRect/>
          </a:stretch>
        </p:blipFill>
        <p:spPr bwMode="auto">
          <a:xfrm>
            <a:off x="1095672" y="945573"/>
            <a:ext cx="7185883" cy="38077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8037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决策树算法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0437" y="958551"/>
            <a:ext cx="5140564" cy="4151481"/>
          </a:xfrm>
          <a:noFill/>
        </p:spPr>
      </p:pic>
      <p:sp>
        <p:nvSpPr>
          <p:cNvPr id="8" name="文本框 7"/>
          <p:cNvSpPr txBox="1"/>
          <p:nvPr/>
        </p:nvSpPr>
        <p:spPr>
          <a:xfrm>
            <a:off x="207818" y="1035832"/>
            <a:ext cx="24739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递归出口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数据属于一个类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没有更多的特征供选择，生成叶子节点</a:t>
            </a:r>
          </a:p>
        </p:txBody>
      </p:sp>
      <p:sp>
        <p:nvSpPr>
          <p:cNvPr id="11" name="左大括号 10"/>
          <p:cNvSpPr/>
          <p:nvPr/>
        </p:nvSpPr>
        <p:spPr>
          <a:xfrm>
            <a:off x="2681791" y="1167594"/>
            <a:ext cx="178646" cy="5400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文本框 13"/>
          <p:cNvSpPr txBox="1"/>
          <p:nvPr/>
        </p:nvSpPr>
        <p:spPr>
          <a:xfrm>
            <a:off x="207818" y="2097982"/>
            <a:ext cx="24739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选择最优划分特征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划分前的混杂度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以特征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划分后的混杂度</a:t>
            </a:r>
          </a:p>
        </p:txBody>
      </p:sp>
      <p:sp>
        <p:nvSpPr>
          <p:cNvPr id="15" name="左大括号 14"/>
          <p:cNvSpPr/>
          <p:nvPr/>
        </p:nvSpPr>
        <p:spPr>
          <a:xfrm>
            <a:off x="2681791" y="2105156"/>
            <a:ext cx="178646" cy="8100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文本框 15"/>
          <p:cNvSpPr txBox="1"/>
          <p:nvPr/>
        </p:nvSpPr>
        <p:spPr>
          <a:xfrm>
            <a:off x="185524" y="3005975"/>
            <a:ext cx="2496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递归出口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数据划分收益太低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2668006" y="3003798"/>
            <a:ext cx="192431" cy="3089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文本框 17"/>
          <p:cNvSpPr txBox="1"/>
          <p:nvPr/>
        </p:nvSpPr>
        <p:spPr>
          <a:xfrm>
            <a:off x="1343272" y="3521713"/>
            <a:ext cx="1338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划分数据</a:t>
            </a:r>
            <a:endParaRPr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2681791" y="3483310"/>
            <a:ext cx="178646" cy="3845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文本框 19"/>
          <p:cNvSpPr txBox="1"/>
          <p:nvPr/>
        </p:nvSpPr>
        <p:spPr>
          <a:xfrm>
            <a:off x="209567" y="4170273"/>
            <a:ext cx="2473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向下递归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：逐个递归生成每一棵子树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左大括号 20"/>
          <p:cNvSpPr/>
          <p:nvPr/>
        </p:nvSpPr>
        <p:spPr>
          <a:xfrm>
            <a:off x="2681791" y="3987805"/>
            <a:ext cx="178646" cy="7794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椭圆 21"/>
          <p:cNvSpPr/>
          <p:nvPr/>
        </p:nvSpPr>
        <p:spPr>
          <a:xfrm>
            <a:off x="3383868" y="1977684"/>
            <a:ext cx="1836204" cy="25911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椭圆 22"/>
          <p:cNvSpPr/>
          <p:nvPr/>
        </p:nvSpPr>
        <p:spPr>
          <a:xfrm>
            <a:off x="3653898" y="2320407"/>
            <a:ext cx="1836204" cy="25134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540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 animBg="1"/>
      <p:bldP spid="2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选择决策特征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200151"/>
            <a:ext cx="6515100" cy="3394472"/>
          </a:xfrm>
        </p:spPr>
        <p:txBody>
          <a:bodyPr/>
          <a:lstStyle/>
          <a:p>
            <a:r>
              <a:rPr lang="zh-CN" altLang="en-US" dirty="0"/>
              <a:t>核心步骤：选择</a:t>
            </a:r>
            <a:r>
              <a:rPr lang="zh-CN" altLang="en-US" dirty="0">
                <a:solidFill>
                  <a:srgbClr val="FF0000"/>
                </a:solidFill>
              </a:rPr>
              <a:t>合适</a:t>
            </a:r>
            <a:r>
              <a:rPr lang="zh-CN" altLang="en-US" dirty="0"/>
              <a:t>的特征进行决策，划分数据，生成子节点</a:t>
            </a:r>
            <a:endParaRPr lang="en-US" altLang="zh-CN" dirty="0"/>
          </a:p>
          <a:p>
            <a:r>
              <a:rPr lang="zh-CN" altLang="en-US" dirty="0"/>
              <a:t>合适：尽量大的减少划分后子数据集的</a:t>
            </a:r>
            <a:r>
              <a:rPr lang="zh-CN" altLang="en-US" dirty="0">
                <a:solidFill>
                  <a:srgbClr val="C00000"/>
                </a:solidFill>
              </a:rPr>
              <a:t>混杂度</a:t>
            </a:r>
            <a:endParaRPr lang="en-US" altLang="zh-CN" dirty="0">
              <a:solidFill>
                <a:srgbClr val="C00000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2357754" y="2789374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843808" y="2789374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2249742" y="3111810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898730" y="3691997"/>
            <a:ext cx="243000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141730" y="3691998"/>
            <a:ext cx="297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870811" y="3111810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3221877" y="3691997"/>
            <a:ext cx="243000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464877" y="3691998"/>
            <a:ext cx="297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32823" y="3217137"/>
            <a:ext cx="7460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A1=Yes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3201516" y="3183166"/>
            <a:ext cx="7056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A1=No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5524457" y="2789374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010511" y="2789374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直接连接符 21"/>
          <p:cNvCxnSpPr/>
          <p:nvPr/>
        </p:nvCxnSpPr>
        <p:spPr>
          <a:xfrm flipH="1">
            <a:off x="5416445" y="3111810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5065433" y="3691997"/>
            <a:ext cx="486000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564279" y="3691507"/>
            <a:ext cx="54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直接连接符 24"/>
          <p:cNvCxnSpPr/>
          <p:nvPr/>
        </p:nvCxnSpPr>
        <p:spPr>
          <a:xfrm>
            <a:off x="6037514" y="3111810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6361580" y="3691507"/>
            <a:ext cx="540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999525" y="3217137"/>
            <a:ext cx="7460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A2=Yes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368218" y="3183166"/>
            <a:ext cx="7056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A2=No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833313" y="4284052"/>
            <a:ext cx="62228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dirty="0">
                <a:sym typeface="Wingdings" panose="05000000000000000000" pitchFamily="2" charset="2"/>
              </a:rPr>
              <a:t></a:t>
            </a:r>
            <a:endParaRPr lang="zh-CN" altLang="en-US" sz="4050" dirty="0"/>
          </a:p>
        </p:txBody>
      </p:sp>
      <p:sp>
        <p:nvSpPr>
          <p:cNvPr id="32" name="文本框 31"/>
          <p:cNvSpPr txBox="1"/>
          <p:nvPr/>
        </p:nvSpPr>
        <p:spPr>
          <a:xfrm>
            <a:off x="2532294" y="4276432"/>
            <a:ext cx="62228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dirty="0">
                <a:sym typeface="Wingdings" panose="05000000000000000000" pitchFamily="2" charset="2"/>
              </a:rPr>
              <a:t></a:t>
            </a:r>
            <a:endParaRPr lang="zh-CN" altLang="en-US" sz="40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944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如何度量混杂度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将离散的属性建模成一个随机变量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概率</a:t>
                </a:r>
                <a:r>
                  <a:rPr lang="mr-IN" altLang="zh-CN" dirty="0" err="1"/>
                  <a:t>p</a:t>
                </a:r>
                <a:r>
                  <a:rPr lang="mr-IN" altLang="zh-CN" dirty="0"/>
                  <a:t>(X = x</a:t>
                </a:r>
                <a:r>
                  <a:rPr lang="mr-IN" altLang="zh-CN" baseline="-25000" dirty="0"/>
                  <a:t>1</a:t>
                </a:r>
                <a:r>
                  <a:rPr lang="mr-IN" altLang="zh-CN" dirty="0"/>
                  <a:t>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概率</a:t>
                </a:r>
                <a:r>
                  <a:rPr lang="mr-IN" altLang="zh-CN" dirty="0" err="1"/>
                  <a:t>p</a:t>
                </a:r>
                <a:r>
                  <a:rPr lang="mr-IN" altLang="zh-CN" dirty="0"/>
                  <a:t>(X = x</a:t>
                </a:r>
                <a:r>
                  <a:rPr lang="mr-IN" altLang="zh-CN" baseline="-25000" dirty="0"/>
                  <a:t>2</a:t>
                </a:r>
                <a:r>
                  <a:rPr lang="mr-IN" altLang="zh-CN" dirty="0"/>
                  <a:t>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符号定义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X</a:t>
                </a:r>
                <a:r>
                  <a:rPr lang="zh-CN" altLang="en-US" dirty="0"/>
                  <a:t>： 随机变量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x: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的一个取值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p(x)</a:t>
                </a:r>
                <a:r>
                  <a:rPr lang="zh-CN" altLang="en-US" dirty="0"/>
                  <a:t>代表概率</a:t>
                </a:r>
                <a:r>
                  <a:rPr lang="en-US" altLang="zh-CN" dirty="0"/>
                  <a:t>p(X=x)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703" y="1277216"/>
            <a:ext cx="5300635" cy="3020868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21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如何度量混杂度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将离散的属性建模成一个随机变量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pPr lvl="1"/>
                <a:r>
                  <a:rPr lang="zh-CN" altLang="en-US" dirty="0"/>
                  <a:t>概率</a:t>
                </a:r>
                <a:r>
                  <a:rPr lang="mr-IN" altLang="zh-CN" dirty="0" err="1"/>
                  <a:t>p</a:t>
                </a:r>
                <a:r>
                  <a:rPr lang="mr-IN" altLang="zh-CN" dirty="0"/>
                  <a:t>(X = x</a:t>
                </a:r>
                <a:r>
                  <a:rPr lang="mr-IN" altLang="zh-CN" baseline="-25000" dirty="0"/>
                  <a:t>1</a:t>
                </a:r>
                <a:r>
                  <a:rPr lang="mr-IN" altLang="zh-CN" dirty="0"/>
                  <a:t>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概率</a:t>
                </a:r>
                <a:r>
                  <a:rPr lang="mr-IN" altLang="zh-CN" dirty="0" err="1"/>
                  <a:t>p</a:t>
                </a:r>
                <a:r>
                  <a:rPr lang="mr-IN" altLang="zh-CN" dirty="0"/>
                  <a:t>(X = x</a:t>
                </a:r>
                <a:r>
                  <a:rPr lang="mr-IN" altLang="zh-CN" baseline="-25000" dirty="0"/>
                  <a:t>2</a:t>
                </a:r>
                <a:r>
                  <a:rPr lang="mr-IN" altLang="zh-CN" dirty="0"/>
                  <a:t>)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符号定义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X</a:t>
                </a:r>
                <a:r>
                  <a:rPr lang="zh-CN" altLang="en-US" dirty="0"/>
                  <a:t>： 随机变量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x: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的一个取值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p(x)</a:t>
                </a:r>
                <a:r>
                  <a:rPr lang="zh-CN" altLang="en-US" dirty="0"/>
                  <a:t>代表概率</a:t>
                </a:r>
                <a:r>
                  <a:rPr lang="en-US" altLang="zh-CN" dirty="0"/>
                  <a:t>p(X=x)</a:t>
                </a:r>
              </a:p>
              <a:p>
                <a:endParaRPr lang="en-US" dirty="0"/>
              </a:p>
              <a:p>
                <a:r>
                  <a:rPr lang="zh-CN" altLang="en-US" dirty="0"/>
                  <a:t>引入新的符号</a:t>
                </a:r>
                <a:endParaRPr lang="en-US" altLang="zh-CN" dirty="0"/>
              </a:p>
              <a:p>
                <a:r>
                  <a:rPr lang="mr-IN" sz="1800" dirty="0" err="1"/>
                  <a:t>h</a:t>
                </a:r>
                <a:r>
                  <a:rPr lang="mr-IN" sz="1800" dirty="0"/>
                  <a:t>(</a:t>
                </a:r>
                <a:r>
                  <a:rPr lang="mr-IN" sz="1800" dirty="0" err="1"/>
                  <a:t>x</a:t>
                </a:r>
                <a:r>
                  <a:rPr lang="mr-IN" sz="1800" dirty="0"/>
                  <a:t>) = log</a:t>
                </a:r>
                <a:r>
                  <a:rPr lang="mr-IN" sz="1800" baseline="-25000" dirty="0"/>
                  <a:t>2</a:t>
                </a:r>
                <a:r>
                  <a:rPr lang="mr-IN" sz="1800" dirty="0"/>
                  <a:t>(1/</a:t>
                </a:r>
                <a:r>
                  <a:rPr lang="mr-IN" sz="1800" dirty="0" err="1"/>
                  <a:t>p</a:t>
                </a:r>
                <a:r>
                  <a:rPr lang="mr-IN" sz="1800" dirty="0"/>
                  <a:t>(</a:t>
                </a:r>
                <a:r>
                  <a:rPr lang="mr-IN" sz="1800" dirty="0" err="1"/>
                  <a:t>x</a:t>
                </a:r>
                <a:r>
                  <a:rPr lang="mr-IN" sz="1800" dirty="0"/>
                  <a:t>))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386608"/>
            <a:ext cx="3357418" cy="2948843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62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信息熵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Entropy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lvl="1" indent="0"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给定一个随机变量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的熵为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sup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sup>
                        <m:e>
                          <m: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func>
                            <m:funcPr>
                              <m:ctrlPr>
                                <a:rPr lang="zh-CN" altLang="en-US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𝑝</m:t>
                              </m:r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090" y="2337955"/>
            <a:ext cx="2753246" cy="2418195"/>
          </a:xfrm>
          <a:prstGeom prst="rect">
            <a:avLst/>
          </a:prstGeom>
        </p:spPr>
      </p:pic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2337954"/>
            <a:ext cx="5323954" cy="25705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熵的直观解释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描述数据的不确定性（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）：熵越高，表述数据越难预测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8650"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描述信息内容（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）：熵越高，表示信息量越多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12391" y="3985219"/>
            <a:ext cx="3317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请计算右图变量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X</a:t>
            </a:r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的熵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1.75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9</a:t>
            </a:r>
            <a:endParaRPr lang="zh-CN" altLang="en-US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496463" y="4045663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0254" y="16744"/>
            <a:ext cx="1103746" cy="1555278"/>
          </a:xfrm>
          <a:prstGeom prst="rect">
            <a:avLst/>
          </a:prstGeom>
        </p:spPr>
      </p:pic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435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信息熵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Entropy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1" y="819150"/>
                <a:ext cx="4187536" cy="3937000"/>
              </a:xfrm>
            </p:spPr>
            <p:txBody>
              <a:bodyPr/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均匀分布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altLang="zh-CN" b="0" i="1" dirty="0" smtClean="0">
                        <a:latin typeface="Cambria Math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b="0" i="1" dirty="0" smtClean="0">
                        <a:latin typeface="Cambria Math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altLang="zh-CN" b="0" i="1" dirty="0" smtClean="0">
                        <a:latin typeface="Cambria Math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>
                      <m:fPr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altLang="zh-CN" i="1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</m:t>
                            </m:r>
                          </m:e>
                        </m:d>
                      </m:den>
                    </m:f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=1, ⋯,|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|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熵最大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)=</m:t>
                    </m:r>
                    <m:func>
                      <m:funcPr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func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确定分布时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0,1,0, ⋯,0</m:t>
                        </m:r>
                      </m:e>
                    </m:d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熵最小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0</a:t>
                </a:r>
              </a:p>
              <a:p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右图：分布为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 1−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时的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H(X)</a:t>
                </a:r>
                <a:b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随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变化曲线，最大值点为</a:t>
                </a:r>
                <a:r>
                  <a:rPr lang="en-US" altLang="zh-CN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p=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1" y="819150"/>
                <a:ext cx="4187536" cy="3937000"/>
              </a:xfrm>
              <a:blipFill rotWithShape="0">
                <a:blip r:embed="rId2"/>
                <a:stretch>
                  <a:fillRect l="-1310" r="-3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849" y="1121644"/>
            <a:ext cx="3393951" cy="3162545"/>
          </a:xfrm>
          <a:prstGeom prst="rect">
            <a:avLst/>
          </a:prstGeom>
        </p:spPr>
      </p:pic>
      <p:sp>
        <p:nvSpPr>
          <p:cNvPr id="6" name="矩形 47"/>
          <p:cNvSpPr/>
          <p:nvPr/>
        </p:nvSpPr>
        <p:spPr>
          <a:xfrm>
            <a:off x="6989825" y="4271692"/>
            <a:ext cx="2712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135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49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13365"/>
            <a:ext cx="8229600" cy="1206806"/>
          </a:xfrm>
        </p:spPr>
        <p:txBody>
          <a:bodyPr/>
          <a:lstStyle/>
          <a:p>
            <a:r>
              <a:rPr lang="en-US" altLang="zh-CN" dirty="0"/>
              <a:t>X</a:t>
            </a:r>
            <a:r>
              <a:rPr lang="zh-CN" altLang="en-US" dirty="0"/>
              <a:t>可能的取值有</a:t>
            </a:r>
            <a:r>
              <a:rPr lang="en-US" altLang="zh-CN" dirty="0"/>
              <a:t>4</a:t>
            </a:r>
            <a:r>
              <a:rPr lang="zh-CN" altLang="en-US" dirty="0"/>
              <a:t>个，服从均匀分布</a:t>
            </a:r>
            <a:endParaRPr lang="en-US" altLang="zh-CN" dirty="0"/>
          </a:p>
          <a:p>
            <a:r>
              <a:rPr lang="en-US" altLang="zh-CN" dirty="0"/>
              <a:t>Y</a:t>
            </a:r>
            <a:r>
              <a:rPr lang="zh-CN" altLang="en-US" dirty="0"/>
              <a:t>可能的取值有</a:t>
            </a:r>
            <a:r>
              <a:rPr lang="en-US" altLang="zh-CN" dirty="0"/>
              <a:t>4</a:t>
            </a:r>
            <a:r>
              <a:rPr lang="zh-CN" altLang="en-US" dirty="0"/>
              <a:t>个，其中</a:t>
            </a:r>
            <a:r>
              <a:rPr lang="en-US" altLang="zh-CN" dirty="0"/>
              <a:t>1</a:t>
            </a:r>
            <a:r>
              <a:rPr lang="zh-CN" altLang="en-US" dirty="0"/>
              <a:t>个取值概率为</a:t>
            </a:r>
            <a:r>
              <a:rPr lang="en-US" altLang="zh-CN" dirty="0"/>
              <a:t>0.5</a:t>
            </a:r>
            <a:r>
              <a:rPr lang="zh-CN" altLang="en-US" dirty="0"/>
              <a:t>，其余</a:t>
            </a:r>
            <a:r>
              <a:rPr lang="en-US" altLang="zh-CN" dirty="0"/>
              <a:t>3</a:t>
            </a:r>
            <a:r>
              <a:rPr lang="zh-CN" altLang="en-US" dirty="0"/>
              <a:t>个均匀分布</a:t>
            </a:r>
            <a:endParaRPr lang="en-US" altLang="zh-CN" dirty="0"/>
          </a:p>
          <a:p>
            <a:r>
              <a:rPr lang="en-US" altLang="zh-CN" dirty="0"/>
              <a:t>Z</a:t>
            </a:r>
            <a:r>
              <a:rPr lang="zh-CN" altLang="en-US" dirty="0"/>
              <a:t>可能的取值有</a:t>
            </a:r>
            <a:r>
              <a:rPr lang="en-US" altLang="zh-CN" dirty="0"/>
              <a:t>8</a:t>
            </a:r>
            <a:r>
              <a:rPr lang="zh-CN" altLang="en-US" dirty="0"/>
              <a:t>个，服从均匀分布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845" y="781092"/>
            <a:ext cx="7876309" cy="21560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93982" y="4190459"/>
            <a:ext cx="64264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请比较三个随机变量熵的大小</a:t>
            </a:r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  <a:p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X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&gt;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Y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&gt;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Z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X=Z&gt;Y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C.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Y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&gt;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Z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&gt;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X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D.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Z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&gt;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X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&gt;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Y</a:t>
            </a:r>
            <a:endParaRPr lang="zh-CN" altLang="en-US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1572" y="4280614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7" name="Rectangle 6"/>
          <p:cNvSpPr/>
          <p:nvPr/>
        </p:nvSpPr>
        <p:spPr>
          <a:xfrm>
            <a:off x="6833046" y="3973248"/>
            <a:ext cx="23109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latin typeface="Helvetica Neue" charset="0"/>
              </a:rPr>
              <a:t>你能从</a:t>
            </a:r>
            <a:r>
              <a:rPr lang="zh-CN" altLang="en-US" b="1">
                <a:latin typeface="Helvetica Neue" charset="0"/>
              </a:rPr>
              <a:t>不确定性或信息量的角度解释吗？</a:t>
            </a:r>
            <a:endParaRPr lang="en-US" altLang="zh-CN" b="1" dirty="0">
              <a:latin typeface="Helvetica Neue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4242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如何深入理解熵？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之间玩一个双人游戏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根据随机变量</a:t>
            </a:r>
            <a:r>
              <a:rPr lang="en-US" altLang="zh-CN" dirty="0"/>
              <a:t>X</a:t>
            </a:r>
            <a:r>
              <a:rPr lang="zh-CN" altLang="en-US" dirty="0"/>
              <a:t>的分布</a:t>
            </a:r>
            <a:r>
              <a:rPr lang="en-US" altLang="zh-CN" dirty="0"/>
              <a:t>p(X)</a:t>
            </a:r>
            <a:r>
              <a:rPr lang="zh-CN" altLang="en-US" dirty="0"/>
              <a:t>选择出某个取值</a:t>
            </a:r>
            <a:r>
              <a:rPr lang="en-US" altLang="zh-CN" dirty="0"/>
              <a:t>x</a:t>
            </a:r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可以问</a:t>
            </a:r>
            <a:r>
              <a:rPr lang="en-US" altLang="zh-CN" dirty="0"/>
              <a:t>A</a:t>
            </a:r>
            <a:r>
              <a:rPr lang="zh-CN" altLang="en-US" dirty="0"/>
              <a:t>若干个</a:t>
            </a:r>
            <a:r>
              <a:rPr lang="en-US" altLang="zh-CN" dirty="0"/>
              <a:t>Yes/No</a:t>
            </a:r>
            <a:r>
              <a:rPr lang="zh-CN" altLang="en-US" dirty="0"/>
              <a:t>问题来猜出</a:t>
            </a:r>
            <a:r>
              <a:rPr lang="en-US" altLang="zh-CN" dirty="0"/>
              <a:t>x</a:t>
            </a:r>
            <a:r>
              <a:rPr lang="zh-CN" altLang="en-US" dirty="0"/>
              <a:t>是多少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熵可以用来度量</a:t>
            </a:r>
            <a:r>
              <a:rPr lang="en-US" altLang="zh-CN" dirty="0"/>
              <a:t>B</a:t>
            </a:r>
            <a:r>
              <a:rPr lang="zh-CN" altLang="en-US" dirty="0"/>
              <a:t>所问的</a:t>
            </a:r>
            <a:r>
              <a:rPr lang="zh-CN" altLang="en-US" dirty="0">
                <a:solidFill>
                  <a:srgbClr val="C00000"/>
                </a:solidFill>
              </a:rPr>
              <a:t>问题个数的期望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>
                <a:solidFill>
                  <a:srgbClr val="C00000"/>
                </a:solidFill>
              </a:rPr>
              <a:t>你能证明吗？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526" y="2057400"/>
            <a:ext cx="2753246" cy="24181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81" y="2926773"/>
            <a:ext cx="5375564" cy="171893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5482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如何深入理解熵？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19150"/>
            <a:ext cx="5685326" cy="1794853"/>
          </a:xfrm>
        </p:spPr>
        <p:txBody>
          <a:bodyPr/>
          <a:lstStyle/>
          <a:p>
            <a:r>
              <a:rPr lang="zh-CN" altLang="en-US" dirty="0"/>
              <a:t>考虑数据的哈弗曼编码（</a:t>
            </a:r>
            <a:r>
              <a:rPr lang="en-US" altLang="zh-CN" dirty="0"/>
              <a:t>Huffman</a:t>
            </a:r>
            <a:r>
              <a:rPr lang="zh-CN" altLang="en-US" dirty="0"/>
              <a:t> </a:t>
            </a:r>
            <a:r>
              <a:rPr lang="en-US" altLang="zh-CN" dirty="0"/>
              <a:t>Coding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请建立右表数据的哈夫曼编码树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zh-CN" altLang="en-US" dirty="0"/>
              <a:t>熵可以用来度量平均的最短描述长度（</a:t>
            </a:r>
            <a:r>
              <a:rPr lang="en-US" altLang="zh-CN" dirty="0"/>
              <a:t>Average</a:t>
            </a:r>
            <a:r>
              <a:rPr lang="zh-CN" altLang="en-US" dirty="0"/>
              <a:t> </a:t>
            </a:r>
            <a:r>
              <a:rPr lang="en-US" altLang="zh-CN" dirty="0"/>
              <a:t>Length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shortest</a:t>
            </a:r>
            <a:r>
              <a:rPr lang="zh-CN" altLang="en-US" dirty="0"/>
              <a:t> </a:t>
            </a:r>
            <a:r>
              <a:rPr lang="en-US" altLang="zh-CN" dirty="0"/>
              <a:t>description</a:t>
            </a:r>
            <a:r>
              <a:rPr lang="zh-CN" altLang="en-US" dirty="0"/>
              <a:t>）</a:t>
            </a:r>
            <a:endParaRPr lang="en-US" altLang="zh-CN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526" y="1423554"/>
            <a:ext cx="2753246" cy="241819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898948" y="2787650"/>
            <a:ext cx="267277" cy="267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500630" y="3189432"/>
            <a:ext cx="267277" cy="267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99863" y="3189431"/>
            <a:ext cx="267277" cy="267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>
            <a:stCxn id="5" idx="3"/>
            <a:endCxn id="7" idx="7"/>
          </p:cNvCxnSpPr>
          <p:nvPr/>
        </p:nvCxnSpPr>
        <p:spPr>
          <a:xfrm flipH="1">
            <a:off x="2728765" y="3015785"/>
            <a:ext cx="209325" cy="212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stCxn id="5" idx="5"/>
            <a:endCxn id="8" idx="1"/>
          </p:cNvCxnSpPr>
          <p:nvPr/>
        </p:nvCxnSpPr>
        <p:spPr>
          <a:xfrm>
            <a:off x="3127083" y="3015785"/>
            <a:ext cx="211922" cy="212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52257" y="2818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3334146" y="281835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24" name="Oval 23"/>
          <p:cNvSpPr/>
          <p:nvPr/>
        </p:nvSpPr>
        <p:spPr>
          <a:xfrm>
            <a:off x="3863429" y="3630354"/>
            <a:ext cx="267277" cy="267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465111" y="4032136"/>
            <a:ext cx="267277" cy="267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264344" y="4032135"/>
            <a:ext cx="267277" cy="267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/>
          <p:cNvCxnSpPr>
            <a:stCxn id="27" idx="3"/>
            <a:endCxn id="29" idx="7"/>
          </p:cNvCxnSpPr>
          <p:nvPr/>
        </p:nvCxnSpPr>
        <p:spPr>
          <a:xfrm flipH="1">
            <a:off x="3693246" y="3858489"/>
            <a:ext cx="209325" cy="2127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27" idx="5"/>
            <a:endCxn id="30" idx="1"/>
          </p:cNvCxnSpPr>
          <p:nvPr/>
        </p:nvCxnSpPr>
        <p:spPr>
          <a:xfrm>
            <a:off x="4091564" y="3858489"/>
            <a:ext cx="211922" cy="212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3416738" y="36610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4298627" y="366106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1" name="Oval 30"/>
          <p:cNvSpPr/>
          <p:nvPr/>
        </p:nvSpPr>
        <p:spPr>
          <a:xfrm>
            <a:off x="2787688" y="3661060"/>
            <a:ext cx="267277" cy="26727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>
            <a:stCxn id="8" idx="3"/>
            <a:endCxn id="31" idx="7"/>
          </p:cNvCxnSpPr>
          <p:nvPr/>
        </p:nvCxnSpPr>
        <p:spPr>
          <a:xfrm flipH="1">
            <a:off x="3015823" y="3417566"/>
            <a:ext cx="323182" cy="28263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>
            <a:stCxn id="8" idx="6"/>
            <a:endCxn id="24" idx="0"/>
          </p:cNvCxnSpPr>
          <p:nvPr/>
        </p:nvCxnSpPr>
        <p:spPr>
          <a:xfrm>
            <a:off x="3567140" y="3323070"/>
            <a:ext cx="429928" cy="3072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997634" y="322117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0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3765225" y="314843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1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120141" y="318768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</a:rPr>
              <a:t>1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428406" y="365181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</a:rPr>
              <a:t>2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394760" y="434800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</a:rPr>
              <a:t>3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596643" y="435493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x</a:t>
            </a:r>
            <a:r>
              <a:rPr lang="en-US" altLang="zh-CN" baseline="-25000" dirty="0">
                <a:solidFill>
                  <a:srgbClr val="FF0000"/>
                </a:solidFill>
              </a:rPr>
              <a:t>4</a:t>
            </a:r>
            <a:endParaRPr lang="en-US" baseline="-25000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9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复习：联合概率分布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考虑随机变量</a:t>
            </a:r>
            <a:r>
              <a:rPr lang="en-US" altLang="zh-CN" dirty="0"/>
              <a:t>X,</a:t>
            </a:r>
            <a:r>
              <a:rPr lang="zh-CN" altLang="en-US" dirty="0"/>
              <a:t> </a:t>
            </a:r>
            <a:r>
              <a:rPr lang="en-US" altLang="zh-CN" dirty="0"/>
              <a:t>Y</a:t>
            </a:r>
            <a:r>
              <a:rPr lang="zh-CN" altLang="en-US" dirty="0"/>
              <a:t>和</a:t>
            </a:r>
            <a:r>
              <a:rPr lang="en-US" altLang="zh-CN" dirty="0"/>
              <a:t>Z</a:t>
            </a:r>
            <a:r>
              <a:rPr lang="zh-CN" altLang="en-US" dirty="0"/>
              <a:t>的联合概率分布</a:t>
            </a:r>
            <a:endParaRPr lang="en-US" altLang="zh-CN" dirty="0"/>
          </a:p>
          <a:p>
            <a:pPr lvl="1"/>
            <a:r>
              <a:rPr lang="en-US" altLang="zh-CN" dirty="0"/>
              <a:t>P(X,</a:t>
            </a:r>
            <a:r>
              <a:rPr lang="zh-CN" altLang="en-US" dirty="0"/>
              <a:t> </a:t>
            </a:r>
            <a:r>
              <a:rPr lang="en-US" altLang="zh-CN" dirty="0"/>
              <a:t>Y,</a:t>
            </a:r>
            <a:r>
              <a:rPr lang="zh-CN" altLang="en-US" dirty="0"/>
              <a:t> </a:t>
            </a:r>
            <a:r>
              <a:rPr lang="en-US" altLang="zh-CN" dirty="0"/>
              <a:t>Z)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zh-CN" altLang="en-US" dirty="0"/>
              <a:t>边缘概率分布</a:t>
            </a:r>
            <a:endParaRPr lang="en-US" altLang="zh-CN" dirty="0"/>
          </a:p>
          <a:p>
            <a:pPr lvl="1"/>
            <a:r>
              <a:rPr lang="en-US" altLang="zh-CN" dirty="0"/>
              <a:t>P(X)</a:t>
            </a:r>
          </a:p>
          <a:p>
            <a:pPr lvl="1"/>
            <a:r>
              <a:rPr lang="en-US" altLang="zh-CN" dirty="0"/>
              <a:t>P(Y)</a:t>
            </a:r>
          </a:p>
          <a:p>
            <a:pPr lvl="1"/>
            <a:r>
              <a:rPr lang="en-US" altLang="zh-CN" dirty="0"/>
              <a:t>P(Z)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127" y="1311563"/>
            <a:ext cx="5722438" cy="336434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5067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复习：条件概率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条件概率：</a:t>
            </a:r>
            <a:r>
              <a:rPr lang="mr-IN" dirty="0" err="1"/>
              <a:t>p</a:t>
            </a:r>
            <a:r>
              <a:rPr lang="mr-IN" dirty="0"/>
              <a:t>(X|Y).</a:t>
            </a:r>
            <a:endParaRPr lang="en-US" dirty="0"/>
          </a:p>
          <a:p>
            <a:pPr lvl="1"/>
            <a:r>
              <a:rPr lang="mr-IN" dirty="0" err="1"/>
              <a:t>p</a:t>
            </a:r>
            <a:r>
              <a:rPr lang="mr-IN" dirty="0"/>
              <a:t>(X=x1|Y=y1)=</a:t>
            </a:r>
            <a:r>
              <a:rPr lang="mr-IN" dirty="0" err="1"/>
              <a:t>p</a:t>
            </a:r>
            <a:r>
              <a:rPr lang="mr-IN" dirty="0"/>
              <a:t>(X=x1,Y=y1)/</a:t>
            </a:r>
            <a:r>
              <a:rPr lang="mr-IN" dirty="0" err="1"/>
              <a:t>p</a:t>
            </a:r>
            <a:r>
              <a:rPr lang="mr-IN" dirty="0"/>
              <a:t>(</a:t>
            </a:r>
            <a:r>
              <a:rPr lang="mr-IN" dirty="0" err="1"/>
              <a:t>Y</a:t>
            </a:r>
            <a:r>
              <a:rPr lang="mr-IN" dirty="0"/>
              <a:t>=y1). 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645227"/>
            <a:ext cx="8724900" cy="2692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115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条件熵 </a:t>
            </a:r>
            <a:r>
              <a:rPr lang="mr-IN" altLang="zh-CN" dirty="0"/>
              <a:t>–</a:t>
            </a:r>
            <a:r>
              <a:rPr lang="zh-CN" altLang="en-US" dirty="0"/>
              <a:t> </a:t>
            </a:r>
            <a:r>
              <a:rPr lang="en-US" altLang="zh-CN" dirty="0"/>
              <a:t>Conditional</a:t>
            </a:r>
            <a:r>
              <a:rPr lang="zh-CN" altLang="en-US" dirty="0"/>
              <a:t> </a:t>
            </a:r>
            <a:r>
              <a:rPr lang="en-US" altLang="zh-CN" dirty="0"/>
              <a:t>Entropy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直观含义</a:t>
            </a:r>
            <a:endParaRPr lang="en-US" altLang="zh-CN" dirty="0"/>
          </a:p>
          <a:p>
            <a:pPr lvl="1"/>
            <a:r>
              <a:rPr lang="zh-CN" altLang="en-US" dirty="0"/>
              <a:t>给定随机变量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的联合概率分布，假设</a:t>
            </a:r>
            <a:r>
              <a:rPr lang="en-US" altLang="zh-CN" dirty="0"/>
              <a:t>Y</a:t>
            </a:r>
            <a:r>
              <a:rPr lang="zh-CN" altLang="en-US" dirty="0"/>
              <a:t>是已知的，我们能从</a:t>
            </a:r>
            <a:r>
              <a:rPr lang="en-US" altLang="zh-CN" dirty="0"/>
              <a:t>X</a:t>
            </a:r>
            <a:r>
              <a:rPr lang="zh-CN" altLang="en-US" dirty="0"/>
              <a:t>中获得多少信息量？</a:t>
            </a:r>
            <a:endParaRPr lang="en-US" altLang="zh-CN" dirty="0"/>
          </a:p>
          <a:p>
            <a:r>
              <a:rPr lang="zh-CN" altLang="en-US" dirty="0"/>
              <a:t>符号定义</a:t>
            </a:r>
            <a:endParaRPr lang="en-US" altLang="zh-CN" dirty="0"/>
          </a:p>
          <a:p>
            <a:pPr lvl="1"/>
            <a:r>
              <a:rPr lang="mr-IN" dirty="0" err="1"/>
              <a:t>h</a:t>
            </a:r>
            <a:r>
              <a:rPr lang="mr-IN" dirty="0"/>
              <a:t>(</a:t>
            </a:r>
            <a:r>
              <a:rPr lang="mr-IN" dirty="0" err="1"/>
              <a:t>x|y</a:t>
            </a:r>
            <a:r>
              <a:rPr lang="mr-IN" dirty="0"/>
              <a:t>) = log</a:t>
            </a:r>
            <a:r>
              <a:rPr lang="mr-IN" baseline="-25000" dirty="0"/>
              <a:t>2</a:t>
            </a:r>
            <a:r>
              <a:rPr lang="mr-IN" dirty="0"/>
              <a:t>(1/</a:t>
            </a:r>
            <a:r>
              <a:rPr lang="mr-IN" dirty="0" err="1"/>
              <a:t>p</a:t>
            </a:r>
            <a:r>
              <a:rPr lang="mr-IN" dirty="0"/>
              <a:t>(</a:t>
            </a:r>
            <a:r>
              <a:rPr lang="mr-IN" dirty="0" err="1"/>
              <a:t>x|y</a:t>
            </a:r>
            <a:r>
              <a:rPr lang="mr-IN" dirty="0"/>
              <a:t>)) </a:t>
            </a:r>
          </a:p>
          <a:p>
            <a:r>
              <a:rPr lang="zh-CN" altLang="en-US" dirty="0"/>
              <a:t>条件熵</a:t>
            </a:r>
            <a:endParaRPr lang="en-US" altLang="zh-CN" dirty="0"/>
          </a:p>
          <a:p>
            <a:pPr lvl="1"/>
            <a:r>
              <a:rPr lang="mr-IN" dirty="0" err="1"/>
              <a:t>H</a:t>
            </a:r>
            <a:r>
              <a:rPr lang="mr-IN" dirty="0"/>
              <a:t>(X|Y) = </a:t>
            </a:r>
            <a:r>
              <a:rPr lang="mr-IN" dirty="0" err="1"/>
              <a:t>E</a:t>
            </a:r>
            <a:r>
              <a:rPr lang="mr-IN" baseline="-25000" dirty="0" err="1"/>
              <a:t>x,y</a:t>
            </a:r>
            <a:r>
              <a:rPr lang="mr-IN" dirty="0"/>
              <a:t>[</a:t>
            </a:r>
            <a:r>
              <a:rPr lang="mr-IN" dirty="0" err="1"/>
              <a:t>h</a:t>
            </a:r>
            <a:r>
              <a:rPr lang="mr-IN" dirty="0"/>
              <a:t>(</a:t>
            </a:r>
            <a:r>
              <a:rPr lang="mr-IN" dirty="0" err="1"/>
              <a:t>x|y</a:t>
            </a:r>
            <a:r>
              <a:rPr lang="mr-IN" dirty="0"/>
              <a:t>)] </a:t>
            </a:r>
            <a:endParaRPr lang="en-US" dirty="0"/>
          </a:p>
          <a:p>
            <a:pPr lvl="1"/>
            <a:r>
              <a:rPr lang="mr-IN" dirty="0" err="1" smtClean="0"/>
              <a:t>Σ</a:t>
            </a:r>
            <a:r>
              <a:rPr lang="mr-IN" baseline="-25000" dirty="0" err="1" smtClean="0"/>
              <a:t>x</a:t>
            </a:r>
            <a:r>
              <a:rPr lang="mr-IN" dirty="0" smtClean="0"/>
              <a:t> </a:t>
            </a:r>
            <a:r>
              <a:rPr lang="mr-IN" dirty="0" err="1"/>
              <a:t>Σ</a:t>
            </a:r>
            <a:r>
              <a:rPr lang="mr-IN" baseline="-25000" dirty="0" err="1"/>
              <a:t>y</a:t>
            </a:r>
            <a:r>
              <a:rPr lang="mr-IN" dirty="0"/>
              <a:t> </a:t>
            </a:r>
            <a:r>
              <a:rPr lang="mr-IN" dirty="0" err="1"/>
              <a:t>p</a:t>
            </a:r>
            <a:r>
              <a:rPr lang="mr-IN" dirty="0"/>
              <a:t>(</a:t>
            </a:r>
            <a:r>
              <a:rPr lang="mr-IN" dirty="0" err="1"/>
              <a:t>x,y</a:t>
            </a:r>
            <a:r>
              <a:rPr lang="mr-IN" dirty="0"/>
              <a:t>) log</a:t>
            </a:r>
            <a:r>
              <a:rPr lang="mr-IN" baseline="-25000" dirty="0"/>
              <a:t>2</a:t>
            </a:r>
            <a:r>
              <a:rPr lang="mr-IN" dirty="0"/>
              <a:t>(1/</a:t>
            </a:r>
            <a:r>
              <a:rPr lang="mr-IN" dirty="0" err="1"/>
              <a:t>p</a:t>
            </a:r>
            <a:r>
              <a:rPr lang="mr-IN" dirty="0"/>
              <a:t>(</a:t>
            </a:r>
            <a:r>
              <a:rPr lang="mr-IN" dirty="0" err="1"/>
              <a:t>x|y</a:t>
            </a:r>
            <a:r>
              <a:rPr lang="mr-IN" dirty="0"/>
              <a:t>))</a:t>
            </a:r>
          </a:p>
          <a:p>
            <a:pPr lvl="1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0719" y="1592118"/>
            <a:ext cx="4648200" cy="2603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304372" y="3832820"/>
            <a:ext cx="33176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请计算右图条件熵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H(X|Y)</a:t>
            </a:r>
          </a:p>
          <a:p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1.75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0.75</a:t>
            </a:r>
            <a:endParaRPr lang="zh-CN" altLang="en-US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88444" y="3893264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253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如何深入理解条件熵？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直观含义</a:t>
            </a:r>
            <a:endParaRPr lang="en-US" altLang="zh-CN" dirty="0"/>
          </a:p>
          <a:p>
            <a:pPr lvl="1"/>
            <a:r>
              <a:rPr lang="zh-CN" altLang="en-US" dirty="0"/>
              <a:t>给定随机变量</a:t>
            </a:r>
            <a:r>
              <a:rPr lang="en-US" altLang="zh-CN" dirty="0"/>
              <a:t>X</a:t>
            </a:r>
            <a:r>
              <a:rPr lang="zh-CN" altLang="en-US" dirty="0"/>
              <a:t>和</a:t>
            </a:r>
            <a:r>
              <a:rPr lang="en-US" altLang="zh-CN" dirty="0"/>
              <a:t>Y</a:t>
            </a:r>
            <a:r>
              <a:rPr lang="zh-CN" altLang="en-US" dirty="0"/>
              <a:t>的联合概率分布，假设</a:t>
            </a:r>
            <a:r>
              <a:rPr lang="en-US" altLang="zh-CN" dirty="0"/>
              <a:t>Y</a:t>
            </a:r>
            <a:r>
              <a:rPr lang="zh-CN" altLang="en-US" dirty="0"/>
              <a:t>是已知的，我们能从</a:t>
            </a:r>
            <a:r>
              <a:rPr lang="en-US" altLang="zh-CN" dirty="0"/>
              <a:t>X</a:t>
            </a:r>
            <a:r>
              <a:rPr lang="zh-CN" altLang="en-US" dirty="0"/>
              <a:t>中获得多少信息量？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考虑之前的双人游戏，思考</a:t>
            </a:r>
            <a:r>
              <a:rPr lang="en-US" altLang="zh-CN" dirty="0"/>
              <a:t>H(X|Y)</a:t>
            </a:r>
          </a:p>
          <a:p>
            <a:pPr lvl="1"/>
            <a:r>
              <a:rPr lang="zh-CN" altLang="en-US" dirty="0"/>
              <a:t>如果已知</a:t>
            </a:r>
            <a:r>
              <a:rPr lang="en-US" altLang="zh-CN" dirty="0"/>
              <a:t>Y=y</a:t>
            </a:r>
            <a:r>
              <a:rPr lang="zh-CN" altLang="en-US" dirty="0"/>
              <a:t>了，</a:t>
            </a:r>
            <a:r>
              <a:rPr lang="en-US" altLang="zh-CN" dirty="0"/>
              <a:t>B</a:t>
            </a:r>
            <a:r>
              <a:rPr lang="zh-CN" altLang="en-US" dirty="0"/>
              <a:t>要猜出</a:t>
            </a:r>
            <a:r>
              <a:rPr lang="en-US" altLang="zh-CN" dirty="0"/>
              <a:t>x</a:t>
            </a:r>
            <a:r>
              <a:rPr lang="zh-CN" altLang="en-US" dirty="0"/>
              <a:t>的问题个数期望是？</a:t>
            </a:r>
            <a:endParaRPr lang="en-US" altLang="zh-CN" dirty="0"/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Y=y1</a:t>
            </a:r>
            <a:r>
              <a:rPr lang="zh-CN" altLang="en-US" dirty="0"/>
              <a:t> </a:t>
            </a:r>
            <a:r>
              <a:rPr lang="zh-CN" altLang="en-US" dirty="0">
                <a:sym typeface="Wingdings"/>
              </a:rPr>
              <a:t> </a:t>
            </a:r>
            <a:r>
              <a:rPr lang="en-US" altLang="zh-CN" dirty="0">
                <a:sym typeface="Wingdings"/>
              </a:rPr>
              <a:t>0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questions</a:t>
            </a:r>
          </a:p>
          <a:p>
            <a:pPr lvl="1"/>
            <a:r>
              <a:rPr lang="zh-CN" altLang="en-US" dirty="0">
                <a:sym typeface="Wingdings"/>
              </a:rPr>
              <a:t>如果</a:t>
            </a:r>
            <a:r>
              <a:rPr lang="en-US" altLang="zh-CN" dirty="0">
                <a:sym typeface="Wingdings"/>
              </a:rPr>
              <a:t>Y=y2</a:t>
            </a:r>
            <a:r>
              <a:rPr lang="zh-CN" altLang="en-US" dirty="0">
                <a:sym typeface="Wingdings"/>
              </a:rPr>
              <a:t>  </a:t>
            </a:r>
            <a:r>
              <a:rPr lang="en-US" altLang="zh-CN" dirty="0">
                <a:sym typeface="Wingdings"/>
              </a:rPr>
              <a:t>0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questions</a:t>
            </a:r>
          </a:p>
          <a:p>
            <a:pPr lvl="1"/>
            <a:r>
              <a:rPr lang="zh-CN" altLang="en-US" dirty="0">
                <a:sym typeface="Wingdings"/>
              </a:rPr>
              <a:t>如果</a:t>
            </a:r>
            <a:r>
              <a:rPr lang="en-US" altLang="zh-CN" dirty="0">
                <a:sym typeface="Wingdings"/>
              </a:rPr>
              <a:t>Y=y3</a:t>
            </a:r>
            <a:r>
              <a:rPr lang="zh-CN" altLang="en-US" dirty="0">
                <a:sym typeface="Wingdings"/>
              </a:rPr>
              <a:t>  </a:t>
            </a:r>
            <a:r>
              <a:rPr lang="en-US" altLang="zh-CN" dirty="0">
                <a:sym typeface="Wingdings"/>
              </a:rPr>
              <a:t>1.5</a:t>
            </a:r>
            <a:r>
              <a:rPr lang="zh-CN" altLang="en-US" dirty="0">
                <a:sym typeface="Wingdings"/>
              </a:rPr>
              <a:t> </a:t>
            </a:r>
            <a:r>
              <a:rPr lang="en-US" altLang="zh-CN" dirty="0">
                <a:sym typeface="Wingdings"/>
              </a:rPr>
              <a:t>questions</a:t>
            </a:r>
          </a:p>
          <a:p>
            <a:pPr lvl="1"/>
            <a:endParaRPr lang="en-US" dirty="0">
              <a:sym typeface="Wingdings"/>
            </a:endParaRPr>
          </a:p>
          <a:p>
            <a:pPr lvl="1"/>
            <a:r>
              <a:rPr lang="zh-CN" altLang="en-US" dirty="0">
                <a:sym typeface="Wingdings"/>
              </a:rPr>
              <a:t>问题期望：</a:t>
            </a:r>
            <a:r>
              <a:rPr lang="en-US" altLang="zh-CN" dirty="0">
                <a:sym typeface="Wingdings"/>
              </a:rPr>
              <a:t>0.75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4217" y="2870454"/>
            <a:ext cx="3366655" cy="18856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28427" y="1886256"/>
            <a:ext cx="22389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C00000"/>
                </a:solidFill>
                <a:latin typeface="Helvetica Neue" charset="0"/>
              </a:rPr>
              <a:t>请计算下图的条件熵</a:t>
            </a:r>
            <a:r>
              <a:rPr lang="en-US" altLang="zh-CN" b="1" dirty="0">
                <a:solidFill>
                  <a:srgbClr val="C00000"/>
                </a:solidFill>
                <a:latin typeface="Helvetica Neue" charset="0"/>
              </a:rPr>
              <a:t>H(Y|X)</a:t>
            </a:r>
          </a:p>
          <a:p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A.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0.75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 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B.</a:t>
            </a:r>
            <a:r>
              <a:rPr lang="zh-CN" altLang="en-US" dirty="0">
                <a:solidFill>
                  <a:srgbClr val="C00000"/>
                </a:solidFill>
                <a:latin typeface="Helvetica Neue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Helvetica Neue" charset="0"/>
              </a:rPr>
              <a:t>0.5</a:t>
            </a:r>
            <a:endParaRPr lang="zh-CN" altLang="en-US" dirty="0">
              <a:solidFill>
                <a:srgbClr val="C00000"/>
              </a:solidFill>
              <a:latin typeface="Helvetica Neue" charset="0"/>
            </a:endParaRPr>
          </a:p>
          <a:p>
            <a:endParaRPr lang="en-US" altLang="zh-CN" b="1" dirty="0">
              <a:solidFill>
                <a:srgbClr val="C00000"/>
              </a:solidFill>
              <a:latin typeface="Helvetica Neue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06018" y="2081781"/>
            <a:ext cx="6431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  <a:latin typeface="Helvetica Neue" charset="0"/>
              </a:rPr>
              <a:t>🔔</a:t>
            </a:r>
            <a:r>
              <a:rPr lang="zh-CN" altLang="en-US" sz="2800" dirty="0">
                <a:solidFill>
                  <a:srgbClr val="000000"/>
                </a:solidFill>
                <a:latin typeface="Helvetica Neue" charset="0"/>
              </a:rPr>
              <a:t> </a:t>
            </a:r>
            <a:endParaRPr lang="en-US" sz="2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68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12183"/>
            <a:ext cx="6172200" cy="85725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两个随机变量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529935" y="1200150"/>
                <a:ext cx="8239991" cy="374786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联合熵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(joint entropy)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altLang="zh-CN" sz="180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</m:sup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altLang="zh-CN" sz="180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en-US" altLang="zh-CN" sz="180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18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altLang="zh-CN" sz="1800" i="1">
                                          <a:latin typeface="Cambria Math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CN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独立：</a:t>
                </a:r>
                <a14:m>
                  <m:oMath xmlns:m="http://schemas.openxmlformats.org/officeDocument/2006/math">
                    <m:r>
                      <a:rPr lang="en-US" altLang="zh-CN" sz="13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35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  <m:r>
                          <a:rPr lang="en-US" altLang="zh-CN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3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35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135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35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𝑎</m:t>
                        </m:r>
                      </m:e>
                    </m:d>
                    <m:r>
                      <a:rPr lang="en-US" altLang="zh-CN" sz="13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15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15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5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条件熵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(conditional entropy): 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给定随机变量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后，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剩余的不确定性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熵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sup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i="1" dirty="0">
                                  <a:latin typeface="Cambria Math" charset="0"/>
                                </a:rPr>
                              </m:ctrlPr>
                            </m:d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与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独立</a:t>
                </a:r>
                <a14:m>
                  <m:oMath xmlns:m="http://schemas.openxmlformats.org/officeDocument/2006/math">
                    <m:r>
                      <a:rPr lang="en-US" altLang="zh-CN" sz="135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⇒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15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5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500" i="1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1500" i="1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5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Chain Rule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800" i="1">
                              <a:latin typeface="Cambria Math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𝐴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9935" y="1200150"/>
                <a:ext cx="8239991" cy="3747864"/>
              </a:xfrm>
              <a:blipFill rotWithShape="0">
                <a:blip r:embed="rId2"/>
                <a:stretch>
                  <a:fillRect l="-518" t="-9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椭圆 4"/>
          <p:cNvSpPr/>
          <p:nvPr/>
        </p:nvSpPr>
        <p:spPr>
          <a:xfrm>
            <a:off x="6694878" y="704759"/>
            <a:ext cx="1240644" cy="76724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6" name="椭圆 5"/>
          <p:cNvSpPr/>
          <p:nvPr/>
        </p:nvSpPr>
        <p:spPr>
          <a:xfrm>
            <a:off x="6003399" y="567916"/>
            <a:ext cx="1286062" cy="972108"/>
          </a:xfrm>
          <a:prstGeom prst="ellipse">
            <a:avLst/>
          </a:prstGeom>
          <a:solidFill>
            <a:srgbClr val="4F81BD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066552" y="1036157"/>
                <a:ext cx="5302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4735" y="1381543"/>
                <a:ext cx="707501" cy="246221"/>
              </a:xfrm>
              <a:prstGeom prst="rect">
                <a:avLst/>
              </a:prstGeom>
              <a:blipFill rotWithShape="0">
                <a:blip r:embed="rId3"/>
                <a:stretch>
                  <a:fillRect l="-6897" b="-3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7388736" y="1036157"/>
                <a:ext cx="5302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27648" y="1381543"/>
                <a:ext cx="707501" cy="246221"/>
              </a:xfrm>
              <a:prstGeom prst="rect">
                <a:avLst/>
              </a:prstGeom>
              <a:blipFill rotWithShape="0">
                <a:blip r:embed="rId4"/>
                <a:stretch>
                  <a:fillRect l="-6034" b="-3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6709611" y="998610"/>
                <a:ext cx="5741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2148" y="1331480"/>
                <a:ext cx="769826" cy="246221"/>
              </a:xfrm>
              <a:prstGeom prst="rect">
                <a:avLst/>
              </a:prstGeom>
              <a:blipFill rotWithShape="0">
                <a:blip r:embed="rId5"/>
                <a:stretch>
                  <a:fillRect l="-6349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405946" y="310225"/>
                <a:ext cx="38286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262" y="413633"/>
                <a:ext cx="509948" cy="246221"/>
              </a:xfrm>
              <a:prstGeom prst="rect">
                <a:avLst/>
              </a:prstGeom>
              <a:blipFill rotWithShape="0">
                <a:blip r:embed="rId6"/>
                <a:stretch>
                  <a:fillRect l="-8333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7247565" y="322381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420" y="429842"/>
                <a:ext cx="503728" cy="246221"/>
              </a:xfrm>
              <a:prstGeom prst="rect">
                <a:avLst/>
              </a:prstGeom>
              <a:blipFill rotWithShape="0">
                <a:blip r:embed="rId7"/>
                <a:stretch>
                  <a:fillRect l="-8434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807066" y="1778407"/>
                <a:ext cx="5398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087" y="2371210"/>
                <a:ext cx="717632" cy="246221"/>
              </a:xfrm>
              <a:prstGeom prst="rect">
                <a:avLst/>
              </a:prstGeom>
              <a:blipFill rotWithShape="0">
                <a:blip r:embed="rId8"/>
                <a:stretch>
                  <a:fillRect l="-678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/>
          <p:cNvCxnSpPr>
            <a:stCxn id="12" idx="0"/>
          </p:cNvCxnSpPr>
          <p:nvPr/>
        </p:nvCxnSpPr>
        <p:spPr>
          <a:xfrm flipH="1" flipV="1">
            <a:off x="6709613" y="1540026"/>
            <a:ext cx="367367" cy="2383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12" idx="0"/>
            <a:endCxn id="5" idx="4"/>
          </p:cNvCxnSpPr>
          <p:nvPr/>
        </p:nvCxnSpPr>
        <p:spPr>
          <a:xfrm flipV="1">
            <a:off x="7076980" y="1472005"/>
            <a:ext cx="238220" cy="306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13" name="Rectangle 12"/>
          <p:cNvSpPr/>
          <p:nvPr/>
        </p:nvSpPr>
        <p:spPr>
          <a:xfrm>
            <a:off x="4132613" y="3016332"/>
            <a:ext cx="2273333" cy="5937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619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条件熵与信息增益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716973" y="1083571"/>
                <a:ext cx="8167254" cy="3394472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信息增益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(information gain, IG)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定义为给定随机变量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后，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所减少的不确定性</a:t>
                </a:r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altLang="zh-CN" sz="1500" i="1" dirty="0">
                  <a:latin typeface="Cambria Math" panose="02040503050406030204" pitchFamily="18" charset="0"/>
                </a:endParaRPr>
              </a:p>
              <a:p>
                <a:pPr marL="342900" lvl="1" indent="0">
                  <a:buNone/>
                </a:pPr>
                <a:r>
                  <a:rPr lang="en-US" altLang="zh-CN" sz="1500" dirty="0"/>
                  <a:t>       </a:t>
                </a:r>
                <a14:m>
                  <m:oMath xmlns:m="http://schemas.openxmlformats.org/officeDocument/2006/math">
                    <m:r>
                      <a:rPr lang="en-US" altLang="zh-CN" sz="1500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500" i="1" dirty="0">
                        <a:latin typeface="Cambria Math" panose="020405030504060302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1500" i="1" dirty="0">
                            <a:latin typeface="Cambria Math" charset="0"/>
                          </a:rPr>
                        </m:ctrlPr>
                      </m:dPr>
                      <m:e>
                        <m:r>
                          <a:rPr lang="en-US" altLang="zh-CN" sz="15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500" i="1" dirty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subSup"/>
                        <m:supHide m:val="on"/>
                        <m:ctrlPr>
                          <a:rPr lang="en-US" altLang="zh-CN" sz="1500" i="1" dirty="0">
                            <a:latin typeface="Cambria Math" charset="0"/>
                          </a:rPr>
                        </m:ctrlPr>
                      </m:naryPr>
                      <m:sub>
                        <m:r>
                          <m:rPr>
                            <m:brk m:alnAt="9"/>
                          </m:rPr>
                          <a:rPr lang="en-US" altLang="zh-CN" sz="1500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altLang="zh-CN" sz="1500" i="1" dirty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500" i="1" dirty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15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15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1500" i="1" dirty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5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15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1500" i="1" dirty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zh-CN" sz="1500" i="1" dirty="0">
                                <a:latin typeface="Cambria Math" charset="0"/>
                              </a:rPr>
                            </m:ctrlPr>
                          </m:dPr>
                          <m:e>
                            <m:r>
                              <a:rPr lang="en-US" altLang="zh-CN" sz="15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500" i="1" dirty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altLang="zh-CN" sz="1500" i="1" dirty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altLang="zh-CN" sz="1500" i="1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1500" i="1" dirty="0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50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1500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6973" y="1083571"/>
                <a:ext cx="8167254" cy="3394472"/>
              </a:xfrm>
              <a:blipFill rotWithShape="0">
                <a:blip r:embed="rId2"/>
                <a:stretch>
                  <a:fillRect l="-523" t="-1077" r="-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>
            <a:off x="2304116" y="2525285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90170" y="2525285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 flipH="1">
            <a:off x="2196104" y="2847721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1855177" y="3417824"/>
            <a:ext cx="486000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343938" y="3417759"/>
            <a:ext cx="54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817173" y="2847721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3141239" y="3427418"/>
            <a:ext cx="540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779185" y="2953048"/>
            <a:ext cx="58060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47878" y="2919077"/>
            <a:ext cx="58060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135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554494" y="3813335"/>
                <a:ext cx="1198598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494" y="3813335"/>
                <a:ext cx="1198598" cy="300082"/>
              </a:xfrm>
              <a:prstGeom prst="rect">
                <a:avLst/>
              </a:prstGeom>
              <a:blipFill rotWithShape="0">
                <a:blip r:embed="rId3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2729195" y="3830872"/>
                <a:ext cx="1198598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195" y="3830872"/>
                <a:ext cx="1198598" cy="300082"/>
              </a:xfrm>
              <a:prstGeom prst="rect">
                <a:avLst/>
              </a:prstGeom>
              <a:blipFill rotWithShape="0">
                <a:blip r:embed="rId4"/>
                <a:stretch>
                  <a:fillRect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2212223" y="2064907"/>
                <a:ext cx="1253869" cy="5078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350" dirty="0">
                    <a:solidFill>
                      <a:srgbClr val="FF0000"/>
                    </a:solidFill>
                  </a:rPr>
                  <a:t>ImpurityEval-1: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2223" y="2064907"/>
                <a:ext cx="1253869" cy="507831"/>
              </a:xfrm>
              <a:prstGeom prst="rect">
                <a:avLst/>
              </a:prstGeom>
              <a:blipFill rotWithShape="0">
                <a:blip r:embed="rId5"/>
                <a:stretch>
                  <a:fillRect l="-1456" t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/>
              <p:cNvSpPr/>
              <p:nvPr/>
            </p:nvSpPr>
            <p:spPr>
              <a:xfrm>
                <a:off x="5016333" y="3307463"/>
                <a:ext cx="3104119" cy="10156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15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信息增益性质：</a:t>
                </a:r>
                <a:endParaRPr lang="en-US" altLang="zh-CN" sz="15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altLang="zh-CN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en-US" altLang="zh-CN" sz="15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50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50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5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1500" dirty="0"/>
              </a:p>
            </p:txBody>
          </p:sp>
        </mc:Choice>
        <mc:Fallback xmlns="">
          <p:sp>
            <p:nvSpPr>
              <p:cNvPr id="25" name="矩形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4443" y="4409950"/>
                <a:ext cx="4104650" cy="1323439"/>
              </a:xfrm>
              <a:prstGeom prst="rect">
                <a:avLst/>
              </a:prstGeom>
              <a:blipFill rotWithShape="0">
                <a:blip r:embed="rId6"/>
                <a:stretch>
                  <a:fillRect l="-1484" t="-2294" b="-36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椭圆 25"/>
          <p:cNvSpPr/>
          <p:nvPr/>
        </p:nvSpPr>
        <p:spPr>
          <a:xfrm>
            <a:off x="6499568" y="2085697"/>
            <a:ext cx="1240644" cy="767246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p:sp>
        <p:nvSpPr>
          <p:cNvPr id="27" name="椭圆 26"/>
          <p:cNvSpPr/>
          <p:nvPr/>
        </p:nvSpPr>
        <p:spPr>
          <a:xfrm>
            <a:off x="5808089" y="1948853"/>
            <a:ext cx="1286062" cy="972108"/>
          </a:xfrm>
          <a:prstGeom prst="ellipse">
            <a:avLst/>
          </a:prstGeom>
          <a:solidFill>
            <a:srgbClr val="4F81BD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/>
              <p:cNvSpPr txBox="1"/>
              <p:nvPr/>
            </p:nvSpPr>
            <p:spPr>
              <a:xfrm>
                <a:off x="5871242" y="2417095"/>
                <a:ext cx="5302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" name="文本框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1242" y="2417095"/>
                <a:ext cx="530210" cy="184666"/>
              </a:xfrm>
              <a:prstGeom prst="rect">
                <a:avLst/>
              </a:prstGeom>
              <a:blipFill rotWithShape="0">
                <a:blip r:embed="rId7"/>
                <a:stretch>
                  <a:fillRect l="-6897" t="-3333" b="-3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/>
              <p:cNvSpPr txBox="1"/>
              <p:nvPr/>
            </p:nvSpPr>
            <p:spPr>
              <a:xfrm>
                <a:off x="7193427" y="2417095"/>
                <a:ext cx="53021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" name="文本框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35" y="3222793"/>
                <a:ext cx="707501" cy="246221"/>
              </a:xfrm>
              <a:prstGeom prst="rect">
                <a:avLst/>
              </a:prstGeom>
              <a:blipFill rotWithShape="0">
                <a:blip r:embed="rId8"/>
                <a:stretch>
                  <a:fillRect l="-6034" b="-3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/>
              <p:cNvSpPr txBox="1"/>
              <p:nvPr/>
            </p:nvSpPr>
            <p:spPr>
              <a:xfrm>
                <a:off x="6514301" y="2379547"/>
                <a:ext cx="5741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0" name="文本框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735" y="3172730"/>
                <a:ext cx="792781" cy="246221"/>
              </a:xfrm>
              <a:prstGeom prst="rect">
                <a:avLst/>
              </a:prstGeom>
              <a:blipFill rotWithShape="0">
                <a:blip r:embed="rId9"/>
                <a:stretch>
                  <a:fillRect l="-4615" b="-317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/>
              <p:cNvSpPr txBox="1"/>
              <p:nvPr/>
            </p:nvSpPr>
            <p:spPr>
              <a:xfrm>
                <a:off x="6210637" y="1691162"/>
                <a:ext cx="38286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1" name="文本框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6849" y="2254883"/>
                <a:ext cx="509948" cy="246221"/>
              </a:xfrm>
              <a:prstGeom prst="rect">
                <a:avLst/>
              </a:prstGeom>
              <a:blipFill rotWithShape="0">
                <a:blip r:embed="rId10"/>
                <a:stretch>
                  <a:fillRect l="-8333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/>
              <p:cNvSpPr txBox="1"/>
              <p:nvPr/>
            </p:nvSpPr>
            <p:spPr>
              <a:xfrm>
                <a:off x="7052255" y="1703319"/>
                <a:ext cx="37895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2" name="文本框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9007" y="2271092"/>
                <a:ext cx="503728" cy="246221"/>
              </a:xfrm>
              <a:prstGeom prst="rect">
                <a:avLst/>
              </a:prstGeom>
              <a:blipFill rotWithShape="0">
                <a:blip r:embed="rId11"/>
                <a:stretch>
                  <a:fillRect l="-8434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/>
              <p:cNvSpPr txBox="1"/>
              <p:nvPr/>
            </p:nvSpPr>
            <p:spPr>
              <a:xfrm>
                <a:off x="6611756" y="3159345"/>
                <a:ext cx="53982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20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3" name="文本框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1674" y="4212460"/>
                <a:ext cx="717632" cy="246221"/>
              </a:xfrm>
              <a:prstGeom prst="rect">
                <a:avLst/>
              </a:prstGeom>
              <a:blipFill rotWithShape="0">
                <a:blip r:embed="rId12"/>
                <a:stretch>
                  <a:fillRect l="-5932" b="-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接箭头连接符 33"/>
          <p:cNvCxnSpPr>
            <a:stCxn id="33" idx="0"/>
          </p:cNvCxnSpPr>
          <p:nvPr/>
        </p:nvCxnSpPr>
        <p:spPr>
          <a:xfrm flipH="1" flipV="1">
            <a:off x="6514303" y="2920963"/>
            <a:ext cx="367367" cy="238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33" idx="0"/>
            <a:endCxn id="26" idx="4"/>
          </p:cNvCxnSpPr>
          <p:nvPr/>
        </p:nvCxnSpPr>
        <p:spPr>
          <a:xfrm flipV="1">
            <a:off x="6881670" y="2852943"/>
            <a:ext cx="238220" cy="306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1231082" y="4125267"/>
                <a:ext cx="4733091" cy="5078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350" dirty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ImpurityEval-2: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35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1350" i="1" dirty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350" i="1" dirty="0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zh-CN" sz="135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1082" y="4125267"/>
                <a:ext cx="4733091" cy="507831"/>
              </a:xfrm>
              <a:prstGeom prst="rect">
                <a:avLst/>
              </a:prstGeom>
              <a:blipFill rotWithShape="0">
                <a:blip r:embed="rId13"/>
                <a:stretch>
                  <a:fillRect l="-387" t="-3614" b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80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5900" y="0"/>
            <a:ext cx="6172200" cy="857250"/>
          </a:xfrm>
        </p:spPr>
        <p:txBody>
          <a:bodyPr/>
          <a:lstStyle/>
          <a:p>
            <a:r>
              <a:rPr lang="zh-CN" altLang="en-US" dirty="0"/>
              <a:t>举例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idx="1"/>
              </p:nvPr>
            </p:nvSpPr>
            <p:spPr>
              <a:xfrm>
                <a:off x="1331640" y="693421"/>
                <a:ext cx="6137780" cy="394335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X: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学生专业；</a:t>
                </a:r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Y:</a:t>
                </a: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是否喜欢玩游戏</a:t>
                </a:r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CN" sz="1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sz="1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1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Y</a:t>
                </a:r>
                <a:r>
                  <a:rPr lang="zh-CN" altLang="en-US" sz="1800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>的分布</a:t>
                </a:r>
                <a:endParaRPr lang="en-US" altLang="zh-CN" sz="1800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5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5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CN" sz="15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𝑀𝑎𝑡h</m:t>
                            </m:r>
                          </m:e>
                        </m:d>
                      </m:e>
                    </m:func>
                    <m:r>
                      <a:rPr lang="en-US" altLang="zh-CN" sz="1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=0.5,</m:t>
                    </m:r>
                    <m:func>
                      <m:funcPr>
                        <m:ctrlPr>
                          <a:rPr lang="en-US" altLang="zh-CN" sz="15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5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CN" sz="15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CS</m:t>
                            </m:r>
                          </m:e>
                        </m:d>
                      </m:e>
                    </m:func>
                    <m:r>
                      <a:rPr lang="en-US" altLang="zh-CN" sz="1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=0.25,</m:t>
                    </m:r>
                  </m:oMath>
                </a14:m>
                <a:r>
                  <a:rPr lang="en-US" altLang="zh-CN" sz="15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  <a:t/>
                </a:r>
                <a:br>
                  <a:rPr lang="en-US" altLang="zh-CN" sz="1500" i="1" dirty="0">
                    <a:latin typeface="Cambria Math" panose="020405030504060302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5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5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CN" sz="15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150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History</m:t>
                            </m:r>
                          </m:e>
                        </m:d>
                      </m:e>
                    </m:func>
                    <m:r>
                      <a:rPr lang="en-US" altLang="zh-CN" sz="15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=0.25</m:t>
                    </m:r>
                  </m:oMath>
                </a14:m>
                <a:endPara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sz="15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5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CN" sz="15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US" altLang="zh-CN" sz="1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=0.5, </m:t>
                        </m:r>
                      </m:e>
                    </m:func>
                    <m:func>
                      <m:funcPr>
                        <m:ctrlPr>
                          <a:rPr lang="en-US" altLang="zh-CN" sz="1500" i="1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15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zh-CN" sz="1500" i="1">
                                <a:latin typeface="Cambria Math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𝑌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US" altLang="zh-CN" sz="15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=0.5</m:t>
                        </m:r>
                      </m:e>
                    </m:func>
                  </m:oMath>
                </a14:m>
                <a:endPara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以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为底，计算出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H(X)=1.5; H(Y)=1. </a:t>
                </a:r>
              </a:p>
              <a:p>
                <a:r>
                  <a:rPr lang="en-US" altLang="zh-CN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P(Y|X)</a:t>
                </a:r>
              </a:p>
              <a:p>
                <a:pPr lvl="1"/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X=Math(4</a:t>
                </a:r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项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P(Y=</a:t>
                </a:r>
                <a:r>
                  <a:rPr lang="en-US" altLang="zh-CN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yes|X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=Math)=0.5, P(Y=</a:t>
                </a:r>
                <a:r>
                  <a:rPr lang="en-US" altLang="zh-CN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No|X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=Math)=0.5</a:t>
                </a:r>
                <a:b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C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H(Y|X=Math)=1</a:t>
                </a:r>
              </a:p>
              <a:p>
                <a:pPr lvl="1"/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X=CS(2</a:t>
                </a:r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项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P(Y=</a:t>
                </a:r>
                <a:r>
                  <a:rPr lang="en-US" altLang="zh-CN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yes|X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=Math)=1; P(Y=</a:t>
                </a:r>
                <a:r>
                  <a:rPr lang="en-US" altLang="zh-CN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No|X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=Math)=0</a:t>
                </a:r>
                <a:b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C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H(Y|X=CS)=0</a:t>
                </a:r>
              </a:p>
              <a:p>
                <a:pPr lvl="1"/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X=History(2</a:t>
                </a:r>
                <a:r>
                  <a:rPr lang="zh-CN" alt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项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P(Y=</a:t>
                </a:r>
                <a:r>
                  <a:rPr lang="en-US" altLang="zh-CN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Yes|X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=History)=0; P(Y=</a:t>
                </a:r>
                <a:r>
                  <a:rPr lang="en-US" altLang="zh-CN" sz="15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No|X</a:t>
                </a:r>
                <a: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=History)=1</a:t>
                </a:r>
                <a:br>
                  <a:rPr lang="en-US" altLang="zh-C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C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H(Y|X=History)=0</a:t>
                </a:r>
              </a:p>
              <a:p>
                <a14:m>
                  <m:oMath xmlns:m="http://schemas.openxmlformats.org/officeDocument/2006/math">
                    <m:r>
                      <a:rPr lang="en-US" altLang="zh-CN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𝐼𝐺</m:t>
                    </m:r>
                    <m:d>
                      <m:dPr>
                        <m:ctrlPr>
                          <a:rPr lang="en-US" altLang="zh-CN" sz="1800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1800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</m:d>
                    <m:r>
                      <a:rPr lang="en-US" altLang="zh-CN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d>
                      <m:dPr>
                        <m:ctrlPr>
                          <a:rPr lang="en-US" altLang="zh-CN" sz="1800" i="1" dirty="0">
                            <a:latin typeface="Cambria Math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</m:e>
                      <m:e>
                        <m:r>
                          <a:rPr lang="en-US" altLang="zh-CN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</m:e>
                    </m:d>
                    <m:r>
                      <a:rPr lang="en-US" altLang="zh-CN" sz="18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=1−0.5×1−0−0=0.5</m:t>
                    </m:r>
                  </m:oMath>
                </a14:m>
                <a:endParaRPr lang="en-US" altLang="zh-C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zh-CN" alt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924561"/>
                <a:ext cx="8183706" cy="5257800"/>
              </a:xfrm>
              <a:blipFill rotWithShape="0">
                <a:blip r:embed="rId2"/>
                <a:stretch>
                  <a:fillRect l="-968" t="-1276" b="-10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5334" y="428625"/>
            <a:ext cx="1322766" cy="1910179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335981" y="2887623"/>
            <a:ext cx="13958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练习：计算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IG(X|Y)</a:t>
            </a:r>
            <a:endParaRPr lang="zh-CN" altLang="en-US" sz="1350" dirty="0">
              <a:solidFill>
                <a:srgbClr val="C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67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61184" y="16744"/>
            <a:ext cx="6172200" cy="857250"/>
          </a:xfrm>
        </p:spPr>
        <p:txBody>
          <a:bodyPr/>
          <a:lstStyle/>
          <a:p>
            <a:r>
              <a:rPr lang="zh-CN" altLang="en-US" dirty="0"/>
              <a:t>选择决策特征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85900" y="951570"/>
                <a:ext cx="6172200" cy="3996444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数据集合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D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的熵定义为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)=−</m:t>
                      </m:r>
                      <m:nary>
                        <m:naryPr>
                          <m:chr m:val="∑"/>
                          <m:ctrlPr>
                            <a:rPr lang="en-US" altLang="zh-CN" sz="180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80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sz="180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180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50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50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zh-CN" altLang="en-US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属于类别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的样本数</m:t>
                        </m:r>
                      </m:num>
                      <m:den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zh-CN" altLang="en-US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中的样本数</m:t>
                        </m:r>
                      </m:den>
                    </m:f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zh-CN" altLang="en-US" sz="1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对应类别标签</a:t>
                </a:r>
                <a:endParaRPr lang="en-US" altLang="zh-CN" sz="1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CN" dirty="0"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cs typeface="Times New Roman" panose="02020603050405020304" pitchFamily="18" charset="0"/>
                  </a:rPr>
                  <a:t>选择特征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所带来的信息增益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5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IG</m:t>
                    </m:r>
                    <m:d>
                      <m:dPr>
                        <m:ctrlPr>
                          <a:rPr lang="en-US" altLang="zh-CN" sz="150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</m:d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15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)−</m:t>
                    </m:r>
                    <m:d>
                      <m:dPr>
                        <m:ctrlPr>
                          <a:rPr lang="en-US" altLang="zh-CN" sz="1500" i="1">
                            <a:latin typeface="Cambria Math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sz="1500" i="1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500" i="1">
                                    <a:latin typeface="Cambria Math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500" i="1">
                                        <a:latin typeface="Cambria Math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sz="1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500" i="1">
                                    <a:latin typeface="Cambria Math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𝑋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𝑌</m:t>
                        </m:r>
                        <m:r>
                          <m:rPr>
                            <m:sty m:val="p"/>
                          </m:rPr>
                          <a:rPr lang="en-US" altLang="zh-CN" sz="15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es</m:t>
                        </m:r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)+</m:t>
                        </m:r>
                        <m:f>
                          <m:fPr>
                            <m:ctrlPr>
                              <a:rPr lang="en-US" altLang="zh-CN" sz="1500" i="1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500" i="1">
                                    <a:latin typeface="Cambria Math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500" i="1">
                                        <a:latin typeface="Cambria Math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en-US" altLang="zh-CN" sz="15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num>
                          <m:den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1500" i="1">
                                    <a:latin typeface="Cambria Math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5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e>
                            </m:d>
                          </m:den>
                        </m:f>
                        <m:r>
                          <a:rPr lang="en-US" altLang="zh-CN" sz="15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US" altLang="zh-CN" sz="1500" i="1">
                                <a:latin typeface="Cambria Math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𝑋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𝐴</m:t>
                            </m:r>
                            <m:r>
                              <a:rPr lang="en-US" altLang="zh-CN" sz="15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m:rPr>
                                <m:sty m:val="p"/>
                              </m:rPr>
                              <a:rPr lang="en-US" altLang="zh-CN" sz="15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No</m:t>
                            </m:r>
                          </m:e>
                        </m:d>
                      </m:e>
                    </m:d>
                  </m:oMath>
                </a14:m>
                <a:r>
                  <a:rPr lang="en-US" altLang="zh-CN" sz="1500" dirty="0">
                    <a:cs typeface="Times New Roman" panose="02020603050405020304" pitchFamily="18" charset="0"/>
                  </a:rPr>
                  <a:t> </a:t>
                </a:r>
              </a:p>
              <a:p>
                <a:r>
                  <a:rPr lang="zh-CN" altLang="en-US" dirty="0">
                    <a:cs typeface="Times New Roman" panose="02020603050405020304" pitchFamily="18" charset="0"/>
                  </a:rPr>
                  <a:t>注意：特征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cs typeface="Times New Roman" panose="02020603050405020304" pitchFamily="18" charset="0"/>
                  </a:rPr>
                  <a:t>可以有多个取值</a:t>
                </a:r>
                <a:endParaRPr lang="en-US" altLang="zh-CN" dirty="0">
                  <a:cs typeface="Times New Roman" panose="02020603050405020304" pitchFamily="18" charset="0"/>
                </a:endParaRPr>
              </a:p>
              <a:p>
                <a:endParaRPr lang="zh-CN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68760"/>
                <a:ext cx="8229600" cy="5328592"/>
              </a:xfrm>
              <a:blipFill rotWithShape="0">
                <a:blip r:embed="rId2"/>
                <a:stretch>
                  <a:fillRect l="-1704" t="-19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/>
          <p:cNvSpPr/>
          <p:nvPr/>
        </p:nvSpPr>
        <p:spPr>
          <a:xfrm>
            <a:off x="6553264" y="1923679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7039318" y="1923679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6" name="直接连接符 35"/>
          <p:cNvCxnSpPr/>
          <p:nvPr/>
        </p:nvCxnSpPr>
        <p:spPr>
          <a:xfrm flipH="1">
            <a:off x="6445252" y="2246115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6094240" y="2826302"/>
            <a:ext cx="486000" cy="321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6593086" y="2825812"/>
            <a:ext cx="54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7066321" y="2246115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7390387" y="2825812"/>
            <a:ext cx="540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6028333" y="2351442"/>
            <a:ext cx="65947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A=Yes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397026" y="2317471"/>
            <a:ext cx="61908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A=No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本框 42"/>
              <p:cNvSpPr txBox="1"/>
              <p:nvPr/>
            </p:nvSpPr>
            <p:spPr>
              <a:xfrm>
                <a:off x="6956844" y="1645998"/>
                <a:ext cx="163763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43" name="文本框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1791" y="2194664"/>
                <a:ext cx="219932" cy="276999"/>
              </a:xfrm>
              <a:prstGeom prst="rect">
                <a:avLst/>
              </a:prstGeom>
              <a:blipFill rotWithShape="0">
                <a:blip r:embed="rId3"/>
                <a:stretch>
                  <a:fillRect l="-27778" r="-1944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/>
              <p:cNvSpPr txBox="1"/>
              <p:nvPr/>
            </p:nvSpPr>
            <p:spPr>
              <a:xfrm>
                <a:off x="6280542" y="3242234"/>
                <a:ext cx="225446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44" name="文本框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0056" y="4322978"/>
                <a:ext cx="301686" cy="276999"/>
              </a:xfrm>
              <a:prstGeom prst="rect">
                <a:avLst/>
              </a:prstGeom>
              <a:blipFill rotWithShape="0">
                <a:blip r:embed="rId4"/>
                <a:stretch>
                  <a:fillRect l="-18367" r="-8163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/>
              <p:cNvSpPr txBox="1"/>
              <p:nvPr/>
            </p:nvSpPr>
            <p:spPr>
              <a:xfrm>
                <a:off x="7547255" y="3259225"/>
                <a:ext cx="229486" cy="2077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006" y="4345633"/>
                <a:ext cx="307007" cy="276999"/>
              </a:xfrm>
              <a:prstGeom prst="rect">
                <a:avLst/>
              </a:prstGeom>
              <a:blipFill rotWithShape="0">
                <a:blip r:embed="rId5"/>
                <a:stretch>
                  <a:fillRect l="-20000" r="-6000" b="-155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51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   选择决策特征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047162" y="4069729"/>
            <a:ext cx="1600200" cy="273844"/>
          </a:xfrm>
        </p:spPr>
        <p:txBody>
          <a:bodyPr/>
          <a:lstStyle/>
          <a:p>
            <a:fld id="{2F264DDB-364C-410E-A66B-B19CEFA5EF0F}" type="slidenum">
              <a:rPr lang="zh-CN" altLang="en-US" smtClean="0"/>
              <a:pPr/>
              <a:t>51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18627" y="2107370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004681" y="2107370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H="1">
            <a:off x="2410615" y="2429806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059603" y="3009993"/>
            <a:ext cx="243000" cy="321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CN" alt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02603" y="3009994"/>
            <a:ext cx="297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031684" y="2429806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382750" y="3009993"/>
            <a:ext cx="243000" cy="321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r>
            <a:endParaRPr lang="zh-CN" altLang="en-US" sz="82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25750" y="3009994"/>
            <a:ext cx="297000" cy="32194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993696" y="2535133"/>
            <a:ext cx="7460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A1=Yes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62389" y="2501162"/>
            <a:ext cx="7056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A1=No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5685329" y="2107370"/>
            <a:ext cx="486054" cy="3240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71383" y="2107370"/>
            <a:ext cx="594066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" name="直接连接符 16"/>
          <p:cNvCxnSpPr/>
          <p:nvPr/>
        </p:nvCxnSpPr>
        <p:spPr>
          <a:xfrm flipH="1">
            <a:off x="5577317" y="2429806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5226305" y="3009993"/>
            <a:ext cx="486000" cy="321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46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725151" y="3009503"/>
            <a:ext cx="54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198386" y="2429806"/>
            <a:ext cx="594066" cy="486055"/>
          </a:xfrm>
          <a:prstGeom prst="line">
            <a:avLst/>
          </a:prstGeom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6522452" y="3009503"/>
            <a:ext cx="540000" cy="3224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5160398" y="2535133"/>
            <a:ext cx="7460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A2=Yes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529091" y="2501162"/>
            <a:ext cx="705642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A2=No</a:t>
            </a: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本框 24"/>
              <p:cNvSpPr txBox="1"/>
              <p:nvPr/>
            </p:nvSpPr>
            <p:spPr>
              <a:xfrm>
                <a:off x="1166320" y="1660883"/>
                <a:ext cx="3913251" cy="398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=−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46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35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46</m:t>
                                  </m:r>
                                </m:num>
                                <m:den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54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∗</m:t>
                          </m:r>
                          <m:func>
                            <m:func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350">
                                  <a:latin typeface="Cambria Math" panose="02040503050406030204" pitchFamily="18" charset="0"/>
                                </a:rPr>
                                <m:t>l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og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en-US" altLang="zh-CN" sz="1350" i="1">
                                      <a:latin typeface="Cambria Math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54</m:t>
                                  </m:r>
                                </m:num>
                                <m:den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=0.9954</m:t>
                      </m:r>
                    </m:oMath>
                  </m:oMathPara>
                </a14:m>
                <a:endParaRPr sz="1350"/>
              </a:p>
            </p:txBody>
          </p:sp>
        </mc:Choice>
        <mc:Fallback xmlns="">
          <p:sp>
            <p:nvSpPr>
              <p:cNvPr id="25" name="文本框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6320" y="1660883"/>
                <a:ext cx="3913251" cy="398955"/>
              </a:xfrm>
              <a:prstGeom prst="rect">
                <a:avLst/>
              </a:prstGeom>
              <a:blipFill rotWithShape="0">
                <a:blip r:embed="rId2"/>
                <a:stretch>
                  <a:fillRect l="-623" t="-1515" r="-935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矩形 26"/>
              <p:cNvSpPr/>
              <p:nvPr/>
            </p:nvSpPr>
            <p:spPr>
              <a:xfrm>
                <a:off x="1947751" y="3430159"/>
                <a:ext cx="73930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0.9954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7" name="矩形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7751" y="3430159"/>
                <a:ext cx="739305" cy="3000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/>
              <p:cNvSpPr/>
              <p:nvPr/>
            </p:nvSpPr>
            <p:spPr>
              <a:xfrm>
                <a:off x="3343557" y="3430159"/>
                <a:ext cx="73930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0.9954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28" name="矩形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3557" y="3430159"/>
                <a:ext cx="739305" cy="3000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 28"/>
          <p:cNvSpPr/>
          <p:nvPr/>
        </p:nvSpPr>
        <p:spPr>
          <a:xfrm>
            <a:off x="5176804" y="3430159"/>
            <a:ext cx="742511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宋体" panose="02010600030101010101" pitchFamily="2" charset="-122"/>
              </a:rPr>
              <a:t>0.4022</a:t>
            </a:r>
            <a:r>
              <a:rPr lang="zh-CN" altLang="en-US" sz="1350" dirty="0"/>
              <a:t> </a:t>
            </a:r>
          </a:p>
        </p:txBody>
      </p:sp>
      <p:sp>
        <p:nvSpPr>
          <p:cNvPr id="30" name="矩形 29"/>
          <p:cNvSpPr/>
          <p:nvPr/>
        </p:nvSpPr>
        <p:spPr>
          <a:xfrm>
            <a:off x="6734255" y="3425580"/>
            <a:ext cx="27122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000000"/>
                </a:solidFill>
                <a:latin typeface="宋体" panose="02010600030101010101" pitchFamily="2" charset="-122"/>
              </a:rPr>
              <a:t>0</a:t>
            </a:r>
            <a:endParaRPr lang="zh-CN" altLang="en-US" sz="13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矩形 30"/>
              <p:cNvSpPr/>
              <p:nvPr/>
            </p:nvSpPr>
            <p:spPr>
              <a:xfrm>
                <a:off x="5495070" y="1803021"/>
                <a:ext cx="1357231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=0.9954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1" name="矩形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5070" y="1803021"/>
                <a:ext cx="1357231" cy="3000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矩形 31"/>
              <p:cNvSpPr/>
              <p:nvPr/>
            </p:nvSpPr>
            <p:spPr>
              <a:xfrm>
                <a:off x="1122204" y="3804887"/>
                <a:ext cx="3284554" cy="6990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=0.9954−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0.9954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0.9954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r>
                  <a:rPr lang="en-US" altLang="zh-CN" sz="1350" i="1" dirty="0">
                    <a:latin typeface="Cambria Math" panose="02040503050406030204" pitchFamily="18" charset="0"/>
                  </a:rPr>
                  <a:t/>
                </a:r>
                <a:br>
                  <a:rPr lang="en-US" altLang="zh-CN" sz="1350" i="1" dirty="0">
                    <a:latin typeface="Cambria Math" panose="02040503050406030204" pitchFamily="18" charset="0"/>
                  </a:rPr>
                </a:br>
                <a:r>
                  <a:rPr lang="en-US" altLang="zh-CN" sz="1350" i="1" dirty="0">
                    <a:latin typeface="Cambria Math" panose="02040503050406030204" pitchFamily="18" charset="0"/>
                  </a:rPr>
                  <a:t>                     </a:t>
                </a:r>
                <a14:m>
                  <m:oMath xmlns:m="http://schemas.openxmlformats.org/officeDocument/2006/math"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2" name="矩形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204" y="3804887"/>
                <a:ext cx="3284554" cy="69903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/>
              <p:cNvSpPr/>
              <p:nvPr/>
            </p:nvSpPr>
            <p:spPr>
              <a:xfrm>
                <a:off x="4928207" y="3750916"/>
                <a:ext cx="2867773" cy="69775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𝐼𝐺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=0.9954−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zh-CN" sz="1350" dirty="0">
                                  <a:solidFill>
                                    <a:srgbClr val="000000"/>
                                  </a:solidFill>
                                  <a:latin typeface="宋体" panose="02010600030101010101" pitchFamily="2" charset="-122"/>
                                </a:rPr>
                                <m:t>0.4022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r>
                  <a:rPr lang="en-US" altLang="zh-CN" sz="1350" i="1" dirty="0">
                    <a:latin typeface="Cambria Math" panose="02040503050406030204" pitchFamily="18" charset="0"/>
                  </a:rPr>
                  <a:t/>
                </a:r>
                <a:br>
                  <a:rPr lang="en-US" altLang="zh-CN" sz="1350" i="1" dirty="0">
                    <a:latin typeface="Cambria Math" panose="02040503050406030204" pitchFamily="18" charset="0"/>
                  </a:rPr>
                </a:br>
                <a:r>
                  <a:rPr lang="en-US" altLang="zh-CN" sz="1350" i="1" dirty="0">
                    <a:latin typeface="Cambria Math" panose="02040503050406030204" pitchFamily="18" charset="0"/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sz="13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35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0.7943</m:t>
                    </m:r>
                  </m:oMath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3" name="矩形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8207" y="3750916"/>
                <a:ext cx="2867773" cy="69775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矩形 34"/>
              <p:cNvSpPr/>
              <p:nvPr/>
            </p:nvSpPr>
            <p:spPr>
              <a:xfrm>
                <a:off x="1305873" y="872681"/>
                <a:ext cx="4670283" cy="629339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IG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)−</m:t>
                      </m:r>
                      <m:d>
                        <m:dPr>
                          <m:ctrlPr>
                            <a:rPr lang="en-US" altLang="zh-CN" sz="135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350" i="1">
                                          <a:latin typeface="Cambria Math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altLang="zh-CN" sz="135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Yes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)+</m:t>
                          </m:r>
                          <m:f>
                            <m:f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1350" i="1">
                                          <a:latin typeface="Cambria Math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altLang="zh-CN" sz="13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</m:d>
                            </m:den>
                          </m:f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𝐴</m:t>
                              </m:r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35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No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5" name="矩形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873" y="872681"/>
                <a:ext cx="4670283" cy="629339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矩形 35"/>
              <p:cNvSpPr/>
              <p:nvPr/>
            </p:nvSpPr>
            <p:spPr>
              <a:xfrm>
                <a:off x="1305873" y="146525"/>
                <a:ext cx="1810688" cy="684803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H</m:t>
                      </m:r>
                      <m: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a:rPr lang="en-US" altLang="zh-CN" sz="135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altLang="zh-CN" sz="135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=−</m:t>
                      </m:r>
                      <m:nary>
                        <m:naryPr>
                          <m:chr m:val="∑"/>
                          <m:ctrlPr>
                            <a:rPr lang="en-US" altLang="zh-CN" sz="1350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𝐶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zh-CN" sz="13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sub>
                          </m:sSub>
                          <m:func>
                            <m:funcPr>
                              <m:ctrlPr>
                                <a:rPr lang="en-US" altLang="zh-CN" sz="1350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sz="135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log</m:t>
                              </m:r>
                            </m:fName>
                            <m:e>
                              <m:sSub>
                                <m:sSubPr>
                                  <m:ctrlPr>
                                    <a:rPr lang="en-US" altLang="zh-CN" sz="1350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sz="13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36" name="矩形 3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5873" y="146525"/>
                <a:ext cx="1810688" cy="684803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文本框 36"/>
          <p:cNvSpPr txBox="1"/>
          <p:nvPr/>
        </p:nvSpPr>
        <p:spPr>
          <a:xfrm>
            <a:off x="6367019" y="4243936"/>
            <a:ext cx="62228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dirty="0">
                <a:sym typeface="Wingdings" panose="05000000000000000000" pitchFamily="2" charset="2"/>
              </a:rPr>
              <a:t></a:t>
            </a:r>
            <a:endParaRPr lang="zh-CN" altLang="en-US" sz="4050" dirty="0"/>
          </a:p>
        </p:txBody>
      </p:sp>
      <p:sp>
        <p:nvSpPr>
          <p:cNvPr id="38" name="文本框 37"/>
          <p:cNvSpPr txBox="1"/>
          <p:nvPr/>
        </p:nvSpPr>
        <p:spPr>
          <a:xfrm>
            <a:off x="2742184" y="4243936"/>
            <a:ext cx="622286" cy="7155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50" dirty="0">
                <a:sym typeface="Wingdings" panose="05000000000000000000" pitchFamily="2" charset="2"/>
              </a:rPr>
              <a:t></a:t>
            </a:r>
            <a:endParaRPr lang="zh-CN" altLang="en-US" sz="4050" dirty="0"/>
          </a:p>
        </p:txBody>
      </p:sp>
    </p:spTree>
    <p:extLst>
      <p:ext uri="{BB962C8B-B14F-4D97-AF65-F5344CB8AC3E}">
        <p14:creationId xmlns:p14="http://schemas.microsoft.com/office/powerpoint/2010/main" val="122492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关于决策树算法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贪心策略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从根节点开始扩张，已建立的树不再改变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数据划分后不再改变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每次选择</a:t>
            </a:r>
            <a:r>
              <a:rPr lang="zh-CN" altLang="en-US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局部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信息增益最大的特征划分数据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局部最优解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递归算法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每一个决策节点用相同的策略扩张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不是唯一的选择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还可以使用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GINI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系数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64DDB-364C-410E-A66B-B19CEFA5EF0F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856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GINI</a:t>
            </a:r>
            <a:r>
              <a:rPr lang="zh-CN" altLang="en-US" dirty="0"/>
              <a:t>指数度量</a:t>
            </a:r>
            <a:r>
              <a:rPr lang="en-US" altLang="zh-CN" dirty="0"/>
              <a:t>Impurity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53</a:t>
            </a:fld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19150"/>
                <a:ext cx="8229600" cy="3937000"/>
              </a:xfrm>
            </p:spPr>
            <p:txBody>
              <a:bodyPr/>
              <a:lstStyle/>
              <a:p>
                <a:pPr marL="228600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给定一个随机变量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GINI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指数为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sup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b="0" i="1" smtClean="0">
                          <a:latin typeface="Cambria Math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1−</m:t>
                      </m:r>
                      <m:nary>
                        <m:naryPr>
                          <m:chr m:val="∑"/>
                          <m:ctrlP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i="1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𝐶</m:t>
                              </m:r>
                            </m:e>
                          </m:d>
                        </m:sup>
                        <m:e>
                          <m:r>
                            <a:rPr lang="en-US" altLang="zh-CN" i="1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i="1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i="1">
                                          <a:latin typeface="Cambria Math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i="1">
                                          <a:latin typeface="Cambria Math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CN" i="1">
                                          <a:latin typeface="Cambria Math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28600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对于特征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将数据集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划分为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D1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D2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，加权后的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GINI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指数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𝐺𝑖𝑛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  <m: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bg-BG" altLang="zh-CN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b="0" i="1" smtClean="0">
                          <a:latin typeface="Cambria Math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bg-BG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  <m:r>
                        <a:rPr lang="en-US" altLang="zh-CN" b="0" i="1" smtClean="0">
                          <a:latin typeface="Cambria Math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𝐺𝑖𝑛𝑖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r>
                  <a:rPr lang="zh-CN" altLang="en-US" dirty="0"/>
                  <a:t>在决策树构建算法中：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ID3</a:t>
                </a:r>
                <a:r>
                  <a:rPr lang="zh-CN" altLang="en-US" dirty="0"/>
                  <a:t>算法使用的是</a:t>
                </a:r>
                <a:r>
                  <a:rPr lang="en-US" altLang="zh-CN" dirty="0"/>
                  <a:t>entropy</a:t>
                </a:r>
              </a:p>
              <a:p>
                <a:pPr lvl="1"/>
                <a:r>
                  <a:rPr lang="en-US" altLang="zh-CN" dirty="0"/>
                  <a:t>CART</a:t>
                </a:r>
                <a:r>
                  <a:rPr lang="zh-CN" altLang="en-US" dirty="0"/>
                  <a:t>算法使用的则是</a:t>
                </a:r>
                <a:r>
                  <a:rPr lang="en-US" altLang="zh-CN" dirty="0" err="1"/>
                  <a:t>gini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19150"/>
                <a:ext cx="8229600" cy="3937000"/>
              </a:xfrm>
              <a:blipFill rotWithShape="0">
                <a:blip r:embed="rId2"/>
                <a:stretch>
                  <a:fillRect l="-667" t="-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2699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决策树算法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60437" y="958551"/>
            <a:ext cx="5140564" cy="4151481"/>
          </a:xfrm>
          <a:noFill/>
        </p:spPr>
      </p:pic>
      <p:sp>
        <p:nvSpPr>
          <p:cNvPr id="8" name="文本框 7"/>
          <p:cNvSpPr txBox="1"/>
          <p:nvPr/>
        </p:nvSpPr>
        <p:spPr>
          <a:xfrm>
            <a:off x="207818" y="1035832"/>
            <a:ext cx="24739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kaiti" panose="02010609060101010101" pitchFamily="49" charset="-122"/>
                <a:ea typeface="kaiti" panose="02010609060101010101" pitchFamily="49" charset="-122"/>
              </a:rPr>
              <a:t>递归出口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: 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数据属于一个类</a:t>
            </a:r>
            <a:r>
              <a:rPr lang="en-US" altLang="zh-CN" sz="1400" dirty="0">
                <a:latin typeface="kaiti" panose="02010609060101010101" pitchFamily="49" charset="-122"/>
                <a:ea typeface="kaiti" panose="02010609060101010101" pitchFamily="49" charset="-122"/>
              </a:rPr>
              <a:t>/</a:t>
            </a:r>
            <a:r>
              <a:rPr lang="zh-CN" altLang="en-US" sz="1400" dirty="0">
                <a:latin typeface="kaiti" panose="02010609060101010101" pitchFamily="49" charset="-122"/>
                <a:ea typeface="kaiti" panose="02010609060101010101" pitchFamily="49" charset="-122"/>
              </a:rPr>
              <a:t>没有更多的特征供选择，生成叶子节点</a:t>
            </a:r>
          </a:p>
        </p:txBody>
      </p:sp>
      <p:sp>
        <p:nvSpPr>
          <p:cNvPr id="11" name="左大括号 10"/>
          <p:cNvSpPr/>
          <p:nvPr/>
        </p:nvSpPr>
        <p:spPr>
          <a:xfrm>
            <a:off x="2681791" y="1167594"/>
            <a:ext cx="178646" cy="54006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文本框 13"/>
          <p:cNvSpPr txBox="1"/>
          <p:nvPr/>
        </p:nvSpPr>
        <p:spPr>
          <a:xfrm>
            <a:off x="207818" y="2097982"/>
            <a:ext cx="247397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选择最优划分特征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0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划分前的混杂度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以特征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1400" baseline="-250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划分后的混杂度</a:t>
            </a:r>
          </a:p>
        </p:txBody>
      </p:sp>
      <p:sp>
        <p:nvSpPr>
          <p:cNvPr id="15" name="左大括号 14"/>
          <p:cNvSpPr/>
          <p:nvPr/>
        </p:nvSpPr>
        <p:spPr>
          <a:xfrm>
            <a:off x="2681791" y="2105156"/>
            <a:ext cx="178646" cy="8100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文本框 15"/>
          <p:cNvSpPr txBox="1"/>
          <p:nvPr/>
        </p:nvSpPr>
        <p:spPr>
          <a:xfrm>
            <a:off x="185524" y="3005975"/>
            <a:ext cx="2496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递归出口</a:t>
            </a:r>
            <a:r>
              <a:rPr lang="en-US" altLang="zh-CN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: 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数据划分收益太低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左大括号 16"/>
          <p:cNvSpPr/>
          <p:nvPr/>
        </p:nvSpPr>
        <p:spPr>
          <a:xfrm>
            <a:off x="2668006" y="3003798"/>
            <a:ext cx="192431" cy="308949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文本框 17"/>
          <p:cNvSpPr txBox="1"/>
          <p:nvPr/>
        </p:nvSpPr>
        <p:spPr>
          <a:xfrm>
            <a:off x="1343272" y="3521713"/>
            <a:ext cx="13385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划分数据</a:t>
            </a:r>
            <a:endParaRPr lang="en-US" altLang="zh-CN" sz="1400" b="1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左大括号 18"/>
          <p:cNvSpPr/>
          <p:nvPr/>
        </p:nvSpPr>
        <p:spPr>
          <a:xfrm>
            <a:off x="2681791" y="3483310"/>
            <a:ext cx="178646" cy="384584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0" name="文本框 19"/>
          <p:cNvSpPr txBox="1"/>
          <p:nvPr/>
        </p:nvSpPr>
        <p:spPr>
          <a:xfrm>
            <a:off x="209567" y="4170273"/>
            <a:ext cx="2473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向下递归</a:t>
            </a:r>
            <a:r>
              <a:rPr lang="zh-CN" altLang="en-US" sz="1400" dirty="0"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rPr>
              <a:t>：逐个递归生成每一棵子树</a:t>
            </a:r>
            <a:endParaRPr lang="en-US" altLang="zh-CN" sz="1400" dirty="0">
              <a:latin typeface="Times New Roman" panose="02020603050405020304" pitchFamily="18" charset="0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左大括号 20"/>
          <p:cNvSpPr/>
          <p:nvPr/>
        </p:nvSpPr>
        <p:spPr>
          <a:xfrm>
            <a:off x="2681791" y="3987805"/>
            <a:ext cx="178646" cy="779458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2" name="椭圆 21"/>
          <p:cNvSpPr/>
          <p:nvPr/>
        </p:nvSpPr>
        <p:spPr>
          <a:xfrm>
            <a:off x="3383868" y="1977684"/>
            <a:ext cx="1836204" cy="25911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23" name="椭圆 22"/>
          <p:cNvSpPr/>
          <p:nvPr/>
        </p:nvSpPr>
        <p:spPr>
          <a:xfrm>
            <a:off x="3653898" y="2320407"/>
            <a:ext cx="1836204" cy="251344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7147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 animBg="1"/>
      <p:bldP spid="14" grpId="0"/>
      <p:bldP spid="15" grpId="0" animBg="1"/>
      <p:bldP spid="16" grpId="0"/>
      <p:bldP spid="17" grpId="0" animBg="1"/>
      <p:bldP spid="18" grpId="0"/>
      <p:bldP spid="19" grpId="0" animBg="1"/>
      <p:bldP spid="20" grpId="0"/>
      <p:bldP spid="21" grpId="0" animBg="1"/>
      <p:bldP spid="22" grpId="0" animBg="1"/>
      <p:bldP spid="23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决策树算法改进</a:t>
            </a:r>
            <a:r>
              <a:rPr lang="en-US" altLang="zh-CN" dirty="0"/>
              <a:t>:</a:t>
            </a:r>
            <a:r>
              <a:rPr lang="zh-CN" altLang="en-US" dirty="0"/>
              <a:t>数值型特征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上述算法只能处理类别型特征</a:t>
                </a:r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选择的特征取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个类别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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分裂成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K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Wingdings" panose="05000000000000000000" pitchFamily="2" charset="2"/>
                  </a:rPr>
                  <a:t>个子节点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  <a:sym typeface="Wingdings" panose="05000000000000000000" pitchFamily="2" charset="2"/>
                </a:endParaRPr>
              </a:p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数值型特征</a:t>
                </a:r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寻找阈值，将数值划分为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两个</a:t>
                </a:r>
                <a:r>
                  <a:rPr lang="en-US" altLang="zh-CN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多个区间</a:t>
                </a:r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zh-CN" altLang="en-US" sz="21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如何确定阈值</a:t>
                </a:r>
                <a:endParaRPr lang="en-US" altLang="zh-CN" sz="21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将数据中出现过特征值从大到小排序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 </m:t>
                        </m:r>
                        <m:sSub>
                          <m:sSub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可能的阈值有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,⋯,</m:t>
                        </m:r>
                        <m:f>
                          <m:fPr>
                            <m:ctrlPr>
                              <a:rPr lang="en-US" altLang="zh-CN" i="1">
                                <a:latin typeface="Cambria Math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i="1">
                                    <a:latin typeface="Cambria Math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i="1">
                                        <a:latin typeface="Cambria Math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b>
                                </m:s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altLang="zh-C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按照最大化信息增益原则选择一个阈值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333" t="-18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直接连接符 5"/>
          <p:cNvCxnSpPr/>
          <p:nvPr/>
        </p:nvCxnSpPr>
        <p:spPr>
          <a:xfrm>
            <a:off x="1979712" y="4185986"/>
            <a:ext cx="5238582" cy="0"/>
          </a:xfrm>
          <a:prstGeom prst="line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2249742" y="4046320"/>
            <a:ext cx="0" cy="139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3329862" y="4046320"/>
            <a:ext cx="0" cy="139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977934" y="4039317"/>
            <a:ext cx="0" cy="139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948264" y="4039317"/>
            <a:ext cx="0" cy="139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6057900" y="4039317"/>
            <a:ext cx="0" cy="139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544108" y="4039317"/>
            <a:ext cx="0" cy="139666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/>
              <p:cNvSpPr/>
              <p:nvPr/>
            </p:nvSpPr>
            <p:spPr>
              <a:xfrm>
                <a:off x="2076353" y="4234642"/>
                <a:ext cx="392928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5" name="矩形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353" y="4234642"/>
                <a:ext cx="392928" cy="3000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3156473" y="4213123"/>
                <a:ext cx="396968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473" y="4213123"/>
                <a:ext cx="396968" cy="3000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6772880" y="4246268"/>
                <a:ext cx="422360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2880" y="4246268"/>
                <a:ext cx="422360" cy="30008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787874" y="4247229"/>
                <a:ext cx="587469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350" i="1">
                              <a:latin typeface="Cambria Math" charset="0"/>
                            </a:rPr>
                          </m:ctrlPr>
                        </m:sSubPr>
                        <m:e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35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874" y="4247229"/>
                <a:ext cx="587469" cy="300082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/>
              <p:cNvSpPr/>
              <p:nvPr/>
            </p:nvSpPr>
            <p:spPr>
              <a:xfrm>
                <a:off x="4457700" y="4248770"/>
                <a:ext cx="546945" cy="30008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350" i="1">
                          <a:latin typeface="Cambria Math" panose="02040503050406030204" pitchFamily="18" charset="0"/>
                        </a:rPr>
                        <m:t>⋯⋯</m:t>
                      </m:r>
                    </m:oMath>
                  </m:oMathPara>
                </a14:m>
                <a:endParaRPr lang="zh-CN" altLang="en-US" sz="1350" dirty="0"/>
              </a:p>
            </p:txBody>
          </p:sp>
        </mc:Choice>
        <mc:Fallback xmlns="">
          <p:sp>
            <p:nvSpPr>
              <p:cNvPr id="19" name="矩形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7700" y="4248770"/>
                <a:ext cx="546945" cy="30008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直接连接符 19"/>
          <p:cNvCxnSpPr/>
          <p:nvPr/>
        </p:nvCxnSpPr>
        <p:spPr>
          <a:xfrm>
            <a:off x="2772530" y="3968796"/>
            <a:ext cx="0" cy="3828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>
            <a:off x="3653898" y="3968796"/>
            <a:ext cx="0" cy="3828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6516216" y="3968796"/>
            <a:ext cx="0" cy="3828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116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数值型特征建立的决策树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66850" y="1221582"/>
            <a:ext cx="6172200" cy="2937272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5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3779912" cy="5143500"/>
          </a:xfrm>
          <a:prstGeom prst="rect">
            <a:avLst/>
          </a:prstGeom>
          <a:solidFill>
            <a:srgbClr val="1A3F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995936" y="157881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>
                <a:latin typeface="方正兰亭细黑_GBK" pitchFamily="2" charset="-122"/>
                <a:ea typeface="方正兰亭细黑_GBK" pitchFamily="2" charset="-122"/>
              </a:rPr>
              <a:t>提纲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2101" y="3053758"/>
            <a:ext cx="2866735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zh-CN" altLang="en-US" sz="20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分类问题</a:t>
            </a:r>
            <a:r>
              <a:rPr lang="zh-CN" altLang="en-US" sz="2000" dirty="0" smtClea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与典型分类模型</a:t>
            </a:r>
            <a:endParaRPr lang="zh-CN" altLang="en-US" sz="2000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239403" y="947342"/>
            <a:ext cx="1301106" cy="1301106"/>
            <a:chOff x="2262782" y="1446400"/>
            <a:chExt cx="1301106" cy="1301106"/>
          </a:xfrm>
        </p:grpSpPr>
        <p:sp>
          <p:nvSpPr>
            <p:cNvPr id="5" name="椭圆 4"/>
            <p:cNvSpPr/>
            <p:nvPr/>
          </p:nvSpPr>
          <p:spPr>
            <a:xfrm>
              <a:off x="2262782" y="1446400"/>
              <a:ext cx="1301106" cy="13011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KSO_Shape"/>
            <p:cNvSpPr>
              <a:spLocks/>
            </p:cNvSpPr>
            <p:nvPr/>
          </p:nvSpPr>
          <p:spPr bwMode="auto">
            <a:xfrm>
              <a:off x="2523120" y="1821416"/>
              <a:ext cx="836342" cy="574285"/>
            </a:xfrm>
            <a:custGeom>
              <a:avLst/>
              <a:gdLst>
                <a:gd name="T0" fmla="*/ 2147483646 w 112"/>
                <a:gd name="T1" fmla="*/ 2147483646 h 77"/>
                <a:gd name="T2" fmla="*/ 2147483646 w 112"/>
                <a:gd name="T3" fmla="*/ 2147483646 h 77"/>
                <a:gd name="T4" fmla="*/ 2147483646 w 112"/>
                <a:gd name="T5" fmla="*/ 2147483646 h 77"/>
                <a:gd name="T6" fmla="*/ 2147483646 w 112"/>
                <a:gd name="T7" fmla="*/ 2147483646 h 77"/>
                <a:gd name="T8" fmla="*/ 2147483646 w 112"/>
                <a:gd name="T9" fmla="*/ 2147483646 h 77"/>
                <a:gd name="T10" fmla="*/ 0 w 112"/>
                <a:gd name="T11" fmla="*/ 2147483646 h 77"/>
                <a:gd name="T12" fmla="*/ 2147483646 w 112"/>
                <a:gd name="T13" fmla="*/ 2147483646 h 77"/>
                <a:gd name="T14" fmla="*/ 2147483646 w 112"/>
                <a:gd name="T15" fmla="*/ 2147483646 h 77"/>
                <a:gd name="T16" fmla="*/ 2147483646 w 112"/>
                <a:gd name="T17" fmla="*/ 2147483646 h 77"/>
                <a:gd name="T18" fmla="*/ 2147483646 w 112"/>
                <a:gd name="T19" fmla="*/ 2147483646 h 77"/>
                <a:gd name="T20" fmla="*/ 2147483646 w 112"/>
                <a:gd name="T21" fmla="*/ 2147483646 h 77"/>
                <a:gd name="T22" fmla="*/ 2147483646 w 112"/>
                <a:gd name="T23" fmla="*/ 2147483646 h 77"/>
                <a:gd name="T24" fmla="*/ 2147483646 w 112"/>
                <a:gd name="T25" fmla="*/ 2147483646 h 77"/>
                <a:gd name="T26" fmla="*/ 2147483646 w 112"/>
                <a:gd name="T27" fmla="*/ 2147483646 h 77"/>
                <a:gd name="T28" fmla="*/ 2147483646 w 112"/>
                <a:gd name="T29" fmla="*/ 2147483646 h 77"/>
                <a:gd name="T30" fmla="*/ 2147483646 w 112"/>
                <a:gd name="T31" fmla="*/ 2147483646 h 77"/>
                <a:gd name="T32" fmla="*/ 2147483646 w 112"/>
                <a:gd name="T33" fmla="*/ 2147483646 h 77"/>
                <a:gd name="T34" fmla="*/ 2147483646 w 112"/>
                <a:gd name="T35" fmla="*/ 2147483646 h 77"/>
                <a:gd name="T36" fmla="*/ 2147483646 w 112"/>
                <a:gd name="T37" fmla="*/ 2147483646 h 77"/>
                <a:gd name="T38" fmla="*/ 2147483646 w 112"/>
                <a:gd name="T39" fmla="*/ 2147483646 h 77"/>
                <a:gd name="T40" fmla="*/ 2147483646 w 112"/>
                <a:gd name="T41" fmla="*/ 2147483646 h 77"/>
                <a:gd name="T42" fmla="*/ 2147483646 w 112"/>
                <a:gd name="T43" fmla="*/ 2147483646 h 77"/>
                <a:gd name="T44" fmla="*/ 2147483646 w 112"/>
                <a:gd name="T45" fmla="*/ 2147483646 h 77"/>
                <a:gd name="T46" fmla="*/ 2147483646 w 112"/>
                <a:gd name="T47" fmla="*/ 2147483646 h 77"/>
                <a:gd name="T48" fmla="*/ 2147483646 w 112"/>
                <a:gd name="T49" fmla="*/ 2147483646 h 77"/>
                <a:gd name="T50" fmla="*/ 2147483646 w 112"/>
                <a:gd name="T51" fmla="*/ 2147483646 h 77"/>
                <a:gd name="T52" fmla="*/ 2147483646 w 112"/>
                <a:gd name="T53" fmla="*/ 2147483646 h 77"/>
                <a:gd name="T54" fmla="*/ 2147483646 w 112"/>
                <a:gd name="T55" fmla="*/ 2147483646 h 77"/>
                <a:gd name="T56" fmla="*/ 2147483646 w 112"/>
                <a:gd name="T57" fmla="*/ 2147483646 h 77"/>
                <a:gd name="T58" fmla="*/ 2147483646 w 112"/>
                <a:gd name="T59" fmla="*/ 2147483646 h 77"/>
                <a:gd name="T60" fmla="*/ 2147483646 w 112"/>
                <a:gd name="T61" fmla="*/ 2147483646 h 77"/>
                <a:gd name="T62" fmla="*/ 2147483646 w 112"/>
                <a:gd name="T63" fmla="*/ 2147483646 h 77"/>
                <a:gd name="T64" fmla="*/ 2147483646 w 112"/>
                <a:gd name="T65" fmla="*/ 2147483646 h 77"/>
                <a:gd name="T66" fmla="*/ 2147483646 w 112"/>
                <a:gd name="T67" fmla="*/ 2147483646 h 77"/>
                <a:gd name="T68" fmla="*/ 2147483646 w 112"/>
                <a:gd name="T69" fmla="*/ 2147483646 h 77"/>
                <a:gd name="T70" fmla="*/ 2147483646 w 112"/>
                <a:gd name="T71" fmla="*/ 2147483646 h 77"/>
                <a:gd name="T72" fmla="*/ 2147483646 w 112"/>
                <a:gd name="T73" fmla="*/ 2147483646 h 77"/>
                <a:gd name="T74" fmla="*/ 2147483646 w 112"/>
                <a:gd name="T75" fmla="*/ 2147483646 h 77"/>
                <a:gd name="T76" fmla="*/ 2147483646 w 112"/>
                <a:gd name="T77" fmla="*/ 2147483646 h 77"/>
                <a:gd name="T78" fmla="*/ 2147483646 w 112"/>
                <a:gd name="T79" fmla="*/ 2147483646 h 77"/>
                <a:gd name="T80" fmla="*/ 2147483646 w 112"/>
                <a:gd name="T81" fmla="*/ 2147483646 h 77"/>
                <a:gd name="T82" fmla="*/ 2147483646 w 112"/>
                <a:gd name="T83" fmla="*/ 2147483646 h 77"/>
                <a:gd name="T84" fmla="*/ 2147483646 w 112"/>
                <a:gd name="T85" fmla="*/ 2147483646 h 77"/>
                <a:gd name="T86" fmla="*/ 2147483646 w 112"/>
                <a:gd name="T87" fmla="*/ 2147483646 h 7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112" h="77">
                  <a:moveTo>
                    <a:pt x="56" y="0"/>
                  </a:moveTo>
                  <a:cubicBezTo>
                    <a:pt x="62" y="0"/>
                    <a:pt x="66" y="4"/>
                    <a:pt x="66" y="10"/>
                  </a:cubicBezTo>
                  <a:cubicBezTo>
                    <a:pt x="66" y="15"/>
                    <a:pt x="62" y="20"/>
                    <a:pt x="56" y="20"/>
                  </a:cubicBezTo>
                  <a:cubicBezTo>
                    <a:pt x="51" y="20"/>
                    <a:pt x="46" y="15"/>
                    <a:pt x="46" y="10"/>
                  </a:cubicBezTo>
                  <a:cubicBezTo>
                    <a:pt x="46" y="4"/>
                    <a:pt x="51" y="0"/>
                    <a:pt x="56" y="0"/>
                  </a:cubicBezTo>
                  <a:close/>
                  <a:moveTo>
                    <a:pt x="15" y="49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0" y="66"/>
                    <a:pt x="10" y="66"/>
                    <a:pt x="10" y="66"/>
                  </a:cubicBezTo>
                  <a:cubicBezTo>
                    <a:pt x="10" y="52"/>
                    <a:pt x="10" y="52"/>
                    <a:pt x="10" y="52"/>
                  </a:cubicBezTo>
                  <a:cubicBezTo>
                    <a:pt x="9" y="52"/>
                    <a:pt x="9" y="52"/>
                    <a:pt x="9" y="52"/>
                  </a:cubicBezTo>
                  <a:cubicBezTo>
                    <a:pt x="9" y="66"/>
                    <a:pt x="9" y="66"/>
                    <a:pt x="9" y="66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4" y="46"/>
                    <a:pt x="4" y="46"/>
                    <a:pt x="4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1"/>
                    <a:pt x="1" y="29"/>
                    <a:pt x="4" y="29"/>
                  </a:cubicBezTo>
                  <a:cubicBezTo>
                    <a:pt x="13" y="29"/>
                    <a:pt x="13" y="29"/>
                    <a:pt x="13" y="29"/>
                  </a:cubicBezTo>
                  <a:cubicBezTo>
                    <a:pt x="13" y="30"/>
                    <a:pt x="13" y="30"/>
                    <a:pt x="13" y="31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5" y="49"/>
                    <a:pt x="15" y="49"/>
                    <a:pt x="15" y="49"/>
                  </a:cubicBezTo>
                  <a:close/>
                  <a:moveTo>
                    <a:pt x="10" y="15"/>
                  </a:moveTo>
                  <a:cubicBezTo>
                    <a:pt x="13" y="15"/>
                    <a:pt x="16" y="18"/>
                    <a:pt x="16" y="22"/>
                  </a:cubicBezTo>
                  <a:cubicBezTo>
                    <a:pt x="16" y="23"/>
                    <a:pt x="16" y="24"/>
                    <a:pt x="15" y="25"/>
                  </a:cubicBezTo>
                  <a:cubicBezTo>
                    <a:pt x="15" y="26"/>
                    <a:pt x="15" y="26"/>
                    <a:pt x="14" y="26"/>
                  </a:cubicBezTo>
                  <a:cubicBezTo>
                    <a:pt x="13" y="27"/>
                    <a:pt x="12" y="28"/>
                    <a:pt x="10" y="28"/>
                  </a:cubicBezTo>
                  <a:cubicBezTo>
                    <a:pt x="6" y="28"/>
                    <a:pt x="3" y="25"/>
                    <a:pt x="3" y="22"/>
                  </a:cubicBezTo>
                  <a:cubicBezTo>
                    <a:pt x="3" y="18"/>
                    <a:pt x="6" y="15"/>
                    <a:pt x="10" y="15"/>
                  </a:cubicBezTo>
                  <a:close/>
                  <a:moveTo>
                    <a:pt x="96" y="49"/>
                  </a:moveTo>
                  <a:cubicBezTo>
                    <a:pt x="96" y="66"/>
                    <a:pt x="96" y="66"/>
                    <a:pt x="96" y="66"/>
                  </a:cubicBezTo>
                  <a:cubicBezTo>
                    <a:pt x="101" y="66"/>
                    <a:pt x="101" y="66"/>
                    <a:pt x="101" y="66"/>
                  </a:cubicBezTo>
                  <a:cubicBezTo>
                    <a:pt x="101" y="52"/>
                    <a:pt x="101" y="52"/>
                    <a:pt x="101" y="52"/>
                  </a:cubicBezTo>
                  <a:cubicBezTo>
                    <a:pt x="102" y="52"/>
                    <a:pt x="102" y="52"/>
                    <a:pt x="102" y="52"/>
                  </a:cubicBezTo>
                  <a:cubicBezTo>
                    <a:pt x="102" y="66"/>
                    <a:pt x="102" y="66"/>
                    <a:pt x="102" y="66"/>
                  </a:cubicBezTo>
                  <a:cubicBezTo>
                    <a:pt x="107" y="66"/>
                    <a:pt x="107" y="66"/>
                    <a:pt x="107" y="66"/>
                  </a:cubicBezTo>
                  <a:cubicBezTo>
                    <a:pt x="107" y="49"/>
                    <a:pt x="107" y="49"/>
                    <a:pt x="107" y="49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37"/>
                    <a:pt x="107" y="37"/>
                    <a:pt x="107" y="37"/>
                  </a:cubicBezTo>
                  <a:cubicBezTo>
                    <a:pt x="107" y="46"/>
                    <a:pt x="107" y="46"/>
                    <a:pt x="107" y="46"/>
                  </a:cubicBezTo>
                  <a:cubicBezTo>
                    <a:pt x="112" y="46"/>
                    <a:pt x="112" y="46"/>
                    <a:pt x="112" y="46"/>
                  </a:cubicBezTo>
                  <a:cubicBezTo>
                    <a:pt x="112" y="33"/>
                    <a:pt x="112" y="33"/>
                    <a:pt x="112" y="33"/>
                  </a:cubicBezTo>
                  <a:cubicBezTo>
                    <a:pt x="112" y="31"/>
                    <a:pt x="110" y="29"/>
                    <a:pt x="107" y="29"/>
                  </a:cubicBezTo>
                  <a:cubicBezTo>
                    <a:pt x="98" y="29"/>
                    <a:pt x="98" y="29"/>
                    <a:pt x="98" y="29"/>
                  </a:cubicBezTo>
                  <a:cubicBezTo>
                    <a:pt x="98" y="30"/>
                    <a:pt x="98" y="30"/>
                    <a:pt x="98" y="31"/>
                  </a:cubicBezTo>
                  <a:cubicBezTo>
                    <a:pt x="98" y="49"/>
                    <a:pt x="98" y="49"/>
                    <a:pt x="98" y="49"/>
                  </a:cubicBezTo>
                  <a:cubicBezTo>
                    <a:pt x="96" y="49"/>
                    <a:pt x="96" y="49"/>
                    <a:pt x="96" y="49"/>
                  </a:cubicBezTo>
                  <a:close/>
                  <a:moveTo>
                    <a:pt x="101" y="15"/>
                  </a:moveTo>
                  <a:cubicBezTo>
                    <a:pt x="98" y="15"/>
                    <a:pt x="95" y="18"/>
                    <a:pt x="95" y="22"/>
                  </a:cubicBezTo>
                  <a:cubicBezTo>
                    <a:pt x="95" y="23"/>
                    <a:pt x="95" y="24"/>
                    <a:pt x="96" y="25"/>
                  </a:cubicBezTo>
                  <a:cubicBezTo>
                    <a:pt x="96" y="26"/>
                    <a:pt x="97" y="26"/>
                    <a:pt x="97" y="26"/>
                  </a:cubicBezTo>
                  <a:cubicBezTo>
                    <a:pt x="98" y="27"/>
                    <a:pt x="100" y="28"/>
                    <a:pt x="101" y="28"/>
                  </a:cubicBezTo>
                  <a:cubicBezTo>
                    <a:pt x="105" y="28"/>
                    <a:pt x="108" y="25"/>
                    <a:pt x="108" y="22"/>
                  </a:cubicBezTo>
                  <a:cubicBezTo>
                    <a:pt x="108" y="18"/>
                    <a:pt x="105" y="15"/>
                    <a:pt x="101" y="15"/>
                  </a:cubicBezTo>
                  <a:close/>
                  <a:moveTo>
                    <a:pt x="75" y="51"/>
                  </a:moveTo>
                  <a:cubicBezTo>
                    <a:pt x="75" y="72"/>
                    <a:pt x="75" y="72"/>
                    <a:pt x="75" y="72"/>
                  </a:cubicBezTo>
                  <a:cubicBezTo>
                    <a:pt x="80" y="72"/>
                    <a:pt x="80" y="72"/>
                    <a:pt x="80" y="72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2" y="54"/>
                    <a:pt x="82" y="54"/>
                    <a:pt x="82" y="54"/>
                  </a:cubicBezTo>
                  <a:cubicBezTo>
                    <a:pt x="82" y="72"/>
                    <a:pt x="82" y="72"/>
                    <a:pt x="82" y="72"/>
                  </a:cubicBezTo>
                  <a:cubicBezTo>
                    <a:pt x="87" y="72"/>
                    <a:pt x="87" y="72"/>
                    <a:pt x="87" y="72"/>
                  </a:cubicBezTo>
                  <a:cubicBezTo>
                    <a:pt x="87" y="51"/>
                    <a:pt x="87" y="51"/>
                    <a:pt x="87" y="51"/>
                  </a:cubicBezTo>
                  <a:cubicBezTo>
                    <a:pt x="87" y="47"/>
                    <a:pt x="87" y="47"/>
                    <a:pt x="87" y="47"/>
                  </a:cubicBezTo>
                  <a:cubicBezTo>
                    <a:pt x="87" y="36"/>
                    <a:pt x="87" y="36"/>
                    <a:pt x="87" y="36"/>
                  </a:cubicBezTo>
                  <a:cubicBezTo>
                    <a:pt x="88" y="36"/>
                    <a:pt x="88" y="36"/>
                    <a:pt x="88" y="36"/>
                  </a:cubicBezTo>
                  <a:cubicBezTo>
                    <a:pt x="88" y="47"/>
                    <a:pt x="88" y="47"/>
                    <a:pt x="88" y="47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4" y="31"/>
                    <a:pt x="94" y="31"/>
                    <a:pt x="94" y="31"/>
                  </a:cubicBezTo>
                  <a:cubicBezTo>
                    <a:pt x="94" y="28"/>
                    <a:pt x="91" y="26"/>
                    <a:pt x="88" y="26"/>
                  </a:cubicBezTo>
                  <a:cubicBezTo>
                    <a:pt x="77" y="26"/>
                    <a:pt x="77" y="26"/>
                    <a:pt x="77" y="26"/>
                  </a:cubicBezTo>
                  <a:cubicBezTo>
                    <a:pt x="77" y="27"/>
                    <a:pt x="77" y="28"/>
                    <a:pt x="77" y="28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5" y="51"/>
                    <a:pt x="75" y="51"/>
                    <a:pt x="75" y="51"/>
                  </a:cubicBezTo>
                  <a:close/>
                  <a:moveTo>
                    <a:pt x="65" y="47"/>
                  </a:moveTo>
                  <a:cubicBezTo>
                    <a:pt x="65" y="32"/>
                    <a:pt x="65" y="32"/>
                    <a:pt x="65" y="32"/>
                  </a:cubicBezTo>
                  <a:cubicBezTo>
                    <a:pt x="64" y="32"/>
                    <a:pt x="64" y="32"/>
                    <a:pt x="64" y="32"/>
                  </a:cubicBezTo>
                  <a:cubicBezTo>
                    <a:pt x="64" y="47"/>
                    <a:pt x="64" y="47"/>
                    <a:pt x="64" y="47"/>
                  </a:cubicBezTo>
                  <a:cubicBezTo>
                    <a:pt x="64" y="50"/>
                    <a:pt x="64" y="50"/>
                    <a:pt x="64" y="50"/>
                  </a:cubicBezTo>
                  <a:cubicBezTo>
                    <a:pt x="64" y="77"/>
                    <a:pt x="64" y="77"/>
                    <a:pt x="6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5" y="55"/>
                    <a:pt x="55" y="55"/>
                    <a:pt x="55" y="55"/>
                  </a:cubicBezTo>
                  <a:cubicBezTo>
                    <a:pt x="55" y="77"/>
                    <a:pt x="55" y="77"/>
                    <a:pt x="55" y="77"/>
                  </a:cubicBezTo>
                  <a:cubicBezTo>
                    <a:pt x="48" y="77"/>
                    <a:pt x="48" y="77"/>
                    <a:pt x="48" y="77"/>
                  </a:cubicBezTo>
                  <a:cubicBezTo>
                    <a:pt x="48" y="50"/>
                    <a:pt x="48" y="50"/>
                    <a:pt x="48" y="50"/>
                  </a:cubicBezTo>
                  <a:cubicBezTo>
                    <a:pt x="48" y="47"/>
                    <a:pt x="48" y="47"/>
                    <a:pt x="48" y="47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7" y="47"/>
                    <a:pt x="47" y="47"/>
                    <a:pt x="47" y="47"/>
                  </a:cubicBezTo>
                  <a:cubicBezTo>
                    <a:pt x="41" y="47"/>
                    <a:pt x="41" y="47"/>
                    <a:pt x="41" y="4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4"/>
                    <a:pt x="44" y="21"/>
                    <a:pt x="47" y="21"/>
                  </a:cubicBezTo>
                  <a:cubicBezTo>
                    <a:pt x="66" y="21"/>
                    <a:pt x="46" y="21"/>
                    <a:pt x="65" y="21"/>
                  </a:cubicBezTo>
                  <a:cubicBezTo>
                    <a:pt x="69" y="21"/>
                    <a:pt x="71" y="24"/>
                    <a:pt x="71" y="27"/>
                  </a:cubicBezTo>
                  <a:cubicBezTo>
                    <a:pt x="71" y="47"/>
                    <a:pt x="71" y="47"/>
                    <a:pt x="71" y="47"/>
                  </a:cubicBezTo>
                  <a:cubicBezTo>
                    <a:pt x="70" y="47"/>
                    <a:pt x="68" y="47"/>
                    <a:pt x="65" y="47"/>
                  </a:cubicBezTo>
                  <a:close/>
                  <a:moveTo>
                    <a:pt x="37" y="51"/>
                  </a:moveTo>
                  <a:cubicBezTo>
                    <a:pt x="37" y="72"/>
                    <a:pt x="37" y="72"/>
                    <a:pt x="37" y="72"/>
                  </a:cubicBezTo>
                  <a:cubicBezTo>
                    <a:pt x="31" y="72"/>
                    <a:pt x="31" y="72"/>
                    <a:pt x="31" y="72"/>
                  </a:cubicBezTo>
                  <a:cubicBezTo>
                    <a:pt x="31" y="54"/>
                    <a:pt x="31" y="54"/>
                    <a:pt x="31" y="54"/>
                  </a:cubicBezTo>
                  <a:cubicBezTo>
                    <a:pt x="30" y="54"/>
                    <a:pt x="30" y="54"/>
                    <a:pt x="30" y="54"/>
                  </a:cubicBezTo>
                  <a:cubicBezTo>
                    <a:pt x="30" y="72"/>
                    <a:pt x="30" y="72"/>
                    <a:pt x="30" y="72"/>
                  </a:cubicBezTo>
                  <a:cubicBezTo>
                    <a:pt x="24" y="72"/>
                    <a:pt x="24" y="72"/>
                    <a:pt x="24" y="72"/>
                  </a:cubicBezTo>
                  <a:cubicBezTo>
                    <a:pt x="24" y="51"/>
                    <a:pt x="24" y="51"/>
                    <a:pt x="24" y="51"/>
                  </a:cubicBezTo>
                  <a:cubicBezTo>
                    <a:pt x="24" y="47"/>
                    <a:pt x="24" y="47"/>
                    <a:pt x="24" y="47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8" y="47"/>
                    <a:pt x="18" y="47"/>
                    <a:pt x="18" y="47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8" y="28"/>
                    <a:pt x="20" y="26"/>
                    <a:pt x="23" y="26"/>
                  </a:cubicBezTo>
                  <a:cubicBezTo>
                    <a:pt x="35" y="26"/>
                    <a:pt x="35" y="26"/>
                    <a:pt x="35" y="26"/>
                  </a:cubicBezTo>
                  <a:cubicBezTo>
                    <a:pt x="35" y="27"/>
                    <a:pt x="35" y="28"/>
                    <a:pt x="35" y="28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7" y="51"/>
                    <a:pt x="37" y="51"/>
                    <a:pt x="37" y="51"/>
                  </a:cubicBezTo>
                  <a:close/>
                  <a:moveTo>
                    <a:pt x="31" y="9"/>
                  </a:moveTo>
                  <a:cubicBezTo>
                    <a:pt x="35" y="9"/>
                    <a:pt x="39" y="12"/>
                    <a:pt x="39" y="17"/>
                  </a:cubicBezTo>
                  <a:cubicBezTo>
                    <a:pt x="39" y="19"/>
                    <a:pt x="38" y="20"/>
                    <a:pt x="37" y="22"/>
                  </a:cubicBezTo>
                  <a:cubicBezTo>
                    <a:pt x="37" y="22"/>
                    <a:pt x="37" y="22"/>
                    <a:pt x="37" y="23"/>
                  </a:cubicBezTo>
                  <a:cubicBezTo>
                    <a:pt x="35" y="24"/>
                    <a:pt x="33" y="25"/>
                    <a:pt x="31" y="25"/>
                  </a:cubicBezTo>
                  <a:cubicBezTo>
                    <a:pt x="26" y="25"/>
                    <a:pt x="22" y="21"/>
                    <a:pt x="22" y="17"/>
                  </a:cubicBezTo>
                  <a:cubicBezTo>
                    <a:pt x="22" y="12"/>
                    <a:pt x="26" y="9"/>
                    <a:pt x="31" y="9"/>
                  </a:cubicBezTo>
                  <a:close/>
                  <a:moveTo>
                    <a:pt x="81" y="9"/>
                  </a:moveTo>
                  <a:cubicBezTo>
                    <a:pt x="76" y="9"/>
                    <a:pt x="73" y="12"/>
                    <a:pt x="73" y="17"/>
                  </a:cubicBezTo>
                  <a:cubicBezTo>
                    <a:pt x="73" y="19"/>
                    <a:pt x="73" y="20"/>
                    <a:pt x="74" y="22"/>
                  </a:cubicBezTo>
                  <a:cubicBezTo>
                    <a:pt x="75" y="22"/>
                    <a:pt x="75" y="22"/>
                    <a:pt x="75" y="23"/>
                  </a:cubicBezTo>
                  <a:cubicBezTo>
                    <a:pt x="77" y="24"/>
                    <a:pt x="79" y="25"/>
                    <a:pt x="81" y="25"/>
                  </a:cubicBezTo>
                  <a:cubicBezTo>
                    <a:pt x="85" y="25"/>
                    <a:pt x="89" y="21"/>
                    <a:pt x="89" y="17"/>
                  </a:cubicBezTo>
                  <a:cubicBezTo>
                    <a:pt x="89" y="12"/>
                    <a:pt x="85" y="9"/>
                    <a:pt x="81" y="9"/>
                  </a:cubicBezTo>
                  <a:close/>
                </a:path>
              </a:pathLst>
            </a:custGeom>
            <a:solidFill>
              <a:srgbClr val="1A3F6C"/>
            </a:solidFill>
            <a:ln>
              <a:noFill/>
            </a:ln>
          </p:spPr>
          <p:txBody>
            <a:bodyPr anchor="ctr">
              <a:scene3d>
                <a:camera prst="orthographicFront"/>
                <a:lightRig rig="threePt" dir="t"/>
              </a:scene3d>
              <a:sp3d contourW="12700">
                <a:contourClr>
                  <a:srgbClr val="FFFFFF"/>
                </a:contourClr>
              </a:sp3d>
            </a:bodyPr>
            <a:lstStyle/>
            <a:p>
              <a:pPr algn="ctr">
                <a:defRPr/>
              </a:pPr>
              <a:endParaRPr lang="zh-CN" altLang="en-US" dirty="0">
                <a:solidFill>
                  <a:srgbClr val="FFFFFF"/>
                </a:solidFill>
                <a:ea typeface="微软雅黑" pitchFamily="34" charset="-122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369893" y="1091396"/>
            <a:ext cx="277031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分类问题与监督学习</a:t>
            </a:r>
            <a:endParaRPr lang="en-US" altLang="zh-CN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逻辑回归模型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感知机模型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en-US" altLang="zh-CN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决策树模型</a:t>
            </a:r>
            <a:endParaRPr lang="en-US" altLang="zh-CN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en-US" altLang="zh-CN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en-US" altLang="zh-CN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r>
              <a:rPr lang="zh-CN" altLang="en-US" b="1" dirty="0" smtClean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b="1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案例分析：鸢尾花分类</a:t>
            </a:r>
            <a:endParaRPr lang="en-US" altLang="zh-CN" b="1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3937514" y="1254510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3937514" y="2098208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3937514" y="2546863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3937514" y="1701594"/>
            <a:ext cx="274777" cy="274777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1A3F6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962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7CC4EB-5ACC-D440-9BF7-B69CFC11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案例分析：</a:t>
            </a:r>
            <a:r>
              <a:rPr lang="en-US" altLang="zh-CN" dirty="0"/>
              <a:t>IRIS</a:t>
            </a:r>
            <a:r>
              <a:rPr lang="zh-CN" altLang="en-US" dirty="0"/>
              <a:t>数据集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AAD5140-F057-054D-A42B-30779280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7" name="内容占位符 2"/>
          <p:cNvSpPr txBox="1">
            <a:spLocks/>
          </p:cNvSpPr>
          <p:nvPr/>
        </p:nvSpPr>
        <p:spPr>
          <a:xfrm>
            <a:off x="457200" y="819150"/>
            <a:ext cx="5955622" cy="393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印象派艺术大师偏爱的鸢尾花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6759" y="1305019"/>
            <a:ext cx="3093670" cy="3451131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97552" y="3517384"/>
            <a:ext cx="27163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Calibri" charset="0"/>
                <a:ea typeface="Calibri" charset="0"/>
                <a:cs typeface="Calibri" charset="0"/>
              </a:rPr>
              <a:t>The Path through the Irises</a:t>
            </a:r>
          </a:p>
          <a:p>
            <a:r>
              <a:rPr lang="en-US" dirty="0">
                <a:latin typeface="Calibri" charset="0"/>
                <a:ea typeface="Calibri" charset="0"/>
                <a:cs typeface="Calibri" charset="0"/>
              </a:rPr>
              <a:t>Claude Monet French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65835" y="1787951"/>
            <a:ext cx="183851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Irises</a:t>
            </a:r>
          </a:p>
          <a:p>
            <a:r>
              <a:rPr lang="en-US" dirty="0"/>
              <a:t>Vincent van Gogh</a:t>
            </a:r>
          </a:p>
        </p:txBody>
      </p:sp>
      <p:pic>
        <p:nvPicPr>
          <p:cNvPr id="1028" name="Picture 4" descr="http://www.ibiblio.org/wm/paint/auth/gogh/irises/gogh.irises-amsterdam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187" y="1305019"/>
            <a:ext cx="2704774" cy="3481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9496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7CC4EB-5ACC-D440-9BF7-B69CFC112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案例分析：</a:t>
            </a:r>
            <a:r>
              <a:rPr lang="en-US" altLang="zh-CN" dirty="0"/>
              <a:t>IRIS</a:t>
            </a:r>
            <a:r>
              <a:rPr lang="zh-CN" altLang="en-US" dirty="0"/>
              <a:t>数据集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85C049E1-99DB-314B-A379-0AF376E7C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64" r="5696"/>
          <a:stretch/>
        </p:blipFill>
        <p:spPr>
          <a:xfrm>
            <a:off x="37810" y="2579427"/>
            <a:ext cx="4287075" cy="2176723"/>
          </a:xfrm>
        </p:spPr>
      </p:pic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8AAD5140-F057-054D-A42B-30779280C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59</a:t>
            </a:fld>
            <a:endParaRPr lang="zh-CN" alt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832" y="0"/>
            <a:ext cx="2546168" cy="18994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2693" y="2579427"/>
            <a:ext cx="5016317" cy="2176723"/>
          </a:xfrm>
          <a:prstGeom prst="rect">
            <a:avLst/>
          </a:prstGeom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457200" y="819150"/>
            <a:ext cx="5955622" cy="3937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鸢尾花数据集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统计学家、生物学家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Ronald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Fisher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构建的数据集，出自论文：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measurements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taxonomic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</a:p>
          <a:p>
            <a:pPr lvl="1"/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包含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个鸢尾花实例，分为以下三个类别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154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" y="1449744"/>
            <a:ext cx="5119396" cy="3291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示例：只使用花瓣</a:t>
            </a:r>
            <a:r>
              <a:rPr lang="en-US" altLang="zh-CN" dirty="0"/>
              <a:t>(Petal</a:t>
            </a:r>
            <a:r>
              <a:rPr lang="zh-CN" altLang="en-US" dirty="0"/>
              <a:t>）特征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528" y="1439387"/>
            <a:ext cx="4157472" cy="2765018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60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5742433" y="1555531"/>
            <a:ext cx="912368" cy="2114261"/>
          </a:xfrm>
          <a:prstGeom prst="rect">
            <a:avLst/>
          </a:prstGeom>
          <a:solidFill>
            <a:srgbClr val="4F81BD">
              <a:alpha val="29804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831"/>
            <a:ext cx="9144000" cy="672218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 rot="19539849">
            <a:off x="1481324" y="1499737"/>
            <a:ext cx="1828800" cy="9522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443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" y="1449744"/>
            <a:ext cx="5119396" cy="3291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示例：只使用花瓣</a:t>
            </a:r>
            <a:r>
              <a:rPr lang="en-US" altLang="zh-CN" dirty="0"/>
              <a:t>(Petal</a:t>
            </a:r>
            <a:r>
              <a:rPr lang="zh-CN" altLang="en-US" dirty="0"/>
              <a:t>）特征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61</a:t>
            </a:fld>
            <a:endParaRPr lang="zh-CN" alt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831"/>
            <a:ext cx="9144000" cy="672218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 rot="1933696">
            <a:off x="2412182" y="2207712"/>
            <a:ext cx="2841105" cy="14411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528" y="1439387"/>
            <a:ext cx="4157472" cy="2765018"/>
          </a:xfrm>
          <a:solidFill>
            <a:srgbClr val="4F81BD">
              <a:alpha val="29804"/>
            </a:srgbClr>
          </a:solidFill>
        </p:spPr>
      </p:pic>
      <p:sp>
        <p:nvSpPr>
          <p:cNvPr id="14" name="Rectangle 13"/>
          <p:cNvSpPr/>
          <p:nvPr/>
        </p:nvSpPr>
        <p:spPr>
          <a:xfrm>
            <a:off x="5742433" y="1555531"/>
            <a:ext cx="912368" cy="2114261"/>
          </a:xfrm>
          <a:prstGeom prst="rect">
            <a:avLst/>
          </a:prstGeom>
          <a:solidFill>
            <a:srgbClr val="4F81BD">
              <a:alpha val="29804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654801" y="1555532"/>
            <a:ext cx="2367279" cy="6708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9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" y="1449744"/>
            <a:ext cx="5119396" cy="3291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示例：只使用花瓣</a:t>
            </a:r>
            <a:r>
              <a:rPr lang="en-US" altLang="zh-CN" dirty="0"/>
              <a:t>(Petal</a:t>
            </a:r>
            <a:r>
              <a:rPr lang="zh-CN" altLang="en-US" dirty="0"/>
              <a:t>）特征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528" y="1439387"/>
            <a:ext cx="4157472" cy="2765018"/>
          </a:xfrm>
          <a:solidFill>
            <a:srgbClr val="4F81BD">
              <a:alpha val="29804"/>
            </a:srgbClr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5742433" y="1555531"/>
            <a:ext cx="912368" cy="2114261"/>
          </a:xfrm>
          <a:prstGeom prst="rect">
            <a:avLst/>
          </a:prstGeom>
          <a:solidFill>
            <a:srgbClr val="4F81BD">
              <a:alpha val="29804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831"/>
            <a:ext cx="9144000" cy="67221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54801" y="1555532"/>
            <a:ext cx="2367279" cy="6708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rot="19797728">
            <a:off x="-111607" y="2775942"/>
            <a:ext cx="2841105" cy="144116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654801" y="2311401"/>
            <a:ext cx="1230519" cy="1358392"/>
          </a:xfrm>
          <a:prstGeom prst="rect">
            <a:avLst/>
          </a:prstGeom>
          <a:solidFill>
            <a:srgbClr val="DD8452">
              <a:alpha val="29804"/>
            </a:srgbClr>
          </a:solidFill>
          <a:ln w="12700">
            <a:solidFill>
              <a:srgbClr val="DD8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654802" y="2226367"/>
            <a:ext cx="1230518" cy="850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059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" y="1449744"/>
            <a:ext cx="5119396" cy="3291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示例：只使用花瓣</a:t>
            </a:r>
            <a:r>
              <a:rPr lang="en-US" altLang="zh-CN" dirty="0"/>
              <a:t>(Petal</a:t>
            </a:r>
            <a:r>
              <a:rPr lang="zh-CN" altLang="en-US" dirty="0"/>
              <a:t>）特征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528" y="1439387"/>
            <a:ext cx="4157472" cy="2765018"/>
          </a:xfrm>
          <a:solidFill>
            <a:srgbClr val="4F81BD">
              <a:alpha val="29804"/>
            </a:srgbClr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63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5742433" y="1555531"/>
            <a:ext cx="912368" cy="2114261"/>
          </a:xfrm>
          <a:prstGeom prst="rect">
            <a:avLst/>
          </a:prstGeom>
          <a:solidFill>
            <a:srgbClr val="4F81BD">
              <a:alpha val="29804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831"/>
            <a:ext cx="9144000" cy="67221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54801" y="1555532"/>
            <a:ext cx="2367279" cy="6708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rot="19560454">
            <a:off x="1717326" y="3141636"/>
            <a:ext cx="1803845" cy="9145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654801" y="2311401"/>
            <a:ext cx="1230519" cy="1358392"/>
          </a:xfrm>
          <a:prstGeom prst="rect">
            <a:avLst/>
          </a:prstGeom>
          <a:solidFill>
            <a:srgbClr val="DD8452">
              <a:alpha val="29804"/>
            </a:srgbClr>
          </a:solidFill>
          <a:ln w="12700">
            <a:solidFill>
              <a:srgbClr val="DD8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654802" y="2226367"/>
            <a:ext cx="1230518" cy="850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85320" y="2409792"/>
            <a:ext cx="1136760" cy="1260000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0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" y="1449744"/>
            <a:ext cx="5119396" cy="3291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示例：只使用花瓣</a:t>
            </a:r>
            <a:r>
              <a:rPr lang="en-US" altLang="zh-CN" dirty="0"/>
              <a:t>(Petal</a:t>
            </a:r>
            <a:r>
              <a:rPr lang="zh-CN" altLang="en-US" dirty="0"/>
              <a:t>）特征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528" y="1439387"/>
            <a:ext cx="4157472" cy="2765018"/>
          </a:xfrm>
          <a:solidFill>
            <a:srgbClr val="4F81BD">
              <a:alpha val="29804"/>
            </a:srgbClr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5742433" y="1555531"/>
            <a:ext cx="912368" cy="2114261"/>
          </a:xfrm>
          <a:prstGeom prst="rect">
            <a:avLst/>
          </a:prstGeom>
          <a:solidFill>
            <a:srgbClr val="4F81BD">
              <a:alpha val="29804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831"/>
            <a:ext cx="9144000" cy="67221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54801" y="1555532"/>
            <a:ext cx="2367279" cy="6708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rot="19560454">
            <a:off x="2066214" y="3747121"/>
            <a:ext cx="1803845" cy="9145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654801" y="2311401"/>
            <a:ext cx="1230519" cy="1358392"/>
          </a:xfrm>
          <a:prstGeom prst="rect">
            <a:avLst/>
          </a:prstGeom>
          <a:solidFill>
            <a:srgbClr val="DD8452">
              <a:alpha val="29804"/>
            </a:srgbClr>
          </a:solidFill>
          <a:ln w="12700">
            <a:solidFill>
              <a:srgbClr val="DD8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654802" y="2226367"/>
            <a:ext cx="1230518" cy="850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85320" y="2409792"/>
            <a:ext cx="1136760" cy="1260000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85321" y="2226366"/>
            <a:ext cx="304264" cy="183425"/>
          </a:xfrm>
          <a:prstGeom prst="rect">
            <a:avLst/>
          </a:prstGeom>
          <a:solidFill>
            <a:srgbClr val="DD8452">
              <a:alpha val="29804"/>
            </a:srgbClr>
          </a:solidFill>
          <a:ln w="12700">
            <a:solidFill>
              <a:srgbClr val="DD8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582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" y="1449744"/>
            <a:ext cx="5119396" cy="32910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示例：只使用花瓣</a:t>
            </a:r>
            <a:r>
              <a:rPr lang="en-US" altLang="zh-CN" dirty="0"/>
              <a:t>(Petal</a:t>
            </a:r>
            <a:r>
              <a:rPr lang="zh-CN" altLang="en-US" dirty="0"/>
              <a:t>）特征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528" y="1439387"/>
            <a:ext cx="4157472" cy="2765018"/>
          </a:xfrm>
          <a:solidFill>
            <a:srgbClr val="4F81BD">
              <a:alpha val="29804"/>
            </a:srgbClr>
          </a:solidFill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65</a:t>
            </a:fld>
            <a:endParaRPr lang="zh-CN" altLang="en-US"/>
          </a:p>
        </p:txBody>
      </p:sp>
      <p:sp>
        <p:nvSpPr>
          <p:cNvPr id="7" name="Rectangle 6"/>
          <p:cNvSpPr/>
          <p:nvPr/>
        </p:nvSpPr>
        <p:spPr>
          <a:xfrm>
            <a:off x="5742433" y="1555531"/>
            <a:ext cx="912368" cy="2114261"/>
          </a:xfrm>
          <a:prstGeom prst="rect">
            <a:avLst/>
          </a:prstGeom>
          <a:solidFill>
            <a:srgbClr val="4F81BD">
              <a:alpha val="29804"/>
            </a:srgb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0831"/>
            <a:ext cx="9144000" cy="67221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54801" y="1555532"/>
            <a:ext cx="2367279" cy="6708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 rot="1856421">
            <a:off x="2573139" y="3747121"/>
            <a:ext cx="1803845" cy="9145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6654801" y="2311401"/>
            <a:ext cx="1230519" cy="1358392"/>
          </a:xfrm>
          <a:prstGeom prst="rect">
            <a:avLst/>
          </a:prstGeom>
          <a:solidFill>
            <a:srgbClr val="DD8452">
              <a:alpha val="29804"/>
            </a:srgbClr>
          </a:solidFill>
          <a:ln w="12700">
            <a:solidFill>
              <a:srgbClr val="DD8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654802" y="2226367"/>
            <a:ext cx="1230518" cy="85034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885320" y="2409792"/>
            <a:ext cx="1136760" cy="1260000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85321" y="2226366"/>
            <a:ext cx="304264" cy="183425"/>
          </a:xfrm>
          <a:prstGeom prst="rect">
            <a:avLst/>
          </a:prstGeom>
          <a:solidFill>
            <a:srgbClr val="DD8452">
              <a:alpha val="29804"/>
            </a:srgbClr>
          </a:solidFill>
          <a:ln w="12700">
            <a:solidFill>
              <a:srgbClr val="DD845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189584" y="2226366"/>
            <a:ext cx="832496" cy="183426"/>
          </a:xfrm>
          <a:prstGeom prst="rect">
            <a:avLst/>
          </a:prstGeom>
          <a:solidFill>
            <a:srgbClr val="55A868">
              <a:alpha val="29804"/>
            </a:srgbClr>
          </a:solidFill>
          <a:ln w="12700">
            <a:solidFill>
              <a:srgbClr val="55A8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97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可视化分类边界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29" y="819150"/>
            <a:ext cx="5913250" cy="3937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66</a:t>
            </a:fld>
            <a:endParaRPr lang="zh-CN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0194" y="2640805"/>
            <a:ext cx="5032026" cy="13765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63730" y="2230412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评测分类的优劣：</a:t>
            </a:r>
            <a:endParaRPr lang="en-US" sz="2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5368607" y="4114007"/>
            <a:ext cx="35189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思考：这样评测决策树好吗？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38595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划分训练集</a:t>
            </a:r>
            <a:r>
              <a:rPr lang="en-US" altLang="zh-CN" dirty="0"/>
              <a:t>/</a:t>
            </a:r>
            <a:r>
              <a:rPr lang="zh-CN" altLang="en-US" dirty="0"/>
              <a:t>测试集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将数据集按照</a:t>
            </a:r>
            <a:r>
              <a:rPr lang="en-US" altLang="zh-CN" dirty="0"/>
              <a:t>110/40</a:t>
            </a:r>
            <a:r>
              <a:rPr lang="zh-CN" altLang="en-US" dirty="0"/>
              <a:t>划分，分别形成训练集与测试集</a:t>
            </a:r>
            <a:endParaRPr lang="en-US" altLang="zh-CN" dirty="0"/>
          </a:p>
          <a:p>
            <a:r>
              <a:rPr lang="zh-CN" altLang="en-US" dirty="0"/>
              <a:t>在训练集上构建决策树，分别在训练集与测试集上评测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67</a:t>
            </a:fld>
            <a:endParaRPr lang="zh-CN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405" y="1622551"/>
            <a:ext cx="4285735" cy="28026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317" y="1622550"/>
            <a:ext cx="4316420" cy="280260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26372" y="4425155"/>
            <a:ext cx="2077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Accuracy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hr-HR" dirty="0"/>
              <a:t>0.95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464494" y="4434562"/>
            <a:ext cx="2164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Train</a:t>
            </a:r>
            <a:r>
              <a:rPr lang="zh-CN" altLang="en-US" dirty="0"/>
              <a:t> </a:t>
            </a:r>
            <a:r>
              <a:rPr lang="en-US" altLang="zh-CN" dirty="0"/>
              <a:t>Accuracy</a:t>
            </a:r>
            <a:r>
              <a:rPr lang="zh-CN" altLang="en-US" dirty="0"/>
              <a:t> </a:t>
            </a:r>
            <a:r>
              <a:rPr lang="en-US" altLang="zh-CN" dirty="0"/>
              <a:t>=</a:t>
            </a:r>
            <a:r>
              <a:rPr lang="zh-CN" altLang="en-US" dirty="0"/>
              <a:t> </a:t>
            </a:r>
            <a:r>
              <a:rPr lang="hr-HR" dirty="0"/>
              <a:t>0.9</a:t>
            </a:r>
            <a:r>
              <a:rPr lang="en-US" altLang="zh-CN" dirty="0"/>
              <a:t>9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599022" y="4388395"/>
            <a:ext cx="3385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&gt;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981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过拟合问题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409" y="1200150"/>
            <a:ext cx="8011391" cy="3693858"/>
          </a:xfrm>
        </p:spPr>
        <p:txBody>
          <a:bodyPr>
            <a:normAutofit fontScale="92500"/>
          </a:bodyPr>
          <a:lstStyle/>
          <a:p>
            <a:r>
              <a:rPr lang="zh-CN" altLang="en-US" dirty="0"/>
              <a:t>过拟合：机器学习算法拟合噪声数据，而不是数据中的有意义规律</a:t>
            </a:r>
            <a:endParaRPr lang="en-US" altLang="zh-CN" dirty="0"/>
          </a:p>
          <a:p>
            <a:r>
              <a:rPr lang="zh-CN" altLang="en-US" dirty="0"/>
              <a:t>产生的现象：在训练数据上得到的精度远大于在测试数据上得到的精度</a:t>
            </a:r>
            <a:endParaRPr lang="en-US" altLang="zh-CN" dirty="0"/>
          </a:p>
          <a:p>
            <a:r>
              <a:rPr lang="zh-CN" altLang="en-US" dirty="0"/>
              <a:t>过拟合问题不仅仅存在于决策树学习，是机器学习算法面临的共同问题</a:t>
            </a:r>
            <a:endParaRPr lang="en-US" altLang="zh-CN" dirty="0"/>
          </a:p>
          <a:p>
            <a:r>
              <a:rPr lang="zh-CN" altLang="en-US" dirty="0"/>
              <a:t>原因</a:t>
            </a:r>
            <a:endParaRPr lang="en-US" altLang="zh-CN" dirty="0"/>
          </a:p>
          <a:p>
            <a:pPr lvl="1"/>
            <a:r>
              <a:rPr lang="zh-CN" altLang="en-US" dirty="0"/>
              <a:t>训练数据量不够</a:t>
            </a:r>
            <a:endParaRPr lang="en-US" altLang="zh-CN" dirty="0"/>
          </a:p>
          <a:p>
            <a:pPr lvl="1"/>
            <a:r>
              <a:rPr lang="zh-CN" altLang="en-US" dirty="0"/>
              <a:t>模型过于复杂，模型参数过多</a:t>
            </a:r>
            <a:endParaRPr lang="en-US" altLang="zh-CN" dirty="0"/>
          </a:p>
          <a:p>
            <a:pPr lvl="2"/>
            <a:r>
              <a:rPr lang="zh-CN" altLang="en-US" dirty="0"/>
              <a:t>决策树：太深、节点太多。有些节点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en-US" dirty="0"/>
              <a:t>是在噪声和离群数据的干扰下建立</a:t>
            </a:r>
            <a:endParaRPr lang="en-US" altLang="zh-CN" dirty="0"/>
          </a:p>
          <a:p>
            <a:r>
              <a:rPr lang="zh-CN" altLang="en-US" dirty="0"/>
              <a:t>解决方案</a:t>
            </a:r>
            <a:endParaRPr lang="en-US" altLang="zh-CN" dirty="0"/>
          </a:p>
          <a:p>
            <a:pPr lvl="1"/>
            <a:r>
              <a:rPr lang="zh-CN" altLang="en-US" dirty="0"/>
              <a:t>降低模型复杂度</a:t>
            </a:r>
            <a:endParaRPr lang="en-US" altLang="zh-CN" dirty="0"/>
          </a:p>
          <a:p>
            <a:pPr lvl="1"/>
            <a:r>
              <a:rPr lang="zh-CN" altLang="en-US" dirty="0"/>
              <a:t>决策树：减少节点数目，剪枝</a:t>
            </a:r>
            <a:endParaRPr lang="en-US" altLang="zh-CN" dirty="0"/>
          </a:p>
        </p:txBody>
      </p:sp>
      <p:grpSp>
        <p:nvGrpSpPr>
          <p:cNvPr id="27" name="组合 26"/>
          <p:cNvGrpSpPr/>
          <p:nvPr/>
        </p:nvGrpSpPr>
        <p:grpSpPr>
          <a:xfrm>
            <a:off x="5070764" y="2484738"/>
            <a:ext cx="3438787" cy="2271412"/>
            <a:chOff x="5832999" y="4081900"/>
            <a:chExt cx="3240360" cy="2140344"/>
          </a:xfrm>
        </p:grpSpPr>
        <p:cxnSp>
          <p:nvCxnSpPr>
            <p:cNvPr id="5" name="直接箭头连接符 4"/>
            <p:cNvCxnSpPr/>
            <p:nvPr/>
          </p:nvCxnSpPr>
          <p:spPr>
            <a:xfrm flipV="1">
              <a:off x="5832999" y="5764505"/>
              <a:ext cx="324036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" name="直接箭头连接符 5"/>
            <p:cNvCxnSpPr/>
            <p:nvPr/>
          </p:nvCxnSpPr>
          <p:spPr>
            <a:xfrm flipV="1">
              <a:off x="6049023" y="4081900"/>
              <a:ext cx="0" cy="194421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矩形 15"/>
            <p:cNvSpPr/>
            <p:nvPr/>
          </p:nvSpPr>
          <p:spPr>
            <a:xfrm>
              <a:off x="7171190" y="5822135"/>
              <a:ext cx="1400384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latin typeface="楷体" panose="02010609060101010101" pitchFamily="49" charset="-122"/>
                  <a:ea typeface="楷体" panose="02010609060101010101" pitchFamily="49" charset="-122"/>
                </a:rPr>
                <a:t>模型复杂度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6040386" y="5312733"/>
              <a:ext cx="1169551" cy="40010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latin typeface="楷体" panose="02010609060101010101" pitchFamily="49" charset="-122"/>
                  <a:ea typeface="楷体" panose="02010609060101010101" pitchFamily="49" charset="-122"/>
                </a:rPr>
                <a:t>训练错误</a:t>
              </a:r>
            </a:p>
          </p:txBody>
        </p:sp>
        <p:sp>
          <p:nvSpPr>
            <p:cNvPr id="22" name="任意多边形 21"/>
            <p:cNvSpPr/>
            <p:nvPr/>
          </p:nvSpPr>
          <p:spPr>
            <a:xfrm>
              <a:off x="6242963" y="4239390"/>
              <a:ext cx="2366682" cy="1116809"/>
            </a:xfrm>
            <a:custGeom>
              <a:avLst/>
              <a:gdLst>
                <a:gd name="connsiteX0" fmla="*/ 0 w 2366682"/>
                <a:gd name="connsiteY0" fmla="*/ 0 h 1116809"/>
                <a:gd name="connsiteX1" fmla="*/ 484094 w 2366682"/>
                <a:gd name="connsiteY1" fmla="*/ 685800 h 1116809"/>
                <a:gd name="connsiteX2" fmla="*/ 1331259 w 2366682"/>
                <a:gd name="connsiteY2" fmla="*/ 1116106 h 1116809"/>
                <a:gd name="connsiteX3" fmla="*/ 2366682 w 2366682"/>
                <a:gd name="connsiteY3" fmla="*/ 766483 h 111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66682" h="1116809">
                  <a:moveTo>
                    <a:pt x="0" y="0"/>
                  </a:moveTo>
                  <a:cubicBezTo>
                    <a:pt x="131109" y="249891"/>
                    <a:pt x="262218" y="499782"/>
                    <a:pt x="484094" y="685800"/>
                  </a:cubicBezTo>
                  <a:cubicBezTo>
                    <a:pt x="705971" y="871818"/>
                    <a:pt x="1017494" y="1102659"/>
                    <a:pt x="1331259" y="1116106"/>
                  </a:cubicBezTo>
                  <a:cubicBezTo>
                    <a:pt x="1645024" y="1129553"/>
                    <a:pt x="2005853" y="948018"/>
                    <a:pt x="2366682" y="76648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3" name="任意多边形 22"/>
            <p:cNvSpPr/>
            <p:nvPr/>
          </p:nvSpPr>
          <p:spPr>
            <a:xfrm>
              <a:off x="6145306" y="4397188"/>
              <a:ext cx="2810435" cy="1317812"/>
            </a:xfrm>
            <a:custGeom>
              <a:avLst/>
              <a:gdLst>
                <a:gd name="connsiteX0" fmla="*/ 0 w 2810435"/>
                <a:gd name="connsiteY0" fmla="*/ 0 h 1317812"/>
                <a:gd name="connsiteX1" fmla="*/ 309282 w 2810435"/>
                <a:gd name="connsiteY1" fmla="*/ 739588 h 1317812"/>
                <a:gd name="connsiteX2" fmla="*/ 1116106 w 2810435"/>
                <a:gd name="connsiteY2" fmla="*/ 1102659 h 1317812"/>
                <a:gd name="connsiteX3" fmla="*/ 1922929 w 2810435"/>
                <a:gd name="connsiteY3" fmla="*/ 1237130 h 1317812"/>
                <a:gd name="connsiteX4" fmla="*/ 2595282 w 2810435"/>
                <a:gd name="connsiteY4" fmla="*/ 1290918 h 1317812"/>
                <a:gd name="connsiteX5" fmla="*/ 2810435 w 2810435"/>
                <a:gd name="connsiteY5" fmla="*/ 1317812 h 1317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10435" h="1317812">
                  <a:moveTo>
                    <a:pt x="0" y="0"/>
                  </a:moveTo>
                  <a:cubicBezTo>
                    <a:pt x="61632" y="277906"/>
                    <a:pt x="123264" y="555812"/>
                    <a:pt x="309282" y="739588"/>
                  </a:cubicBezTo>
                  <a:cubicBezTo>
                    <a:pt x="495300" y="923364"/>
                    <a:pt x="847165" y="1019735"/>
                    <a:pt x="1116106" y="1102659"/>
                  </a:cubicBezTo>
                  <a:cubicBezTo>
                    <a:pt x="1385047" y="1185583"/>
                    <a:pt x="1676400" y="1205754"/>
                    <a:pt x="1922929" y="1237130"/>
                  </a:cubicBezTo>
                  <a:cubicBezTo>
                    <a:pt x="2169458" y="1268507"/>
                    <a:pt x="2447364" y="1277471"/>
                    <a:pt x="2595282" y="1290918"/>
                  </a:cubicBezTo>
                  <a:cubicBezTo>
                    <a:pt x="2743200" y="1304365"/>
                    <a:pt x="2776817" y="1311088"/>
                    <a:pt x="2810435" y="1317812"/>
                  </a:cubicBezTo>
                </a:path>
              </a:pathLst>
            </a:cu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6350183" y="4154892"/>
              <a:ext cx="1200340" cy="40010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350" dirty="0">
                  <a:latin typeface="楷体" panose="02010609060101010101" pitchFamily="49" charset="-122"/>
                  <a:ea typeface="楷体" panose="02010609060101010101" pitchFamily="49" charset="-122"/>
                </a:rPr>
                <a:t>测试错误</a:t>
              </a: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7550523" y="4869160"/>
              <a:ext cx="0" cy="966711"/>
            </a:xfrm>
            <a:prstGeom prst="line">
              <a:avLst/>
            </a:prstGeom>
            <a:ln w="28575">
              <a:prstDash val="dash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487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如何解决过拟合？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0991" y="863610"/>
            <a:ext cx="5183981" cy="1971675"/>
          </a:xfrm>
          <a:prstGeom prst="rect">
            <a:avLst/>
          </a:prstGeom>
          <a:noFill/>
        </p:spPr>
      </p:pic>
      <p:pic>
        <p:nvPicPr>
          <p:cNvPr id="6" name="Content Placeholder 5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4568" y="2942441"/>
            <a:ext cx="4806554" cy="1863328"/>
          </a:xfrm>
          <a:noFill/>
        </p:spPr>
      </p:pic>
      <p:sp>
        <p:nvSpPr>
          <p:cNvPr id="7" name="Line 7"/>
          <p:cNvSpPr>
            <a:spLocks noChangeShapeType="1"/>
          </p:cNvSpPr>
          <p:nvPr/>
        </p:nvSpPr>
        <p:spPr bwMode="auto">
          <a:xfrm flipV="1">
            <a:off x="1805049" y="704850"/>
            <a:ext cx="415636" cy="815192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426342" y="268324"/>
            <a:ext cx="1627845" cy="438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250" dirty="0">
                <a:solidFill>
                  <a:srgbClr val="3333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可能过拟合</a:t>
            </a:r>
            <a:endParaRPr lang="en-US" altLang="en-US" sz="2250" dirty="0">
              <a:solidFill>
                <a:srgbClr val="3333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3591290" y="1232153"/>
            <a:ext cx="1296144" cy="11881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69</a:t>
            </a:fld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160696" y="2127781"/>
            <a:ext cx="289758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课后练习：</a:t>
            </a:r>
            <a:endParaRPr lang="en-US" altLang="zh-CN" sz="2400" b="1" dirty="0"/>
          </a:p>
          <a:p>
            <a:r>
              <a:rPr lang="zh-CN" altLang="en-US" sz="2000" dirty="0"/>
              <a:t>通过调节</a:t>
            </a:r>
            <a:r>
              <a:rPr lang="en-US" altLang="zh-CN" sz="2000" dirty="0" err="1"/>
              <a:t>DecisionTreeClassifier</a:t>
            </a:r>
            <a:r>
              <a:rPr lang="zh-CN" altLang="en-US" sz="2000" dirty="0"/>
              <a:t>的参数，如：</a:t>
            </a:r>
            <a:endParaRPr lang="en-US" altLang="zh-CN" sz="2000" dirty="0"/>
          </a:p>
          <a:p>
            <a:pPr marL="342900" indent="-342900">
              <a:buFont typeface="Arial" charset="0"/>
              <a:buChar char="•"/>
            </a:pPr>
            <a:r>
              <a:rPr lang="en-US" altLang="zh-CN" dirty="0" err="1"/>
              <a:t>max_depth</a:t>
            </a:r>
            <a:endParaRPr lang="en-US" altLang="zh-CN" dirty="0"/>
          </a:p>
          <a:p>
            <a:pPr marL="342900" indent="-342900">
              <a:buFont typeface="Arial" charset="0"/>
              <a:buChar char="•"/>
            </a:pPr>
            <a:r>
              <a:rPr lang="en-US" dirty="0" err="1"/>
              <a:t>min_impurity_split</a:t>
            </a:r>
            <a:endParaRPr lang="en-US" dirty="0"/>
          </a:p>
          <a:p>
            <a:pPr marL="342900" indent="-342900">
              <a:buFont typeface="Arial" charset="0"/>
              <a:buChar char="•"/>
            </a:pPr>
            <a:r>
              <a:rPr lang="en-US" dirty="0" err="1"/>
              <a:t>min_samples_leaf</a:t>
            </a:r>
            <a:endParaRPr lang="en-US" sz="2400" dirty="0"/>
          </a:p>
          <a:p>
            <a:r>
              <a:rPr lang="zh-CN" altLang="en-US" sz="2000" dirty="0"/>
              <a:t>测试是否解决</a:t>
            </a:r>
            <a:r>
              <a:rPr lang="en-US" altLang="zh-CN" sz="2000" dirty="0"/>
              <a:t>overfitting</a:t>
            </a:r>
            <a:endParaRPr lang="en-US" sz="2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96368" y="1266717"/>
            <a:ext cx="582730" cy="58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322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关于决策树的其他话题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输出变量也为数值型：回归问题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tree</a:t>
            </a: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计算复杂度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以外的数据划分原则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决策树可以和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Boosting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相结合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 Additive Regression Trees (MART)</a:t>
            </a:r>
          </a:p>
          <a:p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452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BC7A-FD02-486B-81B5-A845787C689C}" type="slidenum">
              <a:rPr lang="zh-CN" altLang="en-US" smtClean="0"/>
              <a:t>71</a:t>
            </a:fld>
            <a:endParaRPr lang="zh-CN" altLang="en-US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869950"/>
            <a:ext cx="6045200" cy="38862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173184" y="1615044"/>
            <a:ext cx="3895107" cy="12706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647275" y="2250374"/>
            <a:ext cx="229193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计算左侧节点划分后带来的信息熵和</a:t>
            </a:r>
            <a:r>
              <a:rPr lang="en-US" altLang="zh-CN" sz="2400" dirty="0"/>
              <a:t>Gini</a:t>
            </a:r>
            <a:r>
              <a:rPr lang="zh-CN" altLang="en-US" sz="2400" dirty="0"/>
              <a:t>指数的变化，并给出计算过程</a:t>
            </a:r>
            <a:endParaRPr lang="en-US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27048" y="1374704"/>
            <a:ext cx="582730" cy="582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607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1111111111"/>
</p:tagLst>
</file>

<file path=ppt/theme/theme1.xml><?xml version="1.0" encoding="utf-8"?>
<a:theme xmlns:a="http://schemas.openxmlformats.org/drawingml/2006/main" name="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清风素材 https://12sc.taobao.com/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8066</TotalTime>
  <Words>4709</Words>
  <Application>Microsoft Macintosh PowerPoint</Application>
  <PresentationFormat>On-screen Show (16:9)</PresentationFormat>
  <Paragraphs>728</Paragraphs>
  <Slides>71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90" baseType="lpstr">
      <vt:lpstr>Arial</vt:lpstr>
      <vt:lpstr>Calibri</vt:lpstr>
      <vt:lpstr>Cambria Math</vt:lpstr>
      <vt:lpstr>Helvetica Neue</vt:lpstr>
      <vt:lpstr>Helvetica Neue Light</vt:lpstr>
      <vt:lpstr>kaiti</vt:lpstr>
      <vt:lpstr>Mangal</vt:lpstr>
      <vt:lpstr>Microsoft YaHei</vt:lpstr>
      <vt:lpstr>Times New Roman</vt:lpstr>
      <vt:lpstr>Times-Roman</vt:lpstr>
      <vt:lpstr>Wingdings</vt:lpstr>
      <vt:lpstr>宋体</vt:lpstr>
      <vt:lpstr>微软雅黑</vt:lpstr>
      <vt:lpstr>方正兰亭细黑_GBK</vt:lpstr>
      <vt:lpstr>方正超粗黑简体</vt:lpstr>
      <vt:lpstr>楷体</vt:lpstr>
      <vt:lpstr>隶书</vt:lpstr>
      <vt:lpstr>清风素材 https://12sc.taobao.com/</vt:lpstr>
      <vt:lpstr>1_清风素材 https://12sc.taobao.com/</vt:lpstr>
      <vt:lpstr>PowerPoint Presentation</vt:lpstr>
      <vt:lpstr>复习与巩固</vt:lpstr>
      <vt:lpstr>复习与巩固</vt:lpstr>
      <vt:lpstr>复习：线性回归</vt:lpstr>
      <vt:lpstr>如何类似地解决分类问题</vt:lpstr>
      <vt:lpstr>PowerPoint Presentation</vt:lpstr>
      <vt:lpstr>线性分类器</vt:lpstr>
      <vt:lpstr>简单的学习规则</vt:lpstr>
      <vt:lpstr>关于更新规则的说明</vt:lpstr>
      <vt:lpstr>分析案例</vt:lpstr>
      <vt:lpstr>学习模型的损失函数</vt:lpstr>
      <vt:lpstr>如何训练感知机模型</vt:lpstr>
      <vt:lpstr>随机梯度下降</vt:lpstr>
      <vt:lpstr>随机梯度下降SGD</vt:lpstr>
      <vt:lpstr>感知机训练算法的实现</vt:lpstr>
      <vt:lpstr>简单了解：感知机的对偶形式</vt:lpstr>
      <vt:lpstr>课堂练习</vt:lpstr>
      <vt:lpstr>分类边距(Margin)</vt:lpstr>
      <vt:lpstr>带边距感知机 (Perceptron with Margin)</vt:lpstr>
      <vt:lpstr>SVM：最大边距分类器</vt:lpstr>
      <vt:lpstr>为什么最大化边距？</vt:lpstr>
      <vt:lpstr>边距的表示</vt:lpstr>
      <vt:lpstr>SVM：最大边距分类器</vt:lpstr>
      <vt:lpstr>SVM：最大边距分类器</vt:lpstr>
      <vt:lpstr>PowerPoint Presentation</vt:lpstr>
      <vt:lpstr>监督学习算法分类</vt:lpstr>
      <vt:lpstr>决策树 – Decision Tree</vt:lpstr>
      <vt:lpstr>二值分类数据</vt:lpstr>
      <vt:lpstr>决策函数</vt:lpstr>
      <vt:lpstr>决策函数测试</vt:lpstr>
      <vt:lpstr>决策函数的选择</vt:lpstr>
      <vt:lpstr>决策树训练算法</vt:lpstr>
      <vt:lpstr>决策树算法</vt:lpstr>
      <vt:lpstr>决策树算法</vt:lpstr>
      <vt:lpstr>选择决策特征</vt:lpstr>
      <vt:lpstr>如何度量混杂度</vt:lpstr>
      <vt:lpstr>如何度量混杂度</vt:lpstr>
      <vt:lpstr>信息熵 - Entropy</vt:lpstr>
      <vt:lpstr>信息熵 - Entropy</vt:lpstr>
      <vt:lpstr>练习题</vt:lpstr>
      <vt:lpstr>如何深入理解熵？</vt:lpstr>
      <vt:lpstr>如何深入理解熵？</vt:lpstr>
      <vt:lpstr>复习：联合概率分布</vt:lpstr>
      <vt:lpstr>复习：条件概率</vt:lpstr>
      <vt:lpstr>条件熵 – Conditional Entropy</vt:lpstr>
      <vt:lpstr>如何深入理解条件熵？</vt:lpstr>
      <vt:lpstr>两个随机变量X和A</vt:lpstr>
      <vt:lpstr>条件熵与信息增益</vt:lpstr>
      <vt:lpstr>举例</vt:lpstr>
      <vt:lpstr>选择决策特征</vt:lpstr>
      <vt:lpstr>   选择决策特征</vt:lpstr>
      <vt:lpstr>关于决策树算法</vt:lpstr>
      <vt:lpstr>使用GINI指数度量Impurity</vt:lpstr>
      <vt:lpstr>决策树算法</vt:lpstr>
      <vt:lpstr>决策树算法改进:数值型特征</vt:lpstr>
      <vt:lpstr>数值型特征建立的决策树</vt:lpstr>
      <vt:lpstr>PowerPoint Presentation</vt:lpstr>
      <vt:lpstr>案例分析：IRIS数据集</vt:lpstr>
      <vt:lpstr>案例分析：IRIS数据集</vt:lpstr>
      <vt:lpstr>示例：只使用花瓣(Petal）特征</vt:lpstr>
      <vt:lpstr>示例：只使用花瓣(Petal）特征</vt:lpstr>
      <vt:lpstr>示例：只使用花瓣(Petal）特征</vt:lpstr>
      <vt:lpstr>示例：只使用花瓣(Petal）特征</vt:lpstr>
      <vt:lpstr>示例：只使用花瓣(Petal）特征</vt:lpstr>
      <vt:lpstr>示例：只使用花瓣(Petal）特征</vt:lpstr>
      <vt:lpstr>可视化分类边界</vt:lpstr>
      <vt:lpstr>划分训练集/测试集</vt:lpstr>
      <vt:lpstr>过拟合问题</vt:lpstr>
      <vt:lpstr>如何解决过拟合？</vt:lpstr>
      <vt:lpstr>关于决策树的其他话题</vt:lpstr>
      <vt:lpstr>课堂练习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/>
  <cp:lastModifiedBy>范 举</cp:lastModifiedBy>
  <cp:revision>390</cp:revision>
  <cp:lastPrinted>2021-03-28T07:40:01Z</cp:lastPrinted>
  <dcterms:created xsi:type="dcterms:W3CDTF">2015-01-23T04:02:45Z</dcterms:created>
  <dcterms:modified xsi:type="dcterms:W3CDTF">2025-11-13T23:57:25Z</dcterms:modified>
  <cp:category/>
  <cp:contentStatus>12sc.taobao.com</cp:contentStatus>
</cp:coreProperties>
</file>