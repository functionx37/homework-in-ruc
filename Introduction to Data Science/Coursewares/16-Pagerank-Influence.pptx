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wdp" ContentType="image/vnd.ms-photo"/>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77"/>
  </p:notesMasterIdLst>
  <p:sldIdLst>
    <p:sldId id="1146" r:id="rId3"/>
    <p:sldId id="1420" r:id="rId4"/>
    <p:sldId id="588" r:id="rId5"/>
    <p:sldId id="589" r:id="rId6"/>
    <p:sldId id="590" r:id="rId7"/>
    <p:sldId id="591" r:id="rId8"/>
    <p:sldId id="593" r:id="rId9"/>
    <p:sldId id="594" r:id="rId10"/>
    <p:sldId id="595" r:id="rId11"/>
    <p:sldId id="632" r:id="rId12"/>
    <p:sldId id="633" r:id="rId13"/>
    <p:sldId id="634" r:id="rId14"/>
    <p:sldId id="635" r:id="rId15"/>
    <p:sldId id="597" r:id="rId16"/>
    <p:sldId id="598" r:id="rId17"/>
    <p:sldId id="599" r:id="rId18"/>
    <p:sldId id="628" r:id="rId19"/>
    <p:sldId id="602" r:id="rId20"/>
    <p:sldId id="603" r:id="rId21"/>
    <p:sldId id="611" r:id="rId22"/>
    <p:sldId id="605" r:id="rId23"/>
    <p:sldId id="606" r:id="rId24"/>
    <p:sldId id="618" r:id="rId25"/>
    <p:sldId id="619" r:id="rId26"/>
    <p:sldId id="607" r:id="rId27"/>
    <p:sldId id="620" r:id="rId28"/>
    <p:sldId id="621" r:id="rId29"/>
    <p:sldId id="623" r:id="rId30"/>
    <p:sldId id="622" r:id="rId31"/>
    <p:sldId id="625" r:id="rId32"/>
    <p:sldId id="626" r:id="rId33"/>
    <p:sldId id="1346" r:id="rId34"/>
    <p:sldId id="609" r:id="rId35"/>
    <p:sldId id="1423" r:id="rId36"/>
    <p:sldId id="1344" r:id="rId37"/>
    <p:sldId id="1419" r:id="rId38"/>
    <p:sldId id="1372" r:id="rId39"/>
    <p:sldId id="1374" r:id="rId40"/>
    <p:sldId id="1378" r:id="rId41"/>
    <p:sldId id="1379" r:id="rId42"/>
    <p:sldId id="1380" r:id="rId43"/>
    <p:sldId id="1381" r:id="rId44"/>
    <p:sldId id="1382" r:id="rId45"/>
    <p:sldId id="1383" r:id="rId46"/>
    <p:sldId id="1384" r:id="rId47"/>
    <p:sldId id="1385" r:id="rId48"/>
    <p:sldId id="1386" r:id="rId49"/>
    <p:sldId id="1421" r:id="rId50"/>
    <p:sldId id="1388" r:id="rId51"/>
    <p:sldId id="1389" r:id="rId52"/>
    <p:sldId id="1390" r:id="rId53"/>
    <p:sldId id="1391" r:id="rId54"/>
    <p:sldId id="1392" r:id="rId55"/>
    <p:sldId id="1393" r:id="rId56"/>
    <p:sldId id="1394" r:id="rId57"/>
    <p:sldId id="1395" r:id="rId58"/>
    <p:sldId id="1396" r:id="rId59"/>
    <p:sldId id="1425" r:id="rId60"/>
    <p:sldId id="1422" r:id="rId61"/>
    <p:sldId id="1398" r:id="rId62"/>
    <p:sldId id="1399" r:id="rId63"/>
    <p:sldId id="1400" r:id="rId64"/>
    <p:sldId id="1401" r:id="rId65"/>
    <p:sldId id="1405" r:id="rId66"/>
    <p:sldId id="1406" r:id="rId67"/>
    <p:sldId id="1407" r:id="rId68"/>
    <p:sldId id="1408" r:id="rId69"/>
    <p:sldId id="1409" r:id="rId70"/>
    <p:sldId id="1410" r:id="rId71"/>
    <p:sldId id="1411" r:id="rId72"/>
    <p:sldId id="1412" r:id="rId73"/>
    <p:sldId id="1413" r:id="rId74"/>
    <p:sldId id="1414" r:id="rId75"/>
    <p:sldId id="1415" r:id="rId76"/>
  </p:sldIdLst>
  <p:sldSz cx="9144000" cy="5143500" type="screen16x9"/>
  <p:notesSz cx="6858000" cy="9144000"/>
  <p:custDataLst>
    <p:tags r:id="rId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4"/>
    <a:srgbClr val="0E223A"/>
    <a:srgbClr val="F6F8FA"/>
    <a:srgbClr val="1A3F6C"/>
    <a:srgbClr val="AE06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75" autoAdjust="0"/>
    <p:restoredTop sz="73932" autoAdjust="0"/>
  </p:normalViewPr>
  <p:slideViewPr>
    <p:cSldViewPr snapToGrid="0">
      <p:cViewPr varScale="1">
        <p:scale>
          <a:sx n="139" d="100"/>
          <a:sy n="139" d="100"/>
        </p:scale>
        <p:origin x="2552"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notesMaster" Target="notesMasters/notesMaster1.xml"/><Relationship Id="rId78" Type="http://schemas.openxmlformats.org/officeDocument/2006/relationships/tags" Target="tags/tag1.xml"/><Relationship Id="rId79" Type="http://schemas.openxmlformats.org/officeDocument/2006/relationships/presProps" Target="presProps.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2025/12/25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EAE63-D6C4-437F-B8DA-DA689F991AA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68754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1390589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a:t>
            </a:fld>
            <a:endParaRPr lang="zh-CN" altLang="en-US"/>
          </a:p>
        </p:txBody>
      </p:sp>
    </p:spTree>
    <p:extLst>
      <p:ext uri="{BB962C8B-B14F-4D97-AF65-F5344CB8AC3E}">
        <p14:creationId xmlns:p14="http://schemas.microsoft.com/office/powerpoint/2010/main" val="1408866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a:t>
            </a:fld>
            <a:endParaRPr lang="zh-CN" altLang="en-US"/>
          </a:p>
        </p:txBody>
      </p:sp>
    </p:spTree>
    <p:extLst>
      <p:ext uri="{BB962C8B-B14F-4D97-AF65-F5344CB8AC3E}">
        <p14:creationId xmlns:p14="http://schemas.microsoft.com/office/powerpoint/2010/main" val="139520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a:t>
            </a:fld>
            <a:endParaRPr lang="zh-CN" altLang="en-US"/>
          </a:p>
        </p:txBody>
      </p:sp>
    </p:spTree>
    <p:extLst>
      <p:ext uri="{BB962C8B-B14F-4D97-AF65-F5344CB8AC3E}">
        <p14:creationId xmlns:p14="http://schemas.microsoft.com/office/powerpoint/2010/main" val="245716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a:t>
            </a:fld>
            <a:endParaRPr lang="zh-CN" altLang="en-US"/>
          </a:p>
        </p:txBody>
      </p:sp>
    </p:spTree>
    <p:extLst>
      <p:ext uri="{BB962C8B-B14F-4D97-AF65-F5344CB8AC3E}">
        <p14:creationId xmlns:p14="http://schemas.microsoft.com/office/powerpoint/2010/main" val="431065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a:t>
            </a:fld>
            <a:endParaRPr lang="zh-CN" altLang="en-US"/>
          </a:p>
        </p:txBody>
      </p:sp>
    </p:spTree>
    <p:extLst>
      <p:ext uri="{BB962C8B-B14F-4D97-AF65-F5344CB8AC3E}">
        <p14:creationId xmlns:p14="http://schemas.microsoft.com/office/powerpoint/2010/main" val="709403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8</a:t>
            </a:fld>
            <a:endParaRPr lang="zh-CN" altLang="en-US"/>
          </a:p>
        </p:txBody>
      </p:sp>
    </p:spTree>
    <p:extLst>
      <p:ext uri="{BB962C8B-B14F-4D97-AF65-F5344CB8AC3E}">
        <p14:creationId xmlns:p14="http://schemas.microsoft.com/office/powerpoint/2010/main" val="62986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9</a:t>
            </a:fld>
            <a:endParaRPr lang="zh-CN" altLang="en-US"/>
          </a:p>
        </p:txBody>
      </p:sp>
    </p:spTree>
    <p:extLst>
      <p:ext uri="{BB962C8B-B14F-4D97-AF65-F5344CB8AC3E}">
        <p14:creationId xmlns:p14="http://schemas.microsoft.com/office/powerpoint/2010/main" val="1242646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14</a:t>
            </a:fld>
            <a:endParaRPr lang="zh-CN" altLang="en-US"/>
          </a:p>
        </p:txBody>
      </p:sp>
    </p:spTree>
    <p:extLst>
      <p:ext uri="{BB962C8B-B14F-4D97-AF65-F5344CB8AC3E}">
        <p14:creationId xmlns:p14="http://schemas.microsoft.com/office/powerpoint/2010/main" val="756323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15</a:t>
            </a:fld>
            <a:endParaRPr lang="zh-CN" altLang="en-US"/>
          </a:p>
        </p:txBody>
      </p:sp>
    </p:spTree>
    <p:extLst>
      <p:ext uri="{BB962C8B-B14F-4D97-AF65-F5344CB8AC3E}">
        <p14:creationId xmlns:p14="http://schemas.microsoft.com/office/powerpoint/2010/main" val="1645661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19</a:t>
            </a:fld>
            <a:endParaRPr lang="zh-CN" altLang="en-US"/>
          </a:p>
        </p:txBody>
      </p:sp>
    </p:spTree>
    <p:extLst>
      <p:ext uri="{BB962C8B-B14F-4D97-AF65-F5344CB8AC3E}">
        <p14:creationId xmlns:p14="http://schemas.microsoft.com/office/powerpoint/2010/main" val="260847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20</a:t>
            </a:fld>
            <a:endParaRPr lang="zh-CN" altLang="en-US"/>
          </a:p>
        </p:txBody>
      </p:sp>
    </p:spTree>
    <p:extLst>
      <p:ext uri="{BB962C8B-B14F-4D97-AF65-F5344CB8AC3E}">
        <p14:creationId xmlns:p14="http://schemas.microsoft.com/office/powerpoint/2010/main" val="458440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21</a:t>
            </a:fld>
            <a:endParaRPr lang="zh-CN" altLang="en-US"/>
          </a:p>
        </p:txBody>
      </p:sp>
    </p:spTree>
    <p:extLst>
      <p:ext uri="{BB962C8B-B14F-4D97-AF65-F5344CB8AC3E}">
        <p14:creationId xmlns:p14="http://schemas.microsoft.com/office/powerpoint/2010/main" val="1906534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23</a:t>
            </a:fld>
            <a:endParaRPr lang="zh-CN" altLang="en-US"/>
          </a:p>
        </p:txBody>
      </p:sp>
    </p:spTree>
    <p:extLst>
      <p:ext uri="{BB962C8B-B14F-4D97-AF65-F5344CB8AC3E}">
        <p14:creationId xmlns:p14="http://schemas.microsoft.com/office/powerpoint/2010/main" val="335549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首先介绍</a:t>
            </a:r>
            <a:r>
              <a:rPr lang="en-US" altLang="zh-CN" dirty="0"/>
              <a:t>Web</a:t>
            </a:r>
            <a:r>
              <a:rPr lang="zh-CN" altLang="en-US" dirty="0"/>
              <a:t> </a:t>
            </a:r>
            <a:r>
              <a:rPr lang="en-US" altLang="zh-CN" dirty="0"/>
              <a:t>Search</a:t>
            </a:r>
            <a:r>
              <a:rPr lang="zh-CN" altLang="en-US" dirty="0"/>
              <a:t>的场景，与图书馆查询作对比。</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24</a:t>
            </a:fld>
            <a:endParaRPr lang="zh-CN" altLang="en-US"/>
          </a:p>
        </p:txBody>
      </p:sp>
    </p:spTree>
    <p:extLst>
      <p:ext uri="{BB962C8B-B14F-4D97-AF65-F5344CB8AC3E}">
        <p14:creationId xmlns:p14="http://schemas.microsoft.com/office/powerpoint/2010/main" val="875423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解释</a:t>
            </a:r>
            <a:r>
              <a:rPr lang="en-US" altLang="zh-CN" dirty="0"/>
              <a:t>Web</a:t>
            </a:r>
            <a:r>
              <a:rPr lang="zh-CN" altLang="en-US" dirty="0"/>
              <a:t> </a:t>
            </a:r>
            <a:r>
              <a:rPr lang="en-US" altLang="zh-CN" dirty="0"/>
              <a:t>Search</a:t>
            </a:r>
            <a:r>
              <a:rPr lang="zh-CN" altLang="en-US" dirty="0"/>
              <a:t>中的链接关系，构造出有向图结构。</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25</a:t>
            </a:fld>
            <a:endParaRPr lang="zh-CN" altLang="en-US"/>
          </a:p>
        </p:txBody>
      </p:sp>
    </p:spTree>
    <p:extLst>
      <p:ext uri="{BB962C8B-B14F-4D97-AF65-F5344CB8AC3E}">
        <p14:creationId xmlns:p14="http://schemas.microsoft.com/office/powerpoint/2010/main" val="1431817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26</a:t>
            </a:fld>
            <a:endParaRPr lang="zh-CN" altLang="en-US"/>
          </a:p>
        </p:txBody>
      </p:sp>
    </p:spTree>
    <p:extLst>
      <p:ext uri="{BB962C8B-B14F-4D97-AF65-F5344CB8AC3E}">
        <p14:creationId xmlns:p14="http://schemas.microsoft.com/office/powerpoint/2010/main" val="1090096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27</a:t>
            </a:fld>
            <a:endParaRPr lang="zh-CN" altLang="en-US"/>
          </a:p>
        </p:txBody>
      </p:sp>
    </p:spTree>
    <p:extLst>
      <p:ext uri="{BB962C8B-B14F-4D97-AF65-F5344CB8AC3E}">
        <p14:creationId xmlns:p14="http://schemas.microsoft.com/office/powerpoint/2010/main" val="1151232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29</a:t>
            </a:fld>
            <a:endParaRPr lang="zh-CN" altLang="en-US"/>
          </a:p>
        </p:txBody>
      </p:sp>
    </p:spTree>
    <p:extLst>
      <p:ext uri="{BB962C8B-B14F-4D97-AF65-F5344CB8AC3E}">
        <p14:creationId xmlns:p14="http://schemas.microsoft.com/office/powerpoint/2010/main" val="6694175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30</a:t>
            </a:fld>
            <a:endParaRPr lang="zh-CN" altLang="en-US"/>
          </a:p>
        </p:txBody>
      </p:sp>
    </p:spTree>
    <p:extLst>
      <p:ext uri="{BB962C8B-B14F-4D97-AF65-F5344CB8AC3E}">
        <p14:creationId xmlns:p14="http://schemas.microsoft.com/office/powerpoint/2010/main" val="677012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31</a:t>
            </a:fld>
            <a:endParaRPr lang="zh-CN" altLang="en-US"/>
          </a:p>
        </p:txBody>
      </p:sp>
    </p:spTree>
    <p:extLst>
      <p:ext uri="{BB962C8B-B14F-4D97-AF65-F5344CB8AC3E}">
        <p14:creationId xmlns:p14="http://schemas.microsoft.com/office/powerpoint/2010/main" val="2111092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34</a:t>
            </a:fld>
            <a:endParaRPr lang="zh-CN" altLang="en-US"/>
          </a:p>
        </p:txBody>
      </p:sp>
    </p:spTree>
    <p:extLst>
      <p:ext uri="{BB962C8B-B14F-4D97-AF65-F5344CB8AC3E}">
        <p14:creationId xmlns:p14="http://schemas.microsoft.com/office/powerpoint/2010/main" val="19906038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36</a:t>
            </a:fld>
            <a:endParaRPr lang="zh-CN" altLang="en-US" dirty="0"/>
          </a:p>
        </p:txBody>
      </p:sp>
    </p:spTree>
    <p:extLst>
      <p:ext uri="{BB962C8B-B14F-4D97-AF65-F5344CB8AC3E}">
        <p14:creationId xmlns:p14="http://schemas.microsoft.com/office/powerpoint/2010/main" val="561080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41</a:t>
            </a:fld>
            <a:endParaRPr lang="zh-CN" altLang="en-US"/>
          </a:p>
        </p:txBody>
      </p:sp>
    </p:spTree>
    <p:extLst>
      <p:ext uri="{BB962C8B-B14F-4D97-AF65-F5344CB8AC3E}">
        <p14:creationId xmlns:p14="http://schemas.microsoft.com/office/powerpoint/2010/main" val="55401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44</a:t>
            </a:fld>
            <a:endParaRPr lang="zh-CN" altLang="en-US"/>
          </a:p>
        </p:txBody>
      </p:sp>
    </p:spTree>
    <p:extLst>
      <p:ext uri="{BB962C8B-B14F-4D97-AF65-F5344CB8AC3E}">
        <p14:creationId xmlns:p14="http://schemas.microsoft.com/office/powerpoint/2010/main" val="1496341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48</a:t>
            </a:fld>
            <a:endParaRPr lang="zh-CN" altLang="en-US" dirty="0"/>
          </a:p>
        </p:txBody>
      </p:sp>
    </p:spTree>
    <p:extLst>
      <p:ext uri="{BB962C8B-B14F-4D97-AF65-F5344CB8AC3E}">
        <p14:creationId xmlns:p14="http://schemas.microsoft.com/office/powerpoint/2010/main" val="847613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49</a:t>
            </a:fld>
            <a:endParaRPr lang="zh-CN" altLang="en-US"/>
          </a:p>
        </p:txBody>
      </p:sp>
    </p:spTree>
    <p:extLst>
      <p:ext uri="{BB962C8B-B14F-4D97-AF65-F5344CB8AC3E}">
        <p14:creationId xmlns:p14="http://schemas.microsoft.com/office/powerpoint/2010/main" val="10850319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50</a:t>
            </a:fld>
            <a:endParaRPr lang="zh-CN" altLang="en-US"/>
          </a:p>
        </p:txBody>
      </p:sp>
    </p:spTree>
    <p:extLst>
      <p:ext uri="{BB962C8B-B14F-4D97-AF65-F5344CB8AC3E}">
        <p14:creationId xmlns:p14="http://schemas.microsoft.com/office/powerpoint/2010/main" val="17063899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51</a:t>
            </a:fld>
            <a:endParaRPr lang="zh-CN" altLang="en-US"/>
          </a:p>
        </p:txBody>
      </p:sp>
    </p:spTree>
    <p:extLst>
      <p:ext uri="{BB962C8B-B14F-4D97-AF65-F5344CB8AC3E}">
        <p14:creationId xmlns:p14="http://schemas.microsoft.com/office/powerpoint/2010/main" val="276822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53</a:t>
            </a:fld>
            <a:endParaRPr lang="zh-CN" altLang="en-US"/>
          </a:p>
        </p:txBody>
      </p:sp>
    </p:spTree>
    <p:extLst>
      <p:ext uri="{BB962C8B-B14F-4D97-AF65-F5344CB8AC3E}">
        <p14:creationId xmlns:p14="http://schemas.microsoft.com/office/powerpoint/2010/main" val="2067030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54</a:t>
            </a:fld>
            <a:endParaRPr lang="zh-CN" altLang="en-US"/>
          </a:p>
        </p:txBody>
      </p:sp>
    </p:spTree>
    <p:extLst>
      <p:ext uri="{BB962C8B-B14F-4D97-AF65-F5344CB8AC3E}">
        <p14:creationId xmlns:p14="http://schemas.microsoft.com/office/powerpoint/2010/main" val="14247364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55</a:t>
            </a:fld>
            <a:endParaRPr lang="zh-CN" altLang="en-US"/>
          </a:p>
        </p:txBody>
      </p:sp>
    </p:spTree>
    <p:extLst>
      <p:ext uri="{BB962C8B-B14F-4D97-AF65-F5344CB8AC3E}">
        <p14:creationId xmlns:p14="http://schemas.microsoft.com/office/powerpoint/2010/main" val="4624437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0.02</a:t>
            </a:r>
            <a:r>
              <a:rPr lang="zh-CN" altLang="en-US" dirty="0"/>
              <a:t> * </a:t>
            </a:r>
            <a:r>
              <a:rPr lang="en-US" altLang="zh-CN" dirty="0"/>
              <a:t>(3-1.7)</a:t>
            </a:r>
            <a:r>
              <a:rPr lang="zh-CN" altLang="en-US" dirty="0"/>
              <a:t> </a:t>
            </a:r>
            <a:r>
              <a:rPr lang="en-US" altLang="zh-CN" dirty="0"/>
              <a:t>=</a:t>
            </a:r>
            <a:r>
              <a:rPr lang="zh-CN" altLang="en-US" dirty="0"/>
              <a:t> </a:t>
            </a:r>
            <a:r>
              <a:rPr lang="en-US" altLang="zh-CN" dirty="0"/>
              <a:t>0.02</a:t>
            </a:r>
            <a:r>
              <a:rPr lang="zh-CN" altLang="en-US" dirty="0"/>
              <a:t> * </a:t>
            </a:r>
            <a:r>
              <a:rPr lang="en-US" altLang="zh-CN" dirty="0"/>
              <a:t>1.3</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56</a:t>
            </a:fld>
            <a:endParaRPr lang="zh-CN" altLang="en-US"/>
          </a:p>
        </p:txBody>
      </p:sp>
    </p:spTree>
    <p:extLst>
      <p:ext uri="{BB962C8B-B14F-4D97-AF65-F5344CB8AC3E}">
        <p14:creationId xmlns:p14="http://schemas.microsoft.com/office/powerpoint/2010/main" val="8809937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57</a:t>
            </a:fld>
            <a:endParaRPr lang="zh-CN" altLang="en-US"/>
          </a:p>
        </p:txBody>
      </p:sp>
    </p:spTree>
    <p:extLst>
      <p:ext uri="{BB962C8B-B14F-4D97-AF65-F5344CB8AC3E}">
        <p14:creationId xmlns:p14="http://schemas.microsoft.com/office/powerpoint/2010/main" val="6885369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59</a:t>
            </a:fld>
            <a:endParaRPr lang="zh-CN" altLang="en-US" dirty="0"/>
          </a:p>
        </p:txBody>
      </p:sp>
    </p:spTree>
    <p:extLst>
      <p:ext uri="{BB962C8B-B14F-4D97-AF65-F5344CB8AC3E}">
        <p14:creationId xmlns:p14="http://schemas.microsoft.com/office/powerpoint/2010/main" val="19722784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60</a:t>
            </a:fld>
            <a:endParaRPr lang="zh-CN" altLang="en-US"/>
          </a:p>
        </p:txBody>
      </p:sp>
    </p:spTree>
    <p:extLst>
      <p:ext uri="{BB962C8B-B14F-4D97-AF65-F5344CB8AC3E}">
        <p14:creationId xmlns:p14="http://schemas.microsoft.com/office/powerpoint/2010/main" val="9617888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67</a:t>
            </a:fld>
            <a:endParaRPr lang="zh-CN" altLang="en-US"/>
          </a:p>
        </p:txBody>
      </p:sp>
    </p:spTree>
    <p:extLst>
      <p:ext uri="{BB962C8B-B14F-4D97-AF65-F5344CB8AC3E}">
        <p14:creationId xmlns:p14="http://schemas.microsoft.com/office/powerpoint/2010/main" val="10609232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68</a:t>
            </a:fld>
            <a:endParaRPr lang="zh-CN" altLang="en-US"/>
          </a:p>
        </p:txBody>
      </p:sp>
    </p:spTree>
    <p:extLst>
      <p:ext uri="{BB962C8B-B14F-4D97-AF65-F5344CB8AC3E}">
        <p14:creationId xmlns:p14="http://schemas.microsoft.com/office/powerpoint/2010/main" val="18320834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修改一下</a:t>
            </a:r>
            <a:r>
              <a:rPr lang="en-US" altLang="zh-CN" dirty="0"/>
              <a:t>notations</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69</a:t>
            </a:fld>
            <a:endParaRPr lang="zh-CN" altLang="en-US"/>
          </a:p>
        </p:txBody>
      </p:sp>
    </p:spTree>
    <p:extLst>
      <p:ext uri="{BB962C8B-B14F-4D97-AF65-F5344CB8AC3E}">
        <p14:creationId xmlns:p14="http://schemas.microsoft.com/office/powerpoint/2010/main" val="3265307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70</a:t>
            </a:fld>
            <a:endParaRPr lang="zh-CN" altLang="en-US"/>
          </a:p>
        </p:txBody>
      </p:sp>
    </p:spTree>
    <p:extLst>
      <p:ext uri="{BB962C8B-B14F-4D97-AF65-F5344CB8AC3E}">
        <p14:creationId xmlns:p14="http://schemas.microsoft.com/office/powerpoint/2010/main" val="1097631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73</a:t>
            </a:fld>
            <a:endParaRPr lang="zh-CN" altLang="en-US"/>
          </a:p>
        </p:txBody>
      </p:sp>
    </p:spTree>
    <p:extLst>
      <p:ext uri="{BB962C8B-B14F-4D97-AF65-F5344CB8AC3E}">
        <p14:creationId xmlns:p14="http://schemas.microsoft.com/office/powerpoint/2010/main" val="1777588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xmlns=""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xmlns=""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876623"/>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矩形 6">
            <a:extLst>
              <a:ext uri="{FF2B5EF4-FFF2-40B4-BE49-F238E27FC236}">
                <a16:creationId xmlns:a16="http://schemas.microsoft.com/office/drawing/2014/main" xmlns=""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solidFill>
                <a:prstClr val="white"/>
              </a:solidFill>
            </a:endParaRPr>
          </a:p>
        </p:txBody>
      </p:sp>
    </p:spTree>
    <p:extLst>
      <p:ext uri="{BB962C8B-B14F-4D97-AF65-F5344CB8AC3E}">
        <p14:creationId xmlns:p14="http://schemas.microsoft.com/office/powerpoint/2010/main" val="1546625559"/>
      </p:ext>
    </p:extLst>
  </p:cSld>
  <p:clrMapOvr>
    <a:masterClrMapping/>
  </p:clrMapOvr>
  <p:transition spd="slow">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椭圆 6">
            <a:extLst>
              <a:ext uri="{FF2B5EF4-FFF2-40B4-BE49-F238E27FC236}">
                <a16:creationId xmlns:a16="http://schemas.microsoft.com/office/drawing/2014/main" xmlns=""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3736239509"/>
      </p:ext>
    </p:extLst>
  </p:cSld>
  <p:clrMapOvr>
    <a:masterClrMapping/>
  </p:clrMapOvr>
  <p:transition spd="slow">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59839480"/>
      </p:ext>
    </p:extLst>
  </p:cSld>
  <p:clrMapOvr>
    <a:masterClrMapping/>
  </p:clrMapOvr>
  <p:transition spd="slow">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57362825"/>
      </p:ext>
    </p:extLst>
  </p:cSld>
  <p:clrMapOvr>
    <a:masterClrMapping/>
  </p:clrMapOvr>
  <p:transition spd="slow">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25435951"/>
      </p:ext>
    </p:extLst>
  </p:cSld>
  <p:clrMapOvr>
    <a:masterClrMapping/>
  </p:clrMapOvr>
  <p:transition spd="slow">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13014014"/>
      </p:ext>
    </p:extLst>
  </p:cSld>
  <p:clrMapOvr>
    <a:masterClrMapping/>
  </p:clrMapOvr>
  <p:transition spd="slow">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86301120"/>
      </p:ext>
    </p:extLst>
  </p:cSld>
  <p:clrMapOvr>
    <a:masterClrMapping/>
  </p:clrMapOvr>
  <p:transition spd="slow">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343108"/>
      </p:ext>
    </p:extLst>
  </p:cSld>
  <p:clrMapOvr>
    <a:masterClrMapping/>
  </p:clrMapOvr>
  <p:transition spd="slow">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2180189"/>
      </p:ext>
    </p:extLst>
  </p:cSld>
  <p:clrMapOvr>
    <a:masterClrMapping/>
  </p:clrMapOvr>
  <p:transition spd="slow">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26238981"/>
      </p:ext>
    </p:extLst>
  </p:cSld>
  <p:clrMapOvr>
    <a:masterClrMapping/>
  </p:clrMapOvr>
  <p:transition spd="slow">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22825535"/>
      </p:ext>
    </p:extLst>
  </p:cSld>
  <p:clrMapOvr>
    <a:masterClrMapping/>
  </p:clrMapOvr>
  <p:transition spd="slow">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0538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49476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65972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xmlns=""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solidFill>
                <a:prstClr val="white"/>
              </a:solidFill>
            </a:endParaRPr>
          </a:p>
        </p:txBody>
      </p:sp>
      <p:pic>
        <p:nvPicPr>
          <p:cNvPr id="4" name="图片 3">
            <a:extLst>
              <a:ext uri="{FF2B5EF4-FFF2-40B4-BE49-F238E27FC236}">
                <a16:creationId xmlns:a16="http://schemas.microsoft.com/office/drawing/2014/main" xmlns=""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3918236799"/>
      </p:ext>
    </p:extLst>
  </p:cSld>
  <p:clrMapOvr>
    <a:masterClrMapping/>
  </p:clrMapOvr>
  <p:transition spd="slow">
    <p:cover dir="rd"/>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48264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g"/><Relationship Id="rId18"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slideLayout" Target="../slideLayouts/slideLayout31.xml"/><Relationship Id="rId17" Type="http://schemas.openxmlformats.org/officeDocument/2006/relationships/theme" Target="../theme/theme2.xml"/><Relationship Id="rId18" Type="http://schemas.openxmlformats.org/officeDocument/2006/relationships/image" Target="../media/image1.jpg"/><Relationship Id="rId19" Type="http://schemas.openxmlformats.org/officeDocument/2006/relationships/image" Target="../media/image3.png"/><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xmlns=""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xmlns=""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70"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solidFill>
                <a:prstClr val="black">
                  <a:tint val="75000"/>
                </a:prstClr>
              </a:solidFill>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7" name="图片 6">
            <a:extLst>
              <a:ext uri="{FF2B5EF4-FFF2-40B4-BE49-F238E27FC236}">
                <a16:creationId xmlns:a16="http://schemas.microsoft.com/office/drawing/2014/main" xmlns="" id="{341F63DC-E866-4077-8215-C471E38E7305}"/>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xmlns=""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solidFill>
                <a:prstClr val="white"/>
              </a:solidFill>
            </a:endParaRPr>
          </a:p>
        </p:txBody>
      </p:sp>
    </p:spTree>
    <p:extLst>
      <p:ext uri="{BB962C8B-B14F-4D97-AF65-F5344CB8AC3E}">
        <p14:creationId xmlns:p14="http://schemas.microsoft.com/office/powerpoint/2010/main" val="3752139282"/>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4" Type="http://schemas.openxmlformats.org/officeDocument/2006/relationships/image" Target="../media/image4.png"/><Relationship Id="rId5" Type="http://schemas.microsoft.com/office/2007/relationships/hdphoto" Target="../media/hdphoto1.wdp"/><Relationship Id="rId6" Type="http://schemas.openxmlformats.org/officeDocument/2006/relationships/image" Target="../media/image5.png"/><Relationship Id="rId1" Type="http://schemas.openxmlformats.org/officeDocument/2006/relationships/slideLayout" Target="../slideLayouts/slideLayout3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291.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90.png"/><Relationship Id="rId4" Type="http://schemas.openxmlformats.org/officeDocument/2006/relationships/image" Target="../media/image9.png"/><Relationship Id="rId5" Type="http://schemas.openxmlformats.org/officeDocument/2006/relationships/image" Target="../media/image310.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9.png"/><Relationship Id="rId5" Type="http://schemas.openxmlformats.org/officeDocument/2006/relationships/image" Target="../media/image33.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9.png"/><Relationship Id="rId5"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image" Target="../media/image140.png"/></Relationships>
</file>

<file path=ppt/slides/_rels/slide12.xml.rels><?xml version="1.0" encoding="UTF-8" standalone="yes"?>
<Relationships xmlns="http://schemas.openxmlformats.org/package/2006/relationships"><Relationship Id="rId3" Type="http://schemas.openxmlformats.org/officeDocument/2006/relationships/image" Target="../media/image170.png"/><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440.png"/><Relationship Id="rId5" Type="http://schemas.openxmlformats.org/officeDocument/2006/relationships/image" Target="../media/image450.png"/><Relationship Id="rId6" Type="http://schemas.openxmlformats.org/officeDocument/2006/relationships/image" Target="../media/image46.png"/><Relationship Id="rId7"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4" Type="http://schemas.openxmlformats.org/officeDocument/2006/relationships/image" Target="../media/image14.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15.jpg"/><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14.png"/><Relationship Id="rId5" Type="http://schemas.openxmlformats.org/officeDocument/2006/relationships/image" Target="../media/image49.png"/><Relationship Id="rId6"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00.png"/><Relationship Id="rId4" Type="http://schemas.openxmlformats.org/officeDocument/2006/relationships/image" Target="../media/image210.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3" Type="http://schemas.openxmlformats.org/officeDocument/2006/relationships/image" Target="../media/image680.png"/><Relationship Id="rId4" Type="http://schemas.openxmlformats.org/officeDocument/2006/relationships/image" Target="../media/image69.png"/><Relationship Id="rId5"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4" Type="http://schemas.openxmlformats.org/officeDocument/2006/relationships/image" Target="../media/image10.png"/><Relationship Id="rId5"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4" Type="http://schemas.openxmlformats.org/officeDocument/2006/relationships/image" Target="../media/image10.png"/><Relationship Id="rId5"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4" Type="http://schemas.openxmlformats.org/officeDocument/2006/relationships/image" Target="../media/image10.png"/><Relationship Id="rId5" Type="http://schemas.openxmlformats.org/officeDocument/2006/relationships/image" Target="../media/image63.png"/><Relationship Id="rId6" Type="http://schemas.openxmlformats.org/officeDocument/2006/relationships/image" Target="../media/image64.png"/><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3" Type="http://schemas.openxmlformats.org/officeDocument/2006/relationships/image" Target="../media/image31.emf"/><Relationship Id="rId4"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image" Target="../media/image29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g"/><Relationship Id="rId4" Type="http://schemas.openxmlformats.org/officeDocument/2006/relationships/image" Target="../media/image34.jpg"/><Relationship Id="rId1" Type="http://schemas.openxmlformats.org/officeDocument/2006/relationships/slideLayout" Target="../slideLayouts/slideLayout2.xml"/><Relationship Id="rId2" Type="http://schemas.openxmlformats.org/officeDocument/2006/relationships/image" Target="../media/image3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0.png"/><Relationship Id="rId3" Type="http://schemas.openxmlformats.org/officeDocument/2006/relationships/image" Target="../media/image44.jpeg"/></Relationships>
</file>

<file path=ppt/slides/_rels/slide41.xml.rels><?xml version="1.0" encoding="UTF-8" standalone="yes"?>
<Relationships xmlns="http://schemas.openxmlformats.org/package/2006/relationships"><Relationship Id="rId3" Type="http://schemas.openxmlformats.org/officeDocument/2006/relationships/image" Target="../media/image210.png"/><Relationship Id="rId4" Type="http://schemas.openxmlformats.org/officeDocument/2006/relationships/image" Target="../media/image230.png"/><Relationship Id="rId5" Type="http://schemas.openxmlformats.org/officeDocument/2006/relationships/image" Target="../media/image241.png"/><Relationship Id="rId6" Type="http://schemas.openxmlformats.org/officeDocument/2006/relationships/image" Target="../media/image251.png"/><Relationship Id="rId7" Type="http://schemas.openxmlformats.org/officeDocument/2006/relationships/image" Target="../media/image261.png"/><Relationship Id="rId8" Type="http://schemas.openxmlformats.org/officeDocument/2006/relationships/image" Target="../media/image271.png"/><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260.png"/><Relationship Id="rId1" Type="http://schemas.openxmlformats.org/officeDocument/2006/relationships/slideLayout" Target="../slideLayouts/slideLayout2.xml"/><Relationship Id="rId2" Type="http://schemas.openxmlformats.org/officeDocument/2006/relationships/image" Target="../media/image240.pn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270.png"/><Relationship Id="rId5" Type="http://schemas.openxmlformats.org/officeDocument/2006/relationships/image" Target="../media/image280.png"/><Relationship Id="rId6" Type="http://schemas.openxmlformats.org/officeDocument/2006/relationships/image" Target="../media/image292.png"/><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5.xml.rels><?xml version="1.0" encoding="UTF-8" standalone="yes"?>
<Relationships xmlns="http://schemas.openxmlformats.org/package/2006/relationships"><Relationship Id="rId3" Type="http://schemas.openxmlformats.org/officeDocument/2006/relationships/image" Target="../media/image311.png"/><Relationship Id="rId4"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image" Target="../media/image3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image" Target="../media/image340.png"/><Relationship Id="rId4" Type="http://schemas.openxmlformats.org/officeDocument/2006/relationships/image" Target="../media/image350.png"/><Relationship Id="rId5" Type="http://schemas.openxmlformats.org/officeDocument/2006/relationships/image" Target="../media/image360.png"/><Relationship Id="rId6" Type="http://schemas.openxmlformats.org/officeDocument/2006/relationships/image" Target="../media/image370.png"/><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image" Target="../media/image390.png"/><Relationship Id="rId4"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0.png"/><Relationship Id="rId5" Type="http://schemas.openxmlformats.org/officeDocument/2006/relationships/image" Target="../media/image430.png"/><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4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80.png"/><Relationship Id="rId4" Type="http://schemas.openxmlformats.org/officeDocument/2006/relationships/image" Target="../media/image49.png"/><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0.png"/><Relationship Id="rId3" Type="http://schemas.openxmlformats.org/officeDocument/2006/relationships/image" Target="../media/image48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png"/><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67.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68.xml.rels><?xml version="1.0" encoding="UTF-8" standalone="yes"?>
<Relationships xmlns="http://schemas.openxmlformats.org/package/2006/relationships"><Relationship Id="rId11" Type="http://schemas.openxmlformats.org/officeDocument/2006/relationships/image" Target="../media/image69.png"/><Relationship Id="rId12" Type="http://schemas.openxmlformats.org/officeDocument/2006/relationships/image" Target="../media/image70.png"/><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s>
</file>

<file path=ppt/slides/_rels/slide69.xml.rels><?xml version="1.0" encoding="UTF-8" standalone="yes"?>
<Relationships xmlns="http://schemas.openxmlformats.org/package/2006/relationships"><Relationship Id="rId11" Type="http://schemas.openxmlformats.org/officeDocument/2006/relationships/image" Target="../media/image79.png"/><Relationship Id="rId12" Type="http://schemas.openxmlformats.org/officeDocument/2006/relationships/image" Target="../media/image80.png"/><Relationship Id="rId13" Type="http://schemas.openxmlformats.org/officeDocument/2006/relationships/image" Target="../media/image81.png"/><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s>
</file>

<file path=ppt/slides/_rels/slide70.xml.rels><?xml version="1.0" encoding="UTF-8" standalone="yes"?>
<Relationships xmlns="http://schemas.openxmlformats.org/package/2006/relationships"><Relationship Id="rId3" Type="http://schemas.openxmlformats.org/officeDocument/2006/relationships/image" Target="../media/image630.png"/><Relationship Id="rId4" Type="http://schemas.openxmlformats.org/officeDocument/2006/relationships/image" Target="../media/image640.png"/><Relationship Id="rId5" Type="http://schemas.openxmlformats.org/officeDocument/2006/relationships/image" Target="../media/image82.png"/><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71.xml.rels><?xml version="1.0" encoding="UTF-8" standalone="yes"?>
<Relationships xmlns="http://schemas.openxmlformats.org/package/2006/relationships"><Relationship Id="rId3" Type="http://schemas.openxmlformats.org/officeDocument/2006/relationships/image" Target="../media/image820.png"/><Relationship Id="rId4" Type="http://schemas.openxmlformats.org/officeDocument/2006/relationships/image" Target="../media/image600.png"/><Relationship Id="rId5" Type="http://schemas.openxmlformats.org/officeDocument/2006/relationships/image" Target="../media/image610.png"/><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jpeg"/></Relationships>
</file>

<file path=ppt/slides/_rels/slide73.xml.rels><?xml version="1.0" encoding="UTF-8" standalone="yes"?>
<Relationships xmlns="http://schemas.openxmlformats.org/package/2006/relationships"><Relationship Id="rId3" Type="http://schemas.openxmlformats.org/officeDocument/2006/relationships/image" Target="../media/image630.png"/><Relationship Id="rId4" Type="http://schemas.openxmlformats.org/officeDocument/2006/relationships/image" Target="../media/image640.png"/><Relationship Id="rId5" Type="http://schemas.openxmlformats.org/officeDocument/2006/relationships/image" Target="../media/image660.png"/><Relationship Id="rId6" Type="http://schemas.openxmlformats.org/officeDocument/2006/relationships/hyperlink" Target="http://www1.se.cuhk.edu.hk/~seem5010/slides/p1029-chen.pdf" TargetMode="External"/><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68379"/>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571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74527"/>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85940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5" name="Group 91"/>
          <p:cNvGrpSpPr>
            <a:grpSpLocks/>
          </p:cNvGrpSpPr>
          <p:nvPr/>
        </p:nvGrpSpPr>
        <p:grpSpPr bwMode="auto">
          <a:xfrm>
            <a:off x="1822357" y="385940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000" b="0" i="0" u="none" strike="noStrike" kern="1200" cap="none" spc="0" normalizeH="0" baseline="0" noProof="0" dirty="0">
                  <a:ln>
                    <a:noFill/>
                  </a:ln>
                  <a:solidFill>
                    <a:prstClr val="white"/>
                  </a:solidFill>
                  <a:effectLst/>
                  <a:uLnTx/>
                  <a:uFillTx/>
                  <a:latin typeface="Calibri"/>
                  <a:ea typeface="方正超粗黑简体" panose="03000509000000000000" pitchFamily="65" charset="-122"/>
                  <a:cs typeface="+mn-cs"/>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000" b="0" i="0" u="none" strike="noStrike" kern="1200" cap="none" spc="0" normalizeH="0" baseline="0" noProof="0" dirty="0">
                  <a:ln>
                    <a:noFill/>
                  </a:ln>
                  <a:solidFill>
                    <a:srgbClr val="0087CF"/>
                  </a:solidFill>
                  <a:effectLst/>
                  <a:uLnTx/>
                  <a:uFillTx/>
                  <a:latin typeface="Calibri"/>
                  <a:ea typeface="方正超粗黑简体" panose="03000509000000000000" pitchFamily="65" charset="-122"/>
                  <a:cs typeface="+mn-cs"/>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zh-CN" sz="2700" b="1" i="0" u="none" strike="noStrike" kern="1200" cap="none" spc="0" normalizeH="0" baseline="0" noProof="0">
                  <a:ln>
                    <a:noFill/>
                  </a:ln>
                  <a:solidFill>
                    <a:srgbClr val="CA0098"/>
                  </a:solidFill>
                  <a:effectLst/>
                  <a:uLnTx/>
                  <a:uFillTx/>
                  <a:latin typeface="微软雅黑" pitchFamily="34" charset="-122"/>
                  <a:ea typeface="微软雅黑" pitchFamily="34" charset="-122"/>
                  <a:cs typeface="+mn-cs"/>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sp>
        <p:nvSpPr>
          <p:cNvPr id="2" name="TextBox 1"/>
          <p:cNvSpPr txBox="1"/>
          <p:nvPr/>
        </p:nvSpPr>
        <p:spPr>
          <a:xfrm>
            <a:off x="122153" y="2178371"/>
            <a:ext cx="8945065" cy="584747"/>
          </a:xfrm>
          <a:prstGeom prst="rect">
            <a:avLst/>
          </a:prstGeom>
          <a:noFill/>
        </p:spPr>
        <p:txBody>
          <a:bodyPr wrap="square" lIns="91413" tIns="45706" rIns="91413" bIns="4570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第</a:t>
            </a:r>
            <a:r>
              <a:rPr kumimoji="0"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15</a:t>
            </a:r>
            <a:r>
              <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讲：</a:t>
            </a:r>
            <a:r>
              <a:rPr kumimoji="0"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PageRank</a:t>
            </a:r>
            <a:r>
              <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与</a:t>
            </a:r>
            <a:r>
              <a:rPr lang="zh-CN" altLang="en-US" sz="3200" b="1" noProof="0" dirty="0">
                <a:solidFill>
                  <a:prstClr val="white"/>
                </a:solidFill>
                <a:latin typeface="微软雅黑" panose="020B0503020204020204" pitchFamily="34" charset="-122"/>
                <a:ea typeface="微软雅黑" panose="020B0503020204020204" pitchFamily="34" charset="-122"/>
              </a:rPr>
              <a:t>影响力分析</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Rectangle 3">
            <a:extLst>
              <a:ext uri="{FF2B5EF4-FFF2-40B4-BE49-F238E27FC236}">
                <a16:creationId xmlns:a16="http://schemas.microsoft.com/office/drawing/2014/main" xmlns="" id="{B11913AF-7BDC-6A43-974D-C041DD8A3C13}"/>
              </a:ext>
            </a:extLst>
          </p:cNvPr>
          <p:cNvSpPr txBox="1">
            <a:spLocks noChangeArrowheads="1"/>
          </p:cNvSpPr>
          <p:nvPr/>
        </p:nvSpPr>
        <p:spPr bwMode="auto">
          <a:xfrm>
            <a:off x="1692275" y="3908859"/>
            <a:ext cx="5256213" cy="285750"/>
          </a:xfrm>
          <a:prstGeom prst="rect">
            <a:avLst/>
          </a:prstGeom>
          <a:noFill/>
          <a:ln w="9525">
            <a:noFill/>
            <a:miter lim="800000"/>
            <a:headEnd/>
            <a:tailEnd/>
          </a:ln>
        </p:spPr>
        <p:txBody>
          <a:bodyPr/>
          <a:lstStyle/>
          <a:p>
            <a:pPr marL="0" marR="0" lvl="0" indent="0" algn="ctr" defTabSz="914400" rtl="0" eaLnBrk="1" fontAlgn="auto" latinLnBrk="0" hangingPunct="1">
              <a:lnSpc>
                <a:spcPct val="80000"/>
              </a:lnSpc>
              <a:spcBef>
                <a:spcPct val="20000"/>
              </a:spcBef>
              <a:spcAft>
                <a:spcPts val="0"/>
              </a:spcAft>
              <a:buClrTx/>
              <a:buSzPct val="100000"/>
              <a:buFontTx/>
              <a:buNone/>
              <a:tabLst/>
              <a:defRPr/>
            </a:pPr>
            <a:r>
              <a:rPr kumimoji="1" lang="zh-CN" altLang="mr-IN" sz="1800" b="1" i="0" u="none" strike="noStrike" kern="0" cap="none" spc="0" normalizeH="0" baseline="0" noProof="0" dirty="0">
                <a:ln>
                  <a:noFill/>
                </a:ln>
                <a:solidFill>
                  <a:prstClr val="white"/>
                </a:solidFill>
                <a:effectLst/>
                <a:uLnTx/>
                <a:uFillTx/>
                <a:latin typeface="Times-Roman" charset="0"/>
                <a:ea typeface="隶书" pitchFamily="49" charset="-122"/>
                <a:cs typeface="Mangal" panose="02040503050203030202" pitchFamily="18" charset="0"/>
              </a:rPr>
              <a:t>范举</a:t>
            </a:r>
            <a:r>
              <a:rPr kumimoji="1" lang="zh-CN" altLang="en-US" sz="1800" b="1" i="0" u="none" strike="noStrike" kern="0" cap="none" spc="0" normalizeH="0" noProof="0" dirty="0">
                <a:ln>
                  <a:noFill/>
                </a:ln>
                <a:solidFill>
                  <a:prstClr val="white"/>
                </a:solidFill>
                <a:effectLst/>
                <a:uLnTx/>
                <a:uFillTx/>
                <a:latin typeface="Times-Roman" charset="0"/>
                <a:ea typeface="隶书" pitchFamily="49" charset="-122"/>
                <a:cs typeface="Mangal" panose="02040503050203030202" pitchFamily="18" charset="0"/>
              </a:rPr>
              <a:t> </a:t>
            </a:r>
            <a:r>
              <a:rPr kumimoji="1" lang="zh-CN" altLang="mr-IN" sz="1800" b="1" i="0" u="none" strike="noStrike" kern="0" cap="none" spc="0" normalizeH="0" baseline="0" noProof="0" dirty="0">
                <a:ln>
                  <a:noFill/>
                </a:ln>
                <a:solidFill>
                  <a:prstClr val="white"/>
                </a:solidFill>
                <a:effectLst/>
                <a:uLnTx/>
                <a:uFillTx/>
                <a:latin typeface="Times-Roman" charset="0"/>
                <a:ea typeface="隶书" pitchFamily="49" charset="-122"/>
                <a:cs typeface="Mangal" panose="02040503050203030202" pitchFamily="18" charset="0"/>
              </a:rPr>
              <a:t>教授         </a:t>
            </a:r>
            <a:r>
              <a:rPr kumimoji="1" lang="mr-IN" altLang="zh-CN" sz="1800" b="1" i="0" u="none" strike="noStrike" kern="0" cap="none" spc="0" normalizeH="0" baseline="0" noProof="0" dirty="0" err="1">
                <a:ln>
                  <a:noFill/>
                </a:ln>
                <a:solidFill>
                  <a:prstClr val="white"/>
                </a:solidFill>
                <a:effectLst/>
                <a:uLnTx/>
                <a:uFillTx/>
                <a:latin typeface="Times-Roman" charset="0"/>
                <a:ea typeface="隶书" pitchFamily="49" charset="-122"/>
                <a:cs typeface="Mangal" panose="02040503050203030202" pitchFamily="18" charset="0"/>
              </a:rPr>
              <a:t>fanj@ruc.edu.cn</a:t>
            </a:r>
            <a:endParaRPr kumimoji="1" lang="mr-IN" altLang="zh-CN" sz="1800" b="1" i="0" u="none" strike="noStrike" kern="0" cap="none" spc="0" normalizeH="0" baseline="0" noProof="0" dirty="0">
              <a:ln>
                <a:noFill/>
              </a:ln>
              <a:solidFill>
                <a:prstClr val="white"/>
              </a:solidFill>
              <a:effectLst/>
              <a:uLnTx/>
              <a:uFillTx/>
              <a:latin typeface="Times-Roman" charset="0"/>
              <a:ea typeface="隶书" pitchFamily="49" charset="-122"/>
              <a:cs typeface="Mangal" panose="02040503050203030202" pitchFamily="18" charset="0"/>
            </a:endParaRPr>
          </a:p>
        </p:txBody>
      </p:sp>
      <p:sp>
        <p:nvSpPr>
          <p:cNvPr id="18" name="Title 7">
            <a:extLst>
              <a:ext uri="{FF2B5EF4-FFF2-40B4-BE49-F238E27FC236}">
                <a16:creationId xmlns:a16="http://schemas.microsoft.com/office/drawing/2014/main" xmlns="" id="{9951EC0A-19E6-B749-9332-D3931CB533BE}"/>
              </a:ext>
            </a:extLst>
          </p:cNvPr>
          <p:cNvSpPr txBox="1">
            <a:spLocks/>
          </p:cNvSpPr>
          <p:nvPr/>
        </p:nvSpPr>
        <p:spPr>
          <a:xfrm>
            <a:off x="0" y="2996097"/>
            <a:ext cx="9144000" cy="4988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j-cs"/>
              </a:rPr>
              <a:t>“数据科学导论”专业核心课</a:t>
            </a:r>
            <a:endParaRPr kumimoji="0" 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j-cs"/>
            </a:endParaRPr>
          </a:p>
        </p:txBody>
      </p:sp>
      <p:sp>
        <p:nvSpPr>
          <p:cNvPr id="3" name="Rectangle 2">
            <a:extLst>
              <a:ext uri="{FF2B5EF4-FFF2-40B4-BE49-F238E27FC236}">
                <a16:creationId xmlns:a16="http://schemas.microsoft.com/office/drawing/2014/main" xmlns="" id="{468E8FB5-1DBC-D238-07B7-B00EE6010D1F}"/>
              </a:ext>
            </a:extLst>
          </p:cNvPr>
          <p:cNvSpPr/>
          <p:nvPr/>
        </p:nvSpPr>
        <p:spPr>
          <a:xfrm>
            <a:off x="131116" y="53164"/>
            <a:ext cx="4306772" cy="1515223"/>
          </a:xfrm>
          <a:prstGeom prst="rect">
            <a:avLst/>
          </a:prstGeom>
          <a:solidFill>
            <a:schemeClr val="bg1"/>
          </a:solidFill>
          <a:ln w="19050">
            <a:solidFill>
              <a:schemeClr val="tx1"/>
            </a:solidFill>
          </a:ln>
          <a:effectLst>
            <a:outerShdw blurRad="50800" dist="76200" dir="2700000" algn="tl" rotWithShape="0">
              <a:prstClr val="black">
                <a:alpha val="40000"/>
              </a:prstClr>
            </a:outerShdw>
          </a:effectLst>
        </p:spPr>
        <p:txBody>
          <a:bodyPr wrap="square">
            <a:spAutoFit/>
          </a:bodyPr>
          <a:lstStyle/>
          <a:p>
            <a:pPr algn="ctr">
              <a:lnSpc>
                <a:spcPct val="150000"/>
              </a:lnSpc>
              <a:defRPr/>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本周五（</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26</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日）有</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复习讲解</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a:lnSpc>
                <a:spcPct val="150000"/>
              </a:lnSpc>
              <a:buFont typeface="Arial" charset="0"/>
              <a:buChar char="•"/>
              <a:defRPr/>
            </a:pP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18:00-20:30</a:t>
            </a:r>
          </a:p>
          <a:p>
            <a:pPr marL="342900" indent="-342900">
              <a:lnSpc>
                <a:spcPct val="150000"/>
              </a:lnSpc>
              <a:buFont typeface="Arial" charset="0"/>
              <a:buChar char="•"/>
              <a:defRP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理工配楼二层机房</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811783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1200329"/>
          </a:xfrm>
          <a:prstGeom prst="rect">
            <a:avLst/>
          </a:prstGeom>
          <a:noFill/>
        </p:spPr>
        <p:txBody>
          <a:bodyPr wrap="square" rtlCol="0">
            <a:spAutoFit/>
          </a:bodyPr>
          <a:lstStyle/>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1.</a:t>
            </a:r>
            <a:r>
              <a:rPr lang="zh-CN" altLang="en-US" b="1" dirty="0">
                <a:solidFill>
                  <a:srgbClr val="C0000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PageRank</a:t>
            </a:r>
            <a:r>
              <a:rPr lang="zh-CN" altLang="en-US" b="1" dirty="0">
                <a:solidFill>
                  <a:srgbClr val="C00000"/>
                </a:solidFill>
                <a:latin typeface="微软雅黑" panose="020B0503020204020204" pitchFamily="34" charset="-122"/>
                <a:ea typeface="微软雅黑" panose="020B0503020204020204" pitchFamily="34" charset="-122"/>
              </a:rPr>
              <a:t>算法</a:t>
            </a:r>
            <a:endParaRPr lang="en-US" altLang="zh-CN" b="1" dirty="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 影响力分析算法</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29772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度量有向图节点的重要性</a:t>
            </a:r>
            <a:endParaRPr lang="en-US" dirty="0"/>
          </a:p>
        </p:txBody>
      </p:sp>
      <p:sp>
        <p:nvSpPr>
          <p:cNvPr id="3" name="Content Placeholder 2"/>
          <p:cNvSpPr>
            <a:spLocks noGrp="1"/>
          </p:cNvSpPr>
          <p:nvPr>
            <p:ph idx="1"/>
          </p:nvPr>
        </p:nvSpPr>
        <p:spPr>
          <a:xfrm>
            <a:off x="457200" y="819150"/>
            <a:ext cx="8229600" cy="740672"/>
          </a:xfrm>
        </p:spPr>
        <p:txBody>
          <a:bodyPr/>
          <a:lstStyle/>
          <a:p>
            <a:r>
              <a:rPr lang="zh-CN" altLang="en-US" dirty="0"/>
              <a:t>示例：简易版恋爱关系有向图</a:t>
            </a:r>
            <a:endParaRPr lang="en-US" altLang="zh-CN" dirty="0"/>
          </a:p>
          <a:p>
            <a:pPr lvl="1"/>
            <a:r>
              <a:rPr lang="zh-CN" altLang="en-US" dirty="0"/>
              <a:t>定义有向边：“追求”关系</a:t>
            </a:r>
            <a:endParaRPr lang="en-US" altLang="zh-CN" dirty="0"/>
          </a:p>
          <a:p>
            <a:pPr lvl="1"/>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698" y="1641972"/>
            <a:ext cx="1108378" cy="110837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1533" y="1614977"/>
            <a:ext cx="1168752" cy="1168752"/>
          </a:xfrm>
          <a:prstGeom prst="rect">
            <a:avLst/>
          </a:prstGeom>
        </p:spPr>
      </p:pic>
      <p:cxnSp>
        <p:nvCxnSpPr>
          <p:cNvPr id="11" name="Straight Connector 10"/>
          <p:cNvCxnSpPr>
            <a:stCxn id="8" idx="3"/>
            <a:endCxn id="9" idx="1"/>
          </p:cNvCxnSpPr>
          <p:nvPr/>
        </p:nvCxnSpPr>
        <p:spPr>
          <a:xfrm>
            <a:off x="1855076" y="2196161"/>
            <a:ext cx="1616457" cy="3192"/>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14" name="文本框 10"/>
          <p:cNvSpPr txBox="1"/>
          <p:nvPr/>
        </p:nvSpPr>
        <p:spPr>
          <a:xfrm>
            <a:off x="2176599" y="2380427"/>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algn="l">
              <a:spcBef>
                <a:spcPct val="20000"/>
              </a:spcBef>
            </a:pPr>
            <a:r>
              <a:rPr lang="zh-CN" altLang="en-US" sz="2000" dirty="0">
                <a:latin typeface="微软雅黑" panose="020B0503020204020204" pitchFamily="34" charset="-122"/>
                <a:ea typeface="微软雅黑" panose="020B0503020204020204" pitchFamily="34" charset="-122"/>
                <a:cs typeface="+mn-cs"/>
              </a:rPr>
              <a:t>有向图</a:t>
            </a:r>
            <a:endParaRPr lang="en-US" altLang="zh-CN" dirty="0">
              <a:latin typeface="微软雅黑" panose="020B0503020204020204" pitchFamily="34" charset="-122"/>
              <a:ea typeface="微软雅黑" panose="020B0503020204020204" pitchFamily="34" charset="-122"/>
            </a:endParaRPr>
          </a:p>
        </p:txBody>
      </p:sp>
      <p:pic>
        <p:nvPicPr>
          <p:cNvPr id="4" name="Picture 3"/>
          <p:cNvPicPr>
            <a:picLocks noChangeAspect="1"/>
          </p:cNvPicPr>
          <p:nvPr/>
        </p:nvPicPr>
        <p:blipFill rotWithShape="1">
          <a:blip r:embed="rId5">
            <a:extLst>
              <a:ext uri="{28A0092B-C50C-407E-A947-70E740481C1C}">
                <a14:useLocalDpi xmlns:a14="http://schemas.microsoft.com/office/drawing/2010/main" val="0"/>
              </a:ext>
            </a:extLst>
          </a:blip>
          <a:srcRect l="14407" t="14307" r="12323" b="11688"/>
          <a:stretch/>
        </p:blipFill>
        <p:spPr>
          <a:xfrm>
            <a:off x="4889162" y="1189486"/>
            <a:ext cx="4107731" cy="3111691"/>
          </a:xfrm>
          <a:prstGeom prst="rect">
            <a:avLst/>
          </a:prstGeom>
        </p:spPr>
      </p:pic>
      <p:sp>
        <p:nvSpPr>
          <p:cNvPr id="12" name="Content Placeholder 2"/>
          <p:cNvSpPr txBox="1">
            <a:spLocks/>
          </p:cNvSpPr>
          <p:nvPr/>
        </p:nvSpPr>
        <p:spPr>
          <a:xfrm>
            <a:off x="457200" y="2894836"/>
            <a:ext cx="4309110" cy="17571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基于投票的思路</a:t>
            </a:r>
            <a:endParaRPr lang="en-US" altLang="zh-CN" dirty="0"/>
          </a:p>
          <a:p>
            <a:pPr lvl="1"/>
            <a:r>
              <a:rPr lang="zh-CN" altLang="en-US" dirty="0"/>
              <a:t>将每个入边看作一次投票</a:t>
            </a:r>
            <a:endParaRPr lang="en-US" altLang="zh-CN" dirty="0"/>
          </a:p>
          <a:p>
            <a:pPr lvl="1"/>
            <a:r>
              <a:rPr lang="zh-CN" altLang="en-US" dirty="0"/>
              <a:t>得到的票数越多，越重要</a:t>
            </a:r>
            <a:endParaRPr lang="en-US" altLang="zh-CN" dirty="0"/>
          </a:p>
          <a:p>
            <a:pPr lvl="1"/>
            <a:endParaRPr lang="en-US" dirty="0"/>
          </a:p>
        </p:txBody>
      </p:sp>
      <p:sp>
        <p:nvSpPr>
          <p:cNvPr id="13" name="Rectangle 12"/>
          <p:cNvSpPr/>
          <p:nvPr/>
        </p:nvSpPr>
        <p:spPr>
          <a:xfrm>
            <a:off x="457200" y="4039567"/>
            <a:ext cx="3974534" cy="523220"/>
          </a:xfrm>
          <a:prstGeom prst="rect">
            <a:avLst/>
          </a:prstGeom>
        </p:spPr>
        <p:txBody>
          <a:bodyPr wrap="square">
            <a:spAutoFit/>
          </a:bodyPr>
          <a:lstStyle/>
          <a:p>
            <a:pPr algn="ctr">
              <a:spcBef>
                <a:spcPct val="20000"/>
              </a:spcBef>
            </a:pPr>
            <a:r>
              <a:rPr lang="en-US" altLang="zh-CN" sz="2800" dirty="0">
                <a:solidFill>
                  <a:srgbClr val="AE0627"/>
                </a:solidFill>
                <a:latin typeface="Microsoft YaHei" charset="-122"/>
                <a:ea typeface="Microsoft YaHei" charset="-122"/>
                <a:cs typeface="Microsoft YaHei" charset="-122"/>
              </a:rPr>
              <a:t>In-Degree</a:t>
            </a:r>
            <a:r>
              <a:rPr lang="zh-CN" altLang="en-US" sz="2800" dirty="0">
                <a:solidFill>
                  <a:srgbClr val="AE0627"/>
                </a:solidFill>
                <a:latin typeface="Microsoft YaHei" charset="-122"/>
                <a:ea typeface="Microsoft YaHei" charset="-122"/>
                <a:cs typeface="Microsoft YaHei" charset="-122"/>
              </a:rPr>
              <a:t> </a:t>
            </a:r>
            <a:r>
              <a:rPr lang="en-US" altLang="zh-CN" sz="2800" dirty="0">
                <a:solidFill>
                  <a:srgbClr val="AE0627"/>
                </a:solidFill>
                <a:latin typeface="Microsoft YaHei" charset="-122"/>
                <a:ea typeface="Microsoft YaHei" charset="-122"/>
                <a:cs typeface="Microsoft YaHei" charset="-122"/>
              </a:rPr>
              <a:t>Centrality!</a:t>
            </a:r>
            <a:endParaRPr lang="en-US" altLang="zh-CN" sz="2800" dirty="0">
              <a:solidFill>
                <a:srgbClr val="AE0627"/>
              </a:solidFill>
              <a:latin typeface="微软雅黑" panose="020B0503020204020204" pitchFamily="34" charset="-122"/>
              <a:ea typeface="微软雅黑" panose="020B0503020204020204" pitchFamily="34" charset="-122"/>
            </a:endParaRPr>
          </a:p>
        </p:txBody>
      </p:sp>
      <p:sp>
        <p:nvSpPr>
          <p:cNvPr id="15" name="Rectangle 14"/>
          <p:cNvSpPr/>
          <p:nvPr/>
        </p:nvSpPr>
        <p:spPr>
          <a:xfrm>
            <a:off x="6954457" y="3817620"/>
            <a:ext cx="630621" cy="36777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208420" y="3709121"/>
            <a:ext cx="1426780" cy="584775"/>
          </a:xfrm>
          <a:prstGeom prst="rect">
            <a:avLst/>
          </a:prstGeom>
        </p:spPr>
        <p:txBody>
          <a:bodyPr wrap="square">
            <a:spAutoFit/>
          </a:bodyPr>
          <a:lstStyle/>
          <a:p>
            <a:r>
              <a:rPr lang="zh-CN" altLang="en-US" sz="1600" dirty="0">
                <a:solidFill>
                  <a:srgbClr val="FF0000"/>
                </a:solidFill>
                <a:latin typeface="Microsoft YaHei" charset="-122"/>
                <a:ea typeface="Microsoft YaHei" charset="-122"/>
                <a:cs typeface="Microsoft YaHei" charset="-122"/>
              </a:rPr>
              <a:t>你觉得</a:t>
            </a:r>
            <a:r>
              <a:rPr lang="en-US" altLang="zh-CN" sz="1600" dirty="0">
                <a:solidFill>
                  <a:srgbClr val="FF0000"/>
                </a:solidFill>
                <a:latin typeface="Microsoft YaHei" charset="-122"/>
                <a:ea typeface="Microsoft YaHei" charset="-122"/>
                <a:cs typeface="Microsoft YaHei" charset="-122"/>
              </a:rPr>
              <a:t>10</a:t>
            </a:r>
            <a:r>
              <a:rPr lang="zh-CN" altLang="en-US" sz="1600" dirty="0">
                <a:solidFill>
                  <a:srgbClr val="FF0000"/>
                </a:solidFill>
                <a:latin typeface="Microsoft YaHei" charset="-122"/>
                <a:ea typeface="Microsoft YaHei" charset="-122"/>
                <a:cs typeface="Microsoft YaHei" charset="-122"/>
              </a:rPr>
              <a:t>和</a:t>
            </a:r>
            <a:r>
              <a:rPr lang="en-US" altLang="zh-CN" sz="1600" dirty="0">
                <a:solidFill>
                  <a:srgbClr val="FF0000"/>
                </a:solidFill>
                <a:latin typeface="Microsoft YaHei" charset="-122"/>
                <a:ea typeface="Microsoft YaHei" charset="-122"/>
                <a:cs typeface="Microsoft YaHei" charset="-122"/>
              </a:rPr>
              <a:t>6</a:t>
            </a:r>
            <a:r>
              <a:rPr lang="zh-CN" altLang="en-US" sz="1600" dirty="0">
                <a:solidFill>
                  <a:srgbClr val="FF0000"/>
                </a:solidFill>
                <a:latin typeface="Microsoft YaHei" charset="-122"/>
                <a:ea typeface="Microsoft YaHei" charset="-122"/>
                <a:cs typeface="Microsoft YaHei" charset="-122"/>
              </a:rPr>
              <a:t>谁更重要？</a:t>
            </a:r>
            <a:endParaRPr lang="en-US" sz="1600" dirty="0">
              <a:solidFill>
                <a:srgbClr val="FF0000"/>
              </a:solidFill>
            </a:endParaRPr>
          </a:p>
        </p:txBody>
      </p:sp>
      <p:sp>
        <p:nvSpPr>
          <p:cNvPr id="5" name="Slide Number Placeholder 4">
            <a:extLst>
              <a:ext uri="{FF2B5EF4-FFF2-40B4-BE49-F238E27FC236}">
                <a16:creationId xmlns:a16="http://schemas.microsoft.com/office/drawing/2014/main" xmlns="" id="{FFC4A2D4-A341-3648-B211-6C383C1606E2}"/>
              </a:ext>
            </a:extLst>
          </p:cNvPr>
          <p:cNvSpPr>
            <a:spLocks noGrp="1"/>
          </p:cNvSpPr>
          <p:nvPr>
            <p:ph type="sldNum" sz="quarter" idx="12"/>
          </p:nvPr>
        </p:nvSpPr>
        <p:spPr/>
        <p:txBody>
          <a:bodyPr/>
          <a:lstStyle/>
          <a:p>
            <a:fld id="{E1BEBC7A-FD02-486B-81B5-A845787C689C}" type="slidenum">
              <a:rPr lang="zh-CN" altLang="en-US" smtClean="0"/>
              <a:t>3</a:t>
            </a:fld>
            <a:endParaRPr lang="zh-CN" altLang="en-US"/>
          </a:p>
        </p:txBody>
      </p:sp>
    </p:spTree>
    <p:extLst>
      <p:ext uri="{BB962C8B-B14F-4D97-AF65-F5344CB8AC3E}">
        <p14:creationId xmlns:p14="http://schemas.microsoft.com/office/powerpoint/2010/main" val="367942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4407" t="14307" r="12323" b="11688"/>
          <a:stretch/>
        </p:blipFill>
        <p:spPr>
          <a:xfrm>
            <a:off x="4889162" y="1189486"/>
            <a:ext cx="4107731" cy="3111691"/>
          </a:xfrm>
          <a:prstGeom prst="rect">
            <a:avLst/>
          </a:prstGeom>
        </p:spPr>
      </p:pic>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343400" cy="3902975"/>
              </a:xfrm>
            </p:spPr>
            <p:txBody>
              <a:bodyPr>
                <a:normAutofit/>
              </a:bodyPr>
              <a:lstStyle/>
              <a:p>
                <a:r>
                  <a:rPr lang="en-US" altLang="zh-CN" dirty="0"/>
                  <a:t>In-Degree</a:t>
                </a:r>
                <a:r>
                  <a:rPr lang="zh-CN" altLang="en-US" dirty="0"/>
                  <a:t> </a:t>
                </a:r>
                <a:r>
                  <a:rPr lang="en-US" altLang="zh-CN" dirty="0"/>
                  <a:t>Centrality</a:t>
                </a:r>
                <a:r>
                  <a:rPr lang="zh-CN" altLang="en-US" dirty="0"/>
                  <a:t>的局限性</a:t>
                </a:r>
                <a:endParaRPr lang="en-US" altLang="zh-CN" dirty="0"/>
              </a:p>
              <a:p>
                <a:pPr lvl="1"/>
                <a:r>
                  <a:rPr lang="zh-CN" altLang="en-US" dirty="0"/>
                  <a:t>每个入边的权重相同！</a:t>
                </a:r>
                <a:endParaRPr lang="en-US" altLang="zh-CN" dirty="0"/>
              </a:p>
              <a:p>
                <a:endParaRPr lang="en-US" altLang="zh-CN" dirty="0"/>
              </a:p>
              <a:p>
                <a:r>
                  <a:rPr lang="en-US" altLang="zh-CN" dirty="0"/>
                  <a:t>PageRank</a:t>
                </a:r>
                <a:r>
                  <a:rPr lang="zh-CN" altLang="en-US" dirty="0"/>
                  <a:t>的基本思想：给不同的入边赋上不同的权重</a:t>
                </a:r>
                <a:endParaRPr lang="en-US" altLang="zh-CN" dirty="0"/>
              </a:p>
              <a:p>
                <a:pPr lvl="1"/>
                <a:r>
                  <a:rPr lang="zh-CN" altLang="en-US" dirty="0"/>
                  <a:t>考虑某个节点</a:t>
                </a:r>
                <a14:m>
                  <m:oMath xmlns:m="http://schemas.openxmlformats.org/officeDocument/2006/math">
                    <m:r>
                      <a:rPr lang="en-US" altLang="zh-CN" i="1" dirty="0" smtClean="0">
                        <a:latin typeface="Cambria Math" charset="0"/>
                      </a:rPr>
                      <m:t>𝑣</m:t>
                    </m:r>
                  </m:oMath>
                </a14:m>
                <a:endParaRPr lang="en-US" altLang="zh-CN" dirty="0"/>
              </a:p>
              <a:p>
                <a:pPr lvl="1">
                  <a:lnSpc>
                    <a:spcPct val="150000"/>
                  </a:lnSpc>
                </a:pPr>
                <a:r>
                  <a:rPr lang="zh-CN" altLang="en-US" dirty="0"/>
                  <a:t>指向</a:t>
                </a:r>
                <a14:m>
                  <m:oMath xmlns:m="http://schemas.openxmlformats.org/officeDocument/2006/math">
                    <m:r>
                      <a:rPr lang="en-US" altLang="zh-CN" i="1" dirty="0">
                        <a:latin typeface="Cambria Math" charset="0"/>
                      </a:rPr>
                      <m:t>𝑣</m:t>
                    </m:r>
                  </m:oMath>
                </a14:m>
                <a:r>
                  <a:rPr lang="zh-CN" altLang="en-US" dirty="0"/>
                  <a:t>的节点的</a:t>
                </a:r>
                <a:r>
                  <a:rPr lang="en-US" altLang="zh-CN" dirty="0"/>
                  <a:t>PageRank</a:t>
                </a:r>
                <a:r>
                  <a:rPr lang="zh-CN" altLang="en-US" dirty="0"/>
                  <a:t>值越高，相应入边的权重越高</a:t>
                </a:r>
                <a:endParaRPr lang="en-US" altLang="zh-CN" dirty="0"/>
              </a:p>
              <a:p>
                <a:pPr lvl="1">
                  <a:lnSpc>
                    <a:spcPct val="150000"/>
                  </a:lnSpc>
                </a:pPr>
                <a:r>
                  <a:rPr lang="zh-CN" altLang="en-US" dirty="0"/>
                  <a:t>指向</a:t>
                </a:r>
                <a14:m>
                  <m:oMath xmlns:m="http://schemas.openxmlformats.org/officeDocument/2006/math">
                    <m:r>
                      <a:rPr lang="en-US" altLang="zh-CN" i="1" dirty="0">
                        <a:latin typeface="Cambria Math" charset="0"/>
                      </a:rPr>
                      <m:t>𝑣</m:t>
                    </m:r>
                  </m:oMath>
                </a14:m>
                <a:r>
                  <a:rPr lang="zh-CN" altLang="en-US" dirty="0"/>
                  <a:t>的节点指向其它节点的数目越多，对</a:t>
                </a:r>
                <a14:m>
                  <m:oMath xmlns:m="http://schemas.openxmlformats.org/officeDocument/2006/math">
                    <m:r>
                      <a:rPr lang="en-US" altLang="zh-CN" i="1" dirty="0" smtClean="0">
                        <a:latin typeface="Cambria Math" charset="0"/>
                      </a:rPr>
                      <m:t>𝑣</m:t>
                    </m:r>
                  </m:oMath>
                </a14:m>
                <a:r>
                  <a:rPr lang="zh-CN" altLang="en-US" dirty="0"/>
                  <a:t>相应入边的权重越低</a:t>
                </a:r>
                <a:endParaRPr lang="en-US" altLang="zh-CN" dirty="0"/>
              </a:p>
              <a:p>
                <a:pPr lvl="1"/>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343400" cy="3902975"/>
              </a:xfrm>
              <a:blipFill rotWithShape="0">
                <a:blip r:embed="rId4"/>
                <a:stretch>
                  <a:fillRect l="-1262" t="-780" r="-6171"/>
                </a:stretch>
              </a:blipFill>
            </p:spPr>
            <p:txBody>
              <a:bodyPr/>
              <a:lstStyle/>
              <a:p>
                <a:r>
                  <a:rPr lang="en-US">
                    <a:noFill/>
                  </a:rPr>
                  <a:t> </a:t>
                </a:r>
              </a:p>
            </p:txBody>
          </p:sp>
        </mc:Fallback>
      </mc:AlternateContent>
      <p:sp>
        <p:nvSpPr>
          <p:cNvPr id="15" name="Rectangle 14"/>
          <p:cNvSpPr/>
          <p:nvPr/>
        </p:nvSpPr>
        <p:spPr>
          <a:xfrm>
            <a:off x="6954457" y="3817620"/>
            <a:ext cx="630621" cy="36777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208420" y="3709121"/>
            <a:ext cx="1426780" cy="584775"/>
          </a:xfrm>
          <a:prstGeom prst="rect">
            <a:avLst/>
          </a:prstGeom>
        </p:spPr>
        <p:txBody>
          <a:bodyPr wrap="square">
            <a:spAutoFit/>
          </a:bodyPr>
          <a:lstStyle/>
          <a:p>
            <a:r>
              <a:rPr lang="zh-CN" altLang="en-US" sz="1600" dirty="0">
                <a:solidFill>
                  <a:srgbClr val="FF0000"/>
                </a:solidFill>
                <a:latin typeface="Microsoft YaHei" charset="-122"/>
                <a:ea typeface="Microsoft YaHei" charset="-122"/>
                <a:cs typeface="Microsoft YaHei" charset="-122"/>
              </a:rPr>
              <a:t>你觉得</a:t>
            </a:r>
            <a:r>
              <a:rPr lang="en-US" altLang="zh-CN" sz="1600" dirty="0">
                <a:solidFill>
                  <a:srgbClr val="FF0000"/>
                </a:solidFill>
                <a:latin typeface="Microsoft YaHei" charset="-122"/>
                <a:ea typeface="Microsoft YaHei" charset="-122"/>
                <a:cs typeface="Microsoft YaHei" charset="-122"/>
              </a:rPr>
              <a:t>10</a:t>
            </a:r>
            <a:r>
              <a:rPr lang="zh-CN" altLang="en-US" sz="1600" dirty="0">
                <a:solidFill>
                  <a:srgbClr val="FF0000"/>
                </a:solidFill>
                <a:latin typeface="Microsoft YaHei" charset="-122"/>
                <a:ea typeface="Microsoft YaHei" charset="-122"/>
                <a:cs typeface="Microsoft YaHei" charset="-122"/>
              </a:rPr>
              <a:t>和</a:t>
            </a:r>
            <a:r>
              <a:rPr lang="en-US" altLang="zh-CN" sz="1600" dirty="0">
                <a:solidFill>
                  <a:srgbClr val="FF0000"/>
                </a:solidFill>
                <a:latin typeface="Microsoft YaHei" charset="-122"/>
                <a:ea typeface="Microsoft YaHei" charset="-122"/>
                <a:cs typeface="Microsoft YaHei" charset="-122"/>
              </a:rPr>
              <a:t>6</a:t>
            </a:r>
            <a:r>
              <a:rPr lang="zh-CN" altLang="en-US" sz="1600" dirty="0">
                <a:solidFill>
                  <a:srgbClr val="FF0000"/>
                </a:solidFill>
                <a:latin typeface="Microsoft YaHei" charset="-122"/>
                <a:ea typeface="Microsoft YaHei" charset="-122"/>
                <a:cs typeface="Microsoft YaHei" charset="-122"/>
              </a:rPr>
              <a:t>谁更重要？</a:t>
            </a:r>
            <a:endParaRPr lang="en-US" sz="1600" dirty="0">
              <a:solidFill>
                <a:srgbClr val="FF0000"/>
              </a:solidFill>
            </a:endParaRPr>
          </a:p>
        </p:txBody>
      </p:sp>
      <p:sp>
        <p:nvSpPr>
          <p:cNvPr id="5" name="Rectangle 4"/>
          <p:cNvSpPr/>
          <p:nvPr/>
        </p:nvSpPr>
        <p:spPr>
          <a:xfrm>
            <a:off x="900752" y="2906973"/>
            <a:ext cx="3988410" cy="9106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xmlns="" id="{6F987757-84CB-454C-BE90-B73E0E54B6A9}"/>
              </a:ext>
            </a:extLst>
          </p:cNvPr>
          <p:cNvSpPr>
            <a:spLocks noGrp="1"/>
          </p:cNvSpPr>
          <p:nvPr>
            <p:ph type="sldNum" sz="quarter" idx="12"/>
          </p:nvPr>
        </p:nvSpPr>
        <p:spPr/>
        <p:txBody>
          <a:bodyPr/>
          <a:lstStyle/>
          <a:p>
            <a:fld id="{E1BEBC7A-FD02-486B-81B5-A845787C689C}" type="slidenum">
              <a:rPr lang="zh-CN" altLang="en-US" smtClean="0"/>
              <a:t>4</a:t>
            </a:fld>
            <a:endParaRPr lang="zh-CN" altLang="en-US"/>
          </a:p>
        </p:txBody>
      </p:sp>
    </p:spTree>
    <p:extLst>
      <p:ext uri="{BB962C8B-B14F-4D97-AF65-F5344CB8AC3E}">
        <p14:creationId xmlns:p14="http://schemas.microsoft.com/office/powerpoint/2010/main" val="1918597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linds(horizontal)">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5179326" cy="3902975"/>
              </a:xfrm>
            </p:spPr>
            <p:txBody>
              <a:bodyPr>
                <a:normAutofit/>
              </a:bodyPr>
              <a:lstStyle/>
              <a:p>
                <a:r>
                  <a:rPr lang="zh-CN" altLang="en-US" dirty="0"/>
                  <a:t>指向𝑣的节点的</a:t>
                </a:r>
                <a:r>
                  <a:rPr lang="en-US" altLang="zh-CN" dirty="0"/>
                  <a:t>PageRank</a:t>
                </a:r>
                <a:r>
                  <a:rPr lang="zh-CN" altLang="en-US" dirty="0"/>
                  <a:t>值越高，相应入边的权重越高</a:t>
                </a:r>
                <a:endParaRPr lang="en-US" altLang="zh-CN" dirty="0"/>
              </a:p>
              <a:p>
                <a:endParaRPr lang="en-US" altLang="zh-CN" dirty="0"/>
              </a:p>
              <a:p>
                <a:r>
                  <a:rPr lang="zh-CN" altLang="en-US" dirty="0"/>
                  <a:t>如何用数学表达上述想法</a:t>
                </a:r>
                <a:endParaRPr lang="en-US" altLang="zh-CN" dirty="0"/>
              </a:p>
              <a:p>
                <a:pPr lvl="1"/>
                <a:r>
                  <a:rPr lang="zh-CN" altLang="en-US" dirty="0"/>
                  <a:t>定义有向图的邻接矩阵</a:t>
                </a:r>
                <a14:m>
                  <m:oMath xmlns:m="http://schemas.openxmlformats.org/officeDocument/2006/math">
                    <m:r>
                      <a:rPr lang="en-US" altLang="zh-CN" b="0" i="1" dirty="0" smtClean="0">
                        <a:latin typeface="Cambria Math" charset="0"/>
                      </a:rPr>
                      <m:t>𝐴</m:t>
                    </m:r>
                    <m:r>
                      <a:rPr lang="en-US" altLang="zh-CN" b="0" i="1" dirty="0" smtClean="0">
                        <a:latin typeface="Cambria Math" charset="0"/>
                      </a:rPr>
                      <m:t>={</m:t>
                    </m:r>
                    <m:sSub>
                      <m:sSubPr>
                        <m:ctrlPr>
                          <a:rPr lang="en-US" altLang="zh-CN" b="0" i="1" dirty="0" smtClean="0">
                            <a:latin typeface="Cambria Math" charset="0"/>
                          </a:rPr>
                        </m:ctrlPr>
                      </m:sSubPr>
                      <m:e>
                        <m:r>
                          <a:rPr lang="en-US" altLang="zh-CN" b="0" i="1" dirty="0" smtClean="0">
                            <a:latin typeface="Cambria Math" charset="0"/>
                          </a:rPr>
                          <m:t>𝐿</m:t>
                        </m:r>
                      </m:e>
                      <m:sub>
                        <m:r>
                          <a:rPr lang="en-US" altLang="zh-CN" b="0" i="1" dirty="0" smtClean="0">
                            <a:latin typeface="Cambria Math" charset="0"/>
                          </a:rPr>
                          <m:t>𝑖𝑗</m:t>
                        </m:r>
                      </m:sub>
                    </m:sSub>
                    <m:r>
                      <a:rPr lang="en-US" altLang="zh-CN" b="0" i="1" dirty="0" smtClean="0">
                        <a:latin typeface="Cambria Math" charset="0"/>
                      </a:rPr>
                      <m:t>}</m:t>
                    </m:r>
                  </m:oMath>
                </a14:m>
                <a:r>
                  <a:rPr lang="zh-CN" altLang="en-US" dirty="0"/>
                  <a:t>，其中</a:t>
                </a:r>
                <a14:m>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𝑖𝑗</m:t>
                        </m:r>
                      </m:sub>
                    </m:sSub>
                    <m:r>
                      <a:rPr lang="en-US" altLang="zh-CN" b="0" i="1" smtClean="0">
                        <a:latin typeface="Cambria Math" charset="0"/>
                      </a:rPr>
                      <m:t>=1</m:t>
                    </m:r>
                  </m:oMath>
                </a14:m>
                <a:r>
                  <a:rPr lang="zh-CN" altLang="en-US" dirty="0"/>
                  <a:t>表示</a:t>
                </a:r>
                <a14:m>
                  <m:oMath xmlns:m="http://schemas.openxmlformats.org/officeDocument/2006/math">
                    <m:r>
                      <a:rPr lang="en-US" altLang="zh-CN" i="1" dirty="0" smtClean="0">
                        <a:latin typeface="Cambria Math" charset="0"/>
                      </a:rPr>
                      <m:t>𝑖</m:t>
                    </m:r>
                  </m:oMath>
                </a14:m>
                <a:r>
                  <a:rPr lang="zh-CN" altLang="en-US" dirty="0"/>
                  <a:t>到</a:t>
                </a:r>
                <a14:m>
                  <m:oMath xmlns:m="http://schemas.openxmlformats.org/officeDocument/2006/math">
                    <m:r>
                      <a:rPr lang="en-US" altLang="zh-CN" i="1" dirty="0" smtClean="0">
                        <a:latin typeface="Cambria Math" charset="0"/>
                      </a:rPr>
                      <m:t>𝑗</m:t>
                    </m:r>
                  </m:oMath>
                </a14:m>
                <a:r>
                  <a:rPr lang="zh-CN" altLang="en-US" dirty="0"/>
                  <a:t>有边，</a:t>
                </a:r>
                <a:r>
                  <a:rPr lang="en-US" altLang="zh-CN" dirty="0"/>
                  <a:t> </a:t>
                </a:r>
                <a14:m>
                  <m:oMath xmlns:m="http://schemas.openxmlformats.org/officeDocument/2006/math">
                    <m:sSub>
                      <m:sSubPr>
                        <m:ctrlPr>
                          <a:rPr lang="en-US" altLang="zh-CN" i="1">
                            <a:latin typeface="Cambria Math" charset="0"/>
                          </a:rPr>
                        </m:ctrlPr>
                      </m:sSubPr>
                      <m:e>
                        <m:r>
                          <a:rPr lang="en-US" altLang="zh-CN" i="1">
                            <a:latin typeface="Cambria Math" charset="0"/>
                          </a:rPr>
                          <m:t>𝐿</m:t>
                        </m:r>
                      </m:e>
                      <m:sub>
                        <m:r>
                          <a:rPr lang="en-US" altLang="zh-CN" i="1">
                            <a:latin typeface="Cambria Math" charset="0"/>
                          </a:rPr>
                          <m:t>𝑖𝑗</m:t>
                        </m:r>
                      </m:sub>
                    </m:sSub>
                    <m:r>
                      <a:rPr lang="en-US" altLang="zh-CN" i="1">
                        <a:latin typeface="Cambria Math" charset="0"/>
                      </a:rPr>
                      <m:t>=</m:t>
                    </m:r>
                    <m:r>
                      <a:rPr lang="en-US" altLang="zh-CN" b="0" i="1" smtClean="0">
                        <a:latin typeface="Cambria Math" charset="0"/>
                      </a:rPr>
                      <m:t>0</m:t>
                    </m:r>
                  </m:oMath>
                </a14:m>
                <a:r>
                  <a:rPr lang="zh-CN" altLang="en-US" dirty="0"/>
                  <a:t>表示无边</a:t>
                </a:r>
                <a:endParaRPr lang="en-US" altLang="zh-CN" dirty="0"/>
              </a:p>
              <a:p>
                <a:pPr lvl="1"/>
                <a:r>
                  <a:rPr lang="zh-CN" altLang="en-US" dirty="0"/>
                  <a:t>以右图三个节点</a:t>
                </a:r>
                <a14:m>
                  <m:oMath xmlns:m="http://schemas.openxmlformats.org/officeDocument/2006/math">
                    <m:r>
                      <a:rPr lang="en-US" altLang="zh-CN" i="1" dirty="0" smtClean="0">
                        <a:latin typeface="Cambria Math" charset="0"/>
                      </a:rPr>
                      <m:t>𝑖</m:t>
                    </m:r>
                    <m:r>
                      <a:rPr lang="en-US" altLang="zh-CN" i="1" dirty="0" smtClean="0">
                        <a:latin typeface="Cambria Math" charset="0"/>
                      </a:rPr>
                      <m:t>, </m:t>
                    </m:r>
                    <m:r>
                      <a:rPr lang="en-US" altLang="zh-CN" i="1" dirty="0" smtClean="0">
                        <a:latin typeface="Cambria Math" charset="0"/>
                      </a:rPr>
                      <m:t>𝑗</m:t>
                    </m:r>
                    <m:r>
                      <a:rPr lang="en-US" altLang="zh-CN" i="1" dirty="0" smtClean="0">
                        <a:latin typeface="Cambria Math" charset="0"/>
                      </a:rPr>
                      <m:t>, </m:t>
                    </m:r>
                    <m:r>
                      <a:rPr lang="en-US" altLang="zh-CN" i="1" dirty="0" smtClean="0">
                        <a:latin typeface="Cambria Math" charset="0"/>
                      </a:rPr>
                      <m:t>𝑘</m:t>
                    </m:r>
                  </m:oMath>
                </a14:m>
                <a:r>
                  <a:rPr lang="zh-CN" altLang="en-US" dirty="0"/>
                  <a:t>为例</a:t>
                </a:r>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5179326" cy="3902975"/>
              </a:xfrm>
              <a:blipFill rotWithShape="0">
                <a:blip r:embed="rId3"/>
                <a:stretch>
                  <a:fillRect l="-1059" t="-936" r="-1059"/>
                </a:stretch>
              </a:blipFill>
            </p:spPr>
            <p:txBody>
              <a:bodyPr/>
              <a:lstStyle/>
              <a:p>
                <a:r>
                  <a:rPr lang="en-US">
                    <a:noFill/>
                  </a:rPr>
                  <a:t> </a:t>
                </a:r>
              </a:p>
            </p:txBody>
          </p:sp>
        </mc:Fallback>
      </mc:AlternateContent>
      <p:pic>
        <p:nvPicPr>
          <p:cNvPr id="8" name="图片 3"/>
          <p:cNvPicPr>
            <a:picLocks noChangeAspect="1"/>
          </p:cNvPicPr>
          <p:nvPr/>
        </p:nvPicPr>
        <p:blipFill rotWithShape="1">
          <a:blip r:embed="rId4"/>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50282248"/>
                  </p:ext>
                </p:extLst>
              </p:nvPr>
            </p:nvGraphicFramePr>
            <p:xfrm>
              <a:off x="1222610" y="3251463"/>
              <a:ext cx="3690584" cy="1554480"/>
            </p:xfrm>
            <a:graphic>
              <a:graphicData uri="http://schemas.openxmlformats.org/drawingml/2006/table">
                <a:tbl>
                  <a:tblPr firstRow="1" bandRow="1">
                    <a:tableStyleId>{5C22544A-7EE6-4342-B048-85BDC9FD1C3A}</a:tableStyleId>
                  </a:tblPr>
                  <a:tblGrid>
                    <a:gridCol w="922646">
                      <a:extLst>
                        <a:ext uri="{9D8B030D-6E8A-4147-A177-3AD203B41FA5}">
                          <a16:colId xmlns:a16="http://schemas.microsoft.com/office/drawing/2014/main" xmlns="" val="20000"/>
                        </a:ext>
                      </a:extLst>
                    </a:gridCol>
                    <a:gridCol w="922646">
                      <a:extLst>
                        <a:ext uri="{9D8B030D-6E8A-4147-A177-3AD203B41FA5}">
                          <a16:colId xmlns:a16="http://schemas.microsoft.com/office/drawing/2014/main" xmlns="" val="20001"/>
                        </a:ext>
                      </a:extLst>
                    </a:gridCol>
                    <a:gridCol w="922646">
                      <a:extLst>
                        <a:ext uri="{9D8B030D-6E8A-4147-A177-3AD203B41FA5}">
                          <a16:colId xmlns:a16="http://schemas.microsoft.com/office/drawing/2014/main" xmlns="" val="20002"/>
                        </a:ext>
                      </a:extLst>
                    </a:gridCol>
                    <a:gridCol w="922646">
                      <a:extLst>
                        <a:ext uri="{9D8B030D-6E8A-4147-A177-3AD203B41FA5}">
                          <a16:colId xmlns:a16="http://schemas.microsoft.com/office/drawing/2014/main" xmlns="" val="20003"/>
                        </a:ext>
                      </a:extLst>
                    </a:gridCol>
                  </a:tblGrid>
                  <a:tr h="330134">
                    <a:tc>
                      <a:txBody>
                        <a:bodyPr/>
                        <a:lstStyle/>
                        <a:p>
                          <a:endParaRPr lang="en-US" sz="1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𝒊</m:t>
                                </m:r>
                              </m:oMath>
                            </m:oMathPara>
                          </a14:m>
                          <a:endParaRPr lang="en-US" sz="1800" b="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𝒋</m:t>
                                </m:r>
                              </m:oMath>
                            </m:oMathPara>
                          </a14:m>
                          <a:endParaRPr lang="en-US" sz="1800" b="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𝒌</m:t>
                                </m:r>
                              </m:oMath>
                            </m:oMathPara>
                          </a14:m>
                          <a:endParaRPr lang="en-US" sz="1800" b="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0"/>
                      </a:ext>
                    </a:extLst>
                  </a:tr>
                  <a:tr h="330134">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𝒊</m:t>
                                </m:r>
                              </m:oMath>
                            </m:oMathPara>
                          </a14:m>
                          <a:endParaRPr lang="en-US" sz="1800" b="1"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1</m:t>
                                </m:r>
                              </m:oMath>
                            </m:oMathPara>
                          </a14:m>
                          <a:endParaRPr lang="en-US" sz="20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1"/>
                      </a:ext>
                    </a:extLst>
                  </a:tr>
                  <a:tr h="330134">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𝒋</m:t>
                                </m:r>
                              </m:oMath>
                            </m:oMathPara>
                          </a14:m>
                          <a:endParaRPr lang="en-US" sz="1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2"/>
                      </a:ext>
                    </a:extLst>
                  </a:tr>
                  <a:tr h="330134">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𝒌</m:t>
                                </m:r>
                              </m:oMath>
                            </m:oMathPara>
                          </a14:m>
                          <a:endParaRPr lang="en-US" sz="1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1</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3"/>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50282248"/>
                  </p:ext>
                </p:extLst>
              </p:nvPr>
            </p:nvGraphicFramePr>
            <p:xfrm>
              <a:off x="1222610" y="3251463"/>
              <a:ext cx="3690584" cy="1554480"/>
            </p:xfrm>
            <a:graphic>
              <a:graphicData uri="http://schemas.openxmlformats.org/drawingml/2006/table">
                <a:tbl>
                  <a:tblPr firstRow="1" bandRow="1">
                    <a:tableStyleId>{5C22544A-7EE6-4342-B048-85BDC9FD1C3A}</a:tableStyleId>
                  </a:tblPr>
                  <a:tblGrid>
                    <a:gridCol w="922646"/>
                    <a:gridCol w="922646"/>
                    <a:gridCol w="922646"/>
                    <a:gridCol w="922646"/>
                  </a:tblGrid>
                  <a:tr h="365760">
                    <a:tc>
                      <a:txBody>
                        <a:bodyPr/>
                        <a:lstStyle/>
                        <a:p>
                          <a:endParaRPr lang="en-US" sz="1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rotWithShape="0">
                          <a:blip r:embed="rId5"/>
                          <a:stretch>
                            <a:fillRect l="-100662" r="-200662" b="-326667"/>
                          </a:stretch>
                        </a:blipFill>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rotWithShape="0">
                          <a:blip r:embed="rId5"/>
                          <a:stretch>
                            <a:fillRect l="-199342" r="-99342" b="-326667"/>
                          </a:stretch>
                        </a:blipFill>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rotWithShape="0">
                          <a:blip r:embed="rId5"/>
                          <a:stretch>
                            <a:fillRect l="-301325" b="-326667"/>
                          </a:stretch>
                        </a:blipFill>
                      </a:tcPr>
                    </a:tc>
                  </a:tr>
                  <a:tr h="396240">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t="-92308" r="-298684" b="-201538"/>
                          </a:stretch>
                        </a:blip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l="-100662" t="-92308" r="-200662" b="-201538"/>
                          </a:stretch>
                        </a:blip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l="-199342" t="-92308" r="-99342" b="-201538"/>
                          </a:stretch>
                        </a:blip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l="-301325" t="-92308" b="-201538"/>
                          </a:stretch>
                        </a:blipFill>
                      </a:tcPr>
                    </a:tc>
                  </a:tr>
                  <a:tr h="39624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t="-189394" r="-298684" b="-98485"/>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00662" t="-189394" r="-200662" b="-98485"/>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99342" t="-189394" r="-99342" b="-98485"/>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301325" t="-189394" b="-98485"/>
                          </a:stretch>
                        </a:blipFill>
                      </a:tcPr>
                    </a:tc>
                  </a:tr>
                  <a:tr h="39624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t="-293846" r="-298684"/>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00662" t="-293846" r="-200662"/>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99342" t="-293846" r="-99342"/>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301325" t="-293846"/>
                          </a:stretch>
                        </a:blipFill>
                      </a:tcPr>
                    </a:tc>
                  </a:tr>
                </a:tbl>
              </a:graphicData>
            </a:graphic>
          </p:graphicFrame>
        </mc:Fallback>
      </mc:AlternateContent>
      <p:sp>
        <p:nvSpPr>
          <p:cNvPr id="10" name="Double Bracket 9"/>
          <p:cNvSpPr/>
          <p:nvPr/>
        </p:nvSpPr>
        <p:spPr>
          <a:xfrm>
            <a:off x="2333765" y="3603009"/>
            <a:ext cx="2442950" cy="1111494"/>
          </a:xfrm>
          <a:prstGeom prst="bracketPair">
            <a:avLst>
              <a:gd name="adj" fmla="val 12983"/>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xmlns="" id="{85A46D85-927F-F046-AD9B-E25D26CA5CAD}"/>
              </a:ext>
            </a:extLst>
          </p:cNvPr>
          <p:cNvSpPr>
            <a:spLocks noGrp="1"/>
          </p:cNvSpPr>
          <p:nvPr>
            <p:ph type="sldNum" sz="quarter" idx="12"/>
          </p:nvPr>
        </p:nvSpPr>
        <p:spPr/>
        <p:txBody>
          <a:bodyPr/>
          <a:lstStyle/>
          <a:p>
            <a:fld id="{E1BEBC7A-FD02-486B-81B5-A845787C689C}" type="slidenum">
              <a:rPr lang="zh-CN" altLang="en-US" smtClean="0"/>
              <a:t>5</a:t>
            </a:fld>
            <a:endParaRPr lang="zh-CN" altLang="en-US"/>
          </a:p>
        </p:txBody>
      </p:sp>
    </p:spTree>
    <p:extLst>
      <p:ext uri="{BB962C8B-B14F-4D97-AF65-F5344CB8AC3E}">
        <p14:creationId xmlns:p14="http://schemas.microsoft.com/office/powerpoint/2010/main" val="15062047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5179326" cy="3902975"/>
              </a:xfrm>
            </p:spPr>
            <p:txBody>
              <a:bodyPr>
                <a:normAutofit/>
              </a:bodyPr>
              <a:lstStyle/>
              <a:p>
                <a:r>
                  <a:rPr lang="zh-CN" altLang="en-US" dirty="0"/>
                  <a:t>指向𝑣的节点的</a:t>
                </a:r>
                <a:r>
                  <a:rPr lang="en-US" altLang="zh-CN" dirty="0"/>
                  <a:t>PageRank</a:t>
                </a:r>
                <a:r>
                  <a:rPr lang="zh-CN" altLang="en-US" dirty="0"/>
                  <a:t>值越高，相应入边的权重越高</a:t>
                </a:r>
                <a:endParaRPr lang="en-US" altLang="zh-CN" dirty="0"/>
              </a:p>
              <a:p>
                <a:endParaRPr lang="en-US" altLang="zh-CN" dirty="0"/>
              </a:p>
              <a:p>
                <a:r>
                  <a:rPr lang="zh-CN" altLang="en-US" dirty="0"/>
                  <a:t>如何用数学表达上述想法</a:t>
                </a:r>
                <a:endParaRPr lang="en-US" altLang="zh-CN" dirty="0"/>
              </a:p>
              <a:p>
                <a:pPr lvl="1"/>
                <a:r>
                  <a:rPr lang="zh-CN" altLang="en-US" dirty="0"/>
                  <a:t>定义每个节点的出度为</a:t>
                </a:r>
                <a14:m>
                  <m:oMath xmlns:m="http://schemas.openxmlformats.org/officeDocument/2006/math">
                    <m:r>
                      <a:rPr lang="en-US" altLang="zh-CN" i="1" dirty="0" smtClean="0">
                        <a:latin typeface="Cambria Math" charset="0"/>
                      </a:rPr>
                      <m:t>𝑚</m:t>
                    </m:r>
                    <m:r>
                      <a:rPr lang="en-US" altLang="zh-CN" i="1" baseline="-25000" dirty="0" smtClean="0">
                        <a:latin typeface="Cambria Math" charset="0"/>
                      </a:rPr>
                      <m:t>𝑖</m:t>
                    </m:r>
                  </m:oMath>
                </a14:m>
                <a:r>
                  <a:rPr lang="zh-CN" altLang="en-US" dirty="0"/>
                  <a:t>，则有</a:t>
                </a:r>
                <a:endParaRPr lang="en-US" altLang="zh-CN" dirty="0"/>
              </a:p>
              <a:p>
                <a:pPr lvl="1"/>
                <a:endParaRPr lang="en-US" altLang="zh-CN" dirty="0"/>
              </a:p>
              <a:p>
                <a:pPr lvl="1"/>
                <a:endParaRPr lang="en-US" altLang="zh-CN" dirty="0"/>
              </a:p>
              <a:p>
                <a:pPr lvl="1"/>
                <a:endParaRPr lang="en-US" altLang="zh-CN" dirty="0"/>
              </a:p>
              <a:p>
                <a:pPr lvl="1"/>
                <a:r>
                  <a:rPr lang="zh-CN" altLang="en-US" dirty="0"/>
                  <a:t>定义节点</a:t>
                </a:r>
                <a14:m>
                  <m:oMath xmlns:m="http://schemas.openxmlformats.org/officeDocument/2006/math">
                    <m:r>
                      <a:rPr lang="en-US" altLang="zh-CN" i="1" dirty="0" smtClean="0">
                        <a:latin typeface="Cambria Math" charset="0"/>
                      </a:rPr>
                      <m:t>𝑖</m:t>
                    </m:r>
                  </m:oMath>
                </a14:m>
                <a:r>
                  <a:rPr lang="zh-CN" altLang="en-US" dirty="0"/>
                  <a:t>的</a:t>
                </a:r>
                <a:r>
                  <a:rPr lang="en-US" altLang="zh-CN" dirty="0"/>
                  <a:t>PageRank</a:t>
                </a:r>
                <a:r>
                  <a:rPr lang="zh-CN" altLang="en-US" dirty="0"/>
                  <a:t>值为</a:t>
                </a:r>
                <a14:m>
                  <m:oMath xmlns:m="http://schemas.openxmlformats.org/officeDocument/2006/math">
                    <m:r>
                      <a:rPr lang="en-US" altLang="zh-CN" i="1" dirty="0" smtClean="0">
                        <a:latin typeface="Cambria Math" charset="0"/>
                      </a:rPr>
                      <m:t>𝑝</m:t>
                    </m:r>
                    <m:r>
                      <a:rPr lang="en-US" altLang="zh-CN" i="1" baseline="-25000" dirty="0" smtClean="0">
                        <a:latin typeface="Cambria Math" charset="0"/>
                      </a:rPr>
                      <m:t>𝑖</m:t>
                    </m:r>
                  </m:oMath>
                </a14:m>
                <a:endParaRPr lang="en-US" altLang="zh-CN" baseline="-25000"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5179326" cy="3902975"/>
              </a:xfrm>
              <a:blipFill rotWithShape="0">
                <a:blip r:embed="rId3"/>
                <a:stretch>
                  <a:fillRect l="-1059" t="-936" r="-1059"/>
                </a:stretch>
              </a:blipFill>
            </p:spPr>
            <p:txBody>
              <a:bodyPr/>
              <a:lstStyle/>
              <a:p>
                <a:r>
                  <a:rPr lang="en-US">
                    <a:noFill/>
                  </a:rPr>
                  <a:t> </a:t>
                </a:r>
              </a:p>
            </p:txBody>
          </p:sp>
        </mc:Fallback>
      </mc:AlternateContent>
      <p:pic>
        <p:nvPicPr>
          <p:cNvPr id="8" name="图片 3"/>
          <p:cNvPicPr>
            <a:picLocks noChangeAspect="1"/>
          </p:cNvPicPr>
          <p:nvPr/>
        </p:nvPicPr>
        <p:blipFill rotWithShape="1">
          <a:blip r:embed="rId4"/>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sp>
            <p:nvSpPr>
              <p:cNvPr id="4" name="TextBox 3"/>
              <p:cNvSpPr txBox="1"/>
              <p:nvPr/>
            </p:nvSpPr>
            <p:spPr>
              <a:xfrm>
                <a:off x="2067636" y="2729692"/>
                <a:ext cx="1547860" cy="5755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𝑚</m:t>
                          </m:r>
                        </m:e>
                        <m:sub>
                          <m:r>
                            <a:rPr lang="en-US" altLang="zh-CN" b="0" i="1" smtClean="0">
                              <a:latin typeface="Cambria Math" charset="0"/>
                            </a:rPr>
                            <m:t>𝑖</m:t>
                          </m:r>
                        </m:sub>
                      </m:sSub>
                      <m:r>
                        <a:rPr lang="en-US" altLang="zh-CN" b="0" i="1" smtClean="0">
                          <a:latin typeface="Cambria Math" charset="0"/>
                        </a:rPr>
                        <m:t>=</m:t>
                      </m:r>
                      <m:nary>
                        <m:naryPr>
                          <m:chr m:val="∑"/>
                          <m:limLoc m:val="subSup"/>
                          <m:ctrlPr>
                            <a:rPr lang="is-IS" altLang="zh-CN" b="0" i="1" smtClean="0">
                              <a:latin typeface="Cambria Math" charset="0"/>
                            </a:rPr>
                          </m:ctrlPr>
                        </m:naryPr>
                        <m:sub>
                          <m:r>
                            <m:rPr>
                              <m:brk m:alnAt="25"/>
                            </m:rPr>
                            <a:rPr lang="en-US" altLang="zh-CN" b="0" i="1" smtClean="0">
                              <a:latin typeface="Cambria Math" charset="0"/>
                            </a:rPr>
                            <m:t>𝑗</m:t>
                          </m:r>
                          <m:r>
                            <a:rPr lang="en-US" altLang="zh-CN" b="0" i="1" smtClean="0">
                              <a:latin typeface="Cambria Math" charset="0"/>
                            </a:rPr>
                            <m:t>=1</m:t>
                          </m:r>
                        </m:sub>
                        <m:sup>
                          <m:r>
                            <a:rPr lang="en-US" altLang="zh-CN" b="0" i="1" smtClean="0">
                              <a:latin typeface="Cambria Math" charset="0"/>
                            </a:rPr>
                            <m:t>𝑛</m:t>
                          </m:r>
                        </m:sup>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𝑖𝑗</m:t>
                              </m:r>
                            </m:sub>
                          </m:sSub>
                        </m:e>
                      </m:nary>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067636" y="2729692"/>
                <a:ext cx="1547860" cy="575542"/>
              </a:xfrm>
              <a:prstGeom prst="rect">
                <a:avLst/>
              </a:prstGeom>
              <a:blipFill rotWithShape="0">
                <a:blip r:embed="rId5"/>
                <a:stretch>
                  <a:fillRect b="-106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xmlns="" id="{475C1FF9-94D9-AC45-B24B-5322164C2F5B}"/>
              </a:ext>
            </a:extLst>
          </p:cNvPr>
          <p:cNvSpPr>
            <a:spLocks noGrp="1"/>
          </p:cNvSpPr>
          <p:nvPr>
            <p:ph type="sldNum" sz="quarter" idx="12"/>
          </p:nvPr>
        </p:nvSpPr>
        <p:spPr/>
        <p:txBody>
          <a:bodyPr/>
          <a:lstStyle/>
          <a:p>
            <a:fld id="{E1BEBC7A-FD02-486B-81B5-A845787C689C}" type="slidenum">
              <a:rPr lang="zh-CN" altLang="en-US" smtClean="0"/>
              <a:t>6</a:t>
            </a:fld>
            <a:endParaRPr lang="zh-CN" altLang="en-US"/>
          </a:p>
        </p:txBody>
      </p:sp>
    </p:spTree>
    <p:extLst>
      <p:ext uri="{BB962C8B-B14F-4D97-AF65-F5344CB8AC3E}">
        <p14:creationId xmlns:p14="http://schemas.microsoft.com/office/powerpoint/2010/main" val="1470567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50"/>
                <a:ext cx="5179326" cy="1897036"/>
              </a:xfrm>
            </p:spPr>
            <p:txBody>
              <a:bodyPr>
                <a:normAutofit/>
              </a:bodyPr>
              <a:lstStyle/>
              <a:p>
                <a:r>
                  <a:rPr lang="zh-CN" altLang="en-US" dirty="0"/>
                  <a:t>指向𝑣的节点的</a:t>
                </a:r>
                <a:r>
                  <a:rPr lang="en-US" altLang="zh-CN" dirty="0"/>
                  <a:t>PageRank</a:t>
                </a:r>
                <a:r>
                  <a:rPr lang="zh-CN" altLang="en-US" dirty="0"/>
                  <a:t>值越高，相应入边的权重越高</a:t>
                </a:r>
                <a:endParaRPr lang="en-US" altLang="zh-CN" dirty="0"/>
              </a:p>
              <a:p>
                <a:endParaRPr lang="en-US" altLang="zh-CN" dirty="0"/>
              </a:p>
              <a:p>
                <a:r>
                  <a:rPr lang="zh-CN" altLang="en-US" dirty="0"/>
                  <a:t>如何用数学表达上述想法</a:t>
                </a:r>
                <a:endParaRPr lang="en-US" altLang="zh-CN" dirty="0"/>
              </a:p>
              <a:p>
                <a:pPr lvl="1"/>
                <a:r>
                  <a:rPr lang="zh-CN" altLang="en-US" dirty="0"/>
                  <a:t>写出</a:t>
                </a:r>
                <a:r>
                  <a:rPr lang="en-US" altLang="zh-CN" dirty="0"/>
                  <a:t>PageRank</a:t>
                </a:r>
                <a:r>
                  <a:rPr lang="zh-CN" altLang="en-US" dirty="0"/>
                  <a:t>值</a:t>
                </a:r>
                <a14:m>
                  <m:oMath xmlns:m="http://schemas.openxmlformats.org/officeDocument/2006/math">
                    <m:r>
                      <a:rPr lang="en-US" altLang="zh-CN" i="1" dirty="0">
                        <a:latin typeface="Cambria Math" charset="0"/>
                      </a:rPr>
                      <m:t>𝑝</m:t>
                    </m:r>
                    <m:r>
                      <a:rPr lang="en-US" altLang="zh-CN" i="1" baseline="-25000" dirty="0">
                        <a:latin typeface="Cambria Math" charset="0"/>
                      </a:rPr>
                      <m:t>𝑖</m:t>
                    </m:r>
                  </m:oMath>
                </a14:m>
                <a:r>
                  <a:rPr lang="zh-CN" altLang="en-US" dirty="0"/>
                  <a:t>的递推公式</a:t>
                </a:r>
                <a:endParaRPr lang="en-US" altLang="zh-CN" dirty="0"/>
              </a:p>
              <a:p>
                <a:pPr lvl="1"/>
                <a:endParaRPr lang="en-US" altLang="zh-CN" dirty="0"/>
              </a:p>
              <a:p>
                <a:pPr lvl="1"/>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50"/>
                <a:ext cx="5179326" cy="1897036"/>
              </a:xfrm>
              <a:blipFill rotWithShape="0">
                <a:blip r:embed="rId3"/>
                <a:stretch>
                  <a:fillRect l="-1059" t="-1923" r="-1059"/>
                </a:stretch>
              </a:blipFill>
            </p:spPr>
            <p:txBody>
              <a:bodyPr/>
              <a:lstStyle/>
              <a:p>
                <a:r>
                  <a:rPr lang="en-US">
                    <a:noFill/>
                  </a:rPr>
                  <a:t> </a:t>
                </a:r>
              </a:p>
            </p:txBody>
          </p:sp>
        </mc:Fallback>
      </mc:AlternateContent>
      <p:pic>
        <p:nvPicPr>
          <p:cNvPr id="8" name="图片 3"/>
          <p:cNvPicPr>
            <a:picLocks noChangeAspect="1"/>
          </p:cNvPicPr>
          <p:nvPr/>
        </p:nvPicPr>
        <p:blipFill rotWithShape="1">
          <a:blip r:embed="rId4"/>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sp>
            <p:nvSpPr>
              <p:cNvPr id="4" name="TextBox 3"/>
              <p:cNvSpPr txBox="1"/>
              <p:nvPr/>
            </p:nvSpPr>
            <p:spPr>
              <a:xfrm>
                <a:off x="1514134" y="2716185"/>
                <a:ext cx="2556854"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1514134" y="2716185"/>
                <a:ext cx="2556854" cy="875111"/>
              </a:xfrm>
              <a:prstGeom prst="rect">
                <a:avLst/>
              </a:prstGeom>
              <a:blipFill rotWithShape="0">
                <a:blip r:embed="rId5"/>
                <a:stretch>
                  <a:fillRect/>
                </a:stretch>
              </a:blipFill>
            </p:spPr>
            <p:txBody>
              <a:bodyPr/>
              <a:lstStyle/>
              <a:p>
                <a:r>
                  <a:rPr lang="en-US">
                    <a:noFill/>
                  </a:rPr>
                  <a:t> </a:t>
                </a:r>
              </a:p>
            </p:txBody>
          </p:sp>
        </mc:Fallback>
      </mc:AlternateContent>
      <p:sp>
        <p:nvSpPr>
          <p:cNvPr id="6" name="Content Placeholder 2"/>
          <p:cNvSpPr txBox="1">
            <a:spLocks/>
          </p:cNvSpPr>
          <p:nvPr/>
        </p:nvSpPr>
        <p:spPr>
          <a:xfrm>
            <a:off x="457199" y="3971499"/>
            <a:ext cx="5179326" cy="55955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思考：将上面的公式写</a:t>
            </a:r>
            <a:r>
              <a:rPr lang="zh-CN" altLang="en-US"/>
              <a:t>成矩阵形式</a:t>
            </a:r>
            <a:endParaRPr lang="en-US" altLang="zh-CN" dirty="0"/>
          </a:p>
          <a:p>
            <a:pPr lvl="1"/>
            <a:endParaRPr lang="en-US" altLang="zh-CN" dirty="0"/>
          </a:p>
        </p:txBody>
      </p:sp>
      <p:sp>
        <p:nvSpPr>
          <p:cNvPr id="5" name="Slide Number Placeholder 4">
            <a:extLst>
              <a:ext uri="{FF2B5EF4-FFF2-40B4-BE49-F238E27FC236}">
                <a16:creationId xmlns:a16="http://schemas.microsoft.com/office/drawing/2014/main" xmlns="" id="{3394F60A-5E62-F744-A2DD-732B92BAC11A}"/>
              </a:ext>
            </a:extLst>
          </p:cNvPr>
          <p:cNvSpPr>
            <a:spLocks noGrp="1"/>
          </p:cNvSpPr>
          <p:nvPr>
            <p:ph type="sldNum" sz="quarter" idx="12"/>
          </p:nvPr>
        </p:nvSpPr>
        <p:spPr/>
        <p:txBody>
          <a:bodyPr/>
          <a:lstStyle/>
          <a:p>
            <a:fld id="{E1BEBC7A-FD02-486B-81B5-A845787C689C}" type="slidenum">
              <a:rPr lang="zh-CN" altLang="en-US" smtClean="0"/>
              <a:t>7</a:t>
            </a:fld>
            <a:endParaRPr lang="zh-CN" altLang="en-US"/>
          </a:p>
        </p:txBody>
      </p:sp>
    </p:spTree>
    <p:extLst>
      <p:ext uri="{BB962C8B-B14F-4D97-AF65-F5344CB8AC3E}">
        <p14:creationId xmlns:p14="http://schemas.microsoft.com/office/powerpoint/2010/main" val="279609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的矩阵计算</a:t>
            </a:r>
            <a:endParaRPr lang="en-US" dirty="0"/>
          </a:p>
        </p:txBody>
      </p:sp>
      <p:sp>
        <p:nvSpPr>
          <p:cNvPr id="3" name="Content Placeholder 2"/>
          <p:cNvSpPr>
            <a:spLocks noGrp="1"/>
          </p:cNvSpPr>
          <p:nvPr>
            <p:ph idx="1"/>
          </p:nvPr>
        </p:nvSpPr>
        <p:spPr>
          <a:xfrm>
            <a:off x="457199" y="819150"/>
            <a:ext cx="5179326" cy="580328"/>
          </a:xfrm>
        </p:spPr>
        <p:txBody>
          <a:bodyPr>
            <a:normAutofit/>
          </a:bodyPr>
          <a:lstStyle/>
          <a:p>
            <a:r>
              <a:rPr lang="zh-CN" altLang="en-US" dirty="0"/>
              <a:t>定义以下矩阵（向量）</a:t>
            </a:r>
            <a:endParaRPr lang="en-US" altLang="zh-CN" dirty="0"/>
          </a:p>
          <a:p>
            <a:endParaRPr lang="en-US" altLang="zh-CN" dirty="0"/>
          </a:p>
          <a:p>
            <a:pPr lvl="1"/>
            <a:endParaRPr lang="en-US" altLang="zh-CN" dirty="0"/>
          </a:p>
          <a:p>
            <a:pPr lvl="1"/>
            <a:endParaRPr lang="en-US" altLang="zh-CN" dirty="0"/>
          </a:p>
        </p:txBody>
      </p:sp>
      <p:pic>
        <p:nvPicPr>
          <p:cNvPr id="8" name="图片 3"/>
          <p:cNvPicPr>
            <a:picLocks noChangeAspect="1"/>
          </p:cNvPicPr>
          <p:nvPr/>
        </p:nvPicPr>
        <p:blipFill rotWithShape="1">
          <a:blip r:embed="rId3"/>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sp>
            <p:nvSpPr>
              <p:cNvPr id="5" name="TextBox 4"/>
              <p:cNvSpPr txBox="1"/>
              <p:nvPr/>
            </p:nvSpPr>
            <p:spPr>
              <a:xfrm>
                <a:off x="591505" y="1399478"/>
                <a:ext cx="205569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𝒑</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𝑛</m:t>
                          </m:r>
                        </m:sub>
                      </m:sSub>
                      <m:r>
                        <a:rPr lang="en-US" altLang="zh-CN" sz="2000" b="0" i="1" smtClean="0">
                          <a:latin typeface="Cambria Math" charset="0"/>
                        </a:rPr>
                        <m:t>)</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591505" y="1399478"/>
                <a:ext cx="2055691" cy="307777"/>
              </a:xfrm>
              <a:prstGeom prst="rect">
                <a:avLst/>
              </a:prstGeom>
              <a:blipFill rotWithShape="0">
                <a:blip r:embed="rId4"/>
                <a:stretch>
                  <a:fillRect l="-2671" t="-4000" r="-4154"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53304" y="2057832"/>
                <a:ext cx="2792366" cy="11628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𝑨</m:t>
                      </m:r>
                      <m:r>
                        <a:rPr lang="en-US" altLang="zh-CN" sz="2000" b="0" i="1" smtClean="0">
                          <a:latin typeface="Cambria Math" charset="0"/>
                        </a:rPr>
                        <m:t>=</m:t>
                      </m:r>
                      <m:d>
                        <m:dPr>
                          <m:begChr m:val="["/>
                          <m:endChr m:val="]"/>
                          <m:ctrlPr>
                            <a:rPr lang="mr-IN" altLang="zh-CN" sz="2000" b="0" i="1" smtClean="0">
                              <a:latin typeface="Cambria Math" charset="0"/>
                            </a:rPr>
                          </m:ctrlPr>
                        </m:dPr>
                        <m:e>
                          <m:m>
                            <m:mPr>
                              <m:mcs>
                                <m:mc>
                                  <m:mcPr>
                                    <m:count m:val="4"/>
                                    <m:mcJc m:val="center"/>
                                  </m:mcPr>
                                </m:mc>
                              </m:mcs>
                              <m:ctrlPr>
                                <a:rPr lang="mr-IN" altLang="zh-CN" sz="2000" b="0" i="1" smtClean="0">
                                  <a:latin typeface="Cambria Math" charset="0"/>
                                </a:rPr>
                              </m:ctrlPr>
                            </m:mPr>
                            <m:mr>
                              <m:e>
                                <m:sSub>
                                  <m:sSubPr>
                                    <m:ctrlPr>
                                      <a:rPr lang="en-US" altLang="zh-CN" sz="2000" b="0" i="1" smtClean="0">
                                        <a:latin typeface="Cambria Math" charset="0"/>
                                      </a:rPr>
                                    </m:ctrlPr>
                                  </m:sSubPr>
                                  <m:e>
                                    <m:r>
                                      <m:rPr>
                                        <m:brk m:alnAt="7"/>
                                      </m:rPr>
                                      <a:rPr lang="en-US" altLang="zh-CN" sz="2000" b="0" i="1" smtClean="0">
                                        <a:latin typeface="Cambria Math" charset="0"/>
                                      </a:rPr>
                                      <m:t>𝐿</m:t>
                                    </m:r>
                                  </m:e>
                                  <m:sub>
                                    <m:r>
                                      <a:rPr lang="en-US" altLang="zh-CN" sz="2000" b="0" i="1" smtClean="0">
                                        <a:latin typeface="Cambria Math" charset="0"/>
                                      </a:rPr>
                                      <m:t>11</m:t>
                                    </m:r>
                                  </m:sub>
                                </m:sSub>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12</m:t>
                                    </m:r>
                                  </m:sub>
                                </m:sSub>
                              </m:e>
                              <m:e>
                                <m:r>
                                  <a:rPr lang="en-US" altLang="zh-CN" b="0"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1</m:t>
                                    </m:r>
                                    <m:r>
                                      <a:rPr lang="en-US" altLang="zh-CN" b="0" i="1" smtClean="0">
                                        <a:latin typeface="Cambria Math" charset="0"/>
                                      </a:rPr>
                                      <m:t>𝑛</m:t>
                                    </m:r>
                                  </m:sub>
                                </m:sSub>
                              </m:e>
                            </m:mr>
                            <m:mr>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21</m:t>
                                    </m:r>
                                  </m:sub>
                                </m:sSub>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22</m:t>
                                    </m:r>
                                  </m:sub>
                                </m:sSub>
                              </m:e>
                              <m:e>
                                <m:r>
                                  <a:rPr lang="en-US" altLang="zh-CN" b="0"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2</m:t>
                                    </m:r>
                                    <m:r>
                                      <a:rPr lang="en-US" altLang="zh-CN" b="0" i="1" smtClean="0">
                                        <a:latin typeface="Cambria Math" charset="0"/>
                                      </a:rPr>
                                      <m:t>𝑛</m:t>
                                    </m:r>
                                  </m:sub>
                                </m:sSub>
                              </m:e>
                            </m:mr>
                            <m:mr>
                              <m:e>
                                <m:r>
                                  <a:rPr lang="en-US" i="1" smtClean="0">
                                    <a:latin typeface="Cambria Math" charset="0"/>
                                  </a:rPr>
                                  <m:t>⋮</m:t>
                                </m:r>
                              </m:e>
                              <m:e>
                                <m:r>
                                  <a:rPr lang="en-US" i="1" smtClean="0">
                                    <a:latin typeface="Cambria Math" charset="0"/>
                                  </a:rPr>
                                  <m:t>⋮</m:t>
                                </m:r>
                              </m:e>
                              <m:e>
                                <m:r>
                                  <a:rPr lang="en-US" i="1" smtClean="0">
                                    <a:latin typeface="Cambria Math" charset="0"/>
                                  </a:rPr>
                                  <m:t>⋮</m:t>
                                </m:r>
                              </m:e>
                              <m:e>
                                <m:r>
                                  <a:rPr lang="en-US" i="1" smtClean="0">
                                    <a:latin typeface="Cambria Math" charset="0"/>
                                  </a:rPr>
                                  <m:t>⋮</m:t>
                                </m:r>
                              </m:e>
                            </m:mr>
                            <m:mr>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𝑛</m:t>
                                    </m:r>
                                    <m:r>
                                      <a:rPr lang="en-US" altLang="zh-CN" b="0" i="1" smtClean="0">
                                        <a:latin typeface="Cambria Math" charset="0"/>
                                      </a:rPr>
                                      <m:t>1</m:t>
                                    </m:r>
                                  </m:sub>
                                </m:sSub>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𝑛</m:t>
                                    </m:r>
                                    <m:r>
                                      <a:rPr lang="en-US" altLang="zh-CN" b="0" i="1" smtClean="0">
                                        <a:latin typeface="Cambria Math" charset="0"/>
                                      </a:rPr>
                                      <m:t>2</m:t>
                                    </m:r>
                                  </m:sub>
                                </m:sSub>
                              </m:e>
                              <m:e>
                                <m:r>
                                  <a:rPr lang="mr-IN"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𝑛𝑛</m:t>
                                    </m:r>
                                  </m:sub>
                                </m:sSub>
                              </m:e>
                            </m:mr>
                          </m:m>
                        </m:e>
                      </m:d>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253304" y="2057832"/>
                <a:ext cx="2792366" cy="116281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31183" y="3571228"/>
                <a:ext cx="2776337" cy="11475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𝑴</m:t>
                      </m:r>
                      <m:r>
                        <a:rPr lang="en-US" altLang="zh-CN" sz="2000" b="0" i="1" smtClean="0">
                          <a:latin typeface="Cambria Math" charset="0"/>
                        </a:rPr>
                        <m:t>=</m:t>
                      </m:r>
                      <m:d>
                        <m:dPr>
                          <m:begChr m:val="["/>
                          <m:endChr m:val="]"/>
                          <m:ctrlPr>
                            <a:rPr lang="mr-IN" altLang="zh-CN" sz="2000" b="0" i="1" smtClean="0">
                              <a:latin typeface="Cambria Math" charset="0"/>
                            </a:rPr>
                          </m:ctrlPr>
                        </m:dPr>
                        <m:e>
                          <m:m>
                            <m:mPr>
                              <m:mcs>
                                <m:mc>
                                  <m:mcPr>
                                    <m:count m:val="4"/>
                                    <m:mcJc m:val="center"/>
                                  </m:mcPr>
                                </m:mc>
                              </m:mcs>
                              <m:ctrlPr>
                                <a:rPr lang="mr-IN" altLang="zh-CN" sz="2000" b="0" i="1" smtClean="0">
                                  <a:latin typeface="Cambria Math" charset="0"/>
                                </a:rPr>
                              </m:ctrlPr>
                            </m:mPr>
                            <m:mr>
                              <m:e>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1</m:t>
                                    </m:r>
                                  </m:sub>
                                </m:sSub>
                              </m:e>
                              <m:e>
                                <m:r>
                                  <a:rPr lang="en-US" altLang="zh-CN" b="0" i="1" smtClean="0">
                                    <a:latin typeface="Cambria Math" charset="0"/>
                                  </a:rPr>
                                  <m:t>0</m:t>
                                </m:r>
                              </m:e>
                              <m:e>
                                <m:r>
                                  <a:rPr lang="en-US" altLang="zh-CN" b="0" i="1" smtClean="0">
                                    <a:latin typeface="Cambria Math" charset="0"/>
                                  </a:rPr>
                                  <m:t>…</m:t>
                                </m:r>
                              </m:e>
                              <m:e>
                                <m:r>
                                  <a:rPr lang="en-US" altLang="zh-CN" b="0" i="1" smtClean="0">
                                    <a:latin typeface="Cambria Math" charset="0"/>
                                  </a:rPr>
                                  <m:t>0</m:t>
                                </m:r>
                              </m:e>
                            </m:mr>
                            <m:mr>
                              <m:e>
                                <m:r>
                                  <a:rPr lang="en-US" altLang="zh-CN" b="0" i="1" smtClean="0">
                                    <a:latin typeface="Cambria Math" charset="0"/>
                                  </a:rPr>
                                  <m:t>0</m:t>
                                </m:r>
                              </m:e>
                              <m:e>
                                <m:sSub>
                                  <m:sSubPr>
                                    <m:ctrlPr>
                                      <a:rPr lang="en-US" altLang="zh-CN" b="0" i="1" smtClean="0">
                                        <a:latin typeface="Cambria Math" charset="0"/>
                                      </a:rPr>
                                    </m:ctrlPr>
                                  </m:sSubPr>
                                  <m:e>
                                    <m:r>
                                      <a:rPr lang="en-US" altLang="zh-CN" b="0" i="1" smtClean="0">
                                        <a:latin typeface="Cambria Math" charset="0"/>
                                      </a:rPr>
                                      <m:t>𝑚</m:t>
                                    </m:r>
                                  </m:e>
                                  <m:sub>
                                    <m:r>
                                      <a:rPr lang="en-US" altLang="zh-CN" b="0" i="1" smtClean="0">
                                        <a:latin typeface="Cambria Math" charset="0"/>
                                      </a:rPr>
                                      <m:t>2</m:t>
                                    </m:r>
                                  </m:sub>
                                </m:sSub>
                              </m:e>
                              <m:e>
                                <m:r>
                                  <a:rPr lang="en-US" altLang="zh-CN" b="0" i="1" smtClean="0">
                                    <a:latin typeface="Cambria Math" charset="0"/>
                                  </a:rPr>
                                  <m:t>…</m:t>
                                </m:r>
                              </m:e>
                              <m:e>
                                <m:r>
                                  <a:rPr lang="en-US" altLang="zh-CN" b="0" i="1" smtClean="0">
                                    <a:latin typeface="Cambria Math" charset="0"/>
                                  </a:rPr>
                                  <m:t>0</m:t>
                                </m:r>
                              </m:e>
                            </m:mr>
                            <m:mr>
                              <m:e>
                                <m:r>
                                  <a:rPr lang="en-US" i="1" smtClean="0">
                                    <a:latin typeface="Cambria Math" charset="0"/>
                                  </a:rPr>
                                  <m:t>⋮</m:t>
                                </m:r>
                              </m:e>
                              <m:e>
                                <m:r>
                                  <a:rPr lang="en-US" i="1" smtClean="0">
                                    <a:latin typeface="Cambria Math" charset="0"/>
                                  </a:rPr>
                                  <m:t>⋮</m:t>
                                </m:r>
                              </m:e>
                              <m:e>
                                <m:r>
                                  <a:rPr lang="en-US" i="1" smtClean="0">
                                    <a:latin typeface="Cambria Math" charset="0"/>
                                  </a:rPr>
                                  <m:t>⋮</m:t>
                                </m:r>
                              </m:e>
                              <m:e>
                                <m:r>
                                  <a:rPr lang="en-US" i="1" smtClean="0">
                                    <a:latin typeface="Cambria Math" charset="0"/>
                                  </a:rPr>
                                  <m:t>⋮</m:t>
                                </m:r>
                              </m:e>
                            </m:mr>
                            <m:mr>
                              <m:e>
                                <m:r>
                                  <a:rPr lang="en-US" altLang="zh-CN" b="0" i="1" smtClean="0">
                                    <a:latin typeface="Cambria Math" charset="0"/>
                                  </a:rPr>
                                  <m:t>0</m:t>
                                </m:r>
                              </m:e>
                              <m:e>
                                <m:r>
                                  <a:rPr lang="en-US" altLang="zh-CN" b="0" i="1" smtClean="0">
                                    <a:latin typeface="Cambria Math" charset="0"/>
                                  </a:rPr>
                                  <m:t>0</m:t>
                                </m:r>
                              </m:e>
                              <m:e>
                                <m:r>
                                  <a:rPr lang="mr-IN"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𝑚</m:t>
                                    </m:r>
                                  </m:e>
                                  <m:sub>
                                    <m:r>
                                      <a:rPr lang="en-US" altLang="zh-CN" b="0" i="1" smtClean="0">
                                        <a:latin typeface="Cambria Math" charset="0"/>
                                      </a:rPr>
                                      <m:t>𝑛</m:t>
                                    </m:r>
                                  </m:sub>
                                </m:sSub>
                              </m:e>
                            </m:mr>
                          </m:m>
                        </m:e>
                      </m:d>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231183" y="3571228"/>
                <a:ext cx="2776337" cy="114755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785551" y="2212055"/>
                <a:ext cx="19261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charset="0"/>
                        </a:rPr>
                        <m:t>𝒑</m:t>
                      </m:r>
                      <m:r>
                        <a:rPr lang="en-US" altLang="zh-CN" sz="2400" b="0" i="1" smtClean="0">
                          <a:latin typeface="Cambria Math" charset="0"/>
                        </a:rPr>
                        <m:t>←</m:t>
                      </m:r>
                      <m:r>
                        <a:rPr lang="en-US" altLang="zh-CN" sz="2400" b="1" i="1" smtClean="0">
                          <a:latin typeface="Cambria Math" charset="0"/>
                        </a:rPr>
                        <m:t>𝒑</m:t>
                      </m:r>
                      <m:r>
                        <a:rPr lang="en-US" altLang="zh-CN" sz="2400" b="0" i="1" smtClean="0">
                          <a:latin typeface="Cambria Math" charset="0"/>
                        </a:rPr>
                        <m:t>(</m:t>
                      </m:r>
                      <m:sSup>
                        <m:sSupPr>
                          <m:ctrlPr>
                            <a:rPr lang="en-US" altLang="zh-CN" sz="2400" b="0" i="1" smtClean="0">
                              <a:latin typeface="Cambria Math" charset="0"/>
                            </a:rPr>
                          </m:ctrlPr>
                        </m:sSupPr>
                        <m:e>
                          <m:r>
                            <a:rPr lang="en-US" altLang="zh-CN" sz="2400" b="1" i="1" smtClean="0">
                              <a:latin typeface="Cambria Math" charset="0"/>
                            </a:rPr>
                            <m:t>𝑴</m:t>
                          </m:r>
                        </m:e>
                        <m:sup>
                          <m:r>
                            <a:rPr lang="en-US" altLang="zh-CN" sz="2400" b="0" i="1" smtClean="0">
                              <a:latin typeface="Cambria Math" charset="0"/>
                            </a:rPr>
                            <m:t>−1</m:t>
                          </m:r>
                        </m:sup>
                      </m:sSup>
                      <m:r>
                        <a:rPr lang="en-US" altLang="zh-CN" sz="2400" b="1" i="1">
                          <a:latin typeface="Cambria Math" charset="0"/>
                        </a:rPr>
                        <m:t>𝑨</m:t>
                      </m:r>
                      <m:r>
                        <a:rPr lang="en-US" altLang="zh-CN" sz="2400" b="0" i="1" smtClean="0">
                          <a:latin typeface="Cambria Math" charset="0"/>
                        </a:rPr>
                        <m:t>)</m:t>
                      </m:r>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785551" y="2212055"/>
                <a:ext cx="1926168" cy="369332"/>
              </a:xfrm>
              <a:prstGeom prst="rect">
                <a:avLst/>
              </a:prstGeom>
              <a:blipFill rotWithShape="0">
                <a:blip r:embed="rId7"/>
                <a:stretch>
                  <a:fillRect l="-3481" r="-5380"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249329" y="2729595"/>
                <a:ext cx="1198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𝑳</m:t>
                      </m:r>
                      <m:r>
                        <a:rPr lang="en-US" altLang="zh-CN" sz="2000" b="1" i="1" smtClean="0">
                          <a:latin typeface="Cambria Math" charset="0"/>
                        </a:rPr>
                        <m:t>=</m:t>
                      </m:r>
                      <m:sSup>
                        <m:sSupPr>
                          <m:ctrlPr>
                            <a:rPr lang="en-US" altLang="zh-CN" sz="2000" i="1">
                              <a:latin typeface="Cambria Math" charset="0"/>
                            </a:rPr>
                          </m:ctrlPr>
                        </m:sSupPr>
                        <m:e>
                          <m:r>
                            <a:rPr lang="en-US" altLang="zh-CN" sz="2000" b="1" i="1">
                              <a:latin typeface="Cambria Math" charset="0"/>
                            </a:rPr>
                            <m:t>𝑴</m:t>
                          </m:r>
                        </m:e>
                        <m:sup>
                          <m:r>
                            <a:rPr lang="en-US" altLang="zh-CN" sz="2000" i="1">
                              <a:latin typeface="Cambria Math" charset="0"/>
                            </a:rPr>
                            <m:t>−1</m:t>
                          </m:r>
                        </m:sup>
                      </m:sSup>
                      <m:r>
                        <a:rPr lang="en-US" altLang="zh-CN" sz="2000" b="1" i="1">
                          <a:latin typeface="Cambria Math" charset="0"/>
                        </a:rPr>
                        <m:t>𝑨</m:t>
                      </m:r>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249329" y="2729595"/>
                <a:ext cx="1198277" cy="307777"/>
              </a:xfrm>
              <a:prstGeom prst="rect">
                <a:avLst/>
              </a:prstGeom>
              <a:blipFill rotWithShape="0">
                <a:blip r:embed="rId8"/>
                <a:stretch>
                  <a:fillRect l="-4061" r="-5076" b="-6000"/>
                </a:stretch>
              </a:blipFill>
            </p:spPr>
            <p:txBody>
              <a:bodyPr/>
              <a:lstStyle/>
              <a:p>
                <a:r>
                  <a:rPr lang="en-US">
                    <a:noFill/>
                  </a:rPr>
                  <a:t> </a:t>
                </a:r>
              </a:p>
            </p:txBody>
          </p:sp>
        </mc:Fallback>
      </mc:AlternateContent>
      <p:sp>
        <p:nvSpPr>
          <p:cNvPr id="7" name="TextBox 6"/>
          <p:cNvSpPr txBox="1"/>
          <p:nvPr/>
        </p:nvSpPr>
        <p:spPr>
          <a:xfrm>
            <a:off x="3814307" y="2702312"/>
            <a:ext cx="505588" cy="400110"/>
          </a:xfrm>
          <a:prstGeom prst="rect">
            <a:avLst/>
          </a:prstGeom>
          <a:noFill/>
        </p:spPr>
        <p:txBody>
          <a:bodyPr wrap="none" rtlCol="0">
            <a:spAutoFit/>
          </a:bodyPr>
          <a:lstStyle/>
          <a:p>
            <a:r>
              <a:rPr lang="en-US" altLang="zh-CN" sz="2000"/>
              <a:t>Let</a:t>
            </a:r>
            <a:endParaRPr lang="en-US" sz="2000" dirty="0"/>
          </a:p>
        </p:txBody>
      </p:sp>
      <mc:AlternateContent xmlns:mc="http://schemas.openxmlformats.org/markup-compatibility/2006" xmlns:a14="http://schemas.microsoft.com/office/drawing/2010/main">
        <mc:Choice Requires="a14">
          <p:sp>
            <p:nvSpPr>
              <p:cNvPr id="13" name="TextBox 12"/>
              <p:cNvSpPr txBox="1"/>
              <p:nvPr/>
            </p:nvSpPr>
            <p:spPr>
              <a:xfrm>
                <a:off x="3656651" y="3647959"/>
                <a:ext cx="1830694" cy="440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solidFill>
                                <a:srgbClr val="C00000"/>
                              </a:solidFill>
                              <a:latin typeface="Cambria Math" charset="0"/>
                            </a:rPr>
                          </m:ctrlPr>
                        </m:sSupPr>
                        <m:e>
                          <m:r>
                            <a:rPr lang="en-US" altLang="zh-CN" sz="2800" b="1" i="1" smtClean="0">
                              <a:solidFill>
                                <a:srgbClr val="C00000"/>
                              </a:solidFill>
                              <a:latin typeface="Cambria Math" charset="0"/>
                            </a:rPr>
                            <m:t>𝒑</m:t>
                          </m:r>
                        </m:e>
                        <m:sup>
                          <m:r>
                            <a:rPr lang="en-US" altLang="zh-CN" sz="2800" b="1" i="1" smtClean="0">
                              <a:solidFill>
                                <a:srgbClr val="C00000"/>
                              </a:solidFill>
                              <a:latin typeface="Cambria Math" charset="0"/>
                            </a:rPr>
                            <m:t>𝒕</m:t>
                          </m:r>
                          <m:r>
                            <a:rPr lang="en-US" altLang="zh-CN" sz="2800" b="1" i="1" smtClean="0">
                              <a:solidFill>
                                <a:srgbClr val="C00000"/>
                              </a:solidFill>
                              <a:latin typeface="Cambria Math" charset="0"/>
                            </a:rPr>
                            <m:t>+</m:t>
                          </m:r>
                          <m:r>
                            <a:rPr lang="en-US" altLang="zh-CN" sz="2800" b="1" i="1" smtClean="0">
                              <a:solidFill>
                                <a:srgbClr val="C00000"/>
                              </a:solidFill>
                              <a:latin typeface="Cambria Math" charset="0"/>
                            </a:rPr>
                            <m:t>𝟏</m:t>
                          </m:r>
                        </m:sup>
                      </m:sSup>
                      <m:r>
                        <a:rPr lang="en-US" altLang="zh-CN" sz="2800" b="0" i="1" smtClean="0">
                          <a:solidFill>
                            <a:srgbClr val="C00000"/>
                          </a:solidFill>
                          <a:latin typeface="Cambria Math" charset="0"/>
                        </a:rPr>
                        <m:t>←</m:t>
                      </m:r>
                      <m:sSup>
                        <m:sSupPr>
                          <m:ctrlPr>
                            <a:rPr lang="en-US" altLang="zh-CN" sz="2800" b="1" i="1" smtClean="0">
                              <a:solidFill>
                                <a:srgbClr val="C00000"/>
                              </a:solidFill>
                              <a:latin typeface="Cambria Math" charset="0"/>
                            </a:rPr>
                          </m:ctrlPr>
                        </m:sSupPr>
                        <m:e>
                          <m:r>
                            <a:rPr lang="en-US" altLang="zh-CN" sz="2800" b="1" i="1" smtClean="0">
                              <a:solidFill>
                                <a:srgbClr val="C00000"/>
                              </a:solidFill>
                              <a:latin typeface="Cambria Math" charset="0"/>
                            </a:rPr>
                            <m:t>𝒑</m:t>
                          </m:r>
                        </m:e>
                        <m:sup>
                          <m:r>
                            <a:rPr lang="en-US" altLang="zh-CN" sz="2800" b="1" i="1" smtClean="0">
                              <a:solidFill>
                                <a:srgbClr val="C00000"/>
                              </a:solidFill>
                              <a:latin typeface="Cambria Math" charset="0"/>
                            </a:rPr>
                            <m:t>𝒕</m:t>
                          </m:r>
                        </m:sup>
                      </m:sSup>
                      <m:r>
                        <a:rPr lang="en-US" altLang="zh-CN" sz="2800" b="1" i="1" smtClean="0">
                          <a:solidFill>
                            <a:srgbClr val="C00000"/>
                          </a:solidFill>
                          <a:latin typeface="Cambria Math" charset="0"/>
                        </a:rPr>
                        <m:t>𝑳</m:t>
                      </m:r>
                    </m:oMath>
                  </m:oMathPara>
                </a14:m>
                <a:endParaRPr lang="en-US" sz="2800" b="1" dirty="0">
                  <a:solidFill>
                    <a:srgbClr val="C0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3656651" y="3647959"/>
                <a:ext cx="1830694" cy="440633"/>
              </a:xfrm>
              <a:prstGeom prst="rect">
                <a:avLst/>
              </a:prstGeom>
              <a:blipFill rotWithShape="0">
                <a:blip r:embed="rId9"/>
                <a:stretch>
                  <a:fillRect/>
                </a:stretch>
              </a:blipFill>
            </p:spPr>
            <p:txBody>
              <a:bodyPr/>
              <a:lstStyle/>
              <a:p>
                <a:r>
                  <a:rPr lang="en-US">
                    <a:noFill/>
                  </a:rPr>
                  <a:t> </a:t>
                </a:r>
              </a:p>
            </p:txBody>
          </p:sp>
        </mc:Fallback>
      </mc:AlternateContent>
      <p:sp>
        <p:nvSpPr>
          <p:cNvPr id="14" name="Right Arrow 13"/>
          <p:cNvSpPr/>
          <p:nvPr/>
        </p:nvSpPr>
        <p:spPr>
          <a:xfrm>
            <a:off x="3301063" y="2886978"/>
            <a:ext cx="404420" cy="667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5400000">
            <a:off x="4389489" y="3176609"/>
            <a:ext cx="365019" cy="424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ine Callout 1 3"/>
          <p:cNvSpPr/>
          <p:nvPr/>
        </p:nvSpPr>
        <p:spPr>
          <a:xfrm>
            <a:off x="3656028" y="825775"/>
            <a:ext cx="2055691" cy="1184290"/>
          </a:xfrm>
          <a:prstGeom prst="borderCallout1">
            <a:avLst>
              <a:gd name="adj1" fmla="val 18750"/>
              <a:gd name="adj2" fmla="val -8333"/>
              <a:gd name="adj3" fmla="val 65516"/>
              <a:gd name="adj4" fmla="val -4349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rgbClr val="FF0000"/>
                </a:solidFill>
              </a:rPr>
              <a:t>为便于书写，采用</a:t>
            </a:r>
            <a:r>
              <a:rPr lang="zh-CN" altLang="en-US" dirty="0">
                <a:solidFill>
                  <a:srgbClr val="FF0000"/>
                </a:solidFill>
              </a:rPr>
              <a:t>行向量表示方法。</a:t>
            </a:r>
            <a:r>
              <a:rPr lang="zh-CN" altLang="en-US">
                <a:solidFill>
                  <a:srgbClr val="FF0000"/>
                </a:solidFill>
              </a:rPr>
              <a:t>也可用列向量表示</a:t>
            </a:r>
            <a:endParaRPr lang="en-US" dirty="0">
              <a:solidFill>
                <a:srgbClr val="FF0000"/>
              </a:solidFill>
            </a:endParaRPr>
          </a:p>
        </p:txBody>
      </p:sp>
      <p:sp>
        <p:nvSpPr>
          <p:cNvPr id="6" name="Slide Number Placeholder 5">
            <a:extLst>
              <a:ext uri="{FF2B5EF4-FFF2-40B4-BE49-F238E27FC236}">
                <a16:creationId xmlns:a16="http://schemas.microsoft.com/office/drawing/2014/main" xmlns="" id="{03180149-09F2-B348-B0C4-9B94BDFE92D3}"/>
              </a:ext>
            </a:extLst>
          </p:cNvPr>
          <p:cNvSpPr>
            <a:spLocks noGrp="1"/>
          </p:cNvSpPr>
          <p:nvPr>
            <p:ph type="sldNum" sz="quarter" idx="12"/>
          </p:nvPr>
        </p:nvSpPr>
        <p:spPr/>
        <p:txBody>
          <a:bodyPr/>
          <a:lstStyle/>
          <a:p>
            <a:fld id="{E1BEBC7A-FD02-486B-81B5-A845787C689C}" type="slidenum">
              <a:rPr lang="zh-CN" altLang="en-US" smtClean="0"/>
              <a:t>8</a:t>
            </a:fld>
            <a:endParaRPr lang="zh-CN" altLang="en-US"/>
          </a:p>
        </p:txBody>
      </p:sp>
    </p:spTree>
    <p:extLst>
      <p:ext uri="{BB962C8B-B14F-4D97-AF65-F5344CB8AC3E}">
        <p14:creationId xmlns:p14="http://schemas.microsoft.com/office/powerpoint/2010/main" val="2016298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的矩阵计算</a:t>
            </a:r>
            <a:endParaRPr lang="en-US" dirty="0"/>
          </a:p>
        </p:txBody>
      </p:sp>
      <p:sp>
        <p:nvSpPr>
          <p:cNvPr id="3" name="Content Placeholder 2"/>
          <p:cNvSpPr>
            <a:spLocks noGrp="1"/>
          </p:cNvSpPr>
          <p:nvPr>
            <p:ph idx="1"/>
          </p:nvPr>
        </p:nvSpPr>
        <p:spPr>
          <a:xfrm>
            <a:off x="457198" y="819149"/>
            <a:ext cx="8229601" cy="1064241"/>
          </a:xfrm>
        </p:spPr>
        <p:txBody>
          <a:bodyPr>
            <a:normAutofit/>
          </a:bodyPr>
          <a:lstStyle/>
          <a:p>
            <a:r>
              <a:rPr lang="zh-CN" altLang="en-US" dirty="0"/>
              <a:t>练习：计算下图中节点的</a:t>
            </a:r>
            <a:r>
              <a:rPr lang="en-US" altLang="zh-CN" dirty="0"/>
              <a:t>PageRank</a:t>
            </a:r>
            <a:r>
              <a:rPr lang="zh-CN" altLang="en-US" dirty="0"/>
              <a:t>分值</a:t>
            </a:r>
            <a:endParaRPr lang="en-US" altLang="zh-CN" dirty="0"/>
          </a:p>
          <a:p>
            <a:pPr lvl="1"/>
            <a:r>
              <a:rPr lang="zh-CN" altLang="en-US" dirty="0"/>
              <a:t>使用</a:t>
            </a:r>
            <a:r>
              <a:rPr lang="en-US" altLang="zh-CN" dirty="0"/>
              <a:t>Python</a:t>
            </a:r>
            <a:r>
              <a:rPr lang="zh-CN" altLang="en-US" dirty="0"/>
              <a:t>的</a:t>
            </a:r>
            <a:r>
              <a:rPr lang="en-US" altLang="zh-CN" dirty="0" err="1">
                <a:solidFill>
                  <a:srgbClr val="C00000"/>
                </a:solidFill>
              </a:rPr>
              <a:t>numpy</a:t>
            </a:r>
            <a:r>
              <a:rPr lang="zh-CN" altLang="en-US" dirty="0"/>
              <a:t>库</a:t>
            </a:r>
            <a:endParaRPr lang="en-US" altLang="zh-CN" dirty="0"/>
          </a:p>
          <a:p>
            <a:endParaRPr lang="en-US" altLang="zh-CN" dirty="0"/>
          </a:p>
          <a:p>
            <a:pPr lvl="1"/>
            <a:endParaRPr lang="en-US" altLang="zh-CN" dirty="0"/>
          </a:p>
          <a:p>
            <a:pPr lvl="1"/>
            <a:endParaRPr lang="en-US" altLang="zh-CN"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879216" y="1883390"/>
            <a:ext cx="2330968" cy="2409094"/>
          </a:xfrm>
          <a:prstGeom prst="rect">
            <a:avLst/>
          </a:prstGeom>
        </p:spPr>
      </p:pic>
      <p:sp>
        <p:nvSpPr>
          <p:cNvPr id="6" name="Rectangle 5"/>
          <p:cNvSpPr/>
          <p:nvPr/>
        </p:nvSpPr>
        <p:spPr>
          <a:xfrm>
            <a:off x="4118206" y="1236688"/>
            <a:ext cx="4759093" cy="3539430"/>
          </a:xfrm>
          <a:prstGeom prst="rect">
            <a:avLst/>
          </a:prstGeom>
          <a:solidFill>
            <a:srgbClr val="0E223A"/>
          </a:solidFill>
        </p:spPr>
        <p:txBody>
          <a:bodyPr wrap="square">
            <a:spAutoFit/>
          </a:bodyPr>
          <a:lstStyle/>
          <a:p>
            <a:r>
              <a:rPr lang="en-US" sz="1600" i="1" dirty="0">
                <a:solidFill>
                  <a:srgbClr val="66D9EF"/>
                </a:solidFill>
              </a:rPr>
              <a:t>import </a:t>
            </a:r>
            <a:r>
              <a:rPr lang="en-US" sz="1600" dirty="0" err="1">
                <a:solidFill>
                  <a:srgbClr val="F6F8FA"/>
                </a:solidFill>
              </a:rPr>
              <a:t>numpy</a:t>
            </a:r>
            <a:r>
              <a:rPr lang="en-US" sz="1600" dirty="0">
                <a:solidFill>
                  <a:srgbClr val="F6F8FA"/>
                </a:solidFill>
              </a:rPr>
              <a:t> </a:t>
            </a:r>
            <a:r>
              <a:rPr lang="en-US" sz="1600" i="1" dirty="0">
                <a:solidFill>
                  <a:srgbClr val="66D9EF"/>
                </a:solidFill>
              </a:rPr>
              <a:t>as </a:t>
            </a:r>
            <a:r>
              <a:rPr lang="en-US" sz="1600" dirty="0">
                <a:solidFill>
                  <a:srgbClr val="F6F8FA"/>
                </a:solidFill>
              </a:rPr>
              <a:t>np</a:t>
            </a:r>
            <a:endParaRPr lang="en-US" sz="1600" i="1" dirty="0">
              <a:solidFill>
                <a:srgbClr val="F6F8FA"/>
              </a:solidFill>
            </a:endParaRPr>
          </a:p>
          <a:p>
            <a:r>
              <a:rPr lang="mr-IN" sz="1600" i="1" dirty="0" err="1">
                <a:solidFill>
                  <a:srgbClr val="66D9EF"/>
                </a:solidFill>
              </a:rPr>
              <a:t>def</a:t>
            </a:r>
            <a:r>
              <a:rPr lang="mr-IN" sz="1600" i="1" dirty="0">
                <a:solidFill>
                  <a:srgbClr val="66D9EF"/>
                </a:solidFill>
              </a:rPr>
              <a:t> </a:t>
            </a:r>
            <a:r>
              <a:rPr lang="mr-IN" sz="1600" dirty="0" err="1">
                <a:solidFill>
                  <a:srgbClr val="A6E22E"/>
                </a:solidFill>
              </a:rPr>
              <a:t>pagerank_naive</a:t>
            </a:r>
            <a:r>
              <a:rPr lang="mr-IN" sz="1600" dirty="0">
                <a:solidFill>
                  <a:srgbClr val="A6E22E"/>
                </a:solidFill>
              </a:rPr>
              <a:t> </a:t>
            </a:r>
            <a:r>
              <a:rPr lang="mr-IN" sz="1600" dirty="0"/>
              <a:t>(</a:t>
            </a:r>
            <a:r>
              <a:rPr lang="mr-IN" sz="1600" i="1" dirty="0" err="1">
                <a:solidFill>
                  <a:srgbClr val="FD971F"/>
                </a:solidFill>
              </a:rPr>
              <a:t>DiG</a:t>
            </a:r>
            <a:r>
              <a:rPr lang="mr-IN" sz="1600" dirty="0"/>
              <a:t>, </a:t>
            </a:r>
            <a:r>
              <a:rPr lang="mr-IN" sz="1600" i="1" dirty="0" err="1">
                <a:solidFill>
                  <a:srgbClr val="FD971F"/>
                </a:solidFill>
              </a:rPr>
              <a:t>max_iter</a:t>
            </a:r>
            <a:r>
              <a:rPr lang="mr-IN" sz="1600" dirty="0">
                <a:solidFill>
                  <a:srgbClr val="F92672"/>
                </a:solidFill>
              </a:rPr>
              <a:t>=</a:t>
            </a:r>
            <a:r>
              <a:rPr lang="mr-IN" sz="1600" dirty="0">
                <a:solidFill>
                  <a:srgbClr val="AE81FF"/>
                </a:solidFill>
              </a:rPr>
              <a:t>200</a:t>
            </a:r>
            <a:r>
              <a:rPr lang="mr-IN" sz="1600" dirty="0"/>
              <a:t>)</a:t>
            </a:r>
            <a:r>
              <a:rPr lang="mr-IN" sz="1600" dirty="0">
                <a:solidFill>
                  <a:srgbClr val="F92672"/>
                </a:solidFill>
              </a:rPr>
              <a:t>:</a:t>
            </a:r>
            <a:br>
              <a:rPr lang="mr-IN" sz="1600" dirty="0">
                <a:solidFill>
                  <a:srgbClr val="F92672"/>
                </a:solidFill>
              </a:rPr>
            </a:br>
            <a:r>
              <a:rPr lang="mr-IN" sz="1600" dirty="0">
                <a:solidFill>
                  <a:srgbClr val="F92672"/>
                </a:solidFill>
              </a:rPr>
              <a:t>    </a:t>
            </a:r>
            <a:r>
              <a:rPr lang="mr-IN" sz="1600" dirty="0">
                <a:solidFill>
                  <a:srgbClr val="75715E"/>
                </a:solidFill>
              </a:rPr>
              <a:t># </a:t>
            </a:r>
            <a:r>
              <a:rPr lang="mr-IN" sz="1600" dirty="0" err="1">
                <a:solidFill>
                  <a:srgbClr val="75715E"/>
                </a:solidFill>
              </a:rPr>
              <a:t>Adjacency</a:t>
            </a:r>
            <a:r>
              <a:rPr lang="mr-IN" sz="1600" dirty="0">
                <a:solidFill>
                  <a:srgbClr val="75715E"/>
                </a:solidFill>
              </a:rPr>
              <a:t> </a:t>
            </a:r>
            <a:r>
              <a:rPr lang="mr-IN" sz="1600" dirty="0" err="1">
                <a:solidFill>
                  <a:srgbClr val="75715E"/>
                </a:solidFill>
              </a:rPr>
              <a:t>Matrix</a:t>
            </a:r>
            <a:r>
              <a:rPr lang="mr-IN" sz="1600" dirty="0">
                <a:solidFill>
                  <a:srgbClr val="75715E"/>
                </a:solidFill>
              </a:rPr>
              <a:t/>
            </a:r>
            <a:br>
              <a:rPr lang="mr-IN" sz="1600" dirty="0">
                <a:solidFill>
                  <a:srgbClr val="75715E"/>
                </a:solidFill>
              </a:rPr>
            </a:br>
            <a:r>
              <a:rPr lang="mr-IN" sz="1600" dirty="0">
                <a:solidFill>
                  <a:srgbClr val="75715E"/>
                </a:solidFill>
              </a:rPr>
              <a:t>    </a:t>
            </a:r>
            <a:r>
              <a:rPr lang="mr-IN" sz="1600" dirty="0" err="1">
                <a:solidFill>
                  <a:srgbClr val="F6F8FA"/>
                </a:solidFill>
              </a:rPr>
              <a:t>A</a:t>
            </a:r>
            <a:r>
              <a:rPr lang="mr-IN" sz="1600" dirty="0"/>
              <a:t> </a:t>
            </a:r>
            <a:r>
              <a:rPr lang="mr-IN" sz="1600" dirty="0">
                <a:solidFill>
                  <a:srgbClr val="F92672"/>
                </a:solidFill>
              </a:rPr>
              <a:t>= </a:t>
            </a:r>
            <a:r>
              <a:rPr lang="mr-IN" sz="1600" dirty="0" err="1">
                <a:solidFill>
                  <a:srgbClr val="F6F8FA"/>
                </a:solidFill>
              </a:rPr>
              <a:t>nx.</a:t>
            </a:r>
            <a:r>
              <a:rPr lang="mr-IN" sz="1600" dirty="0" err="1">
                <a:solidFill>
                  <a:srgbClr val="66D9EF"/>
                </a:solidFill>
              </a:rPr>
              <a:t>to_numpy_matrix</a:t>
            </a:r>
            <a:r>
              <a:rPr lang="mr-IN" sz="1600" dirty="0">
                <a:solidFill>
                  <a:srgbClr val="F6F8FA"/>
                </a:solidFill>
              </a:rPr>
              <a:t>(</a:t>
            </a:r>
            <a:r>
              <a:rPr lang="mr-IN" sz="1600" i="1" dirty="0" err="1">
                <a:solidFill>
                  <a:srgbClr val="FD971F"/>
                </a:solidFill>
              </a:rPr>
              <a:t>DiG</a:t>
            </a:r>
            <a:r>
              <a:rPr lang="mr-IN" sz="1600" dirty="0">
                <a:solidFill>
                  <a:srgbClr val="F6F8FA"/>
                </a:solidFill>
              </a:rPr>
              <a:t>)</a:t>
            </a:r>
            <a:r>
              <a:rPr lang="mr-IN" sz="1600" dirty="0"/>
              <a:t/>
            </a:r>
            <a:br>
              <a:rPr lang="mr-IN" sz="1600" dirty="0"/>
            </a:br>
            <a:r>
              <a:rPr lang="mr-IN" sz="1600" dirty="0"/>
              <a:t>    </a:t>
            </a:r>
            <a:r>
              <a:rPr lang="mr-IN" sz="1600" dirty="0">
                <a:solidFill>
                  <a:srgbClr val="75715E"/>
                </a:solidFill>
              </a:rPr>
              <a:t># </a:t>
            </a:r>
            <a:r>
              <a:rPr lang="mr-IN" sz="1600" dirty="0" err="1">
                <a:solidFill>
                  <a:srgbClr val="75715E"/>
                </a:solidFill>
              </a:rPr>
              <a:t>Out-Degree</a:t>
            </a:r>
            <a:r>
              <a:rPr lang="mr-IN" sz="1600" dirty="0">
                <a:solidFill>
                  <a:srgbClr val="75715E"/>
                </a:solidFill>
              </a:rPr>
              <a:t> -&gt; M -&gt; M^{-1}</a:t>
            </a:r>
            <a:br>
              <a:rPr lang="mr-IN" sz="1600" dirty="0">
                <a:solidFill>
                  <a:srgbClr val="75715E"/>
                </a:solidFill>
              </a:rPr>
            </a:br>
            <a:r>
              <a:rPr lang="mr-IN" sz="1600" dirty="0">
                <a:solidFill>
                  <a:srgbClr val="75715E"/>
                </a:solidFill>
              </a:rPr>
              <a:t>    </a:t>
            </a:r>
            <a:r>
              <a:rPr lang="mr-IN" sz="1600" dirty="0">
                <a:solidFill>
                  <a:srgbClr val="F6F8FA"/>
                </a:solidFill>
              </a:rPr>
              <a:t>D</a:t>
            </a:r>
            <a:r>
              <a:rPr lang="mr-IN" sz="1600" dirty="0"/>
              <a:t> </a:t>
            </a:r>
            <a:r>
              <a:rPr lang="mr-IN" sz="1600" dirty="0">
                <a:solidFill>
                  <a:srgbClr val="F92672"/>
                </a:solidFill>
              </a:rPr>
              <a:t>= </a:t>
            </a:r>
            <a:r>
              <a:rPr lang="mr-IN" sz="1600" dirty="0" err="1">
                <a:solidFill>
                  <a:srgbClr val="F6F8FA"/>
                </a:solidFill>
              </a:rPr>
              <a:t>np.</a:t>
            </a:r>
            <a:r>
              <a:rPr lang="mr-IN" sz="1600" dirty="0" err="1">
                <a:solidFill>
                  <a:srgbClr val="66D9EF"/>
                </a:solidFill>
              </a:rPr>
              <a:t>sum</a:t>
            </a:r>
            <a:r>
              <a:rPr lang="mr-IN" sz="1600" dirty="0">
                <a:solidFill>
                  <a:srgbClr val="F6F8FA"/>
                </a:solidFill>
              </a:rPr>
              <a:t>(</a:t>
            </a:r>
            <a:r>
              <a:rPr lang="mr-IN" sz="1600" dirty="0" err="1">
                <a:solidFill>
                  <a:srgbClr val="F6F8FA"/>
                </a:solidFill>
              </a:rPr>
              <a:t>A,</a:t>
            </a:r>
            <a:r>
              <a:rPr lang="mr-IN" sz="1600" dirty="0" err="1">
                <a:solidFill>
                  <a:srgbClr val="AA4926"/>
                </a:solidFill>
              </a:rPr>
              <a:t>axis</a:t>
            </a:r>
            <a:r>
              <a:rPr lang="mr-IN" sz="1600" dirty="0">
                <a:solidFill>
                  <a:srgbClr val="F92672"/>
                </a:solidFill>
              </a:rPr>
              <a:t>=</a:t>
            </a:r>
            <a:r>
              <a:rPr lang="mr-IN" sz="1600" dirty="0">
                <a:solidFill>
                  <a:srgbClr val="AE81FF"/>
                </a:solidFill>
              </a:rPr>
              <a:t>1</a:t>
            </a:r>
            <a:r>
              <a:rPr lang="mr-IN" sz="1600" dirty="0">
                <a:solidFill>
                  <a:srgbClr val="F6F8FA"/>
                </a:solidFill>
              </a:rPr>
              <a:t>)</a:t>
            </a:r>
            <a:r>
              <a:rPr lang="mr-IN" sz="1600" dirty="0"/>
              <a:t/>
            </a:r>
            <a:br>
              <a:rPr lang="mr-IN" sz="1600" dirty="0"/>
            </a:br>
            <a:r>
              <a:rPr lang="mr-IN" sz="1600" dirty="0"/>
              <a:t>    </a:t>
            </a:r>
            <a:r>
              <a:rPr lang="mr-IN" sz="1600" dirty="0">
                <a:solidFill>
                  <a:srgbClr val="F6F8FA"/>
                </a:solidFill>
              </a:rPr>
              <a:t>M</a:t>
            </a:r>
            <a:r>
              <a:rPr lang="mr-IN" sz="1600" dirty="0"/>
              <a:t> </a:t>
            </a:r>
            <a:r>
              <a:rPr lang="mr-IN" sz="1600" dirty="0">
                <a:solidFill>
                  <a:srgbClr val="F92672"/>
                </a:solidFill>
              </a:rPr>
              <a:t>= </a:t>
            </a:r>
            <a:r>
              <a:rPr lang="mr-IN" sz="1600" dirty="0" err="1">
                <a:solidFill>
                  <a:srgbClr val="F6F8FA"/>
                </a:solidFill>
              </a:rPr>
              <a:t>np.</a:t>
            </a:r>
            <a:r>
              <a:rPr lang="mr-IN" sz="1600" dirty="0" err="1">
                <a:solidFill>
                  <a:srgbClr val="66D9EF"/>
                </a:solidFill>
              </a:rPr>
              <a:t>diag</a:t>
            </a:r>
            <a:r>
              <a:rPr lang="mr-IN" sz="1600" dirty="0">
                <a:solidFill>
                  <a:srgbClr val="F6F8FA"/>
                </a:solidFill>
              </a:rPr>
              <a:t>(D.A1)</a:t>
            </a:r>
            <a:r>
              <a:rPr lang="mr-IN" sz="1600" dirty="0"/>
              <a:t/>
            </a:r>
            <a:br>
              <a:rPr lang="mr-IN" sz="1600" dirty="0"/>
            </a:br>
            <a:r>
              <a:rPr lang="mr-IN" sz="1600" dirty="0"/>
              <a:t>    </a:t>
            </a:r>
            <a:r>
              <a:rPr lang="mr-IN" sz="1600" dirty="0">
                <a:solidFill>
                  <a:srgbClr val="F6F8FA"/>
                </a:solidFill>
              </a:rPr>
              <a:t>M_I</a:t>
            </a:r>
            <a:r>
              <a:rPr lang="mr-IN" sz="1600" dirty="0"/>
              <a:t> </a:t>
            </a:r>
            <a:r>
              <a:rPr lang="mr-IN" sz="1600" dirty="0">
                <a:solidFill>
                  <a:srgbClr val="F92672"/>
                </a:solidFill>
              </a:rPr>
              <a:t>= </a:t>
            </a:r>
            <a:r>
              <a:rPr lang="mr-IN" sz="1600" dirty="0" err="1">
                <a:solidFill>
                  <a:srgbClr val="F6F8FA"/>
                </a:solidFill>
              </a:rPr>
              <a:t>np.linalg.</a:t>
            </a:r>
            <a:r>
              <a:rPr lang="mr-IN" sz="1600" dirty="0" err="1">
                <a:solidFill>
                  <a:srgbClr val="66D9EF"/>
                </a:solidFill>
              </a:rPr>
              <a:t>inv</a:t>
            </a:r>
            <a:r>
              <a:rPr lang="mr-IN" sz="1600" dirty="0">
                <a:solidFill>
                  <a:srgbClr val="F6F8FA"/>
                </a:solidFill>
              </a:rPr>
              <a:t>(M)</a:t>
            </a:r>
            <a:r>
              <a:rPr lang="mr-IN" sz="1600" dirty="0">
                <a:solidFill>
                  <a:srgbClr val="75715E"/>
                </a:solidFill>
              </a:rPr>
              <a:t/>
            </a:r>
            <a:br>
              <a:rPr lang="mr-IN" sz="1600" dirty="0">
                <a:solidFill>
                  <a:srgbClr val="75715E"/>
                </a:solidFill>
              </a:rPr>
            </a:br>
            <a:r>
              <a:rPr lang="mr-IN" sz="1600" dirty="0">
                <a:solidFill>
                  <a:srgbClr val="75715E"/>
                </a:solidFill>
              </a:rPr>
              <a:t>    </a:t>
            </a:r>
            <a:r>
              <a:rPr lang="mr-IN" sz="1600" dirty="0">
                <a:solidFill>
                  <a:srgbClr val="F6F8FA"/>
                </a:solidFill>
              </a:rPr>
              <a:t>L</a:t>
            </a:r>
            <a:r>
              <a:rPr lang="mr-IN" sz="1600" dirty="0"/>
              <a:t> </a:t>
            </a:r>
            <a:r>
              <a:rPr lang="mr-IN" sz="1600" dirty="0">
                <a:solidFill>
                  <a:srgbClr val="F92672"/>
                </a:solidFill>
              </a:rPr>
              <a:t>= </a:t>
            </a:r>
            <a:r>
              <a:rPr lang="mr-IN" sz="1600" dirty="0">
                <a:solidFill>
                  <a:srgbClr val="F6F8FA"/>
                </a:solidFill>
              </a:rPr>
              <a:t>M_I </a:t>
            </a:r>
            <a:r>
              <a:rPr lang="mr-IN" sz="1600" dirty="0">
                <a:solidFill>
                  <a:srgbClr val="F92672"/>
                </a:solidFill>
              </a:rPr>
              <a:t>@ </a:t>
            </a:r>
            <a:r>
              <a:rPr lang="mr-IN" sz="1600" dirty="0" err="1">
                <a:solidFill>
                  <a:srgbClr val="F6F8FA"/>
                </a:solidFill>
              </a:rPr>
              <a:t>A</a:t>
            </a:r>
            <a:r>
              <a:rPr lang="mr-IN" sz="1600" dirty="0">
                <a:solidFill>
                  <a:srgbClr val="F6F8FA"/>
                </a:solidFill>
              </a:rPr>
              <a:t> </a:t>
            </a:r>
            <a:r>
              <a:rPr lang="mr-IN" sz="1600" dirty="0">
                <a:solidFill>
                  <a:srgbClr val="75715E"/>
                </a:solidFill>
              </a:rPr>
              <a:t># </a:t>
            </a:r>
            <a:r>
              <a:rPr lang="mr-IN" sz="1600" dirty="0" err="1">
                <a:solidFill>
                  <a:srgbClr val="75715E"/>
                </a:solidFill>
              </a:rPr>
              <a:t>Must</a:t>
            </a:r>
            <a:r>
              <a:rPr lang="mr-IN" sz="1600" dirty="0">
                <a:solidFill>
                  <a:srgbClr val="75715E"/>
                </a:solidFill>
              </a:rPr>
              <a:t> </a:t>
            </a:r>
            <a:r>
              <a:rPr lang="mr-IN" sz="1600" dirty="0" err="1">
                <a:solidFill>
                  <a:srgbClr val="75715E"/>
                </a:solidFill>
              </a:rPr>
              <a:t>use</a:t>
            </a:r>
            <a:r>
              <a:rPr lang="mr-IN" sz="1600" dirty="0">
                <a:solidFill>
                  <a:srgbClr val="75715E"/>
                </a:solidFill>
              </a:rPr>
              <a:t> Python3</a:t>
            </a:r>
            <a:r>
              <a:rPr lang="zh-CN" altLang="en-US" sz="1600" dirty="0">
                <a:solidFill>
                  <a:srgbClr val="75715E"/>
                </a:solidFill>
              </a:rPr>
              <a:t> </a:t>
            </a:r>
            <a:r>
              <a:rPr lang="en-US" altLang="zh-CN" sz="1600" dirty="0">
                <a:solidFill>
                  <a:srgbClr val="75715E"/>
                </a:solidFill>
              </a:rPr>
              <a:t>to</a:t>
            </a:r>
            <a:r>
              <a:rPr lang="zh-CN" altLang="en-US" sz="1600" dirty="0">
                <a:solidFill>
                  <a:srgbClr val="75715E"/>
                </a:solidFill>
              </a:rPr>
              <a:t> </a:t>
            </a:r>
            <a:r>
              <a:rPr lang="en-US" altLang="zh-CN" sz="1600" dirty="0">
                <a:solidFill>
                  <a:srgbClr val="75715E"/>
                </a:solidFill>
              </a:rPr>
              <a:t>use</a:t>
            </a:r>
            <a:r>
              <a:rPr lang="zh-CN" altLang="en-US" sz="1600" dirty="0">
                <a:solidFill>
                  <a:srgbClr val="75715E"/>
                </a:solidFill>
              </a:rPr>
              <a:t> </a:t>
            </a:r>
            <a:r>
              <a:rPr lang="en-US" altLang="zh-CN" sz="1600" dirty="0">
                <a:solidFill>
                  <a:srgbClr val="75715E"/>
                </a:solidFill>
              </a:rPr>
              <a:t>@</a:t>
            </a:r>
            <a:r>
              <a:rPr lang="mr-IN" sz="1600" dirty="0">
                <a:solidFill>
                  <a:srgbClr val="75715E"/>
                </a:solidFill>
              </a:rPr>
              <a:t/>
            </a:r>
            <a:br>
              <a:rPr lang="mr-IN" sz="1600" dirty="0">
                <a:solidFill>
                  <a:srgbClr val="75715E"/>
                </a:solidFill>
              </a:rPr>
            </a:br>
            <a:r>
              <a:rPr lang="mr-IN" sz="1600" dirty="0">
                <a:solidFill>
                  <a:srgbClr val="75715E"/>
                </a:solidFill>
              </a:rPr>
              <a:t>    </a:t>
            </a:r>
            <a:r>
              <a:rPr lang="mr-IN" sz="1600" dirty="0" err="1">
                <a:solidFill>
                  <a:srgbClr val="F6F8FA"/>
                </a:solidFill>
              </a:rPr>
              <a:t>n</a:t>
            </a:r>
            <a:r>
              <a:rPr lang="mr-IN" sz="1600" dirty="0"/>
              <a:t> </a:t>
            </a:r>
            <a:r>
              <a:rPr lang="mr-IN" sz="1600" dirty="0">
                <a:solidFill>
                  <a:srgbClr val="F92672"/>
                </a:solidFill>
              </a:rPr>
              <a:t>= </a:t>
            </a:r>
            <a:r>
              <a:rPr lang="mr-IN" sz="1600" dirty="0" err="1">
                <a:solidFill>
                  <a:srgbClr val="66D9EF"/>
                </a:solidFill>
              </a:rPr>
              <a:t>len</a:t>
            </a:r>
            <a:r>
              <a:rPr lang="mr-IN" sz="1600" dirty="0">
                <a:solidFill>
                  <a:srgbClr val="F6F8FA"/>
                </a:solidFill>
              </a:rPr>
              <a:t>(</a:t>
            </a:r>
            <a:r>
              <a:rPr lang="mr-IN" sz="1600" i="1" dirty="0" err="1">
                <a:solidFill>
                  <a:srgbClr val="FD971F"/>
                </a:solidFill>
              </a:rPr>
              <a:t>DiG</a:t>
            </a:r>
            <a:r>
              <a:rPr lang="mr-IN" sz="1600" dirty="0">
                <a:solidFill>
                  <a:srgbClr val="F6F8FA"/>
                </a:solidFill>
              </a:rPr>
              <a:t>)</a:t>
            </a:r>
            <a:r>
              <a:rPr lang="mr-IN" sz="1600" dirty="0"/>
              <a:t/>
            </a:r>
            <a:br>
              <a:rPr lang="mr-IN" sz="1600" dirty="0"/>
            </a:br>
            <a:r>
              <a:rPr lang="mr-IN" sz="1600" dirty="0"/>
              <a:t>    </a:t>
            </a:r>
            <a:r>
              <a:rPr lang="mr-IN" sz="1600" dirty="0" err="1">
                <a:solidFill>
                  <a:srgbClr val="F6F8FA"/>
                </a:solidFill>
              </a:rPr>
              <a:t>p</a:t>
            </a:r>
            <a:r>
              <a:rPr lang="mr-IN" sz="1600" dirty="0"/>
              <a:t> </a:t>
            </a:r>
            <a:r>
              <a:rPr lang="mr-IN" sz="1600" dirty="0">
                <a:solidFill>
                  <a:srgbClr val="F92672"/>
                </a:solidFill>
              </a:rPr>
              <a:t>= </a:t>
            </a:r>
            <a:r>
              <a:rPr lang="mr-IN" sz="1600" dirty="0" err="1">
                <a:solidFill>
                  <a:srgbClr val="F6F8FA"/>
                </a:solidFill>
              </a:rPr>
              <a:t>np.</a:t>
            </a:r>
            <a:r>
              <a:rPr lang="mr-IN" sz="1600" dirty="0" err="1">
                <a:solidFill>
                  <a:srgbClr val="66D9EF"/>
                </a:solidFill>
              </a:rPr>
              <a:t>ones</a:t>
            </a:r>
            <a:r>
              <a:rPr lang="mr-IN" sz="1600" dirty="0">
                <a:solidFill>
                  <a:srgbClr val="F6F8FA"/>
                </a:solidFill>
              </a:rPr>
              <a:t>(</a:t>
            </a:r>
            <a:r>
              <a:rPr lang="mr-IN" sz="1600" dirty="0" err="1">
                <a:solidFill>
                  <a:srgbClr val="F6F8FA"/>
                </a:solidFill>
              </a:rPr>
              <a:t>n</a:t>
            </a:r>
            <a:r>
              <a:rPr lang="mr-IN" sz="1600" dirty="0">
                <a:solidFill>
                  <a:srgbClr val="F6F8FA"/>
                </a:solidFill>
              </a:rPr>
              <a:t>)</a:t>
            </a:r>
            <a:r>
              <a:rPr lang="mr-IN" sz="1600" dirty="0">
                <a:solidFill>
                  <a:srgbClr val="F92672"/>
                </a:solidFill>
              </a:rPr>
              <a:t>/</a:t>
            </a:r>
            <a:r>
              <a:rPr lang="mr-IN" sz="1600" dirty="0" err="1">
                <a:solidFill>
                  <a:srgbClr val="F6F8FA"/>
                </a:solidFill>
              </a:rPr>
              <a:t>n</a:t>
            </a:r>
            <a:r>
              <a:rPr lang="mr-IN" sz="1600" dirty="0"/>
              <a:t/>
            </a:r>
            <a:br>
              <a:rPr lang="mr-IN" sz="1600" dirty="0"/>
            </a:br>
            <a:r>
              <a:rPr lang="mr-IN" sz="1600" dirty="0"/>
              <a:t>    </a:t>
            </a:r>
            <a:r>
              <a:rPr lang="mr-IN" sz="1600" i="1" dirty="0" err="1">
                <a:solidFill>
                  <a:srgbClr val="66D9EF"/>
                </a:solidFill>
              </a:rPr>
              <a:t>for</a:t>
            </a:r>
            <a:r>
              <a:rPr lang="mr-IN" sz="1600" i="1" dirty="0">
                <a:solidFill>
                  <a:srgbClr val="66D9EF"/>
                </a:solidFill>
              </a:rPr>
              <a:t> </a:t>
            </a:r>
            <a:r>
              <a:rPr lang="mr-IN" sz="1600" dirty="0" err="1">
                <a:solidFill>
                  <a:srgbClr val="F6F8FA"/>
                </a:solidFill>
              </a:rPr>
              <a:t>i</a:t>
            </a:r>
            <a:r>
              <a:rPr lang="mr-IN" sz="1600" dirty="0"/>
              <a:t> </a:t>
            </a:r>
            <a:r>
              <a:rPr lang="mr-IN" sz="1600" i="1" dirty="0" err="1">
                <a:solidFill>
                  <a:srgbClr val="66D9EF"/>
                </a:solidFill>
              </a:rPr>
              <a:t>in</a:t>
            </a:r>
            <a:r>
              <a:rPr lang="mr-IN" sz="1600" i="1" dirty="0">
                <a:solidFill>
                  <a:srgbClr val="66D9EF"/>
                </a:solidFill>
              </a:rPr>
              <a:t> </a:t>
            </a:r>
            <a:r>
              <a:rPr lang="mr-IN" sz="1600" dirty="0" err="1">
                <a:solidFill>
                  <a:srgbClr val="66D9EF"/>
                </a:solidFill>
              </a:rPr>
              <a:t>range</a:t>
            </a:r>
            <a:r>
              <a:rPr lang="mr-IN" sz="1600" dirty="0">
                <a:solidFill>
                  <a:srgbClr val="F6F8FA"/>
                </a:solidFill>
              </a:rPr>
              <a:t>(</a:t>
            </a:r>
            <a:r>
              <a:rPr lang="mr-IN" sz="1600" i="1" dirty="0" err="1">
                <a:solidFill>
                  <a:srgbClr val="FD971F"/>
                </a:solidFill>
              </a:rPr>
              <a:t>max_iter</a:t>
            </a:r>
            <a:r>
              <a:rPr lang="mr-IN" sz="1600" dirty="0">
                <a:solidFill>
                  <a:srgbClr val="F6F8FA"/>
                </a:solidFill>
              </a:rPr>
              <a:t>)</a:t>
            </a:r>
            <a:r>
              <a:rPr lang="mr-IN" sz="1600" dirty="0">
                <a:solidFill>
                  <a:srgbClr val="F92672"/>
                </a:solidFill>
              </a:rPr>
              <a:t>:</a:t>
            </a:r>
            <a:br>
              <a:rPr lang="mr-IN" sz="1600" dirty="0">
                <a:solidFill>
                  <a:srgbClr val="F92672"/>
                </a:solidFill>
              </a:rPr>
            </a:br>
            <a:r>
              <a:rPr lang="mr-IN" sz="1600" dirty="0">
                <a:solidFill>
                  <a:srgbClr val="F92672"/>
                </a:solidFill>
              </a:rPr>
              <a:t>        </a:t>
            </a:r>
            <a:r>
              <a:rPr lang="mr-IN" sz="1600" dirty="0" err="1">
                <a:solidFill>
                  <a:srgbClr val="F6F8FA"/>
                </a:solidFill>
              </a:rPr>
              <a:t>p</a:t>
            </a:r>
            <a:r>
              <a:rPr lang="mr-IN" sz="1600" dirty="0"/>
              <a:t> </a:t>
            </a:r>
            <a:r>
              <a:rPr lang="mr-IN" sz="1600" dirty="0">
                <a:solidFill>
                  <a:srgbClr val="F92672"/>
                </a:solidFill>
              </a:rPr>
              <a:t>= </a:t>
            </a:r>
            <a:r>
              <a:rPr lang="mr-IN" sz="1600" dirty="0" err="1">
                <a:solidFill>
                  <a:srgbClr val="F6F8FA"/>
                </a:solidFill>
              </a:rPr>
              <a:t>p</a:t>
            </a:r>
            <a:r>
              <a:rPr lang="mr-IN" sz="1600" dirty="0"/>
              <a:t> </a:t>
            </a:r>
            <a:r>
              <a:rPr lang="mr-IN" sz="1600" dirty="0">
                <a:solidFill>
                  <a:srgbClr val="F92672"/>
                </a:solidFill>
              </a:rPr>
              <a:t>@ </a:t>
            </a:r>
            <a:r>
              <a:rPr lang="mr-IN" sz="1600" dirty="0">
                <a:solidFill>
                  <a:srgbClr val="F6F8FA"/>
                </a:solidFill>
              </a:rPr>
              <a:t>L</a:t>
            </a:r>
            <a:r>
              <a:rPr lang="mr-IN" sz="1600" dirty="0"/>
              <a:t/>
            </a:r>
            <a:br>
              <a:rPr lang="mr-IN" sz="1600" dirty="0"/>
            </a:br>
            <a:r>
              <a:rPr lang="mr-IN" sz="1600" dirty="0"/>
              <a:t>        </a:t>
            </a:r>
            <a:r>
              <a:rPr lang="mr-IN" sz="1600" dirty="0" err="1">
                <a:solidFill>
                  <a:srgbClr val="66D9EF"/>
                </a:solidFill>
              </a:rPr>
              <a:t>print</a:t>
            </a:r>
            <a:r>
              <a:rPr lang="mr-IN" sz="1600" dirty="0">
                <a:solidFill>
                  <a:srgbClr val="66D9EF"/>
                </a:solidFill>
              </a:rPr>
              <a:t> </a:t>
            </a:r>
            <a:r>
              <a:rPr lang="mr-IN" sz="1600" dirty="0">
                <a:solidFill>
                  <a:srgbClr val="F6F8FA"/>
                </a:solidFill>
              </a:rPr>
              <a:t>(</a:t>
            </a:r>
            <a:r>
              <a:rPr lang="mr-IN" sz="1600" dirty="0" err="1">
                <a:solidFill>
                  <a:srgbClr val="F6F8FA"/>
                </a:solidFill>
              </a:rPr>
              <a:t>p</a:t>
            </a:r>
            <a:r>
              <a:rPr lang="mr-IN" sz="1600" dirty="0">
                <a:solidFill>
                  <a:srgbClr val="F6F8FA"/>
                </a:solidFill>
              </a:rPr>
              <a:t>)</a:t>
            </a:r>
            <a:endParaRPr lang="en-US" sz="1600" dirty="0">
              <a:solidFill>
                <a:srgbClr val="F6F8FA"/>
              </a:solidFill>
            </a:endParaRPr>
          </a:p>
        </p:txBody>
      </p:sp>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p:sp>
        <p:nvSpPr>
          <p:cNvPr id="5" name="Slide Number Placeholder 4">
            <a:extLst>
              <a:ext uri="{FF2B5EF4-FFF2-40B4-BE49-F238E27FC236}">
                <a16:creationId xmlns:a16="http://schemas.microsoft.com/office/drawing/2014/main" xmlns="" id="{0E4AB9C0-FDD4-E14B-9D4E-C83FADC01B73}"/>
              </a:ext>
            </a:extLst>
          </p:cNvPr>
          <p:cNvSpPr>
            <a:spLocks noGrp="1"/>
          </p:cNvSpPr>
          <p:nvPr>
            <p:ph type="sldNum" sz="quarter" idx="12"/>
          </p:nvPr>
        </p:nvSpPr>
        <p:spPr/>
        <p:txBody>
          <a:bodyPr/>
          <a:lstStyle/>
          <a:p>
            <a:fld id="{E1BEBC7A-FD02-486B-81B5-A845787C689C}" type="slidenum">
              <a:rPr lang="zh-CN" altLang="en-US" smtClean="0"/>
              <a:t>9</a:t>
            </a:fld>
            <a:endParaRPr lang="zh-CN" altLang="en-US"/>
          </a:p>
        </p:txBody>
      </p:sp>
    </p:spTree>
    <p:extLst>
      <p:ext uri="{BB962C8B-B14F-4D97-AF65-F5344CB8AC3E}">
        <p14:creationId xmlns:p14="http://schemas.microsoft.com/office/powerpoint/2010/main" val="139218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0</m:t>
                        </m:r>
                      </m:sup>
                    </m:sSup>
                    <m:r>
                      <a:rPr lang="en-US" altLang="zh-CN" b="0" i="1" dirty="0" smtClean="0">
                        <a:latin typeface="Cambria Math" charset="0"/>
                      </a:rPr>
                      <m:t>=(1,0,0,0)</m:t>
                    </m:r>
                  </m:oMath>
                </a14:m>
                <a:endParaRPr lang="en-US"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𝑝</m:t>
                        </m:r>
                      </m:e>
                      <m:sup>
                        <m:r>
                          <a:rPr lang="en-US" altLang="zh-CN" i="1" dirty="0">
                            <a:latin typeface="Cambria Math" charset="0"/>
                          </a:rPr>
                          <m:t>0</m:t>
                        </m:r>
                      </m:sup>
                    </m:sSup>
                    <m:r>
                      <a:rPr lang="en-US" altLang="zh-CN" i="1" dirty="0">
                        <a:latin typeface="Cambria Math" charset="0"/>
                      </a:rPr>
                      <m:t>=(</m:t>
                    </m:r>
                    <m:r>
                      <a:rPr lang="en-US" altLang="zh-CN" b="0" i="1" dirty="0" smtClean="0">
                        <a:latin typeface="Cambria Math" charset="0"/>
                      </a:rPr>
                      <m:t>0</m:t>
                    </m:r>
                    <m:r>
                      <a:rPr lang="en-US" altLang="zh-CN" i="1" dirty="0">
                        <a:latin typeface="Cambria Math" charset="0"/>
                      </a:rPr>
                      <m:t>,</m:t>
                    </m:r>
                    <m:r>
                      <a:rPr lang="en-US" altLang="zh-CN" b="0" i="1" dirty="0" smtClean="0">
                        <a:latin typeface="Cambria Math" charset="0"/>
                      </a:rPr>
                      <m:t>1</m:t>
                    </m:r>
                    <m:r>
                      <a:rPr lang="en-US" altLang="zh-CN" i="1" dirty="0">
                        <a:latin typeface="Cambria Math" charset="0"/>
                      </a:rPr>
                      <m:t>,0,0)</m:t>
                    </m:r>
                  </m:oMath>
                </a14:m>
                <a:endParaRPr lang="en-US"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𝑝</m:t>
                        </m:r>
                      </m:e>
                      <m:sup>
                        <m:r>
                          <a:rPr lang="en-US" altLang="zh-CN" i="1" dirty="0">
                            <a:latin typeface="Cambria Math" charset="0"/>
                          </a:rPr>
                          <m:t>0</m:t>
                        </m:r>
                      </m:sup>
                    </m:sSup>
                    <m:r>
                      <a:rPr lang="en-US" altLang="zh-CN" i="1" dirty="0">
                        <a:latin typeface="Cambria Math" charset="0"/>
                      </a:rPr>
                      <m:t>=(</m:t>
                    </m:r>
                    <m:r>
                      <a:rPr lang="en-US" altLang="zh-CN" b="0" i="1" dirty="0" smtClean="0">
                        <a:latin typeface="Cambria Math" charset="0"/>
                      </a:rPr>
                      <m:t>0.25</m:t>
                    </m:r>
                    <m:r>
                      <a:rPr lang="en-US" altLang="zh-CN" i="1" dirty="0">
                        <a:latin typeface="Cambria Math" charset="0"/>
                      </a:rPr>
                      <m:t>,</m:t>
                    </m:r>
                    <m:r>
                      <a:rPr lang="en-US" altLang="zh-CN" b="0" i="1" dirty="0" smtClean="0">
                        <a:latin typeface="Cambria Math" charset="0"/>
                      </a:rPr>
                      <m:t>0.25</m:t>
                    </m:r>
                    <m:r>
                      <a:rPr lang="en-US" altLang="zh-CN" i="1" dirty="0">
                        <a:latin typeface="Cambria Math" charset="0"/>
                      </a:rPr>
                      <m:t>,0</m:t>
                    </m:r>
                    <m:r>
                      <a:rPr lang="en-US" altLang="zh-CN" b="0" i="1" dirty="0" smtClean="0">
                        <a:latin typeface="Cambria Math" charset="0"/>
                      </a:rPr>
                      <m:t>.25</m:t>
                    </m:r>
                    <m:r>
                      <a:rPr lang="en-US" altLang="zh-CN" i="1" dirty="0">
                        <a:latin typeface="Cambria Math" charset="0"/>
                      </a:rPr>
                      <m:t>,0</m:t>
                    </m:r>
                    <m:r>
                      <a:rPr lang="en-US" altLang="zh-CN" b="0" i="1" dirty="0" smtClean="0">
                        <a:latin typeface="Cambria Math" charset="0"/>
                      </a:rPr>
                      <m:t>.25</m:t>
                    </m:r>
                    <m:r>
                      <a:rPr lang="en-US" altLang="zh-CN" i="1" dirty="0">
                        <a:latin typeface="Cambria Math" charset="0"/>
                      </a:rPr>
                      <m:t>)</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2"/>
                <a:stretch>
                  <a:fillRect l="-1180" t="-774"/>
                </a:stretch>
              </a:blipFill>
            </p:spPr>
            <p:txBody>
              <a:bodyPr/>
              <a:lstStyle/>
              <a:p>
                <a:r>
                  <a:rPr lang="en-US">
                    <a:noFill/>
                  </a:rPr>
                  <a:t> </a:t>
                </a:r>
              </a:p>
            </p:txBody>
          </p:sp>
        </mc:Fallback>
      </mc:AlternateContent>
      <p:sp>
        <p:nvSpPr>
          <p:cNvPr id="4" name="Rectangle 3"/>
          <p:cNvSpPr/>
          <p:nvPr/>
        </p:nvSpPr>
        <p:spPr>
          <a:xfrm>
            <a:off x="4118206" y="1305268"/>
            <a:ext cx="4759093" cy="3323987"/>
          </a:xfrm>
          <a:prstGeom prst="rect">
            <a:avLst/>
          </a:prstGeom>
          <a:solidFill>
            <a:srgbClr val="0E223A"/>
          </a:solidFill>
        </p:spPr>
        <p:txBody>
          <a:bodyPr wrap="square">
            <a:spAutoFit/>
          </a:bodyPr>
          <a:lstStyle/>
          <a:p>
            <a:r>
              <a:rPr lang="en-US" sz="1500" i="1" dirty="0">
                <a:solidFill>
                  <a:srgbClr val="66D9EF"/>
                </a:solidFill>
              </a:rPr>
              <a:t>import </a:t>
            </a:r>
            <a:r>
              <a:rPr lang="en-US" sz="1500" dirty="0" err="1">
                <a:solidFill>
                  <a:srgbClr val="F6F8FA"/>
                </a:solidFill>
              </a:rPr>
              <a:t>numpy</a:t>
            </a:r>
            <a:r>
              <a:rPr lang="en-US" sz="1500" dirty="0">
                <a:solidFill>
                  <a:srgbClr val="F6F8FA"/>
                </a:solidFill>
              </a:rPr>
              <a:t> </a:t>
            </a:r>
            <a:r>
              <a:rPr lang="en-US" sz="1500" i="1" dirty="0">
                <a:solidFill>
                  <a:srgbClr val="66D9EF"/>
                </a:solidFill>
              </a:rPr>
              <a:t>as </a:t>
            </a:r>
            <a:r>
              <a:rPr lang="en-US" sz="1500" dirty="0">
                <a:solidFill>
                  <a:srgbClr val="F6F8FA"/>
                </a:solidFill>
              </a:rPr>
              <a:t>np</a:t>
            </a:r>
            <a:endParaRPr lang="en-US" sz="1500" i="1" dirty="0">
              <a:solidFill>
                <a:srgbClr val="F6F8FA"/>
              </a:solidFill>
            </a:endParaRPr>
          </a:p>
          <a:p>
            <a:r>
              <a:rPr lang="mr-IN" sz="1500" i="1" dirty="0" err="1">
                <a:solidFill>
                  <a:srgbClr val="66D9EF"/>
                </a:solidFill>
              </a:rPr>
              <a:t>def</a:t>
            </a:r>
            <a:r>
              <a:rPr lang="mr-IN" sz="1500" i="1" dirty="0">
                <a:solidFill>
                  <a:srgbClr val="66D9EF"/>
                </a:solidFill>
              </a:rPr>
              <a:t> </a:t>
            </a:r>
            <a:r>
              <a:rPr lang="mr-IN" sz="1500" dirty="0" err="1">
                <a:solidFill>
                  <a:srgbClr val="A6E22E"/>
                </a:solidFill>
              </a:rPr>
              <a:t>pagerank</a:t>
            </a:r>
            <a:r>
              <a:rPr lang="mr-IN" sz="1500" dirty="0">
                <a:solidFill>
                  <a:srgbClr val="A6E22E"/>
                </a:solidFill>
              </a:rPr>
              <a:t>_</a:t>
            </a:r>
            <a:r>
              <a:rPr lang="en-US" altLang="zh-CN" sz="1500" dirty="0">
                <a:solidFill>
                  <a:srgbClr val="A6E22E"/>
                </a:solidFill>
              </a:rPr>
              <a:t>fake</a:t>
            </a:r>
            <a:r>
              <a:rPr lang="mr-IN" sz="1500" dirty="0">
                <a:solidFill>
                  <a:srgbClr val="A6E22E"/>
                </a:solidFill>
              </a:rPr>
              <a:t> </a:t>
            </a:r>
            <a:r>
              <a:rPr lang="mr-IN" sz="1500" dirty="0">
                <a:solidFill>
                  <a:schemeClr val="bg1"/>
                </a:solidFill>
              </a:rPr>
              <a:t>(</a:t>
            </a:r>
            <a:r>
              <a:rPr lang="mr-IN" sz="1500" i="1" dirty="0" err="1">
                <a:solidFill>
                  <a:srgbClr val="FD971F"/>
                </a:solidFill>
              </a:rPr>
              <a:t>DiG</a:t>
            </a:r>
            <a:r>
              <a:rPr lang="mr-IN" sz="1500" dirty="0"/>
              <a:t>, </a:t>
            </a:r>
            <a:r>
              <a:rPr lang="mr-IN" sz="1500" i="1" dirty="0" err="1">
                <a:solidFill>
                  <a:srgbClr val="FD971F"/>
                </a:solidFill>
              </a:rPr>
              <a:t>max_iter</a:t>
            </a:r>
            <a:r>
              <a:rPr lang="mr-IN" sz="1500" dirty="0">
                <a:solidFill>
                  <a:srgbClr val="F92672"/>
                </a:solidFill>
              </a:rPr>
              <a:t>=</a:t>
            </a:r>
            <a:r>
              <a:rPr lang="mr-IN" sz="1500" dirty="0">
                <a:solidFill>
                  <a:srgbClr val="AE81FF"/>
                </a:solidFill>
              </a:rPr>
              <a:t>200</a:t>
            </a:r>
            <a:r>
              <a:rPr lang="mr-IN" sz="1500" dirty="0">
                <a:solidFill>
                  <a:schemeClr val="bg1"/>
                </a:solidFill>
              </a:rPr>
              <a:t>)</a:t>
            </a:r>
            <a:r>
              <a:rPr lang="mr-IN" sz="1500" dirty="0">
                <a:solidFill>
                  <a:srgbClr val="F92672"/>
                </a:solidFill>
              </a:rPr>
              <a:t>:</a:t>
            </a:r>
            <a:br>
              <a:rPr lang="mr-IN" sz="1500" dirty="0">
                <a:solidFill>
                  <a:srgbClr val="F92672"/>
                </a:solidFill>
              </a:rPr>
            </a:br>
            <a:r>
              <a:rPr lang="mr-IN" sz="1500" dirty="0">
                <a:solidFill>
                  <a:srgbClr val="F92672"/>
                </a:solidFill>
              </a:rPr>
              <a:t>    </a:t>
            </a:r>
            <a:r>
              <a:rPr lang="mr-IN" sz="1500" dirty="0">
                <a:solidFill>
                  <a:srgbClr val="75715E"/>
                </a:solidFill>
              </a:rPr>
              <a:t># </a:t>
            </a:r>
            <a:r>
              <a:rPr lang="mr-IN" sz="1500" dirty="0" err="1">
                <a:solidFill>
                  <a:srgbClr val="75715E"/>
                </a:solidFill>
              </a:rPr>
              <a:t>Adjacency</a:t>
            </a:r>
            <a:r>
              <a:rPr lang="mr-IN" sz="1500" dirty="0">
                <a:solidFill>
                  <a:srgbClr val="75715E"/>
                </a:solidFill>
              </a:rPr>
              <a:t> </a:t>
            </a:r>
            <a:r>
              <a:rPr lang="mr-IN" sz="1500" dirty="0" err="1">
                <a:solidFill>
                  <a:srgbClr val="75715E"/>
                </a:solidFill>
              </a:rPr>
              <a:t>Matrix</a:t>
            </a:r>
            <a:r>
              <a:rPr lang="mr-IN" sz="1500" dirty="0">
                <a:solidFill>
                  <a:srgbClr val="75715E"/>
                </a:solidFill>
              </a:rPr>
              <a:t/>
            </a:r>
            <a:br>
              <a:rPr lang="mr-IN" sz="1500" dirty="0">
                <a:solidFill>
                  <a:srgbClr val="75715E"/>
                </a:solidFill>
              </a:rPr>
            </a:br>
            <a:r>
              <a:rPr lang="mr-IN" sz="1500" dirty="0">
                <a:solidFill>
                  <a:srgbClr val="75715E"/>
                </a:solidFill>
              </a:rPr>
              <a:t>    </a:t>
            </a:r>
            <a:r>
              <a:rPr lang="mr-IN" sz="1500" dirty="0" err="1">
                <a:solidFill>
                  <a:srgbClr val="F6F8FA"/>
                </a:solidFill>
              </a:rPr>
              <a:t>A</a:t>
            </a:r>
            <a:r>
              <a:rPr lang="mr-IN" sz="1500" dirty="0"/>
              <a:t> </a:t>
            </a:r>
            <a:r>
              <a:rPr lang="mr-IN" sz="1500" dirty="0">
                <a:solidFill>
                  <a:srgbClr val="F92672"/>
                </a:solidFill>
              </a:rPr>
              <a:t>= </a:t>
            </a:r>
            <a:r>
              <a:rPr lang="mr-IN" sz="1500" dirty="0" err="1">
                <a:solidFill>
                  <a:srgbClr val="F6F8FA"/>
                </a:solidFill>
              </a:rPr>
              <a:t>nx.</a:t>
            </a:r>
            <a:r>
              <a:rPr lang="mr-IN" sz="1500" dirty="0" err="1">
                <a:solidFill>
                  <a:srgbClr val="66D9EF"/>
                </a:solidFill>
              </a:rPr>
              <a:t>to_numpy_matrix</a:t>
            </a:r>
            <a:r>
              <a:rPr lang="mr-IN" sz="1500" dirty="0">
                <a:solidFill>
                  <a:srgbClr val="F6F8FA"/>
                </a:solidFill>
              </a:rPr>
              <a:t>(</a:t>
            </a:r>
            <a:r>
              <a:rPr lang="mr-IN" sz="1500" i="1" dirty="0" err="1">
                <a:solidFill>
                  <a:srgbClr val="FD971F"/>
                </a:solidFill>
              </a:rPr>
              <a:t>DiG</a:t>
            </a:r>
            <a:r>
              <a:rPr lang="mr-IN" sz="1500" dirty="0">
                <a:solidFill>
                  <a:srgbClr val="F6F8FA"/>
                </a:solidFill>
              </a:rPr>
              <a:t>)</a:t>
            </a:r>
            <a:r>
              <a:rPr lang="mr-IN" sz="1500" dirty="0"/>
              <a:t/>
            </a:r>
            <a:br>
              <a:rPr lang="mr-IN" sz="1500" dirty="0"/>
            </a:br>
            <a:r>
              <a:rPr lang="mr-IN" sz="1500" dirty="0"/>
              <a:t>    </a:t>
            </a:r>
            <a:r>
              <a:rPr lang="mr-IN" sz="1500" dirty="0">
                <a:solidFill>
                  <a:srgbClr val="75715E"/>
                </a:solidFill>
              </a:rPr>
              <a:t># </a:t>
            </a:r>
            <a:r>
              <a:rPr lang="mr-IN" sz="1500" dirty="0" err="1">
                <a:solidFill>
                  <a:srgbClr val="75715E"/>
                </a:solidFill>
              </a:rPr>
              <a:t>Out-Degree</a:t>
            </a:r>
            <a:r>
              <a:rPr lang="mr-IN" sz="1500" dirty="0">
                <a:solidFill>
                  <a:srgbClr val="75715E"/>
                </a:solidFill>
              </a:rPr>
              <a:t> -&gt; M -&gt; M^{-1}</a:t>
            </a:r>
            <a:br>
              <a:rPr lang="mr-IN" sz="1500" dirty="0">
                <a:solidFill>
                  <a:srgbClr val="75715E"/>
                </a:solidFill>
              </a:rPr>
            </a:br>
            <a:r>
              <a:rPr lang="mr-IN" sz="1500" dirty="0">
                <a:solidFill>
                  <a:srgbClr val="75715E"/>
                </a:solidFill>
              </a:rPr>
              <a:t>    </a:t>
            </a:r>
            <a:r>
              <a:rPr lang="mr-IN" sz="1500" dirty="0">
                <a:solidFill>
                  <a:srgbClr val="F6F8FA"/>
                </a:solidFill>
              </a:rPr>
              <a:t>D</a:t>
            </a:r>
            <a:r>
              <a:rPr lang="mr-IN" sz="1500" dirty="0"/>
              <a:t> </a:t>
            </a:r>
            <a:r>
              <a:rPr lang="mr-IN" sz="1500" dirty="0">
                <a:solidFill>
                  <a:srgbClr val="F92672"/>
                </a:solidFill>
              </a:rPr>
              <a:t>= </a:t>
            </a:r>
            <a:r>
              <a:rPr lang="mr-IN" sz="1500" dirty="0" err="1">
                <a:solidFill>
                  <a:srgbClr val="F6F8FA"/>
                </a:solidFill>
              </a:rPr>
              <a:t>np.</a:t>
            </a:r>
            <a:r>
              <a:rPr lang="mr-IN" sz="1500" dirty="0" err="1">
                <a:solidFill>
                  <a:srgbClr val="66D9EF"/>
                </a:solidFill>
              </a:rPr>
              <a:t>sum</a:t>
            </a:r>
            <a:r>
              <a:rPr lang="mr-IN" sz="1500" dirty="0">
                <a:solidFill>
                  <a:srgbClr val="F6F8FA"/>
                </a:solidFill>
              </a:rPr>
              <a:t>(</a:t>
            </a:r>
            <a:r>
              <a:rPr lang="mr-IN" sz="1500" dirty="0" err="1">
                <a:solidFill>
                  <a:srgbClr val="F6F8FA"/>
                </a:solidFill>
              </a:rPr>
              <a:t>A,</a:t>
            </a:r>
            <a:r>
              <a:rPr lang="mr-IN" sz="1500" dirty="0" err="1">
                <a:solidFill>
                  <a:srgbClr val="AA4926"/>
                </a:solidFill>
              </a:rPr>
              <a:t>axis</a:t>
            </a:r>
            <a:r>
              <a:rPr lang="mr-IN" sz="1500" dirty="0">
                <a:solidFill>
                  <a:srgbClr val="F92672"/>
                </a:solidFill>
              </a:rPr>
              <a:t>=</a:t>
            </a:r>
            <a:r>
              <a:rPr lang="mr-IN" sz="1500" dirty="0">
                <a:solidFill>
                  <a:srgbClr val="AE81FF"/>
                </a:solidFill>
              </a:rPr>
              <a:t>1</a:t>
            </a:r>
            <a:r>
              <a:rPr lang="mr-IN" sz="1500" dirty="0">
                <a:solidFill>
                  <a:srgbClr val="F6F8FA"/>
                </a:solidFill>
              </a:rPr>
              <a:t>)</a:t>
            </a:r>
            <a:r>
              <a:rPr lang="mr-IN" sz="1500" dirty="0"/>
              <a:t/>
            </a:r>
            <a:br>
              <a:rPr lang="mr-IN" sz="1500" dirty="0"/>
            </a:br>
            <a:r>
              <a:rPr lang="mr-IN" sz="1500" dirty="0"/>
              <a:t>    </a:t>
            </a:r>
            <a:r>
              <a:rPr lang="mr-IN" sz="1500" dirty="0">
                <a:solidFill>
                  <a:srgbClr val="F6F8FA"/>
                </a:solidFill>
              </a:rPr>
              <a:t>M</a:t>
            </a:r>
            <a:r>
              <a:rPr lang="mr-IN" sz="1500" dirty="0"/>
              <a:t> </a:t>
            </a:r>
            <a:r>
              <a:rPr lang="mr-IN" sz="1500" dirty="0">
                <a:solidFill>
                  <a:srgbClr val="F92672"/>
                </a:solidFill>
              </a:rPr>
              <a:t>= </a:t>
            </a:r>
            <a:r>
              <a:rPr lang="mr-IN" sz="1500" dirty="0" err="1">
                <a:solidFill>
                  <a:srgbClr val="F6F8FA"/>
                </a:solidFill>
              </a:rPr>
              <a:t>np.</a:t>
            </a:r>
            <a:r>
              <a:rPr lang="mr-IN" sz="1500" dirty="0" err="1">
                <a:solidFill>
                  <a:srgbClr val="66D9EF"/>
                </a:solidFill>
              </a:rPr>
              <a:t>diag</a:t>
            </a:r>
            <a:r>
              <a:rPr lang="mr-IN" sz="1500" dirty="0">
                <a:solidFill>
                  <a:srgbClr val="F6F8FA"/>
                </a:solidFill>
              </a:rPr>
              <a:t>(D.A1)</a:t>
            </a:r>
            <a:r>
              <a:rPr lang="mr-IN" sz="1500" dirty="0"/>
              <a:t/>
            </a:r>
            <a:br>
              <a:rPr lang="mr-IN" sz="1500" dirty="0"/>
            </a:br>
            <a:r>
              <a:rPr lang="mr-IN" sz="1500" dirty="0"/>
              <a:t>    </a:t>
            </a:r>
            <a:r>
              <a:rPr lang="mr-IN" sz="1500" dirty="0">
                <a:solidFill>
                  <a:srgbClr val="F6F8FA"/>
                </a:solidFill>
              </a:rPr>
              <a:t>M_I</a:t>
            </a:r>
            <a:r>
              <a:rPr lang="mr-IN" sz="1500" dirty="0"/>
              <a:t> </a:t>
            </a:r>
            <a:r>
              <a:rPr lang="mr-IN" sz="1500" dirty="0">
                <a:solidFill>
                  <a:srgbClr val="F92672"/>
                </a:solidFill>
              </a:rPr>
              <a:t>= </a:t>
            </a:r>
            <a:r>
              <a:rPr lang="mr-IN" sz="1500" dirty="0" err="1">
                <a:solidFill>
                  <a:srgbClr val="F6F8FA"/>
                </a:solidFill>
              </a:rPr>
              <a:t>np.linalg.</a:t>
            </a:r>
            <a:r>
              <a:rPr lang="mr-IN" sz="1500" dirty="0" err="1">
                <a:solidFill>
                  <a:srgbClr val="66D9EF"/>
                </a:solidFill>
              </a:rPr>
              <a:t>inv</a:t>
            </a:r>
            <a:r>
              <a:rPr lang="mr-IN" sz="1500" dirty="0">
                <a:solidFill>
                  <a:srgbClr val="F6F8FA"/>
                </a:solidFill>
              </a:rPr>
              <a:t>(M)</a:t>
            </a:r>
            <a:r>
              <a:rPr lang="mr-IN" sz="1500" dirty="0">
                <a:solidFill>
                  <a:srgbClr val="75715E"/>
                </a:solidFill>
              </a:rPr>
              <a:t/>
            </a:r>
            <a:br>
              <a:rPr lang="mr-IN" sz="1500" dirty="0">
                <a:solidFill>
                  <a:srgbClr val="75715E"/>
                </a:solidFill>
              </a:rPr>
            </a:br>
            <a:r>
              <a:rPr lang="mr-IN" sz="1500" dirty="0">
                <a:solidFill>
                  <a:srgbClr val="75715E"/>
                </a:solidFill>
              </a:rPr>
              <a:t>    </a:t>
            </a:r>
            <a:r>
              <a:rPr lang="mr-IN" sz="1500" dirty="0">
                <a:solidFill>
                  <a:srgbClr val="F6F8FA"/>
                </a:solidFill>
              </a:rPr>
              <a:t>L</a:t>
            </a:r>
            <a:r>
              <a:rPr lang="mr-IN" sz="1500" dirty="0"/>
              <a:t> </a:t>
            </a:r>
            <a:r>
              <a:rPr lang="mr-IN" sz="1500" dirty="0">
                <a:solidFill>
                  <a:srgbClr val="F92672"/>
                </a:solidFill>
              </a:rPr>
              <a:t>= </a:t>
            </a:r>
            <a:r>
              <a:rPr lang="mr-IN" sz="1500" dirty="0">
                <a:solidFill>
                  <a:srgbClr val="F6F8FA"/>
                </a:solidFill>
              </a:rPr>
              <a:t>M_I </a:t>
            </a:r>
            <a:r>
              <a:rPr lang="mr-IN" sz="1500" dirty="0">
                <a:solidFill>
                  <a:srgbClr val="F92672"/>
                </a:solidFill>
              </a:rPr>
              <a:t>@ </a:t>
            </a:r>
            <a:r>
              <a:rPr lang="mr-IN" sz="1500" dirty="0" err="1">
                <a:solidFill>
                  <a:srgbClr val="F6F8FA"/>
                </a:solidFill>
              </a:rPr>
              <a:t>A</a:t>
            </a:r>
            <a:r>
              <a:rPr lang="mr-IN" sz="1500" dirty="0">
                <a:solidFill>
                  <a:srgbClr val="F6F8FA"/>
                </a:solidFill>
              </a:rPr>
              <a:t> </a:t>
            </a:r>
            <a:r>
              <a:rPr lang="mr-IN" sz="1500" dirty="0">
                <a:solidFill>
                  <a:srgbClr val="75715E"/>
                </a:solidFill>
              </a:rPr>
              <a:t># </a:t>
            </a:r>
            <a:r>
              <a:rPr lang="mr-IN" sz="1500" dirty="0" err="1">
                <a:solidFill>
                  <a:srgbClr val="75715E"/>
                </a:solidFill>
              </a:rPr>
              <a:t>Must</a:t>
            </a:r>
            <a:r>
              <a:rPr lang="mr-IN" sz="1500" dirty="0">
                <a:solidFill>
                  <a:srgbClr val="75715E"/>
                </a:solidFill>
              </a:rPr>
              <a:t> </a:t>
            </a:r>
            <a:r>
              <a:rPr lang="mr-IN" sz="1500" dirty="0" err="1">
                <a:solidFill>
                  <a:srgbClr val="75715E"/>
                </a:solidFill>
              </a:rPr>
              <a:t>use</a:t>
            </a:r>
            <a:r>
              <a:rPr lang="mr-IN" sz="1500" dirty="0">
                <a:solidFill>
                  <a:srgbClr val="75715E"/>
                </a:solidFill>
              </a:rPr>
              <a:t> Python3</a:t>
            </a:r>
            <a:r>
              <a:rPr lang="zh-CN" altLang="en-US" sz="1500" dirty="0">
                <a:solidFill>
                  <a:srgbClr val="75715E"/>
                </a:solidFill>
              </a:rPr>
              <a:t> </a:t>
            </a:r>
            <a:r>
              <a:rPr lang="en-US" altLang="zh-CN" sz="1500" dirty="0">
                <a:solidFill>
                  <a:srgbClr val="75715E"/>
                </a:solidFill>
              </a:rPr>
              <a:t>to</a:t>
            </a:r>
            <a:r>
              <a:rPr lang="zh-CN" altLang="en-US" sz="1500" dirty="0">
                <a:solidFill>
                  <a:srgbClr val="75715E"/>
                </a:solidFill>
              </a:rPr>
              <a:t> </a:t>
            </a:r>
            <a:r>
              <a:rPr lang="en-US" altLang="zh-CN" sz="1500" dirty="0">
                <a:solidFill>
                  <a:srgbClr val="75715E"/>
                </a:solidFill>
              </a:rPr>
              <a:t>use</a:t>
            </a:r>
            <a:r>
              <a:rPr lang="zh-CN" altLang="en-US" sz="1500" dirty="0">
                <a:solidFill>
                  <a:srgbClr val="75715E"/>
                </a:solidFill>
              </a:rPr>
              <a:t> </a:t>
            </a:r>
            <a:r>
              <a:rPr lang="en-US" altLang="zh-CN" sz="1500" dirty="0">
                <a:solidFill>
                  <a:srgbClr val="75715E"/>
                </a:solidFill>
              </a:rPr>
              <a:t>@</a:t>
            </a:r>
            <a:r>
              <a:rPr lang="mr-IN" sz="1500" dirty="0">
                <a:solidFill>
                  <a:srgbClr val="75715E"/>
                </a:solidFill>
              </a:rPr>
              <a:t/>
            </a:r>
            <a:br>
              <a:rPr lang="mr-IN" sz="1500" dirty="0">
                <a:solidFill>
                  <a:srgbClr val="75715E"/>
                </a:solidFill>
              </a:rPr>
            </a:br>
            <a:r>
              <a:rPr lang="mr-IN" sz="1500" dirty="0">
                <a:solidFill>
                  <a:srgbClr val="75715E"/>
                </a:solidFill>
              </a:rPr>
              <a:t>    </a:t>
            </a:r>
            <a:r>
              <a:rPr lang="mr-IN" sz="1500" dirty="0" err="1">
                <a:solidFill>
                  <a:srgbClr val="F6F8FA"/>
                </a:solidFill>
              </a:rPr>
              <a:t>n</a:t>
            </a:r>
            <a:r>
              <a:rPr lang="mr-IN" sz="1500" dirty="0"/>
              <a:t> </a:t>
            </a:r>
            <a:r>
              <a:rPr lang="mr-IN" sz="1500" dirty="0">
                <a:solidFill>
                  <a:srgbClr val="F92672"/>
                </a:solidFill>
              </a:rPr>
              <a:t>= </a:t>
            </a:r>
            <a:r>
              <a:rPr lang="mr-IN" sz="1500" dirty="0" err="1">
                <a:solidFill>
                  <a:srgbClr val="66D9EF"/>
                </a:solidFill>
              </a:rPr>
              <a:t>len</a:t>
            </a:r>
            <a:r>
              <a:rPr lang="mr-IN" sz="1500" dirty="0">
                <a:solidFill>
                  <a:srgbClr val="F6F8FA"/>
                </a:solidFill>
              </a:rPr>
              <a:t>(</a:t>
            </a:r>
            <a:r>
              <a:rPr lang="mr-IN" sz="1500" i="1" dirty="0" err="1">
                <a:solidFill>
                  <a:srgbClr val="FD971F"/>
                </a:solidFill>
              </a:rPr>
              <a:t>DiG</a:t>
            </a:r>
            <a:r>
              <a:rPr lang="mr-IN" sz="1500" dirty="0">
                <a:solidFill>
                  <a:srgbClr val="F6F8FA"/>
                </a:solidFill>
              </a:rPr>
              <a:t>)</a:t>
            </a:r>
            <a:r>
              <a:rPr lang="mr-IN" sz="1500" dirty="0"/>
              <a:t/>
            </a:r>
            <a:br>
              <a:rPr lang="mr-IN" sz="1500" dirty="0"/>
            </a:br>
            <a:r>
              <a:rPr lang="mr-IN" sz="1500" dirty="0"/>
              <a:t>    </a:t>
            </a:r>
            <a:r>
              <a:rPr lang="mr-IN" sz="1500" dirty="0" err="1">
                <a:solidFill>
                  <a:srgbClr val="F6F8FA"/>
                </a:solidFill>
              </a:rPr>
              <a:t>p</a:t>
            </a:r>
            <a:r>
              <a:rPr lang="mr-IN" sz="1500" dirty="0"/>
              <a:t> </a:t>
            </a:r>
            <a:r>
              <a:rPr lang="mr-IN" sz="1500" dirty="0">
                <a:solidFill>
                  <a:srgbClr val="F92672"/>
                </a:solidFill>
              </a:rPr>
              <a:t>= </a:t>
            </a:r>
            <a:r>
              <a:rPr lang="mr-IN" sz="1500" dirty="0" err="1">
                <a:solidFill>
                  <a:srgbClr val="F6F8FA"/>
                </a:solidFill>
              </a:rPr>
              <a:t>np.</a:t>
            </a:r>
            <a:r>
              <a:rPr lang="mr-IN" sz="1500" dirty="0" err="1">
                <a:solidFill>
                  <a:srgbClr val="66D9EF"/>
                </a:solidFill>
              </a:rPr>
              <a:t>ones</a:t>
            </a:r>
            <a:r>
              <a:rPr lang="mr-IN" sz="1500" dirty="0">
                <a:solidFill>
                  <a:srgbClr val="F6F8FA"/>
                </a:solidFill>
              </a:rPr>
              <a:t>(</a:t>
            </a:r>
            <a:r>
              <a:rPr lang="mr-IN" sz="1500" dirty="0" err="1">
                <a:solidFill>
                  <a:srgbClr val="F6F8FA"/>
                </a:solidFill>
              </a:rPr>
              <a:t>n</a:t>
            </a:r>
            <a:r>
              <a:rPr lang="mr-IN" sz="1500" dirty="0">
                <a:solidFill>
                  <a:srgbClr val="F6F8FA"/>
                </a:solidFill>
              </a:rPr>
              <a:t>)</a:t>
            </a:r>
            <a:r>
              <a:rPr lang="mr-IN" sz="1500" dirty="0">
                <a:solidFill>
                  <a:srgbClr val="F92672"/>
                </a:solidFill>
              </a:rPr>
              <a:t>/</a:t>
            </a:r>
            <a:r>
              <a:rPr lang="mr-IN" sz="1500" dirty="0" err="1">
                <a:solidFill>
                  <a:srgbClr val="F6F8FA"/>
                </a:solidFill>
              </a:rPr>
              <a:t>n</a:t>
            </a:r>
            <a:r>
              <a:rPr lang="mr-IN" sz="1500" dirty="0"/>
              <a:t/>
            </a:r>
            <a:br>
              <a:rPr lang="mr-IN" sz="1500" dirty="0"/>
            </a:br>
            <a:r>
              <a:rPr lang="mr-IN" sz="1500" dirty="0"/>
              <a:t>    </a:t>
            </a:r>
            <a:r>
              <a:rPr lang="mr-IN" sz="1500" i="1" dirty="0" err="1">
                <a:solidFill>
                  <a:srgbClr val="66D9EF"/>
                </a:solidFill>
              </a:rPr>
              <a:t>for</a:t>
            </a:r>
            <a:r>
              <a:rPr lang="mr-IN" sz="1500" i="1" dirty="0">
                <a:solidFill>
                  <a:srgbClr val="66D9EF"/>
                </a:solidFill>
              </a:rPr>
              <a:t> </a:t>
            </a:r>
            <a:r>
              <a:rPr lang="mr-IN" sz="1500" dirty="0" err="1">
                <a:solidFill>
                  <a:srgbClr val="F6F8FA"/>
                </a:solidFill>
              </a:rPr>
              <a:t>i</a:t>
            </a:r>
            <a:r>
              <a:rPr lang="mr-IN" sz="1500" dirty="0"/>
              <a:t> </a:t>
            </a:r>
            <a:r>
              <a:rPr lang="mr-IN" sz="1500" i="1" dirty="0" err="1">
                <a:solidFill>
                  <a:srgbClr val="66D9EF"/>
                </a:solidFill>
              </a:rPr>
              <a:t>in</a:t>
            </a:r>
            <a:r>
              <a:rPr lang="mr-IN" sz="1500" i="1" dirty="0">
                <a:solidFill>
                  <a:srgbClr val="66D9EF"/>
                </a:solidFill>
              </a:rPr>
              <a:t> </a:t>
            </a:r>
            <a:r>
              <a:rPr lang="mr-IN" sz="1500" dirty="0" err="1">
                <a:solidFill>
                  <a:srgbClr val="66D9EF"/>
                </a:solidFill>
              </a:rPr>
              <a:t>range</a:t>
            </a:r>
            <a:r>
              <a:rPr lang="mr-IN" sz="1500" dirty="0">
                <a:solidFill>
                  <a:srgbClr val="F6F8FA"/>
                </a:solidFill>
              </a:rPr>
              <a:t>(</a:t>
            </a:r>
            <a:r>
              <a:rPr lang="mr-IN" sz="1500" i="1" dirty="0" err="1">
                <a:solidFill>
                  <a:srgbClr val="FD971F"/>
                </a:solidFill>
              </a:rPr>
              <a:t>max_iter</a:t>
            </a:r>
            <a:r>
              <a:rPr lang="mr-IN" sz="1500" dirty="0">
                <a:solidFill>
                  <a:srgbClr val="F6F8FA"/>
                </a:solidFill>
              </a:rPr>
              <a:t>)</a:t>
            </a:r>
            <a:r>
              <a:rPr lang="mr-IN" sz="1500" dirty="0">
                <a:solidFill>
                  <a:srgbClr val="F92672"/>
                </a:solidFill>
              </a:rPr>
              <a:t>:</a:t>
            </a:r>
            <a:br>
              <a:rPr lang="mr-IN" sz="1500" dirty="0">
                <a:solidFill>
                  <a:srgbClr val="F92672"/>
                </a:solidFill>
              </a:rPr>
            </a:br>
            <a:r>
              <a:rPr lang="mr-IN" sz="1500" dirty="0">
                <a:solidFill>
                  <a:srgbClr val="F92672"/>
                </a:solidFill>
              </a:rPr>
              <a:t>        </a:t>
            </a:r>
            <a:r>
              <a:rPr lang="mr-IN" sz="1500" dirty="0" err="1">
                <a:solidFill>
                  <a:srgbClr val="F6F8FA"/>
                </a:solidFill>
              </a:rPr>
              <a:t>p</a:t>
            </a:r>
            <a:r>
              <a:rPr lang="mr-IN" sz="1500" dirty="0"/>
              <a:t> </a:t>
            </a:r>
            <a:r>
              <a:rPr lang="mr-IN" sz="1500" dirty="0">
                <a:solidFill>
                  <a:srgbClr val="F92672"/>
                </a:solidFill>
              </a:rPr>
              <a:t>= </a:t>
            </a:r>
            <a:r>
              <a:rPr lang="mr-IN" sz="1500" dirty="0" err="1">
                <a:solidFill>
                  <a:srgbClr val="F6F8FA"/>
                </a:solidFill>
              </a:rPr>
              <a:t>p</a:t>
            </a:r>
            <a:r>
              <a:rPr lang="mr-IN" sz="1500" dirty="0"/>
              <a:t> </a:t>
            </a:r>
            <a:r>
              <a:rPr lang="mr-IN" sz="1500" dirty="0">
                <a:solidFill>
                  <a:srgbClr val="F92672"/>
                </a:solidFill>
              </a:rPr>
              <a:t>@ </a:t>
            </a:r>
            <a:r>
              <a:rPr lang="mr-IN" sz="1500" dirty="0">
                <a:solidFill>
                  <a:srgbClr val="F6F8FA"/>
                </a:solidFill>
              </a:rPr>
              <a:t>L</a:t>
            </a:r>
            <a:r>
              <a:rPr lang="mr-IN" sz="1500" dirty="0"/>
              <a:t/>
            </a:r>
            <a:br>
              <a:rPr lang="mr-IN" sz="1500" dirty="0"/>
            </a:br>
            <a:r>
              <a:rPr lang="mr-IN" sz="1500" dirty="0"/>
              <a:t>        </a:t>
            </a:r>
            <a:r>
              <a:rPr lang="mr-IN" sz="1500" dirty="0" err="1">
                <a:solidFill>
                  <a:srgbClr val="66D9EF"/>
                </a:solidFill>
              </a:rPr>
              <a:t>print</a:t>
            </a:r>
            <a:r>
              <a:rPr lang="mr-IN" sz="1500" dirty="0">
                <a:solidFill>
                  <a:srgbClr val="66D9EF"/>
                </a:solidFill>
              </a:rPr>
              <a:t> </a:t>
            </a:r>
            <a:r>
              <a:rPr lang="mr-IN" sz="1500" dirty="0">
                <a:solidFill>
                  <a:srgbClr val="F6F8FA"/>
                </a:solidFill>
              </a:rPr>
              <a:t>(</a:t>
            </a:r>
            <a:r>
              <a:rPr lang="mr-IN" sz="1500" dirty="0" err="1">
                <a:solidFill>
                  <a:srgbClr val="F6F8FA"/>
                </a:solidFill>
              </a:rPr>
              <a:t>p</a:t>
            </a:r>
            <a:r>
              <a:rPr lang="mr-IN" sz="1500" dirty="0">
                <a:solidFill>
                  <a:srgbClr val="F6F8FA"/>
                </a:solidFill>
              </a:rPr>
              <a:t>)</a:t>
            </a:r>
            <a:endParaRPr lang="en-US" sz="1500" dirty="0">
              <a:solidFill>
                <a:srgbClr val="F6F8FA"/>
              </a:solidFill>
            </a:endParaRPr>
          </a:p>
        </p:txBody>
      </p:sp>
      <p:sp>
        <p:nvSpPr>
          <p:cNvPr id="5" name="Slide Number Placeholder 4">
            <a:extLst>
              <a:ext uri="{FF2B5EF4-FFF2-40B4-BE49-F238E27FC236}">
                <a16:creationId xmlns:a16="http://schemas.microsoft.com/office/drawing/2014/main" xmlns="" id="{E245D80B-AD29-D644-8D57-A407D5521933}"/>
              </a:ext>
            </a:extLst>
          </p:cNvPr>
          <p:cNvSpPr>
            <a:spLocks noGrp="1"/>
          </p:cNvSpPr>
          <p:nvPr>
            <p:ph type="sldNum" sz="quarter" idx="12"/>
          </p:nvPr>
        </p:nvSpPr>
        <p:spPr/>
        <p:txBody>
          <a:bodyPr/>
          <a:lstStyle/>
          <a:p>
            <a:fld id="{E1BEBC7A-FD02-486B-81B5-A845787C689C}" type="slidenum">
              <a:rPr lang="zh-CN" altLang="en-US" smtClean="0"/>
              <a:t>10</a:t>
            </a:fld>
            <a:endParaRPr lang="zh-CN" altLang="en-US"/>
          </a:p>
        </p:txBody>
      </p:sp>
    </p:spTree>
    <p:extLst>
      <p:ext uri="{BB962C8B-B14F-4D97-AF65-F5344CB8AC3E}">
        <p14:creationId xmlns:p14="http://schemas.microsoft.com/office/powerpoint/2010/main" val="1997402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rgbClr val="FF0000"/>
                            </a:solidFill>
                            <a:latin typeface="Cambria Math" charset="0"/>
                          </a:rPr>
                        </m:ctrlPr>
                      </m:sSupPr>
                      <m:e>
                        <m:r>
                          <a:rPr lang="en-US" altLang="zh-CN" b="0" i="1" dirty="0" smtClean="0">
                            <a:solidFill>
                              <a:srgbClr val="FF0000"/>
                            </a:solidFill>
                            <a:latin typeface="Cambria Math" charset="0"/>
                          </a:rPr>
                          <m:t>𝑝</m:t>
                        </m:r>
                      </m:e>
                      <m:sup>
                        <m:r>
                          <a:rPr lang="en-US" altLang="zh-CN" b="0" i="1" dirty="0" smtClean="0">
                            <a:solidFill>
                              <a:srgbClr val="FF0000"/>
                            </a:solidFill>
                            <a:latin typeface="Cambria Math" charset="0"/>
                          </a:rPr>
                          <m:t>0</m:t>
                        </m:r>
                      </m:sup>
                    </m:sSup>
                    <m:r>
                      <a:rPr lang="en-US" altLang="zh-CN" b="0" i="1" dirty="0" smtClean="0">
                        <a:solidFill>
                          <a:srgbClr val="FF0000"/>
                        </a:solidFill>
                        <a:latin typeface="Cambria Math" charset="0"/>
                      </a:rPr>
                      <m:t>=(1,0,0,0)</m:t>
                    </m:r>
                  </m:oMath>
                </a14:m>
                <a:endParaRPr lang="en-US" dirty="0">
                  <a:solidFill>
                    <a:srgbClr val="FF0000"/>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2"/>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3805" y="819150"/>
            <a:ext cx="3868887" cy="3937000"/>
          </a:xfrm>
          <a:prstGeom prst="rect">
            <a:avLst/>
          </a:prstGeom>
        </p:spPr>
      </p:pic>
      <p:sp>
        <p:nvSpPr>
          <p:cNvPr id="8" name="Rectangle 7"/>
          <p:cNvSpPr/>
          <p:nvPr/>
        </p:nvSpPr>
        <p:spPr>
          <a:xfrm>
            <a:off x="3273810" y="3249930"/>
            <a:ext cx="1700362" cy="14058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solidFill>
                  <a:srgbClr val="FF0000"/>
                </a:solidFill>
              </a:rPr>
              <a:t>比喻：初始时节点</a:t>
            </a:r>
            <a:r>
              <a:rPr lang="en-US" altLang="zh-CN" sz="1600" dirty="0">
                <a:solidFill>
                  <a:srgbClr val="FF0000"/>
                </a:solidFill>
              </a:rPr>
              <a:t>A</a:t>
            </a:r>
            <a:r>
              <a:rPr lang="zh-CN" altLang="en-US" sz="1600" dirty="0">
                <a:solidFill>
                  <a:srgbClr val="FF0000"/>
                </a:solidFill>
              </a:rPr>
              <a:t>上有一滴红墨水；接着不断让墨水沿着图结构传递给邻居</a:t>
            </a:r>
            <a:endParaRPr lang="en-US" sz="1600" dirty="0">
              <a:solidFill>
                <a:srgbClr val="FF0000"/>
              </a:solidFill>
            </a:endParaRPr>
          </a:p>
        </p:txBody>
      </p:sp>
      <p:sp>
        <p:nvSpPr>
          <p:cNvPr id="4" name="Slide Number Placeholder 3">
            <a:extLst>
              <a:ext uri="{FF2B5EF4-FFF2-40B4-BE49-F238E27FC236}">
                <a16:creationId xmlns:a16="http://schemas.microsoft.com/office/drawing/2014/main" xmlns="" id="{B95071BE-4DF9-DA48-AAD0-4E254FF5FD78}"/>
              </a:ext>
            </a:extLst>
          </p:cNvPr>
          <p:cNvSpPr>
            <a:spLocks noGrp="1"/>
          </p:cNvSpPr>
          <p:nvPr>
            <p:ph type="sldNum" sz="quarter" idx="12"/>
          </p:nvPr>
        </p:nvSpPr>
        <p:spPr/>
        <p:txBody>
          <a:bodyPr/>
          <a:lstStyle/>
          <a:p>
            <a:fld id="{E1BEBC7A-FD02-486B-81B5-A845787C689C}" type="slidenum">
              <a:rPr lang="zh-CN" altLang="en-US" smtClean="0"/>
              <a:t>11</a:t>
            </a:fld>
            <a:endParaRPr lang="zh-CN" altLang="en-US"/>
          </a:p>
        </p:txBody>
      </p:sp>
    </p:spTree>
    <p:extLst>
      <p:ext uri="{BB962C8B-B14F-4D97-AF65-F5344CB8AC3E}">
        <p14:creationId xmlns:p14="http://schemas.microsoft.com/office/powerpoint/2010/main" val="879800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210" y="819150"/>
            <a:ext cx="3894588" cy="3942000"/>
          </a:xfrm>
          <a:prstGeom prst="rect">
            <a:avLst/>
          </a:prstGeom>
        </p:spPr>
      </p:pic>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m:t>
                    </m:r>
                    <m:r>
                      <a:rPr lang="en-US" altLang="zh-CN" i="1" dirty="0">
                        <a:solidFill>
                          <a:srgbClr val="FF0000"/>
                        </a:solidFill>
                        <a:latin typeface="Cambria Math" charset="0"/>
                      </a:rPr>
                      <m:t>,</m:t>
                    </m:r>
                    <m:r>
                      <a:rPr lang="en-US" altLang="zh-CN" b="0" i="1" dirty="0" smtClean="0">
                        <a:solidFill>
                          <a:srgbClr val="FF0000"/>
                        </a:solidFill>
                        <a:latin typeface="Cambria Math" charset="0"/>
                      </a:rPr>
                      <m:t>1</m:t>
                    </m:r>
                    <m:r>
                      <a:rPr lang="en-US" altLang="zh-CN" i="1" dirty="0">
                        <a:solidFill>
                          <a:srgbClr val="FF0000"/>
                        </a:solidFill>
                        <a:latin typeface="Cambria Math" charset="0"/>
                      </a:rPr>
                      <m:t>,0,0)</m:t>
                    </m:r>
                  </m:oMath>
                </a14:m>
                <a:endParaRPr lang="en-US" dirty="0">
                  <a:solidFill>
                    <a:srgbClr val="FF0000"/>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sp>
        <p:nvSpPr>
          <p:cNvPr id="8" name="Rectangle 7"/>
          <p:cNvSpPr/>
          <p:nvPr/>
        </p:nvSpPr>
        <p:spPr>
          <a:xfrm>
            <a:off x="3276663" y="3249930"/>
            <a:ext cx="1700362" cy="14058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solidFill>
                  <a:srgbClr val="FF0000"/>
                </a:solidFill>
              </a:rPr>
              <a:t>比喻：初始时节点</a:t>
            </a:r>
            <a:r>
              <a:rPr lang="en-US" altLang="zh-CN" sz="1600" dirty="0">
                <a:solidFill>
                  <a:srgbClr val="FF0000"/>
                </a:solidFill>
              </a:rPr>
              <a:t>B</a:t>
            </a:r>
            <a:r>
              <a:rPr lang="zh-CN" altLang="en-US" sz="1600" dirty="0">
                <a:solidFill>
                  <a:srgbClr val="FF0000"/>
                </a:solidFill>
              </a:rPr>
              <a:t>上有一滴红墨水；接着不断让墨水沿着图结构传递给邻居</a:t>
            </a:r>
            <a:endParaRPr lang="en-US" sz="1600" dirty="0">
              <a:solidFill>
                <a:srgbClr val="FF0000"/>
              </a:solidFill>
            </a:endParaRPr>
          </a:p>
        </p:txBody>
      </p:sp>
      <p:sp>
        <p:nvSpPr>
          <p:cNvPr id="6" name="Slide Number Placeholder 5">
            <a:extLst>
              <a:ext uri="{FF2B5EF4-FFF2-40B4-BE49-F238E27FC236}">
                <a16:creationId xmlns:a16="http://schemas.microsoft.com/office/drawing/2014/main" xmlns="" id="{1AC7C17C-8005-6C40-B523-4F1F2ED021F2}"/>
              </a:ext>
            </a:extLst>
          </p:cNvPr>
          <p:cNvSpPr>
            <a:spLocks noGrp="1"/>
          </p:cNvSpPr>
          <p:nvPr>
            <p:ph type="sldNum" sz="quarter" idx="12"/>
          </p:nvPr>
        </p:nvSpPr>
        <p:spPr/>
        <p:txBody>
          <a:bodyPr/>
          <a:lstStyle/>
          <a:p>
            <a:fld id="{E1BEBC7A-FD02-486B-81B5-A845787C689C}" type="slidenum">
              <a:rPr lang="zh-CN" altLang="en-US" smtClean="0"/>
              <a:t>12</a:t>
            </a:fld>
            <a:endParaRPr lang="zh-CN" altLang="en-US"/>
          </a:p>
        </p:txBody>
      </p:sp>
    </p:spTree>
    <p:extLst>
      <p:ext uri="{BB962C8B-B14F-4D97-AF65-F5344CB8AC3E}">
        <p14:creationId xmlns:p14="http://schemas.microsoft.com/office/powerpoint/2010/main" val="1382816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210" y="819150"/>
            <a:ext cx="3860721" cy="3942000"/>
          </a:xfrm>
          <a:prstGeom prst="rect">
            <a:avLst/>
          </a:prstGeom>
        </p:spPr>
      </p:pic>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0.25</m:t>
                    </m:r>
                    <m:r>
                      <a:rPr lang="en-US" altLang="zh-CN" i="1" dirty="0">
                        <a:solidFill>
                          <a:srgbClr val="FF0000"/>
                        </a:solidFill>
                        <a:latin typeface="Cambria Math" charset="0"/>
                      </a:rPr>
                      <m:t>,</m:t>
                    </m:r>
                    <m:r>
                      <a:rPr lang="en-US" altLang="zh-CN" b="0" i="1" dirty="0" smtClean="0">
                        <a:solidFill>
                          <a:srgbClr val="FF0000"/>
                        </a:solidFill>
                        <a:latin typeface="Cambria Math" charset="0"/>
                      </a:rPr>
                      <m:t>0.25</m:t>
                    </m:r>
                    <m:r>
                      <a:rPr lang="en-US" altLang="zh-CN" i="1" dirty="0">
                        <a:solidFill>
                          <a:srgbClr val="FF0000"/>
                        </a:solidFill>
                        <a:latin typeface="Cambria Math" charset="0"/>
                      </a:rPr>
                      <m:t>,0</m:t>
                    </m:r>
                    <m:r>
                      <a:rPr lang="en-US" altLang="zh-CN" b="0" i="1" dirty="0" smtClean="0">
                        <a:solidFill>
                          <a:srgbClr val="FF0000"/>
                        </a:solidFill>
                        <a:latin typeface="Cambria Math" charset="0"/>
                      </a:rPr>
                      <m:t>.25</m:t>
                    </m:r>
                    <m:r>
                      <a:rPr lang="en-US" altLang="zh-CN" i="1" dirty="0">
                        <a:solidFill>
                          <a:srgbClr val="FF0000"/>
                        </a:solidFill>
                        <a:latin typeface="Cambria Math" charset="0"/>
                      </a:rPr>
                      <m:t>,0</m:t>
                    </m:r>
                    <m:r>
                      <a:rPr lang="en-US" altLang="zh-CN" b="0" i="1" dirty="0" smtClean="0">
                        <a:solidFill>
                          <a:srgbClr val="FF0000"/>
                        </a:solidFill>
                        <a:latin typeface="Cambria Math" charset="0"/>
                      </a:rPr>
                      <m:t>.25</m:t>
                    </m:r>
                    <m:r>
                      <a:rPr lang="en-US" altLang="zh-CN" i="1" dirty="0">
                        <a:solidFill>
                          <a:srgbClr val="FF0000"/>
                        </a:solidFill>
                        <a:latin typeface="Cambria Math" charset="0"/>
                      </a:rPr>
                      <m:t>)</m:t>
                    </m:r>
                  </m:oMath>
                </a14:m>
                <a:endParaRPr lang="en-US" dirty="0">
                  <a:solidFill>
                    <a:srgbClr val="FF0000"/>
                  </a:solidFill>
                </a:endParaRPr>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sp>
        <p:nvSpPr>
          <p:cNvPr id="8" name="Rectangle 7"/>
          <p:cNvSpPr/>
          <p:nvPr/>
        </p:nvSpPr>
        <p:spPr>
          <a:xfrm>
            <a:off x="3276663" y="3097530"/>
            <a:ext cx="1700362" cy="15544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solidFill>
                  <a:srgbClr val="FF0000"/>
                </a:solidFill>
              </a:rPr>
              <a:t>比喻：初始时所有节点上均有</a:t>
            </a:r>
            <a:r>
              <a:rPr lang="en-US" altLang="zh-CN" sz="1600" dirty="0">
                <a:solidFill>
                  <a:srgbClr val="FF0000"/>
                </a:solidFill>
              </a:rPr>
              <a:t>0.25</a:t>
            </a:r>
            <a:r>
              <a:rPr lang="zh-CN" altLang="en-US" sz="1600" dirty="0">
                <a:solidFill>
                  <a:srgbClr val="FF0000"/>
                </a:solidFill>
              </a:rPr>
              <a:t>滴红墨水；接着不断让墨水沿着图结构传递给邻居</a:t>
            </a:r>
            <a:endParaRPr lang="en-US" sz="1600" dirty="0">
              <a:solidFill>
                <a:srgbClr val="FF0000"/>
              </a:solidFill>
            </a:endParaRPr>
          </a:p>
        </p:txBody>
      </p:sp>
      <p:sp>
        <p:nvSpPr>
          <p:cNvPr id="4" name="Slide Number Placeholder 3">
            <a:extLst>
              <a:ext uri="{FF2B5EF4-FFF2-40B4-BE49-F238E27FC236}">
                <a16:creationId xmlns:a16="http://schemas.microsoft.com/office/drawing/2014/main" xmlns="" id="{A87A4AB8-5FB6-CF40-8CCC-ADCD154A2D38}"/>
              </a:ext>
            </a:extLst>
          </p:cNvPr>
          <p:cNvSpPr>
            <a:spLocks noGrp="1"/>
          </p:cNvSpPr>
          <p:nvPr>
            <p:ph type="sldNum" sz="quarter" idx="12"/>
          </p:nvPr>
        </p:nvSpPr>
        <p:spPr/>
        <p:txBody>
          <a:bodyPr/>
          <a:lstStyle/>
          <a:p>
            <a:fld id="{E1BEBC7A-FD02-486B-81B5-A845787C689C}" type="slidenum">
              <a:rPr lang="zh-CN" altLang="en-US" smtClean="0"/>
              <a:t>13</a:t>
            </a:fld>
            <a:endParaRPr lang="zh-CN" altLang="en-US"/>
          </a:p>
        </p:txBody>
      </p:sp>
    </p:spTree>
    <p:extLst>
      <p:ext uri="{BB962C8B-B14F-4D97-AF65-F5344CB8AC3E}">
        <p14:creationId xmlns:p14="http://schemas.microsoft.com/office/powerpoint/2010/main" val="930669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PageRank</a:t>
            </a:r>
            <a:r>
              <a:rPr lang="zh-CN" altLang="en-US" dirty="0"/>
              <a:t>分值稳定代表了什么？</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4635502" cy="1493469"/>
              </a:xfrm>
            </p:spPr>
            <p:txBody>
              <a:bodyPr>
                <a:normAutofit/>
              </a:bodyPr>
              <a:lstStyle/>
              <a:p>
                <a:r>
                  <a:rPr lang="zh-CN" altLang="en-US" dirty="0"/>
                  <a:t>分值稳定为什么重要？</a:t>
                </a:r>
                <a:endParaRPr lang="en-US" altLang="zh-CN" dirty="0"/>
              </a:p>
              <a:p>
                <a:pPr lvl="1"/>
                <a:r>
                  <a:rPr lang="zh-CN" altLang="en-US" dirty="0"/>
                  <a:t>度量节点重要性需要分值稳定</a:t>
                </a:r>
                <a:endParaRPr lang="en-US" altLang="zh-CN" dirty="0"/>
              </a:p>
              <a:p>
                <a:r>
                  <a:rPr lang="zh-CN" altLang="en-US" dirty="0"/>
                  <a:t>分值会稳定到什么状态？</a:t>
                </a:r>
                <a:endParaRPr lang="en-US" altLang="zh-CN" dirty="0"/>
              </a:p>
              <a:p>
                <a:pPr lvl="1"/>
                <a:r>
                  <a:rPr lang="zh-CN" altLang="en-US" dirty="0"/>
                  <a:t>分值稳定意味着</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𝑃</m:t>
                        </m:r>
                      </m:e>
                      <m:sup>
                        <m:r>
                          <a:rPr lang="en-US" altLang="zh-CN" b="0" i="1" dirty="0" smtClean="0">
                            <a:latin typeface="Cambria Math" charset="0"/>
                          </a:rPr>
                          <m:t>𝑡</m:t>
                        </m:r>
                        <m:r>
                          <a:rPr lang="en-US" altLang="zh-CN" b="0" i="1" dirty="0" smtClean="0">
                            <a:latin typeface="Cambria Math" charset="0"/>
                          </a:rPr>
                          <m:t>+1</m:t>
                        </m:r>
                      </m:sup>
                    </m:sSup>
                    <m:r>
                      <a:rPr lang="en-US" altLang="zh-CN" b="0" i="1" dirty="0" smtClean="0">
                        <a:latin typeface="Cambria Math" charset="0"/>
                      </a:rPr>
                      <m:t>=</m:t>
                    </m:r>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𝑡</m:t>
                        </m:r>
                      </m:sup>
                    </m:sSup>
                  </m:oMath>
                </a14:m>
                <a:endParaRPr lang="en-US" altLang="zh-CN" dirty="0"/>
              </a:p>
              <a:p>
                <a:endParaRPr lang="en-US" altLang="zh-CN" dirty="0"/>
              </a:p>
              <a:p>
                <a:pPr lvl="1"/>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4635502" cy="1493469"/>
              </a:xfrm>
              <a:blipFill rotWithShape="0">
                <a:blip r:embed="rId3"/>
                <a:stretch>
                  <a:fillRect l="-1184" t="-2041" b="-1633"/>
                </a:stretch>
              </a:blipFill>
            </p:spPr>
            <p:txBody>
              <a:bodyPr/>
              <a:lstStyle/>
              <a:p>
                <a:r>
                  <a:rPr lang="en-US">
                    <a:noFill/>
                  </a:rPr>
                  <a:t> </a:t>
                </a:r>
              </a:p>
            </p:txBody>
          </p:sp>
        </mc:Fallback>
      </mc:AlternateContent>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mc:AlternateContent xmlns:mc="http://schemas.openxmlformats.org/markup-compatibility/2006" xmlns:a14="http://schemas.microsoft.com/office/drawing/2010/main">
        <mc:Choice Requires="a14">
          <p:sp>
            <p:nvSpPr>
              <p:cNvPr id="11" name="TextBox 10"/>
              <p:cNvSpPr txBox="1"/>
              <p:nvPr/>
            </p:nvSpPr>
            <p:spPr>
              <a:xfrm>
                <a:off x="1831755" y="2312618"/>
                <a:ext cx="12318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rgbClr val="C00000"/>
                          </a:solidFill>
                          <a:latin typeface="Cambria Math" charset="0"/>
                        </a:rPr>
                        <m:t>𝒑</m:t>
                      </m:r>
                      <m:r>
                        <a:rPr lang="en-US" altLang="zh-CN" sz="2800" b="0" i="1" smtClean="0">
                          <a:solidFill>
                            <a:srgbClr val="C00000"/>
                          </a:solidFill>
                          <a:latin typeface="Cambria Math" charset="0"/>
                        </a:rPr>
                        <m:t>=</m:t>
                      </m:r>
                      <m:r>
                        <a:rPr lang="en-US" altLang="zh-CN" sz="2800" b="1" i="1">
                          <a:solidFill>
                            <a:srgbClr val="C00000"/>
                          </a:solidFill>
                          <a:latin typeface="Cambria Math" charset="0"/>
                        </a:rPr>
                        <m:t>𝒑</m:t>
                      </m:r>
                      <m:r>
                        <a:rPr lang="en-US" altLang="zh-CN" sz="2800" b="1" i="1" smtClean="0">
                          <a:solidFill>
                            <a:srgbClr val="C00000"/>
                          </a:solidFill>
                          <a:latin typeface="Cambria Math" charset="0"/>
                        </a:rPr>
                        <m:t>𝑳</m:t>
                      </m:r>
                    </m:oMath>
                  </m:oMathPara>
                </a14:m>
                <a:endParaRPr lang="en-US" sz="2800" b="1" dirty="0">
                  <a:solidFill>
                    <a:srgbClr val="C0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831755" y="2312618"/>
                <a:ext cx="1231876" cy="430887"/>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p:cNvSpPr txBox="1">
                <a:spLocks/>
              </p:cNvSpPr>
              <p:nvPr/>
            </p:nvSpPr>
            <p:spPr>
              <a:xfrm>
                <a:off x="457199" y="2946400"/>
                <a:ext cx="4635502" cy="17907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这说明稳定状态时，</a:t>
                </a:r>
                <a14:m>
                  <m:oMath xmlns:m="http://schemas.openxmlformats.org/officeDocument/2006/math">
                    <m:r>
                      <a:rPr lang="en-US" altLang="zh-CN" b="0" i="1" dirty="0" smtClean="0">
                        <a:latin typeface="Cambria Math" charset="0"/>
                      </a:rPr>
                      <m:t>𝑝</m:t>
                    </m:r>
                  </m:oMath>
                </a14:m>
                <a:r>
                  <a:rPr lang="zh-CN" altLang="en-US" dirty="0"/>
                  <a:t>是矩阵</a:t>
                </a:r>
                <a14:m>
                  <m:oMath xmlns:m="http://schemas.openxmlformats.org/officeDocument/2006/math">
                    <m:r>
                      <a:rPr lang="en-US" altLang="zh-CN" i="1" dirty="0" smtClean="0">
                        <a:latin typeface="Cambria Math" charset="0"/>
                      </a:rPr>
                      <m:t>𝐿</m:t>
                    </m:r>
                  </m:oMath>
                </a14:m>
                <a:r>
                  <a:rPr lang="zh-CN" altLang="en-US" dirty="0"/>
                  <a:t>对应特征值为</a:t>
                </a:r>
                <a:r>
                  <a:rPr lang="en-US" altLang="zh-CN" dirty="0"/>
                  <a:t>1</a:t>
                </a:r>
                <a:r>
                  <a:rPr lang="zh-CN" altLang="en-US" dirty="0"/>
                  <a:t>的特征向量！</a:t>
                </a:r>
                <a:endParaRPr lang="en-US" altLang="zh-CN" dirty="0"/>
              </a:p>
              <a:p>
                <a:r>
                  <a:rPr lang="zh-CN" altLang="en-US" dirty="0"/>
                  <a:t>可是</a:t>
                </a:r>
                <a:r>
                  <a:rPr lang="en-US" altLang="zh-CN" dirty="0"/>
                  <a:t>……</a:t>
                </a:r>
              </a:p>
              <a:p>
                <a:pPr lvl="1"/>
                <a:r>
                  <a:rPr lang="zh-CN" altLang="en-US" dirty="0"/>
                  <a:t>我们怎么能确定</a:t>
                </a:r>
                <a14:m>
                  <m:oMath xmlns:m="http://schemas.openxmlformats.org/officeDocument/2006/math">
                    <m:r>
                      <a:rPr lang="en-US" altLang="zh-CN" i="1" dirty="0" smtClean="0">
                        <a:latin typeface="Cambria Math" charset="0"/>
                      </a:rPr>
                      <m:t>𝐿</m:t>
                    </m:r>
                  </m:oMath>
                </a14:m>
                <a:r>
                  <a:rPr lang="zh-CN" altLang="en-US" dirty="0"/>
                  <a:t>有为</a:t>
                </a:r>
                <a14:m>
                  <m:oMath xmlns:m="http://schemas.openxmlformats.org/officeDocument/2006/math">
                    <m:r>
                      <a:rPr lang="en-US" altLang="zh-CN" i="1" dirty="0" smtClean="0">
                        <a:latin typeface="Cambria Math" charset="0"/>
                      </a:rPr>
                      <m:t>1</m:t>
                    </m:r>
                  </m:oMath>
                </a14:m>
                <a:r>
                  <a:rPr lang="zh-CN" altLang="en-US" dirty="0"/>
                  <a:t>的特征值？</a:t>
                </a:r>
                <a:endParaRPr lang="en-US" altLang="zh-CN" dirty="0"/>
              </a:p>
              <a:p>
                <a:pPr lvl="1"/>
                <a:r>
                  <a:rPr lang="zh-CN" altLang="en-US" dirty="0"/>
                  <a:t>就算有，特征向量</a:t>
                </a:r>
                <a14:m>
                  <m:oMath xmlns:m="http://schemas.openxmlformats.org/officeDocument/2006/math">
                    <m:r>
                      <a:rPr lang="en-US" altLang="zh-CN" i="1" dirty="0" smtClean="0">
                        <a:latin typeface="Cambria Math" charset="0"/>
                      </a:rPr>
                      <m:t>𝑝</m:t>
                    </m:r>
                  </m:oMath>
                </a14:m>
                <a:r>
                  <a:rPr lang="zh-CN" altLang="en-US" dirty="0"/>
                  <a:t>唯一吗？</a:t>
                </a:r>
                <a:endParaRPr lang="en-US" altLang="zh-CN" dirty="0"/>
              </a:p>
              <a:p>
                <a:pPr lvl="1"/>
                <a:endParaRPr lang="en-US" altLang="zh-CN" dirty="0"/>
              </a:p>
            </p:txBody>
          </p:sp>
        </mc:Choice>
        <mc:Fallback xmlns="">
          <p:sp>
            <p:nvSpPr>
              <p:cNvPr id="12" name="Content Placeholder 2"/>
              <p:cNvSpPr txBox="1">
                <a:spLocks noRot="1" noChangeAspect="1" noMove="1" noResize="1" noEditPoints="1" noAdjustHandles="1" noChangeArrowheads="1" noChangeShapeType="1" noTextEdit="1"/>
              </p:cNvSpPr>
              <p:nvPr/>
            </p:nvSpPr>
            <p:spPr>
              <a:xfrm>
                <a:off x="457199" y="2946400"/>
                <a:ext cx="4635502" cy="1790700"/>
              </a:xfrm>
              <a:prstGeom prst="rect">
                <a:avLst/>
              </a:prstGeom>
              <a:blipFill rotWithShape="0">
                <a:blip r:embed="rId6"/>
                <a:stretch>
                  <a:fillRect l="-1184" t="-1701" r="-1316" b="-1701"/>
                </a:stretch>
              </a:blipFill>
            </p:spPr>
            <p:txBody>
              <a:bodyPr/>
              <a:lstStyle/>
              <a:p>
                <a:r>
                  <a:rPr lang="en-US">
                    <a:noFill/>
                  </a:rPr>
                  <a:t> </a:t>
                </a:r>
              </a:p>
            </p:txBody>
          </p:sp>
        </mc:Fallback>
      </mc:AlternateContent>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09210" y="819150"/>
            <a:ext cx="3860721" cy="3942000"/>
          </a:xfrm>
          <a:prstGeom prst="rect">
            <a:avLst/>
          </a:prstGeom>
        </p:spPr>
      </p:pic>
      <p:sp>
        <p:nvSpPr>
          <p:cNvPr id="4" name="Slide Number Placeholder 3">
            <a:extLst>
              <a:ext uri="{FF2B5EF4-FFF2-40B4-BE49-F238E27FC236}">
                <a16:creationId xmlns:a16="http://schemas.microsoft.com/office/drawing/2014/main" xmlns="" id="{E3292D1C-DCFA-F640-A175-7E80B82C7D03}"/>
              </a:ext>
            </a:extLst>
          </p:cNvPr>
          <p:cNvSpPr>
            <a:spLocks noGrp="1"/>
          </p:cNvSpPr>
          <p:nvPr>
            <p:ph type="sldNum" sz="quarter" idx="12"/>
          </p:nvPr>
        </p:nvSpPr>
        <p:spPr/>
        <p:txBody>
          <a:bodyPr/>
          <a:lstStyle/>
          <a:p>
            <a:fld id="{E1BEBC7A-FD02-486B-81B5-A845787C689C}" type="slidenum">
              <a:rPr lang="zh-CN" altLang="en-US" smtClean="0"/>
              <a:t>14</a:t>
            </a:fld>
            <a:endParaRPr lang="zh-CN" altLang="en-US"/>
          </a:p>
        </p:txBody>
      </p:sp>
    </p:spTree>
    <p:extLst>
      <p:ext uri="{BB962C8B-B14F-4D97-AF65-F5344CB8AC3E}">
        <p14:creationId xmlns:p14="http://schemas.microsoft.com/office/powerpoint/2010/main" val="388858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blinds(horizontal)">
                                      <p:cBhvr>
                                        <p:cTn id="15" dur="500"/>
                                        <p:tgtEl>
                                          <p:spTgt spid="1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
                                            <p:txEl>
                                              <p:pRg st="3" end="3"/>
                                            </p:txEl>
                                          </p:spTgt>
                                        </p:tgtEl>
                                        <p:attrNameLst>
                                          <p:attrName>style.visibility</p:attrName>
                                        </p:attrNameLst>
                                      </p:cBhvr>
                                      <p:to>
                                        <p:strVal val="visible"/>
                                      </p:to>
                                    </p:set>
                                    <p:animEffect transition="in" filter="blinds(horizontal)">
                                      <p:cBhvr>
                                        <p:cTn id="20"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考虑一个反例</a:t>
            </a:r>
            <a:r>
              <a:rPr lang="en-US" altLang="zh-CN" dirty="0"/>
              <a:t>……</a:t>
            </a:r>
            <a:endParaRPr lang="en-US" dirty="0"/>
          </a:p>
        </p:txBody>
      </p:sp>
      <p:sp>
        <p:nvSpPr>
          <p:cNvPr id="3" name="Content Placeholder 2"/>
          <p:cNvSpPr>
            <a:spLocks noGrp="1"/>
          </p:cNvSpPr>
          <p:nvPr>
            <p:ph idx="1"/>
          </p:nvPr>
        </p:nvSpPr>
        <p:spPr>
          <a:xfrm>
            <a:off x="457199" y="819149"/>
            <a:ext cx="4635502" cy="1493469"/>
          </a:xfrm>
        </p:spPr>
        <p:txBody>
          <a:bodyPr>
            <a:normAutofit/>
          </a:bodyPr>
          <a:lstStyle/>
          <a:p>
            <a:r>
              <a:rPr lang="zh-CN" altLang="en-US" dirty="0"/>
              <a:t>右图对应的</a:t>
            </a:r>
            <a:r>
              <a:rPr lang="en-US" altLang="zh-CN" dirty="0"/>
              <a:t>L</a:t>
            </a:r>
            <a:r>
              <a:rPr lang="zh-CN" altLang="en-US" dirty="0"/>
              <a:t>矩阵，特征值为</a:t>
            </a:r>
            <a:r>
              <a:rPr lang="en-US" altLang="zh-CN" dirty="0"/>
              <a:t>1</a:t>
            </a:r>
            <a:r>
              <a:rPr lang="zh-CN" altLang="en-US" dirty="0"/>
              <a:t>的特征向量有几个？</a:t>
            </a:r>
            <a:endParaRPr lang="en-US" altLang="zh-CN" dirty="0"/>
          </a:p>
          <a:p>
            <a:pPr lvl="1"/>
            <a:endParaRPr lang="en-US" altLang="zh-CN" dirty="0"/>
          </a:p>
          <a:p>
            <a:pPr lvl="1"/>
            <a:endParaRPr lang="en-US" altLang="zh-CN" dirty="0"/>
          </a:p>
        </p:txBody>
      </p:sp>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mc:AlternateContent xmlns:mc="http://schemas.openxmlformats.org/markup-compatibility/2006" xmlns:a14="http://schemas.microsoft.com/office/drawing/2010/main">
        <mc:Choice Requires="a14">
          <p:sp>
            <p:nvSpPr>
              <p:cNvPr id="11" name="TextBox 10"/>
              <p:cNvSpPr txBox="1"/>
              <p:nvPr/>
            </p:nvSpPr>
            <p:spPr>
              <a:xfrm>
                <a:off x="1499862" y="1698756"/>
                <a:ext cx="2973826"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charset="0"/>
                        </a:rPr>
                        <m:t>𝒑</m:t>
                      </m:r>
                      <m:r>
                        <a:rPr lang="en-US" altLang="zh-CN" sz="2400" b="0" i="1" smtClean="0">
                          <a:solidFill>
                            <a:schemeClr val="tx1"/>
                          </a:solidFill>
                          <a:latin typeface="Cambria Math" charset="0"/>
                        </a:rPr>
                        <m:t>=</m:t>
                      </m:r>
                      <m:d>
                        <m:dPr>
                          <m:begChr m:val="["/>
                          <m:endChr m:val="]"/>
                          <m:ctrlPr>
                            <a:rPr lang="mr-IN" altLang="zh-CN" sz="2400" b="0" i="1" smtClean="0">
                              <a:solidFill>
                                <a:schemeClr val="tx1"/>
                              </a:solidFill>
                              <a:latin typeface="Cambria Math" charset="0"/>
                            </a:rPr>
                          </m:ctrlPr>
                        </m:dPr>
                        <m:e>
                          <m:m>
                            <m:mPr>
                              <m:mcs>
                                <m:mc>
                                  <m:mcPr>
                                    <m:count m:val="5"/>
                                    <m:mcJc m:val="center"/>
                                  </m:mcPr>
                                </m:mc>
                              </m:mcs>
                              <m:ctrlPr>
                                <a:rPr lang="mr-IN" altLang="zh-CN" sz="2400" b="0" i="1" smtClean="0">
                                  <a:solidFill>
                                    <a:schemeClr val="tx1"/>
                                  </a:solidFill>
                                  <a:latin typeface="Cambria Math" charset="0"/>
                                </a:rPr>
                              </m:ctrlPr>
                            </m:mPr>
                            <m:mr>
                              <m:e>
                                <m:f>
                                  <m:fPr>
                                    <m:ctrlPr>
                                      <a:rPr lang="en-US" altLang="zh-CN" sz="2400" b="0" i="1" smtClean="0">
                                        <a:solidFill>
                                          <a:schemeClr val="tx1"/>
                                        </a:solidFill>
                                        <a:latin typeface="Cambria Math" charset="0"/>
                                      </a:rPr>
                                    </m:ctrlPr>
                                  </m:fPr>
                                  <m:num>
                                    <m:r>
                                      <m:rPr>
                                        <m:brk m:alnAt="7"/>
                                      </m:rPr>
                                      <a:rPr lang="en-US" altLang="zh-CN" sz="2400" b="0" i="1" smtClean="0">
                                        <a:solidFill>
                                          <a:schemeClr val="tx1"/>
                                        </a:solidFill>
                                        <a:latin typeface="Cambria Math" charset="0"/>
                                      </a:rPr>
                                      <m:t>1</m:t>
                                    </m:r>
                                  </m:num>
                                  <m:den>
                                    <m:r>
                                      <m:rPr>
                                        <m:brk m:alnAt="7"/>
                                      </m:rPr>
                                      <a:rPr lang="en-US" altLang="zh-CN" sz="2400" b="0" i="1" smtClean="0">
                                        <a:solidFill>
                                          <a:schemeClr val="tx1"/>
                                        </a:solidFill>
                                        <a:latin typeface="Cambria Math" charset="0"/>
                                      </a:rPr>
                                      <m:t>3</m:t>
                                    </m:r>
                                  </m:den>
                                </m:f>
                              </m:e>
                              <m:e>
                                <m:f>
                                  <m:fPr>
                                    <m:ctrlPr>
                                      <a:rPr lang="en-US"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3</m:t>
                                    </m:r>
                                  </m:den>
                                </m:f>
                              </m:e>
                              <m:e>
                                <m:f>
                                  <m:fPr>
                                    <m:ctrlPr>
                                      <a:rPr lang="mr-IN"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3</m:t>
                                    </m:r>
                                  </m:den>
                                </m:f>
                              </m:e>
                              <m:e>
                                <m:r>
                                  <a:rPr lang="en-US" altLang="zh-CN" sz="2400" b="0" i="1" smtClean="0">
                                    <a:solidFill>
                                      <a:schemeClr val="tx1"/>
                                    </a:solidFill>
                                    <a:latin typeface="Cambria Math" charset="0"/>
                                  </a:rPr>
                                  <m:t>0</m:t>
                                </m:r>
                              </m:e>
                              <m:e>
                                <m:r>
                                  <a:rPr lang="en-US" altLang="zh-CN" sz="2400" b="0" i="1" smtClean="0">
                                    <a:solidFill>
                                      <a:schemeClr val="tx1"/>
                                    </a:solidFill>
                                    <a:latin typeface="Cambria Math" charset="0"/>
                                  </a:rPr>
                                  <m:t>0</m:t>
                                </m:r>
                              </m:e>
                            </m:mr>
                          </m:m>
                        </m:e>
                      </m:d>
                    </m:oMath>
                  </m:oMathPara>
                </a14:m>
                <a:endParaRPr lang="en-US" sz="2400" b="1" dirty="0">
                  <a:solidFill>
                    <a:schemeClr val="tx1"/>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499862" y="1698756"/>
                <a:ext cx="2973826" cy="693844"/>
              </a:xfrm>
              <a:prstGeom prst="rect">
                <a:avLst/>
              </a:prstGeom>
              <a:blipFill rotWithShape="0">
                <a:blip r:embed="rId3"/>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7107" y="1058250"/>
            <a:ext cx="3209693" cy="2040204"/>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935164" y="3204812"/>
                <a:ext cx="2293577" cy="12738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𝑳</m:t>
                      </m:r>
                      <m:r>
                        <a:rPr lang="mr-IN" i="1" smtClean="0">
                          <a:latin typeface="Cambria Math" charset="0"/>
                        </a:rPr>
                        <m:t>=</m:t>
                      </m:r>
                      <m:d>
                        <m:dPr>
                          <m:begChr m:val="["/>
                          <m:endChr m:val="]"/>
                          <m:ctrlPr>
                            <a:rPr lang="mr-IN" i="1" smtClean="0">
                              <a:latin typeface="Cambria Math" charset="0"/>
                            </a:rPr>
                          </m:ctrlPr>
                        </m:dPr>
                        <m:e>
                          <m:m>
                            <m:mPr>
                              <m:mcs>
                                <m:mc>
                                  <m:mcPr>
                                    <m:count m:val="5"/>
                                    <m:mcJc m:val="center"/>
                                  </m:mcPr>
                                </m:mc>
                              </m:mcs>
                              <m:ctrlPr>
                                <a:rPr lang="mr-IN" i="1" smtClean="0">
                                  <a:latin typeface="Cambria Math" charset="0"/>
                                </a:rPr>
                              </m:ctrlPr>
                            </m:mPr>
                            <m:mr>
                              <m:e>
                                <m:r>
                                  <m:rPr>
                                    <m:brk m:alnAt="7"/>
                                  </m:rP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mr>
                          </m:m>
                        </m:e>
                      </m:d>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935164" y="3204812"/>
                <a:ext cx="2293577" cy="1273875"/>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499861" y="2751532"/>
                <a:ext cx="2973827"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charset="0"/>
                        </a:rPr>
                        <m:t>𝒑</m:t>
                      </m:r>
                      <m:r>
                        <a:rPr lang="en-US" altLang="zh-CN" sz="2400" b="0" i="1" smtClean="0">
                          <a:solidFill>
                            <a:schemeClr val="tx1"/>
                          </a:solidFill>
                          <a:latin typeface="Cambria Math" charset="0"/>
                        </a:rPr>
                        <m:t>=</m:t>
                      </m:r>
                      <m:d>
                        <m:dPr>
                          <m:begChr m:val="["/>
                          <m:endChr m:val="]"/>
                          <m:ctrlPr>
                            <a:rPr lang="mr-IN" altLang="zh-CN" sz="2400" b="0" i="1" smtClean="0">
                              <a:solidFill>
                                <a:schemeClr val="tx1"/>
                              </a:solidFill>
                              <a:latin typeface="Cambria Math" charset="0"/>
                            </a:rPr>
                          </m:ctrlPr>
                        </m:dPr>
                        <m:e>
                          <m:m>
                            <m:mPr>
                              <m:mcs>
                                <m:mc>
                                  <m:mcPr>
                                    <m:count m:val="5"/>
                                    <m:mcJc m:val="center"/>
                                  </m:mcPr>
                                </m:mc>
                              </m:mcs>
                              <m:ctrlPr>
                                <a:rPr lang="mr-IN" altLang="zh-CN" sz="2400" b="0" i="1" smtClean="0">
                                  <a:solidFill>
                                    <a:schemeClr val="tx1"/>
                                  </a:solidFill>
                                  <a:latin typeface="Cambria Math" charset="0"/>
                                </a:rPr>
                              </m:ctrlPr>
                            </m:mPr>
                            <m:mr>
                              <m:e>
                                <m:r>
                                  <a:rPr lang="en-US" altLang="zh-CN" sz="2400" b="0" i="1" smtClean="0">
                                    <a:solidFill>
                                      <a:schemeClr val="tx1"/>
                                    </a:solidFill>
                                    <a:latin typeface="Cambria Math" charset="0"/>
                                  </a:rPr>
                                  <m:t>0</m:t>
                                </m:r>
                              </m:e>
                              <m:e>
                                <m:r>
                                  <a:rPr lang="en-US" altLang="zh-CN" sz="2400" b="0" i="1" smtClean="0">
                                    <a:solidFill>
                                      <a:schemeClr val="tx1"/>
                                    </a:solidFill>
                                    <a:latin typeface="Cambria Math" charset="0"/>
                                  </a:rPr>
                                  <m:t>0</m:t>
                                </m:r>
                              </m:e>
                              <m:e>
                                <m:r>
                                  <a:rPr lang="en-US" altLang="zh-CN" sz="2400" b="0" i="1" smtClean="0">
                                    <a:solidFill>
                                      <a:schemeClr val="tx1"/>
                                    </a:solidFill>
                                    <a:latin typeface="Cambria Math" charset="0"/>
                                  </a:rPr>
                                  <m:t>0</m:t>
                                </m:r>
                              </m:e>
                              <m:e>
                                <m:f>
                                  <m:fPr>
                                    <m:ctrlPr>
                                      <a:rPr lang="mr-IN"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2</m:t>
                                    </m:r>
                                  </m:den>
                                </m:f>
                              </m:e>
                              <m:e>
                                <m:f>
                                  <m:fPr>
                                    <m:ctrlPr>
                                      <a:rPr lang="mr-IN"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2</m:t>
                                    </m:r>
                                  </m:den>
                                </m:f>
                              </m:e>
                            </m:mr>
                          </m:m>
                        </m:e>
                      </m:d>
                    </m:oMath>
                  </m:oMathPara>
                </a14:m>
                <a:endParaRPr lang="en-US" sz="2400" b="1" dirty="0">
                  <a:solidFill>
                    <a:schemeClr val="tx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499861" y="2751532"/>
                <a:ext cx="2973827" cy="693844"/>
              </a:xfrm>
              <a:prstGeom prst="rect">
                <a:avLst/>
              </a:prstGeom>
              <a:blipFill rotWithShape="0">
                <a:blip r:embed="rId6"/>
                <a:stretch>
                  <a:fillRect/>
                </a:stretch>
              </a:blipFill>
            </p:spPr>
            <p:txBody>
              <a:bodyPr/>
              <a:lstStyle/>
              <a:p>
                <a:r>
                  <a:rPr lang="en-US">
                    <a:noFill/>
                  </a:rPr>
                  <a:t> </a:t>
                </a:r>
              </a:p>
            </p:txBody>
          </p:sp>
        </mc:Fallback>
      </mc:AlternateContent>
      <p:sp>
        <p:nvSpPr>
          <p:cNvPr id="13" name="Rectangle 12"/>
          <p:cNvSpPr/>
          <p:nvPr/>
        </p:nvSpPr>
        <p:spPr>
          <a:xfrm>
            <a:off x="686227" y="3716828"/>
            <a:ext cx="3253751" cy="954107"/>
          </a:xfrm>
          <a:prstGeom prst="rect">
            <a:avLst/>
          </a:prstGeom>
        </p:spPr>
        <p:txBody>
          <a:bodyPr wrap="square">
            <a:spAutoFit/>
          </a:bodyPr>
          <a:lstStyle/>
          <a:p>
            <a:pPr>
              <a:spcBef>
                <a:spcPct val="20000"/>
              </a:spcBef>
            </a:pPr>
            <a:r>
              <a:rPr lang="zh-CN" altLang="en-US" sz="2800" dirty="0">
                <a:solidFill>
                  <a:srgbClr val="AE0627"/>
                </a:solidFill>
                <a:latin typeface="Microsoft YaHei" charset="-122"/>
                <a:ea typeface="Microsoft YaHei" charset="-122"/>
                <a:cs typeface="Microsoft YaHei" charset="-122"/>
              </a:rPr>
              <a:t>有关节点重要性的结论正好相反！</a:t>
            </a:r>
            <a:endParaRPr lang="en-US" altLang="zh-CN" sz="2800" dirty="0">
              <a:solidFill>
                <a:srgbClr val="AE0627"/>
              </a:solidFill>
              <a:latin typeface="微软雅黑" panose="020B0503020204020204" pitchFamily="34" charset="-122"/>
              <a:ea typeface="微软雅黑" panose="020B0503020204020204" pitchFamily="34" charset="-122"/>
            </a:endParaRPr>
          </a:p>
        </p:txBody>
      </p:sp>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39978" y="3629348"/>
            <a:ext cx="1308100" cy="1129066"/>
          </a:xfrm>
          <a:prstGeom prst="rect">
            <a:avLst/>
          </a:prstGeom>
          <a:ln>
            <a:noFill/>
          </a:ln>
          <a:effectLst>
            <a:softEdge rad="31750"/>
          </a:effectLst>
        </p:spPr>
      </p:pic>
      <p:sp>
        <p:nvSpPr>
          <p:cNvPr id="6" name="Slide Number Placeholder 5">
            <a:extLst>
              <a:ext uri="{FF2B5EF4-FFF2-40B4-BE49-F238E27FC236}">
                <a16:creationId xmlns:a16="http://schemas.microsoft.com/office/drawing/2014/main" xmlns="" id="{13183793-5B31-AA42-AD55-D0BFE64477EE}"/>
              </a:ext>
            </a:extLst>
          </p:cNvPr>
          <p:cNvSpPr>
            <a:spLocks noGrp="1"/>
          </p:cNvSpPr>
          <p:nvPr>
            <p:ph type="sldNum" sz="quarter" idx="12"/>
          </p:nvPr>
        </p:nvSpPr>
        <p:spPr/>
        <p:txBody>
          <a:bodyPr/>
          <a:lstStyle/>
          <a:p>
            <a:fld id="{E1BEBC7A-FD02-486B-81B5-A845787C689C}" type="slidenum">
              <a:rPr lang="zh-CN" altLang="en-US" smtClean="0"/>
              <a:t>15</a:t>
            </a:fld>
            <a:endParaRPr lang="zh-CN" altLang="en-US"/>
          </a:p>
        </p:txBody>
      </p:sp>
    </p:spTree>
    <p:extLst>
      <p:ext uri="{BB962C8B-B14F-4D97-AF65-F5344CB8AC3E}">
        <p14:creationId xmlns:p14="http://schemas.microsoft.com/office/powerpoint/2010/main" val="1013083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马尔科夫链视角下的</a:t>
            </a:r>
            <a:r>
              <a:rPr lang="en-US" altLang="zh-CN" dirty="0">
                <a:latin typeface="Calibri" charset="0"/>
                <a:ea typeface="Calibri" charset="0"/>
                <a:cs typeface="Calibri" charset="0"/>
              </a:rPr>
              <a:t>PageRank</a:t>
            </a:r>
            <a:endParaRPr lang="en-US" dirty="0">
              <a:latin typeface="Calibri" charset="0"/>
              <a:ea typeface="Calibri" charset="0"/>
              <a:cs typeface="Calibri"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一个离散时间的马尔科夫链是一个带有马尔科夫性的随机变量的序列</a:t>
                </a:r>
                <a14:m>
                  <m:oMath xmlns:m="http://schemas.openxmlformats.org/officeDocument/2006/math">
                    <m:r>
                      <a:rPr lang="en-US" i="1" dirty="0" smtClean="0">
                        <a:latin typeface="Cambria Math" charset="0"/>
                        <a:ea typeface="Calibri" charset="0"/>
                        <a:cs typeface="Calibri" charset="0"/>
                      </a:rPr>
                      <m:t>𝑋</m:t>
                    </m:r>
                    <m:r>
                      <a:rPr lang="en-US" i="1" baseline="-25000" dirty="0">
                        <a:latin typeface="Cambria Math" charset="0"/>
                        <a:ea typeface="Calibri" charset="0"/>
                        <a:cs typeface="Calibri" charset="0"/>
                      </a:rPr>
                      <m:t>1</m:t>
                    </m:r>
                    <m:r>
                      <a:rPr lang="en-US" i="1" dirty="0">
                        <a:latin typeface="Cambria Math" charset="0"/>
                        <a:ea typeface="Calibri" charset="0"/>
                        <a:cs typeface="Calibri" charset="0"/>
                      </a:rPr>
                      <m:t>, </m:t>
                    </m:r>
                    <m:r>
                      <a:rPr lang="en-US" i="1" dirty="0">
                        <a:latin typeface="Cambria Math" charset="0"/>
                        <a:ea typeface="Calibri" charset="0"/>
                        <a:cs typeface="Calibri" charset="0"/>
                      </a:rPr>
                      <m:t>𝑋</m:t>
                    </m:r>
                    <m:r>
                      <a:rPr lang="en-US" i="1" baseline="-25000" dirty="0">
                        <a:latin typeface="Cambria Math" charset="0"/>
                        <a:ea typeface="Calibri" charset="0"/>
                        <a:cs typeface="Calibri" charset="0"/>
                      </a:rPr>
                      <m:t>2</m:t>
                    </m:r>
                    <m:r>
                      <a:rPr lang="en-US" i="1" dirty="0">
                        <a:latin typeface="Cambria Math" charset="0"/>
                        <a:ea typeface="Calibri" charset="0"/>
                        <a:cs typeface="Calibri" charset="0"/>
                      </a:rPr>
                      <m:t>, </m:t>
                    </m:r>
                    <m:r>
                      <a:rPr lang="en-US" i="1" dirty="0">
                        <a:latin typeface="Cambria Math" charset="0"/>
                        <a:ea typeface="Calibri" charset="0"/>
                        <a:cs typeface="Calibri" charset="0"/>
                      </a:rPr>
                      <m:t>𝑋</m:t>
                    </m:r>
                    <m:r>
                      <a:rPr lang="en-US" i="1" baseline="-25000" dirty="0">
                        <a:latin typeface="Cambria Math" charset="0"/>
                        <a:ea typeface="Calibri" charset="0"/>
                        <a:cs typeface="Calibri" charset="0"/>
                      </a:rPr>
                      <m:t>3</m:t>
                    </m:r>
                    <m:r>
                      <a:rPr lang="en-US" i="1" dirty="0">
                        <a:latin typeface="Cambria Math" charset="0"/>
                        <a:ea typeface="Calibri" charset="0"/>
                        <a:cs typeface="Calibri" charset="0"/>
                      </a:rPr>
                      <m:t>, …</m:t>
                    </m:r>
                  </m:oMath>
                </a14:m>
                <a:r>
                  <a:rPr lang="en-US" dirty="0">
                    <a:latin typeface="Calibri" charset="0"/>
                    <a:ea typeface="Calibri" charset="0"/>
                    <a:cs typeface="Calibri" charset="0"/>
                  </a:rPr>
                  <a:t> </a:t>
                </a:r>
                <a:r>
                  <a:rPr lang="zh-CN" altLang="en-US" dirty="0">
                    <a:latin typeface="Microsoft YaHei" charset="-122"/>
                    <a:ea typeface="Microsoft YaHei" charset="-122"/>
                    <a:cs typeface="Microsoft YaHei" charset="-122"/>
                  </a:rPr>
                  <a:t>，即转移到下一个状态的概率只取决于当前状态，而与历史状态无关，用公式表示如下：</a:t>
                </a:r>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r="-2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155123" y="2094591"/>
                <a:ext cx="75316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000" b="0" i="1" smtClean="0">
                              <a:latin typeface="Cambria Math" charset="0"/>
                            </a:rPr>
                          </m:ctrlPr>
                        </m:funcPr>
                        <m:fName>
                          <m:r>
                            <m:rPr>
                              <m:sty m:val="p"/>
                            </m:rPr>
                            <a:rPr lang="en-US" altLang="zh-CN" sz="2000" b="0" i="0" smtClean="0">
                              <a:latin typeface="Cambria Math" charset="0"/>
                            </a:rPr>
                            <m:t>Pr</m:t>
                          </m:r>
                        </m:fName>
                        <m:e>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r>
                                    <a:rPr lang="en-US" altLang="zh-CN" sz="2000" b="0" i="1" smtClean="0">
                                      <a:latin typeface="Cambria Math" charset="0"/>
                                    </a:rPr>
                                    <m:t>+1</m:t>
                                  </m:r>
                                </m:sub>
                              </m:sSub>
                              <m:r>
                                <a:rPr lang="en-US" altLang="zh-CN" sz="2000" b="0" i="1" smtClean="0">
                                  <a:latin typeface="Cambria Math" charset="0"/>
                                </a:rPr>
                                <m:t>=</m:t>
                              </m:r>
                              <m:r>
                                <a:rPr lang="en-US" altLang="zh-CN" sz="2000" b="0" i="1" smtClean="0">
                                  <a:latin typeface="Cambria Math" charset="0"/>
                                </a:rPr>
                                <m:t>𝑥</m:t>
                              </m:r>
                            </m:e>
                            <m:e>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𝑛</m:t>
                                  </m:r>
                                </m:sub>
                              </m:sSub>
                            </m:e>
                          </m:d>
                        </m:e>
                      </m:func>
                      <m:r>
                        <a:rPr lang="en-US" altLang="zh-CN" sz="2000" b="0" i="1" smtClean="0">
                          <a:latin typeface="Cambria Math" charset="0"/>
                        </a:rPr>
                        <m:t>=</m:t>
                      </m:r>
                      <m:func>
                        <m:funcPr>
                          <m:ctrlPr>
                            <a:rPr lang="zh-CN" altLang="en-US" sz="2000" b="0" i="1" smtClean="0">
                              <a:latin typeface="Cambria Math" charset="0"/>
                            </a:rPr>
                          </m:ctrlPr>
                        </m:funcPr>
                        <m:fName>
                          <m:r>
                            <m:rPr>
                              <m:sty m:val="p"/>
                            </m:rPr>
                            <a:rPr lang="en-US" altLang="zh-CN" sz="2000" b="0" i="0" smtClean="0">
                              <a:latin typeface="Cambria Math" charset="0"/>
                            </a:rPr>
                            <m:t>Pr</m:t>
                          </m:r>
                        </m:fName>
                        <m:e>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r>
                                <a:rPr lang="en-US" altLang="zh-CN" sz="2000" b="0" i="1" smtClean="0">
                                  <a:latin typeface="Cambria Math" charset="0"/>
                                </a:rPr>
                                <m:t>+1</m:t>
                              </m:r>
                            </m:sub>
                          </m:sSub>
                          <m:r>
                            <a:rPr lang="en-US" altLang="zh-CN" sz="2000" b="0" i="1" smtClean="0">
                              <a:latin typeface="Cambria Math" charset="0"/>
                            </a:rPr>
                            <m:t>=</m:t>
                          </m:r>
                          <m:r>
                            <a:rPr lang="en-US" altLang="zh-CN" sz="2000" b="0" i="1" smtClean="0">
                              <a:latin typeface="Cambria Math" charset="0"/>
                            </a:rPr>
                            <m:t>𝑥</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𝑛</m:t>
                              </m:r>
                            </m:sub>
                          </m:sSub>
                          <m:r>
                            <a:rPr lang="en-US" altLang="zh-CN" sz="2000" b="0" i="1" smtClean="0">
                              <a:latin typeface="Cambria Math" charset="0"/>
                            </a:rPr>
                            <m:t>)</m:t>
                          </m:r>
                        </m:e>
                      </m:func>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155123" y="2094591"/>
                <a:ext cx="7531677" cy="307777"/>
              </a:xfrm>
              <a:prstGeom prst="rect">
                <a:avLst/>
              </a:prstGeom>
              <a:blipFill rotWithShape="0">
                <a:blip r:embed="rId3"/>
                <a:stretch>
                  <a:fillRect l="-243" t="-4000" r="-809"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939800" y="2846783"/>
                <a:ext cx="7543800" cy="769441"/>
              </a:xfrm>
              <a:prstGeom prst="rect">
                <a:avLst/>
              </a:prstGeom>
            </p:spPr>
            <p:txBody>
              <a:bodyPr wrap="square">
                <a:spAutoFit/>
              </a:bodyPr>
              <a:lstStyle/>
              <a:p>
                <a:pPr>
                  <a:spcBef>
                    <a:spcPct val="20000"/>
                  </a:spcBef>
                </a:pPr>
                <a:r>
                  <a:rPr lang="en-US" sz="2000" dirty="0">
                    <a:latin typeface="Calibri" charset="0"/>
                    <a:ea typeface="Calibri" charset="0"/>
                    <a:cs typeface="Calibri" charset="0"/>
                  </a:rPr>
                  <a:t> </a:t>
                </a:r>
                <a:r>
                  <a:rPr lang="zh-CN" altLang="en-US" sz="2000" dirty="0">
                    <a:latin typeface="Microsoft YaHei" charset="-122"/>
                    <a:ea typeface="Microsoft YaHei" charset="-122"/>
                    <a:cs typeface="Microsoft YaHei" charset="-122"/>
                  </a:rPr>
                  <a:t>其中：</a:t>
                </a:r>
                <a:r>
                  <a:rPr lang="zh-CN" altLang="en-US" sz="2000" dirty="0"/>
                  <a:t> </a:t>
                </a:r>
                <a14:m>
                  <m:oMath xmlns:m="http://schemas.openxmlformats.org/officeDocument/2006/math">
                    <m:func>
                      <m:funcPr>
                        <m:ctrlPr>
                          <a:rPr lang="zh-CN" altLang="en-US" sz="2000" i="1">
                            <a:latin typeface="Cambria Math" charset="0"/>
                          </a:rPr>
                        </m:ctrlPr>
                      </m:funcPr>
                      <m:fName>
                        <m:r>
                          <m:rPr>
                            <m:sty m:val="p"/>
                          </m:rPr>
                          <a:rPr lang="en-US" altLang="zh-CN" sz="2000">
                            <a:latin typeface="Cambria Math" charset="0"/>
                          </a:rPr>
                          <m:t>Pr</m:t>
                        </m:r>
                      </m:fName>
                      <m:e>
                        <m:r>
                          <a:rPr lang="en-US" altLang="zh-CN" sz="2000" i="1">
                            <a:latin typeface="Cambria Math" charset="0"/>
                          </a:rPr>
                          <m:t>(</m:t>
                        </m:r>
                        <m:sSub>
                          <m:sSubPr>
                            <m:ctrlPr>
                              <a:rPr lang="en-US" altLang="zh-CN" sz="2000" i="1">
                                <a:latin typeface="Cambria Math" charset="0"/>
                              </a:rPr>
                            </m:ctrlPr>
                          </m:sSubPr>
                          <m:e>
                            <m:r>
                              <a:rPr lang="en-US" altLang="zh-CN" sz="2000" i="1">
                                <a:latin typeface="Cambria Math" charset="0"/>
                              </a:rPr>
                              <m:t>𝑋</m:t>
                            </m:r>
                          </m:e>
                          <m:sub>
                            <m:r>
                              <a:rPr lang="en-US" altLang="zh-CN" sz="2000" i="1">
                                <a:latin typeface="Cambria Math" charset="0"/>
                              </a:rPr>
                              <m:t>𝑛</m:t>
                            </m:r>
                            <m:r>
                              <a:rPr lang="en-US" altLang="zh-CN" sz="2000" i="1">
                                <a:latin typeface="Cambria Math" charset="0"/>
                              </a:rPr>
                              <m:t>+1</m:t>
                            </m:r>
                          </m:sub>
                        </m:sSub>
                        <m:r>
                          <a:rPr lang="en-US" altLang="zh-CN" sz="2000" i="1">
                            <a:latin typeface="Cambria Math" charset="0"/>
                          </a:rPr>
                          <m:t>=</m:t>
                        </m:r>
                        <m:r>
                          <a:rPr lang="en-US" altLang="zh-CN" sz="2000" i="1">
                            <a:latin typeface="Cambria Math" charset="0"/>
                          </a:rPr>
                          <m:t>𝑥</m:t>
                        </m:r>
                        <m:r>
                          <a:rPr lang="en-US" altLang="zh-CN" sz="2000" i="1">
                            <a:latin typeface="Cambria Math" charset="0"/>
                          </a:rPr>
                          <m:t>|</m:t>
                        </m:r>
                        <m:sSub>
                          <m:sSubPr>
                            <m:ctrlPr>
                              <a:rPr lang="en-US" altLang="zh-CN" sz="2000" i="1">
                                <a:latin typeface="Cambria Math" charset="0"/>
                              </a:rPr>
                            </m:ctrlPr>
                          </m:sSubPr>
                          <m:e>
                            <m:r>
                              <a:rPr lang="en-US" altLang="zh-CN" sz="2000" i="1">
                                <a:latin typeface="Cambria Math" charset="0"/>
                              </a:rPr>
                              <m:t>𝑋</m:t>
                            </m:r>
                          </m:e>
                          <m:sub>
                            <m:r>
                              <a:rPr lang="en-US" altLang="zh-CN" sz="2000" i="1">
                                <a:latin typeface="Cambria Math" charset="0"/>
                              </a:rPr>
                              <m:t>𝑛</m:t>
                            </m:r>
                          </m:sub>
                        </m:sSub>
                        <m:r>
                          <a:rPr lang="en-US" altLang="zh-CN" sz="2000" i="1">
                            <a:latin typeface="Cambria Math" charset="0"/>
                          </a:rPr>
                          <m:t>=</m:t>
                        </m:r>
                        <m:sSub>
                          <m:sSubPr>
                            <m:ctrlPr>
                              <a:rPr lang="en-US" altLang="zh-CN" sz="2000" i="1">
                                <a:latin typeface="Cambria Math" charset="0"/>
                              </a:rPr>
                            </m:ctrlPr>
                          </m:sSubPr>
                          <m:e>
                            <m:r>
                              <a:rPr lang="en-US" altLang="zh-CN" sz="2000" i="1">
                                <a:latin typeface="Cambria Math" charset="0"/>
                              </a:rPr>
                              <m:t>𝑥</m:t>
                            </m:r>
                          </m:e>
                          <m:sub>
                            <m:r>
                              <a:rPr lang="en-US" altLang="zh-CN" sz="2000" i="1">
                                <a:latin typeface="Cambria Math" charset="0"/>
                              </a:rPr>
                              <m:t>𝑛</m:t>
                            </m:r>
                          </m:sub>
                        </m:sSub>
                        <m:r>
                          <a:rPr lang="en-US" altLang="zh-CN" sz="2000" i="1">
                            <a:latin typeface="Cambria Math" charset="0"/>
                          </a:rPr>
                          <m:t>)</m:t>
                        </m:r>
                      </m:e>
                    </m:func>
                  </m:oMath>
                </a14:m>
                <a:r>
                  <a:rPr lang="zh-CN" altLang="en-US" sz="2000" dirty="0">
                    <a:latin typeface="Calibri" charset="0"/>
                    <a:ea typeface="Calibri" charset="0"/>
                    <a:cs typeface="Calibri" charset="0"/>
                  </a:rPr>
                  <a:t> </a:t>
                </a:r>
                <a:r>
                  <a:rPr lang="zh-CN" altLang="en-US" sz="2000" dirty="0">
                    <a:latin typeface="Microsoft YaHei" charset="-122"/>
                    <a:ea typeface="Microsoft YaHei" charset="-122"/>
                    <a:cs typeface="Microsoft YaHei" charset="-122"/>
                  </a:rPr>
                  <a:t>称为状态转移概率；</a:t>
                </a:r>
                <a:endParaRPr lang="en-US" sz="2000" dirty="0">
                  <a:latin typeface="Microsoft YaHei" charset="-122"/>
                  <a:ea typeface="Microsoft YaHei" charset="-122"/>
                  <a:cs typeface="Microsoft YaHei" charset="-122"/>
                </a:endParaRPr>
              </a:p>
              <a:p>
                <a:pPr>
                  <a:spcBef>
                    <a:spcPct val="20000"/>
                  </a:spcBef>
                </a:pPr>
                <a:r>
                  <a:rPr lang="zh-CN" altLang="en-US" sz="2000" dirty="0">
                    <a:latin typeface="Microsoft YaHei" charset="-122"/>
                    <a:ea typeface="Microsoft YaHei" charset="-122"/>
                    <a:cs typeface="Microsoft YaHei" charset="-122"/>
                  </a:rPr>
                  <a:t>随机变量</a:t>
                </a:r>
                <a:r>
                  <a:rPr lang="zh-CN" altLang="en-US" sz="2000" dirty="0">
                    <a:latin typeface="Calibri" charset="0"/>
                    <a:ea typeface="Calibri" charset="0"/>
                    <a:cs typeface="Calibri" charset="0"/>
                  </a:rPr>
                  <a:t> </a:t>
                </a:r>
                <a14:m>
                  <m:oMath xmlns:m="http://schemas.openxmlformats.org/officeDocument/2006/math">
                    <m:sSub>
                      <m:sSubPr>
                        <m:ctrlPr>
                          <a:rPr lang="en-US" altLang="zh-CN" sz="2000" b="0" i="1" dirty="0" smtClean="0">
                            <a:latin typeface="Cambria Math" charset="0"/>
                          </a:rPr>
                        </m:ctrlPr>
                      </m:sSubPr>
                      <m:e>
                        <m:r>
                          <a:rPr lang="en-US" sz="2000" i="1" dirty="0" smtClean="0">
                            <a:latin typeface="Cambria Math" charset="0"/>
                          </a:rPr>
                          <m:t>𝑋</m:t>
                        </m:r>
                      </m:e>
                      <m:sub>
                        <m:r>
                          <a:rPr lang="en-US" altLang="zh-CN" sz="2000" b="0" i="1" dirty="0" smtClean="0">
                            <a:latin typeface="Cambria Math" charset="0"/>
                          </a:rPr>
                          <m:t>𝑖</m:t>
                        </m:r>
                      </m:sub>
                    </m:sSub>
                  </m:oMath>
                </a14:m>
                <a:r>
                  <a:rPr lang="en-US" sz="2000" dirty="0"/>
                  <a:t> </a:t>
                </a:r>
                <a:r>
                  <a:rPr lang="zh-CN" altLang="en-US" sz="2000" dirty="0">
                    <a:latin typeface="Microsoft YaHei" charset="-122"/>
                    <a:ea typeface="Microsoft YaHei" charset="-122"/>
                    <a:cs typeface="Microsoft YaHei" charset="-122"/>
                  </a:rPr>
                  <a:t>可能的取值构成了一个可数的集合</a:t>
                </a:r>
                <a:r>
                  <a:rPr lang="en-US" sz="2000" dirty="0"/>
                  <a:t> </a:t>
                </a:r>
                <a14:m>
                  <m:oMath xmlns:m="http://schemas.openxmlformats.org/officeDocument/2006/math">
                    <m:r>
                      <a:rPr lang="en-US" sz="2000" i="1" dirty="0" smtClean="0">
                        <a:latin typeface="Cambria Math" charset="0"/>
                      </a:rPr>
                      <m:t>𝑆</m:t>
                    </m:r>
                  </m:oMath>
                </a14:m>
                <a:r>
                  <a:rPr lang="en-US" sz="2000" dirty="0"/>
                  <a:t> </a:t>
                </a:r>
                <a:r>
                  <a:rPr lang="zh-CN" altLang="en-US" sz="2000" dirty="0"/>
                  <a:t>，</a:t>
                </a:r>
                <a:r>
                  <a:rPr lang="zh-CN" altLang="en-US" sz="2000" dirty="0">
                    <a:latin typeface="Microsoft YaHei" charset="-122"/>
                    <a:ea typeface="Microsoft YaHei" charset="-122"/>
                    <a:cs typeface="Microsoft YaHei" charset="-122"/>
                  </a:rPr>
                  <a:t>称为状态空间</a:t>
                </a:r>
                <a:endParaRPr lang="en-US" sz="2000" dirty="0">
                  <a:latin typeface="Microsoft YaHei" charset="-122"/>
                  <a:ea typeface="Microsoft YaHei" charset="-122"/>
                  <a:cs typeface="Microsoft YaHei" charset="-122"/>
                </a:endParaRPr>
              </a:p>
            </p:txBody>
          </p:sp>
        </mc:Choice>
        <mc:Fallback xmlns="">
          <p:sp>
            <p:nvSpPr>
              <p:cNvPr id="17" name="Rectangle 16"/>
              <p:cNvSpPr>
                <a:spLocks noRot="1" noChangeAspect="1" noMove="1" noResize="1" noEditPoints="1" noAdjustHandles="1" noChangeArrowheads="1" noChangeShapeType="1" noTextEdit="1"/>
              </p:cNvSpPr>
              <p:nvPr/>
            </p:nvSpPr>
            <p:spPr>
              <a:xfrm>
                <a:off x="939800" y="2846783"/>
                <a:ext cx="7543800" cy="769441"/>
              </a:xfrm>
              <a:prstGeom prst="rect">
                <a:avLst/>
              </a:prstGeom>
              <a:blipFill rotWithShape="0">
                <a:blip r:embed="rId4"/>
                <a:stretch>
                  <a:fillRect l="-808" t="-5556" b="-13492"/>
                </a:stretch>
              </a:blipFill>
            </p:spPr>
            <p:txBody>
              <a:bodyPr/>
              <a:lstStyle/>
              <a:p>
                <a:r>
                  <a:rPr lang="en-US">
                    <a:noFill/>
                  </a:rPr>
                  <a:t> </a:t>
                </a:r>
              </a:p>
            </p:txBody>
          </p:sp>
        </mc:Fallback>
      </mc:AlternateContent>
      <p:sp>
        <p:nvSpPr>
          <p:cNvPr id="18" name="Rectangle 17"/>
          <p:cNvSpPr/>
          <p:nvPr/>
        </p:nvSpPr>
        <p:spPr>
          <a:xfrm>
            <a:off x="5016927" y="1545891"/>
            <a:ext cx="3253751" cy="400110"/>
          </a:xfrm>
          <a:prstGeom prst="rect">
            <a:avLst/>
          </a:prstGeom>
        </p:spPr>
        <p:txBody>
          <a:bodyPr wrap="square">
            <a:spAutoFit/>
          </a:bodyPr>
          <a:lstStyle/>
          <a:p>
            <a:pPr>
              <a:spcBef>
                <a:spcPct val="20000"/>
              </a:spcBef>
            </a:pPr>
            <a:r>
              <a:rPr lang="zh-CN" altLang="en-US" sz="2000" dirty="0">
                <a:solidFill>
                  <a:srgbClr val="AE0627"/>
                </a:solidFill>
                <a:latin typeface="Microsoft YaHei" charset="-122"/>
                <a:ea typeface="Microsoft YaHei" charset="-122"/>
                <a:cs typeface="Microsoft YaHei" charset="-122"/>
              </a:rPr>
              <a:t>马尔科夫性</a:t>
            </a:r>
            <a:endParaRPr lang="en-US" altLang="zh-CN" sz="2000" dirty="0">
              <a:solidFill>
                <a:srgbClr val="AE0627"/>
              </a:solidFill>
              <a:latin typeface="微软雅黑" panose="020B0503020204020204" pitchFamily="34" charset="-122"/>
              <a:ea typeface="微软雅黑" panose="020B0503020204020204" pitchFamily="34" charset="-122"/>
            </a:endParaRPr>
          </a:p>
        </p:txBody>
      </p:sp>
      <p:cxnSp>
        <p:nvCxnSpPr>
          <p:cNvPr id="20" name="Straight Arrow Connector 19"/>
          <p:cNvCxnSpPr/>
          <p:nvPr/>
        </p:nvCxnSpPr>
        <p:spPr>
          <a:xfrm>
            <a:off x="6541225" y="1772356"/>
            <a:ext cx="889000" cy="2000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Content Placeholder 2"/>
          <p:cNvSpPr txBox="1">
            <a:spLocks/>
          </p:cNvSpPr>
          <p:nvPr/>
        </p:nvSpPr>
        <p:spPr>
          <a:xfrm>
            <a:off x="457198" y="3730523"/>
            <a:ext cx="8229601" cy="10065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练习：</a:t>
            </a:r>
            <a:endParaRPr lang="en-US" altLang="zh-CN" dirty="0"/>
          </a:p>
          <a:p>
            <a:pPr lvl="1"/>
            <a:r>
              <a:rPr lang="zh-CN" altLang="en-US" dirty="0"/>
              <a:t>请建立马尔科夫链与</a:t>
            </a:r>
            <a:r>
              <a:rPr lang="en-US" altLang="zh-CN" dirty="0"/>
              <a:t>PageRank</a:t>
            </a:r>
            <a:r>
              <a:rPr lang="zh-CN" altLang="en-US" dirty="0"/>
              <a:t>的关联</a:t>
            </a:r>
            <a:endParaRPr lang="en-US" altLang="zh-CN" dirty="0"/>
          </a:p>
        </p:txBody>
      </p:sp>
      <p:sp>
        <p:nvSpPr>
          <p:cNvPr id="4" name="Slide Number Placeholder 3">
            <a:extLst>
              <a:ext uri="{FF2B5EF4-FFF2-40B4-BE49-F238E27FC236}">
                <a16:creationId xmlns:a16="http://schemas.microsoft.com/office/drawing/2014/main" xmlns="" id="{82BE2775-D60E-9046-8C27-742E1648F271}"/>
              </a:ext>
            </a:extLst>
          </p:cNvPr>
          <p:cNvSpPr>
            <a:spLocks noGrp="1"/>
          </p:cNvSpPr>
          <p:nvPr>
            <p:ph type="sldNum" sz="quarter" idx="12"/>
          </p:nvPr>
        </p:nvSpPr>
        <p:spPr/>
        <p:txBody>
          <a:bodyPr/>
          <a:lstStyle/>
          <a:p>
            <a:fld id="{E1BEBC7A-FD02-486B-81B5-A845787C689C}" type="slidenum">
              <a:rPr lang="zh-CN" altLang="en-US" smtClean="0"/>
              <a:t>16</a:t>
            </a:fld>
            <a:endParaRPr lang="zh-CN" altLang="en-US"/>
          </a:p>
        </p:txBody>
      </p:sp>
    </p:spTree>
    <p:extLst>
      <p:ext uri="{BB962C8B-B14F-4D97-AF65-F5344CB8AC3E}">
        <p14:creationId xmlns:p14="http://schemas.microsoft.com/office/powerpoint/2010/main" val="1460688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animEffect transition="in" filter="blinds(horizontal)">
                                      <p:cBhvr>
                                        <p:cTn id="15" dur="500"/>
                                        <p:tgtEl>
                                          <p:spTgt spid="23">
                                            <p:txEl>
                                              <p:pRg st="0" end="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3">
                                            <p:txEl>
                                              <p:pRg st="1" end="1"/>
                                            </p:txEl>
                                          </p:spTgt>
                                        </p:tgtEl>
                                        <p:attrNameLst>
                                          <p:attrName>style.visibility</p:attrName>
                                        </p:attrNameLst>
                                      </p:cBhvr>
                                      <p:to>
                                        <p:strVal val="visible"/>
                                      </p:to>
                                    </p:set>
                                    <p:animEffect transition="in" filter="blinds(horizontal)">
                                      <p:cBhvr>
                                        <p:cTn id="18"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马尔科夫链</a:t>
            </a:r>
            <a:endParaRPr lang="en-US" dirty="0"/>
          </a:p>
        </p:txBody>
      </p:sp>
      <p:pic>
        <p:nvPicPr>
          <p:cNvPr id="4" name="图片 3">
            <a:extLst>
              <a:ext uri="{FF2B5EF4-FFF2-40B4-BE49-F238E27FC236}">
                <a16:creationId xmlns:a16="http://schemas.microsoft.com/office/drawing/2014/main" xmlns="" id="{C2F1BDCB-5ACC-4287-A1A1-1C5D0A15FF41}"/>
              </a:ext>
            </a:extLst>
          </p:cNvPr>
          <p:cNvPicPr>
            <a:picLocks noGrp="1" noChangeAspect="1"/>
          </p:cNvPicPr>
          <p:nvPr>
            <p:ph idx="1"/>
          </p:nvPr>
        </p:nvPicPr>
        <p:blipFill>
          <a:blip r:embed="rId2"/>
          <a:stretch>
            <a:fillRect/>
          </a:stretch>
        </p:blipFill>
        <p:spPr>
          <a:xfrm>
            <a:off x="457200" y="832213"/>
            <a:ext cx="5462069" cy="3937000"/>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5919269" y="1058080"/>
                <a:ext cx="3224732" cy="3477875"/>
              </a:xfrm>
              <a:prstGeom prst="rect">
                <a:avLst/>
              </a:prstGeom>
            </p:spPr>
            <p:txBody>
              <a:bodyPr wrap="square">
                <a:spAutoFit/>
              </a:bodyPr>
              <a:lstStyle/>
              <a:p>
                <a:pPr>
                  <a:spcBef>
                    <a:spcPct val="20000"/>
                  </a:spcBef>
                </a:pPr>
                <a:r>
                  <a:rPr lang="zh-CN" altLang="en-US" sz="2000" dirty="0">
                    <a:latin typeface="Microsoft YaHei" charset="-122"/>
                    <a:ea typeface="Microsoft YaHei" charset="-122"/>
                    <a:cs typeface="Microsoft YaHei" charset="-122"/>
                  </a:rPr>
                  <a:t>练习 </a:t>
                </a:r>
                <a:r>
                  <a:rPr lang="en-US" altLang="zh-CN" sz="2000" dirty="0">
                    <a:latin typeface="Microsoft YaHei" charset="-122"/>
                    <a:ea typeface="Microsoft YaHei" charset="-122"/>
                    <a:cs typeface="Microsoft YaHei" charset="-122"/>
                  </a:rPr>
                  <a:t>-</a:t>
                </a:r>
                <a:r>
                  <a:rPr lang="zh-CN" altLang="en-US" sz="2000" dirty="0">
                    <a:latin typeface="Microsoft YaHei" charset="-122"/>
                    <a:ea typeface="Microsoft YaHei" charset="-122"/>
                    <a:cs typeface="Microsoft YaHei" charset="-122"/>
                  </a:rPr>
                  <a:t> 请写出左图对应的：</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状态空间</a:t>
                </a:r>
                <a14:m>
                  <m:oMath xmlns:m="http://schemas.openxmlformats.org/officeDocument/2006/math">
                    <m:r>
                      <a:rPr lang="en-US" altLang="zh-CN" sz="2000" i="1" dirty="0" smtClean="0">
                        <a:latin typeface="Cambria Math" charset="0"/>
                        <a:ea typeface="Microsoft YaHei" charset="-122"/>
                        <a:cs typeface="Microsoft YaHei" charset="-122"/>
                      </a:rPr>
                      <m:t>𝑆</m:t>
                    </m:r>
                  </m:oMath>
                </a14:m>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状态转移概率</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如果时间点</a:t>
                </a:r>
                <a:r>
                  <a:rPr lang="en-US" altLang="zh-CN" sz="2000" dirty="0">
                    <a:latin typeface="Microsoft YaHei" charset="-122"/>
                    <a:ea typeface="Microsoft YaHei" charset="-122"/>
                    <a:cs typeface="Microsoft YaHei" charset="-122"/>
                  </a:rPr>
                  <a:t>1</a:t>
                </a:r>
                <a:r>
                  <a:rPr lang="zh-CN" altLang="en-US" sz="2000" dirty="0">
                    <a:latin typeface="Microsoft YaHei" charset="-122"/>
                    <a:ea typeface="Microsoft YaHei" charset="-122"/>
                    <a:cs typeface="Microsoft YaHei" charset="-122"/>
                  </a:rPr>
                  <a:t>时，某学生选择上了第一节课，请写出</a:t>
                </a:r>
                <a14:m>
                  <m:oMath xmlns:m="http://schemas.openxmlformats.org/officeDocument/2006/math">
                    <m:sSub>
                      <m:sSubPr>
                        <m:ctrlPr>
                          <a:rPr lang="en-US" altLang="zh-CN" sz="2000" b="0" i="1" dirty="0" smtClean="0">
                            <a:latin typeface="Cambria Math" charset="0"/>
                            <a:ea typeface="Microsoft YaHei" charset="-122"/>
                            <a:cs typeface="Microsoft YaHei" charset="-122"/>
                          </a:rPr>
                        </m:ctrlPr>
                      </m:sSubPr>
                      <m:e>
                        <m:r>
                          <a:rPr lang="en-US" altLang="zh-CN" sz="2000" i="1" dirty="0" smtClean="0">
                            <a:latin typeface="Cambria Math" charset="0"/>
                            <a:ea typeface="Microsoft YaHei" charset="-122"/>
                            <a:cs typeface="Microsoft YaHei" charset="-122"/>
                          </a:rPr>
                          <m:t>𝑋</m:t>
                        </m:r>
                      </m:e>
                      <m:sub>
                        <m:r>
                          <a:rPr lang="en-US" altLang="zh-CN" sz="2000" b="0" i="1" dirty="0" smtClean="0">
                            <a:latin typeface="Cambria Math" charset="0"/>
                            <a:ea typeface="Microsoft YaHei" charset="-122"/>
                            <a:cs typeface="Microsoft YaHei" charset="-122"/>
                          </a:rPr>
                          <m:t>1</m:t>
                        </m:r>
                      </m:sub>
                    </m:sSub>
                  </m:oMath>
                </a14:m>
                <a:r>
                  <a:rPr lang="zh-CN" altLang="en-US" sz="2000" dirty="0">
                    <a:latin typeface="Microsoft YaHei" charset="-122"/>
                    <a:ea typeface="Microsoft YaHei" charset="-122"/>
                    <a:cs typeface="Microsoft YaHei" charset="-122"/>
                  </a:rPr>
                  <a:t>的分布</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如果</a:t>
                </a:r>
                <a14:m>
                  <m:oMath xmlns:m="http://schemas.openxmlformats.org/officeDocument/2006/math">
                    <m:sSub>
                      <m:sSubPr>
                        <m:ctrlPr>
                          <a:rPr lang="en-US" altLang="zh-CN" sz="2000" i="1" dirty="0">
                            <a:latin typeface="Cambria Math" charset="0"/>
                            <a:ea typeface="Microsoft YaHei" charset="-122"/>
                            <a:cs typeface="Microsoft YaHei" charset="-122"/>
                          </a:rPr>
                        </m:ctrlPr>
                      </m:sSubPr>
                      <m:e>
                        <m:r>
                          <a:rPr lang="en-US" altLang="zh-CN" sz="2000" i="1" dirty="0">
                            <a:latin typeface="Cambria Math" charset="0"/>
                            <a:ea typeface="Microsoft YaHei" charset="-122"/>
                            <a:cs typeface="Microsoft YaHei" charset="-122"/>
                          </a:rPr>
                          <m:t>𝑋</m:t>
                        </m:r>
                      </m:e>
                      <m:sub>
                        <m:r>
                          <a:rPr lang="en-US" altLang="zh-CN" sz="2000" i="1" dirty="0">
                            <a:latin typeface="Cambria Math" charset="0"/>
                            <a:ea typeface="Microsoft YaHei" charset="-122"/>
                            <a:cs typeface="Microsoft YaHei" charset="-122"/>
                          </a:rPr>
                          <m:t>1</m:t>
                        </m:r>
                      </m:sub>
                    </m:sSub>
                  </m:oMath>
                </a14:m>
                <a:r>
                  <a:rPr lang="zh-CN" altLang="en-US" sz="2000" dirty="0">
                    <a:latin typeface="Microsoft YaHei" charset="-122"/>
                    <a:ea typeface="Microsoft YaHei" charset="-122"/>
                    <a:cs typeface="Microsoft YaHei" charset="-122"/>
                  </a:rPr>
                  <a:t>符合上述分布，写出</a:t>
                </a:r>
                <a14:m>
                  <m:oMath xmlns:m="http://schemas.openxmlformats.org/officeDocument/2006/math">
                    <m:sSub>
                      <m:sSubPr>
                        <m:ctrlPr>
                          <a:rPr lang="en-US" altLang="zh-CN" sz="2000" i="1" dirty="0">
                            <a:latin typeface="Cambria Math" charset="0"/>
                            <a:ea typeface="Microsoft YaHei" charset="-122"/>
                            <a:cs typeface="Microsoft YaHei" charset="-122"/>
                          </a:rPr>
                        </m:ctrlPr>
                      </m:sSubPr>
                      <m:e>
                        <m:r>
                          <a:rPr lang="en-US" altLang="zh-CN" sz="2000" i="1" dirty="0">
                            <a:latin typeface="Cambria Math" charset="0"/>
                            <a:ea typeface="Microsoft YaHei" charset="-122"/>
                            <a:cs typeface="Microsoft YaHei" charset="-122"/>
                          </a:rPr>
                          <m:t>𝑋</m:t>
                        </m:r>
                      </m:e>
                      <m:sub>
                        <m:r>
                          <a:rPr lang="en-US" altLang="zh-CN" sz="2000" b="0" i="1" dirty="0" smtClean="0">
                            <a:latin typeface="Cambria Math" charset="0"/>
                            <a:ea typeface="Microsoft YaHei" charset="-122"/>
                            <a:cs typeface="Microsoft YaHei" charset="-122"/>
                          </a:rPr>
                          <m:t>2</m:t>
                        </m:r>
                      </m:sub>
                    </m:sSub>
                  </m:oMath>
                </a14:m>
                <a:r>
                  <a:rPr lang="zh-CN" altLang="en-US" sz="2000" dirty="0">
                    <a:latin typeface="Microsoft YaHei" charset="-122"/>
                    <a:ea typeface="Microsoft YaHei" charset="-122"/>
                    <a:cs typeface="Microsoft YaHei" charset="-122"/>
                  </a:rPr>
                  <a:t>的分布</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如果时间</a:t>
                </a:r>
                <a14:m>
                  <m:oMath xmlns:m="http://schemas.openxmlformats.org/officeDocument/2006/math">
                    <m:r>
                      <a:rPr lang="en-US" altLang="zh-CN" sz="2000" i="1" dirty="0" smtClean="0">
                        <a:latin typeface="Cambria Math" charset="0"/>
                        <a:ea typeface="Microsoft YaHei" charset="-122"/>
                        <a:cs typeface="Microsoft YaHei" charset="-122"/>
                      </a:rPr>
                      <m:t>𝑛</m:t>
                    </m:r>
                    <m:r>
                      <a:rPr lang="en-US" altLang="zh-CN" sz="2000" b="0" i="1" dirty="0" smtClean="0">
                        <a:latin typeface="Cambria Math" charset="0"/>
                        <a:ea typeface="Microsoft YaHei" charset="-122"/>
                        <a:cs typeface="Microsoft YaHei" charset="-122"/>
                      </a:rPr>
                      <m:t>→</m:t>
                    </m:r>
                    <m:r>
                      <a:rPr lang="en-US" altLang="zh-CN" sz="2000" b="0" i="1" dirty="0" smtClean="0">
                        <a:latin typeface="Cambria Math" charset="0"/>
                        <a:ea typeface="Cambria Math" charset="0"/>
                        <a:cs typeface="Cambria Math" charset="0"/>
                      </a:rPr>
                      <m:t>∞</m:t>
                    </m:r>
                  </m:oMath>
                </a14:m>
                <a:r>
                  <a:rPr lang="zh-CN" altLang="en-US" sz="2000" dirty="0">
                    <a:latin typeface="Microsoft YaHei" charset="-122"/>
                    <a:ea typeface="Microsoft YaHei" charset="-122"/>
                    <a:cs typeface="Microsoft YaHei" charset="-122"/>
                  </a:rPr>
                  <a:t>，变量</a:t>
                </a:r>
                <a14:m>
                  <m:oMath xmlns:m="http://schemas.openxmlformats.org/officeDocument/2006/math">
                    <m:sSub>
                      <m:sSubPr>
                        <m:ctrlPr>
                          <a:rPr lang="en-US" altLang="zh-CN" sz="2000" b="0" i="1" dirty="0" smtClean="0">
                            <a:latin typeface="Cambria Math" charset="0"/>
                            <a:ea typeface="Microsoft YaHei" charset="-122"/>
                            <a:cs typeface="Microsoft YaHei" charset="-122"/>
                          </a:rPr>
                        </m:ctrlPr>
                      </m:sSubPr>
                      <m:e>
                        <m:r>
                          <a:rPr lang="en-US" altLang="zh-CN" sz="2000" i="1" dirty="0" smtClean="0">
                            <a:latin typeface="Cambria Math" charset="0"/>
                            <a:ea typeface="Microsoft YaHei" charset="-122"/>
                            <a:cs typeface="Microsoft YaHei" charset="-122"/>
                          </a:rPr>
                          <m:t>𝑋</m:t>
                        </m:r>
                      </m:e>
                      <m:sub>
                        <m:r>
                          <a:rPr lang="en-US" altLang="zh-CN" sz="2000" b="0" i="1" dirty="0" smtClean="0">
                            <a:latin typeface="Cambria Math" charset="0"/>
                            <a:ea typeface="Microsoft YaHei" charset="-122"/>
                            <a:cs typeface="Microsoft YaHei" charset="-122"/>
                          </a:rPr>
                          <m:t>𝑛</m:t>
                        </m:r>
                      </m:sub>
                    </m:sSub>
                  </m:oMath>
                </a14:m>
                <a:r>
                  <a:rPr lang="zh-CN" altLang="en-US" sz="2000" dirty="0">
                    <a:latin typeface="Microsoft YaHei" charset="-122"/>
                    <a:ea typeface="Microsoft YaHei" charset="-122"/>
                    <a:cs typeface="Microsoft YaHei" charset="-122"/>
                  </a:rPr>
                  <a:t>的分布会稳定吗？</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5" name="Rectangle 4"/>
              <p:cNvSpPr>
                <a:spLocks noRot="1" noChangeAspect="1" noMove="1" noResize="1" noEditPoints="1" noAdjustHandles="1" noChangeArrowheads="1" noChangeShapeType="1" noTextEdit="1"/>
              </p:cNvSpPr>
              <p:nvPr/>
            </p:nvSpPr>
            <p:spPr>
              <a:xfrm>
                <a:off x="5919269" y="1058080"/>
                <a:ext cx="3224732" cy="3477875"/>
              </a:xfrm>
              <a:prstGeom prst="rect">
                <a:avLst/>
              </a:prstGeom>
              <a:blipFill rotWithShape="0">
                <a:blip r:embed="rId3"/>
                <a:stretch>
                  <a:fillRect l="-2457" t="-1053" r="-2457" b="-22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xmlns="" id="{49E7A7C9-2600-1A42-9085-D88FF7883A53}"/>
              </a:ext>
            </a:extLst>
          </p:cNvPr>
          <p:cNvSpPr>
            <a:spLocks noGrp="1"/>
          </p:cNvSpPr>
          <p:nvPr>
            <p:ph type="sldNum" sz="quarter" idx="12"/>
          </p:nvPr>
        </p:nvSpPr>
        <p:spPr/>
        <p:txBody>
          <a:bodyPr/>
          <a:lstStyle/>
          <a:p>
            <a:fld id="{E1BEBC7A-FD02-486B-81B5-A845787C689C}" type="slidenum">
              <a:rPr lang="zh-CN" altLang="en-US" smtClean="0"/>
              <a:t>17</a:t>
            </a:fld>
            <a:endParaRPr lang="zh-CN" altLang="en-US"/>
          </a:p>
        </p:txBody>
      </p:sp>
    </p:spTree>
    <p:extLst>
      <p:ext uri="{BB962C8B-B14F-4D97-AF65-F5344CB8AC3E}">
        <p14:creationId xmlns:p14="http://schemas.microsoft.com/office/powerpoint/2010/main" val="901988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马尔科夫链视角下的</a:t>
            </a:r>
            <a:r>
              <a:rPr lang="en-US" altLang="zh-CN" dirty="0">
                <a:latin typeface="Calibri" charset="0"/>
                <a:ea typeface="Calibri" charset="0"/>
                <a:cs typeface="Calibri" charset="0"/>
              </a:rPr>
              <a:t>PageRank</a:t>
            </a:r>
            <a:endParaRPr lang="en-US" dirty="0"/>
          </a:p>
        </p:txBody>
      </p:sp>
      <p:sp>
        <p:nvSpPr>
          <p:cNvPr id="3" name="Content Placeholder 2"/>
          <p:cNvSpPr>
            <a:spLocks noGrp="1"/>
          </p:cNvSpPr>
          <p:nvPr>
            <p:ph idx="1"/>
          </p:nvPr>
        </p:nvSpPr>
        <p:spPr/>
        <p:txBody>
          <a:bodyPr/>
          <a:lstStyle/>
          <a:p>
            <a:r>
              <a:rPr lang="zh-CN" altLang="en-US" dirty="0"/>
              <a:t>马尔科夫链的稳态概率分布（</a:t>
            </a:r>
            <a:r>
              <a:rPr lang="en-US" altLang="zh-CN" dirty="0"/>
              <a:t>Stationary</a:t>
            </a:r>
            <a:r>
              <a:rPr lang="zh-CN" altLang="en-US" dirty="0"/>
              <a:t> </a:t>
            </a:r>
            <a:r>
              <a:rPr lang="en-US" altLang="zh-CN" dirty="0"/>
              <a:t>Distribution</a:t>
            </a:r>
            <a:r>
              <a:rPr lang="zh-CN" altLang="en-US" dirty="0"/>
              <a:t>）</a:t>
            </a:r>
            <a:endParaRPr lang="en-US" altLang="zh-CN" dirty="0"/>
          </a:p>
          <a:p>
            <a:pPr lvl="1"/>
            <a:r>
              <a:rPr lang="zh-CN" altLang="en-US" dirty="0"/>
              <a:t>一个马尔科夫链存在唯一的稳态分布，当前仅当它是不可约的遍历链</a:t>
            </a:r>
            <a:endParaRPr lang="en-US" altLang="zh-CN" dirty="0"/>
          </a:p>
          <a:p>
            <a:pPr lvl="1"/>
            <a:r>
              <a:rPr lang="zh-CN" altLang="en-US" dirty="0"/>
              <a:t>上述定理的数学证明课上不展开</a:t>
            </a:r>
            <a:endParaRPr lang="en-US" altLang="zh-CN" dirty="0"/>
          </a:p>
          <a:p>
            <a:pPr lvl="1"/>
            <a:r>
              <a:rPr lang="zh-CN" altLang="en-US" dirty="0"/>
              <a:t>进一步学习：</a:t>
            </a:r>
            <a:r>
              <a:rPr lang="en-US" altLang="zh-CN" dirty="0"/>
              <a:t>《</a:t>
            </a:r>
            <a:r>
              <a:rPr lang="zh-CN" altLang="en-US" dirty="0"/>
              <a:t>应用随机过程</a:t>
            </a:r>
            <a:r>
              <a:rPr lang="en-US" altLang="zh-CN" dirty="0"/>
              <a:t>》</a:t>
            </a:r>
            <a:r>
              <a:rPr lang="zh-CN" altLang="en-US" dirty="0"/>
              <a:t>，林元烈著</a:t>
            </a:r>
            <a:endParaRPr lang="en-US" altLang="zh-CN" dirty="0"/>
          </a:p>
          <a:p>
            <a:endParaRPr lang="en-US" altLang="zh-CN" dirty="0"/>
          </a:p>
          <a:p>
            <a:r>
              <a:rPr lang="zh-CN" altLang="en-US" dirty="0"/>
              <a:t>直观的解释</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600" y="2016414"/>
            <a:ext cx="2032000" cy="2549236"/>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995467" y="2924906"/>
            <a:ext cx="1771857" cy="1831244"/>
          </a:xfrm>
          <a:prstGeom prst="rect">
            <a:avLst/>
          </a:prstGeom>
        </p:spPr>
      </p:pic>
      <p:sp>
        <p:nvSpPr>
          <p:cNvPr id="6" name="Rectangle 5"/>
          <p:cNvSpPr/>
          <p:nvPr/>
        </p:nvSpPr>
        <p:spPr>
          <a:xfrm>
            <a:off x="2945124" y="3172974"/>
            <a:ext cx="3253751" cy="523220"/>
          </a:xfrm>
          <a:prstGeom prst="rect">
            <a:avLst/>
          </a:prstGeom>
        </p:spPr>
        <p:txBody>
          <a:bodyPr wrap="square">
            <a:spAutoFit/>
          </a:bodyPr>
          <a:lstStyle/>
          <a:p>
            <a:pPr algn="ctr">
              <a:spcBef>
                <a:spcPct val="20000"/>
              </a:spcBef>
            </a:pPr>
            <a:r>
              <a:rPr lang="zh-CN" altLang="en-US" sz="2800" dirty="0">
                <a:solidFill>
                  <a:srgbClr val="AE0627"/>
                </a:solidFill>
                <a:latin typeface="Microsoft YaHei" charset="-122"/>
                <a:ea typeface="Microsoft YaHei" charset="-122"/>
                <a:cs typeface="Microsoft YaHei" charset="-122"/>
              </a:rPr>
              <a:t>强连通的有向图</a:t>
            </a:r>
            <a:endParaRPr lang="en-US" altLang="zh-CN" sz="2800" dirty="0">
              <a:solidFill>
                <a:srgbClr val="AE0627"/>
              </a:solidFill>
              <a:latin typeface="微软雅黑" panose="020B0503020204020204" pitchFamily="34" charset="-122"/>
              <a:ea typeface="微软雅黑" panose="020B0503020204020204" pitchFamily="34" charset="-122"/>
            </a:endParaRPr>
          </a:p>
        </p:txBody>
      </p:sp>
      <p:sp>
        <p:nvSpPr>
          <p:cNvPr id="7" name="Slide Number Placeholder 6">
            <a:extLst>
              <a:ext uri="{FF2B5EF4-FFF2-40B4-BE49-F238E27FC236}">
                <a16:creationId xmlns:a16="http://schemas.microsoft.com/office/drawing/2014/main" xmlns="" id="{B7B430BB-0900-4245-A2DB-3F534ACACB09}"/>
              </a:ext>
            </a:extLst>
          </p:cNvPr>
          <p:cNvSpPr>
            <a:spLocks noGrp="1"/>
          </p:cNvSpPr>
          <p:nvPr>
            <p:ph type="sldNum" sz="quarter" idx="12"/>
          </p:nvPr>
        </p:nvSpPr>
        <p:spPr/>
        <p:txBody>
          <a:bodyPr/>
          <a:lstStyle/>
          <a:p>
            <a:fld id="{E1BEBC7A-FD02-486B-81B5-A845787C689C}" type="slidenum">
              <a:rPr lang="zh-CN" altLang="en-US" smtClean="0"/>
              <a:t>18</a:t>
            </a:fld>
            <a:endParaRPr lang="zh-CN" altLang="en-US"/>
          </a:p>
        </p:txBody>
      </p:sp>
    </p:spTree>
    <p:extLst>
      <p:ext uri="{BB962C8B-B14F-4D97-AF65-F5344CB8AC3E}">
        <p14:creationId xmlns:p14="http://schemas.microsoft.com/office/powerpoint/2010/main" val="634413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然而，真实的图结构是复杂的</a:t>
            </a:r>
            <a:endParaRPr lang="en-US" dirty="0"/>
          </a:p>
        </p:txBody>
      </p:sp>
      <p:sp>
        <p:nvSpPr>
          <p:cNvPr id="3" name="Content Placeholder 2"/>
          <p:cNvSpPr>
            <a:spLocks noGrp="1"/>
          </p:cNvSpPr>
          <p:nvPr>
            <p:ph idx="1"/>
          </p:nvPr>
        </p:nvSpPr>
        <p:spPr/>
        <p:txBody>
          <a:bodyPr/>
          <a:lstStyle/>
          <a:p>
            <a:r>
              <a:rPr lang="zh-CN" altLang="en-US" dirty="0"/>
              <a:t>可能会存在以下三种不强连通的情况</a:t>
            </a:r>
            <a:endParaRPr lang="en-US" altLang="zh-CN" dirty="0"/>
          </a:p>
          <a:p>
            <a:endParaRPr lang="en-US" dirty="0"/>
          </a:p>
          <a:p>
            <a:endParaRPr lang="en-US" dirty="0"/>
          </a:p>
          <a:p>
            <a:endParaRPr lang="en-US" dirty="0"/>
          </a:p>
          <a:p>
            <a:endParaRPr lang="en-US" dirty="0"/>
          </a:p>
          <a:p>
            <a:endParaRPr lang="en-US" dirty="0"/>
          </a:p>
          <a:p>
            <a:endParaRPr lang="en-US" altLang="zh-CN" dirty="0"/>
          </a:p>
          <a:p>
            <a:r>
              <a:rPr lang="zh-CN" altLang="en-US" dirty="0"/>
              <a:t>考虑我们的恋爱关系示例图</a:t>
            </a:r>
            <a:endParaRPr lang="en-US" altLang="zh-CN" dirty="0"/>
          </a:p>
          <a:p>
            <a:endParaRPr lang="en-US" dirty="0"/>
          </a:p>
          <a:p>
            <a:r>
              <a:rPr lang="zh-CN" altLang="en-US" dirty="0"/>
              <a:t>应该如何解决这一问题？</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199" y="1320800"/>
            <a:ext cx="5098167" cy="1565525"/>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4407" t="14307" r="12323" b="11688"/>
          <a:stretch/>
        </p:blipFill>
        <p:spPr>
          <a:xfrm>
            <a:off x="5555366" y="2054951"/>
            <a:ext cx="3443709" cy="2608680"/>
          </a:xfrm>
          <a:prstGeom prst="rect">
            <a:avLst/>
          </a:prstGeom>
        </p:spPr>
      </p:pic>
      <p:sp>
        <p:nvSpPr>
          <p:cNvPr id="6" name="Slide Number Placeholder 5">
            <a:extLst>
              <a:ext uri="{FF2B5EF4-FFF2-40B4-BE49-F238E27FC236}">
                <a16:creationId xmlns:a16="http://schemas.microsoft.com/office/drawing/2014/main" xmlns="" id="{81BAC662-5E1D-A042-AE86-28A202A5CEFB}"/>
              </a:ext>
            </a:extLst>
          </p:cNvPr>
          <p:cNvSpPr>
            <a:spLocks noGrp="1"/>
          </p:cNvSpPr>
          <p:nvPr>
            <p:ph type="sldNum" sz="quarter" idx="12"/>
          </p:nvPr>
        </p:nvSpPr>
        <p:spPr/>
        <p:txBody>
          <a:bodyPr/>
          <a:lstStyle/>
          <a:p>
            <a:fld id="{E1BEBC7A-FD02-486B-81B5-A845787C689C}" type="slidenum">
              <a:rPr lang="zh-CN" altLang="en-US" smtClean="0"/>
              <a:t>19</a:t>
            </a:fld>
            <a:endParaRPr lang="zh-CN" altLang="en-US"/>
          </a:p>
        </p:txBody>
      </p:sp>
    </p:spTree>
    <p:extLst>
      <p:ext uri="{BB962C8B-B14F-4D97-AF65-F5344CB8AC3E}">
        <p14:creationId xmlns:p14="http://schemas.microsoft.com/office/powerpoint/2010/main" val="6275696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1" dirty="0" smtClean="0"/>
              <a:t>标准</a:t>
            </a:r>
            <a:r>
              <a:rPr lang="en-US" altLang="zh-CN" b="1" dirty="0" smtClean="0">
                <a:latin typeface="Calibri" charset="0"/>
                <a:ea typeface="Calibri" charset="0"/>
                <a:cs typeface="Calibri" charset="0"/>
              </a:rPr>
              <a:t>PageRank</a:t>
            </a:r>
            <a:r>
              <a:rPr lang="zh-CN" altLang="en-US" b="1" dirty="0"/>
              <a:t>算法</a:t>
            </a:r>
            <a:endParaRPr lang="en-US" b="1" dirty="0"/>
          </a:p>
        </p:txBody>
      </p:sp>
      <p:sp>
        <p:nvSpPr>
          <p:cNvPr id="3" name="Content Placeholder 2"/>
          <p:cNvSpPr>
            <a:spLocks noGrp="1"/>
          </p:cNvSpPr>
          <p:nvPr>
            <p:ph idx="1"/>
          </p:nvPr>
        </p:nvSpPr>
        <p:spPr>
          <a:xfrm>
            <a:off x="457200" y="819150"/>
            <a:ext cx="8229600" cy="514350"/>
          </a:xfrm>
        </p:spPr>
        <p:txBody>
          <a:bodyPr/>
          <a:lstStyle/>
          <a:p>
            <a:r>
              <a:rPr lang="zh-CN" altLang="en-US" dirty="0"/>
              <a:t>在前面计算的公式的基础上做了“微小”</a:t>
            </a:r>
            <a:r>
              <a:rPr lang="zh-CN" altLang="en-US" dirty="0" smtClean="0"/>
              <a:t>改动</a:t>
            </a:r>
            <a:r>
              <a:rPr lang="zh-CN" altLang="en-US" dirty="0" smtClean="0"/>
              <a:t>（</a:t>
            </a:r>
            <a:r>
              <a:rPr lang="zh-CN" altLang="en-US" b="1" dirty="0" smtClean="0">
                <a:solidFill>
                  <a:srgbClr val="FF0000"/>
                </a:solidFill>
              </a:rPr>
              <a:t>请仔细理解！</a:t>
            </a:r>
            <a:r>
              <a:rPr lang="zh-CN" altLang="en-US" dirty="0" smtClean="0"/>
              <a:t>）</a:t>
            </a:r>
            <a:endParaRPr lang="en-US" dirty="0"/>
          </a:p>
        </p:txBody>
      </p:sp>
      <mc:AlternateContent xmlns:mc="http://schemas.openxmlformats.org/markup-compatibility/2006">
        <mc:Choice xmlns:a14="http://schemas.microsoft.com/office/drawing/2010/main" Requires="a14">
          <p:sp>
            <p:nvSpPr>
              <p:cNvPr id="4" name="TextBox 3"/>
              <p:cNvSpPr txBox="1"/>
              <p:nvPr/>
            </p:nvSpPr>
            <p:spPr>
              <a:xfrm>
                <a:off x="1412534" y="1447800"/>
                <a:ext cx="4799775"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f>
                        <m:fPr>
                          <m:ctrlPr>
                            <a:rPr lang="mr-IN" altLang="zh-CN" sz="2000" b="0" i="1" smtClean="0">
                              <a:solidFill>
                                <a:srgbClr val="FF0000"/>
                              </a:solidFill>
                              <a:latin typeface="Cambria Math" charset="0"/>
                            </a:rPr>
                          </m:ctrlPr>
                        </m:fPr>
                        <m:num>
                          <m:r>
                            <a:rPr lang="en-US" altLang="zh-CN" sz="2000" b="0" i="1" smtClean="0">
                              <a:solidFill>
                                <a:srgbClr val="FF0000"/>
                              </a:solidFill>
                              <a:latin typeface="Cambria Math" charset="0"/>
                            </a:rPr>
                            <m:t>1−</m:t>
                          </m:r>
                          <m:r>
                            <a:rPr lang="en-US" altLang="zh-CN" sz="2000" b="0" i="1" smtClean="0">
                              <a:solidFill>
                                <a:srgbClr val="FF0000"/>
                              </a:solidFill>
                              <a:latin typeface="Cambria Math" charset="0"/>
                            </a:rPr>
                            <m:t>𝛼</m:t>
                          </m:r>
                        </m:num>
                        <m:den>
                          <m:r>
                            <a:rPr lang="en-US" altLang="zh-CN" sz="2000" b="0" i="1" smtClean="0">
                              <a:solidFill>
                                <a:srgbClr val="FF0000"/>
                              </a:solidFill>
                              <a:latin typeface="Cambria Math" charset="0"/>
                            </a:rPr>
                            <m:t>𝑛</m:t>
                          </m:r>
                        </m:den>
                      </m:f>
                      <m:r>
                        <a:rPr lang="en-US" altLang="zh-CN" sz="2000" b="0" i="1" smtClean="0">
                          <a:solidFill>
                            <a:srgbClr val="FF0000"/>
                          </a:solidFill>
                          <a:latin typeface="Cambria Math" charset="0"/>
                        </a:rPr>
                        <m:t>+</m:t>
                      </m:r>
                      <m:r>
                        <a:rPr lang="en-US" altLang="zh-CN" sz="2000" b="0" i="1" smtClean="0">
                          <a:solidFill>
                            <a:srgbClr val="FF0000"/>
                          </a:solidFill>
                          <a:latin typeface="Cambria Math" charset="0"/>
                        </a:rPr>
                        <m:t>𝛼</m:t>
                      </m:r>
                      <m:nary>
                        <m:naryPr>
                          <m:chr m:val="∑"/>
                          <m:supHide m:val="on"/>
                          <m:ctrlPr>
                            <a:rPr lang="en-US" altLang="zh-CN" sz="2000" b="0" i="1" smtClean="0">
                              <a:solidFill>
                                <a:srgbClr val="FF0000"/>
                              </a:solidFill>
                              <a:latin typeface="Cambria Math" charset="0"/>
                            </a:rPr>
                          </m:ctrlPr>
                        </m:naryPr>
                        <m:sub>
                          <m:r>
                            <m:rPr>
                              <m:brk m:alnAt="7"/>
                            </m:rPr>
                            <a:rPr lang="en-US" altLang="zh-CN" sz="2000" b="0" i="1" smtClean="0">
                              <a:solidFill>
                                <a:srgbClr val="FF0000"/>
                              </a:solidFill>
                              <a:latin typeface="Cambria Math" charset="0"/>
                            </a:rPr>
                            <m:t>𝑗</m:t>
                          </m:r>
                          <m:r>
                            <a:rPr lang="en-US" altLang="zh-CN" sz="2000" b="0" i="1" smtClean="0">
                              <a:solidFill>
                                <a:srgbClr val="FF0000"/>
                              </a:solidFill>
                              <a:latin typeface="Cambria Math" charset="0"/>
                            </a:rPr>
                            <m:t>→</m:t>
                          </m:r>
                          <m:r>
                            <a:rPr lang="en-US" altLang="zh-CN" sz="2000" b="0" i="1" smtClean="0">
                              <a:solidFill>
                                <a:srgbClr val="FF0000"/>
                              </a:solidFill>
                              <a:latin typeface="Cambria Math" charset="0"/>
                            </a:rPr>
                            <m:t>𝑖</m:t>
                          </m:r>
                        </m:sub>
                        <m:sup/>
                        <m:e>
                          <m:f>
                            <m:fPr>
                              <m:ctrlPr>
                                <a:rPr lang="mr-IN" altLang="zh-CN" sz="2000" b="0" i="1" smtClean="0">
                                  <a:solidFill>
                                    <a:srgbClr val="FF0000"/>
                                  </a:solidFill>
                                  <a:latin typeface="Cambria Math" charset="0"/>
                                </a:rPr>
                              </m:ctrlPr>
                            </m:fPr>
                            <m:num>
                              <m:sSub>
                                <m:sSubPr>
                                  <m:ctrlPr>
                                    <a:rPr lang="en-US" altLang="zh-CN" sz="2000" b="0" i="1" smtClean="0">
                                      <a:solidFill>
                                        <a:srgbClr val="FF0000"/>
                                      </a:solidFill>
                                      <a:latin typeface="Cambria Math" charset="0"/>
                                    </a:rPr>
                                  </m:ctrlPr>
                                </m:sSubPr>
                                <m:e>
                                  <m:r>
                                    <a:rPr lang="en-US" altLang="zh-CN" sz="2000" b="0" i="1" smtClean="0">
                                      <a:solidFill>
                                        <a:srgbClr val="FF0000"/>
                                      </a:solidFill>
                                      <a:latin typeface="Cambria Math" charset="0"/>
                                    </a:rPr>
                                    <m:t>𝑝</m:t>
                                  </m:r>
                                </m:e>
                                <m:sub>
                                  <m:r>
                                    <a:rPr lang="en-US" altLang="zh-CN" sz="2000" b="0" i="1" smtClean="0">
                                      <a:solidFill>
                                        <a:srgbClr val="FF0000"/>
                                      </a:solidFill>
                                      <a:latin typeface="Cambria Math" charset="0"/>
                                    </a:rPr>
                                    <m:t>𝑗</m:t>
                                  </m:r>
                                </m:sub>
                              </m:sSub>
                            </m:num>
                            <m:den>
                              <m:sSub>
                                <m:sSubPr>
                                  <m:ctrlPr>
                                    <a:rPr lang="en-US" altLang="zh-CN" sz="2000" b="0" i="1" smtClean="0">
                                      <a:solidFill>
                                        <a:srgbClr val="FF0000"/>
                                      </a:solidFill>
                                      <a:latin typeface="Cambria Math" charset="0"/>
                                    </a:rPr>
                                  </m:ctrlPr>
                                </m:sSubPr>
                                <m:e>
                                  <m:r>
                                    <a:rPr lang="en-US" altLang="zh-CN" sz="2000" b="0" i="1" smtClean="0">
                                      <a:solidFill>
                                        <a:srgbClr val="FF0000"/>
                                      </a:solidFill>
                                      <a:latin typeface="Cambria Math" charset="0"/>
                                    </a:rPr>
                                    <m:t>𝑚</m:t>
                                  </m:r>
                                </m:e>
                                <m:sub>
                                  <m:r>
                                    <a:rPr lang="en-US" altLang="zh-CN" sz="2000" b="0" i="1" smtClean="0">
                                      <a:solidFill>
                                        <a:srgbClr val="FF0000"/>
                                      </a:solidFill>
                                      <a:latin typeface="Cambria Math" charset="0"/>
                                    </a:rPr>
                                    <m:t>𝑗</m:t>
                                  </m:r>
                                </m:sub>
                              </m:sSub>
                            </m:den>
                          </m:f>
                          <m:r>
                            <a:rPr lang="en-US" altLang="zh-CN" sz="2000" b="0" i="1" smtClean="0">
                              <a:solidFill>
                                <a:srgbClr val="FF0000"/>
                              </a:solidFill>
                              <a:latin typeface="Cambria Math" charset="0"/>
                            </a:rPr>
                            <m:t>=</m:t>
                          </m:r>
                        </m:e>
                      </m:nary>
                      <m:f>
                        <m:fPr>
                          <m:ctrlPr>
                            <a:rPr lang="mr-IN" altLang="zh-CN" sz="2000" i="1">
                              <a:latin typeface="Cambria Math" charset="0"/>
                            </a:rPr>
                          </m:ctrlPr>
                        </m:fPr>
                        <m:num>
                          <m:r>
                            <a:rPr lang="en-US" altLang="zh-CN" sz="2000" i="1">
                              <a:latin typeface="Cambria Math" charset="0"/>
                            </a:rPr>
                            <m:t>1−</m:t>
                          </m:r>
                          <m:r>
                            <a:rPr lang="en-US" altLang="zh-CN" sz="2000" i="1">
                              <a:latin typeface="Cambria Math" charset="0"/>
                            </a:rPr>
                            <m:t>𝛼</m:t>
                          </m:r>
                        </m:num>
                        <m:den>
                          <m:r>
                            <a:rPr lang="en-US" altLang="zh-CN" sz="2000" i="1">
                              <a:latin typeface="Cambria Math" charset="0"/>
                            </a:rPr>
                            <m:t>𝑛</m:t>
                          </m:r>
                        </m:den>
                      </m:f>
                      <m:r>
                        <a:rPr lang="en-US" altLang="zh-CN" sz="2000" i="1">
                          <a:latin typeface="Cambria Math" charset="0"/>
                        </a:rPr>
                        <m:t>+</m:t>
                      </m:r>
                      <m:r>
                        <a:rPr lang="en-US" altLang="zh-CN" sz="2000" i="1">
                          <a:latin typeface="Cambria Math" charset="0"/>
                        </a:rPr>
                        <m:t>𝛼</m:t>
                      </m:r>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p:sp>
            <p:nvSpPr>
              <p:cNvPr id="4" name="TextBox 3"/>
              <p:cNvSpPr txBox="1">
                <a:spLocks noRot="1" noChangeAspect="1" noMove="1" noResize="1" noEditPoints="1" noAdjustHandles="1" noChangeArrowheads="1" noChangeShapeType="1" noTextEdit="1"/>
              </p:cNvSpPr>
              <p:nvPr/>
            </p:nvSpPr>
            <p:spPr>
              <a:xfrm>
                <a:off x="1412534" y="1447800"/>
                <a:ext cx="4799775" cy="87511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12534" y="2641600"/>
                <a:ext cx="4948149" cy="436210"/>
              </a:xfrm>
              <a:prstGeom prst="rect">
                <a:avLst/>
              </a:prstGeom>
              <a:noFill/>
            </p:spPr>
            <p:txBody>
              <a:bodyPr wrap="none" lIns="0" tIns="0" rIns="0" bIns="0" rtlCol="0">
                <a:spAutoFit/>
              </a:bodyPr>
              <a:lstStyle/>
              <a:p>
                <a14:m>
                  <m:oMath xmlns:m="http://schemas.openxmlformats.org/officeDocument/2006/math">
                    <m:r>
                      <a:rPr lang="en-US" altLang="zh-CN" sz="2000" b="1" i="1" smtClean="0">
                        <a:latin typeface="Cambria Math" charset="0"/>
                      </a:rPr>
                      <m:t>𝒑</m:t>
                    </m:r>
                    <m:r>
                      <a:rPr lang="en-US" altLang="zh-CN" sz="2000" b="0" i="1" smtClean="0">
                        <a:latin typeface="Cambria Math" charset="0"/>
                      </a:rPr>
                      <m:t>=</m:t>
                    </m:r>
                    <m:r>
                      <a:rPr lang="en-US" altLang="zh-CN" sz="2000" b="0" i="1" smtClean="0">
                        <a:latin typeface="Cambria Math" charset="0"/>
                      </a:rPr>
                      <m:t>𝛼</m:t>
                    </m:r>
                    <m:r>
                      <a:rPr lang="zh-CN" altLang="en-US" sz="2000" b="1" i="1" smtClean="0">
                        <a:latin typeface="Cambria Math" charset="0"/>
                      </a:rPr>
                      <m:t> </m:t>
                    </m:r>
                    <m:r>
                      <a:rPr lang="en-US" altLang="zh-CN" sz="2000" b="1" i="1" smtClean="0">
                        <a:latin typeface="Cambria Math" charset="0"/>
                      </a:rPr>
                      <m:t>𝒑𝑳</m:t>
                    </m:r>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zh-CN" altLang="en-US" sz="2000" b="1" i="1" smtClean="0">
                        <a:latin typeface="Cambria Math" charset="0"/>
                      </a:rPr>
                      <m:t> </m:t>
                    </m:r>
                    <m:r>
                      <a:rPr lang="en-US" altLang="zh-CN" sz="2000" b="1" i="1" smtClean="0">
                        <a:latin typeface="Cambria Math" charset="0"/>
                      </a:rPr>
                      <m:t>𝒑𝑬</m:t>
                    </m:r>
                  </m:oMath>
                </a14:m>
                <a:r>
                  <a:rPr lang="en-US" altLang="zh-CN" sz="2000" b="1" dirty="0"/>
                  <a:t>,</a:t>
                </a:r>
                <a:r>
                  <a:rPr lang="zh-CN" altLang="en-US" sz="2000" b="1" dirty="0"/>
                  <a:t> </a:t>
                </a:r>
                <a14:m>
                  <m:oMath xmlns:m="http://schemas.openxmlformats.org/officeDocument/2006/math">
                    <m:r>
                      <a:rPr lang="en-US" sz="2000" i="1" dirty="0" smtClean="0">
                        <a:latin typeface="Cambria Math" charset="0"/>
                      </a:rPr>
                      <m:t>𝐸</m:t>
                    </m:r>
                  </m:oMath>
                </a14:m>
                <a:r>
                  <a:rPr lang="en-US" sz="2000" dirty="0"/>
                  <a:t> is the n × n matrix of 1s </a:t>
                </a:r>
              </a:p>
            </p:txBody>
          </p:sp>
        </mc:Choice>
        <mc:Fallback xmlns="">
          <p:sp>
            <p:nvSpPr>
              <p:cNvPr id="5" name="TextBox 4"/>
              <p:cNvSpPr txBox="1">
                <a:spLocks noRot="1" noChangeAspect="1" noMove="1" noResize="1" noEditPoints="1" noAdjustHandles="1" noChangeArrowheads="1" noChangeShapeType="1" noTextEdit="1"/>
              </p:cNvSpPr>
              <p:nvPr/>
            </p:nvSpPr>
            <p:spPr>
              <a:xfrm>
                <a:off x="1412534" y="2641600"/>
                <a:ext cx="4948149" cy="436210"/>
              </a:xfrm>
              <a:prstGeom prst="rect">
                <a:avLst/>
              </a:prstGeom>
              <a:blipFill rotWithShape="0">
                <a:blip r:embed="rId4"/>
                <a:stretch>
                  <a:fillRect l="-1850" t="-84722" r="-2466" b="-111111"/>
                </a:stretch>
              </a:blipFill>
            </p:spPr>
            <p:txBody>
              <a:bodyPr/>
              <a:lstStyle/>
              <a:p>
                <a:r>
                  <a:rPr lang="en-US">
                    <a:noFill/>
                  </a:rPr>
                  <a:t> </a:t>
                </a:r>
              </a:p>
            </p:txBody>
          </p:sp>
        </mc:Fallback>
      </mc:AlternateContent>
      <p:sp>
        <p:nvSpPr>
          <p:cNvPr id="7" name="Content Placeholder 2"/>
          <p:cNvSpPr txBox="1">
            <a:spLocks/>
          </p:cNvSpPr>
          <p:nvPr/>
        </p:nvSpPr>
        <p:spPr>
          <a:xfrm>
            <a:off x="457198" y="4030133"/>
            <a:ext cx="8229601" cy="7069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PageRank</a:t>
            </a:r>
            <a:r>
              <a:rPr lang="zh-CN" altLang="en-US" dirty="0"/>
              <a:t>计算的过程也称</a:t>
            </a:r>
            <a:r>
              <a:rPr lang="zh-CN" altLang="en-US" dirty="0">
                <a:solidFill>
                  <a:srgbClr val="FF0000"/>
                </a:solidFill>
              </a:rPr>
              <a:t>随机游走（</a:t>
            </a:r>
            <a:r>
              <a:rPr lang="en-US" altLang="zh-CN" dirty="0">
                <a:solidFill>
                  <a:srgbClr val="FF0000"/>
                </a:solidFill>
                <a:latin typeface="Calibri" charset="0"/>
                <a:ea typeface="Calibri" charset="0"/>
                <a:cs typeface="Calibri" charset="0"/>
              </a:rPr>
              <a:t>Random</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Walk</a:t>
            </a:r>
            <a:r>
              <a:rPr lang="zh-CN" altLang="en-US" dirty="0">
                <a:solidFill>
                  <a:srgbClr val="FF0000"/>
                </a:solidFill>
              </a:rPr>
              <a:t>）</a:t>
            </a:r>
            <a:endParaRPr lang="en-US" altLang="zh-CN" dirty="0">
              <a:solidFill>
                <a:srgbClr val="FF0000"/>
              </a:solidFill>
            </a:endParaRPr>
          </a:p>
        </p:txBody>
      </p:sp>
      <mc:AlternateContent xmlns:mc="http://schemas.openxmlformats.org/markup-compatibility/2006">
        <mc:Choice xmlns:a14="http://schemas.microsoft.com/office/drawing/2010/main" Requires="a14">
          <p:sp>
            <p:nvSpPr>
              <p:cNvPr id="6" name="Rectangle 5"/>
              <p:cNvSpPr/>
              <p:nvPr/>
            </p:nvSpPr>
            <p:spPr>
              <a:xfrm>
                <a:off x="2589666" y="3307776"/>
                <a:ext cx="6160276" cy="461665"/>
              </a:xfrm>
              <a:prstGeom prst="rect">
                <a:avLst/>
              </a:prstGeom>
            </p:spPr>
            <p:txBody>
              <a:bodyPr wrap="none">
                <a:spAutoFit/>
              </a:bodyPr>
              <a:lstStyle/>
              <a:p>
                <a14:m>
                  <m:oMath xmlns:m="http://schemas.openxmlformats.org/officeDocument/2006/math">
                    <m:r>
                      <a:rPr lang="en-US" altLang="zh-CN" sz="2400" b="0" i="1" smtClean="0">
                        <a:solidFill>
                          <a:srgbClr val="FF0000"/>
                        </a:solidFill>
                        <a:latin typeface="Cambria Math" charset="0"/>
                      </a:rPr>
                      <m:t>𝛼</m:t>
                    </m:r>
                  </m:oMath>
                </a14:m>
                <a:r>
                  <a:rPr lang="en-US" altLang="zh-CN" sz="2400" dirty="0">
                    <a:solidFill>
                      <a:srgbClr val="FF0000"/>
                    </a:solidFill>
                  </a:rPr>
                  <a:t>:</a:t>
                </a:r>
                <a:r>
                  <a:rPr lang="zh-CN" altLang="en-US" sz="2400">
                    <a:solidFill>
                      <a:srgbClr val="FF0000"/>
                    </a:solidFill>
                  </a:rPr>
                  <a:t> </a:t>
                </a:r>
                <a:r>
                  <a:rPr lang="zh-CN" altLang="en-US" sz="2400" smtClean="0">
                    <a:solidFill>
                      <a:srgbClr val="FF0000"/>
                    </a:solidFill>
                  </a:rPr>
                  <a:t>阻尼系数</a:t>
                </a:r>
                <a:r>
                  <a:rPr lang="en-US" sz="2400" smtClean="0">
                    <a:solidFill>
                      <a:srgbClr val="FF0000"/>
                    </a:solidFill>
                  </a:rPr>
                  <a:t>Damping </a:t>
                </a:r>
                <a:r>
                  <a:rPr lang="en-US" sz="2400" dirty="0">
                    <a:solidFill>
                      <a:srgbClr val="FF0000"/>
                    </a:solidFill>
                  </a:rPr>
                  <a:t>parameter</a:t>
                </a:r>
                <a:r>
                  <a:rPr lang="en-US" altLang="zh-CN" sz="2400" dirty="0">
                    <a:solidFill>
                      <a:srgbClr val="FF0000"/>
                    </a:solidFill>
                  </a:rPr>
                  <a:t>,</a:t>
                </a:r>
                <a:r>
                  <a:rPr lang="zh-CN" altLang="en-US" sz="2400" dirty="0">
                    <a:solidFill>
                      <a:srgbClr val="FF0000"/>
                    </a:solidFill>
                  </a:rPr>
                  <a:t> 经验上取</a:t>
                </a:r>
                <a:r>
                  <a:rPr lang="en-US" altLang="zh-CN" sz="2400" dirty="0">
                    <a:solidFill>
                      <a:srgbClr val="FF0000"/>
                    </a:solidFill>
                  </a:rPr>
                  <a:t>0.85</a:t>
                </a:r>
                <a:endParaRPr lang="en-US" sz="2400" dirty="0">
                  <a:solidFill>
                    <a:srgbClr val="FF0000"/>
                  </a:solidFill>
                </a:endParaRPr>
              </a:p>
            </p:txBody>
          </p:sp>
        </mc:Choice>
        <mc:Fallback>
          <p:sp>
            <p:nvSpPr>
              <p:cNvPr id="6" name="Rectangle 5"/>
              <p:cNvSpPr>
                <a:spLocks noRot="1" noChangeAspect="1" noMove="1" noResize="1" noEditPoints="1" noAdjustHandles="1" noChangeArrowheads="1" noChangeShapeType="1" noTextEdit="1"/>
              </p:cNvSpPr>
              <p:nvPr/>
            </p:nvSpPr>
            <p:spPr>
              <a:xfrm>
                <a:off x="2589666" y="3307776"/>
                <a:ext cx="6160276" cy="461665"/>
              </a:xfrm>
              <a:prstGeom prst="rect">
                <a:avLst/>
              </a:prstGeom>
              <a:blipFill rotWithShape="0">
                <a:blip r:embed="rId5"/>
                <a:stretch>
                  <a:fillRect t="-16000" r="-495" b="-32000"/>
                </a:stretch>
              </a:blipFill>
            </p:spPr>
            <p:txBody>
              <a:bodyPr/>
              <a:lstStyle/>
              <a:p>
                <a:r>
                  <a:rPr lang="en-US">
                    <a:noFill/>
                  </a:rPr>
                  <a:t> </a:t>
                </a:r>
              </a:p>
            </p:txBody>
          </p:sp>
        </mc:Fallback>
      </mc:AlternateContent>
      <p:cxnSp>
        <p:nvCxnSpPr>
          <p:cNvPr id="9" name="Straight Arrow Connector 8"/>
          <p:cNvCxnSpPr/>
          <p:nvPr/>
        </p:nvCxnSpPr>
        <p:spPr>
          <a:xfrm flipH="1" flipV="1">
            <a:off x="1998133" y="3077810"/>
            <a:ext cx="355600" cy="1974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Slide Number Placeholder 7">
            <a:extLst>
              <a:ext uri="{FF2B5EF4-FFF2-40B4-BE49-F238E27FC236}">
                <a16:creationId xmlns:a16="http://schemas.microsoft.com/office/drawing/2014/main" xmlns="" id="{641EC6B0-80DA-0F4D-8591-DCD16C751D96}"/>
              </a:ext>
            </a:extLst>
          </p:cNvPr>
          <p:cNvSpPr>
            <a:spLocks noGrp="1"/>
          </p:cNvSpPr>
          <p:nvPr>
            <p:ph type="sldNum" sz="quarter" idx="12"/>
          </p:nvPr>
        </p:nvSpPr>
        <p:spPr/>
        <p:txBody>
          <a:bodyPr/>
          <a:lstStyle/>
          <a:p>
            <a:fld id="{E1BEBC7A-FD02-486B-81B5-A845787C689C}" type="slidenum">
              <a:rPr lang="zh-CN" altLang="en-US" smtClean="0"/>
              <a:t>20</a:t>
            </a:fld>
            <a:endParaRPr lang="zh-CN" altLang="en-US"/>
          </a:p>
        </p:txBody>
      </p:sp>
      <p:sp>
        <p:nvSpPr>
          <p:cNvPr id="10" name="Line Callout 1 9"/>
          <p:cNvSpPr/>
          <p:nvPr/>
        </p:nvSpPr>
        <p:spPr>
          <a:xfrm>
            <a:off x="6931152" y="1447800"/>
            <a:ext cx="1755647" cy="646176"/>
          </a:xfrm>
          <a:prstGeom prst="borderCallout1">
            <a:avLst>
              <a:gd name="adj1" fmla="val 18750"/>
              <a:gd name="adj2" fmla="val -8333"/>
              <a:gd name="adj3" fmla="val 55897"/>
              <a:gd name="adj4" fmla="val -3364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稳态平衡方程</a:t>
            </a:r>
            <a:r>
              <a:rPr lang="en-GB" b="1" dirty="0">
                <a:solidFill>
                  <a:srgbClr val="FF0000"/>
                </a:solidFill>
              </a:rPr>
              <a:t> </a:t>
            </a:r>
            <a:endParaRPr lang="en-US" b="1" dirty="0">
              <a:solidFill>
                <a:srgbClr val="FF0000"/>
              </a:solidFill>
            </a:endParaRPr>
          </a:p>
        </p:txBody>
      </p:sp>
    </p:spTree>
    <p:extLst>
      <p:ext uri="{BB962C8B-B14F-4D97-AF65-F5344CB8AC3E}">
        <p14:creationId xmlns:p14="http://schemas.microsoft.com/office/powerpoint/2010/main" val="75157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再次考虑之前的反例</a:t>
            </a:r>
            <a:r>
              <a:rPr lang="en-US" altLang="zh-CN"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4635502" cy="1493469"/>
              </a:xfrm>
            </p:spPr>
            <p:txBody>
              <a:bodyPr>
                <a:normAutofit/>
              </a:bodyPr>
              <a:lstStyle/>
              <a:p>
                <a:r>
                  <a:rPr lang="zh-CN" altLang="en-US" dirty="0"/>
                  <a:t>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4635502" cy="1493469"/>
              </a:xfrm>
              <a:blipFill rotWithShape="0">
                <a:blip r:embed="rId3"/>
                <a:stretch>
                  <a:fillRect l="-1184" t="-2041"/>
                </a:stretch>
              </a:blipFill>
            </p:spPr>
            <p:txBody>
              <a:bodyPr/>
              <a:lstStyle/>
              <a:p>
                <a:r>
                  <a:rPr lang="en-US">
                    <a:noFill/>
                  </a:rPr>
                  <a:t> </a:t>
                </a:r>
              </a:p>
            </p:txBody>
          </p:sp>
        </mc:Fallback>
      </mc:AlternateContent>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193" y="1070950"/>
            <a:ext cx="3209693" cy="2040204"/>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935164" y="3204812"/>
                <a:ext cx="2293577" cy="12738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𝑳</m:t>
                      </m:r>
                      <m:r>
                        <a:rPr lang="mr-IN" i="1" smtClean="0">
                          <a:latin typeface="Cambria Math" charset="0"/>
                        </a:rPr>
                        <m:t>=</m:t>
                      </m:r>
                      <m:d>
                        <m:dPr>
                          <m:begChr m:val="["/>
                          <m:endChr m:val="]"/>
                          <m:ctrlPr>
                            <a:rPr lang="mr-IN" i="1" smtClean="0">
                              <a:latin typeface="Cambria Math" charset="0"/>
                            </a:rPr>
                          </m:ctrlPr>
                        </m:dPr>
                        <m:e>
                          <m:m>
                            <m:mPr>
                              <m:mcs>
                                <m:mc>
                                  <m:mcPr>
                                    <m:count m:val="5"/>
                                    <m:mcJc m:val="center"/>
                                  </m:mcPr>
                                </m:mc>
                              </m:mcs>
                              <m:ctrlPr>
                                <a:rPr lang="mr-IN" i="1" smtClean="0">
                                  <a:latin typeface="Cambria Math" charset="0"/>
                                </a:rPr>
                              </m:ctrlPr>
                            </m:mPr>
                            <m:mr>
                              <m:e>
                                <m:r>
                                  <m:rPr>
                                    <m:brk m:alnAt="7"/>
                                  </m:rP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mr>
                          </m:m>
                        </m:e>
                      </m:d>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935164" y="3204812"/>
                <a:ext cx="2293577" cy="1273875"/>
              </a:xfrm>
              <a:prstGeom prst="rect">
                <a:avLst/>
              </a:prstGeom>
              <a:blipFill rotWithShape="0">
                <a:blip r:embed="rId5"/>
                <a:stretch>
                  <a:fillRect/>
                </a:stretch>
              </a:blipFill>
            </p:spPr>
            <p:txBody>
              <a:bodyPr/>
              <a:lstStyle/>
              <a:p>
                <a:r>
                  <a:rPr lang="en-US">
                    <a:noFill/>
                  </a:rPr>
                  <a:t> </a:t>
                </a:r>
              </a:p>
            </p:txBody>
          </p:sp>
        </mc:Fallback>
      </mc:AlternateContent>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1693" y="1299370"/>
            <a:ext cx="5414727" cy="3386930"/>
          </a:xfrm>
          <a:prstGeom prst="rect">
            <a:avLst/>
          </a:prstGeom>
        </p:spPr>
      </p:pic>
      <p:sp>
        <p:nvSpPr>
          <p:cNvPr id="7" name="Slide Number Placeholder 6">
            <a:extLst>
              <a:ext uri="{FF2B5EF4-FFF2-40B4-BE49-F238E27FC236}">
                <a16:creationId xmlns:a16="http://schemas.microsoft.com/office/drawing/2014/main" xmlns="" id="{26DF547B-C0AA-2F49-96DF-CA24FE3C8CFF}"/>
              </a:ext>
            </a:extLst>
          </p:cNvPr>
          <p:cNvSpPr>
            <a:spLocks noGrp="1"/>
          </p:cNvSpPr>
          <p:nvPr>
            <p:ph type="sldNum" sz="quarter" idx="12"/>
          </p:nvPr>
        </p:nvSpPr>
        <p:spPr/>
        <p:txBody>
          <a:bodyPr/>
          <a:lstStyle/>
          <a:p>
            <a:fld id="{E1BEBC7A-FD02-486B-81B5-A845787C689C}" type="slidenum">
              <a:rPr lang="zh-CN" altLang="en-US" smtClean="0"/>
              <a:t>21</a:t>
            </a:fld>
            <a:endParaRPr lang="zh-CN" altLang="en-US"/>
          </a:p>
        </p:txBody>
      </p:sp>
    </p:spTree>
    <p:extLst>
      <p:ext uri="{BB962C8B-B14F-4D97-AF65-F5344CB8AC3E}">
        <p14:creationId xmlns:p14="http://schemas.microsoft.com/office/powerpoint/2010/main" val="12253303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en-US" altLang="zh-CN" dirty="0"/>
              <a:t>PageRank</a:t>
            </a:r>
            <a:r>
              <a:rPr lang="zh-CN" altLang="en-US" dirty="0"/>
              <a:t>计算恋爱图的</a:t>
            </a:r>
            <a:r>
              <a:rPr lang="en-US" altLang="zh-CN" dirty="0"/>
              <a:t>Centrality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25433" y="1079500"/>
            <a:ext cx="4394200" cy="3295650"/>
          </a:xfrm>
        </p:spPr>
      </p:pic>
      <p:sp>
        <p:nvSpPr>
          <p:cNvPr id="5" name="Rectangle 4"/>
          <p:cNvSpPr/>
          <p:nvPr/>
        </p:nvSpPr>
        <p:spPr>
          <a:xfrm>
            <a:off x="152400" y="1693386"/>
            <a:ext cx="4203700" cy="1477328"/>
          </a:xfrm>
          <a:prstGeom prst="rect">
            <a:avLst/>
          </a:prstGeom>
          <a:solidFill>
            <a:schemeClr val="bg1">
              <a:lumMod val="50000"/>
            </a:schemeClr>
          </a:solidFill>
        </p:spPr>
        <p:txBody>
          <a:bodyPr wrap="square">
            <a:spAutoFit/>
          </a:bodyPr>
          <a:lstStyle/>
          <a:p>
            <a:r>
              <a:rPr lang="en-US" dirty="0" err="1"/>
              <a:t>DiG</a:t>
            </a:r>
            <a:r>
              <a:rPr lang="en-US" dirty="0"/>
              <a:t>, </a:t>
            </a:r>
            <a:r>
              <a:rPr lang="en-US" dirty="0" err="1"/>
              <a:t>dpos</a:t>
            </a:r>
            <a:r>
              <a:rPr lang="en-US" dirty="0"/>
              <a:t> </a:t>
            </a:r>
            <a:r>
              <a:rPr lang="en-US" dirty="0">
                <a:solidFill>
                  <a:srgbClr val="F92672"/>
                </a:solidFill>
              </a:rPr>
              <a:t>= </a:t>
            </a:r>
            <a:r>
              <a:rPr lang="en-US" dirty="0" err="1"/>
              <a:t>gen.</a:t>
            </a:r>
            <a:r>
              <a:rPr lang="en-US" dirty="0" err="1">
                <a:solidFill>
                  <a:srgbClr val="66D9EF"/>
                </a:solidFill>
              </a:rPr>
              <a:t>di_school_dating_graph</a:t>
            </a:r>
            <a:r>
              <a:rPr lang="en-US" dirty="0"/>
              <a:t>()</a:t>
            </a:r>
            <a:br>
              <a:rPr lang="en-US" dirty="0"/>
            </a:br>
            <a:r>
              <a:rPr lang="en-US" dirty="0">
                <a:solidFill>
                  <a:srgbClr val="66D9EF"/>
                </a:solidFill>
              </a:rPr>
              <a:t>print</a:t>
            </a:r>
            <a:r>
              <a:rPr lang="en-US" dirty="0"/>
              <a:t>(</a:t>
            </a:r>
            <a:r>
              <a:rPr lang="en-US" dirty="0">
                <a:solidFill>
                  <a:srgbClr val="E6DB74"/>
                </a:solidFill>
              </a:rPr>
              <a:t>'</a:t>
            </a:r>
            <a:r>
              <a:rPr lang="en-US" dirty="0" err="1">
                <a:solidFill>
                  <a:srgbClr val="E6DB74"/>
                </a:solidFill>
              </a:rPr>
              <a:t>DiGraph</a:t>
            </a:r>
            <a:r>
              <a:rPr lang="en-US" dirty="0">
                <a:solidFill>
                  <a:srgbClr val="E6DB74"/>
                </a:solidFill>
              </a:rPr>
              <a:t> PageRank'</a:t>
            </a:r>
            <a:r>
              <a:rPr lang="en-US" dirty="0"/>
              <a:t>)</a:t>
            </a:r>
            <a:br>
              <a:rPr lang="en-US" dirty="0"/>
            </a:br>
            <a:r>
              <a:rPr lang="en-US" dirty="0">
                <a:solidFill>
                  <a:srgbClr val="66D9EF"/>
                </a:solidFill>
              </a:rPr>
              <a:t>print </a:t>
            </a:r>
            <a:r>
              <a:rPr lang="en-US" dirty="0"/>
              <a:t>(</a:t>
            </a:r>
            <a:r>
              <a:rPr lang="en-US" dirty="0" err="1"/>
              <a:t>nx.</a:t>
            </a:r>
            <a:r>
              <a:rPr lang="en-US" dirty="0" err="1">
                <a:solidFill>
                  <a:srgbClr val="66D9EF"/>
                </a:solidFill>
              </a:rPr>
              <a:t>pagerank</a:t>
            </a:r>
            <a:r>
              <a:rPr lang="en-US" dirty="0"/>
              <a:t>(</a:t>
            </a:r>
            <a:r>
              <a:rPr lang="en-US" dirty="0" err="1"/>
              <a:t>DiG</a:t>
            </a:r>
            <a:r>
              <a:rPr lang="en-US" dirty="0"/>
              <a:t>, </a:t>
            </a:r>
            <a:r>
              <a:rPr lang="en-US" dirty="0">
                <a:solidFill>
                  <a:srgbClr val="AA4926"/>
                </a:solidFill>
              </a:rPr>
              <a:t>alpha</a:t>
            </a:r>
            <a:r>
              <a:rPr lang="en-US" dirty="0">
                <a:solidFill>
                  <a:srgbClr val="F92672"/>
                </a:solidFill>
              </a:rPr>
              <a:t>=</a:t>
            </a:r>
            <a:r>
              <a:rPr lang="en-US" dirty="0">
                <a:solidFill>
                  <a:srgbClr val="AE81FF"/>
                </a:solidFill>
              </a:rPr>
              <a:t>0.8</a:t>
            </a:r>
            <a:r>
              <a:rPr lang="en-US" altLang="zh-CN" dirty="0">
                <a:solidFill>
                  <a:srgbClr val="AE81FF"/>
                </a:solidFill>
              </a:rPr>
              <a:t>5</a:t>
            </a:r>
            <a:r>
              <a:rPr lang="en-US" dirty="0"/>
              <a:t>))</a:t>
            </a:r>
            <a:br>
              <a:rPr lang="en-US" dirty="0"/>
            </a:br>
            <a:r>
              <a:rPr lang="en-US" dirty="0">
                <a:solidFill>
                  <a:srgbClr val="66D9EF"/>
                </a:solidFill>
              </a:rPr>
              <a:t>draw</a:t>
            </a:r>
            <a:r>
              <a:rPr lang="en-US" dirty="0"/>
              <a:t>(</a:t>
            </a:r>
            <a:r>
              <a:rPr lang="en-US" dirty="0" err="1"/>
              <a:t>DiG</a:t>
            </a:r>
            <a:r>
              <a:rPr lang="en-US" dirty="0"/>
              <a:t>, </a:t>
            </a:r>
            <a:r>
              <a:rPr lang="en-US" dirty="0" err="1"/>
              <a:t>dpos</a:t>
            </a:r>
            <a:r>
              <a:rPr lang="en-US" dirty="0"/>
              <a:t>, </a:t>
            </a:r>
            <a:r>
              <a:rPr lang="en-US" dirty="0" err="1"/>
              <a:t>nx.</a:t>
            </a:r>
            <a:r>
              <a:rPr lang="en-US" dirty="0" err="1">
                <a:solidFill>
                  <a:srgbClr val="66D9EF"/>
                </a:solidFill>
              </a:rPr>
              <a:t>pagerank</a:t>
            </a:r>
            <a:r>
              <a:rPr lang="en-US" dirty="0"/>
              <a:t>(</a:t>
            </a:r>
            <a:r>
              <a:rPr lang="en-US" dirty="0" err="1"/>
              <a:t>DiG</a:t>
            </a:r>
            <a:r>
              <a:rPr lang="en-US" dirty="0"/>
              <a:t>, </a:t>
            </a:r>
            <a:r>
              <a:rPr lang="en-US" dirty="0">
                <a:solidFill>
                  <a:srgbClr val="AA4926"/>
                </a:solidFill>
              </a:rPr>
              <a:t>alpha</a:t>
            </a:r>
            <a:r>
              <a:rPr lang="en-US" dirty="0">
                <a:solidFill>
                  <a:srgbClr val="F92672"/>
                </a:solidFill>
              </a:rPr>
              <a:t>=</a:t>
            </a:r>
            <a:r>
              <a:rPr lang="en-US" dirty="0">
                <a:solidFill>
                  <a:srgbClr val="AE81FF"/>
                </a:solidFill>
              </a:rPr>
              <a:t>0.85</a:t>
            </a:r>
            <a:r>
              <a:rPr lang="en-US" dirty="0"/>
              <a:t>), </a:t>
            </a:r>
            <a:r>
              <a:rPr lang="en-US" dirty="0">
                <a:solidFill>
                  <a:srgbClr val="E6DB74"/>
                </a:solidFill>
              </a:rPr>
              <a:t>'</a:t>
            </a:r>
            <a:r>
              <a:rPr lang="en-US" dirty="0" err="1">
                <a:solidFill>
                  <a:srgbClr val="E6DB74"/>
                </a:solidFill>
              </a:rPr>
              <a:t>DiGraph</a:t>
            </a:r>
            <a:r>
              <a:rPr lang="en-US" dirty="0">
                <a:solidFill>
                  <a:srgbClr val="E6DB74"/>
                </a:solidFill>
              </a:rPr>
              <a:t> PageRank'</a:t>
            </a:r>
            <a:r>
              <a:rPr lang="en-US" dirty="0"/>
              <a:t>)</a:t>
            </a:r>
          </a:p>
        </p:txBody>
      </p:sp>
      <p:sp>
        <p:nvSpPr>
          <p:cNvPr id="3" name="Slide Number Placeholder 2">
            <a:extLst>
              <a:ext uri="{FF2B5EF4-FFF2-40B4-BE49-F238E27FC236}">
                <a16:creationId xmlns:a16="http://schemas.microsoft.com/office/drawing/2014/main" xmlns="" id="{839C8CA4-F4A5-A249-B17E-02658D33A26C}"/>
              </a:ext>
            </a:extLst>
          </p:cNvPr>
          <p:cNvSpPr>
            <a:spLocks noGrp="1"/>
          </p:cNvSpPr>
          <p:nvPr>
            <p:ph type="sldNum" sz="quarter" idx="12"/>
          </p:nvPr>
        </p:nvSpPr>
        <p:spPr/>
        <p:txBody>
          <a:bodyPr/>
          <a:lstStyle/>
          <a:p>
            <a:fld id="{E1BEBC7A-FD02-486B-81B5-A845787C689C}" type="slidenum">
              <a:rPr lang="zh-CN" altLang="en-US" smtClean="0"/>
              <a:t>22</a:t>
            </a:fld>
            <a:endParaRPr lang="zh-CN" altLang="en-US"/>
          </a:p>
        </p:txBody>
      </p:sp>
    </p:spTree>
    <p:extLst>
      <p:ext uri="{BB962C8B-B14F-4D97-AF65-F5344CB8AC3E}">
        <p14:creationId xmlns:p14="http://schemas.microsoft.com/office/powerpoint/2010/main" val="7694811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的性质</a:t>
            </a:r>
            <a:endParaRPr lang="en-US" dirty="0"/>
          </a:p>
        </p:txBody>
      </p:sp>
      <p:sp>
        <p:nvSpPr>
          <p:cNvPr id="3" name="Content Placeholder 2"/>
          <p:cNvSpPr>
            <a:spLocks noGrp="1"/>
          </p:cNvSpPr>
          <p:nvPr>
            <p:ph idx="1"/>
          </p:nvPr>
        </p:nvSpPr>
        <p:spPr/>
        <p:txBody>
          <a:bodyPr/>
          <a:lstStyle/>
          <a:p>
            <a:r>
              <a:rPr lang="zh-CN" altLang="en-US" dirty="0"/>
              <a:t>一个看似“反常识”的结论</a:t>
            </a:r>
            <a:endParaRPr lang="en-US" altLang="zh-CN" dirty="0"/>
          </a:p>
          <a:p>
            <a:pPr lvl="1"/>
            <a:r>
              <a:rPr lang="en-US" altLang="zh-CN" dirty="0">
                <a:solidFill>
                  <a:srgbClr val="C00000"/>
                </a:solidFill>
              </a:rPr>
              <a:t>Random</a:t>
            </a:r>
            <a:r>
              <a:rPr lang="zh-CN" altLang="en-US" dirty="0">
                <a:solidFill>
                  <a:srgbClr val="C00000"/>
                </a:solidFill>
              </a:rPr>
              <a:t> </a:t>
            </a:r>
            <a:r>
              <a:rPr lang="en-US" altLang="zh-CN" dirty="0"/>
              <a:t>Walk</a:t>
            </a:r>
            <a:r>
              <a:rPr lang="zh-CN" altLang="en-US" dirty="0"/>
              <a:t> </a:t>
            </a:r>
            <a:r>
              <a:rPr lang="zh-CN" altLang="en-US" dirty="0">
                <a:sym typeface="Wingdings"/>
              </a:rPr>
              <a:t> </a:t>
            </a:r>
            <a:r>
              <a:rPr lang="en-US" altLang="zh-CN" dirty="0">
                <a:solidFill>
                  <a:srgbClr val="C00000"/>
                </a:solidFill>
                <a:sym typeface="Wingdings"/>
              </a:rPr>
              <a:t>Deterministic</a:t>
            </a:r>
            <a:r>
              <a:rPr lang="en-US" altLang="zh-CN" dirty="0">
                <a:sym typeface="Wingdings"/>
              </a:rPr>
              <a:t> Answer</a:t>
            </a:r>
          </a:p>
          <a:p>
            <a:endParaRPr lang="en-US" altLang="zh-CN" dirty="0"/>
          </a:p>
          <a:p>
            <a:r>
              <a:rPr lang="zh-CN" altLang="en-US" dirty="0"/>
              <a:t>马尔科夫链的稳态概率分布（</a:t>
            </a:r>
            <a:r>
              <a:rPr lang="en-US" altLang="zh-CN" dirty="0"/>
              <a:t>Stationary</a:t>
            </a:r>
            <a:r>
              <a:rPr lang="zh-CN" altLang="en-US" dirty="0"/>
              <a:t> </a:t>
            </a:r>
            <a:r>
              <a:rPr lang="en-US" altLang="zh-CN" dirty="0"/>
              <a:t>Distribution</a:t>
            </a:r>
            <a:r>
              <a:rPr lang="zh-CN" altLang="en-US" dirty="0"/>
              <a:t>）</a:t>
            </a:r>
            <a:endParaRPr lang="en-US" altLang="zh-CN" dirty="0"/>
          </a:p>
          <a:p>
            <a:pPr lvl="1"/>
            <a:r>
              <a:rPr lang="zh-CN" altLang="en-US" dirty="0"/>
              <a:t>一个马尔科夫链存在唯一的稳态分布，当前仅当它是不可约的遍历链</a:t>
            </a:r>
            <a:endParaRPr lang="en-US" altLang="zh-CN" dirty="0"/>
          </a:p>
        </p:txBody>
      </p:sp>
      <mc:AlternateContent xmlns:mc="http://schemas.openxmlformats.org/markup-compatibility/2006" xmlns:a14="http://schemas.microsoft.com/office/drawing/2010/main">
        <mc:Choice Requires="a14">
          <p:sp>
            <p:nvSpPr>
              <p:cNvPr id="12" name="TextBox 11"/>
              <p:cNvSpPr txBox="1"/>
              <p:nvPr/>
            </p:nvSpPr>
            <p:spPr>
              <a:xfrm>
                <a:off x="1831755" y="2815538"/>
                <a:ext cx="12318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chemeClr val="tx1"/>
                          </a:solidFill>
                          <a:latin typeface="Cambria Math" charset="0"/>
                        </a:rPr>
                        <m:t>𝒑</m:t>
                      </m:r>
                      <m:r>
                        <a:rPr lang="en-US" altLang="zh-CN" sz="2800" b="0" i="1" smtClean="0">
                          <a:solidFill>
                            <a:schemeClr val="tx1"/>
                          </a:solidFill>
                          <a:latin typeface="Cambria Math" charset="0"/>
                        </a:rPr>
                        <m:t>=</m:t>
                      </m:r>
                      <m:r>
                        <a:rPr lang="en-US" altLang="zh-CN" sz="2800" b="1" i="1">
                          <a:solidFill>
                            <a:schemeClr val="tx1"/>
                          </a:solidFill>
                          <a:latin typeface="Cambria Math" charset="0"/>
                        </a:rPr>
                        <m:t>𝒑</m:t>
                      </m:r>
                      <m:r>
                        <a:rPr lang="en-US" altLang="zh-CN" sz="2800" b="1" i="1" smtClean="0">
                          <a:solidFill>
                            <a:schemeClr val="tx1"/>
                          </a:solidFill>
                          <a:latin typeface="Cambria Math" charset="0"/>
                        </a:rPr>
                        <m:t>𝑳</m:t>
                      </m:r>
                    </m:oMath>
                  </m:oMathPara>
                </a14:m>
                <a:endParaRPr lang="en-US" sz="2800" b="1" dirty="0">
                  <a:solidFill>
                    <a:schemeClr val="tx1"/>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831755" y="2815538"/>
                <a:ext cx="1231876" cy="43088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p:cNvSpPr txBox="1">
                <a:spLocks/>
              </p:cNvSpPr>
              <p:nvPr/>
            </p:nvSpPr>
            <p:spPr>
              <a:xfrm>
                <a:off x="457199" y="3589020"/>
                <a:ext cx="4635502" cy="11480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稳定状态时，</a:t>
                </a:r>
                <a14:m>
                  <m:oMath xmlns:m="http://schemas.openxmlformats.org/officeDocument/2006/math">
                    <m:r>
                      <a:rPr lang="en-US" altLang="zh-CN" b="0" i="1" dirty="0" smtClean="0">
                        <a:latin typeface="Cambria Math" charset="0"/>
                      </a:rPr>
                      <m:t>𝑝</m:t>
                    </m:r>
                  </m:oMath>
                </a14:m>
                <a:r>
                  <a:rPr lang="zh-CN" altLang="en-US" dirty="0"/>
                  <a:t>是矩阵</a:t>
                </a:r>
                <a14:m>
                  <m:oMath xmlns:m="http://schemas.openxmlformats.org/officeDocument/2006/math">
                    <m:r>
                      <a:rPr lang="en-US" altLang="zh-CN" i="1" dirty="0" smtClean="0">
                        <a:latin typeface="Cambria Math" charset="0"/>
                      </a:rPr>
                      <m:t>𝐿</m:t>
                    </m:r>
                  </m:oMath>
                </a14:m>
                <a:r>
                  <a:rPr lang="zh-CN" altLang="en-US" dirty="0"/>
                  <a:t>对应特征值为</a:t>
                </a:r>
                <a:r>
                  <a:rPr lang="en-US" altLang="zh-CN" dirty="0"/>
                  <a:t>1</a:t>
                </a:r>
                <a:r>
                  <a:rPr lang="zh-CN" altLang="en-US" dirty="0"/>
                  <a:t>的特征向量！</a:t>
                </a:r>
                <a:endParaRPr lang="en-US" altLang="zh-CN" dirty="0"/>
              </a:p>
            </p:txBody>
          </p:sp>
        </mc:Choice>
        <mc:Fallback xmlns="">
          <p:sp>
            <p:nvSpPr>
              <p:cNvPr id="13" name="Content Placeholder 2"/>
              <p:cNvSpPr txBox="1">
                <a:spLocks noRot="1" noChangeAspect="1" noMove="1" noResize="1" noEditPoints="1" noAdjustHandles="1" noChangeArrowheads="1" noChangeShapeType="1" noTextEdit="1"/>
              </p:cNvSpPr>
              <p:nvPr/>
            </p:nvSpPr>
            <p:spPr>
              <a:xfrm>
                <a:off x="457199" y="3589020"/>
                <a:ext cx="4635502" cy="1148080"/>
              </a:xfrm>
              <a:prstGeom prst="rect">
                <a:avLst/>
              </a:prstGeom>
              <a:blipFill rotWithShape="0">
                <a:blip r:embed="rId4"/>
                <a:stretch>
                  <a:fillRect l="-1184" t="-3191" r="-131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xmlns="" id="{B5BACCC5-0F68-204D-8FAB-C58EC9F8E567}"/>
              </a:ext>
            </a:extLst>
          </p:cNvPr>
          <p:cNvSpPr>
            <a:spLocks noGrp="1"/>
          </p:cNvSpPr>
          <p:nvPr>
            <p:ph type="sldNum" sz="quarter" idx="12"/>
          </p:nvPr>
        </p:nvSpPr>
        <p:spPr/>
        <p:txBody>
          <a:bodyPr/>
          <a:lstStyle/>
          <a:p>
            <a:fld id="{E1BEBC7A-FD02-486B-81B5-A845787C689C}" type="slidenum">
              <a:rPr lang="zh-CN" altLang="en-US" smtClean="0"/>
              <a:t>23</a:t>
            </a:fld>
            <a:endParaRPr lang="zh-CN" altLang="en-US"/>
          </a:p>
        </p:txBody>
      </p:sp>
    </p:spTree>
    <p:extLst>
      <p:ext uri="{BB962C8B-B14F-4D97-AF65-F5344CB8AC3E}">
        <p14:creationId xmlns:p14="http://schemas.microsoft.com/office/powerpoint/2010/main" val="1846981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PageRank</a:t>
            </a:r>
            <a:r>
              <a:rPr lang="zh-CN" altLang="en-US" dirty="0"/>
              <a:t>在</a:t>
            </a:r>
            <a:r>
              <a:rPr lang="en-US" altLang="zh-CN" dirty="0">
                <a:latin typeface="Calibri" charset="0"/>
                <a:ea typeface="Calibri" charset="0"/>
                <a:cs typeface="Calibri" charset="0"/>
              </a:rPr>
              <a:t>Web</a:t>
            </a:r>
            <a:r>
              <a:rPr lang="zh-CN" altLang="en-US" dirty="0">
                <a:latin typeface="Calibri" charset="0"/>
                <a:ea typeface="Calibri" charset="0"/>
                <a:cs typeface="Calibri" charset="0"/>
              </a:rPr>
              <a:t> </a:t>
            </a:r>
            <a:r>
              <a:rPr lang="en-US" altLang="zh-CN" dirty="0">
                <a:latin typeface="Calibri" charset="0"/>
                <a:ea typeface="Calibri" charset="0"/>
                <a:cs typeface="Calibri" charset="0"/>
              </a:rPr>
              <a:t>Search</a:t>
            </a:r>
            <a:r>
              <a:rPr lang="zh-CN" altLang="en-US" dirty="0"/>
              <a:t>中的应用</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9749" y="909521"/>
            <a:ext cx="3170117" cy="3831812"/>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b="17868"/>
          <a:stretch/>
        </p:blipFill>
        <p:spPr>
          <a:xfrm>
            <a:off x="4013200" y="909521"/>
            <a:ext cx="4301066" cy="1806622"/>
          </a:xfrm>
          <a:prstGeom prst="rect">
            <a:avLst/>
          </a:prstGeom>
          <a:ln>
            <a:noFill/>
          </a:ln>
          <a:effectLst>
            <a:outerShdw blurRad="190500" algn="tl" rotWithShape="0">
              <a:srgbClr val="000000">
                <a:alpha val="70000"/>
              </a:srgbClr>
            </a:outerShdw>
          </a:effectLst>
        </p:spPr>
      </p:pic>
      <p:sp>
        <p:nvSpPr>
          <p:cNvPr id="7" name="Content Placeholder 2"/>
          <p:cNvSpPr txBox="1">
            <a:spLocks/>
          </p:cNvSpPr>
          <p:nvPr/>
        </p:nvSpPr>
        <p:spPr>
          <a:xfrm>
            <a:off x="3877732" y="2920814"/>
            <a:ext cx="4809067" cy="1835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b="1" dirty="0">
                <a:sym typeface="Wingdings"/>
              </a:rPr>
              <a:t>覆盖主题：</a:t>
            </a:r>
            <a:r>
              <a:rPr lang="zh-CN" altLang="en-US" dirty="0">
                <a:sym typeface="Wingdings"/>
              </a:rPr>
              <a:t>单一 </a:t>
            </a:r>
            <a:r>
              <a:rPr lang="en-US" altLang="zh-CN" dirty="0">
                <a:sym typeface="Wingdings"/>
              </a:rPr>
              <a:t>vs.</a:t>
            </a:r>
            <a:r>
              <a:rPr lang="zh-CN" altLang="en-US" dirty="0">
                <a:sym typeface="Wingdings"/>
              </a:rPr>
              <a:t> 多元</a:t>
            </a:r>
            <a:endParaRPr lang="en-US" altLang="zh-CN" dirty="0">
              <a:sym typeface="Wingdings"/>
            </a:endParaRPr>
          </a:p>
          <a:p>
            <a:r>
              <a:rPr lang="zh-CN" altLang="en-US" b="1" dirty="0">
                <a:sym typeface="Wingdings"/>
              </a:rPr>
              <a:t>内容源：</a:t>
            </a:r>
            <a:r>
              <a:rPr lang="zh-CN" altLang="en-US" dirty="0">
                <a:sym typeface="Wingdings"/>
              </a:rPr>
              <a:t>专家学者 </a:t>
            </a:r>
            <a:r>
              <a:rPr lang="en-US" altLang="zh-CN" dirty="0">
                <a:sym typeface="Wingdings"/>
              </a:rPr>
              <a:t>vs.</a:t>
            </a:r>
            <a:r>
              <a:rPr lang="zh-CN" altLang="en-US" dirty="0">
                <a:sym typeface="Wingdings"/>
              </a:rPr>
              <a:t> 普罗大众</a:t>
            </a:r>
            <a:endParaRPr lang="en-US" altLang="zh-CN" dirty="0">
              <a:sym typeface="Wingdings"/>
            </a:endParaRPr>
          </a:p>
          <a:p>
            <a:r>
              <a:rPr lang="zh-CN" altLang="en-US" b="1" dirty="0">
                <a:sym typeface="Wingdings"/>
              </a:rPr>
              <a:t>质量评估标准：</a:t>
            </a:r>
            <a:r>
              <a:rPr lang="zh-CN" altLang="en-US" dirty="0">
                <a:sym typeface="Wingdings"/>
              </a:rPr>
              <a:t>清晰 </a:t>
            </a:r>
            <a:r>
              <a:rPr lang="en-US" altLang="zh-CN" dirty="0">
                <a:sym typeface="Wingdings"/>
              </a:rPr>
              <a:t>vs.</a:t>
            </a:r>
            <a:r>
              <a:rPr lang="zh-CN" altLang="en-US" dirty="0">
                <a:sym typeface="Wingdings"/>
              </a:rPr>
              <a:t> 复杂</a:t>
            </a:r>
            <a:endParaRPr lang="en-US" altLang="zh-CN" dirty="0">
              <a:sym typeface="Wingdings"/>
            </a:endParaRPr>
          </a:p>
          <a:p>
            <a:r>
              <a:rPr lang="zh-CN" altLang="en-US" b="1" dirty="0">
                <a:sym typeface="Wingdings"/>
              </a:rPr>
              <a:t>用户查询：</a:t>
            </a:r>
            <a:r>
              <a:rPr lang="zh-CN" altLang="en-US" dirty="0">
                <a:sym typeface="Wingdings"/>
              </a:rPr>
              <a:t>结构化（精确但有门槛）、关键词（易用却可能有歧义） </a:t>
            </a:r>
            <a:endParaRPr lang="en-US" altLang="zh-CN" dirty="0">
              <a:sym typeface="Wingdings"/>
            </a:endParaRPr>
          </a:p>
        </p:txBody>
      </p:sp>
      <p:sp>
        <p:nvSpPr>
          <p:cNvPr id="3" name="Slide Number Placeholder 2">
            <a:extLst>
              <a:ext uri="{FF2B5EF4-FFF2-40B4-BE49-F238E27FC236}">
                <a16:creationId xmlns:a16="http://schemas.microsoft.com/office/drawing/2014/main" xmlns="" id="{2AE1F215-8C30-374C-B05C-45A0BEFA2754}"/>
              </a:ext>
            </a:extLst>
          </p:cNvPr>
          <p:cNvSpPr>
            <a:spLocks noGrp="1"/>
          </p:cNvSpPr>
          <p:nvPr>
            <p:ph type="sldNum" sz="quarter" idx="12"/>
          </p:nvPr>
        </p:nvSpPr>
        <p:spPr/>
        <p:txBody>
          <a:bodyPr/>
          <a:lstStyle/>
          <a:p>
            <a:fld id="{E1BEBC7A-FD02-486B-81B5-A845787C689C}" type="slidenum">
              <a:rPr lang="zh-CN" altLang="en-US" smtClean="0"/>
              <a:t>24</a:t>
            </a:fld>
            <a:endParaRPr lang="zh-CN" altLang="en-US"/>
          </a:p>
        </p:txBody>
      </p:sp>
    </p:spTree>
    <p:extLst>
      <p:ext uri="{BB962C8B-B14F-4D97-AF65-F5344CB8AC3E}">
        <p14:creationId xmlns:p14="http://schemas.microsoft.com/office/powerpoint/2010/main" val="1762428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PageRank</a:t>
            </a:r>
            <a:r>
              <a:rPr lang="zh-CN" altLang="en-US" dirty="0"/>
              <a:t>在</a:t>
            </a:r>
            <a:r>
              <a:rPr lang="en-US" altLang="zh-CN" dirty="0">
                <a:latin typeface="Calibri" charset="0"/>
                <a:ea typeface="Calibri" charset="0"/>
                <a:cs typeface="Calibri" charset="0"/>
              </a:rPr>
              <a:t>Web</a:t>
            </a:r>
            <a:r>
              <a:rPr lang="zh-CN" altLang="en-US" dirty="0">
                <a:latin typeface="Calibri" charset="0"/>
                <a:ea typeface="Calibri" charset="0"/>
                <a:cs typeface="Calibri" charset="0"/>
              </a:rPr>
              <a:t> </a:t>
            </a:r>
            <a:r>
              <a:rPr lang="en-US" altLang="zh-CN" dirty="0">
                <a:latin typeface="Calibri" charset="0"/>
                <a:ea typeface="Calibri" charset="0"/>
                <a:cs typeface="Calibri" charset="0"/>
              </a:rPr>
              <a:t>Search</a:t>
            </a:r>
            <a:r>
              <a:rPr lang="zh-CN" altLang="en-US" dirty="0"/>
              <a:t>中的应用</a:t>
            </a:r>
            <a:endParaRPr lang="en-US" dirty="0"/>
          </a:p>
        </p:txBody>
      </p:sp>
      <p:sp>
        <p:nvSpPr>
          <p:cNvPr id="3" name="Content Placeholder 2"/>
          <p:cNvSpPr>
            <a:spLocks noGrp="1"/>
          </p:cNvSpPr>
          <p:nvPr>
            <p:ph idx="1"/>
          </p:nvPr>
        </p:nvSpPr>
        <p:spPr/>
        <p:txBody>
          <a:bodyPr/>
          <a:lstStyle/>
          <a:p>
            <a:r>
              <a:rPr lang="en-US" altLang="zh-CN" dirty="0"/>
              <a:t>PageRank</a:t>
            </a:r>
            <a:r>
              <a:rPr lang="zh-CN" altLang="en-US" dirty="0"/>
              <a:t>由谷歌公司的两个创始人</a:t>
            </a:r>
            <a:r>
              <a:rPr lang="en-US" altLang="zh-CN" dirty="0"/>
              <a:t>Larry</a:t>
            </a:r>
            <a:r>
              <a:rPr lang="zh-CN" altLang="en-US" dirty="0"/>
              <a:t> </a:t>
            </a:r>
            <a:r>
              <a:rPr lang="en-US" altLang="zh-CN" dirty="0"/>
              <a:t>Page</a:t>
            </a:r>
            <a:r>
              <a:rPr lang="zh-CN" altLang="en-US" dirty="0"/>
              <a:t>和</a:t>
            </a:r>
            <a:r>
              <a:rPr lang="en-US" altLang="zh-CN" dirty="0"/>
              <a:t>Sergei</a:t>
            </a:r>
            <a:r>
              <a:rPr lang="zh-CN" altLang="en-US" dirty="0"/>
              <a:t> </a:t>
            </a:r>
            <a:r>
              <a:rPr lang="en-US" altLang="zh-CN" dirty="0" err="1"/>
              <a:t>Brin</a:t>
            </a:r>
            <a:r>
              <a:rPr lang="zh-CN" altLang="en-US" dirty="0"/>
              <a:t>提出，主要解决</a:t>
            </a:r>
            <a:r>
              <a:rPr lang="en-US" altLang="zh-CN" dirty="0"/>
              <a:t>Web</a:t>
            </a:r>
            <a:r>
              <a:rPr lang="zh-CN" altLang="en-US" dirty="0"/>
              <a:t> </a:t>
            </a:r>
            <a:r>
              <a:rPr lang="en-US" altLang="zh-CN" dirty="0"/>
              <a:t>Page</a:t>
            </a:r>
            <a:r>
              <a:rPr lang="zh-CN" altLang="en-US" dirty="0"/>
              <a:t>的排序问题</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79" y="1602740"/>
            <a:ext cx="8257747" cy="3068320"/>
          </a:xfrm>
          <a:prstGeom prst="rect">
            <a:avLst/>
          </a:prstGeom>
          <a:ln>
            <a:noFill/>
          </a:ln>
          <a:effectLst>
            <a:softEdge rad="31750"/>
          </a:effectLst>
        </p:spPr>
      </p:pic>
      <p:sp>
        <p:nvSpPr>
          <p:cNvPr id="6" name="Rectangle 5"/>
          <p:cNvSpPr/>
          <p:nvPr/>
        </p:nvSpPr>
        <p:spPr>
          <a:xfrm>
            <a:off x="4130040" y="2895600"/>
            <a:ext cx="4389120" cy="1676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xmlns="" id="{8D5B53E7-1AD9-A64F-921E-FF371B2B3304}"/>
              </a:ext>
            </a:extLst>
          </p:cNvPr>
          <p:cNvSpPr>
            <a:spLocks noGrp="1"/>
          </p:cNvSpPr>
          <p:nvPr>
            <p:ph type="sldNum" sz="quarter" idx="12"/>
          </p:nvPr>
        </p:nvSpPr>
        <p:spPr/>
        <p:txBody>
          <a:bodyPr/>
          <a:lstStyle/>
          <a:p>
            <a:fld id="{E1BEBC7A-FD02-486B-81B5-A845787C689C}" type="slidenum">
              <a:rPr lang="zh-CN" altLang="en-US" smtClean="0"/>
              <a:t>25</a:t>
            </a:fld>
            <a:endParaRPr lang="zh-CN" altLang="en-US"/>
          </a:p>
        </p:txBody>
      </p:sp>
    </p:spTree>
    <p:extLst>
      <p:ext uri="{BB962C8B-B14F-4D97-AF65-F5344CB8AC3E}">
        <p14:creationId xmlns:p14="http://schemas.microsoft.com/office/powerpoint/2010/main" val="1659559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endParaRPr lang="en-US" dirty="0">
              <a:latin typeface="Calibri" charset="0"/>
              <a:ea typeface="Calibri" charset="0"/>
              <a:cs typeface="Calibri"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0739" y="819150"/>
            <a:ext cx="4764901" cy="3937000"/>
          </a:xfrm>
          <a:prstGeom prst="rect">
            <a:avLst/>
          </a:prstGeom>
          <a:ln>
            <a:noFill/>
          </a:ln>
          <a:effectLst>
            <a:softEdge rad="31750"/>
          </a:effectLst>
        </p:spPr>
      </p:pic>
      <p:sp>
        <p:nvSpPr>
          <p:cNvPr id="5" name="Content Placeholder 2"/>
          <p:cNvSpPr txBox="1">
            <a:spLocks/>
          </p:cNvSpPr>
          <p:nvPr/>
        </p:nvSpPr>
        <p:spPr>
          <a:xfrm>
            <a:off x="5166361" y="1018040"/>
            <a:ext cx="3520439" cy="22112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sym typeface="Wingdings"/>
              </a:rPr>
              <a:t>考虑新的场景</a:t>
            </a:r>
            <a:endParaRPr lang="en-US" altLang="zh-CN" dirty="0">
              <a:sym typeface="Wingdings"/>
            </a:endParaRPr>
          </a:p>
          <a:p>
            <a:pPr lvl="1"/>
            <a:r>
              <a:rPr lang="zh-CN" altLang="en-US" dirty="0">
                <a:sym typeface="Wingdings"/>
              </a:rPr>
              <a:t>如果用户已经收藏了网页</a:t>
            </a:r>
            <a:r>
              <a:rPr lang="en-US" altLang="zh-CN" dirty="0">
                <a:latin typeface="Calibri" charset="0"/>
                <a:ea typeface="Calibri" charset="0"/>
                <a:cs typeface="Calibri" charset="0"/>
                <a:sym typeface="Wingdings"/>
              </a:rPr>
              <a:t>D</a:t>
            </a:r>
            <a:r>
              <a:rPr lang="zh-CN" altLang="en-US" dirty="0">
                <a:sym typeface="Wingdings"/>
              </a:rPr>
              <a:t>和</a:t>
            </a:r>
            <a:r>
              <a:rPr lang="en-US" altLang="zh-CN" dirty="0">
                <a:latin typeface="Calibri" charset="0"/>
                <a:ea typeface="Calibri" charset="0"/>
                <a:cs typeface="Calibri" charset="0"/>
                <a:sym typeface="Wingdings"/>
              </a:rPr>
              <a:t>F</a:t>
            </a:r>
            <a:r>
              <a:rPr lang="zh-CN" altLang="en-US" dirty="0">
                <a:sym typeface="Wingdings"/>
              </a:rPr>
              <a:t>，希望最后算出的分数反映出这种偏好</a:t>
            </a:r>
            <a:endParaRPr lang="en-US" altLang="zh-CN" dirty="0">
              <a:sym typeface="Wingdings"/>
            </a:endParaRPr>
          </a:p>
          <a:p>
            <a:pPr lvl="1"/>
            <a:r>
              <a:rPr lang="zh-CN" altLang="en-US" dirty="0">
                <a:sym typeface="Wingdings"/>
              </a:rPr>
              <a:t>与已收藏网页</a:t>
            </a:r>
            <a:r>
              <a:rPr lang="en-US" altLang="zh-CN" dirty="0">
                <a:latin typeface="Calibri" charset="0"/>
                <a:ea typeface="Calibri" charset="0"/>
                <a:cs typeface="Calibri" charset="0"/>
                <a:sym typeface="Wingdings"/>
              </a:rPr>
              <a:t>D</a:t>
            </a:r>
            <a:r>
              <a:rPr lang="zh-CN" altLang="en-US" dirty="0">
                <a:sym typeface="Wingdings"/>
              </a:rPr>
              <a:t>和</a:t>
            </a:r>
            <a:r>
              <a:rPr lang="en-US" altLang="zh-CN" dirty="0">
                <a:latin typeface="Calibri" charset="0"/>
                <a:ea typeface="Calibri" charset="0"/>
                <a:cs typeface="Calibri" charset="0"/>
                <a:sym typeface="Wingdings"/>
              </a:rPr>
              <a:t>F</a:t>
            </a:r>
            <a:r>
              <a:rPr lang="zh-CN" altLang="en-US" dirty="0">
                <a:sym typeface="Wingdings"/>
              </a:rPr>
              <a:t>相关的（直接或间接指向）的网页得到更高的分数</a:t>
            </a:r>
            <a:endParaRPr lang="en-US" altLang="zh-CN" dirty="0">
              <a:sym typeface="Wingdings"/>
            </a:endParaRPr>
          </a:p>
        </p:txBody>
      </p:sp>
      <p:cxnSp>
        <p:nvCxnSpPr>
          <p:cNvPr id="7" name="Straight Arrow Connector 6"/>
          <p:cNvCxnSpPr/>
          <p:nvPr/>
        </p:nvCxnSpPr>
        <p:spPr>
          <a:xfrm flipH="1" flipV="1">
            <a:off x="4823460" y="2983230"/>
            <a:ext cx="582930" cy="228600"/>
          </a:xfrm>
          <a:prstGeom prst="straightConnector1">
            <a:avLst/>
          </a:prstGeom>
          <a:ln>
            <a:solidFill>
              <a:schemeClr val="accent3">
                <a:lumMod val="75000"/>
              </a:schemeClr>
            </a:solidFill>
            <a:prstDash val="dashDot"/>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p:nvPr/>
        </p:nvCxnSpPr>
        <p:spPr>
          <a:xfrm flipH="1" flipV="1">
            <a:off x="960121" y="3326130"/>
            <a:ext cx="4446269" cy="720090"/>
          </a:xfrm>
          <a:prstGeom prst="straightConnector1">
            <a:avLst/>
          </a:prstGeom>
          <a:ln>
            <a:solidFill>
              <a:schemeClr val="accent3">
                <a:lumMod val="75000"/>
              </a:schemeClr>
            </a:solidFill>
            <a:prstDash val="dashDot"/>
            <a:tailEnd type="triangle"/>
          </a:ln>
        </p:spPr>
        <p:style>
          <a:lnRef idx="2">
            <a:schemeClr val="accent2"/>
          </a:lnRef>
          <a:fillRef idx="0">
            <a:schemeClr val="accent2"/>
          </a:fillRef>
          <a:effectRef idx="1">
            <a:schemeClr val="accent2"/>
          </a:effectRef>
          <a:fontRef idx="minor">
            <a:schemeClr val="tx1"/>
          </a:fontRef>
        </p:style>
      </p:cxnSp>
      <p:sp>
        <p:nvSpPr>
          <p:cNvPr id="11" name="Content Placeholder 2"/>
          <p:cNvSpPr txBox="1">
            <a:spLocks/>
          </p:cNvSpPr>
          <p:nvPr/>
        </p:nvSpPr>
        <p:spPr>
          <a:xfrm>
            <a:off x="5406390" y="3238407"/>
            <a:ext cx="3520439" cy="123317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sym typeface="Wingdings"/>
              </a:rPr>
              <a:t>个性化</a:t>
            </a:r>
            <a:endParaRPr lang="en-US" altLang="zh-CN" dirty="0">
              <a:sym typeface="Wingdings"/>
            </a:endParaRPr>
          </a:p>
          <a:p>
            <a:pPr lvl="1"/>
            <a:r>
              <a:rPr lang="zh-CN" altLang="en-US" dirty="0">
                <a:latin typeface="STKaiti" charset="-122"/>
                <a:ea typeface="STKaiti" charset="-122"/>
                <a:cs typeface="STKaiti" charset="-122"/>
                <a:sym typeface="Wingdings"/>
              </a:rPr>
              <a:t>那些都是很好很好的，可我偏偏不喜欢</a:t>
            </a:r>
            <a:endParaRPr lang="en-US" altLang="zh-CN" dirty="0">
              <a:latin typeface="STKaiti" charset="-122"/>
              <a:ea typeface="STKaiti" charset="-122"/>
              <a:cs typeface="STKaiti" charset="-122"/>
              <a:sym typeface="Wingdings"/>
            </a:endParaRPr>
          </a:p>
          <a:p>
            <a:pPr marL="457200" lvl="1" indent="0" algn="r">
              <a:buNone/>
            </a:pPr>
            <a:r>
              <a:rPr lang="en-US" altLang="zh-CN" dirty="0">
                <a:latin typeface="STKaiti" charset="-122"/>
                <a:ea typeface="STKaiti" charset="-122"/>
                <a:cs typeface="STKaiti" charset="-122"/>
                <a:sym typeface="Wingdings"/>
              </a:rPr>
              <a:t>——《</a:t>
            </a:r>
            <a:r>
              <a:rPr lang="zh-CN" altLang="en-US" dirty="0">
                <a:latin typeface="STKaiti" charset="-122"/>
                <a:ea typeface="STKaiti" charset="-122"/>
                <a:cs typeface="STKaiti" charset="-122"/>
                <a:sym typeface="Wingdings"/>
              </a:rPr>
              <a:t>白马啸西风</a:t>
            </a:r>
            <a:r>
              <a:rPr lang="en-US" altLang="zh-CN" dirty="0">
                <a:latin typeface="STKaiti" charset="-122"/>
                <a:ea typeface="STKaiti" charset="-122"/>
                <a:cs typeface="STKaiti" charset="-122"/>
                <a:sym typeface="Wingdings"/>
              </a:rPr>
              <a:t>》</a:t>
            </a:r>
          </a:p>
        </p:txBody>
      </p:sp>
      <p:cxnSp>
        <p:nvCxnSpPr>
          <p:cNvPr id="14" name="Curved Connector 13"/>
          <p:cNvCxnSpPr>
            <a:stCxn id="11" idx="1"/>
          </p:cNvCxnSpPr>
          <p:nvPr/>
        </p:nvCxnSpPr>
        <p:spPr>
          <a:xfrm rot="10800000">
            <a:off x="2442754" y="1672046"/>
            <a:ext cx="2963636" cy="2182946"/>
          </a:xfrm>
          <a:prstGeom prst="curvedConnector3">
            <a:avLst>
              <a:gd name="adj1" fmla="val 50000"/>
            </a:avLst>
          </a:prstGeom>
          <a:ln>
            <a:prstDash val="dashDot"/>
            <a:tailEnd type="triangle"/>
          </a:ln>
        </p:spPr>
        <p:style>
          <a:lnRef idx="2">
            <a:schemeClr val="accent2"/>
          </a:lnRef>
          <a:fillRef idx="0">
            <a:schemeClr val="accent2"/>
          </a:fillRef>
          <a:effectRef idx="1">
            <a:schemeClr val="accent2"/>
          </a:effectRef>
          <a:fontRef idx="minor">
            <a:schemeClr val="tx1"/>
          </a:fontRef>
        </p:style>
      </p:cxnSp>
      <p:sp>
        <p:nvSpPr>
          <p:cNvPr id="3" name="Slide Number Placeholder 2">
            <a:extLst>
              <a:ext uri="{FF2B5EF4-FFF2-40B4-BE49-F238E27FC236}">
                <a16:creationId xmlns:a16="http://schemas.microsoft.com/office/drawing/2014/main" xmlns="" id="{DA48689B-CFF1-614C-BE3A-C1E3C60AAF9F}"/>
              </a:ext>
            </a:extLst>
          </p:cNvPr>
          <p:cNvSpPr>
            <a:spLocks noGrp="1"/>
          </p:cNvSpPr>
          <p:nvPr>
            <p:ph type="sldNum" sz="quarter" idx="12"/>
          </p:nvPr>
        </p:nvSpPr>
        <p:spPr/>
        <p:txBody>
          <a:bodyPr/>
          <a:lstStyle/>
          <a:p>
            <a:fld id="{E1BEBC7A-FD02-486B-81B5-A845787C689C}" type="slidenum">
              <a:rPr lang="zh-CN" altLang="en-US" smtClean="0"/>
              <a:t>26</a:t>
            </a:fld>
            <a:endParaRPr lang="zh-CN" altLang="en-US"/>
          </a:p>
        </p:txBody>
      </p:sp>
    </p:spTree>
    <p:extLst>
      <p:ext uri="{BB962C8B-B14F-4D97-AF65-F5344CB8AC3E}">
        <p14:creationId xmlns:p14="http://schemas.microsoft.com/office/powerpoint/2010/main" val="1085190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Personalized PageRank</a:t>
            </a:r>
            <a:endParaRPr lang="en-US" dirty="0"/>
          </a:p>
        </p:txBody>
      </p:sp>
      <p:sp>
        <p:nvSpPr>
          <p:cNvPr id="3" name="Content Placeholder 2"/>
          <p:cNvSpPr>
            <a:spLocks noGrp="1"/>
          </p:cNvSpPr>
          <p:nvPr>
            <p:ph idx="1"/>
          </p:nvPr>
        </p:nvSpPr>
        <p:spPr>
          <a:xfrm>
            <a:off x="457200" y="819150"/>
            <a:ext cx="8229600" cy="514350"/>
          </a:xfrm>
        </p:spPr>
        <p:txBody>
          <a:bodyPr/>
          <a:lstStyle/>
          <a:p>
            <a:r>
              <a:rPr lang="zh-CN" altLang="en-US" dirty="0"/>
              <a:t>在前面计算的公式的基础上做了“微小”改动</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412534" y="1447800"/>
                <a:ext cx="6122766"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r>
                        <a:rPr lang="mr-IN" altLang="zh-CN" sz="2000" b="0" i="1" smtClean="0">
                          <a:latin typeface="Cambria Math" charset="0"/>
                        </a:rPr>
                        <m:t> </m:t>
                      </m:r>
                      <m:r>
                        <a:rPr lang="en-US" altLang="zh-CN" sz="2000" b="0" i="1" smtClean="0">
                          <a:latin typeface="Cambria Math" charset="0"/>
                        </a:rPr>
                        <m:t>(</m:t>
                      </m:r>
                      <m:r>
                        <a:rPr lang="en-US" altLang="zh-CN" sz="2000" i="1">
                          <a:latin typeface="Cambria Math" charset="0"/>
                        </a:rPr>
                        <m:t>1−</m:t>
                      </m:r>
                      <m:r>
                        <a:rPr lang="en-US" altLang="zh-CN" sz="2000" i="1">
                          <a:latin typeface="Cambria Math" charset="0"/>
                        </a:rPr>
                        <m:t>𝛼</m:t>
                      </m:r>
                      <m:r>
                        <a:rPr lang="en-US" altLang="zh-CN" sz="2000" b="0" i="1" smtClean="0">
                          <a:latin typeface="Cambria Math" charset="0"/>
                        </a:rPr>
                        <m:t>)</m:t>
                      </m:r>
                      <m:sSubSup>
                        <m:sSubSupPr>
                          <m:ctrlPr>
                            <a:rPr lang="en-US" altLang="zh-CN" sz="2000" b="0" i="1" smtClean="0">
                              <a:latin typeface="Cambria Math" charset="0"/>
                            </a:rPr>
                          </m:ctrlPr>
                        </m:sSubSupPr>
                        <m:e>
                          <m:r>
                            <a:rPr lang="en-US" altLang="zh-CN" sz="2000" b="0" i="1" smtClean="0">
                              <a:latin typeface="Cambria Math" charset="0"/>
                            </a:rPr>
                            <m:t>𝑝</m:t>
                          </m:r>
                        </m:e>
                        <m:sub>
                          <m:r>
                            <a:rPr lang="en-US" altLang="zh-CN" sz="2000" b="0" i="1" smtClean="0">
                              <a:latin typeface="Cambria Math" charset="0"/>
                            </a:rPr>
                            <m:t>𝑖</m:t>
                          </m:r>
                        </m:sub>
                        <m:sup>
                          <m:r>
                            <a:rPr lang="en-US" altLang="zh-CN" sz="2000" b="0" i="1" smtClean="0">
                              <a:latin typeface="Cambria Math" charset="0"/>
                            </a:rPr>
                            <m:t>(0)</m:t>
                          </m:r>
                        </m:sup>
                      </m:sSubSup>
                      <m:r>
                        <a:rPr lang="en-US" altLang="zh-CN" sz="2000" b="0" i="1" smtClean="0">
                          <a:latin typeface="Cambria Math" charset="0"/>
                        </a:rPr>
                        <m:t>+</m:t>
                      </m:r>
                      <m:r>
                        <a:rPr lang="en-US" altLang="zh-CN" sz="2000" b="0" i="1" smtClean="0">
                          <a:latin typeface="Cambria Math" charset="0"/>
                        </a:rPr>
                        <m:t>𝛼</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r>
                        <a:rPr lang="en-US" altLang="zh-CN" sz="2000" i="1">
                          <a:latin typeface="Cambria Math" charset="0"/>
                        </a:rPr>
                        <m:t>(1−</m:t>
                      </m:r>
                      <m:r>
                        <a:rPr lang="en-US" altLang="zh-CN" sz="2000" i="1">
                          <a:latin typeface="Cambria Math" charset="0"/>
                        </a:rPr>
                        <m:t>𝛼</m:t>
                      </m:r>
                      <m:r>
                        <a:rPr lang="en-US" altLang="zh-CN" sz="2000" i="1">
                          <a:latin typeface="Cambria Math" charset="0"/>
                        </a:rPr>
                        <m:t>)</m:t>
                      </m:r>
                      <m:sSubSup>
                        <m:sSubSupPr>
                          <m:ctrlPr>
                            <a:rPr lang="en-US" altLang="zh-CN" sz="2000" i="1">
                              <a:latin typeface="Cambria Math" charset="0"/>
                            </a:rPr>
                          </m:ctrlPr>
                        </m:sSubSupPr>
                        <m:e>
                          <m:r>
                            <a:rPr lang="en-US" altLang="zh-CN" sz="2000" i="1">
                              <a:latin typeface="Cambria Math" charset="0"/>
                            </a:rPr>
                            <m:t>𝑝</m:t>
                          </m:r>
                        </m:e>
                        <m:sub>
                          <m:r>
                            <a:rPr lang="en-US" altLang="zh-CN" sz="2000" i="1">
                              <a:latin typeface="Cambria Math" charset="0"/>
                            </a:rPr>
                            <m:t>𝑖</m:t>
                          </m:r>
                        </m:sub>
                        <m:sup>
                          <m:r>
                            <a:rPr lang="en-US" altLang="zh-CN" sz="2000" i="1">
                              <a:latin typeface="Cambria Math" charset="0"/>
                            </a:rPr>
                            <m:t>(0)</m:t>
                          </m:r>
                        </m:sup>
                      </m:sSubSup>
                      <m:r>
                        <a:rPr lang="en-US" altLang="zh-CN" sz="2000" i="1">
                          <a:latin typeface="Cambria Math" charset="0"/>
                        </a:rPr>
                        <m:t>+</m:t>
                      </m:r>
                      <m:r>
                        <a:rPr lang="en-US" altLang="zh-CN" sz="2000" i="1">
                          <a:latin typeface="Cambria Math" charset="0"/>
                        </a:rPr>
                        <m:t>𝛼</m:t>
                      </m:r>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1412534" y="1447800"/>
                <a:ext cx="6122766" cy="87511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12534" y="2641600"/>
                <a:ext cx="2746586" cy="320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charset="0"/>
                        </a:rPr>
                        <m:t>𝑝</m:t>
                      </m:r>
                      <m:r>
                        <a:rPr lang="en-US" altLang="zh-CN" sz="2000" b="0" i="1" smtClean="0">
                          <a:latin typeface="Cambria Math" charset="0"/>
                        </a:rPr>
                        <m:t>=</m:t>
                      </m:r>
                      <m:r>
                        <a:rPr lang="en-US" altLang="zh-CN" sz="2000" b="0" i="1" smtClean="0">
                          <a:latin typeface="Cambria Math" charset="0"/>
                        </a:rPr>
                        <m:t>𝛼</m:t>
                      </m:r>
                      <m:r>
                        <a:rPr lang="zh-CN" altLang="en-US" sz="2000" b="1" i="1" smtClean="0">
                          <a:latin typeface="Cambria Math" charset="0"/>
                        </a:rPr>
                        <m:t> </m:t>
                      </m:r>
                      <m:r>
                        <a:rPr lang="en-US" altLang="zh-CN" sz="2000" b="1" i="1" smtClean="0">
                          <a:latin typeface="Cambria Math" charset="0"/>
                        </a:rPr>
                        <m:t>𝒑𝑳</m:t>
                      </m:r>
                      <m:r>
                        <a:rPr lang="en-US" altLang="zh-CN" sz="2000" b="0" i="1" smtClean="0">
                          <a:latin typeface="Cambria Math" charset="0"/>
                        </a:rPr>
                        <m:t>+(1−</m:t>
                      </m:r>
                      <m:r>
                        <a:rPr lang="en-US" altLang="zh-CN" sz="2000" b="0" i="1" smtClean="0">
                          <a:latin typeface="Cambria Math" charset="0"/>
                        </a:rPr>
                        <m:t>𝛼</m:t>
                      </m:r>
                      <m:r>
                        <a:rPr lang="en-US" altLang="zh-CN" sz="2000" b="0" i="1" smtClean="0">
                          <a:latin typeface="Cambria Math" charset="0"/>
                        </a:rPr>
                        <m:t>)</m:t>
                      </m:r>
                      <m:r>
                        <a:rPr lang="zh-CN" altLang="en-US" sz="2000" b="1" i="1" smtClean="0">
                          <a:latin typeface="Cambria Math" charset="0"/>
                        </a:rPr>
                        <m:t> </m:t>
                      </m:r>
                      <m:sSup>
                        <m:sSupPr>
                          <m:ctrlPr>
                            <a:rPr lang="en-US" altLang="zh-CN" sz="2000" b="1" i="1" smtClean="0">
                              <a:latin typeface="Cambria Math" charset="0"/>
                            </a:rPr>
                          </m:ctrlPr>
                        </m:sSupPr>
                        <m:e>
                          <m:r>
                            <a:rPr lang="en-US" altLang="zh-CN" sz="2000" b="1" i="1" smtClean="0">
                              <a:latin typeface="Cambria Math" charset="0"/>
                            </a:rPr>
                            <m:t>𝒑</m:t>
                          </m:r>
                        </m:e>
                        <m:sup>
                          <m:r>
                            <a:rPr lang="en-US" altLang="zh-CN" sz="2000" b="1" i="1" smtClean="0">
                              <a:latin typeface="Cambria Math" charset="0"/>
                            </a:rPr>
                            <m:t>(</m:t>
                          </m:r>
                          <m:r>
                            <a:rPr lang="en-US" altLang="zh-CN" sz="2000" b="1" i="1" smtClean="0">
                              <a:latin typeface="Cambria Math" charset="0"/>
                            </a:rPr>
                            <m:t>𝟎</m:t>
                          </m:r>
                          <m:r>
                            <a:rPr lang="en-US" altLang="zh-CN" sz="2000" b="1" i="1" smtClean="0">
                              <a:latin typeface="Cambria Math" charset="0"/>
                            </a:rPr>
                            <m:t>)</m:t>
                          </m:r>
                        </m:sup>
                      </m:sSup>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1412534" y="2641600"/>
                <a:ext cx="2746586" cy="320601"/>
              </a:xfrm>
              <a:prstGeom prst="rect">
                <a:avLst/>
              </a:prstGeom>
              <a:blipFill rotWithShape="0">
                <a:blip r:embed="rId4"/>
                <a:stretch>
                  <a:fillRect l="-667" t="-132075" r="-667" b="-169811"/>
                </a:stretch>
              </a:blipFill>
            </p:spPr>
            <p:txBody>
              <a:bodyPr/>
              <a:lstStyle/>
              <a:p>
                <a:r>
                  <a:rPr lang="en-US">
                    <a:noFill/>
                  </a:rPr>
                  <a:t> </a:t>
                </a:r>
              </a:p>
            </p:txBody>
          </p:sp>
        </mc:Fallback>
      </mc:AlternateContent>
      <p:sp>
        <p:nvSpPr>
          <p:cNvPr id="7" name="Content Placeholder 2"/>
          <p:cNvSpPr txBox="1">
            <a:spLocks/>
          </p:cNvSpPr>
          <p:nvPr/>
        </p:nvSpPr>
        <p:spPr>
          <a:xfrm>
            <a:off x="457198" y="4030133"/>
            <a:ext cx="8229601" cy="7069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计算的过程也称</a:t>
            </a:r>
            <a:r>
              <a:rPr lang="en-US" altLang="zh-CN" dirty="0">
                <a:solidFill>
                  <a:srgbClr val="FF0000"/>
                </a:solidFill>
                <a:latin typeface="Calibri" charset="0"/>
                <a:ea typeface="Calibri" charset="0"/>
                <a:cs typeface="Calibri" charset="0"/>
              </a:rPr>
              <a:t>Random</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Walk</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with</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Restart</a:t>
            </a:r>
            <a:endParaRPr lang="en-US" altLang="zh-CN" dirty="0">
              <a:solidFill>
                <a:srgbClr val="FF0000"/>
              </a:solidFill>
            </a:endParaRPr>
          </a:p>
        </p:txBody>
      </p:sp>
      <mc:AlternateContent xmlns:mc="http://schemas.openxmlformats.org/markup-compatibility/2006" xmlns:a14="http://schemas.microsoft.com/office/drawing/2010/main">
        <mc:Choice Requires="a14">
          <p:sp>
            <p:nvSpPr>
              <p:cNvPr id="6" name="Rectangle 5"/>
              <p:cNvSpPr/>
              <p:nvPr/>
            </p:nvSpPr>
            <p:spPr>
              <a:xfrm>
                <a:off x="2589666" y="3307776"/>
                <a:ext cx="4929170" cy="461665"/>
              </a:xfrm>
              <a:prstGeom prst="rect">
                <a:avLst/>
              </a:prstGeom>
            </p:spPr>
            <p:txBody>
              <a:bodyPr wrap="none">
                <a:spAutoFit/>
              </a:bodyPr>
              <a:lstStyle/>
              <a:p>
                <a14:m>
                  <m:oMath xmlns:m="http://schemas.openxmlformats.org/officeDocument/2006/math">
                    <m:r>
                      <a:rPr lang="en-US" altLang="zh-CN" sz="2400" b="0" i="1" smtClean="0">
                        <a:solidFill>
                          <a:srgbClr val="FF0000"/>
                        </a:solidFill>
                        <a:latin typeface="Cambria Math" charset="0"/>
                      </a:rPr>
                      <m:t>𝛼</m:t>
                    </m:r>
                  </m:oMath>
                </a14:m>
                <a:r>
                  <a:rPr lang="en-US" altLang="zh-CN" sz="2400" dirty="0">
                    <a:solidFill>
                      <a:srgbClr val="FF0000"/>
                    </a:solidFill>
                  </a:rPr>
                  <a:t>:</a:t>
                </a:r>
                <a:r>
                  <a:rPr lang="zh-CN" altLang="en-US" sz="2400" dirty="0">
                    <a:solidFill>
                      <a:srgbClr val="FF0000"/>
                    </a:solidFill>
                  </a:rPr>
                  <a:t> </a:t>
                </a:r>
                <a:r>
                  <a:rPr lang="en-US" sz="2400" dirty="0">
                    <a:solidFill>
                      <a:srgbClr val="FF0000"/>
                    </a:solidFill>
                  </a:rPr>
                  <a:t>Damping parameter</a:t>
                </a:r>
                <a:r>
                  <a:rPr lang="en-US" altLang="zh-CN" sz="2400" dirty="0">
                    <a:solidFill>
                      <a:srgbClr val="FF0000"/>
                    </a:solidFill>
                  </a:rPr>
                  <a:t>,</a:t>
                </a:r>
                <a:r>
                  <a:rPr lang="zh-CN" altLang="en-US" sz="2400" dirty="0">
                    <a:solidFill>
                      <a:srgbClr val="FF0000"/>
                    </a:solidFill>
                  </a:rPr>
                  <a:t> 经验上取</a:t>
                </a:r>
                <a:r>
                  <a:rPr lang="en-US" altLang="zh-CN" sz="2400" dirty="0">
                    <a:solidFill>
                      <a:srgbClr val="FF0000"/>
                    </a:solidFill>
                  </a:rPr>
                  <a:t>0.85</a:t>
                </a:r>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2589666" y="3307776"/>
                <a:ext cx="4929170" cy="461665"/>
              </a:xfrm>
              <a:prstGeom prst="rect">
                <a:avLst/>
              </a:prstGeom>
              <a:blipFill rotWithShape="0">
                <a:blip r:embed="rId5"/>
                <a:stretch>
                  <a:fillRect t="-16000" r="-866" b="-32000"/>
                </a:stretch>
              </a:blipFill>
            </p:spPr>
            <p:txBody>
              <a:bodyPr/>
              <a:lstStyle/>
              <a:p>
                <a:r>
                  <a:rPr lang="en-US">
                    <a:noFill/>
                  </a:rPr>
                  <a:t> </a:t>
                </a:r>
              </a:p>
            </p:txBody>
          </p:sp>
        </mc:Fallback>
      </mc:AlternateContent>
      <p:cxnSp>
        <p:nvCxnSpPr>
          <p:cNvPr id="9" name="Straight Arrow Connector 8"/>
          <p:cNvCxnSpPr/>
          <p:nvPr/>
        </p:nvCxnSpPr>
        <p:spPr>
          <a:xfrm flipH="1" flipV="1">
            <a:off x="1998133" y="3077810"/>
            <a:ext cx="355600" cy="1974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Slide Number Placeholder 7">
            <a:extLst>
              <a:ext uri="{FF2B5EF4-FFF2-40B4-BE49-F238E27FC236}">
                <a16:creationId xmlns:a16="http://schemas.microsoft.com/office/drawing/2014/main" xmlns="" id="{06C5AAE0-2227-134A-A7ED-6BDB88E84BC2}"/>
              </a:ext>
            </a:extLst>
          </p:cNvPr>
          <p:cNvSpPr>
            <a:spLocks noGrp="1"/>
          </p:cNvSpPr>
          <p:nvPr>
            <p:ph type="sldNum" sz="quarter" idx="12"/>
          </p:nvPr>
        </p:nvSpPr>
        <p:spPr/>
        <p:txBody>
          <a:bodyPr/>
          <a:lstStyle/>
          <a:p>
            <a:fld id="{E1BEBC7A-FD02-486B-81B5-A845787C689C}" type="slidenum">
              <a:rPr lang="zh-CN" altLang="en-US" smtClean="0"/>
              <a:t>27</a:t>
            </a:fld>
            <a:endParaRPr lang="zh-CN" altLang="en-US"/>
          </a:p>
        </p:txBody>
      </p:sp>
    </p:spTree>
    <p:extLst>
      <p:ext uri="{BB962C8B-B14F-4D97-AF65-F5344CB8AC3E}">
        <p14:creationId xmlns:p14="http://schemas.microsoft.com/office/powerpoint/2010/main" val="244498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rgbClr val="FF0000"/>
                            </a:solidFill>
                            <a:latin typeface="Cambria Math" charset="0"/>
                          </a:rPr>
                        </m:ctrlPr>
                      </m:sSupPr>
                      <m:e>
                        <m:r>
                          <a:rPr lang="en-US" altLang="zh-CN" b="0" i="1" dirty="0" smtClean="0">
                            <a:solidFill>
                              <a:srgbClr val="FF0000"/>
                            </a:solidFill>
                            <a:latin typeface="Cambria Math" charset="0"/>
                          </a:rPr>
                          <m:t>𝑝</m:t>
                        </m:r>
                      </m:e>
                      <m:sup>
                        <m:r>
                          <a:rPr lang="en-US" altLang="zh-CN" b="0" i="1" dirty="0" smtClean="0">
                            <a:solidFill>
                              <a:srgbClr val="FF0000"/>
                            </a:solidFill>
                            <a:latin typeface="Cambria Math" charset="0"/>
                          </a:rPr>
                          <m:t>0</m:t>
                        </m:r>
                      </m:sup>
                    </m:sSup>
                    <m:r>
                      <a:rPr lang="en-US" altLang="zh-CN" b="0" i="1" dirty="0" smtClean="0">
                        <a:solidFill>
                          <a:srgbClr val="FF0000"/>
                        </a:solidFill>
                        <a:latin typeface="Cambria Math" charset="0"/>
                      </a:rPr>
                      <m:t>=(1,0,0,0)</m:t>
                    </m:r>
                  </m:oMath>
                </a14:m>
                <a:endParaRPr lang="en-US" dirty="0">
                  <a:solidFill>
                    <a:srgbClr val="FF0000"/>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,0,0)</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2"/>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4857" y="814150"/>
            <a:ext cx="3581943" cy="3942000"/>
          </a:xfrm>
          <a:prstGeom prst="rect">
            <a:avLst/>
          </a:prstGeom>
        </p:spPr>
      </p:pic>
      <p:sp>
        <p:nvSpPr>
          <p:cNvPr id="4" name="Slide Number Placeholder 3">
            <a:extLst>
              <a:ext uri="{FF2B5EF4-FFF2-40B4-BE49-F238E27FC236}">
                <a16:creationId xmlns:a16="http://schemas.microsoft.com/office/drawing/2014/main" xmlns="" id="{7E94C628-0669-6542-93FF-FE93CBC8663C}"/>
              </a:ext>
            </a:extLst>
          </p:cNvPr>
          <p:cNvSpPr>
            <a:spLocks noGrp="1"/>
          </p:cNvSpPr>
          <p:nvPr>
            <p:ph type="sldNum" sz="quarter" idx="12"/>
          </p:nvPr>
        </p:nvSpPr>
        <p:spPr/>
        <p:txBody>
          <a:bodyPr/>
          <a:lstStyle/>
          <a:p>
            <a:fld id="{E1BEBC7A-FD02-486B-81B5-A845787C689C}" type="slidenum">
              <a:rPr lang="zh-CN" altLang="en-US" smtClean="0"/>
              <a:t>28</a:t>
            </a:fld>
            <a:endParaRPr lang="zh-CN" altLang="en-US"/>
          </a:p>
        </p:txBody>
      </p:sp>
    </p:spTree>
    <p:extLst>
      <p:ext uri="{BB962C8B-B14F-4D97-AF65-F5344CB8AC3E}">
        <p14:creationId xmlns:p14="http://schemas.microsoft.com/office/powerpoint/2010/main" val="12331387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m:t>
                    </m:r>
                    <m:r>
                      <a:rPr lang="en-US" altLang="zh-CN" i="1" dirty="0">
                        <a:solidFill>
                          <a:srgbClr val="FF0000"/>
                        </a:solidFill>
                        <a:latin typeface="Cambria Math" charset="0"/>
                      </a:rPr>
                      <m:t>,</m:t>
                    </m:r>
                    <m:r>
                      <a:rPr lang="en-US" altLang="zh-CN" b="0" i="1" dirty="0" smtClean="0">
                        <a:solidFill>
                          <a:srgbClr val="FF0000"/>
                        </a:solidFill>
                        <a:latin typeface="Cambria Math" charset="0"/>
                      </a:rPr>
                      <m:t>1</m:t>
                    </m:r>
                    <m:r>
                      <a:rPr lang="en-US" altLang="zh-CN" i="1" dirty="0">
                        <a:solidFill>
                          <a:srgbClr val="FF0000"/>
                        </a:solidFill>
                        <a:latin typeface="Cambria Math" charset="0"/>
                      </a:rPr>
                      <m:t>,0,0)</m:t>
                    </m:r>
                  </m:oMath>
                </a14:m>
                <a:endParaRPr lang="en-US" dirty="0">
                  <a:solidFill>
                    <a:srgbClr val="FF0000"/>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,0,0)</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8442" y="819150"/>
            <a:ext cx="3915138" cy="3942000"/>
          </a:xfrm>
          <a:prstGeom prst="rect">
            <a:avLst/>
          </a:prstGeom>
        </p:spPr>
      </p:pic>
      <p:sp>
        <p:nvSpPr>
          <p:cNvPr id="4" name="Slide Number Placeholder 3">
            <a:extLst>
              <a:ext uri="{FF2B5EF4-FFF2-40B4-BE49-F238E27FC236}">
                <a16:creationId xmlns:a16="http://schemas.microsoft.com/office/drawing/2014/main" xmlns="" id="{D2E27F19-5F48-F24C-B7BB-D3B7182E525D}"/>
              </a:ext>
            </a:extLst>
          </p:cNvPr>
          <p:cNvSpPr>
            <a:spLocks noGrp="1"/>
          </p:cNvSpPr>
          <p:nvPr>
            <p:ph type="sldNum" sz="quarter" idx="12"/>
          </p:nvPr>
        </p:nvSpPr>
        <p:spPr/>
        <p:txBody>
          <a:bodyPr/>
          <a:lstStyle/>
          <a:p>
            <a:fld id="{E1BEBC7A-FD02-486B-81B5-A845787C689C}" type="slidenum">
              <a:rPr lang="zh-CN" altLang="en-US" smtClean="0"/>
              <a:t>29</a:t>
            </a:fld>
            <a:endParaRPr lang="zh-CN" altLang="en-US"/>
          </a:p>
        </p:txBody>
      </p:sp>
    </p:spTree>
    <p:extLst>
      <p:ext uri="{BB962C8B-B14F-4D97-AF65-F5344CB8AC3E}">
        <p14:creationId xmlns:p14="http://schemas.microsoft.com/office/powerpoint/2010/main" val="2113872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0.5</m:t>
                    </m:r>
                    <m:r>
                      <a:rPr lang="en-US" altLang="zh-CN" i="1" dirty="0">
                        <a:solidFill>
                          <a:srgbClr val="FF0000"/>
                        </a:solidFill>
                        <a:latin typeface="Cambria Math" charset="0"/>
                      </a:rPr>
                      <m:t>,</m:t>
                    </m:r>
                    <m:r>
                      <a:rPr lang="en-US" altLang="zh-CN" b="0" i="1" dirty="0" smtClean="0">
                        <a:solidFill>
                          <a:srgbClr val="FF0000"/>
                        </a:solidFill>
                        <a:latin typeface="Cambria Math" charset="0"/>
                      </a:rPr>
                      <m:t>0.5</m:t>
                    </m:r>
                    <m:r>
                      <a:rPr lang="en-US" altLang="zh-CN" i="1" dirty="0">
                        <a:solidFill>
                          <a:srgbClr val="FF0000"/>
                        </a:solidFill>
                        <a:latin typeface="Cambria Math" charset="0"/>
                      </a:rPr>
                      <m:t>,0,0)</m:t>
                    </m:r>
                  </m:oMath>
                </a14:m>
                <a:endParaRPr lang="en-US" dirty="0">
                  <a:solidFill>
                    <a:srgbClr val="FF0000"/>
                  </a:solidFill>
                </a:endParaRPr>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8442" y="819150"/>
            <a:ext cx="4227758" cy="3942000"/>
          </a:xfrm>
          <a:prstGeom prst="rect">
            <a:avLst/>
          </a:prstGeom>
        </p:spPr>
      </p:pic>
      <p:sp>
        <p:nvSpPr>
          <p:cNvPr id="6" name="Slide Number Placeholder 5">
            <a:extLst>
              <a:ext uri="{FF2B5EF4-FFF2-40B4-BE49-F238E27FC236}">
                <a16:creationId xmlns:a16="http://schemas.microsoft.com/office/drawing/2014/main" xmlns="" id="{3955A6C4-7128-4240-8B26-ED12AFE82089}"/>
              </a:ext>
            </a:extLst>
          </p:cNvPr>
          <p:cNvSpPr>
            <a:spLocks noGrp="1"/>
          </p:cNvSpPr>
          <p:nvPr>
            <p:ph type="sldNum" sz="quarter" idx="12"/>
          </p:nvPr>
        </p:nvSpPr>
        <p:spPr/>
        <p:txBody>
          <a:bodyPr/>
          <a:lstStyle/>
          <a:p>
            <a:fld id="{E1BEBC7A-FD02-486B-81B5-A845787C689C}" type="slidenum">
              <a:rPr lang="zh-CN" altLang="en-US" smtClean="0"/>
              <a:t>30</a:t>
            </a:fld>
            <a:endParaRPr lang="zh-CN" altLang="en-US"/>
          </a:p>
        </p:txBody>
      </p:sp>
    </p:spTree>
    <p:extLst>
      <p:ext uri="{BB962C8B-B14F-4D97-AF65-F5344CB8AC3E}">
        <p14:creationId xmlns:p14="http://schemas.microsoft.com/office/powerpoint/2010/main" val="1794231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accent2"/>
                            </a:solidFill>
                            <a:latin typeface="Cambria Math" charset="0"/>
                          </a:rPr>
                        </m:ctrlPr>
                      </m:sSupPr>
                      <m:e>
                        <m:r>
                          <a:rPr lang="en-US" altLang="zh-CN" b="0" i="1" dirty="0" smtClean="0">
                            <a:solidFill>
                              <a:schemeClr val="accent2"/>
                            </a:solidFill>
                            <a:latin typeface="Cambria Math" charset="0"/>
                          </a:rPr>
                          <m:t>𝑝</m:t>
                        </m:r>
                      </m:e>
                      <m:sup>
                        <m:r>
                          <a:rPr lang="en-US" altLang="zh-CN" b="0" i="1" dirty="0" smtClean="0">
                            <a:solidFill>
                              <a:schemeClr val="accent2"/>
                            </a:solidFill>
                            <a:latin typeface="Cambria Math" charset="0"/>
                          </a:rPr>
                          <m:t>0</m:t>
                        </m:r>
                      </m:sup>
                    </m:sSup>
                    <m:r>
                      <a:rPr lang="en-US" altLang="zh-CN" b="0" i="1" dirty="0" smtClean="0">
                        <a:solidFill>
                          <a:schemeClr val="accent2"/>
                        </a:solidFill>
                        <a:latin typeface="Cambria Math" charset="0"/>
                      </a:rPr>
                      <m:t>=(1,0,0,0)</m:t>
                    </m:r>
                  </m:oMath>
                </a14:m>
                <a:endParaRPr lang="en-US" dirty="0">
                  <a:solidFill>
                    <a:schemeClr val="accent2"/>
                  </a:solidFill>
                </a:endParaRPr>
              </a:p>
              <a:p>
                <a:pPr lvl="1"/>
                <a14:m>
                  <m:oMath xmlns:m="http://schemas.openxmlformats.org/officeDocument/2006/math">
                    <m:sSup>
                      <m:sSupPr>
                        <m:ctrlPr>
                          <a:rPr lang="en-US" altLang="zh-CN" i="1" dirty="0" smtClean="0">
                            <a:solidFill>
                              <a:schemeClr val="accent3"/>
                            </a:solidFill>
                            <a:latin typeface="Cambria Math" charset="0"/>
                          </a:rPr>
                        </m:ctrlPr>
                      </m:sSupPr>
                      <m:e>
                        <m:r>
                          <a:rPr lang="en-US" altLang="zh-CN" i="1" dirty="0">
                            <a:solidFill>
                              <a:schemeClr val="accent3"/>
                            </a:solidFill>
                            <a:latin typeface="Cambria Math" charset="0"/>
                          </a:rPr>
                          <m:t>𝑝</m:t>
                        </m:r>
                      </m:e>
                      <m:sup>
                        <m:r>
                          <a:rPr lang="en-US" altLang="zh-CN" i="1" dirty="0">
                            <a:solidFill>
                              <a:schemeClr val="accent3"/>
                            </a:solidFill>
                            <a:latin typeface="Cambria Math" charset="0"/>
                          </a:rPr>
                          <m:t>0</m:t>
                        </m:r>
                      </m:sup>
                    </m:sSup>
                    <m:r>
                      <a:rPr lang="en-US" altLang="zh-CN" i="1" dirty="0">
                        <a:solidFill>
                          <a:schemeClr val="accent3"/>
                        </a:solidFill>
                        <a:latin typeface="Cambria Math" charset="0"/>
                      </a:rPr>
                      <m:t>=(</m:t>
                    </m:r>
                    <m:r>
                      <a:rPr lang="en-US" altLang="zh-CN" b="0" i="1" dirty="0" smtClean="0">
                        <a:solidFill>
                          <a:schemeClr val="accent3"/>
                        </a:solidFill>
                        <a:latin typeface="Cambria Math" charset="0"/>
                      </a:rPr>
                      <m:t>0</m:t>
                    </m:r>
                    <m:r>
                      <a:rPr lang="en-US" altLang="zh-CN" i="1" dirty="0">
                        <a:solidFill>
                          <a:schemeClr val="accent3"/>
                        </a:solidFill>
                        <a:latin typeface="Cambria Math" charset="0"/>
                      </a:rPr>
                      <m:t>,</m:t>
                    </m:r>
                    <m:r>
                      <a:rPr lang="en-US" altLang="zh-CN" b="0" i="1" dirty="0" smtClean="0">
                        <a:solidFill>
                          <a:schemeClr val="accent3"/>
                        </a:solidFill>
                        <a:latin typeface="Cambria Math" charset="0"/>
                      </a:rPr>
                      <m:t>1</m:t>
                    </m:r>
                    <m:r>
                      <a:rPr lang="en-US" altLang="zh-CN" i="1" dirty="0">
                        <a:solidFill>
                          <a:schemeClr val="accent3"/>
                        </a:solidFill>
                        <a:latin typeface="Cambria Math" charset="0"/>
                      </a:rPr>
                      <m:t>,0,0)</m:t>
                    </m:r>
                  </m:oMath>
                </a14:m>
                <a:endParaRPr lang="en-US" dirty="0">
                  <a:solidFill>
                    <a:schemeClr val="accent3"/>
                  </a:solidFill>
                </a:endParaRPr>
              </a:p>
              <a:p>
                <a:pPr lvl="1"/>
                <a14:m>
                  <m:oMath xmlns:m="http://schemas.openxmlformats.org/officeDocument/2006/math">
                    <m:sSup>
                      <m:sSupPr>
                        <m:ctrlPr>
                          <a:rPr lang="en-US" altLang="zh-CN" i="1" dirty="0" smtClean="0">
                            <a:solidFill>
                              <a:schemeClr val="accent4"/>
                            </a:solidFill>
                            <a:latin typeface="Cambria Math" charset="0"/>
                          </a:rPr>
                        </m:ctrlPr>
                      </m:sSupPr>
                      <m:e>
                        <m:r>
                          <a:rPr lang="en-US" altLang="zh-CN" i="1" dirty="0">
                            <a:solidFill>
                              <a:schemeClr val="accent4"/>
                            </a:solidFill>
                            <a:latin typeface="Cambria Math" charset="0"/>
                          </a:rPr>
                          <m:t>𝑝</m:t>
                        </m:r>
                      </m:e>
                      <m:sup>
                        <m:r>
                          <a:rPr lang="en-US" altLang="zh-CN" i="1" dirty="0">
                            <a:solidFill>
                              <a:schemeClr val="accent4"/>
                            </a:solidFill>
                            <a:latin typeface="Cambria Math" charset="0"/>
                          </a:rPr>
                          <m:t>0</m:t>
                        </m:r>
                      </m:sup>
                    </m:sSup>
                    <m:r>
                      <a:rPr lang="en-US" altLang="zh-CN" i="1" dirty="0">
                        <a:solidFill>
                          <a:schemeClr val="accent4"/>
                        </a:solidFill>
                        <a:latin typeface="Cambria Math" charset="0"/>
                      </a:rPr>
                      <m:t>=(</m:t>
                    </m:r>
                    <m:r>
                      <a:rPr lang="en-US" altLang="zh-CN" b="0" i="1" dirty="0" smtClean="0">
                        <a:solidFill>
                          <a:schemeClr val="accent4"/>
                        </a:solidFill>
                        <a:latin typeface="Cambria Math" charset="0"/>
                      </a:rPr>
                      <m:t>0.5</m:t>
                    </m:r>
                    <m:r>
                      <a:rPr lang="en-US" altLang="zh-CN" i="1" dirty="0">
                        <a:solidFill>
                          <a:schemeClr val="accent4"/>
                        </a:solidFill>
                        <a:latin typeface="Cambria Math" charset="0"/>
                      </a:rPr>
                      <m:t>,</m:t>
                    </m:r>
                    <m:r>
                      <a:rPr lang="en-US" altLang="zh-CN" b="0" i="1" dirty="0" smtClean="0">
                        <a:solidFill>
                          <a:schemeClr val="accent4"/>
                        </a:solidFill>
                        <a:latin typeface="Cambria Math" charset="0"/>
                      </a:rPr>
                      <m:t>0.5</m:t>
                    </m:r>
                    <m:r>
                      <a:rPr lang="en-US" altLang="zh-CN" i="1" dirty="0">
                        <a:solidFill>
                          <a:schemeClr val="accent4"/>
                        </a:solidFill>
                        <a:latin typeface="Cambria Math" charset="0"/>
                      </a:rPr>
                      <m:t>,0,0)</m:t>
                    </m:r>
                  </m:oMath>
                </a14:m>
                <a:endParaRPr lang="en-US" dirty="0">
                  <a:solidFill>
                    <a:schemeClr val="accent4"/>
                  </a:solidFill>
                </a:endParaRPr>
              </a:p>
              <a:p>
                <a:endParaRPr lang="en-US" altLang="zh-CN" dirty="0"/>
              </a:p>
              <a:p>
                <a:r>
                  <a:rPr lang="zh-CN" altLang="en-US" dirty="0"/>
                  <a:t>你能发现什么规律？</a:t>
                </a:r>
                <a:endParaRPr lang="en-US" altLang="zh-CN" dirty="0"/>
              </a:p>
              <a:p>
                <a:r>
                  <a:rPr lang="zh-CN" altLang="en-US" dirty="0"/>
                  <a:t>你能证明这个规律吗？</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sp>
        <p:nvSpPr>
          <p:cNvPr id="6" name="Rectangle 5"/>
          <p:cNvSpPr/>
          <p:nvPr/>
        </p:nvSpPr>
        <p:spPr>
          <a:xfrm>
            <a:off x="3566774" y="2602984"/>
            <a:ext cx="5120026" cy="369332"/>
          </a:xfrm>
          <a:prstGeom prst="rect">
            <a:avLst/>
          </a:prstGeom>
        </p:spPr>
        <p:txBody>
          <a:bodyPr wrap="square">
            <a:spAutoFit/>
          </a:bodyPr>
          <a:lstStyle/>
          <a:p>
            <a:r>
              <a:rPr lang="en-US" dirty="0">
                <a:solidFill>
                  <a:schemeClr val="accent4"/>
                </a:solidFill>
              </a:rPr>
              <a:t>[[0.28968159 0.32122935 0.13652248 0.25256658]]</a:t>
            </a:r>
          </a:p>
        </p:txBody>
      </p:sp>
      <p:sp>
        <p:nvSpPr>
          <p:cNvPr id="7" name="Rectangle 6"/>
          <p:cNvSpPr/>
          <p:nvPr/>
        </p:nvSpPr>
        <p:spPr>
          <a:xfrm>
            <a:off x="3566774" y="2237155"/>
            <a:ext cx="5120026" cy="369332"/>
          </a:xfrm>
          <a:prstGeom prst="rect">
            <a:avLst/>
          </a:prstGeom>
        </p:spPr>
        <p:txBody>
          <a:bodyPr wrap="square">
            <a:spAutoFit/>
          </a:bodyPr>
          <a:lstStyle/>
          <a:p>
            <a:r>
              <a:rPr lang="en-US" dirty="0">
                <a:solidFill>
                  <a:schemeClr val="accent3"/>
                </a:solidFill>
              </a:rPr>
              <a:t>[[0.23208821 0.34727498 0.14759187 0.27304495]]</a:t>
            </a:r>
          </a:p>
        </p:txBody>
      </p:sp>
      <p:sp>
        <p:nvSpPr>
          <p:cNvPr id="8" name="TextBox 7"/>
          <p:cNvSpPr txBox="1"/>
          <p:nvPr/>
        </p:nvSpPr>
        <p:spPr>
          <a:xfrm>
            <a:off x="3566774" y="1860818"/>
            <a:ext cx="5069016" cy="369332"/>
          </a:xfrm>
          <a:prstGeom prst="rect">
            <a:avLst/>
          </a:prstGeom>
          <a:noFill/>
        </p:spPr>
        <p:txBody>
          <a:bodyPr wrap="none" rtlCol="0">
            <a:spAutoFit/>
          </a:bodyPr>
          <a:lstStyle/>
          <a:p>
            <a:r>
              <a:rPr lang="is-IS" dirty="0">
                <a:solidFill>
                  <a:schemeClr val="accent2"/>
                </a:solidFill>
              </a:rPr>
              <a:t>[[0.34727498 0.29518373 0.12545309 0.23208821]]</a:t>
            </a:r>
            <a:endParaRPr lang="en-US" dirty="0">
              <a:solidFill>
                <a:schemeClr val="accent2"/>
              </a:solidFill>
            </a:endParaRPr>
          </a:p>
        </p:txBody>
      </p:sp>
      <p:sp>
        <p:nvSpPr>
          <p:cNvPr id="4" name="Slide Number Placeholder 3">
            <a:extLst>
              <a:ext uri="{FF2B5EF4-FFF2-40B4-BE49-F238E27FC236}">
                <a16:creationId xmlns:a16="http://schemas.microsoft.com/office/drawing/2014/main" xmlns="" id="{C01A2BCD-00A3-A64A-AF12-443BD814E311}"/>
              </a:ext>
            </a:extLst>
          </p:cNvPr>
          <p:cNvSpPr>
            <a:spLocks noGrp="1"/>
          </p:cNvSpPr>
          <p:nvPr>
            <p:ph type="sldNum" sz="quarter" idx="12"/>
          </p:nvPr>
        </p:nvSpPr>
        <p:spPr/>
        <p:txBody>
          <a:bodyPr/>
          <a:lstStyle/>
          <a:p>
            <a:fld id="{E1BEBC7A-FD02-486B-81B5-A845787C689C}" type="slidenum">
              <a:rPr lang="zh-CN" altLang="en-US" smtClean="0"/>
              <a:t>31</a:t>
            </a:fld>
            <a:endParaRPr lang="zh-CN" altLang="en-US"/>
          </a:p>
        </p:txBody>
      </p:sp>
    </p:spTree>
    <p:extLst>
      <p:ext uri="{BB962C8B-B14F-4D97-AF65-F5344CB8AC3E}">
        <p14:creationId xmlns:p14="http://schemas.microsoft.com/office/powerpoint/2010/main" val="961107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4489" y="772706"/>
            <a:ext cx="7090519" cy="3970318"/>
          </a:xfrm>
          <a:prstGeom prst="rect">
            <a:avLst/>
          </a:prstGeom>
          <a:solidFill>
            <a:srgbClr val="0E223A"/>
          </a:solidFill>
        </p:spPr>
        <p:txBody>
          <a:bodyPr wrap="square">
            <a:spAutoFit/>
          </a:bodyPr>
          <a:lstStyle/>
          <a:p>
            <a:endParaRPr lang="en-US" i="1" dirty="0">
              <a:solidFill>
                <a:srgbClr val="66D9EF"/>
              </a:solidFill>
            </a:endParaRPr>
          </a:p>
          <a:p>
            <a:r>
              <a:rPr lang="en-US" i="1" dirty="0" err="1">
                <a:solidFill>
                  <a:srgbClr val="66D9EF"/>
                </a:solidFill>
              </a:rPr>
              <a:t>def</a:t>
            </a:r>
            <a:r>
              <a:rPr lang="en-US" i="1" dirty="0">
                <a:solidFill>
                  <a:srgbClr val="66D9EF"/>
                </a:solidFill>
              </a:rPr>
              <a:t> </a:t>
            </a:r>
            <a:r>
              <a:rPr lang="en-US" dirty="0" err="1">
                <a:solidFill>
                  <a:srgbClr val="A6E22E"/>
                </a:solidFill>
              </a:rPr>
              <a:t>pagerank</a:t>
            </a:r>
            <a:r>
              <a:rPr lang="en-US" dirty="0">
                <a:solidFill>
                  <a:schemeClr val="bg1"/>
                </a:solidFill>
              </a:rPr>
              <a:t>(</a:t>
            </a:r>
            <a:r>
              <a:rPr lang="en-US" i="1" dirty="0">
                <a:solidFill>
                  <a:srgbClr val="FD971F"/>
                </a:solidFill>
              </a:rPr>
              <a:t>G</a:t>
            </a:r>
            <a:r>
              <a:rPr lang="en-US" dirty="0">
                <a:solidFill>
                  <a:schemeClr val="bg1"/>
                </a:solidFill>
              </a:rPr>
              <a:t>,</a:t>
            </a:r>
            <a:r>
              <a:rPr lang="en-US" dirty="0"/>
              <a:t> </a:t>
            </a:r>
            <a:r>
              <a:rPr lang="en-US" i="1" dirty="0">
                <a:solidFill>
                  <a:srgbClr val="FD971F"/>
                </a:solidFill>
              </a:rPr>
              <a:t>alpha</a:t>
            </a:r>
            <a:r>
              <a:rPr lang="en-US" dirty="0">
                <a:solidFill>
                  <a:srgbClr val="F92672"/>
                </a:solidFill>
              </a:rPr>
              <a:t>=</a:t>
            </a:r>
            <a:r>
              <a:rPr lang="en-US" dirty="0">
                <a:solidFill>
                  <a:srgbClr val="AE81FF"/>
                </a:solidFill>
              </a:rPr>
              <a:t>0.85</a:t>
            </a:r>
            <a:r>
              <a:rPr lang="en-US" dirty="0">
                <a:solidFill>
                  <a:schemeClr val="bg1"/>
                </a:solidFill>
              </a:rPr>
              <a:t>,</a:t>
            </a:r>
            <a:r>
              <a:rPr lang="en-US" dirty="0"/>
              <a:t> </a:t>
            </a:r>
            <a:r>
              <a:rPr lang="en-US" i="1" dirty="0">
                <a:solidFill>
                  <a:srgbClr val="FD971F"/>
                </a:solidFill>
              </a:rPr>
              <a:t>personalization</a:t>
            </a:r>
            <a:r>
              <a:rPr lang="en-US" dirty="0">
                <a:solidFill>
                  <a:srgbClr val="F92672"/>
                </a:solidFill>
              </a:rPr>
              <a:t>=</a:t>
            </a:r>
            <a:r>
              <a:rPr lang="en-US" i="1" dirty="0">
                <a:solidFill>
                  <a:srgbClr val="66D9EF"/>
                </a:solidFill>
              </a:rPr>
              <a:t>None</a:t>
            </a:r>
            <a:r>
              <a:rPr lang="en-US" dirty="0">
                <a:solidFill>
                  <a:schemeClr val="bg1"/>
                </a:solidFill>
              </a:rPr>
              <a:t>,</a:t>
            </a:r>
            <a:r>
              <a:rPr lang="en-US" dirty="0"/>
              <a:t/>
            </a:r>
            <a:br>
              <a:rPr lang="en-US" dirty="0"/>
            </a:br>
            <a:r>
              <a:rPr lang="en-US" dirty="0"/>
              <a:t>             </a:t>
            </a:r>
            <a:r>
              <a:rPr lang="en-US" i="1" dirty="0" err="1">
                <a:solidFill>
                  <a:srgbClr val="FD971F"/>
                </a:solidFill>
              </a:rPr>
              <a:t>max_iter</a:t>
            </a:r>
            <a:r>
              <a:rPr lang="en-US" dirty="0">
                <a:solidFill>
                  <a:srgbClr val="F92672"/>
                </a:solidFill>
              </a:rPr>
              <a:t>=</a:t>
            </a:r>
            <a:r>
              <a:rPr lang="en-US" dirty="0">
                <a:solidFill>
                  <a:srgbClr val="AE81FF"/>
                </a:solidFill>
              </a:rPr>
              <a:t>100</a:t>
            </a:r>
            <a:r>
              <a:rPr lang="en-US" dirty="0">
                <a:solidFill>
                  <a:schemeClr val="bg1"/>
                </a:solidFill>
              </a:rPr>
              <a:t>,</a:t>
            </a:r>
            <a:r>
              <a:rPr lang="en-US" dirty="0"/>
              <a:t> </a:t>
            </a:r>
            <a:r>
              <a:rPr lang="en-US" i="1" dirty="0" err="1">
                <a:solidFill>
                  <a:srgbClr val="FD971F"/>
                </a:solidFill>
              </a:rPr>
              <a:t>tol</a:t>
            </a:r>
            <a:r>
              <a:rPr lang="en-US" dirty="0">
                <a:solidFill>
                  <a:srgbClr val="F92672"/>
                </a:solidFill>
              </a:rPr>
              <a:t>=</a:t>
            </a:r>
            <a:r>
              <a:rPr lang="en-US" dirty="0">
                <a:solidFill>
                  <a:srgbClr val="AE81FF"/>
                </a:solidFill>
              </a:rPr>
              <a:t>1.0e-6</a:t>
            </a:r>
            <a:r>
              <a:rPr lang="en-US" dirty="0">
                <a:solidFill>
                  <a:schemeClr val="bg1"/>
                </a:solidFill>
              </a:rPr>
              <a:t>,</a:t>
            </a:r>
            <a:r>
              <a:rPr lang="en-US" dirty="0"/>
              <a:t> </a:t>
            </a:r>
            <a:r>
              <a:rPr lang="en-US" i="1" dirty="0" err="1">
                <a:solidFill>
                  <a:srgbClr val="FD971F"/>
                </a:solidFill>
              </a:rPr>
              <a:t>nstart</a:t>
            </a:r>
            <a:r>
              <a:rPr lang="en-US" dirty="0">
                <a:solidFill>
                  <a:srgbClr val="F92672"/>
                </a:solidFill>
              </a:rPr>
              <a:t>=</a:t>
            </a:r>
            <a:r>
              <a:rPr lang="en-US" i="1" dirty="0">
                <a:solidFill>
                  <a:srgbClr val="66D9EF"/>
                </a:solidFill>
              </a:rPr>
              <a:t>None</a:t>
            </a:r>
            <a:r>
              <a:rPr lang="en-US" dirty="0">
                <a:solidFill>
                  <a:schemeClr val="bg1"/>
                </a:solidFill>
              </a:rPr>
              <a:t>,</a:t>
            </a:r>
            <a:r>
              <a:rPr lang="en-US" dirty="0"/>
              <a:t> </a:t>
            </a:r>
            <a:r>
              <a:rPr lang="en-US" i="1" dirty="0">
                <a:solidFill>
                  <a:srgbClr val="FD971F"/>
                </a:solidFill>
              </a:rPr>
              <a:t>weight</a:t>
            </a:r>
            <a:r>
              <a:rPr lang="en-US" dirty="0">
                <a:solidFill>
                  <a:srgbClr val="F92672"/>
                </a:solidFill>
              </a:rPr>
              <a:t>=</a:t>
            </a:r>
            <a:r>
              <a:rPr lang="en-US" dirty="0">
                <a:solidFill>
                  <a:srgbClr val="E6DB74"/>
                </a:solidFill>
              </a:rPr>
              <a:t>‘weight’</a:t>
            </a:r>
            <a:r>
              <a:rPr lang="en-US" dirty="0">
                <a:solidFill>
                  <a:schemeClr val="bg1"/>
                </a:solidFill>
              </a:rPr>
              <a:t>,</a:t>
            </a:r>
            <a:r>
              <a:rPr lang="en-US" dirty="0"/>
              <a:t/>
            </a:r>
            <a:br>
              <a:rPr lang="en-US" dirty="0"/>
            </a:br>
            <a:r>
              <a:rPr lang="en-US" dirty="0"/>
              <a:t>             </a:t>
            </a:r>
            <a:r>
              <a:rPr lang="en-US" i="1" dirty="0">
                <a:solidFill>
                  <a:srgbClr val="FD971F"/>
                </a:solidFill>
              </a:rPr>
              <a:t>dangling</a:t>
            </a:r>
            <a:r>
              <a:rPr lang="en-US" dirty="0">
                <a:solidFill>
                  <a:srgbClr val="F92672"/>
                </a:solidFill>
              </a:rPr>
              <a:t>=</a:t>
            </a:r>
            <a:r>
              <a:rPr lang="en-US" i="1" dirty="0">
                <a:solidFill>
                  <a:srgbClr val="66D9EF"/>
                </a:solidFill>
              </a:rPr>
              <a:t>None</a:t>
            </a:r>
            <a:r>
              <a:rPr lang="en-US" dirty="0">
                <a:solidFill>
                  <a:schemeClr val="bg1"/>
                </a:solidFill>
              </a:rPr>
              <a:t>)</a:t>
            </a:r>
            <a:r>
              <a:rPr lang="en-US" dirty="0">
                <a:solidFill>
                  <a:srgbClr val="F92672"/>
                </a:solidFill>
              </a:rPr>
              <a:t>:</a:t>
            </a:r>
            <a:r>
              <a:rPr lang="en-US" dirty="0">
                <a:solidFill>
                  <a:srgbClr val="75715E"/>
                </a:solidFill>
              </a:rPr>
              <a:t/>
            </a:r>
            <a:br>
              <a:rPr lang="en-US" dirty="0">
                <a:solidFill>
                  <a:srgbClr val="75715E"/>
                </a:solidFill>
              </a:rPr>
            </a:br>
            <a:endParaRPr lang="en-US" dirty="0">
              <a:solidFill>
                <a:srgbClr val="75715E"/>
              </a:solidFill>
            </a:endParaRPr>
          </a:p>
          <a:p>
            <a:r>
              <a:rPr lang="en-US" dirty="0">
                <a:solidFill>
                  <a:srgbClr val="75715E"/>
                </a:solidFill>
              </a:rPr>
              <a:t>dangling: </a:t>
            </a:r>
            <a:r>
              <a:rPr lang="en-US" dirty="0" err="1">
                <a:solidFill>
                  <a:srgbClr val="75715E"/>
                </a:solidFill>
              </a:rPr>
              <a:t>dict</a:t>
            </a:r>
            <a:r>
              <a:rPr lang="en-US" dirty="0">
                <a:solidFill>
                  <a:srgbClr val="75715E"/>
                </a:solidFill>
              </a:rPr>
              <a:t>, optional</a:t>
            </a:r>
            <a:br>
              <a:rPr lang="en-US" dirty="0">
                <a:solidFill>
                  <a:srgbClr val="75715E"/>
                </a:solidFill>
              </a:rPr>
            </a:br>
            <a:r>
              <a:rPr lang="en-US" dirty="0">
                <a:solidFill>
                  <a:srgbClr val="75715E"/>
                </a:solidFill>
              </a:rPr>
              <a:t>  The </a:t>
            </a:r>
            <a:r>
              <a:rPr lang="en-US" dirty="0" err="1">
                <a:solidFill>
                  <a:srgbClr val="75715E"/>
                </a:solidFill>
              </a:rPr>
              <a:t>outedges</a:t>
            </a:r>
            <a:r>
              <a:rPr lang="en-US" dirty="0">
                <a:solidFill>
                  <a:srgbClr val="75715E"/>
                </a:solidFill>
              </a:rPr>
              <a:t> to be assigned to any "dangling" nodes, i.e., nodes without</a:t>
            </a:r>
            <a:br>
              <a:rPr lang="en-US" dirty="0">
                <a:solidFill>
                  <a:srgbClr val="75715E"/>
                </a:solidFill>
              </a:rPr>
            </a:br>
            <a:r>
              <a:rPr lang="en-US" dirty="0">
                <a:solidFill>
                  <a:srgbClr val="75715E"/>
                </a:solidFill>
              </a:rPr>
              <a:t>  any </a:t>
            </a:r>
            <a:r>
              <a:rPr lang="en-US" dirty="0" err="1">
                <a:solidFill>
                  <a:srgbClr val="75715E"/>
                </a:solidFill>
              </a:rPr>
              <a:t>outedges</a:t>
            </a:r>
            <a:r>
              <a:rPr lang="en-US" dirty="0">
                <a:solidFill>
                  <a:srgbClr val="75715E"/>
                </a:solidFill>
              </a:rPr>
              <a:t>. The </a:t>
            </a:r>
            <a:r>
              <a:rPr lang="en-US" dirty="0" err="1">
                <a:solidFill>
                  <a:srgbClr val="75715E"/>
                </a:solidFill>
              </a:rPr>
              <a:t>dict</a:t>
            </a:r>
            <a:r>
              <a:rPr lang="en-US" dirty="0">
                <a:solidFill>
                  <a:srgbClr val="75715E"/>
                </a:solidFill>
              </a:rPr>
              <a:t> key is the node the </a:t>
            </a:r>
            <a:r>
              <a:rPr lang="en-US" dirty="0" err="1">
                <a:solidFill>
                  <a:srgbClr val="75715E"/>
                </a:solidFill>
              </a:rPr>
              <a:t>outedge</a:t>
            </a:r>
            <a:r>
              <a:rPr lang="en-US" dirty="0">
                <a:solidFill>
                  <a:srgbClr val="75715E"/>
                </a:solidFill>
              </a:rPr>
              <a:t> points to and the </a:t>
            </a:r>
            <a:r>
              <a:rPr lang="en-US" dirty="0" err="1">
                <a:solidFill>
                  <a:srgbClr val="75715E"/>
                </a:solidFill>
              </a:rPr>
              <a:t>dict</a:t>
            </a:r>
            <a:r>
              <a:rPr lang="en-US" dirty="0">
                <a:solidFill>
                  <a:srgbClr val="75715E"/>
                </a:solidFill>
              </a:rPr>
              <a:t/>
            </a:r>
            <a:br>
              <a:rPr lang="en-US" dirty="0">
                <a:solidFill>
                  <a:srgbClr val="75715E"/>
                </a:solidFill>
              </a:rPr>
            </a:br>
            <a:r>
              <a:rPr lang="en-US" dirty="0">
                <a:solidFill>
                  <a:srgbClr val="75715E"/>
                </a:solidFill>
              </a:rPr>
              <a:t>  value is the weight of that </a:t>
            </a:r>
            <a:r>
              <a:rPr lang="en-US" dirty="0" err="1">
                <a:solidFill>
                  <a:srgbClr val="75715E"/>
                </a:solidFill>
              </a:rPr>
              <a:t>outedge</a:t>
            </a:r>
            <a:r>
              <a:rPr lang="en-US" dirty="0">
                <a:solidFill>
                  <a:srgbClr val="75715E"/>
                </a:solidFill>
              </a:rPr>
              <a:t>. By default, dangling nodes are given</a:t>
            </a:r>
            <a:br>
              <a:rPr lang="en-US" dirty="0">
                <a:solidFill>
                  <a:srgbClr val="75715E"/>
                </a:solidFill>
              </a:rPr>
            </a:br>
            <a:r>
              <a:rPr lang="en-US" dirty="0">
                <a:solidFill>
                  <a:srgbClr val="75715E"/>
                </a:solidFill>
              </a:rPr>
              <a:t>  </a:t>
            </a:r>
            <a:r>
              <a:rPr lang="en-US" dirty="0" err="1">
                <a:solidFill>
                  <a:srgbClr val="75715E"/>
                </a:solidFill>
              </a:rPr>
              <a:t>outedges</a:t>
            </a:r>
            <a:r>
              <a:rPr lang="en-US" dirty="0">
                <a:solidFill>
                  <a:srgbClr val="75715E"/>
                </a:solidFill>
              </a:rPr>
              <a:t> according to the personalization vector (uniform if not</a:t>
            </a:r>
            <a:br>
              <a:rPr lang="en-US" dirty="0">
                <a:solidFill>
                  <a:srgbClr val="75715E"/>
                </a:solidFill>
              </a:rPr>
            </a:br>
            <a:r>
              <a:rPr lang="en-US" dirty="0">
                <a:solidFill>
                  <a:srgbClr val="75715E"/>
                </a:solidFill>
              </a:rPr>
              <a:t>  specified). This must be selected to result in an irreducible transition</a:t>
            </a:r>
            <a:br>
              <a:rPr lang="en-US" dirty="0">
                <a:solidFill>
                  <a:srgbClr val="75715E"/>
                </a:solidFill>
              </a:rPr>
            </a:br>
            <a:r>
              <a:rPr lang="en-US" dirty="0">
                <a:solidFill>
                  <a:srgbClr val="75715E"/>
                </a:solidFill>
              </a:rPr>
              <a:t>  matrix (see notes under </a:t>
            </a:r>
            <a:r>
              <a:rPr lang="en-US" dirty="0" err="1">
                <a:solidFill>
                  <a:srgbClr val="75715E"/>
                </a:solidFill>
              </a:rPr>
              <a:t>google_matrix</a:t>
            </a:r>
            <a:r>
              <a:rPr lang="en-US" dirty="0">
                <a:solidFill>
                  <a:srgbClr val="75715E"/>
                </a:solidFill>
              </a:rPr>
              <a:t>). It may be common to have the</a:t>
            </a:r>
            <a:br>
              <a:rPr lang="en-US" dirty="0">
                <a:solidFill>
                  <a:srgbClr val="75715E"/>
                </a:solidFill>
              </a:rPr>
            </a:br>
            <a:r>
              <a:rPr lang="en-US" dirty="0">
                <a:solidFill>
                  <a:srgbClr val="75715E"/>
                </a:solidFill>
              </a:rPr>
              <a:t>  dangling </a:t>
            </a:r>
            <a:r>
              <a:rPr lang="en-US" dirty="0" err="1">
                <a:solidFill>
                  <a:srgbClr val="75715E"/>
                </a:solidFill>
              </a:rPr>
              <a:t>dict</a:t>
            </a:r>
            <a:r>
              <a:rPr lang="en-US" dirty="0">
                <a:solidFill>
                  <a:srgbClr val="75715E"/>
                </a:solidFill>
              </a:rPr>
              <a:t> to be the same as the personalization dict.</a:t>
            </a:r>
            <a:endParaRPr lang="en-US" dirty="0"/>
          </a:p>
          <a:p>
            <a:endParaRPr lang="en-US" dirty="0">
              <a:solidFill>
                <a:srgbClr val="75715E"/>
              </a:solidFill>
            </a:endParaRPr>
          </a:p>
        </p:txBody>
      </p:sp>
      <p:sp>
        <p:nvSpPr>
          <p:cNvPr id="2" name="Slide Number Placeholder 1">
            <a:extLst>
              <a:ext uri="{FF2B5EF4-FFF2-40B4-BE49-F238E27FC236}">
                <a16:creationId xmlns:a16="http://schemas.microsoft.com/office/drawing/2014/main" xmlns="" id="{10B7350A-CAD7-784B-B229-D80DB8C03DBF}"/>
              </a:ext>
            </a:extLst>
          </p:cNvPr>
          <p:cNvSpPr>
            <a:spLocks noGrp="1"/>
          </p:cNvSpPr>
          <p:nvPr>
            <p:ph type="sldNum" sz="quarter" idx="12"/>
          </p:nvPr>
        </p:nvSpPr>
        <p:spPr/>
        <p:txBody>
          <a:bodyPr/>
          <a:lstStyle/>
          <a:p>
            <a:fld id="{E1BEBC7A-FD02-486B-81B5-A845787C689C}" type="slidenum">
              <a:rPr lang="zh-CN" altLang="en-US" smtClean="0"/>
              <a:t>32</a:t>
            </a:fld>
            <a:endParaRPr lang="zh-CN" altLang="en-US"/>
          </a:p>
        </p:txBody>
      </p:sp>
    </p:spTree>
    <p:extLst>
      <p:ext uri="{BB962C8B-B14F-4D97-AF65-F5344CB8AC3E}">
        <p14:creationId xmlns:p14="http://schemas.microsoft.com/office/powerpoint/2010/main" val="393101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1880285"/>
            <a:ext cx="8318500" cy="1077218"/>
          </a:xfrm>
          <a:prstGeom prst="rect">
            <a:avLst/>
          </a:prstGeom>
        </p:spPr>
        <p:txBody>
          <a:bodyPr wrap="square">
            <a:spAutoFit/>
          </a:bodyPr>
          <a:lstStyle/>
          <a:p>
            <a:r>
              <a:rPr lang="en-US" sz="3200">
                <a:latin typeface="CMSS10" charset="0"/>
              </a:rPr>
              <a:t>“Beautiful math tends to be useful, and useful things tend to have beautiful math.” </a:t>
            </a:r>
            <a:endParaRPr lang="en-US" sz="3200">
              <a:effectLst/>
            </a:endParaRPr>
          </a:p>
        </p:txBody>
      </p:sp>
    </p:spTree>
    <p:extLst>
      <p:ext uri="{BB962C8B-B14F-4D97-AF65-F5344CB8AC3E}">
        <p14:creationId xmlns:p14="http://schemas.microsoft.com/office/powerpoint/2010/main" val="1227927104"/>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课堂练习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35977" y="927464"/>
                <a:ext cx="4950823" cy="2194559"/>
              </a:xfrm>
            </p:spPr>
            <p:txBody>
              <a:bodyPr/>
              <a:lstStyle/>
              <a:p>
                <a:pPr>
                  <a:lnSpc>
                    <a:spcPct val="150000"/>
                  </a:lnSpc>
                </a:pPr>
                <a:r>
                  <a:rPr lang="zh-CN" altLang="en-US" dirty="0"/>
                  <a:t>计算左侧图结构中节点的</a:t>
                </a:r>
                <a:r>
                  <a:rPr lang="en-US" altLang="zh-CN" dirty="0" err="1"/>
                  <a:t>pagerank</a:t>
                </a:r>
                <a:r>
                  <a:rPr lang="zh-CN" altLang="en-US" dirty="0"/>
                  <a:t>分值。考虑</a:t>
                </a:r>
                <a14:m>
                  <m:oMath xmlns:m="http://schemas.openxmlformats.org/officeDocument/2006/math">
                    <m:r>
                      <a:rPr lang="en-US" altLang="zh-CN" b="0" i="1" smtClean="0">
                        <a:latin typeface="Cambria Math" charset="0"/>
                      </a:rPr>
                      <m:t>𝛼</m:t>
                    </m:r>
                    <m:r>
                      <a:rPr lang="en-US" altLang="zh-CN" b="0" i="1" smtClean="0">
                        <a:latin typeface="Cambria Math" charset="0"/>
                      </a:rPr>
                      <m:t>=0.8</m:t>
                    </m:r>
                  </m:oMath>
                </a14:m>
                <a:r>
                  <a:rPr lang="zh-CN" altLang="en-US" dirty="0"/>
                  <a:t>且</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(0)</m:t>
                        </m:r>
                      </m:sup>
                    </m:sSup>
                    <m:r>
                      <a:rPr lang="en-US" altLang="zh-CN" b="0" i="1" dirty="0" smtClean="0">
                        <a:latin typeface="Cambria Math" charset="0"/>
                      </a:rPr>
                      <m:t>=(1,0,0,0)</m:t>
                    </m:r>
                  </m:oMath>
                </a14:m>
                <a:endParaRPr lang="en-US" dirty="0"/>
              </a:p>
              <a:p>
                <a:pPr lvl="1">
                  <a:lnSpc>
                    <a:spcPct val="150000"/>
                  </a:lnSpc>
                </a:pPr>
                <a:r>
                  <a:rPr lang="zh-CN" altLang="en-US" dirty="0"/>
                  <a:t>计算</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(1)</m:t>
                        </m:r>
                      </m:sup>
                    </m:sSup>
                  </m:oMath>
                </a14:m>
                <a:r>
                  <a:rPr lang="zh-CN" altLang="en-US" dirty="0"/>
                  <a:t>和</a:t>
                </a:r>
                <a14:m>
                  <m:oMath xmlns:m="http://schemas.openxmlformats.org/officeDocument/2006/math">
                    <m:sSup>
                      <m:sSupPr>
                        <m:ctrlPr>
                          <a:rPr lang="en-US" altLang="zh-CN" i="1" dirty="0">
                            <a:latin typeface="Cambria Math" charset="0"/>
                          </a:rPr>
                        </m:ctrlPr>
                      </m:sSupPr>
                      <m:e>
                        <m:r>
                          <a:rPr lang="en-US" altLang="zh-CN" i="1" dirty="0">
                            <a:latin typeface="Cambria Math" charset="0"/>
                          </a:rPr>
                          <m:t>𝑝</m:t>
                        </m:r>
                      </m:e>
                      <m:sup>
                        <m:r>
                          <a:rPr lang="en-US" altLang="zh-CN" i="1" dirty="0">
                            <a:latin typeface="Cambria Math" charset="0"/>
                          </a:rPr>
                          <m:t>(</m:t>
                        </m:r>
                        <m:r>
                          <a:rPr lang="en-US" altLang="zh-CN" b="0" i="1" dirty="0" smtClean="0">
                            <a:latin typeface="Cambria Math" charset="0"/>
                          </a:rPr>
                          <m:t>2</m:t>
                        </m:r>
                        <m:r>
                          <a:rPr lang="en-US" altLang="zh-CN" i="1" dirty="0">
                            <a:latin typeface="Cambria Math" charset="0"/>
                          </a:rPr>
                          <m:t>)</m:t>
                        </m:r>
                      </m:sup>
                    </m:sSup>
                  </m:oMath>
                </a14:m>
                <a:endParaRPr lang="en-US" dirty="0"/>
              </a:p>
              <a:p>
                <a:pPr lvl="1">
                  <a:lnSpc>
                    <a:spcPct val="150000"/>
                  </a:lnSpc>
                </a:pPr>
                <a:r>
                  <a:rPr lang="zh-CN" altLang="en-US" dirty="0"/>
                  <a:t>计算收敛时的</a:t>
                </a:r>
                <a14:m>
                  <m:oMath xmlns:m="http://schemas.openxmlformats.org/officeDocument/2006/math">
                    <m:r>
                      <a:rPr lang="en-US" altLang="zh-CN" i="1" dirty="0" smtClean="0">
                        <a:latin typeface="Cambria Math" charset="0"/>
                      </a:rPr>
                      <m:t>𝑝</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35977" y="927464"/>
                <a:ext cx="4950823" cy="2194559"/>
              </a:xfrm>
              <a:blipFill rotWithShape="0">
                <a:blip r:embed="rId3"/>
                <a:stretch>
                  <a:fillRect l="-1108"/>
                </a:stretch>
              </a:blipFill>
            </p:spPr>
            <p:txBody>
              <a:bodyPr/>
              <a:lstStyle/>
              <a:p>
                <a:r>
                  <a:rPr lang="en-US">
                    <a:noFill/>
                  </a:rPr>
                  <a:t> </a:t>
                </a:r>
              </a:p>
            </p:txBody>
          </p:sp>
        </mc:Fallback>
      </mc:AlternateContent>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816829" y="1345475"/>
            <a:ext cx="2642828" cy="273140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3607094" y="3122023"/>
                <a:ext cx="4799775"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en-US" altLang="zh-CN" sz="2000" b="0" i="1" smtClean="0">
                          <a:latin typeface="Cambria Math" charset="0"/>
                        </a:rPr>
                        <m:t>+</m:t>
                      </m:r>
                      <m:r>
                        <a:rPr lang="en-US" altLang="zh-CN" sz="2000" b="0" i="1" smtClean="0">
                          <a:latin typeface="Cambria Math" charset="0"/>
                        </a:rPr>
                        <m:t>𝛼</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f>
                        <m:fPr>
                          <m:ctrlPr>
                            <a:rPr lang="mr-IN" altLang="zh-CN" sz="2000" i="1">
                              <a:latin typeface="Cambria Math" charset="0"/>
                            </a:rPr>
                          </m:ctrlPr>
                        </m:fPr>
                        <m:num>
                          <m:r>
                            <a:rPr lang="en-US" altLang="zh-CN" sz="2000" i="1">
                              <a:latin typeface="Cambria Math" charset="0"/>
                            </a:rPr>
                            <m:t>1−</m:t>
                          </m:r>
                          <m:r>
                            <a:rPr lang="en-US" altLang="zh-CN" sz="2000" i="1">
                              <a:latin typeface="Cambria Math" charset="0"/>
                            </a:rPr>
                            <m:t>𝛼</m:t>
                          </m:r>
                        </m:num>
                        <m:den>
                          <m:r>
                            <a:rPr lang="en-US" altLang="zh-CN" sz="2000" i="1">
                              <a:latin typeface="Cambria Math" charset="0"/>
                            </a:rPr>
                            <m:t>𝑛</m:t>
                          </m:r>
                        </m:den>
                      </m:f>
                      <m:r>
                        <a:rPr lang="en-US" altLang="zh-CN" sz="2000" i="1">
                          <a:latin typeface="Cambria Math" charset="0"/>
                        </a:rPr>
                        <m:t>+</m:t>
                      </m:r>
                      <m:r>
                        <a:rPr lang="en-US" altLang="zh-CN" sz="2000" i="1">
                          <a:latin typeface="Cambria Math" charset="0"/>
                        </a:rPr>
                        <m:t>𝛼</m:t>
                      </m:r>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3607094" y="3122023"/>
                <a:ext cx="4799775" cy="87511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607094" y="4315823"/>
                <a:ext cx="4948149" cy="436210"/>
              </a:xfrm>
              <a:prstGeom prst="rect">
                <a:avLst/>
              </a:prstGeom>
              <a:noFill/>
            </p:spPr>
            <p:txBody>
              <a:bodyPr wrap="none" lIns="0" tIns="0" rIns="0" bIns="0" rtlCol="0">
                <a:spAutoFit/>
              </a:bodyPr>
              <a:lstStyle/>
              <a:p>
                <a14:m>
                  <m:oMath xmlns:m="http://schemas.openxmlformats.org/officeDocument/2006/math">
                    <m:r>
                      <a:rPr lang="en-US" altLang="zh-CN" sz="2000" b="0" i="1" smtClean="0">
                        <a:latin typeface="Cambria Math" charset="0"/>
                      </a:rPr>
                      <m:t>𝑝</m:t>
                    </m:r>
                    <m:r>
                      <a:rPr lang="en-US" altLang="zh-CN" sz="2000" b="0" i="1" smtClean="0">
                        <a:latin typeface="Cambria Math" charset="0"/>
                      </a:rPr>
                      <m:t>=</m:t>
                    </m:r>
                    <m:r>
                      <a:rPr lang="en-US" altLang="zh-CN" sz="2000" b="0" i="1" smtClean="0">
                        <a:latin typeface="Cambria Math" charset="0"/>
                      </a:rPr>
                      <m:t>𝛼</m:t>
                    </m:r>
                    <m:r>
                      <a:rPr lang="zh-CN" altLang="en-US" sz="2000" b="1" i="1" smtClean="0">
                        <a:latin typeface="Cambria Math" charset="0"/>
                      </a:rPr>
                      <m:t> </m:t>
                    </m:r>
                    <m:r>
                      <a:rPr lang="en-US" altLang="zh-CN" sz="2000" b="1" i="1" smtClean="0">
                        <a:latin typeface="Cambria Math" charset="0"/>
                      </a:rPr>
                      <m:t>𝒑𝑳</m:t>
                    </m:r>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zh-CN" altLang="en-US" sz="2000" b="1" i="1" smtClean="0">
                        <a:latin typeface="Cambria Math" charset="0"/>
                      </a:rPr>
                      <m:t> </m:t>
                    </m:r>
                    <m:r>
                      <a:rPr lang="en-US" altLang="zh-CN" sz="2000" b="1" i="1" smtClean="0">
                        <a:latin typeface="Cambria Math" charset="0"/>
                      </a:rPr>
                      <m:t>𝒑𝑬</m:t>
                    </m:r>
                  </m:oMath>
                </a14:m>
                <a:r>
                  <a:rPr lang="en-US" altLang="zh-CN" sz="2000" b="1" dirty="0"/>
                  <a:t>,</a:t>
                </a:r>
                <a:r>
                  <a:rPr lang="zh-CN" altLang="en-US" sz="2000" b="1" dirty="0"/>
                  <a:t> </a:t>
                </a:r>
                <a14:m>
                  <m:oMath xmlns:m="http://schemas.openxmlformats.org/officeDocument/2006/math">
                    <m:r>
                      <a:rPr lang="en-US" sz="2000" i="1" dirty="0" smtClean="0">
                        <a:latin typeface="Cambria Math" charset="0"/>
                      </a:rPr>
                      <m:t>𝐸</m:t>
                    </m:r>
                  </m:oMath>
                </a14:m>
                <a:r>
                  <a:rPr lang="en-US" sz="2000" dirty="0"/>
                  <a:t> is the n × n matrix of 1s </a:t>
                </a:r>
              </a:p>
            </p:txBody>
          </p:sp>
        </mc:Choice>
        <mc:Fallback xmlns="">
          <p:sp>
            <p:nvSpPr>
              <p:cNvPr id="6" name="TextBox 5"/>
              <p:cNvSpPr txBox="1">
                <a:spLocks noRot="1" noChangeAspect="1" noMove="1" noResize="1" noEditPoints="1" noAdjustHandles="1" noChangeArrowheads="1" noChangeShapeType="1" noTextEdit="1"/>
              </p:cNvSpPr>
              <p:nvPr/>
            </p:nvSpPr>
            <p:spPr>
              <a:xfrm>
                <a:off x="3607094" y="4315823"/>
                <a:ext cx="4948149" cy="436210"/>
              </a:xfrm>
              <a:prstGeom prst="rect">
                <a:avLst/>
              </a:prstGeom>
              <a:blipFill rotWithShape="0">
                <a:blip r:embed="rId6"/>
                <a:stretch>
                  <a:fillRect l="-1850" t="-86111" r="-2219" b="-109722"/>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xmlns="" id="{064C1F25-F825-384D-9E30-04411ED7CC6D}"/>
              </a:ext>
            </a:extLst>
          </p:cNvPr>
          <p:cNvSpPr>
            <a:spLocks noGrp="1"/>
          </p:cNvSpPr>
          <p:nvPr>
            <p:ph type="sldNum" sz="quarter" idx="12"/>
          </p:nvPr>
        </p:nvSpPr>
        <p:spPr/>
        <p:txBody>
          <a:bodyPr/>
          <a:lstStyle/>
          <a:p>
            <a:fld id="{E1BEBC7A-FD02-486B-81B5-A845787C689C}" type="slidenum">
              <a:rPr lang="zh-CN" altLang="en-US" smtClean="0"/>
              <a:t>34</a:t>
            </a:fld>
            <a:endParaRPr lang="zh-CN" altLang="en-US"/>
          </a:p>
        </p:txBody>
      </p:sp>
    </p:spTree>
    <p:extLst>
      <p:ext uri="{BB962C8B-B14F-4D97-AF65-F5344CB8AC3E}">
        <p14:creationId xmlns:p14="http://schemas.microsoft.com/office/powerpoint/2010/main" val="597585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练习题</a:t>
            </a:r>
            <a:endParaRPr lang="en-US" dirty="0"/>
          </a:p>
        </p:txBody>
      </p:sp>
      <p:sp>
        <p:nvSpPr>
          <p:cNvPr id="6" name="Slide Number Placeholder 5">
            <a:extLst>
              <a:ext uri="{FF2B5EF4-FFF2-40B4-BE49-F238E27FC236}">
                <a16:creationId xmlns:a16="http://schemas.microsoft.com/office/drawing/2014/main" xmlns="" id="{6AF609D2-78B8-2042-AE98-6B86C013DA0B}"/>
              </a:ext>
            </a:extLst>
          </p:cNvPr>
          <p:cNvSpPr>
            <a:spLocks noGrp="1"/>
          </p:cNvSpPr>
          <p:nvPr>
            <p:ph type="sldNum" sz="quarter" idx="12"/>
          </p:nvPr>
        </p:nvSpPr>
        <p:spPr/>
        <p:txBody>
          <a:bodyPr/>
          <a:lstStyle/>
          <a:p>
            <a:fld id="{E1BEBC7A-FD02-486B-81B5-A845787C689C}" type="slidenum">
              <a:rPr lang="zh-CN" altLang="en-US" smtClean="0"/>
              <a:t>35</a:t>
            </a:fld>
            <a:endParaRPr lang="zh-CN" altLang="en-US"/>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xmlns="" id="{C213FC34-276D-9C5B-5232-51D5327EE15B}"/>
                  </a:ext>
                </a:extLst>
              </p:cNvPr>
              <p:cNvSpPr>
                <a:spLocks noGrp="1"/>
              </p:cNvSpPr>
              <p:nvPr>
                <p:ph idx="1"/>
              </p:nvPr>
            </p:nvSpPr>
            <p:spPr>
              <a:xfrm>
                <a:off x="457200" y="819150"/>
                <a:ext cx="4732808" cy="3937000"/>
              </a:xfrm>
            </p:spPr>
            <p:txBody>
              <a:bodyPr>
                <a:noAutofit/>
              </a:bodyPr>
              <a:lstStyle/>
              <a:p>
                <a:pPr>
                  <a:spcBef>
                    <a:spcPts val="0"/>
                  </a:spcBef>
                  <a:spcAft>
                    <a:spcPts val="600"/>
                  </a:spcAft>
                </a:pPr>
                <a:r>
                  <a:rPr lang="en-US" sz="1400" dirty="0"/>
                  <a:t>PageRank</a:t>
                </a:r>
                <a:r>
                  <a:rPr lang="zh-CN" altLang="en-US" sz="1400" dirty="0"/>
                  <a:t>算法是一种迭代算法。在每轮迭代中，每个顶点的</a:t>
                </a:r>
                <a:r>
                  <a:rPr lang="en-US" sz="1400" dirty="0"/>
                  <a:t>PageRank</a:t>
                </a:r>
                <a:r>
                  <a:rPr lang="zh-CN" altLang="en-US" sz="1400" dirty="0"/>
                  <a:t>值，根据其他顶点的</a:t>
                </a:r>
                <a:r>
                  <a:rPr lang="en-US" sz="1400" dirty="0"/>
                  <a:t>PageRank</a:t>
                </a:r>
                <a:r>
                  <a:rPr lang="zh-CN" altLang="en-US" sz="1400" dirty="0"/>
                  <a:t>值进行更新，直到收敛。顶点</a:t>
                </a:r>
                <a:r>
                  <a:rPr lang="en-US" sz="1400" dirty="0"/>
                  <a:t>PageRank</a:t>
                </a:r>
                <a:r>
                  <a:rPr lang="zh-CN" altLang="en-US" sz="1400" dirty="0"/>
                  <a:t>更新的原理是：指向本顶点的若干顶点的</a:t>
                </a:r>
                <a:r>
                  <a:rPr lang="en-US" sz="1400" dirty="0"/>
                  <a:t>PageRank</a:t>
                </a:r>
                <a:r>
                  <a:rPr lang="zh-CN" altLang="en-US" sz="1400" dirty="0"/>
                  <a:t>值取其一定比例，累加起来，就是本顶点新的</a:t>
                </a:r>
                <a:r>
                  <a:rPr lang="en-US" sz="1400" dirty="0"/>
                  <a:t>PageRank</a:t>
                </a:r>
                <a:r>
                  <a:rPr lang="zh-CN" altLang="en-US" sz="1400" dirty="0"/>
                  <a:t>值。此外，在</a:t>
                </a:r>
                <a:r>
                  <a:rPr lang="en-US" sz="1400" dirty="0"/>
                  <a:t>PageRank</a:t>
                </a:r>
                <a:r>
                  <a:rPr lang="zh-CN" altLang="en-US" sz="1400" dirty="0"/>
                  <a:t>的迭代中还会考虑阻尼参数（</a:t>
                </a:r>
                <a:r>
                  <a:rPr lang="en-US" sz="1400" dirty="0"/>
                  <a:t>Damping parameter</a:t>
                </a:r>
                <a:r>
                  <a:rPr lang="zh-CN" altLang="en-US" sz="1400" dirty="0"/>
                  <a:t>）</a:t>
                </a:r>
                <a14:m>
                  <m:oMath xmlns:m="http://schemas.openxmlformats.org/officeDocument/2006/math">
                    <m:r>
                      <a:rPr lang="en-US" sz="1400" i="1">
                        <a:latin typeface="Cambria Math" charset="0"/>
                      </a:rPr>
                      <m:t>𝛼</m:t>
                    </m:r>
                  </m:oMath>
                </a14:m>
                <a:r>
                  <a:rPr lang="zh-CN" altLang="en-US" sz="1400" dirty="0"/>
                  <a:t>。综合这两个因素，</a:t>
                </a:r>
                <a:r>
                  <a:rPr lang="en-US" sz="1400" dirty="0"/>
                  <a:t>PageRank</a:t>
                </a:r>
                <a:r>
                  <a:rPr lang="zh-CN" altLang="en-US" sz="1400" dirty="0"/>
                  <a:t>的迭代公式为：</a:t>
                </a:r>
                <a:endParaRPr lang="x-none" sz="1400" dirty="0"/>
              </a:p>
              <a:p>
                <a:pPr marL="0" indent="0" algn="ctr">
                  <a:spcBef>
                    <a:spcPts val="0"/>
                  </a:spcBef>
                  <a:spcAft>
                    <a:spcPts val="600"/>
                  </a:spcAft>
                  <a:buNone/>
                </a:pPr>
                <a14:m>
                  <m:oMath xmlns:m="http://schemas.openxmlformats.org/officeDocument/2006/math">
                    <m:sSup>
                      <m:sSupPr>
                        <m:ctrlPr>
                          <a:rPr lang="x-none" sz="1400" b="1" i="1">
                            <a:latin typeface="Cambria Math" charset="0"/>
                          </a:rPr>
                        </m:ctrlPr>
                      </m:sSupPr>
                      <m:e>
                        <m:r>
                          <a:rPr lang="en-US" sz="1400" b="1" i="1">
                            <a:latin typeface="Cambria Math" charset="0"/>
                          </a:rPr>
                          <m:t>𝒑</m:t>
                        </m:r>
                      </m:e>
                      <m:sup>
                        <m:r>
                          <a:rPr lang="en-US" sz="1400" i="1">
                            <a:latin typeface="Cambria Math" charset="0"/>
                          </a:rPr>
                          <m:t>𝑡</m:t>
                        </m:r>
                        <m:r>
                          <a:rPr lang="en-US" sz="1400" i="1">
                            <a:latin typeface="Cambria Math" charset="0"/>
                          </a:rPr>
                          <m:t>+1</m:t>
                        </m:r>
                      </m:sup>
                    </m:sSup>
                    <m:r>
                      <a:rPr lang="en-US" sz="1400" i="1">
                        <a:latin typeface="Cambria Math" charset="0"/>
                      </a:rPr>
                      <m:t>=</m:t>
                    </m:r>
                    <m:r>
                      <a:rPr lang="en-US" sz="1400" i="1">
                        <a:latin typeface="Cambria Math" charset="0"/>
                      </a:rPr>
                      <m:t>𝛼</m:t>
                    </m:r>
                    <m:r>
                      <a:rPr lang="en-US" sz="1400" b="1" i="1">
                        <a:latin typeface="Cambria Math" charset="0"/>
                      </a:rPr>
                      <m:t> </m:t>
                    </m:r>
                    <m:sSup>
                      <m:sSupPr>
                        <m:ctrlPr>
                          <a:rPr lang="x-none" sz="1400" b="1" i="1">
                            <a:latin typeface="Cambria Math" charset="0"/>
                          </a:rPr>
                        </m:ctrlPr>
                      </m:sSupPr>
                      <m:e>
                        <m:r>
                          <a:rPr lang="en-US" sz="1400" b="1" i="1">
                            <a:latin typeface="Cambria Math" charset="0"/>
                          </a:rPr>
                          <m:t>𝒑</m:t>
                        </m:r>
                      </m:e>
                      <m:sup>
                        <m:r>
                          <a:rPr lang="en-US" sz="1400" i="1">
                            <a:latin typeface="Cambria Math" charset="0"/>
                          </a:rPr>
                          <m:t>𝑡</m:t>
                        </m:r>
                      </m:sup>
                    </m:sSup>
                    <m:r>
                      <a:rPr lang="en-US" sz="1400" b="1" i="1">
                        <a:latin typeface="Cambria Math" charset="0"/>
                      </a:rPr>
                      <m:t>𝑳</m:t>
                    </m:r>
                    <m:r>
                      <a:rPr lang="en-US" sz="1400" i="1">
                        <a:latin typeface="Cambria Math" charset="0"/>
                      </a:rPr>
                      <m:t>+</m:t>
                    </m:r>
                    <m:f>
                      <m:fPr>
                        <m:ctrlPr>
                          <a:rPr lang="x-none" sz="1400" i="1">
                            <a:latin typeface="Cambria Math" charset="0"/>
                          </a:rPr>
                        </m:ctrlPr>
                      </m:fPr>
                      <m:num>
                        <m:r>
                          <a:rPr lang="en-US" sz="1400" i="1">
                            <a:latin typeface="Cambria Math" charset="0"/>
                          </a:rPr>
                          <m:t>1−</m:t>
                        </m:r>
                        <m:r>
                          <a:rPr lang="en-US" sz="1400" i="1">
                            <a:latin typeface="Cambria Math" charset="0"/>
                          </a:rPr>
                          <m:t>𝛼</m:t>
                        </m:r>
                      </m:num>
                      <m:den>
                        <m:r>
                          <a:rPr lang="en-US" sz="1400" i="1">
                            <a:latin typeface="Cambria Math" charset="0"/>
                          </a:rPr>
                          <m:t>𝑛</m:t>
                        </m:r>
                      </m:den>
                    </m:f>
                    <m:r>
                      <a:rPr lang="en-US" sz="1400" b="1" i="1">
                        <a:latin typeface="Cambria Math" charset="0"/>
                      </a:rPr>
                      <m:t> </m:t>
                    </m:r>
                    <m:sSup>
                      <m:sSupPr>
                        <m:ctrlPr>
                          <a:rPr lang="x-none" sz="1400" b="1" i="1">
                            <a:latin typeface="Cambria Math" charset="0"/>
                          </a:rPr>
                        </m:ctrlPr>
                      </m:sSupPr>
                      <m:e>
                        <m:r>
                          <a:rPr lang="en-US" sz="1400" b="1" i="1">
                            <a:latin typeface="Cambria Math" charset="0"/>
                          </a:rPr>
                          <m:t>𝒑</m:t>
                        </m:r>
                      </m:e>
                      <m:sup>
                        <m:r>
                          <a:rPr lang="en-US" sz="1400" i="1">
                            <a:latin typeface="Cambria Math" charset="0"/>
                          </a:rPr>
                          <m:t>𝑡</m:t>
                        </m:r>
                      </m:sup>
                    </m:sSup>
                    <m:r>
                      <a:rPr lang="en-US" sz="1400" b="1" i="1">
                        <a:latin typeface="Cambria Math" charset="0"/>
                      </a:rPr>
                      <m:t>𝑬</m:t>
                    </m:r>
                  </m:oMath>
                </a14:m>
                <a:r>
                  <a:rPr lang="zh-CN" altLang="en-US" sz="1400" b="1" dirty="0"/>
                  <a:t>，</a:t>
                </a:r>
                <a:endParaRPr lang="en-US" altLang="zh-CN" sz="1400" b="1" dirty="0"/>
              </a:p>
              <a:p>
                <a:pPr>
                  <a:spcBef>
                    <a:spcPts val="0"/>
                  </a:spcBef>
                  <a:spcAft>
                    <a:spcPts val="600"/>
                  </a:spcAft>
                </a:pPr>
                <a:r>
                  <a:rPr lang="zh-CN" altLang="en-US" sz="1400" dirty="0"/>
                  <a:t>其中</a:t>
                </a:r>
                <a14:m>
                  <m:oMath xmlns:m="http://schemas.openxmlformats.org/officeDocument/2006/math">
                    <m:r>
                      <a:rPr lang="en-US" sz="1400" b="1" i="1">
                        <a:latin typeface="Cambria Math" charset="0"/>
                      </a:rPr>
                      <m:t>𝑳</m:t>
                    </m:r>
                  </m:oMath>
                </a14:m>
                <a:r>
                  <a:rPr lang="zh-CN" altLang="en-US" sz="1400" dirty="0"/>
                  <a:t>为按照顶点出度规范化后的邻接矩阵，</a:t>
                </a:r>
                <a14:m>
                  <m:oMath xmlns:m="http://schemas.openxmlformats.org/officeDocument/2006/math">
                    <m:r>
                      <a:rPr lang="en-US" sz="1400" b="1" i="1">
                        <a:latin typeface="Cambria Math" charset="0"/>
                      </a:rPr>
                      <m:t>𝑬</m:t>
                    </m:r>
                  </m:oMath>
                </a14:m>
                <a:r>
                  <a:rPr lang="zh-CN" altLang="en-US" sz="1400" dirty="0"/>
                  <a:t>为所有元素均为</a:t>
                </a:r>
                <a:r>
                  <a:rPr lang="en-US" sz="1400" dirty="0"/>
                  <a:t>1</a:t>
                </a:r>
                <a:r>
                  <a:rPr lang="zh-CN" altLang="en-US" sz="1400" dirty="0"/>
                  <a:t>的矩阵，</a:t>
                </a:r>
                <a14:m>
                  <m:oMath xmlns:m="http://schemas.openxmlformats.org/officeDocument/2006/math">
                    <m:sSup>
                      <m:sSupPr>
                        <m:ctrlPr>
                          <a:rPr lang="x-none" sz="1400" b="1" i="1">
                            <a:latin typeface="Cambria Math" charset="0"/>
                          </a:rPr>
                        </m:ctrlPr>
                      </m:sSupPr>
                      <m:e>
                        <m:r>
                          <a:rPr lang="en-US" sz="1400" b="1" i="1">
                            <a:latin typeface="Cambria Math" charset="0"/>
                          </a:rPr>
                          <m:t>𝒑</m:t>
                        </m:r>
                      </m:e>
                      <m:sup>
                        <m:r>
                          <a:rPr lang="en-US" sz="1400" i="1">
                            <a:latin typeface="Cambria Math" charset="0"/>
                          </a:rPr>
                          <m:t>𝑡</m:t>
                        </m:r>
                      </m:sup>
                    </m:sSup>
                  </m:oMath>
                </a14:m>
                <a:r>
                  <a:rPr lang="zh-CN" altLang="en-US" sz="1400" dirty="0"/>
                  <a:t>为所有顶点第</a:t>
                </a:r>
                <a14:m>
                  <m:oMath xmlns:m="http://schemas.openxmlformats.org/officeDocument/2006/math">
                    <m:r>
                      <a:rPr lang="en-US" sz="1400" i="1">
                        <a:latin typeface="Cambria Math" charset="0"/>
                      </a:rPr>
                      <m:t>𝑡</m:t>
                    </m:r>
                  </m:oMath>
                </a14:m>
                <a:r>
                  <a:rPr lang="zh-CN" altLang="en-US" sz="1400" dirty="0"/>
                  <a:t>次迭代的</a:t>
                </a:r>
                <a:r>
                  <a:rPr lang="en-US" sz="1400" dirty="0"/>
                  <a:t>PageRank</a:t>
                </a:r>
                <a:r>
                  <a:rPr lang="zh-CN" altLang="en-US" sz="1400" dirty="0"/>
                  <a:t>值，</a:t>
                </a:r>
                <a14:m>
                  <m:oMath xmlns:m="http://schemas.openxmlformats.org/officeDocument/2006/math">
                    <m:r>
                      <a:rPr lang="en-US" sz="1400" i="1">
                        <a:latin typeface="Cambria Math" charset="0"/>
                      </a:rPr>
                      <m:t>𝑛</m:t>
                    </m:r>
                  </m:oMath>
                </a14:m>
                <a:r>
                  <a:rPr lang="zh-CN" altLang="en-US" sz="1400" dirty="0"/>
                  <a:t>为图中顶点的个数。</a:t>
                </a:r>
                <a:endParaRPr lang="x-none" sz="1400" dirty="0"/>
              </a:p>
              <a:p>
                <a:pPr>
                  <a:spcBef>
                    <a:spcPts val="0"/>
                  </a:spcBef>
                  <a:spcAft>
                    <a:spcPts val="600"/>
                  </a:spcAft>
                </a:pPr>
                <a:r>
                  <a:rPr lang="zh-CN" altLang="en-US" sz="1400" dirty="0"/>
                  <a:t>考虑下面的一个有向图，进行阻尼参数</a:t>
                </a:r>
                <a14:m>
                  <m:oMath xmlns:m="http://schemas.openxmlformats.org/officeDocument/2006/math">
                    <m:r>
                      <a:rPr lang="en-US" sz="1400" i="1">
                        <a:latin typeface="Cambria Math" charset="0"/>
                      </a:rPr>
                      <m:t>𝛼</m:t>
                    </m:r>
                    <m:r>
                      <a:rPr lang="en-US" sz="1400" i="1">
                        <a:latin typeface="Cambria Math" charset="0"/>
                      </a:rPr>
                      <m:t>=0.75</m:t>
                    </m:r>
                  </m:oMath>
                </a14:m>
                <a:r>
                  <a:rPr lang="en-US" sz="1400" dirty="0"/>
                  <a:t> </a:t>
                </a:r>
                <a:r>
                  <a:rPr lang="zh-CN" altLang="en-US" sz="1400" dirty="0"/>
                  <a:t>的</a:t>
                </a:r>
                <a:r>
                  <a:rPr lang="en-US" sz="1400" dirty="0"/>
                  <a:t>PageRank</a:t>
                </a:r>
                <a:r>
                  <a:rPr lang="zh-CN" altLang="en-US" sz="1400" dirty="0"/>
                  <a:t>计算。已知在某轮迭代后，顶点</a:t>
                </a:r>
                <a:r>
                  <a:rPr lang="en-US" sz="1400" dirty="0"/>
                  <a:t>A</a:t>
                </a:r>
                <a:r>
                  <a:rPr lang="zh-CN" altLang="en-US" sz="1400" dirty="0"/>
                  <a:t>至</a:t>
                </a:r>
                <a:r>
                  <a:rPr lang="en-US" sz="1400" dirty="0"/>
                  <a:t>E</a:t>
                </a:r>
                <a:r>
                  <a:rPr lang="zh-CN" altLang="en-US" sz="1400" dirty="0"/>
                  <a:t>的</a:t>
                </a:r>
                <a:r>
                  <a:rPr lang="en-US" sz="1400" dirty="0"/>
                  <a:t>PageRank</a:t>
                </a:r>
                <a:r>
                  <a:rPr lang="zh-CN" altLang="en-US" sz="1400" dirty="0"/>
                  <a:t>值为</a:t>
                </a:r>
                <a14:m>
                  <m:oMath xmlns:m="http://schemas.openxmlformats.org/officeDocument/2006/math">
                    <m:sSup>
                      <m:sSupPr>
                        <m:ctrlPr>
                          <a:rPr lang="x-none" sz="1400" i="1">
                            <a:latin typeface="Cambria Math" charset="0"/>
                          </a:rPr>
                        </m:ctrlPr>
                      </m:sSupPr>
                      <m:e>
                        <m:r>
                          <a:rPr lang="en-US" sz="1400" b="1" i="1">
                            <a:latin typeface="Cambria Math" charset="0"/>
                          </a:rPr>
                          <m:t>𝒑</m:t>
                        </m:r>
                      </m:e>
                      <m:sup>
                        <m:r>
                          <a:rPr lang="en-US" sz="1400" i="1">
                            <a:latin typeface="Cambria Math" charset="0"/>
                          </a:rPr>
                          <m:t>𝑡</m:t>
                        </m:r>
                      </m:sup>
                    </m:sSup>
                  </m:oMath>
                </a14:m>
                <a:r>
                  <a:rPr lang="en-US" sz="1400" dirty="0"/>
                  <a:t>=[0.2, 0.275, 0.05, 0.2, 0.275]</a:t>
                </a:r>
                <a:r>
                  <a:rPr lang="zh-CN" altLang="en-US" sz="1400" dirty="0"/>
                  <a:t>。</a:t>
                </a:r>
                <a:endParaRPr lang="x-none" sz="1400" dirty="0"/>
              </a:p>
            </p:txBody>
          </p:sp>
        </mc:Choice>
        <mc:Fallback xmlns="">
          <p:sp>
            <p:nvSpPr>
              <p:cNvPr id="8" name="Content Placeholder 7">
                <a:extLst>
                  <a:ext uri="{FF2B5EF4-FFF2-40B4-BE49-F238E27FC236}">
                    <a16:creationId xmlns:a16="http://schemas.microsoft.com/office/drawing/2014/main" id="{C213FC34-276D-9C5B-5232-51D5327EE15B}"/>
                  </a:ext>
                </a:extLst>
              </p:cNvPr>
              <p:cNvSpPr>
                <a:spLocks noGrp="1" noRot="1" noChangeAspect="1" noMove="1" noResize="1" noEditPoints="1" noAdjustHandles="1" noChangeArrowheads="1" noChangeShapeType="1" noTextEdit="1"/>
              </p:cNvSpPr>
              <p:nvPr>
                <p:ph idx="1"/>
              </p:nvPr>
            </p:nvSpPr>
            <p:spPr>
              <a:xfrm>
                <a:off x="457200" y="819150"/>
                <a:ext cx="4732808" cy="3937000"/>
              </a:xfrm>
              <a:blipFill>
                <a:blip r:embed="rId2"/>
                <a:stretch>
                  <a:fillRect l="-268" t="-322" r="-536"/>
                </a:stretch>
              </a:blipFill>
            </p:spPr>
            <p:txBody>
              <a:bodyPr/>
              <a:lstStyle/>
              <a:p>
                <a:r>
                  <a:rPr lang="en-CN">
                    <a:noFill/>
                  </a:rPr>
                  <a:t> </a:t>
                </a:r>
              </a:p>
            </p:txBody>
          </p:sp>
        </mc:Fallback>
      </mc:AlternateContent>
      <p:pic>
        <p:nvPicPr>
          <p:cNvPr id="10" name="Picture 9">
            <a:extLst>
              <a:ext uri="{FF2B5EF4-FFF2-40B4-BE49-F238E27FC236}">
                <a16:creationId xmlns:a16="http://schemas.microsoft.com/office/drawing/2014/main" xmlns="" id="{68EC2A58-FA6D-BC58-7F0D-3BC9B908A622}"/>
              </a:ext>
            </a:extLst>
          </p:cNvPr>
          <p:cNvPicPr>
            <a:picLocks noChangeAspect="1"/>
          </p:cNvPicPr>
          <p:nvPr/>
        </p:nvPicPr>
        <p:blipFill>
          <a:blip r:embed="rId3"/>
          <a:stretch>
            <a:fillRect/>
          </a:stretch>
        </p:blipFill>
        <p:spPr>
          <a:xfrm>
            <a:off x="5459350" y="661194"/>
            <a:ext cx="3005734" cy="1879907"/>
          </a:xfrm>
          <a:prstGeom prst="rect">
            <a:avLst/>
          </a:prstGeom>
        </p:spPr>
      </p:pic>
      <mc:AlternateContent xmlns:mc="http://schemas.openxmlformats.org/markup-compatibility/2006" xmlns:a14="http://schemas.microsoft.com/office/drawing/2010/main">
        <mc:Choice Requires="a14">
          <p:sp>
            <p:nvSpPr>
              <p:cNvPr id="11" name="Content Placeholder 7">
                <a:extLst>
                  <a:ext uri="{FF2B5EF4-FFF2-40B4-BE49-F238E27FC236}">
                    <a16:creationId xmlns:a16="http://schemas.microsoft.com/office/drawing/2014/main" xmlns="" id="{FAFFE14F-776D-300E-0228-E6211E206FF5}"/>
                  </a:ext>
                </a:extLst>
              </p:cNvPr>
              <p:cNvSpPr txBox="1">
                <a:spLocks/>
              </p:cNvSpPr>
              <p:nvPr/>
            </p:nvSpPr>
            <p:spPr>
              <a:xfrm>
                <a:off x="5070190" y="2794745"/>
                <a:ext cx="4017054" cy="168756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400" dirty="0"/>
                  <a:t>请给出顶点</a:t>
                </a:r>
                <a:r>
                  <a:rPr lang="en-US" sz="1400" dirty="0"/>
                  <a:t>A</a:t>
                </a:r>
                <a:r>
                  <a:rPr lang="zh-CN" altLang="en-US" sz="1400" dirty="0"/>
                  <a:t>至</a:t>
                </a:r>
                <a:r>
                  <a:rPr lang="en-US" sz="1400" dirty="0"/>
                  <a:t>E</a:t>
                </a:r>
                <a:r>
                  <a:rPr lang="zh-CN" altLang="en-US" sz="1400" dirty="0"/>
                  <a:t>在</a:t>
                </a:r>
                <a:r>
                  <a:rPr lang="zh-CN" altLang="en-US" sz="1400" b="1" dirty="0"/>
                  <a:t>上一轮</a:t>
                </a:r>
                <a:r>
                  <a:rPr lang="zh-CN" altLang="en-US" sz="1400" dirty="0"/>
                  <a:t>迭代的</a:t>
                </a:r>
                <a:r>
                  <a:rPr lang="en-US" sz="1400" dirty="0"/>
                  <a:t>PageRank</a:t>
                </a:r>
                <a:r>
                  <a:rPr lang="zh-CN" altLang="en-US" sz="1400" dirty="0"/>
                  <a:t>值，即</a:t>
                </a:r>
                <a14:m>
                  <m:oMath xmlns:m="http://schemas.openxmlformats.org/officeDocument/2006/math">
                    <m:sSup>
                      <m:sSupPr>
                        <m:ctrlPr>
                          <a:rPr lang="x-none" sz="1400" i="1">
                            <a:latin typeface="Cambria Math" charset="0"/>
                          </a:rPr>
                        </m:ctrlPr>
                      </m:sSupPr>
                      <m:e>
                        <m:r>
                          <a:rPr lang="en-US" sz="1400" b="1" i="1">
                            <a:latin typeface="Cambria Math" charset="0"/>
                          </a:rPr>
                          <m:t>𝒑</m:t>
                        </m:r>
                      </m:e>
                      <m:sup>
                        <m:r>
                          <a:rPr lang="en-US" sz="1400" i="1">
                            <a:latin typeface="Cambria Math" charset="0"/>
                          </a:rPr>
                          <m:t>𝑡</m:t>
                        </m:r>
                        <m:r>
                          <a:rPr lang="en-US" sz="1400" i="1">
                            <a:latin typeface="Cambria Math" charset="0"/>
                          </a:rPr>
                          <m:t>−1</m:t>
                        </m:r>
                      </m:sup>
                    </m:sSup>
                  </m:oMath>
                </a14:m>
                <a:r>
                  <a:rPr lang="zh-CN" altLang="en-US" sz="1400" dirty="0"/>
                  <a:t>，并给出计算的过程。提示：可以按照</a:t>
                </a:r>
                <a:r>
                  <a:rPr lang="en-US" sz="1400" dirty="0"/>
                  <a:t>PageRank</a:t>
                </a:r>
                <a:r>
                  <a:rPr lang="zh-CN" altLang="en-US" sz="1400" dirty="0"/>
                  <a:t>的基本原理推导，也可以按照</a:t>
                </a:r>
                <a:r>
                  <a:rPr lang="en-US" sz="1400" dirty="0"/>
                  <a:t>PageRank</a:t>
                </a:r>
                <a:r>
                  <a:rPr lang="zh-CN" altLang="en-US" sz="1400" dirty="0"/>
                  <a:t>的迭代公式进行运算。</a:t>
                </a:r>
                <a:endParaRPr lang="x-none" sz="1400" dirty="0"/>
              </a:p>
              <a:p>
                <a:r>
                  <a:rPr lang="zh-CN" altLang="en-US" sz="1400" dirty="0"/>
                  <a:t>根据已知的信息，是否能给出顶点</a:t>
                </a:r>
                <a:r>
                  <a:rPr lang="en-US" sz="1400" dirty="0"/>
                  <a:t>A-E</a:t>
                </a:r>
                <a:r>
                  <a:rPr lang="zh-CN" altLang="en-US" sz="1400" dirty="0"/>
                  <a:t>在初始设置时的</a:t>
                </a:r>
                <a:r>
                  <a:rPr lang="en-US" sz="1400" dirty="0"/>
                  <a:t>PageRank</a:t>
                </a:r>
                <a:r>
                  <a:rPr lang="zh-CN" altLang="en-US" sz="1400" dirty="0"/>
                  <a:t>值</a:t>
                </a:r>
                <a14:m>
                  <m:oMath xmlns:m="http://schemas.openxmlformats.org/officeDocument/2006/math">
                    <m:sSup>
                      <m:sSupPr>
                        <m:ctrlPr>
                          <a:rPr lang="x-none" sz="1400" i="1">
                            <a:latin typeface="Cambria Math" charset="0"/>
                          </a:rPr>
                        </m:ctrlPr>
                      </m:sSupPr>
                      <m:e>
                        <m:r>
                          <a:rPr lang="en-US" sz="1400" b="1" i="1">
                            <a:latin typeface="Cambria Math" charset="0"/>
                          </a:rPr>
                          <m:t>𝒑</m:t>
                        </m:r>
                      </m:e>
                      <m:sup>
                        <m:r>
                          <a:rPr lang="en-US" sz="1400" i="1">
                            <a:latin typeface="Cambria Math" charset="0"/>
                          </a:rPr>
                          <m:t>0</m:t>
                        </m:r>
                      </m:sup>
                    </m:sSup>
                  </m:oMath>
                </a14:m>
                <a:r>
                  <a:rPr lang="zh-CN" altLang="en-US" sz="1400" dirty="0"/>
                  <a:t>？如果能，请给出并说明原因；如果不能，请说明原因。</a:t>
                </a:r>
                <a:endParaRPr lang="x-none" sz="1400" dirty="0"/>
              </a:p>
            </p:txBody>
          </p:sp>
        </mc:Choice>
        <mc:Fallback xmlns="">
          <p:sp>
            <p:nvSpPr>
              <p:cNvPr id="11" name="Content Placeholder 7">
                <a:extLst>
                  <a:ext uri="{FF2B5EF4-FFF2-40B4-BE49-F238E27FC236}">
                    <a16:creationId xmlns:a16="http://schemas.microsoft.com/office/drawing/2014/main" id="{FAFFE14F-776D-300E-0228-E6211E206FF5}"/>
                  </a:ext>
                </a:extLst>
              </p:cNvPr>
              <p:cNvSpPr txBox="1">
                <a:spLocks noRot="1" noChangeAspect="1" noMove="1" noResize="1" noEditPoints="1" noAdjustHandles="1" noChangeArrowheads="1" noChangeShapeType="1" noTextEdit="1"/>
              </p:cNvSpPr>
              <p:nvPr/>
            </p:nvSpPr>
            <p:spPr>
              <a:xfrm>
                <a:off x="5070190" y="2794745"/>
                <a:ext cx="4017054" cy="1687561"/>
              </a:xfrm>
              <a:prstGeom prst="rect">
                <a:avLst/>
              </a:prstGeom>
              <a:blipFill>
                <a:blip r:embed="rId4"/>
                <a:stretch>
                  <a:fillRect l="-315" b="-746"/>
                </a:stretch>
              </a:blipFill>
            </p:spPr>
            <p:txBody>
              <a:bodyPr/>
              <a:lstStyle/>
              <a:p>
                <a:r>
                  <a:rPr lang="en-CN">
                    <a:noFill/>
                  </a:rPr>
                  <a:t> </a:t>
                </a:r>
              </a:p>
            </p:txBody>
          </p:sp>
        </mc:Fallback>
      </mc:AlternateContent>
    </p:spTree>
    <p:extLst>
      <p:ext uri="{BB962C8B-B14F-4D97-AF65-F5344CB8AC3E}">
        <p14:creationId xmlns:p14="http://schemas.microsoft.com/office/powerpoint/2010/main" val="21471721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PageRank</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影响力分析算法</a:t>
            </a:r>
            <a:endParaRPr lang="en-US" altLang="zh-CN" b="1" dirty="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b="1" dirty="0">
                <a:solidFill>
                  <a:srgbClr val="C00000"/>
                </a:solidFill>
                <a:latin typeface="微软雅黑" panose="020B0503020204020204" pitchFamily="34" charset="-122"/>
                <a:ea typeface="微软雅黑" panose="020B0503020204020204" pitchFamily="34" charset="-122"/>
              </a:rPr>
              <a:t>信息传播模型与影响力最大化</a:t>
            </a:r>
            <a:endParaRPr lang="en-US" altLang="zh-CN" b="1" dirty="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基于节点度的算法</a:t>
            </a:r>
            <a:endParaRPr lang="en-US" altLang="zh-CN" dirty="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基于最短路径的算法</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3" name="椭圆 26"/>
          <p:cNvSpPr/>
          <p:nvPr/>
        </p:nvSpPr>
        <p:spPr>
          <a:xfrm>
            <a:off x="3997236" y="36413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422276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社交影响力（</a:t>
            </a:r>
            <a:r>
              <a:rPr lang="en-US" altLang="zh-CN" dirty="0"/>
              <a:t>Social Influence</a:t>
            </a:r>
            <a:r>
              <a:rPr lang="zh-CN" altLang="en-US" dirty="0"/>
              <a:t>）</a:t>
            </a:r>
            <a:endParaRPr lang="en-US" dirty="0"/>
          </a:p>
        </p:txBody>
      </p:sp>
      <p:sp>
        <p:nvSpPr>
          <p:cNvPr id="3" name="Content Placeholder 2"/>
          <p:cNvSpPr>
            <a:spLocks noGrp="1"/>
          </p:cNvSpPr>
          <p:nvPr>
            <p:ph idx="1"/>
          </p:nvPr>
        </p:nvSpPr>
        <p:spPr/>
        <p:txBody>
          <a:bodyPr/>
          <a:lstStyle/>
          <a:p>
            <a:r>
              <a:rPr lang="en-US" dirty="0"/>
              <a:t>Social influence occurs when a person's emotions, opinions, or behaviors are affected by others</a:t>
            </a:r>
          </a:p>
          <a:p>
            <a:pPr marL="0" indent="0">
              <a:buNone/>
            </a:pPr>
            <a:r>
              <a:rPr lang="en-US" dirty="0"/>
              <a:t>                                                          </a:t>
            </a:r>
            <a:r>
              <a:rPr lang="zh-CN" altLang="en-US" dirty="0"/>
              <a:t>               </a:t>
            </a:r>
            <a:r>
              <a:rPr lang="en-US" dirty="0"/>
              <a:t> -- From</a:t>
            </a:r>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9248" b="12145"/>
          <a:stretch/>
        </p:blipFill>
        <p:spPr>
          <a:xfrm>
            <a:off x="7114197" y="1236600"/>
            <a:ext cx="1459228" cy="64521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641" y="2175748"/>
            <a:ext cx="5314784" cy="2528808"/>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4633" y="1745958"/>
            <a:ext cx="2525201" cy="1005255"/>
          </a:xfrm>
          <a:prstGeom prst="rect">
            <a:avLst/>
          </a:prstGeom>
          <a:ln>
            <a:noFill/>
          </a:ln>
          <a:effectLst>
            <a:outerShdw blurRad="190500" algn="tl" rotWithShape="0">
              <a:srgbClr val="000000">
                <a:alpha val="70000"/>
              </a:srgbClr>
            </a:outerShdw>
          </a:effectLst>
        </p:spPr>
      </p:pic>
      <p:sp>
        <p:nvSpPr>
          <p:cNvPr id="7" name="Rectangle 6"/>
          <p:cNvSpPr/>
          <p:nvPr/>
        </p:nvSpPr>
        <p:spPr>
          <a:xfrm>
            <a:off x="969383" y="3376622"/>
            <a:ext cx="1620957" cy="1046440"/>
          </a:xfrm>
          <a:prstGeom prst="rect">
            <a:avLst/>
          </a:prstGeom>
        </p:spPr>
        <p:txBody>
          <a:bodyPr wrap="none">
            <a:spAutoFit/>
          </a:bodyPr>
          <a:lstStyle/>
          <a:p>
            <a:pPr algn="ctr"/>
            <a:r>
              <a:rPr lang="zh-CN" altLang="en-US" sz="2400" dirty="0">
                <a:latin typeface="STZhongsong" charset="-122"/>
                <a:ea typeface="STZhongsong" charset="-122"/>
                <a:cs typeface="STZhongsong" charset="-122"/>
              </a:rPr>
              <a:t>主要应用</a:t>
            </a:r>
            <a:endParaRPr lang="en-US" altLang="zh-CN" sz="2400" dirty="0">
              <a:latin typeface="STZhongsong" charset="-122"/>
              <a:ea typeface="STZhongsong" charset="-122"/>
              <a:cs typeface="STZhongsong" charset="-122"/>
            </a:endParaRPr>
          </a:p>
          <a:p>
            <a:pPr algn="ctr">
              <a:spcBef>
                <a:spcPts val="1200"/>
              </a:spcBef>
            </a:pPr>
            <a:r>
              <a:rPr lang="zh-CN" altLang="en-US" sz="2800" dirty="0">
                <a:solidFill>
                  <a:srgbClr val="0000CC"/>
                </a:solidFill>
                <a:latin typeface="STZhongsong" charset="-122"/>
                <a:ea typeface="STZhongsong" charset="-122"/>
                <a:cs typeface="STZhongsong" charset="-122"/>
              </a:rPr>
              <a:t>病毒营销</a:t>
            </a:r>
            <a:endParaRPr lang="en-US" sz="2800" dirty="0">
              <a:solidFill>
                <a:srgbClr val="0000CC"/>
              </a:solidFill>
              <a:latin typeface="STZhongsong" charset="-122"/>
              <a:ea typeface="STZhongsong" charset="-122"/>
              <a:cs typeface="STZhongsong" charset="-122"/>
            </a:endParaRPr>
          </a:p>
        </p:txBody>
      </p:sp>
    </p:spTree>
    <p:extLst>
      <p:ext uri="{BB962C8B-B14F-4D97-AF65-F5344CB8AC3E}">
        <p14:creationId xmlns:p14="http://schemas.microsoft.com/office/powerpoint/2010/main" val="1600047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社交影响力（</a:t>
            </a:r>
            <a:r>
              <a:rPr lang="en-US" altLang="zh-CN" dirty="0"/>
              <a:t>Social Influence</a:t>
            </a:r>
            <a:r>
              <a:rPr lang="zh-CN" altLang="en-US" dirty="0"/>
              <a:t>）</a:t>
            </a:r>
            <a:endParaRPr lang="en-US" dirty="0"/>
          </a:p>
        </p:txBody>
      </p:sp>
      <p:sp>
        <p:nvSpPr>
          <p:cNvPr id="3" name="Content Placeholder 2"/>
          <p:cNvSpPr>
            <a:spLocks noGrp="1"/>
          </p:cNvSpPr>
          <p:nvPr>
            <p:ph idx="1"/>
          </p:nvPr>
        </p:nvSpPr>
        <p:spPr>
          <a:xfrm>
            <a:off x="457200" y="819150"/>
            <a:ext cx="8229600" cy="3937000"/>
          </a:xfrm>
        </p:spPr>
        <p:txBody>
          <a:bodyPr>
            <a:normAutofit/>
          </a:bodyPr>
          <a:lstStyle/>
          <a:p>
            <a:r>
              <a:rPr lang="zh-CN" altLang="en-US" dirty="0"/>
              <a:t>应用：谣言与虚假信息防控</a:t>
            </a:r>
            <a:endParaRPr lang="en-US" altLang="zh-CN" dirty="0"/>
          </a:p>
          <a:p>
            <a:r>
              <a:rPr lang="zh-CN" altLang="en-US" dirty="0"/>
              <a:t>披萨门事件：</a:t>
            </a:r>
            <a:endParaRPr lang="en-US" altLang="zh-CN" dirty="0"/>
          </a:p>
          <a:p>
            <a:pPr lvl="1"/>
            <a:r>
              <a:rPr lang="zh-CN" altLang="en-US" dirty="0"/>
              <a:t>维基解密泄露希拉里竞选团队主任</a:t>
            </a:r>
            <a:r>
              <a:rPr lang="en-US" altLang="zh-CN" dirty="0"/>
              <a:t>John Podesta</a:t>
            </a:r>
            <a:r>
              <a:rPr lang="zh-CN" altLang="en-US" dirty="0"/>
              <a:t>邮件</a:t>
            </a:r>
            <a:endParaRPr lang="en-US" altLang="zh-CN" dirty="0"/>
          </a:p>
          <a:p>
            <a:pPr lvl="1"/>
            <a:r>
              <a:rPr lang="zh-CN" altLang="en-US" dirty="0"/>
              <a:t>社交媒体</a:t>
            </a:r>
            <a:r>
              <a:rPr lang="en-US" altLang="zh-CN" dirty="0"/>
              <a:t>Reddit</a:t>
            </a:r>
            <a:r>
              <a:rPr lang="zh-CN" altLang="en-US" dirty="0"/>
              <a:t>用户从泄密邮件中搜罗证据，并发现有关</a:t>
            </a:r>
            <a:r>
              <a:rPr lang="en-US" altLang="zh-CN" dirty="0"/>
              <a:t>Pizza</a:t>
            </a:r>
            <a:r>
              <a:rPr lang="zh-CN" altLang="en-US" dirty="0"/>
              <a:t>、</a:t>
            </a:r>
            <a:r>
              <a:rPr lang="en-US" altLang="zh-CN" dirty="0"/>
              <a:t>Dinner</a:t>
            </a:r>
            <a:r>
              <a:rPr lang="zh-CN" altLang="en-US" dirty="0"/>
              <a:t> </a:t>
            </a:r>
            <a:r>
              <a:rPr lang="en-US" altLang="zh-CN" dirty="0"/>
              <a:t>Plan</a:t>
            </a:r>
            <a:r>
              <a:rPr lang="zh-CN" altLang="en-US" dirty="0"/>
              <a:t>的词汇</a:t>
            </a:r>
            <a:endParaRPr lang="en-US" altLang="zh-CN" dirty="0"/>
          </a:p>
          <a:p>
            <a:pPr lvl="1"/>
            <a:r>
              <a:rPr lang="zh-CN" altLang="en-US" dirty="0"/>
              <a:t>单词</a:t>
            </a:r>
            <a:r>
              <a:rPr lang="en-US" altLang="zh-CN" dirty="0"/>
              <a:t>cheese</a:t>
            </a:r>
            <a:r>
              <a:rPr lang="zh-CN" altLang="en-US" dirty="0"/>
              <a:t> </a:t>
            </a:r>
            <a:r>
              <a:rPr lang="en-US" altLang="zh-CN" dirty="0"/>
              <a:t>pizza</a:t>
            </a:r>
            <a:r>
              <a:rPr lang="zh-CN" altLang="en-US" dirty="0"/>
              <a:t>被联想为恋童</a:t>
            </a:r>
            <a:r>
              <a:rPr lang="en-US" altLang="zh-CN" dirty="0"/>
              <a:t>child</a:t>
            </a:r>
            <a:r>
              <a:rPr lang="zh-CN" altLang="en-US" dirty="0"/>
              <a:t> </a:t>
            </a:r>
            <a:r>
              <a:rPr lang="en-US" altLang="zh-CN" dirty="0"/>
              <a:t>pornography</a:t>
            </a:r>
          </a:p>
          <a:p>
            <a:pPr lvl="1"/>
            <a:r>
              <a:rPr lang="zh-CN" altLang="en-US" dirty="0"/>
              <a:t>有人通过邮件定位到一家乒乓彗星披萨店，认定民主党高层参与了娈童案</a:t>
            </a:r>
            <a:endParaRPr lang="en-US" altLang="zh-CN" dirty="0"/>
          </a:p>
          <a:p>
            <a:pPr lvl="1"/>
            <a:r>
              <a:rPr lang="zh-CN" altLang="en-US" dirty="0"/>
              <a:t>事件通过</a:t>
            </a:r>
            <a:r>
              <a:rPr lang="en-US" altLang="zh-CN" dirty="0" err="1"/>
              <a:t>PizzaGate</a:t>
            </a:r>
            <a:r>
              <a:rPr lang="zh-CN" altLang="en-US" dirty="0"/>
              <a:t>标签迅速在社交媒体上滚雪球</a:t>
            </a:r>
            <a:endParaRPr lang="en-US" altLang="zh-CN" dirty="0"/>
          </a:p>
          <a:p>
            <a:pPr lvl="1"/>
            <a:r>
              <a:rPr lang="zh-CN" altLang="en-US" dirty="0"/>
              <a:t>一位</a:t>
            </a:r>
            <a:r>
              <a:rPr lang="en-US" altLang="zh-CN" dirty="0"/>
              <a:t>28</a:t>
            </a:r>
            <a:r>
              <a:rPr lang="zh-CN" altLang="en-US" dirty="0"/>
              <a:t>岁男子来到乒乓彗星披萨店，枪击服务生未遂</a:t>
            </a:r>
            <a:endParaRPr lang="en-US" altLang="zh-CN" dirty="0"/>
          </a:p>
          <a:p>
            <a:endParaRPr lang="en-US" sz="1600" dirty="0"/>
          </a:p>
        </p:txBody>
      </p:sp>
      <p:sp>
        <p:nvSpPr>
          <p:cNvPr id="6" name="Rectangle 5"/>
          <p:cNvSpPr/>
          <p:nvPr/>
        </p:nvSpPr>
        <p:spPr>
          <a:xfrm>
            <a:off x="2427823" y="4252444"/>
            <a:ext cx="4288353" cy="400110"/>
          </a:xfrm>
          <a:prstGeom prst="rect">
            <a:avLst/>
          </a:prstGeom>
        </p:spPr>
        <p:txBody>
          <a:bodyPr wrap="none">
            <a:spAutoFit/>
          </a:bodyPr>
          <a:lstStyle/>
          <a:p>
            <a:pPr algn="ctr">
              <a:spcAft>
                <a:spcPts val="1200"/>
              </a:spcAft>
            </a:pPr>
            <a:r>
              <a:rPr lang="zh-CN" altLang="en-US" sz="2000" dirty="0">
                <a:latin typeface="Microsoft YaHei" charset="-122"/>
                <a:ea typeface="Microsoft YaHei" charset="-122"/>
                <a:cs typeface="Microsoft YaHei" charset="-122"/>
              </a:rPr>
              <a:t>整个过程发生在</a:t>
            </a:r>
            <a:r>
              <a:rPr lang="zh-CN" altLang="en-US" sz="2000" dirty="0">
                <a:solidFill>
                  <a:srgbClr val="C00000"/>
                </a:solidFill>
                <a:latin typeface="Microsoft YaHei" charset="-122"/>
                <a:ea typeface="Microsoft YaHei" charset="-122"/>
                <a:cs typeface="Microsoft YaHei" charset="-122"/>
              </a:rPr>
              <a:t>不到一个月</a:t>
            </a:r>
            <a:r>
              <a:rPr lang="zh-CN" altLang="en-US" sz="2000" dirty="0">
                <a:latin typeface="Microsoft YaHei" charset="-122"/>
                <a:ea typeface="Microsoft YaHei" charset="-122"/>
                <a:cs typeface="Microsoft YaHei" charset="-122"/>
              </a:rPr>
              <a:t>的时间内</a:t>
            </a:r>
            <a:endParaRPr lang="en-US" altLang="zh-CN" sz="14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932469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ppt_w*0.7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如何建模社交网络信息传播</a:t>
            </a:r>
            <a:endParaRPr lang="en-US" dirty="0"/>
          </a:p>
        </p:txBody>
      </p:sp>
      <p:sp>
        <p:nvSpPr>
          <p:cNvPr id="3" name="Content Placeholder 2"/>
          <p:cNvSpPr>
            <a:spLocks noGrp="1"/>
          </p:cNvSpPr>
          <p:nvPr>
            <p:ph idx="1"/>
          </p:nvPr>
        </p:nvSpPr>
        <p:spPr>
          <a:xfrm>
            <a:off x="264977" y="3727938"/>
            <a:ext cx="3040931" cy="1028212"/>
          </a:xfrm>
        </p:spPr>
        <p:txBody>
          <a:bodyPr/>
          <a:lstStyle/>
          <a:p>
            <a:r>
              <a:rPr lang="zh-CN" altLang="en-US" dirty="0"/>
              <a:t>本节课重点</a:t>
            </a:r>
            <a:endParaRPr lang="en-US" altLang="zh-CN" dirty="0"/>
          </a:p>
          <a:p>
            <a:pPr lvl="1"/>
            <a:r>
              <a:rPr lang="en-US" dirty="0">
                <a:latin typeface="Calibri" charset="0"/>
                <a:ea typeface="Calibri" charset="0"/>
                <a:cs typeface="Calibri" charset="0"/>
              </a:rPr>
              <a:t>Independent Cascades (IC) Model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5908" y="976666"/>
            <a:ext cx="5634109" cy="376541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480" y="1450094"/>
            <a:ext cx="2155788" cy="2155788"/>
          </a:xfrm>
          <a:prstGeom prst="rect">
            <a:avLst/>
          </a:prstGeom>
        </p:spPr>
      </p:pic>
      <p:sp>
        <p:nvSpPr>
          <p:cNvPr id="6" name="Content Placeholder 2"/>
          <p:cNvSpPr txBox="1">
            <a:spLocks/>
          </p:cNvSpPr>
          <p:nvPr/>
        </p:nvSpPr>
        <p:spPr>
          <a:xfrm>
            <a:off x="264977" y="996730"/>
            <a:ext cx="2833778" cy="7111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2000" dirty="0">
                <a:latin typeface="Microsoft YaHei" charset="-122"/>
                <a:ea typeface="Microsoft YaHei" charset="-122"/>
                <a:cs typeface="Microsoft YaHei" charset="-122"/>
              </a:rPr>
              <a:t>社交网络信息传播模型</a:t>
            </a:r>
            <a:endParaRPr lang="en-US" sz="20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7959576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建立有向图模型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142935" cy="3937000"/>
              </a:xfrm>
            </p:spPr>
            <p:txBody>
              <a:bodyPr/>
              <a:lstStyle/>
              <a:p>
                <a:r>
                  <a:rPr lang="zh-CN" altLang="en-US" dirty="0"/>
                  <a:t>使用有向图对社交网络上的信息传播进行建模</a:t>
                </a:r>
                <a:endParaRPr lang="en-US" altLang="zh-CN" dirty="0"/>
              </a:p>
              <a:p>
                <a:endParaRPr lang="en-US" altLang="zh-CN" dirty="0"/>
              </a:p>
              <a:p>
                <a:r>
                  <a:rPr lang="zh-CN" altLang="en-US" dirty="0"/>
                  <a:t>社交网络：有向图</a:t>
                </a:r>
                <a14:m>
                  <m:oMath xmlns:m="http://schemas.openxmlformats.org/officeDocument/2006/math">
                    <m:r>
                      <a:rPr lang="en-US" i="1" dirty="0">
                        <a:latin typeface="Cambria Math" panose="02040503050406030204" pitchFamily="18" charset="0"/>
                      </a:rPr>
                      <m:t>𝐺</m:t>
                    </m:r>
                    <m:r>
                      <a:rPr lang="en-US" i="1" dirty="0">
                        <a:latin typeface="Cambria Math" panose="02040503050406030204" pitchFamily="18" charset="0"/>
                      </a:rPr>
                      <m:t>=</m:t>
                    </m:r>
                    <m:d>
                      <m:dPr>
                        <m:ctrlPr>
                          <a:rPr lang="en-US" i="1" dirty="0">
                            <a:latin typeface="Cambria Math" charset="0"/>
                          </a:rPr>
                        </m:ctrlPr>
                      </m:dPr>
                      <m:e>
                        <m:r>
                          <a:rPr lang="en-US" i="1" dirty="0">
                            <a:latin typeface="Cambria Math" panose="02040503050406030204" pitchFamily="18" charset="0"/>
                          </a:rPr>
                          <m:t>𝑉</m:t>
                        </m:r>
                        <m:r>
                          <a:rPr lang="en-US" i="1" dirty="0">
                            <a:latin typeface="Cambria Math" panose="02040503050406030204" pitchFamily="18" charset="0"/>
                          </a:rPr>
                          <m:t>,</m:t>
                        </m:r>
                        <m:r>
                          <a:rPr lang="en-US" i="1" dirty="0">
                            <a:latin typeface="Cambria Math" panose="02040503050406030204" pitchFamily="18" charset="0"/>
                          </a:rPr>
                          <m:t>𝐸</m:t>
                        </m:r>
                      </m:e>
                    </m:d>
                  </m:oMath>
                </a14:m>
                <a:endParaRPr lang="en-US" dirty="0"/>
              </a:p>
              <a:p>
                <a:pPr marL="717550" lvl="1" indent="-342900">
                  <a:buFont typeface="Arial" panose="020B0604020202020204" pitchFamily="34" charset="0"/>
                  <a:buChar char="•"/>
                </a:pPr>
                <a:r>
                  <a:rPr lang="zh-CN" altLang="en-US" dirty="0"/>
                  <a:t>点集</a:t>
                </a:r>
                <a14:m>
                  <m:oMath xmlns:m="http://schemas.openxmlformats.org/officeDocument/2006/math">
                    <m:r>
                      <a:rPr lang="en-US" i="1" dirty="0">
                        <a:latin typeface="Cambria Math" panose="02040503050406030204" pitchFamily="18" charset="0"/>
                      </a:rPr>
                      <m:t>𝑉</m:t>
                    </m:r>
                  </m:oMath>
                </a14:m>
                <a:r>
                  <a:rPr lang="zh-CN" altLang="en-US" dirty="0"/>
                  <a:t>：表示社交网络用户的集合</a:t>
                </a:r>
                <a:endParaRPr lang="en-US" dirty="0"/>
              </a:p>
              <a:p>
                <a:pPr marL="717550" lvl="1" indent="-342900">
                  <a:buFont typeface="Arial" panose="020B0604020202020204" pitchFamily="34" charset="0"/>
                  <a:buChar char="•"/>
                </a:pPr>
                <a:r>
                  <a:rPr lang="zh-CN" altLang="en-US" dirty="0"/>
                  <a:t>边集</a:t>
                </a:r>
                <a14:m>
                  <m:oMath xmlns:m="http://schemas.openxmlformats.org/officeDocument/2006/math">
                    <m:r>
                      <a:rPr lang="en-US" i="1" dirty="0">
                        <a:latin typeface="Cambria Math" panose="02040503050406030204" pitchFamily="18" charset="0"/>
                      </a:rPr>
                      <m:t>𝐸</m:t>
                    </m:r>
                  </m:oMath>
                </a14:m>
                <a:r>
                  <a:rPr lang="zh-CN" altLang="en-US" dirty="0"/>
                  <a:t>：表示社交网络上的信息传播关系</a:t>
                </a:r>
                <a:endParaRPr lang="en-US" altLang="zh-CN" dirty="0"/>
              </a:p>
              <a:p>
                <a:pPr marL="317500"/>
                <a:r>
                  <a:rPr lang="zh-CN" altLang="en-US" dirty="0"/>
                  <a:t>例子：</a:t>
                </a:r>
                <a:endParaRPr lang="en-US" altLang="zh-CN" dirty="0"/>
              </a:p>
              <a:p>
                <a:pPr marL="717550" lvl="1"/>
                <a:r>
                  <a:rPr lang="zh-CN" altLang="en-US" dirty="0"/>
                  <a:t>如果</a:t>
                </a:r>
                <a:r>
                  <a:rPr lang="en-US" altLang="zh-CN" dirty="0"/>
                  <a:t>A</a:t>
                </a:r>
                <a:r>
                  <a:rPr lang="zh-CN" altLang="en-US" dirty="0"/>
                  <a:t>在微博上关注了</a:t>
                </a:r>
                <a:r>
                  <a:rPr lang="en-US" altLang="zh-CN" dirty="0"/>
                  <a:t>B</a:t>
                </a:r>
              </a:p>
              <a:p>
                <a:pPr marL="717550" lvl="1"/>
                <a:r>
                  <a:rPr lang="zh-CN" altLang="en-US" dirty="0"/>
                  <a:t>那么存在一条</a:t>
                </a:r>
                <a:r>
                  <a:rPr lang="zh-CN" altLang="en-US" dirty="0">
                    <a:solidFill>
                      <a:srgbClr val="C00000"/>
                    </a:solidFill>
                  </a:rPr>
                  <a:t>有向边从</a:t>
                </a:r>
                <a:r>
                  <a:rPr lang="en-US" altLang="zh-CN" dirty="0">
                    <a:solidFill>
                      <a:srgbClr val="C00000"/>
                    </a:solidFill>
                  </a:rPr>
                  <a:t>B</a:t>
                </a:r>
                <a:r>
                  <a:rPr lang="zh-CN" altLang="en-US" dirty="0">
                    <a:solidFill>
                      <a:srgbClr val="C00000"/>
                    </a:solidFill>
                  </a:rPr>
                  <a:t>指向</a:t>
                </a:r>
                <a:r>
                  <a:rPr lang="en-US" altLang="zh-CN" dirty="0">
                    <a:solidFill>
                      <a:srgbClr val="C00000"/>
                    </a:solidFill>
                  </a:rPr>
                  <a:t>A</a:t>
                </a:r>
                <a:endParaRPr lang="en-US"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142935" cy="3937000"/>
              </a:xfrm>
              <a:blipFill rotWithShape="0">
                <a:blip r:embed="rId2"/>
                <a:stretch>
                  <a:fillRect l="-1324" t="-774" r="-294"/>
                </a:stretch>
              </a:blipFill>
            </p:spPr>
            <p:txBody>
              <a:bodyPr/>
              <a:lstStyle/>
              <a:p>
                <a:r>
                  <a:rPr lang="en-US">
                    <a:noFill/>
                  </a:rPr>
                  <a:t> </a:t>
                </a:r>
              </a:p>
            </p:txBody>
          </p:sp>
        </mc:Fallback>
      </mc:AlternateContent>
      <p:grpSp>
        <p:nvGrpSpPr>
          <p:cNvPr id="4" name="Group 3"/>
          <p:cNvGrpSpPr/>
          <p:nvPr/>
        </p:nvGrpSpPr>
        <p:grpSpPr>
          <a:xfrm>
            <a:off x="4811151" y="1507419"/>
            <a:ext cx="3639807" cy="3248732"/>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3" idx="2"/>
              <a:endCxn id="12"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3" idx="1"/>
              <a:endCxn id="21"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0" idx="4"/>
              <a:endCxn id="13"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2" idx="0"/>
              <a:endCxn id="21"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2" idx="4"/>
              <a:endCxn id="16"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4" idx="0"/>
              <a:endCxn id="13"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5" idx="1"/>
              <a:endCxn id="14"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17" idx="4"/>
              <a:endCxn id="15"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4" idx="6"/>
              <a:endCxn id="17"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17" idx="6"/>
              <a:endCxn id="18" idx="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2" idx="5"/>
              <a:endCxn id="14"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16" idx="6"/>
              <a:endCxn id="14"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7942" y="704850"/>
            <a:ext cx="1757595" cy="1583069"/>
          </a:xfrm>
          <a:prstGeom prst="rect">
            <a:avLst/>
          </a:prstGeom>
        </p:spPr>
      </p:pic>
      <p:sp>
        <p:nvSpPr>
          <p:cNvPr id="27" name="Bent Arrow 26"/>
          <p:cNvSpPr/>
          <p:nvPr/>
        </p:nvSpPr>
        <p:spPr>
          <a:xfrm flipH="1" flipV="1">
            <a:off x="7040718" y="2480480"/>
            <a:ext cx="972988" cy="755455"/>
          </a:xfrm>
          <a:prstGeom prst="bentArrow">
            <a:avLst>
              <a:gd name="adj1" fmla="val 22469"/>
              <a:gd name="adj2" fmla="val 26128"/>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84418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960253" y="3193367"/>
            <a:ext cx="1983545" cy="1510021"/>
          </a:xfrm>
          <a:prstGeom prst="rect">
            <a:avLst/>
          </a:prstGeom>
          <a:effectLst>
            <a:outerShdw blurRad="50800" dist="762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a:xfrm>
            <a:off x="457200" y="819150"/>
            <a:ext cx="8229600" cy="1684899"/>
          </a:xfrm>
        </p:spPr>
        <p:txBody>
          <a:bodyPr/>
          <a:lstStyle/>
          <a:p>
            <a:r>
              <a:rPr lang="en-US" altLang="zh-CN" dirty="0"/>
              <a:t>IC</a:t>
            </a:r>
            <a:r>
              <a:rPr lang="zh-CN" altLang="en-US" dirty="0"/>
              <a:t>模型考虑图上的节点有两个状态</a:t>
            </a:r>
            <a:endParaRPr lang="en-US" altLang="zh-CN" dirty="0"/>
          </a:p>
          <a:p>
            <a:pPr lvl="1"/>
            <a:r>
              <a:rPr lang="en-US" altLang="zh-CN" dirty="0"/>
              <a:t>Active:</a:t>
            </a:r>
            <a:r>
              <a:rPr lang="zh-CN" altLang="en-US" dirty="0"/>
              <a:t> 即成功地被影响到</a:t>
            </a:r>
            <a:endParaRPr lang="en-US" altLang="zh-CN" dirty="0"/>
          </a:p>
          <a:p>
            <a:pPr lvl="1"/>
            <a:r>
              <a:rPr lang="en-US" altLang="zh-CN" dirty="0"/>
              <a:t>Inactive:</a:t>
            </a:r>
            <a:r>
              <a:rPr lang="zh-CN" altLang="en-US" dirty="0"/>
              <a:t> 即当前还未被影响到</a:t>
            </a:r>
            <a:endParaRPr lang="en-US" altLang="zh-CN" dirty="0"/>
          </a:p>
          <a:p>
            <a:r>
              <a:rPr lang="en-US" altLang="zh-CN" dirty="0"/>
              <a:t>IC</a:t>
            </a:r>
            <a:r>
              <a:rPr lang="zh-CN" altLang="en-US" dirty="0"/>
              <a:t>模型考虑每一个节点有</a:t>
            </a:r>
            <a:r>
              <a:rPr lang="zh-CN" altLang="en-US" dirty="0">
                <a:solidFill>
                  <a:srgbClr val="FF0000"/>
                </a:solidFill>
              </a:rPr>
              <a:t>一次</a:t>
            </a:r>
            <a:r>
              <a:rPr lang="zh-CN" altLang="en-US" dirty="0"/>
              <a:t>机会去激活它的邻居</a:t>
            </a:r>
            <a:endParaRPr lang="en-US" dirty="0"/>
          </a:p>
        </p:txBody>
      </p:sp>
      <p:sp>
        <p:nvSpPr>
          <p:cNvPr id="4" name="Oval 3"/>
          <p:cNvSpPr/>
          <p:nvPr/>
        </p:nvSpPr>
        <p:spPr>
          <a:xfrm>
            <a:off x="938401" y="3193367"/>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u</a:t>
            </a:r>
            <a:endParaRPr lang="en-US" sz="2000" dirty="0"/>
          </a:p>
        </p:txBody>
      </p:sp>
      <mc:AlternateContent xmlns:mc="http://schemas.openxmlformats.org/markup-compatibility/2006" xmlns:a14="http://schemas.microsoft.com/office/drawing/2010/main">
        <mc:Choice Requires="a14">
          <p:sp>
            <p:nvSpPr>
              <p:cNvPr id="5" name="Oval 4"/>
              <p:cNvSpPr/>
              <p:nvPr/>
            </p:nvSpPr>
            <p:spPr>
              <a:xfrm>
                <a:off x="2076428" y="2537807"/>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1</m:t>
                          </m:r>
                        </m:sub>
                      </m:sSub>
                    </m:oMath>
                  </m:oMathPara>
                </a14:m>
                <a:endParaRPr lang="en-US" sz="2000" dirty="0"/>
              </a:p>
            </p:txBody>
          </p:sp>
        </mc:Choice>
        <mc:Fallback xmlns="">
          <p:sp>
            <p:nvSpPr>
              <p:cNvPr id="5" name="Oval 4"/>
              <p:cNvSpPr>
                <a:spLocks noRot="1" noChangeAspect="1" noMove="1" noResize="1" noEditPoints="1" noAdjustHandles="1" noChangeArrowheads="1" noChangeShapeType="1" noTextEdit="1"/>
              </p:cNvSpPr>
              <p:nvPr/>
            </p:nvSpPr>
            <p:spPr>
              <a:xfrm>
                <a:off x="2076428" y="2537807"/>
                <a:ext cx="432000" cy="432000"/>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2429975" y="3455435"/>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dk1"/>
                              </a:solidFill>
                              <a:latin typeface="Cambria Math" charset="0"/>
                            </a:rPr>
                          </m:ctrlPr>
                        </m:sSubPr>
                        <m:e>
                          <m:r>
                            <a:rPr lang="en-US" altLang="zh-CN" sz="2000" b="0" i="1" smtClean="0">
                              <a:solidFill>
                                <a:schemeClr val="dk1"/>
                              </a:solidFill>
                              <a:latin typeface="Cambria Math" charset="0"/>
                            </a:rPr>
                            <m:t>𝑣</m:t>
                          </m:r>
                        </m:e>
                        <m:sub>
                          <m:r>
                            <a:rPr lang="en-US" altLang="zh-CN" sz="2000" b="0" i="1" smtClean="0">
                              <a:solidFill>
                                <a:schemeClr val="dk1"/>
                              </a:solidFill>
                              <a:latin typeface="Cambria Math" charset="0"/>
                            </a:rPr>
                            <m:t>2</m:t>
                          </m:r>
                        </m:sub>
                      </m:sSub>
                    </m:oMath>
                  </m:oMathPara>
                </a14:m>
                <a:endParaRPr lang="en-US" sz="2000" i="1" dirty="0">
                  <a:solidFill>
                    <a:schemeClr val="dk1"/>
                  </a:solidFill>
                  <a:latin typeface="Cambria Math" charset="0"/>
                </a:endParaRPr>
              </a:p>
            </p:txBody>
          </p:sp>
        </mc:Choice>
        <mc:Fallback xmlns="">
          <p:sp>
            <p:nvSpPr>
              <p:cNvPr id="6" name="Oval 5"/>
              <p:cNvSpPr>
                <a:spLocks noRot="1" noChangeAspect="1" noMove="1" noResize="1" noEditPoints="1" noAdjustHandles="1" noChangeArrowheads="1" noChangeShapeType="1" noTextEdit="1"/>
              </p:cNvSpPr>
              <p:nvPr/>
            </p:nvSpPr>
            <p:spPr>
              <a:xfrm>
                <a:off x="2429975" y="3455435"/>
                <a:ext cx="432000" cy="432000"/>
              </a:xfrm>
              <a:prstGeom prst="ellipse">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1678798" y="4240881"/>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dk1"/>
                              </a:solidFill>
                              <a:latin typeface="Cambria Math" charset="0"/>
                            </a:rPr>
                          </m:ctrlPr>
                        </m:sSubPr>
                        <m:e>
                          <m:r>
                            <a:rPr lang="en-US" altLang="zh-CN" sz="2000" b="0" i="1" smtClean="0">
                              <a:solidFill>
                                <a:schemeClr val="dk1"/>
                              </a:solidFill>
                              <a:latin typeface="Cambria Math" charset="0"/>
                            </a:rPr>
                            <m:t>𝑣</m:t>
                          </m:r>
                        </m:e>
                        <m:sub>
                          <m:r>
                            <a:rPr lang="en-US" altLang="zh-CN" sz="2000" b="0" i="1" smtClean="0">
                              <a:solidFill>
                                <a:schemeClr val="dk1"/>
                              </a:solidFill>
                              <a:latin typeface="Cambria Math" charset="0"/>
                            </a:rPr>
                            <m:t>3</m:t>
                          </m:r>
                        </m:sub>
                      </m:sSub>
                    </m:oMath>
                  </m:oMathPara>
                </a14:m>
                <a:endParaRPr lang="en-US" sz="2000" i="1" dirty="0">
                  <a:solidFill>
                    <a:schemeClr val="dk1"/>
                  </a:solidFill>
                  <a:latin typeface="Cambria Math" charset="0"/>
                </a:endParaRPr>
              </a:p>
            </p:txBody>
          </p:sp>
        </mc:Choice>
        <mc:Fallback xmlns="">
          <p:sp>
            <p:nvSpPr>
              <p:cNvPr id="7" name="Oval 6"/>
              <p:cNvSpPr>
                <a:spLocks noRot="1" noChangeAspect="1" noMove="1" noResize="1" noEditPoints="1" noAdjustHandles="1" noChangeArrowheads="1" noChangeShapeType="1" noTextEdit="1"/>
              </p:cNvSpPr>
              <p:nvPr/>
            </p:nvSpPr>
            <p:spPr>
              <a:xfrm>
                <a:off x="1678798" y="4240881"/>
                <a:ext cx="432000" cy="432000"/>
              </a:xfrm>
              <a:prstGeom prst="ellipse">
                <a:avLst/>
              </a:prstGeom>
              <a:blipFill rotWithShape="0">
                <a:blip r:embed="rId5"/>
                <a:stretch>
                  <a:fillRect/>
                </a:stretch>
              </a:blipFill>
            </p:spPr>
            <p:txBody>
              <a:bodyPr/>
              <a:lstStyle/>
              <a:p>
                <a:r>
                  <a:rPr lang="en-US">
                    <a:noFill/>
                  </a:rPr>
                  <a:t> </a:t>
                </a:r>
              </a:p>
            </p:txBody>
          </p:sp>
        </mc:Fallback>
      </mc:AlternateContent>
      <p:cxnSp>
        <p:nvCxnSpPr>
          <p:cNvPr id="9" name="Straight Arrow Connector 8"/>
          <p:cNvCxnSpPr>
            <a:stCxn id="4" idx="7"/>
            <a:endCxn id="5" idx="3"/>
          </p:cNvCxnSpPr>
          <p:nvPr/>
        </p:nvCxnSpPr>
        <p:spPr>
          <a:xfrm flipV="1">
            <a:off x="1307136" y="2906542"/>
            <a:ext cx="832557" cy="350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6"/>
            <a:endCxn id="6" idx="2"/>
          </p:cNvCxnSpPr>
          <p:nvPr/>
        </p:nvCxnSpPr>
        <p:spPr>
          <a:xfrm>
            <a:off x="1370401" y="3409367"/>
            <a:ext cx="1059574" cy="262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5"/>
            <a:endCxn id="7" idx="1"/>
          </p:cNvCxnSpPr>
          <p:nvPr/>
        </p:nvCxnSpPr>
        <p:spPr>
          <a:xfrm>
            <a:off x="1307136" y="3562102"/>
            <a:ext cx="434927" cy="742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02802" y="2651550"/>
            <a:ext cx="1107996" cy="369332"/>
          </a:xfrm>
          <a:prstGeom prst="rect">
            <a:avLst/>
          </a:prstGeom>
          <a:noFill/>
        </p:spPr>
        <p:txBody>
          <a:bodyPr wrap="none" rtlCol="0">
            <a:spAutoFit/>
          </a:bodyPr>
          <a:lstStyle/>
          <a:p>
            <a:r>
              <a:rPr lang="zh-CN" altLang="en-US"/>
              <a:t>尝试激活</a:t>
            </a:r>
            <a:endParaRPr lang="en-US" dirty="0"/>
          </a:p>
        </p:txBody>
      </p:sp>
      <p:sp>
        <p:nvSpPr>
          <p:cNvPr id="18" name="TextBox 17"/>
          <p:cNvSpPr txBox="1"/>
          <p:nvPr/>
        </p:nvSpPr>
        <p:spPr>
          <a:xfrm>
            <a:off x="1522430" y="3120826"/>
            <a:ext cx="1107996" cy="369332"/>
          </a:xfrm>
          <a:prstGeom prst="rect">
            <a:avLst/>
          </a:prstGeom>
          <a:noFill/>
        </p:spPr>
        <p:txBody>
          <a:bodyPr wrap="none" rtlCol="0">
            <a:spAutoFit/>
          </a:bodyPr>
          <a:lstStyle/>
          <a:p>
            <a:r>
              <a:rPr lang="zh-CN" altLang="en-US"/>
              <a:t>尝试激活</a:t>
            </a:r>
            <a:endParaRPr lang="en-US" dirty="0"/>
          </a:p>
        </p:txBody>
      </p:sp>
      <p:sp>
        <p:nvSpPr>
          <p:cNvPr id="19" name="TextBox 18"/>
          <p:cNvSpPr txBox="1"/>
          <p:nvPr/>
        </p:nvSpPr>
        <p:spPr>
          <a:xfrm>
            <a:off x="1522430" y="3810023"/>
            <a:ext cx="1107996" cy="369332"/>
          </a:xfrm>
          <a:prstGeom prst="rect">
            <a:avLst/>
          </a:prstGeom>
          <a:noFill/>
        </p:spPr>
        <p:txBody>
          <a:bodyPr wrap="none" rtlCol="0">
            <a:spAutoFit/>
          </a:bodyPr>
          <a:lstStyle/>
          <a:p>
            <a:r>
              <a:rPr lang="zh-CN" altLang="en-US"/>
              <a:t>尝试激活</a:t>
            </a:r>
            <a:endParaRPr lang="en-US" dirty="0"/>
          </a:p>
        </p:txBody>
      </p:sp>
      <p:sp>
        <p:nvSpPr>
          <p:cNvPr id="20" name="Oval 19"/>
          <p:cNvSpPr/>
          <p:nvPr/>
        </p:nvSpPr>
        <p:spPr>
          <a:xfrm>
            <a:off x="4467047" y="3184922"/>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u</a:t>
            </a:r>
            <a:endParaRPr lang="en-US" sz="2000" dirty="0"/>
          </a:p>
        </p:txBody>
      </p:sp>
      <mc:AlternateContent xmlns:mc="http://schemas.openxmlformats.org/markup-compatibility/2006" xmlns:a14="http://schemas.microsoft.com/office/drawing/2010/main">
        <mc:Choice Requires="a14">
          <p:sp>
            <p:nvSpPr>
              <p:cNvPr id="21" name="Oval 20"/>
              <p:cNvSpPr/>
              <p:nvPr/>
            </p:nvSpPr>
            <p:spPr>
              <a:xfrm>
                <a:off x="5605074" y="2529362"/>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1</m:t>
                          </m:r>
                        </m:sub>
                      </m:sSub>
                    </m:oMath>
                  </m:oMathPara>
                </a14:m>
                <a:endParaRPr lang="en-US" sz="2000" dirty="0"/>
              </a:p>
            </p:txBody>
          </p:sp>
        </mc:Choice>
        <mc:Fallback xmlns="">
          <p:sp>
            <p:nvSpPr>
              <p:cNvPr id="21" name="Oval 20"/>
              <p:cNvSpPr>
                <a:spLocks noRot="1" noChangeAspect="1" noMove="1" noResize="1" noEditPoints="1" noAdjustHandles="1" noChangeArrowheads="1" noChangeShapeType="1" noTextEdit="1"/>
              </p:cNvSpPr>
              <p:nvPr/>
            </p:nvSpPr>
            <p:spPr>
              <a:xfrm>
                <a:off x="5605074" y="2529362"/>
                <a:ext cx="432000" cy="432000"/>
              </a:xfrm>
              <a:prstGeom prst="ellipse">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p:cNvSpPr/>
              <p:nvPr/>
            </p:nvSpPr>
            <p:spPr>
              <a:xfrm>
                <a:off x="5958621" y="3446990"/>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dk1"/>
                              </a:solidFill>
                              <a:latin typeface="Cambria Math" charset="0"/>
                            </a:rPr>
                          </m:ctrlPr>
                        </m:sSubPr>
                        <m:e>
                          <m:r>
                            <a:rPr lang="en-US" altLang="zh-CN" sz="2000" b="0" i="1" smtClean="0">
                              <a:solidFill>
                                <a:schemeClr val="dk1"/>
                              </a:solidFill>
                              <a:latin typeface="Cambria Math" charset="0"/>
                            </a:rPr>
                            <m:t>𝑣</m:t>
                          </m:r>
                        </m:e>
                        <m:sub>
                          <m:r>
                            <a:rPr lang="en-US" altLang="zh-CN" sz="2000" b="0" i="1" smtClean="0">
                              <a:solidFill>
                                <a:schemeClr val="dk1"/>
                              </a:solidFill>
                              <a:latin typeface="Cambria Math" charset="0"/>
                            </a:rPr>
                            <m:t>2</m:t>
                          </m:r>
                        </m:sub>
                      </m:sSub>
                    </m:oMath>
                  </m:oMathPara>
                </a14:m>
                <a:endParaRPr lang="en-US" sz="2000" i="1" dirty="0">
                  <a:solidFill>
                    <a:schemeClr val="dk1"/>
                  </a:solidFill>
                  <a:latin typeface="Cambria Math" charset="0"/>
                </a:endParaRPr>
              </a:p>
            </p:txBody>
          </p:sp>
        </mc:Choice>
        <mc:Fallback xmlns="">
          <p:sp>
            <p:nvSpPr>
              <p:cNvPr id="22" name="Oval 21"/>
              <p:cNvSpPr>
                <a:spLocks noRot="1" noChangeAspect="1" noMove="1" noResize="1" noEditPoints="1" noAdjustHandles="1" noChangeArrowheads="1" noChangeShapeType="1" noTextEdit="1"/>
              </p:cNvSpPr>
              <p:nvPr/>
            </p:nvSpPr>
            <p:spPr>
              <a:xfrm>
                <a:off x="5958621" y="3446990"/>
                <a:ext cx="432000" cy="432000"/>
              </a:xfrm>
              <a:prstGeom prst="ellipse">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5207444" y="4232436"/>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bg1"/>
                              </a:solidFill>
                              <a:latin typeface="Cambria Math" charset="0"/>
                            </a:rPr>
                          </m:ctrlPr>
                        </m:sSubPr>
                        <m:e>
                          <m:r>
                            <a:rPr lang="en-US" altLang="zh-CN" sz="2000" b="0" i="1" smtClean="0">
                              <a:solidFill>
                                <a:schemeClr val="bg1"/>
                              </a:solidFill>
                              <a:latin typeface="Cambria Math" charset="0"/>
                            </a:rPr>
                            <m:t>𝑣</m:t>
                          </m:r>
                        </m:e>
                        <m:sub>
                          <m:r>
                            <a:rPr lang="en-US" altLang="zh-CN" sz="2000" b="0" i="1" smtClean="0">
                              <a:solidFill>
                                <a:schemeClr val="bg1"/>
                              </a:solidFill>
                              <a:latin typeface="Cambria Math" charset="0"/>
                            </a:rPr>
                            <m:t>3</m:t>
                          </m:r>
                        </m:sub>
                      </m:sSub>
                    </m:oMath>
                  </m:oMathPara>
                </a14:m>
                <a:endParaRPr lang="en-US" sz="2000" i="1" dirty="0">
                  <a:solidFill>
                    <a:schemeClr val="bg1"/>
                  </a:solidFill>
                  <a:latin typeface="Cambria Math" charset="0"/>
                </a:endParaRPr>
              </a:p>
            </p:txBody>
          </p:sp>
        </mc:Choice>
        <mc:Fallback xmlns="">
          <p:sp>
            <p:nvSpPr>
              <p:cNvPr id="23" name="Oval 22"/>
              <p:cNvSpPr>
                <a:spLocks noRot="1" noChangeAspect="1" noMove="1" noResize="1" noEditPoints="1" noAdjustHandles="1" noChangeArrowheads="1" noChangeShapeType="1" noTextEdit="1"/>
              </p:cNvSpPr>
              <p:nvPr/>
            </p:nvSpPr>
            <p:spPr>
              <a:xfrm>
                <a:off x="5207444" y="4232436"/>
                <a:ext cx="432000" cy="432000"/>
              </a:xfrm>
              <a:prstGeom prst="ellipse">
                <a:avLst/>
              </a:prstGeom>
              <a:blipFill rotWithShape="0">
                <a:blip r:embed="rId8"/>
                <a:stretch>
                  <a:fillRect/>
                </a:stretch>
              </a:blipFill>
            </p:spPr>
            <p:txBody>
              <a:bodyPr/>
              <a:lstStyle/>
              <a:p>
                <a:r>
                  <a:rPr lang="en-US">
                    <a:noFill/>
                  </a:rPr>
                  <a:t> </a:t>
                </a:r>
              </a:p>
            </p:txBody>
          </p:sp>
        </mc:Fallback>
      </mc:AlternateContent>
      <p:cxnSp>
        <p:nvCxnSpPr>
          <p:cNvPr id="24" name="Straight Arrow Connector 23"/>
          <p:cNvCxnSpPr>
            <a:stCxn id="22" idx="7"/>
            <a:endCxn id="23" idx="3"/>
          </p:cNvCxnSpPr>
          <p:nvPr/>
        </p:nvCxnSpPr>
        <p:spPr>
          <a:xfrm flipV="1">
            <a:off x="4835782" y="2898097"/>
            <a:ext cx="832557" cy="350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2" idx="6"/>
            <a:endCxn id="24" idx="2"/>
          </p:cNvCxnSpPr>
          <p:nvPr/>
        </p:nvCxnSpPr>
        <p:spPr>
          <a:xfrm>
            <a:off x="4899047" y="3400922"/>
            <a:ext cx="1059574" cy="262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2" idx="5"/>
            <a:endCxn id="25" idx="1"/>
          </p:cNvCxnSpPr>
          <p:nvPr/>
        </p:nvCxnSpPr>
        <p:spPr>
          <a:xfrm>
            <a:off x="4835782" y="3553657"/>
            <a:ext cx="434927" cy="742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835782" y="2643105"/>
            <a:ext cx="646331" cy="369332"/>
          </a:xfrm>
          <a:prstGeom prst="rect">
            <a:avLst/>
          </a:prstGeom>
          <a:noFill/>
        </p:spPr>
        <p:txBody>
          <a:bodyPr wrap="none" rtlCol="0">
            <a:spAutoFit/>
          </a:bodyPr>
          <a:lstStyle/>
          <a:p>
            <a:r>
              <a:rPr lang="zh-CN" altLang="en-US"/>
              <a:t>成功</a:t>
            </a:r>
            <a:endParaRPr lang="en-US" dirty="0"/>
          </a:p>
        </p:txBody>
      </p:sp>
      <p:sp>
        <p:nvSpPr>
          <p:cNvPr id="28" name="TextBox 27"/>
          <p:cNvSpPr txBox="1"/>
          <p:nvPr/>
        </p:nvSpPr>
        <p:spPr>
          <a:xfrm>
            <a:off x="5289517" y="3170823"/>
            <a:ext cx="646331" cy="369332"/>
          </a:xfrm>
          <a:prstGeom prst="rect">
            <a:avLst/>
          </a:prstGeom>
          <a:noFill/>
        </p:spPr>
        <p:txBody>
          <a:bodyPr wrap="none" rtlCol="0">
            <a:spAutoFit/>
          </a:bodyPr>
          <a:lstStyle/>
          <a:p>
            <a:r>
              <a:rPr lang="zh-CN" altLang="en-US"/>
              <a:t>失败</a:t>
            </a:r>
            <a:endParaRPr lang="en-US" dirty="0"/>
          </a:p>
        </p:txBody>
      </p:sp>
      <p:sp>
        <p:nvSpPr>
          <p:cNvPr id="29" name="TextBox 28"/>
          <p:cNvSpPr txBox="1"/>
          <p:nvPr/>
        </p:nvSpPr>
        <p:spPr>
          <a:xfrm>
            <a:off x="5128253" y="3783794"/>
            <a:ext cx="646331" cy="369332"/>
          </a:xfrm>
          <a:prstGeom prst="rect">
            <a:avLst/>
          </a:prstGeom>
          <a:noFill/>
        </p:spPr>
        <p:txBody>
          <a:bodyPr wrap="none" rtlCol="0">
            <a:spAutoFit/>
          </a:bodyPr>
          <a:lstStyle/>
          <a:p>
            <a:r>
              <a:rPr lang="zh-CN" altLang="en-US"/>
              <a:t>成功</a:t>
            </a:r>
            <a:endParaRPr lang="en-US" dirty="0"/>
          </a:p>
        </p:txBody>
      </p:sp>
      <p:sp>
        <p:nvSpPr>
          <p:cNvPr id="30" name="Right Arrow 29"/>
          <p:cNvSpPr/>
          <p:nvPr/>
        </p:nvSpPr>
        <p:spPr>
          <a:xfrm>
            <a:off x="3460652" y="3305492"/>
            <a:ext cx="576776" cy="4867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7129284" y="3366449"/>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2" name="Rectangle 31"/>
          <p:cNvSpPr/>
          <p:nvPr/>
        </p:nvSpPr>
        <p:spPr>
          <a:xfrm>
            <a:off x="7764474" y="3382394"/>
            <a:ext cx="829971" cy="400110"/>
          </a:xfrm>
          <a:prstGeom prst="rect">
            <a:avLst/>
          </a:prstGeom>
        </p:spPr>
        <p:txBody>
          <a:bodyPr wrap="none">
            <a:spAutoFit/>
          </a:bodyPr>
          <a:lstStyle/>
          <a:p>
            <a:r>
              <a:rPr lang="en-US" altLang="zh-CN" sz="2000"/>
              <a:t>Active</a:t>
            </a:r>
            <a:endParaRPr lang="en-US" sz="2000"/>
          </a:p>
        </p:txBody>
      </p:sp>
      <p:sp>
        <p:nvSpPr>
          <p:cNvPr id="33" name="Oval 32"/>
          <p:cNvSpPr/>
          <p:nvPr/>
        </p:nvSpPr>
        <p:spPr>
          <a:xfrm>
            <a:off x="7129284" y="4087974"/>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p>
        </p:txBody>
      </p:sp>
      <p:sp>
        <p:nvSpPr>
          <p:cNvPr id="34" name="Rectangle 33"/>
          <p:cNvSpPr/>
          <p:nvPr/>
        </p:nvSpPr>
        <p:spPr>
          <a:xfrm>
            <a:off x="7764474" y="4103919"/>
            <a:ext cx="1003095" cy="400110"/>
          </a:xfrm>
          <a:prstGeom prst="rect">
            <a:avLst/>
          </a:prstGeom>
        </p:spPr>
        <p:txBody>
          <a:bodyPr wrap="none">
            <a:spAutoFit/>
          </a:bodyPr>
          <a:lstStyle/>
          <a:p>
            <a:r>
              <a:rPr lang="en-US" altLang="zh-CN" sz="2000" dirty="0"/>
              <a:t>Inactive</a:t>
            </a:r>
            <a:endParaRPr lang="en-US" sz="2000" dirty="0"/>
          </a:p>
        </p:txBody>
      </p:sp>
      <p:sp>
        <p:nvSpPr>
          <p:cNvPr id="36" name="Line Callout 2 (Border and Accent Bar) 35"/>
          <p:cNvSpPr/>
          <p:nvPr/>
        </p:nvSpPr>
        <p:spPr>
          <a:xfrm>
            <a:off x="7129284" y="1941342"/>
            <a:ext cx="1916242" cy="562707"/>
          </a:xfrm>
          <a:prstGeom prst="accentBorderCallout2">
            <a:avLst>
              <a:gd name="adj1" fmla="val 18750"/>
              <a:gd name="adj2" fmla="val -8333"/>
              <a:gd name="adj3" fmla="val 18750"/>
              <a:gd name="adj4" fmla="val -16667"/>
              <a:gd name="adj5" fmla="val 150000"/>
              <a:gd name="adj6" fmla="val -4813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引入概率度量成功</a:t>
            </a:r>
            <a:r>
              <a:rPr lang="en-US" altLang="zh-CN" dirty="0"/>
              <a:t>/</a:t>
            </a:r>
            <a:r>
              <a:rPr lang="zh-CN" altLang="en-US" dirty="0"/>
              <a:t>失败的可能性</a:t>
            </a:r>
            <a:endParaRPr lang="en-US" dirty="0"/>
          </a:p>
        </p:txBody>
      </p:sp>
    </p:spTree>
    <p:extLst>
      <p:ext uri="{BB962C8B-B14F-4D97-AF65-F5344CB8AC3E}">
        <p14:creationId xmlns:p14="http://schemas.microsoft.com/office/powerpoint/2010/main" val="904637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a:xfrm>
            <a:off x="457200" y="819150"/>
            <a:ext cx="8229600" cy="1094056"/>
          </a:xfrm>
        </p:spPr>
        <p:txBody>
          <a:bodyPr/>
          <a:lstStyle/>
          <a:p>
            <a:r>
              <a:rPr lang="zh-CN" altLang="en-US" dirty="0"/>
              <a:t>假设用户</a:t>
            </a:r>
            <a:r>
              <a:rPr lang="en-US" altLang="zh-CN" dirty="0"/>
              <a:t>u</a:t>
            </a:r>
            <a:r>
              <a:rPr lang="zh-CN" altLang="en-US" dirty="0"/>
              <a:t>到</a:t>
            </a:r>
            <a:r>
              <a:rPr lang="en-US" altLang="zh-CN" dirty="0"/>
              <a:t>v</a:t>
            </a:r>
            <a:r>
              <a:rPr lang="zh-CN" altLang="en-US" dirty="0"/>
              <a:t>之间有一个概率值，称为影响概率</a:t>
            </a:r>
          </a:p>
          <a:p>
            <a:pPr lvl="1"/>
            <a:r>
              <a:rPr lang="zh-CN" altLang="en-US" dirty="0"/>
              <a:t>概率值越大，</a:t>
            </a:r>
            <a:r>
              <a:rPr lang="en-US" altLang="zh-CN" dirty="0"/>
              <a:t>v</a:t>
            </a:r>
            <a:r>
              <a:rPr lang="zh-CN" altLang="en-US" dirty="0"/>
              <a:t>相信</a:t>
            </a:r>
            <a:r>
              <a:rPr lang="en-US" altLang="zh-CN" dirty="0"/>
              <a:t>u</a:t>
            </a:r>
            <a:r>
              <a:rPr lang="zh-CN" altLang="en-US" dirty="0"/>
              <a:t>传播消息的可能性就越大</a:t>
            </a:r>
          </a:p>
          <a:p>
            <a:pPr lvl="1"/>
            <a:r>
              <a:rPr lang="zh-CN" altLang="en-US" dirty="0"/>
              <a:t>概率值可以通过</a:t>
            </a:r>
            <a:r>
              <a:rPr lang="en-US" altLang="zh-CN" dirty="0"/>
              <a:t>u</a:t>
            </a:r>
            <a:r>
              <a:rPr lang="zh-CN" altLang="en-US" dirty="0"/>
              <a:t>和</a:t>
            </a:r>
            <a:r>
              <a:rPr lang="en-US" altLang="zh-CN" dirty="0"/>
              <a:t>v</a:t>
            </a:r>
            <a:r>
              <a:rPr lang="zh-CN" altLang="en-US" dirty="0"/>
              <a:t>的互动历史学习得到</a:t>
            </a:r>
            <a:endParaRPr lang="en-US" dirty="0"/>
          </a:p>
        </p:txBody>
      </p:sp>
      <p:grpSp>
        <p:nvGrpSpPr>
          <p:cNvPr id="40" name="Group 39"/>
          <p:cNvGrpSpPr/>
          <p:nvPr/>
        </p:nvGrpSpPr>
        <p:grpSpPr>
          <a:xfrm>
            <a:off x="1365527" y="1960134"/>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8" name="Right Brace 37"/>
          <p:cNvSpPr/>
          <p:nvPr/>
        </p:nvSpPr>
        <p:spPr>
          <a:xfrm>
            <a:off x="5356954" y="2003673"/>
            <a:ext cx="423686" cy="2579066"/>
          </a:xfrm>
          <a:prstGeom prst="rightBrace">
            <a:avLst>
              <a:gd name="adj1" fmla="val 5358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Content Placeholder 2"/>
          <p:cNvSpPr txBox="1">
            <a:spLocks/>
          </p:cNvSpPr>
          <p:nvPr/>
        </p:nvSpPr>
        <p:spPr bwMode="auto">
          <a:xfrm>
            <a:off x="5780640" y="1960134"/>
            <a:ext cx="2961996" cy="2220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365125" indent="-282575" algn="l" rtl="0" eaLnBrk="0" fontAlgn="base" hangingPunct="0">
              <a:spcBef>
                <a:spcPts val="600"/>
              </a:spcBef>
              <a:spcAft>
                <a:spcPct val="0"/>
              </a:spcAft>
              <a:buClr>
                <a:schemeClr val="accent1"/>
              </a:buClr>
              <a:buSzPct val="80000"/>
              <a:buFont typeface="Wingdings 2"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charset="0"/>
              <a:buChar char="◦"/>
              <a:defRPr sz="2800" kern="1200">
                <a:solidFill>
                  <a:srgbClr val="0000CC"/>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9BBB59"/>
              </a:buClr>
              <a:buFont typeface="Wingdings 2"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064A2"/>
              </a:buClr>
              <a:buFont typeface="Wingdings 2"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550" indent="0" algn="ctr">
              <a:buNone/>
            </a:pPr>
            <a:r>
              <a:rPr lang="en-US" sz="2400" dirty="0"/>
              <a:t>Independent Cascade (</a:t>
            </a:r>
            <a:r>
              <a:rPr lang="en-US" sz="2400" b="1" dirty="0">
                <a:solidFill>
                  <a:srgbClr val="0000CC"/>
                </a:solidFill>
              </a:rPr>
              <a:t>IC</a:t>
            </a:r>
            <a:r>
              <a:rPr lang="en-US" sz="2400" dirty="0"/>
              <a:t>) </a:t>
            </a:r>
          </a:p>
          <a:p>
            <a:pPr marL="82550" indent="0" algn="ctr">
              <a:buNone/>
            </a:pPr>
            <a:r>
              <a:rPr lang="zh-CN" altLang="en-US" sz="2400" dirty="0"/>
              <a:t>模型</a:t>
            </a:r>
            <a:endParaRPr lang="en-US" sz="2400" dirty="0"/>
          </a:p>
          <a:p>
            <a:pPr marL="82550" indent="0" algn="ctr">
              <a:buNone/>
            </a:pPr>
            <a:r>
              <a:rPr lang="zh-CN" altLang="en-US" sz="2400" dirty="0">
                <a:solidFill>
                  <a:srgbClr val="0000CC"/>
                </a:solidFill>
              </a:rPr>
              <a:t>影响概率</a:t>
            </a:r>
            <a:endParaRPr lang="en-US" altLang="zh-CN" sz="2400" dirty="0">
              <a:solidFill>
                <a:srgbClr val="0000CC"/>
              </a:solidFill>
            </a:endParaRPr>
          </a:p>
          <a:p>
            <a:pPr marL="82550" indent="0" algn="ctr">
              <a:buNone/>
            </a:pPr>
            <a:r>
              <a:rPr lang="en-US" sz="2400" dirty="0">
                <a:solidFill>
                  <a:srgbClr val="0000CC"/>
                </a:solidFill>
              </a:rPr>
              <a:t>Influence Probabilities</a:t>
            </a:r>
          </a:p>
          <a:p>
            <a:pPr marL="82550" indent="0">
              <a:buNone/>
            </a:pPr>
            <a:endParaRPr lang="en-US" sz="2400" dirty="0"/>
          </a:p>
        </p:txBody>
      </p:sp>
    </p:spTree>
    <p:extLst>
      <p:ext uri="{BB962C8B-B14F-4D97-AF65-F5344CB8AC3E}">
        <p14:creationId xmlns:p14="http://schemas.microsoft.com/office/powerpoint/2010/main" val="1270187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假设选择</a:t>
                </a:r>
                <a14:m>
                  <m:oMath xmlns:m="http://schemas.openxmlformats.org/officeDocument/2006/math">
                    <m:sSub>
                      <m:sSubPr>
                        <m:ctrlPr>
                          <a:rPr lang="en-US" altLang="zh-CN" b="0" i="1" dirty="0" smtClean="0">
                            <a:latin typeface="Cambria Math" charset="0"/>
                          </a:rPr>
                        </m:ctrlPr>
                      </m:sSubPr>
                      <m:e>
                        <m:r>
                          <a:rPr lang="zh-CN" altLang="en-US" i="1" dirty="0" smtClean="0">
                            <a:latin typeface="Cambria Math" charset="0"/>
                          </a:rPr>
                          <m:t>𝑢</m:t>
                        </m:r>
                      </m:e>
                      <m:sub>
                        <m:r>
                          <a:rPr lang="en-US" altLang="zh-CN" b="0" i="1" dirty="0" smtClean="0">
                            <a:latin typeface="Cambria Math" charset="0"/>
                          </a:rPr>
                          <m:t>2</m:t>
                        </m:r>
                      </m:sub>
                    </m:sSub>
                  </m:oMath>
                </a14:m>
                <a:r>
                  <a:rPr lang="zh-CN" altLang="en-US" dirty="0"/>
                  <a:t>和</a:t>
                </a:r>
                <a14:m>
                  <m:oMath xmlns:m="http://schemas.openxmlformats.org/officeDocument/2006/math">
                    <m:sSub>
                      <m:sSubPr>
                        <m:ctrlPr>
                          <a:rPr lang="en-US" altLang="zh-CN" b="0" i="1" dirty="0" smtClean="0">
                            <a:latin typeface="Cambria Math" charset="0"/>
                          </a:rPr>
                        </m:ctrlPr>
                      </m:sSubPr>
                      <m:e>
                        <m:r>
                          <a:rPr lang="zh-CN" altLang="en-US" i="1" dirty="0" smtClean="0">
                            <a:latin typeface="Cambria Math" charset="0"/>
                          </a:rPr>
                          <m:t>𝑢</m:t>
                        </m:r>
                      </m:e>
                      <m:sub>
                        <m:r>
                          <a:rPr lang="en-US" altLang="zh-CN" b="0" i="1" dirty="0" smtClean="0">
                            <a:latin typeface="Cambria Math" charset="0"/>
                          </a:rPr>
                          <m:t>7</m:t>
                        </m:r>
                      </m:sub>
                    </m:sSub>
                  </m:oMath>
                </a14:m>
                <a:r>
                  <a:rPr lang="zh-CN" altLang="en-US" dirty="0"/>
                  <a:t>作为初始的传播者，称为种子</a:t>
                </a:r>
              </a:p>
              <a:p>
                <a:r>
                  <a:rPr lang="zh-CN" altLang="en-US" dirty="0"/>
                  <a:t>种子用户按照影响概率去“激活”其邻居</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grpSp>
        <p:nvGrpSpPr>
          <p:cNvPr id="4" name="Group 3"/>
          <p:cNvGrpSpPr/>
          <p:nvPr/>
        </p:nvGrpSpPr>
        <p:grpSpPr>
          <a:xfrm>
            <a:off x="793441" y="1661736"/>
            <a:ext cx="3518419" cy="2982379"/>
            <a:chOff x="1009865" y="2924944"/>
            <a:chExt cx="3799956" cy="3221023"/>
          </a:xfrm>
        </p:grpSpPr>
        <p:grpSp>
          <p:nvGrpSpPr>
            <p:cNvPr id="5" name="Group 4"/>
            <p:cNvGrpSpPr/>
            <p:nvPr/>
          </p:nvGrpSpPr>
          <p:grpSpPr>
            <a:xfrm>
              <a:off x="1395286" y="2924944"/>
              <a:ext cx="3414535" cy="3221023"/>
              <a:chOff x="3405180" y="3720708"/>
              <a:chExt cx="3414535" cy="3221023"/>
            </a:xfrm>
          </p:grpSpPr>
          <p:sp>
            <p:nvSpPr>
              <p:cNvPr id="18" name="Oval 17"/>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7</a:t>
                </a:r>
              </a:p>
            </p:txBody>
          </p:sp>
          <p:sp>
            <p:nvSpPr>
              <p:cNvPr id="24" name="Oval 23"/>
              <p:cNvSpPr/>
              <p:nvPr/>
            </p:nvSpPr>
            <p:spPr>
              <a:xfrm>
                <a:off x="6437878"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27" name="Straight Arrow Connector 26"/>
              <p:cNvCxnSpPr>
                <a:stCxn id="21" idx="2"/>
                <a:endCxn id="20"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21" idx="1"/>
                <a:endCxn id="29"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9" name="Straight Arrow Connector 28"/>
              <p:cNvCxnSpPr>
                <a:stCxn id="28" idx="4"/>
                <a:endCxn id="21"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20" idx="0"/>
                <a:endCxn id="29"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20" idx="4"/>
                <a:endCxn id="24"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2" idx="0"/>
                <a:endCxn id="21"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23" idx="1"/>
                <a:endCxn id="22"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5" idx="4"/>
                <a:endCxn id="23"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2" idx="6"/>
                <a:endCxn id="25"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493951"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20" idx="5"/>
                <a:endCxn id="22"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24" idx="6"/>
                <a:endCxn id="22"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6" name="TextBox 5"/>
            <p:cNvSpPr txBox="1"/>
            <p:nvPr/>
          </p:nvSpPr>
          <p:spPr>
            <a:xfrm>
              <a:off x="2028675" y="417565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1014334" y="341323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1009865" y="429309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90608" y="511846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926986" y="370774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91430" y="334770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115366" y="328498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91430" y="429309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79462" y="464384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63090" y="544522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4015218" y="5073951"/>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71550" y="530120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9" name="Right Arrow 38"/>
          <p:cNvSpPr/>
          <p:nvPr/>
        </p:nvSpPr>
        <p:spPr>
          <a:xfrm>
            <a:off x="4085273" y="2541414"/>
            <a:ext cx="769102" cy="5183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p:cNvGrpSpPr/>
          <p:nvPr/>
        </p:nvGrpSpPr>
        <p:grpSpPr>
          <a:xfrm>
            <a:off x="5113921" y="1674027"/>
            <a:ext cx="3420503" cy="2982379"/>
            <a:chOff x="1122137" y="2924944"/>
            <a:chExt cx="3694205" cy="3221023"/>
          </a:xfrm>
        </p:grpSpPr>
        <p:grpSp>
          <p:nvGrpSpPr>
            <p:cNvPr id="41" name="Group 40"/>
            <p:cNvGrpSpPr/>
            <p:nvPr/>
          </p:nvGrpSpPr>
          <p:grpSpPr>
            <a:xfrm>
              <a:off x="1395286" y="2924944"/>
              <a:ext cx="3421056" cy="3221023"/>
              <a:chOff x="3405180" y="3720708"/>
              <a:chExt cx="3421056" cy="3221023"/>
            </a:xfrm>
          </p:grpSpPr>
          <p:sp>
            <p:nvSpPr>
              <p:cNvPr id="54" name="Oval 53"/>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55" name="Oval 5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56" name="Oval 55"/>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3</a:t>
                </a:r>
              </a:p>
            </p:txBody>
          </p:sp>
          <p:sp>
            <p:nvSpPr>
              <p:cNvPr id="57" name="Oval 56"/>
              <p:cNvSpPr/>
              <p:nvPr/>
            </p:nvSpPr>
            <p:spPr>
              <a:xfrm>
                <a:off x="5562091" y="6559894"/>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6</a:t>
                </a:r>
              </a:p>
            </p:txBody>
          </p:sp>
          <p:sp>
            <p:nvSpPr>
              <p:cNvPr id="58" name="Oval 57"/>
              <p:cNvSpPr/>
              <p:nvPr/>
            </p:nvSpPr>
            <p:spPr>
              <a:xfrm>
                <a:off x="3405180" y="5625401"/>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5</a:t>
                </a:r>
              </a:p>
            </p:txBody>
          </p:sp>
          <p:sp>
            <p:nvSpPr>
              <p:cNvPr id="59" name="Oval 58"/>
              <p:cNvSpPr/>
              <p:nvPr/>
            </p:nvSpPr>
            <p:spPr>
              <a:xfrm>
                <a:off x="5562090"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7</a:t>
                </a:r>
              </a:p>
            </p:txBody>
          </p:sp>
          <p:sp>
            <p:nvSpPr>
              <p:cNvPr id="60" name="Oval 59"/>
              <p:cNvSpPr/>
              <p:nvPr/>
            </p:nvSpPr>
            <p:spPr>
              <a:xfrm>
                <a:off x="6444399"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8</a:t>
                </a:r>
              </a:p>
            </p:txBody>
          </p:sp>
          <p:sp>
            <p:nvSpPr>
              <p:cNvPr id="61" name="Oval 6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62" name="Oval 61"/>
              <p:cNvSpPr/>
              <p:nvPr/>
            </p:nvSpPr>
            <p:spPr>
              <a:xfrm>
                <a:off x="3405180" y="3720708"/>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4</a:t>
                </a:r>
              </a:p>
            </p:txBody>
          </p:sp>
          <p:cxnSp>
            <p:nvCxnSpPr>
              <p:cNvPr id="63" name="Straight Arrow Connector 62"/>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4" name="Straight Arrow Connector 63"/>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5" name="Straight Arrow Connector 64"/>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flipH="1" flipV="1">
                <a:off x="3596099" y="4102545"/>
                <a:ext cx="1" cy="574419"/>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flipH="1">
                <a:off x="3596099" y="5058801"/>
                <a:ext cx="1" cy="56660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9" name="Straight Arrow Connector 68"/>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70" name="Straight Arrow Connector 69"/>
              <p:cNvCxnSpPr/>
              <p:nvPr/>
            </p:nvCxnSpPr>
            <p:spPr>
              <a:xfrm>
                <a:off x="5753009" y="6007236"/>
                <a:ext cx="1" cy="552658"/>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71" name="Straight Arrow Connector 70"/>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72" name="Straight Arrow Connector 71"/>
              <p:cNvCxnSpPr/>
              <p:nvPr/>
            </p:nvCxnSpPr>
            <p:spPr>
              <a:xfrm>
                <a:off x="5943927" y="5816318"/>
                <a:ext cx="50047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a:off x="3731099" y="5002882"/>
                <a:ext cx="816895" cy="6784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42" name="TextBox 41"/>
            <p:cNvSpPr txBox="1"/>
            <p:nvPr/>
          </p:nvSpPr>
          <p:spPr>
            <a:xfrm>
              <a:off x="2028675" y="4175653"/>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3" name="TextBox 42"/>
            <p:cNvSpPr txBox="1"/>
            <p:nvPr/>
          </p:nvSpPr>
          <p:spPr>
            <a:xfrm>
              <a:off x="1122137" y="341323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44" name="TextBox 43"/>
            <p:cNvSpPr txBox="1"/>
            <p:nvPr/>
          </p:nvSpPr>
          <p:spPr>
            <a:xfrm>
              <a:off x="1122137"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5" name="TextBox 44"/>
            <p:cNvSpPr txBox="1"/>
            <p:nvPr/>
          </p:nvSpPr>
          <p:spPr>
            <a:xfrm>
              <a:off x="1890608" y="5118469"/>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46" name="TextBox 45"/>
            <p:cNvSpPr txBox="1"/>
            <p:nvPr/>
          </p:nvSpPr>
          <p:spPr>
            <a:xfrm>
              <a:off x="1926986" y="3707740"/>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47" name="TextBox 46"/>
            <p:cNvSpPr txBox="1"/>
            <p:nvPr/>
          </p:nvSpPr>
          <p:spPr>
            <a:xfrm>
              <a:off x="2691430" y="3347700"/>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8" name="TextBox 47"/>
            <p:cNvSpPr txBox="1"/>
            <p:nvPr/>
          </p:nvSpPr>
          <p:spPr>
            <a:xfrm>
              <a:off x="2115366" y="3284984"/>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9" name="TextBox 48"/>
            <p:cNvSpPr txBox="1"/>
            <p:nvPr/>
          </p:nvSpPr>
          <p:spPr>
            <a:xfrm>
              <a:off x="2691430"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50" name="TextBox 49"/>
            <p:cNvSpPr txBox="1"/>
            <p:nvPr/>
          </p:nvSpPr>
          <p:spPr>
            <a:xfrm>
              <a:off x="2979462" y="464384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51" name="TextBox 50"/>
            <p:cNvSpPr txBox="1"/>
            <p:nvPr/>
          </p:nvSpPr>
          <p:spPr>
            <a:xfrm>
              <a:off x="2863090" y="544522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52" name="TextBox 51"/>
            <p:cNvSpPr txBox="1"/>
            <p:nvPr/>
          </p:nvSpPr>
          <p:spPr>
            <a:xfrm>
              <a:off x="4015218" y="501317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53" name="TextBox 52"/>
            <p:cNvSpPr txBox="1"/>
            <p:nvPr/>
          </p:nvSpPr>
          <p:spPr>
            <a:xfrm>
              <a:off x="3771550" y="5301208"/>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grpSp>
      <p:pic>
        <p:nvPicPr>
          <p:cNvPr id="75" name="Picture 7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6209" y="1445712"/>
            <a:ext cx="980591" cy="980591"/>
          </a:xfrm>
          <a:prstGeom prst="rect">
            <a:avLst/>
          </a:prstGeom>
        </p:spPr>
      </p:pic>
      <p:sp>
        <p:nvSpPr>
          <p:cNvPr id="76" name="Right Arrow 75"/>
          <p:cNvSpPr/>
          <p:nvPr/>
        </p:nvSpPr>
        <p:spPr>
          <a:xfrm rot="8557271">
            <a:off x="7114090" y="1930372"/>
            <a:ext cx="436402" cy="33195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7" name="Rectangle 76"/>
              <p:cNvSpPr/>
              <p:nvPr/>
            </p:nvSpPr>
            <p:spPr>
              <a:xfrm>
                <a:off x="5218364" y="4359823"/>
                <a:ext cx="1390107" cy="369332"/>
              </a:xfrm>
              <a:prstGeom prst="rect">
                <a:avLst/>
              </a:prstGeom>
            </p:spPr>
            <p:txBody>
              <a:bodyPr wrap="square">
                <a:spAutoFit/>
              </a:bodyPr>
              <a:lstStyle/>
              <a:p>
                <a:pPr marL="82550" indent="0">
                  <a:buNone/>
                </a:pPr>
                <a:r>
                  <a:rPr lang="zh-CN" altLang="en-US" dirty="0">
                    <a:solidFill>
                      <a:srgbClr val="0000CC"/>
                    </a:solidFill>
                  </a:rPr>
                  <a:t>时间点</a:t>
                </a:r>
                <a:r>
                  <a:rPr lang="en-US" dirty="0">
                    <a:solidFill>
                      <a:srgbClr val="0000CC"/>
                    </a:solidFill>
                  </a:rPr>
                  <a:t> </a:t>
                </a:r>
                <a14:m>
                  <m:oMath xmlns:m="http://schemas.openxmlformats.org/officeDocument/2006/math">
                    <m:sSub>
                      <m:sSubPr>
                        <m:ctrlPr>
                          <a:rPr lang="en-US" b="0" i="1" smtClean="0">
                            <a:solidFill>
                              <a:srgbClr val="0000CC"/>
                            </a:solidFill>
                            <a:latin typeface="Cambria Math" charset="0"/>
                          </a:rPr>
                        </m:ctrlPr>
                      </m:sSubPr>
                      <m:e>
                        <m:r>
                          <a:rPr lang="en-US" b="0" i="1" smtClean="0">
                            <a:solidFill>
                              <a:srgbClr val="0000CC"/>
                            </a:solidFill>
                            <a:latin typeface="Cambria Math" charset="0"/>
                          </a:rPr>
                          <m:t>𝑡</m:t>
                        </m:r>
                      </m:e>
                      <m:sub>
                        <m:r>
                          <a:rPr lang="en-US" b="0" i="1" smtClean="0">
                            <a:solidFill>
                              <a:srgbClr val="0000CC"/>
                            </a:solidFill>
                            <a:latin typeface="Cambria Math" charset="0"/>
                          </a:rPr>
                          <m:t>1</m:t>
                        </m:r>
                      </m:sub>
                    </m:sSub>
                  </m:oMath>
                </a14:m>
                <a:endParaRPr lang="en-US" dirty="0">
                  <a:solidFill>
                    <a:srgbClr val="0000CC"/>
                  </a:solidFill>
                </a:endParaRPr>
              </a:p>
            </p:txBody>
          </p:sp>
        </mc:Choice>
        <mc:Fallback xmlns="">
          <p:sp>
            <p:nvSpPr>
              <p:cNvPr id="77" name="Rectangle 76"/>
              <p:cNvSpPr>
                <a:spLocks noRot="1" noChangeAspect="1" noMove="1" noResize="1" noEditPoints="1" noAdjustHandles="1" noChangeArrowheads="1" noChangeShapeType="1" noTextEdit="1"/>
              </p:cNvSpPr>
              <p:nvPr/>
            </p:nvSpPr>
            <p:spPr>
              <a:xfrm>
                <a:off x="5218364" y="4359823"/>
                <a:ext cx="1390107" cy="369332"/>
              </a:xfrm>
              <a:prstGeom prst="rect">
                <a:avLst/>
              </a:prstGeom>
              <a:blipFill rotWithShape="0">
                <a:blip r:embed="rId4"/>
                <a:stretch>
                  <a:fillRect t="-13115" b="-19672"/>
                </a:stretch>
              </a:blipFill>
            </p:spPr>
            <p:txBody>
              <a:bodyPr/>
              <a:lstStyle/>
              <a:p>
                <a:r>
                  <a:rPr lang="en-US">
                    <a:noFill/>
                  </a:rPr>
                  <a:t> </a:t>
                </a:r>
              </a:p>
            </p:txBody>
          </p:sp>
        </mc:Fallback>
      </mc:AlternateContent>
      <p:sp>
        <p:nvSpPr>
          <p:cNvPr id="78" name="Rectangle 77"/>
          <p:cNvSpPr/>
          <p:nvPr/>
        </p:nvSpPr>
        <p:spPr>
          <a:xfrm>
            <a:off x="7443073" y="2538972"/>
            <a:ext cx="1043715" cy="369332"/>
          </a:xfrm>
          <a:prstGeom prst="rect">
            <a:avLst/>
          </a:prstGeom>
        </p:spPr>
        <p:txBody>
          <a:bodyPr wrap="square">
            <a:spAutoFit/>
          </a:bodyPr>
          <a:lstStyle/>
          <a:p>
            <a:pPr marL="82550" indent="0">
              <a:buNone/>
            </a:pPr>
            <a:r>
              <a:rPr lang="en-US">
                <a:solidFill>
                  <a:srgbClr val="0000CC"/>
                </a:solidFill>
              </a:rPr>
              <a:t>Flip coin</a:t>
            </a:r>
            <a:endParaRPr lang="en-US" dirty="0">
              <a:solidFill>
                <a:srgbClr val="0000CC"/>
              </a:solidFill>
            </a:endParaRPr>
          </a:p>
        </p:txBody>
      </p:sp>
    </p:spTree>
    <p:extLst>
      <p:ext uri="{BB962C8B-B14F-4D97-AF65-F5344CB8AC3E}">
        <p14:creationId xmlns:p14="http://schemas.microsoft.com/office/powerpoint/2010/main" val="20613908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p:txBody>
          <a:bodyPr/>
          <a:lstStyle/>
          <a:p>
            <a:r>
              <a:rPr lang="zh-CN" altLang="en-US" dirty="0"/>
              <a:t>被激活的邻居继续影响他们的好友</a:t>
            </a:r>
          </a:p>
          <a:p>
            <a:pPr lvl="1"/>
            <a:r>
              <a:rPr lang="zh-CN" altLang="en-US" dirty="0"/>
              <a:t>注：每个用户只有一次机会去激活其好友</a:t>
            </a:r>
            <a:endParaRPr lang="en-US" dirty="0"/>
          </a:p>
        </p:txBody>
      </p:sp>
      <p:grpSp>
        <p:nvGrpSpPr>
          <p:cNvPr id="4" name="Group 3"/>
          <p:cNvGrpSpPr/>
          <p:nvPr/>
        </p:nvGrpSpPr>
        <p:grpSpPr>
          <a:xfrm>
            <a:off x="989007" y="1790104"/>
            <a:ext cx="3362087" cy="2931445"/>
            <a:chOff x="1122137" y="2924944"/>
            <a:chExt cx="3694205" cy="3221023"/>
          </a:xfrm>
        </p:grpSpPr>
        <p:grpSp>
          <p:nvGrpSpPr>
            <p:cNvPr id="5" name="Group 4"/>
            <p:cNvGrpSpPr/>
            <p:nvPr/>
          </p:nvGrpSpPr>
          <p:grpSpPr>
            <a:xfrm>
              <a:off x="1395286" y="2924944"/>
              <a:ext cx="3421056" cy="3221023"/>
              <a:chOff x="3405180" y="3720708"/>
              <a:chExt cx="3421056" cy="3221023"/>
            </a:xfrm>
          </p:grpSpPr>
          <p:sp>
            <p:nvSpPr>
              <p:cNvPr id="18" name="Oval 17"/>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1</a:t>
                </a:r>
              </a:p>
            </p:txBody>
          </p:sp>
          <p:sp>
            <p:nvSpPr>
              <p:cNvPr id="20" name="Oval 19"/>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3</a:t>
                </a:r>
              </a:p>
            </p:txBody>
          </p:sp>
          <p:sp>
            <p:nvSpPr>
              <p:cNvPr id="21" name="Oval 20"/>
              <p:cNvSpPr/>
              <p:nvPr/>
            </p:nvSpPr>
            <p:spPr>
              <a:xfrm>
                <a:off x="5562091" y="6559894"/>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6</a:t>
                </a:r>
              </a:p>
            </p:txBody>
          </p:sp>
          <p:sp>
            <p:nvSpPr>
              <p:cNvPr id="22" name="Oval 21"/>
              <p:cNvSpPr/>
              <p:nvPr/>
            </p:nvSpPr>
            <p:spPr>
              <a:xfrm>
                <a:off x="3405180" y="5625401"/>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5</a:t>
                </a:r>
              </a:p>
            </p:txBody>
          </p:sp>
          <p:sp>
            <p:nvSpPr>
              <p:cNvPr id="23" name="Oval 22"/>
              <p:cNvSpPr/>
              <p:nvPr/>
            </p:nvSpPr>
            <p:spPr>
              <a:xfrm>
                <a:off x="5562090"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7</a:t>
                </a:r>
              </a:p>
            </p:txBody>
          </p:sp>
          <p:sp>
            <p:nvSpPr>
              <p:cNvPr id="24" name="Oval 23"/>
              <p:cNvSpPr/>
              <p:nvPr/>
            </p:nvSpPr>
            <p:spPr>
              <a:xfrm>
                <a:off x="6444399"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4</a:t>
                </a:r>
              </a:p>
            </p:txBody>
          </p:sp>
          <p:cxnSp>
            <p:nvCxnSpPr>
              <p:cNvPr id="27" name="Straight Arrow Connector 2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flipH="1" flipV="1">
                <a:off x="3596099" y="4102545"/>
                <a:ext cx="1" cy="574419"/>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flipH="1">
                <a:off x="3596099" y="5058801"/>
                <a:ext cx="1" cy="56660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H="1" flipV="1">
                <a:off x="4681319" y="5054894"/>
                <a:ext cx="1675" cy="57051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flipV="1">
                <a:off x="4817993" y="5951323"/>
                <a:ext cx="800017" cy="664490"/>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5753009" y="6007236"/>
                <a:ext cx="1" cy="552658"/>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flipV="1">
                <a:off x="4873912" y="5816318"/>
                <a:ext cx="688178" cy="6"/>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a:off x="5943927" y="5816318"/>
                <a:ext cx="50047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731099" y="5002882"/>
                <a:ext cx="816895" cy="6784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6" name="TextBox 5"/>
            <p:cNvSpPr txBox="1"/>
            <p:nvPr/>
          </p:nvSpPr>
          <p:spPr>
            <a:xfrm>
              <a:off x="2028675" y="4175653"/>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7" name="TextBox 6"/>
            <p:cNvSpPr txBox="1"/>
            <p:nvPr/>
          </p:nvSpPr>
          <p:spPr>
            <a:xfrm>
              <a:off x="1122137" y="341323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8" name="TextBox 7"/>
            <p:cNvSpPr txBox="1"/>
            <p:nvPr/>
          </p:nvSpPr>
          <p:spPr>
            <a:xfrm>
              <a:off x="1122137"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9" name="TextBox 8"/>
            <p:cNvSpPr txBox="1"/>
            <p:nvPr/>
          </p:nvSpPr>
          <p:spPr>
            <a:xfrm>
              <a:off x="1890608" y="5118469"/>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0" name="TextBox 9"/>
            <p:cNvSpPr txBox="1"/>
            <p:nvPr/>
          </p:nvSpPr>
          <p:spPr>
            <a:xfrm>
              <a:off x="1926986" y="3707740"/>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1" name="TextBox 10"/>
            <p:cNvSpPr txBox="1"/>
            <p:nvPr/>
          </p:nvSpPr>
          <p:spPr>
            <a:xfrm>
              <a:off x="2691430" y="3347700"/>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2" name="TextBox 11"/>
            <p:cNvSpPr txBox="1"/>
            <p:nvPr/>
          </p:nvSpPr>
          <p:spPr>
            <a:xfrm>
              <a:off x="2115366" y="3284984"/>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3" name="TextBox 12"/>
            <p:cNvSpPr txBox="1"/>
            <p:nvPr/>
          </p:nvSpPr>
          <p:spPr>
            <a:xfrm>
              <a:off x="2691430"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4" name="TextBox 13"/>
            <p:cNvSpPr txBox="1"/>
            <p:nvPr/>
          </p:nvSpPr>
          <p:spPr>
            <a:xfrm>
              <a:off x="2979462" y="464384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5" name="TextBox 14"/>
            <p:cNvSpPr txBox="1"/>
            <p:nvPr/>
          </p:nvSpPr>
          <p:spPr>
            <a:xfrm>
              <a:off x="2863090" y="544522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6" name="TextBox 15"/>
            <p:cNvSpPr txBox="1"/>
            <p:nvPr/>
          </p:nvSpPr>
          <p:spPr>
            <a:xfrm>
              <a:off x="4015218" y="501317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7" name="TextBox 16"/>
            <p:cNvSpPr txBox="1"/>
            <p:nvPr/>
          </p:nvSpPr>
          <p:spPr>
            <a:xfrm>
              <a:off x="3771550" y="5301208"/>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grpSp>
      <p:pic>
        <p:nvPicPr>
          <p:cNvPr id="39" name="Picture 3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295" y="1561789"/>
            <a:ext cx="963844" cy="963844"/>
          </a:xfrm>
          <a:prstGeom prst="rect">
            <a:avLst/>
          </a:prstGeom>
        </p:spPr>
      </p:pic>
      <p:sp>
        <p:nvSpPr>
          <p:cNvPr id="40" name="Right Arrow 39"/>
          <p:cNvSpPr/>
          <p:nvPr/>
        </p:nvSpPr>
        <p:spPr>
          <a:xfrm rot="8557271">
            <a:off x="2988220" y="2049293"/>
            <a:ext cx="428948" cy="32628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Rectangle 40"/>
              <p:cNvSpPr/>
              <p:nvPr/>
            </p:nvSpPr>
            <p:spPr>
              <a:xfrm>
                <a:off x="1237600" y="4350396"/>
                <a:ext cx="1503194" cy="369332"/>
              </a:xfrm>
              <a:prstGeom prst="rect">
                <a:avLst/>
              </a:prstGeom>
            </p:spPr>
            <p:txBody>
              <a:bodyPr wrap="square">
                <a:spAutoFit/>
              </a:bodyPr>
              <a:lstStyle/>
              <a:p>
                <a:pPr marL="82550" indent="0">
                  <a:buNone/>
                </a:pPr>
                <a:r>
                  <a:rPr lang="zh-CN" altLang="en-US" dirty="0">
                    <a:solidFill>
                      <a:srgbClr val="0000CC"/>
                    </a:solidFill>
                  </a:rPr>
                  <a:t>时间点</a:t>
                </a:r>
                <a:r>
                  <a:rPr lang="en-US" dirty="0">
                    <a:solidFill>
                      <a:srgbClr val="0000CC"/>
                    </a:solidFill>
                  </a:rPr>
                  <a:t> </a:t>
                </a:r>
                <a14:m>
                  <m:oMath xmlns:m="http://schemas.openxmlformats.org/officeDocument/2006/math">
                    <m:sSub>
                      <m:sSubPr>
                        <m:ctrlPr>
                          <a:rPr lang="en-US" b="0" i="1" smtClean="0">
                            <a:solidFill>
                              <a:srgbClr val="0000CC"/>
                            </a:solidFill>
                            <a:latin typeface="Cambria Math" charset="0"/>
                          </a:rPr>
                        </m:ctrlPr>
                      </m:sSubPr>
                      <m:e>
                        <m:r>
                          <a:rPr lang="en-US" b="0" i="1" smtClean="0">
                            <a:solidFill>
                              <a:srgbClr val="0000CC"/>
                            </a:solidFill>
                            <a:latin typeface="Cambria Math" charset="0"/>
                          </a:rPr>
                          <m:t>𝑡</m:t>
                        </m:r>
                      </m:e>
                      <m:sub>
                        <m:r>
                          <a:rPr lang="en-US" b="0" i="1" smtClean="0">
                            <a:solidFill>
                              <a:srgbClr val="0000CC"/>
                            </a:solidFill>
                            <a:latin typeface="Cambria Math" charset="0"/>
                          </a:rPr>
                          <m:t>2</m:t>
                        </m:r>
                      </m:sub>
                    </m:sSub>
                  </m:oMath>
                </a14:m>
                <a:endParaRPr lang="en-US" dirty="0">
                  <a:solidFill>
                    <a:srgbClr val="0000CC"/>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1237600" y="4350396"/>
                <a:ext cx="1503194" cy="369332"/>
              </a:xfrm>
              <a:prstGeom prst="rect">
                <a:avLst/>
              </a:prstGeom>
              <a:blipFill rotWithShape="0">
                <a:blip r:embed="rId4"/>
                <a:stretch>
                  <a:fillRect t="-15000" b="-21667"/>
                </a:stretch>
              </a:blipFill>
            </p:spPr>
            <p:txBody>
              <a:bodyPr/>
              <a:lstStyle/>
              <a:p>
                <a:r>
                  <a:rPr lang="en-US">
                    <a:noFill/>
                  </a:rPr>
                  <a:t> </a:t>
                </a:r>
              </a:p>
            </p:txBody>
          </p:sp>
        </mc:Fallback>
      </mc:AlternateContent>
      <p:sp>
        <p:nvSpPr>
          <p:cNvPr id="42" name="Rectangle 41"/>
          <p:cNvSpPr/>
          <p:nvPr/>
        </p:nvSpPr>
        <p:spPr>
          <a:xfrm>
            <a:off x="3318159" y="2655049"/>
            <a:ext cx="1025891" cy="646331"/>
          </a:xfrm>
          <a:prstGeom prst="rect">
            <a:avLst/>
          </a:prstGeom>
        </p:spPr>
        <p:txBody>
          <a:bodyPr wrap="square">
            <a:spAutoFit/>
          </a:bodyPr>
          <a:lstStyle/>
          <a:p>
            <a:pPr marL="82550" indent="0">
              <a:buNone/>
            </a:pPr>
            <a:r>
              <a:rPr lang="en-US">
                <a:solidFill>
                  <a:srgbClr val="0000CC"/>
                </a:solidFill>
              </a:rPr>
              <a:t>Flip coin</a:t>
            </a:r>
            <a:endParaRPr lang="en-US" dirty="0">
              <a:solidFill>
                <a:srgbClr val="0000CC"/>
              </a:solidFill>
            </a:endParaRPr>
          </a:p>
        </p:txBody>
      </p:sp>
      <p:sp>
        <p:nvSpPr>
          <p:cNvPr id="43" name="Right Arrow 42"/>
          <p:cNvSpPr/>
          <p:nvPr/>
        </p:nvSpPr>
        <p:spPr>
          <a:xfrm>
            <a:off x="4854888" y="2383121"/>
            <a:ext cx="784943" cy="509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Rectangle 43"/>
              <p:cNvSpPr/>
              <p:nvPr/>
            </p:nvSpPr>
            <p:spPr>
              <a:xfrm>
                <a:off x="5779220" y="1108685"/>
                <a:ext cx="2712472" cy="2923877"/>
              </a:xfrm>
              <a:prstGeom prst="rect">
                <a:avLst/>
              </a:prstGeom>
            </p:spPr>
            <p:txBody>
              <a:bodyPr wrap="square">
                <a:spAutoFit/>
              </a:bodyPr>
              <a:lstStyle/>
              <a:p>
                <a:pPr marL="82550" indent="0">
                  <a:buNone/>
                </a:pPr>
                <a:r>
                  <a:rPr lang="zh-CN" altLang="en-US" sz="2000" dirty="0">
                    <a:latin typeface="Microsoft YaHei" charset="-122"/>
                    <a:ea typeface="Microsoft YaHei" charset="-122"/>
                    <a:cs typeface="Microsoft YaHei" charset="-122"/>
                  </a:rPr>
                  <a:t>直到没有新的用户被激活，停止</a:t>
                </a:r>
                <a:endParaRPr lang="en-US" sz="2000" dirty="0">
                  <a:latin typeface="Microsoft YaHei" charset="-122"/>
                  <a:ea typeface="Microsoft YaHei" charset="-122"/>
                  <a:cs typeface="Microsoft YaHei" charset="-122"/>
                </a:endParaRPr>
              </a:p>
              <a:p>
                <a:pPr marL="539750" indent="-457200">
                  <a:buFont typeface="Wingdings" charset="2"/>
                  <a:buChar char="ü"/>
                </a:pPr>
                <a14:m>
                  <m:oMath xmlns:m="http://schemas.openxmlformats.org/officeDocument/2006/math">
                    <m:sSub>
                      <m:sSubPr>
                        <m:ctrlPr>
                          <a:rPr lang="en-US" sz="2400" b="0" i="1" smtClean="0">
                            <a:latin typeface="Cambria Math" charset="0"/>
                          </a:rPr>
                        </m:ctrlPr>
                      </m:sSubPr>
                      <m:e>
                        <m:r>
                          <a:rPr lang="en-US" sz="2400" b="0" i="1" smtClean="0">
                            <a:latin typeface="Cambria Math" charset="0"/>
                          </a:rPr>
                          <m:t>𝑢</m:t>
                        </m:r>
                      </m:e>
                      <m:sub>
                        <m:r>
                          <a:rPr lang="en-US" sz="2400" b="0" i="1" smtClean="0">
                            <a:latin typeface="Cambria Math" charset="0"/>
                          </a:rPr>
                          <m:t>1</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2</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3</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5</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6</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7</m:t>
                        </m:r>
                      </m:sub>
                    </m:sSub>
                  </m:oMath>
                </a14:m>
                <a:endParaRPr lang="en-US" sz="2800" dirty="0"/>
              </a:p>
            </p:txBody>
          </p:sp>
        </mc:Choice>
        <mc:Fallback xmlns="">
          <p:sp>
            <p:nvSpPr>
              <p:cNvPr id="44" name="Rectangle 43"/>
              <p:cNvSpPr>
                <a:spLocks noRot="1" noChangeAspect="1" noMove="1" noResize="1" noEditPoints="1" noAdjustHandles="1" noChangeArrowheads="1" noChangeShapeType="1" noTextEdit="1"/>
              </p:cNvSpPr>
              <p:nvPr/>
            </p:nvSpPr>
            <p:spPr>
              <a:xfrm>
                <a:off x="5779220" y="1108685"/>
                <a:ext cx="2712472" cy="2923877"/>
              </a:xfrm>
              <a:prstGeom prst="rect">
                <a:avLst/>
              </a:prstGeom>
              <a:blipFill rotWithShape="0">
                <a:blip r:embed="rId5"/>
                <a:stretch>
                  <a:fillRect t="-1250" b="-2917"/>
                </a:stretch>
              </a:blipFill>
            </p:spPr>
            <p:txBody>
              <a:bodyPr/>
              <a:lstStyle/>
              <a:p>
                <a:r>
                  <a:rPr lang="en-US">
                    <a:noFill/>
                  </a:rPr>
                  <a:t> </a:t>
                </a:r>
              </a:p>
            </p:txBody>
          </p:sp>
        </mc:Fallback>
      </mc:AlternateContent>
      <p:sp>
        <p:nvSpPr>
          <p:cNvPr id="45" name="Right Brace 44"/>
          <p:cNvSpPr/>
          <p:nvPr/>
        </p:nvSpPr>
        <p:spPr>
          <a:xfrm>
            <a:off x="6923993" y="1877513"/>
            <a:ext cx="407374" cy="1900457"/>
          </a:xfrm>
          <a:prstGeom prst="rightBrace">
            <a:avLst>
              <a:gd name="adj1" fmla="val 5358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Rectangle 45"/>
              <p:cNvSpPr/>
              <p:nvPr/>
            </p:nvSpPr>
            <p:spPr>
              <a:xfrm>
                <a:off x="7306107" y="2433707"/>
                <a:ext cx="1488078" cy="707886"/>
              </a:xfrm>
              <a:prstGeom prst="rect">
                <a:avLst/>
              </a:prstGeom>
            </p:spPr>
            <p:txBody>
              <a:bodyPr wrap="square">
                <a:spAutoFit/>
              </a:bodyPr>
              <a:lstStyle/>
              <a:p>
                <a:pPr marL="82550" indent="0" algn="ctr">
                  <a:buNone/>
                </a:pPr>
                <a14:m>
                  <m:oMath xmlns:m="http://schemas.openxmlformats.org/officeDocument/2006/math">
                    <m:sSub>
                      <m:sSubPr>
                        <m:ctrlPr>
                          <a:rPr lang="en-US" sz="2000" b="0" i="1" smtClean="0">
                            <a:solidFill>
                              <a:srgbClr val="0000CC"/>
                            </a:solidFill>
                            <a:latin typeface="Cambria Math" charset="0"/>
                          </a:rPr>
                        </m:ctrlPr>
                      </m:sSubPr>
                      <m:e>
                        <m:r>
                          <a:rPr lang="en-US" sz="2000" b="0" i="1" smtClean="0">
                            <a:solidFill>
                              <a:srgbClr val="0000CC"/>
                            </a:solidFill>
                            <a:latin typeface="Cambria Math" charset="0"/>
                          </a:rPr>
                          <m:t>𝑢</m:t>
                        </m:r>
                      </m:e>
                      <m:sub>
                        <m:r>
                          <a:rPr lang="en-US" sz="2000" b="0" i="1" smtClean="0">
                            <a:solidFill>
                              <a:srgbClr val="0000CC"/>
                            </a:solidFill>
                            <a:latin typeface="Cambria Math" charset="0"/>
                          </a:rPr>
                          <m:t>2</m:t>
                        </m:r>
                      </m:sub>
                    </m:sSub>
                  </m:oMath>
                </a14:m>
                <a:r>
                  <a:rPr lang="zh-CN" altLang="en-US" sz="2000" dirty="0">
                    <a:solidFill>
                      <a:srgbClr val="0000CC"/>
                    </a:solidFill>
                  </a:rPr>
                  <a:t>和</a:t>
                </a:r>
                <a:r>
                  <a:rPr lang="en-US" sz="2000" dirty="0">
                    <a:solidFill>
                      <a:srgbClr val="0000CC"/>
                    </a:solidFill>
                  </a:rPr>
                  <a:t> </a:t>
                </a:r>
                <a14:m>
                  <m:oMath xmlns:m="http://schemas.openxmlformats.org/officeDocument/2006/math">
                    <m:sSub>
                      <m:sSubPr>
                        <m:ctrlPr>
                          <a:rPr lang="en-US" sz="2000" b="0" i="1" smtClean="0">
                            <a:solidFill>
                              <a:srgbClr val="0000CC"/>
                            </a:solidFill>
                            <a:latin typeface="Cambria Math" charset="0"/>
                          </a:rPr>
                        </m:ctrlPr>
                      </m:sSubPr>
                      <m:e>
                        <m:r>
                          <a:rPr lang="en-US" sz="2000" b="0" i="1" smtClean="0">
                            <a:solidFill>
                              <a:srgbClr val="0000CC"/>
                            </a:solidFill>
                            <a:latin typeface="Cambria Math" charset="0"/>
                          </a:rPr>
                          <m:t>𝑢</m:t>
                        </m:r>
                      </m:e>
                      <m:sub>
                        <m:r>
                          <a:rPr lang="en-US" sz="2000" b="0" i="1" smtClean="0">
                            <a:solidFill>
                              <a:srgbClr val="0000CC"/>
                            </a:solidFill>
                            <a:latin typeface="Cambria Math" charset="0"/>
                          </a:rPr>
                          <m:t>7</m:t>
                        </m:r>
                      </m:sub>
                    </m:sSub>
                  </m:oMath>
                </a14:m>
                <a:r>
                  <a:rPr lang="zh-CN" altLang="en-US" sz="2000" dirty="0">
                    <a:solidFill>
                      <a:srgbClr val="0000CC"/>
                    </a:solidFill>
                  </a:rPr>
                  <a:t>的</a:t>
                </a:r>
                <a:endParaRPr lang="en-US" altLang="zh-CN" sz="2000" dirty="0">
                  <a:solidFill>
                    <a:srgbClr val="0000CC"/>
                  </a:solidFill>
                </a:endParaRPr>
              </a:p>
              <a:p>
                <a:pPr marL="82550" indent="0" algn="ctr">
                  <a:buNone/>
                </a:pPr>
                <a:r>
                  <a:rPr lang="zh-CN" altLang="en-US" sz="2000" dirty="0">
                    <a:solidFill>
                      <a:srgbClr val="0000CC"/>
                    </a:solidFill>
                  </a:rPr>
                  <a:t>影响范围</a:t>
                </a:r>
                <a:r>
                  <a:rPr lang="en-US" sz="2000" dirty="0">
                    <a:solidFill>
                      <a:srgbClr val="0000CC"/>
                    </a:solidFill>
                  </a:rPr>
                  <a:t> </a:t>
                </a:r>
              </a:p>
            </p:txBody>
          </p:sp>
        </mc:Choice>
        <mc:Fallback xmlns="">
          <p:sp>
            <p:nvSpPr>
              <p:cNvPr id="46" name="Rectangle 45"/>
              <p:cNvSpPr>
                <a:spLocks noRot="1" noChangeAspect="1" noMove="1" noResize="1" noEditPoints="1" noAdjustHandles="1" noChangeArrowheads="1" noChangeShapeType="1" noTextEdit="1"/>
              </p:cNvSpPr>
              <p:nvPr/>
            </p:nvSpPr>
            <p:spPr>
              <a:xfrm>
                <a:off x="7306107" y="2433707"/>
                <a:ext cx="1488078" cy="707886"/>
              </a:xfrm>
              <a:prstGeom prst="rect">
                <a:avLst/>
              </a:prstGeom>
              <a:blipFill rotWithShape="0">
                <a:blip r:embed="rId6"/>
                <a:stretch>
                  <a:fillRect t="-6897" b="-12069"/>
                </a:stretch>
              </a:blipFill>
            </p:spPr>
            <p:txBody>
              <a:bodyPr/>
              <a:lstStyle/>
              <a:p>
                <a:r>
                  <a:rPr lang="en-US">
                    <a:noFill/>
                  </a:rPr>
                  <a:t> </a:t>
                </a:r>
              </a:p>
            </p:txBody>
          </p:sp>
        </mc:Fallback>
      </mc:AlternateContent>
      <p:sp>
        <p:nvSpPr>
          <p:cNvPr id="47" name="Rectangle 46"/>
          <p:cNvSpPr/>
          <p:nvPr/>
        </p:nvSpPr>
        <p:spPr>
          <a:xfrm>
            <a:off x="5710260" y="4040413"/>
            <a:ext cx="2685835" cy="707886"/>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上述过程重复多次，求出平均的影响范围</a:t>
            </a:r>
            <a:endParaRPr lang="en-US" altLang="zh-CN" sz="20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2439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如何干预信息的传播过程</a:t>
            </a:r>
            <a:endParaRPr lang="en-US" dirty="0"/>
          </a:p>
        </p:txBody>
      </p:sp>
      <p:sp>
        <p:nvSpPr>
          <p:cNvPr id="3" name="Content Placeholder 2"/>
          <p:cNvSpPr>
            <a:spLocks noGrp="1"/>
          </p:cNvSpPr>
          <p:nvPr>
            <p:ph idx="1"/>
          </p:nvPr>
        </p:nvSpPr>
        <p:spPr/>
        <p:txBody>
          <a:bodyPr/>
          <a:lstStyle/>
          <a:p>
            <a:r>
              <a:rPr lang="zh-CN" altLang="en-US" dirty="0"/>
              <a:t>影响力最大化</a:t>
            </a:r>
            <a:r>
              <a:rPr lang="en-US" altLang="zh-CN" dirty="0"/>
              <a:t>Influence Maximization</a:t>
            </a:r>
          </a:p>
          <a:p>
            <a:pPr lvl="1"/>
            <a:r>
              <a:rPr lang="zh-CN" altLang="en-US" dirty="0"/>
              <a:t>找到信息传播中的“关键种子节点”</a:t>
            </a:r>
            <a:endParaRPr lang="en-US" dirty="0"/>
          </a:p>
        </p:txBody>
      </p:sp>
      <p:grpSp>
        <p:nvGrpSpPr>
          <p:cNvPr id="4" name="Group 3"/>
          <p:cNvGrpSpPr/>
          <p:nvPr/>
        </p:nvGrpSpPr>
        <p:grpSpPr>
          <a:xfrm>
            <a:off x="1193760" y="1791374"/>
            <a:ext cx="3321669" cy="2964776"/>
            <a:chOff x="3405180" y="3720708"/>
            <a:chExt cx="3608762" cy="3221023"/>
          </a:xfrm>
        </p:grpSpPr>
        <p:sp>
          <p:nvSpPr>
            <p:cNvPr id="5" name="Oval 4"/>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Oval 25"/>
          <p:cNvSpPr/>
          <p:nvPr/>
        </p:nvSpPr>
        <p:spPr>
          <a:xfrm rot="1993131">
            <a:off x="933148" y="2512615"/>
            <a:ext cx="2428712" cy="139454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Content Placeholder 2"/>
              <p:cNvSpPr txBox="1">
                <a:spLocks/>
              </p:cNvSpPr>
              <p:nvPr/>
            </p:nvSpPr>
            <p:spPr>
              <a:xfrm>
                <a:off x="4805430" y="1813788"/>
                <a:ext cx="3474728" cy="86800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3225" lvl="1" indent="0" eaLnBrk="0" fontAlgn="base" hangingPunct="0">
                  <a:spcBef>
                    <a:spcPts val="550"/>
                  </a:spcBef>
                  <a:spcAft>
                    <a:spcPct val="0"/>
                  </a:spcAft>
                  <a:buClr>
                    <a:schemeClr val="accent1"/>
                  </a:buClr>
                  <a:buNone/>
                </a:pPr>
                <a:r>
                  <a:rPr lang="zh-CN" altLang="en-US" sz="2000" dirty="0">
                    <a:solidFill>
                      <a:srgbClr val="0000CC"/>
                    </a:solidFill>
                  </a:rPr>
                  <a:t>选择最优种子集合</a:t>
                </a:r>
                <a14:m>
                  <m:oMath xmlns:m="http://schemas.openxmlformats.org/officeDocument/2006/math">
                    <m:sSup>
                      <m:sSupPr>
                        <m:ctrlPr>
                          <a:rPr lang="en-US" sz="2000" i="1">
                            <a:solidFill>
                              <a:srgbClr val="0000CC"/>
                            </a:solidFill>
                            <a:latin typeface="Cambria Math" charset="0"/>
                          </a:rPr>
                        </m:ctrlPr>
                      </m:sSupPr>
                      <m:e>
                        <m:r>
                          <a:rPr lang="en-US" sz="2000">
                            <a:solidFill>
                              <a:srgbClr val="0000CC"/>
                            </a:solidFill>
                            <a:latin typeface="Cambria Math" charset="0"/>
                          </a:rPr>
                          <m:t>𝑆</m:t>
                        </m:r>
                      </m:e>
                      <m:sup>
                        <m:r>
                          <a:rPr lang="en-US" sz="2000">
                            <a:solidFill>
                              <a:srgbClr val="0000CC"/>
                            </a:solidFill>
                            <a:latin typeface="Cambria Math" charset="0"/>
                          </a:rPr>
                          <m:t>∗</m:t>
                        </m:r>
                      </m:sup>
                    </m:sSup>
                  </m:oMath>
                </a14:m>
                <a:r>
                  <a:rPr lang="en-US" sz="2000" dirty="0">
                    <a:solidFill>
                      <a:srgbClr val="0000CC"/>
                    </a:solidFill>
                  </a:rPr>
                  <a:t> </a:t>
                </a:r>
                <a:r>
                  <a:rPr lang="zh-CN" altLang="en-US" sz="2000" dirty="0">
                    <a:solidFill>
                      <a:srgbClr val="0000CC"/>
                    </a:solidFill>
                  </a:rPr>
                  <a:t>使得其期望的影响范围最大化</a:t>
                </a:r>
                <a:endParaRPr lang="en-US" sz="2000" dirty="0">
                  <a:solidFill>
                    <a:srgbClr val="0000CC"/>
                  </a:solidFill>
                </a:endParaRPr>
              </a:p>
            </p:txBody>
          </p:sp>
        </mc:Choice>
        <mc:Fallback xmlns="">
          <p:sp>
            <p:nvSpPr>
              <p:cNvPr id="27" name="Content Placeholder 2"/>
              <p:cNvSpPr txBox="1">
                <a:spLocks noRot="1" noChangeAspect="1" noMove="1" noResize="1" noEditPoints="1" noAdjustHandles="1" noChangeArrowheads="1" noChangeShapeType="1" noTextEdit="1"/>
              </p:cNvSpPr>
              <p:nvPr/>
            </p:nvSpPr>
            <p:spPr>
              <a:xfrm>
                <a:off x="4805430" y="1813788"/>
                <a:ext cx="3474728" cy="868006"/>
              </a:xfrm>
              <a:prstGeom prst="rect">
                <a:avLst/>
              </a:prstGeom>
              <a:blipFill rotWithShape="0">
                <a:blip r:embed="rId2"/>
                <a:stretch>
                  <a:fillRect t="-6338" r="-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180203" y="2692485"/>
                <a:ext cx="323997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0000CC"/>
                              </a:solidFill>
                              <a:latin typeface="Cambria Math" charset="0"/>
                            </a:rPr>
                          </m:ctrlPr>
                        </m:sSupPr>
                        <m:e>
                          <m:r>
                            <a:rPr lang="en-US" sz="2800" b="0" i="1" smtClean="0">
                              <a:solidFill>
                                <a:srgbClr val="0000CC"/>
                              </a:solidFill>
                              <a:latin typeface="Cambria Math" charset="0"/>
                            </a:rPr>
                            <m:t>𝑆</m:t>
                          </m:r>
                        </m:e>
                        <m:sup>
                          <m:r>
                            <a:rPr lang="en-US" sz="2800" b="0" i="1" smtClean="0">
                              <a:solidFill>
                                <a:srgbClr val="0000CC"/>
                              </a:solidFill>
                              <a:latin typeface="Cambria Math" charset="0"/>
                            </a:rPr>
                            <m:t>∗</m:t>
                          </m:r>
                        </m:sup>
                      </m:sSup>
                      <m:r>
                        <a:rPr lang="en-US" sz="2800" b="0" i="1" smtClean="0">
                          <a:solidFill>
                            <a:srgbClr val="0000CC"/>
                          </a:solidFill>
                          <a:latin typeface="Cambria Math" charset="0"/>
                        </a:rPr>
                        <m:t>=</m:t>
                      </m:r>
                      <m:func>
                        <m:funcPr>
                          <m:ctrlPr>
                            <a:rPr lang="en-US" sz="2800" b="0" i="1" smtClean="0">
                              <a:solidFill>
                                <a:srgbClr val="0000CC"/>
                              </a:solidFill>
                              <a:latin typeface="Cambria Math" charset="0"/>
                            </a:rPr>
                          </m:ctrlPr>
                        </m:funcPr>
                        <m:fName>
                          <m:sSub>
                            <m:sSubPr>
                              <m:ctrlPr>
                                <a:rPr lang="en-US" sz="2800" b="0" i="1" smtClean="0">
                                  <a:solidFill>
                                    <a:srgbClr val="0000CC"/>
                                  </a:solidFill>
                                  <a:latin typeface="Cambria Math" charset="0"/>
                                </a:rPr>
                              </m:ctrlPr>
                            </m:sSubPr>
                            <m:e>
                              <m:r>
                                <m:rPr>
                                  <m:sty m:val="p"/>
                                </m:rPr>
                                <a:rPr lang="en-US" sz="2800" b="0" i="0" smtClean="0">
                                  <a:solidFill>
                                    <a:srgbClr val="0000CC"/>
                                  </a:solidFill>
                                  <a:latin typeface="Cambria Math" charset="0"/>
                                </a:rPr>
                                <m:t>arg</m:t>
                              </m:r>
                            </m:e>
                            <m:sub>
                              <m:r>
                                <a:rPr lang="en-US" sz="2800" b="0" i="1" smtClean="0">
                                  <a:solidFill>
                                    <a:srgbClr val="0000CC"/>
                                  </a:solidFill>
                                  <a:latin typeface="Cambria Math" charset="0"/>
                                </a:rPr>
                                <m:t>𝑆</m:t>
                              </m:r>
                            </m:sub>
                          </m:sSub>
                        </m:fName>
                        <m:e>
                          <m:func>
                            <m:funcPr>
                              <m:ctrlPr>
                                <a:rPr lang="en-US" sz="2800" b="0" i="1" smtClean="0">
                                  <a:solidFill>
                                    <a:srgbClr val="0000CC"/>
                                  </a:solidFill>
                                  <a:latin typeface="Cambria Math" charset="0"/>
                                </a:rPr>
                              </m:ctrlPr>
                            </m:funcPr>
                            <m:fName>
                              <m:r>
                                <m:rPr>
                                  <m:sty m:val="p"/>
                                </m:rPr>
                                <a:rPr lang="en-US" sz="2800" b="0" i="0" smtClean="0">
                                  <a:solidFill>
                                    <a:srgbClr val="0000CC"/>
                                  </a:solidFill>
                                  <a:latin typeface="Cambria Math" charset="0"/>
                                </a:rPr>
                                <m:t>max</m:t>
                              </m:r>
                            </m:fName>
                            <m:e>
                              <m:r>
                                <a:rPr lang="en-US" sz="2800" b="0" i="1" smtClean="0">
                                  <a:solidFill>
                                    <a:srgbClr val="0000CC"/>
                                  </a:solidFill>
                                  <a:latin typeface="Cambria Math" charset="0"/>
                                  <a:ea typeface="Cambria Math" charset="0"/>
                                  <a:cs typeface="Cambria Math" charset="0"/>
                                </a:rPr>
                                <m:t>𝜎</m:t>
                              </m:r>
                              <m:r>
                                <a:rPr lang="en-US" sz="2800" b="0" i="1" smtClean="0">
                                  <a:solidFill>
                                    <a:srgbClr val="0000CC"/>
                                  </a:solidFill>
                                  <a:latin typeface="Cambria Math" charset="0"/>
                                  <a:ea typeface="Cambria Math" charset="0"/>
                                  <a:cs typeface="Cambria Math" charset="0"/>
                                </a:rPr>
                                <m:t>(</m:t>
                              </m:r>
                              <m:r>
                                <a:rPr lang="en-US" sz="2800" b="0" i="1" smtClean="0">
                                  <a:solidFill>
                                    <a:srgbClr val="0000CC"/>
                                  </a:solidFill>
                                  <a:latin typeface="Cambria Math" charset="0"/>
                                  <a:ea typeface="Cambria Math" charset="0"/>
                                  <a:cs typeface="Cambria Math" charset="0"/>
                                </a:rPr>
                                <m:t>𝑆</m:t>
                              </m:r>
                              <m:r>
                                <a:rPr lang="en-US" sz="2800" b="0" i="1" smtClean="0">
                                  <a:solidFill>
                                    <a:srgbClr val="0000CC"/>
                                  </a:solidFill>
                                  <a:latin typeface="Cambria Math" charset="0"/>
                                  <a:ea typeface="Cambria Math" charset="0"/>
                                  <a:cs typeface="Cambria Math" charset="0"/>
                                </a:rPr>
                                <m:t>)</m:t>
                              </m:r>
                            </m:e>
                          </m:func>
                        </m:e>
                      </m:func>
                    </m:oMath>
                  </m:oMathPara>
                </a14:m>
                <a:endParaRPr lang="en-US" sz="2800" dirty="0">
                  <a:solidFill>
                    <a:srgbClr val="0000CC"/>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5180203" y="2692485"/>
                <a:ext cx="3239971" cy="43088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ular Callout 28"/>
              <p:cNvSpPr/>
              <p:nvPr/>
            </p:nvSpPr>
            <p:spPr>
              <a:xfrm>
                <a:off x="4782529" y="3618834"/>
                <a:ext cx="3837188" cy="860146"/>
              </a:xfrm>
              <a:prstGeom prst="wedgeRectCallout">
                <a:avLst>
                  <a:gd name="adj1" fmla="val 23269"/>
                  <a:gd name="adj2" fmla="val -10432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影响力范围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：度量以</a:t>
                </a:r>
                <a14:m>
                  <m:oMath xmlns:m="http://schemas.openxmlformats.org/officeDocument/2006/math">
                    <m:r>
                      <a:rPr lang="en-US" altLang="zh-CN" i="1" dirty="0" smtClean="0">
                        <a:latin typeface="Cambria Math" charset="0"/>
                      </a:rPr>
                      <m:t>𝑆</m:t>
                    </m:r>
                  </m:oMath>
                </a14:m>
                <a:r>
                  <a:rPr lang="zh-CN" altLang="en-US" dirty="0"/>
                  <a:t>为种子，使用</a:t>
                </a:r>
                <a:r>
                  <a:rPr lang="en-US" altLang="zh-CN" dirty="0"/>
                  <a:t>IC</a:t>
                </a:r>
                <a:r>
                  <a:rPr lang="zh-CN" altLang="en-US" dirty="0"/>
                  <a:t>模型，最后平均激活多少节点</a:t>
                </a:r>
                <a:endParaRPr lang="en-US" dirty="0"/>
              </a:p>
            </p:txBody>
          </p:sp>
        </mc:Choice>
        <mc:Fallback xmlns="">
          <p:sp>
            <p:nvSpPr>
              <p:cNvPr id="29" name="Rectangular Callout 28"/>
              <p:cNvSpPr>
                <a:spLocks noRot="1" noChangeAspect="1" noMove="1" noResize="1" noEditPoints="1" noAdjustHandles="1" noChangeArrowheads="1" noChangeShapeType="1" noTextEdit="1"/>
              </p:cNvSpPr>
              <p:nvPr/>
            </p:nvSpPr>
            <p:spPr>
              <a:xfrm>
                <a:off x="4782529" y="3618834"/>
                <a:ext cx="3837188" cy="860146"/>
              </a:xfrm>
              <a:prstGeom prst="wedgeRectCallout">
                <a:avLst>
                  <a:gd name="adj1" fmla="val 23269"/>
                  <a:gd name="adj2" fmla="val -104321"/>
                </a:avLst>
              </a:prstGeom>
              <a:blipFill rotWithShape="0">
                <a:blip r:embed="rId4"/>
                <a:stretch>
                  <a:fillRect l="-790" r="-632"/>
                </a:stretch>
              </a:blipFill>
            </p:spPr>
            <p:txBody>
              <a:bodyPr/>
              <a:lstStyle/>
              <a:p>
                <a:r>
                  <a:rPr lang="en-US">
                    <a:noFill/>
                  </a:rPr>
                  <a:t> </a:t>
                </a:r>
              </a:p>
            </p:txBody>
          </p:sp>
        </mc:Fallback>
      </mc:AlternateContent>
    </p:spTree>
    <p:extLst>
      <p:ext uri="{BB962C8B-B14F-4D97-AF65-F5344CB8AC3E}">
        <p14:creationId xmlns:p14="http://schemas.microsoft.com/office/powerpoint/2010/main" val="19709075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a:xfrm>
            <a:off x="457200" y="819150"/>
            <a:ext cx="8229600" cy="1094056"/>
          </a:xfrm>
        </p:spPr>
        <p:txBody>
          <a:bodyPr/>
          <a:lstStyle/>
          <a:p>
            <a:r>
              <a:rPr lang="zh-CN" altLang="en-US" dirty="0"/>
              <a:t>影响力最大化</a:t>
            </a:r>
            <a:r>
              <a:rPr lang="en-US" altLang="zh-CN" dirty="0"/>
              <a:t>Influence Maximization</a:t>
            </a:r>
          </a:p>
          <a:p>
            <a:pPr lvl="1"/>
            <a:r>
              <a:rPr lang="zh-CN" altLang="en-US" dirty="0"/>
              <a:t>找到信息传播中的“关键种子节点”</a:t>
            </a:r>
            <a:endParaRPr lang="en-US" dirty="0"/>
          </a:p>
        </p:txBody>
      </p:sp>
      <p:grpSp>
        <p:nvGrpSpPr>
          <p:cNvPr id="40" name="Group 39"/>
          <p:cNvGrpSpPr/>
          <p:nvPr/>
        </p:nvGrpSpPr>
        <p:grpSpPr>
          <a:xfrm>
            <a:off x="1196715" y="1706163"/>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8" name="Right Brace 37"/>
          <p:cNvSpPr/>
          <p:nvPr/>
        </p:nvSpPr>
        <p:spPr>
          <a:xfrm>
            <a:off x="5356954" y="2003673"/>
            <a:ext cx="423686" cy="2579066"/>
          </a:xfrm>
          <a:prstGeom prst="rightBrace">
            <a:avLst>
              <a:gd name="adj1" fmla="val 5358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Content Placeholder 2"/>
          <p:cNvSpPr txBox="1">
            <a:spLocks/>
          </p:cNvSpPr>
          <p:nvPr/>
        </p:nvSpPr>
        <p:spPr bwMode="auto">
          <a:xfrm>
            <a:off x="5780640" y="2703006"/>
            <a:ext cx="2961996" cy="129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365125" indent="-282575" algn="l" rtl="0" eaLnBrk="0" fontAlgn="base" hangingPunct="0">
              <a:spcBef>
                <a:spcPts val="600"/>
              </a:spcBef>
              <a:spcAft>
                <a:spcPct val="0"/>
              </a:spcAft>
              <a:buClr>
                <a:schemeClr val="accent1"/>
              </a:buClr>
              <a:buSzPct val="80000"/>
              <a:buFont typeface="Wingdings 2"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charset="0"/>
              <a:buChar char="◦"/>
              <a:defRPr sz="2800" kern="1200">
                <a:solidFill>
                  <a:srgbClr val="0000CC"/>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9BBB59"/>
              </a:buClr>
              <a:buFont typeface="Wingdings 2"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064A2"/>
              </a:buClr>
              <a:buFont typeface="Wingdings 2"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550" indent="0">
              <a:buNone/>
            </a:pPr>
            <a:r>
              <a:rPr lang="zh-CN" altLang="en-US" sz="2000" dirty="0">
                <a:latin typeface="Microsoft YaHei" charset="-122"/>
                <a:ea typeface="Microsoft YaHei" charset="-122"/>
                <a:cs typeface="Microsoft YaHei" charset="-122"/>
              </a:rPr>
              <a:t>思考：</a:t>
            </a:r>
            <a:endParaRPr lang="en-US" altLang="zh-CN" sz="2000" dirty="0">
              <a:latin typeface="Microsoft YaHei" charset="-122"/>
              <a:ea typeface="Microsoft YaHei" charset="-122"/>
              <a:cs typeface="Microsoft YaHei" charset="-122"/>
            </a:endParaRPr>
          </a:p>
          <a:p>
            <a:pPr marL="82550" indent="0">
              <a:buNone/>
            </a:pPr>
            <a:r>
              <a:rPr lang="zh-CN" altLang="en-US" sz="2000" dirty="0">
                <a:latin typeface="Microsoft YaHei" charset="-122"/>
                <a:ea typeface="Microsoft YaHei" charset="-122"/>
                <a:cs typeface="Microsoft YaHei" charset="-122"/>
              </a:rPr>
              <a:t>如果只让你选择</a:t>
            </a:r>
            <a:r>
              <a:rPr lang="en-US" altLang="zh-CN" sz="2000" dirty="0">
                <a:latin typeface="Microsoft YaHei" charset="-122"/>
                <a:ea typeface="Microsoft YaHei" charset="-122"/>
                <a:cs typeface="Microsoft YaHei" charset="-122"/>
              </a:rPr>
              <a:t>2</a:t>
            </a:r>
            <a:r>
              <a:rPr lang="zh-CN" altLang="en-US" sz="2000" dirty="0">
                <a:latin typeface="Microsoft YaHei" charset="-122"/>
                <a:ea typeface="Microsoft YaHei" charset="-122"/>
                <a:cs typeface="Microsoft YaHei" charset="-122"/>
              </a:rPr>
              <a:t>个种子节点，你会怎么选？</a:t>
            </a:r>
            <a:endParaRPr lang="en-US" sz="2000" dirty="0">
              <a:solidFill>
                <a:srgbClr val="0000CC"/>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1077866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影响力最大化（</a:t>
            </a:r>
            <a:r>
              <a:rPr lang="en-US" altLang="zh-CN" dirty="0">
                <a:latin typeface="Calibri" charset="0"/>
                <a:ea typeface="Calibri" charset="0"/>
                <a:cs typeface="Calibri" charset="0"/>
              </a:rPr>
              <a:t>Influence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Maximization</a:t>
            </a:r>
            <a:r>
              <a:rPr lang="zh-CN" altLang="en-US"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04674" cy="3937000"/>
              </a:xfrm>
            </p:spPr>
            <p:txBody>
              <a:bodyPr/>
              <a:lstStyle/>
              <a:p>
                <a:r>
                  <a:rPr lang="zh-CN" altLang="en-US" dirty="0"/>
                  <a:t>影响力最大化</a:t>
                </a:r>
                <a:r>
                  <a:rPr lang="en-US" altLang="zh-CN" dirty="0">
                    <a:latin typeface="Calibri" charset="0"/>
                    <a:ea typeface="Calibri" charset="0"/>
                    <a:cs typeface="Calibri" charset="0"/>
                  </a:rPr>
                  <a:t>Influence Maximization</a:t>
                </a:r>
              </a:p>
              <a:p>
                <a:pPr lvl="1"/>
                <a:r>
                  <a:rPr lang="zh-CN" altLang="en-US" dirty="0"/>
                  <a:t>找到信息传播中的“关键种子节点”</a:t>
                </a:r>
                <a:endParaRPr lang="en-US" altLang="zh-CN" dirty="0"/>
              </a:p>
              <a:p>
                <a:endParaRPr lang="en-US" dirty="0"/>
              </a:p>
              <a:p>
                <a:r>
                  <a:rPr lang="zh-CN" altLang="en-US" dirty="0"/>
                  <a:t>这个问题有多复杂？</a:t>
                </a:r>
                <a:endParaRPr lang="en-US" altLang="zh-CN" dirty="0"/>
              </a:p>
              <a:p>
                <a:pPr lvl="1"/>
                <a:r>
                  <a:rPr lang="en-US" altLang="zh-CN" dirty="0"/>
                  <a:t>NP</a:t>
                </a:r>
                <a:r>
                  <a:rPr lang="zh-CN" altLang="en-US" dirty="0"/>
                  <a:t>难问题：不存在一个时间复杂度与节点个数呈多项式关系的算法</a:t>
                </a:r>
                <a:endParaRPr lang="en-US" altLang="zh-CN" dirty="0"/>
              </a:p>
              <a:p>
                <a:endParaRPr lang="en-US" altLang="zh-CN" dirty="0"/>
              </a:p>
              <a:p>
                <a:r>
                  <a:rPr lang="zh-CN" altLang="en-US" dirty="0"/>
                  <a:t>计算任意</a:t>
                </a:r>
                <a14:m>
                  <m:oMath xmlns:m="http://schemas.openxmlformats.org/officeDocument/2006/math">
                    <m:r>
                      <a:rPr lang="en-US" altLang="zh-CN" b="0" i="1" smtClean="0">
                        <a:latin typeface="Cambria Math" charset="0"/>
                      </a:rPr>
                      <m:t>𝑘</m:t>
                    </m:r>
                  </m:oMath>
                </a14:m>
                <a:r>
                  <a:rPr lang="zh-CN" altLang="en-US" dirty="0"/>
                  <a:t>个点</a:t>
                </a:r>
                <a14:m>
                  <m:oMath xmlns:m="http://schemas.openxmlformats.org/officeDocument/2006/math">
                    <m:r>
                      <a:rPr lang="en-US" altLang="zh-CN" b="0" i="1" dirty="0" smtClean="0">
                        <a:latin typeface="Cambria Math" charset="0"/>
                      </a:rPr>
                      <m:t>𝑆</m:t>
                    </m:r>
                  </m:oMath>
                </a14:m>
                <a:r>
                  <a:rPr lang="zh-CN" altLang="en-US" dirty="0"/>
                  <a:t>的影响力</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endParaRPr lang="en-US" altLang="zh-CN" dirty="0"/>
              </a:p>
              <a:p>
                <a:pPr lvl="1"/>
                <a:r>
                  <a:rPr lang="zh-CN" altLang="en-US" dirty="0"/>
                  <a:t>需要模拟多次之前的</a:t>
                </a:r>
                <a:r>
                  <a:rPr lang="en-US" altLang="zh-CN" dirty="0"/>
                  <a:t>IC</a:t>
                </a:r>
                <a:r>
                  <a:rPr lang="zh-CN" altLang="en-US" dirty="0"/>
                  <a:t>模型</a:t>
                </a:r>
                <a:endParaRPr lang="en-US" altLang="zh-CN" dirty="0"/>
              </a:p>
              <a:p>
                <a:pPr lvl="1"/>
                <a:r>
                  <a:rPr lang="zh-CN" altLang="en-US" dirty="0"/>
                  <a:t>时间复杂度高（</a:t>
                </a:r>
                <a:r>
                  <a:rPr lang="en-US" altLang="zh-CN" dirty="0"/>
                  <a:t>#P</a:t>
                </a:r>
                <a:r>
                  <a:rPr lang="zh-CN" altLang="en-US" dirty="0"/>
                  <a:t>难问题）</a:t>
                </a:r>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04674" cy="3937000"/>
              </a:xfrm>
              <a:blipFill rotWithShape="0">
                <a:blip r:embed="rId2"/>
                <a:stretch>
                  <a:fillRect l="-1192" t="-929" r="-1060"/>
                </a:stretch>
              </a:blipFill>
            </p:spPr>
            <p:txBody>
              <a:bodyPr/>
              <a:lstStyle/>
              <a:p>
                <a:r>
                  <a:rPr lang="en-US">
                    <a:noFill/>
                  </a:rPr>
                  <a:t> </a:t>
                </a:r>
              </a:p>
            </p:txBody>
          </p:sp>
        </mc:Fallback>
      </mc:AlternateContent>
      <p:grpSp>
        <p:nvGrpSpPr>
          <p:cNvPr id="4" name="Group 3"/>
          <p:cNvGrpSpPr/>
          <p:nvPr/>
        </p:nvGrpSpPr>
        <p:grpSpPr>
          <a:xfrm>
            <a:off x="5365131" y="1284936"/>
            <a:ext cx="3572424" cy="3188589"/>
            <a:chOff x="3405180" y="3720708"/>
            <a:chExt cx="3608762" cy="3221023"/>
          </a:xfrm>
        </p:grpSpPr>
        <p:sp>
          <p:nvSpPr>
            <p:cNvPr id="5" name="Oval 4"/>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Oval 25"/>
          <p:cNvSpPr/>
          <p:nvPr/>
        </p:nvSpPr>
        <p:spPr>
          <a:xfrm rot="1993131">
            <a:off x="5060701" y="2047798"/>
            <a:ext cx="2612057" cy="149982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8734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PageRank</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影响力分析算法</a:t>
            </a:r>
            <a:endParaRPr lang="en-US" altLang="zh-CN" b="1" dirty="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信息传播模型与影响力最大化</a:t>
            </a:r>
            <a:endParaRPr lang="en-US" altLang="zh-CN" dirty="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b="1" dirty="0">
                <a:solidFill>
                  <a:srgbClr val="C00000"/>
                </a:solidFill>
                <a:latin typeface="微软雅黑" panose="020B0503020204020204" pitchFamily="34" charset="-122"/>
                <a:ea typeface="微软雅黑" panose="020B0503020204020204" pitchFamily="34" charset="-122"/>
              </a:rPr>
              <a:t>基于节点度的算法</a:t>
            </a:r>
            <a:endParaRPr lang="en-US" altLang="zh-CN" b="1" dirty="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基于最短路径的算法</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3" name="椭圆 26"/>
          <p:cNvSpPr/>
          <p:nvPr/>
        </p:nvSpPr>
        <p:spPr>
          <a:xfrm>
            <a:off x="3997236" y="36413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852553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解决思路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启发式算法</a:t>
                </a:r>
                <a:endParaRPr lang="en-US" altLang="zh-CN" dirty="0"/>
              </a:p>
              <a:p>
                <a:pPr lvl="1"/>
                <a:r>
                  <a:rPr lang="zh-CN" altLang="en-US" dirty="0"/>
                  <a:t>相对于最优化算法提出的。最优算法求得该问题每个实例的最优解</a:t>
                </a:r>
                <a:endParaRPr lang="en-US" altLang="zh-CN" dirty="0"/>
              </a:p>
              <a:p>
                <a:pPr lvl="1"/>
                <a:r>
                  <a:rPr lang="zh-CN" altLang="en-US" dirty="0"/>
                  <a:t>一个基于直观或经验构造的算法，在可接受的花费（指计算时间和空间）下给出待解决优化问题的一个可行解</a:t>
                </a:r>
                <a:endParaRPr lang="en-US" altLang="zh-CN" dirty="0"/>
              </a:p>
              <a:p>
                <a:pPr lvl="1"/>
                <a:r>
                  <a:rPr lang="zh-CN" altLang="en-US" dirty="0"/>
                  <a:t>该可行解与最优解的偏离程度一般不能被预计</a:t>
                </a:r>
                <a:endParaRPr lang="en-US" altLang="zh-CN" dirty="0"/>
              </a:p>
              <a:p>
                <a:endParaRPr lang="en-US" dirty="0"/>
              </a:p>
              <a:p>
                <a:r>
                  <a:rPr lang="zh-CN" altLang="en-US" dirty="0"/>
                  <a:t>可能的启发式算法</a:t>
                </a:r>
                <a:endParaRPr lang="en-US" altLang="zh-CN" dirty="0"/>
              </a:p>
              <a:p>
                <a:pPr lvl="1"/>
                <a:r>
                  <a:rPr lang="zh-CN" altLang="en-US" dirty="0"/>
                  <a:t>选择</a:t>
                </a:r>
                <a:r>
                  <a:rPr lang="en-US" altLang="zh-CN" dirty="0"/>
                  <a:t>Degree</a:t>
                </a:r>
                <a:r>
                  <a:rPr lang="zh-CN" altLang="en-US" dirty="0"/>
                  <a:t> </a:t>
                </a:r>
                <a:r>
                  <a:rPr lang="en-US" altLang="zh-CN" dirty="0"/>
                  <a:t>Centrality</a:t>
                </a:r>
                <a:r>
                  <a:rPr lang="zh-CN" altLang="en-US" dirty="0"/>
                  <a:t>最大的</a:t>
                </a:r>
                <a14:m>
                  <m:oMath xmlns:m="http://schemas.openxmlformats.org/officeDocument/2006/math">
                    <m:r>
                      <a:rPr lang="en-US" altLang="zh-CN" b="0" i="1" smtClean="0">
                        <a:latin typeface="Cambria Math" charset="0"/>
                      </a:rPr>
                      <m:t>𝑘</m:t>
                    </m:r>
                  </m:oMath>
                </a14:m>
                <a:r>
                  <a:rPr lang="zh-CN" altLang="en-US" dirty="0"/>
                  <a:t>个节点</a:t>
                </a:r>
                <a:endParaRPr lang="en-US" altLang="zh-CN" dirty="0"/>
              </a:p>
              <a:p>
                <a:pPr lvl="1"/>
                <a:r>
                  <a:rPr lang="zh-CN" altLang="en-US" dirty="0"/>
                  <a:t>选择</a:t>
                </a:r>
                <a:r>
                  <a:rPr lang="en-US" altLang="zh-CN" dirty="0"/>
                  <a:t>PageRank</a:t>
                </a:r>
                <a:r>
                  <a:rPr lang="zh-CN" altLang="en-US" dirty="0"/>
                  <a:t>分数最大的</a:t>
                </a:r>
                <a14:m>
                  <m:oMath xmlns:m="http://schemas.openxmlformats.org/officeDocument/2006/math">
                    <m:r>
                      <a:rPr lang="en-US" altLang="zh-CN" b="0" i="1" smtClean="0">
                        <a:latin typeface="Cambria Math" charset="0"/>
                      </a:rPr>
                      <m:t>𝑘</m:t>
                    </m:r>
                  </m:oMath>
                </a14:m>
                <a:r>
                  <a:rPr lang="zh-CN" altLang="en-US" dirty="0"/>
                  <a:t>个节点</a:t>
                </a:r>
                <a:endParaRPr lang="en-US" altLang="zh-CN" dirty="0"/>
              </a:p>
              <a:p>
                <a:endParaRPr lang="en-US" altLang="zh-CN" dirty="0"/>
              </a:p>
              <a:p>
                <a:r>
                  <a:rPr lang="zh-CN" altLang="en-US" dirty="0"/>
                  <a:t>思考：上述方法有什么问题？能够构造出它们失败的场景？</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67" t="-774" r="-667"/>
                </a:stretch>
              </a:blipFill>
            </p:spPr>
            <p:txBody>
              <a:bodyPr/>
              <a:lstStyle/>
              <a:p>
                <a:r>
                  <a:rPr lang="en-US">
                    <a:noFill/>
                  </a:rPr>
                  <a:t> </a:t>
                </a:r>
              </a:p>
            </p:txBody>
          </p:sp>
        </mc:Fallback>
      </mc:AlternateContent>
    </p:spTree>
    <p:extLst>
      <p:ext uri="{BB962C8B-B14F-4D97-AF65-F5344CB8AC3E}">
        <p14:creationId xmlns:p14="http://schemas.microsoft.com/office/powerpoint/2010/main" val="1746723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p:sp>
        <p:nvSpPr>
          <p:cNvPr id="3" name="Content Placeholder 2"/>
          <p:cNvSpPr>
            <a:spLocks noGrp="1"/>
          </p:cNvSpPr>
          <p:nvPr>
            <p:ph idx="1"/>
          </p:nvPr>
        </p:nvSpPr>
        <p:spPr>
          <a:xfrm>
            <a:off x="457200" y="819150"/>
            <a:ext cx="8229600" cy="1099687"/>
          </a:xfrm>
        </p:spPr>
        <p:txBody>
          <a:bodyPr/>
          <a:lstStyle/>
          <a:p>
            <a:r>
              <a:rPr lang="zh-CN" altLang="en-US" dirty="0"/>
              <a:t>基本想法</a:t>
            </a:r>
            <a:endParaRPr lang="en-US" altLang="zh-CN" dirty="0"/>
          </a:p>
          <a:p>
            <a:pPr lvl="1"/>
            <a:r>
              <a:rPr lang="zh-CN" altLang="en-US" dirty="0"/>
              <a:t>假设：节点只对其</a:t>
            </a:r>
            <a:r>
              <a:rPr lang="zh-CN" altLang="en-US" dirty="0">
                <a:solidFill>
                  <a:srgbClr val="C00000"/>
                </a:solidFill>
              </a:rPr>
              <a:t>直接邻居</a:t>
            </a:r>
            <a:r>
              <a:rPr lang="zh-CN" altLang="en-US" dirty="0"/>
              <a:t>产生影响</a:t>
            </a:r>
            <a:endParaRPr lang="en-US" altLang="zh-CN" dirty="0"/>
          </a:p>
          <a:p>
            <a:pPr lvl="1"/>
            <a:r>
              <a:rPr lang="zh-CN" altLang="en-US" dirty="0"/>
              <a:t>选择的种子节点的影响范围避免重叠</a:t>
            </a:r>
            <a:endParaRPr lang="en-US" dirty="0"/>
          </a:p>
        </p:txBody>
      </p:sp>
      <p:sp>
        <p:nvSpPr>
          <p:cNvPr id="7" name="Oval 6"/>
          <p:cNvSpPr/>
          <p:nvPr/>
        </p:nvSpPr>
        <p:spPr>
          <a:xfrm>
            <a:off x="1153036" y="2912948"/>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8" name="Oval 7"/>
          <p:cNvSpPr/>
          <p:nvPr/>
        </p:nvSpPr>
        <p:spPr>
          <a:xfrm>
            <a:off x="2234059" y="2909056"/>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9" name="Oval 8"/>
          <p:cNvSpPr/>
          <p:nvPr/>
        </p:nvSpPr>
        <p:spPr>
          <a:xfrm>
            <a:off x="2235728" y="3857722"/>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10" name="Oval 9"/>
          <p:cNvSpPr/>
          <p:nvPr/>
        </p:nvSpPr>
        <p:spPr>
          <a:xfrm>
            <a:off x="2234060" y="1960390"/>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cxnSp>
        <p:nvCxnSpPr>
          <p:cNvPr id="11" name="Straight Arrow Connector 10"/>
          <p:cNvCxnSpPr/>
          <p:nvPr/>
        </p:nvCxnSpPr>
        <p:spPr>
          <a:xfrm flipH="1">
            <a:off x="1533397" y="3099237"/>
            <a:ext cx="700663" cy="389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424240" y="2340751"/>
            <a:ext cx="1"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flipV="1">
            <a:off x="2424240" y="3289417"/>
            <a:ext cx="1669"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682679" y="2740159"/>
            <a:ext cx="474570" cy="367904"/>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20" name="TextBox 19"/>
          <p:cNvSpPr txBox="1"/>
          <p:nvPr/>
        </p:nvSpPr>
        <p:spPr>
          <a:xfrm>
            <a:off x="2501051" y="2372255"/>
            <a:ext cx="474570" cy="367904"/>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21" name="TextBox 20"/>
          <p:cNvSpPr txBox="1"/>
          <p:nvPr/>
        </p:nvSpPr>
        <p:spPr>
          <a:xfrm>
            <a:off x="2501051" y="3313996"/>
            <a:ext cx="474570" cy="367904"/>
          </a:xfrm>
          <a:prstGeom prst="rect">
            <a:avLst/>
          </a:prstGeom>
          <a:noFill/>
        </p:spPr>
        <p:txBody>
          <a:bodyPr wrap="none" rtlCol="0">
            <a:spAutoFit/>
          </a:bodyPr>
          <a:lstStyle/>
          <a:p>
            <a:r>
              <a:rPr lang="en-US" dirty="0">
                <a:latin typeface="Calibri" charset="0"/>
                <a:ea typeface="Calibri" charset="0"/>
                <a:cs typeface="Calibri" charset="0"/>
              </a:rPr>
              <a:t>0.9</a:t>
            </a:r>
          </a:p>
        </p:txBody>
      </p:sp>
      <mc:AlternateContent xmlns:mc="http://schemas.openxmlformats.org/markup-compatibility/2006" xmlns:a14="http://schemas.microsoft.com/office/drawing/2010/main">
        <mc:Choice Requires="a14">
          <p:sp>
            <p:nvSpPr>
              <p:cNvPr id="22" name="Rectangle 21"/>
              <p:cNvSpPr/>
              <p:nvPr/>
            </p:nvSpPr>
            <p:spPr>
              <a:xfrm>
                <a:off x="507458" y="4384298"/>
                <a:ext cx="3999556" cy="369332"/>
              </a:xfrm>
              <a:prstGeom prst="rect">
                <a:avLst/>
              </a:prstGeom>
            </p:spPr>
            <p:txBody>
              <a:bodyPr wrap="none">
                <a:spAutoFit/>
              </a:bodyPr>
              <a:lstStyle/>
              <a:p>
                <a:r>
                  <a:rPr lang="zh-CN" altLang="en-US" dirty="0">
                    <a:latin typeface="Microsoft YaHei" charset="-122"/>
                    <a:ea typeface="Microsoft YaHei" charset="-122"/>
                    <a:cs typeface="Microsoft YaHei" charset="-122"/>
                  </a:rPr>
                  <a:t>选择</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a:t>
                </a:r>
                <a14:m>
                  <m:oMath xmlns:m="http://schemas.openxmlformats.org/officeDocument/2006/math">
                    <m:r>
                      <m:rPr>
                        <m:sty m:val="p"/>
                      </m:rPr>
                      <a:rPr lang="en-US" altLang="zh-CN"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𝜎</m:t>
                    </m:r>
                    <m:d>
                      <m:dPr>
                        <m:ctrlPr>
                          <a:rPr lang="en-US" altLang="zh-CN" b="0" i="1" smtClean="0">
                            <a:latin typeface="Cambria Math" charset="0"/>
                            <a:ea typeface="Microsoft YaHei" charset="-122"/>
                            <a:cs typeface="Microsoft YaHei" charset="-122"/>
                          </a:rPr>
                        </m:ctrlPr>
                      </m:dPr>
                      <m:e>
                        <m:r>
                          <a:rPr lang="en-US" altLang="zh-CN" b="0" i="1" smtClean="0">
                            <a:latin typeface="Cambria Math" charset="0"/>
                            <a:ea typeface="Microsoft YaHei" charset="-122"/>
                            <a:cs typeface="Microsoft YaHei" charset="-122"/>
                          </a:rPr>
                          <m:t>𝑆</m:t>
                        </m:r>
                      </m:e>
                    </m:d>
                    <m:r>
                      <a:rPr lang="en-US" altLang="zh-CN" b="0" i="1" smtClean="0">
                        <a:latin typeface="Cambria Math" charset="0"/>
                        <a:ea typeface="Microsoft YaHei" charset="-122"/>
                        <a:cs typeface="Microsoft YaHei" charset="-122"/>
                      </a:rPr>
                      <m:t>=1+.8+.9+.1=2.8</m:t>
                    </m:r>
                  </m:oMath>
                </a14:m>
                <a:endParaRPr lang="en-US" dirty="0">
                  <a:latin typeface="Microsoft YaHei" charset="-122"/>
                  <a:ea typeface="Microsoft YaHei" charset="-122"/>
                  <a:cs typeface="Microsoft YaHei" charset="-122"/>
                </a:endParaRPr>
              </a:p>
            </p:txBody>
          </p:sp>
        </mc:Choice>
        <mc:Fallback xmlns="">
          <p:sp>
            <p:nvSpPr>
              <p:cNvPr id="22" name="Rectangle 21"/>
              <p:cNvSpPr>
                <a:spLocks noRot="1" noChangeAspect="1" noMove="1" noResize="1" noEditPoints="1" noAdjustHandles="1" noChangeArrowheads="1" noChangeShapeType="1" noTextEdit="1"/>
              </p:cNvSpPr>
              <p:nvPr/>
            </p:nvSpPr>
            <p:spPr>
              <a:xfrm>
                <a:off x="507458" y="4384298"/>
                <a:ext cx="3999556" cy="369332"/>
              </a:xfrm>
              <a:prstGeom prst="rect">
                <a:avLst/>
              </a:prstGeom>
              <a:blipFill rotWithShape="0">
                <a:blip r:embed="rId3"/>
                <a:stretch>
                  <a:fillRect l="-122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5591347" y="763536"/>
                <a:ext cx="3439550" cy="646331"/>
              </a:xfrm>
              <a:prstGeom prst="rect">
                <a:avLst/>
              </a:prstGeom>
            </p:spPr>
            <p:txBody>
              <a:bodyPr wrap="square">
                <a:spAutoFit/>
              </a:bodyPr>
              <a:lstStyle/>
              <a:p>
                <a:r>
                  <a:rPr lang="zh-CN" altLang="en-US" dirty="0">
                    <a:solidFill>
                      <a:schemeClr val="tx2">
                        <a:lumMod val="60000"/>
                        <a:lumOff val="40000"/>
                      </a:schemeClr>
                    </a:solidFill>
                    <a:latin typeface="Microsoft YaHei" charset="-122"/>
                    <a:ea typeface="Microsoft YaHei" charset="-122"/>
                    <a:cs typeface="Microsoft YaHei" charset="-122"/>
                  </a:rPr>
                  <a:t>为了表达简便，我们考虑无向图，即两点</a:t>
                </a:r>
                <a14:m>
                  <m:oMath xmlns:m="http://schemas.openxmlformats.org/officeDocument/2006/math">
                    <m:r>
                      <a:rPr lang="en-US" altLang="zh-CN" i="1" dirty="0">
                        <a:solidFill>
                          <a:schemeClr val="tx2">
                            <a:lumMod val="60000"/>
                            <a:lumOff val="40000"/>
                          </a:schemeClr>
                        </a:solidFill>
                        <a:latin typeface="Cambria Math" charset="0"/>
                        <a:ea typeface="Microsoft YaHei" charset="-122"/>
                        <a:cs typeface="Microsoft YaHei" charset="-122"/>
                      </a:rPr>
                      <m:t>𝑢</m:t>
                    </m:r>
                  </m:oMath>
                </a14:m>
                <a:r>
                  <a:rPr lang="zh-CN" altLang="en-US" dirty="0">
                    <a:solidFill>
                      <a:schemeClr val="tx2">
                        <a:lumMod val="60000"/>
                        <a:lumOff val="40000"/>
                      </a:schemeClr>
                    </a:solidFill>
                    <a:latin typeface="Microsoft YaHei" charset="-122"/>
                    <a:ea typeface="Microsoft YaHei" charset="-122"/>
                    <a:cs typeface="Microsoft YaHei" charset="-122"/>
                  </a:rPr>
                  <a:t>和</a:t>
                </a:r>
                <a14:m>
                  <m:oMath xmlns:m="http://schemas.openxmlformats.org/officeDocument/2006/math">
                    <m:r>
                      <a:rPr lang="en-US" altLang="zh-CN" i="1" dirty="0">
                        <a:solidFill>
                          <a:schemeClr val="tx2">
                            <a:lumMod val="60000"/>
                            <a:lumOff val="40000"/>
                          </a:schemeClr>
                        </a:solidFill>
                        <a:latin typeface="Cambria Math" charset="0"/>
                        <a:ea typeface="Microsoft YaHei" charset="-122"/>
                        <a:cs typeface="Microsoft YaHei" charset="-122"/>
                      </a:rPr>
                      <m:t>𝑣</m:t>
                    </m:r>
                  </m:oMath>
                </a14:m>
                <a:r>
                  <a:rPr lang="zh-CN" altLang="en-US" dirty="0">
                    <a:solidFill>
                      <a:schemeClr val="tx2">
                        <a:lumMod val="60000"/>
                        <a:lumOff val="40000"/>
                      </a:schemeClr>
                    </a:solidFill>
                    <a:latin typeface="Microsoft YaHei" charset="-122"/>
                    <a:ea typeface="Microsoft YaHei" charset="-122"/>
                    <a:cs typeface="Microsoft YaHei" charset="-122"/>
                  </a:rPr>
                  <a:t>影响对方的概率相同</a:t>
                </a:r>
                <a:endParaRPr lang="en-US" dirty="0">
                  <a:solidFill>
                    <a:schemeClr val="tx2">
                      <a:lumMod val="60000"/>
                      <a:lumOff val="40000"/>
                    </a:schemeClr>
                  </a:solidFill>
                  <a:latin typeface="Microsoft YaHei" charset="-122"/>
                  <a:ea typeface="Microsoft YaHei" charset="-122"/>
                  <a:cs typeface="Microsoft YaHei" charset="-122"/>
                </a:endParaRPr>
              </a:p>
            </p:txBody>
          </p:sp>
        </mc:Choice>
        <mc:Fallback xmlns="">
          <p:sp>
            <p:nvSpPr>
              <p:cNvPr id="23" name="Rectangle 22"/>
              <p:cNvSpPr>
                <a:spLocks noRot="1" noChangeAspect="1" noMove="1" noResize="1" noEditPoints="1" noAdjustHandles="1" noChangeArrowheads="1" noChangeShapeType="1" noTextEdit="1"/>
              </p:cNvSpPr>
              <p:nvPr/>
            </p:nvSpPr>
            <p:spPr>
              <a:xfrm>
                <a:off x="5591347" y="763536"/>
                <a:ext cx="3439550" cy="646331"/>
              </a:xfrm>
              <a:prstGeom prst="rect">
                <a:avLst/>
              </a:prstGeom>
              <a:blipFill rotWithShape="0">
                <a:blip r:embed="rId4"/>
                <a:stretch>
                  <a:fillRect l="-1418" t="-4717" r="-6560" b="-14151"/>
                </a:stretch>
              </a:blipFill>
            </p:spPr>
            <p:txBody>
              <a:bodyPr/>
              <a:lstStyle/>
              <a:p>
                <a:r>
                  <a:rPr lang="en-US">
                    <a:noFill/>
                  </a:rPr>
                  <a:t> </a:t>
                </a:r>
              </a:p>
            </p:txBody>
          </p:sp>
        </mc:Fallback>
      </mc:AlternateContent>
      <p:sp>
        <p:nvSpPr>
          <p:cNvPr id="24" name="Oval 23"/>
          <p:cNvSpPr/>
          <p:nvPr/>
        </p:nvSpPr>
        <p:spPr>
          <a:xfrm>
            <a:off x="4796283" y="2476849"/>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2</a:t>
            </a:r>
          </a:p>
        </p:txBody>
      </p:sp>
      <p:sp>
        <p:nvSpPr>
          <p:cNvPr id="25" name="Oval 24"/>
          <p:cNvSpPr/>
          <p:nvPr/>
        </p:nvSpPr>
        <p:spPr>
          <a:xfrm>
            <a:off x="5877306" y="2472957"/>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26" name="Oval 25"/>
          <p:cNvSpPr/>
          <p:nvPr/>
        </p:nvSpPr>
        <p:spPr>
          <a:xfrm>
            <a:off x="5878975" y="3421623"/>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27" name="Oval 26"/>
          <p:cNvSpPr/>
          <p:nvPr/>
        </p:nvSpPr>
        <p:spPr>
          <a:xfrm>
            <a:off x="5877307" y="1524291"/>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cxnSp>
        <p:nvCxnSpPr>
          <p:cNvPr id="28" name="Straight Arrow Connector 27"/>
          <p:cNvCxnSpPr/>
          <p:nvPr/>
        </p:nvCxnSpPr>
        <p:spPr>
          <a:xfrm flipH="1">
            <a:off x="5176644" y="2663138"/>
            <a:ext cx="700663" cy="389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6067487" y="1904652"/>
            <a:ext cx="1"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H="1" flipV="1">
            <a:off x="6067487" y="2853318"/>
            <a:ext cx="1669"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25926" y="2304060"/>
            <a:ext cx="474570" cy="367904"/>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2" name="TextBox 31"/>
          <p:cNvSpPr txBox="1"/>
          <p:nvPr/>
        </p:nvSpPr>
        <p:spPr>
          <a:xfrm>
            <a:off x="6144298" y="1936156"/>
            <a:ext cx="474570" cy="367904"/>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3" name="TextBox 32"/>
          <p:cNvSpPr txBox="1"/>
          <p:nvPr/>
        </p:nvSpPr>
        <p:spPr>
          <a:xfrm>
            <a:off x="6144298" y="2877897"/>
            <a:ext cx="474570" cy="367904"/>
          </a:xfrm>
          <a:prstGeom prst="rect">
            <a:avLst/>
          </a:prstGeom>
          <a:noFill/>
        </p:spPr>
        <p:txBody>
          <a:bodyPr wrap="none" rtlCol="0">
            <a:spAutoFit/>
          </a:bodyPr>
          <a:lstStyle/>
          <a:p>
            <a:r>
              <a:rPr lang="en-US" dirty="0">
                <a:latin typeface="Calibri" charset="0"/>
                <a:ea typeface="Calibri" charset="0"/>
                <a:cs typeface="Calibri" charset="0"/>
              </a:rPr>
              <a:t>0.9</a:t>
            </a:r>
          </a:p>
        </p:txBody>
      </p:sp>
      <mc:AlternateContent xmlns:mc="http://schemas.openxmlformats.org/markup-compatibility/2006" xmlns:a14="http://schemas.microsoft.com/office/drawing/2010/main">
        <mc:Choice Requires="a14">
          <p:sp>
            <p:nvSpPr>
              <p:cNvPr id="34" name="Rectangle 33"/>
              <p:cNvSpPr/>
              <p:nvPr/>
            </p:nvSpPr>
            <p:spPr>
              <a:xfrm>
                <a:off x="4844378" y="3977806"/>
                <a:ext cx="3721916" cy="369332"/>
              </a:xfrm>
              <a:prstGeom prst="rect">
                <a:avLst/>
              </a:prstGeom>
            </p:spPr>
            <p:txBody>
              <a:bodyPr wrap="none">
                <a:spAutoFit/>
              </a:bodyPr>
              <a:lstStyle/>
              <a:p>
                <a:r>
                  <a:rPr lang="zh-CN" altLang="en-US" dirty="0">
                    <a:latin typeface="Microsoft YaHei" charset="-122"/>
                    <a:ea typeface="Microsoft YaHei" charset="-122"/>
                    <a:cs typeface="Microsoft YaHei" charset="-122"/>
                  </a:rPr>
                  <a:t>已知</a:t>
                </a:r>
                <a14:m>
                  <m:oMath xmlns:m="http://schemas.openxmlformats.org/officeDocument/2006/math">
                    <m:r>
                      <a:rPr lang="en-US" altLang="zh-CN" i="1" dirty="0" smtClean="0">
                        <a:latin typeface="Cambria Math" charset="0"/>
                        <a:ea typeface="Microsoft YaHei" charset="-122"/>
                        <a:cs typeface="Microsoft YaHei" charset="-122"/>
                      </a:rPr>
                      <m:t>𝑆</m:t>
                    </m:r>
                    <m:r>
                      <a:rPr lang="en-US" altLang="zh-CN" i="1" dirty="0" smtClean="0">
                        <a:latin typeface="Cambria Math" charset="0"/>
                        <a:ea typeface="Microsoft YaHei" charset="-122"/>
                        <a:cs typeface="Microsoft YaHei" charset="-122"/>
                      </a:rPr>
                      <m:t>={2}</m:t>
                    </m:r>
                  </m:oMath>
                </a14:m>
                <a:r>
                  <a:rPr lang="zh-CN" altLang="en-US" dirty="0">
                    <a:latin typeface="Microsoft YaHei" charset="-122"/>
                    <a:ea typeface="Microsoft YaHei" charset="-122"/>
                    <a:cs typeface="Microsoft YaHei" charset="-122"/>
                  </a:rPr>
                  <a:t>，再选择</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a:t>
                </a:r>
                <a14:m>
                  <m:oMath xmlns:m="http://schemas.openxmlformats.org/officeDocument/2006/math">
                    <m:r>
                      <m:rPr>
                        <m:sty m:val="p"/>
                      </m:rPr>
                      <a:rPr lang="en-US" altLang="zh-CN" b="0"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𝜎</m:t>
                    </m:r>
                    <m:d>
                      <m:dPr>
                        <m:ctrlPr>
                          <a:rPr lang="en-US" altLang="zh-CN" b="0" i="1" smtClean="0">
                            <a:latin typeface="Cambria Math" charset="0"/>
                            <a:ea typeface="Microsoft YaHei" charset="-122"/>
                            <a:cs typeface="Microsoft YaHei" charset="-122"/>
                          </a:rPr>
                        </m:ctrlPr>
                      </m:dPr>
                      <m:e>
                        <m:r>
                          <a:rPr lang="en-US" altLang="zh-CN" b="0" i="1" smtClean="0">
                            <a:latin typeface="Cambria Math" charset="0"/>
                            <a:ea typeface="Microsoft YaHei" charset="-122"/>
                            <a:cs typeface="Microsoft YaHei" charset="-122"/>
                          </a:rPr>
                          <m:t>𝑆</m:t>
                        </m:r>
                      </m:e>
                    </m:d>
                    <m:r>
                      <a:rPr lang="en-US" altLang="zh-CN" b="0" i="1" smtClean="0">
                        <a:latin typeface="Cambria Math" charset="0"/>
                        <a:ea typeface="Microsoft YaHei" charset="-122"/>
                        <a:cs typeface="Microsoft YaHei" charset="-122"/>
                      </a:rPr>
                      <m:t>=</m:t>
                    </m:r>
                    <m:r>
                      <a:rPr lang="zh-CN" altLang="en-US" b="0" i="1" smtClean="0">
                        <a:latin typeface="Cambria Math" charset="0"/>
                        <a:ea typeface="Microsoft YaHei" charset="-122"/>
                        <a:cs typeface="Microsoft YaHei" charset="-122"/>
                      </a:rPr>
                      <m:t> </m:t>
                    </m:r>
                    <m:r>
                      <a:rPr lang="en-US" altLang="zh-CN" b="0" i="1" smtClean="0">
                        <a:solidFill>
                          <a:srgbClr val="FF0000"/>
                        </a:solidFill>
                        <a:latin typeface="Cambria Math" charset="0"/>
                        <a:ea typeface="Microsoft YaHei" charset="-122"/>
                        <a:cs typeface="Microsoft YaHei" charset="-122"/>
                      </a:rPr>
                      <m:t>?</m:t>
                    </m:r>
                  </m:oMath>
                </a14:m>
                <a:endParaRPr lang="en-US" dirty="0">
                  <a:latin typeface="Microsoft YaHei" charset="-122"/>
                  <a:ea typeface="Microsoft YaHei" charset="-122"/>
                  <a:cs typeface="Microsoft YaHei" charset="-122"/>
                </a:endParaRPr>
              </a:p>
            </p:txBody>
          </p:sp>
        </mc:Choice>
        <mc:Fallback xmlns="">
          <p:sp>
            <p:nvSpPr>
              <p:cNvPr id="34" name="Rectangle 33"/>
              <p:cNvSpPr>
                <a:spLocks noRot="1" noChangeAspect="1" noMove="1" noResize="1" noEditPoints="1" noAdjustHandles="1" noChangeArrowheads="1" noChangeShapeType="1" noTextEdit="1"/>
              </p:cNvSpPr>
              <p:nvPr/>
            </p:nvSpPr>
            <p:spPr>
              <a:xfrm>
                <a:off x="4844378" y="3977806"/>
                <a:ext cx="3721916" cy="369332"/>
              </a:xfrm>
              <a:prstGeom prst="rect">
                <a:avLst/>
              </a:prstGeom>
              <a:blipFill rotWithShape="0">
                <a:blip r:embed="rId5"/>
                <a:stretch>
                  <a:fillRect l="-1475" t="-96667" b="-125000"/>
                </a:stretch>
              </a:blipFill>
            </p:spPr>
            <p:txBody>
              <a:bodyPr/>
              <a:lstStyle/>
              <a:p>
                <a:r>
                  <a:rPr lang="en-US">
                    <a:noFill/>
                  </a:rPr>
                  <a:t> </a:t>
                </a:r>
              </a:p>
            </p:txBody>
          </p:sp>
        </mc:Fallback>
      </mc:AlternateContent>
      <p:sp>
        <p:nvSpPr>
          <p:cNvPr id="35" name="Rectangle 34"/>
          <p:cNvSpPr/>
          <p:nvPr/>
        </p:nvSpPr>
        <p:spPr>
          <a:xfrm>
            <a:off x="6676983" y="1883753"/>
            <a:ext cx="2142907" cy="923330"/>
          </a:xfrm>
          <a:prstGeom prst="rect">
            <a:avLst/>
          </a:prstGeom>
        </p:spPr>
        <p:txBody>
          <a:bodyPr wrap="square">
            <a:spAutoFit/>
          </a:bodyPr>
          <a:lstStyle/>
          <a:p>
            <a:r>
              <a:rPr lang="zh-CN" altLang="en-US" dirty="0">
                <a:latin typeface="Microsoft YaHei" charset="-122"/>
                <a:ea typeface="Microsoft YaHei" charset="-122"/>
                <a:cs typeface="Microsoft YaHei" charset="-122"/>
              </a:rPr>
              <a:t>分类讨论：</a:t>
            </a:r>
            <a:endParaRPr lang="en-US" altLang="zh-CN" dirty="0">
              <a:latin typeface="Microsoft YaHei" charset="-122"/>
              <a:ea typeface="Microsoft YaHei" charset="-122"/>
              <a:cs typeface="Microsoft YaHei" charset="-122"/>
            </a:endParaRPr>
          </a:p>
          <a:p>
            <a:pPr marL="285750" indent="-285750">
              <a:buFont typeface="Arial" charset="0"/>
              <a:buChar char="•"/>
            </a:pP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已经</a:t>
            </a:r>
            <a:r>
              <a:rPr lang="en-US" altLang="zh-CN" dirty="0">
                <a:latin typeface="Microsoft YaHei" charset="-122"/>
                <a:ea typeface="Microsoft YaHei" charset="-122"/>
                <a:cs typeface="Microsoft YaHei" charset="-122"/>
              </a:rPr>
              <a:t>activated</a:t>
            </a:r>
          </a:p>
          <a:p>
            <a:pPr marL="285750" indent="-285750">
              <a:buFont typeface="Arial" charset="0"/>
              <a:buChar char="•"/>
            </a:pP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没有</a:t>
            </a:r>
            <a:r>
              <a:rPr lang="en-US" altLang="zh-CN" dirty="0">
                <a:latin typeface="Microsoft YaHei" charset="-122"/>
                <a:ea typeface="Microsoft YaHei" charset="-122"/>
                <a:cs typeface="Microsoft YaHei" charset="-122"/>
              </a:rPr>
              <a:t>activated</a:t>
            </a:r>
            <a:endParaRPr lang="en-US" dirty="0">
              <a:latin typeface="Microsoft YaHei" charset="-122"/>
              <a:ea typeface="Microsoft YaHei" charset="-122"/>
              <a:cs typeface="Microsoft YaHei" charset="-122"/>
            </a:endParaRPr>
          </a:p>
        </p:txBody>
      </p:sp>
      <p:sp>
        <p:nvSpPr>
          <p:cNvPr id="36" name="Rectangle 35"/>
          <p:cNvSpPr/>
          <p:nvPr/>
        </p:nvSpPr>
        <p:spPr>
          <a:xfrm>
            <a:off x="6594864" y="3006458"/>
            <a:ext cx="2307143" cy="707886"/>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节点</a:t>
            </a:r>
            <a:r>
              <a:rPr lang="en-US" altLang="zh-CN" sz="2000" dirty="0">
                <a:solidFill>
                  <a:srgbClr val="AE0627"/>
                </a:solidFill>
                <a:latin typeface="Microsoft YaHei" charset="-122"/>
                <a:ea typeface="Microsoft YaHei" charset="-122"/>
                <a:cs typeface="Microsoft YaHei" charset="-122"/>
              </a:rPr>
              <a:t>1</a:t>
            </a:r>
            <a:r>
              <a:rPr lang="zh-CN" altLang="en-US" sz="2000" dirty="0">
                <a:solidFill>
                  <a:srgbClr val="AE0627"/>
                </a:solidFill>
                <a:latin typeface="Microsoft YaHei" charset="-122"/>
                <a:ea typeface="Microsoft YaHei" charset="-122"/>
                <a:cs typeface="Microsoft YaHei" charset="-122"/>
              </a:rPr>
              <a:t>的影响因为</a:t>
            </a:r>
            <a:r>
              <a:rPr lang="en-US" altLang="zh-CN" sz="2000" dirty="0">
                <a:solidFill>
                  <a:srgbClr val="AE0627"/>
                </a:solidFill>
                <a:latin typeface="Microsoft YaHei" charset="-122"/>
                <a:ea typeface="Microsoft YaHei" charset="-122"/>
                <a:cs typeface="Microsoft YaHei" charset="-122"/>
              </a:rPr>
              <a:t>2</a:t>
            </a:r>
            <a:r>
              <a:rPr lang="zh-CN" altLang="en-US" sz="2000" dirty="0">
                <a:solidFill>
                  <a:srgbClr val="AE0627"/>
                </a:solidFill>
                <a:latin typeface="Microsoft YaHei" charset="-122"/>
                <a:ea typeface="Microsoft YaHei" charset="-122"/>
                <a:cs typeface="Microsoft YaHei" charset="-122"/>
              </a:rPr>
              <a:t>的引入打了折扣！</a:t>
            </a:r>
            <a:endParaRPr lang="en-US" altLang="zh-CN" sz="2000" dirty="0">
              <a:solidFill>
                <a:srgbClr val="AE062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Rectangle 3"/>
              <p:cNvSpPr/>
              <p:nvPr/>
            </p:nvSpPr>
            <p:spPr>
              <a:xfrm>
                <a:off x="5315358" y="4411440"/>
                <a:ext cx="37310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mtClean="0">
                          <a:solidFill>
                            <a:srgbClr val="C00000"/>
                          </a:solidFill>
                          <a:latin typeface="Cambria Math" charset="0"/>
                          <a:ea typeface="Microsoft YaHei" charset="-122"/>
                          <a:cs typeface="Microsoft YaHei" charset="-122"/>
                        </a:rPr>
                        <m:t>Δ</m:t>
                      </m:r>
                      <m:r>
                        <a:rPr lang="en-US" altLang="zh-CN" i="1">
                          <a:solidFill>
                            <a:srgbClr val="C00000"/>
                          </a:solidFill>
                          <a:latin typeface="Cambria Math" charset="0"/>
                          <a:ea typeface="Microsoft YaHei" charset="-122"/>
                          <a:cs typeface="Microsoft YaHei" charset="-122"/>
                        </a:rPr>
                        <m:t>𝜎</m:t>
                      </m:r>
                      <m:d>
                        <m:dPr>
                          <m:ctrlPr>
                            <a:rPr lang="en-US" altLang="zh-CN" i="1">
                              <a:solidFill>
                                <a:srgbClr val="C00000"/>
                              </a:solidFill>
                              <a:latin typeface="Cambria Math" charset="0"/>
                              <a:ea typeface="Microsoft YaHei" charset="-122"/>
                              <a:cs typeface="Microsoft YaHei" charset="-122"/>
                            </a:rPr>
                          </m:ctrlPr>
                        </m:dPr>
                        <m:e>
                          <m:r>
                            <a:rPr lang="en-US" altLang="zh-CN" i="1">
                              <a:solidFill>
                                <a:srgbClr val="C00000"/>
                              </a:solidFill>
                              <a:latin typeface="Cambria Math" charset="0"/>
                              <a:ea typeface="Microsoft YaHei" charset="-122"/>
                              <a:cs typeface="Microsoft YaHei" charset="-122"/>
                            </a:rPr>
                            <m:t>𝑆</m:t>
                          </m:r>
                        </m:e>
                      </m:d>
                      <m:r>
                        <a:rPr lang="en-US" altLang="zh-CN" i="1">
                          <a:solidFill>
                            <a:srgbClr val="C00000"/>
                          </a:solidFill>
                          <a:latin typeface="Cambria Math" charset="0"/>
                          <a:ea typeface="Microsoft YaHei" charset="-122"/>
                          <a:cs typeface="Microsoft YaHei" charset="-122"/>
                        </a:rPr>
                        <m:t>=</m:t>
                      </m:r>
                      <m:d>
                        <m:dPr>
                          <m:ctrlPr>
                            <a:rPr lang="en-US" altLang="zh-CN" b="0" i="1" smtClean="0">
                              <a:solidFill>
                                <a:srgbClr val="C00000"/>
                              </a:solidFill>
                              <a:latin typeface="Cambria Math" charset="0"/>
                              <a:ea typeface="Microsoft YaHei" charset="-122"/>
                              <a:cs typeface="Microsoft YaHei" charset="-122"/>
                            </a:rPr>
                          </m:ctrlPr>
                        </m:dPr>
                        <m:e>
                          <m:r>
                            <a:rPr lang="en-US" altLang="zh-CN" b="0" i="1" smtClean="0">
                              <a:solidFill>
                                <a:srgbClr val="C00000"/>
                              </a:solidFill>
                              <a:latin typeface="Cambria Math" charset="0"/>
                              <a:ea typeface="Microsoft YaHei" charset="-122"/>
                              <a:cs typeface="Microsoft YaHei" charset="-122"/>
                            </a:rPr>
                            <m:t>1−0.1</m:t>
                          </m:r>
                        </m:e>
                      </m:d>
                      <m:r>
                        <a:rPr lang="zh-CN" altLang="en-US" b="0" i="1" smtClean="0">
                          <a:solidFill>
                            <a:srgbClr val="C00000"/>
                          </a:solidFill>
                          <a:latin typeface="Cambria Math" charset="0"/>
                          <a:ea typeface="Microsoft YaHei" charset="-122"/>
                          <a:cs typeface="Microsoft YaHei" charset="-122"/>
                        </a:rPr>
                        <m:t>∗</m:t>
                      </m:r>
                      <m:r>
                        <a:rPr lang="en-US" altLang="zh-CN" b="0" i="1" smtClean="0">
                          <a:solidFill>
                            <a:srgbClr val="C00000"/>
                          </a:solidFill>
                          <a:latin typeface="Cambria Math" charset="0"/>
                          <a:ea typeface="Microsoft YaHei" charset="-122"/>
                          <a:cs typeface="Microsoft YaHei" charset="-122"/>
                        </a:rPr>
                        <m:t>(1+0.8+0.9)</m:t>
                      </m:r>
                    </m:oMath>
                  </m:oMathPara>
                </a14:m>
                <a:endParaRPr lang="en-US" dirty="0">
                  <a:solidFill>
                    <a:srgbClr val="C0000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5315358" y="4411440"/>
                <a:ext cx="3731086" cy="369332"/>
              </a:xfrm>
              <a:prstGeom prst="rect">
                <a:avLst/>
              </a:prstGeom>
              <a:blipFill rotWithShape="0">
                <a:blip r:embed="rId6"/>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1848084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ppt_x"/>
                                          </p:val>
                                        </p:tav>
                                        <p:tav tm="100000">
                                          <p:val>
                                            <p:strVal val="#ppt_x"/>
                                          </p:val>
                                        </p:tav>
                                      </p:tavLst>
                                    </p:anim>
                                    <p:anim calcmode="lin" valueType="num">
                                      <p:cBhvr additive="base">
                                        <p:cTn id="1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p:sp>
        <p:nvSpPr>
          <p:cNvPr id="3" name="Content Placeholder 2"/>
          <p:cNvSpPr>
            <a:spLocks noGrp="1"/>
          </p:cNvSpPr>
          <p:nvPr>
            <p:ph idx="1"/>
          </p:nvPr>
        </p:nvSpPr>
        <p:spPr/>
        <p:txBody>
          <a:bodyPr/>
          <a:lstStyle/>
          <a:p>
            <a:r>
              <a:rPr lang="zh-CN" altLang="en-US" dirty="0"/>
              <a:t>基本想法</a:t>
            </a:r>
            <a:endParaRPr lang="en-US" altLang="zh-CN" dirty="0"/>
          </a:p>
          <a:p>
            <a:pPr lvl="1"/>
            <a:r>
              <a:rPr lang="zh-CN" altLang="en-US" dirty="0"/>
              <a:t>出度越高的点，影响力越大</a:t>
            </a:r>
            <a:endParaRPr lang="en-US" altLang="zh-CN" dirty="0"/>
          </a:p>
          <a:p>
            <a:pPr lvl="1"/>
            <a:r>
              <a:rPr lang="zh-CN" altLang="en-US" dirty="0"/>
              <a:t>选择的种子节点的影响范围避免重叠</a:t>
            </a: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457200" y="2003707"/>
              <a:ext cx="6717323" cy="2710244"/>
            </p:xfrm>
            <a:graphic>
              <a:graphicData uri="http://schemas.openxmlformats.org/drawingml/2006/table">
                <a:tbl>
                  <a:tblPr firstRow="1" bandRow="1">
                    <a:tableStyleId>{2D5ABB26-0587-4C30-8999-92F81FD0307C}</a:tableStyleId>
                  </a:tblPr>
                  <a:tblGrid>
                    <a:gridCol w="6717323">
                      <a:extLst>
                        <a:ext uri="{9D8B030D-6E8A-4147-A177-3AD203B41FA5}">
                          <a16:colId xmlns:a16="http://schemas.microsoft.com/office/drawing/2014/main" xmlns="" val="20000"/>
                        </a:ext>
                      </a:extLst>
                    </a:gridCol>
                  </a:tblGrid>
                  <a:tr h="2710244">
                    <a:tc>
                      <a:txBody>
                        <a:bodyPr/>
                        <a:lstStyle/>
                        <a:p>
                          <a:pPr marL="342900" indent="-342900">
                            <a:buFont typeface="+mj-lt"/>
                            <a:buAutoNum type="arabicPeriod"/>
                          </a:pPr>
                          <a:r>
                            <a:rPr lang="en-US" sz="1900" dirty="0"/>
                            <a:t>Initialize </a:t>
                          </a:r>
                          <a14:m>
                            <m:oMath xmlns:m="http://schemas.openxmlformats.org/officeDocument/2006/math">
                              <m:r>
                                <a:rPr lang="en-US" sz="1900" i="1">
                                  <a:latin typeface="Cambria Math" panose="02040503050406030204" pitchFamily="18" charset="0"/>
                                </a:rPr>
                                <m:t>𝑆</m:t>
                              </m:r>
                              <m:r>
                                <a:rPr lang="en-US" sz="1900" i="1">
                                  <a:latin typeface="Cambria Math" panose="02040503050406030204" pitchFamily="18" charset="0"/>
                                </a:rPr>
                                <m:t>=∅</m:t>
                              </m:r>
                            </m:oMath>
                          </a14:m>
                          <a:endParaRPr lang="en-US" sz="1900" dirty="0"/>
                        </a:p>
                        <a:p>
                          <a:pPr marL="342900" indent="-342900">
                            <a:buFont typeface="+mj-lt"/>
                            <a:buAutoNum type="arabicPeriod"/>
                          </a:pPr>
                          <a:r>
                            <a:rPr lang="en-US" sz="1900" dirty="0"/>
                            <a:t>Compute the out-degree of each node;</a:t>
                          </a:r>
                        </a:p>
                        <a:p>
                          <a:pPr marL="342900" indent="-342900">
                            <a:buFont typeface="+mj-lt"/>
                            <a:buAutoNum type="arabicPeriod"/>
                          </a:pPr>
                          <a:r>
                            <a:rPr lang="en-US" sz="1900" dirty="0"/>
                            <a:t>For </a:t>
                          </a:r>
                          <a14:m>
                            <m:oMath xmlns:m="http://schemas.openxmlformats.org/officeDocument/2006/math">
                              <m:r>
                                <a:rPr lang="en-US" sz="1900" i="1">
                                  <a:latin typeface="Cambria Math" panose="02040503050406030204" pitchFamily="18" charset="0"/>
                                </a:rPr>
                                <m:t>𝑖</m:t>
                              </m:r>
                              <m:r>
                                <a:rPr lang="en-US" sz="1900" i="1">
                                  <a:latin typeface="Cambria Math" panose="02040503050406030204" pitchFamily="18" charset="0"/>
                                </a:rPr>
                                <m:t>=1,……,</m:t>
                              </m:r>
                              <m:r>
                                <a:rPr lang="en-US" sz="1900" i="1">
                                  <a:latin typeface="Cambria Math" panose="02040503050406030204" pitchFamily="18" charset="0"/>
                                </a:rPr>
                                <m:t>𝑘</m:t>
                              </m:r>
                            </m:oMath>
                          </a14:m>
                          <a:r>
                            <a:rPr lang="en-US" sz="1900" dirty="0"/>
                            <a:t> do:</a:t>
                          </a:r>
                        </a:p>
                        <a:p>
                          <a:pPr marL="680347" lvl="1" indent="-342900">
                            <a:buFont typeface="+mj-lt"/>
                            <a:buAutoNum type="arabicParenR"/>
                          </a:pPr>
                          <a:r>
                            <a:rPr lang="en-US" sz="1900" dirty="0"/>
                            <a:t>Select the node </a:t>
                          </a:r>
                          <a14:m>
                            <m:oMath xmlns:m="http://schemas.openxmlformats.org/officeDocument/2006/math">
                              <m:r>
                                <a:rPr lang="en-US" sz="1900" i="1" dirty="0">
                                  <a:latin typeface="Cambria Math" panose="02040503050406030204" pitchFamily="18" charset="0"/>
                                </a:rPr>
                                <m:t>𝑢</m:t>
                              </m:r>
                            </m:oMath>
                          </a14:m>
                          <a:r>
                            <a:rPr lang="en-US" sz="1900" dirty="0"/>
                            <a:t> with highest remaining degrees into </a:t>
                          </a:r>
                          <a14:m>
                            <m:oMath xmlns:m="http://schemas.openxmlformats.org/officeDocument/2006/math">
                              <m:r>
                                <a:rPr lang="en-US" sz="1900" i="1" dirty="0">
                                  <a:latin typeface="Cambria Math" panose="02040503050406030204" pitchFamily="18" charset="0"/>
                                </a:rPr>
                                <m:t>𝑆</m:t>
                              </m:r>
                            </m:oMath>
                          </a14:m>
                          <a:r>
                            <a:rPr lang="en-US" sz="1900" dirty="0"/>
                            <a:t>;</a:t>
                          </a:r>
                        </a:p>
                        <a:p>
                          <a:pPr marL="680347" lvl="1" indent="-342900">
                            <a:buFont typeface="+mj-lt"/>
                            <a:buAutoNum type="arabicParenR"/>
                          </a:pPr>
                          <a:r>
                            <a:rPr lang="en-US" sz="1900" dirty="0"/>
                            <a:t>For each vertex </a:t>
                          </a:r>
                          <a14:m>
                            <m:oMath xmlns:m="http://schemas.openxmlformats.org/officeDocument/2006/math">
                              <m:r>
                                <a:rPr lang="en-US" sz="1900" i="1" dirty="0">
                                  <a:latin typeface="Cambria Math" panose="02040503050406030204" pitchFamily="18" charset="0"/>
                                </a:rPr>
                                <m:t>𝑣</m:t>
                              </m:r>
                              <m:r>
                                <a:rPr lang="en-US" sz="1900" i="1" dirty="0">
                                  <a:latin typeface="Cambria Math" panose="02040503050406030204" pitchFamily="18" charset="0"/>
                                </a:rPr>
                                <m:t>∈</m:t>
                              </m:r>
                              <m:r>
                                <a:rPr lang="en-US" sz="1900" i="1" dirty="0">
                                  <a:latin typeface="Cambria Math" panose="02040503050406030204" pitchFamily="18" charset="0"/>
                                </a:rPr>
                                <m:t>𝑉</m:t>
                              </m:r>
                              <m:r>
                                <a:rPr lang="en-US" sz="1900" i="1" dirty="0">
                                  <a:latin typeface="Cambria Math" panose="02040503050406030204" pitchFamily="18" charset="0"/>
                                </a:rPr>
                                <m:t>∖</m:t>
                              </m:r>
                              <m:r>
                                <a:rPr lang="en-US" sz="1900" i="1" dirty="0">
                                  <a:latin typeface="Cambria Math" panose="02040503050406030204" pitchFamily="18" charset="0"/>
                                </a:rPr>
                                <m:t>𝑆</m:t>
                              </m:r>
                            </m:oMath>
                          </a14:m>
                          <a:r>
                            <a:rPr lang="en-US" sz="1900" dirty="0"/>
                            <a:t> such that </a:t>
                          </a:r>
                          <a14:m>
                            <m:oMath xmlns:m="http://schemas.openxmlformats.org/officeDocument/2006/math">
                              <m:r>
                                <a:rPr lang="en-US" sz="1900" i="1" dirty="0">
                                  <a:latin typeface="Cambria Math" panose="02040503050406030204" pitchFamily="18" charset="0"/>
                                </a:rPr>
                                <m:t>𝑣</m:t>
                              </m:r>
                            </m:oMath>
                          </a14:m>
                          <a:r>
                            <a:rPr lang="en-US" sz="1900" dirty="0"/>
                            <a:t> is a neighbor of </a:t>
                          </a:r>
                          <a14:m>
                            <m:oMath xmlns:m="http://schemas.openxmlformats.org/officeDocument/2006/math">
                              <m:r>
                                <a:rPr lang="en-US" sz="1900" i="1" dirty="0">
                                  <a:latin typeface="Cambria Math" panose="02040503050406030204" pitchFamily="18" charset="0"/>
                                </a:rPr>
                                <m:t>𝑢</m:t>
                              </m:r>
                            </m:oMath>
                          </a14:m>
                          <a:r>
                            <a:rPr lang="en-US" sz="1900" dirty="0"/>
                            <a:t> do:</a:t>
                          </a:r>
                        </a:p>
                        <a:p>
                          <a:pPr marL="1023514" lvl="2" indent="-342900">
                            <a:buFont typeface="+mj-lt"/>
                            <a:buAutoNum type="alphaLcParenR"/>
                          </a:pPr>
                          <a:r>
                            <a:rPr lang="en-US" sz="1900" dirty="0">
                              <a:solidFill>
                                <a:srgbClr val="003399"/>
                              </a:solidFill>
                            </a:rPr>
                            <a:t>Discount the degree of </a:t>
                          </a:r>
                          <a14:m>
                            <m:oMath xmlns:m="http://schemas.openxmlformats.org/officeDocument/2006/math">
                              <m:r>
                                <a:rPr lang="en-US" sz="1900" i="1">
                                  <a:solidFill>
                                    <a:srgbClr val="003399"/>
                                  </a:solidFill>
                                  <a:latin typeface="Cambria Math" panose="02040503050406030204" pitchFamily="18" charset="0"/>
                                </a:rPr>
                                <m:t>𝑣</m:t>
                              </m:r>
                            </m:oMath>
                          </a14:m>
                          <a:r>
                            <a:rPr lang="en-US" sz="1900" dirty="0">
                              <a:solidFill>
                                <a:srgbClr val="003399"/>
                              </a:solidFill>
                            </a:rPr>
                            <a:t> according to </a:t>
                          </a:r>
                        </a:p>
                        <a:p>
                          <a:pPr marL="680614" lvl="2" indent="0">
                            <a:buFont typeface="+mj-lt"/>
                            <a:buNone/>
                          </a:pPr>
                          <a:r>
                            <a:rPr lang="zh-CN" altLang="en-US" sz="1900" dirty="0">
                              <a:solidFill>
                                <a:srgbClr val="003399"/>
                              </a:solidFill>
                            </a:rPr>
                            <a:t>         </a:t>
                          </a:r>
                          <a:r>
                            <a:rPr lang="en-US" sz="1900" dirty="0">
                              <a:solidFill>
                                <a:srgbClr val="003399"/>
                              </a:solidFill>
                            </a:rPr>
                            <a:t>edge probability </a:t>
                          </a:r>
                          <a14:m>
                            <m:oMath xmlns:m="http://schemas.openxmlformats.org/officeDocument/2006/math">
                              <m:sSub>
                                <m:sSubPr>
                                  <m:ctrlPr>
                                    <a:rPr lang="en-US" sz="1900" i="1">
                                      <a:solidFill>
                                        <a:srgbClr val="003399"/>
                                      </a:solidFill>
                                      <a:latin typeface="Cambria Math" charset="0"/>
                                    </a:rPr>
                                  </m:ctrlPr>
                                </m:sSubPr>
                                <m:e>
                                  <m:r>
                                    <a:rPr lang="en-US" sz="1900" i="1">
                                      <a:solidFill>
                                        <a:srgbClr val="003399"/>
                                      </a:solidFill>
                                      <a:latin typeface="Cambria Math" panose="02040503050406030204" pitchFamily="18" charset="0"/>
                                    </a:rPr>
                                    <m:t>𝑝</m:t>
                                  </m:r>
                                </m:e>
                                <m:sub>
                                  <m:r>
                                    <a:rPr lang="en-US" sz="1900" i="1">
                                      <a:solidFill>
                                        <a:srgbClr val="003399"/>
                                      </a:solidFill>
                                      <a:latin typeface="Cambria Math" panose="02040503050406030204" pitchFamily="18" charset="0"/>
                                    </a:rPr>
                                    <m:t>𝑢</m:t>
                                  </m:r>
                                  <m:r>
                                    <a:rPr lang="en-US" sz="1900" i="1">
                                      <a:solidFill>
                                        <a:srgbClr val="003399"/>
                                      </a:solidFill>
                                      <a:latin typeface="Cambria Math" panose="02040503050406030204" pitchFamily="18" charset="0"/>
                                    </a:rPr>
                                    <m:t>,</m:t>
                                  </m:r>
                                  <m:r>
                                    <a:rPr lang="en-US" sz="1900" i="1">
                                      <a:solidFill>
                                        <a:srgbClr val="003399"/>
                                      </a:solidFill>
                                      <a:latin typeface="Cambria Math" panose="02040503050406030204" pitchFamily="18" charset="0"/>
                                    </a:rPr>
                                    <m:t>𝑣</m:t>
                                  </m:r>
                                </m:sub>
                              </m:sSub>
                            </m:oMath>
                          </a14:m>
                          <a:r>
                            <a:rPr lang="en-US" sz="1900" dirty="0">
                              <a:solidFill>
                                <a:srgbClr val="003399"/>
                              </a:solidFill>
                            </a:rPr>
                            <a:t>;</a:t>
                          </a:r>
                        </a:p>
                        <a:p>
                          <a:pPr marL="342900" indent="-342900">
                            <a:buFont typeface="+mj-lt"/>
                            <a:buAutoNum type="arabicPeriod"/>
                          </a:pPr>
                          <a:r>
                            <a:rPr lang="en-US" sz="1900" dirty="0"/>
                            <a:t>Return </a:t>
                          </a:r>
                          <a14:m>
                            <m:oMath xmlns:m="http://schemas.openxmlformats.org/officeDocument/2006/math">
                              <m:r>
                                <a:rPr lang="en-US" sz="1900" i="1" dirty="0">
                                  <a:latin typeface="Cambria Math" panose="02040503050406030204" pitchFamily="18" charset="0"/>
                                </a:rPr>
                                <m:t>𝑆</m:t>
                              </m:r>
                            </m:oMath>
                          </a14:m>
                          <a:r>
                            <a:rPr lang="en-US" sz="1900" dirty="0"/>
                            <a:t>.</a:t>
                          </a:r>
                        </a:p>
                      </a:txBody>
                      <a:tcPr/>
                    </a:tc>
                    <a:extLst>
                      <a:ext uri="{0D108BD9-81ED-4DB2-BD59-A6C34878D82A}">
                        <a16:rowId xmlns:a16="http://schemas.microsoft.com/office/drawing/2014/main" xmlns="" val="1000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961361565"/>
                  </p:ext>
                </p:extLst>
              </p:nvPr>
            </p:nvGraphicFramePr>
            <p:xfrm>
              <a:off x="457200" y="2003707"/>
              <a:ext cx="6717323" cy="2710244"/>
            </p:xfrm>
            <a:graphic>
              <a:graphicData uri="http://schemas.openxmlformats.org/drawingml/2006/table">
                <a:tbl>
                  <a:tblPr firstRow="1" bandRow="1">
                    <a:tableStyleId>{2D5ABB26-0587-4C30-8999-92F81FD0307C}</a:tableStyleId>
                  </a:tblPr>
                  <a:tblGrid>
                    <a:gridCol w="6717323"/>
                  </a:tblGrid>
                  <a:tr h="2710244">
                    <a:tc>
                      <a:txBody>
                        <a:bodyPr/>
                        <a:lstStyle/>
                        <a:p>
                          <a:endParaRPr lang="en-US"/>
                        </a:p>
                      </a:txBody>
                      <a:tcPr>
                        <a:blipFill rotWithShape="0">
                          <a:blip r:embed="rId3"/>
                          <a:stretch>
                            <a:fillRect t="-1345"/>
                          </a:stretch>
                        </a:blipFill>
                      </a:tcPr>
                    </a:tc>
                  </a:tr>
                </a:tbl>
              </a:graphicData>
            </a:graphic>
          </p:graphicFrame>
        </mc:Fallback>
      </mc:AlternateContent>
      <p:sp>
        <p:nvSpPr>
          <p:cNvPr id="5" name="Rectangle 4"/>
          <p:cNvSpPr/>
          <p:nvPr/>
        </p:nvSpPr>
        <p:spPr>
          <a:xfrm>
            <a:off x="1069145" y="3513818"/>
            <a:ext cx="4656406" cy="59084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000965" y="3609184"/>
            <a:ext cx="2685835" cy="400110"/>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如何</a:t>
            </a:r>
            <a:r>
              <a:rPr lang="en-US" altLang="zh-CN" sz="2000" dirty="0">
                <a:solidFill>
                  <a:srgbClr val="AE0627"/>
                </a:solidFill>
                <a:latin typeface="Calibri" charset="0"/>
                <a:ea typeface="Calibri" charset="0"/>
                <a:cs typeface="Calibri" charset="0"/>
              </a:rPr>
              <a:t>Discount</a:t>
            </a:r>
            <a:r>
              <a:rPr lang="en-US" altLang="zh-CN" sz="2000" dirty="0">
                <a:solidFill>
                  <a:srgbClr val="AE0627"/>
                </a:solidFill>
                <a:latin typeface="Microsoft YaHei" charset="-122"/>
                <a:ea typeface="Microsoft YaHei" charset="-122"/>
                <a:cs typeface="Microsoft YaHei" charset="-122"/>
              </a:rPr>
              <a:t>?</a:t>
            </a:r>
            <a:endParaRPr lang="en-US" altLang="zh-CN" sz="20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986793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241409" cy="3937000"/>
              </a:xfrm>
            </p:spPr>
            <p:txBody>
              <a:bodyPr/>
              <a:lstStyle/>
              <a:p>
                <a:r>
                  <a:rPr lang="zh-CN" altLang="en-US" dirty="0"/>
                  <a:t>对问题做简化：</a:t>
                </a:r>
                <a:endParaRPr lang="en-US" altLang="zh-CN" dirty="0"/>
              </a:p>
              <a:p>
                <a:pPr lvl="1">
                  <a:lnSpc>
                    <a:spcPct val="150000"/>
                  </a:lnSpc>
                </a:pPr>
                <a:r>
                  <a:rPr lang="zh-CN" altLang="en-US" dirty="0"/>
                  <a:t>每条边的影响概率都为</a:t>
                </a:r>
                <a14:m>
                  <m:oMath xmlns:m="http://schemas.openxmlformats.org/officeDocument/2006/math">
                    <m:r>
                      <a:rPr lang="en-US" altLang="zh-CN" i="1" dirty="0" smtClean="0">
                        <a:latin typeface="Cambria Math" charset="0"/>
                      </a:rPr>
                      <m:t>𝑝</m:t>
                    </m:r>
                  </m:oMath>
                </a14:m>
                <a:endParaRPr lang="en-US" altLang="zh-CN" dirty="0"/>
              </a:p>
              <a:p>
                <a:pPr lvl="1">
                  <a:lnSpc>
                    <a:spcPct val="150000"/>
                  </a:lnSpc>
                </a:pPr>
                <a:r>
                  <a:rPr lang="zh-CN" altLang="en-US" dirty="0"/>
                  <a:t>定义</a:t>
                </a:r>
                <a14:m>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𝑑</m:t>
                        </m:r>
                      </m:e>
                      <m:sub>
                        <m:r>
                          <a:rPr lang="en-US" altLang="zh-CN" b="0" i="1" smtClean="0">
                            <a:latin typeface="Cambria Math" charset="0"/>
                          </a:rPr>
                          <m:t>𝑣</m:t>
                        </m:r>
                      </m:sub>
                    </m:sSub>
                  </m:oMath>
                </a14:m>
                <a:r>
                  <a:rPr lang="zh-CN" altLang="en-US" dirty="0"/>
                  <a:t>是节点</a:t>
                </a:r>
                <a14:m>
                  <m:oMath xmlns:m="http://schemas.openxmlformats.org/officeDocument/2006/math">
                    <m:r>
                      <a:rPr lang="en-US" altLang="zh-CN" i="1" dirty="0" smtClean="0">
                        <a:latin typeface="Cambria Math" charset="0"/>
                      </a:rPr>
                      <m:t>𝑣</m:t>
                    </m:r>
                  </m:oMath>
                </a14:m>
                <a:r>
                  <a:rPr lang="zh-CN" altLang="en-US" dirty="0"/>
                  <a:t>的度数，即邻居节点的个数</a:t>
                </a:r>
                <a:endParaRPr lang="en-US" altLang="zh-CN" dirty="0"/>
              </a:p>
              <a:p>
                <a:pPr lvl="1">
                  <a:lnSpc>
                    <a:spcPct val="150000"/>
                  </a:lnSpc>
                </a:pPr>
                <a:r>
                  <a:rPr lang="zh-CN" altLang="en-US" dirty="0"/>
                  <a:t>定义</a:t>
                </a:r>
                <a14:m>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𝑡</m:t>
                        </m:r>
                      </m:e>
                      <m:sub>
                        <m:r>
                          <a:rPr lang="en-US" altLang="zh-CN" b="0" i="1" smtClean="0">
                            <a:latin typeface="Cambria Math" charset="0"/>
                          </a:rPr>
                          <m:t>𝑣</m:t>
                        </m:r>
                      </m:sub>
                    </m:sSub>
                  </m:oMath>
                </a14:m>
                <a:r>
                  <a:rPr lang="zh-CN" altLang="en-US" dirty="0"/>
                  <a:t>是</a:t>
                </a:r>
                <a:r>
                  <a:rPr lang="en-US" altLang="zh-CN" dirty="0"/>
                  <a:t>v</a:t>
                </a:r>
                <a:r>
                  <a:rPr lang="zh-CN" altLang="en-US" dirty="0"/>
                  <a:t>的邻居中已经选择进入种子集合的个数</a:t>
                </a:r>
                <a:endParaRPr lang="en-US" dirty="0"/>
              </a:p>
              <a:p>
                <a:pPr lvl="1">
                  <a:lnSpc>
                    <a:spcPct val="150000"/>
                  </a:lnSpc>
                </a:pPr>
                <a:r>
                  <a:rPr lang="zh-CN" altLang="en-US" dirty="0"/>
                  <a:t>定义</a:t>
                </a:r>
                <a14:m>
                  <m:oMath xmlns:m="http://schemas.openxmlformats.org/officeDocument/2006/math">
                    <m:r>
                      <a:rPr lang="en-US" altLang="zh-CN" i="1" dirty="0" smtClean="0">
                        <a:latin typeface="Cambria Math" charset="0"/>
                      </a:rPr>
                      <m:t>𝑑</m:t>
                    </m:r>
                    <m:sSub>
                      <m:sSubPr>
                        <m:ctrlPr>
                          <a:rPr lang="en-US" altLang="zh-CN" b="0" i="1" dirty="0" smtClean="0">
                            <a:latin typeface="Cambria Math" charset="0"/>
                          </a:rPr>
                        </m:ctrlPr>
                      </m:sSubPr>
                      <m:e>
                        <m:r>
                          <a:rPr lang="en-US" altLang="zh-CN" i="1" dirty="0" smtClean="0">
                            <a:latin typeface="Cambria Math" charset="0"/>
                          </a:rPr>
                          <m:t>𝑑</m:t>
                        </m:r>
                      </m:e>
                      <m:sub>
                        <m:r>
                          <a:rPr lang="en-US" altLang="zh-CN" b="0" i="1" dirty="0" smtClean="0">
                            <a:latin typeface="Cambria Math" charset="0"/>
                          </a:rPr>
                          <m:t>𝑣</m:t>
                        </m:r>
                      </m:sub>
                    </m:sSub>
                  </m:oMath>
                </a14:m>
                <a:r>
                  <a:rPr lang="zh-CN" altLang="en-US" dirty="0"/>
                  <a:t>为折扣后的度数，初始时设定</a:t>
                </a:r>
                <a14:m>
                  <m:oMath xmlns:m="http://schemas.openxmlformats.org/officeDocument/2006/math">
                    <m:r>
                      <a:rPr lang="en-US" altLang="zh-CN" i="1" dirty="0">
                        <a:latin typeface="Cambria Math" charset="0"/>
                      </a:rPr>
                      <m:t>𝑑</m:t>
                    </m:r>
                    <m:sSub>
                      <m:sSubPr>
                        <m:ctrlPr>
                          <a:rPr lang="en-US" altLang="zh-CN" i="1" dirty="0">
                            <a:latin typeface="Cambria Math" charset="0"/>
                          </a:rPr>
                        </m:ctrlPr>
                      </m:sSubPr>
                      <m:e>
                        <m:r>
                          <a:rPr lang="en-US" altLang="zh-CN" i="1" dirty="0">
                            <a:latin typeface="Cambria Math" charset="0"/>
                          </a:rPr>
                          <m:t>𝑑</m:t>
                        </m:r>
                      </m:e>
                      <m:sub>
                        <m:r>
                          <a:rPr lang="en-US" altLang="zh-CN" i="1" dirty="0">
                            <a:latin typeface="Cambria Math" charset="0"/>
                          </a:rPr>
                          <m:t>𝑣</m:t>
                        </m:r>
                      </m:sub>
                    </m:sSub>
                    <m:r>
                      <a:rPr lang="en-US" altLang="zh-CN" b="0" i="1" dirty="0" smtClean="0">
                        <a:latin typeface="Cambria Math" charset="0"/>
                      </a:rPr>
                      <m:t>=</m:t>
                    </m:r>
                    <m:sSub>
                      <m:sSubPr>
                        <m:ctrlPr>
                          <a:rPr lang="en-US" altLang="zh-CN" b="0" i="1" dirty="0" smtClean="0">
                            <a:latin typeface="Cambria Math" charset="0"/>
                          </a:rPr>
                        </m:ctrlPr>
                      </m:sSubPr>
                      <m:e>
                        <m:r>
                          <a:rPr lang="en-US" altLang="zh-CN" b="0" i="1" dirty="0" smtClean="0">
                            <a:latin typeface="Cambria Math" charset="0"/>
                          </a:rPr>
                          <m:t>𝑑</m:t>
                        </m:r>
                      </m:e>
                      <m:sub>
                        <m:r>
                          <a:rPr lang="en-US" altLang="zh-CN" b="0" i="1" dirty="0" smtClean="0">
                            <a:latin typeface="Cambria Math" charset="0"/>
                          </a:rPr>
                          <m:t>𝑣</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241409" cy="3937000"/>
              </a:xfrm>
              <a:blipFill rotWithShape="0">
                <a:blip r:embed="rId2"/>
                <a:stretch>
                  <a:fillRect l="-1293" t="-774" r="-862"/>
                </a:stretch>
              </a:blipFill>
            </p:spPr>
            <p:txBody>
              <a:bodyPr/>
              <a:lstStyle/>
              <a:p>
                <a:r>
                  <a:rPr lang="en-US">
                    <a:noFill/>
                  </a:rPr>
                  <a:t> </a:t>
                </a:r>
              </a:p>
            </p:txBody>
          </p:sp>
        </mc:Fallback>
      </mc:AlternateContent>
      <p:grpSp>
        <p:nvGrpSpPr>
          <p:cNvPr id="26" name="Group 25"/>
          <p:cNvGrpSpPr/>
          <p:nvPr/>
        </p:nvGrpSpPr>
        <p:grpSpPr>
          <a:xfrm>
            <a:off x="4806535" y="1208685"/>
            <a:ext cx="3978741" cy="3208570"/>
            <a:chOff x="961274" y="1581124"/>
            <a:chExt cx="3994183" cy="3221023"/>
          </a:xfrm>
        </p:grpSpPr>
        <p:grpSp>
          <p:nvGrpSpPr>
            <p:cNvPr id="27" name="Group 26"/>
            <p:cNvGrpSpPr/>
            <p:nvPr/>
          </p:nvGrpSpPr>
          <p:grpSpPr>
            <a:xfrm>
              <a:off x="1346695" y="1581124"/>
              <a:ext cx="3608762" cy="3221023"/>
              <a:chOff x="3405180" y="3720708"/>
              <a:chExt cx="3608762" cy="3221023"/>
            </a:xfrm>
          </p:grpSpPr>
          <p:sp>
            <p:nvSpPr>
              <p:cNvPr id="40" name="Oval 39"/>
              <p:cNvSpPr/>
              <p:nvPr/>
            </p:nvSpPr>
            <p:spPr>
              <a:xfrm>
                <a:off x="3405181" y="4676964"/>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2</a:t>
                </a:r>
              </a:p>
            </p:txBody>
          </p:sp>
          <p:sp>
            <p:nvSpPr>
              <p:cNvPr id="41" name="Oval 40"/>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p>
            </p:txBody>
          </p:sp>
          <p:sp>
            <p:nvSpPr>
              <p:cNvPr id="42" name="Oval 41"/>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43" name="Oval 42"/>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44" name="Oval 43"/>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45" name="Oval 44"/>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46" name="Oval 45"/>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47" name="Oval 46"/>
              <p:cNvSpPr/>
              <p:nvPr/>
            </p:nvSpPr>
            <p:spPr>
              <a:xfrm>
                <a:off x="4490401" y="372070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sp>
            <p:nvSpPr>
              <p:cNvPr id="48" name="Oval 47"/>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49" name="Straight Arrow Connector 48"/>
              <p:cNvCxnSpPr>
                <a:stCxn id="41" idx="2"/>
                <a:endCxn id="40" idx="6"/>
              </p:cNvCxnSpPr>
              <p:nvPr/>
            </p:nvCxnSpPr>
            <p:spPr>
              <a:xfrm flipH="1">
                <a:off x="3787018" y="4863976"/>
                <a:ext cx="703382" cy="3907"/>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41" idx="1"/>
                <a:endCxn id="49" idx="5"/>
              </p:cNvCxnSpPr>
              <p:nvPr/>
            </p:nvCxnSpPr>
            <p:spPr>
              <a:xfrm flipH="1" flipV="1">
                <a:off x="3731098" y="4046626"/>
                <a:ext cx="815221" cy="682350"/>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stCxn id="48" idx="4"/>
                <a:endCxn id="41" idx="0"/>
              </p:cNvCxnSpPr>
              <p:nvPr/>
            </p:nvCxnSpPr>
            <p:spPr>
              <a:xfrm flipH="1">
                <a:off x="4681319" y="4102546"/>
                <a:ext cx="1" cy="57051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40" idx="0"/>
                <a:endCxn id="49"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Arrow Connector 52"/>
              <p:cNvCxnSpPr>
                <a:stCxn id="40" idx="4"/>
                <a:endCxn id="44"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42" idx="0"/>
                <a:endCxn id="41" idx="4"/>
              </p:cNvCxnSpPr>
              <p:nvPr/>
            </p:nvCxnSpPr>
            <p:spPr>
              <a:xfrm flipH="1" flipV="1">
                <a:off x="4681319" y="5054894"/>
                <a:ext cx="1675" cy="57051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a:stCxn id="43" idx="1"/>
                <a:endCxn id="42"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Arrow Connector 55"/>
              <p:cNvCxnSpPr>
                <a:stCxn id="45" idx="4"/>
                <a:endCxn id="43"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42" idx="6"/>
                <a:endCxn id="45"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Arrow Connector 57"/>
              <p:cNvCxnSpPr>
                <a:stCxn id="45" idx="6"/>
                <a:endCxn id="46"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Arrow Connector 58"/>
              <p:cNvCxnSpPr>
                <a:stCxn id="40" idx="5"/>
                <a:endCxn id="42"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44" idx="6"/>
                <a:endCxn id="42"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8" name="TextBox 27"/>
                <p:cNvSpPr txBox="1"/>
                <p:nvPr/>
              </p:nvSpPr>
              <p:spPr>
                <a:xfrm>
                  <a:off x="1980084" y="2831833"/>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1980084" y="2831833"/>
                  <a:ext cx="370058" cy="370765"/>
                </a:xfrm>
                <a:prstGeom prst="rect">
                  <a:avLst/>
                </a:prstGeom>
                <a:blipFill rotWithShape="0">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965743" y="2069414"/>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965743" y="2069414"/>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961274" y="2949277"/>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961274" y="2949277"/>
                  <a:ext cx="370058" cy="370765"/>
                </a:xfrm>
                <a:prstGeom prst="rect">
                  <a:avLst/>
                </a:prstGeom>
                <a:blipFill rotWithShape="0">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1842017" y="3774649"/>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1842017" y="3774649"/>
                  <a:ext cx="370058" cy="370765"/>
                </a:xfrm>
                <a:prstGeom prst="rect">
                  <a:avLst/>
                </a:prstGeom>
                <a:blipFill rotWithShape="0">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878395" y="2363920"/>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878395" y="2363920"/>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2642839" y="2003880"/>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2642839" y="2003880"/>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066775" y="1941164"/>
                  <a:ext cx="370057"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2066775" y="1941164"/>
                  <a:ext cx="370057"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642839" y="2949277"/>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642839" y="2949277"/>
                  <a:ext cx="370058" cy="370765"/>
                </a:xfrm>
                <a:prstGeom prst="rect">
                  <a:avLst/>
                </a:prstGeom>
                <a:blipFill rotWithShape="0">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2930871" y="3300024"/>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2930871" y="3300024"/>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814499" y="4101404"/>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814499" y="4101404"/>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3966627" y="3711724"/>
                  <a:ext cx="370058" cy="370765"/>
                </a:xfrm>
                <a:prstGeom prst="rect">
                  <a:avLst/>
                </a:prstGeom>
                <a:noFill/>
                <a:ln>
                  <a:noFill/>
                  <a:headEnd type="none" w="med" len="med"/>
                  <a:tailEnd type="none" w="med" len="med"/>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3966627" y="3711724"/>
                  <a:ext cx="370058" cy="370765"/>
                </a:xfrm>
                <a:prstGeom prst="rect">
                  <a:avLst/>
                </a:prstGeom>
                <a:blipFill rotWithShape="0">
                  <a:blip r:embed="rId3"/>
                  <a:stretch>
                    <a:fillRect b="-4918"/>
                  </a:stretch>
                </a:blipFill>
                <a:ln>
                  <a:noFill/>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3722959" y="3957388"/>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722959" y="3957388"/>
                  <a:ext cx="370058" cy="370765"/>
                </a:xfrm>
                <a:prstGeom prst="rect">
                  <a:avLst/>
                </a:prstGeom>
                <a:blipFill rotWithShape="0">
                  <a:blip r:embed="rId3"/>
                  <a:stretch>
                    <a:fillRect b="-6667"/>
                  </a:stretch>
                </a:blipFill>
              </p:spPr>
              <p:txBody>
                <a:bodyPr/>
                <a:lstStyle/>
                <a:p>
                  <a:r>
                    <a:rPr lang="en-US">
                      <a:noFill/>
                    </a:rPr>
                    <a:t> </a:t>
                  </a:r>
                </a:p>
              </p:txBody>
            </p:sp>
          </mc:Fallback>
        </mc:AlternateContent>
      </p:grpSp>
    </p:spTree>
    <p:extLst>
      <p:ext uri="{BB962C8B-B14F-4D97-AF65-F5344CB8AC3E}">
        <p14:creationId xmlns:p14="http://schemas.microsoft.com/office/powerpoint/2010/main" val="1103657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02194"/>
              </a:xfrm>
            </p:spPr>
            <p:txBody>
              <a:bodyPr/>
              <a:lstStyle/>
              <a:p>
                <a:r>
                  <a:rPr lang="zh-CN" altLang="en-US" dirty="0"/>
                  <a:t>给定当前的种子集合</a:t>
                </a:r>
                <a14:m>
                  <m:oMath xmlns:m="http://schemas.openxmlformats.org/officeDocument/2006/math">
                    <m:r>
                      <a:rPr lang="en-US" altLang="zh-CN" b="0" i="1" smtClean="0">
                        <a:latin typeface="Cambria Math" charset="0"/>
                      </a:rPr>
                      <m:t>𝑆</m:t>
                    </m:r>
                  </m:oMath>
                </a14:m>
                <a:r>
                  <a:rPr lang="zh-CN" altLang="en-US" dirty="0"/>
                  <a:t>，如果将节点</a:t>
                </a:r>
                <a14:m>
                  <m:oMath xmlns:m="http://schemas.openxmlformats.org/officeDocument/2006/math">
                    <m:r>
                      <a:rPr lang="en-US" altLang="zh-CN" i="1" dirty="0" smtClean="0">
                        <a:latin typeface="Cambria Math" charset="0"/>
                      </a:rPr>
                      <m:t>𝑣</m:t>
                    </m:r>
                  </m:oMath>
                </a14:m>
                <a:r>
                  <a:rPr lang="zh-CN" altLang="en-US" dirty="0"/>
                  <a:t>加入到</a:t>
                </a:r>
                <a14:m>
                  <m:oMath xmlns:m="http://schemas.openxmlformats.org/officeDocument/2006/math">
                    <m:r>
                      <a:rPr lang="en-US" altLang="zh-CN" i="1" dirty="0" smtClean="0">
                        <a:latin typeface="Cambria Math" charset="0"/>
                      </a:rPr>
                      <m:t>𝑆</m:t>
                    </m:r>
                  </m:oMath>
                </a14:m>
                <a:r>
                  <a:rPr lang="zh-CN" altLang="en-US" dirty="0"/>
                  <a:t>中，</a:t>
                </a:r>
                <a14:m>
                  <m:oMath xmlns:m="http://schemas.openxmlformats.org/officeDocument/2006/math">
                    <m:r>
                      <m:rPr>
                        <m:sty m:val="p"/>
                      </m:rPr>
                      <a:rPr lang="en-US" altLang="zh-CN" i="0" dirty="0" smtClean="0">
                        <a:latin typeface="Cambria Math" charset="0"/>
                      </a:rPr>
                      <m:t>Δ</m:t>
                    </m:r>
                    <m:r>
                      <a:rPr lang="en-US" altLang="zh-CN" i="1" dirty="0" smtClean="0">
                        <a:latin typeface="Cambria Math" charset="0"/>
                      </a:rPr>
                      <m:t>𝑆</m:t>
                    </m:r>
                    <m:r>
                      <a:rPr lang="en-US" altLang="zh-CN" i="1" dirty="0" smtClean="0">
                        <a:latin typeface="Cambria Math" charset="0"/>
                      </a:rPr>
                      <m:t>=?</m:t>
                    </m:r>
                  </m:oMath>
                </a14:m>
                <a:endParaRPr lang="en-US" altLang="zh-CN" dirty="0"/>
              </a:p>
              <a:p>
                <a:pPr lvl="1"/>
                <a:r>
                  <a:rPr lang="zh-CN" altLang="en-US" dirty="0"/>
                  <a:t>如果</a:t>
                </a:r>
                <a14:m>
                  <m:oMath xmlns:m="http://schemas.openxmlformats.org/officeDocument/2006/math">
                    <m:sSub>
                      <m:sSubPr>
                        <m:ctrlPr>
                          <a:rPr lang="en-US" altLang="zh-CN" b="0" i="1" dirty="0" smtClean="0">
                            <a:latin typeface="Cambria Math" charset="0"/>
                          </a:rPr>
                        </m:ctrlPr>
                      </m:sSubPr>
                      <m:e>
                        <m:r>
                          <a:rPr lang="en-US" altLang="zh-CN" i="1" dirty="0" smtClean="0">
                            <a:latin typeface="Cambria Math" charset="0"/>
                          </a:rPr>
                          <m:t>𝑡</m:t>
                        </m:r>
                      </m:e>
                      <m:sub>
                        <m:r>
                          <a:rPr lang="en-US" altLang="zh-CN" b="0" i="1" dirty="0" smtClean="0">
                            <a:latin typeface="Cambria Math" charset="0"/>
                          </a:rPr>
                          <m:t>𝑣</m:t>
                        </m:r>
                      </m:sub>
                    </m:sSub>
                    <m:r>
                      <a:rPr lang="en-US" altLang="zh-CN" i="1" dirty="0" smtClean="0">
                        <a:latin typeface="Cambria Math" charset="0"/>
                      </a:rPr>
                      <m:t>=0</m:t>
                    </m:r>
                  </m:oMath>
                </a14:m>
                <a:r>
                  <a:rPr lang="zh-CN" altLang="en-US" dirty="0"/>
                  <a:t>，</a:t>
                </a:r>
                <a14:m>
                  <m:oMath xmlns:m="http://schemas.openxmlformats.org/officeDocument/2006/math">
                    <m:r>
                      <m:rPr>
                        <m:sty m:val="p"/>
                      </m:rPr>
                      <a:rPr lang="en-US" altLang="zh-CN" dirty="0">
                        <a:latin typeface="Cambria Math" charset="0"/>
                      </a:rPr>
                      <m:t>Δ</m:t>
                    </m:r>
                    <m:r>
                      <a:rPr lang="en-US" altLang="zh-CN" i="1" dirty="0">
                        <a:latin typeface="Cambria Math" charset="0"/>
                      </a:rPr>
                      <m:t>𝑆</m:t>
                    </m:r>
                    <m:r>
                      <a:rPr lang="en-US" altLang="zh-CN" i="1" dirty="0">
                        <a:latin typeface="Cambria Math" charset="0"/>
                      </a:rPr>
                      <m:t>=1+</m:t>
                    </m:r>
                    <m:sSub>
                      <m:sSubPr>
                        <m:ctrlPr>
                          <a:rPr lang="en-US" altLang="zh-CN" b="0" i="1" dirty="0" smtClean="0">
                            <a:latin typeface="Cambria Math" charset="0"/>
                          </a:rPr>
                        </m:ctrlPr>
                      </m:sSubPr>
                      <m:e>
                        <m:r>
                          <a:rPr lang="en-US" altLang="zh-CN" b="0" i="1" dirty="0" smtClean="0">
                            <a:latin typeface="Cambria Math" charset="0"/>
                          </a:rPr>
                          <m:t>𝑑</m:t>
                        </m:r>
                      </m:e>
                      <m:sub>
                        <m:r>
                          <a:rPr lang="en-US" altLang="zh-CN" b="0" i="1" dirty="0" smtClean="0">
                            <a:latin typeface="Cambria Math" charset="0"/>
                          </a:rPr>
                          <m:t>𝑣</m:t>
                        </m:r>
                      </m:sub>
                    </m:sSub>
                    <m:r>
                      <a:rPr lang="en-US" altLang="zh-CN" b="0" i="1" dirty="0" smtClean="0">
                        <a:latin typeface="Cambria Math" charset="0"/>
                      </a:rPr>
                      <m:t>𝑝</m:t>
                    </m:r>
                  </m:oMath>
                </a14:m>
                <a:endParaRPr lang="en-US" altLang="zh-CN" b="0" dirty="0"/>
              </a:p>
              <a:p>
                <a:pPr lvl="1"/>
                <a:r>
                  <a:rPr lang="zh-CN" altLang="en-US" dirty="0"/>
                  <a:t>如果</a:t>
                </a:r>
                <a14:m>
                  <m:oMath xmlns:m="http://schemas.openxmlformats.org/officeDocument/2006/math">
                    <m:sSub>
                      <m:sSubPr>
                        <m:ctrlPr>
                          <a:rPr lang="en-US" altLang="zh-CN" i="1" dirty="0">
                            <a:latin typeface="Cambria Math" charset="0"/>
                          </a:rPr>
                        </m:ctrlPr>
                      </m:sSubPr>
                      <m:e>
                        <m:r>
                          <a:rPr lang="en-US" altLang="zh-CN" i="1" dirty="0">
                            <a:latin typeface="Cambria Math" charset="0"/>
                          </a:rPr>
                          <m:t>𝑡</m:t>
                        </m:r>
                      </m:e>
                      <m:sub>
                        <m:r>
                          <a:rPr lang="en-US" altLang="zh-CN" i="1" dirty="0">
                            <a:latin typeface="Cambria Math" charset="0"/>
                          </a:rPr>
                          <m:t>𝑣</m:t>
                        </m:r>
                      </m:sub>
                    </m:sSub>
                    <m:r>
                      <a:rPr lang="en-US" altLang="zh-CN" b="0" i="1" dirty="0" smtClean="0">
                        <a:latin typeface="Cambria Math" charset="0"/>
                      </a:rPr>
                      <m:t>≠</m:t>
                    </m:r>
                    <m:r>
                      <a:rPr lang="en-US" altLang="zh-CN" i="1" dirty="0">
                        <a:latin typeface="Cambria Math" charset="0"/>
                      </a:rPr>
                      <m:t>0</m:t>
                    </m:r>
                  </m:oMath>
                </a14:m>
                <a:r>
                  <a:rPr lang="zh-CN" altLang="en-US" dirty="0"/>
                  <a:t>，可以推出</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02194"/>
              </a:xfrm>
              <a:blipFill rotWithShape="0">
                <a:blip r:embed="rId3"/>
                <a:stretch>
                  <a:fillRect l="-667" t="-2525"/>
                </a:stretch>
              </a:blipFill>
            </p:spPr>
            <p:txBody>
              <a:bodyPr/>
              <a:lstStyle/>
              <a:p>
                <a:r>
                  <a:rPr lang="en-US">
                    <a:noFill/>
                  </a:rPr>
                  <a:t> </a:t>
                </a:r>
              </a:p>
            </p:txBody>
          </p:sp>
        </mc:Fallback>
      </mc:AlternateContent>
      <p:sp>
        <p:nvSpPr>
          <p:cNvPr id="5" name="Rectangle 4"/>
          <p:cNvSpPr/>
          <p:nvPr/>
        </p:nvSpPr>
        <p:spPr>
          <a:xfrm>
            <a:off x="2700998" y="3005489"/>
            <a:ext cx="2686928" cy="4360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p:cNvSpPr txBox="1"/>
              <p:nvPr/>
            </p:nvSpPr>
            <p:spPr>
              <a:xfrm>
                <a:off x="1899937" y="2021344"/>
                <a:ext cx="4891083" cy="1384995"/>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altLang="zh-CN" sz="2000" b="0" i="0" smtClean="0">
                          <a:latin typeface="Cambria Math" charset="0"/>
                        </a:rPr>
                        <m:t>Δ</m:t>
                      </m:r>
                      <m:r>
                        <a:rPr lang="en-US" altLang="zh-CN" sz="2000" b="0" i="1" smtClean="0">
                          <a:latin typeface="Cambria Math" charset="0"/>
                        </a:rPr>
                        <m:t>𝑆</m:t>
                      </m:r>
                      <m:r>
                        <a:rPr lang="en-US" altLang="zh-CN" sz="2000" b="0" i="1" smtClean="0">
                          <a:latin typeface="Cambria Math" charset="0"/>
                        </a:rPr>
                        <m:t>=</m:t>
                      </m:r>
                      <m:sSup>
                        <m:sSupPr>
                          <m:ctrlPr>
                            <a:rPr lang="en-US" altLang="zh-CN" sz="2000" b="0" i="1" smtClean="0">
                              <a:latin typeface="Cambria Math" charset="0"/>
                            </a:rPr>
                          </m:ctrlPr>
                        </m:sSupPr>
                        <m:e>
                          <m:d>
                            <m:dPr>
                              <m:ctrlPr>
                                <a:rPr lang="en-US" altLang="zh-CN" sz="2000" b="0" i="1" smtClean="0">
                                  <a:latin typeface="Cambria Math" charset="0"/>
                                </a:rPr>
                              </m:ctrlPr>
                            </m:dPr>
                            <m:e>
                              <m:r>
                                <a:rPr lang="en-US" altLang="zh-CN" sz="2000" b="0" i="1" smtClean="0">
                                  <a:latin typeface="Cambria Math" charset="0"/>
                                </a:rPr>
                                <m:t>1−</m:t>
                              </m:r>
                              <m:r>
                                <a:rPr lang="en-US" altLang="zh-CN" sz="2000" b="0" i="1" smtClean="0">
                                  <a:latin typeface="Cambria Math" charset="0"/>
                                </a:rPr>
                                <m:t>𝑝</m:t>
                              </m:r>
                            </m:e>
                          </m:d>
                        </m:e>
                        <m:sup>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sup>
                      </m:sSup>
                      <m:r>
                        <a:rPr lang="en-US" altLang="zh-CN" sz="2000" b="0" i="1" smtClean="0">
                          <a:latin typeface="Cambria Math" charset="0"/>
                        </a:rPr>
                        <m:t>⋅</m:t>
                      </m:r>
                      <m:d>
                        <m:dPr>
                          <m:ctrlPr>
                            <a:rPr lang="en-US" altLang="zh-CN" sz="2000" b="0" i="1" smtClean="0">
                              <a:latin typeface="Cambria Math" charset="0"/>
                            </a:rPr>
                          </m:ctrlPr>
                        </m:dPr>
                        <m:e>
                          <m:r>
                            <a:rPr lang="en-US" altLang="zh-CN" sz="2000" b="0" i="1" smtClean="0">
                              <a:latin typeface="Cambria Math" charset="0"/>
                            </a:rPr>
                            <m:t>1+</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r>
                            <a:rPr lang="en-US" altLang="zh-CN" sz="2000" b="0" i="1" smtClean="0">
                              <a:latin typeface="Cambria Math" charset="0"/>
                            </a:rPr>
                            <m:t>⋅</m:t>
                          </m:r>
                          <m:r>
                            <a:rPr lang="en-US" altLang="zh-CN" sz="2000" b="0" i="1" smtClean="0">
                              <a:latin typeface="Cambria Math" charset="0"/>
                            </a:rPr>
                            <m:t>𝑝</m:t>
                          </m:r>
                        </m:e>
                      </m:d>
                    </m:oMath>
                  </m:oMathPara>
                </a14:m>
                <a:endParaRPr lang="en-US" altLang="zh-CN" sz="2000" b="0" i="1" dirty="0">
                  <a:latin typeface="Cambria Math" charset="0"/>
                </a:endParaRPr>
              </a:p>
              <a:p>
                <a:pPr>
                  <a:lnSpc>
                    <a:spcPct val="150000"/>
                  </a:lnSpc>
                </a:pPr>
                <a14:m>
                  <m:oMathPara xmlns:m="http://schemas.openxmlformats.org/officeDocument/2006/math">
                    <m:oMathParaPr>
                      <m:jc m:val="left"/>
                    </m:oMathParaPr>
                    <m:oMath xmlns:m="http://schemas.openxmlformats.org/officeDocument/2006/math">
                      <m:r>
                        <a:rPr lang="en-US" altLang="zh-CN" sz="2000" b="0" i="1" smtClean="0">
                          <a:latin typeface="Cambria Math" charset="0"/>
                        </a:rPr>
                        <m:t>=1+</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−2</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r>
                        <a:rPr lang="en-US" altLang="zh-CN" sz="2000" b="0" i="1" smtClean="0">
                          <a:latin typeface="Cambria Math" charset="0"/>
                        </a:rPr>
                        <m:t>𝑝</m:t>
                      </m:r>
                      <m:r>
                        <a:rPr lang="en-US" altLang="zh-CN" sz="2000" b="0" i="1" smtClean="0">
                          <a:latin typeface="Cambria Math" charset="0"/>
                        </a:rPr>
                        <m:t>−</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sSup>
                        <m:sSupPr>
                          <m:ctrlPr>
                            <a:rPr lang="en-US" altLang="zh-CN" sz="2000" b="0" i="1" smtClean="0">
                              <a:latin typeface="Cambria Math" charset="0"/>
                            </a:rPr>
                          </m:ctrlPr>
                        </m:sSupPr>
                        <m:e>
                          <m:r>
                            <a:rPr lang="en-US" altLang="zh-CN" sz="2000" b="0" i="1" smtClean="0">
                              <a:latin typeface="Cambria Math" charset="0"/>
                            </a:rPr>
                            <m:t>𝑝</m:t>
                          </m:r>
                        </m:e>
                        <m:sup>
                          <m:r>
                            <a:rPr lang="en-US" altLang="zh-CN" sz="2000" b="0" i="1" smtClean="0">
                              <a:latin typeface="Cambria Math" charset="0"/>
                            </a:rPr>
                            <m:t>2</m:t>
                          </m:r>
                        </m:sup>
                      </m:sSup>
                      <m:r>
                        <a:rPr lang="en-US" altLang="zh-CN" sz="2000" b="0" i="1" smtClean="0">
                          <a:latin typeface="Cambria Math" charset="0"/>
                        </a:rPr>
                        <m:t>+</m:t>
                      </m:r>
                      <m:r>
                        <a:rPr lang="en-US" altLang="zh-CN" sz="2000" b="0" i="1" smtClean="0">
                          <a:latin typeface="Cambria Math" charset="0"/>
                        </a:rPr>
                        <m:t>𝑜</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𝑝</m:t>
                          </m:r>
                        </m:e>
                      </m:d>
                    </m:oMath>
                  </m:oMathPara>
                </a14:m>
                <a:endParaRPr lang="en-US" altLang="zh-CN" sz="2000" b="0" i="1" dirty="0">
                  <a:latin typeface="Cambria Math" charset="0"/>
                </a:endParaRPr>
              </a:p>
              <a:p>
                <a:pPr>
                  <a:lnSpc>
                    <a:spcPct val="150000"/>
                  </a:lnSpc>
                </a:pPr>
                <a14:m>
                  <m:oMathPara xmlns:m="http://schemas.openxmlformats.org/officeDocument/2006/math">
                    <m:oMathParaPr>
                      <m:jc m:val="left"/>
                    </m:oMathParaPr>
                    <m:oMath xmlns:m="http://schemas.openxmlformats.org/officeDocument/2006/math">
                      <m:r>
                        <a:rPr lang="en-US" altLang="zh-CN" sz="2000" b="0" i="1" smtClean="0">
                          <a:latin typeface="Cambria Math" charset="0"/>
                        </a:rPr>
                        <m:t>=1+</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−2</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𝑝</m:t>
                          </m:r>
                          <m:r>
                            <a:rPr lang="en-US" altLang="zh-CN" sz="2000" b="0" i="1" smtClean="0">
                              <a:latin typeface="Cambria Math" charset="0"/>
                            </a:rPr>
                            <m:t>+</m:t>
                          </m:r>
                          <m:r>
                            <a:rPr lang="en-US" altLang="zh-CN" sz="2000" b="0" i="1" smtClean="0">
                              <a:latin typeface="Cambria Math" charset="0"/>
                            </a:rPr>
                            <m:t>𝑜</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𝑝</m:t>
                          </m:r>
                          <m:r>
                            <a:rPr lang="en-US" altLang="zh-CN" sz="2000" b="0" i="1" smtClean="0">
                              <a:latin typeface="Cambria Math" charset="0"/>
                            </a:rPr>
                            <m:t>)</m:t>
                          </m:r>
                        </m:e>
                      </m:d>
                      <m:r>
                        <a:rPr lang="en-US" altLang="zh-CN" sz="2000" b="0" i="1" smtClean="0">
                          <a:latin typeface="Cambria Math" charset="0"/>
                        </a:rPr>
                        <m:t>𝑝</m:t>
                      </m:r>
                    </m:oMath>
                  </m:oMathPara>
                </a14:m>
                <a:endParaRPr lang="en-US" altLang="zh-CN" sz="2000" b="0" dirty="0"/>
              </a:p>
            </p:txBody>
          </p:sp>
        </mc:Choice>
        <mc:Fallback xmlns="">
          <p:sp>
            <p:nvSpPr>
              <p:cNvPr id="7" name="TextBox 6"/>
              <p:cNvSpPr txBox="1">
                <a:spLocks noRot="1" noChangeAspect="1" noMove="1" noResize="1" noEditPoints="1" noAdjustHandles="1" noChangeArrowheads="1" noChangeShapeType="1" noTextEdit="1"/>
              </p:cNvSpPr>
              <p:nvPr/>
            </p:nvSpPr>
            <p:spPr>
              <a:xfrm>
                <a:off x="1899937" y="2021344"/>
                <a:ext cx="4891083" cy="1384995"/>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345478" y="3582411"/>
                <a:ext cx="3898190" cy="400110"/>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此处相当于为</a:t>
                </a:r>
                <a14:m>
                  <m:oMath xmlns:m="http://schemas.openxmlformats.org/officeDocument/2006/math">
                    <m:sSub>
                      <m:sSubPr>
                        <m:ctrlPr>
                          <a:rPr lang="en-US" altLang="zh-CN" sz="2000" b="0" i="1" dirty="0" smtClean="0">
                            <a:solidFill>
                              <a:srgbClr val="AE0627"/>
                            </a:solidFill>
                            <a:latin typeface="Cambria Math" charset="0"/>
                            <a:ea typeface="Microsoft YaHei" charset="-122"/>
                            <a:cs typeface="Microsoft YaHei" charset="-122"/>
                          </a:rPr>
                        </m:ctrlPr>
                      </m:sSubPr>
                      <m:e>
                        <m:r>
                          <m:rPr>
                            <m:sty m:val="p"/>
                          </m:rPr>
                          <a:rPr lang="en-US" altLang="zh-CN" sz="2000" b="0" i="0" dirty="0" smtClean="0">
                            <a:solidFill>
                              <a:srgbClr val="AE0627"/>
                            </a:solidFill>
                            <a:latin typeface="Cambria Math" charset="0"/>
                            <a:ea typeface="Microsoft YaHei" charset="-122"/>
                            <a:cs typeface="Microsoft YaHei" charset="-122"/>
                          </a:rPr>
                          <m:t>d</m:t>
                        </m:r>
                      </m:e>
                      <m:sub>
                        <m:r>
                          <a:rPr lang="en-US" altLang="zh-CN" sz="2000" b="0" i="1" dirty="0" smtClean="0">
                            <a:solidFill>
                              <a:srgbClr val="AE0627"/>
                            </a:solidFill>
                            <a:latin typeface="Cambria Math" charset="0"/>
                            <a:ea typeface="Microsoft YaHei" charset="-122"/>
                            <a:cs typeface="Microsoft YaHei" charset="-122"/>
                          </a:rPr>
                          <m:t>𝑣</m:t>
                        </m:r>
                      </m:sub>
                    </m:sSub>
                  </m:oMath>
                </a14:m>
                <a:r>
                  <a:rPr lang="zh-CN" altLang="en-US" sz="2000" dirty="0">
                    <a:solidFill>
                      <a:srgbClr val="AE0627"/>
                    </a:solidFill>
                    <a:latin typeface="Microsoft YaHei" charset="-122"/>
                    <a:ea typeface="Microsoft YaHei" charset="-122"/>
                    <a:cs typeface="Microsoft YaHei" charset="-122"/>
                  </a:rPr>
                  <a:t>做了</a:t>
                </a:r>
                <a:r>
                  <a:rPr lang="en-US" altLang="zh-CN" sz="2000" dirty="0">
                    <a:solidFill>
                      <a:srgbClr val="AE0627"/>
                    </a:solidFill>
                    <a:latin typeface="Microsoft YaHei" charset="-122"/>
                    <a:ea typeface="Microsoft YaHei" charset="-122"/>
                    <a:cs typeface="Microsoft YaHei" charset="-122"/>
                  </a:rPr>
                  <a:t>Discount</a:t>
                </a:r>
                <a:endParaRPr lang="en-US" altLang="zh-CN" sz="2000" dirty="0">
                  <a:solidFill>
                    <a:srgbClr val="AE0627"/>
                  </a:solidFill>
                  <a:latin typeface="微软雅黑" panose="020B0503020204020204" pitchFamily="34" charset="-122"/>
                  <a:ea typeface="微软雅黑" panose="020B0503020204020204" pitchFamily="34" charset="-122"/>
                </a:endParaRPr>
              </a:p>
            </p:txBody>
          </p:sp>
        </mc:Choice>
        <mc:Fallback xmlns="">
          <p:sp>
            <p:nvSpPr>
              <p:cNvPr id="8" name="Rectangle 7"/>
              <p:cNvSpPr>
                <a:spLocks noRot="1" noChangeAspect="1" noMove="1" noResize="1" noEditPoints="1" noAdjustHandles="1" noChangeArrowheads="1" noChangeShapeType="1" noTextEdit="1"/>
              </p:cNvSpPr>
              <p:nvPr/>
            </p:nvSpPr>
            <p:spPr>
              <a:xfrm>
                <a:off x="4345478" y="3582411"/>
                <a:ext cx="3898190" cy="400110"/>
              </a:xfrm>
              <a:prstGeom prst="rect">
                <a:avLst/>
              </a:prstGeom>
              <a:blipFill rotWithShape="0">
                <a:blip r:embed="rId5"/>
                <a:stretch>
                  <a:fillRect t="-9231" b="-27692"/>
                </a:stretch>
              </a:blipFill>
            </p:spPr>
            <p:txBody>
              <a:bodyPr/>
              <a:lstStyle/>
              <a:p>
                <a:r>
                  <a:rPr lang="en-US">
                    <a:noFill/>
                  </a:rPr>
                  <a:t> </a:t>
                </a:r>
              </a:p>
            </p:txBody>
          </p:sp>
        </mc:Fallback>
      </mc:AlternateContent>
    </p:spTree>
    <p:extLst>
      <p:ext uri="{BB962C8B-B14F-4D97-AF65-F5344CB8AC3E}">
        <p14:creationId xmlns:p14="http://schemas.microsoft.com/office/powerpoint/2010/main" val="1347746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additive="base">
                                        <p:cTn id="9" dur="500" fill="hold"/>
                                        <p:tgtEl>
                                          <p:spTgt spid="8"/>
                                        </p:tgtEl>
                                        <p:attrNameLst>
                                          <p:attrName>ppt_x</p:attrName>
                                        </p:attrNameLst>
                                      </p:cBhvr>
                                      <p:tavLst>
                                        <p:tav tm="0">
                                          <p:val>
                                            <p:strVal val="#ppt_x"/>
                                          </p:val>
                                        </p:tav>
                                        <p:tav tm="100000">
                                          <p:val>
                                            <p:strVal val="#ppt_x"/>
                                          </p:val>
                                        </p:tav>
                                      </p:tavLst>
                                    </p:anim>
                                    <p:anim calcmode="lin" valueType="num">
                                      <p:cBhvr additive="base">
                                        <p:cTn id="1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805083"/>
            <a:ext cx="5333188" cy="3937000"/>
          </a:xfrm>
        </p:spPr>
      </p:pic>
      <p:sp>
        <p:nvSpPr>
          <p:cNvPr id="6" name="Rectangle 5"/>
          <p:cNvSpPr/>
          <p:nvPr/>
        </p:nvSpPr>
        <p:spPr>
          <a:xfrm>
            <a:off x="1434905" y="942537"/>
            <a:ext cx="144000" cy="225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p:cNvSpPr/>
              <p:nvPr/>
            </p:nvSpPr>
            <p:spPr>
              <a:xfrm>
                <a:off x="6000965" y="2773583"/>
                <a:ext cx="2685835" cy="1077218"/>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思考：如果边上的概率不都等于</a:t>
                </a:r>
                <a14:m>
                  <m:oMath xmlns:m="http://schemas.openxmlformats.org/officeDocument/2006/math">
                    <m:r>
                      <a:rPr lang="en-US" altLang="zh-CN" sz="2000" i="1" dirty="0" smtClean="0">
                        <a:solidFill>
                          <a:srgbClr val="AE0627"/>
                        </a:solidFill>
                        <a:latin typeface="Cambria Math" charset="0"/>
                        <a:ea typeface="Microsoft YaHei" charset="-122"/>
                        <a:cs typeface="Microsoft YaHei" charset="-122"/>
                      </a:rPr>
                      <m:t>𝑝</m:t>
                    </m:r>
                  </m:oMath>
                </a14:m>
                <a:r>
                  <a:rPr lang="zh-CN" altLang="en-US" sz="2000" dirty="0">
                    <a:solidFill>
                      <a:srgbClr val="AE0627"/>
                    </a:solidFill>
                    <a:latin typeface="Microsoft YaHei" charset="-122"/>
                    <a:ea typeface="Microsoft YaHei" charset="-122"/>
                    <a:cs typeface="Microsoft YaHei" charset="-122"/>
                  </a:rPr>
                  <a:t>呢？</a:t>
                </a:r>
                <a:endParaRPr lang="en-US" altLang="zh-CN" sz="2000" dirty="0">
                  <a:solidFill>
                    <a:srgbClr val="AE0627"/>
                  </a:solidFill>
                  <a:latin typeface="Microsoft YaHei" charset="-122"/>
                  <a:ea typeface="Microsoft YaHei" charset="-122"/>
                  <a:cs typeface="Microsoft YaHei" charset="-122"/>
                </a:endParaRPr>
              </a:p>
              <a:p>
                <a:pPr algn="ctr">
                  <a:spcBef>
                    <a:spcPct val="20000"/>
                  </a:spcBef>
                </a:pPr>
                <a:r>
                  <a:rPr lang="zh-CN" altLang="en-US" sz="2000" dirty="0">
                    <a:solidFill>
                      <a:srgbClr val="AE0627"/>
                    </a:solidFill>
                    <a:latin typeface="Microsoft YaHei" charset="-122"/>
                    <a:ea typeface="Microsoft YaHei" charset="-122"/>
                    <a:cs typeface="Microsoft YaHei" charset="-122"/>
                  </a:rPr>
                  <a:t>更一般的情况！</a:t>
                </a:r>
                <a:endParaRPr lang="en-US" altLang="zh-CN" sz="2000" dirty="0">
                  <a:solidFill>
                    <a:srgbClr val="AE0627"/>
                  </a:solidFill>
                  <a:latin typeface="微软雅黑" panose="020B0503020204020204" pitchFamily="34" charset="-122"/>
                  <a:ea typeface="微软雅黑" panose="020B0503020204020204" pitchFamily="34" charset="-122"/>
                </a:endParaRPr>
              </a:p>
            </p:txBody>
          </p:sp>
        </mc:Choice>
        <mc:Fallback xmlns="">
          <p:sp>
            <p:nvSpPr>
              <p:cNvPr id="7" name="Rectangle 6"/>
              <p:cNvSpPr>
                <a:spLocks noRot="1" noChangeAspect="1" noMove="1" noResize="1" noEditPoints="1" noAdjustHandles="1" noChangeArrowheads="1" noChangeShapeType="1" noTextEdit="1"/>
              </p:cNvSpPr>
              <p:nvPr/>
            </p:nvSpPr>
            <p:spPr>
              <a:xfrm>
                <a:off x="6000965" y="2773583"/>
                <a:ext cx="2685835" cy="1077218"/>
              </a:xfrm>
              <a:prstGeom prst="rect">
                <a:avLst/>
              </a:prstGeom>
              <a:blipFill rotWithShape="0">
                <a:blip r:embed="rId4"/>
                <a:stretch>
                  <a:fillRect t="-3390" b="-9040"/>
                </a:stretch>
              </a:blipFill>
            </p:spPr>
            <p:txBody>
              <a:bodyPr/>
              <a:lstStyle/>
              <a:p>
                <a:r>
                  <a:rPr lang="en-US">
                    <a:noFill/>
                  </a:rPr>
                  <a:t> </a:t>
                </a:r>
              </a:p>
            </p:txBody>
          </p:sp>
        </mc:Fallback>
      </mc:AlternateContent>
      <p:sp>
        <p:nvSpPr>
          <p:cNvPr id="8" name="Rectangle 7"/>
          <p:cNvSpPr/>
          <p:nvPr/>
        </p:nvSpPr>
        <p:spPr>
          <a:xfrm>
            <a:off x="5790388" y="942537"/>
            <a:ext cx="3353612" cy="1200329"/>
          </a:xfrm>
          <a:prstGeom prst="rect">
            <a:avLst/>
          </a:prstGeom>
        </p:spPr>
        <p:txBody>
          <a:bodyPr wrap="square">
            <a:spAutoFit/>
          </a:bodyPr>
          <a:lstStyle/>
          <a:p>
            <a:r>
              <a:rPr lang="zh-CN" altLang="en-US" dirty="0">
                <a:solidFill>
                  <a:schemeClr val="tx1">
                    <a:lumMod val="75000"/>
                    <a:lumOff val="25000"/>
                  </a:schemeClr>
                </a:solidFill>
              </a:rPr>
              <a:t>原论文扩展阅读：</a:t>
            </a:r>
            <a:r>
              <a:rPr lang="en-US" dirty="0">
                <a:solidFill>
                  <a:schemeClr val="tx1">
                    <a:lumMod val="75000"/>
                    <a:lumOff val="25000"/>
                  </a:schemeClr>
                </a:solidFill>
              </a:rPr>
              <a:t>https://</a:t>
            </a:r>
            <a:r>
              <a:rPr lang="en-US" dirty="0" err="1">
                <a:solidFill>
                  <a:schemeClr val="tx1">
                    <a:lumMod val="75000"/>
                    <a:lumOff val="25000"/>
                  </a:schemeClr>
                </a:solidFill>
              </a:rPr>
              <a:t>www.microsoft.com</a:t>
            </a:r>
            <a:r>
              <a:rPr lang="en-US" dirty="0">
                <a:solidFill>
                  <a:schemeClr val="tx1">
                    <a:lumMod val="75000"/>
                    <a:lumOff val="25000"/>
                  </a:schemeClr>
                </a:solidFill>
              </a:rPr>
              <a:t>/</a:t>
            </a:r>
            <a:r>
              <a:rPr lang="en-US" dirty="0" err="1">
                <a:solidFill>
                  <a:schemeClr val="tx1">
                    <a:lumMod val="75000"/>
                    <a:lumOff val="25000"/>
                  </a:schemeClr>
                </a:solidFill>
              </a:rPr>
              <a:t>en</a:t>
            </a:r>
            <a:r>
              <a:rPr lang="en-US" dirty="0">
                <a:solidFill>
                  <a:schemeClr val="tx1">
                    <a:lumMod val="75000"/>
                    <a:lumOff val="25000"/>
                  </a:schemeClr>
                </a:solidFill>
              </a:rPr>
              <a:t>-us/research/uploads/prod/2016/06/kdd09_influence-1.pdf</a:t>
            </a:r>
          </a:p>
        </p:txBody>
      </p:sp>
    </p:spTree>
    <p:extLst>
      <p:ext uri="{BB962C8B-B14F-4D97-AF65-F5344CB8AC3E}">
        <p14:creationId xmlns:p14="http://schemas.microsoft.com/office/powerpoint/2010/main" val="744874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740664"/>
              </a:xfrm>
            </p:spPr>
            <p:txBody>
              <a:bodyPr/>
              <a:lstStyle/>
              <a:p>
                <a:r>
                  <a:rPr lang="zh-CN" altLang="en-US" dirty="0"/>
                  <a:t>基于</a:t>
                </a:r>
                <a:r>
                  <a:rPr lang="en-US" altLang="zh-CN" dirty="0"/>
                  <a:t>Degree</a:t>
                </a:r>
                <a:r>
                  <a:rPr lang="zh-CN" altLang="en-US" dirty="0"/>
                  <a:t> </a:t>
                </a:r>
                <a:r>
                  <a:rPr lang="en-US" altLang="zh-CN" dirty="0"/>
                  <a:t>Discount</a:t>
                </a:r>
                <a:r>
                  <a:rPr lang="zh-CN" altLang="en-US" dirty="0"/>
                  <a:t>算法思想，在下图中找出</a:t>
                </a:r>
                <a14:m>
                  <m:oMath xmlns:m="http://schemas.openxmlformats.org/officeDocument/2006/math">
                    <m:r>
                      <a:rPr lang="en-US" altLang="zh-CN" b="0" i="1" smtClean="0">
                        <a:latin typeface="Cambria Math" charset="0"/>
                      </a:rPr>
                      <m:t>𝑘</m:t>
                    </m:r>
                    <m:r>
                      <a:rPr lang="en-US" altLang="zh-CN" b="0" i="1" smtClean="0">
                        <a:latin typeface="Cambria Math" charset="0"/>
                      </a:rPr>
                      <m:t>=2</m:t>
                    </m:r>
                  </m:oMath>
                </a14:m>
                <a:r>
                  <a:rPr lang="zh-CN" altLang="en-US" dirty="0"/>
                  <a:t>时，使影响范围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最大的种子集合</a:t>
                </a:r>
                <a14:m>
                  <m:oMath xmlns:m="http://schemas.openxmlformats.org/officeDocument/2006/math">
                    <m:r>
                      <a:rPr lang="en-US" altLang="zh-CN" i="1" dirty="0" smtClean="0">
                        <a:latin typeface="Cambria Math" charset="0"/>
                      </a:rPr>
                      <m:t>𝑆</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740664"/>
              </a:xfrm>
              <a:blipFill rotWithShape="0">
                <a:blip r:embed="rId3"/>
                <a:stretch>
                  <a:fillRect l="-667" t="-4098" b="-9016"/>
                </a:stretch>
              </a:blipFill>
            </p:spPr>
            <p:txBody>
              <a:bodyPr/>
              <a:lstStyle/>
              <a:p>
                <a:r>
                  <a:rPr lang="en-US">
                    <a:noFill/>
                  </a:rPr>
                  <a:t> </a:t>
                </a:r>
              </a:p>
            </p:txBody>
          </p:sp>
        </mc:Fallback>
      </mc:AlternateContent>
      <p:grpSp>
        <p:nvGrpSpPr>
          <p:cNvPr id="40" name="Group 39"/>
          <p:cNvGrpSpPr/>
          <p:nvPr/>
        </p:nvGrpSpPr>
        <p:grpSpPr>
          <a:xfrm>
            <a:off x="1004943" y="1716376"/>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8" name="Rectangle 37"/>
          <p:cNvSpPr/>
          <p:nvPr/>
        </p:nvSpPr>
        <p:spPr>
          <a:xfrm>
            <a:off x="4688616" y="1709027"/>
            <a:ext cx="4103692" cy="3170099"/>
          </a:xfrm>
          <a:prstGeom prst="rect">
            <a:avLst/>
          </a:prstGeom>
        </p:spPr>
        <p:txBody>
          <a:bodyPr wrap="square">
            <a:spAutoFit/>
          </a:bodyPr>
          <a:lstStyle/>
          <a:p>
            <a:pPr>
              <a:spcBef>
                <a:spcPts val="300"/>
              </a:spcBef>
            </a:pPr>
            <a:r>
              <a:rPr lang="mr-IN" sz="2000" dirty="0"/>
              <a:t>pp1=1.0, d1=1+2</a:t>
            </a:r>
            <a:r>
              <a:rPr lang="en-US" altLang="zh-CN" sz="2000" dirty="0"/>
              <a:t>.0</a:t>
            </a:r>
            <a:r>
              <a:rPr lang="mr-IN" sz="2000" dirty="0"/>
              <a:t>, dd1=pp1*d1=3</a:t>
            </a:r>
            <a:r>
              <a:rPr lang="en-US" altLang="zh-CN" sz="2000" dirty="0"/>
              <a:t>.0</a:t>
            </a:r>
            <a:endParaRPr lang="en-US" sz="2000" dirty="0"/>
          </a:p>
          <a:p>
            <a:pPr>
              <a:spcBef>
                <a:spcPts val="300"/>
              </a:spcBef>
            </a:pPr>
            <a:r>
              <a:rPr lang="mr-IN" sz="2000" dirty="0"/>
              <a:t>pp2=1.0, d2=1+2.0, dd2=pp2*d2=3.0</a:t>
            </a:r>
            <a:endParaRPr lang="en-US" sz="2000" dirty="0"/>
          </a:p>
          <a:p>
            <a:pPr>
              <a:spcBef>
                <a:spcPts val="300"/>
              </a:spcBef>
            </a:pPr>
            <a:r>
              <a:rPr lang="mr-IN" sz="2000" dirty="0"/>
              <a:t>pp3=1.0, d3=1+3.4, dd3=pp3*d3=4.4</a:t>
            </a:r>
            <a:endParaRPr lang="en-US" sz="2000" dirty="0"/>
          </a:p>
          <a:p>
            <a:pPr>
              <a:spcBef>
                <a:spcPts val="300"/>
              </a:spcBef>
            </a:pPr>
            <a:r>
              <a:rPr lang="mr-IN" sz="2000" dirty="0"/>
              <a:t>pp4=1.0, d4=1+0.5, dd4=pp4*d4=1.5</a:t>
            </a:r>
            <a:endParaRPr lang="en-US" sz="2000" dirty="0"/>
          </a:p>
          <a:p>
            <a:pPr>
              <a:spcBef>
                <a:spcPts val="300"/>
              </a:spcBef>
            </a:pPr>
            <a:r>
              <a:rPr lang="mr-IN" sz="2000" dirty="0"/>
              <a:t>pp5=1.0, d5=1+1.2, dd5=pp5*d5=2.2</a:t>
            </a:r>
            <a:endParaRPr lang="en-US" sz="2000" dirty="0"/>
          </a:p>
          <a:p>
            <a:pPr>
              <a:spcBef>
                <a:spcPts val="300"/>
              </a:spcBef>
            </a:pPr>
            <a:r>
              <a:rPr lang="mr-IN" sz="2000" dirty="0"/>
              <a:t>pp6=1.0, d6=1+1.1, dd6=pp6*d6=2.1</a:t>
            </a:r>
            <a:endParaRPr lang="en-US" sz="2000" dirty="0"/>
          </a:p>
          <a:p>
            <a:pPr>
              <a:spcBef>
                <a:spcPts val="300"/>
              </a:spcBef>
            </a:pPr>
            <a:r>
              <a:rPr lang="mr-IN" sz="2000" dirty="0"/>
              <a:t>pp7=1.0, d7=1+2.3, dd7=pp7*d7=3.3</a:t>
            </a:r>
            <a:endParaRPr lang="en-US" sz="2000" dirty="0"/>
          </a:p>
          <a:p>
            <a:pPr>
              <a:spcBef>
                <a:spcPts val="300"/>
              </a:spcBef>
            </a:pPr>
            <a:r>
              <a:rPr lang="mr-IN" sz="2000" dirty="0"/>
              <a:t>pp8=1.0, d8=1+0.7, dd8=pp8*d8=1.7</a:t>
            </a:r>
            <a:endParaRPr lang="en-US" sz="2000" dirty="0"/>
          </a:p>
          <a:p>
            <a:pPr>
              <a:spcBef>
                <a:spcPts val="300"/>
              </a:spcBef>
            </a:pPr>
            <a:r>
              <a:rPr lang="mr-IN" sz="2000" dirty="0"/>
              <a:t>pp9=1.0, d9=1+0.8, dd9=pp9*d9=1.8</a:t>
            </a:r>
            <a:endParaRPr lang="en-US" sz="2000" dirty="0"/>
          </a:p>
        </p:txBody>
      </p:sp>
      <p:sp>
        <p:nvSpPr>
          <p:cNvPr id="39" name="Rectangle 38"/>
          <p:cNvSpPr/>
          <p:nvPr/>
        </p:nvSpPr>
        <p:spPr>
          <a:xfrm>
            <a:off x="4230995" y="1332967"/>
            <a:ext cx="1210588" cy="400110"/>
          </a:xfrm>
          <a:prstGeom prst="rect">
            <a:avLst/>
          </a:prstGeom>
        </p:spPr>
        <p:txBody>
          <a:bodyPr wrap="none">
            <a:spAutoFit/>
          </a:bodyPr>
          <a:lstStyle/>
          <a:p>
            <a:r>
              <a:rPr lang="zh-CN" altLang="en-US" sz="2000" dirty="0">
                <a:latin typeface="Microsoft YaHei" charset="-122"/>
                <a:ea typeface="Microsoft YaHei" charset="-122"/>
                <a:cs typeface="Microsoft YaHei" charset="-122"/>
              </a:rPr>
              <a:t>初始化：</a:t>
            </a:r>
            <a:endParaRPr lang="en-US" sz="2000" dirty="0">
              <a:latin typeface="Microsoft YaHei" charset="-122"/>
              <a:ea typeface="Microsoft YaHei" charset="-122"/>
              <a:cs typeface="Microsoft YaHei" charset="-122"/>
            </a:endParaRPr>
          </a:p>
        </p:txBody>
      </p:sp>
      <p:sp>
        <p:nvSpPr>
          <p:cNvPr id="41" name="Line Callout 1 40"/>
          <p:cNvSpPr/>
          <p:nvPr/>
        </p:nvSpPr>
        <p:spPr>
          <a:xfrm>
            <a:off x="7027740" y="1301387"/>
            <a:ext cx="1533379" cy="459494"/>
          </a:xfrm>
          <a:prstGeom prst="borderCallout1">
            <a:avLst>
              <a:gd name="adj1" fmla="val 41332"/>
              <a:gd name="adj2" fmla="val -8333"/>
              <a:gd name="adj3" fmla="val 138308"/>
              <a:gd name="adj4" fmla="val -392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自己</a:t>
            </a:r>
            <a:r>
              <a:rPr lang="en-US" altLang="zh-CN" dirty="0"/>
              <a:t>+</a:t>
            </a:r>
            <a:r>
              <a:rPr lang="zh-CN" altLang="en-US" dirty="0"/>
              <a:t>邻居</a:t>
            </a:r>
            <a:endParaRPr lang="en-US" dirty="0"/>
          </a:p>
        </p:txBody>
      </p:sp>
    </p:spTree>
    <p:extLst>
      <p:ext uri="{BB962C8B-B14F-4D97-AF65-F5344CB8AC3E}">
        <p14:creationId xmlns:p14="http://schemas.microsoft.com/office/powerpoint/2010/main" val="1102582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740664"/>
              </a:xfrm>
            </p:spPr>
            <p:txBody>
              <a:bodyPr/>
              <a:lstStyle/>
              <a:p>
                <a:r>
                  <a:rPr lang="zh-CN" altLang="en-US" dirty="0"/>
                  <a:t>基于</a:t>
                </a:r>
                <a:r>
                  <a:rPr lang="en-US" altLang="zh-CN" dirty="0"/>
                  <a:t>Degree</a:t>
                </a:r>
                <a:r>
                  <a:rPr lang="zh-CN" altLang="en-US" dirty="0"/>
                  <a:t> </a:t>
                </a:r>
                <a:r>
                  <a:rPr lang="en-US" altLang="zh-CN" dirty="0"/>
                  <a:t>Discount</a:t>
                </a:r>
                <a:r>
                  <a:rPr lang="zh-CN" altLang="en-US" dirty="0"/>
                  <a:t>算法思想，在下图中找出</a:t>
                </a:r>
                <a14:m>
                  <m:oMath xmlns:m="http://schemas.openxmlformats.org/officeDocument/2006/math">
                    <m:r>
                      <a:rPr lang="en-US" altLang="zh-CN" b="0" i="1" smtClean="0">
                        <a:latin typeface="Cambria Math" charset="0"/>
                      </a:rPr>
                      <m:t>𝑘</m:t>
                    </m:r>
                    <m:r>
                      <a:rPr lang="en-US" altLang="zh-CN" b="0" i="1" smtClean="0">
                        <a:latin typeface="Cambria Math" charset="0"/>
                      </a:rPr>
                      <m:t>=2</m:t>
                    </m:r>
                  </m:oMath>
                </a14:m>
                <a:r>
                  <a:rPr lang="zh-CN" altLang="en-US" dirty="0"/>
                  <a:t>时，使影响范围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最大的种子集合</a:t>
                </a:r>
                <a14:m>
                  <m:oMath xmlns:m="http://schemas.openxmlformats.org/officeDocument/2006/math">
                    <m:r>
                      <a:rPr lang="en-US" altLang="zh-CN" i="1" dirty="0" smtClean="0">
                        <a:latin typeface="Cambria Math" charset="0"/>
                      </a:rPr>
                      <m:t>𝑆</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740664"/>
              </a:xfrm>
              <a:blipFill rotWithShape="0">
                <a:blip r:embed="rId3"/>
                <a:stretch>
                  <a:fillRect l="-667" t="-4098" b="-9016"/>
                </a:stretch>
              </a:blipFill>
            </p:spPr>
            <p:txBody>
              <a:bodyPr/>
              <a:lstStyle/>
              <a:p>
                <a:r>
                  <a:rPr lang="en-US">
                    <a:noFill/>
                  </a:rPr>
                  <a:t> </a:t>
                </a:r>
              </a:p>
            </p:txBody>
          </p:sp>
        </mc:Fallback>
      </mc:AlternateContent>
      <p:grpSp>
        <p:nvGrpSpPr>
          <p:cNvPr id="40" name="Group 39"/>
          <p:cNvGrpSpPr/>
          <p:nvPr/>
        </p:nvGrpSpPr>
        <p:grpSpPr>
          <a:xfrm>
            <a:off x="1004943" y="1716376"/>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2" name="Rectangle 41"/>
          <p:cNvSpPr/>
          <p:nvPr/>
        </p:nvSpPr>
        <p:spPr>
          <a:xfrm>
            <a:off x="4230995" y="1332967"/>
            <a:ext cx="1625317"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Iteration-1:</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3" name="Rectangle 42"/>
          <p:cNvSpPr/>
          <p:nvPr/>
        </p:nvSpPr>
        <p:spPr>
          <a:xfrm>
            <a:off x="5832318" y="1358260"/>
            <a:ext cx="918841"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S={3}</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4" name="Rectangle 43"/>
          <p:cNvSpPr/>
          <p:nvPr/>
        </p:nvSpPr>
        <p:spPr>
          <a:xfrm>
            <a:off x="4688616" y="1765299"/>
            <a:ext cx="4455384" cy="3170099"/>
          </a:xfrm>
          <a:prstGeom prst="rect">
            <a:avLst/>
          </a:prstGeom>
        </p:spPr>
        <p:txBody>
          <a:bodyPr wrap="square">
            <a:spAutoFit/>
          </a:bodyPr>
          <a:lstStyle/>
          <a:p>
            <a:pPr>
              <a:spcBef>
                <a:spcPts val="300"/>
              </a:spcBef>
            </a:pPr>
            <a:r>
              <a:rPr lang="mr-IN" sz="2000" dirty="0">
                <a:solidFill>
                  <a:srgbClr val="C00000"/>
                </a:solidFill>
              </a:rPr>
              <a:t>pp1*=(1-0.9), d1-=0.9, dd1=0.</a:t>
            </a:r>
            <a:r>
              <a:rPr lang="en-US" altLang="zh-CN" sz="2000" dirty="0">
                <a:solidFill>
                  <a:srgbClr val="C00000"/>
                </a:solidFill>
              </a:rPr>
              <a:t>21</a:t>
            </a:r>
            <a:endParaRPr lang="en-US" sz="2000" dirty="0">
              <a:solidFill>
                <a:srgbClr val="C00000"/>
              </a:solidFill>
            </a:endParaRPr>
          </a:p>
          <a:p>
            <a:pPr>
              <a:spcBef>
                <a:spcPts val="300"/>
              </a:spcBef>
            </a:pPr>
            <a:r>
              <a:rPr lang="mr-IN" sz="2000" dirty="0">
                <a:solidFill>
                  <a:srgbClr val="C00000"/>
                </a:solidFill>
              </a:rPr>
              <a:t>pp2*=(1-0.9), d2-=0.9, dd2=0.21</a:t>
            </a:r>
            <a:endParaRPr lang="en-US" sz="2000" dirty="0">
              <a:solidFill>
                <a:srgbClr val="C00000"/>
              </a:solidFill>
            </a:endParaRPr>
          </a:p>
          <a:p>
            <a:pPr>
              <a:spcBef>
                <a:spcPts val="300"/>
              </a:spcBef>
            </a:pPr>
            <a:r>
              <a:rPr lang="mr-IN" sz="2000" dirty="0">
                <a:solidFill>
                  <a:schemeClr val="bg1">
                    <a:lumMod val="75000"/>
                  </a:schemeClr>
                </a:solidFill>
              </a:rPr>
              <a:t>pp3=1.0, d3=1+3.4, dd3=pp3*d3=4.4</a:t>
            </a:r>
            <a:endParaRPr lang="en-US" sz="2000" dirty="0">
              <a:solidFill>
                <a:schemeClr val="bg1">
                  <a:lumMod val="75000"/>
                </a:schemeClr>
              </a:solidFill>
            </a:endParaRPr>
          </a:p>
          <a:p>
            <a:pPr>
              <a:spcBef>
                <a:spcPts val="300"/>
              </a:spcBef>
            </a:pPr>
            <a:r>
              <a:rPr lang="mr-IN" sz="2000" dirty="0"/>
              <a:t>pp4=1.0, d4=1+0.5, dd4=pp4*d4=1.5</a:t>
            </a:r>
            <a:endParaRPr lang="en-US" sz="2000" dirty="0"/>
          </a:p>
          <a:p>
            <a:pPr>
              <a:spcBef>
                <a:spcPts val="300"/>
              </a:spcBef>
            </a:pPr>
            <a:r>
              <a:rPr lang="mr-IN" sz="2000" dirty="0">
                <a:solidFill>
                  <a:srgbClr val="C00000"/>
                </a:solidFill>
              </a:rPr>
              <a:t>pp5*=(1-0.5), d5-=0.5, dd5=0.85</a:t>
            </a:r>
            <a:endParaRPr lang="en-US" sz="2000" dirty="0">
              <a:solidFill>
                <a:srgbClr val="C00000"/>
              </a:solidFill>
            </a:endParaRPr>
          </a:p>
          <a:p>
            <a:pPr>
              <a:spcBef>
                <a:spcPts val="300"/>
              </a:spcBef>
            </a:pPr>
            <a:r>
              <a:rPr lang="mr-IN" sz="2000" dirty="0">
                <a:solidFill>
                  <a:srgbClr val="C00000"/>
                </a:solidFill>
              </a:rPr>
              <a:t>pp6*=(1-0.3), d6-=0.3, dd6=1.26</a:t>
            </a:r>
            <a:endParaRPr lang="en-US" sz="2000" dirty="0">
              <a:solidFill>
                <a:srgbClr val="C00000"/>
              </a:solidFill>
            </a:endParaRPr>
          </a:p>
          <a:p>
            <a:pPr>
              <a:spcBef>
                <a:spcPts val="300"/>
              </a:spcBef>
            </a:pPr>
            <a:r>
              <a:rPr lang="mr-IN" sz="2000" dirty="0">
                <a:solidFill>
                  <a:srgbClr val="C00000"/>
                </a:solidFill>
              </a:rPr>
              <a:t>pp7*=(1-0.8), d7-=0.8, dd7=0.5</a:t>
            </a:r>
            <a:endParaRPr lang="en-US" sz="2000" dirty="0">
              <a:solidFill>
                <a:srgbClr val="C00000"/>
              </a:solidFill>
            </a:endParaRPr>
          </a:p>
          <a:p>
            <a:pPr>
              <a:spcBef>
                <a:spcPts val="300"/>
              </a:spcBef>
            </a:pPr>
            <a:r>
              <a:rPr lang="mr-IN" sz="2000" dirty="0"/>
              <a:t>pp8=1.0, d8=1+0.7, dd8=pp8*d8=1.7</a:t>
            </a:r>
            <a:endParaRPr lang="en-US" sz="2000" dirty="0"/>
          </a:p>
          <a:p>
            <a:pPr>
              <a:spcBef>
                <a:spcPts val="300"/>
              </a:spcBef>
            </a:pPr>
            <a:r>
              <a:rPr lang="mr-IN" sz="2000" dirty="0"/>
              <a:t>pp9=1.0, d9=1+0.8, dd9=pp9*d9=1.8</a:t>
            </a:r>
          </a:p>
        </p:txBody>
      </p:sp>
    </p:spTree>
    <p:extLst>
      <p:ext uri="{BB962C8B-B14F-4D97-AF65-F5344CB8AC3E}">
        <p14:creationId xmlns:p14="http://schemas.microsoft.com/office/powerpoint/2010/main" val="548838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740664"/>
              </a:xfrm>
            </p:spPr>
            <p:txBody>
              <a:bodyPr/>
              <a:lstStyle/>
              <a:p>
                <a:r>
                  <a:rPr lang="zh-CN" altLang="en-US" dirty="0"/>
                  <a:t>基于</a:t>
                </a:r>
                <a:r>
                  <a:rPr lang="en-US" altLang="zh-CN" dirty="0"/>
                  <a:t>Degree</a:t>
                </a:r>
                <a:r>
                  <a:rPr lang="zh-CN" altLang="en-US" dirty="0"/>
                  <a:t> </a:t>
                </a:r>
                <a:r>
                  <a:rPr lang="en-US" altLang="zh-CN" dirty="0"/>
                  <a:t>Discount</a:t>
                </a:r>
                <a:r>
                  <a:rPr lang="zh-CN" altLang="en-US" dirty="0"/>
                  <a:t>算法思想，在下图中找出</a:t>
                </a:r>
                <a14:m>
                  <m:oMath xmlns:m="http://schemas.openxmlformats.org/officeDocument/2006/math">
                    <m:r>
                      <a:rPr lang="en-US" altLang="zh-CN" b="0" i="1" smtClean="0">
                        <a:latin typeface="Cambria Math" charset="0"/>
                      </a:rPr>
                      <m:t>𝑘</m:t>
                    </m:r>
                    <m:r>
                      <a:rPr lang="en-US" altLang="zh-CN" b="0" i="1" smtClean="0">
                        <a:latin typeface="Cambria Math" charset="0"/>
                      </a:rPr>
                      <m:t>=2</m:t>
                    </m:r>
                  </m:oMath>
                </a14:m>
                <a:r>
                  <a:rPr lang="zh-CN" altLang="en-US" dirty="0"/>
                  <a:t>时，使影响范围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最大的种子集合</a:t>
                </a:r>
                <a14:m>
                  <m:oMath xmlns:m="http://schemas.openxmlformats.org/officeDocument/2006/math">
                    <m:r>
                      <a:rPr lang="en-US" altLang="zh-CN" i="1" dirty="0" smtClean="0">
                        <a:latin typeface="Cambria Math" charset="0"/>
                      </a:rPr>
                      <m:t>𝑆</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740664"/>
              </a:xfrm>
              <a:blipFill rotWithShape="0">
                <a:blip r:embed="rId3"/>
                <a:stretch>
                  <a:fillRect l="-667" t="-4098" b="-9016"/>
                </a:stretch>
              </a:blipFill>
            </p:spPr>
            <p:txBody>
              <a:bodyPr/>
              <a:lstStyle/>
              <a:p>
                <a:r>
                  <a:rPr lang="en-US">
                    <a:noFill/>
                  </a:rPr>
                  <a:t> </a:t>
                </a:r>
              </a:p>
            </p:txBody>
          </p:sp>
        </mc:Fallback>
      </mc:AlternateContent>
      <p:grpSp>
        <p:nvGrpSpPr>
          <p:cNvPr id="40" name="Group 39"/>
          <p:cNvGrpSpPr/>
          <p:nvPr/>
        </p:nvGrpSpPr>
        <p:grpSpPr>
          <a:xfrm>
            <a:off x="1004943" y="1716376"/>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2" name="Rectangle 41"/>
          <p:cNvSpPr/>
          <p:nvPr/>
        </p:nvSpPr>
        <p:spPr>
          <a:xfrm>
            <a:off x="4230995" y="1332967"/>
            <a:ext cx="1625317"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Iteration-2:</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3" name="Rectangle 42"/>
          <p:cNvSpPr/>
          <p:nvPr/>
        </p:nvSpPr>
        <p:spPr>
          <a:xfrm>
            <a:off x="5832318" y="1358260"/>
            <a:ext cx="1207382"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S={3,</a:t>
            </a:r>
            <a:r>
              <a:rPr lang="zh-CN" altLang="en-US" sz="2000" dirty="0">
                <a:latin typeface="Microsoft YaHei" charset="-122"/>
                <a:ea typeface="Microsoft YaHei" charset="-122"/>
                <a:cs typeface="Microsoft YaHei" charset="-122"/>
              </a:rPr>
              <a:t> </a:t>
            </a:r>
            <a:r>
              <a:rPr lang="en-US" altLang="zh-CN" sz="2000" dirty="0">
                <a:latin typeface="Microsoft YaHei" charset="-122"/>
                <a:ea typeface="Microsoft YaHei" charset="-122"/>
                <a:cs typeface="Microsoft YaHei" charset="-122"/>
              </a:rPr>
              <a:t>9}</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4" name="Rectangle 43"/>
          <p:cNvSpPr/>
          <p:nvPr/>
        </p:nvSpPr>
        <p:spPr>
          <a:xfrm>
            <a:off x="4688616" y="1765299"/>
            <a:ext cx="4455384" cy="3170099"/>
          </a:xfrm>
          <a:prstGeom prst="rect">
            <a:avLst/>
          </a:prstGeom>
        </p:spPr>
        <p:txBody>
          <a:bodyPr wrap="square">
            <a:spAutoFit/>
          </a:bodyPr>
          <a:lstStyle/>
          <a:p>
            <a:pPr>
              <a:spcBef>
                <a:spcPts val="300"/>
              </a:spcBef>
            </a:pPr>
            <a:r>
              <a:rPr lang="mr-IN" sz="2000" dirty="0">
                <a:solidFill>
                  <a:srgbClr val="C00000"/>
                </a:solidFill>
              </a:rPr>
              <a:t>pp1*=(1-0.8), d1-=0.8, dd1=0.0</a:t>
            </a:r>
            <a:r>
              <a:rPr lang="en-US" altLang="zh-CN" sz="2000" dirty="0">
                <a:solidFill>
                  <a:srgbClr val="C00000"/>
                </a:solidFill>
              </a:rPr>
              <a:t>26</a:t>
            </a:r>
            <a:endParaRPr lang="en-US" sz="2000" dirty="0">
              <a:solidFill>
                <a:srgbClr val="C00000"/>
              </a:solidFill>
            </a:endParaRPr>
          </a:p>
          <a:p>
            <a:pPr>
              <a:spcBef>
                <a:spcPts val="300"/>
              </a:spcBef>
            </a:pPr>
            <a:r>
              <a:rPr lang="mr-IN" sz="2000" dirty="0"/>
              <a:t>pp2*=(1-0.9), d2-=0.9, dd2=0.21</a:t>
            </a:r>
            <a:endParaRPr lang="en-US" sz="2000" dirty="0"/>
          </a:p>
          <a:p>
            <a:pPr>
              <a:spcBef>
                <a:spcPts val="300"/>
              </a:spcBef>
            </a:pPr>
            <a:r>
              <a:rPr lang="mr-IN" sz="2000" dirty="0">
                <a:solidFill>
                  <a:schemeClr val="bg1">
                    <a:lumMod val="75000"/>
                  </a:schemeClr>
                </a:solidFill>
              </a:rPr>
              <a:t>pp3=1.0, d3=1+3.4, dd3=pp3*d3=4.4</a:t>
            </a:r>
            <a:endParaRPr lang="en-US" sz="2000" dirty="0">
              <a:solidFill>
                <a:schemeClr val="bg1">
                  <a:lumMod val="75000"/>
                </a:schemeClr>
              </a:solidFill>
            </a:endParaRPr>
          </a:p>
          <a:p>
            <a:pPr>
              <a:spcBef>
                <a:spcPts val="300"/>
              </a:spcBef>
            </a:pPr>
            <a:r>
              <a:rPr lang="mr-IN" sz="2000" dirty="0"/>
              <a:t>pp4=1.0, d4=1+0.5, dd4=pp4*d4=1.5</a:t>
            </a:r>
            <a:endParaRPr lang="en-US" sz="2000" dirty="0"/>
          </a:p>
          <a:p>
            <a:pPr>
              <a:spcBef>
                <a:spcPts val="300"/>
              </a:spcBef>
            </a:pPr>
            <a:r>
              <a:rPr lang="mr-IN" sz="2000" dirty="0"/>
              <a:t>pp5*=(1-0.5), d5-=0.5, dd5=0.85</a:t>
            </a:r>
            <a:endParaRPr lang="en-US" sz="2000" dirty="0"/>
          </a:p>
          <a:p>
            <a:pPr>
              <a:spcBef>
                <a:spcPts val="300"/>
              </a:spcBef>
            </a:pPr>
            <a:r>
              <a:rPr lang="mr-IN" sz="2000" dirty="0"/>
              <a:t>pp6*=(1-0.3), d6-=0.3, dd6=1.26</a:t>
            </a:r>
            <a:endParaRPr lang="en-US" sz="2000" dirty="0"/>
          </a:p>
          <a:p>
            <a:pPr>
              <a:spcBef>
                <a:spcPts val="300"/>
              </a:spcBef>
            </a:pPr>
            <a:r>
              <a:rPr lang="mr-IN" sz="2000" dirty="0"/>
              <a:t>pp7*=(1-0.8), d7-=0.8, dd7=0.5</a:t>
            </a:r>
            <a:endParaRPr lang="en-US" sz="2000" dirty="0"/>
          </a:p>
          <a:p>
            <a:pPr>
              <a:spcBef>
                <a:spcPts val="300"/>
              </a:spcBef>
            </a:pPr>
            <a:r>
              <a:rPr lang="mr-IN" sz="2000" dirty="0"/>
              <a:t>pp8=1.0, d8=1+0.7, dd8=pp8*d8=1.7</a:t>
            </a:r>
            <a:endParaRPr lang="en-US" sz="2000" dirty="0"/>
          </a:p>
          <a:p>
            <a:pPr>
              <a:spcBef>
                <a:spcPts val="300"/>
              </a:spcBef>
            </a:pPr>
            <a:r>
              <a:rPr lang="mr-IN" sz="2000" dirty="0">
                <a:solidFill>
                  <a:schemeClr val="bg1">
                    <a:lumMod val="75000"/>
                  </a:schemeClr>
                </a:solidFill>
              </a:rPr>
              <a:t>pp9=1.0, d9=1+0.8, dd9=pp9*d9=1.8</a:t>
            </a:r>
          </a:p>
        </p:txBody>
      </p:sp>
    </p:spTree>
    <p:extLst>
      <p:ext uri="{BB962C8B-B14F-4D97-AF65-F5344CB8AC3E}">
        <p14:creationId xmlns:p14="http://schemas.microsoft.com/office/powerpoint/2010/main" val="21102148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课堂练习</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58</a:t>
            </a:fld>
            <a:endParaRPr lang="zh-CN" alt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9068" y="819150"/>
            <a:ext cx="5305864" cy="3937000"/>
          </a:xfrm>
          <a:prstGeom prst="rect">
            <a:avLst/>
          </a:prstGeom>
        </p:spPr>
      </p:pic>
    </p:spTree>
    <p:extLst>
      <p:ext uri="{BB962C8B-B14F-4D97-AF65-F5344CB8AC3E}">
        <p14:creationId xmlns:p14="http://schemas.microsoft.com/office/powerpoint/2010/main" val="1097536206"/>
      </p:ext>
    </p:extLst>
  </p:cSld>
  <p:clrMapOvr>
    <a:masterClrMapping/>
  </p:clrMapOvr>
  <p:transition spd="slow">
    <p:pull/>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PageRank</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影响力分析算法</a:t>
            </a:r>
            <a:endParaRPr lang="en-US" altLang="zh-CN" b="1" dirty="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信息传播模型与影响力最大化</a:t>
            </a:r>
            <a:endParaRPr lang="en-US" altLang="zh-CN" dirty="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基于节点度的算法</a:t>
            </a:r>
            <a:endParaRPr lang="en-US" altLang="zh-CN" dirty="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b="1" dirty="0">
                <a:solidFill>
                  <a:srgbClr val="C00000"/>
                </a:solidFill>
                <a:latin typeface="微软雅黑" panose="020B0503020204020204" pitchFamily="34" charset="-122"/>
                <a:ea typeface="微软雅黑" panose="020B0503020204020204" pitchFamily="34" charset="-122"/>
              </a:rPr>
              <a:t>基于最短路径的算法</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3" name="椭圆 26"/>
          <p:cNvSpPr/>
          <p:nvPr/>
        </p:nvSpPr>
        <p:spPr>
          <a:xfrm>
            <a:off x="3997236" y="36413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060506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算法的局限性</a:t>
            </a:r>
            <a:endParaRPr lang="en-US" dirty="0"/>
          </a:p>
        </p:txBody>
      </p:sp>
      <p:sp>
        <p:nvSpPr>
          <p:cNvPr id="3" name="Content Placeholder 2"/>
          <p:cNvSpPr>
            <a:spLocks noGrp="1"/>
          </p:cNvSpPr>
          <p:nvPr>
            <p:ph idx="1"/>
          </p:nvPr>
        </p:nvSpPr>
        <p:spPr>
          <a:xfrm>
            <a:off x="457200" y="819150"/>
            <a:ext cx="8229600" cy="1099687"/>
          </a:xfrm>
        </p:spPr>
        <p:txBody>
          <a:bodyPr/>
          <a:lstStyle/>
          <a:p>
            <a:r>
              <a:rPr lang="zh-CN" altLang="en-US" dirty="0"/>
              <a:t>基本想法</a:t>
            </a:r>
            <a:endParaRPr lang="en-US" altLang="zh-CN" dirty="0"/>
          </a:p>
          <a:p>
            <a:pPr lvl="1"/>
            <a:r>
              <a:rPr lang="zh-CN" altLang="en-US" dirty="0"/>
              <a:t>假设：节点只对其  </a:t>
            </a:r>
            <a:r>
              <a:rPr lang="zh-CN" altLang="en-US" dirty="0">
                <a:solidFill>
                  <a:srgbClr val="C00000"/>
                </a:solidFill>
              </a:rPr>
              <a:t>直接邻居  </a:t>
            </a:r>
            <a:r>
              <a:rPr lang="zh-CN" altLang="en-US" dirty="0"/>
              <a:t>产生影响</a:t>
            </a:r>
            <a:endParaRPr lang="en-US" altLang="zh-CN" dirty="0"/>
          </a:p>
          <a:p>
            <a:pPr lvl="1"/>
            <a:r>
              <a:rPr lang="zh-CN" altLang="en-US" dirty="0"/>
              <a:t>选择的种子节点的影响范围避免重叠</a:t>
            </a:r>
            <a:endParaRPr lang="en-US" dirty="0"/>
          </a:p>
        </p:txBody>
      </p:sp>
      <p:sp>
        <p:nvSpPr>
          <p:cNvPr id="7" name="Oval 6"/>
          <p:cNvSpPr/>
          <p:nvPr/>
        </p:nvSpPr>
        <p:spPr>
          <a:xfrm>
            <a:off x="1153036" y="2912948"/>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8" name="Oval 7"/>
          <p:cNvSpPr/>
          <p:nvPr/>
        </p:nvSpPr>
        <p:spPr>
          <a:xfrm>
            <a:off x="2234059" y="2909056"/>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9" name="Oval 8"/>
          <p:cNvSpPr/>
          <p:nvPr/>
        </p:nvSpPr>
        <p:spPr>
          <a:xfrm>
            <a:off x="2235728" y="3857722"/>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10" name="Oval 9"/>
          <p:cNvSpPr/>
          <p:nvPr/>
        </p:nvSpPr>
        <p:spPr>
          <a:xfrm>
            <a:off x="2234060" y="1960390"/>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cxnSp>
        <p:nvCxnSpPr>
          <p:cNvPr id="11" name="Straight Arrow Connector 10"/>
          <p:cNvCxnSpPr/>
          <p:nvPr/>
        </p:nvCxnSpPr>
        <p:spPr>
          <a:xfrm flipH="1">
            <a:off x="1533397" y="3099237"/>
            <a:ext cx="700663" cy="389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424240" y="2340751"/>
            <a:ext cx="1"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flipV="1">
            <a:off x="2424240" y="3289417"/>
            <a:ext cx="1669"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682679" y="2740159"/>
            <a:ext cx="474570" cy="367904"/>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20" name="TextBox 19"/>
          <p:cNvSpPr txBox="1"/>
          <p:nvPr/>
        </p:nvSpPr>
        <p:spPr>
          <a:xfrm>
            <a:off x="2501051" y="2372255"/>
            <a:ext cx="474570" cy="367904"/>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21" name="TextBox 20"/>
          <p:cNvSpPr txBox="1"/>
          <p:nvPr/>
        </p:nvSpPr>
        <p:spPr>
          <a:xfrm>
            <a:off x="2501051" y="3313996"/>
            <a:ext cx="474570" cy="367904"/>
          </a:xfrm>
          <a:prstGeom prst="rect">
            <a:avLst/>
          </a:prstGeom>
          <a:noFill/>
        </p:spPr>
        <p:txBody>
          <a:bodyPr wrap="none" rtlCol="0">
            <a:spAutoFit/>
          </a:bodyPr>
          <a:lstStyle/>
          <a:p>
            <a:r>
              <a:rPr lang="en-US" dirty="0">
                <a:latin typeface="Calibri" charset="0"/>
                <a:ea typeface="Calibri" charset="0"/>
                <a:cs typeface="Calibri" charset="0"/>
              </a:rPr>
              <a:t>0.9</a:t>
            </a:r>
          </a:p>
        </p:txBody>
      </p:sp>
      <mc:AlternateContent xmlns:mc="http://schemas.openxmlformats.org/markup-compatibility/2006" xmlns:a14="http://schemas.microsoft.com/office/drawing/2010/main">
        <mc:Choice Requires="a14">
          <p:sp>
            <p:nvSpPr>
              <p:cNvPr id="22" name="Rectangle 21"/>
              <p:cNvSpPr/>
              <p:nvPr/>
            </p:nvSpPr>
            <p:spPr>
              <a:xfrm>
                <a:off x="507458" y="4384298"/>
                <a:ext cx="3999556" cy="369332"/>
              </a:xfrm>
              <a:prstGeom prst="rect">
                <a:avLst/>
              </a:prstGeom>
            </p:spPr>
            <p:txBody>
              <a:bodyPr wrap="none">
                <a:spAutoFit/>
              </a:bodyPr>
              <a:lstStyle/>
              <a:p>
                <a:r>
                  <a:rPr lang="zh-CN" altLang="en-US" dirty="0">
                    <a:latin typeface="Microsoft YaHei" charset="-122"/>
                    <a:ea typeface="Microsoft YaHei" charset="-122"/>
                    <a:cs typeface="Microsoft YaHei" charset="-122"/>
                  </a:rPr>
                  <a:t>选择</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a:t>
                </a:r>
                <a14:m>
                  <m:oMath xmlns:m="http://schemas.openxmlformats.org/officeDocument/2006/math">
                    <m:r>
                      <m:rPr>
                        <m:sty m:val="p"/>
                      </m:rPr>
                      <a:rPr lang="en-US" altLang="zh-CN"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𝜎</m:t>
                    </m:r>
                    <m:d>
                      <m:dPr>
                        <m:ctrlPr>
                          <a:rPr lang="en-US" altLang="zh-CN" b="0" i="1" smtClean="0">
                            <a:latin typeface="Cambria Math" charset="0"/>
                            <a:ea typeface="Microsoft YaHei" charset="-122"/>
                            <a:cs typeface="Microsoft YaHei" charset="-122"/>
                          </a:rPr>
                        </m:ctrlPr>
                      </m:dPr>
                      <m:e>
                        <m:r>
                          <a:rPr lang="en-US" altLang="zh-CN" b="0" i="1" smtClean="0">
                            <a:latin typeface="Cambria Math" charset="0"/>
                            <a:ea typeface="Microsoft YaHei" charset="-122"/>
                            <a:cs typeface="Microsoft YaHei" charset="-122"/>
                          </a:rPr>
                          <m:t>𝑆</m:t>
                        </m:r>
                      </m:e>
                    </m:d>
                    <m:r>
                      <a:rPr lang="en-US" altLang="zh-CN" b="0" i="1" smtClean="0">
                        <a:latin typeface="Cambria Math" charset="0"/>
                        <a:ea typeface="Microsoft YaHei" charset="-122"/>
                        <a:cs typeface="Microsoft YaHei" charset="-122"/>
                      </a:rPr>
                      <m:t>=1+.8+.9+.1=2.8</m:t>
                    </m:r>
                  </m:oMath>
                </a14:m>
                <a:endParaRPr lang="en-US" dirty="0">
                  <a:latin typeface="Microsoft YaHei" charset="-122"/>
                  <a:ea typeface="Microsoft YaHei" charset="-122"/>
                  <a:cs typeface="Microsoft YaHei" charset="-122"/>
                </a:endParaRPr>
              </a:p>
            </p:txBody>
          </p:sp>
        </mc:Choice>
        <mc:Fallback xmlns="">
          <p:sp>
            <p:nvSpPr>
              <p:cNvPr id="22" name="Rectangle 21"/>
              <p:cNvSpPr>
                <a:spLocks noRot="1" noChangeAspect="1" noMove="1" noResize="1" noEditPoints="1" noAdjustHandles="1" noChangeArrowheads="1" noChangeShapeType="1" noTextEdit="1"/>
              </p:cNvSpPr>
              <p:nvPr/>
            </p:nvSpPr>
            <p:spPr>
              <a:xfrm>
                <a:off x="507458" y="4384298"/>
                <a:ext cx="3999556" cy="369332"/>
              </a:xfrm>
              <a:prstGeom prst="rect">
                <a:avLst/>
              </a:prstGeom>
              <a:blipFill rotWithShape="0">
                <a:blip r:embed="rId3"/>
                <a:stretch>
                  <a:fillRect l="-1220" t="-8197" b="-24590"/>
                </a:stretch>
              </a:blipFill>
            </p:spPr>
            <p:txBody>
              <a:bodyPr/>
              <a:lstStyle/>
              <a:p>
                <a:r>
                  <a:rPr lang="en-US">
                    <a:noFill/>
                  </a:rPr>
                  <a:t> </a:t>
                </a:r>
              </a:p>
            </p:txBody>
          </p:sp>
        </mc:Fallback>
      </mc:AlternateContent>
      <p:sp>
        <p:nvSpPr>
          <p:cNvPr id="37" name="Rectangle 36"/>
          <p:cNvSpPr/>
          <p:nvPr/>
        </p:nvSpPr>
        <p:spPr>
          <a:xfrm>
            <a:off x="3179298" y="1136876"/>
            <a:ext cx="1069145" cy="4360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4994031" y="2678223"/>
            <a:ext cx="3134253" cy="461665"/>
          </a:xfrm>
          <a:prstGeom prst="rect">
            <a:avLst/>
          </a:prstGeom>
        </p:spPr>
        <p:txBody>
          <a:bodyPr wrap="square">
            <a:spAutoFit/>
          </a:bodyPr>
          <a:lstStyle/>
          <a:p>
            <a:pPr algn="ctr">
              <a:spcBef>
                <a:spcPct val="20000"/>
              </a:spcBef>
            </a:pPr>
            <a:r>
              <a:rPr lang="zh-CN" altLang="en-US" sz="2400" dirty="0">
                <a:solidFill>
                  <a:srgbClr val="AE0627"/>
                </a:solidFill>
                <a:latin typeface="Microsoft YaHei" charset="-122"/>
                <a:ea typeface="Microsoft YaHei" charset="-122"/>
                <a:cs typeface="Microsoft YaHei" charset="-122"/>
              </a:rPr>
              <a:t>如何考虑间接影响？</a:t>
            </a:r>
            <a:endParaRPr lang="en-US" altLang="zh-CN" sz="24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122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节点的间接影响力</a:t>
            </a:r>
            <a:endParaRPr lang="en-US" dirty="0"/>
          </a:p>
        </p:txBody>
      </p:sp>
      <p:sp>
        <p:nvSpPr>
          <p:cNvPr id="3" name="Content Placeholder 2"/>
          <p:cNvSpPr>
            <a:spLocks noGrp="1"/>
          </p:cNvSpPr>
          <p:nvPr>
            <p:ph idx="1"/>
          </p:nvPr>
        </p:nvSpPr>
        <p:spPr>
          <a:xfrm>
            <a:off x="457200" y="819150"/>
            <a:ext cx="3348232" cy="3937000"/>
          </a:xfrm>
        </p:spPr>
        <p:txBody>
          <a:bodyPr/>
          <a:lstStyle/>
          <a:p>
            <a:r>
              <a:rPr lang="zh-CN" altLang="en-US" dirty="0"/>
              <a:t>引入两点间路径的概念</a:t>
            </a:r>
            <a:endParaRPr lang="en-US" altLang="zh-CN" dirty="0"/>
          </a:p>
          <a:p>
            <a:endParaRPr lang="en-US" altLang="zh-CN" dirty="0"/>
          </a:p>
          <a:p>
            <a:r>
              <a:rPr lang="zh-CN" altLang="en-US" dirty="0"/>
              <a:t>节点</a:t>
            </a:r>
            <a:r>
              <a:rPr lang="en-US" altLang="zh-CN" dirty="0"/>
              <a:t>3</a:t>
            </a:r>
            <a:r>
              <a:rPr lang="zh-CN" altLang="en-US" dirty="0"/>
              <a:t>激活节点</a:t>
            </a:r>
            <a:r>
              <a:rPr lang="en-US" altLang="zh-CN" dirty="0"/>
              <a:t>4</a:t>
            </a:r>
            <a:r>
              <a:rPr lang="zh-CN" altLang="en-US" dirty="0"/>
              <a:t>的路径可能有多条</a:t>
            </a:r>
            <a:endParaRPr lang="en-US" altLang="zh-CN" dirty="0"/>
          </a:p>
          <a:p>
            <a:pPr lvl="1"/>
            <a:r>
              <a:rPr lang="en-US" altLang="zh-CN" dirty="0"/>
              <a:t>3</a:t>
            </a:r>
            <a:r>
              <a:rPr lang="zh-CN" altLang="en-US" dirty="0"/>
              <a:t> </a:t>
            </a:r>
            <a:r>
              <a:rPr lang="zh-CN" altLang="en-US" dirty="0">
                <a:sym typeface="Wingdings"/>
              </a:rPr>
              <a:t> </a:t>
            </a:r>
            <a:r>
              <a:rPr lang="en-US" altLang="zh-CN" dirty="0">
                <a:sym typeface="Wingdings"/>
              </a:rPr>
              <a:t>2</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5</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4</a:t>
            </a:r>
          </a:p>
          <a:p>
            <a:pPr lvl="1"/>
            <a:r>
              <a:rPr lang="mr-IN" altLang="zh-CN" dirty="0">
                <a:sym typeface="Wingdings"/>
              </a:rPr>
              <a:t>……</a:t>
            </a:r>
            <a:endParaRPr lang="en-US" altLang="zh-CN" dirty="0">
              <a:sym typeface="Wingdings"/>
            </a:endParaRPr>
          </a:p>
        </p:txBody>
      </p:sp>
      <p:grpSp>
        <p:nvGrpSpPr>
          <p:cNvPr id="4" name="Group 3"/>
          <p:cNvGrpSpPr/>
          <p:nvPr/>
        </p:nvGrpSpPr>
        <p:grpSpPr>
          <a:xfrm>
            <a:off x="4572000"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Tree>
    <p:extLst>
      <p:ext uri="{BB962C8B-B14F-4D97-AF65-F5344CB8AC3E}">
        <p14:creationId xmlns:p14="http://schemas.microsoft.com/office/powerpoint/2010/main" val="675370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启发式规则</a:t>
            </a:r>
            <a:endParaRPr lang="en-US" dirty="0"/>
          </a:p>
        </p:txBody>
      </p:sp>
      <p:sp>
        <p:nvSpPr>
          <p:cNvPr id="3" name="Content Placeholder 2"/>
          <p:cNvSpPr>
            <a:spLocks noGrp="1"/>
          </p:cNvSpPr>
          <p:nvPr>
            <p:ph idx="1"/>
          </p:nvPr>
        </p:nvSpPr>
        <p:spPr>
          <a:xfrm>
            <a:off x="457200" y="819150"/>
            <a:ext cx="3348232" cy="3937000"/>
          </a:xfrm>
        </p:spPr>
        <p:txBody>
          <a:bodyPr>
            <a:normAutofit/>
          </a:bodyPr>
          <a:lstStyle/>
          <a:p>
            <a:r>
              <a:rPr lang="zh-CN" altLang="en-US" dirty="0"/>
              <a:t>只考虑激活概率最大的路径，其中</a:t>
            </a:r>
            <a:r>
              <a:rPr lang="zh-CN" altLang="en-US" dirty="0">
                <a:solidFill>
                  <a:srgbClr val="C00000"/>
                </a:solidFill>
              </a:rPr>
              <a:t>激活概率为路径中边上概率的乘积</a:t>
            </a:r>
            <a:endParaRPr lang="en-US" altLang="zh-CN" dirty="0">
              <a:solidFill>
                <a:srgbClr val="C00000"/>
              </a:solidFill>
            </a:endParaRPr>
          </a:p>
          <a:p>
            <a:endParaRPr lang="en-US" altLang="zh-CN" dirty="0"/>
          </a:p>
          <a:p>
            <a:r>
              <a:rPr lang="zh-CN" altLang="en-US" dirty="0"/>
              <a:t>节点</a:t>
            </a:r>
            <a:r>
              <a:rPr lang="en-US" altLang="zh-CN" dirty="0"/>
              <a:t>3</a:t>
            </a:r>
            <a:r>
              <a:rPr lang="zh-CN" altLang="en-US" dirty="0"/>
              <a:t>激活节点</a:t>
            </a:r>
            <a:r>
              <a:rPr lang="en-US" altLang="zh-CN" dirty="0"/>
              <a:t>4</a:t>
            </a:r>
            <a:r>
              <a:rPr lang="zh-CN" altLang="en-US" dirty="0"/>
              <a:t>的路径可能有多条</a:t>
            </a:r>
            <a:endParaRPr lang="en-US" altLang="zh-CN" dirty="0"/>
          </a:p>
          <a:p>
            <a:pPr lvl="1"/>
            <a:r>
              <a:rPr lang="en-US" altLang="zh-CN" dirty="0">
                <a:solidFill>
                  <a:srgbClr val="C00000"/>
                </a:solidFill>
              </a:rPr>
              <a:t>3</a:t>
            </a:r>
            <a:r>
              <a:rPr lang="zh-CN" altLang="en-US" dirty="0">
                <a:solidFill>
                  <a:srgbClr val="C00000"/>
                </a:solidFill>
              </a:rPr>
              <a:t> </a:t>
            </a:r>
            <a:r>
              <a:rPr lang="zh-CN" altLang="en-US" dirty="0">
                <a:solidFill>
                  <a:srgbClr val="C00000"/>
                </a:solidFill>
                <a:sym typeface="Wingdings"/>
              </a:rPr>
              <a:t> </a:t>
            </a:r>
            <a:r>
              <a:rPr lang="en-US" altLang="zh-CN" dirty="0">
                <a:solidFill>
                  <a:srgbClr val="C00000"/>
                </a:solidFill>
                <a:sym typeface="Wingdings"/>
              </a:rPr>
              <a:t>2</a:t>
            </a:r>
            <a:r>
              <a:rPr lang="zh-CN" altLang="en-US" dirty="0">
                <a:solidFill>
                  <a:srgbClr val="C00000"/>
                </a:solidFill>
                <a:sym typeface="Wingdings"/>
              </a:rPr>
              <a:t>  </a:t>
            </a:r>
            <a:r>
              <a:rPr lang="en-US" altLang="zh-CN" dirty="0">
                <a:solidFill>
                  <a:srgbClr val="C00000"/>
                </a:solidFill>
                <a:sym typeface="Wingdings"/>
              </a:rPr>
              <a:t>4</a:t>
            </a:r>
            <a:r>
              <a:rPr lang="zh-CN" altLang="en-US" dirty="0">
                <a:solidFill>
                  <a:srgbClr val="C00000"/>
                </a:solidFill>
                <a:sym typeface="Wingdings"/>
              </a:rPr>
              <a:t> </a:t>
            </a:r>
            <a:r>
              <a:rPr lang="en-US" altLang="zh-CN" dirty="0">
                <a:solidFill>
                  <a:srgbClr val="C00000"/>
                </a:solidFill>
                <a:sym typeface="Wingdings"/>
              </a:rPr>
              <a:t>(0.27)</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r>
              <a:rPr lang="zh-CN" altLang="en-US" dirty="0">
                <a:sym typeface="Wingdings"/>
              </a:rPr>
              <a:t> </a:t>
            </a:r>
            <a:r>
              <a:rPr lang="en-US" altLang="zh-CN" dirty="0">
                <a:sym typeface="Wingdings"/>
              </a:rPr>
              <a:t>(0.18)</a:t>
            </a:r>
          </a:p>
          <a:p>
            <a:pPr lvl="1"/>
            <a:r>
              <a:rPr lang="en-US" altLang="zh-CN" dirty="0">
                <a:sym typeface="Wingdings"/>
              </a:rPr>
              <a:t>3</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r>
              <a:rPr lang="zh-CN" altLang="en-US" dirty="0">
                <a:sym typeface="Wingdings"/>
              </a:rPr>
              <a:t> </a:t>
            </a:r>
            <a:r>
              <a:rPr lang="en-US" altLang="zh-CN" dirty="0">
                <a:sym typeface="Wingdings"/>
              </a:rPr>
              <a:t>(0.018)</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4</a:t>
            </a:r>
            <a:r>
              <a:rPr lang="zh-CN" altLang="en-US" dirty="0">
                <a:sym typeface="Wingdings"/>
              </a:rPr>
              <a:t> </a:t>
            </a:r>
            <a:r>
              <a:rPr lang="en-US" altLang="zh-CN" dirty="0">
                <a:sym typeface="Wingdings"/>
              </a:rPr>
              <a:t>(0.027)</a:t>
            </a:r>
          </a:p>
          <a:p>
            <a:pPr lvl="1"/>
            <a:r>
              <a:rPr lang="mr-IN" altLang="zh-CN" dirty="0">
                <a:sym typeface="Wingdings"/>
              </a:rPr>
              <a:t>……</a:t>
            </a:r>
            <a:endParaRPr lang="en-US" altLang="zh-CN" dirty="0">
              <a:sym typeface="Wingdings"/>
            </a:endParaRPr>
          </a:p>
        </p:txBody>
      </p:sp>
      <p:grpSp>
        <p:nvGrpSpPr>
          <p:cNvPr id="4" name="Group 3"/>
          <p:cNvGrpSpPr/>
          <p:nvPr/>
        </p:nvGrpSpPr>
        <p:grpSpPr>
          <a:xfrm>
            <a:off x="4572000"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Tree>
    <p:extLst>
      <p:ext uri="{BB962C8B-B14F-4D97-AF65-F5344CB8AC3E}">
        <p14:creationId xmlns:p14="http://schemas.microsoft.com/office/powerpoint/2010/main" val="1506062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如何求出激活概率最大的路径？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50"/>
                <a:ext cx="4116993" cy="775937"/>
              </a:xfrm>
            </p:spPr>
            <p:txBody>
              <a:bodyPr>
                <a:normAutofit/>
              </a:bodyPr>
              <a:lstStyle/>
              <a:p>
                <a:r>
                  <a:rPr lang="zh-CN" altLang="en-US" dirty="0"/>
                  <a:t>给定节点</a:t>
                </a:r>
                <a:r>
                  <a:rPr lang="en-US" altLang="zh-CN" dirty="0"/>
                  <a:t>s</a:t>
                </a:r>
                <a:r>
                  <a:rPr lang="zh-CN" altLang="en-US" dirty="0"/>
                  <a:t>到</a:t>
                </a:r>
                <a:r>
                  <a:rPr lang="en-US" altLang="zh-CN" dirty="0"/>
                  <a:t>t</a:t>
                </a:r>
                <a:r>
                  <a:rPr lang="zh-CN" altLang="en-US" dirty="0"/>
                  <a:t>的路径</a:t>
                </a:r>
                <a14:m>
                  <m:oMath xmlns:m="http://schemas.openxmlformats.org/officeDocument/2006/math">
                    <m:r>
                      <a:rPr lang="en-US" altLang="zh-CN" b="0" i="1" dirty="0" smtClean="0">
                        <a:latin typeface="Cambria Math" charset="0"/>
                      </a:rPr>
                      <m:t>𝑠</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oMath>
                </a14:m>
                <a:r>
                  <a:rPr lang="zh-CN" altLang="en-US" dirty="0"/>
                  <a:t>，将路径的激活概率表示为</a:t>
                </a:r>
                <a:endParaRPr lang="en-US" altLang="zh-CN" dirty="0"/>
              </a:p>
              <a:p>
                <a:endParaRPr lang="en-US" altLang="zh-CN" dirty="0"/>
              </a:p>
              <a:p>
                <a:endParaRPr lang="en-US" altLang="zh-CN" dirty="0"/>
              </a:p>
              <a:p>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50"/>
                <a:ext cx="4116993" cy="775937"/>
              </a:xfrm>
              <a:blipFill rotWithShape="0">
                <a:blip r:embed="rId2"/>
                <a:stretch>
                  <a:fillRect l="-1333" t="-3906" b="-3906"/>
                </a:stretch>
              </a:blipFill>
            </p:spPr>
            <p:txBody>
              <a:bodyPr/>
              <a:lstStyle/>
              <a:p>
                <a:r>
                  <a:rPr lang="en-US">
                    <a:noFill/>
                  </a:rPr>
                  <a:t> </a:t>
                </a:r>
              </a:p>
            </p:txBody>
          </p:sp>
        </mc:Fallback>
      </mc:AlternateContent>
      <p:grpSp>
        <p:nvGrpSpPr>
          <p:cNvPr id="4" name="Group 3"/>
          <p:cNvGrpSpPr/>
          <p:nvPr/>
        </p:nvGrpSpPr>
        <p:grpSpPr>
          <a:xfrm>
            <a:off x="4825219"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39" name="TextBox 38"/>
              <p:cNvSpPr txBox="1"/>
              <p:nvPr/>
            </p:nvSpPr>
            <p:spPr>
              <a:xfrm>
                <a:off x="1281543" y="1595087"/>
                <a:ext cx="2468304"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𝑝𝑝</m:t>
                      </m:r>
                      <m:d>
                        <m:dPr>
                          <m:ctrlPr>
                            <a:rPr lang="en-US" altLang="zh-CN" b="0" i="1" smtClean="0">
                              <a:latin typeface="Cambria Math" charset="0"/>
                            </a:rPr>
                          </m:ctrlPr>
                        </m:dPr>
                        <m:e>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𝑒</m:t>
                          </m:r>
                          <m:r>
                            <a:rPr lang="en-US" altLang="zh-CN" b="0" i="1" smtClean="0">
                              <a:latin typeface="Cambria Math" charset="0"/>
                            </a:rPr>
                            <m:t>∈</m:t>
                          </m:r>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e>
                      </m:nary>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1281543" y="1595087"/>
                <a:ext cx="2468304" cy="67217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576072" y="2848730"/>
                <a:ext cx="3887539"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charset="0"/>
                            </a:rPr>
                          </m:ctrlPr>
                        </m:funcPr>
                        <m:fName>
                          <m:r>
                            <m:rPr>
                              <m:sty m:val="p"/>
                            </m:rPr>
                            <a:rPr lang="en-US" altLang="zh-CN" b="0" i="0" smtClean="0">
                              <a:latin typeface="Cambria Math" charset="0"/>
                            </a:rPr>
                            <m:t>log</m:t>
                          </m:r>
                        </m:fName>
                        <m:e>
                          <m:d>
                            <m:dPr>
                              <m:ctrlPr>
                                <a:rPr lang="en-US" altLang="zh-CN" b="0" i="1" smtClean="0">
                                  <a:latin typeface="Cambria Math" charset="0"/>
                                </a:rPr>
                              </m:ctrlPr>
                            </m:dPr>
                            <m:e>
                              <m:r>
                                <a:rPr lang="en-US" altLang="zh-CN" b="0" i="1" smtClean="0">
                                  <a:latin typeface="Cambria Math" charset="0"/>
                                </a:rPr>
                                <m:t>𝑝𝑝</m:t>
                              </m:r>
                              <m:d>
                                <m:dPr>
                                  <m:ctrlPr>
                                    <a:rPr lang="en-US" altLang="zh-CN" b="0" i="1" smtClean="0">
                                      <a:latin typeface="Cambria Math" charset="0"/>
                                    </a:rPr>
                                  </m:ctrlPr>
                                </m:dPr>
                                <m:e>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e>
                              </m:d>
                            </m:e>
                          </m:d>
                        </m:e>
                      </m:func>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𝑒</m:t>
                          </m:r>
                          <m:r>
                            <a:rPr lang="en-US" altLang="zh-CN" b="0" i="1" smtClean="0">
                              <a:latin typeface="Cambria Math" charset="0"/>
                            </a:rPr>
                            <m:t>∈</m:t>
                          </m:r>
                          <m:r>
                            <a:rPr lang="en-US" altLang="zh-CN" i="1">
                              <a:latin typeface="Cambria Math" charset="0"/>
                            </a:rPr>
                            <m:t>𝑠</m:t>
                          </m:r>
                          <m:r>
                            <a:rPr lang="en-US" altLang="zh-CN" i="1" dirty="0">
                              <a:latin typeface="Cambria Math" charset="0"/>
                              <a:ea typeface="Cambria Math" charset="0"/>
                              <a:cs typeface="Cambria Math" charset="0"/>
                            </a:rPr>
                            <m:t>↝</m:t>
                          </m:r>
                          <m:r>
                            <a:rPr lang="en-US" altLang="zh-CN" i="1" dirty="0">
                              <a:latin typeface="Cambria Math" charset="0"/>
                              <a:ea typeface="Cambria Math" charset="0"/>
                              <a:cs typeface="Cambria Math" charset="0"/>
                            </a:rPr>
                            <m:t>𝑡</m:t>
                          </m:r>
                        </m:sub>
                        <m:sup/>
                        <m:e>
                          <m:r>
                            <a:rPr lang="en-US" altLang="zh-CN" b="0" i="1" smtClean="0">
                              <a:latin typeface="Cambria Math" charset="0"/>
                            </a:rPr>
                            <m:t>−</m:t>
                          </m:r>
                          <m:func>
                            <m:funcPr>
                              <m:ctrlPr>
                                <a:rPr lang="zh-CN" altLang="en-US" b="0" i="1" smtClean="0">
                                  <a:latin typeface="Cambria Math" charset="0"/>
                                </a:rPr>
                              </m:ctrlPr>
                            </m:funcPr>
                            <m:fName>
                              <m:r>
                                <m:rPr>
                                  <m:sty m:val="p"/>
                                </m:rPr>
                                <a:rPr lang="en-US" altLang="zh-CN" b="0" i="0" smtClean="0">
                                  <a:latin typeface="Cambria Math" charset="0"/>
                                </a:rPr>
                                <m:t>log</m:t>
                              </m:r>
                            </m:fName>
                            <m:e>
                              <m:r>
                                <a:rPr lang="en-US" altLang="zh-CN" b="0" i="1" smtClean="0">
                                  <a:latin typeface="Cambria Math" charset="0"/>
                                </a:rPr>
                                <m:t>(</m:t>
                              </m:r>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e>
                          </m:func>
                        </m:e>
                      </m:nary>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576072" y="2848730"/>
                <a:ext cx="3887539" cy="672172"/>
              </a:xfrm>
              <a:prstGeom prst="rect">
                <a:avLst/>
              </a:prstGeom>
              <a:blipFill rotWithShape="0">
                <a:blip r:embed="rId4"/>
                <a:stretch>
                  <a:fillRect/>
                </a:stretch>
              </a:blipFill>
            </p:spPr>
            <p:txBody>
              <a:bodyPr/>
              <a:lstStyle/>
              <a:p>
                <a:r>
                  <a:rPr lang="en-US">
                    <a:noFill/>
                  </a:rPr>
                  <a:t> </a:t>
                </a:r>
              </a:p>
            </p:txBody>
          </p:sp>
        </mc:Fallback>
      </mc:AlternateContent>
      <p:sp>
        <p:nvSpPr>
          <p:cNvPr id="41" name="Down Arrow 40"/>
          <p:cNvSpPr/>
          <p:nvPr/>
        </p:nvSpPr>
        <p:spPr>
          <a:xfrm>
            <a:off x="2250753" y="2489464"/>
            <a:ext cx="529883" cy="3259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281543" y="3889147"/>
            <a:ext cx="2808381" cy="769441"/>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将问题转换为两点之间</a:t>
            </a:r>
            <a:endParaRPr lang="en-US" altLang="zh-CN" sz="2000" dirty="0">
              <a:solidFill>
                <a:srgbClr val="AE0627"/>
              </a:solidFill>
              <a:latin typeface="Microsoft YaHei" charset="-122"/>
              <a:ea typeface="Microsoft YaHei" charset="-122"/>
              <a:cs typeface="Microsoft YaHei" charset="-122"/>
            </a:endParaRPr>
          </a:p>
          <a:p>
            <a:pPr algn="ctr">
              <a:spcBef>
                <a:spcPct val="20000"/>
              </a:spcBef>
            </a:pPr>
            <a:r>
              <a:rPr lang="zh-CN" altLang="en-US" sz="2000" dirty="0">
                <a:solidFill>
                  <a:srgbClr val="AE0627"/>
                </a:solidFill>
                <a:latin typeface="Microsoft YaHei" charset="-122"/>
                <a:ea typeface="Microsoft YaHei" charset="-122"/>
                <a:cs typeface="Microsoft YaHei" charset="-122"/>
              </a:rPr>
              <a:t>最短路径问题</a:t>
            </a:r>
            <a:endParaRPr lang="en-US" altLang="zh-CN" sz="2000" dirty="0">
              <a:solidFill>
                <a:srgbClr val="AE0627"/>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2142560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2"/>
                                        </p:tgtEl>
                                        <p:attrNameLst>
                                          <p:attrName>style.visibility</p:attrName>
                                        </p:attrNameLst>
                                      </p:cBhvr>
                                      <p:to>
                                        <p:strVal val="visible"/>
                                      </p:to>
                                    </p:set>
                                    <p:anim calcmode="lin" valueType="num">
                                      <p:cBhvr additive="base">
                                        <p:cTn id="14" dur="500" fill="hold"/>
                                        <p:tgtEl>
                                          <p:spTgt spid="42"/>
                                        </p:tgtEl>
                                        <p:attrNameLst>
                                          <p:attrName>ppt_x</p:attrName>
                                        </p:attrNameLst>
                                      </p:cBhvr>
                                      <p:tavLst>
                                        <p:tav tm="0">
                                          <p:val>
                                            <p:strVal val="#ppt_x"/>
                                          </p:val>
                                        </p:tav>
                                        <p:tav tm="100000">
                                          <p:val>
                                            <p:strVal val="#ppt_x"/>
                                          </p:val>
                                        </p:tav>
                                      </p:tavLst>
                                    </p:anim>
                                    <p:anim calcmode="lin" valueType="num">
                                      <p:cBhvr additive="base">
                                        <p:cTn id="15"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animBg="1"/>
      <p:bldP spid="4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如何求出激活概率最大的路径？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50"/>
                <a:ext cx="4265075" cy="775937"/>
              </a:xfrm>
            </p:spPr>
            <p:txBody>
              <a:bodyPr>
                <a:normAutofit/>
              </a:bodyPr>
              <a:lstStyle/>
              <a:p>
                <a:r>
                  <a:rPr lang="zh-CN" altLang="en-US" dirty="0"/>
                  <a:t>给定节点</a:t>
                </a:r>
                <a:r>
                  <a:rPr lang="en-US" altLang="zh-CN" dirty="0"/>
                  <a:t>s</a:t>
                </a:r>
                <a:r>
                  <a:rPr lang="zh-CN" altLang="en-US" dirty="0"/>
                  <a:t>到</a:t>
                </a:r>
                <a:r>
                  <a:rPr lang="en-US" altLang="zh-CN" dirty="0"/>
                  <a:t>t</a:t>
                </a:r>
                <a:r>
                  <a:rPr lang="zh-CN" altLang="en-US" dirty="0"/>
                  <a:t>的路径</a:t>
                </a:r>
                <a14:m>
                  <m:oMath xmlns:m="http://schemas.openxmlformats.org/officeDocument/2006/math">
                    <m:r>
                      <a:rPr lang="en-US" altLang="zh-CN" b="0" i="1" dirty="0" smtClean="0">
                        <a:latin typeface="Cambria Math" charset="0"/>
                      </a:rPr>
                      <m:t>𝑠</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oMath>
                </a14:m>
                <a:r>
                  <a:rPr lang="zh-CN" altLang="en-US" dirty="0"/>
                  <a:t>，将路径的激活概率表示为</a:t>
                </a:r>
                <a:endParaRPr lang="en-US" altLang="zh-CN" dirty="0"/>
              </a:p>
              <a:p>
                <a:endParaRPr lang="en-US" altLang="zh-CN" dirty="0"/>
              </a:p>
              <a:p>
                <a:endParaRPr lang="en-US" altLang="zh-CN" dirty="0"/>
              </a:p>
              <a:p>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50"/>
                <a:ext cx="4265075" cy="775937"/>
              </a:xfrm>
              <a:blipFill rotWithShape="0">
                <a:blip r:embed="rId2"/>
                <a:stretch>
                  <a:fillRect l="-1286" t="-3906" b="-3906"/>
                </a:stretch>
              </a:blipFill>
            </p:spPr>
            <p:txBody>
              <a:bodyPr/>
              <a:lstStyle/>
              <a:p>
                <a:r>
                  <a:rPr lang="en-US">
                    <a:noFill/>
                  </a:rPr>
                  <a:t> </a:t>
                </a:r>
              </a:p>
            </p:txBody>
          </p:sp>
        </mc:Fallback>
      </mc:AlternateContent>
      <p:grpSp>
        <p:nvGrpSpPr>
          <p:cNvPr id="4" name="Group 3"/>
          <p:cNvGrpSpPr/>
          <p:nvPr/>
        </p:nvGrpSpPr>
        <p:grpSpPr>
          <a:xfrm>
            <a:off x="4825219"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39" name="TextBox 38"/>
              <p:cNvSpPr txBox="1"/>
              <p:nvPr/>
            </p:nvSpPr>
            <p:spPr>
              <a:xfrm>
                <a:off x="1281543" y="1595087"/>
                <a:ext cx="2468304"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𝑝𝑝</m:t>
                      </m:r>
                      <m:d>
                        <m:dPr>
                          <m:ctrlPr>
                            <a:rPr lang="en-US" altLang="zh-CN" b="0" i="1" smtClean="0">
                              <a:latin typeface="Cambria Math" charset="0"/>
                            </a:rPr>
                          </m:ctrlPr>
                        </m:dPr>
                        <m:e>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𝑒</m:t>
                          </m:r>
                          <m:r>
                            <a:rPr lang="en-US" altLang="zh-CN" b="0" i="1" smtClean="0">
                              <a:latin typeface="Cambria Math" charset="0"/>
                            </a:rPr>
                            <m:t>∈</m:t>
                          </m:r>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e>
                      </m:nary>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1281543" y="1595087"/>
                <a:ext cx="2468304" cy="672172"/>
              </a:xfrm>
              <a:prstGeom prst="rect">
                <a:avLst/>
              </a:prstGeom>
              <a:blipFill rotWithShape="0">
                <a:blip r:embed="rId3"/>
                <a:stretch>
                  <a:fillRect/>
                </a:stretch>
              </a:blipFill>
            </p:spPr>
            <p:txBody>
              <a:bodyPr/>
              <a:lstStyle/>
              <a:p>
                <a:r>
                  <a:rPr lang="en-US">
                    <a:noFill/>
                  </a:rPr>
                  <a:t> </a:t>
                </a:r>
              </a:p>
            </p:txBody>
          </p:sp>
        </mc:Fallback>
      </mc:AlternateContent>
      <p:sp>
        <p:nvSpPr>
          <p:cNvPr id="43" name="Content Placeholder 2"/>
          <p:cNvSpPr txBox="1">
            <a:spLocks/>
          </p:cNvSpPr>
          <p:nvPr/>
        </p:nvSpPr>
        <p:spPr>
          <a:xfrm>
            <a:off x="457198" y="2557535"/>
            <a:ext cx="4265076" cy="10565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设定一个阈值</a:t>
            </a:r>
            <a:r>
              <a:rPr lang="en-US" altLang="zh-CN" dirty="0">
                <a:latin typeface="Calibri" charset="0"/>
                <a:ea typeface="Calibri" charset="0"/>
                <a:cs typeface="Calibri" charset="0"/>
              </a:rPr>
              <a:t>Threshold</a:t>
            </a:r>
            <a:r>
              <a:rPr lang="zh-CN" altLang="en-US" dirty="0"/>
              <a:t>，如果路径的激活概率小于阈值，则忽略</a:t>
            </a:r>
            <a:endParaRPr lang="en-US" altLang="zh-CN" dirty="0"/>
          </a:p>
          <a:p>
            <a:pPr lvl="1"/>
            <a:r>
              <a:rPr lang="zh-CN" altLang="en-US" dirty="0"/>
              <a:t>例：</a:t>
            </a:r>
            <a:r>
              <a:rPr lang="en-US" altLang="zh-CN" dirty="0"/>
              <a:t>0.2</a:t>
            </a:r>
          </a:p>
          <a:p>
            <a:endParaRPr lang="en-US" altLang="zh-CN" dirty="0"/>
          </a:p>
        </p:txBody>
      </p:sp>
      <p:sp>
        <p:nvSpPr>
          <p:cNvPr id="44" name="Rectangle 43"/>
          <p:cNvSpPr/>
          <p:nvPr/>
        </p:nvSpPr>
        <p:spPr>
          <a:xfrm>
            <a:off x="457198" y="4133489"/>
            <a:ext cx="5025735" cy="400110"/>
          </a:xfrm>
          <a:prstGeom prst="rect">
            <a:avLst/>
          </a:prstGeom>
        </p:spPr>
        <p:txBody>
          <a:bodyPr wrap="none">
            <a:spAutoFit/>
          </a:bodyPr>
          <a:lstStyle/>
          <a:p>
            <a:pPr marL="342900" indent="-342900">
              <a:spcBef>
                <a:spcPct val="20000"/>
              </a:spcBef>
              <a:buFont typeface="Arial" pitchFamily="34" charset="0"/>
              <a:buChar char="•"/>
            </a:pPr>
            <a:r>
              <a:rPr lang="zh-CN" altLang="en-US" sz="2000" dirty="0">
                <a:latin typeface="微软雅黑" panose="020B0503020204020204" pitchFamily="34" charset="-122"/>
                <a:ea typeface="微软雅黑" panose="020B0503020204020204" pitchFamily="34" charset="-122"/>
              </a:rPr>
              <a:t>练习：求任意节点</a:t>
            </a:r>
            <a:r>
              <a:rPr lang="en-US" altLang="zh-CN" sz="2000" dirty="0">
                <a:latin typeface="微软雅黑" panose="020B0503020204020204" pitchFamily="34" charset="-122"/>
                <a:ea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rPr>
              <a:t>激活其它节点的路径</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357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如何求出激活概率最大的路径？</a:t>
            </a:r>
            <a:endParaRPr lang="en-US" dirty="0"/>
          </a:p>
        </p:txBody>
      </p:sp>
      <p:grpSp>
        <p:nvGrpSpPr>
          <p:cNvPr id="4" name="Group 3"/>
          <p:cNvGrpSpPr/>
          <p:nvPr/>
        </p:nvGrpSpPr>
        <p:grpSpPr>
          <a:xfrm>
            <a:off x="457200" y="1083208"/>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grpSp>
        <p:nvGrpSpPr>
          <p:cNvPr id="80" name="Group 79"/>
          <p:cNvGrpSpPr/>
          <p:nvPr/>
        </p:nvGrpSpPr>
        <p:grpSpPr>
          <a:xfrm>
            <a:off x="4753067" y="1083208"/>
            <a:ext cx="4114800" cy="3228387"/>
            <a:chOff x="961274" y="1581124"/>
            <a:chExt cx="3994183" cy="3221023"/>
          </a:xfrm>
        </p:grpSpPr>
        <p:grpSp>
          <p:nvGrpSpPr>
            <p:cNvPr id="81" name="Group 80"/>
            <p:cNvGrpSpPr/>
            <p:nvPr/>
          </p:nvGrpSpPr>
          <p:grpSpPr>
            <a:xfrm>
              <a:off x="1346695" y="1581124"/>
              <a:ext cx="3608762" cy="3221023"/>
              <a:chOff x="3405180" y="3720708"/>
              <a:chExt cx="3608762" cy="3221023"/>
            </a:xfrm>
          </p:grpSpPr>
          <p:sp>
            <p:nvSpPr>
              <p:cNvPr id="94" name="Oval 9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95" name="Oval 94"/>
              <p:cNvSpPr/>
              <p:nvPr/>
            </p:nvSpPr>
            <p:spPr>
              <a:xfrm>
                <a:off x="4490400" y="4673057"/>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1</a:t>
                </a:r>
              </a:p>
            </p:txBody>
          </p:sp>
          <p:sp>
            <p:nvSpPr>
              <p:cNvPr id="96" name="Oval 9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97" name="Oval 9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98" name="Oval 97"/>
              <p:cNvSpPr/>
              <p:nvPr/>
            </p:nvSpPr>
            <p:spPr>
              <a:xfrm>
                <a:off x="3405180" y="5625401"/>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5</a:t>
                </a:r>
              </a:p>
            </p:txBody>
          </p:sp>
          <p:sp>
            <p:nvSpPr>
              <p:cNvPr id="99" name="Oval 98"/>
              <p:cNvSpPr/>
              <p:nvPr/>
            </p:nvSpPr>
            <p:spPr>
              <a:xfrm>
                <a:off x="5562090"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7</a:t>
                </a:r>
              </a:p>
            </p:txBody>
          </p:sp>
          <p:sp>
            <p:nvSpPr>
              <p:cNvPr id="100" name="Oval 99"/>
              <p:cNvSpPr/>
              <p:nvPr/>
            </p:nvSpPr>
            <p:spPr>
              <a:xfrm>
                <a:off x="6632105"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8</a:t>
                </a:r>
              </a:p>
            </p:txBody>
          </p:sp>
          <p:sp>
            <p:nvSpPr>
              <p:cNvPr id="101" name="Oval 100"/>
              <p:cNvSpPr/>
              <p:nvPr/>
            </p:nvSpPr>
            <p:spPr>
              <a:xfrm>
                <a:off x="4490401" y="372070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9</a:t>
                </a:r>
              </a:p>
            </p:txBody>
          </p:sp>
          <p:sp>
            <p:nvSpPr>
              <p:cNvPr id="102" name="Oval 101"/>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103" name="Straight Arrow Connector 102"/>
              <p:cNvCxnSpPr>
                <a:stCxn id="97" idx="2"/>
                <a:endCxn id="9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4" name="Straight Arrow Connector 103"/>
              <p:cNvCxnSpPr>
                <a:stCxn id="97" idx="1"/>
                <a:endCxn id="10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04" idx="4"/>
                <a:endCxn id="97" idx="0"/>
              </p:cNvCxnSpPr>
              <p:nvPr/>
            </p:nvCxnSpPr>
            <p:spPr>
              <a:xfrm flipH="1">
                <a:off x="4681319" y="4102546"/>
                <a:ext cx="1"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6" name="Straight Arrow Connector 105"/>
              <p:cNvCxnSpPr>
                <a:stCxn id="96" idx="0"/>
                <a:endCxn id="105" idx="4"/>
              </p:cNvCxnSpPr>
              <p:nvPr/>
            </p:nvCxnSpPr>
            <p:spPr>
              <a:xfrm flipH="1" flipV="1">
                <a:off x="3596099" y="4102545"/>
                <a:ext cx="1" cy="57441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7" name="Straight Arrow Connector 106"/>
              <p:cNvCxnSpPr>
                <a:stCxn id="96" idx="4"/>
                <a:endCxn id="10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98" idx="0"/>
                <a:endCxn id="97" idx="4"/>
              </p:cNvCxnSpPr>
              <p:nvPr/>
            </p:nvCxnSpPr>
            <p:spPr>
              <a:xfrm flipH="1" flipV="1">
                <a:off x="4681319" y="5054894"/>
                <a:ext cx="1675"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9" name="Straight Arrow Connector 108"/>
              <p:cNvCxnSpPr>
                <a:stCxn id="99" idx="1"/>
                <a:endCxn id="9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101" idx="4"/>
                <a:endCxn id="99"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1" name="Straight Arrow Connector 110"/>
              <p:cNvCxnSpPr>
                <a:stCxn id="98" idx="6"/>
                <a:endCxn id="101"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2" name="Straight Arrow Connector 111"/>
              <p:cNvCxnSpPr>
                <a:stCxn id="101" idx="6"/>
                <a:endCxn id="102"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3" name="Straight Arrow Connector 112"/>
              <p:cNvCxnSpPr>
                <a:stCxn id="96" idx="5"/>
                <a:endCxn id="98"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4" name="Straight Arrow Connector 113"/>
              <p:cNvCxnSpPr>
                <a:stCxn id="100" idx="6"/>
                <a:endCxn id="98" idx="2"/>
              </p:cNvCxnSpPr>
              <p:nvPr/>
            </p:nvCxnSpPr>
            <p:spPr>
              <a:xfrm>
                <a:off x="3787017" y="5816320"/>
                <a:ext cx="705058" cy="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pSp>
        <p:sp>
          <p:nvSpPr>
            <p:cNvPr id="82" name="TextBox 81"/>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83" name="TextBox 82"/>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4" name="TextBox 83"/>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85" name="TextBox 84"/>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86" name="TextBox 8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87" name="TextBox 8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88" name="TextBox 8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89" name="TextBox 8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90" name="TextBox 8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91" name="TextBox 9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92" name="TextBox 9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93" name="TextBox 9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115" name="Rectangle 114"/>
          <p:cNvSpPr/>
          <p:nvPr/>
        </p:nvSpPr>
        <p:spPr>
          <a:xfrm>
            <a:off x="1780278" y="4422823"/>
            <a:ext cx="5127377" cy="400110"/>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数据结构：以节点为中心的树结构</a:t>
            </a:r>
            <a:endParaRPr lang="en-US" altLang="zh-CN" sz="2000" dirty="0">
              <a:solidFill>
                <a:srgbClr val="AE0627"/>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7961541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 calcmode="lin" valueType="num">
                                      <p:cBhvr additive="base">
                                        <p:cTn id="7" dur="500" fill="hold"/>
                                        <p:tgtEl>
                                          <p:spTgt spid="115"/>
                                        </p:tgtEl>
                                        <p:attrNameLst>
                                          <p:attrName>ppt_x</p:attrName>
                                        </p:attrNameLst>
                                      </p:cBhvr>
                                      <p:tavLst>
                                        <p:tav tm="0">
                                          <p:val>
                                            <p:strVal val="#ppt_x"/>
                                          </p:val>
                                        </p:tav>
                                        <p:tav tm="100000">
                                          <p:val>
                                            <p:strVal val="#ppt_x"/>
                                          </p:val>
                                        </p:tav>
                                      </p:tavLst>
                                    </p:anim>
                                    <p:anim calcmode="lin" valueType="num">
                                      <p:cBhvr additive="base">
                                        <p:cTn id="8"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145" name="Content Placeholder 2"/>
              <p:cNvSpPr txBox="1">
                <a:spLocks/>
              </p:cNvSpPr>
              <p:nvPr/>
            </p:nvSpPr>
            <p:spPr>
              <a:xfrm>
                <a:off x="4572000" y="1050396"/>
                <a:ext cx="4265076" cy="8065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假设种子集合</a:t>
                </a:r>
                <a14:m>
                  <m:oMath xmlns:m="http://schemas.openxmlformats.org/officeDocument/2006/math">
                    <m:r>
                      <a:rPr lang="en-US" altLang="zh-CN" i="1" dirty="0" smtClean="0">
                        <a:latin typeface="Cambria Math" charset="0"/>
                      </a:rPr>
                      <m:t>𝑆</m:t>
                    </m:r>
                    <m:r>
                      <a:rPr lang="en-US" altLang="zh-CN" i="1" dirty="0" smtClean="0">
                        <a:latin typeface="Cambria Math" charset="0"/>
                      </a:rPr>
                      <m:t>={3,4,8}</m:t>
                    </m:r>
                  </m:oMath>
                </a14:m>
                <a:r>
                  <a:rPr lang="zh-CN" altLang="en-US" dirty="0"/>
                  <a:t>，计算节点</a:t>
                </a:r>
                <a:r>
                  <a:rPr lang="en-US" altLang="zh-CN" dirty="0"/>
                  <a:t>2</a:t>
                </a:r>
                <a:r>
                  <a:rPr lang="zh-CN" altLang="en-US" dirty="0"/>
                  <a:t>和节点</a:t>
                </a:r>
                <a:r>
                  <a:rPr lang="en-US" altLang="zh-CN" dirty="0"/>
                  <a:t>6</a:t>
                </a:r>
                <a:r>
                  <a:rPr lang="zh-CN" altLang="en-US" dirty="0"/>
                  <a:t>激活的概率</a:t>
                </a:r>
                <a:endParaRPr lang="en-US" altLang="zh-CN" dirty="0"/>
              </a:p>
            </p:txBody>
          </p:sp>
        </mc:Choice>
        <mc:Fallback xmlns="">
          <p:sp>
            <p:nvSpPr>
              <p:cNvPr id="145" name="Content Placeholder 2"/>
              <p:cNvSpPr txBox="1">
                <a:spLocks noRot="1" noChangeAspect="1" noMove="1" noResize="1" noEditPoints="1" noAdjustHandles="1" noChangeArrowheads="1" noChangeShapeType="1" noTextEdit="1"/>
              </p:cNvSpPr>
              <p:nvPr/>
            </p:nvSpPr>
            <p:spPr>
              <a:xfrm>
                <a:off x="4572000" y="1050396"/>
                <a:ext cx="4265076" cy="806540"/>
              </a:xfrm>
              <a:prstGeom prst="rect">
                <a:avLst/>
              </a:prstGeom>
              <a:blipFill rotWithShape="0">
                <a:blip r:embed="rId2"/>
                <a:stretch>
                  <a:fillRect l="-1286" t="-3759" r="-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Content Placeholder 2"/>
              <p:cNvSpPr txBox="1">
                <a:spLocks/>
              </p:cNvSpPr>
              <p:nvPr/>
            </p:nvSpPr>
            <p:spPr>
              <a:xfrm>
                <a:off x="4572000" y="2105722"/>
                <a:ext cx="4265076" cy="10832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节点</a:t>
                </a:r>
                <a:r>
                  <a:rPr lang="en-US" altLang="zh-CN" dirty="0"/>
                  <a:t>2</a:t>
                </a:r>
              </a:p>
              <a:p>
                <a:pPr lvl="1"/>
                <a14:m>
                  <m:oMath xmlns:m="http://schemas.openxmlformats.org/officeDocument/2006/math">
                    <m:r>
                      <a:rPr lang="en-US" altLang="zh-CN" b="0" i="1" smtClean="0">
                        <a:latin typeface="Cambria Math" charset="0"/>
                      </a:rPr>
                      <m:t>1−</m:t>
                    </m:r>
                    <m:d>
                      <m:dPr>
                        <m:ctrlPr>
                          <a:rPr lang="en-US" altLang="zh-CN" b="0" i="1" smtClean="0">
                            <a:latin typeface="Cambria Math" charset="0"/>
                          </a:rPr>
                        </m:ctrlPr>
                      </m:dPr>
                      <m:e>
                        <m:r>
                          <a:rPr lang="en-US" altLang="zh-CN" b="0" i="1" smtClean="0">
                            <a:latin typeface="Cambria Math" charset="0"/>
                          </a:rPr>
                          <m:t>1−0.3</m:t>
                        </m:r>
                      </m:e>
                    </m:d>
                    <m:r>
                      <a:rPr lang="en-US" altLang="zh-CN" b="0" i="1" smtClean="0">
                        <a:latin typeface="Cambria Math" charset="0"/>
                      </a:rPr>
                      <m:t>⋅</m:t>
                    </m:r>
                    <m:d>
                      <m:dPr>
                        <m:ctrlPr>
                          <a:rPr lang="en-US" altLang="zh-CN" b="0" i="1" smtClean="0">
                            <a:latin typeface="Cambria Math" charset="0"/>
                          </a:rPr>
                        </m:ctrlPr>
                      </m:dPr>
                      <m:e>
                        <m:r>
                          <a:rPr lang="en-US" altLang="zh-CN" b="0" i="1" smtClean="0">
                            <a:latin typeface="Cambria Math" charset="0"/>
                          </a:rPr>
                          <m:t>1−0.9</m:t>
                        </m:r>
                      </m:e>
                    </m:d>
                    <m:r>
                      <a:rPr lang="en-US" altLang="zh-CN" b="0" i="1" smtClean="0">
                        <a:latin typeface="Cambria Math" charset="0"/>
                      </a:rPr>
                      <m:t>=0.93</m:t>
                    </m:r>
                  </m:oMath>
                </a14:m>
                <a:endParaRPr lang="en-US" altLang="zh-CN" dirty="0"/>
              </a:p>
              <a:p>
                <a:pPr lvl="1"/>
                <a:r>
                  <a:rPr lang="zh-CN" altLang="en-US" dirty="0"/>
                  <a:t>为什么不考虑</a:t>
                </a:r>
                <a:r>
                  <a:rPr lang="en-US" altLang="zh-CN" dirty="0"/>
                  <a:t>8</a:t>
                </a:r>
                <a:r>
                  <a:rPr lang="zh-CN" altLang="en-US" dirty="0"/>
                  <a:t>的影响？</a:t>
                </a:r>
                <a:endParaRPr lang="en-US" altLang="zh-CN" dirty="0"/>
              </a:p>
            </p:txBody>
          </p:sp>
        </mc:Choice>
        <mc:Fallback xmlns="">
          <p:sp>
            <p:nvSpPr>
              <p:cNvPr id="146" name="Content Placeholder 2"/>
              <p:cNvSpPr txBox="1">
                <a:spLocks noRot="1" noChangeAspect="1" noMove="1" noResize="1" noEditPoints="1" noAdjustHandles="1" noChangeArrowheads="1" noChangeShapeType="1" noTextEdit="1"/>
              </p:cNvSpPr>
              <p:nvPr/>
            </p:nvSpPr>
            <p:spPr>
              <a:xfrm>
                <a:off x="4572000" y="2105722"/>
                <a:ext cx="4265076" cy="1083263"/>
              </a:xfrm>
              <a:prstGeom prst="rect">
                <a:avLst/>
              </a:prstGeom>
              <a:blipFill rotWithShape="0">
                <a:blip r:embed="rId3"/>
                <a:stretch>
                  <a:fillRect l="-1286" t="-2809" b="-6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Content Placeholder 2"/>
              <p:cNvSpPr txBox="1">
                <a:spLocks/>
              </p:cNvSpPr>
              <p:nvPr/>
            </p:nvSpPr>
            <p:spPr>
              <a:xfrm>
                <a:off x="4572000" y="3312740"/>
                <a:ext cx="4265076" cy="118037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节点</a:t>
                </a:r>
                <a:r>
                  <a:rPr lang="en-US" altLang="zh-CN" dirty="0"/>
                  <a:t>6</a:t>
                </a:r>
              </a:p>
              <a:p>
                <a:pPr lvl="1"/>
                <a14:m>
                  <m:oMath xmlns:m="http://schemas.openxmlformats.org/officeDocument/2006/math">
                    <m:d>
                      <m:dPr>
                        <m:ctrlPr>
                          <a:rPr lang="en-US" altLang="zh-CN" b="0" i="1" smtClean="0">
                            <a:latin typeface="Cambria Math" charset="0"/>
                          </a:rPr>
                        </m:ctrlPr>
                      </m:dPr>
                      <m:e>
                        <m:r>
                          <a:rPr lang="en-US" altLang="zh-CN" b="0" i="1" smtClean="0">
                            <a:latin typeface="Cambria Math" charset="0"/>
                          </a:rPr>
                          <m:t>1−</m:t>
                        </m:r>
                        <m:d>
                          <m:dPr>
                            <m:ctrlPr>
                              <a:rPr lang="en-US" altLang="zh-CN" b="0" i="1" smtClean="0">
                                <a:latin typeface="Cambria Math" charset="0"/>
                              </a:rPr>
                            </m:ctrlPr>
                          </m:dPr>
                          <m:e>
                            <m:r>
                              <a:rPr lang="en-US" altLang="zh-CN" b="0" i="1" smtClean="0">
                                <a:latin typeface="Cambria Math" charset="0"/>
                              </a:rPr>
                              <m:t>1−0.8</m:t>
                            </m:r>
                          </m:e>
                        </m:d>
                        <m:r>
                          <a:rPr lang="en-US" altLang="zh-CN" b="0" i="1" smtClean="0">
                            <a:latin typeface="Cambria Math" charset="0"/>
                          </a:rPr>
                          <m:t>⋅</m:t>
                        </m:r>
                        <m:d>
                          <m:dPr>
                            <m:ctrlPr>
                              <a:rPr lang="en-US" altLang="zh-CN" b="0" i="1" smtClean="0">
                                <a:latin typeface="Cambria Math" charset="0"/>
                              </a:rPr>
                            </m:ctrlPr>
                          </m:dPr>
                          <m:e>
                            <m:r>
                              <a:rPr lang="en-US" altLang="zh-CN" b="0" i="1" smtClean="0">
                                <a:latin typeface="Cambria Math" charset="0"/>
                              </a:rPr>
                              <m:t>1−0.7</m:t>
                            </m:r>
                          </m:e>
                        </m:d>
                      </m:e>
                    </m:d>
                    <m:r>
                      <a:rPr lang="en-US" altLang="zh-CN" b="0" i="1" smtClean="0">
                        <a:latin typeface="Cambria Math" charset="0"/>
                      </a:rPr>
                      <m:t>⋅0.8</m:t>
                    </m:r>
                  </m:oMath>
                </a14:m>
                <a:endParaRPr lang="en-US" altLang="zh-CN" dirty="0"/>
              </a:p>
              <a:p>
                <a:pPr lvl="1"/>
                <a14:m>
                  <m:oMath xmlns:m="http://schemas.openxmlformats.org/officeDocument/2006/math">
                    <m:r>
                      <a:rPr lang="en-US" altLang="zh-CN" i="1" dirty="0" smtClean="0">
                        <a:latin typeface="Cambria Math" charset="0"/>
                      </a:rPr>
                      <m:t>0.752</m:t>
                    </m:r>
                  </m:oMath>
                </a14:m>
                <a:endParaRPr lang="en-US" altLang="zh-CN" dirty="0"/>
              </a:p>
              <a:p>
                <a:pPr lvl="1"/>
                <a:endParaRPr lang="en-US" altLang="zh-CN" dirty="0"/>
              </a:p>
            </p:txBody>
          </p:sp>
        </mc:Choice>
        <mc:Fallback xmlns="">
          <p:sp>
            <p:nvSpPr>
              <p:cNvPr id="147" name="Content Placeholder 2"/>
              <p:cNvSpPr txBox="1">
                <a:spLocks noRot="1" noChangeAspect="1" noMove="1" noResize="1" noEditPoints="1" noAdjustHandles="1" noChangeArrowheads="1" noChangeShapeType="1" noTextEdit="1"/>
              </p:cNvSpPr>
              <p:nvPr/>
            </p:nvSpPr>
            <p:spPr>
              <a:xfrm>
                <a:off x="4572000" y="3312740"/>
                <a:ext cx="4265076" cy="1180379"/>
              </a:xfrm>
              <a:prstGeom prst="rect">
                <a:avLst/>
              </a:prstGeom>
              <a:blipFill rotWithShape="0">
                <a:blip r:embed="rId4"/>
                <a:stretch>
                  <a:fillRect l="-1286" t="-2577"/>
                </a:stretch>
              </a:blipFill>
            </p:spPr>
            <p:txBody>
              <a:bodyPr/>
              <a:lstStyle/>
              <a:p>
                <a:r>
                  <a:rPr lang="en-US">
                    <a:noFill/>
                  </a:rPr>
                  <a:t> </a:t>
                </a:r>
              </a:p>
            </p:txBody>
          </p:sp>
        </mc:Fallback>
      </mc:AlternateContent>
      <p:sp>
        <p:nvSpPr>
          <p:cNvPr id="3" name="Rectangle 2"/>
          <p:cNvSpPr/>
          <p:nvPr/>
        </p:nvSpPr>
        <p:spPr>
          <a:xfrm>
            <a:off x="6704538" y="4216764"/>
            <a:ext cx="1467068" cy="400110"/>
          </a:xfrm>
          <a:prstGeom prst="rect">
            <a:avLst/>
          </a:prstGeom>
        </p:spPr>
        <p:txBody>
          <a:bodyPr wrap="none">
            <a:spAutoFit/>
          </a:bodyPr>
          <a:lstStyle/>
          <a:p>
            <a:r>
              <a:rPr lang="zh-CN" altLang="en-US" sz="2000">
                <a:solidFill>
                  <a:srgbClr val="AE0627"/>
                </a:solidFill>
                <a:latin typeface="Microsoft YaHei" charset="-122"/>
                <a:ea typeface="Microsoft YaHei" charset="-122"/>
                <a:cs typeface="Microsoft YaHei" charset="-122"/>
              </a:rPr>
              <a:t>递归计算！</a:t>
            </a:r>
            <a:endParaRPr lang="en-US" sz="2000" dirty="0"/>
          </a:p>
        </p:txBody>
      </p:sp>
    </p:spTree>
    <p:extLst>
      <p:ext uri="{BB962C8B-B14F-4D97-AF65-F5344CB8AC3E}">
        <p14:creationId xmlns:p14="http://schemas.microsoft.com/office/powerpoint/2010/main" val="2139577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p:bldP spid="147" grpId="0"/>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145" name="Content Placeholder 2"/>
              <p:cNvSpPr txBox="1">
                <a:spLocks/>
              </p:cNvSpPr>
              <p:nvPr/>
            </p:nvSpPr>
            <p:spPr>
              <a:xfrm>
                <a:off x="4572000" y="797176"/>
                <a:ext cx="4265076" cy="11561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假设种子集合</a:t>
                </a:r>
                <a14:m>
                  <m:oMath xmlns:m="http://schemas.openxmlformats.org/officeDocument/2006/math">
                    <m:r>
                      <a:rPr lang="en-US" altLang="zh-CN" i="1" dirty="0" smtClean="0">
                        <a:latin typeface="Cambria Math" charset="0"/>
                      </a:rPr>
                      <m:t>𝑆</m:t>
                    </m:r>
                  </m:oMath>
                </a14:m>
                <a:r>
                  <a:rPr lang="zh-CN" altLang="en-US" dirty="0"/>
                  <a:t>，</a:t>
                </a:r>
                <a14:m>
                  <m:oMath xmlns:m="http://schemas.openxmlformats.org/officeDocument/2006/math">
                    <m:r>
                      <a:rPr lang="en-US" altLang="zh-CN" b="0" i="1" dirty="0" smtClean="0">
                        <a:latin typeface="Cambria Math" charset="0"/>
                      </a:rPr>
                      <m:t>𝜎</m:t>
                    </m:r>
                    <m:r>
                      <a:rPr lang="en-US" altLang="zh-CN" b="0" i="1" dirty="0" smtClean="0">
                        <a:latin typeface="Cambria Math" charset="0"/>
                      </a:rPr>
                      <m:t>(</m:t>
                    </m:r>
                    <m:r>
                      <a:rPr lang="en-US" altLang="zh-CN" b="0" i="1" dirty="0" smtClean="0">
                        <a:latin typeface="Cambria Math" charset="0"/>
                      </a:rPr>
                      <m:t>𝑆</m:t>
                    </m:r>
                    <m:r>
                      <a:rPr lang="en-US" altLang="zh-CN" b="0" i="1" dirty="0" smtClean="0">
                        <a:latin typeface="Cambria Math" charset="0"/>
                      </a:rPr>
                      <m:t>)</m:t>
                    </m:r>
                  </m:oMath>
                </a14:m>
                <a:r>
                  <a:rPr lang="zh-CN" altLang="en-US" dirty="0"/>
                  <a:t>为图中所有节点激活概率之和</a:t>
                </a:r>
                <a:endParaRPr lang="en-US" altLang="zh-CN" dirty="0"/>
              </a:p>
            </p:txBody>
          </p:sp>
        </mc:Choice>
        <mc:Fallback xmlns="">
          <p:sp>
            <p:nvSpPr>
              <p:cNvPr id="145" name="Content Placeholder 2"/>
              <p:cNvSpPr txBox="1">
                <a:spLocks noRot="1" noChangeAspect="1" noMove="1" noResize="1" noEditPoints="1" noAdjustHandles="1" noChangeArrowheads="1" noChangeShapeType="1" noTextEdit="1"/>
              </p:cNvSpPr>
              <p:nvPr/>
            </p:nvSpPr>
            <p:spPr>
              <a:xfrm>
                <a:off x="4572000" y="797176"/>
                <a:ext cx="4265076" cy="1156155"/>
              </a:xfrm>
              <a:prstGeom prst="rect">
                <a:avLst/>
              </a:prstGeom>
              <a:blipFill rotWithShape="0">
                <a:blip r:embed="rId3"/>
                <a:stretch>
                  <a:fillRect l="-1286" t="-3175" r="-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493309" y="1584492"/>
                <a:ext cx="2211246" cy="6723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r>
                            <a:rPr lang="en-US" altLang="zh-CN" b="0" i="1" smtClean="0">
                              <a:latin typeface="Cambria Math" charset="0"/>
                            </a:rPr>
                            <m:t>𝑆</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𝑣</m:t>
                          </m:r>
                          <m:r>
                            <a:rPr lang="en-US" altLang="zh-CN" b="0" i="1" smtClean="0">
                              <a:latin typeface="Cambria Math" charset="0"/>
                            </a:rPr>
                            <m:t>∈</m:t>
                          </m:r>
                          <m:r>
                            <a:rPr lang="en-US" altLang="zh-CN" b="0" i="1" smtClean="0">
                              <a:latin typeface="Cambria Math" charset="0"/>
                            </a:rPr>
                            <m:t>𝑉</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𝑣</m:t>
                          </m:r>
                          <m:r>
                            <a:rPr lang="en-US" altLang="zh-CN" b="0" i="1" smtClean="0">
                              <a:latin typeface="Cambria Math" charset="0"/>
                            </a:rPr>
                            <m:t>)</m:t>
                          </m:r>
                        </m:e>
                      </m:nary>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493309" y="1584492"/>
                <a:ext cx="2211246" cy="672300"/>
              </a:xfrm>
              <a:prstGeom prst="rect">
                <a:avLst/>
              </a:prstGeom>
              <a:blipFill rotWithShape="0">
                <a:blip r:embed="rId4"/>
                <a:stretch>
                  <a:fillRect b="-909"/>
                </a:stretch>
              </a:blipFill>
            </p:spPr>
            <p:txBody>
              <a:bodyPr/>
              <a:lstStyle/>
              <a:p>
                <a:r>
                  <a:rPr lang="en-US">
                    <a:noFill/>
                  </a:rPr>
                  <a:t> </a:t>
                </a:r>
              </a:p>
            </p:txBody>
          </p:sp>
        </mc:Fallback>
      </mc:AlternateContent>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a:p>
        </p:txBody>
      </p:sp>
      <mc:AlternateContent xmlns:mc="http://schemas.openxmlformats.org/markup-compatibility/2006" xmlns:a14="http://schemas.microsoft.com/office/drawing/2010/main">
        <mc:Choice Requires="a14">
          <p:sp>
            <p:nvSpPr>
              <p:cNvPr id="42" name="Content Placeholder 2"/>
              <p:cNvSpPr txBox="1">
                <a:spLocks/>
              </p:cNvSpPr>
              <p:nvPr/>
            </p:nvSpPr>
            <p:spPr>
              <a:xfrm>
                <a:off x="4572000" y="2847742"/>
                <a:ext cx="4265076" cy="11561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u="sng" dirty="0"/>
                  <a:t>课堂练习</a:t>
                </a:r>
                <a:endParaRPr lang="en-US" altLang="zh-CN" u="sng" dirty="0"/>
              </a:p>
              <a:p>
                <a:pPr lvl="1"/>
                <a:r>
                  <a:rPr lang="zh-CN" altLang="en-US" dirty="0"/>
                  <a:t>计算图上每个节点对应的</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endParaRPr lang="en-US" altLang="zh-CN" dirty="0"/>
              </a:p>
            </p:txBody>
          </p:sp>
        </mc:Choice>
        <mc:Fallback xmlns="">
          <p:sp>
            <p:nvSpPr>
              <p:cNvPr id="42" name="Content Placeholder 2"/>
              <p:cNvSpPr txBox="1">
                <a:spLocks noRot="1" noChangeAspect="1" noMove="1" noResize="1" noEditPoints="1" noAdjustHandles="1" noChangeArrowheads="1" noChangeShapeType="1" noTextEdit="1"/>
              </p:cNvSpPr>
              <p:nvPr/>
            </p:nvSpPr>
            <p:spPr>
              <a:xfrm>
                <a:off x="4572000" y="2847742"/>
                <a:ext cx="4265076" cy="1156155"/>
              </a:xfrm>
              <a:prstGeom prst="rect">
                <a:avLst/>
              </a:prstGeom>
              <a:blipFill rotWithShape="0">
                <a:blip r:embed="rId5"/>
                <a:stretch>
                  <a:fillRect l="-1286" t="-2632"/>
                </a:stretch>
              </a:blipFill>
            </p:spPr>
            <p:txBody>
              <a:bodyPr/>
              <a:lstStyle/>
              <a:p>
                <a:r>
                  <a:rPr lang="en-US">
                    <a:noFill/>
                  </a:rPr>
                  <a:t> </a:t>
                </a:r>
              </a:p>
            </p:txBody>
          </p:sp>
        </mc:Fallback>
      </mc:AlternateContent>
    </p:spTree>
    <p:extLst>
      <p:ext uri="{BB962C8B-B14F-4D97-AF65-F5344CB8AC3E}">
        <p14:creationId xmlns:p14="http://schemas.microsoft.com/office/powerpoint/2010/main" val="263659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a:p>
        </p:txBody>
      </p:sp>
      <mc:AlternateContent xmlns:mc="http://schemas.openxmlformats.org/markup-compatibility/2006" xmlns:a14="http://schemas.microsoft.com/office/drawing/2010/main">
        <mc:Choice Requires="a14">
          <p:sp>
            <p:nvSpPr>
              <p:cNvPr id="44" name="TextBox 43"/>
              <p:cNvSpPr txBox="1"/>
              <p:nvPr/>
            </p:nvSpPr>
            <p:spPr>
              <a:xfrm>
                <a:off x="5025569" y="1357735"/>
                <a:ext cx="156414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2</m:t>
                    </m:r>
                    <m:r>
                      <a:rPr lang="en-US" altLang="zh-CN" i="1">
                        <a:latin typeface="Cambria Math" charset="0"/>
                      </a:rPr>
                      <m:t>)</m:t>
                    </m:r>
                  </m:oMath>
                </a14:m>
                <a:r>
                  <a:rPr lang="en-US" altLang="zh-CN" dirty="0"/>
                  <a:t>=0.81</a:t>
                </a:r>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5025569" y="1357735"/>
                <a:ext cx="1564146" cy="276999"/>
              </a:xfrm>
              <a:prstGeom prst="rect">
                <a:avLst/>
              </a:prstGeom>
              <a:blipFill rotWithShape="0">
                <a:blip r:embed="rId3"/>
                <a:stretch>
                  <a:fillRect l="-5058" t="-28889" r="-8560"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031348" y="1749847"/>
                <a:ext cx="1447127"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3</m:t>
                    </m:r>
                    <m:r>
                      <a:rPr lang="en-US" altLang="zh-CN" i="1">
                        <a:latin typeface="Cambria Math" charset="0"/>
                      </a:rPr>
                      <m:t>)</m:t>
                    </m:r>
                  </m:oMath>
                </a14:m>
                <a:r>
                  <a:rPr lang="en-US" altLang="zh-CN" dirty="0"/>
                  <a:t>=0.9</a:t>
                </a:r>
                <a:endParaRPr lang="en-US" dirty="0"/>
              </a:p>
            </p:txBody>
          </p:sp>
        </mc:Choice>
        <mc:Fallback xmlns="">
          <p:sp>
            <p:nvSpPr>
              <p:cNvPr id="45" name="TextBox 44"/>
              <p:cNvSpPr txBox="1">
                <a:spLocks noRot="1" noChangeAspect="1" noMove="1" noResize="1" noEditPoints="1" noAdjustHandles="1" noChangeArrowheads="1" noChangeShapeType="1" noTextEdit="1"/>
              </p:cNvSpPr>
              <p:nvPr/>
            </p:nvSpPr>
            <p:spPr>
              <a:xfrm>
                <a:off x="5031348" y="1749847"/>
                <a:ext cx="1447127" cy="276999"/>
              </a:xfrm>
              <a:prstGeom prst="rect">
                <a:avLst/>
              </a:prstGeom>
              <a:blipFill rotWithShape="0">
                <a:blip r:embed="rId4"/>
                <a:stretch>
                  <a:fillRect l="-5462" t="-28889" r="-9244"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5033885" y="2138028"/>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4</m:t>
                    </m:r>
                    <m:r>
                      <a:rPr lang="en-US" altLang="zh-CN" i="1">
                        <a:latin typeface="Cambria Math" charset="0"/>
                      </a:rPr>
                      <m:t>)</m:t>
                    </m:r>
                  </m:oMath>
                </a14:m>
                <a:r>
                  <a:rPr lang="en-US" altLang="zh-CN" dirty="0"/>
                  <a:t>=0.243</a:t>
                </a:r>
                <a:endParaRPr 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5033885" y="2138028"/>
                <a:ext cx="1681166" cy="276999"/>
              </a:xfrm>
              <a:prstGeom prst="rect">
                <a:avLst/>
              </a:prstGeom>
              <a:blipFill rotWithShape="0">
                <a:blip r:embed="rId5"/>
                <a:stretch>
                  <a:fillRect l="-5072" t="-28889" r="-7609"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025569" y="2558335"/>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5</m:t>
                    </m:r>
                    <m:r>
                      <a:rPr lang="en-US" altLang="zh-CN" i="1">
                        <a:latin typeface="Cambria Math" charset="0"/>
                      </a:rPr>
                      <m:t>)</m:t>
                    </m:r>
                  </m:oMath>
                </a14:m>
                <a:r>
                  <a:rPr lang="en-US" altLang="zh-CN" dirty="0"/>
                  <a:t>=0.567</a:t>
                </a:r>
                <a:endParaRPr lang="en-US" dirty="0"/>
              </a:p>
            </p:txBody>
          </p:sp>
        </mc:Choice>
        <mc:Fallback xmlns="">
          <p:sp>
            <p:nvSpPr>
              <p:cNvPr id="48" name="TextBox 47"/>
              <p:cNvSpPr txBox="1">
                <a:spLocks noRot="1" noChangeAspect="1" noMove="1" noResize="1" noEditPoints="1" noAdjustHandles="1" noChangeArrowheads="1" noChangeShapeType="1" noTextEdit="1"/>
              </p:cNvSpPr>
              <p:nvPr/>
            </p:nvSpPr>
            <p:spPr>
              <a:xfrm>
                <a:off x="5025569" y="2558335"/>
                <a:ext cx="1681166" cy="276999"/>
              </a:xfrm>
              <a:prstGeom prst="rect">
                <a:avLst/>
              </a:prstGeom>
              <a:blipFill rotWithShape="0">
                <a:blip r:embed="rId6"/>
                <a:stretch>
                  <a:fillRect l="-4710" t="-28889" r="-797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025569" y="3003635"/>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6</m:t>
                    </m:r>
                    <m:r>
                      <a:rPr lang="en-US" altLang="zh-CN" i="1">
                        <a:latin typeface="Cambria Math" charset="0"/>
                      </a:rPr>
                      <m:t>)</m:t>
                    </m:r>
                  </m:oMath>
                </a14:m>
                <a:r>
                  <a:rPr lang="en-US" altLang="zh-CN" dirty="0"/>
                  <a:t>=0.576</a:t>
                </a:r>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5025569" y="3003635"/>
                <a:ext cx="1681166" cy="276999"/>
              </a:xfrm>
              <a:prstGeom prst="rect">
                <a:avLst/>
              </a:prstGeom>
              <a:blipFill rotWithShape="0">
                <a:blip r:embed="rId7"/>
                <a:stretch>
                  <a:fillRect l="-4710" t="-28889" r="-797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025569" y="3448935"/>
                <a:ext cx="156414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7</m:t>
                    </m:r>
                    <m:r>
                      <a:rPr lang="en-US" altLang="zh-CN" i="1">
                        <a:latin typeface="Cambria Math" charset="0"/>
                      </a:rPr>
                      <m:t>)</m:t>
                    </m:r>
                  </m:oMath>
                </a14:m>
                <a:r>
                  <a:rPr lang="en-US" altLang="zh-CN" dirty="0"/>
                  <a:t>=0.72</a:t>
                </a:r>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5025569" y="3448935"/>
                <a:ext cx="1564146" cy="276999"/>
              </a:xfrm>
              <a:prstGeom prst="rect">
                <a:avLst/>
              </a:prstGeom>
              <a:blipFill rotWithShape="0">
                <a:blip r:embed="rId8"/>
                <a:stretch>
                  <a:fillRect l="-5058" t="-28889" r="-8560"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025569" y="3940942"/>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8</m:t>
                    </m:r>
                    <m:r>
                      <a:rPr lang="en-US" altLang="zh-CN" i="1">
                        <a:latin typeface="Cambria Math" charset="0"/>
                      </a:rPr>
                      <m:t>)</m:t>
                    </m:r>
                  </m:oMath>
                </a14:m>
                <a:r>
                  <a:rPr lang="en-US" altLang="zh-CN" dirty="0"/>
                  <a:t>=0.504</a:t>
                </a:r>
                <a:endParaRPr lang="en-US" dirty="0"/>
              </a:p>
            </p:txBody>
          </p:sp>
        </mc:Choice>
        <mc:Fallback xmlns="">
          <p:sp>
            <p:nvSpPr>
              <p:cNvPr id="51" name="TextBox 50"/>
              <p:cNvSpPr txBox="1">
                <a:spLocks noRot="1" noChangeAspect="1" noMove="1" noResize="1" noEditPoints="1" noAdjustHandles="1" noChangeArrowheads="1" noChangeShapeType="1" noTextEdit="1"/>
              </p:cNvSpPr>
              <p:nvPr/>
            </p:nvSpPr>
            <p:spPr>
              <a:xfrm>
                <a:off x="5025569" y="3940942"/>
                <a:ext cx="1681166" cy="276999"/>
              </a:xfrm>
              <a:prstGeom prst="rect">
                <a:avLst/>
              </a:prstGeom>
              <a:blipFill rotWithShape="0">
                <a:blip r:embed="rId9"/>
                <a:stretch>
                  <a:fillRect l="-4710" t="-28261" r="-7971"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5033885" y="4382872"/>
                <a:ext cx="1447127"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9</m:t>
                    </m:r>
                    <m:r>
                      <a:rPr lang="en-US" altLang="zh-CN" i="1">
                        <a:latin typeface="Cambria Math" charset="0"/>
                      </a:rPr>
                      <m:t>)</m:t>
                    </m:r>
                  </m:oMath>
                </a14:m>
                <a:r>
                  <a:rPr lang="en-US" altLang="zh-CN" dirty="0"/>
                  <a:t>=0.8</a:t>
                </a:r>
                <a:endParaRPr lang="en-US" dirty="0"/>
              </a:p>
            </p:txBody>
          </p:sp>
        </mc:Choice>
        <mc:Fallback xmlns="">
          <p:sp>
            <p:nvSpPr>
              <p:cNvPr id="53" name="TextBox 52"/>
              <p:cNvSpPr txBox="1">
                <a:spLocks noRot="1" noChangeAspect="1" noMove="1" noResize="1" noEditPoints="1" noAdjustHandles="1" noChangeArrowheads="1" noChangeShapeType="1" noTextEdit="1"/>
              </p:cNvSpPr>
              <p:nvPr/>
            </p:nvSpPr>
            <p:spPr>
              <a:xfrm>
                <a:off x="5033885" y="4382872"/>
                <a:ext cx="1447127" cy="276999"/>
              </a:xfrm>
              <a:prstGeom prst="rect">
                <a:avLst/>
              </a:prstGeom>
              <a:blipFill rotWithShape="0">
                <a:blip r:embed="rId10"/>
                <a:stretch>
                  <a:fillRect l="-5907" t="-28889" r="-9283"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019197" y="2770608"/>
                <a:ext cx="14267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r>
                            <a:rPr lang="en-US" altLang="zh-CN" b="0" i="1" smtClean="0">
                              <a:latin typeface="Cambria Math" charset="0"/>
                            </a:rPr>
                            <m:t>{1}</m:t>
                          </m:r>
                        </m:e>
                      </m:d>
                      <m:r>
                        <a:rPr lang="en-US" altLang="zh-CN" b="0" i="1" smtClean="0">
                          <a:latin typeface="Cambria Math" charset="0"/>
                        </a:rPr>
                        <m:t>=6.12</m:t>
                      </m:r>
                    </m:oMath>
                  </m:oMathPara>
                </a14:m>
                <a:endParaRPr lang="en-US" dirty="0"/>
              </a:p>
            </p:txBody>
          </p:sp>
        </mc:Choice>
        <mc:Fallback xmlns="">
          <p:sp>
            <p:nvSpPr>
              <p:cNvPr id="54" name="TextBox 53"/>
              <p:cNvSpPr txBox="1">
                <a:spLocks noRot="1" noChangeAspect="1" noMove="1" noResize="1" noEditPoints="1" noAdjustHandles="1" noChangeArrowheads="1" noChangeShapeType="1" noTextEdit="1"/>
              </p:cNvSpPr>
              <p:nvPr/>
            </p:nvSpPr>
            <p:spPr>
              <a:xfrm>
                <a:off x="7019197" y="2770608"/>
                <a:ext cx="1426737" cy="276999"/>
              </a:xfrm>
              <a:prstGeom prst="rect">
                <a:avLst/>
              </a:prstGeom>
              <a:blipFill rotWithShape="0">
                <a:blip r:embed="rId11"/>
                <a:stretch>
                  <a:fillRect l="-1709" t="-2174" r="-3846"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5025569" y="906702"/>
                <a:ext cx="1272400"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1</m:t>
                    </m:r>
                    <m:r>
                      <a:rPr lang="en-US" altLang="zh-CN" i="1">
                        <a:latin typeface="Cambria Math" charset="0"/>
                      </a:rPr>
                      <m:t>)</m:t>
                    </m:r>
                  </m:oMath>
                </a14:m>
                <a:r>
                  <a:rPr lang="en-US" altLang="zh-CN" dirty="0"/>
                  <a:t>=1</a:t>
                </a:r>
                <a:endParaRPr lang="en-US" dirty="0"/>
              </a:p>
            </p:txBody>
          </p:sp>
        </mc:Choice>
        <mc:Fallback xmlns="">
          <p:sp>
            <p:nvSpPr>
              <p:cNvPr id="55" name="TextBox 54"/>
              <p:cNvSpPr txBox="1">
                <a:spLocks noRot="1" noChangeAspect="1" noMove="1" noResize="1" noEditPoints="1" noAdjustHandles="1" noChangeArrowheads="1" noChangeShapeType="1" noTextEdit="1"/>
              </p:cNvSpPr>
              <p:nvPr/>
            </p:nvSpPr>
            <p:spPr>
              <a:xfrm>
                <a:off x="5025569" y="906702"/>
                <a:ext cx="1272400" cy="276999"/>
              </a:xfrm>
              <a:prstGeom prst="rect">
                <a:avLst/>
              </a:prstGeom>
              <a:blipFill rotWithShape="0">
                <a:blip r:embed="rId12"/>
                <a:stretch>
                  <a:fillRect l="-6220" t="-28889" r="-10526" b="-51111"/>
                </a:stretch>
              </a:blipFill>
            </p:spPr>
            <p:txBody>
              <a:bodyPr/>
              <a:lstStyle/>
              <a:p>
                <a:r>
                  <a:rPr lang="en-US">
                    <a:noFill/>
                  </a:rPr>
                  <a:t> </a:t>
                </a:r>
              </a:p>
            </p:txBody>
          </p:sp>
        </mc:Fallback>
      </mc:AlternateContent>
      <p:sp>
        <p:nvSpPr>
          <p:cNvPr id="3" name="Rectangle 2"/>
          <p:cNvSpPr/>
          <p:nvPr/>
        </p:nvSpPr>
        <p:spPr>
          <a:xfrm>
            <a:off x="6819418" y="3319094"/>
            <a:ext cx="2195922" cy="684803"/>
          </a:xfrm>
          <a:prstGeom prst="rect">
            <a:avLst/>
          </a:prstGeom>
        </p:spPr>
        <p:txBody>
          <a:bodyPr wrap="none">
            <a:spAutoFit/>
          </a:bodyPr>
          <a:lstStyle/>
          <a:p>
            <a:pPr algn="ctr">
              <a:spcBef>
                <a:spcPts val="300"/>
              </a:spcBef>
            </a:pPr>
            <a:r>
              <a:rPr lang="zh-CN" altLang="en-US" dirty="0"/>
              <a:t>对比</a:t>
            </a:r>
            <a:r>
              <a:rPr lang="en-US" altLang="zh-CN" dirty="0"/>
              <a:t>Degree</a:t>
            </a:r>
            <a:r>
              <a:rPr lang="zh-CN" altLang="en-US" dirty="0"/>
              <a:t> </a:t>
            </a:r>
            <a:r>
              <a:rPr lang="en-US" altLang="zh-CN" dirty="0"/>
              <a:t>Discount</a:t>
            </a:r>
          </a:p>
          <a:p>
            <a:pPr algn="ctr">
              <a:spcBef>
                <a:spcPts val="300"/>
              </a:spcBef>
            </a:pPr>
            <a:r>
              <a:rPr lang="mr-IN" dirty="0"/>
              <a:t>3.9</a:t>
            </a:r>
            <a:endParaRPr lang="en-US" dirty="0"/>
          </a:p>
        </p:txBody>
      </p:sp>
    </p:spTree>
    <p:extLst>
      <p:ext uri="{BB962C8B-B14F-4D97-AF65-F5344CB8AC3E}">
        <p14:creationId xmlns:p14="http://schemas.microsoft.com/office/powerpoint/2010/main" val="380106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a:p>
        </p:txBody>
      </p:sp>
      <mc:AlternateContent xmlns:mc="http://schemas.openxmlformats.org/markup-compatibility/2006" xmlns:a14="http://schemas.microsoft.com/office/drawing/2010/main">
        <mc:Choice Requires="a14">
          <p:sp>
            <p:nvSpPr>
              <p:cNvPr id="44" name="TextBox 43"/>
              <p:cNvSpPr txBox="1"/>
              <p:nvPr/>
            </p:nvSpPr>
            <p:spPr>
              <a:xfrm>
                <a:off x="5025569" y="13577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2</m:t>
                    </m:r>
                    <m:r>
                      <a:rPr lang="en-US" altLang="zh-CN" i="1">
                        <a:latin typeface="Cambria Math" charset="0"/>
                      </a:rPr>
                      <m:t>)</m:t>
                    </m:r>
                  </m:oMath>
                </a14:m>
                <a:r>
                  <a:rPr lang="en-US" altLang="zh-CN" dirty="0"/>
                  <a:t>=0</a:t>
                </a:r>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5025569" y="1357735"/>
                <a:ext cx="1410258" cy="276999"/>
              </a:xfrm>
              <a:prstGeom prst="rect">
                <a:avLst/>
              </a:prstGeom>
              <a:blipFill rotWithShape="0">
                <a:blip r:embed="rId3"/>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031348" y="1749847"/>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3</m:t>
                    </m:r>
                    <m:r>
                      <a:rPr lang="en-US" altLang="zh-CN" i="1">
                        <a:latin typeface="Cambria Math" charset="0"/>
                      </a:rPr>
                      <m:t>)</m:t>
                    </m:r>
                  </m:oMath>
                </a14:m>
                <a:r>
                  <a:rPr lang="en-US" altLang="zh-CN" dirty="0"/>
                  <a:t>=0</a:t>
                </a:r>
                <a:endParaRPr lang="en-US" dirty="0"/>
              </a:p>
            </p:txBody>
          </p:sp>
        </mc:Choice>
        <mc:Fallback xmlns="">
          <p:sp>
            <p:nvSpPr>
              <p:cNvPr id="45" name="TextBox 44"/>
              <p:cNvSpPr txBox="1">
                <a:spLocks noRot="1" noChangeAspect="1" noMove="1" noResize="1" noEditPoints="1" noAdjustHandles="1" noChangeArrowheads="1" noChangeShapeType="1" noTextEdit="1"/>
              </p:cNvSpPr>
              <p:nvPr/>
            </p:nvSpPr>
            <p:spPr>
              <a:xfrm>
                <a:off x="5031348" y="1749847"/>
                <a:ext cx="1410258" cy="276999"/>
              </a:xfrm>
              <a:prstGeom prst="rect">
                <a:avLst/>
              </a:prstGeom>
              <a:blipFill rotWithShape="0">
                <a:blip r:embed="rId4"/>
                <a:stretch>
                  <a:fillRect l="-5603" t="-28889" r="-9052"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5033885" y="2138028"/>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4</m:t>
                    </m:r>
                    <m:r>
                      <a:rPr lang="en-US" altLang="zh-CN" i="1">
                        <a:latin typeface="Cambria Math" charset="0"/>
                      </a:rPr>
                      <m:t>)</m:t>
                    </m:r>
                  </m:oMath>
                </a14:m>
                <a:r>
                  <a:rPr lang="en-US" altLang="zh-CN" dirty="0"/>
                  <a:t>=0</a:t>
                </a:r>
                <a:endParaRPr 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5033885" y="2138028"/>
                <a:ext cx="1410258" cy="276999"/>
              </a:xfrm>
              <a:prstGeom prst="rect">
                <a:avLst/>
              </a:prstGeom>
              <a:blipFill rotWithShape="0">
                <a:blip r:embed="rId5"/>
                <a:stretch>
                  <a:fillRect l="-6061" t="-28889" r="-909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025569" y="25583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5</m:t>
                    </m:r>
                    <m:r>
                      <a:rPr lang="en-US" altLang="zh-CN" i="1">
                        <a:latin typeface="Cambria Math" charset="0"/>
                      </a:rPr>
                      <m:t>)</m:t>
                    </m:r>
                  </m:oMath>
                </a14:m>
                <a:r>
                  <a:rPr lang="en-US" altLang="zh-CN" dirty="0"/>
                  <a:t>=0</a:t>
                </a:r>
                <a:endParaRPr lang="en-US" dirty="0"/>
              </a:p>
            </p:txBody>
          </p:sp>
        </mc:Choice>
        <mc:Fallback xmlns="">
          <p:sp>
            <p:nvSpPr>
              <p:cNvPr id="48" name="TextBox 47"/>
              <p:cNvSpPr txBox="1">
                <a:spLocks noRot="1" noChangeAspect="1" noMove="1" noResize="1" noEditPoints="1" noAdjustHandles="1" noChangeArrowheads="1" noChangeShapeType="1" noTextEdit="1"/>
              </p:cNvSpPr>
              <p:nvPr/>
            </p:nvSpPr>
            <p:spPr>
              <a:xfrm>
                <a:off x="5025569" y="2558335"/>
                <a:ext cx="1410258" cy="276999"/>
              </a:xfrm>
              <a:prstGeom prst="rect">
                <a:avLst/>
              </a:prstGeom>
              <a:blipFill rotWithShape="0">
                <a:blip r:embed="rId6"/>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025569" y="30036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6</m:t>
                    </m:r>
                    <m:r>
                      <a:rPr lang="en-US" altLang="zh-CN" i="1">
                        <a:latin typeface="Cambria Math" charset="0"/>
                      </a:rPr>
                      <m:t>)</m:t>
                    </m:r>
                  </m:oMath>
                </a14:m>
                <a:r>
                  <a:rPr lang="en-US" altLang="zh-CN" dirty="0"/>
                  <a:t>=0</a:t>
                </a:r>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5025569" y="3003635"/>
                <a:ext cx="1410258" cy="276999"/>
              </a:xfrm>
              <a:prstGeom prst="rect">
                <a:avLst/>
              </a:prstGeom>
              <a:blipFill rotWithShape="0">
                <a:blip r:embed="rId7"/>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025569" y="34489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7</m:t>
                    </m:r>
                    <m:r>
                      <a:rPr lang="en-US" altLang="zh-CN" i="1">
                        <a:latin typeface="Cambria Math" charset="0"/>
                      </a:rPr>
                      <m:t>)</m:t>
                    </m:r>
                  </m:oMath>
                </a14:m>
                <a:r>
                  <a:rPr lang="en-US" altLang="zh-CN" dirty="0"/>
                  <a:t>=0</a:t>
                </a:r>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5025569" y="3448935"/>
                <a:ext cx="1410258" cy="276999"/>
              </a:xfrm>
              <a:prstGeom prst="rect">
                <a:avLst/>
              </a:prstGeom>
              <a:blipFill rotWithShape="0">
                <a:blip r:embed="rId8"/>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025569" y="3940942"/>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8</m:t>
                    </m:r>
                    <m:r>
                      <a:rPr lang="en-US" altLang="zh-CN" i="1">
                        <a:latin typeface="Cambria Math" charset="0"/>
                      </a:rPr>
                      <m:t>)</m:t>
                    </m:r>
                  </m:oMath>
                </a14:m>
                <a:r>
                  <a:rPr lang="en-US" altLang="zh-CN" dirty="0"/>
                  <a:t>=0</a:t>
                </a:r>
                <a:endParaRPr lang="en-US" dirty="0"/>
              </a:p>
            </p:txBody>
          </p:sp>
        </mc:Choice>
        <mc:Fallback xmlns="">
          <p:sp>
            <p:nvSpPr>
              <p:cNvPr id="51" name="TextBox 50"/>
              <p:cNvSpPr txBox="1">
                <a:spLocks noRot="1" noChangeAspect="1" noMove="1" noResize="1" noEditPoints="1" noAdjustHandles="1" noChangeArrowheads="1" noChangeShapeType="1" noTextEdit="1"/>
              </p:cNvSpPr>
              <p:nvPr/>
            </p:nvSpPr>
            <p:spPr>
              <a:xfrm>
                <a:off x="5025569" y="3940942"/>
                <a:ext cx="1410258" cy="276999"/>
              </a:xfrm>
              <a:prstGeom prst="rect">
                <a:avLst/>
              </a:prstGeom>
              <a:blipFill rotWithShape="0">
                <a:blip r:embed="rId9"/>
                <a:stretch>
                  <a:fillRect l="-5603" t="-28261" r="-9052"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5033885" y="4382872"/>
                <a:ext cx="1702004"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9</m:t>
                    </m:r>
                    <m:r>
                      <a:rPr lang="en-US" altLang="zh-CN" i="1">
                        <a:latin typeface="Cambria Math" charset="0"/>
                      </a:rPr>
                      <m:t>)</m:t>
                    </m:r>
                  </m:oMath>
                </a14:m>
                <a:r>
                  <a:rPr lang="en-US" altLang="zh-CN" dirty="0"/>
                  <a:t>=0.08</a:t>
                </a:r>
                <a:endParaRPr lang="en-US" dirty="0"/>
              </a:p>
            </p:txBody>
          </p:sp>
        </mc:Choice>
        <mc:Fallback xmlns="">
          <p:sp>
            <p:nvSpPr>
              <p:cNvPr id="53" name="TextBox 52"/>
              <p:cNvSpPr txBox="1">
                <a:spLocks noRot="1" noChangeAspect="1" noMove="1" noResize="1" noEditPoints="1" noAdjustHandles="1" noChangeArrowheads="1" noChangeShapeType="1" noTextEdit="1"/>
              </p:cNvSpPr>
              <p:nvPr/>
            </p:nvSpPr>
            <p:spPr>
              <a:xfrm>
                <a:off x="5033885" y="4382872"/>
                <a:ext cx="1702004" cy="276999"/>
              </a:xfrm>
              <a:prstGeom prst="rect">
                <a:avLst/>
              </a:prstGeom>
              <a:blipFill rotWithShape="0">
                <a:blip r:embed="rId10"/>
                <a:stretch>
                  <a:fillRect l="-5018" t="-28889" r="-7527"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6575027" y="2558335"/>
                <a:ext cx="25689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charset="0"/>
                        </a:rPr>
                        <m:t>𝜎</m:t>
                      </m:r>
                      <m:d>
                        <m:dPr>
                          <m:ctrlPr>
                            <a:rPr lang="en-US" altLang="zh-CN" i="1">
                              <a:latin typeface="Cambria Math" charset="0"/>
                            </a:rPr>
                          </m:ctrlPr>
                        </m:dPr>
                        <m:e>
                          <m:d>
                            <m:dPr>
                              <m:begChr m:val="{"/>
                              <m:endChr m:val="}"/>
                              <m:ctrlPr>
                                <a:rPr lang="en-US" altLang="zh-CN" i="1">
                                  <a:latin typeface="Cambria Math" charset="0"/>
                                </a:rPr>
                              </m:ctrlPr>
                            </m:dPr>
                            <m:e>
                              <m:r>
                                <a:rPr lang="en-US" altLang="zh-CN" i="1">
                                  <a:latin typeface="Cambria Math" charset="0"/>
                                </a:rPr>
                                <m:t>1,3</m:t>
                              </m:r>
                            </m:e>
                          </m:d>
                        </m:e>
                      </m:d>
                      <m:r>
                        <a:rPr lang="en-US" altLang="zh-CN" i="1">
                          <a:latin typeface="Cambria Math" charset="0"/>
                        </a:rPr>
                        <m:t>−</m:t>
                      </m:r>
                      <m:r>
                        <a:rPr lang="en-US" altLang="zh-CN" i="1">
                          <a:latin typeface="Cambria Math" charset="0"/>
                        </a:rPr>
                        <m:t>𝜎</m:t>
                      </m:r>
                      <m:r>
                        <a:rPr lang="en-US" altLang="zh-CN" i="1">
                          <a:latin typeface="Cambria Math" charset="0"/>
                        </a:rPr>
                        <m:t>(</m:t>
                      </m:r>
                      <m:d>
                        <m:dPr>
                          <m:begChr m:val="{"/>
                          <m:endChr m:val="}"/>
                          <m:ctrlPr>
                            <a:rPr lang="en-US" altLang="zh-CN" i="1">
                              <a:latin typeface="Cambria Math" charset="0"/>
                            </a:rPr>
                          </m:ctrlPr>
                        </m:dPr>
                        <m:e>
                          <m:r>
                            <a:rPr lang="en-US" altLang="zh-CN" i="1">
                              <a:latin typeface="Cambria Math" charset="0"/>
                            </a:rPr>
                            <m:t>3</m:t>
                          </m:r>
                        </m:e>
                      </m:d>
                      <m:r>
                        <a:rPr lang="en-US" altLang="zh-CN" i="1">
                          <a:latin typeface="Cambria Math" charset="0"/>
                        </a:rPr>
                        <m:t>) =</m:t>
                      </m:r>
                      <m:r>
                        <a:rPr lang="en-US" altLang="zh-CN" b="0" i="1" smtClean="0">
                          <a:latin typeface="Cambria Math" charset="0"/>
                        </a:rPr>
                        <m:t>0.18</m:t>
                      </m:r>
                    </m:oMath>
                  </m:oMathPara>
                </a14:m>
                <a:endParaRPr lang="en-US" dirty="0"/>
              </a:p>
            </p:txBody>
          </p:sp>
        </mc:Choice>
        <mc:Fallback xmlns="">
          <p:sp>
            <p:nvSpPr>
              <p:cNvPr id="54" name="TextBox 53"/>
              <p:cNvSpPr txBox="1">
                <a:spLocks noRot="1" noChangeAspect="1" noMove="1" noResize="1" noEditPoints="1" noAdjustHandles="1" noChangeArrowheads="1" noChangeShapeType="1" noTextEdit="1"/>
              </p:cNvSpPr>
              <p:nvPr/>
            </p:nvSpPr>
            <p:spPr>
              <a:xfrm>
                <a:off x="6575027" y="2558335"/>
                <a:ext cx="2568973" cy="276999"/>
              </a:xfrm>
              <a:prstGeom prst="rect">
                <a:avLst/>
              </a:prstGeom>
              <a:blipFill rotWithShape="0">
                <a:blip r:embed="rId11"/>
                <a:stretch>
                  <a:fillRect l="-950" t="-148889" r="-1900"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5025569" y="906702"/>
                <a:ext cx="1584986"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1</m:t>
                    </m:r>
                    <m:r>
                      <a:rPr lang="en-US" altLang="zh-CN" i="1">
                        <a:latin typeface="Cambria Math" charset="0"/>
                      </a:rPr>
                      <m:t>)</m:t>
                    </m:r>
                  </m:oMath>
                </a14:m>
                <a:r>
                  <a:rPr lang="en-US" altLang="zh-CN" dirty="0"/>
                  <a:t>=0.1</a:t>
                </a:r>
                <a:endParaRPr lang="en-US" dirty="0"/>
              </a:p>
            </p:txBody>
          </p:sp>
        </mc:Choice>
        <mc:Fallback xmlns="">
          <p:sp>
            <p:nvSpPr>
              <p:cNvPr id="55" name="TextBox 54"/>
              <p:cNvSpPr txBox="1">
                <a:spLocks noRot="1" noChangeAspect="1" noMove="1" noResize="1" noEditPoints="1" noAdjustHandles="1" noChangeArrowheads="1" noChangeShapeType="1" noTextEdit="1"/>
              </p:cNvSpPr>
              <p:nvPr/>
            </p:nvSpPr>
            <p:spPr>
              <a:xfrm>
                <a:off x="5025569" y="906702"/>
                <a:ext cx="1584986" cy="276999"/>
              </a:xfrm>
              <a:prstGeom prst="rect">
                <a:avLst/>
              </a:prstGeom>
              <a:blipFill rotWithShape="0">
                <a:blip r:embed="rId12"/>
                <a:stretch>
                  <a:fillRect l="-5000" t="-28889" r="-846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680345" y="1052107"/>
                <a:ext cx="2074804" cy="1200329"/>
              </a:xfrm>
              <a:prstGeom prst="rect">
                <a:avLst/>
              </a:prstGeom>
            </p:spPr>
            <p:txBody>
              <a:bodyPr wrap="square">
                <a:spAutoFit/>
              </a:bodyPr>
              <a:lstStyle/>
              <a:p>
                <a:r>
                  <a:rPr lang="zh-CN" altLang="en-US" dirty="0"/>
                  <a:t>如果已知</a:t>
                </a:r>
                <a:r>
                  <a:rPr lang="en-US" altLang="zh-CN" dirty="0"/>
                  <a:t>3</a:t>
                </a:r>
                <a:r>
                  <a:rPr lang="zh-CN" altLang="en-US" dirty="0"/>
                  <a:t>已经选为种子，计算</a:t>
                </a:r>
                <a14:m>
                  <m:oMath xmlns:m="http://schemas.openxmlformats.org/officeDocument/2006/math">
                    <m:r>
                      <m:rPr>
                        <m:sty m:val="p"/>
                      </m:rPr>
                      <a:rPr lang="en-US" altLang="zh-CN" b="0" i="0" smtClean="0">
                        <a:latin typeface="Cambria Math" charset="0"/>
                      </a:rPr>
                      <m:t>Δ</m:t>
                    </m:r>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，如</a:t>
                </a:r>
                <a14:m>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d>
                          <m:dPr>
                            <m:begChr m:val="{"/>
                            <m:endChr m:val="}"/>
                            <m:ctrlPr>
                              <a:rPr lang="en-US" altLang="zh-CN" b="0" i="1" smtClean="0">
                                <a:latin typeface="Cambria Math" charset="0"/>
                              </a:rPr>
                            </m:ctrlPr>
                          </m:dPr>
                          <m:e>
                            <m:r>
                              <a:rPr lang="en-US" altLang="zh-CN" b="0" i="1" smtClean="0">
                                <a:latin typeface="Cambria Math" charset="0"/>
                              </a:rPr>
                              <m:t>1,3</m:t>
                            </m:r>
                          </m:e>
                        </m:d>
                      </m:e>
                    </m:d>
                    <m:r>
                      <a:rPr lang="en-US" altLang="zh-CN" b="0" i="1" smtClean="0">
                        <a:latin typeface="Cambria Math" charset="0"/>
                      </a:rPr>
                      <m:t>−</m:t>
                    </m:r>
                    <m:r>
                      <a:rPr lang="en-US" altLang="zh-CN" b="0" i="1" smtClean="0">
                        <a:latin typeface="Cambria Math" charset="0"/>
                      </a:rPr>
                      <m:t>𝜎</m:t>
                    </m:r>
                    <m:r>
                      <a:rPr lang="en-US" altLang="zh-CN" b="0" i="1" smtClean="0">
                        <a:latin typeface="Cambria Math" charset="0"/>
                      </a:rPr>
                      <m:t>(</m:t>
                    </m:r>
                    <m:d>
                      <m:dPr>
                        <m:begChr m:val="{"/>
                        <m:endChr m:val="}"/>
                        <m:ctrlPr>
                          <a:rPr lang="en-US" altLang="zh-CN" b="0" i="1" smtClean="0">
                            <a:latin typeface="Cambria Math" charset="0"/>
                          </a:rPr>
                        </m:ctrlPr>
                      </m:dPr>
                      <m:e>
                        <m:r>
                          <a:rPr lang="en-US" altLang="zh-CN" b="0" i="1" smtClean="0">
                            <a:latin typeface="Cambria Math" charset="0"/>
                          </a:rPr>
                          <m:t>3</m:t>
                        </m:r>
                      </m:e>
                    </m:d>
                    <m:r>
                      <a:rPr lang="en-US" altLang="zh-CN" b="0" i="1" smtClean="0">
                        <a:latin typeface="Cambria Math" charset="0"/>
                      </a:rPr>
                      <m:t>)</m:t>
                    </m:r>
                  </m:oMath>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2680345" y="1052107"/>
                <a:ext cx="2074804" cy="1200329"/>
              </a:xfrm>
              <a:prstGeom prst="rect">
                <a:avLst/>
              </a:prstGeom>
              <a:blipFill rotWithShape="0">
                <a:blip r:embed="rId13"/>
                <a:stretch>
                  <a:fillRect l="-2647" t="-4592" b="-3571"/>
                </a:stretch>
              </a:blipFill>
            </p:spPr>
            <p:txBody>
              <a:bodyPr/>
              <a:lstStyle/>
              <a:p>
                <a:r>
                  <a:rPr lang="en-US">
                    <a:noFill/>
                  </a:rPr>
                  <a:t> </a:t>
                </a:r>
              </a:p>
            </p:txBody>
          </p:sp>
        </mc:Fallback>
      </mc:AlternateContent>
    </p:spTree>
    <p:extLst>
      <p:ext uri="{BB962C8B-B14F-4D97-AF65-F5344CB8AC3E}">
        <p14:creationId xmlns:p14="http://schemas.microsoft.com/office/powerpoint/2010/main" val="1206837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8" grpId="0"/>
      <p:bldP spid="49" grpId="0"/>
      <p:bldP spid="50" grpId="0"/>
      <p:bldP spid="51" grpId="0"/>
      <p:bldP spid="53" grpId="0"/>
      <p:bldP spid="54" grpId="0"/>
      <p:bldP spid="54" grpId="1"/>
      <p:bldP spid="5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贪心算法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26756"/>
              </a:xfrm>
            </p:spPr>
            <p:txBody>
              <a:bodyPr/>
              <a:lstStyle/>
              <a:p>
                <a:r>
                  <a:rPr lang="zh-CN" altLang="en-US" dirty="0"/>
                  <a:t>基本想法</a:t>
                </a:r>
                <a:endParaRPr lang="en-US" altLang="zh-CN" dirty="0"/>
              </a:p>
              <a:p>
                <a:pPr lvl="1"/>
                <a:r>
                  <a:rPr lang="zh-CN" altLang="en-US" dirty="0"/>
                  <a:t>使用贪心的策略选择种子节点</a:t>
                </a:r>
                <a:endParaRPr lang="en-US" altLang="zh-CN" dirty="0"/>
              </a:p>
              <a:p>
                <a:pPr lvl="1"/>
                <a:r>
                  <a:rPr lang="zh-CN" altLang="en-US" dirty="0"/>
                  <a:t>每次选择使当前</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增益最大的节点</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26756"/>
              </a:xfrm>
              <a:blipFill rotWithShape="0">
                <a:blip r:embed="rId3"/>
                <a:stretch>
                  <a:fillRect l="-667" t="-2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213338" y="1919294"/>
              <a:ext cx="6717323" cy="2072640"/>
            </p:xfrm>
            <a:graphic>
              <a:graphicData uri="http://schemas.openxmlformats.org/drawingml/2006/table">
                <a:tbl>
                  <a:tblPr firstRow="1" bandRow="1">
                    <a:tableStyleId>{2D5ABB26-0587-4C30-8999-92F81FD0307C}</a:tableStyleId>
                  </a:tblPr>
                  <a:tblGrid>
                    <a:gridCol w="6717323">
                      <a:extLst>
                        <a:ext uri="{9D8B030D-6E8A-4147-A177-3AD203B41FA5}">
                          <a16:colId xmlns:a16="http://schemas.microsoft.com/office/drawing/2014/main" xmlns="" val="20000"/>
                        </a:ext>
                      </a:extLst>
                    </a:gridCol>
                  </a:tblGrid>
                  <a:tr h="1808642">
                    <a:tc>
                      <a:txBody>
                        <a:bodyPr/>
                        <a:lstStyle/>
                        <a:p>
                          <a:pPr marL="342900" indent="-342900">
                            <a:lnSpc>
                              <a:spcPct val="130000"/>
                            </a:lnSpc>
                            <a:buFont typeface="+mj-lt"/>
                            <a:buAutoNum type="arabicPeriod"/>
                          </a:pPr>
                          <a:r>
                            <a:rPr lang="en-US" sz="2000" dirty="0"/>
                            <a:t>Initialize </a:t>
                          </a:r>
                          <a14:m>
                            <m:oMath xmlns:m="http://schemas.openxmlformats.org/officeDocument/2006/math">
                              <m:r>
                                <a:rPr lang="en-US" sz="2000" i="1">
                                  <a:latin typeface="Cambria Math" panose="02040503050406030204" pitchFamily="18" charset="0"/>
                                </a:rPr>
                                <m:t>𝑆</m:t>
                              </m:r>
                              <m:r>
                                <a:rPr lang="en-US" sz="2000" i="1">
                                  <a:latin typeface="Cambria Math" panose="02040503050406030204" pitchFamily="18" charset="0"/>
                                </a:rPr>
                                <m:t>=∅</m:t>
                              </m:r>
                            </m:oMath>
                          </a14:m>
                          <a:endParaRPr lang="en-US" sz="2000" dirty="0"/>
                        </a:p>
                        <a:p>
                          <a:pPr marL="342900" indent="-342900">
                            <a:lnSpc>
                              <a:spcPct val="130000"/>
                            </a:lnSpc>
                            <a:buFont typeface="+mj-lt"/>
                            <a:buAutoNum type="arabicPeriod"/>
                          </a:pPr>
                          <a:r>
                            <a:rPr lang="en-US" sz="2000" dirty="0"/>
                            <a:t>For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𝑘</m:t>
                              </m:r>
                            </m:oMath>
                          </a14:m>
                          <a:r>
                            <a:rPr lang="en-US" sz="2000" dirty="0"/>
                            <a:t> do:</a:t>
                          </a:r>
                        </a:p>
                        <a:p>
                          <a:pPr marL="680347" lvl="1" indent="-342900">
                            <a:lnSpc>
                              <a:spcPct val="130000"/>
                            </a:lnSpc>
                            <a:buFont typeface="+mj-lt"/>
                            <a:buAutoNum type="arabicParenR"/>
                          </a:pPr>
                          <a:r>
                            <a:rPr lang="en-US" sz="2000" dirty="0"/>
                            <a:t>Select the node </a:t>
                          </a:r>
                          <a14:m>
                            <m:oMath xmlns:m="http://schemas.openxmlformats.org/officeDocument/2006/math">
                              <m:r>
                                <a:rPr lang="en-US" sz="2000" i="1" dirty="0">
                                  <a:latin typeface="Cambria Math" panose="02040503050406030204" pitchFamily="18" charset="0"/>
                                </a:rPr>
                                <m:t>𝑢</m:t>
                              </m:r>
                              <m:r>
                                <a:rPr lang="en-US" altLang="zh-CN" sz="2000" b="0" i="1" dirty="0" smtClean="0">
                                  <a:latin typeface="Cambria Math" charset="0"/>
                                </a:rPr>
                                <m:t>←</m:t>
                              </m:r>
                              <m:func>
                                <m:funcPr>
                                  <m:ctrlPr>
                                    <a:rPr lang="en-US" altLang="zh-CN" sz="2000" b="0" i="1" dirty="0" smtClean="0">
                                      <a:latin typeface="Cambria Math" charset="0"/>
                                    </a:rPr>
                                  </m:ctrlPr>
                                </m:funcPr>
                                <m:fName>
                                  <m:sSub>
                                    <m:sSubPr>
                                      <m:ctrlPr>
                                        <a:rPr lang="en-US" altLang="zh-CN" sz="2000" b="0" i="1" dirty="0" smtClean="0">
                                          <a:latin typeface="Cambria Math" charset="0"/>
                                        </a:rPr>
                                      </m:ctrlPr>
                                    </m:sSubPr>
                                    <m:e>
                                      <m:r>
                                        <m:rPr>
                                          <m:sty m:val="p"/>
                                        </m:rPr>
                                        <a:rPr lang="en-US" altLang="zh-CN" sz="2000" b="0" i="0" dirty="0" smtClean="0">
                                          <a:latin typeface="Cambria Math" charset="0"/>
                                        </a:rPr>
                                        <m:t>arg</m:t>
                                      </m:r>
                                    </m:e>
                                    <m:sub>
                                      <m:r>
                                        <a:rPr lang="en-US" altLang="zh-CN" sz="2000" b="0" i="1" dirty="0" smtClean="0">
                                          <a:latin typeface="Cambria Math" charset="0"/>
                                        </a:rPr>
                                        <m:t>𝑤</m:t>
                                      </m:r>
                                      <m:r>
                                        <a:rPr lang="en-US" altLang="zh-CN" sz="2000" b="0" i="1" dirty="0" smtClean="0">
                                          <a:latin typeface="Cambria Math" charset="0"/>
                                        </a:rPr>
                                        <m:t>∈</m:t>
                                      </m:r>
                                      <m:r>
                                        <a:rPr lang="en-US" altLang="zh-CN" sz="2000" b="0" i="1" dirty="0" smtClean="0">
                                          <a:latin typeface="Cambria Math" charset="0"/>
                                        </a:rPr>
                                        <m:t>𝑉</m:t>
                                      </m:r>
                                      <m:r>
                                        <a:rPr lang="en-US" altLang="zh-CN" sz="2000" b="0" i="1" dirty="0" smtClean="0">
                                          <a:latin typeface="Cambria Math" charset="0"/>
                                        </a:rPr>
                                        <m:t>−</m:t>
                                      </m:r>
                                      <m:r>
                                        <a:rPr lang="en-US" altLang="zh-CN" sz="2000" b="0" i="1" dirty="0" smtClean="0">
                                          <a:latin typeface="Cambria Math" charset="0"/>
                                        </a:rPr>
                                        <m:t>𝑆</m:t>
                                      </m:r>
                                    </m:sub>
                                  </m:sSub>
                                </m:fName>
                                <m:e>
                                  <m:r>
                                    <a:rPr lang="en-US" altLang="zh-CN" sz="2000" b="0" i="1" dirty="0" smtClean="0">
                                      <a:latin typeface="Cambria Math" charset="0"/>
                                    </a:rPr>
                                    <m:t>(</m:t>
                                  </m:r>
                                  <m:r>
                                    <a:rPr lang="en-US" altLang="zh-CN" sz="2000" b="0" i="1" dirty="0" smtClean="0">
                                      <a:latin typeface="Cambria Math" charset="0"/>
                                    </a:rPr>
                                    <m:t>𝜎</m:t>
                                  </m:r>
                                  <m:d>
                                    <m:dPr>
                                      <m:ctrlPr>
                                        <a:rPr lang="en-US" altLang="zh-CN" sz="2000" b="0" i="1" dirty="0" smtClean="0">
                                          <a:latin typeface="Cambria Math" charset="0"/>
                                        </a:rPr>
                                      </m:ctrlPr>
                                    </m:dPr>
                                    <m:e>
                                      <m:r>
                                        <a:rPr lang="en-US" altLang="zh-CN" sz="2000" b="0" i="1" dirty="0" smtClean="0">
                                          <a:latin typeface="Cambria Math" charset="0"/>
                                        </a:rPr>
                                        <m:t>𝑆</m:t>
                                      </m:r>
                                      <m:r>
                                        <a:rPr lang="en-US" altLang="zh-CN" sz="2000" b="0" i="1" dirty="0" smtClean="0">
                                          <a:latin typeface="Cambria Math" charset="0"/>
                                        </a:rPr>
                                        <m:t>∪</m:t>
                                      </m:r>
                                      <m:d>
                                        <m:dPr>
                                          <m:begChr m:val="{"/>
                                          <m:endChr m:val="}"/>
                                          <m:ctrlPr>
                                            <a:rPr lang="en-US" altLang="zh-CN" sz="2000" b="0" i="1" dirty="0" smtClean="0">
                                              <a:latin typeface="Cambria Math" charset="0"/>
                                            </a:rPr>
                                          </m:ctrlPr>
                                        </m:dPr>
                                        <m:e>
                                          <m:r>
                                            <a:rPr lang="en-US" altLang="zh-CN" sz="2000" b="0" i="1" dirty="0" smtClean="0">
                                              <a:latin typeface="Cambria Math" charset="0"/>
                                            </a:rPr>
                                            <m:t>𝑤</m:t>
                                          </m:r>
                                        </m:e>
                                      </m:d>
                                    </m:e>
                                  </m:d>
                                  <m:r>
                                    <a:rPr lang="en-US" altLang="zh-CN" sz="2000" b="0" i="1" dirty="0" smtClean="0">
                                      <a:latin typeface="Cambria Math" charset="0"/>
                                    </a:rPr>
                                    <m:t>−</m:t>
                                  </m:r>
                                  <m:r>
                                    <a:rPr lang="en-US" altLang="zh-CN" sz="2000" b="0" i="1" dirty="0" smtClean="0">
                                      <a:latin typeface="Cambria Math" charset="0"/>
                                    </a:rPr>
                                    <m:t>𝜎</m:t>
                                  </m:r>
                                  <m:r>
                                    <a:rPr lang="en-US" altLang="zh-CN" sz="2000" b="0" i="1" dirty="0" smtClean="0">
                                      <a:latin typeface="Cambria Math" charset="0"/>
                                    </a:rPr>
                                    <m:t>(</m:t>
                                  </m:r>
                                  <m:r>
                                    <a:rPr lang="en-US" altLang="zh-CN" sz="2000" b="0" i="1" dirty="0" smtClean="0">
                                      <a:latin typeface="Cambria Math" charset="0"/>
                                    </a:rPr>
                                    <m:t>𝑆</m:t>
                                  </m:r>
                                  <m:r>
                                    <a:rPr lang="en-US" altLang="zh-CN" sz="2000" b="0" i="1" dirty="0" smtClean="0">
                                      <a:latin typeface="Cambria Math" charset="0"/>
                                    </a:rPr>
                                    <m:t>))</m:t>
                                  </m:r>
                                </m:e>
                              </m:func>
                            </m:oMath>
                          </a14:m>
                          <a:r>
                            <a:rPr lang="en-US" sz="2000" dirty="0"/>
                            <a:t>;</a:t>
                          </a:r>
                        </a:p>
                        <a:p>
                          <a:pPr marL="680347" lvl="1" indent="-342900" algn="l" defTabSz="914400" rtl="0" eaLnBrk="1" latinLnBrk="0" hangingPunct="1">
                            <a:lnSpc>
                              <a:spcPct val="130000"/>
                            </a:lnSpc>
                            <a:buFont typeface="+mj-lt"/>
                            <a:buAutoNum type="arabicParenR"/>
                          </a:pPr>
                          <a14:m>
                            <m:oMath xmlns:m="http://schemas.openxmlformats.org/officeDocument/2006/math">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𝑢</m:t>
                              </m:r>
                              <m:r>
                                <a:rPr lang="en-US" altLang="zh-CN" sz="2000" kern="1200" dirty="0" smtClean="0">
                                  <a:solidFill>
                                    <a:schemeClr val="tx1"/>
                                  </a:solidFill>
                                  <a:latin typeface="Cambria Math" charset="0"/>
                                  <a:ea typeface="+mn-ea"/>
                                  <a:cs typeface="+mn-cs"/>
                                </a:rPr>
                                <m:t>}</m:t>
                              </m:r>
                            </m:oMath>
                          </a14:m>
                          <a:endParaRPr lang="en-US" sz="2000" kern="1200" dirty="0">
                            <a:solidFill>
                              <a:schemeClr val="tx1"/>
                            </a:solidFill>
                            <a:latin typeface="+mn-lt"/>
                            <a:ea typeface="+mn-ea"/>
                            <a:cs typeface="+mn-cs"/>
                          </a:endParaRPr>
                        </a:p>
                        <a:p>
                          <a:pPr marL="342900" indent="-342900">
                            <a:lnSpc>
                              <a:spcPct val="130000"/>
                            </a:lnSpc>
                            <a:buFont typeface="+mj-lt"/>
                            <a:buAutoNum type="arabicPeriod"/>
                          </a:pPr>
                          <a:r>
                            <a:rPr lang="en-US" sz="2000" dirty="0"/>
                            <a:t>Return </a:t>
                          </a:r>
                          <a14:m>
                            <m:oMath xmlns:m="http://schemas.openxmlformats.org/officeDocument/2006/math">
                              <m:r>
                                <a:rPr lang="en-US" sz="2000" i="1" dirty="0">
                                  <a:latin typeface="Cambria Math" panose="02040503050406030204" pitchFamily="18" charset="0"/>
                                </a:rPr>
                                <m:t>𝑆</m:t>
                              </m:r>
                            </m:oMath>
                          </a14:m>
                          <a:r>
                            <a:rPr lang="en-US" sz="2000" dirty="0"/>
                            <a:t>.</a:t>
                          </a:r>
                        </a:p>
                      </a:txBody>
                      <a:tcPr/>
                    </a:tc>
                    <a:extLst>
                      <a:ext uri="{0D108BD9-81ED-4DB2-BD59-A6C34878D82A}">
                        <a16:rowId xmlns:a16="http://schemas.microsoft.com/office/drawing/2014/main" xmlns="" val="1000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086766432"/>
                  </p:ext>
                </p:extLst>
              </p:nvPr>
            </p:nvGraphicFramePr>
            <p:xfrm>
              <a:off x="1213338" y="1919294"/>
              <a:ext cx="6717323" cy="2039874"/>
            </p:xfrm>
            <a:graphic>
              <a:graphicData uri="http://schemas.openxmlformats.org/drawingml/2006/table">
                <a:tbl>
                  <a:tblPr firstRow="1" bandRow="1">
                    <a:tableStyleId>{2D5ABB26-0587-4C30-8999-92F81FD0307C}</a:tableStyleId>
                  </a:tblPr>
                  <a:tblGrid>
                    <a:gridCol w="6717323"/>
                  </a:tblGrid>
                  <a:tr h="2039874">
                    <a:tc>
                      <a:txBody>
                        <a:bodyPr/>
                        <a:lstStyle/>
                        <a:p>
                          <a:endParaRPr lang="en-US"/>
                        </a:p>
                      </a:txBody>
                      <a:tcPr>
                        <a:blipFill rotWithShape="0">
                          <a:blip r:embed="rId4"/>
                          <a:stretch>
                            <a:fillRect b="-5357"/>
                          </a:stretch>
                        </a:blipFill>
                      </a:tcPr>
                    </a:tc>
                  </a:tr>
                </a:tbl>
              </a:graphicData>
            </a:graphic>
          </p:graphicFrame>
        </mc:Fallback>
      </mc:AlternateContent>
      <mc:AlternateContent xmlns:mc="http://schemas.openxmlformats.org/markup-compatibility/2006">
        <mc:Choice xmlns:a14="http://schemas.microsoft.com/office/drawing/2010/main" Requires="a14">
          <p:sp>
            <p:nvSpPr>
              <p:cNvPr id="7" name="Content Placeholder 2"/>
              <p:cNvSpPr txBox="1">
                <a:spLocks/>
              </p:cNvSpPr>
              <p:nvPr/>
            </p:nvSpPr>
            <p:spPr>
              <a:xfrm>
                <a:off x="457200" y="4122120"/>
                <a:ext cx="8229600" cy="435814"/>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性质：如果</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满足单调且次模，上述贪心算法有</a:t>
                </a:r>
                <a14:m>
                  <m:oMath xmlns:m="http://schemas.openxmlformats.org/officeDocument/2006/math">
                    <m:r>
                      <a:rPr lang="en-US" altLang="zh-CN" b="0" i="1" smtClean="0">
                        <a:latin typeface="Cambria Math" charset="0"/>
                      </a:rPr>
                      <m:t>1−</m:t>
                    </m:r>
                    <m:f>
                      <m:fPr>
                        <m:ctrlPr>
                          <a:rPr lang="mr-IN" altLang="zh-CN" b="0" i="1" smtClean="0">
                            <a:latin typeface="Cambria Math" charset="0"/>
                          </a:rPr>
                        </m:ctrlPr>
                      </m:fPr>
                      <m:num>
                        <m:r>
                          <a:rPr lang="en-US" altLang="zh-CN" b="0" i="1" smtClean="0">
                            <a:latin typeface="Cambria Math" charset="0"/>
                          </a:rPr>
                          <m:t>1</m:t>
                        </m:r>
                      </m:num>
                      <m:den>
                        <m:r>
                          <a:rPr lang="en-US" altLang="zh-CN" b="0" i="1" smtClean="0">
                            <a:latin typeface="Cambria Math" charset="0"/>
                          </a:rPr>
                          <m:t>𝑒</m:t>
                        </m:r>
                      </m:den>
                    </m:f>
                  </m:oMath>
                </a14:m>
                <a:r>
                  <a:rPr lang="zh-CN" altLang="en-US" dirty="0"/>
                  <a:t>的近似比</a:t>
                </a:r>
                <a:endParaRPr lang="en-US" altLang="zh-CN" dirty="0"/>
              </a:p>
            </p:txBody>
          </p:sp>
        </mc:Choice>
        <mc:Fallback>
          <p:sp>
            <p:nvSpPr>
              <p:cNvPr id="7" name="Content Placeholder 2"/>
              <p:cNvSpPr txBox="1">
                <a:spLocks noRot="1" noChangeAspect="1" noMove="1" noResize="1" noEditPoints="1" noAdjustHandles="1" noChangeArrowheads="1" noChangeShapeType="1" noTextEdit="1"/>
              </p:cNvSpPr>
              <p:nvPr/>
            </p:nvSpPr>
            <p:spPr>
              <a:xfrm>
                <a:off x="457200" y="4122120"/>
                <a:ext cx="8229600" cy="435814"/>
              </a:xfrm>
              <a:prstGeom prst="rect">
                <a:avLst/>
              </a:prstGeom>
              <a:blipFill rotWithShape="0">
                <a:blip r:embed="rId5"/>
                <a:stretch>
                  <a:fillRect l="-519" t="-9722" b="-8333"/>
                </a:stretch>
              </a:blipFill>
            </p:spPr>
            <p:txBody>
              <a:bodyPr/>
              <a:lstStyle/>
              <a:p>
                <a:r>
                  <a:rPr lang="en-US">
                    <a:noFill/>
                  </a:rPr>
                  <a:t> </a:t>
                </a:r>
              </a:p>
            </p:txBody>
          </p:sp>
        </mc:Fallback>
      </mc:AlternateContent>
    </p:spTree>
    <p:extLst>
      <p:ext uri="{BB962C8B-B14F-4D97-AF65-F5344CB8AC3E}">
        <p14:creationId xmlns:p14="http://schemas.microsoft.com/office/powerpoint/2010/main" val="1181328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145" name="Content Placeholder 2"/>
              <p:cNvSpPr txBox="1">
                <a:spLocks/>
              </p:cNvSpPr>
              <p:nvPr/>
            </p:nvSpPr>
            <p:spPr>
              <a:xfrm>
                <a:off x="4572000" y="797176"/>
                <a:ext cx="4265076" cy="11561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假设种子集合</a:t>
                </a:r>
                <a14:m>
                  <m:oMath xmlns:m="http://schemas.openxmlformats.org/officeDocument/2006/math">
                    <m:r>
                      <a:rPr lang="en-US" altLang="zh-CN" i="1" dirty="0" smtClean="0">
                        <a:latin typeface="Cambria Math" charset="0"/>
                      </a:rPr>
                      <m:t>𝑆</m:t>
                    </m:r>
                  </m:oMath>
                </a14:m>
                <a:r>
                  <a:rPr lang="zh-CN" altLang="en-US" dirty="0"/>
                  <a:t>，</a:t>
                </a:r>
                <a14:m>
                  <m:oMath xmlns:m="http://schemas.openxmlformats.org/officeDocument/2006/math">
                    <m:r>
                      <a:rPr lang="en-US" altLang="zh-CN" b="0" i="1" dirty="0" smtClean="0">
                        <a:latin typeface="Cambria Math" charset="0"/>
                      </a:rPr>
                      <m:t>𝜎</m:t>
                    </m:r>
                    <m:r>
                      <a:rPr lang="en-US" altLang="zh-CN" b="0" i="1" dirty="0" smtClean="0">
                        <a:latin typeface="Cambria Math" charset="0"/>
                      </a:rPr>
                      <m:t>(</m:t>
                    </m:r>
                    <m:r>
                      <a:rPr lang="en-US" altLang="zh-CN" b="0" i="1" dirty="0" smtClean="0">
                        <a:latin typeface="Cambria Math" charset="0"/>
                      </a:rPr>
                      <m:t>𝑆</m:t>
                    </m:r>
                    <m:r>
                      <a:rPr lang="en-US" altLang="zh-CN" b="0" i="1" dirty="0" smtClean="0">
                        <a:latin typeface="Cambria Math" charset="0"/>
                      </a:rPr>
                      <m:t>)</m:t>
                    </m:r>
                  </m:oMath>
                </a14:m>
                <a:r>
                  <a:rPr lang="zh-CN" altLang="en-US" dirty="0"/>
                  <a:t>为图中所有节点激活概率之和</a:t>
                </a:r>
                <a:endParaRPr lang="en-US" altLang="zh-CN" dirty="0"/>
              </a:p>
            </p:txBody>
          </p:sp>
        </mc:Choice>
        <mc:Fallback xmlns="">
          <p:sp>
            <p:nvSpPr>
              <p:cNvPr id="145" name="Content Placeholder 2"/>
              <p:cNvSpPr txBox="1">
                <a:spLocks noRot="1" noChangeAspect="1" noMove="1" noResize="1" noEditPoints="1" noAdjustHandles="1" noChangeArrowheads="1" noChangeShapeType="1" noTextEdit="1"/>
              </p:cNvSpPr>
              <p:nvPr/>
            </p:nvSpPr>
            <p:spPr>
              <a:xfrm>
                <a:off x="4572000" y="797176"/>
                <a:ext cx="4265076" cy="1156155"/>
              </a:xfrm>
              <a:prstGeom prst="rect">
                <a:avLst/>
              </a:prstGeom>
              <a:blipFill rotWithShape="0">
                <a:blip r:embed="rId2"/>
                <a:stretch>
                  <a:fillRect l="-1286" t="-3175" r="-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493309" y="1666400"/>
                <a:ext cx="2211246" cy="6723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r>
                            <a:rPr lang="en-US" altLang="zh-CN" b="0" i="1" smtClean="0">
                              <a:latin typeface="Cambria Math" charset="0"/>
                            </a:rPr>
                            <m:t>𝑆</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𝑣</m:t>
                          </m:r>
                          <m:r>
                            <a:rPr lang="en-US" altLang="zh-CN" b="0" i="1" smtClean="0">
                              <a:latin typeface="Cambria Math" charset="0"/>
                            </a:rPr>
                            <m:t>∈</m:t>
                          </m:r>
                          <m:r>
                            <a:rPr lang="en-US" altLang="zh-CN" b="0" i="1" smtClean="0">
                              <a:latin typeface="Cambria Math" charset="0"/>
                            </a:rPr>
                            <m:t>𝑉</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𝑣</m:t>
                          </m:r>
                          <m:r>
                            <a:rPr lang="en-US" altLang="zh-CN" b="0" i="1" smtClean="0">
                              <a:latin typeface="Cambria Math" charset="0"/>
                            </a:rPr>
                            <m:t>)</m:t>
                          </m:r>
                        </m:e>
                      </m:nary>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493309" y="1666400"/>
                <a:ext cx="2211246" cy="67230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请证明</a:t>
                </a:r>
                <a14:m>
                  <m:oMath xmlns:m="http://schemas.openxmlformats.org/officeDocument/2006/math">
                    <m:r>
                      <a:rPr lang="mr-IN" altLang="zh-CN" i="1" dirty="0" smtClean="0">
                        <a:latin typeface="Cambria Math" charset="0"/>
                      </a:rPr>
                      <m:t>𝜎</m:t>
                    </m:r>
                    <m:r>
                      <a:rPr lang="mr-IN" altLang="zh-CN" i="1" dirty="0" smtClean="0">
                        <a:latin typeface="Cambria Math" charset="0"/>
                      </a:rPr>
                      <m:t>(</m:t>
                    </m:r>
                    <m:r>
                      <a:rPr lang="mr-IN" altLang="zh-CN" i="1" dirty="0" smtClean="0">
                        <a:latin typeface="Cambria Math" charset="0"/>
                      </a:rPr>
                      <m:t>𝑆</m:t>
                    </m:r>
                    <m:r>
                      <a:rPr lang="mr-IN" altLang="zh-CN" i="1" dirty="0" smtClean="0">
                        <a:latin typeface="Cambria Math" charset="0"/>
                      </a:rPr>
                      <m:t>)</m:t>
                    </m:r>
                  </m:oMath>
                </a14:m>
                <a:r>
                  <a:rPr lang="zh-CN" altLang="en-US" dirty="0"/>
                  <a:t>的以下性质</a:t>
                </a:r>
                <a:endParaRPr lang="en-US" altLang="zh-CN" dirty="0"/>
              </a:p>
              <a:p>
                <a:pPr lvl="1"/>
                <a:r>
                  <a:rPr lang="zh-CN" altLang="en-US" dirty="0"/>
                  <a:t>单调性（</a:t>
                </a:r>
                <a:r>
                  <a:rPr lang="en-US" altLang="zh-CN" dirty="0">
                    <a:latin typeface="Calibri" charset="0"/>
                    <a:ea typeface="Calibri" charset="0"/>
                    <a:cs typeface="Calibri" charset="0"/>
                  </a:rPr>
                  <a:t>monotonicity</a:t>
                </a:r>
                <a:r>
                  <a:rPr lang="zh-CN" altLang="en-US" dirty="0"/>
                  <a:t>），即</a:t>
                </a:r>
                <a14:m>
                  <m:oMath xmlns:m="http://schemas.openxmlformats.org/officeDocument/2006/math">
                    <m:r>
                      <a:rPr lang="zh-CN" altLang="en-US"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1</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2</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1</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2</m:t>
                        </m:r>
                      </m:sub>
                    </m:sSub>
                  </m:oMath>
                </a14:m>
                <a:r>
                  <a:rPr lang="zh-CN" altLang="en-US" dirty="0"/>
                  <a:t>，有</a:t>
                </a:r>
                <a14:m>
                  <m:oMath xmlns:m="http://schemas.openxmlformats.org/officeDocument/2006/math">
                    <m:r>
                      <a:rPr lang="mr-IN" altLang="zh-CN" i="1" dirty="0">
                        <a:latin typeface="Cambria Math" charset="0"/>
                      </a:rPr>
                      <m:t>𝜎</m:t>
                    </m:r>
                    <m:d>
                      <m:dPr>
                        <m:ctrlPr>
                          <a:rPr lang="mr-IN" altLang="zh-CN" i="1" dirty="0">
                            <a:latin typeface="Cambria Math" charset="0"/>
                          </a:rPr>
                        </m:ctrlPr>
                      </m:dPr>
                      <m:e>
                        <m:sSub>
                          <m:sSubPr>
                            <m:ctrlPr>
                              <a:rPr lang="en-US" altLang="zh-CN" b="0" i="1" dirty="0" smtClean="0">
                                <a:latin typeface="Cambria Math" charset="0"/>
                              </a:rPr>
                            </m:ctrlPr>
                          </m:sSubPr>
                          <m:e>
                            <m:r>
                              <a:rPr lang="en-US" altLang="zh-CN" b="0" i="1" dirty="0" smtClean="0">
                                <a:latin typeface="Cambria Math" charset="0"/>
                              </a:rPr>
                              <m:t>𝑆</m:t>
                            </m:r>
                          </m:e>
                          <m:sub>
                            <m:r>
                              <a:rPr lang="en-US" altLang="zh-CN" b="0" i="1" dirty="0" smtClean="0">
                                <a:latin typeface="Cambria Math" charset="0"/>
                              </a:rPr>
                              <m:t>1</m:t>
                            </m:r>
                          </m:sub>
                        </m:sSub>
                      </m:e>
                    </m:d>
                    <m:r>
                      <a:rPr lang="en-US" altLang="zh-CN" b="0" i="1" dirty="0" smtClean="0">
                        <a:latin typeface="Cambria Math" charset="0"/>
                      </a:rPr>
                      <m:t>≤</m:t>
                    </m:r>
                    <m:r>
                      <a:rPr lang="mr-IN" altLang="zh-CN" i="1" dirty="0">
                        <a:latin typeface="Cambria Math" charset="0"/>
                      </a:rPr>
                      <m:t>𝜎</m:t>
                    </m:r>
                    <m:r>
                      <a:rPr lang="mr-IN" altLang="zh-CN" i="1" dirty="0">
                        <a:latin typeface="Cambria Math" charset="0"/>
                      </a:rPr>
                      <m:t>(</m:t>
                    </m:r>
                    <m:sSub>
                      <m:sSubPr>
                        <m:ctrlPr>
                          <a:rPr lang="en-US" altLang="zh-CN" b="0" i="1" dirty="0" smtClean="0">
                            <a:latin typeface="Cambria Math" charset="0"/>
                          </a:rPr>
                        </m:ctrlPr>
                      </m:sSubPr>
                      <m:e>
                        <m:r>
                          <a:rPr lang="mr-IN" altLang="zh-CN" i="1" dirty="0">
                            <a:latin typeface="Cambria Math" charset="0"/>
                          </a:rPr>
                          <m:t>𝑆</m:t>
                        </m:r>
                      </m:e>
                      <m:sub>
                        <m:r>
                          <a:rPr lang="en-US" altLang="zh-CN" b="0" i="1" dirty="0" smtClean="0">
                            <a:latin typeface="Cambria Math" charset="0"/>
                          </a:rPr>
                          <m:t>2</m:t>
                        </m:r>
                      </m:sub>
                    </m:sSub>
                    <m:r>
                      <a:rPr lang="mr-IN" altLang="zh-CN" i="1" dirty="0">
                        <a:latin typeface="Cambria Math" charset="0"/>
                      </a:rPr>
                      <m:t>)</m:t>
                    </m:r>
                  </m:oMath>
                </a14:m>
                <a:endParaRPr lang="en-US" altLang="zh-CN" dirty="0"/>
              </a:p>
              <a:p>
                <a:pPr lvl="1"/>
                <a:r>
                  <a:rPr lang="zh-CN" altLang="en-US" dirty="0"/>
                  <a:t>次模性（</a:t>
                </a:r>
                <a:r>
                  <a:rPr lang="en-US" altLang="zh-CN" dirty="0">
                    <a:latin typeface="Calibri" charset="0"/>
                    <a:ea typeface="Calibri" charset="0"/>
                    <a:cs typeface="Calibri" charset="0"/>
                  </a:rPr>
                  <a:t>submodularity</a:t>
                </a:r>
                <a:r>
                  <a:rPr lang="zh-CN" altLang="en-US" dirty="0"/>
                  <a:t>），即</a:t>
                </a:r>
                <a14:m>
                  <m:oMath xmlns:m="http://schemas.openxmlformats.org/officeDocument/2006/math">
                    <m:r>
                      <a:rPr lang="zh-CN" altLang="en-US"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1</m:t>
                        </m:r>
                      </m:sub>
                    </m:sSub>
                    <m:r>
                      <a:rPr lang="en-US" altLang="zh-CN"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2</m:t>
                        </m:r>
                      </m:sub>
                    </m:sSub>
                    <m:r>
                      <a:rPr lang="en-US" altLang="zh-CN"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1</m:t>
                        </m:r>
                      </m:sub>
                    </m:sSub>
                    <m:r>
                      <a:rPr lang="en-US" altLang="zh-CN"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2</m:t>
                        </m:r>
                      </m:sub>
                    </m:sSub>
                    <m:r>
                      <a:rPr lang="en-US" altLang="zh-CN" b="0" i="1" smtClean="0">
                        <a:latin typeface="Cambria Math" charset="0"/>
                        <a:ea typeface="Cambria Math" charset="0"/>
                        <a:cs typeface="Cambria Math" charset="0"/>
                      </a:rPr>
                      <m:t>,</m:t>
                    </m:r>
                    <m:r>
                      <a:rPr lang="zh-CN" altLang="en-US" b="0" i="1" smtClean="0">
                        <a:latin typeface="Cambria Math" charset="0"/>
                        <a:ea typeface="Cambria Math" charset="0"/>
                        <a:cs typeface="Cambria Math" charset="0"/>
                      </a:rPr>
                      <m:t> ∀</m:t>
                    </m:r>
                    <m:r>
                      <a:rPr lang="en-US" altLang="zh-CN" b="0" i="1" smtClean="0">
                        <a:latin typeface="Cambria Math" charset="0"/>
                        <a:ea typeface="Cambria Math" charset="0"/>
                        <a:cs typeface="Cambria Math" charset="0"/>
                      </a:rPr>
                      <m:t>𝑢</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𝑉</m:t>
                    </m:r>
                  </m:oMath>
                </a14:m>
                <a:r>
                  <a:rPr lang="zh-CN" altLang="en-US" dirty="0"/>
                  <a:t>，有</a:t>
                </a:r>
                <a:endParaRPr lang="en-US" altLang="zh-CN" dirty="0"/>
              </a:p>
            </p:txBody>
          </p:sp>
        </mc:Choice>
        <mc:Fallback xmlns="">
          <p:sp>
            <p:nvSpPr>
              <p:cNvPr id="43" name="Content Placeholder 2"/>
              <p:cNvSpPr txBox="1">
                <a:spLocks noRot="1" noChangeAspect="1" noMove="1" noResize="1" noEditPoints="1" noAdjustHandles="1" noChangeArrowheads="1" noChangeShapeType="1" noTextEdit="1"/>
              </p:cNvSpPr>
              <p:nvPr/>
            </p:nvSpPr>
            <p:spPr>
              <a:xfrm>
                <a:off x="4572000" y="2721635"/>
                <a:ext cx="4265076" cy="1625281"/>
              </a:xfrm>
              <a:prstGeom prst="rect">
                <a:avLst/>
              </a:prstGeom>
              <a:blipFill rotWithShape="0">
                <a:blip r:embed="rId4"/>
                <a:stretch>
                  <a:fillRect l="-1286" t="-1873" b="-4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725578" y="4448491"/>
                <a:ext cx="44192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mr-IN" altLang="zh-CN" i="1" dirty="0" smtClean="0">
                          <a:latin typeface="Cambria Math" charset="0"/>
                        </a:rPr>
                        <m:t>𝜎</m:t>
                      </m:r>
                      <m:d>
                        <m:dPr>
                          <m:ctrlPr>
                            <a:rPr lang="mr-IN" altLang="zh-CN" i="1" dirty="0">
                              <a:latin typeface="Cambria Math" charset="0"/>
                            </a:rPr>
                          </m:ctrlPr>
                        </m:dPr>
                        <m:e>
                          <m:sSub>
                            <m:sSubPr>
                              <m:ctrlPr>
                                <a:rPr lang="en-US" altLang="zh-CN" i="1" dirty="0">
                                  <a:latin typeface="Cambria Math" charset="0"/>
                                </a:rPr>
                              </m:ctrlPr>
                            </m:sSubPr>
                            <m:e>
                              <m:r>
                                <a:rPr lang="en-US" altLang="zh-CN" i="1" dirty="0">
                                  <a:latin typeface="Cambria Math" charset="0"/>
                                </a:rPr>
                                <m:t>𝑆</m:t>
                              </m:r>
                            </m:e>
                            <m:sub>
                              <m:r>
                                <a:rPr lang="en-US" altLang="zh-CN" i="1" dirty="0">
                                  <a:latin typeface="Cambria Math" charset="0"/>
                                </a:rPr>
                                <m:t>1</m:t>
                              </m:r>
                            </m:sub>
                          </m:sSub>
                          <m:r>
                            <a:rPr lang="en-US" altLang="zh-CN" b="0" i="1" dirty="0" smtClean="0">
                              <a:latin typeface="Cambria Math" charset="0"/>
                            </a:rPr>
                            <m:t>∪{</m:t>
                          </m:r>
                          <m:r>
                            <a:rPr lang="en-US" altLang="zh-CN" b="0" i="1" dirty="0" smtClean="0">
                              <a:latin typeface="Cambria Math" charset="0"/>
                            </a:rPr>
                            <m:t>𝑢</m:t>
                          </m:r>
                          <m:r>
                            <a:rPr lang="en-US" altLang="zh-CN" b="0" i="1" dirty="0" smtClean="0">
                              <a:latin typeface="Cambria Math" charset="0"/>
                            </a:rPr>
                            <m:t>}</m:t>
                          </m:r>
                        </m:e>
                      </m:d>
                      <m:r>
                        <a:rPr lang="en-US" altLang="zh-CN" b="0" i="1" dirty="0" smtClean="0">
                          <a:latin typeface="Cambria Math" charset="0"/>
                        </a:rPr>
                        <m:t>−</m:t>
                      </m:r>
                      <m:r>
                        <a:rPr lang="mr-IN" altLang="zh-CN" i="1" dirty="0">
                          <a:latin typeface="Cambria Math" charset="0"/>
                        </a:rPr>
                        <m:t>𝜎</m:t>
                      </m:r>
                      <m:d>
                        <m:dPr>
                          <m:ctrlPr>
                            <a:rPr lang="mr-IN" altLang="zh-CN" i="1" dirty="0">
                              <a:latin typeface="Cambria Math" charset="0"/>
                            </a:rPr>
                          </m:ctrlPr>
                        </m:dPr>
                        <m:e>
                          <m:sSub>
                            <m:sSubPr>
                              <m:ctrlPr>
                                <a:rPr lang="en-US" altLang="zh-CN" i="1" dirty="0">
                                  <a:latin typeface="Cambria Math" charset="0"/>
                                </a:rPr>
                              </m:ctrlPr>
                            </m:sSubPr>
                            <m:e>
                              <m:r>
                                <a:rPr lang="en-US" altLang="zh-CN" i="1" dirty="0">
                                  <a:latin typeface="Cambria Math" charset="0"/>
                                </a:rPr>
                                <m:t>𝑆</m:t>
                              </m:r>
                            </m:e>
                            <m:sub>
                              <m:r>
                                <a:rPr lang="en-US" altLang="zh-CN" i="1" dirty="0">
                                  <a:latin typeface="Cambria Math" charset="0"/>
                                </a:rPr>
                                <m:t>1</m:t>
                              </m:r>
                            </m:sub>
                          </m:sSub>
                        </m:e>
                      </m:d>
                      <m:r>
                        <a:rPr lang="en-US" altLang="zh-CN" b="0" i="1" dirty="0" smtClean="0">
                          <a:latin typeface="Cambria Math" charset="0"/>
                        </a:rPr>
                        <m:t>≥</m:t>
                      </m:r>
                      <m:r>
                        <a:rPr lang="mr-IN" altLang="zh-CN" i="1" dirty="0">
                          <a:latin typeface="Cambria Math" charset="0"/>
                        </a:rPr>
                        <m:t>𝜎</m:t>
                      </m:r>
                      <m:d>
                        <m:dPr>
                          <m:ctrlPr>
                            <a:rPr lang="mr-IN" altLang="zh-CN" i="1" dirty="0">
                              <a:latin typeface="Cambria Math" charset="0"/>
                            </a:rPr>
                          </m:ctrlPr>
                        </m:dPr>
                        <m:e>
                          <m:sSub>
                            <m:sSubPr>
                              <m:ctrlPr>
                                <a:rPr lang="en-US" altLang="zh-CN" i="1" dirty="0" smtClean="0">
                                  <a:latin typeface="Cambria Math" charset="0"/>
                                </a:rPr>
                              </m:ctrlPr>
                            </m:sSubPr>
                            <m:e>
                              <m:r>
                                <a:rPr lang="en-US" altLang="zh-CN" i="1" dirty="0">
                                  <a:latin typeface="Cambria Math" charset="0"/>
                                </a:rPr>
                                <m:t>𝑆</m:t>
                              </m:r>
                            </m:e>
                            <m:sub>
                              <m:r>
                                <a:rPr lang="en-US" altLang="zh-CN" b="0" i="1" dirty="0" smtClean="0">
                                  <a:latin typeface="Cambria Math" charset="0"/>
                                </a:rPr>
                                <m:t>2</m:t>
                              </m:r>
                            </m:sub>
                          </m:sSub>
                          <m:r>
                            <a:rPr lang="en-US" altLang="zh-CN" b="0" i="1" dirty="0" smtClean="0">
                              <a:latin typeface="Cambria Math" charset="0"/>
                            </a:rPr>
                            <m:t>∪</m:t>
                          </m:r>
                          <m:d>
                            <m:dPr>
                              <m:begChr m:val="{"/>
                              <m:endChr m:val="}"/>
                              <m:ctrlPr>
                                <a:rPr lang="en-US" altLang="zh-CN" b="0" i="1" dirty="0" smtClean="0">
                                  <a:latin typeface="Cambria Math" charset="0"/>
                                </a:rPr>
                              </m:ctrlPr>
                            </m:dPr>
                            <m:e>
                              <m:r>
                                <a:rPr lang="en-US" altLang="zh-CN" b="0" i="1" dirty="0" smtClean="0">
                                  <a:latin typeface="Cambria Math" charset="0"/>
                                </a:rPr>
                                <m:t>𝑢</m:t>
                              </m:r>
                            </m:e>
                          </m:d>
                        </m:e>
                      </m:d>
                      <m:r>
                        <a:rPr lang="en-US" altLang="zh-CN" b="0" i="1" dirty="0" smtClean="0">
                          <a:latin typeface="Cambria Math" charset="0"/>
                        </a:rPr>
                        <m:t>−</m:t>
                      </m:r>
                      <m:r>
                        <a:rPr lang="mr-IN" altLang="zh-CN" i="1" dirty="0">
                          <a:latin typeface="Cambria Math" charset="0"/>
                        </a:rPr>
                        <m:t>𝜎</m:t>
                      </m:r>
                      <m:d>
                        <m:dPr>
                          <m:ctrlPr>
                            <a:rPr lang="mr-IN" altLang="zh-CN" i="1" dirty="0">
                              <a:latin typeface="Cambria Math" charset="0"/>
                            </a:rPr>
                          </m:ctrlPr>
                        </m:dPr>
                        <m:e>
                          <m:sSub>
                            <m:sSubPr>
                              <m:ctrlPr>
                                <a:rPr lang="en-US" altLang="zh-CN" i="1" dirty="0">
                                  <a:latin typeface="Cambria Math" charset="0"/>
                                </a:rPr>
                              </m:ctrlPr>
                            </m:sSubPr>
                            <m:e>
                              <m:r>
                                <a:rPr lang="en-US" altLang="zh-CN" i="1" dirty="0">
                                  <a:latin typeface="Cambria Math" charset="0"/>
                                </a:rPr>
                                <m:t>𝑆</m:t>
                              </m:r>
                            </m:e>
                            <m:sub>
                              <m:r>
                                <a:rPr lang="en-US" altLang="zh-CN" b="0" i="1" dirty="0" smtClean="0">
                                  <a:latin typeface="Cambria Math" charset="0"/>
                                </a:rPr>
                                <m:t>2</m:t>
                              </m:r>
                            </m:sub>
                          </m:sSub>
                        </m:e>
                      </m:d>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725578" y="4448491"/>
                <a:ext cx="4419287" cy="276999"/>
              </a:xfrm>
              <a:prstGeom prst="rect">
                <a:avLst/>
              </a:prstGeom>
              <a:blipFill rotWithShape="0">
                <a:blip r:embed="rId5"/>
                <a:stretch>
                  <a:fillRect t="-4444" b="-35556"/>
                </a:stretch>
              </a:blipFill>
            </p:spPr>
            <p:txBody>
              <a:bodyPr/>
              <a:lstStyle/>
              <a:p>
                <a:r>
                  <a:rPr lang="en-US">
                    <a:noFill/>
                  </a:rPr>
                  <a:t> </a:t>
                </a:r>
              </a:p>
            </p:txBody>
          </p:sp>
        </mc:Fallback>
      </mc:AlternateContent>
    </p:spTree>
    <p:extLst>
      <p:ext uri="{BB962C8B-B14F-4D97-AF65-F5344CB8AC3E}">
        <p14:creationId xmlns:p14="http://schemas.microsoft.com/office/powerpoint/2010/main" val="1010714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什么是次模性（</a:t>
            </a:r>
            <a:r>
              <a:rPr lang="en-US" altLang="zh-CN" dirty="0">
                <a:latin typeface="Calibri" charset="0"/>
                <a:ea typeface="Calibri" charset="0"/>
                <a:cs typeface="Calibri" charset="0"/>
              </a:rPr>
              <a:t>Submodularity</a:t>
            </a:r>
            <a:r>
              <a:rPr lang="zh-CN" altLang="en-US" dirty="0"/>
              <a:t>）</a:t>
            </a:r>
            <a:endParaRPr lang="en-US" dirty="0"/>
          </a:p>
        </p:txBody>
      </p:sp>
      <p:sp>
        <p:nvSpPr>
          <p:cNvPr id="3" name="Content Placeholder 2"/>
          <p:cNvSpPr>
            <a:spLocks noGrp="1"/>
          </p:cNvSpPr>
          <p:nvPr>
            <p:ph idx="1"/>
          </p:nvPr>
        </p:nvSpPr>
        <p:spPr>
          <a:xfrm>
            <a:off x="457200" y="819150"/>
            <a:ext cx="8229600" cy="840838"/>
          </a:xfrm>
        </p:spPr>
        <p:txBody>
          <a:bodyPr/>
          <a:lstStyle/>
          <a:p>
            <a:r>
              <a:rPr lang="zh-CN" altLang="en-US" dirty="0"/>
              <a:t>次模函数（</a:t>
            </a:r>
            <a:r>
              <a:rPr lang="en-US" altLang="zh-CN" dirty="0"/>
              <a:t>Submodular</a:t>
            </a:r>
            <a:r>
              <a:rPr lang="zh-CN" altLang="en-US" dirty="0"/>
              <a:t> </a:t>
            </a:r>
            <a:r>
              <a:rPr lang="en-US" altLang="zh-CN" dirty="0"/>
              <a:t>Function</a:t>
            </a:r>
            <a:r>
              <a:rPr lang="zh-CN" altLang="en-US" dirty="0"/>
              <a:t>）</a:t>
            </a:r>
            <a:endParaRPr lang="en-US" altLang="zh-CN" dirty="0"/>
          </a:p>
          <a:p>
            <a:pPr lvl="1"/>
            <a:r>
              <a:rPr lang="zh-CN" altLang="en-US" dirty="0"/>
              <a:t>边际收益递减：</a:t>
            </a:r>
            <a:r>
              <a:rPr lang="en-US" altLang="zh-CN" dirty="0"/>
              <a:t>diminishing returns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659988"/>
            <a:ext cx="5063783" cy="3023313"/>
          </a:xfrm>
          <a:prstGeom prst="rect">
            <a:avLst/>
          </a:prstGeom>
        </p:spPr>
      </p:pic>
      <p:sp>
        <p:nvSpPr>
          <p:cNvPr id="5" name="Rectangle 4"/>
          <p:cNvSpPr/>
          <p:nvPr/>
        </p:nvSpPr>
        <p:spPr>
          <a:xfrm>
            <a:off x="5873261" y="1659988"/>
            <a:ext cx="3010486" cy="2775503"/>
          </a:xfrm>
          <a:prstGeom prst="rect">
            <a:avLst/>
          </a:prstGeom>
        </p:spPr>
        <p:txBody>
          <a:bodyPr wrap="square">
            <a:spAutoFit/>
          </a:bodyPr>
          <a:lstStyle/>
          <a:p>
            <a:pPr>
              <a:lnSpc>
                <a:spcPct val="150000"/>
              </a:lnSpc>
            </a:pPr>
            <a:r>
              <a:rPr lang="zh-CN" altLang="en-US" sz="2400" dirty="0">
                <a:latin typeface="STKaiti" charset="-122"/>
                <a:ea typeface="STKaiti" charset="-122"/>
                <a:cs typeface="STKaiti" charset="-122"/>
              </a:rPr>
              <a:t>人生若只如初见，</a:t>
            </a:r>
          </a:p>
          <a:p>
            <a:pPr>
              <a:lnSpc>
                <a:spcPct val="150000"/>
              </a:lnSpc>
            </a:pPr>
            <a:r>
              <a:rPr lang="zh-CN" altLang="en-US" sz="2400" dirty="0">
                <a:latin typeface="STKaiti" charset="-122"/>
                <a:ea typeface="STKaiti" charset="-122"/>
                <a:cs typeface="STKaiti" charset="-122"/>
              </a:rPr>
              <a:t>何事秋风悲画扇。</a:t>
            </a:r>
          </a:p>
          <a:p>
            <a:pPr>
              <a:lnSpc>
                <a:spcPct val="150000"/>
              </a:lnSpc>
            </a:pPr>
            <a:r>
              <a:rPr lang="zh-CN" altLang="en-US" sz="2400" dirty="0">
                <a:latin typeface="STKaiti" charset="-122"/>
                <a:ea typeface="STKaiti" charset="-122"/>
                <a:cs typeface="STKaiti" charset="-122"/>
              </a:rPr>
              <a:t>等闲变却故人心，</a:t>
            </a:r>
          </a:p>
          <a:p>
            <a:pPr>
              <a:lnSpc>
                <a:spcPct val="150000"/>
              </a:lnSpc>
            </a:pPr>
            <a:r>
              <a:rPr lang="zh-CN" altLang="en-US" sz="2400" dirty="0">
                <a:latin typeface="STKaiti" charset="-122"/>
                <a:ea typeface="STKaiti" charset="-122"/>
                <a:cs typeface="STKaiti" charset="-122"/>
              </a:rPr>
              <a:t>却道故人心易变。</a:t>
            </a:r>
            <a:endParaRPr lang="en-US" altLang="zh-CN" sz="2400" dirty="0">
              <a:latin typeface="STKaiti" charset="-122"/>
              <a:ea typeface="STKaiti" charset="-122"/>
              <a:cs typeface="STKaiti" charset="-122"/>
            </a:endParaRPr>
          </a:p>
          <a:p>
            <a:pPr algn="r">
              <a:lnSpc>
                <a:spcPct val="150000"/>
              </a:lnSpc>
            </a:pPr>
            <a:r>
              <a:rPr lang="en-US" altLang="zh-CN" sz="2400" dirty="0">
                <a:latin typeface="STKaiti" charset="-122"/>
                <a:ea typeface="STKaiti" charset="-122"/>
                <a:cs typeface="STKaiti" charset="-122"/>
              </a:rPr>
              <a:t>——</a:t>
            </a:r>
            <a:r>
              <a:rPr lang="zh-CN" altLang="en-US" sz="2400" dirty="0">
                <a:latin typeface="STKaiti" charset="-122"/>
                <a:ea typeface="STKaiti" charset="-122"/>
                <a:cs typeface="STKaiti" charset="-122"/>
              </a:rPr>
              <a:t>纳兰性德</a:t>
            </a:r>
            <a:endParaRPr lang="zh-CN" altLang="en-US" sz="2400" b="0" i="0" dirty="0">
              <a:effectLst/>
              <a:latin typeface="STKaiti" charset="-122"/>
              <a:ea typeface="STKaiti" charset="-122"/>
              <a:cs typeface="STKaiti" charset="-122"/>
            </a:endParaRPr>
          </a:p>
        </p:txBody>
      </p:sp>
    </p:spTree>
    <p:extLst>
      <p:ext uri="{BB962C8B-B14F-4D97-AF65-F5344CB8AC3E}">
        <p14:creationId xmlns:p14="http://schemas.microsoft.com/office/powerpoint/2010/main" val="485676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贪心算法的效率问题</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26756"/>
              </a:xfrm>
            </p:spPr>
            <p:txBody>
              <a:bodyPr/>
              <a:lstStyle/>
              <a:p>
                <a:r>
                  <a:rPr lang="zh-CN" altLang="en-US" dirty="0"/>
                  <a:t>基本想法</a:t>
                </a:r>
                <a:endParaRPr lang="en-US" altLang="zh-CN" dirty="0"/>
              </a:p>
              <a:p>
                <a:pPr lvl="1"/>
                <a:r>
                  <a:rPr lang="zh-CN" altLang="en-US" dirty="0"/>
                  <a:t>使用贪心的策略选择种子节点</a:t>
                </a:r>
                <a:endParaRPr lang="en-US" altLang="zh-CN" dirty="0"/>
              </a:p>
              <a:p>
                <a:pPr lvl="1"/>
                <a:r>
                  <a:rPr lang="zh-CN" altLang="en-US" dirty="0"/>
                  <a:t>每次选择使当前</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增益最大的节点</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26756"/>
              </a:xfrm>
              <a:blipFill rotWithShape="0">
                <a:blip r:embed="rId3"/>
                <a:stretch>
                  <a:fillRect l="-667" t="-2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213338" y="1919294"/>
              <a:ext cx="6717323" cy="2072640"/>
            </p:xfrm>
            <a:graphic>
              <a:graphicData uri="http://schemas.openxmlformats.org/drawingml/2006/table">
                <a:tbl>
                  <a:tblPr firstRow="1" bandRow="1">
                    <a:tableStyleId>{2D5ABB26-0587-4C30-8999-92F81FD0307C}</a:tableStyleId>
                  </a:tblPr>
                  <a:tblGrid>
                    <a:gridCol w="6717323">
                      <a:extLst>
                        <a:ext uri="{9D8B030D-6E8A-4147-A177-3AD203B41FA5}">
                          <a16:colId xmlns:a16="http://schemas.microsoft.com/office/drawing/2014/main" xmlns="" val="20000"/>
                        </a:ext>
                      </a:extLst>
                    </a:gridCol>
                  </a:tblGrid>
                  <a:tr h="1808642">
                    <a:tc>
                      <a:txBody>
                        <a:bodyPr/>
                        <a:lstStyle/>
                        <a:p>
                          <a:pPr marL="342900" indent="-342900">
                            <a:lnSpc>
                              <a:spcPct val="130000"/>
                            </a:lnSpc>
                            <a:buFont typeface="+mj-lt"/>
                            <a:buAutoNum type="arabicPeriod"/>
                          </a:pPr>
                          <a:r>
                            <a:rPr lang="en-US" sz="2000" dirty="0"/>
                            <a:t>Initialize </a:t>
                          </a:r>
                          <a14:m>
                            <m:oMath xmlns:m="http://schemas.openxmlformats.org/officeDocument/2006/math">
                              <m:r>
                                <a:rPr lang="en-US" sz="2000" i="1">
                                  <a:latin typeface="Cambria Math" panose="02040503050406030204" pitchFamily="18" charset="0"/>
                                </a:rPr>
                                <m:t>𝑆</m:t>
                              </m:r>
                              <m:r>
                                <a:rPr lang="en-US" sz="2000" i="1">
                                  <a:latin typeface="Cambria Math" panose="02040503050406030204" pitchFamily="18" charset="0"/>
                                </a:rPr>
                                <m:t>=∅</m:t>
                              </m:r>
                            </m:oMath>
                          </a14:m>
                          <a:endParaRPr lang="en-US" sz="2000" dirty="0"/>
                        </a:p>
                        <a:p>
                          <a:pPr marL="342900" indent="-342900">
                            <a:lnSpc>
                              <a:spcPct val="130000"/>
                            </a:lnSpc>
                            <a:buFont typeface="+mj-lt"/>
                            <a:buAutoNum type="arabicPeriod"/>
                          </a:pPr>
                          <a:r>
                            <a:rPr lang="en-US" sz="2000" dirty="0"/>
                            <a:t>For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𝑘</m:t>
                              </m:r>
                            </m:oMath>
                          </a14:m>
                          <a:r>
                            <a:rPr lang="en-US" sz="2000" dirty="0"/>
                            <a:t> do:</a:t>
                          </a:r>
                        </a:p>
                        <a:p>
                          <a:pPr marL="680347" lvl="1" indent="-342900">
                            <a:lnSpc>
                              <a:spcPct val="130000"/>
                            </a:lnSpc>
                            <a:buFont typeface="+mj-lt"/>
                            <a:buAutoNum type="arabicParenR"/>
                          </a:pPr>
                          <a:r>
                            <a:rPr lang="en-US" sz="2000" dirty="0"/>
                            <a:t>Select the node </a:t>
                          </a:r>
                          <a14:m>
                            <m:oMath xmlns:m="http://schemas.openxmlformats.org/officeDocument/2006/math">
                              <m:r>
                                <a:rPr lang="en-US" sz="2000" i="1" dirty="0">
                                  <a:latin typeface="Cambria Math" panose="02040503050406030204" pitchFamily="18" charset="0"/>
                                </a:rPr>
                                <m:t>𝑢</m:t>
                              </m:r>
                              <m:r>
                                <a:rPr lang="en-US" altLang="zh-CN" sz="2000" b="0" i="1" dirty="0" smtClean="0">
                                  <a:latin typeface="Cambria Math" charset="0"/>
                                </a:rPr>
                                <m:t>←</m:t>
                              </m:r>
                              <m:func>
                                <m:funcPr>
                                  <m:ctrlPr>
                                    <a:rPr lang="en-US" altLang="zh-CN" sz="2000" b="0" i="1" dirty="0" smtClean="0">
                                      <a:latin typeface="Cambria Math" charset="0"/>
                                    </a:rPr>
                                  </m:ctrlPr>
                                </m:funcPr>
                                <m:fName>
                                  <m:sSub>
                                    <m:sSubPr>
                                      <m:ctrlPr>
                                        <a:rPr lang="en-US" altLang="zh-CN" sz="2000" b="0" i="1" dirty="0" smtClean="0">
                                          <a:latin typeface="Cambria Math" charset="0"/>
                                        </a:rPr>
                                      </m:ctrlPr>
                                    </m:sSubPr>
                                    <m:e>
                                      <m:r>
                                        <m:rPr>
                                          <m:sty m:val="p"/>
                                        </m:rPr>
                                        <a:rPr lang="en-US" altLang="zh-CN" sz="2000" b="0" i="0" dirty="0" smtClean="0">
                                          <a:latin typeface="Cambria Math" charset="0"/>
                                        </a:rPr>
                                        <m:t>arg</m:t>
                                      </m:r>
                                    </m:e>
                                    <m:sub>
                                      <m:r>
                                        <a:rPr lang="en-US" altLang="zh-CN" sz="2000" b="0" i="1" dirty="0" smtClean="0">
                                          <a:latin typeface="Cambria Math" charset="0"/>
                                        </a:rPr>
                                        <m:t>𝑤</m:t>
                                      </m:r>
                                      <m:r>
                                        <a:rPr lang="en-US" altLang="zh-CN" sz="2000" b="0" i="1" dirty="0" smtClean="0">
                                          <a:latin typeface="Cambria Math" charset="0"/>
                                        </a:rPr>
                                        <m:t>∈</m:t>
                                      </m:r>
                                      <m:r>
                                        <a:rPr lang="en-US" altLang="zh-CN" sz="2000" b="0" i="1" dirty="0" smtClean="0">
                                          <a:latin typeface="Cambria Math" charset="0"/>
                                        </a:rPr>
                                        <m:t>𝑉</m:t>
                                      </m:r>
                                      <m:r>
                                        <a:rPr lang="en-US" altLang="zh-CN" sz="2000" b="0" i="1" dirty="0" smtClean="0">
                                          <a:latin typeface="Cambria Math" charset="0"/>
                                        </a:rPr>
                                        <m:t>−</m:t>
                                      </m:r>
                                      <m:r>
                                        <a:rPr lang="en-US" altLang="zh-CN" sz="2000" b="0" i="1" dirty="0" smtClean="0">
                                          <a:latin typeface="Cambria Math" charset="0"/>
                                        </a:rPr>
                                        <m:t>𝑆</m:t>
                                      </m:r>
                                    </m:sub>
                                  </m:sSub>
                                </m:fName>
                                <m:e>
                                  <m:r>
                                    <a:rPr lang="en-US" altLang="zh-CN" sz="2000" b="0" i="1" dirty="0" smtClean="0">
                                      <a:latin typeface="Cambria Math" charset="0"/>
                                    </a:rPr>
                                    <m:t>(</m:t>
                                  </m:r>
                                  <m:r>
                                    <a:rPr lang="en-US" altLang="zh-CN" sz="2000" b="0" i="1" dirty="0" smtClean="0">
                                      <a:latin typeface="Cambria Math" charset="0"/>
                                    </a:rPr>
                                    <m:t>𝜎</m:t>
                                  </m:r>
                                  <m:d>
                                    <m:dPr>
                                      <m:ctrlPr>
                                        <a:rPr lang="en-US" altLang="zh-CN" sz="2000" b="0" i="1" dirty="0" smtClean="0">
                                          <a:latin typeface="Cambria Math" charset="0"/>
                                        </a:rPr>
                                      </m:ctrlPr>
                                    </m:dPr>
                                    <m:e>
                                      <m:r>
                                        <a:rPr lang="en-US" altLang="zh-CN" sz="2000" b="0" i="1" dirty="0" smtClean="0">
                                          <a:latin typeface="Cambria Math" charset="0"/>
                                        </a:rPr>
                                        <m:t>𝑆</m:t>
                                      </m:r>
                                      <m:r>
                                        <a:rPr lang="en-US" altLang="zh-CN" sz="2000" b="0" i="1" dirty="0" smtClean="0">
                                          <a:latin typeface="Cambria Math" charset="0"/>
                                        </a:rPr>
                                        <m:t>∪</m:t>
                                      </m:r>
                                      <m:d>
                                        <m:dPr>
                                          <m:begChr m:val="{"/>
                                          <m:endChr m:val="}"/>
                                          <m:ctrlPr>
                                            <a:rPr lang="en-US" altLang="zh-CN" sz="2000" b="0" i="1" dirty="0" smtClean="0">
                                              <a:latin typeface="Cambria Math" charset="0"/>
                                            </a:rPr>
                                          </m:ctrlPr>
                                        </m:dPr>
                                        <m:e>
                                          <m:r>
                                            <a:rPr lang="en-US" altLang="zh-CN" sz="2000" b="0" i="1" dirty="0" smtClean="0">
                                              <a:latin typeface="Cambria Math" charset="0"/>
                                            </a:rPr>
                                            <m:t>𝑤</m:t>
                                          </m:r>
                                        </m:e>
                                      </m:d>
                                    </m:e>
                                  </m:d>
                                  <m:r>
                                    <a:rPr lang="en-US" altLang="zh-CN" sz="2000" b="0" i="1" dirty="0" smtClean="0">
                                      <a:latin typeface="Cambria Math" charset="0"/>
                                    </a:rPr>
                                    <m:t>−</m:t>
                                  </m:r>
                                  <m:r>
                                    <a:rPr lang="en-US" altLang="zh-CN" sz="2000" b="0" i="1" dirty="0" smtClean="0">
                                      <a:latin typeface="Cambria Math" charset="0"/>
                                    </a:rPr>
                                    <m:t>𝜎</m:t>
                                  </m:r>
                                  <m:r>
                                    <a:rPr lang="en-US" altLang="zh-CN" sz="2000" b="0" i="1" dirty="0" smtClean="0">
                                      <a:latin typeface="Cambria Math" charset="0"/>
                                    </a:rPr>
                                    <m:t>(</m:t>
                                  </m:r>
                                  <m:r>
                                    <a:rPr lang="en-US" altLang="zh-CN" sz="2000" b="0" i="1" dirty="0" smtClean="0">
                                      <a:latin typeface="Cambria Math" charset="0"/>
                                    </a:rPr>
                                    <m:t>𝑆</m:t>
                                  </m:r>
                                  <m:r>
                                    <a:rPr lang="en-US" altLang="zh-CN" sz="2000" b="0" i="1" dirty="0" smtClean="0">
                                      <a:latin typeface="Cambria Math" charset="0"/>
                                    </a:rPr>
                                    <m:t>))</m:t>
                                  </m:r>
                                </m:e>
                              </m:func>
                            </m:oMath>
                          </a14:m>
                          <a:r>
                            <a:rPr lang="en-US" sz="2000" dirty="0"/>
                            <a:t>;</a:t>
                          </a:r>
                        </a:p>
                        <a:p>
                          <a:pPr marL="680347" lvl="1" indent="-342900" algn="l" defTabSz="914400" rtl="0" eaLnBrk="1" latinLnBrk="0" hangingPunct="1">
                            <a:lnSpc>
                              <a:spcPct val="130000"/>
                            </a:lnSpc>
                            <a:buFont typeface="+mj-lt"/>
                            <a:buAutoNum type="arabicParenR"/>
                          </a:pPr>
                          <a14:m>
                            <m:oMath xmlns:m="http://schemas.openxmlformats.org/officeDocument/2006/math">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𝑢</m:t>
                              </m:r>
                              <m:r>
                                <a:rPr lang="en-US" altLang="zh-CN" sz="2000" kern="1200" dirty="0" smtClean="0">
                                  <a:solidFill>
                                    <a:schemeClr val="tx1"/>
                                  </a:solidFill>
                                  <a:latin typeface="Cambria Math" charset="0"/>
                                  <a:ea typeface="+mn-ea"/>
                                  <a:cs typeface="+mn-cs"/>
                                </a:rPr>
                                <m:t>}</m:t>
                              </m:r>
                            </m:oMath>
                          </a14:m>
                          <a:endParaRPr lang="en-US" sz="2000" kern="1200" dirty="0">
                            <a:solidFill>
                              <a:schemeClr val="tx1"/>
                            </a:solidFill>
                            <a:latin typeface="+mn-lt"/>
                            <a:ea typeface="+mn-ea"/>
                            <a:cs typeface="+mn-cs"/>
                          </a:endParaRPr>
                        </a:p>
                        <a:p>
                          <a:pPr marL="342900" indent="-342900">
                            <a:lnSpc>
                              <a:spcPct val="130000"/>
                            </a:lnSpc>
                            <a:buFont typeface="+mj-lt"/>
                            <a:buAutoNum type="arabicPeriod"/>
                          </a:pPr>
                          <a:r>
                            <a:rPr lang="en-US" sz="2000" dirty="0"/>
                            <a:t>Return </a:t>
                          </a:r>
                          <a14:m>
                            <m:oMath xmlns:m="http://schemas.openxmlformats.org/officeDocument/2006/math">
                              <m:r>
                                <a:rPr lang="en-US" sz="2000" i="1" dirty="0">
                                  <a:latin typeface="Cambria Math" panose="02040503050406030204" pitchFamily="18" charset="0"/>
                                </a:rPr>
                                <m:t>𝑆</m:t>
                              </m:r>
                            </m:oMath>
                          </a14:m>
                          <a:r>
                            <a:rPr lang="en-US" sz="2000" dirty="0"/>
                            <a:t>.</a:t>
                          </a:r>
                        </a:p>
                      </a:txBody>
                      <a:tcPr/>
                    </a:tc>
                    <a:extLst>
                      <a:ext uri="{0D108BD9-81ED-4DB2-BD59-A6C34878D82A}">
                        <a16:rowId xmlns:a16="http://schemas.microsoft.com/office/drawing/2014/main" xmlns="" val="10000"/>
                      </a:ext>
                    </a:extLst>
                  </a:tr>
                </a:tbl>
              </a:graphicData>
            </a:graphic>
          </p:graphicFrame>
        </mc:Choice>
        <mc:Fallback xmlns="">
          <p:graphicFrame>
            <p:nvGraphicFramePr>
              <p:cNvPr id="4" name="Table 3"/>
              <p:cNvGraphicFramePr>
                <a:graphicFrameLocks noGrp="1"/>
              </p:cNvGraphicFramePr>
              <p:nvPr>
                <p:extLst/>
              </p:nvPr>
            </p:nvGraphicFramePr>
            <p:xfrm>
              <a:off x="1213338" y="1919294"/>
              <a:ext cx="6717323" cy="2039874"/>
            </p:xfrm>
            <a:graphic>
              <a:graphicData uri="http://schemas.openxmlformats.org/drawingml/2006/table">
                <a:tbl>
                  <a:tblPr firstRow="1" bandRow="1">
                    <a:tableStyleId>{2D5ABB26-0587-4C30-8999-92F81FD0307C}</a:tableStyleId>
                  </a:tblPr>
                  <a:tblGrid>
                    <a:gridCol w="6717323"/>
                  </a:tblGrid>
                  <a:tr h="2039874">
                    <a:tc>
                      <a:txBody>
                        <a:bodyPr/>
                        <a:lstStyle/>
                        <a:p>
                          <a:endParaRPr lang="en-US"/>
                        </a:p>
                      </a:txBody>
                      <a:tcPr>
                        <a:blipFill rotWithShape="0">
                          <a:blip r:embed="rId4"/>
                          <a:stretch>
                            <a:fillRect b="-5357"/>
                          </a:stretch>
                        </a:blipFill>
                      </a:tcPr>
                    </a:tc>
                  </a:tr>
                </a:tbl>
              </a:graphicData>
            </a:graphic>
          </p:graphicFrame>
        </mc:Fallback>
      </mc:AlternateContent>
      <mc:AlternateContent xmlns:mc="http://schemas.openxmlformats.org/markup-compatibility/2006" xmlns:a14="http://schemas.microsoft.com/office/drawing/2010/main">
        <mc:Choice Requires="a14">
          <p:sp>
            <p:nvSpPr>
              <p:cNvPr id="5" name="Line Callout 1 4"/>
              <p:cNvSpPr/>
              <p:nvPr/>
            </p:nvSpPr>
            <p:spPr>
              <a:xfrm>
                <a:off x="5132949" y="3488787"/>
                <a:ext cx="3175781" cy="647114"/>
              </a:xfrm>
              <a:prstGeom prst="borderCallout1">
                <a:avLst>
                  <a:gd name="adj1" fmla="val -18207"/>
                  <a:gd name="adj2" fmla="val 51468"/>
                  <a:gd name="adj3" fmla="val -48369"/>
                  <a:gd name="adj4" fmla="val 369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如何高效地计算</a:t>
                </a:r>
                <a14:m>
                  <m:oMath xmlns:m="http://schemas.openxmlformats.org/officeDocument/2006/math">
                    <m:r>
                      <a:rPr lang="en-US" altLang="zh-CN" i="1">
                        <a:latin typeface="Cambria Math" charset="0"/>
                      </a:rPr>
                      <m:t>𝜎</m:t>
                    </m:r>
                    <m:r>
                      <a:rPr lang="en-US" altLang="zh-CN" i="1">
                        <a:latin typeface="Cambria Math" charset="0"/>
                      </a:rPr>
                      <m:t>(</m:t>
                    </m:r>
                    <m:r>
                      <a:rPr lang="en-US" altLang="zh-CN" i="1">
                        <a:latin typeface="Cambria Math" charset="0"/>
                      </a:rPr>
                      <m:t>𝑆</m:t>
                    </m:r>
                    <m:r>
                      <a:rPr lang="en-US" altLang="zh-CN" i="1">
                        <a:latin typeface="Cambria Math" charset="0"/>
                      </a:rPr>
                      <m:t>)</m:t>
                    </m:r>
                  </m:oMath>
                </a14:m>
                <a:r>
                  <a:rPr lang="zh-CN" altLang="en-US" dirty="0"/>
                  <a:t>增益</a:t>
                </a:r>
                <a:endParaRPr lang="en-US" dirty="0"/>
              </a:p>
            </p:txBody>
          </p:sp>
        </mc:Choice>
        <mc:Fallback xmlns="">
          <p:sp>
            <p:nvSpPr>
              <p:cNvPr id="5" name="Line Callout 1 4"/>
              <p:cNvSpPr>
                <a:spLocks noRot="1" noChangeAspect="1" noMove="1" noResize="1" noEditPoints="1" noAdjustHandles="1" noChangeArrowheads="1" noChangeShapeType="1" noTextEdit="1"/>
              </p:cNvSpPr>
              <p:nvPr/>
            </p:nvSpPr>
            <p:spPr>
              <a:xfrm>
                <a:off x="5132949" y="3488787"/>
                <a:ext cx="3175781" cy="647114"/>
              </a:xfrm>
              <a:prstGeom prst="borderCallout1">
                <a:avLst>
                  <a:gd name="adj1" fmla="val -18207"/>
                  <a:gd name="adj2" fmla="val 51468"/>
                  <a:gd name="adj3" fmla="val -48369"/>
                  <a:gd name="adj4" fmla="val 36972"/>
                </a:avLst>
              </a:prstGeom>
              <a:blipFill rotWithShape="0">
                <a:blip r:embed="rId5"/>
                <a:stretch>
                  <a:fillRect/>
                </a:stretch>
              </a:blipFill>
            </p:spPr>
            <p:txBody>
              <a:bodyPr/>
              <a:lstStyle/>
              <a:p>
                <a:r>
                  <a:rPr lang="en-US">
                    <a:noFill/>
                  </a:rPr>
                  <a:t> </a:t>
                </a:r>
              </a:p>
            </p:txBody>
          </p:sp>
        </mc:Fallback>
      </mc:AlternateContent>
      <p:sp>
        <p:nvSpPr>
          <p:cNvPr id="6" name="Rectangle 5"/>
          <p:cNvSpPr/>
          <p:nvPr/>
        </p:nvSpPr>
        <p:spPr>
          <a:xfrm>
            <a:off x="1213338" y="4318781"/>
            <a:ext cx="6717323" cy="369332"/>
          </a:xfrm>
          <a:prstGeom prst="rect">
            <a:avLst/>
          </a:prstGeom>
        </p:spPr>
        <p:txBody>
          <a:bodyPr wrap="square">
            <a:spAutoFit/>
          </a:bodyPr>
          <a:lstStyle/>
          <a:p>
            <a:r>
              <a:rPr lang="en-US" dirty="0">
                <a:hlinkClick r:id="rId6"/>
              </a:rPr>
              <a:t>http://www1.se.cuhk.edu.hk/~seem5010/slides/p1029-chen.pdf</a:t>
            </a:r>
            <a:endParaRPr lang="en-US" dirty="0"/>
          </a:p>
        </p:txBody>
      </p:sp>
      <p:sp>
        <p:nvSpPr>
          <p:cNvPr id="8" name="Rectangle 7"/>
          <p:cNvSpPr/>
          <p:nvPr/>
        </p:nvSpPr>
        <p:spPr>
          <a:xfrm>
            <a:off x="1213338" y="4010581"/>
            <a:ext cx="2954655" cy="369332"/>
          </a:xfrm>
          <a:prstGeom prst="rect">
            <a:avLst/>
          </a:prstGeom>
        </p:spPr>
        <p:txBody>
          <a:bodyPr wrap="none">
            <a:spAutoFit/>
          </a:bodyPr>
          <a:lstStyle/>
          <a:p>
            <a:r>
              <a:rPr lang="zh-CN" altLang="en-US"/>
              <a:t>算法效率优化的论文参考：</a:t>
            </a:r>
            <a:endParaRPr lang="en-US" dirty="0"/>
          </a:p>
        </p:txBody>
      </p:sp>
    </p:spTree>
    <p:extLst>
      <p:ext uri="{BB962C8B-B14F-4D97-AF65-F5344CB8AC3E}">
        <p14:creationId xmlns:p14="http://schemas.microsoft.com/office/powerpoint/2010/main" val="178988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课后练习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418807"/>
              </a:xfrm>
            </p:spPr>
            <p:txBody>
              <a:bodyPr/>
              <a:lstStyle/>
              <a:p>
                <a:r>
                  <a:rPr lang="zh-CN" altLang="en-US" dirty="0"/>
                  <a:t>请使用贪心算法计算下图在</a:t>
                </a:r>
                <a14:m>
                  <m:oMath xmlns:m="http://schemas.openxmlformats.org/officeDocument/2006/math">
                    <m:r>
                      <a:rPr lang="en-US" altLang="zh-CN" i="1" dirty="0" smtClean="0">
                        <a:latin typeface="Cambria Math" charset="0"/>
                      </a:rPr>
                      <m:t>𝑘</m:t>
                    </m:r>
                    <m:r>
                      <a:rPr lang="en-US" altLang="zh-CN" i="1" dirty="0" smtClean="0">
                        <a:latin typeface="Cambria Math" charset="0"/>
                      </a:rPr>
                      <m:t>=2</m:t>
                    </m:r>
                  </m:oMath>
                </a14:m>
                <a:r>
                  <a:rPr lang="zh-CN" altLang="en-US" dirty="0"/>
                  <a:t>时的最优种子集合</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418807"/>
              </a:xfrm>
              <a:blipFill rotWithShape="0">
                <a:blip r:embed="rId2"/>
                <a:stretch>
                  <a:fillRect l="-667" t="-7246" b="-20290"/>
                </a:stretch>
              </a:blipFill>
            </p:spPr>
            <p:txBody>
              <a:bodyPr/>
              <a:lstStyle/>
              <a:p>
                <a:r>
                  <a:rPr lang="en-US">
                    <a:noFill/>
                  </a:rPr>
                  <a:t> </a:t>
                </a:r>
              </a:p>
            </p:txBody>
          </p:sp>
        </mc:Fallback>
      </mc:AlternateContent>
      <p:grpSp>
        <p:nvGrpSpPr>
          <p:cNvPr id="4" name="Group 3"/>
          <p:cNvGrpSpPr/>
          <p:nvPr/>
        </p:nvGrpSpPr>
        <p:grpSpPr>
          <a:xfrm>
            <a:off x="3016623" y="1505360"/>
            <a:ext cx="3567057" cy="2876576"/>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Tree>
    <p:extLst>
      <p:ext uri="{BB962C8B-B14F-4D97-AF65-F5344CB8AC3E}">
        <p14:creationId xmlns:p14="http://schemas.microsoft.com/office/powerpoint/2010/main" val="135859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12449</TotalTime>
  <Words>6079</Words>
  <Application>Microsoft Macintosh PowerPoint</Application>
  <PresentationFormat>On-screen Show (16:9)</PresentationFormat>
  <Paragraphs>1178</Paragraphs>
  <Slides>74</Slides>
  <Notes>42</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74</vt:i4>
      </vt:variant>
    </vt:vector>
  </HeadingPairs>
  <TitlesOfParts>
    <vt:vector size="92" baseType="lpstr">
      <vt:lpstr>Calibri</vt:lpstr>
      <vt:lpstr>Cambria Math</vt:lpstr>
      <vt:lpstr>CMSS10</vt:lpstr>
      <vt:lpstr>Mangal</vt:lpstr>
      <vt:lpstr>Microsoft YaHei</vt:lpstr>
      <vt:lpstr>STKaiti</vt:lpstr>
      <vt:lpstr>STZhongsong</vt:lpstr>
      <vt:lpstr>Times New Roman</vt:lpstr>
      <vt:lpstr>Times-Roman</vt:lpstr>
      <vt:lpstr>Wingdings</vt:lpstr>
      <vt:lpstr>Wingdings 2</vt:lpstr>
      <vt:lpstr>宋体</vt:lpstr>
      <vt:lpstr>微软雅黑</vt:lpstr>
      <vt:lpstr>方正超粗黑简体</vt:lpstr>
      <vt:lpstr>隶书</vt:lpstr>
      <vt:lpstr>Arial</vt:lpstr>
      <vt:lpstr>清风素材 https://12sc.taobao.com/</vt:lpstr>
      <vt:lpstr>1_清风素材 https://12sc.taobao.com/</vt:lpstr>
      <vt:lpstr>PowerPoint Presentation</vt:lpstr>
      <vt:lpstr>PowerPoint Presentation</vt:lpstr>
      <vt:lpstr>度量有向图节点的重要性</vt:lpstr>
      <vt:lpstr>PageRank的基本思想</vt:lpstr>
      <vt:lpstr>PageRank的基本思想</vt:lpstr>
      <vt:lpstr>PageRank的基本思想</vt:lpstr>
      <vt:lpstr>PageRank的基本思想</vt:lpstr>
      <vt:lpstr>PageRank的矩阵计算</vt:lpstr>
      <vt:lpstr>PageRank的矩阵计算</vt:lpstr>
      <vt:lpstr>思考：PageRank的结果与p的初值有关吗？</vt:lpstr>
      <vt:lpstr>思考：PageRank的结果与p的初值有关吗？</vt:lpstr>
      <vt:lpstr>思考：PageRank的结果与p的初值有关吗？</vt:lpstr>
      <vt:lpstr>思考：PageRank的结果与p的初值有关吗？</vt:lpstr>
      <vt:lpstr>PageRank分值稳定代表了什么？</vt:lpstr>
      <vt:lpstr>考虑一个反例……</vt:lpstr>
      <vt:lpstr>马尔科夫链视角下的PageRank</vt:lpstr>
      <vt:lpstr>马尔科夫链</vt:lpstr>
      <vt:lpstr>马尔科夫链视角下的PageRank</vt:lpstr>
      <vt:lpstr>然而，真实的图结构是复杂的</vt:lpstr>
      <vt:lpstr>标准PageRank算法</vt:lpstr>
      <vt:lpstr>再次考虑之前的反例……</vt:lpstr>
      <vt:lpstr>使用PageRank计算恋爱图的Centrality</vt:lpstr>
      <vt:lpstr>PageRank的性质</vt:lpstr>
      <vt:lpstr>PageRank在Web Search中的应用</vt:lpstr>
      <vt:lpstr>PageRank在Web Search中的应用</vt:lpstr>
      <vt:lpstr>Personalized PageRank</vt:lpstr>
      <vt:lpstr>Personalized PageRank</vt:lpstr>
      <vt:lpstr>Personalized PageRank与p的初值有关吗？</vt:lpstr>
      <vt:lpstr>Personalized PageRank与p的初值有关吗？</vt:lpstr>
      <vt:lpstr>Personalized PageRank与p的初值有关吗？</vt:lpstr>
      <vt:lpstr>Personalized PageRank与p的初值有关吗？</vt:lpstr>
      <vt:lpstr>PowerPoint Presentation</vt:lpstr>
      <vt:lpstr>PowerPoint Presentation</vt:lpstr>
      <vt:lpstr>课堂练习</vt:lpstr>
      <vt:lpstr>练习题</vt:lpstr>
      <vt:lpstr>PowerPoint Presentation</vt:lpstr>
      <vt:lpstr>社交影响力（Social Influence）</vt:lpstr>
      <vt:lpstr>社交影响力（Social Influence）</vt:lpstr>
      <vt:lpstr>如何建模社交网络信息传播</vt:lpstr>
      <vt:lpstr>建立有向图模型</vt:lpstr>
      <vt:lpstr>Independent Cascades模型</vt:lpstr>
      <vt:lpstr>Independent Cascades模型</vt:lpstr>
      <vt:lpstr>Independent Cascades模型</vt:lpstr>
      <vt:lpstr>Independent Cascades模型</vt:lpstr>
      <vt:lpstr>如何干预信息的传播过程</vt:lpstr>
      <vt:lpstr>Independent Cascades模型</vt:lpstr>
      <vt:lpstr>影响力最大化（Influence Maximization）</vt:lpstr>
      <vt:lpstr>PowerPoint Presentation</vt:lpstr>
      <vt:lpstr>解决思路</vt:lpstr>
      <vt:lpstr>Degree Discount算法</vt:lpstr>
      <vt:lpstr>Degree Discount算法</vt:lpstr>
      <vt:lpstr>Degree Discount算法</vt:lpstr>
      <vt:lpstr>Degree Discount算法</vt:lpstr>
      <vt:lpstr>Degree Discount算法</vt:lpstr>
      <vt:lpstr>Degree Discount算法</vt:lpstr>
      <vt:lpstr>Degree Discount算法</vt:lpstr>
      <vt:lpstr>Degree Discount算法</vt:lpstr>
      <vt:lpstr>课堂练习</vt:lpstr>
      <vt:lpstr>PowerPoint Presentation</vt:lpstr>
      <vt:lpstr>Degree Discount算法的局限性</vt:lpstr>
      <vt:lpstr>节点的间接影响力</vt:lpstr>
      <vt:lpstr>启发式规则</vt:lpstr>
      <vt:lpstr>如何求出激活概率最大的路径？</vt:lpstr>
      <vt:lpstr>如何求出激活概率最大的路径？</vt:lpstr>
      <vt:lpstr>如何求出激活概率最大的路径？</vt:lpstr>
      <vt:lpstr>如何度量节点被多条路径激活？</vt:lpstr>
      <vt:lpstr>如何度量节点被多条路径激活？</vt:lpstr>
      <vt:lpstr>如何度量节点被多条路径激活？</vt:lpstr>
      <vt:lpstr>如何度量节点被多条路径激活？</vt:lpstr>
      <vt:lpstr>贪心算法</vt:lpstr>
      <vt:lpstr>如何度量节点被多条路径激活？</vt:lpstr>
      <vt:lpstr>什么是次模性（Submodularity）</vt:lpstr>
      <vt:lpstr>贪心算法的效率问题</vt:lpstr>
      <vt:lpstr>课后练习</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范 举</cp:lastModifiedBy>
  <cp:revision>502</cp:revision>
  <cp:lastPrinted>2020-06-02T01:32:01Z</cp:lastPrinted>
  <dcterms:created xsi:type="dcterms:W3CDTF">2015-01-23T04:02:45Z</dcterms:created>
  <dcterms:modified xsi:type="dcterms:W3CDTF">2025-12-25T14:53:17Z</dcterms:modified>
  <cp:category/>
  <cp:contentStatus>12sc.taobao.com</cp:contentStatus>
</cp:coreProperties>
</file>