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54"/>
  </p:notesMasterIdLst>
  <p:sldIdLst>
    <p:sldId id="960" r:id="rId3"/>
    <p:sldId id="1004" r:id="rId4"/>
    <p:sldId id="982" r:id="rId5"/>
    <p:sldId id="984" r:id="rId6"/>
    <p:sldId id="856" r:id="rId7"/>
    <p:sldId id="857" r:id="rId8"/>
    <p:sldId id="855" r:id="rId9"/>
    <p:sldId id="859" r:id="rId10"/>
    <p:sldId id="961" r:id="rId11"/>
    <p:sldId id="854" r:id="rId12"/>
    <p:sldId id="860" r:id="rId13"/>
    <p:sldId id="861" r:id="rId14"/>
    <p:sldId id="862" r:id="rId15"/>
    <p:sldId id="991" r:id="rId16"/>
    <p:sldId id="863" r:id="rId17"/>
    <p:sldId id="864" r:id="rId18"/>
    <p:sldId id="865" r:id="rId19"/>
    <p:sldId id="992" r:id="rId20"/>
    <p:sldId id="993" r:id="rId21"/>
    <p:sldId id="874" r:id="rId22"/>
    <p:sldId id="866" r:id="rId23"/>
    <p:sldId id="994" r:id="rId24"/>
    <p:sldId id="867" r:id="rId25"/>
    <p:sldId id="868" r:id="rId26"/>
    <p:sldId id="870" r:id="rId27"/>
    <p:sldId id="997" r:id="rId28"/>
    <p:sldId id="998" r:id="rId29"/>
    <p:sldId id="869" r:id="rId30"/>
    <p:sldId id="872" r:id="rId31"/>
    <p:sldId id="873" r:id="rId32"/>
    <p:sldId id="871" r:id="rId33"/>
    <p:sldId id="875" r:id="rId34"/>
    <p:sldId id="995" r:id="rId35"/>
    <p:sldId id="996" r:id="rId36"/>
    <p:sldId id="876" r:id="rId37"/>
    <p:sldId id="1007" r:id="rId38"/>
    <p:sldId id="878" r:id="rId39"/>
    <p:sldId id="887" r:id="rId40"/>
    <p:sldId id="879" r:id="rId41"/>
    <p:sldId id="880" r:id="rId42"/>
    <p:sldId id="882" r:id="rId43"/>
    <p:sldId id="883" r:id="rId44"/>
    <p:sldId id="999" r:id="rId45"/>
    <p:sldId id="890" r:id="rId46"/>
    <p:sldId id="888" r:id="rId47"/>
    <p:sldId id="889" r:id="rId48"/>
    <p:sldId id="884" r:id="rId49"/>
    <p:sldId id="1000" r:id="rId50"/>
    <p:sldId id="1001" r:id="rId51"/>
    <p:sldId id="1002" r:id="rId52"/>
    <p:sldId id="1003" r:id="rId53"/>
  </p:sldIdLst>
  <p:sldSz cx="9144000" cy="5143500" type="screen16x9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35"/>
    <a:srgbClr val="4F81BD"/>
    <a:srgbClr val="DD8452"/>
    <a:srgbClr val="55A868"/>
    <a:srgbClr val="FEC002"/>
    <a:srgbClr val="ED7D31"/>
    <a:srgbClr val="46BCDE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19" autoAdjust="0"/>
    <p:restoredTop sz="83516" autoAdjust="0"/>
  </p:normalViewPr>
  <p:slideViewPr>
    <p:cSldViewPr snapToGrid="0">
      <p:cViewPr>
        <p:scale>
          <a:sx n="97" d="100"/>
          <a:sy n="97" d="100"/>
        </p:scale>
        <p:origin x="2128" y="1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notesMaster" Target="notesMasters/notesMaster1.xml"/><Relationship Id="rId55" Type="http://schemas.openxmlformats.org/officeDocument/2006/relationships/tags" Target="tags/tag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453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537CBA-0E44-4282-A4F0-C3BCC1A4C2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23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423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4208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71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答案：</a:t>
            </a:r>
            <a:r>
              <a:rPr lang="en-US" altLang="zh-CN" dirty="0" err="1"/>
              <a:t>ahat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1/2;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bhat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5/6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60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6.6</a:t>
            </a:r>
            <a:r>
              <a:rPr lang="zh-CN" altLang="en-US" dirty="0"/>
              <a:t>和</a:t>
            </a:r>
            <a:r>
              <a:rPr lang="en-US" altLang="zh-CN" dirty="0"/>
              <a:t>5.5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483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6.6</a:t>
            </a:r>
            <a:r>
              <a:rPr lang="zh-CN" altLang="en-US" dirty="0"/>
              <a:t>和</a:t>
            </a:r>
            <a:r>
              <a:rPr lang="en-US" altLang="zh-CN" dirty="0"/>
              <a:t>5.5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002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xmlns="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0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xmlns="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1.jpg"/><Relationship Id="rId18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70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9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tags" Target="../tags/tag2.xml"/><Relationship Id="rId2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0.png"/><Relationship Id="rId3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0.png"/><Relationship Id="rId3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0.png"/><Relationship Id="rId3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43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0.png"/><Relationship Id="rId3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eg"/><Relationship Id="rId3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4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68379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571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-74527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85940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85940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78371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：数据建模与回归分析（上）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xmlns="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90885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范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举教授         </a:t>
            </a:r>
            <a:r>
              <a:rPr kumimoji="1" lang="mr-IN" altLang="zh-CN" b="1" kern="0" dirty="0" err="1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prstClr val="white"/>
              </a:solidFill>
              <a:latin typeface="Times-Roman" charset="0"/>
              <a:ea typeface="隶书" pitchFamily="49" charset="-122"/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xmlns="" id="{9951EC0A-19E6-B749-9332-D3931CB533BE}"/>
              </a:ext>
            </a:extLst>
          </p:cNvPr>
          <p:cNvSpPr txBox="1">
            <a:spLocks/>
          </p:cNvSpPr>
          <p:nvPr/>
        </p:nvSpPr>
        <p:spPr>
          <a:xfrm>
            <a:off x="0" y="2996097"/>
            <a:ext cx="9144000" cy="4988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“数据科学导论”专业核心课</a:t>
            </a:r>
            <a:endParaRPr 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191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探索数据分析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C00000"/>
                </a:solidFill>
              </a:rPr>
              <a:t>迭代</a:t>
            </a:r>
            <a:r>
              <a:rPr lang="zh-CN" altLang="en-US" dirty="0">
                <a:solidFill>
                  <a:srgbClr val="C00000"/>
                </a:solidFill>
              </a:rPr>
              <a:t>工作流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BEBC7A-FD02-486B-81B5-A845787C689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4" descr="See the source image">
            <a:extLst>
              <a:ext uri="{FF2B5EF4-FFF2-40B4-BE49-F238E27FC236}">
                <a16:creationId xmlns:a16="http://schemas.microsoft.com/office/drawing/2014/main" xmlns="" id="{AF9411DD-B67E-E047-8674-4D5270E1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66" y="1493056"/>
            <a:ext cx="995540" cy="99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Educational Theory and Practice: Teaching to Learn">
            <a:extLst>
              <a:ext uri="{FF2B5EF4-FFF2-40B4-BE49-F238E27FC236}">
                <a16:creationId xmlns:a16="http://schemas.microsoft.com/office/drawing/2014/main" xmlns="" id="{E1242FAE-5D34-4342-8BD3-051EF8D24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252" y="1427288"/>
            <a:ext cx="987892" cy="98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77312953-4F0C-8147-8AA3-5EF1A5AE829F}"/>
              </a:ext>
            </a:extLst>
          </p:cNvPr>
          <p:cNvGrpSpPr/>
          <p:nvPr/>
        </p:nvGrpSpPr>
        <p:grpSpPr>
          <a:xfrm>
            <a:off x="2028098" y="1410601"/>
            <a:ext cx="5038962" cy="1651307"/>
            <a:chOff x="2242867" y="1109557"/>
            <a:chExt cx="5038962" cy="1651307"/>
          </a:xfrm>
        </p:grpSpPr>
        <p:sp>
          <p:nvSpPr>
            <p:cNvPr id="23" name="Rectangle 22" descr="再生纸">
              <a:extLst>
                <a:ext uri="{FF2B5EF4-FFF2-40B4-BE49-F238E27FC236}">
                  <a16:creationId xmlns:a16="http://schemas.microsoft.com/office/drawing/2014/main" xmlns="" id="{432DA395-D40C-2144-A047-97DE0FAC5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867" y="1112618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采集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Rectangle 23" descr="再生纸">
              <a:extLst>
                <a:ext uri="{FF2B5EF4-FFF2-40B4-BE49-F238E27FC236}">
                  <a16:creationId xmlns:a16="http://schemas.microsoft.com/office/drawing/2014/main" xmlns="" id="{BE01A64B-E92F-1A45-A4C6-01DB7E3F7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990" y="1112618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准备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Rectangle 24" descr="再生纸">
              <a:extLst>
                <a:ext uri="{FF2B5EF4-FFF2-40B4-BE49-F238E27FC236}">
                  <a16:creationId xmlns:a16="http://schemas.microsoft.com/office/drawing/2014/main" xmlns="" id="{8134BFE4-C3B1-1B4A-AB66-6AA633904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113" y="1110602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探索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xmlns="" id="{4B5A9933-E2D1-2C4C-A7B1-0987FDFA97DF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3041337" y="1934934"/>
              <a:ext cx="261653" cy="0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xmlns="" id="{74039D2F-BE54-1146-AF8A-55D6BDC434D8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 flipV="1">
              <a:off x="4101460" y="1932918"/>
              <a:ext cx="261653" cy="2016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sp>
          <p:nvSpPr>
            <p:cNvPr id="32" name="Rectangle 31" descr="再生纸">
              <a:extLst>
                <a:ext uri="{FF2B5EF4-FFF2-40B4-BE49-F238E27FC236}">
                  <a16:creationId xmlns:a16="http://schemas.microsoft.com/office/drawing/2014/main" xmlns="" id="{BBD36A06-EC22-B04F-ABFE-8D7CDD40B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236" y="1116232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建模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Rectangle 32" descr="再生纸">
              <a:extLst>
                <a:ext uri="{FF2B5EF4-FFF2-40B4-BE49-F238E27FC236}">
                  <a16:creationId xmlns:a16="http://schemas.microsoft.com/office/drawing/2014/main" xmlns="" id="{A1583949-3D3E-464A-A707-8904EDA31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3359" y="1109557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展示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2F1D232F-E60D-4D43-8E54-862304AC51B3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>
              <a:off x="5161583" y="1932918"/>
              <a:ext cx="261653" cy="5630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xmlns="" id="{4F2625BE-45DB-1948-BD98-51755AD3FF5A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6221706" y="1931873"/>
              <a:ext cx="261653" cy="6675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</p:grpSp>
      <p:sp>
        <p:nvSpPr>
          <p:cNvPr id="43" name="PA-A000320150529F30PPSH-3574">
            <a:extLst>
              <a:ext uri="{FF2B5EF4-FFF2-40B4-BE49-F238E27FC236}">
                <a16:creationId xmlns:a16="http://schemas.microsoft.com/office/drawing/2014/main" xmlns="" id="{C78E604D-4F74-5B4A-9572-AD7AF3DC1E65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534025" y="2033907"/>
            <a:ext cx="353236" cy="400110"/>
          </a:xfrm>
          <a:custGeom>
            <a:avLst/>
            <a:gdLst>
              <a:gd name="T0" fmla="*/ 195102655 w 13050"/>
              <a:gd name="T1" fmla="*/ 195059630 h 10203"/>
              <a:gd name="T2" fmla="*/ 195102655 w 13050"/>
              <a:gd name="T3" fmla="*/ 195059630 h 10203"/>
              <a:gd name="T4" fmla="*/ 195102655 w 13050"/>
              <a:gd name="T5" fmla="*/ 195059630 h 10203"/>
              <a:gd name="T6" fmla="*/ 195102655 w 13050"/>
              <a:gd name="T7" fmla="*/ 195059630 h 10203"/>
              <a:gd name="T8" fmla="*/ 195102655 w 13050"/>
              <a:gd name="T9" fmla="*/ 195059630 h 10203"/>
              <a:gd name="T10" fmla="*/ 195102655 w 13050"/>
              <a:gd name="T11" fmla="*/ 195059630 h 10203"/>
              <a:gd name="T12" fmla="*/ 195102655 w 13050"/>
              <a:gd name="T13" fmla="*/ 195059630 h 10203"/>
              <a:gd name="T14" fmla="*/ 195102655 w 13050"/>
              <a:gd name="T15" fmla="*/ 195059630 h 10203"/>
              <a:gd name="T16" fmla="*/ 195102655 w 13050"/>
              <a:gd name="T17" fmla="*/ 195059630 h 10203"/>
              <a:gd name="T18" fmla="*/ 195102655 w 13050"/>
              <a:gd name="T19" fmla="*/ 195059630 h 10203"/>
              <a:gd name="T20" fmla="*/ 195102655 w 13050"/>
              <a:gd name="T21" fmla="*/ 195059630 h 10203"/>
              <a:gd name="T22" fmla="*/ 195102655 w 13050"/>
              <a:gd name="T23" fmla="*/ 195059630 h 10203"/>
              <a:gd name="T24" fmla="*/ 195102655 w 13050"/>
              <a:gd name="T25" fmla="*/ 195059630 h 10203"/>
              <a:gd name="T26" fmla="*/ 195102655 w 13050"/>
              <a:gd name="T27" fmla="*/ 195059630 h 10203"/>
              <a:gd name="T28" fmla="*/ 195102655 w 13050"/>
              <a:gd name="T29" fmla="*/ 195059630 h 10203"/>
              <a:gd name="T30" fmla="*/ 195102655 w 13050"/>
              <a:gd name="T31" fmla="*/ 195059630 h 10203"/>
              <a:gd name="T32" fmla="*/ 195102655 w 13050"/>
              <a:gd name="T33" fmla="*/ 195059630 h 10203"/>
              <a:gd name="T34" fmla="*/ 195102655 w 13050"/>
              <a:gd name="T35" fmla="*/ 195059630 h 10203"/>
              <a:gd name="T36" fmla="*/ 195102655 w 13050"/>
              <a:gd name="T37" fmla="*/ 195059630 h 1020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050" h="10203">
                <a:moveTo>
                  <a:pt x="555" y="7026"/>
                </a:moveTo>
                <a:lnTo>
                  <a:pt x="6858" y="7026"/>
                </a:lnTo>
                <a:lnTo>
                  <a:pt x="6858" y="9812"/>
                </a:lnTo>
                <a:lnTo>
                  <a:pt x="10878" y="5102"/>
                </a:lnTo>
                <a:lnTo>
                  <a:pt x="6858" y="391"/>
                </a:lnTo>
                <a:lnTo>
                  <a:pt x="6858" y="3177"/>
                </a:lnTo>
                <a:lnTo>
                  <a:pt x="555" y="3177"/>
                </a:lnTo>
                <a:lnTo>
                  <a:pt x="555" y="7026"/>
                </a:lnTo>
                <a:close/>
                <a:moveTo>
                  <a:pt x="0" y="7580"/>
                </a:moveTo>
                <a:lnTo>
                  <a:pt x="0" y="2622"/>
                </a:lnTo>
                <a:lnTo>
                  <a:pt x="6303" y="2622"/>
                </a:lnTo>
                <a:lnTo>
                  <a:pt x="6303" y="0"/>
                </a:lnTo>
                <a:lnTo>
                  <a:pt x="8698" y="0"/>
                </a:lnTo>
                <a:lnTo>
                  <a:pt x="13050" y="5102"/>
                </a:lnTo>
                <a:lnTo>
                  <a:pt x="8698" y="10203"/>
                </a:lnTo>
                <a:lnTo>
                  <a:pt x="6303" y="10203"/>
                </a:lnTo>
                <a:lnTo>
                  <a:pt x="6303" y="7580"/>
                </a:lnTo>
                <a:lnTo>
                  <a:pt x="0" y="75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600"/>
          </a:p>
        </p:txBody>
      </p:sp>
      <p:sp>
        <p:nvSpPr>
          <p:cNvPr id="44" name="PA-A000320150529F30PPSH-3574">
            <a:extLst>
              <a:ext uri="{FF2B5EF4-FFF2-40B4-BE49-F238E27FC236}">
                <a16:creationId xmlns:a16="http://schemas.microsoft.com/office/drawing/2014/main" xmlns="" id="{FF15215D-37D9-E04C-9191-B6E53928587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7277832" y="2033907"/>
            <a:ext cx="353236" cy="400110"/>
          </a:xfrm>
          <a:custGeom>
            <a:avLst/>
            <a:gdLst>
              <a:gd name="T0" fmla="*/ 195102655 w 13050"/>
              <a:gd name="T1" fmla="*/ 195059630 h 10203"/>
              <a:gd name="T2" fmla="*/ 195102655 w 13050"/>
              <a:gd name="T3" fmla="*/ 195059630 h 10203"/>
              <a:gd name="T4" fmla="*/ 195102655 w 13050"/>
              <a:gd name="T5" fmla="*/ 195059630 h 10203"/>
              <a:gd name="T6" fmla="*/ 195102655 w 13050"/>
              <a:gd name="T7" fmla="*/ 195059630 h 10203"/>
              <a:gd name="T8" fmla="*/ 195102655 w 13050"/>
              <a:gd name="T9" fmla="*/ 195059630 h 10203"/>
              <a:gd name="T10" fmla="*/ 195102655 w 13050"/>
              <a:gd name="T11" fmla="*/ 195059630 h 10203"/>
              <a:gd name="T12" fmla="*/ 195102655 w 13050"/>
              <a:gd name="T13" fmla="*/ 195059630 h 10203"/>
              <a:gd name="T14" fmla="*/ 195102655 w 13050"/>
              <a:gd name="T15" fmla="*/ 195059630 h 10203"/>
              <a:gd name="T16" fmla="*/ 195102655 w 13050"/>
              <a:gd name="T17" fmla="*/ 195059630 h 10203"/>
              <a:gd name="T18" fmla="*/ 195102655 w 13050"/>
              <a:gd name="T19" fmla="*/ 195059630 h 10203"/>
              <a:gd name="T20" fmla="*/ 195102655 w 13050"/>
              <a:gd name="T21" fmla="*/ 195059630 h 10203"/>
              <a:gd name="T22" fmla="*/ 195102655 w 13050"/>
              <a:gd name="T23" fmla="*/ 195059630 h 10203"/>
              <a:gd name="T24" fmla="*/ 195102655 w 13050"/>
              <a:gd name="T25" fmla="*/ 195059630 h 10203"/>
              <a:gd name="T26" fmla="*/ 195102655 w 13050"/>
              <a:gd name="T27" fmla="*/ 195059630 h 10203"/>
              <a:gd name="T28" fmla="*/ 195102655 w 13050"/>
              <a:gd name="T29" fmla="*/ 195059630 h 10203"/>
              <a:gd name="T30" fmla="*/ 195102655 w 13050"/>
              <a:gd name="T31" fmla="*/ 195059630 h 10203"/>
              <a:gd name="T32" fmla="*/ 195102655 w 13050"/>
              <a:gd name="T33" fmla="*/ 195059630 h 10203"/>
              <a:gd name="T34" fmla="*/ 195102655 w 13050"/>
              <a:gd name="T35" fmla="*/ 195059630 h 10203"/>
              <a:gd name="T36" fmla="*/ 195102655 w 13050"/>
              <a:gd name="T37" fmla="*/ 195059630 h 1020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050" h="10203">
                <a:moveTo>
                  <a:pt x="555" y="7026"/>
                </a:moveTo>
                <a:lnTo>
                  <a:pt x="6858" y="7026"/>
                </a:lnTo>
                <a:lnTo>
                  <a:pt x="6858" y="9812"/>
                </a:lnTo>
                <a:lnTo>
                  <a:pt x="10878" y="5102"/>
                </a:lnTo>
                <a:lnTo>
                  <a:pt x="6858" y="391"/>
                </a:lnTo>
                <a:lnTo>
                  <a:pt x="6858" y="3177"/>
                </a:lnTo>
                <a:lnTo>
                  <a:pt x="555" y="3177"/>
                </a:lnTo>
                <a:lnTo>
                  <a:pt x="555" y="7026"/>
                </a:lnTo>
                <a:close/>
                <a:moveTo>
                  <a:pt x="0" y="7580"/>
                </a:moveTo>
                <a:lnTo>
                  <a:pt x="0" y="2622"/>
                </a:lnTo>
                <a:lnTo>
                  <a:pt x="6303" y="2622"/>
                </a:lnTo>
                <a:lnTo>
                  <a:pt x="6303" y="0"/>
                </a:lnTo>
                <a:lnTo>
                  <a:pt x="8698" y="0"/>
                </a:lnTo>
                <a:lnTo>
                  <a:pt x="13050" y="5102"/>
                </a:lnTo>
                <a:lnTo>
                  <a:pt x="8698" y="10203"/>
                </a:lnTo>
                <a:lnTo>
                  <a:pt x="6303" y="10203"/>
                </a:lnTo>
                <a:lnTo>
                  <a:pt x="6303" y="7580"/>
                </a:lnTo>
                <a:lnTo>
                  <a:pt x="0" y="75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600"/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xmlns="" id="{34EA2F09-CDF7-5747-ACCD-7BD2322E7CE1}"/>
              </a:ext>
            </a:extLst>
          </p:cNvPr>
          <p:cNvCxnSpPr>
            <a:cxnSpLocks/>
            <a:stCxn id="21" idx="0"/>
            <a:endCxn id="19" idx="0"/>
          </p:cNvCxnSpPr>
          <p:nvPr/>
        </p:nvCxnSpPr>
        <p:spPr>
          <a:xfrm rot="16200000" flipH="1" flipV="1">
            <a:off x="4573233" y="-2186909"/>
            <a:ext cx="65768" cy="7294162"/>
          </a:xfrm>
          <a:prstGeom prst="bentConnector3">
            <a:avLst>
              <a:gd name="adj1" fmla="val -743377"/>
            </a:avLst>
          </a:prstGeom>
          <a:solidFill>
            <a:schemeClr val="bg1"/>
          </a:solidFill>
          <a:ln w="38100" algn="ctr">
            <a:solidFill>
              <a:srgbClr val="3E79BD"/>
            </a:solidFill>
            <a:miter lim="800000"/>
            <a:headEnd type="none" w="med" len="med"/>
            <a:tailEnd type="triangle" w="med" len="med"/>
          </a:ln>
          <a:effectLst>
            <a:outerShdw dist="57150" dir="2700000" algn="ctr" rotWithShape="0">
              <a:srgbClr val="888888">
                <a:alpha val="50000"/>
              </a:srgbClr>
            </a:outerShdw>
          </a:effectLst>
        </p:spPr>
      </p:cxnSp>
      <p:pic>
        <p:nvPicPr>
          <p:cNvPr id="53" name="Picture 6" descr="查看源图像">
            <a:extLst>
              <a:ext uri="{FF2B5EF4-FFF2-40B4-BE49-F238E27FC236}">
                <a16:creationId xmlns:a16="http://schemas.microsoft.com/office/drawing/2014/main" xmlns="" id="{CAEC491B-3E81-3748-B578-6A313F7B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595" y="991742"/>
            <a:ext cx="385200" cy="38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 descr="查看源图像">
            <a:extLst>
              <a:ext uri="{FF2B5EF4-FFF2-40B4-BE49-F238E27FC236}">
                <a16:creationId xmlns:a16="http://schemas.microsoft.com/office/drawing/2014/main" xmlns="" id="{B11C0C8B-974D-6344-84F0-B50A49939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18" y="991742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查看源图像">
            <a:extLst>
              <a:ext uri="{FF2B5EF4-FFF2-40B4-BE49-F238E27FC236}">
                <a16:creationId xmlns:a16="http://schemas.microsoft.com/office/drawing/2014/main" xmlns="" id="{E3B2EBE1-3535-7F46-9BBB-A9BCED257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262" y="996882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查看源图像">
            <a:extLst>
              <a:ext uri="{FF2B5EF4-FFF2-40B4-BE49-F238E27FC236}">
                <a16:creationId xmlns:a16="http://schemas.microsoft.com/office/drawing/2014/main" xmlns="" id="{3CCA8C50-7C33-DC43-904B-16AEB4FA4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964" y="988849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查看源图像">
            <a:extLst>
              <a:ext uri="{FF2B5EF4-FFF2-40B4-BE49-F238E27FC236}">
                <a16:creationId xmlns:a16="http://schemas.microsoft.com/office/drawing/2014/main" xmlns="" id="{30161B49-62FD-7A4B-B1F6-7785C3B1C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087" y="1000673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Left Brace 62">
            <a:extLst>
              <a:ext uri="{FF2B5EF4-FFF2-40B4-BE49-F238E27FC236}">
                <a16:creationId xmlns:a16="http://schemas.microsoft.com/office/drawing/2014/main" xmlns="" id="{74EC68A6-117D-2C4A-A07A-1E249EC32FFA}"/>
              </a:ext>
            </a:extLst>
          </p:cNvPr>
          <p:cNvSpPr/>
          <p:nvPr/>
        </p:nvSpPr>
        <p:spPr>
          <a:xfrm rot="16200000">
            <a:off x="4420111" y="538745"/>
            <a:ext cx="303779" cy="5469056"/>
          </a:xfrm>
          <a:prstGeom prst="leftBrace">
            <a:avLst>
              <a:gd name="adj1" fmla="val 5675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9B5B45BB-3C3A-6543-9DE0-5A4BEA990956}"/>
              </a:ext>
            </a:extLst>
          </p:cNvPr>
          <p:cNvSpPr txBox="1"/>
          <p:nvPr/>
        </p:nvSpPr>
        <p:spPr>
          <a:xfrm>
            <a:off x="579200" y="248287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问题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BA0924BA-7468-8547-8E30-95CBFE47FCEE}"/>
              </a:ext>
            </a:extLst>
          </p:cNvPr>
          <p:cNvSpPr txBox="1"/>
          <p:nvPr/>
        </p:nvSpPr>
        <p:spPr>
          <a:xfrm>
            <a:off x="7878736" y="2482884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答案</a:t>
            </a:r>
          </a:p>
        </p:txBody>
      </p:sp>
      <p:sp>
        <p:nvSpPr>
          <p:cNvPr id="66" name="文本框 49">
            <a:extLst>
              <a:ext uri="{FF2B5EF4-FFF2-40B4-BE49-F238E27FC236}">
                <a16:creationId xmlns:a16="http://schemas.microsoft.com/office/drawing/2014/main" xmlns="" id="{B793BEF9-0C01-CC45-A139-0906FD4CB9C6}"/>
              </a:ext>
            </a:extLst>
          </p:cNvPr>
          <p:cNvSpPr txBox="1"/>
          <p:nvPr/>
        </p:nvSpPr>
        <p:spPr>
          <a:xfrm>
            <a:off x="1830796" y="3614991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x-none" b="0" kern="0" dirty="0">
                <a:solidFill>
                  <a:srgbClr val="014B88"/>
                </a:solidFill>
              </a:rPr>
              <a:t>数据</a:t>
            </a:r>
            <a:r>
              <a:rPr lang="zh-CN" altLang="en-US" b="0" kern="0" dirty="0">
                <a:solidFill>
                  <a:srgbClr val="014B88"/>
                </a:solidFill>
              </a:rPr>
              <a:t>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</a:t>
            </a:r>
          </a:p>
        </p:txBody>
      </p:sp>
      <p:sp>
        <p:nvSpPr>
          <p:cNvPr id="67" name="文本框 49">
            <a:extLst>
              <a:ext uri="{FF2B5EF4-FFF2-40B4-BE49-F238E27FC236}">
                <a16:creationId xmlns:a16="http://schemas.microsoft.com/office/drawing/2014/main" xmlns="" id="{7CFC82EE-7785-E048-986D-89B6A1212E52}"/>
              </a:ext>
            </a:extLst>
          </p:cNvPr>
          <p:cNvSpPr txBox="1"/>
          <p:nvPr/>
        </p:nvSpPr>
        <p:spPr>
          <a:xfrm>
            <a:off x="3420981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lnSpc>
                <a:spcPct val="125000"/>
              </a:lnSpc>
              <a:spcBef>
                <a:spcPts val="0"/>
              </a:spcBef>
              <a:defRPr kumimoji="1" sz="2000" b="0" kern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x-none" dirty="0"/>
              <a:t>数据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海量性</a:t>
            </a:r>
          </a:p>
        </p:txBody>
      </p:sp>
      <p:sp>
        <p:nvSpPr>
          <p:cNvPr id="68" name="文本框 49">
            <a:extLst>
              <a:ext uri="{FF2B5EF4-FFF2-40B4-BE49-F238E27FC236}">
                <a16:creationId xmlns:a16="http://schemas.microsoft.com/office/drawing/2014/main" xmlns="" id="{2EA96626-46AA-EE46-8BED-87D62C593A9B}"/>
              </a:ext>
            </a:extLst>
          </p:cNvPr>
          <p:cNvSpPr txBox="1"/>
          <p:nvPr/>
        </p:nvSpPr>
        <p:spPr>
          <a:xfrm>
            <a:off x="5011166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</a:rPr>
              <a:t>结果的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及时性</a:t>
            </a:r>
          </a:p>
        </p:txBody>
      </p:sp>
      <p:sp>
        <p:nvSpPr>
          <p:cNvPr id="69" name="文本框 49">
            <a:extLst>
              <a:ext uri="{FF2B5EF4-FFF2-40B4-BE49-F238E27FC236}">
                <a16:creationId xmlns:a16="http://schemas.microsoft.com/office/drawing/2014/main" xmlns="" id="{E69D8E4F-D7D4-8D40-98D2-4606B459B125}"/>
              </a:ext>
            </a:extLst>
          </p:cNvPr>
          <p:cNvSpPr txBox="1"/>
          <p:nvPr/>
        </p:nvSpPr>
        <p:spPr>
          <a:xfrm>
            <a:off x="6601351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</a:rPr>
              <a:t>数据的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隐私保护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FFEBAC01-D8CE-1A44-BA27-4D0B97579E2E}"/>
              </a:ext>
            </a:extLst>
          </p:cNvPr>
          <p:cNvSpPr txBox="1"/>
          <p:nvPr/>
        </p:nvSpPr>
        <p:spPr>
          <a:xfrm>
            <a:off x="297071" y="3846898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技术挑战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1AAFADD0-3541-9C47-8993-C3B647D53215}"/>
              </a:ext>
            </a:extLst>
          </p:cNvPr>
          <p:cNvSpPr txBox="1"/>
          <p:nvPr/>
        </p:nvSpPr>
        <p:spPr>
          <a:xfrm>
            <a:off x="8068778" y="3776765"/>
            <a:ext cx="575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200" dirty="0"/>
              <a:t>……</a:t>
            </a:r>
            <a:endParaRPr lang="x-none" sz="2200" dirty="0"/>
          </a:p>
        </p:txBody>
      </p:sp>
      <p:sp>
        <p:nvSpPr>
          <p:cNvPr id="38" name="Rectangle 37"/>
          <p:cNvSpPr/>
          <p:nvPr/>
        </p:nvSpPr>
        <p:spPr>
          <a:xfrm>
            <a:off x="5043223" y="2838544"/>
            <a:ext cx="1104882" cy="446262"/>
          </a:xfrm>
          <a:prstGeom prst="rect">
            <a:avLst/>
          </a:prstGeom>
          <a:solidFill>
            <a:srgbClr val="F8E9A7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本讲重点</a:t>
            </a:r>
            <a:endParaRPr lang="en-US" altLang="zh-CN" sz="1600" b="1" dirty="0" smtClean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741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考虑一个案例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sz="2000" dirty="0">
                <a:latin typeface="Microsoft YaHei" charset="-122"/>
                <a:ea typeface="Microsoft YaHei" charset="-122"/>
              </a:rPr>
              <a:t>谁会赢得美国大选，希拉里还是特朗普？</a:t>
            </a:r>
          </a:p>
          <a:p>
            <a:pPr marL="800100" lvl="2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dirty="0">
                <a:latin typeface="Microsoft YaHei" charset="-122"/>
                <a:ea typeface="Microsoft YaHei" charset="-122"/>
              </a:rPr>
              <a:t>选前民调：希拉里支持率</a:t>
            </a:r>
            <a:r>
              <a:rPr kumimoji="1" lang="en-US" altLang="zh-CN" dirty="0">
                <a:latin typeface="Microsoft YaHei" charset="-122"/>
                <a:ea typeface="Microsoft YaHei" charset="-122"/>
              </a:rPr>
              <a:t>52%</a:t>
            </a:r>
            <a:r>
              <a:rPr kumimoji="1" lang="zh-CN" altLang="en-US" dirty="0">
                <a:latin typeface="Microsoft YaHei" charset="-122"/>
                <a:ea typeface="Microsoft YaHei" charset="-122"/>
              </a:rPr>
              <a:t>、特朗普支持率</a:t>
            </a:r>
            <a:r>
              <a:rPr kumimoji="1" lang="en-US" altLang="zh-CN" dirty="0">
                <a:latin typeface="Microsoft YaHei" charset="-122"/>
                <a:ea typeface="Microsoft YaHei" charset="-122"/>
              </a:rPr>
              <a:t>48%</a:t>
            </a:r>
          </a:p>
          <a:p>
            <a:pPr marL="800100" lvl="2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dirty="0">
                <a:latin typeface="Microsoft YaHei" charset="-122"/>
                <a:ea typeface="Microsoft YaHei" charset="-122"/>
              </a:rPr>
              <a:t>假设：所有选民在最终投票时不改变主意</a:t>
            </a:r>
            <a:endParaRPr kumimoji="1" lang="en-US" altLang="zh-CN" dirty="0">
              <a:latin typeface="Microsoft YaHei" charset="-122"/>
              <a:ea typeface="Microsoft YaHei" charset="-12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2432760" y="3932569"/>
            <a:ext cx="4572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ts val="1350"/>
              </a:spcAft>
              <a:defRPr/>
            </a:pPr>
            <a:r>
              <a:rPr lang="en-US" altLang="zh-CN" sz="4400" dirty="0">
                <a:solidFill>
                  <a:srgbClr val="FF0000"/>
                </a:solidFill>
                <a:ea typeface="Calibri" charset="0"/>
                <a:cs typeface="Calibri" charset="0"/>
              </a:rPr>
              <a:t>YES!</a:t>
            </a:r>
            <a:endParaRPr lang="zh-CN" altLang="en-US" sz="4400" dirty="0">
              <a:solidFill>
                <a:srgbClr val="FF0000"/>
              </a:solidFill>
              <a:ea typeface="Calibri" charset="0"/>
              <a:cs typeface="Calibri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338765" y="3995075"/>
            <a:ext cx="711863" cy="711863"/>
            <a:chOff x="1187624" y="5360442"/>
            <a:chExt cx="690437" cy="690437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1187624" y="5360442"/>
              <a:ext cx="690437" cy="69043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>
            <a:xfrm>
              <a:off x="1187624" y="5360442"/>
              <a:ext cx="690437" cy="69043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887" y="1962242"/>
            <a:ext cx="3361746" cy="1942539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166942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回顾之前的案例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sz="2000" dirty="0">
                <a:latin typeface="Microsoft YaHei" charset="-122"/>
                <a:ea typeface="Microsoft YaHei" charset="-122"/>
              </a:rPr>
              <a:t>假设选前随机找了</a:t>
            </a:r>
            <a:r>
              <a:rPr kumimoji="1" lang="en-US" altLang="zh-CN" sz="2000" dirty="0">
                <a:solidFill>
                  <a:srgbClr val="00B0F0"/>
                </a:solidFill>
                <a:latin typeface="Microsoft YaHei" charset="-122"/>
                <a:ea typeface="Microsoft YaHei" charset="-122"/>
              </a:rPr>
              <a:t>1000</a:t>
            </a:r>
            <a:r>
              <a:rPr kumimoji="1" lang="zh-CN" altLang="en-US" sz="2000" dirty="0">
                <a:solidFill>
                  <a:srgbClr val="00B0F0"/>
                </a:solidFill>
                <a:latin typeface="Microsoft YaHei" charset="-122"/>
                <a:ea typeface="Microsoft YaHei" charset="-122"/>
              </a:rPr>
              <a:t>人</a:t>
            </a:r>
            <a:r>
              <a:rPr kumimoji="1" lang="zh-CN" altLang="en-US" sz="2000" dirty="0">
                <a:latin typeface="Microsoft YaHei" charset="-122"/>
                <a:ea typeface="Microsoft YaHei" charset="-122"/>
              </a:rPr>
              <a:t>进行民调</a:t>
            </a:r>
          </a:p>
          <a:p>
            <a:pPr marL="342900" lvl="1" indent="-342900">
              <a:lnSpc>
                <a:spcPct val="100000"/>
              </a:lnSpc>
              <a:spcBef>
                <a:spcPts val="672"/>
              </a:spcBef>
            </a:pPr>
            <a:endParaRPr kumimoji="1" lang="zh-CN" altLang="en-US" sz="2000" dirty="0">
              <a:latin typeface="Microsoft YaHei" charset="-122"/>
              <a:ea typeface="Microsoft YaHei" charset="-122"/>
            </a:endParaRPr>
          </a:p>
          <a:p>
            <a:pPr marL="342900" lvl="1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sz="2000" dirty="0">
                <a:latin typeface="Microsoft YaHei" charset="-122"/>
                <a:ea typeface="Microsoft YaHei" charset="-122"/>
              </a:rPr>
              <a:t>如果具备统计思维</a:t>
            </a:r>
          </a:p>
          <a:p>
            <a:pPr marL="800100" lvl="2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sz="1800" dirty="0">
                <a:latin typeface="Microsoft YaHei" charset="-122"/>
                <a:ea typeface="Microsoft YaHei" charset="-122"/>
              </a:rPr>
              <a:t>要考虑的总体是所有在当天投票的人</a:t>
            </a:r>
          </a:p>
          <a:p>
            <a:pPr marL="800100" lvl="2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sz="1800" dirty="0">
                <a:latin typeface="Microsoft YaHei" charset="-122"/>
                <a:ea typeface="Microsoft YaHei" charset="-122"/>
              </a:rPr>
              <a:t>这</a:t>
            </a:r>
            <a:r>
              <a:rPr kumimoji="1" lang="en-US" altLang="zh-CN" sz="1800" dirty="0">
                <a:latin typeface="Microsoft YaHei" charset="-122"/>
                <a:ea typeface="Microsoft YaHei" charset="-122"/>
              </a:rPr>
              <a:t>1000</a:t>
            </a:r>
            <a:r>
              <a:rPr kumimoji="1" lang="zh-CN" altLang="en-US" sz="1800" dirty="0">
                <a:latin typeface="Microsoft YaHei" charset="-122"/>
                <a:ea typeface="Microsoft YaHei" charset="-122"/>
              </a:rPr>
              <a:t>人是我抽取出的样本（</a:t>
            </a:r>
            <a:r>
              <a:rPr kumimoji="1" lang="en-US" altLang="zh-CN" sz="1800" dirty="0">
                <a:latin typeface="Microsoft YaHei" charset="-122"/>
                <a:ea typeface="Microsoft YaHei" charset="-122"/>
              </a:rPr>
              <a:t>Sample</a:t>
            </a:r>
            <a:r>
              <a:rPr kumimoji="1" lang="zh-CN" altLang="en-US" sz="1800" dirty="0">
                <a:latin typeface="Microsoft YaHei" charset="-122"/>
                <a:ea typeface="Microsoft YaHei" charset="-122"/>
              </a:rPr>
              <a:t>）</a:t>
            </a:r>
          </a:p>
          <a:p>
            <a:pPr marL="800100" lvl="2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sz="1800" dirty="0">
                <a:latin typeface="Microsoft YaHei" charset="-122"/>
                <a:ea typeface="Microsoft YaHei" charset="-122"/>
              </a:rPr>
              <a:t>通过样本估计出的支持率存在误差：</a:t>
            </a:r>
          </a:p>
          <a:p>
            <a:pPr marL="1257300" lvl="3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dirty="0">
                <a:latin typeface="Microsoft YaHei" charset="-122"/>
                <a:ea typeface="Microsoft YaHei" charset="-122"/>
              </a:rPr>
              <a:t>希拉里：</a:t>
            </a:r>
            <a:r>
              <a:rPr kumimoji="1" lang="en-US" altLang="zh-CN" dirty="0">
                <a:latin typeface="Microsoft YaHei" charset="-122"/>
                <a:ea typeface="Microsoft YaHei" charset="-122"/>
              </a:rPr>
              <a:t>52% ± 3%</a:t>
            </a:r>
          </a:p>
          <a:p>
            <a:pPr marL="1257300" lvl="3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dirty="0">
                <a:latin typeface="Microsoft YaHei" charset="-122"/>
                <a:ea typeface="Microsoft YaHei" charset="-122"/>
              </a:rPr>
              <a:t>特朗普：</a:t>
            </a:r>
            <a:r>
              <a:rPr kumimoji="1" lang="en-US" altLang="zh-CN" dirty="0">
                <a:latin typeface="Microsoft YaHei" charset="-122"/>
                <a:ea typeface="Microsoft YaHei" charset="-122"/>
              </a:rPr>
              <a:t>48% ± 2%</a:t>
            </a:r>
            <a:endParaRPr kumimoji="1" lang="zh-CN" altLang="en-US" dirty="0">
              <a:latin typeface="Microsoft YaHei" charset="-122"/>
              <a:ea typeface="Microsoft YaHei" charset="-122"/>
            </a:endParaRPr>
          </a:p>
          <a:p>
            <a:pPr marL="342900" lvl="1" indent="-342900">
              <a:lnSpc>
                <a:spcPct val="100000"/>
              </a:lnSpc>
              <a:spcBef>
                <a:spcPts val="672"/>
              </a:spcBef>
            </a:pPr>
            <a:endParaRPr kumimoji="1" lang="zh-CN" altLang="en-US" sz="2000" dirty="0">
              <a:latin typeface="Microsoft YaHei" charset="-122"/>
              <a:ea typeface="Microsoft YaHei" charset="-122"/>
            </a:endParaRPr>
          </a:p>
          <a:p>
            <a:pPr marL="342900" lvl="1" indent="-342900">
              <a:lnSpc>
                <a:spcPct val="100000"/>
              </a:lnSpc>
              <a:spcBef>
                <a:spcPts val="672"/>
              </a:spcBef>
            </a:pPr>
            <a:r>
              <a:rPr kumimoji="1"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</a:rPr>
              <a:t>结论：特朗普也有胜算！</a:t>
            </a:r>
            <a:endParaRPr kumimoji="1" lang="en-US" altLang="zh-CN" sz="1600" dirty="0">
              <a:solidFill>
                <a:srgbClr val="C00000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40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数据建模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5005449" cy="3937000"/>
              </a:xfrm>
            </p:spPr>
            <p:txBody>
              <a:bodyPr/>
              <a:lstStyle/>
              <a:p>
                <a:r>
                  <a:rPr lang="zh-CN" altLang="en-US" dirty="0"/>
                  <a:t>定义：模型是对现实世界的一种“有用”的简化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Model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useful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simplification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reality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例子：重力公式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𝐺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𝑚𝑔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𝑔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=9.81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上述模型简化了以下因素：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不同地区的重力差异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空气阻力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等等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5005449" cy="3937000"/>
              </a:xfrm>
              <a:blipFill rotWithShape="0">
                <a:blip r:embed="rId2"/>
                <a:stretch>
                  <a:fillRect l="-1096" t="-774" r="-3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5462650" y="3740487"/>
            <a:ext cx="33905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62835"/>
                </a:solidFill>
                <a:latin typeface="Calibri" charset="0"/>
                <a:ea typeface="Calibri" charset="0"/>
                <a:cs typeface="Calibri" charset="0"/>
              </a:rPr>
              <a:t>Essentially, all models are wrong, but some are </a:t>
            </a:r>
            <a:r>
              <a:rPr lang="en-US" sz="20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useful</a:t>
            </a:r>
            <a:r>
              <a:rPr lang="en-US" sz="2000" dirty="0">
                <a:solidFill>
                  <a:srgbClr val="262835"/>
                </a:solidFill>
                <a:latin typeface="Calibri" charset="0"/>
                <a:ea typeface="Calibri" charset="0"/>
                <a:cs typeface="Calibri" charset="0"/>
              </a:rPr>
              <a:t>. 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zh-CN" altLang="en-US" sz="2000" dirty="0">
                <a:solidFill>
                  <a:srgbClr val="262835"/>
                </a:solidFill>
                <a:latin typeface="Calibri" charset="0"/>
                <a:ea typeface="Calibri" charset="0"/>
                <a:cs typeface="Calibri" charset="0"/>
              </a:rPr>
              <a:t>   </a:t>
            </a:r>
            <a:r>
              <a:rPr lang="en-US" altLang="zh-CN" sz="2000" dirty="0">
                <a:solidFill>
                  <a:srgbClr val="262835"/>
                </a:solidFill>
                <a:latin typeface="Calibri" charset="0"/>
                <a:ea typeface="Calibri" charset="0"/>
                <a:cs typeface="Calibri" charset="0"/>
              </a:rPr>
              <a:t>--</a:t>
            </a:r>
            <a:r>
              <a:rPr lang="zh-CN" altLang="en-US" sz="2000" dirty="0">
                <a:solidFill>
                  <a:srgbClr val="262835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2000" dirty="0">
                <a:solidFill>
                  <a:srgbClr val="262835"/>
                </a:solidFill>
                <a:latin typeface="Calibri" charset="0"/>
                <a:ea typeface="Calibri" charset="0"/>
                <a:cs typeface="Calibri" charset="0"/>
              </a:rPr>
              <a:t>George Box (1919 - 2013) </a:t>
            </a:r>
            <a:endParaRPr lang="en-US" sz="2000" dirty="0">
              <a:effectLst/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387" y="827762"/>
            <a:ext cx="1874097" cy="27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6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建立模型的三个步骤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1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b="1" dirty="0"/>
              <a:t> 选择某种模型</a:t>
            </a:r>
            <a:endParaRPr lang="en-US" altLang="zh-CN" b="1" dirty="0"/>
          </a:p>
          <a:p>
            <a:pPr lvl="1"/>
            <a:r>
              <a:rPr lang="zh-CN" altLang="en-US" dirty="0"/>
              <a:t>常数模型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Constant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pPr lvl="1"/>
            <a:r>
              <a:rPr lang="zh-CN" altLang="en-US" dirty="0"/>
              <a:t>线性回归模型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pPr lvl="1"/>
            <a:r>
              <a:rPr lang="zh-CN" altLang="en-US" dirty="0"/>
              <a:t>更复杂的模型</a:t>
            </a:r>
            <a:endParaRPr lang="en-US" altLang="zh-CN" dirty="0"/>
          </a:p>
          <a:p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b="1" dirty="0"/>
              <a:t> 选择目标函数</a:t>
            </a:r>
            <a:endParaRPr lang="en-US" altLang="zh-CN" b="1" dirty="0"/>
          </a:p>
          <a:p>
            <a:pPr lvl="1"/>
            <a:r>
              <a:rPr lang="zh-CN" altLang="en-US" dirty="0"/>
              <a:t>均方误差（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square error,</a:t>
            </a:r>
            <a:r>
              <a:rPr lang="zh-CN" altLang="en-US" dirty="0"/>
              <a:t> </a:t>
            </a:r>
            <a:r>
              <a:rPr lang="en-US" altLang="zh-CN" dirty="0"/>
              <a:t>MSE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平均绝对误差（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absolute</a:t>
            </a:r>
            <a:r>
              <a:rPr lang="zh-CN" altLang="en-US" dirty="0"/>
              <a:t> </a:t>
            </a:r>
            <a:r>
              <a:rPr lang="en-US" altLang="zh-CN" dirty="0"/>
              <a:t>error,</a:t>
            </a:r>
            <a:r>
              <a:rPr lang="zh-CN" altLang="en-US" dirty="0"/>
              <a:t> </a:t>
            </a:r>
            <a:r>
              <a:rPr lang="en-US" altLang="zh-CN" dirty="0"/>
              <a:t>MAE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其它目标函数</a:t>
            </a:r>
            <a:endParaRPr lang="en-US" altLang="zh-CN" dirty="0"/>
          </a:p>
          <a:p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3-</a:t>
            </a:r>
            <a:r>
              <a:rPr lang="zh-CN" altLang="en-US" b="1" dirty="0"/>
              <a:t> 拟合模型（</a:t>
            </a:r>
            <a:r>
              <a:rPr lang="en-US" altLang="zh-CN" b="1" dirty="0"/>
              <a:t>model</a:t>
            </a:r>
            <a:r>
              <a:rPr lang="zh-CN" altLang="en-US" b="1" dirty="0"/>
              <a:t> </a:t>
            </a:r>
            <a:r>
              <a:rPr lang="en-US" altLang="zh-CN" b="1" dirty="0"/>
              <a:t>fitting</a:t>
            </a:r>
            <a:r>
              <a:rPr lang="zh-CN" altLang="en-US" b="1" dirty="0"/>
              <a:t>）：优化目标函数</a:t>
            </a:r>
            <a:endParaRPr lang="en-US" altLang="zh-CN" b="1" dirty="0"/>
          </a:p>
          <a:p>
            <a:pPr lvl="1"/>
            <a:r>
              <a:rPr lang="zh-CN" altLang="en-US" dirty="0"/>
              <a:t>最小化</a:t>
            </a:r>
            <a:r>
              <a:rPr lang="en-US" altLang="zh-CN" dirty="0"/>
              <a:t>/</a:t>
            </a:r>
            <a:r>
              <a:rPr lang="zh-CN" altLang="en-US" dirty="0"/>
              <a:t>最大化目标函数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50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数据建模与回归分析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462807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数据建模与参数估计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简单线性回归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线性回归模型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：多元线性回归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梯度下降（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Gradient</a:t>
            </a:r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Descent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06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我们先考虑一个最简单的模型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501980"/>
          </a:xfrm>
        </p:spPr>
        <p:txBody>
          <a:bodyPr/>
          <a:lstStyle/>
          <a:p>
            <a:r>
              <a:rPr lang="zh-CN" altLang="en-US" dirty="0"/>
              <a:t>预测任务：构建模型预测某个数值型变量的取值</a:t>
            </a:r>
            <a:endParaRPr lang="en-US" altLang="zh-CN" dirty="0"/>
          </a:p>
          <a:p>
            <a:pPr lvl="1"/>
            <a:r>
              <a:rPr lang="zh-CN" altLang="en-US" dirty="0"/>
              <a:t>预测</a:t>
            </a:r>
            <a:r>
              <a:rPr lang="en-US" altLang="zh-CN" dirty="0"/>
              <a:t>《</a:t>
            </a:r>
            <a:r>
              <a:rPr lang="zh-CN" altLang="en-US" dirty="0"/>
              <a:t>数据科学导论</a:t>
            </a:r>
            <a:r>
              <a:rPr lang="en-US" altLang="zh-CN" dirty="0"/>
              <a:t>》</a:t>
            </a:r>
            <a:r>
              <a:rPr lang="zh-CN" altLang="en-US" dirty="0"/>
              <a:t>课程学生的</a:t>
            </a:r>
            <a:r>
              <a:rPr lang="en-US" altLang="zh-CN" dirty="0"/>
              <a:t>GPA</a:t>
            </a:r>
          </a:p>
          <a:p>
            <a:pPr lvl="1"/>
            <a:r>
              <a:rPr lang="zh-CN" altLang="en-US" dirty="0"/>
              <a:t>预测北京春天的空气指数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预测在餐厅给服务员多少小费（餐费的百分之几）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26089" y="2321130"/>
            <a:ext cx="4340850" cy="243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左图：</a:t>
            </a:r>
            <a:r>
              <a:rPr lang="en-US" altLang="zh-CN" dirty="0"/>
              <a:t>244</a:t>
            </a:r>
            <a:r>
              <a:rPr lang="zh-CN" altLang="en-US" dirty="0"/>
              <a:t>单小费的分布图</a:t>
            </a:r>
            <a:endParaRPr lang="en-US" altLang="zh-CN" dirty="0"/>
          </a:p>
          <a:p>
            <a:r>
              <a:rPr lang="zh-CN" altLang="en-US" dirty="0"/>
              <a:t>常数模型：忽略其他因素，使用</a:t>
            </a:r>
            <a:r>
              <a:rPr lang="zh-CN" altLang="en-US" dirty="0">
                <a:solidFill>
                  <a:srgbClr val="C00000"/>
                </a:solidFill>
              </a:rPr>
              <a:t>一个数值</a:t>
            </a:r>
            <a:r>
              <a:rPr lang="zh-CN" altLang="en-US" dirty="0"/>
              <a:t>进行预测</a:t>
            </a:r>
            <a:endParaRPr lang="en-US" altLang="zh-CN" dirty="0"/>
          </a:p>
          <a:p>
            <a:pPr lvl="1"/>
            <a:r>
              <a:rPr lang="en-US" altLang="zh-CN" dirty="0"/>
              <a:t>15%</a:t>
            </a:r>
            <a:r>
              <a:rPr lang="zh-CN" altLang="en-US" dirty="0"/>
              <a:t>似乎比</a:t>
            </a:r>
            <a:r>
              <a:rPr lang="en-US" altLang="zh-CN" dirty="0"/>
              <a:t>25%</a:t>
            </a:r>
            <a:r>
              <a:rPr lang="zh-CN" altLang="en-US" dirty="0"/>
              <a:t>更好</a:t>
            </a:r>
            <a:endParaRPr lang="en-US" altLang="zh-CN" dirty="0"/>
          </a:p>
          <a:p>
            <a:pPr lvl="1"/>
            <a:r>
              <a:rPr lang="en-US" altLang="zh-CN" dirty="0"/>
              <a:t>15%</a:t>
            </a:r>
            <a:r>
              <a:rPr lang="zh-CN" altLang="en-US" dirty="0"/>
              <a:t>比</a:t>
            </a:r>
            <a:r>
              <a:rPr lang="en-US" altLang="zh-CN" dirty="0"/>
              <a:t>14%</a:t>
            </a:r>
            <a:r>
              <a:rPr lang="zh-CN" altLang="en-US" dirty="0"/>
              <a:t>更好吗？</a:t>
            </a:r>
            <a:endParaRPr lang="en-US" altLang="zh-CN" dirty="0"/>
          </a:p>
          <a:p>
            <a:r>
              <a:rPr lang="zh-CN" altLang="en-US" dirty="0"/>
              <a:t>我们应该如何确定</a:t>
            </a:r>
            <a:r>
              <a:rPr lang="zh-CN" altLang="en-US" dirty="0">
                <a:solidFill>
                  <a:srgbClr val="C00000"/>
                </a:solidFill>
              </a:rPr>
              <a:t>最优</a:t>
            </a:r>
            <a:r>
              <a:rPr lang="zh-CN" altLang="en-US" dirty="0"/>
              <a:t>的数值？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0491925-5207-4F49-9615-3590F430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32" y="2276524"/>
            <a:ext cx="3481701" cy="23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7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导入</a:t>
            </a:r>
            <a:r>
              <a:rPr lang="en-US" altLang="zh-CN" dirty="0" err="1"/>
              <a:t>tips.csv</a:t>
            </a:r>
            <a:r>
              <a:rPr lang="zh-CN" altLang="en-US" dirty="0"/>
              <a:t>中的数据，并绘制小费百分比的</a:t>
            </a:r>
            <a:r>
              <a:rPr lang="zh-CN" altLang="en-US" dirty="0" smtClean="0"/>
              <a:t>分布图</a:t>
            </a:r>
            <a:endParaRPr lang="en-US" altLang="zh-CN" dirty="0" smtClean="0"/>
          </a:p>
          <a:p>
            <a:r>
              <a:rPr lang="zh-CN" altLang="en-US" dirty="0" smtClean="0"/>
              <a:t>本讲与相关数学课的一个区别：</a:t>
            </a:r>
            <a:r>
              <a:rPr lang="zh-CN" altLang="en-US" dirty="0" smtClean="0">
                <a:solidFill>
                  <a:srgbClr val="C00000"/>
                </a:solidFill>
              </a:rPr>
              <a:t>数据与相关结论都要可视化出来！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26" y="1622238"/>
            <a:ext cx="3236105" cy="313391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153529" y="2953870"/>
            <a:ext cx="524436" cy="4706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E452DD9-FF1E-DF4D-A676-7F67CCA51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300" y="1927296"/>
            <a:ext cx="3809500" cy="252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1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符号定义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22230661"/>
                  </p:ext>
                </p:extLst>
              </p:nvPr>
            </p:nvGraphicFramePr>
            <p:xfrm>
              <a:off x="1231322" y="977106"/>
              <a:ext cx="6681355" cy="350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2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13310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Microsoft YaHei" charset="-122"/>
                              <a:ea typeface="Microsoft YaHei" charset="-122"/>
                              <a:cs typeface="Microsoft YaHei" charset="-122"/>
                            </a:rPr>
                            <a:t>符号</a:t>
                          </a:r>
                          <a:endParaRPr lang="en-US" sz="2000" dirty="0">
                            <a:latin typeface="Microsoft YaHei" charset="-122"/>
                            <a:ea typeface="Microsoft YaHei" charset="-122"/>
                            <a:cs typeface="Microsoft YaHei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000" dirty="0">
                              <a:latin typeface="Microsoft YaHei" charset="-122"/>
                              <a:ea typeface="Microsoft YaHei" charset="-122"/>
                              <a:cs typeface="Microsoft YaHei" charset="-122"/>
                            </a:rPr>
                            <a:t>符号含义</a:t>
                          </a:r>
                          <a:endParaRPr lang="en-US" sz="2000" dirty="0">
                            <a:latin typeface="Microsoft YaHei" charset="-122"/>
                            <a:ea typeface="Microsoft YaHei" charset="-122"/>
                            <a:cs typeface="Microsoft YaHei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/>
                            <a:t>真实的数据值（如小费）</a:t>
                          </a:r>
                          <a:endParaRPr lang="en-US" altLang="zh-CN" sz="2000" dirty="0"/>
                        </a:p>
                        <a:p>
                          <a:pPr marL="342900" indent="-342900">
                            <a:buFont typeface="Arial" charset="0"/>
                            <a:buChar char="•"/>
                          </a:pPr>
                          <a:r>
                            <a:rPr lang="zh-CN" altLang="en-US" sz="2000" dirty="0"/>
                            <a:t>第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dirty="0" smtClean="0">
                                  <a:latin typeface="Cambria Math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zh-CN" altLang="en-US" sz="2000" dirty="0"/>
                            <a:t>项数据值表示为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altLang="zh-CN" sz="2000" dirty="0"/>
                        </a:p>
                        <a:p>
                          <a:pPr marL="342900" indent="-342900">
                            <a:buFont typeface="Arial" charset="0"/>
                            <a:buChar char="•"/>
                          </a:pPr>
                          <a:r>
                            <a:rPr lang="zh-CN" altLang="en-US" sz="2000" dirty="0"/>
                            <a:t>数据集表示为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}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800" i="1" smtClean="0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/>
                            <a:t>预测的数据值（如预测的小费）</a:t>
                          </a:r>
                          <a:endParaRPr lang="en-US" altLang="zh-CN" sz="2000" dirty="0"/>
                        </a:p>
                        <a:p>
                          <a:pPr marL="342900" indent="-342900">
                            <a:buFont typeface="Arial" charset="0"/>
                            <a:buChar char="•"/>
                          </a:pPr>
                          <a:r>
                            <a:rPr lang="zh-CN" altLang="en-US" sz="2000" dirty="0"/>
                            <a:t>第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i="1" dirty="0" smtClean="0">
                                  <a:latin typeface="Cambria Math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zh-CN" altLang="en-US" sz="2000" dirty="0"/>
                            <a:t>项数据的预测值表示为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000" i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/>
                            <a:t>模型的参数（</a:t>
                          </a:r>
                          <a:r>
                            <a:rPr lang="en-US" altLang="zh-CN" sz="2000" dirty="0"/>
                            <a:t>Parameter</a:t>
                          </a:r>
                          <a:r>
                            <a:rPr lang="zh-CN" altLang="en-US" sz="2000" dirty="0"/>
                            <a:t>）</a:t>
                          </a:r>
                          <a:endParaRPr lang="en-US" altLang="zh-CN" sz="2000" dirty="0"/>
                        </a:p>
                        <a:p>
                          <a:pPr marL="342900" indent="-342900">
                            <a:buFont typeface="Arial" charset="0"/>
                            <a:buChar char="•"/>
                          </a:pPr>
                          <a:r>
                            <a:rPr lang="zh-CN" altLang="en-US" sz="2000" dirty="0"/>
                            <a:t>如“真实”的小费，反映了总体的特征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800" i="1" smtClean="0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/>
                            <a:t>模型的拟合参数（</a:t>
                          </a:r>
                          <a:r>
                            <a:rPr lang="en-US" altLang="zh-CN" sz="2000" dirty="0"/>
                            <a:t>fitted</a:t>
                          </a:r>
                          <a:r>
                            <a:rPr lang="zh-CN" altLang="en-US" sz="2000" baseline="0" dirty="0"/>
                            <a:t> </a:t>
                          </a:r>
                          <a:r>
                            <a:rPr lang="en-US" altLang="zh-CN" sz="2000" baseline="0" dirty="0"/>
                            <a:t>parameters</a:t>
                          </a:r>
                          <a:r>
                            <a:rPr lang="zh-CN" altLang="en-US" sz="2000" dirty="0"/>
                            <a:t>）</a:t>
                          </a:r>
                          <a:endParaRPr lang="en-US" altLang="zh-CN" sz="2000" dirty="0"/>
                        </a:p>
                        <a:p>
                          <a:pPr marL="342900" indent="-342900">
                            <a:buFont typeface="Arial" charset="0"/>
                            <a:buChar char="•"/>
                          </a:pPr>
                          <a:r>
                            <a:rPr lang="zh-CN" altLang="en-US" sz="2000" dirty="0">
                              <a:solidFill>
                                <a:srgbClr val="C00000"/>
                              </a:solidFill>
                            </a:rPr>
                            <a:t>我们需要求解的目标！</a:t>
                          </a:r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22230661"/>
                  </p:ext>
                </p:extLst>
              </p:nvPr>
            </p:nvGraphicFramePr>
            <p:xfrm>
              <a:off x="1231322" y="977106"/>
              <a:ext cx="6681355" cy="350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2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33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Microsoft YaHei" charset="-122"/>
                              <a:ea typeface="Microsoft YaHei" charset="-122"/>
                              <a:cs typeface="Microsoft YaHei" charset="-122"/>
                            </a:rPr>
                            <a:t>符号</a:t>
                          </a:r>
                          <a:endParaRPr lang="en-US" sz="2000" dirty="0">
                            <a:latin typeface="Microsoft YaHei" charset="-122"/>
                            <a:ea typeface="Microsoft YaHei" charset="-122"/>
                            <a:cs typeface="Microsoft YaHei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000" dirty="0">
                              <a:latin typeface="Microsoft YaHei" charset="-122"/>
                              <a:ea typeface="Microsoft YaHei" charset="-122"/>
                              <a:cs typeface="Microsoft YaHei" charset="-122"/>
                            </a:rPr>
                            <a:t>符号含义</a:t>
                          </a:r>
                          <a:endParaRPr lang="en-US" sz="2000" dirty="0">
                            <a:latin typeface="Microsoft YaHei" charset="-122"/>
                            <a:ea typeface="Microsoft YaHei" charset="-122"/>
                            <a:cs typeface="Microsoft YaHei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2"/>
                          <a:stretch>
                            <a:fillRect t="-41250" r="-334426" b="-21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2"/>
                          <a:stretch>
                            <a:fillRect l="-30049" t="-41250" r="-493" b="-21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2"/>
                          <a:stretch>
                            <a:fillRect t="-205455" r="-334426" b="-2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2"/>
                          <a:stretch>
                            <a:fillRect l="-30049" t="-205455" r="-493" b="-21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2"/>
                          <a:stretch>
                            <a:fillRect t="-300000" r="-334426" b="-11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/>
                            <a:t>模型的参数（</a:t>
                          </a:r>
                          <a:r>
                            <a:rPr lang="en-US" altLang="zh-CN" sz="2000" dirty="0"/>
                            <a:t>Parameter</a:t>
                          </a:r>
                          <a:r>
                            <a:rPr lang="zh-CN" altLang="en-US" sz="2000" dirty="0"/>
                            <a:t>）</a:t>
                          </a:r>
                          <a:endParaRPr lang="en-US" altLang="zh-CN" sz="2000" dirty="0"/>
                        </a:p>
                        <a:p>
                          <a:pPr marL="342900" indent="-342900">
                            <a:buFont typeface="Arial" charset="0"/>
                            <a:buChar char="•"/>
                          </a:pPr>
                          <a:r>
                            <a:rPr lang="zh-CN" altLang="en-US" sz="2000" dirty="0"/>
                            <a:t>如“真实”的小费，反映了总体的特征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2"/>
                          <a:stretch>
                            <a:fillRect t="-407273" r="-334426" b="-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/>
                            <a:t>模型的拟合参数（</a:t>
                          </a:r>
                          <a:r>
                            <a:rPr lang="en-US" altLang="zh-CN" sz="2000" dirty="0"/>
                            <a:t>fitted</a:t>
                          </a:r>
                          <a:r>
                            <a:rPr lang="zh-CN" altLang="en-US" sz="2000" baseline="0" dirty="0"/>
                            <a:t> </a:t>
                          </a:r>
                          <a:r>
                            <a:rPr lang="en-US" altLang="zh-CN" sz="2000" baseline="0" dirty="0"/>
                            <a:t>parameters</a:t>
                          </a:r>
                          <a:r>
                            <a:rPr lang="zh-CN" altLang="en-US" sz="2000" dirty="0"/>
                            <a:t>）</a:t>
                          </a:r>
                          <a:endParaRPr lang="en-US" altLang="zh-CN" sz="2000" dirty="0"/>
                        </a:p>
                        <a:p>
                          <a:pPr marL="342900" indent="-342900">
                            <a:buFont typeface="Arial" charset="0"/>
                            <a:buChar char="•"/>
                          </a:pPr>
                          <a:r>
                            <a:rPr lang="zh-CN" altLang="en-US" sz="2000" dirty="0">
                              <a:solidFill>
                                <a:srgbClr val="C00000"/>
                              </a:solidFill>
                            </a:rPr>
                            <a:t>我们需要求解的目标！</a:t>
                          </a:r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9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我们将常数模型表示为：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2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32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charset="0"/>
                        </a:rPr>
                        <m:t>𝜃</m:t>
                      </m:r>
                    </m:oMath>
                  </m:oMathPara>
                </a14:m>
                <a:endParaRPr lang="en-US" sz="3200" dirty="0"/>
              </a:p>
              <a:p>
                <a:r>
                  <a:rPr lang="zh-CN" altLang="en-US" dirty="0"/>
                  <a:t>几个基本概念：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：我们使用参数来定义模型，用来描述输入数据与输出数据之间的关系。注：一些模型不含有参数（</a:t>
                </a:r>
                <a:r>
                  <a:rPr lang="en-US" altLang="zh-CN" dirty="0"/>
                  <a:t>nonparametric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我们的常数模型忽略了输入数据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我们后面会学习更多的模型：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线性回归模型：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⋅</m:t>
                    </m:r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2"/>
                <a:r>
                  <a:rPr lang="zh-CN" altLang="en-US" dirty="0"/>
                  <a:t>逻辑回归模型：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000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sz="20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altLang="zh-CN" sz="20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charset="0"/>
                              </a:rPr>
                              <m:t>(−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 smtClean="0">
                                    <a:latin typeface="Cambria Math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charset="0"/>
                              </a:rPr>
                              <m:t>𝜃</m:t>
                            </m:r>
                            <m:r>
                              <a:rPr lang="en-US" altLang="zh-CN" sz="2000" b="0" i="1" smtClean="0">
                                <a:latin typeface="Cambria Math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zh-CN" altLang="en-US" dirty="0"/>
                  <a:t>模型求解目标：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找到最优的参数值，表示为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5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概念辨析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3413780"/>
              </a:xfrm>
            </p:spPr>
            <p:txBody>
              <a:bodyPr/>
              <a:lstStyle/>
              <a:p>
                <a:r>
                  <a:rPr lang="zh-CN" altLang="en-US" dirty="0"/>
                  <a:t>请说出以下两个概念的区别和联系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估计 </a:t>
                </a:r>
                <a:r>
                  <a:rPr lang="en-US" altLang="zh-CN" dirty="0"/>
                  <a:t>Estimation</a:t>
                </a:r>
              </a:p>
              <a:p>
                <a:pPr lvl="1"/>
                <a:r>
                  <a:rPr lang="zh-CN" altLang="en-US" dirty="0"/>
                  <a:t>预测 </a:t>
                </a:r>
                <a:r>
                  <a:rPr lang="en-US" altLang="zh-CN" dirty="0"/>
                  <a:t>Prediction</a:t>
                </a:r>
              </a:p>
              <a:p>
                <a:endParaRPr lang="en-US" dirty="0"/>
              </a:p>
              <a:p>
                <a:r>
                  <a:rPr lang="zh-CN" altLang="en-US" dirty="0"/>
                  <a:t>估计（</a:t>
                </a:r>
                <a:r>
                  <a:rPr lang="en-US" altLang="zh-CN" dirty="0"/>
                  <a:t>Estimation</a:t>
                </a:r>
                <a:r>
                  <a:rPr lang="zh-CN" altLang="en-US" dirty="0"/>
                  <a:t>）是使用观测到的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样本数据</a:t>
                </a:r>
                <a:r>
                  <a:rPr lang="zh-CN" altLang="en-US" dirty="0"/>
                  <a:t>来拟合参数</a:t>
                </a:r>
                <a:endParaRPr lang="en-US" altLang="zh-CN" dirty="0"/>
              </a:p>
              <a:p>
                <a:pPr marL="0" indent="0">
                  <a:spcBef>
                    <a:spcPts val="1176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r>
                  <a:rPr lang="zh-CN" altLang="en-US" dirty="0"/>
                  <a:t>预测（</a:t>
                </a:r>
                <a:r>
                  <a:rPr lang="en-US" altLang="zh-CN" dirty="0"/>
                  <a:t>Prediction</a:t>
                </a:r>
                <a:r>
                  <a:rPr lang="zh-CN" altLang="en-US" dirty="0"/>
                  <a:t>）是使用拟合的参数来求解未知的数据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charset="0"/>
                            </a:rPr>
                            <m:t>𝜃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3413780"/>
              </a:xfrm>
              <a:blipFill>
                <a:blip r:embed="rId2"/>
                <a:stretch>
                  <a:fillRect l="-617" t="-11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87017" y="970943"/>
            <a:ext cx="582730" cy="5827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3292" y="4232930"/>
            <a:ext cx="7577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Aft>
                <a:spcPts val="1800"/>
              </a:spcAft>
              <a:buFont typeface="Wingdings 2" charset="2"/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思考：应该如何</a:t>
            </a:r>
            <a:r>
              <a:rPr lang="zh-CN" altLang="en-US" sz="240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使用观测数据来估计参数？</a:t>
            </a:r>
            <a:endParaRPr lang="zh-CN" altLang="en-US" sz="2400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944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建立模型的三个步骤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1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b="1" dirty="0"/>
              <a:t> 选择某种模型</a:t>
            </a:r>
            <a:endParaRPr lang="en-US" altLang="zh-CN" b="1" dirty="0"/>
          </a:p>
          <a:p>
            <a:pPr lvl="1"/>
            <a:r>
              <a:rPr lang="zh-CN" altLang="en-US" dirty="0"/>
              <a:t>常数模型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Constant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pPr lvl="1"/>
            <a:r>
              <a:rPr lang="zh-CN" altLang="en-US" dirty="0"/>
              <a:t>线性回归模型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pPr lvl="1"/>
            <a:r>
              <a:rPr lang="zh-CN" altLang="en-US" dirty="0"/>
              <a:t>更复杂的模型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Step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 选择目标函数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均方误差（</a:t>
            </a:r>
            <a:r>
              <a:rPr lang="en-US" altLang="zh-CN" dirty="0">
                <a:solidFill>
                  <a:srgbClr val="C00000"/>
                </a:solidFill>
              </a:rPr>
              <a:t>mean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square error,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MSE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平均绝对误差（</a:t>
            </a:r>
            <a:r>
              <a:rPr lang="en-US" altLang="zh-CN" dirty="0">
                <a:solidFill>
                  <a:srgbClr val="C00000"/>
                </a:solidFill>
              </a:rPr>
              <a:t>mean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absolute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error,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MAE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其它目标函数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3-</a:t>
            </a:r>
            <a:r>
              <a:rPr lang="zh-CN" altLang="en-US" b="1" dirty="0"/>
              <a:t> 拟合模型（</a:t>
            </a:r>
            <a:r>
              <a:rPr lang="en-US" altLang="zh-CN" b="1" dirty="0"/>
              <a:t>model</a:t>
            </a:r>
            <a:r>
              <a:rPr lang="zh-CN" altLang="en-US" b="1" dirty="0"/>
              <a:t> </a:t>
            </a:r>
            <a:r>
              <a:rPr lang="en-US" altLang="zh-CN" b="1" dirty="0"/>
              <a:t>fitting</a:t>
            </a:r>
            <a:r>
              <a:rPr lang="zh-CN" altLang="en-US" b="1" dirty="0"/>
              <a:t>）：优化目标函数</a:t>
            </a:r>
            <a:endParaRPr lang="en-US" altLang="zh-CN" b="1" dirty="0"/>
          </a:p>
          <a:p>
            <a:pPr lvl="1"/>
            <a:r>
              <a:rPr lang="zh-CN" altLang="en-US" dirty="0"/>
              <a:t>最小化</a:t>
            </a:r>
            <a:r>
              <a:rPr lang="en-US" altLang="zh-CN" dirty="0"/>
              <a:t>/</a:t>
            </a:r>
            <a:r>
              <a:rPr lang="zh-CN" altLang="en-US" dirty="0"/>
              <a:t>最大化目标函数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27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损失函数（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度量模型预测的优劣，即真实值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与预测值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之间的差异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针对我们的常数模型，度量参数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与真实观测值之间的误差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CDD4997-EA71-DA4E-AFAE-E6498EDA4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91" y="1940356"/>
            <a:ext cx="4130236" cy="27362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D9DEDC5B-36E0-8145-968D-74F933CA5102}"/>
                  </a:ext>
                </a:extLst>
              </p:cNvPr>
              <p:cNvSpPr/>
              <p:nvPr/>
            </p:nvSpPr>
            <p:spPr>
              <a:xfrm>
                <a:off x="5879973" y="2262321"/>
                <a:ext cx="2975989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以下两个估计值，哪个更好？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DEDC5B-36E0-8145-968D-74F933CA5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3" y="2262321"/>
                <a:ext cx="2975989" cy="1077218"/>
              </a:xfrm>
              <a:prstGeom prst="rect">
                <a:avLst/>
              </a:prstGeom>
              <a:blipFill>
                <a:blip r:embed="rId4"/>
                <a:stretch>
                  <a:fillRect l="-1277" t="-34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72E389C-5967-4A4C-8D88-4C39389A0EA8}"/>
              </a:ext>
            </a:extLst>
          </p:cNvPr>
          <p:cNvSpPr/>
          <p:nvPr/>
        </p:nvSpPr>
        <p:spPr>
          <a:xfrm>
            <a:off x="5352789" y="2294705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366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损失函数（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度量模型预测的优劣，即真实值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与预测值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之间的差异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针对我们的常数模型，度量参数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与真实观测值之间的误差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平方损失（</a:t>
                </a:r>
                <a:r>
                  <a:rPr lang="en-US" altLang="zh-CN" dirty="0"/>
                  <a:t>Squared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），也称为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损失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b="0" i="1" dirty="0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dirty="0" smtClean="0">
                                  <a:latin typeface="Cambria Math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400" i="1" dirty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dirty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绝对损失（</a:t>
                </a:r>
                <a:r>
                  <a:rPr lang="en-US" altLang="zh-CN" dirty="0"/>
                  <a:t>Absolute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），也称为</a:t>
                </a:r>
                <a:r>
                  <a:rPr lang="en-US" altLang="zh-CN" dirty="0"/>
                  <a:t>L1</a:t>
                </a:r>
                <a:r>
                  <a:rPr lang="zh-CN" altLang="en-US" dirty="0"/>
                  <a:t>损失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 dirty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dirty="0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charset="0"/>
                        </a:rPr>
                        <m:t>|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47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损失函数与经验风险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给定某个数据集，我们可以度量平均损失，也称经验风险（</a:t>
                </a:r>
                <a:r>
                  <a:rPr lang="en-US" altLang="zh-CN" dirty="0"/>
                  <a:t>Empirical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Risk</a:t>
                </a:r>
                <a:r>
                  <a:rPr lang="zh-CN" altLang="en-US" dirty="0"/>
                  <a:t>）或目标函数（</a:t>
                </a:r>
                <a:r>
                  <a:rPr lang="en-US" altLang="zh-CN" dirty="0"/>
                  <a:t>Objective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Function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𝐿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模型的平均损失度量了模型对于数据的拟合程度。</a:t>
                </a:r>
                <a:endParaRPr lang="en-US" altLang="zh-CN" dirty="0"/>
              </a:p>
              <a:p>
                <a:r>
                  <a:rPr lang="zh-CN" altLang="en-US" dirty="0"/>
                  <a:t>两种典型的平均损失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均方误差（</a:t>
                </a:r>
                <a:r>
                  <a:rPr lang="en-US" altLang="zh-CN" dirty="0"/>
                  <a:t>mean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error,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平均绝对误差（</a:t>
                </a:r>
                <a:r>
                  <a:rPr lang="en-US" altLang="zh-CN" dirty="0"/>
                  <a:t>mean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absolute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error,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MAE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en-US" dirty="0"/>
                  <a:t>模型求解的目标：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最小化平均损失！</a:t>
                </a:r>
                <a:endParaRPr lang="en-US" altLang="zh-C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08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均方误差与平均绝对误差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均方误差：采用均方损失函数，针对所有数据点求平均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charset="0"/>
                        </a:rPr>
                        <m:t>MSE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平均绝对误差：采用平均绝对损失函数，针对所有数据点求平均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charset="0"/>
                        </a:rPr>
                        <m:t>MAE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6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77D13D-1A9B-E447-944C-BFA65BC8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课堂练习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6EC138F-9CC0-E74D-97A0-5084F0655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给定五个数据点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[20,21,22,29,33]</m:t>
                    </m:r>
                  </m:oMath>
                </a14:m>
                <a:r>
                  <a:rPr lang="zh-CN" altLang="en-US" dirty="0"/>
                  <a:t>，计算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x-none" dirty="0"/>
                  <a:t>的不同估计值</a:t>
                </a:r>
                <a:r>
                  <a:rPr lang="en-US" altLang="zh-CN" dirty="0"/>
                  <a:t>[22,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24,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25]</a:t>
                </a:r>
                <a:r>
                  <a:rPr lang="zh-CN" altLang="en-US" dirty="0"/>
                  <a:t>的均方误差</a:t>
                </a:r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EC138F-9CC0-E74D-97A0-5084F0655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D443056-6716-FD41-96E9-19A2B242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4EB6A33-C172-C84A-8E66-569D677A9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694" y="1279602"/>
            <a:ext cx="5002837" cy="347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7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D2B8A7-8231-934F-B7A1-1296DE1D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考虑Tips数据集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26E8BC-05D7-D540-94CA-1BA5D34F0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956" y="2683565"/>
            <a:ext cx="2474843" cy="2072584"/>
          </a:xfrm>
        </p:spPr>
        <p:txBody>
          <a:bodyPr/>
          <a:lstStyle/>
          <a:p>
            <a:r>
              <a:rPr lang="x-none" dirty="0"/>
              <a:t>通过左图的观察</a:t>
            </a:r>
            <a:r>
              <a:rPr lang="zh-CN" altLang="en-US" dirty="0"/>
              <a:t>，你能发现什么？</a:t>
            </a:r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AC9DA6-600A-3341-9C17-C460ABBE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4F019AC-CEF0-CD4C-874A-0CBD65D4B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9150"/>
            <a:ext cx="5669467" cy="3907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9538D54-A804-5846-90D2-067AF2D3C8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58012" y="1877205"/>
            <a:ext cx="582730" cy="5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建立模型的三个步骤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1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b="1" dirty="0"/>
              <a:t> 选择某种模型</a:t>
            </a:r>
            <a:endParaRPr lang="en-US" altLang="zh-CN" b="1" dirty="0"/>
          </a:p>
          <a:p>
            <a:pPr lvl="1"/>
            <a:r>
              <a:rPr lang="zh-CN" altLang="en-US" dirty="0"/>
              <a:t>常数模型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Constant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pPr lvl="1"/>
            <a:r>
              <a:rPr lang="zh-CN" altLang="en-US" dirty="0"/>
              <a:t>线性回归模型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pPr lvl="1"/>
            <a:r>
              <a:rPr lang="zh-CN" altLang="en-US" dirty="0"/>
              <a:t>更复杂的模型</a:t>
            </a:r>
            <a:endParaRPr lang="en-US" altLang="zh-CN" dirty="0"/>
          </a:p>
          <a:p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b="1" dirty="0"/>
              <a:t> 选择目标函数</a:t>
            </a:r>
            <a:endParaRPr lang="en-US" altLang="zh-CN" b="1" dirty="0"/>
          </a:p>
          <a:p>
            <a:pPr lvl="1"/>
            <a:r>
              <a:rPr lang="zh-CN" altLang="en-US" dirty="0"/>
              <a:t>均方误差（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square error,</a:t>
            </a:r>
            <a:r>
              <a:rPr lang="zh-CN" altLang="en-US" dirty="0"/>
              <a:t> </a:t>
            </a:r>
            <a:r>
              <a:rPr lang="en-US" altLang="zh-CN" dirty="0"/>
              <a:t>MSE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平均绝对误差（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absolute</a:t>
            </a:r>
            <a:r>
              <a:rPr lang="zh-CN" altLang="en-US" dirty="0"/>
              <a:t> </a:t>
            </a:r>
            <a:r>
              <a:rPr lang="en-US" altLang="zh-CN" dirty="0"/>
              <a:t>error,</a:t>
            </a:r>
            <a:r>
              <a:rPr lang="zh-CN" altLang="en-US" dirty="0"/>
              <a:t> </a:t>
            </a:r>
            <a:r>
              <a:rPr lang="en-US" altLang="zh-CN" dirty="0"/>
              <a:t>MAE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其它目标函数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Step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3-</a:t>
            </a:r>
            <a:r>
              <a:rPr lang="zh-CN" altLang="en-US" b="1" dirty="0">
                <a:solidFill>
                  <a:srgbClr val="C00000"/>
                </a:solidFill>
              </a:rPr>
              <a:t> 拟合模型（</a:t>
            </a:r>
            <a:r>
              <a:rPr lang="en-US" altLang="zh-CN" b="1" dirty="0">
                <a:solidFill>
                  <a:srgbClr val="C00000"/>
                </a:solidFill>
              </a:rPr>
              <a:t>model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fitting</a:t>
            </a:r>
            <a:r>
              <a:rPr lang="zh-CN" altLang="en-US" b="1" dirty="0">
                <a:solidFill>
                  <a:srgbClr val="C00000"/>
                </a:solidFill>
              </a:rPr>
              <a:t>）：优化目标函数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最小化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最大化目标函数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00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常数模型与均方误差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平均损失通常表示为参数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的函数，例如：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思考：如何求解最小化平均损失时参数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的取值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</m:acc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is-IS" altLang="zh-CN" b="0" i="1" smtClean="0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b="0" i="1" smtClean="0">
                                              <a:latin typeface="Cambria Math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r>
                  <a:rPr lang="zh-CN" altLang="en-US" dirty="0"/>
                  <a:t>例子：给定五个数据点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[20,21,22,29,33]</m:t>
                    </m:r>
                  </m:oMath>
                </a14:m>
                <a:r>
                  <a:rPr lang="zh-CN" altLang="en-US" dirty="0"/>
                  <a:t>，请根据上式求解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313443" y="4071242"/>
            <a:ext cx="29759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请计算下表单元格的分值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22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25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C.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24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D.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27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86259" y="4103626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397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4615C9-0B4E-DF4C-9C1E-303209CA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常数模型与均方误差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7374E63-E3D9-2C49-9BA4-BF578FC47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例子：给定五个数据点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[20,21,22,29,33]</m:t>
                    </m:r>
                  </m:oMath>
                </a14:m>
                <a:r>
                  <a:rPr lang="zh-CN" altLang="en-US" dirty="0"/>
                  <a:t>，求解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374E63-E3D9-2C49-9BA4-BF578FC47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6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5F800E3-913B-3844-9C6A-8BBCBA36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5900"/>
            <a:ext cx="4033623" cy="29964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85900"/>
            <a:ext cx="4033623" cy="299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0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求解过程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b="0" dirty="0"/>
                  <a:t>均方误差：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altLang="zh-CN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zh-CN" altLang="en-US" dirty="0"/>
                  <a:t>针对参数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求导：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bg-BG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𝑑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</m:t>
                                  </m:r>
                                  <m:r>
                                    <a:rPr lang="en-US" altLang="zh-CN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−2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dirty="0"/>
              </a:p>
              <a:p>
                <a:r>
                  <a:rPr lang="zh-CN" altLang="en-US" dirty="0"/>
                  <a:t>令一阶导数等于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−2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is-I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zh-CN" sz="1800" b="1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𝐦𝐞𝐚𝐧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𝑦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zh-CN" altLang="en-US" dirty="0"/>
                  <a:t>课堂练习：</a:t>
                </a:r>
                <a:r>
                  <a:rPr lang="en-US" altLang="zh-CN" dirty="0"/>
                  <a:t>1.</a:t>
                </a:r>
                <a:r>
                  <a:rPr lang="zh-CN" altLang="en-US" dirty="0"/>
                  <a:t> 请计算二阶导数；</a:t>
                </a:r>
                <a:r>
                  <a:rPr lang="en-US" altLang="zh-CN" dirty="0"/>
                  <a:t>2.</a:t>
                </a:r>
                <a:r>
                  <a:rPr lang="zh-CN" altLang="en-US" dirty="0"/>
                  <a:t> 请计算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b="0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1" i="0" smtClean="0">
                        <a:latin typeface="Cambria Math" charset="0"/>
                      </a:rPr>
                      <m:t>𝐦𝐞𝐚𝐧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𝑦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时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𝑅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𝜃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的取值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10836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07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常数模型与均方误差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1" i="0" smtClean="0">
                        <a:latin typeface="Cambria Math" charset="0"/>
                      </a:rPr>
                      <m:t>𝐦𝐞𝐚𝐧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𝑦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时，可以求得：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r>
                  <a:rPr lang="zh-CN" altLang="en-US" dirty="0"/>
                  <a:t>几个结论：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给定常数模型和均方误差，最优的参数估计是观测数据的均值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给定均值作为估计，此时均方误差达到最小，等于观测数据的方差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上述结论解释了为什么均值是重要的统计变量</a:t>
                </a:r>
                <a:endParaRPr lang="en-US" altLang="zh-CN" dirty="0"/>
              </a:p>
              <a:p>
                <a:r>
                  <a:rPr lang="zh-CN" altLang="en-US" dirty="0"/>
                  <a:t>注意：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上述结论成立的条件：① 模型为常数；② 损失函数采用均方损失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48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常数模型与平均绝对误差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平均损失通常表示为参数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的函数，例如：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𝜃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思考：如何求解最小化平均损失时参数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的取值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</m:acc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is-IS" altLang="zh-CN" b="0" i="1" smtClean="0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𝜃</m:t>
                                  </m:r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|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r>
                  <a:rPr lang="zh-CN" altLang="en-US" dirty="0"/>
                  <a:t>例子：给定五个数据点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[20,21,22,29,33]</m:t>
                    </m:r>
                  </m:oMath>
                </a14:m>
                <a:r>
                  <a:rPr lang="zh-CN" altLang="en-US" dirty="0"/>
                  <a:t>，请根据上式求解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313443" y="4071242"/>
            <a:ext cx="29759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请从以下候选中做出选择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22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25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C.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latin typeface="Helvetica Neue" charset="0"/>
              </a:rPr>
              <a:t>24</a:t>
            </a:r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sz="1600" b="1" dirty="0" smtClean="0">
                <a:solidFill>
                  <a:srgbClr val="C00000"/>
                </a:solidFill>
                <a:latin typeface="Helvetica Neue" charset="0"/>
              </a:rPr>
              <a:t>D.</a:t>
            </a:r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latin typeface="Helvetica Neue" charset="0"/>
              </a:rPr>
              <a:t>27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86259" y="4103626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363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4615C9-0B4E-DF4C-9C1E-303209CA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常数模型与平均绝对误差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7374E63-E3D9-2C49-9BA4-BF578FC47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例子：给定五个数据点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[20,21,22,29,33]</m:t>
                    </m:r>
                  </m:oMath>
                </a14:m>
                <a:r>
                  <a:rPr lang="zh-CN" altLang="en-US" dirty="0"/>
                  <a:t>，求解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374E63-E3D9-2C49-9BA4-BF578FC47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6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5F800E3-913B-3844-9C6A-8BBCBA36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47" y="1485900"/>
            <a:ext cx="4033623" cy="29964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023" y="1485900"/>
            <a:ext cx="4047777" cy="299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4615C9-0B4E-DF4C-9C1E-303209CA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常数模型与平均绝对误差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7374E63-E3D9-2C49-9BA4-BF578FC47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例子：给定五个数据点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[20,21,22,29,33]</m:t>
                    </m:r>
                  </m:oMath>
                </a14:m>
                <a:r>
                  <a:rPr lang="zh-CN" altLang="en-US" dirty="0"/>
                  <a:t>，求解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374E63-E3D9-2C49-9BA4-BF578FC47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6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5F800E3-913B-3844-9C6A-8BBCBA36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513" y="1286443"/>
            <a:ext cx="4674973" cy="346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求解过程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6798623" cy="3937000"/>
              </a:xfrm>
            </p:spPr>
            <p:txBody>
              <a:bodyPr/>
              <a:lstStyle/>
              <a:p>
                <a:r>
                  <a:rPr lang="zh-CN" altLang="en-US" dirty="0"/>
                  <a:t>思考：求解的关键是如何计算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−</m:t>
                    </m:r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  <m:r>
                      <a:rPr lang="en-US" altLang="zh-CN" b="0" i="1" smtClean="0">
                        <a:latin typeface="Cambria Math" charset="0"/>
                      </a:rPr>
                      <m:t>|</m:t>
                    </m:r>
                  </m:oMath>
                </a14:m>
                <a:r>
                  <a:rPr lang="zh-CN" altLang="en-US" dirty="0"/>
                  <a:t>的导数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提示：将绝对值写成以下分段函数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𝜃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1800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en-US" altLang="zh-CN" sz="1800" b="1" i="0" smtClean="0">
                                        <a:latin typeface="Cambria Math" charset="0"/>
                                      </a:rPr>
                                      <m:t>𝐢𝐟</m:t>
                                    </m:r>
                                    <m:r>
                                      <a:rPr lang="zh-CN" altLang="en-US" sz="18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≤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𝜃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1800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en-US" altLang="zh-CN" sz="1800" b="1" i="0" smtClean="0">
                                        <a:latin typeface="Cambria Math" charset="0"/>
                                      </a:rPr>
                                      <m:t>𝐢𝐟</m:t>
                                    </m:r>
                                    <m:r>
                                      <a:rPr lang="zh-CN" altLang="en-US" sz="18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&gt;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同样地，可以将平均绝对损失针对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的导数写为分段函数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1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−1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1800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𝑖𝑓</m:t>
                                    </m:r>
                                    <m:r>
                                      <a:rPr lang="zh-CN" altLang="en-US" sz="18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&lt;</m:t>
                                    </m:r>
                                    <m:sSub>
                                      <m:sSubPr>
                                        <m:ctrlPr>
                                          <a:rPr lang="en-US" altLang="zh-CN" sz="1800" b="0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b="0" i="1" smtClean="0"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 i="1" smtClean="0"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1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1800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𝑖𝑓</m:t>
                                    </m:r>
                                    <m:r>
                                      <a:rPr lang="zh-CN" altLang="en-US" sz="18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800" b="0" i="1" smtClean="0">
                                        <a:latin typeface="Cambria Math" charset="0"/>
                                      </a:rPr>
                                      <m:t>&gt;</m:t>
                                    </m:r>
                                    <m:sSub>
                                      <m:sSubPr>
                                        <m:ctrlPr>
                                          <a:rPr lang="en-US" altLang="zh-CN" sz="1800" b="0" i="1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b="0" i="1" smtClean="0"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 i="1" smtClean="0"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zh-CN" altLang="en-US" dirty="0"/>
                  <a:t>注：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时不可导。此处为了简便，忽略该点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6798623" cy="3937000"/>
              </a:xfrm>
              <a:blipFill rotWithShape="0">
                <a:blip r:embed="rId2"/>
                <a:stretch>
                  <a:fillRect l="-807" t="-774" r="-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761" y="1082188"/>
            <a:ext cx="2906486" cy="191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8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求解过程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平均绝对</a:t>
                </a:r>
                <a:r>
                  <a:rPr lang="zh-CN" altLang="en-US" b="0" dirty="0"/>
                  <a:t>误差：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altLang="zh-CN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zh-CN" altLang="en-US" dirty="0"/>
                  <a:t>针对参数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求导：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bg-BG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𝑑</m:t>
                              </m:r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den>
                          </m:f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[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−1</m:t>
                              </m:r>
                            </m:e>
                          </m:d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]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zh-CN" altLang="en-US" dirty="0"/>
                  <a:t>令一阶导数等于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zh-CN" sz="1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e>
                          </m:nary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zh-CN" altLang="en-US" dirty="0"/>
                  <a:t>思考：根据上述公式估计值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dirty="0"/>
                  <a:t>应该取多少？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10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84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常数模型与平均绝对误差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7439891" cy="39370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根据之前推导，可以求得：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1" i="0" smtClean="0">
                        <a:latin typeface="Cambria Math" charset="0"/>
                      </a:rPr>
                      <m:t>𝐦𝐞𝐝𝐢𝐚𝐧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𝑦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，此时有：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b="1" i="0" dirty="0" smtClean="0">
                              <a:latin typeface="Cambria Math" charset="0"/>
                            </a:rPr>
                            <m:t>𝐦𝐞𝐝𝐢𝐚𝐧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(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)|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r>
                  <a:rPr lang="zh-CN" altLang="en-US" dirty="0"/>
                  <a:t>几个结论：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给定常数模型和平均绝对误差，最优参数估计是观测数据中位数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给中位数作为估计，平均绝对误差达到最小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此时的参数估计不容易受到离群点（</a:t>
                </a:r>
                <a:r>
                  <a:rPr lang="en-US" altLang="zh-CN" dirty="0"/>
                  <a:t>Outlier</a:t>
                </a:r>
                <a:r>
                  <a:rPr lang="zh-CN" altLang="en-US" dirty="0"/>
                  <a:t>）的影响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7439891" cy="3937000"/>
              </a:xfrm>
              <a:blipFill rotWithShape="0">
                <a:blip r:embed="rId2"/>
                <a:stretch>
                  <a:fillRect l="-738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49748" y="1365662"/>
            <a:ext cx="2562176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平均绝对离差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Mean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Absolute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Deviation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6043092" y="1688827"/>
            <a:ext cx="4066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2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常数模型与平均绝对误差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4221678" cy="3937000"/>
              </a:xfrm>
            </p:spPr>
            <p:txBody>
              <a:bodyPr/>
              <a:lstStyle/>
              <a:p>
                <a:r>
                  <a:rPr lang="zh-CN" altLang="en-US" dirty="0"/>
                  <a:t>思考：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如果观测数据变为</a:t>
                </a:r>
                <a:r>
                  <a:rPr lang="en-US" altLang="zh-CN" dirty="0"/>
                  <a:t>[20,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29,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33,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35]</a:t>
                </a:r>
              </a:p>
              <a:p>
                <a:pPr lvl="1"/>
                <a:r>
                  <a:rPr lang="zh-CN" altLang="en-US" dirty="0"/>
                  <a:t>此时的估计值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dirty="0"/>
                  <a:t>应为多少？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答案：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dirty="0"/>
                  <a:t>不唯一，区间</a:t>
                </a:r>
                <a:r>
                  <a:rPr lang="en-US" altLang="zh-CN" dirty="0"/>
                  <a:t>[22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29]</a:t>
                </a:r>
                <a:r>
                  <a:rPr lang="zh-CN" altLang="en-US" dirty="0"/>
                  <a:t>内任意的取值均可。你能证明吗？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4221678" cy="3937000"/>
              </a:xfrm>
              <a:blipFill rotWithShape="0">
                <a:blip r:embed="rId2"/>
                <a:stretch>
                  <a:fillRect l="-1299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878" y="1271446"/>
            <a:ext cx="4085771" cy="303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</a:t>
            </a:r>
            <a:r>
              <a:rPr lang="zh-CN" altLang="en-US" dirty="0"/>
              <a:t>：对比</a:t>
            </a:r>
            <a:r>
              <a:rPr lang="en-US" altLang="zh-CN" dirty="0"/>
              <a:t>MSE</a:t>
            </a:r>
            <a:r>
              <a:rPr lang="zh-CN" altLang="en-US" dirty="0"/>
              <a:t>和</a:t>
            </a:r>
            <a:r>
              <a:rPr lang="en-US" altLang="zh-CN" dirty="0"/>
              <a:t>MAE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39370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考虑简单数据集</a:t>
                </a:r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20,21,22,29,33</m:t>
                    </m:r>
                  </m:oMath>
                </a14:m>
                <a:r>
                  <a:rPr lang="en-US" altLang="zh-CN" dirty="0"/>
                  <a:t>]</a:t>
                </a:r>
                <a:r>
                  <a:rPr lang="zh-CN" altLang="en-US" dirty="0"/>
                  <a:t> 和常数模型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1680"/>
                  </a:spcBef>
                </a:pPr>
                <a:r>
                  <a:rPr lang="en-US" altLang="zh-CN" dirty="0"/>
                  <a:t>MSE</a:t>
                </a:r>
                <a:r>
                  <a:rPr lang="zh-CN" altLang="en-US" dirty="0"/>
                  <a:t>的平均损失曲线光滑；</a:t>
                </a:r>
                <a:r>
                  <a:rPr lang="en-US" altLang="zh-CN" dirty="0"/>
                  <a:t>MAE</a:t>
                </a:r>
                <a:r>
                  <a:rPr lang="zh-CN" altLang="en-US" dirty="0"/>
                  <a:t>的平均损失曲线不光滑</a:t>
                </a:r>
                <a:endParaRPr lang="en-US" altLang="zh-CN" dirty="0"/>
              </a:p>
              <a:p>
                <a:pPr lvl="1"/>
                <a:r>
                  <a:rPr lang="zh-CN" altLang="en-US" dirty="0" smtClean="0">
                    <a:solidFill>
                      <a:srgbClr val="C00000"/>
                    </a:solidFill>
                  </a:rPr>
                  <a:t>选择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MSE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，估计值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——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大多数模型选择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MSE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CN" altLang="en-US" dirty="0"/>
                  <a:t>选择</a:t>
                </a:r>
                <a:r>
                  <a:rPr lang="en-US" altLang="zh-CN" dirty="0"/>
                  <a:t>MAE</a:t>
                </a:r>
                <a:r>
                  <a:rPr lang="zh-CN" altLang="en-US" dirty="0"/>
                  <a:t>，估计值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1" i="0" smtClean="0">
                        <a:latin typeface="Cambria Math" charset="0"/>
                      </a:rPr>
                      <m:t>𝐦𝐞𝐝𝐢𝐚𝐧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𝑦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（可能不唯一）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3937000"/>
              </a:xfrm>
              <a:blipFill rotWithShape="0">
                <a:blip r:embed="rId2"/>
                <a:stretch>
                  <a:fillRect l="-667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781" y="1319481"/>
            <a:ext cx="6970815" cy="221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4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B7E004-34D6-1040-9927-B93D7313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思考：</a:t>
            </a:r>
            <a:r>
              <a:rPr lang="en-US" altLang="zh-CN" dirty="0" smtClean="0"/>
              <a:t>MSE</a:t>
            </a:r>
            <a:r>
              <a:rPr lang="zh-CN" altLang="en-US" dirty="0" smtClean="0"/>
              <a:t>的局限性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FF22DF4D-34CF-C349-9ACE-97F43715E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考虑简单数据集</a:t>
                </a:r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20,21,22,29,</m:t>
                    </m:r>
                    <m:r>
                      <a:rPr lang="en-US" altLang="zh-CN" b="0" i="1" smtClean="0">
                        <a:latin typeface="Cambria Math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altLang="zh-CN" dirty="0"/>
                  <a:t>]</a:t>
                </a:r>
                <a:r>
                  <a:rPr lang="zh-CN" altLang="en-US" dirty="0"/>
                  <a:t> （</a:t>
                </a:r>
                <a:r>
                  <a:rPr lang="zh-CN" altLang="en-US" dirty="0" smtClean="0"/>
                  <a:t>其中</a:t>
                </a:r>
                <a:r>
                  <a:rPr lang="en-US" altLang="zh-CN" dirty="0"/>
                  <a:t>2</a:t>
                </a:r>
                <a:r>
                  <a:rPr lang="en-US" altLang="zh-CN" dirty="0" smtClean="0"/>
                  <a:t>00</a:t>
                </a:r>
                <a:r>
                  <a:rPr lang="zh-CN" altLang="en-US" dirty="0"/>
                  <a:t>为异常值），请计算随时函数为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MAE</a:t>
                </a:r>
                <a:r>
                  <a:rPr lang="zh-CN" altLang="en-US" dirty="0"/>
                  <a:t>时的参数估计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zh-CN" altLang="en-US" dirty="0"/>
                  <a:t>及相应的损失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值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进一步思考：你能从上述结果中得到什么结论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再进一步思考：如果让你设计一个新的损失函数可以对数据中的异常值更加鲁棒（</a:t>
                </a:r>
                <a:r>
                  <a:rPr lang="en-US" altLang="zh-CN" dirty="0"/>
                  <a:t>Robust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Learning</a:t>
                </a:r>
                <a:r>
                  <a:rPr lang="zh-CN" altLang="en-US" dirty="0"/>
                  <a:t>），你会怎么设计？</a:t>
                </a:r>
                <a:endParaRPr lang="en-US" altLang="zh-CN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F22DF4D-34CF-C349-9ACE-97F43715E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914A1A-4053-984B-90A1-6A95D613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13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1EAB58-CFEF-4947-8744-7CBA8E50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Huber</a:t>
            </a:r>
            <a:r>
              <a:rPr lang="zh-CN" altLang="en-US" dirty="0"/>
              <a:t> 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x-none" dirty="0"/>
          </a:p>
        </p:txBody>
      </p:sp>
      <p:pic>
        <p:nvPicPr>
          <p:cNvPr id="7" name="Content Placeholder 6" descr="Text&#10;&#10;Description automatically generated with medium confidence">
            <a:extLst>
              <a:ext uri="{FF2B5EF4-FFF2-40B4-BE49-F238E27FC236}">
                <a16:creationId xmlns:a16="http://schemas.microsoft.com/office/drawing/2014/main" xmlns="" id="{358210E0-7666-5A42-96B3-B6ED01CDE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0" y="943943"/>
            <a:ext cx="5156200" cy="939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883C58D-A6CE-C340-8E50-2AE163C3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70" y="2046516"/>
            <a:ext cx="2804005" cy="2012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317" y="2046516"/>
            <a:ext cx="2782815" cy="201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957" y="2046516"/>
            <a:ext cx="2761626" cy="2012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xmlns="" id="{1126E8BC-05D7-D540-94CA-1BA5D34F0B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4222239"/>
                <a:ext cx="8229599" cy="5339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>
                    <a:solidFill>
                      <a:srgbClr val="C00000"/>
                    </a:solidFill>
                  </a:rPr>
                  <a:t>思考：在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Huber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Loss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中，参数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dirty="0" smtClean="0">
                    <a:solidFill>
                      <a:srgbClr val="C00000"/>
                    </a:solidFill>
                  </a:rPr>
                  <a:t>增大或减小对上述曲线有何影响？</a:t>
                </a:r>
                <a:endParaRPr lang="x-non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xmlns="" id="{1126E8BC-05D7-D540-94CA-1BA5D34F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22239"/>
                <a:ext cx="8229599" cy="533910"/>
              </a:xfrm>
              <a:prstGeom prst="rect">
                <a:avLst/>
              </a:prstGeom>
              <a:blipFill rotWithShape="0">
                <a:blip r:embed="rId6"/>
                <a:stretch>
                  <a:fillRect l="-667" t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9538D54-A804-5846-90D2-067AF2D3C8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3198" y="4115363"/>
            <a:ext cx="582730" cy="5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</a:t>
            </a:r>
            <a:r>
              <a:rPr lang="zh-CN" altLang="en-US" dirty="0"/>
              <a:t> 几个重要概念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下面几个概念后面会反复出现！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观测值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与预测值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与拟合参数（或参数估计值）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估计（</a:t>
                </a:r>
                <a:r>
                  <a:rPr lang="en-US" altLang="zh-CN" dirty="0"/>
                  <a:t>Estimation</a:t>
                </a:r>
                <a:r>
                  <a:rPr lang="zh-CN" altLang="en-US" dirty="0"/>
                  <a:t>）与预测（</a:t>
                </a:r>
                <a:r>
                  <a:rPr lang="en-US" altLang="zh-CN" dirty="0"/>
                  <a:t>Prediction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损失函数与平均损失（经验风险）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均方误差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与平均绝对误差</a:t>
                </a:r>
                <a:r>
                  <a:rPr lang="en-US" altLang="zh-CN" dirty="0"/>
                  <a:t>MAE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参数求解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zh-CN" altLang="en-US" dirty="0"/>
                  <a:t> 平均损失（经验风险）最小化！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724395" y="3028208"/>
            <a:ext cx="5355771" cy="6531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8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数据建模与回归分析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462807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数据建模与参数估计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简单线性回归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线性回归模型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：多元线性回归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梯度下降（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Gradient</a:t>
            </a:r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Descent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0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(SLR)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4874821" cy="3937000"/>
              </a:xfrm>
            </p:spPr>
            <p:txBody>
              <a:bodyPr/>
              <a:lstStyle/>
              <a:p>
                <a:r>
                  <a:rPr lang="zh-CN" altLang="en-US" dirty="0"/>
                  <a:t>让我们把模型变得更复杂一些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考虑输入变量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为了表示方便，我们将上式写成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zh-CN" altLang="en-US" dirty="0"/>
                  <a:t>该模型称为简单线性回归模型，简称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例如：右图建立房间数量与房屋价格之间的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模型。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4874821" cy="3937000"/>
              </a:xfrm>
              <a:blipFill rotWithShape="0">
                <a:blip r:embed="rId2"/>
                <a:stretch>
                  <a:fillRect l="-1125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1"/>
          <a:stretch/>
        </p:blipFill>
        <p:spPr bwMode="auto">
          <a:xfrm>
            <a:off x="5379521" y="1273371"/>
            <a:ext cx="3626158" cy="3028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555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(SLR)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876616"/>
          </a:xfrm>
        </p:spPr>
        <p:txBody>
          <a:bodyPr/>
          <a:lstStyle/>
          <a:p>
            <a:r>
              <a:rPr lang="zh-CN" altLang="en-US" dirty="0"/>
              <a:t>度量变量之间的相关性（</a:t>
            </a:r>
            <a:r>
              <a:rPr lang="en-US" altLang="zh-CN" dirty="0"/>
              <a:t>Correlation</a:t>
            </a:r>
            <a:r>
              <a:rPr lang="zh-CN" altLang="en-US" dirty="0"/>
              <a:t>）</a:t>
            </a:r>
            <a:r>
              <a:rPr lang="zh-CN" altLang="en-US" dirty="0" smtClean="0"/>
              <a:t>是典型的回归问题</a:t>
            </a:r>
            <a:endParaRPr lang="en-US" altLang="zh-CN" dirty="0"/>
          </a:p>
          <a:p>
            <a:r>
              <a:rPr lang="zh-CN" altLang="en-US" dirty="0"/>
              <a:t>举例：你的身高与你父母的身高之间存在相关性吗？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819749" y="3483920"/>
            <a:ext cx="20036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弗朗西斯·高尔顿</a:t>
            </a:r>
            <a:endParaRPr lang="en-US" dirty="0"/>
          </a:p>
          <a:p>
            <a:r>
              <a:rPr lang="en-US" dirty="0"/>
              <a:t>（Francis Galton）</a:t>
            </a:r>
          </a:p>
        </p:txBody>
      </p:sp>
      <p:pic>
        <p:nvPicPr>
          <p:cNvPr id="1026" name="Picture 2" descr="https://bkimg.cdn.bcebos.com/pic/8326cffc1e178a827cf770f1f503738da877e89c?x-bce-process=image/resize,m_lfit,w_268,limit_1/format,f_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31" y="1358237"/>
            <a:ext cx="1808518" cy="212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329549" y="4105504"/>
            <a:ext cx="2778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91919"/>
                </a:solidFill>
                <a:latin typeface="PingFang SC" charset="-122"/>
              </a:rPr>
              <a:t>1855</a:t>
            </a:r>
            <a:r>
              <a:rPr lang="zh-CN" altLang="en-US" dirty="0">
                <a:solidFill>
                  <a:srgbClr val="191919"/>
                </a:solidFill>
                <a:latin typeface="PingFang SC" charset="-122"/>
              </a:rPr>
              <a:t>年论文：</a:t>
            </a:r>
            <a:r>
              <a:rPr lang="en-US" altLang="zh-CN" dirty="0">
                <a:solidFill>
                  <a:srgbClr val="191919"/>
                </a:solidFill>
                <a:latin typeface="PingFang SC" charset="-122"/>
              </a:rPr>
              <a:t>《</a:t>
            </a:r>
            <a:r>
              <a:rPr lang="zh-CN" altLang="en-US" dirty="0">
                <a:solidFill>
                  <a:srgbClr val="191919"/>
                </a:solidFill>
                <a:latin typeface="PingFang SC" charset="-122"/>
              </a:rPr>
              <a:t>遗传的身高向平均数方向的回归</a:t>
            </a:r>
            <a:r>
              <a:rPr lang="en-US" altLang="zh-CN" dirty="0">
                <a:solidFill>
                  <a:srgbClr val="191919"/>
                </a:solidFill>
                <a:latin typeface="PingFang SC" charset="-122"/>
              </a:rPr>
              <a:t>》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25" y="1695766"/>
            <a:ext cx="4428417" cy="30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2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SLR</a:t>
            </a:r>
            <a:r>
              <a:rPr lang="zh-CN" altLang="en-US" dirty="0"/>
              <a:t>模型与</a:t>
            </a:r>
            <a:r>
              <a:rPr lang="en-US" altLang="zh-CN" dirty="0"/>
              <a:t>MSE</a:t>
            </a:r>
            <a:r>
              <a:rPr lang="zh-CN" altLang="en-US" dirty="0"/>
              <a:t>目标函数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模型，均方误差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可以写为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优化任务：如何计算最优的参数组合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)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is-IS" altLang="zh-CN" b="0" i="1" smtClean="0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b="0" i="1" smtClean="0">
                                              <a:latin typeface="Cambria Math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𝑎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𝑏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0" i="1" smtClean="0">
                                                      <a:latin typeface="Cambria Math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0" i="1" smtClean="0">
                                                      <a:latin typeface="Cambria Math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0" i="1" smtClean="0">
                                                      <a:latin typeface="Cambria Math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数学工具：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计算变量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𝑎</m:t>
                    </m:r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r>
                      <a:rPr lang="en-US" altLang="zh-CN" b="0" i="1" smtClean="0">
                        <a:latin typeface="Cambria Math" charset="0"/>
                      </a:rPr>
                      <m:t>𝑏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的一阶偏导，令一阶偏导为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，从而求解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𝑎</m:t>
                            </m:r>
                          </m:e>
                        </m:acc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𝑏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03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求解过程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计算目标函数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𝑅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𝑎</m:t>
                    </m:r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r>
                      <a:rPr lang="en-US" altLang="zh-CN" b="0" i="1" smtClean="0">
                        <a:latin typeface="Cambria Math" charset="0"/>
                      </a:rPr>
                      <m:t>𝑏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对变量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的一阶偏导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1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bg-BG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</m:num>
                        <m:den>
                          <m:r>
                            <a:rPr lang="bg-BG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𝑎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−2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dirty="0"/>
              </a:p>
              <a:p>
                <a:r>
                  <a:rPr lang="zh-CN" altLang="en-US" dirty="0"/>
                  <a:t>令一阶偏导等于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altLang="zh-CN" sz="18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charset="0"/>
                            </a:rPr>
                            <m:t>−2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i="1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1800" i="1">
                              <a:latin typeface="Cambria Math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1800" i="1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sz="1800" i="1">
                              <a:latin typeface="Cambria Math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nary>
                        <m:naryPr>
                          <m:chr m:val="∑"/>
                          <m:ctrlPr>
                            <a:rPr lang="is-IS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𝑏</m:t>
                      </m:r>
                      <m:nary>
                        <m:naryPr>
                          <m:chr m:val="∑"/>
                          <m:ctrlPr>
                            <a:rPr lang="is-I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r>
                        <a:rPr lang="en-US" altLang="zh-CN" sz="1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dirty="0"/>
                  <a:t>分别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的均值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59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求解过程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将估计值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dirty="0"/>
                  <a:t> 代入目标函数，求得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dirty="0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8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sz="1800" b="0" i="1" dirty="0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1800" b="0" i="1" dirty="0" smtClean="0"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 dirty="0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b="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dirty="0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800" b="0" i="1" dirty="0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800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1800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b="0" i="1" dirty="0" smtClean="0">
                                              <a:latin typeface="Cambria Math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1800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b="0" i="1" dirty="0" smtClean="0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800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b="0" i="1" dirty="0" smtClean="0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800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8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i="1" dirty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dirty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sz="1800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 dirty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800" i="1" dirty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 dirty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dirty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i="1" dirty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800" i="1" dirty="0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altLang="zh-CN" sz="1800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altLang="zh-CN" sz="1800" b="0" i="1" dirty="0" smtClean="0">
                                      <a:latin typeface="Cambria Math" charset="0"/>
                                    </a:rPr>
                                    <m:t>𝑏</m:t>
                                  </m:r>
                                  <m:r>
                                    <a:rPr lang="en-US" altLang="zh-CN" sz="1800" b="0" i="1" dirty="0" smtClean="0">
                                      <a:latin typeface="Cambria Math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800" b="0" i="1" dirty="0" smtClean="0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b="0" i="1" dirty="0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altLang="zh-CN" sz="1800" b="0" i="1" dirty="0" smtClean="0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i="1" dirty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800" dirty="0"/>
              </a:p>
              <a:p>
                <a:pPr>
                  <a:spcBef>
                    <a:spcPts val="1080"/>
                  </a:spcBef>
                </a:pPr>
                <a:r>
                  <a:rPr lang="zh-CN" altLang="en-US" dirty="0"/>
                  <a:t>计算目标函数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𝑅</m:t>
                    </m:r>
                    <m:r>
                      <a:rPr lang="en-US" altLang="zh-CN" i="1">
                        <a:latin typeface="Cambria Math" charset="0"/>
                      </a:rPr>
                      <m:t>(</m:t>
                    </m:r>
                    <m:r>
                      <a:rPr lang="en-US" altLang="zh-CN" i="1">
                        <a:latin typeface="Cambria Math" charset="0"/>
                      </a:rPr>
                      <m:t>𝑎</m:t>
                    </m:r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r>
                      <a:rPr lang="en-US" altLang="zh-CN" i="1">
                        <a:latin typeface="Cambria Math" charset="0"/>
                      </a:rPr>
                      <m:t>𝑏</m:t>
                    </m:r>
                    <m:r>
                      <a:rPr lang="en-US" altLang="zh-CN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对变量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的一阶偏导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1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bg-BG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</m:num>
                        <m:den>
                          <m:r>
                            <a:rPr lang="bg-BG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−2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1800" b="0" i="1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dirty="0"/>
              </a:p>
              <a:p>
                <a:r>
                  <a:rPr lang="zh-CN" altLang="en-US" dirty="0"/>
                  <a:t>令一阶偏导等于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s-IS" sz="180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</a:rPr>
                        <m:t>)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1800" b="0" i="1" smtClean="0">
                          <a:latin typeface="Cambria Math" charset="0"/>
                        </a:rPr>
                        <m:t>−</m:t>
                      </m:r>
                      <m:r>
                        <a:rPr lang="en-US" altLang="zh-CN" sz="1800" b="0" i="1" smtClean="0">
                          <a:latin typeface="Cambria Math" charset="0"/>
                        </a:rPr>
                        <m:t>𝑏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800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sz="1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is-IS" sz="1800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800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nary>
                          <m:r>
                            <a:rPr lang="en-US" altLang="zh-CN" sz="1800" i="1">
                              <a:latin typeface="Cambria Math" charset="0"/>
                            </a:rPr>
                            <m:t>)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sz="1800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1800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1800" i="1"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51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求解过程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我们使用统计量对上述公式进行替换，得到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i="1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800" i="1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charset="0"/>
                        </a:rPr>
                        <m:t>𝑟</m:t>
                      </m:r>
                      <m:r>
                        <a:rPr lang="en-US" altLang="zh-CN" sz="1800" b="0" i="1" smtClean="0">
                          <a:latin typeface="Cambria Math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s-IS" sz="18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i="1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</m:nary>
                      <m:r>
                        <a:rPr lang="en-US" altLang="zh-CN" sz="1800" i="1">
                          <a:latin typeface="Cambria Math" charset="0"/>
                        </a:rPr>
                        <m:t>)</m:t>
                      </m:r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其中：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𝑟</m:t>
                    </m:r>
                  </m:oMath>
                </a14:m>
                <a:r>
                  <a:rPr lang="zh-CN" altLang="en-US" dirty="0"/>
                  <a:t>为统计学经常使用的皮尔森相关系数</a:t>
                </a:r>
                <a:endParaRPr lang="en-US" altLang="zh-CN" dirty="0"/>
              </a:p>
              <a:p>
                <a:pPr>
                  <a:spcBef>
                    <a:spcPts val="1080"/>
                  </a:spcBef>
                  <a:spcAft>
                    <a:spcPts val="600"/>
                  </a:spcAft>
                </a:pPr>
                <a:r>
                  <a:rPr lang="zh-CN" altLang="en-US" dirty="0"/>
                  <a:t>因此，我们得到参数估计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𝑟</m:t>
                    </m:r>
                    <m:f>
                      <m:fPr>
                        <m:ctrlPr>
                          <a:rPr lang="bg-BG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 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;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zh-C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1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高尔顿数据的回归结果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025" y="842185"/>
            <a:ext cx="5539409" cy="3822769"/>
          </a:xfrm>
        </p:spPr>
      </p:pic>
    </p:spTree>
    <p:extLst>
      <p:ext uri="{BB962C8B-B14F-4D97-AF65-F5344CB8AC3E}">
        <p14:creationId xmlns:p14="http://schemas.microsoft.com/office/powerpoint/2010/main" val="1592682035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损失函数的可视化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02" y="819150"/>
            <a:ext cx="6972995" cy="3937000"/>
          </a:xfrm>
        </p:spPr>
      </p:pic>
    </p:spTree>
    <p:extLst>
      <p:ext uri="{BB962C8B-B14F-4D97-AF65-F5344CB8AC3E}">
        <p14:creationId xmlns:p14="http://schemas.microsoft.com/office/powerpoint/2010/main" val="128839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变量之间的相关性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思考并回答下面变量之间的相关性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10" y="1421606"/>
            <a:ext cx="2173575" cy="208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059" y="1421606"/>
            <a:ext cx="2114209" cy="208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21607"/>
            <a:ext cx="2239047" cy="208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685" y="1421606"/>
            <a:ext cx="2183303" cy="208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8899" y="3857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完全随机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91922" y="38570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强线性相关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20858" y="3857030"/>
            <a:ext cx="134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非线性相关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333165" y="38570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线性相关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81375" y="724577"/>
            <a:ext cx="582730" cy="5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4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皮尔森相关系数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背景：卡尔</a:t>
                </a:r>
                <a:r>
                  <a:rPr lang="en-US" altLang="zh-CN" dirty="0"/>
                  <a:t>·</a:t>
                </a:r>
                <a:r>
                  <a:rPr lang="zh-CN" altLang="en-US" dirty="0"/>
                  <a:t>皮尔森是高尔顿的学生</a:t>
                </a:r>
                <a:endParaRPr lang="en-US" altLang="zh-CN" dirty="0"/>
              </a:p>
              <a:p>
                <a:r>
                  <a:rPr lang="zh-CN" altLang="en-US" dirty="0"/>
                  <a:t>皮尔森相关系数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is-IS" altLang="zh-CN" b="0" i="1" smtClean="0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nary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10" y="2549762"/>
            <a:ext cx="2173575" cy="208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059" y="2549762"/>
            <a:ext cx="2114209" cy="208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549763"/>
            <a:ext cx="2239047" cy="208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685" y="2549762"/>
            <a:ext cx="2183303" cy="208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775" y="2657622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-0.046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32734" y="2657622"/>
            <a:ext cx="10118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0.015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697" y="2549762"/>
            <a:ext cx="2183303" cy="208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45041" y="2657622"/>
            <a:ext cx="10118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0.754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03798" y="2657622"/>
            <a:ext cx="10118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0.943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4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完成课堂</a:t>
            </a:r>
            <a:r>
              <a:rPr lang="zh-CN" altLang="en-US" dirty="0"/>
              <a:t>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给定一组训练数据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(2,4)</a:t>
                </a:r>
              </a:p>
              <a:p>
                <a:pPr lvl="1"/>
                <a:r>
                  <a:rPr lang="en-US" altLang="zh-CN" dirty="0"/>
                  <a:t>(5,1)</a:t>
                </a:r>
              </a:p>
              <a:p>
                <a:pPr lvl="1"/>
                <a:r>
                  <a:rPr lang="en-US" altLang="zh-CN" dirty="0"/>
                  <a:t>(8,9)</a:t>
                </a:r>
              </a:p>
              <a:p>
                <a:endParaRPr lang="en-US" dirty="0"/>
              </a:p>
              <a:p>
                <a:r>
                  <a:rPr lang="en-US" altLang="zh-CN" dirty="0" smtClean="0"/>
                  <a:t>Q1:</a:t>
                </a:r>
                <a:r>
                  <a:rPr lang="zh-CN" altLang="en-US" dirty="0" smtClean="0"/>
                  <a:t> 请</a:t>
                </a:r>
                <a:r>
                  <a:rPr lang="zh-CN" altLang="en-US" dirty="0"/>
                  <a:t>计算一个简单线性回归模型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𝑎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𝑏𝑥</m:t>
                    </m:r>
                  </m:oMath>
                </a14:m>
                <a:r>
                  <a:rPr lang="zh-CN" altLang="en-US" dirty="0"/>
                  <a:t>的最优参数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b="0" i="1" dirty="0" smtClean="0">
                        <a:latin typeface="Cambria Math" charset="0"/>
                      </a:rPr>
                      <m:t>=?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𝑏</m:t>
                        </m:r>
                      </m:e>
                    </m:acc>
                    <m:r>
                      <a:rPr lang="en-US" altLang="zh-CN" i="1" dirty="0">
                        <a:latin typeface="Cambria Math" charset="0"/>
                      </a:rPr>
                      <m:t>=?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Q2:</a:t>
                </a:r>
                <a:r>
                  <a:rPr lang="zh-CN" altLang="en-US" dirty="0" smtClean="0"/>
                  <a:t> 请绘制散点图和拟合的曲线</a:t>
                </a:r>
                <a:endParaRPr lang="en-US" altLang="zh-CN" dirty="0" smtClean="0"/>
              </a:p>
              <a:p>
                <a:r>
                  <a:rPr lang="en-US" altLang="zh-CN" dirty="0" smtClean="0"/>
                  <a:t>Q3:</a:t>
                </a:r>
                <a:r>
                  <a:rPr lang="zh-CN" altLang="en-US" dirty="0" smtClean="0"/>
                  <a:t> 请绘制损失函数的示意图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5471462" y="324165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319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</a:t>
            </a:r>
            <a:r>
              <a:rPr lang="zh-CN" altLang="en-US" dirty="0" smtClean="0"/>
              <a:t>评判回归模型</a:t>
            </a:r>
            <a:r>
              <a:rPr lang="zh-CN" altLang="en-US" dirty="0"/>
              <a:t>的优劣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基本想法：度量观测值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与预测值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之间的差异</a:t>
                </a:r>
                <a:endParaRPr lang="en-US" altLang="zh-CN" dirty="0"/>
              </a:p>
              <a:p>
                <a:r>
                  <a:rPr lang="zh-CN" altLang="en-US" dirty="0"/>
                  <a:t>均方根误差（</a:t>
                </a:r>
                <a:r>
                  <a:rPr lang="en-US" altLang="zh-CN" dirty="0"/>
                  <a:t>Root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Error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charset="0"/>
                        </a:rPr>
                        <m:t>RMSE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bg-BG" altLang="zh-CN" b="0" i="1" dirty="0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b="0" i="1" dirty="0" smtClean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dirty="0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b="0" i="1" dirty="0" smtClean="0">
                                                  <a:latin typeface="Cambria Math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b="0" i="1" dirty="0" smtClean="0">
                                                  <a:latin typeface="Cambria Math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损失函数的平方根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与观测值𝑦与预测值𝑦 ̂的量纲相同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越小，说明模型越准确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36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均方根误差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课堂编程练习：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/>
              <a:t>notebook</a:t>
            </a:r>
            <a:r>
              <a:rPr lang="zh-CN" altLang="en-US" dirty="0"/>
              <a:t>中编写</a:t>
            </a:r>
            <a:r>
              <a:rPr lang="en-US" altLang="zh-CN" dirty="0" err="1"/>
              <a:t>rmse</a:t>
            </a:r>
            <a:r>
              <a:rPr lang="zh-CN" altLang="en-US" dirty="0"/>
              <a:t>函数计算均方根误差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请计算以下两个模型的均方根误差，并比较大小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charset="0"/>
                        </a:rPr>
                        <m:t>PRICE</m:t>
                      </m:r>
                      <m:r>
                        <a:rPr lang="en-US" altLang="zh-CN" i="1" dirty="0">
                          <a:latin typeface="Cambria Math" charset="0"/>
                        </a:rPr>
                        <m:t>=−34.67+9.1 ∗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81" r="-38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10" y="1535047"/>
            <a:ext cx="3545515" cy="8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9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拟合优度（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 R</a:t>
            </a:r>
            <a:r>
              <a:rPr lang="en-US" altLang="zh-CN" baseline="30000" dirty="0"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拟合优度（</a:t>
                </a:r>
                <a:r>
                  <a:rPr lang="en-US" dirty="0">
                    <a:latin typeface="Calibri" charset="0"/>
                    <a:ea typeface="Calibri" charset="0"/>
                    <a:cs typeface="Calibri" charset="0"/>
                  </a:rPr>
                  <a:t>Multiple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</a:t>
                </a:r>
                <a:r>
                  <a:rPr lang="en-US" altLang="zh-CN" baseline="30000" dirty="0">
                    <a:latin typeface="Calibri" charset="0"/>
                    <a:ea typeface="Calibri" charset="0"/>
                    <a:cs typeface="Calibri" charset="0"/>
                  </a:rPr>
                  <a:t>2</a:t>
                </a:r>
                <a:r>
                  <a:rPr lang="zh-CN" altLang="en-US" dirty="0"/>
                  <a:t>）度量预测值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对观测值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的拟合程度</a:t>
                </a:r>
                <a:endParaRPr lang="en-US" altLang="zh-CN" dirty="0"/>
              </a:p>
              <a:p>
                <a:r>
                  <a:rPr lang="zh-CN" altLang="en-US" dirty="0"/>
                  <a:t>拟合优度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定义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皮尔森相关系数的平方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zh-CN" altLang="en-US" dirty="0"/>
                  <a:t>拟合优度的取值范围在</a:t>
                </a:r>
                <a:r>
                  <a:rPr lang="en-US" altLang="zh-CN" dirty="0"/>
                  <a:t>[0,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1]</a:t>
                </a:r>
                <a:r>
                  <a:rPr lang="zh-CN" altLang="en-US" dirty="0"/>
                  <a:t>，越高说明模型准确性越好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拟合优度的含义：模型在多大程度上解释了观测值的变化</a:t>
                </a:r>
                <a:endParaRPr lang="en-US" altLang="zh-CN" dirty="0"/>
              </a:p>
              <a:p>
                <a:pPr lvl="1">
                  <a:spcAft>
                    <a:spcPts val="1200"/>
                  </a:spcAft>
                </a:pPr>
                <a:r>
                  <a:rPr lang="zh-CN" altLang="en-US" dirty="0"/>
                  <a:t>针对包含截距的线性回归模型，拟合优度也可如下计算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variance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of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fitted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values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variance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of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true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values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36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拟合优度（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 R</a:t>
            </a:r>
            <a:r>
              <a:rPr lang="en-US" altLang="zh-CN" baseline="30000" dirty="0"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课堂编程练习：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/>
              <a:t>notebook</a:t>
            </a:r>
            <a:r>
              <a:rPr lang="zh-CN" altLang="en-US" dirty="0"/>
              <a:t>中编写</a:t>
            </a:r>
            <a:r>
              <a:rPr lang="en-US" altLang="zh-CN" dirty="0"/>
              <a:t>multiple-r-</a:t>
            </a:r>
            <a:r>
              <a:rPr lang="en-US" altLang="zh-CN" dirty="0" err="1"/>
              <a:t>squred</a:t>
            </a:r>
            <a:r>
              <a:rPr lang="zh-CN" altLang="en-US" dirty="0"/>
              <a:t>函数计算拟合优度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请计算以下两个模型的拟合优度，并比较大小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charset="0"/>
                        </a:rPr>
                        <m:t>PRICE</m:t>
                      </m:r>
                      <m:r>
                        <a:rPr lang="en-US" altLang="zh-CN" i="1" dirty="0">
                          <a:latin typeface="Cambria Math" charset="0"/>
                        </a:rPr>
                        <m:t>=−34.67+9.1 ∗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81" r="-38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11" y="1592833"/>
            <a:ext cx="4277123" cy="10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7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PAMAINTYPE" val="4"/>
  <p:tag name="PATYPE" val="140"/>
  <p:tag name="PASUBTYPE" val="141"/>
  <p:tag name="RESOURCELIBID_SHAPE" val="3571"/>
  <p:tag name="RESOURCELIB_SHAPETYPE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PAMAINTYPE" val="4"/>
  <p:tag name="PATYPE" val="140"/>
  <p:tag name="PASUBTYPE" val="141"/>
  <p:tag name="RESOURCELIBID_SHAPE" val="3571"/>
  <p:tag name="RESOURCELIB_SHAPETYPE" val="4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10758</TotalTime>
  <Words>4131</Words>
  <Application>Microsoft Macintosh PowerPoint</Application>
  <PresentationFormat>On-screen Show (16:9)</PresentationFormat>
  <Paragraphs>459</Paragraphs>
  <Slides>51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7" baseType="lpstr">
      <vt:lpstr>Calibri</vt:lpstr>
      <vt:lpstr>Cambria Math</vt:lpstr>
      <vt:lpstr>Helvetica Neue</vt:lpstr>
      <vt:lpstr>Mangal</vt:lpstr>
      <vt:lpstr>Microsoft YaHei</vt:lpstr>
      <vt:lpstr>PingFang SC</vt:lpstr>
      <vt:lpstr>Times-Roman</vt:lpstr>
      <vt:lpstr>Wingdings 2</vt:lpstr>
      <vt:lpstr>宋体</vt:lpstr>
      <vt:lpstr>微软雅黑</vt:lpstr>
      <vt:lpstr>方正兰亭细黑_GBK</vt:lpstr>
      <vt:lpstr>方正超粗黑简体</vt:lpstr>
      <vt:lpstr>隶书</vt:lpstr>
      <vt:lpstr>Arial</vt:lpstr>
      <vt:lpstr>清风素材 https://12sc.taobao.com/</vt:lpstr>
      <vt:lpstr>1_清风素材 https://12sc.taobao.com/</vt:lpstr>
      <vt:lpstr>PowerPoint Presentation</vt:lpstr>
      <vt:lpstr>探索数据分析：迭代工作流</vt:lpstr>
      <vt:lpstr>考虑一个案例</vt:lpstr>
      <vt:lpstr>回顾之前的案例</vt:lpstr>
      <vt:lpstr>数据建模</vt:lpstr>
      <vt:lpstr>建立模型的三个步骤</vt:lpstr>
      <vt:lpstr>PowerPoint Presentation</vt:lpstr>
      <vt:lpstr>我们先考虑一个最简单的模型</vt:lpstr>
      <vt:lpstr>课堂练习</vt:lpstr>
      <vt:lpstr>符号定义</vt:lpstr>
      <vt:lpstr>常数模型</vt:lpstr>
      <vt:lpstr>概念辨析</vt:lpstr>
      <vt:lpstr>建立模型的三个步骤</vt:lpstr>
      <vt:lpstr>损失函数</vt:lpstr>
      <vt:lpstr>损失函数</vt:lpstr>
      <vt:lpstr>损失函数与经验风险</vt:lpstr>
      <vt:lpstr>均方误差与平均绝对误差</vt:lpstr>
      <vt:lpstr>课堂练习</vt:lpstr>
      <vt:lpstr>考虑Tips数据集</vt:lpstr>
      <vt:lpstr>建立模型的三个步骤</vt:lpstr>
      <vt:lpstr>常数模型与均方误差</vt:lpstr>
      <vt:lpstr>常数模型与均方误差</vt:lpstr>
      <vt:lpstr>求解过程</vt:lpstr>
      <vt:lpstr>常数模型与均方误差</vt:lpstr>
      <vt:lpstr>常数模型与平均绝对误差</vt:lpstr>
      <vt:lpstr>常数模型与平均绝对误差</vt:lpstr>
      <vt:lpstr>常数模型与平均绝对误差</vt:lpstr>
      <vt:lpstr>求解过程</vt:lpstr>
      <vt:lpstr>求解过程</vt:lpstr>
      <vt:lpstr>常数模型与平均绝对误差</vt:lpstr>
      <vt:lpstr>常数模型与平均绝对误差</vt:lpstr>
      <vt:lpstr>Recap：对比MSE和MAE</vt:lpstr>
      <vt:lpstr>思考：MSE的局限性</vt:lpstr>
      <vt:lpstr>Huber Loss Function</vt:lpstr>
      <vt:lpstr>Recap: 几个重要概念</vt:lpstr>
      <vt:lpstr>PowerPoint Presentation</vt:lpstr>
      <vt:lpstr>Simple Linear Regression (SLR)</vt:lpstr>
      <vt:lpstr>Simple Linear Regression (SLR)</vt:lpstr>
      <vt:lpstr>SLR模型与MSE目标函数</vt:lpstr>
      <vt:lpstr>求解过程 - 1</vt:lpstr>
      <vt:lpstr>求解过程 - 2</vt:lpstr>
      <vt:lpstr>求解过程 - 3</vt:lpstr>
      <vt:lpstr>高尔顿数据的回归结果</vt:lpstr>
      <vt:lpstr>损失函数的可视化</vt:lpstr>
      <vt:lpstr>变量之间的相关性</vt:lpstr>
      <vt:lpstr>皮尔森相关系数</vt:lpstr>
      <vt:lpstr>使用Python完成课堂练习</vt:lpstr>
      <vt:lpstr>如何评判回归模型的优劣</vt:lpstr>
      <vt:lpstr>均方根误差</vt:lpstr>
      <vt:lpstr>拟合优度（Multiple R2）</vt:lpstr>
      <vt:lpstr>拟合优度（Multiple R2）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644</cp:revision>
  <cp:lastPrinted>2021-04-07T15:50:12Z</cp:lastPrinted>
  <dcterms:created xsi:type="dcterms:W3CDTF">2015-01-23T04:02:45Z</dcterms:created>
  <dcterms:modified xsi:type="dcterms:W3CDTF">2024-10-23T11:35:04Z</dcterms:modified>
  <cp:category/>
  <cp:contentStatus>12sc.taobao.com</cp:contentStatus>
</cp:coreProperties>
</file>