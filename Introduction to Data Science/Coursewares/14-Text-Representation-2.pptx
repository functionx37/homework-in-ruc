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01" r:id="rId2"/>
    <p:sldId id="1066" r:id="rId3"/>
    <p:sldId id="1067" r:id="rId4"/>
    <p:sldId id="1097" r:id="rId5"/>
    <p:sldId id="295" r:id="rId6"/>
    <p:sldId id="1085" r:id="rId7"/>
    <p:sldId id="1087" r:id="rId8"/>
    <p:sldId id="1088" r:id="rId9"/>
    <p:sldId id="1089" r:id="rId10"/>
    <p:sldId id="1091" r:id="rId11"/>
    <p:sldId id="1090" r:id="rId12"/>
    <p:sldId id="1093" r:id="rId13"/>
    <p:sldId id="1094" r:id="rId14"/>
    <p:sldId id="1095" r:id="rId15"/>
    <p:sldId id="1096" r:id="rId16"/>
    <p:sldId id="1145" r:id="rId17"/>
    <p:sldId id="1098" r:id="rId18"/>
    <p:sldId id="1099" r:id="rId19"/>
    <p:sldId id="1114" r:id="rId20"/>
    <p:sldId id="276" r:id="rId21"/>
    <p:sldId id="275" r:id="rId22"/>
    <p:sldId id="279" r:id="rId23"/>
    <p:sldId id="278" r:id="rId24"/>
    <p:sldId id="280" r:id="rId25"/>
    <p:sldId id="283" r:id="rId26"/>
    <p:sldId id="284" r:id="rId27"/>
    <p:sldId id="285" r:id="rId28"/>
    <p:sldId id="1122" r:id="rId29"/>
    <p:sldId id="1123" r:id="rId30"/>
    <p:sldId id="547" r:id="rId31"/>
    <p:sldId id="286" r:id="rId32"/>
    <p:sldId id="264" r:id="rId33"/>
    <p:sldId id="1146" r:id="rId34"/>
    <p:sldId id="1147" r:id="rId35"/>
    <p:sldId id="1148" r:id="rId36"/>
    <p:sldId id="1151" r:id="rId37"/>
    <p:sldId id="1152" r:id="rId38"/>
    <p:sldId id="1149" r:id="rId39"/>
    <p:sldId id="1052" r:id="rId40"/>
    <p:sldId id="1038" r:id="rId41"/>
    <p:sldId id="1039" r:id="rId42"/>
    <p:sldId id="1040" r:id="rId43"/>
    <p:sldId id="1041" r:id="rId44"/>
    <p:sldId id="1042" r:id="rId45"/>
    <p:sldId id="1043" r:id="rId46"/>
    <p:sldId id="1044" r:id="rId47"/>
    <p:sldId id="1047" r:id="rId48"/>
    <p:sldId id="1048" r:id="rId49"/>
    <p:sldId id="1049" r:id="rId50"/>
    <p:sldId id="1053" r:id="rId51"/>
    <p:sldId id="1009" r:id="rId52"/>
    <p:sldId id="1010" r:id="rId53"/>
    <p:sldId id="1011" r:id="rId54"/>
    <p:sldId id="1012" r:id="rId55"/>
    <p:sldId id="1013" r:id="rId56"/>
    <p:sldId id="1014" r:id="rId57"/>
    <p:sldId id="1015" r:id="rId58"/>
    <p:sldId id="1016" r:id="rId59"/>
    <p:sldId id="1017" r:id="rId60"/>
    <p:sldId id="1150" r:id="rId61"/>
  </p:sldIdLst>
  <p:sldSz cx="9144000" cy="5143500" type="screen16x9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7" userDrawn="1">
          <p15:clr>
            <a:srgbClr val="A4A3A4"/>
          </p15:clr>
        </p15:guide>
        <p15:guide id="2" pos="27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gelis hristidis" initials="vh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FF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49" autoAdjust="0"/>
    <p:restoredTop sz="88322" autoAdjust="0"/>
  </p:normalViewPr>
  <p:slideViewPr>
    <p:cSldViewPr snapToGrid="0">
      <p:cViewPr varScale="1">
        <p:scale>
          <a:sx n="242" d="100"/>
          <a:sy n="242" d="100"/>
        </p:scale>
        <p:origin x="1528" y="168"/>
      </p:cViewPr>
      <p:guideLst>
        <p:guide orient="horz" pos="1597"/>
        <p:guide pos="27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EAC8D0-64E6-4A4F-A816-610F9D473AD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7770945-5507-415B-AB78-D69E91C131EC}">
      <dgm:prSet/>
      <dgm:spPr/>
      <dgm:t>
        <a:bodyPr/>
        <a:lstStyle/>
        <a:p>
          <a:pPr algn="l"/>
          <a:r>
            <a:rPr lang="en-US" baseline="0" dirty="0"/>
            <a:t>2018</a:t>
          </a:r>
          <a:r>
            <a:rPr lang="zh-CN" baseline="0" dirty="0"/>
            <a:t>年</a:t>
          </a:r>
          <a:r>
            <a:rPr lang="en-US" baseline="0" dirty="0"/>
            <a:t>6</a:t>
          </a:r>
          <a:r>
            <a:rPr lang="zh-CN" baseline="0" dirty="0"/>
            <a:t>月</a:t>
          </a:r>
          <a:r>
            <a:rPr lang="en-US" altLang="zh-CN" baseline="0" dirty="0"/>
            <a:t>,</a:t>
          </a:r>
          <a:r>
            <a:rPr lang="zh-CN" baseline="0" dirty="0"/>
            <a:t> </a:t>
          </a:r>
          <a:r>
            <a:rPr lang="en-US" baseline="0" dirty="0" err="1"/>
            <a:t>OpenAI</a:t>
          </a:r>
          <a:r>
            <a:rPr lang="zh-CN" baseline="0" dirty="0"/>
            <a:t>提出</a:t>
          </a:r>
          <a:r>
            <a:rPr lang="en-US" baseline="0" dirty="0"/>
            <a:t>GPT</a:t>
          </a:r>
          <a:r>
            <a:rPr lang="zh-CN" baseline="0" dirty="0"/>
            <a:t>模型</a:t>
          </a:r>
          <a:endParaRPr lang="zh-CN" dirty="0"/>
        </a:p>
      </dgm:t>
    </dgm:pt>
    <dgm:pt modelId="{F96978C0-BD14-4951-B8D9-63E6919A39B8}" type="parTrans" cxnId="{4E094E45-B307-4429-B917-2B412435A2F5}">
      <dgm:prSet/>
      <dgm:spPr/>
      <dgm:t>
        <a:bodyPr/>
        <a:lstStyle/>
        <a:p>
          <a:pPr algn="l"/>
          <a:endParaRPr lang="zh-CN" altLang="en-US"/>
        </a:p>
      </dgm:t>
    </dgm:pt>
    <dgm:pt modelId="{DA5C3F1A-8FCB-45E0-BEB7-22FDB96F1683}" type="sibTrans" cxnId="{4E094E45-B307-4429-B917-2B412435A2F5}">
      <dgm:prSet/>
      <dgm:spPr/>
      <dgm:t>
        <a:bodyPr/>
        <a:lstStyle/>
        <a:p>
          <a:pPr algn="l"/>
          <a:endParaRPr lang="zh-CN" altLang="en-US"/>
        </a:p>
      </dgm:t>
    </dgm:pt>
    <dgm:pt modelId="{53ACC46D-2468-4113-8F15-D4F297040F67}">
      <dgm:prSet/>
      <dgm:spPr/>
      <dgm:t>
        <a:bodyPr/>
        <a:lstStyle/>
        <a:p>
          <a:pPr algn="l"/>
          <a:r>
            <a:rPr lang="en-US" baseline="0" dirty="0"/>
            <a:t>2019</a:t>
          </a:r>
          <a:r>
            <a:rPr lang="zh-CN" baseline="0" dirty="0"/>
            <a:t>年</a:t>
          </a:r>
          <a:r>
            <a:rPr lang="en-US" baseline="0" dirty="0"/>
            <a:t>2</a:t>
          </a:r>
          <a:r>
            <a:rPr lang="zh-CN" baseline="0" dirty="0"/>
            <a:t>月，</a:t>
          </a:r>
          <a:r>
            <a:rPr lang="en-US" baseline="0" dirty="0" err="1"/>
            <a:t>OpenAI</a:t>
          </a:r>
          <a:r>
            <a:rPr lang="zh-CN" baseline="0" dirty="0"/>
            <a:t>提出</a:t>
          </a:r>
          <a:r>
            <a:rPr lang="en-US" baseline="0" dirty="0"/>
            <a:t>GPT2</a:t>
          </a:r>
          <a:r>
            <a:rPr lang="zh-CN" baseline="0" dirty="0"/>
            <a:t>模型</a:t>
          </a:r>
          <a:endParaRPr lang="zh-CN" dirty="0"/>
        </a:p>
      </dgm:t>
    </dgm:pt>
    <dgm:pt modelId="{58D1E543-AA3B-4005-BABC-C64C6213AD11}" type="parTrans" cxnId="{661AAB13-BEBF-407E-B9BF-43F482D5B86E}">
      <dgm:prSet/>
      <dgm:spPr/>
      <dgm:t>
        <a:bodyPr/>
        <a:lstStyle/>
        <a:p>
          <a:pPr algn="l"/>
          <a:endParaRPr lang="zh-CN" altLang="en-US"/>
        </a:p>
      </dgm:t>
    </dgm:pt>
    <dgm:pt modelId="{ECBE8182-D02E-4307-9DEA-C37C7EFF47EC}" type="sibTrans" cxnId="{661AAB13-BEBF-407E-B9BF-43F482D5B86E}">
      <dgm:prSet/>
      <dgm:spPr/>
      <dgm:t>
        <a:bodyPr/>
        <a:lstStyle/>
        <a:p>
          <a:pPr algn="l"/>
          <a:endParaRPr lang="zh-CN" altLang="en-US"/>
        </a:p>
      </dgm:t>
    </dgm:pt>
    <dgm:pt modelId="{8A02FB82-276A-4285-9490-3F825C8D105E}">
      <dgm:prSet/>
      <dgm:spPr/>
      <dgm:t>
        <a:bodyPr/>
        <a:lstStyle/>
        <a:p>
          <a:pPr algn="l"/>
          <a:r>
            <a:rPr lang="en-US" baseline="0" dirty="0"/>
            <a:t>2020</a:t>
          </a:r>
          <a:r>
            <a:rPr lang="zh-CN" baseline="0" dirty="0"/>
            <a:t>年</a:t>
          </a:r>
          <a:r>
            <a:rPr lang="en-US" baseline="0" dirty="0"/>
            <a:t>5</a:t>
          </a:r>
          <a:r>
            <a:rPr lang="zh-CN" baseline="0" dirty="0"/>
            <a:t>月，</a:t>
          </a:r>
          <a:r>
            <a:rPr lang="en-US" baseline="0" dirty="0" err="1"/>
            <a:t>OpenAI</a:t>
          </a:r>
          <a:r>
            <a:rPr lang="zh-CN" baseline="0" dirty="0"/>
            <a:t>提出</a:t>
          </a:r>
          <a:r>
            <a:rPr lang="en-US" baseline="0" dirty="0"/>
            <a:t>GPT3</a:t>
          </a:r>
          <a:r>
            <a:rPr lang="zh-CN" baseline="0" dirty="0"/>
            <a:t>模型</a:t>
          </a:r>
          <a:endParaRPr lang="zh-CN" dirty="0"/>
        </a:p>
      </dgm:t>
    </dgm:pt>
    <dgm:pt modelId="{B91E0B3C-DEE1-4CFD-8283-EA96E035CD9A}" type="parTrans" cxnId="{C151437B-1DB8-4746-92A6-DEC18E315EAE}">
      <dgm:prSet/>
      <dgm:spPr/>
      <dgm:t>
        <a:bodyPr/>
        <a:lstStyle/>
        <a:p>
          <a:pPr algn="l"/>
          <a:endParaRPr lang="zh-CN" altLang="en-US"/>
        </a:p>
      </dgm:t>
    </dgm:pt>
    <dgm:pt modelId="{0B3D2D0E-7C10-457E-8C8B-BACB5A962142}" type="sibTrans" cxnId="{C151437B-1DB8-4746-92A6-DEC18E315EAE}">
      <dgm:prSet/>
      <dgm:spPr/>
      <dgm:t>
        <a:bodyPr/>
        <a:lstStyle/>
        <a:p>
          <a:pPr algn="l"/>
          <a:endParaRPr lang="zh-CN" altLang="en-US"/>
        </a:p>
      </dgm:t>
    </dgm:pt>
    <dgm:pt modelId="{550A6373-6CC2-4272-B676-95ECAD4F1DB8}">
      <dgm:prSet/>
      <dgm:spPr/>
      <dgm:t>
        <a:bodyPr/>
        <a:lstStyle/>
        <a:p>
          <a:pPr algn="l"/>
          <a:r>
            <a:rPr lang="en-US" baseline="0" dirty="0"/>
            <a:t>2021</a:t>
          </a:r>
          <a:r>
            <a:rPr lang="zh-CN" baseline="0" dirty="0"/>
            <a:t>年</a:t>
          </a:r>
          <a:r>
            <a:rPr lang="en-US" baseline="0" dirty="0"/>
            <a:t>12</a:t>
          </a:r>
          <a:r>
            <a:rPr lang="zh-CN" baseline="0" dirty="0"/>
            <a:t>月，</a:t>
          </a:r>
          <a:r>
            <a:rPr lang="en-US" baseline="0" dirty="0"/>
            <a:t> </a:t>
          </a:r>
          <a:r>
            <a:rPr lang="en-US" baseline="0" dirty="0" err="1"/>
            <a:t>OpenAI</a:t>
          </a:r>
          <a:r>
            <a:rPr lang="zh-CN" baseline="0" dirty="0"/>
            <a:t>提出</a:t>
          </a:r>
          <a:r>
            <a:rPr lang="en-US" altLang="zh-CN" baseline="0" dirty="0" err="1"/>
            <a:t>CodeX</a:t>
          </a:r>
          <a:r>
            <a:rPr lang="zh-CN" baseline="0" dirty="0"/>
            <a:t>模型</a:t>
          </a:r>
          <a:endParaRPr lang="zh-CN" dirty="0"/>
        </a:p>
      </dgm:t>
    </dgm:pt>
    <dgm:pt modelId="{CB5AC3DE-A5C9-442E-AEB4-F0A72CE3F45E}" type="parTrans" cxnId="{90B248B8-563C-46A0-8BC5-7A5016A43C67}">
      <dgm:prSet/>
      <dgm:spPr/>
      <dgm:t>
        <a:bodyPr/>
        <a:lstStyle/>
        <a:p>
          <a:pPr algn="l"/>
          <a:endParaRPr lang="zh-CN" altLang="en-US"/>
        </a:p>
      </dgm:t>
    </dgm:pt>
    <dgm:pt modelId="{58D22139-BCFB-4715-880B-37BE13C2CAF0}" type="sibTrans" cxnId="{90B248B8-563C-46A0-8BC5-7A5016A43C67}">
      <dgm:prSet/>
      <dgm:spPr/>
      <dgm:t>
        <a:bodyPr/>
        <a:lstStyle/>
        <a:p>
          <a:pPr algn="l"/>
          <a:endParaRPr lang="zh-CN" altLang="en-US"/>
        </a:p>
      </dgm:t>
    </dgm:pt>
    <dgm:pt modelId="{9BA4BC41-6CC9-483D-99DA-C0F2617A8E33}">
      <dgm:prSet/>
      <dgm:spPr/>
      <dgm:t>
        <a:bodyPr/>
        <a:lstStyle/>
        <a:p>
          <a:pPr algn="l"/>
          <a:r>
            <a:rPr lang="en-US" baseline="0" dirty="0"/>
            <a:t>2022</a:t>
          </a:r>
          <a:r>
            <a:rPr lang="zh-CN" baseline="0" dirty="0"/>
            <a:t>年</a:t>
          </a:r>
          <a:r>
            <a:rPr lang="en-US" baseline="0" dirty="0"/>
            <a:t>2</a:t>
          </a:r>
          <a:r>
            <a:rPr lang="zh-CN" baseline="0" dirty="0"/>
            <a:t>月，</a:t>
          </a:r>
          <a:r>
            <a:rPr lang="en-US" baseline="0" dirty="0" err="1"/>
            <a:t>OpenAI</a:t>
          </a:r>
          <a:r>
            <a:rPr lang="zh-CN" baseline="0" dirty="0"/>
            <a:t>提出</a:t>
          </a:r>
          <a:r>
            <a:rPr lang="en-US" baseline="0" dirty="0" err="1"/>
            <a:t>InstructGPT</a:t>
          </a:r>
          <a:r>
            <a:rPr lang="zh-CN" baseline="0" dirty="0"/>
            <a:t>模型</a:t>
          </a:r>
          <a:endParaRPr lang="zh-CN" dirty="0"/>
        </a:p>
      </dgm:t>
    </dgm:pt>
    <dgm:pt modelId="{6576CC9C-D107-48F7-B0BD-E2D9692A0EFC}" type="parTrans" cxnId="{1780EE13-1413-4BBB-8F27-6DFD9A5277DE}">
      <dgm:prSet/>
      <dgm:spPr/>
      <dgm:t>
        <a:bodyPr/>
        <a:lstStyle/>
        <a:p>
          <a:pPr algn="l"/>
          <a:endParaRPr lang="zh-CN" altLang="en-US"/>
        </a:p>
      </dgm:t>
    </dgm:pt>
    <dgm:pt modelId="{C684745B-6206-4687-8CEC-DCFD36647C9F}" type="sibTrans" cxnId="{1780EE13-1413-4BBB-8F27-6DFD9A5277DE}">
      <dgm:prSet/>
      <dgm:spPr/>
      <dgm:t>
        <a:bodyPr/>
        <a:lstStyle/>
        <a:p>
          <a:pPr algn="l"/>
          <a:endParaRPr lang="zh-CN" altLang="en-US"/>
        </a:p>
      </dgm:t>
    </dgm:pt>
    <dgm:pt modelId="{1A835642-F062-4697-B9AD-23D5438A61BB}">
      <dgm:prSet/>
      <dgm:spPr/>
      <dgm:t>
        <a:bodyPr/>
        <a:lstStyle/>
        <a:p>
          <a:pPr algn="l"/>
          <a:r>
            <a:rPr lang="en-US" baseline="0" dirty="0"/>
            <a:t>2022</a:t>
          </a:r>
          <a:r>
            <a:rPr lang="zh-CN" baseline="0" dirty="0"/>
            <a:t>年</a:t>
          </a:r>
          <a:r>
            <a:rPr lang="en-US" baseline="0" dirty="0"/>
            <a:t>11</a:t>
          </a:r>
          <a:r>
            <a:rPr lang="zh-CN" baseline="0" dirty="0"/>
            <a:t>月，</a:t>
          </a:r>
          <a:r>
            <a:rPr lang="en-US" baseline="0" dirty="0" err="1"/>
            <a:t>OpenAI</a:t>
          </a:r>
          <a:r>
            <a:rPr lang="zh-CN" baseline="0" dirty="0"/>
            <a:t>推出</a:t>
          </a:r>
          <a:r>
            <a:rPr lang="en-US" b="1" baseline="0" dirty="0" err="1"/>
            <a:t>ChatGPT</a:t>
          </a:r>
          <a:r>
            <a:rPr lang="zh-CN" baseline="0" dirty="0"/>
            <a:t>模型</a:t>
          </a:r>
          <a:endParaRPr lang="zh-CN" dirty="0"/>
        </a:p>
      </dgm:t>
    </dgm:pt>
    <dgm:pt modelId="{BC80B3DF-F70F-4E85-B787-7C685D0D6BE1}" type="parTrans" cxnId="{86F4D5BA-EB73-4A76-87FE-952BF9FDBBDD}">
      <dgm:prSet/>
      <dgm:spPr/>
      <dgm:t>
        <a:bodyPr/>
        <a:lstStyle/>
        <a:p>
          <a:pPr algn="l"/>
          <a:endParaRPr lang="zh-CN" altLang="en-US"/>
        </a:p>
      </dgm:t>
    </dgm:pt>
    <dgm:pt modelId="{D847B3BA-A7F8-4206-9D31-F798C8AF87B3}" type="sibTrans" cxnId="{86F4D5BA-EB73-4A76-87FE-952BF9FDBBDD}">
      <dgm:prSet/>
      <dgm:spPr/>
      <dgm:t>
        <a:bodyPr/>
        <a:lstStyle/>
        <a:p>
          <a:pPr algn="l"/>
          <a:endParaRPr lang="zh-CN" altLang="en-US"/>
        </a:p>
      </dgm:t>
    </dgm:pt>
    <dgm:pt modelId="{917322EC-2692-42A7-B21D-D65A72081425}">
      <dgm:prSet/>
      <dgm:spPr/>
      <dgm:t>
        <a:bodyPr/>
        <a:lstStyle/>
        <a:p>
          <a:pPr algn="l"/>
          <a:r>
            <a:rPr lang="en-US" baseline="0" dirty="0"/>
            <a:t>2017</a:t>
          </a:r>
          <a:r>
            <a:rPr lang="zh-CN" baseline="0" dirty="0"/>
            <a:t>年</a:t>
          </a:r>
          <a:r>
            <a:rPr lang="en-US" baseline="0" dirty="0"/>
            <a:t>6</a:t>
          </a:r>
          <a:r>
            <a:rPr lang="zh-CN" baseline="0" dirty="0"/>
            <a:t>月</a:t>
          </a:r>
          <a:r>
            <a:rPr lang="en-US" altLang="zh-CN" baseline="0" dirty="0"/>
            <a:t>, </a:t>
          </a:r>
          <a:r>
            <a:rPr lang="en-US" baseline="0" dirty="0"/>
            <a:t>Google</a:t>
          </a:r>
          <a:r>
            <a:rPr lang="zh-CN" baseline="0" dirty="0"/>
            <a:t>提出</a:t>
          </a:r>
          <a:r>
            <a:rPr lang="en-US" baseline="0" dirty="0"/>
            <a:t>Transformer</a:t>
          </a:r>
          <a:r>
            <a:rPr lang="zh-CN" baseline="0" dirty="0"/>
            <a:t>模型</a:t>
          </a:r>
          <a:endParaRPr lang="en-US" altLang="zh-CN" baseline="0" dirty="0"/>
        </a:p>
      </dgm:t>
    </dgm:pt>
    <dgm:pt modelId="{0F13CE7F-52E6-4BF4-A310-111A4760234A}" type="sibTrans" cxnId="{1495F31C-BA6E-4A19-B109-8DE12C5F359F}">
      <dgm:prSet/>
      <dgm:spPr/>
      <dgm:t>
        <a:bodyPr/>
        <a:lstStyle/>
        <a:p>
          <a:pPr algn="l"/>
          <a:endParaRPr lang="zh-CN" altLang="en-US"/>
        </a:p>
      </dgm:t>
    </dgm:pt>
    <dgm:pt modelId="{1F9E3BF2-A1CD-4AE7-A5D1-168621631F07}" type="parTrans" cxnId="{1495F31C-BA6E-4A19-B109-8DE12C5F359F}">
      <dgm:prSet/>
      <dgm:spPr/>
      <dgm:t>
        <a:bodyPr/>
        <a:lstStyle/>
        <a:p>
          <a:pPr algn="l"/>
          <a:endParaRPr lang="zh-CN" altLang="en-US"/>
        </a:p>
      </dgm:t>
    </dgm:pt>
    <dgm:pt modelId="{74537D4D-1CA8-4E32-95BF-84849CB679C2}">
      <dgm:prSet/>
      <dgm:spPr/>
      <dgm:t>
        <a:bodyPr/>
        <a:lstStyle/>
        <a:p>
          <a:pPr algn="l"/>
          <a:r>
            <a:rPr lang="en-US" baseline="0"/>
            <a:t>2021</a:t>
          </a:r>
          <a:r>
            <a:rPr lang="zh-CN" baseline="0" dirty="0"/>
            <a:t>年</a:t>
          </a:r>
          <a:r>
            <a:rPr lang="en-US" baseline="0" dirty="0"/>
            <a:t>12</a:t>
          </a:r>
          <a:r>
            <a:rPr lang="zh-CN" baseline="0" dirty="0"/>
            <a:t>月，</a:t>
          </a:r>
          <a:r>
            <a:rPr lang="en-US" baseline="0" dirty="0"/>
            <a:t> </a:t>
          </a:r>
          <a:r>
            <a:rPr lang="en-US" baseline="0" dirty="0" err="1"/>
            <a:t>OpenAI</a:t>
          </a:r>
          <a:r>
            <a:rPr lang="zh-CN" baseline="0" dirty="0"/>
            <a:t>提出</a:t>
          </a:r>
          <a:r>
            <a:rPr lang="en-US" baseline="0" dirty="0" err="1"/>
            <a:t>WebGPT</a:t>
          </a:r>
          <a:r>
            <a:rPr lang="zh-CN" baseline="0" dirty="0"/>
            <a:t>模型</a:t>
          </a:r>
          <a:endParaRPr lang="zh-CN" dirty="0"/>
        </a:p>
      </dgm:t>
    </dgm:pt>
    <dgm:pt modelId="{B72DAEF1-42CE-49B4-9F97-C176DD0314E2}" type="parTrans" cxnId="{0FC3DB30-C680-4021-8864-10C25061C71B}">
      <dgm:prSet/>
      <dgm:spPr/>
      <dgm:t>
        <a:bodyPr/>
        <a:lstStyle/>
        <a:p>
          <a:endParaRPr lang="zh-CN" altLang="en-US"/>
        </a:p>
      </dgm:t>
    </dgm:pt>
    <dgm:pt modelId="{7365F7FA-873C-4A0F-8D66-42A413022769}" type="sibTrans" cxnId="{0FC3DB30-C680-4021-8864-10C25061C71B}">
      <dgm:prSet/>
      <dgm:spPr/>
      <dgm:t>
        <a:bodyPr/>
        <a:lstStyle/>
        <a:p>
          <a:endParaRPr lang="zh-CN" altLang="en-US"/>
        </a:p>
      </dgm:t>
    </dgm:pt>
    <dgm:pt modelId="{112B4C5A-181B-4E93-AE59-A24DBA6ACD5C}" type="pres">
      <dgm:prSet presAssocID="{C4EAC8D0-64E6-4A4F-A816-610F9D473AD1}" presName="Name0" presStyleCnt="0">
        <dgm:presLayoutVars>
          <dgm:dir/>
          <dgm:resizeHandles val="exact"/>
        </dgm:presLayoutVars>
      </dgm:prSet>
      <dgm:spPr/>
    </dgm:pt>
    <dgm:pt modelId="{E83B5190-0148-4E66-B106-35D43C0395A7}" type="pres">
      <dgm:prSet presAssocID="{C4EAC8D0-64E6-4A4F-A816-610F9D473AD1}" presName="arrow" presStyleLbl="bgShp" presStyleIdx="0" presStyleCnt="1"/>
      <dgm:spPr/>
    </dgm:pt>
    <dgm:pt modelId="{1E6E9A0A-F8BF-4676-AC14-829CACCDFA12}" type="pres">
      <dgm:prSet presAssocID="{C4EAC8D0-64E6-4A4F-A816-610F9D473AD1}" presName="points" presStyleCnt="0"/>
      <dgm:spPr/>
    </dgm:pt>
    <dgm:pt modelId="{8E67741A-8AF6-403A-9F65-EF1BA79CE738}" type="pres">
      <dgm:prSet presAssocID="{917322EC-2692-42A7-B21D-D65A72081425}" presName="compositeA" presStyleCnt="0"/>
      <dgm:spPr/>
    </dgm:pt>
    <dgm:pt modelId="{15CA2989-0BEA-4EA2-8397-02A768E90D38}" type="pres">
      <dgm:prSet presAssocID="{917322EC-2692-42A7-B21D-D65A72081425}" presName="textA" presStyleLbl="revTx" presStyleIdx="0" presStyleCnt="8">
        <dgm:presLayoutVars>
          <dgm:bulletEnabled val="1"/>
        </dgm:presLayoutVars>
      </dgm:prSet>
      <dgm:spPr/>
    </dgm:pt>
    <dgm:pt modelId="{72DCE0D8-A3A3-4802-93B4-117561179C7B}" type="pres">
      <dgm:prSet presAssocID="{917322EC-2692-42A7-B21D-D65A72081425}" presName="circleA" presStyleLbl="node1" presStyleIdx="0" presStyleCnt="8"/>
      <dgm:spPr/>
    </dgm:pt>
    <dgm:pt modelId="{DF9ED26B-80F4-45A7-8E1B-AF02D36FC570}" type="pres">
      <dgm:prSet presAssocID="{917322EC-2692-42A7-B21D-D65A72081425}" presName="spaceA" presStyleCnt="0"/>
      <dgm:spPr/>
    </dgm:pt>
    <dgm:pt modelId="{9269CC5B-96FE-4036-9EB4-CDA8995BB865}" type="pres">
      <dgm:prSet presAssocID="{0F13CE7F-52E6-4BF4-A310-111A4760234A}" presName="space" presStyleCnt="0"/>
      <dgm:spPr/>
    </dgm:pt>
    <dgm:pt modelId="{6EE73D98-2FC4-4EF8-9B0C-CDBFE7AB070F}" type="pres">
      <dgm:prSet presAssocID="{97770945-5507-415B-AB78-D69E91C131EC}" presName="compositeB" presStyleCnt="0"/>
      <dgm:spPr/>
    </dgm:pt>
    <dgm:pt modelId="{DA78EBD1-BC61-4C36-97FC-37CBD401DDC6}" type="pres">
      <dgm:prSet presAssocID="{97770945-5507-415B-AB78-D69E91C131EC}" presName="textB" presStyleLbl="revTx" presStyleIdx="1" presStyleCnt="8">
        <dgm:presLayoutVars>
          <dgm:bulletEnabled val="1"/>
        </dgm:presLayoutVars>
      </dgm:prSet>
      <dgm:spPr/>
    </dgm:pt>
    <dgm:pt modelId="{AF1B1824-C88B-474B-8326-3DBA08FA697C}" type="pres">
      <dgm:prSet presAssocID="{97770945-5507-415B-AB78-D69E91C131EC}" presName="circleB" presStyleLbl="node1" presStyleIdx="1" presStyleCnt="8"/>
      <dgm:spPr/>
    </dgm:pt>
    <dgm:pt modelId="{0759E78E-5818-47C0-9F79-1C1E2574BF16}" type="pres">
      <dgm:prSet presAssocID="{97770945-5507-415B-AB78-D69E91C131EC}" presName="spaceB" presStyleCnt="0"/>
      <dgm:spPr/>
    </dgm:pt>
    <dgm:pt modelId="{0D233A99-0D62-4E94-B959-0B652276181C}" type="pres">
      <dgm:prSet presAssocID="{DA5C3F1A-8FCB-45E0-BEB7-22FDB96F1683}" presName="space" presStyleCnt="0"/>
      <dgm:spPr/>
    </dgm:pt>
    <dgm:pt modelId="{D45D4662-26E4-44D8-81D3-1C678C57C8F7}" type="pres">
      <dgm:prSet presAssocID="{53ACC46D-2468-4113-8F15-D4F297040F67}" presName="compositeA" presStyleCnt="0"/>
      <dgm:spPr/>
    </dgm:pt>
    <dgm:pt modelId="{8F628007-DAF5-41A1-ABCC-7E7F3F1C4E36}" type="pres">
      <dgm:prSet presAssocID="{53ACC46D-2468-4113-8F15-D4F297040F67}" presName="textA" presStyleLbl="revTx" presStyleIdx="2" presStyleCnt="8">
        <dgm:presLayoutVars>
          <dgm:bulletEnabled val="1"/>
        </dgm:presLayoutVars>
      </dgm:prSet>
      <dgm:spPr/>
    </dgm:pt>
    <dgm:pt modelId="{4FDA6B91-5E9E-4F7A-AE6E-E63A2384B869}" type="pres">
      <dgm:prSet presAssocID="{53ACC46D-2468-4113-8F15-D4F297040F67}" presName="circleA" presStyleLbl="node1" presStyleIdx="2" presStyleCnt="8"/>
      <dgm:spPr/>
    </dgm:pt>
    <dgm:pt modelId="{F6C0A5D2-FB28-4CD4-85AE-E232C5C264D0}" type="pres">
      <dgm:prSet presAssocID="{53ACC46D-2468-4113-8F15-D4F297040F67}" presName="spaceA" presStyleCnt="0"/>
      <dgm:spPr/>
    </dgm:pt>
    <dgm:pt modelId="{BF0BFAA8-5DE0-400A-B6DE-8D17B7C0993B}" type="pres">
      <dgm:prSet presAssocID="{ECBE8182-D02E-4307-9DEA-C37C7EFF47EC}" presName="space" presStyleCnt="0"/>
      <dgm:spPr/>
    </dgm:pt>
    <dgm:pt modelId="{656B903D-22AB-4469-8387-65D543893BD8}" type="pres">
      <dgm:prSet presAssocID="{8A02FB82-276A-4285-9490-3F825C8D105E}" presName="compositeB" presStyleCnt="0"/>
      <dgm:spPr/>
    </dgm:pt>
    <dgm:pt modelId="{AD34F832-3C93-48DB-8B63-7CAFDCE61E50}" type="pres">
      <dgm:prSet presAssocID="{8A02FB82-276A-4285-9490-3F825C8D105E}" presName="textB" presStyleLbl="revTx" presStyleIdx="3" presStyleCnt="8">
        <dgm:presLayoutVars>
          <dgm:bulletEnabled val="1"/>
        </dgm:presLayoutVars>
      </dgm:prSet>
      <dgm:spPr/>
    </dgm:pt>
    <dgm:pt modelId="{9813443D-62F0-42C7-BC89-84174A4A2481}" type="pres">
      <dgm:prSet presAssocID="{8A02FB82-276A-4285-9490-3F825C8D105E}" presName="circleB" presStyleLbl="node1" presStyleIdx="3" presStyleCnt="8"/>
      <dgm:spPr/>
    </dgm:pt>
    <dgm:pt modelId="{D82D3824-D063-4965-9257-70EB226A0A8C}" type="pres">
      <dgm:prSet presAssocID="{8A02FB82-276A-4285-9490-3F825C8D105E}" presName="spaceB" presStyleCnt="0"/>
      <dgm:spPr/>
    </dgm:pt>
    <dgm:pt modelId="{705341CB-DF53-4A28-A9F4-C9E4B371FC92}" type="pres">
      <dgm:prSet presAssocID="{0B3D2D0E-7C10-457E-8C8B-BACB5A962142}" presName="space" presStyleCnt="0"/>
      <dgm:spPr/>
    </dgm:pt>
    <dgm:pt modelId="{4652EFAD-7167-4CA0-BC5E-A09722A686D6}" type="pres">
      <dgm:prSet presAssocID="{550A6373-6CC2-4272-B676-95ECAD4F1DB8}" presName="compositeA" presStyleCnt="0"/>
      <dgm:spPr/>
    </dgm:pt>
    <dgm:pt modelId="{A5FDCFA5-2F77-41AA-B5AA-D90E47FA3272}" type="pres">
      <dgm:prSet presAssocID="{550A6373-6CC2-4272-B676-95ECAD4F1DB8}" presName="textA" presStyleLbl="revTx" presStyleIdx="4" presStyleCnt="8">
        <dgm:presLayoutVars>
          <dgm:bulletEnabled val="1"/>
        </dgm:presLayoutVars>
      </dgm:prSet>
      <dgm:spPr/>
    </dgm:pt>
    <dgm:pt modelId="{063D958B-6EB1-4C02-937A-DB29FE2BCB68}" type="pres">
      <dgm:prSet presAssocID="{550A6373-6CC2-4272-B676-95ECAD4F1DB8}" presName="circleA" presStyleLbl="node1" presStyleIdx="4" presStyleCnt="8"/>
      <dgm:spPr/>
    </dgm:pt>
    <dgm:pt modelId="{47DD7B41-C9A4-45F1-8900-BE54F553FE9A}" type="pres">
      <dgm:prSet presAssocID="{550A6373-6CC2-4272-B676-95ECAD4F1DB8}" presName="spaceA" presStyleCnt="0"/>
      <dgm:spPr/>
    </dgm:pt>
    <dgm:pt modelId="{CF2FACCB-66E5-4089-9729-8EDB561CD073}" type="pres">
      <dgm:prSet presAssocID="{58D22139-BCFB-4715-880B-37BE13C2CAF0}" presName="space" presStyleCnt="0"/>
      <dgm:spPr/>
    </dgm:pt>
    <dgm:pt modelId="{A695520A-0FA9-466B-BBBD-67851BD969B3}" type="pres">
      <dgm:prSet presAssocID="{74537D4D-1CA8-4E32-95BF-84849CB679C2}" presName="compositeB" presStyleCnt="0"/>
      <dgm:spPr/>
    </dgm:pt>
    <dgm:pt modelId="{4B4856B9-E6A7-4C26-B58D-98A1DBBF7F60}" type="pres">
      <dgm:prSet presAssocID="{74537D4D-1CA8-4E32-95BF-84849CB679C2}" presName="textB" presStyleLbl="revTx" presStyleIdx="5" presStyleCnt="8">
        <dgm:presLayoutVars>
          <dgm:bulletEnabled val="1"/>
        </dgm:presLayoutVars>
      </dgm:prSet>
      <dgm:spPr/>
    </dgm:pt>
    <dgm:pt modelId="{58F16CE0-E2EB-41F5-8CC3-E4BB97111801}" type="pres">
      <dgm:prSet presAssocID="{74537D4D-1CA8-4E32-95BF-84849CB679C2}" presName="circleB" presStyleLbl="node1" presStyleIdx="5" presStyleCnt="8"/>
      <dgm:spPr/>
    </dgm:pt>
    <dgm:pt modelId="{074AC061-FC71-4E33-8AEB-157A4D640BB1}" type="pres">
      <dgm:prSet presAssocID="{74537D4D-1CA8-4E32-95BF-84849CB679C2}" presName="spaceB" presStyleCnt="0"/>
      <dgm:spPr/>
    </dgm:pt>
    <dgm:pt modelId="{30378AEB-874A-4C39-9087-5DF4E146FE33}" type="pres">
      <dgm:prSet presAssocID="{7365F7FA-873C-4A0F-8D66-42A413022769}" presName="space" presStyleCnt="0"/>
      <dgm:spPr/>
    </dgm:pt>
    <dgm:pt modelId="{C59BF33C-5BE2-4574-B46B-CE91F252D42B}" type="pres">
      <dgm:prSet presAssocID="{9BA4BC41-6CC9-483D-99DA-C0F2617A8E33}" presName="compositeA" presStyleCnt="0"/>
      <dgm:spPr/>
    </dgm:pt>
    <dgm:pt modelId="{702D2D8F-6A62-4D3A-AA49-92CA44360CA1}" type="pres">
      <dgm:prSet presAssocID="{9BA4BC41-6CC9-483D-99DA-C0F2617A8E33}" presName="textA" presStyleLbl="revTx" presStyleIdx="6" presStyleCnt="8">
        <dgm:presLayoutVars>
          <dgm:bulletEnabled val="1"/>
        </dgm:presLayoutVars>
      </dgm:prSet>
      <dgm:spPr/>
    </dgm:pt>
    <dgm:pt modelId="{6ED7735C-5757-4120-BABD-ECBD7FB12C40}" type="pres">
      <dgm:prSet presAssocID="{9BA4BC41-6CC9-483D-99DA-C0F2617A8E33}" presName="circleA" presStyleLbl="node1" presStyleIdx="6" presStyleCnt="8"/>
      <dgm:spPr/>
    </dgm:pt>
    <dgm:pt modelId="{40053AA2-56B9-4434-8C46-C95D3A0A76BA}" type="pres">
      <dgm:prSet presAssocID="{9BA4BC41-6CC9-483D-99DA-C0F2617A8E33}" presName="spaceA" presStyleCnt="0"/>
      <dgm:spPr/>
    </dgm:pt>
    <dgm:pt modelId="{EDD49939-F100-4605-8577-EF75EC54DFD4}" type="pres">
      <dgm:prSet presAssocID="{C684745B-6206-4687-8CEC-DCFD36647C9F}" presName="space" presStyleCnt="0"/>
      <dgm:spPr/>
    </dgm:pt>
    <dgm:pt modelId="{FAF87CED-B4BE-45D0-9627-9DBE8A2F8623}" type="pres">
      <dgm:prSet presAssocID="{1A835642-F062-4697-B9AD-23D5438A61BB}" presName="compositeB" presStyleCnt="0"/>
      <dgm:spPr/>
    </dgm:pt>
    <dgm:pt modelId="{8E0A37F4-31D5-429C-BC2F-8164039C6074}" type="pres">
      <dgm:prSet presAssocID="{1A835642-F062-4697-B9AD-23D5438A61BB}" presName="textB" presStyleLbl="revTx" presStyleIdx="7" presStyleCnt="8">
        <dgm:presLayoutVars>
          <dgm:bulletEnabled val="1"/>
        </dgm:presLayoutVars>
      </dgm:prSet>
      <dgm:spPr/>
    </dgm:pt>
    <dgm:pt modelId="{6035BC5E-42AA-4D0C-A4B4-08EE9B972A54}" type="pres">
      <dgm:prSet presAssocID="{1A835642-F062-4697-B9AD-23D5438A61BB}" presName="circleB" presStyleLbl="node1" presStyleIdx="7" presStyleCnt="8"/>
      <dgm:spPr/>
    </dgm:pt>
    <dgm:pt modelId="{CFA8C156-E6C4-4A4B-A8C7-AD14B68A7C5B}" type="pres">
      <dgm:prSet presAssocID="{1A835642-F062-4697-B9AD-23D5438A61BB}" presName="spaceB" presStyleCnt="0"/>
      <dgm:spPr/>
    </dgm:pt>
  </dgm:ptLst>
  <dgm:cxnLst>
    <dgm:cxn modelId="{661AAB13-BEBF-407E-B9BF-43F482D5B86E}" srcId="{C4EAC8D0-64E6-4A4F-A816-610F9D473AD1}" destId="{53ACC46D-2468-4113-8F15-D4F297040F67}" srcOrd="2" destOrd="0" parTransId="{58D1E543-AA3B-4005-BABC-C64C6213AD11}" sibTransId="{ECBE8182-D02E-4307-9DEA-C37C7EFF47EC}"/>
    <dgm:cxn modelId="{1780EE13-1413-4BBB-8F27-6DFD9A5277DE}" srcId="{C4EAC8D0-64E6-4A4F-A816-610F9D473AD1}" destId="{9BA4BC41-6CC9-483D-99DA-C0F2617A8E33}" srcOrd="6" destOrd="0" parTransId="{6576CC9C-D107-48F7-B0BD-E2D9692A0EFC}" sibTransId="{C684745B-6206-4687-8CEC-DCFD36647C9F}"/>
    <dgm:cxn modelId="{1495F31C-BA6E-4A19-B109-8DE12C5F359F}" srcId="{C4EAC8D0-64E6-4A4F-A816-610F9D473AD1}" destId="{917322EC-2692-42A7-B21D-D65A72081425}" srcOrd="0" destOrd="0" parTransId="{1F9E3BF2-A1CD-4AE7-A5D1-168621631F07}" sibTransId="{0F13CE7F-52E6-4BF4-A310-111A4760234A}"/>
    <dgm:cxn modelId="{4CCD0E21-C2F1-B444-8199-69C6C915ECB1}" type="presOf" srcId="{53ACC46D-2468-4113-8F15-D4F297040F67}" destId="{8F628007-DAF5-41A1-ABCC-7E7F3F1C4E36}" srcOrd="0" destOrd="0" presId="urn:microsoft.com/office/officeart/2005/8/layout/hProcess11"/>
    <dgm:cxn modelId="{B5912221-56DA-C44E-B5EA-520AA8871411}" type="presOf" srcId="{1A835642-F062-4697-B9AD-23D5438A61BB}" destId="{8E0A37F4-31D5-429C-BC2F-8164039C6074}" srcOrd="0" destOrd="0" presId="urn:microsoft.com/office/officeart/2005/8/layout/hProcess11"/>
    <dgm:cxn modelId="{FCCE532C-87DA-6440-8FEE-B2B7506B9483}" type="presOf" srcId="{9BA4BC41-6CC9-483D-99DA-C0F2617A8E33}" destId="{702D2D8F-6A62-4D3A-AA49-92CA44360CA1}" srcOrd="0" destOrd="0" presId="urn:microsoft.com/office/officeart/2005/8/layout/hProcess11"/>
    <dgm:cxn modelId="{0FC3DB30-C680-4021-8864-10C25061C71B}" srcId="{C4EAC8D0-64E6-4A4F-A816-610F9D473AD1}" destId="{74537D4D-1CA8-4E32-95BF-84849CB679C2}" srcOrd="5" destOrd="0" parTransId="{B72DAEF1-42CE-49B4-9F97-C176DD0314E2}" sibTransId="{7365F7FA-873C-4A0F-8D66-42A413022769}"/>
    <dgm:cxn modelId="{4E094E45-B307-4429-B917-2B412435A2F5}" srcId="{C4EAC8D0-64E6-4A4F-A816-610F9D473AD1}" destId="{97770945-5507-415B-AB78-D69E91C131EC}" srcOrd="1" destOrd="0" parTransId="{F96978C0-BD14-4951-B8D9-63E6919A39B8}" sibTransId="{DA5C3F1A-8FCB-45E0-BEB7-22FDB96F1683}"/>
    <dgm:cxn modelId="{6049885A-75CF-5244-98AC-102D15334B43}" type="presOf" srcId="{97770945-5507-415B-AB78-D69E91C131EC}" destId="{DA78EBD1-BC61-4C36-97FC-37CBD401DDC6}" srcOrd="0" destOrd="0" presId="urn:microsoft.com/office/officeart/2005/8/layout/hProcess11"/>
    <dgm:cxn modelId="{94F48F78-1190-F244-A55A-301C1D97FEDB}" type="presOf" srcId="{C4EAC8D0-64E6-4A4F-A816-610F9D473AD1}" destId="{112B4C5A-181B-4E93-AE59-A24DBA6ACD5C}" srcOrd="0" destOrd="0" presId="urn:microsoft.com/office/officeart/2005/8/layout/hProcess11"/>
    <dgm:cxn modelId="{C151437B-1DB8-4746-92A6-DEC18E315EAE}" srcId="{C4EAC8D0-64E6-4A4F-A816-610F9D473AD1}" destId="{8A02FB82-276A-4285-9490-3F825C8D105E}" srcOrd="3" destOrd="0" parTransId="{B91E0B3C-DEE1-4CFD-8283-EA96E035CD9A}" sibTransId="{0B3D2D0E-7C10-457E-8C8B-BACB5A962142}"/>
    <dgm:cxn modelId="{218D4789-0103-644F-B635-233BD0F98940}" type="presOf" srcId="{8A02FB82-276A-4285-9490-3F825C8D105E}" destId="{AD34F832-3C93-48DB-8B63-7CAFDCE61E50}" srcOrd="0" destOrd="0" presId="urn:microsoft.com/office/officeart/2005/8/layout/hProcess11"/>
    <dgm:cxn modelId="{48B6C394-5BB0-D741-A095-D71E44383147}" type="presOf" srcId="{917322EC-2692-42A7-B21D-D65A72081425}" destId="{15CA2989-0BEA-4EA2-8397-02A768E90D38}" srcOrd="0" destOrd="0" presId="urn:microsoft.com/office/officeart/2005/8/layout/hProcess11"/>
    <dgm:cxn modelId="{90B248B8-563C-46A0-8BC5-7A5016A43C67}" srcId="{C4EAC8D0-64E6-4A4F-A816-610F9D473AD1}" destId="{550A6373-6CC2-4272-B676-95ECAD4F1DB8}" srcOrd="4" destOrd="0" parTransId="{CB5AC3DE-A5C9-442E-AEB4-F0A72CE3F45E}" sibTransId="{58D22139-BCFB-4715-880B-37BE13C2CAF0}"/>
    <dgm:cxn modelId="{86F4D5BA-EB73-4A76-87FE-952BF9FDBBDD}" srcId="{C4EAC8D0-64E6-4A4F-A816-610F9D473AD1}" destId="{1A835642-F062-4697-B9AD-23D5438A61BB}" srcOrd="7" destOrd="0" parTransId="{BC80B3DF-F70F-4E85-B787-7C685D0D6BE1}" sibTransId="{D847B3BA-A7F8-4206-9D31-F798C8AF87B3}"/>
    <dgm:cxn modelId="{7059F8EC-0AE4-8B40-827D-F38B81F7D39D}" type="presOf" srcId="{74537D4D-1CA8-4E32-95BF-84849CB679C2}" destId="{4B4856B9-E6A7-4C26-B58D-98A1DBBF7F60}" srcOrd="0" destOrd="0" presId="urn:microsoft.com/office/officeart/2005/8/layout/hProcess11"/>
    <dgm:cxn modelId="{0CEC00FC-EB50-E54A-BD70-279486E2BCFF}" type="presOf" srcId="{550A6373-6CC2-4272-B676-95ECAD4F1DB8}" destId="{A5FDCFA5-2F77-41AA-B5AA-D90E47FA3272}" srcOrd="0" destOrd="0" presId="urn:microsoft.com/office/officeart/2005/8/layout/hProcess11"/>
    <dgm:cxn modelId="{0074F3EC-A4C6-9D46-8685-86DCF490BD87}" type="presParOf" srcId="{112B4C5A-181B-4E93-AE59-A24DBA6ACD5C}" destId="{E83B5190-0148-4E66-B106-35D43C0395A7}" srcOrd="0" destOrd="0" presId="urn:microsoft.com/office/officeart/2005/8/layout/hProcess11"/>
    <dgm:cxn modelId="{2DD3FF02-EDEA-3746-AED9-2E7B2A8D48B6}" type="presParOf" srcId="{112B4C5A-181B-4E93-AE59-A24DBA6ACD5C}" destId="{1E6E9A0A-F8BF-4676-AC14-829CACCDFA12}" srcOrd="1" destOrd="0" presId="urn:microsoft.com/office/officeart/2005/8/layout/hProcess11"/>
    <dgm:cxn modelId="{0845E7F5-7249-5E4F-9FE1-964FCE5BCBFA}" type="presParOf" srcId="{1E6E9A0A-F8BF-4676-AC14-829CACCDFA12}" destId="{8E67741A-8AF6-403A-9F65-EF1BA79CE738}" srcOrd="0" destOrd="0" presId="urn:microsoft.com/office/officeart/2005/8/layout/hProcess11"/>
    <dgm:cxn modelId="{5C3859D7-F6E5-4B42-AA6D-932344E178DD}" type="presParOf" srcId="{8E67741A-8AF6-403A-9F65-EF1BA79CE738}" destId="{15CA2989-0BEA-4EA2-8397-02A768E90D38}" srcOrd="0" destOrd="0" presId="urn:microsoft.com/office/officeart/2005/8/layout/hProcess11"/>
    <dgm:cxn modelId="{7FCE5958-E68C-F34E-961B-65930B0EF437}" type="presParOf" srcId="{8E67741A-8AF6-403A-9F65-EF1BA79CE738}" destId="{72DCE0D8-A3A3-4802-93B4-117561179C7B}" srcOrd="1" destOrd="0" presId="urn:microsoft.com/office/officeart/2005/8/layout/hProcess11"/>
    <dgm:cxn modelId="{67020213-D6F1-A843-9C7D-44C33410F2AE}" type="presParOf" srcId="{8E67741A-8AF6-403A-9F65-EF1BA79CE738}" destId="{DF9ED26B-80F4-45A7-8E1B-AF02D36FC570}" srcOrd="2" destOrd="0" presId="urn:microsoft.com/office/officeart/2005/8/layout/hProcess11"/>
    <dgm:cxn modelId="{D7C2B956-762C-1B4B-8659-7FB3CB24E937}" type="presParOf" srcId="{1E6E9A0A-F8BF-4676-AC14-829CACCDFA12}" destId="{9269CC5B-96FE-4036-9EB4-CDA8995BB865}" srcOrd="1" destOrd="0" presId="urn:microsoft.com/office/officeart/2005/8/layout/hProcess11"/>
    <dgm:cxn modelId="{662842DA-265B-9F44-BA14-25CB7FE7F903}" type="presParOf" srcId="{1E6E9A0A-F8BF-4676-AC14-829CACCDFA12}" destId="{6EE73D98-2FC4-4EF8-9B0C-CDBFE7AB070F}" srcOrd="2" destOrd="0" presId="urn:microsoft.com/office/officeart/2005/8/layout/hProcess11"/>
    <dgm:cxn modelId="{1738326E-060F-AA4B-92B4-DC6C8F0715EE}" type="presParOf" srcId="{6EE73D98-2FC4-4EF8-9B0C-CDBFE7AB070F}" destId="{DA78EBD1-BC61-4C36-97FC-37CBD401DDC6}" srcOrd="0" destOrd="0" presId="urn:microsoft.com/office/officeart/2005/8/layout/hProcess11"/>
    <dgm:cxn modelId="{BF8B9F51-CCB0-5448-965C-81D8A41AD7F4}" type="presParOf" srcId="{6EE73D98-2FC4-4EF8-9B0C-CDBFE7AB070F}" destId="{AF1B1824-C88B-474B-8326-3DBA08FA697C}" srcOrd="1" destOrd="0" presId="urn:microsoft.com/office/officeart/2005/8/layout/hProcess11"/>
    <dgm:cxn modelId="{AFC89D55-F9E4-6C4D-87E0-04EEC5964F87}" type="presParOf" srcId="{6EE73D98-2FC4-4EF8-9B0C-CDBFE7AB070F}" destId="{0759E78E-5818-47C0-9F79-1C1E2574BF16}" srcOrd="2" destOrd="0" presId="urn:microsoft.com/office/officeart/2005/8/layout/hProcess11"/>
    <dgm:cxn modelId="{4C93553F-BB89-7346-AF07-B9940505670B}" type="presParOf" srcId="{1E6E9A0A-F8BF-4676-AC14-829CACCDFA12}" destId="{0D233A99-0D62-4E94-B959-0B652276181C}" srcOrd="3" destOrd="0" presId="urn:microsoft.com/office/officeart/2005/8/layout/hProcess11"/>
    <dgm:cxn modelId="{F1BE2508-B78A-CD4D-89E9-91D34E46685C}" type="presParOf" srcId="{1E6E9A0A-F8BF-4676-AC14-829CACCDFA12}" destId="{D45D4662-26E4-44D8-81D3-1C678C57C8F7}" srcOrd="4" destOrd="0" presId="urn:microsoft.com/office/officeart/2005/8/layout/hProcess11"/>
    <dgm:cxn modelId="{4DA2B3CA-F597-224F-BD81-AC442AA62630}" type="presParOf" srcId="{D45D4662-26E4-44D8-81D3-1C678C57C8F7}" destId="{8F628007-DAF5-41A1-ABCC-7E7F3F1C4E36}" srcOrd="0" destOrd="0" presId="urn:microsoft.com/office/officeart/2005/8/layout/hProcess11"/>
    <dgm:cxn modelId="{3F652978-91C7-5C42-AFA2-79FEFBA878F3}" type="presParOf" srcId="{D45D4662-26E4-44D8-81D3-1C678C57C8F7}" destId="{4FDA6B91-5E9E-4F7A-AE6E-E63A2384B869}" srcOrd="1" destOrd="0" presId="urn:microsoft.com/office/officeart/2005/8/layout/hProcess11"/>
    <dgm:cxn modelId="{38BCFFC7-4CE0-2541-A97C-6CF7DDE1C06A}" type="presParOf" srcId="{D45D4662-26E4-44D8-81D3-1C678C57C8F7}" destId="{F6C0A5D2-FB28-4CD4-85AE-E232C5C264D0}" srcOrd="2" destOrd="0" presId="urn:microsoft.com/office/officeart/2005/8/layout/hProcess11"/>
    <dgm:cxn modelId="{15839A21-ED94-7747-B6DB-85722DEAB31C}" type="presParOf" srcId="{1E6E9A0A-F8BF-4676-AC14-829CACCDFA12}" destId="{BF0BFAA8-5DE0-400A-B6DE-8D17B7C0993B}" srcOrd="5" destOrd="0" presId="urn:microsoft.com/office/officeart/2005/8/layout/hProcess11"/>
    <dgm:cxn modelId="{A4AFFCFC-05DE-5D46-B6DD-F5A7921FE9E1}" type="presParOf" srcId="{1E6E9A0A-F8BF-4676-AC14-829CACCDFA12}" destId="{656B903D-22AB-4469-8387-65D543893BD8}" srcOrd="6" destOrd="0" presId="urn:microsoft.com/office/officeart/2005/8/layout/hProcess11"/>
    <dgm:cxn modelId="{C37D53FE-C2C1-364C-B5EC-05E1B29F1693}" type="presParOf" srcId="{656B903D-22AB-4469-8387-65D543893BD8}" destId="{AD34F832-3C93-48DB-8B63-7CAFDCE61E50}" srcOrd="0" destOrd="0" presId="urn:microsoft.com/office/officeart/2005/8/layout/hProcess11"/>
    <dgm:cxn modelId="{12AE0ACF-CD0A-4E4E-BDE7-C2A8891D31DC}" type="presParOf" srcId="{656B903D-22AB-4469-8387-65D543893BD8}" destId="{9813443D-62F0-42C7-BC89-84174A4A2481}" srcOrd="1" destOrd="0" presId="urn:microsoft.com/office/officeart/2005/8/layout/hProcess11"/>
    <dgm:cxn modelId="{33176800-9BD0-D543-B843-B2D9D05535E5}" type="presParOf" srcId="{656B903D-22AB-4469-8387-65D543893BD8}" destId="{D82D3824-D063-4965-9257-70EB226A0A8C}" srcOrd="2" destOrd="0" presId="urn:microsoft.com/office/officeart/2005/8/layout/hProcess11"/>
    <dgm:cxn modelId="{3F895B88-2AD8-4042-831B-0BAF10D1A24A}" type="presParOf" srcId="{1E6E9A0A-F8BF-4676-AC14-829CACCDFA12}" destId="{705341CB-DF53-4A28-A9F4-C9E4B371FC92}" srcOrd="7" destOrd="0" presId="urn:microsoft.com/office/officeart/2005/8/layout/hProcess11"/>
    <dgm:cxn modelId="{6A470C2B-7D33-1B45-9D39-08A0A9E3F58C}" type="presParOf" srcId="{1E6E9A0A-F8BF-4676-AC14-829CACCDFA12}" destId="{4652EFAD-7167-4CA0-BC5E-A09722A686D6}" srcOrd="8" destOrd="0" presId="urn:microsoft.com/office/officeart/2005/8/layout/hProcess11"/>
    <dgm:cxn modelId="{80CC2D7B-BC96-4644-8824-054449668CC3}" type="presParOf" srcId="{4652EFAD-7167-4CA0-BC5E-A09722A686D6}" destId="{A5FDCFA5-2F77-41AA-B5AA-D90E47FA3272}" srcOrd="0" destOrd="0" presId="urn:microsoft.com/office/officeart/2005/8/layout/hProcess11"/>
    <dgm:cxn modelId="{1C637DEA-B6D9-EE44-B51F-FF615093A9BD}" type="presParOf" srcId="{4652EFAD-7167-4CA0-BC5E-A09722A686D6}" destId="{063D958B-6EB1-4C02-937A-DB29FE2BCB68}" srcOrd="1" destOrd="0" presId="urn:microsoft.com/office/officeart/2005/8/layout/hProcess11"/>
    <dgm:cxn modelId="{B8AC44B5-2088-3D48-82D1-AFD470F8E370}" type="presParOf" srcId="{4652EFAD-7167-4CA0-BC5E-A09722A686D6}" destId="{47DD7B41-C9A4-45F1-8900-BE54F553FE9A}" srcOrd="2" destOrd="0" presId="urn:microsoft.com/office/officeart/2005/8/layout/hProcess11"/>
    <dgm:cxn modelId="{5A13B175-2C46-AE42-9AD4-2FF1C6074071}" type="presParOf" srcId="{1E6E9A0A-F8BF-4676-AC14-829CACCDFA12}" destId="{CF2FACCB-66E5-4089-9729-8EDB561CD073}" srcOrd="9" destOrd="0" presId="urn:microsoft.com/office/officeart/2005/8/layout/hProcess11"/>
    <dgm:cxn modelId="{5805EA64-44A4-7B41-A17D-485D42A232B1}" type="presParOf" srcId="{1E6E9A0A-F8BF-4676-AC14-829CACCDFA12}" destId="{A695520A-0FA9-466B-BBBD-67851BD969B3}" srcOrd="10" destOrd="0" presId="urn:microsoft.com/office/officeart/2005/8/layout/hProcess11"/>
    <dgm:cxn modelId="{BAFEF0C9-980B-CD40-820C-B8642E525DA5}" type="presParOf" srcId="{A695520A-0FA9-466B-BBBD-67851BD969B3}" destId="{4B4856B9-E6A7-4C26-B58D-98A1DBBF7F60}" srcOrd="0" destOrd="0" presId="urn:microsoft.com/office/officeart/2005/8/layout/hProcess11"/>
    <dgm:cxn modelId="{642750DA-E549-844C-92AA-F0EEB8A063E6}" type="presParOf" srcId="{A695520A-0FA9-466B-BBBD-67851BD969B3}" destId="{58F16CE0-E2EB-41F5-8CC3-E4BB97111801}" srcOrd="1" destOrd="0" presId="urn:microsoft.com/office/officeart/2005/8/layout/hProcess11"/>
    <dgm:cxn modelId="{009E1A59-D454-BD4D-BEB4-97D718F558A8}" type="presParOf" srcId="{A695520A-0FA9-466B-BBBD-67851BD969B3}" destId="{074AC061-FC71-4E33-8AEB-157A4D640BB1}" srcOrd="2" destOrd="0" presId="urn:microsoft.com/office/officeart/2005/8/layout/hProcess11"/>
    <dgm:cxn modelId="{8CC0A634-2E3B-EF44-920A-094742768605}" type="presParOf" srcId="{1E6E9A0A-F8BF-4676-AC14-829CACCDFA12}" destId="{30378AEB-874A-4C39-9087-5DF4E146FE33}" srcOrd="11" destOrd="0" presId="urn:microsoft.com/office/officeart/2005/8/layout/hProcess11"/>
    <dgm:cxn modelId="{E7AD3AFA-05DB-2643-958F-E06C32BD805C}" type="presParOf" srcId="{1E6E9A0A-F8BF-4676-AC14-829CACCDFA12}" destId="{C59BF33C-5BE2-4574-B46B-CE91F252D42B}" srcOrd="12" destOrd="0" presId="urn:microsoft.com/office/officeart/2005/8/layout/hProcess11"/>
    <dgm:cxn modelId="{8E226EFD-79E1-8E48-8E16-570AD8B3C424}" type="presParOf" srcId="{C59BF33C-5BE2-4574-B46B-CE91F252D42B}" destId="{702D2D8F-6A62-4D3A-AA49-92CA44360CA1}" srcOrd="0" destOrd="0" presId="urn:microsoft.com/office/officeart/2005/8/layout/hProcess11"/>
    <dgm:cxn modelId="{19313926-4152-7F45-9CBD-82A861B03625}" type="presParOf" srcId="{C59BF33C-5BE2-4574-B46B-CE91F252D42B}" destId="{6ED7735C-5757-4120-BABD-ECBD7FB12C40}" srcOrd="1" destOrd="0" presId="urn:microsoft.com/office/officeart/2005/8/layout/hProcess11"/>
    <dgm:cxn modelId="{D576BE5D-C186-0F4D-A59E-8D77F9233942}" type="presParOf" srcId="{C59BF33C-5BE2-4574-B46B-CE91F252D42B}" destId="{40053AA2-56B9-4434-8C46-C95D3A0A76BA}" srcOrd="2" destOrd="0" presId="urn:microsoft.com/office/officeart/2005/8/layout/hProcess11"/>
    <dgm:cxn modelId="{192D220D-2EE8-3749-8C81-2B9F7F86AC93}" type="presParOf" srcId="{1E6E9A0A-F8BF-4676-AC14-829CACCDFA12}" destId="{EDD49939-F100-4605-8577-EF75EC54DFD4}" srcOrd="13" destOrd="0" presId="urn:microsoft.com/office/officeart/2005/8/layout/hProcess11"/>
    <dgm:cxn modelId="{B8E70236-CD1C-9A4F-B317-A03770451A8A}" type="presParOf" srcId="{1E6E9A0A-F8BF-4676-AC14-829CACCDFA12}" destId="{FAF87CED-B4BE-45D0-9627-9DBE8A2F8623}" srcOrd="14" destOrd="0" presId="urn:microsoft.com/office/officeart/2005/8/layout/hProcess11"/>
    <dgm:cxn modelId="{47D97E5A-F967-D640-8932-DF731D9D4A5E}" type="presParOf" srcId="{FAF87CED-B4BE-45D0-9627-9DBE8A2F8623}" destId="{8E0A37F4-31D5-429C-BC2F-8164039C6074}" srcOrd="0" destOrd="0" presId="urn:microsoft.com/office/officeart/2005/8/layout/hProcess11"/>
    <dgm:cxn modelId="{02A1C2DF-2A88-354A-997B-9F5E04C0123E}" type="presParOf" srcId="{FAF87CED-B4BE-45D0-9627-9DBE8A2F8623}" destId="{6035BC5E-42AA-4D0C-A4B4-08EE9B972A54}" srcOrd="1" destOrd="0" presId="urn:microsoft.com/office/officeart/2005/8/layout/hProcess11"/>
    <dgm:cxn modelId="{2E99E627-EAFE-0F45-BAF4-0008BFE094D1}" type="presParOf" srcId="{FAF87CED-B4BE-45D0-9627-9DBE8A2F8623}" destId="{CFA8C156-E6C4-4A4B-A8C7-AD14B68A7C5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B5190-0148-4E66-B106-35D43C0395A7}">
      <dsp:nvSpPr>
        <dsp:cNvPr id="0" name=""/>
        <dsp:cNvSpPr/>
      </dsp:nvSpPr>
      <dsp:spPr>
        <a:xfrm>
          <a:off x="0" y="1214080"/>
          <a:ext cx="8229600" cy="161877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A2989-0BEA-4EA2-8397-02A768E90D38}">
      <dsp:nvSpPr>
        <dsp:cNvPr id="0" name=""/>
        <dsp:cNvSpPr/>
      </dsp:nvSpPr>
      <dsp:spPr>
        <a:xfrm>
          <a:off x="293" y="0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2017</a:t>
          </a:r>
          <a:r>
            <a:rPr lang="zh-CN" sz="1100" kern="1200" baseline="0" dirty="0"/>
            <a:t>年</a:t>
          </a:r>
          <a:r>
            <a:rPr lang="en-US" sz="1100" kern="1200" baseline="0" dirty="0"/>
            <a:t>6</a:t>
          </a:r>
          <a:r>
            <a:rPr lang="zh-CN" sz="1100" kern="1200" baseline="0" dirty="0"/>
            <a:t>月</a:t>
          </a:r>
          <a:r>
            <a:rPr lang="en-US" altLang="zh-CN" sz="1100" kern="1200" baseline="0" dirty="0"/>
            <a:t>, </a:t>
          </a:r>
          <a:r>
            <a:rPr lang="en-US" sz="1100" kern="1200" baseline="0" dirty="0"/>
            <a:t>Google</a:t>
          </a:r>
          <a:r>
            <a:rPr lang="zh-CN" sz="1100" kern="1200" baseline="0" dirty="0"/>
            <a:t>提出</a:t>
          </a:r>
          <a:r>
            <a:rPr lang="en-US" sz="1100" kern="1200" baseline="0" dirty="0"/>
            <a:t>Transformer</a:t>
          </a:r>
          <a:r>
            <a:rPr lang="zh-CN" sz="1100" kern="1200" baseline="0" dirty="0"/>
            <a:t>模型</a:t>
          </a:r>
          <a:endParaRPr lang="en-US" altLang="zh-CN" sz="1100" kern="1200" baseline="0" dirty="0"/>
        </a:p>
      </dsp:txBody>
      <dsp:txXfrm>
        <a:off x="293" y="0"/>
        <a:ext cx="886952" cy="1618774"/>
      </dsp:txXfrm>
    </dsp:sp>
    <dsp:sp modelId="{72DCE0D8-A3A3-4802-93B4-117561179C7B}">
      <dsp:nvSpPr>
        <dsp:cNvPr id="0" name=""/>
        <dsp:cNvSpPr/>
      </dsp:nvSpPr>
      <dsp:spPr>
        <a:xfrm>
          <a:off x="2414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8EBD1-BC61-4C36-97FC-37CBD401DDC6}">
      <dsp:nvSpPr>
        <dsp:cNvPr id="0" name=""/>
        <dsp:cNvSpPr/>
      </dsp:nvSpPr>
      <dsp:spPr>
        <a:xfrm>
          <a:off x="931593" y="2428161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2018</a:t>
          </a:r>
          <a:r>
            <a:rPr lang="zh-CN" sz="1100" kern="1200" baseline="0" dirty="0"/>
            <a:t>年</a:t>
          </a:r>
          <a:r>
            <a:rPr lang="en-US" sz="1100" kern="1200" baseline="0" dirty="0"/>
            <a:t>6</a:t>
          </a:r>
          <a:r>
            <a:rPr lang="zh-CN" sz="1100" kern="1200" baseline="0" dirty="0"/>
            <a:t>月</a:t>
          </a:r>
          <a:r>
            <a:rPr lang="en-US" altLang="zh-CN" sz="1100" kern="1200" baseline="0" dirty="0"/>
            <a:t>,</a:t>
          </a:r>
          <a:r>
            <a:rPr lang="zh-CN" sz="1100" kern="1200" baseline="0" dirty="0"/>
            <a:t> 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提出</a:t>
          </a:r>
          <a:r>
            <a:rPr lang="en-US" sz="1100" kern="1200" baseline="0" dirty="0"/>
            <a:t>GPT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931593" y="2428161"/>
        <a:ext cx="886952" cy="1618774"/>
      </dsp:txXfrm>
    </dsp:sp>
    <dsp:sp modelId="{AF1B1824-C88B-474B-8326-3DBA08FA697C}">
      <dsp:nvSpPr>
        <dsp:cNvPr id="0" name=""/>
        <dsp:cNvSpPr/>
      </dsp:nvSpPr>
      <dsp:spPr>
        <a:xfrm>
          <a:off x="11727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28007-DAF5-41A1-ABCC-7E7F3F1C4E36}">
      <dsp:nvSpPr>
        <dsp:cNvPr id="0" name=""/>
        <dsp:cNvSpPr/>
      </dsp:nvSpPr>
      <dsp:spPr>
        <a:xfrm>
          <a:off x="1862893" y="0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2019</a:t>
          </a:r>
          <a:r>
            <a:rPr lang="zh-CN" sz="1100" kern="1200" baseline="0" dirty="0"/>
            <a:t>年</a:t>
          </a:r>
          <a:r>
            <a:rPr lang="en-US" sz="1100" kern="1200" baseline="0" dirty="0"/>
            <a:t>2</a:t>
          </a:r>
          <a:r>
            <a:rPr lang="zh-CN" sz="1100" kern="1200" baseline="0" dirty="0"/>
            <a:t>月，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提出</a:t>
          </a:r>
          <a:r>
            <a:rPr lang="en-US" sz="1100" kern="1200" baseline="0" dirty="0"/>
            <a:t>GPT2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1862893" y="0"/>
        <a:ext cx="886952" cy="1618774"/>
      </dsp:txXfrm>
    </dsp:sp>
    <dsp:sp modelId="{4FDA6B91-5E9E-4F7A-AE6E-E63A2384B869}">
      <dsp:nvSpPr>
        <dsp:cNvPr id="0" name=""/>
        <dsp:cNvSpPr/>
      </dsp:nvSpPr>
      <dsp:spPr>
        <a:xfrm>
          <a:off x="21040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4F832-3C93-48DB-8B63-7CAFDCE61E50}">
      <dsp:nvSpPr>
        <dsp:cNvPr id="0" name=""/>
        <dsp:cNvSpPr/>
      </dsp:nvSpPr>
      <dsp:spPr>
        <a:xfrm>
          <a:off x="2794193" y="2428161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2020</a:t>
          </a:r>
          <a:r>
            <a:rPr lang="zh-CN" sz="1100" kern="1200" baseline="0" dirty="0"/>
            <a:t>年</a:t>
          </a:r>
          <a:r>
            <a:rPr lang="en-US" sz="1100" kern="1200" baseline="0" dirty="0"/>
            <a:t>5</a:t>
          </a:r>
          <a:r>
            <a:rPr lang="zh-CN" sz="1100" kern="1200" baseline="0" dirty="0"/>
            <a:t>月，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提出</a:t>
          </a:r>
          <a:r>
            <a:rPr lang="en-US" sz="1100" kern="1200" baseline="0" dirty="0"/>
            <a:t>GPT3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2794193" y="2428161"/>
        <a:ext cx="886952" cy="1618774"/>
      </dsp:txXfrm>
    </dsp:sp>
    <dsp:sp modelId="{9813443D-62F0-42C7-BC89-84174A4A2481}">
      <dsp:nvSpPr>
        <dsp:cNvPr id="0" name=""/>
        <dsp:cNvSpPr/>
      </dsp:nvSpPr>
      <dsp:spPr>
        <a:xfrm>
          <a:off x="30353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DCFA5-2F77-41AA-B5AA-D90E47FA3272}">
      <dsp:nvSpPr>
        <dsp:cNvPr id="0" name=""/>
        <dsp:cNvSpPr/>
      </dsp:nvSpPr>
      <dsp:spPr>
        <a:xfrm>
          <a:off x="3725493" y="0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2021</a:t>
          </a:r>
          <a:r>
            <a:rPr lang="zh-CN" sz="1100" kern="1200" baseline="0" dirty="0"/>
            <a:t>年</a:t>
          </a:r>
          <a:r>
            <a:rPr lang="en-US" sz="1100" kern="1200" baseline="0" dirty="0"/>
            <a:t>12</a:t>
          </a:r>
          <a:r>
            <a:rPr lang="zh-CN" sz="1100" kern="1200" baseline="0" dirty="0"/>
            <a:t>月，</a:t>
          </a:r>
          <a:r>
            <a:rPr lang="en-US" sz="1100" kern="1200" baseline="0" dirty="0"/>
            <a:t> 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提出</a:t>
          </a:r>
          <a:r>
            <a:rPr lang="en-US" altLang="zh-CN" sz="1100" kern="1200" baseline="0" dirty="0" err="1"/>
            <a:t>CodeX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3725493" y="0"/>
        <a:ext cx="886952" cy="1618774"/>
      </dsp:txXfrm>
    </dsp:sp>
    <dsp:sp modelId="{063D958B-6EB1-4C02-937A-DB29FE2BCB68}">
      <dsp:nvSpPr>
        <dsp:cNvPr id="0" name=""/>
        <dsp:cNvSpPr/>
      </dsp:nvSpPr>
      <dsp:spPr>
        <a:xfrm>
          <a:off x="39666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856B9-E6A7-4C26-B58D-98A1DBBF7F60}">
      <dsp:nvSpPr>
        <dsp:cNvPr id="0" name=""/>
        <dsp:cNvSpPr/>
      </dsp:nvSpPr>
      <dsp:spPr>
        <a:xfrm>
          <a:off x="4656793" y="2428161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2021</a:t>
          </a:r>
          <a:r>
            <a:rPr lang="zh-CN" sz="1100" kern="1200" baseline="0" dirty="0"/>
            <a:t>年</a:t>
          </a:r>
          <a:r>
            <a:rPr lang="en-US" sz="1100" kern="1200" baseline="0" dirty="0"/>
            <a:t>12</a:t>
          </a:r>
          <a:r>
            <a:rPr lang="zh-CN" sz="1100" kern="1200" baseline="0" dirty="0"/>
            <a:t>月，</a:t>
          </a:r>
          <a:r>
            <a:rPr lang="en-US" sz="1100" kern="1200" baseline="0" dirty="0"/>
            <a:t> 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提出</a:t>
          </a:r>
          <a:r>
            <a:rPr lang="en-US" sz="1100" kern="1200" baseline="0" dirty="0" err="1"/>
            <a:t>WebGPT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4656793" y="2428161"/>
        <a:ext cx="886952" cy="1618774"/>
      </dsp:txXfrm>
    </dsp:sp>
    <dsp:sp modelId="{58F16CE0-E2EB-41F5-8CC3-E4BB97111801}">
      <dsp:nvSpPr>
        <dsp:cNvPr id="0" name=""/>
        <dsp:cNvSpPr/>
      </dsp:nvSpPr>
      <dsp:spPr>
        <a:xfrm>
          <a:off x="48979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D2D8F-6A62-4D3A-AA49-92CA44360CA1}">
      <dsp:nvSpPr>
        <dsp:cNvPr id="0" name=""/>
        <dsp:cNvSpPr/>
      </dsp:nvSpPr>
      <dsp:spPr>
        <a:xfrm>
          <a:off x="5588093" y="0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2022</a:t>
          </a:r>
          <a:r>
            <a:rPr lang="zh-CN" sz="1100" kern="1200" baseline="0" dirty="0"/>
            <a:t>年</a:t>
          </a:r>
          <a:r>
            <a:rPr lang="en-US" sz="1100" kern="1200" baseline="0" dirty="0"/>
            <a:t>2</a:t>
          </a:r>
          <a:r>
            <a:rPr lang="zh-CN" sz="1100" kern="1200" baseline="0" dirty="0"/>
            <a:t>月，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提出</a:t>
          </a:r>
          <a:r>
            <a:rPr lang="en-US" sz="1100" kern="1200" baseline="0" dirty="0" err="1"/>
            <a:t>InstructGPT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5588093" y="0"/>
        <a:ext cx="886952" cy="1618774"/>
      </dsp:txXfrm>
    </dsp:sp>
    <dsp:sp modelId="{6ED7735C-5757-4120-BABD-ECBD7FB12C40}">
      <dsp:nvSpPr>
        <dsp:cNvPr id="0" name=""/>
        <dsp:cNvSpPr/>
      </dsp:nvSpPr>
      <dsp:spPr>
        <a:xfrm>
          <a:off x="58292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A37F4-31D5-429C-BC2F-8164039C6074}">
      <dsp:nvSpPr>
        <dsp:cNvPr id="0" name=""/>
        <dsp:cNvSpPr/>
      </dsp:nvSpPr>
      <dsp:spPr>
        <a:xfrm>
          <a:off x="6519393" y="2428161"/>
          <a:ext cx="886952" cy="161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 dirty="0"/>
            <a:t>2022</a:t>
          </a:r>
          <a:r>
            <a:rPr lang="zh-CN" sz="1100" kern="1200" baseline="0" dirty="0"/>
            <a:t>年</a:t>
          </a:r>
          <a:r>
            <a:rPr lang="en-US" sz="1100" kern="1200" baseline="0" dirty="0"/>
            <a:t>11</a:t>
          </a:r>
          <a:r>
            <a:rPr lang="zh-CN" sz="1100" kern="1200" baseline="0" dirty="0"/>
            <a:t>月，</a:t>
          </a:r>
          <a:r>
            <a:rPr lang="en-US" sz="1100" kern="1200" baseline="0" dirty="0" err="1"/>
            <a:t>OpenAI</a:t>
          </a:r>
          <a:r>
            <a:rPr lang="zh-CN" sz="1100" kern="1200" baseline="0" dirty="0"/>
            <a:t>推出</a:t>
          </a:r>
          <a:r>
            <a:rPr lang="en-US" sz="1100" b="1" kern="1200" baseline="0" dirty="0" err="1"/>
            <a:t>ChatGPT</a:t>
          </a:r>
          <a:r>
            <a:rPr lang="zh-CN" sz="1100" kern="1200" baseline="0" dirty="0"/>
            <a:t>模型</a:t>
          </a:r>
          <a:endParaRPr lang="zh-CN" sz="1100" kern="1200" dirty="0"/>
        </a:p>
      </dsp:txBody>
      <dsp:txXfrm>
        <a:off x="6519393" y="2428161"/>
        <a:ext cx="886952" cy="1618774"/>
      </dsp:txXfrm>
    </dsp:sp>
    <dsp:sp modelId="{6035BC5E-42AA-4D0C-A4B4-08EE9B972A54}">
      <dsp:nvSpPr>
        <dsp:cNvPr id="0" name=""/>
        <dsp:cNvSpPr/>
      </dsp:nvSpPr>
      <dsp:spPr>
        <a:xfrm>
          <a:off x="6760523" y="1821120"/>
          <a:ext cx="404693" cy="4046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5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69103-2D17-4832-98EE-51E176497DD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60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01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baseline="0" dirty="0"/>
              <a:t> contains input word vectors.</a:t>
            </a:r>
          </a:p>
          <a:p>
            <a:r>
              <a:rPr lang="en-US" baseline="0" dirty="0"/>
              <a:t>W’ contains output word vectors.</a:t>
            </a:r>
          </a:p>
          <a:p>
            <a:endParaRPr lang="en-US" baseline="0" dirty="0"/>
          </a:p>
          <a:p>
            <a:r>
              <a:rPr lang="en-US" baseline="0" dirty="0"/>
              <a:t>We can consider either W or W’ as the word’s representation. Or even take the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69103-2D17-4832-98EE-51E176497DD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27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33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69103-2D17-4832-98EE-51E176497DD9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30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CCA1-9167-195A-6217-005EB013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4F30C9-5DAB-169E-5CB2-255FC05FD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0E548D-E456-46C0-DF9C-B9EDFFAAE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C76CF5-9FD3-D4F6-E691-45563720C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1465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FF0000"/>
                </a:solidFill>
              </a:rPr>
              <a:t>大幅提升了泛化能力，但是和人类的真实任务有很大差异。</a:t>
            </a:r>
            <a:endParaRPr lang="x-none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9A6FD-A347-4589-9885-DD4D937DB14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4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AI的定义</a:t>
            </a:r>
            <a:r>
              <a:rPr lang="zh-CN" altLang="en-US"/>
              <a:t>：</a:t>
            </a:r>
            <a:r>
              <a:rPr lang="en-US" altLang="zh-CN"/>
              <a:t>wiki</a:t>
            </a:r>
            <a:r>
              <a:rPr lang="zh-CN" altLang="en-US"/>
              <a:t>中</a:t>
            </a:r>
            <a:r>
              <a:rPr lang="en-US" altLang="zh-CN"/>
              <a:t>artificial intelligence</a:t>
            </a:r>
            <a:r>
              <a:rPr lang="zh-CN" altLang="en-US"/>
              <a:t>词条：</a:t>
            </a:r>
            <a:endParaRPr lang="en-US" altLang="zh-CN"/>
          </a:p>
          <a:p>
            <a:r>
              <a:rPr lang="en-US"/>
              <a:t>https://en.wikipedia.org/wiki/Artificial_intelligence</a:t>
            </a:r>
          </a:p>
          <a:p>
            <a:endParaRPr lang="en-US"/>
          </a:p>
          <a:p>
            <a:r>
              <a:rPr lang="en-US"/>
              <a:t>AI的表现</a:t>
            </a:r>
            <a:r>
              <a:rPr lang="zh-CN" altLang="en-US"/>
              <a:t>：</a:t>
            </a:r>
            <a:r>
              <a:rPr lang="en-US" altLang="zh-CN"/>
              <a:t>《</a:t>
            </a:r>
            <a:r>
              <a:rPr lang="zh-CN" altLang="en-US"/>
              <a:t>神经网络与深度学习</a:t>
            </a:r>
            <a:r>
              <a:rPr lang="en-US" altLang="zh-CN"/>
              <a:t>》</a:t>
            </a:r>
          </a:p>
          <a:p>
            <a:endParaRPr lang="en-US"/>
          </a:p>
          <a:p>
            <a:r>
              <a:rPr lang="en-US"/>
              <a:t>John McCarthy的AI定义</a:t>
            </a:r>
            <a:r>
              <a:rPr lang="zh-CN" altLang="en-US"/>
              <a:t>：</a:t>
            </a:r>
            <a:r>
              <a:rPr lang="en-US"/>
              <a:t>http://jmc.stanford.edu/artificial-intelligence/what-is-ai/index.html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DE5A-C99F-4AFD-B1C4-F96E72A2F4CB}" type="slidenum">
              <a:rPr lang="zh-CN" altLang="en-US" smtClean="0">
                <a:solidFill>
                  <a:prstClr val="black"/>
                </a:solidFill>
              </a:rPr>
              <a:pPr/>
              <a:t>49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28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DE5A-C99F-4AFD-B1C4-F96E72A2F4CB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780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DE5A-C99F-4AFD-B1C4-F96E72A2F4CB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571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7723-69A9-0451-64FF-F54F711E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3F757A-EF0B-7726-922F-1CB92832E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94E200-BEB4-E687-9E3E-C0810AC5B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3489F-39EF-2136-F630-8F895B903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403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B5419B-BD18-9943-B2FA-F86BB8A677BF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DB6BC3B-4E32-BF49-9D91-F1931FBC69C4}"/>
              </a:ext>
            </a:extLst>
          </p:cNvPr>
          <p:cNvSpPr txBox="1"/>
          <p:nvPr userDrawn="1"/>
        </p:nvSpPr>
        <p:spPr>
          <a:xfrm>
            <a:off x="4366084" y="4835723"/>
            <a:ext cx="478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数据科学导论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中国人民大学信息学院</a:t>
            </a:r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F7FC5D6-12C6-4838-8F59-CADA2CC0F644}"/>
              </a:ext>
            </a:extLst>
          </p:cNvPr>
          <p:cNvSpPr txBox="1"/>
          <p:nvPr userDrawn="1"/>
        </p:nvSpPr>
        <p:spPr>
          <a:xfrm>
            <a:off x="4366084" y="4835723"/>
            <a:ext cx="478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数据科学导论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中国人民大学信息学院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089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0659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271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59541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5089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54820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44766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4957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52918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6041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72526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5273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27838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53404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80010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44593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2F264DDB-364C-410E-A66B-B19CEFA5E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6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64" r:id="rId6"/>
    <p:sldLayoutId id="2147483669" r:id="rId7"/>
    <p:sldLayoutId id="2147483708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4" r:id="rId21"/>
    <p:sldLayoutId id="2147483725" r:id="rId22"/>
    <p:sldLayoutId id="2147483726" r:id="rId23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onlp-www.utu.fi/wv_demo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1.png"/><Relationship Id="rId3" Type="http://schemas.openxmlformats.org/officeDocument/2006/relationships/image" Target="../media/image890.png"/><Relationship Id="rId7" Type="http://schemas.openxmlformats.org/officeDocument/2006/relationships/image" Target="../media/image9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1.png"/><Relationship Id="rId5" Type="http://schemas.openxmlformats.org/officeDocument/2006/relationships/image" Target="../media/image910.png"/><Relationship Id="rId4" Type="http://schemas.openxmlformats.org/officeDocument/2006/relationships/image" Target="../media/image900.png"/><Relationship Id="rId9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7" Type="http://schemas.openxmlformats.org/officeDocument/2006/relationships/image" Target="../media/image10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0.png"/><Relationship Id="rId5" Type="http://schemas.openxmlformats.org/officeDocument/2006/relationships/image" Target="../media/image980.png"/><Relationship Id="rId4" Type="http://schemas.openxmlformats.org/officeDocument/2006/relationships/image" Target="../media/image9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32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gi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gi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612468" y="3309841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mr-IN" dirty="0"/>
              <a:t>范举</a:t>
            </a:r>
            <a:r>
              <a:rPr lang="zh-CN" altLang="en-US" dirty="0"/>
              <a:t> </a:t>
            </a:r>
            <a:r>
              <a:rPr lang="zh-CN" altLang="mr-IN" dirty="0"/>
              <a:t>教授         </a:t>
            </a:r>
            <a:r>
              <a:rPr lang="mr-IN" altLang="zh-CN" dirty="0" err="1"/>
              <a:t>fanj@ruc.edu.cn</a:t>
            </a:r>
            <a:endParaRPr lang="mr-IN" altLang="zh-CN" dirty="0"/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讲：文本表示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词向量与语言模型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FCA02-C1C1-7DCA-2160-2F5329DEAAD0}"/>
              </a:ext>
            </a:extLst>
          </p:cNvPr>
          <p:cNvSpPr/>
          <p:nvPr/>
        </p:nvSpPr>
        <p:spPr>
          <a:xfrm>
            <a:off x="131116" y="53164"/>
            <a:ext cx="4306772" cy="15152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本周五（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日）有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模拟练习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18:00-20:30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理工配楼二层机房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4FC7279E-A676-1245-A559-A3C42257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66" y="-81299"/>
            <a:ext cx="7894524" cy="857250"/>
          </a:xfrm>
        </p:spPr>
        <p:txBody>
          <a:bodyPr>
            <a:normAutofit/>
          </a:bodyPr>
          <a:lstStyle/>
          <a:p>
            <a:r>
              <a:rPr kumimoji="1" lang="zh-CN" altLang="en-US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如何让计算机理解</a:t>
            </a:r>
            <a:r>
              <a:rPr kumimoji="1" lang="zh-CN" altLang="en-US" sz="2707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单词含义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3174D4-1DDB-6C44-A955-0DAFF2478DCE}"/>
              </a:ext>
            </a:extLst>
          </p:cNvPr>
          <p:cNvSpPr txBox="1"/>
          <p:nvPr/>
        </p:nvSpPr>
        <p:spPr>
          <a:xfrm>
            <a:off x="457066" y="814293"/>
            <a:ext cx="8229123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最直接的方法：使用类似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WordNet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那样的词典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6" y="1378292"/>
            <a:ext cx="6970743" cy="36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29458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4FC7279E-A676-1245-A559-A3C42257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66" y="-81299"/>
            <a:ext cx="7894524" cy="857250"/>
          </a:xfrm>
        </p:spPr>
        <p:txBody>
          <a:bodyPr>
            <a:normAutofit/>
          </a:bodyPr>
          <a:lstStyle/>
          <a:p>
            <a:r>
              <a:rPr kumimoji="1" lang="zh-CN" altLang="en-US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如何让计算机理解</a:t>
            </a:r>
            <a:r>
              <a:rPr kumimoji="1" lang="zh-CN" altLang="en-US" sz="2707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单词含义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3174D4-1DDB-6C44-A955-0DAFF2478DCE}"/>
              </a:ext>
            </a:extLst>
          </p:cNvPr>
          <p:cNvSpPr txBox="1"/>
          <p:nvPr/>
        </p:nvSpPr>
        <p:spPr>
          <a:xfrm>
            <a:off x="457066" y="814293"/>
            <a:ext cx="8229123" cy="3414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最直接的方法：使用类似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WordNet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那样的词典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15027" lvl="1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单词含义与上下文相关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72227" lvl="2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例如：“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proficient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”仅在某些上下文是“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good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”的同义词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15027" lvl="1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缺少单词的新含义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72227" lvl="2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"Badass"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是一个口语化的词语，通常用来形容某人具有勇气、自信、冷静、酷炫或非常出色的特质。它可以用来形容某人的行为、性格、服装风格等等。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15027" lvl="1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带有主观性且无法保持最新！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15027" lvl="1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需要人工构建与维护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7465783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分布式假设的表现形式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（文档内共现）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750F4E8-D917-C147-AEA9-7C8FCFBD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9" y="1948315"/>
            <a:ext cx="2416930" cy="14352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8048F6-FB62-BD4E-A039-7E2CBAEA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71" y="1863187"/>
            <a:ext cx="2179599" cy="16449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62FE65E-5BE8-D24A-8F58-304D45418325}"/>
              </a:ext>
            </a:extLst>
          </p:cNvPr>
          <p:cNvSpPr txBox="1"/>
          <p:nvPr/>
        </p:nvSpPr>
        <p:spPr>
          <a:xfrm>
            <a:off x="1821625" y="3561990"/>
            <a:ext cx="462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适合长文本的表达：单词</a:t>
            </a:r>
            <a:r>
              <a:rPr kumimoji="1" lang="zh-CN" altLang="en-US" sz="1600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共现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关系建模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88B7CB-394C-4D46-930C-EB684BE96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445" y="1948300"/>
            <a:ext cx="2320968" cy="13346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B0C433-2C33-A045-B1CE-E779FF6F4139}"/>
              </a:ext>
            </a:extLst>
          </p:cNvPr>
          <p:cNvSpPr txBox="1"/>
          <p:nvPr/>
        </p:nvSpPr>
        <p:spPr>
          <a:xfrm>
            <a:off x="1821625" y="4341763"/>
            <a:ext cx="550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话题模型：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LSI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NMF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PLSI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LDA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等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CAC7C04D-2915-D644-9EC0-140E0405546A}"/>
              </a:ext>
            </a:extLst>
          </p:cNvPr>
          <p:cNvSpPr/>
          <p:nvPr/>
        </p:nvSpPr>
        <p:spPr>
          <a:xfrm>
            <a:off x="2731324" y="2450783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7F36AB3-74DB-9E4B-98D4-61EAC0F14010}"/>
              </a:ext>
            </a:extLst>
          </p:cNvPr>
          <p:cNvSpPr/>
          <p:nvPr/>
        </p:nvSpPr>
        <p:spPr>
          <a:xfrm>
            <a:off x="5887334" y="2456595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309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1124" y="3052428"/>
            <a:ext cx="15376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文本表示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529959" y="1082507"/>
            <a:ext cx="4515009" cy="2250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文本的独热表示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文本的分布式表示：主题模型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文本表示实践：主题模型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文本的分布式表示：词嵌入模型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从词嵌入到预训练语言模型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文本表示实践：词嵌入模型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016203" y="120748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016203" y="189664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016203" y="226242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016203" y="26282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016203" y="154919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6" name="椭圆 26">
            <a:extLst>
              <a:ext uri="{FF2B5EF4-FFF2-40B4-BE49-F238E27FC236}">
                <a16:creationId xmlns:a16="http://schemas.microsoft.com/office/drawing/2014/main" id="{8B83160E-3FF2-69B8-D865-D068DD4A58A0}"/>
              </a:ext>
            </a:extLst>
          </p:cNvPr>
          <p:cNvSpPr/>
          <p:nvPr/>
        </p:nvSpPr>
        <p:spPr>
          <a:xfrm>
            <a:off x="4016203" y="29939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C97D6-A7DB-3B45-81D4-B6CDDD06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独热表达的不足（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3BA5A-E4C1-734D-B73E-CC7D3271C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从表达语义的角度看，高维、稀疏的独热表达还有巨大改进空间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每一个单词对应一个坐标轴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任意两个坐标轴垂直 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  任意不同的单词语义无关</a:t>
            </a:r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>
              <a:sym typeface="Wingdings" pitchFamily="2" charset="2"/>
            </a:endParaRPr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但是：自然语言中存在大量的近义词、同义词、反义词等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DC5EB8-98A7-1E46-BF5F-64BAD7E8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40" y="2183518"/>
            <a:ext cx="8519720" cy="146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6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E0B69-FEB8-FB4B-9921-7E6D3F89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独热表达的不足（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0E090-7B7C-7045-8B14-E54C5954B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7689273" cy="3937000"/>
          </a:xfrm>
        </p:spPr>
        <p:txBody>
          <a:bodyPr/>
          <a:lstStyle/>
          <a:p>
            <a:r>
              <a:rPr kumimoji="1" lang="zh-CN" altLang="en-US" dirty="0">
                <a:sym typeface="Wingdings" pitchFamily="2" charset="2"/>
              </a:rPr>
              <a:t>语义“可泛化性”</a:t>
            </a:r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r>
              <a:rPr kumimoji="1" lang="zh-CN" altLang="en-US" dirty="0">
                <a:sym typeface="Wingdings" pitchFamily="2" charset="2"/>
              </a:rPr>
              <a:t>虽然训练文本中没有出现过词组“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three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groups</a:t>
            </a:r>
            <a:r>
              <a:rPr kumimoji="1" lang="zh-CN" altLang="en-US" dirty="0">
                <a:sym typeface="Wingdings" pitchFamily="2" charset="2"/>
              </a:rPr>
              <a:t>”</a:t>
            </a:r>
            <a:r>
              <a:rPr kumimoji="1" lang="en-US" altLang="zh-CN" dirty="0">
                <a:sym typeface="Wingdings" pitchFamily="2" charset="2"/>
              </a:rPr>
              <a:t>,</a:t>
            </a:r>
            <a:r>
              <a:rPr kumimoji="1" lang="zh-CN" altLang="en-US" dirty="0">
                <a:sym typeface="Wingdings" pitchFamily="2" charset="2"/>
              </a:rPr>
              <a:t>但是人可以中意识到“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three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groups</a:t>
            </a:r>
            <a:r>
              <a:rPr kumimoji="1" lang="zh-CN" altLang="en-US" dirty="0">
                <a:sym typeface="Wingdings" pitchFamily="2" charset="2"/>
              </a:rPr>
              <a:t>”有很大概率是一个正确的表达，即 </a:t>
            </a:r>
            <a:r>
              <a:rPr kumimoji="1" lang="en-US" altLang="zh-CN" dirty="0">
                <a:sym typeface="Wingdings" pitchFamily="2" charset="2"/>
              </a:rPr>
              <a:t>P(</a:t>
            </a:r>
            <a:r>
              <a:rPr kumimoji="1" lang="en-US" altLang="zh-CN" dirty="0" err="1">
                <a:sym typeface="Wingdings" pitchFamily="2" charset="2"/>
              </a:rPr>
              <a:t>groups|three</a:t>
            </a:r>
            <a:r>
              <a:rPr kumimoji="1" lang="en-US" altLang="zh-CN" dirty="0">
                <a:sym typeface="Wingdings" pitchFamily="2" charset="2"/>
              </a:rPr>
              <a:t>)&gt;0</a:t>
            </a:r>
          </a:p>
          <a:p>
            <a:r>
              <a:rPr kumimoji="1" lang="zh-CN" altLang="en-US" dirty="0">
                <a:sym typeface="Wingdings" pitchFamily="2" charset="2"/>
              </a:rPr>
              <a:t>独热表达没有泛化能力，很容易导出 </a:t>
            </a:r>
            <a:r>
              <a:rPr kumimoji="1" lang="en-US" altLang="zh-CN" dirty="0">
                <a:sym typeface="Wingdings" pitchFamily="2" charset="2"/>
              </a:rPr>
              <a:t>P(groups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|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three)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=</a:t>
            </a:r>
            <a:r>
              <a:rPr kumimoji="1" lang="zh-CN" altLang="en-US" dirty="0">
                <a:sym typeface="Wingdings" pitchFamily="2" charset="2"/>
              </a:rPr>
              <a:t> </a:t>
            </a:r>
            <a:r>
              <a:rPr kumimoji="1" lang="en-US" altLang="zh-CN" dirty="0">
                <a:sym typeface="Wingdings" pitchFamily="2" charset="2"/>
              </a:rPr>
              <a:t>0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438D4B-945F-5044-A394-9E5DFA38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05" y="1276538"/>
            <a:ext cx="4709061" cy="186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8B26D-76E7-0A4D-BB18-1E080BB6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单词的分布式表达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D6436-6E1D-794A-9D29-E76DA2623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将单词（本文）表达为</a:t>
            </a:r>
            <a:r>
              <a:rPr kumimoji="1" lang="zh-CN" altLang="en-US" dirty="0">
                <a:solidFill>
                  <a:srgbClr val="C00000"/>
                </a:solidFill>
              </a:rPr>
              <a:t>低维、稠密</a:t>
            </a:r>
            <a:r>
              <a:rPr kumimoji="1" lang="zh-CN" altLang="en-US" dirty="0"/>
              <a:t>的向量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每一个维度不再具有显式的意义</a:t>
            </a:r>
            <a:endParaRPr kumimoji="1" lang="en-US" altLang="zh-CN" dirty="0"/>
          </a:p>
          <a:p>
            <a:r>
              <a:rPr kumimoji="1" lang="zh-CN" altLang="en-US" dirty="0"/>
              <a:t>单词表达为隐空间</a:t>
            </a:r>
            <a:r>
              <a:rPr kumimoji="1" lang="en-US" altLang="zh-CN" dirty="0"/>
              <a:t>(latent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space)</a:t>
            </a:r>
            <a:r>
              <a:rPr kumimoji="1" lang="zh-CN" altLang="en-US" dirty="0"/>
              <a:t>中的一个向量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525F14-CA51-A745-9046-09F69FAC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61" y="1416518"/>
            <a:ext cx="6050478" cy="204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8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7128F-3FBD-5044-9D13-06F5297C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分布式表达的优势（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B4C7AF-70EA-E64C-A8A8-50413F87A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降低表达维度，更少的参数和存储空间</a:t>
            </a:r>
            <a:endParaRPr kumimoji="1" lang="en-US" altLang="zh-CN" dirty="0"/>
          </a:p>
          <a:p>
            <a:r>
              <a:rPr kumimoji="1" lang="zh-CN" altLang="en-US" dirty="0"/>
              <a:t>能够承载语义信息和运算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80F8B5-F4A7-8E48-B375-53C2D400E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82" y="1713385"/>
            <a:ext cx="5859236" cy="289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3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6EBD2-E4E7-5F4A-8DD3-64811847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基于分布式表达的相似单词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4F6845-0337-1446-B436-16D44AE9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306"/>
            <a:ext cx="9144000" cy="318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6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7128F-3FBD-5044-9D13-06F5297C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分布式表达的优势（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B4C7AF-70EA-E64C-A8A8-50413F87AD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zh-CN" altLang="en-US" dirty="0"/>
                  <a:t>具有</a:t>
                </a:r>
                <a:r>
                  <a:rPr kumimoji="1" lang="zh-CN" altLang="en-US" dirty="0">
                    <a:sym typeface="Wingdings" pitchFamily="2" charset="2"/>
                  </a:rPr>
                  <a:t>“语义可泛化性”</a:t>
                </a:r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r>
                  <a:rPr kumimoji="1" lang="zh-CN" altLang="en-US" dirty="0">
                    <a:sym typeface="Wingdings" pitchFamily="2" charset="2"/>
                  </a:rPr>
                  <a:t>单词“</a:t>
                </a:r>
                <a:r>
                  <a:rPr kumimoji="1" lang="en-US" altLang="zh-CN" dirty="0">
                    <a:sym typeface="Wingdings" pitchFamily="2" charset="2"/>
                  </a:rPr>
                  <a:t>three”</a:t>
                </a:r>
                <a:r>
                  <a:rPr kumimoji="1" lang="zh-CN" altLang="en-US" dirty="0">
                    <a:sym typeface="Wingdings" pitchFamily="2" charset="2"/>
                  </a:rPr>
                  <a:t>和“</a:t>
                </a:r>
                <a:r>
                  <a:rPr kumimoji="1" lang="en-US" altLang="zh-CN" dirty="0">
                    <a:sym typeface="Wingdings" pitchFamily="2" charset="2"/>
                  </a:rPr>
                  <a:t>four”</a:t>
                </a:r>
                <a:r>
                  <a:rPr kumimoji="1" lang="zh-CN" altLang="en-US" dirty="0">
                    <a:sym typeface="Wingdings" pitchFamily="2" charset="2"/>
                  </a:rPr>
                  <a:t>在隐空间的表达相似</a:t>
                </a:r>
                <a:endParaRPr kumimoji="1" lang="en-US" altLang="zh-CN" dirty="0">
                  <a:sym typeface="Wingdings" pitchFamily="2" charset="2"/>
                </a:endParaRPr>
              </a:p>
              <a:p>
                <a:r>
                  <a:rPr kumimoji="1" lang="zh-CN" altLang="en-US" dirty="0">
                    <a:sym typeface="Wingdings" pitchFamily="2" charset="2"/>
                  </a:rPr>
                  <a:t>单词“</a:t>
                </a:r>
                <a:r>
                  <a:rPr kumimoji="1" lang="en-US" altLang="zh-CN" dirty="0">
                    <a:sym typeface="Wingdings" pitchFamily="2" charset="2"/>
                  </a:rPr>
                  <a:t>teams</a:t>
                </a:r>
                <a:r>
                  <a:rPr kumimoji="1" lang="zh-CN" altLang="en-US" dirty="0">
                    <a:sym typeface="Wingdings" pitchFamily="2" charset="2"/>
                  </a:rPr>
                  <a:t>”和“</a:t>
                </a:r>
                <a:r>
                  <a:rPr kumimoji="1" lang="en-US" altLang="zh-CN" dirty="0">
                    <a:sym typeface="Wingdings" pitchFamily="2" charset="2"/>
                  </a:rPr>
                  <a:t>groups</a:t>
                </a:r>
                <a:r>
                  <a:rPr kumimoji="1" lang="zh-CN" altLang="en-US" dirty="0">
                    <a:sym typeface="Wingdings" pitchFamily="2" charset="2"/>
                  </a:rPr>
                  <a:t>”在隐空间内的表达相似</a:t>
                </a:r>
                <a:endParaRPr kumimoji="1" lang="en-US" altLang="zh-CN" dirty="0">
                  <a:sym typeface="Wingdings" pitchFamily="2" charset="2"/>
                </a:endParaRPr>
              </a:p>
              <a:p>
                <a:r>
                  <a:rPr kumimoji="1" lang="en-US" altLang="zh-CN" dirty="0">
                    <a:sym typeface="Wingdings" pitchFamily="2" charset="2"/>
                  </a:rPr>
                  <a:t></a:t>
                </a:r>
                <a:r>
                  <a:rPr kumimoji="1" lang="zh-CN" altLang="en-US" dirty="0">
                    <a:sym typeface="Wingdings" pitchFamily="2" charset="2"/>
                  </a:rPr>
                  <a:t> 训练数据中未出现的</a:t>
                </a:r>
                <a:r>
                  <a:rPr kumimoji="1" lang="en-US" altLang="zh-CN" dirty="0">
                    <a:sym typeface="Wingdings" pitchFamily="2" charset="2"/>
                  </a:rPr>
                  <a:t>bigram</a:t>
                </a:r>
                <a:r>
                  <a:rPr kumimoji="1" lang="zh-CN" altLang="en-US" dirty="0">
                    <a:sym typeface="Wingdings" pitchFamily="2" charset="2"/>
                  </a:rPr>
                  <a:t>：</a:t>
                </a:r>
                <a:r>
                  <a:rPr kumimoji="1" lang="en-US" altLang="zh-CN" dirty="0">
                    <a:solidFill>
                      <a:srgbClr val="C00000"/>
                    </a:solidFill>
                    <a:sym typeface="Wingdings" pitchFamily="2" charset="2"/>
                  </a:rPr>
                  <a:t>three</a:t>
                </a:r>
                <a:r>
                  <a:rPr kumimoji="1" lang="zh-CN" altLang="en-US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  <a:r>
                  <a:rPr kumimoji="1" lang="en-US" altLang="zh-CN" dirty="0">
                    <a:solidFill>
                      <a:srgbClr val="C00000"/>
                    </a:solidFill>
                    <a:sym typeface="Wingdings" pitchFamily="2" charset="2"/>
                  </a:rPr>
                  <a:t>groups</a:t>
                </a:r>
              </a:p>
              <a:p>
                <a:endParaRPr kumimoji="1" lang="en-US" altLang="zh-CN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groups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|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four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)&gt;0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,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b="0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teams</m:t>
                      </m:r>
                      <m:d>
                        <m:dPr>
                          <m:begChr m:val="|"/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three</m:t>
                          </m:r>
                        </m:e>
                      </m:d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&gt;0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</m:t>
                      </m:r>
                      <m:r>
                        <a:rPr kumimoji="1" lang="zh-CN" altLang="en-US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𝑃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groups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|</m:t>
                      </m:r>
                      <m:r>
                        <a:rPr kumimoji="1" lang="zh-CN" altLang="en-US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i="0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three</m:t>
                      </m:r>
                      <m:r>
                        <a:rPr kumimoji="1" lang="en-US" altLang="zh-CN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)&gt;0</m:t>
                      </m:r>
                    </m:oMath>
                  </m:oMathPara>
                </a14:m>
                <a:endParaRPr kumimoji="1" lang="en-US" altLang="zh-CN" dirty="0">
                  <a:sym typeface="Wingdings" pitchFamily="2" charset="2"/>
                </a:endParaRP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B4C7AF-70EA-E64C-A8A8-50413F87A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6F3EBB1-6D1A-C04C-9817-B144668C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22" y="1199227"/>
            <a:ext cx="7528956" cy="189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0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22444-E3C4-EB42-9FBE-550B9996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如何得到（学习）分布式表达？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344AC2-F69F-654D-BE65-D3F94E29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6537366" cy="3937000"/>
          </a:xfrm>
        </p:spPr>
        <p:txBody>
          <a:bodyPr>
            <a:normAutofit/>
          </a:bodyPr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C26985-B954-47AA-2141-E826A399C082}"/>
              </a:ext>
            </a:extLst>
          </p:cNvPr>
          <p:cNvGrpSpPr/>
          <p:nvPr/>
        </p:nvGrpSpPr>
        <p:grpSpPr>
          <a:xfrm>
            <a:off x="321701" y="1457717"/>
            <a:ext cx="8500598" cy="3218292"/>
            <a:chOff x="237506" y="985405"/>
            <a:chExt cx="8500598" cy="321829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5F8D25F-B4D8-CE4E-A6D9-E4CE34436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506" y="985405"/>
              <a:ext cx="6567055" cy="3218292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D380C88-83F5-3145-B685-886838884200}"/>
                </a:ext>
              </a:extLst>
            </p:cNvPr>
            <p:cNvSpPr txBox="1"/>
            <p:nvPr/>
          </p:nvSpPr>
          <p:spPr>
            <a:xfrm>
              <a:off x="6804561" y="1948220"/>
              <a:ext cx="193354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C00000"/>
                  </a:solidFill>
                </a:rPr>
                <a:t>A</a:t>
              </a:r>
              <a:r>
                <a:rPr kumimoji="1" lang="zh-CN" altLang="en-US" dirty="0">
                  <a:solidFill>
                    <a:srgbClr val="C00000"/>
                  </a:solidFill>
                </a:rPr>
                <a:t>：一种红葡萄酒</a:t>
              </a:r>
              <a:endParaRPr kumimoji="1" lang="en-US" altLang="zh-CN" dirty="0">
                <a:solidFill>
                  <a:srgbClr val="C00000"/>
                </a:solidFill>
              </a:endParaRPr>
            </a:p>
            <a:p>
              <a:r>
                <a:rPr kumimoji="1" lang="en-US" altLang="zh-CN" dirty="0">
                  <a:solidFill>
                    <a:srgbClr val="C00000"/>
                  </a:solidFill>
                </a:rPr>
                <a:t>B</a:t>
              </a:r>
              <a:r>
                <a:rPr kumimoji="1" lang="zh-CN" altLang="en-US" dirty="0">
                  <a:solidFill>
                    <a:srgbClr val="C00000"/>
                  </a:solidFill>
                </a:rPr>
                <a:t>：一个地名</a:t>
              </a:r>
              <a:endParaRPr kumimoji="1" lang="en-US" altLang="zh-CN" dirty="0">
                <a:solidFill>
                  <a:srgbClr val="C00000"/>
                </a:solidFill>
              </a:endParaRPr>
            </a:p>
            <a:p>
              <a:r>
                <a:rPr kumimoji="1" lang="en-US" altLang="zh-CN" dirty="0">
                  <a:solidFill>
                    <a:srgbClr val="C00000"/>
                  </a:solidFill>
                </a:rPr>
                <a:t>C</a:t>
              </a:r>
              <a:r>
                <a:rPr kumimoji="1" lang="zh-CN" altLang="en-US" dirty="0">
                  <a:solidFill>
                    <a:srgbClr val="C00000"/>
                  </a:solidFill>
                </a:rPr>
                <a:t>：一个人名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54767" y="1425000"/>
              <a:ext cx="64312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000000"/>
                  </a:solidFill>
                  <a:latin typeface="Helvetica Neue" charset="0"/>
                </a:rPr>
                <a:t>🔔</a:t>
              </a:r>
              <a:r>
                <a:rPr lang="zh-CN" altLang="en-US" sz="2800" dirty="0">
                  <a:solidFill>
                    <a:srgbClr val="000000"/>
                  </a:solidFill>
                  <a:latin typeface="Helvetica Neue" charset="0"/>
                </a:rPr>
                <a:t> </a:t>
              </a:r>
              <a:endParaRPr lang="en-US" sz="2800" dirty="0"/>
            </a:p>
          </p:txBody>
        </p:sp>
      </p:grp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F762B99-83E6-D5DA-1C5A-7318A0820A22}"/>
              </a:ext>
            </a:extLst>
          </p:cNvPr>
          <p:cNvSpPr txBox="1">
            <a:spLocks/>
          </p:cNvSpPr>
          <p:nvPr/>
        </p:nvSpPr>
        <p:spPr>
          <a:xfrm>
            <a:off x="457200" y="819150"/>
            <a:ext cx="8229600" cy="4246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先来猜一下单词“</a:t>
            </a:r>
            <a:r>
              <a:rPr kumimoji="1" lang="en-US" altLang="zh-CN" dirty="0" err="1"/>
              <a:t>bardiwac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大致的含义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73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019BF-511B-774F-B585-68917F27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为什么可以猜到？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411639-0812-E344-A4DE-5B8165A83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Bardiwac</a:t>
            </a:r>
            <a:r>
              <a:rPr kumimoji="1" lang="zh-CN" altLang="en-US" dirty="0"/>
              <a:t>在多个文档中的上下文是关键！！！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CFB90F-05E4-6A4B-B206-2DBFC146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59" y="1277150"/>
            <a:ext cx="6421482" cy="37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3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864E5-16B0-2B46-8209-7CE99C34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单词的语义隐藏在它们的共现数据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4C526C-1B03-8E40-9C15-128B35BA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58" y="812556"/>
            <a:ext cx="5763083" cy="42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9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A463E-C954-C44E-AD10-AF480EDE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语言学中的分布式假设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DAD2A13-07B4-8A78-ADAB-5FACC2DD3C0D}"/>
              </a:ext>
            </a:extLst>
          </p:cNvPr>
          <p:cNvSpPr txBox="1"/>
          <p:nvPr/>
        </p:nvSpPr>
        <p:spPr>
          <a:xfrm>
            <a:off x="777766" y="1049376"/>
            <a:ext cx="7635765" cy="2350077"/>
          </a:xfrm>
          <a:prstGeom prst="rect">
            <a:avLst/>
          </a:prstGeom>
        </p:spPr>
        <p:txBody>
          <a:bodyPr vert="horz" wrap="square" lIns="0" tIns="18489" rIns="0" bIns="0" rtlCol="0">
            <a:spAutoFit/>
          </a:bodyPr>
          <a:lstStyle/>
          <a:p>
            <a:pPr marL="250045" marR="1023292" indent="-242060" defTabSz="605150">
              <a:lnSpc>
                <a:spcPts val="2051"/>
              </a:lnSpc>
              <a:spcBef>
                <a:spcPts val="145"/>
              </a:spcBef>
              <a:buClr>
                <a:srgbClr val="CC0000"/>
              </a:buClr>
              <a:buFont typeface="Arial"/>
              <a:buChar char="•"/>
              <a:tabLst>
                <a:tab pos="250045" algn="l"/>
                <a:tab pos="250465" algn="l"/>
              </a:tabLst>
              <a:defRPr/>
            </a:pPr>
            <a:r>
              <a:rPr sz="1600" u="sng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Distributional semantics</a:t>
            </a:r>
            <a:r>
              <a:rPr sz="1600" dirty="0">
                <a:solidFill>
                  <a:prstClr val="black"/>
                </a:solidFill>
                <a:latin typeface="Trebuchet MS"/>
                <a:cs typeface="Trebuchet MS"/>
              </a:rPr>
              <a:t>: </a:t>
            </a:r>
            <a:r>
              <a:rPr sz="1600" b="1" dirty="0">
                <a:solidFill>
                  <a:prstClr val="black"/>
                </a:solidFill>
                <a:latin typeface="Trebuchet MS"/>
                <a:cs typeface="Trebuchet MS"/>
              </a:rPr>
              <a:t>A word’s meaning is given  by the words that frequently appear close-by</a:t>
            </a:r>
            <a:endParaRPr sz="1600" dirty="0">
              <a:solidFill>
                <a:prstClr val="black"/>
              </a:solidFill>
              <a:latin typeface="Trebuchet MS"/>
              <a:cs typeface="Trebuchet MS"/>
            </a:endParaRPr>
          </a:p>
          <a:p>
            <a:pPr marL="573212" lvl="1" indent="-242480" defTabSz="605150">
              <a:spcBef>
                <a:spcPts val="1039"/>
              </a:spcBef>
              <a:buClr>
                <a:srgbClr val="3A87FF"/>
              </a:buClr>
              <a:buFont typeface="Arial"/>
              <a:buChar char="•"/>
              <a:tabLst>
                <a:tab pos="572792" algn="l"/>
                <a:tab pos="573212" algn="l"/>
              </a:tabLst>
              <a:defRPr/>
            </a:pPr>
            <a:r>
              <a:rPr sz="1400" i="1" dirty="0">
                <a:solidFill>
                  <a:srgbClr val="0070C0"/>
                </a:solidFill>
                <a:latin typeface="Trebuchet MS"/>
                <a:cs typeface="Trebuchet MS"/>
              </a:rPr>
              <a:t>“You shall know a word by the company it keeps” </a:t>
            </a:r>
            <a:r>
              <a:rPr sz="1400" dirty="0">
                <a:solidFill>
                  <a:prstClr val="black"/>
                </a:solidFill>
                <a:latin typeface="Trebuchet MS"/>
                <a:cs typeface="Trebuchet MS"/>
              </a:rPr>
              <a:t>(J. R. Firth 1957)</a:t>
            </a:r>
          </a:p>
          <a:p>
            <a:pPr marL="573212" lvl="1" indent="-242480" defTabSz="605150">
              <a:spcBef>
                <a:spcPts val="1049"/>
              </a:spcBef>
              <a:buClr>
                <a:srgbClr val="3A87FF"/>
              </a:buClr>
              <a:buFont typeface="Arial"/>
              <a:buChar char="•"/>
              <a:tabLst>
                <a:tab pos="572792" algn="l"/>
                <a:tab pos="573212" algn="l"/>
              </a:tabLst>
              <a:defRPr/>
            </a:pPr>
            <a:r>
              <a:rPr sz="1400" dirty="0">
                <a:solidFill>
                  <a:prstClr val="black"/>
                </a:solidFill>
                <a:latin typeface="Trebuchet MS"/>
                <a:cs typeface="Trebuchet MS"/>
              </a:rPr>
              <a:t>One of the most successful ideas of modern statistical NLP!</a:t>
            </a:r>
          </a:p>
          <a:p>
            <a:pPr marL="250045" marR="3362" indent="-242060" defTabSz="605150">
              <a:lnSpc>
                <a:spcPts val="2051"/>
              </a:lnSpc>
              <a:spcBef>
                <a:spcPts val="1320"/>
              </a:spcBef>
              <a:buClr>
                <a:srgbClr val="CC0000"/>
              </a:buClr>
              <a:buFont typeface="Arial"/>
              <a:buChar char="•"/>
              <a:tabLst>
                <a:tab pos="250045" algn="l"/>
                <a:tab pos="250465" algn="l"/>
              </a:tabLst>
              <a:defRPr/>
            </a:pPr>
            <a:r>
              <a:rPr sz="1600" dirty="0">
                <a:solidFill>
                  <a:prstClr val="black"/>
                </a:solidFill>
                <a:latin typeface="Trebuchet MS"/>
                <a:cs typeface="Trebuchet MS"/>
              </a:rPr>
              <a:t>When a word </a:t>
            </a:r>
            <a:r>
              <a:rPr sz="1600" i="1" dirty="0">
                <a:solidFill>
                  <a:prstClr val="black"/>
                </a:solidFill>
                <a:latin typeface="Trebuchet MS"/>
                <a:cs typeface="Trebuchet MS"/>
              </a:rPr>
              <a:t>w </a:t>
            </a:r>
            <a:r>
              <a:rPr sz="1600" dirty="0">
                <a:solidFill>
                  <a:prstClr val="black"/>
                </a:solidFill>
                <a:latin typeface="Trebuchet MS"/>
                <a:cs typeface="Trebuchet MS"/>
              </a:rPr>
              <a:t>appears in a text, its </a:t>
            </a:r>
            <a:r>
              <a:rPr sz="1600" b="1" dirty="0">
                <a:solidFill>
                  <a:srgbClr val="BB57BE"/>
                </a:solidFill>
                <a:latin typeface="Trebuchet MS"/>
                <a:cs typeface="Trebuchet MS"/>
              </a:rPr>
              <a:t>context </a:t>
            </a:r>
            <a:r>
              <a:rPr sz="1600" dirty="0">
                <a:solidFill>
                  <a:prstClr val="black"/>
                </a:solidFill>
                <a:latin typeface="Trebuchet MS"/>
                <a:cs typeface="Trebuchet MS"/>
              </a:rPr>
              <a:t>is the set of words  that appear nearby (within a fixed-size window).</a:t>
            </a:r>
          </a:p>
          <a:p>
            <a:pPr marL="250465" indent="-242060" defTabSz="605150">
              <a:spcBef>
                <a:spcPts val="1184"/>
              </a:spcBef>
              <a:buClr>
                <a:srgbClr val="CC0000"/>
              </a:buClr>
              <a:buFont typeface="Arial"/>
              <a:buChar char="•"/>
              <a:tabLst>
                <a:tab pos="250045" algn="l"/>
                <a:tab pos="250465" algn="l"/>
              </a:tabLst>
              <a:defRPr/>
            </a:pPr>
            <a:r>
              <a:rPr sz="1600" dirty="0">
                <a:solidFill>
                  <a:prstClr val="black"/>
                </a:solidFill>
                <a:latin typeface="Trebuchet MS"/>
                <a:cs typeface="Trebuchet MS"/>
              </a:rPr>
              <a:t>Use the many contexts of </a:t>
            </a:r>
            <a:r>
              <a:rPr sz="1600" i="1" dirty="0">
                <a:solidFill>
                  <a:prstClr val="black"/>
                </a:solidFill>
                <a:latin typeface="Trebuchet MS"/>
                <a:cs typeface="Trebuchet MS"/>
              </a:rPr>
              <a:t>w </a:t>
            </a:r>
            <a:r>
              <a:rPr sz="1600" dirty="0">
                <a:solidFill>
                  <a:prstClr val="black"/>
                </a:solidFill>
                <a:latin typeface="Trebuchet MS"/>
                <a:cs typeface="Trebuchet MS"/>
              </a:rPr>
              <a:t>to build up a representation of </a:t>
            </a:r>
            <a:r>
              <a:rPr sz="1600" i="1" dirty="0">
                <a:solidFill>
                  <a:prstClr val="black"/>
                </a:solidFill>
                <a:latin typeface="Trebuchet MS"/>
                <a:cs typeface="Trebuchet MS"/>
              </a:rPr>
              <a:t>w</a:t>
            </a:r>
            <a:endParaRPr sz="1600" dirty="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F7C526C-A790-5EC9-0FFE-DEAF4ECF59AF}"/>
              </a:ext>
            </a:extLst>
          </p:cNvPr>
          <p:cNvSpPr txBox="1"/>
          <p:nvPr/>
        </p:nvSpPr>
        <p:spPr>
          <a:xfrm>
            <a:off x="1738941" y="3638405"/>
            <a:ext cx="2490647" cy="620926"/>
          </a:xfrm>
          <a:prstGeom prst="rect">
            <a:avLst/>
          </a:prstGeom>
          <a:solidFill>
            <a:srgbClr val="F1DDF2"/>
          </a:solidFill>
        </p:spPr>
        <p:txBody>
          <a:bodyPr vert="horz" wrap="square" lIns="0" tIns="18910" rIns="0" bIns="0" rtlCol="0">
            <a:spAutoFit/>
          </a:bodyPr>
          <a:lstStyle/>
          <a:p>
            <a:pPr marR="27316" algn="r" defTabSz="605150">
              <a:spcBef>
                <a:spcPts val="149"/>
              </a:spcBef>
              <a:defRPr/>
            </a:pPr>
            <a:r>
              <a:rPr sz="1026" i="1" spc="-26" dirty="0">
                <a:solidFill>
                  <a:prstClr val="black"/>
                </a:solidFill>
                <a:latin typeface="Arial"/>
                <a:cs typeface="Arial"/>
              </a:rPr>
              <a:t>…government </a:t>
            </a: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debt problems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turning</a:t>
            </a:r>
            <a:r>
              <a:rPr sz="1026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into</a:t>
            </a:r>
            <a:endParaRPr sz="1026">
              <a:solidFill>
                <a:prstClr val="black"/>
              </a:solidFill>
              <a:latin typeface="Arial"/>
              <a:cs typeface="Arial"/>
            </a:endParaRPr>
          </a:p>
          <a:p>
            <a:pPr marR="27736" algn="r" defTabSz="605150">
              <a:spcBef>
                <a:spcPts val="467"/>
              </a:spcBef>
              <a:defRPr/>
            </a:pP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…saying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that </a:t>
            </a: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Europe </a:t>
            </a:r>
            <a:r>
              <a:rPr sz="1026" i="1" spc="-26" dirty="0">
                <a:solidFill>
                  <a:prstClr val="black"/>
                </a:solidFill>
                <a:latin typeface="Arial"/>
                <a:cs typeface="Arial"/>
              </a:rPr>
              <a:t>needs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 unified</a:t>
            </a:r>
            <a:endParaRPr sz="1026">
              <a:solidFill>
                <a:prstClr val="black"/>
              </a:solidFill>
              <a:latin typeface="Arial"/>
              <a:cs typeface="Arial"/>
            </a:endParaRPr>
          </a:p>
          <a:p>
            <a:pPr marR="28157" algn="r" defTabSz="605150">
              <a:spcBef>
                <a:spcPts val="470"/>
              </a:spcBef>
              <a:defRPr/>
            </a:pP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…India has </a:t>
            </a:r>
            <a:r>
              <a:rPr sz="1026" i="1" spc="-17" dirty="0">
                <a:solidFill>
                  <a:prstClr val="black"/>
                </a:solidFill>
                <a:latin typeface="Arial"/>
                <a:cs typeface="Arial"/>
              </a:rPr>
              <a:t>just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given</a:t>
            </a:r>
            <a:r>
              <a:rPr sz="1026" i="1" spc="-5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26" i="1" spc="-14" dirty="0">
                <a:solidFill>
                  <a:prstClr val="black"/>
                </a:solidFill>
                <a:latin typeface="Arial"/>
                <a:cs typeface="Arial"/>
              </a:rPr>
              <a:t>its</a:t>
            </a:r>
            <a:endParaRPr sz="102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A4B6674-4F74-2B14-7079-E144BD9C34F0}"/>
              </a:ext>
            </a:extLst>
          </p:cNvPr>
          <p:cNvSpPr txBox="1"/>
          <p:nvPr/>
        </p:nvSpPr>
        <p:spPr>
          <a:xfrm>
            <a:off x="4229218" y="3638405"/>
            <a:ext cx="512249" cy="610597"/>
          </a:xfrm>
          <a:prstGeom prst="rect">
            <a:avLst/>
          </a:prstGeom>
          <a:solidFill>
            <a:srgbClr val="BDD7FF"/>
          </a:solidFill>
        </p:spPr>
        <p:txBody>
          <a:bodyPr vert="horz" wrap="square" lIns="0" tIns="16809" rIns="0" bIns="0" rtlCol="0">
            <a:spAutoFit/>
          </a:bodyPr>
          <a:lstStyle/>
          <a:p>
            <a:pPr marL="37402" defTabSz="605150">
              <a:spcBef>
                <a:spcPts val="132"/>
              </a:spcBef>
              <a:defRPr/>
            </a:pPr>
            <a:r>
              <a:rPr sz="1026" b="1" i="1" spc="-73" dirty="0">
                <a:solidFill>
                  <a:prstClr val="black"/>
                </a:solidFill>
                <a:latin typeface="Arial"/>
                <a:cs typeface="Arial"/>
              </a:rPr>
              <a:t>banking</a:t>
            </a:r>
            <a:endParaRPr sz="1026" dirty="0">
              <a:solidFill>
                <a:prstClr val="black"/>
              </a:solidFill>
              <a:latin typeface="Arial"/>
              <a:cs typeface="Arial"/>
            </a:endParaRPr>
          </a:p>
          <a:p>
            <a:pPr marL="37402" marR="31098" defTabSz="605150">
              <a:lnSpc>
                <a:spcPct val="138100"/>
              </a:lnSpc>
              <a:defRPr/>
            </a:pPr>
            <a:r>
              <a:rPr sz="1026" b="1" i="1" spc="-70" dirty="0">
                <a:solidFill>
                  <a:prstClr val="black"/>
                </a:solidFill>
                <a:latin typeface="Arial"/>
                <a:cs typeface="Arial"/>
              </a:rPr>
              <a:t>ban</a:t>
            </a:r>
            <a:r>
              <a:rPr sz="1026" b="1" i="1" spc="-63"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r>
              <a:rPr sz="1026" b="1" i="1" spc="-70" dirty="0">
                <a:solidFill>
                  <a:prstClr val="black"/>
                </a:solidFill>
                <a:latin typeface="Arial"/>
                <a:cs typeface="Arial"/>
              </a:rPr>
              <a:t>ing </a:t>
            </a:r>
            <a:r>
              <a:rPr sz="1026" b="1" i="1" spc="-43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26" b="1" i="1" spc="-70" dirty="0">
                <a:solidFill>
                  <a:prstClr val="black"/>
                </a:solidFill>
                <a:latin typeface="Arial"/>
                <a:cs typeface="Arial"/>
              </a:rPr>
              <a:t>ban</a:t>
            </a:r>
            <a:r>
              <a:rPr sz="1026" b="1" i="1" spc="-63" dirty="0">
                <a:solidFill>
                  <a:prstClr val="black"/>
                </a:solidFill>
                <a:latin typeface="Arial"/>
                <a:cs typeface="Arial"/>
              </a:rPr>
              <a:t>k</a:t>
            </a:r>
            <a:r>
              <a:rPr sz="1026" b="1" i="1" spc="-7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026" b="1" i="1" spc="-83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endParaRPr sz="1026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A657CBF1-6828-C6FF-A1F1-A7CC2D157CFA}"/>
              </a:ext>
            </a:extLst>
          </p:cNvPr>
          <p:cNvSpPr txBox="1"/>
          <p:nvPr/>
        </p:nvSpPr>
        <p:spPr>
          <a:xfrm>
            <a:off x="4741239" y="3638405"/>
            <a:ext cx="2665039" cy="612719"/>
          </a:xfrm>
          <a:prstGeom prst="rect">
            <a:avLst/>
          </a:prstGeom>
          <a:solidFill>
            <a:srgbClr val="F1DDF2"/>
          </a:solidFill>
        </p:spPr>
        <p:txBody>
          <a:bodyPr vert="horz" wrap="square" lIns="0" tIns="18910" rIns="0" bIns="0" rtlCol="0">
            <a:spAutoFit/>
          </a:bodyPr>
          <a:lstStyle/>
          <a:p>
            <a:pPr marL="31939" defTabSz="605150">
              <a:spcBef>
                <a:spcPts val="149"/>
              </a:spcBef>
              <a:defRPr/>
            </a:pP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crises </a:t>
            </a: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as </a:t>
            </a:r>
            <a:r>
              <a:rPr sz="1026" i="1" spc="-26" dirty="0">
                <a:solidFill>
                  <a:prstClr val="black"/>
                </a:solidFill>
                <a:latin typeface="Arial"/>
                <a:cs typeface="Arial"/>
              </a:rPr>
              <a:t>happened </a:t>
            </a:r>
            <a:r>
              <a:rPr sz="1026" i="1" spc="-17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1026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26" i="1" spc="-26" dirty="0">
                <a:solidFill>
                  <a:prstClr val="black"/>
                </a:solidFill>
                <a:latin typeface="Arial"/>
                <a:cs typeface="Arial"/>
              </a:rPr>
              <a:t>2009…</a:t>
            </a:r>
            <a:endParaRPr sz="1026">
              <a:solidFill>
                <a:prstClr val="black"/>
              </a:solidFill>
              <a:latin typeface="Arial"/>
              <a:cs typeface="Arial"/>
            </a:endParaRPr>
          </a:p>
          <a:p>
            <a:pPr marL="31939" marR="430329" defTabSz="605150">
              <a:lnSpc>
                <a:spcPct val="138100"/>
              </a:lnSpc>
              <a:defRPr/>
            </a:pP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regulation </a:t>
            </a:r>
            <a:r>
              <a:rPr sz="1026" i="1" spc="-17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replace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sz="1026" i="1" spc="-26" dirty="0">
                <a:solidFill>
                  <a:prstClr val="black"/>
                </a:solidFill>
                <a:latin typeface="Arial"/>
                <a:cs typeface="Arial"/>
              </a:rPr>
              <a:t>hodgepodge…  </a:t>
            </a:r>
            <a:r>
              <a:rPr sz="1026" i="1" spc="-23" dirty="0">
                <a:solidFill>
                  <a:prstClr val="black"/>
                </a:solidFill>
                <a:latin typeface="Arial"/>
                <a:cs typeface="Arial"/>
              </a:rPr>
              <a:t>system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a shot </a:t>
            </a:r>
            <a:r>
              <a:rPr sz="1026" i="1" spc="-17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026" i="1" spc="-20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1026" i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026" i="1" spc="-30" dirty="0">
                <a:solidFill>
                  <a:prstClr val="black"/>
                </a:solidFill>
                <a:latin typeface="Arial"/>
                <a:cs typeface="Arial"/>
              </a:rPr>
              <a:t>arm…</a:t>
            </a:r>
            <a:endParaRPr sz="102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60B0777F-934D-6100-7017-AB63A52B3644}"/>
              </a:ext>
            </a:extLst>
          </p:cNvPr>
          <p:cNvSpPr txBox="1"/>
          <p:nvPr/>
        </p:nvSpPr>
        <p:spPr>
          <a:xfrm>
            <a:off x="3130399" y="4605787"/>
            <a:ext cx="2883554" cy="202066"/>
          </a:xfrm>
          <a:prstGeom prst="rect">
            <a:avLst/>
          </a:prstGeom>
        </p:spPr>
        <p:txBody>
          <a:bodyPr vert="horz" wrap="square" lIns="0" tIns="8405" rIns="0" bIns="0" rtlCol="0">
            <a:spAutoFit/>
          </a:bodyPr>
          <a:lstStyle/>
          <a:p>
            <a:pPr marL="8405" defTabSz="605150">
              <a:spcBef>
                <a:spcPts val="66"/>
              </a:spcBef>
              <a:defRPr/>
            </a:pPr>
            <a:r>
              <a:rPr sz="1258" spc="-53" dirty="0">
                <a:solidFill>
                  <a:prstClr val="black"/>
                </a:solidFill>
                <a:latin typeface="Trebuchet MS"/>
                <a:cs typeface="Trebuchet MS"/>
              </a:rPr>
              <a:t>These </a:t>
            </a:r>
            <a:r>
              <a:rPr sz="1258" spc="-66" dirty="0">
                <a:solidFill>
                  <a:srgbClr val="BB57BE"/>
                </a:solidFill>
                <a:latin typeface="Trebuchet MS"/>
                <a:cs typeface="Trebuchet MS"/>
              </a:rPr>
              <a:t>context </a:t>
            </a:r>
            <a:r>
              <a:rPr sz="1258" spc="-33" dirty="0">
                <a:solidFill>
                  <a:srgbClr val="BB57BE"/>
                </a:solidFill>
                <a:latin typeface="Trebuchet MS"/>
                <a:cs typeface="Trebuchet MS"/>
              </a:rPr>
              <a:t>words </a:t>
            </a:r>
            <a:r>
              <a:rPr sz="1258" spc="-66" dirty="0">
                <a:solidFill>
                  <a:prstClr val="black"/>
                </a:solidFill>
                <a:latin typeface="Trebuchet MS"/>
                <a:cs typeface="Trebuchet MS"/>
              </a:rPr>
              <a:t>will </a:t>
            </a:r>
            <a:r>
              <a:rPr sz="1258" spc="-53" dirty="0">
                <a:solidFill>
                  <a:prstClr val="black"/>
                </a:solidFill>
                <a:latin typeface="Trebuchet MS"/>
                <a:cs typeface="Trebuchet MS"/>
              </a:rPr>
              <a:t>represent</a:t>
            </a:r>
            <a:r>
              <a:rPr sz="1258" spc="-215" dirty="0">
                <a:solidFill>
                  <a:prstClr val="black"/>
                </a:solidFill>
                <a:latin typeface="Trebuchet MS"/>
                <a:cs typeface="Trebuchet MS"/>
              </a:rPr>
              <a:t> </a:t>
            </a:r>
            <a:r>
              <a:rPr sz="1258" b="1" i="1" spc="-59" dirty="0">
                <a:solidFill>
                  <a:prstClr val="black"/>
                </a:solidFill>
                <a:latin typeface="Trebuchet MS"/>
                <a:cs typeface="Trebuchet MS"/>
              </a:rPr>
              <a:t>banking</a:t>
            </a:r>
            <a:endParaRPr sz="1258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62FE688A-9E05-57D2-8341-79BF05CF58FE}"/>
              </a:ext>
            </a:extLst>
          </p:cNvPr>
          <p:cNvSpPr/>
          <p:nvPr/>
        </p:nvSpPr>
        <p:spPr>
          <a:xfrm>
            <a:off x="3468770" y="4346257"/>
            <a:ext cx="204227" cy="253814"/>
          </a:xfrm>
          <a:custGeom>
            <a:avLst/>
            <a:gdLst/>
            <a:ahLst/>
            <a:cxnLst/>
            <a:rect l="l" t="t" r="r" b="b"/>
            <a:pathLst>
              <a:path w="308610" h="383540">
                <a:moveTo>
                  <a:pt x="91496" y="83101"/>
                </a:moveTo>
                <a:lnTo>
                  <a:pt x="59595" y="108285"/>
                </a:lnTo>
                <a:lnTo>
                  <a:pt x="276656" y="383227"/>
                </a:lnTo>
                <a:lnTo>
                  <a:pt x="308559" y="358046"/>
                </a:lnTo>
                <a:lnTo>
                  <a:pt x="91496" y="83101"/>
                </a:lnTo>
                <a:close/>
              </a:path>
              <a:path w="308610" h="383540">
                <a:moveTo>
                  <a:pt x="0" y="0"/>
                </a:moveTo>
                <a:lnTo>
                  <a:pt x="27698" y="133466"/>
                </a:lnTo>
                <a:lnTo>
                  <a:pt x="59595" y="108285"/>
                </a:lnTo>
                <a:lnTo>
                  <a:pt x="47002" y="92335"/>
                </a:lnTo>
                <a:lnTo>
                  <a:pt x="78905" y="67152"/>
                </a:lnTo>
                <a:lnTo>
                  <a:pt x="111698" y="67152"/>
                </a:lnTo>
                <a:lnTo>
                  <a:pt x="123393" y="57919"/>
                </a:lnTo>
                <a:lnTo>
                  <a:pt x="0" y="0"/>
                </a:lnTo>
                <a:close/>
              </a:path>
              <a:path w="308610" h="383540">
                <a:moveTo>
                  <a:pt x="78905" y="67152"/>
                </a:moveTo>
                <a:lnTo>
                  <a:pt x="47002" y="92335"/>
                </a:lnTo>
                <a:lnTo>
                  <a:pt x="59595" y="108285"/>
                </a:lnTo>
                <a:lnTo>
                  <a:pt x="91496" y="83101"/>
                </a:lnTo>
                <a:lnTo>
                  <a:pt x="78905" y="67152"/>
                </a:lnTo>
                <a:close/>
              </a:path>
              <a:path w="308610" h="383540">
                <a:moveTo>
                  <a:pt x="111698" y="67152"/>
                </a:moveTo>
                <a:lnTo>
                  <a:pt x="78905" y="67152"/>
                </a:lnTo>
                <a:lnTo>
                  <a:pt x="91496" y="83101"/>
                </a:lnTo>
                <a:lnTo>
                  <a:pt x="111698" y="67152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pPr defTabSz="605150">
              <a:defRPr/>
            </a:pPr>
            <a:endParaRPr sz="1191">
              <a:solidFill>
                <a:prstClr val="black"/>
              </a:solidFill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E78639A6-91C6-B18E-1DC2-1EFE99F822CB}"/>
              </a:ext>
            </a:extLst>
          </p:cNvPr>
          <p:cNvSpPr/>
          <p:nvPr/>
        </p:nvSpPr>
        <p:spPr>
          <a:xfrm>
            <a:off x="5213728" y="4346257"/>
            <a:ext cx="197924" cy="253814"/>
          </a:xfrm>
          <a:custGeom>
            <a:avLst/>
            <a:gdLst/>
            <a:ahLst/>
            <a:cxnLst/>
            <a:rect l="l" t="t" r="r" b="b"/>
            <a:pathLst>
              <a:path w="299085" h="383540">
                <a:moveTo>
                  <a:pt x="208891" y="84594"/>
                </a:moveTo>
                <a:lnTo>
                  <a:pt x="0" y="358308"/>
                </a:lnTo>
                <a:lnTo>
                  <a:pt x="32308" y="382964"/>
                </a:lnTo>
                <a:lnTo>
                  <a:pt x="241193" y="109244"/>
                </a:lnTo>
                <a:lnTo>
                  <a:pt x="208891" y="84594"/>
                </a:lnTo>
                <a:close/>
              </a:path>
              <a:path w="299085" h="383540">
                <a:moveTo>
                  <a:pt x="285974" y="68439"/>
                </a:moveTo>
                <a:lnTo>
                  <a:pt x="221221" y="68439"/>
                </a:lnTo>
                <a:lnTo>
                  <a:pt x="253517" y="93094"/>
                </a:lnTo>
                <a:lnTo>
                  <a:pt x="241193" y="109244"/>
                </a:lnTo>
                <a:lnTo>
                  <a:pt x="273507" y="133903"/>
                </a:lnTo>
                <a:lnTo>
                  <a:pt x="285974" y="68439"/>
                </a:lnTo>
                <a:close/>
              </a:path>
              <a:path w="299085" h="383540">
                <a:moveTo>
                  <a:pt x="221221" y="68439"/>
                </a:moveTo>
                <a:lnTo>
                  <a:pt x="208891" y="84594"/>
                </a:lnTo>
                <a:lnTo>
                  <a:pt x="241193" y="109244"/>
                </a:lnTo>
                <a:lnTo>
                  <a:pt x="253517" y="93094"/>
                </a:lnTo>
                <a:lnTo>
                  <a:pt x="221221" y="68439"/>
                </a:lnTo>
                <a:close/>
              </a:path>
              <a:path w="299085" h="383540">
                <a:moveTo>
                  <a:pt x="299008" y="0"/>
                </a:moveTo>
                <a:lnTo>
                  <a:pt x="176580" y="59937"/>
                </a:lnTo>
                <a:lnTo>
                  <a:pt x="208891" y="84594"/>
                </a:lnTo>
                <a:lnTo>
                  <a:pt x="221221" y="68439"/>
                </a:lnTo>
                <a:lnTo>
                  <a:pt x="285974" y="68439"/>
                </a:lnTo>
                <a:lnTo>
                  <a:pt x="299008" y="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pPr defTabSz="605150">
              <a:defRPr/>
            </a:pPr>
            <a:endParaRPr sz="1191">
              <a:solidFill>
                <a:prstClr val="black"/>
              </a:solidFill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1F8BFBFC-CD60-88AD-6E57-7CB4C1DB9298}"/>
              </a:ext>
            </a:extLst>
          </p:cNvPr>
          <p:cNvSpPr/>
          <p:nvPr/>
        </p:nvSpPr>
        <p:spPr>
          <a:xfrm>
            <a:off x="7312217" y="1120904"/>
            <a:ext cx="1101314" cy="1143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05150">
              <a:defRPr/>
            </a:pPr>
            <a:endParaRPr sz="119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32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5411-B996-68A5-4462-88A1B8F3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28DD3-F9A9-8DAB-C196-FB2F07C0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词向量（</a:t>
            </a:r>
            <a:r>
              <a:rPr kumimoji="1" lang="en-US" altLang="zh-CN" dirty="0"/>
              <a:t>Word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449DA-5AB3-287D-09BD-83CA5EB77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246836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我们要为每个词学习一个</a:t>
            </a:r>
            <a:r>
              <a:rPr kumimoji="1" lang="zh-CN" altLang="en-US" b="1" dirty="0">
                <a:solidFill>
                  <a:srgbClr val="C00000"/>
                </a:solidFill>
              </a:rPr>
              <a:t>稠密向量</a:t>
            </a:r>
            <a:r>
              <a:rPr kumimoji="1" lang="zh-CN" altLang="en-US" dirty="0"/>
              <a:t>（</a:t>
            </a:r>
            <a:r>
              <a:rPr kumimoji="1" lang="en-US" altLang="zh-CN" dirty="0"/>
              <a:t>dense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），使得在相似的</a:t>
            </a:r>
            <a:r>
              <a:rPr kumimoji="1" lang="zh-CN" altLang="en-US" b="1" dirty="0">
                <a:solidFill>
                  <a:srgbClr val="C00000"/>
                </a:solidFill>
              </a:rPr>
              <a:t>上下文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Context</a:t>
            </a:r>
            <a:r>
              <a:rPr kumimoji="1" lang="zh-CN" altLang="en-US" dirty="0"/>
              <a:t>）中出现的词，其向量也彼此相近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lvl="1"/>
            <a:r>
              <a:rPr kumimoji="1" lang="zh-CN" altLang="en-US" dirty="0"/>
              <a:t>注意：</a:t>
            </a:r>
            <a:r>
              <a:rPr kumimoji="1" lang="zh-CN" altLang="en-US" b="1" dirty="0"/>
              <a:t>词向量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word vectors</a:t>
            </a:r>
            <a:r>
              <a:rPr kumimoji="1" lang="zh-CN" altLang="en-US" dirty="0"/>
              <a:t>）有时也被称为</a:t>
            </a:r>
            <a:r>
              <a:rPr kumimoji="1" lang="zh-CN" altLang="en-US" b="1" dirty="0"/>
              <a:t>词嵌入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word embeddings</a:t>
            </a:r>
            <a:r>
              <a:rPr kumimoji="1" lang="zh-CN" altLang="en-US" dirty="0"/>
              <a:t>）或</a:t>
            </a:r>
            <a:r>
              <a:rPr kumimoji="1" lang="zh-CN" altLang="en-US" b="1" dirty="0"/>
              <a:t>词表示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word representations</a:t>
            </a:r>
            <a:r>
              <a:rPr kumimoji="1" lang="zh-CN" altLang="en-US" dirty="0"/>
              <a:t>），它们是一种分布式表示（</a:t>
            </a:r>
            <a:r>
              <a:rPr kumimoji="1" lang="en-US" altLang="zh-CN" dirty="0"/>
              <a:t>distributed representation</a:t>
            </a:r>
            <a:r>
              <a:rPr kumimoji="1" lang="zh-CN" altLang="en-US" dirty="0"/>
              <a:t>）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0CD07D-EC77-EDAF-A5FD-A728BBA9A008}"/>
              </a:ext>
            </a:extLst>
          </p:cNvPr>
          <p:cNvGrpSpPr/>
          <p:nvPr/>
        </p:nvGrpSpPr>
        <p:grpSpPr>
          <a:xfrm>
            <a:off x="1304120" y="1866184"/>
            <a:ext cx="2286250" cy="2046474"/>
            <a:chOff x="773347" y="1729404"/>
            <a:chExt cx="2286250" cy="2046474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8F1987E-9495-81F4-9E60-B3D08F6EB0FE}"/>
                </a:ext>
              </a:extLst>
            </p:cNvPr>
            <p:cNvSpPr txBox="1"/>
            <p:nvPr/>
          </p:nvSpPr>
          <p:spPr>
            <a:xfrm>
              <a:off x="773347" y="2676818"/>
              <a:ext cx="923645" cy="273175"/>
            </a:xfrm>
            <a:prstGeom prst="rect">
              <a:avLst/>
            </a:prstGeom>
          </p:spPr>
          <p:txBody>
            <a:bodyPr vert="horz" wrap="square" lIns="0" tIns="8405" rIns="0" bIns="0" rtlCol="0">
              <a:spAutoFit/>
            </a:bodyPr>
            <a:lstStyle/>
            <a:p>
              <a:pPr marL="8405" defTabSz="605150">
                <a:spcBef>
                  <a:spcPts val="66"/>
                </a:spcBef>
                <a:defRPr/>
              </a:pPr>
              <a:r>
                <a:rPr sz="1720" i="1" spc="-70" dirty="0">
                  <a:solidFill>
                    <a:srgbClr val="3A87FF"/>
                  </a:solidFill>
                  <a:latin typeface="Trebuchet MS"/>
                  <a:cs typeface="Trebuchet MS"/>
                </a:rPr>
                <a:t>banking</a:t>
              </a:r>
              <a:r>
                <a:rPr sz="1720" i="1" spc="176" dirty="0">
                  <a:solidFill>
                    <a:srgbClr val="3A87FF"/>
                  </a:solidFill>
                  <a:latin typeface="Trebuchet MS"/>
                  <a:cs typeface="Trebuchet MS"/>
                </a:rPr>
                <a:t> </a:t>
              </a:r>
              <a:r>
                <a:rPr sz="1720" spc="-47" dirty="0">
                  <a:solidFill>
                    <a:prstClr val="black"/>
                  </a:solidFill>
                  <a:latin typeface="Trebuchet MS"/>
                  <a:cs typeface="Trebuchet MS"/>
                </a:rPr>
                <a:t>=</a:t>
              </a:r>
              <a:endParaRPr sz="1720">
                <a:solidFill>
                  <a:prstClr val="black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8E012E3F-44B3-E5AF-4F3F-4B6DC6DD65A3}"/>
                </a:ext>
              </a:extLst>
            </p:cNvPr>
            <p:cNvSpPr txBox="1"/>
            <p:nvPr/>
          </p:nvSpPr>
          <p:spPr>
            <a:xfrm>
              <a:off x="2300588" y="1834695"/>
              <a:ext cx="563936" cy="1909007"/>
            </a:xfrm>
            <a:prstGeom prst="rect">
              <a:avLst/>
            </a:prstGeom>
          </p:spPr>
          <p:txBody>
            <a:bodyPr vert="horz" wrap="square" lIns="0" tIns="8405" rIns="0" bIns="0" rtlCol="0">
              <a:spAutoFit/>
            </a:bodyPr>
            <a:lstStyle/>
            <a:p>
              <a:pPr marL="106742" defTabSz="605150">
                <a:spcBef>
                  <a:spcPts val="66"/>
                </a:spcBef>
                <a:defRPr/>
              </a:pPr>
              <a:r>
                <a:rPr sz="1523" spc="-106" dirty="0">
                  <a:solidFill>
                    <a:prstClr val="black"/>
                  </a:solidFill>
                  <a:latin typeface="Trebuchet MS"/>
                  <a:cs typeface="Trebuchet MS"/>
                </a:rPr>
                <a:t>0</a:t>
              </a:r>
              <a:r>
                <a:rPr sz="1523" spc="-83" dirty="0">
                  <a:solidFill>
                    <a:prstClr val="black"/>
                  </a:solidFill>
                  <a:latin typeface="Trebuchet MS"/>
                  <a:cs typeface="Trebuchet MS"/>
                </a:rPr>
                <a:t>.</a:t>
              </a:r>
              <a:r>
                <a:rPr sz="1523" spc="-17" dirty="0">
                  <a:solidFill>
                    <a:prstClr val="black"/>
                  </a:solidFill>
                  <a:latin typeface="Trebuchet MS"/>
                  <a:cs typeface="Trebuchet MS"/>
                </a:rPr>
                <a:t>286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106742" defTabSz="605150">
                <a:spcBef>
                  <a:spcPts val="14"/>
                </a:spcBef>
                <a:defRPr/>
              </a:pPr>
              <a:r>
                <a:rPr sz="1523" spc="-106" dirty="0">
                  <a:solidFill>
                    <a:prstClr val="black"/>
                  </a:solidFill>
                  <a:latin typeface="Trebuchet MS"/>
                  <a:cs typeface="Trebuchet MS"/>
                </a:rPr>
                <a:t>0</a:t>
              </a:r>
              <a:r>
                <a:rPr sz="1523" spc="-83" dirty="0">
                  <a:solidFill>
                    <a:prstClr val="black"/>
                  </a:solidFill>
                  <a:latin typeface="Trebuchet MS"/>
                  <a:cs typeface="Trebuchet MS"/>
                </a:rPr>
                <a:t>.</a:t>
              </a:r>
              <a:r>
                <a:rPr sz="1523" spc="-17" dirty="0">
                  <a:solidFill>
                    <a:prstClr val="black"/>
                  </a:solidFill>
                  <a:latin typeface="Trebuchet MS"/>
                  <a:cs typeface="Trebuchet MS"/>
                </a:rPr>
                <a:t>792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8405" defTabSz="605150">
                <a:spcBef>
                  <a:spcPts val="33"/>
                </a:spcBef>
                <a:defRPr/>
              </a:pPr>
              <a:r>
                <a:rPr sz="1523" spc="-47" dirty="0">
                  <a:solidFill>
                    <a:prstClr val="black"/>
                  </a:solidFill>
                  <a:latin typeface="Trebuchet MS"/>
                  <a:cs typeface="Trebuchet MS"/>
                </a:rPr>
                <a:t>−0.177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8405" defTabSz="605150">
                <a:spcBef>
                  <a:spcPts val="96"/>
                </a:spcBef>
                <a:defRPr/>
              </a:pPr>
              <a:r>
                <a:rPr sz="1523" spc="-47" dirty="0">
                  <a:solidFill>
                    <a:prstClr val="black"/>
                  </a:solidFill>
                  <a:latin typeface="Trebuchet MS"/>
                  <a:cs typeface="Trebuchet MS"/>
                </a:rPr>
                <a:t>−0.107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106742" defTabSz="605150">
                <a:spcBef>
                  <a:spcPts val="33"/>
                </a:spcBef>
                <a:defRPr/>
              </a:pPr>
              <a:r>
                <a:rPr sz="1523" spc="-106" dirty="0">
                  <a:solidFill>
                    <a:prstClr val="black"/>
                  </a:solidFill>
                  <a:latin typeface="Trebuchet MS"/>
                  <a:cs typeface="Trebuchet MS"/>
                </a:rPr>
                <a:t>0</a:t>
              </a:r>
              <a:r>
                <a:rPr sz="1523" spc="-83" dirty="0">
                  <a:solidFill>
                    <a:prstClr val="black"/>
                  </a:solidFill>
                  <a:latin typeface="Trebuchet MS"/>
                  <a:cs typeface="Trebuchet MS"/>
                </a:rPr>
                <a:t>.</a:t>
              </a:r>
              <a:r>
                <a:rPr sz="1523" spc="-17" dirty="0">
                  <a:solidFill>
                    <a:prstClr val="black"/>
                  </a:solidFill>
                  <a:latin typeface="Trebuchet MS"/>
                  <a:cs typeface="Trebuchet MS"/>
                </a:rPr>
                <a:t>109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8405" defTabSz="605150">
                <a:spcBef>
                  <a:spcPts val="14"/>
                </a:spcBef>
                <a:defRPr/>
              </a:pPr>
              <a:r>
                <a:rPr sz="1523" spc="-47" dirty="0">
                  <a:solidFill>
                    <a:prstClr val="black"/>
                  </a:solidFill>
                  <a:latin typeface="Trebuchet MS"/>
                  <a:cs typeface="Trebuchet MS"/>
                </a:rPr>
                <a:t>−0.542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106742" defTabSz="605150">
                <a:spcBef>
                  <a:spcPts val="33"/>
                </a:spcBef>
                <a:defRPr/>
              </a:pPr>
              <a:r>
                <a:rPr sz="1523" spc="-106" dirty="0">
                  <a:solidFill>
                    <a:prstClr val="black"/>
                  </a:solidFill>
                  <a:latin typeface="Trebuchet MS"/>
                  <a:cs typeface="Trebuchet MS"/>
                </a:rPr>
                <a:t>0</a:t>
              </a:r>
              <a:r>
                <a:rPr sz="1523" spc="-83" dirty="0">
                  <a:solidFill>
                    <a:prstClr val="black"/>
                  </a:solidFill>
                  <a:latin typeface="Trebuchet MS"/>
                  <a:cs typeface="Trebuchet MS"/>
                </a:rPr>
                <a:t>.</a:t>
              </a:r>
              <a:r>
                <a:rPr sz="1523" spc="-17" dirty="0">
                  <a:solidFill>
                    <a:prstClr val="black"/>
                  </a:solidFill>
                  <a:latin typeface="Trebuchet MS"/>
                  <a:cs typeface="Trebuchet MS"/>
                </a:rPr>
                <a:t>349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  <a:p>
              <a:pPr marL="106742" defTabSz="605150">
                <a:spcBef>
                  <a:spcPts val="96"/>
                </a:spcBef>
                <a:defRPr/>
              </a:pPr>
              <a:r>
                <a:rPr sz="1523" spc="-106" dirty="0">
                  <a:solidFill>
                    <a:prstClr val="black"/>
                  </a:solidFill>
                  <a:latin typeface="Trebuchet MS"/>
                  <a:cs typeface="Trebuchet MS"/>
                </a:rPr>
                <a:t>0</a:t>
              </a:r>
              <a:r>
                <a:rPr sz="1523" spc="-83" dirty="0">
                  <a:solidFill>
                    <a:prstClr val="black"/>
                  </a:solidFill>
                  <a:latin typeface="Trebuchet MS"/>
                  <a:cs typeface="Trebuchet MS"/>
                </a:rPr>
                <a:t>.</a:t>
              </a:r>
              <a:r>
                <a:rPr sz="1523" spc="-17" dirty="0">
                  <a:solidFill>
                    <a:prstClr val="black"/>
                  </a:solidFill>
                  <a:latin typeface="Trebuchet MS"/>
                  <a:cs typeface="Trebuchet MS"/>
                </a:rPr>
                <a:t>271</a:t>
              </a:r>
              <a:endParaRPr sz="1523">
                <a:solidFill>
                  <a:prstClr val="black"/>
                </a:solidFill>
                <a:latin typeface="Trebuchet MS"/>
                <a:cs typeface="Trebuchet M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163D218-4C26-D4F6-EF6A-BB19489B8574}"/>
                </a:ext>
              </a:extLst>
            </p:cNvPr>
            <p:cNvSpPr/>
            <p:nvPr/>
          </p:nvSpPr>
          <p:spPr>
            <a:xfrm>
              <a:off x="2085679" y="1729404"/>
              <a:ext cx="162626" cy="2046474"/>
            </a:xfrm>
            <a:custGeom>
              <a:avLst/>
              <a:gdLst/>
              <a:ahLst/>
              <a:cxnLst/>
              <a:rect l="l" t="t" r="r" b="b"/>
              <a:pathLst>
                <a:path w="245745" h="3092450">
                  <a:moveTo>
                    <a:pt x="245197" y="3091893"/>
                  </a:moveTo>
                  <a:lnTo>
                    <a:pt x="195782" y="3086911"/>
                  </a:lnTo>
                  <a:lnTo>
                    <a:pt x="149755" y="3072624"/>
                  </a:lnTo>
                  <a:lnTo>
                    <a:pt x="108105" y="3050016"/>
                  </a:lnTo>
                  <a:lnTo>
                    <a:pt x="71816" y="3020075"/>
                  </a:lnTo>
                  <a:lnTo>
                    <a:pt x="41876" y="2983787"/>
                  </a:lnTo>
                  <a:lnTo>
                    <a:pt x="19268" y="2942137"/>
                  </a:lnTo>
                  <a:lnTo>
                    <a:pt x="4981" y="2896112"/>
                  </a:lnTo>
                  <a:lnTo>
                    <a:pt x="0" y="2846698"/>
                  </a:lnTo>
                  <a:lnTo>
                    <a:pt x="0" y="245197"/>
                  </a:lnTo>
                  <a:lnTo>
                    <a:pt x="4981" y="195781"/>
                  </a:lnTo>
                  <a:lnTo>
                    <a:pt x="19268" y="149755"/>
                  </a:lnTo>
                  <a:lnTo>
                    <a:pt x="41876" y="108105"/>
                  </a:lnTo>
                  <a:lnTo>
                    <a:pt x="71816" y="71816"/>
                  </a:lnTo>
                  <a:lnTo>
                    <a:pt x="108105" y="41875"/>
                  </a:lnTo>
                  <a:lnTo>
                    <a:pt x="149755" y="19268"/>
                  </a:lnTo>
                  <a:lnTo>
                    <a:pt x="195782" y="4981"/>
                  </a:lnTo>
                  <a:lnTo>
                    <a:pt x="245197" y="0"/>
                  </a:lnTo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05150">
                <a:defRPr/>
              </a:pPr>
              <a:endParaRPr sz="1191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159FE3D-966F-9269-8053-1D39DB20CC4F}"/>
                </a:ext>
              </a:extLst>
            </p:cNvPr>
            <p:cNvSpPr/>
            <p:nvPr/>
          </p:nvSpPr>
          <p:spPr>
            <a:xfrm>
              <a:off x="2896971" y="1729404"/>
              <a:ext cx="162626" cy="2046474"/>
            </a:xfrm>
            <a:custGeom>
              <a:avLst/>
              <a:gdLst/>
              <a:ahLst/>
              <a:cxnLst/>
              <a:rect l="l" t="t" r="r" b="b"/>
              <a:pathLst>
                <a:path w="245745" h="3092450">
                  <a:moveTo>
                    <a:pt x="0" y="0"/>
                  </a:moveTo>
                  <a:lnTo>
                    <a:pt x="49417" y="4981"/>
                  </a:lnTo>
                  <a:lnTo>
                    <a:pt x="95445" y="19268"/>
                  </a:lnTo>
                  <a:lnTo>
                    <a:pt x="137096" y="41875"/>
                  </a:lnTo>
                  <a:lnTo>
                    <a:pt x="173386" y="71816"/>
                  </a:lnTo>
                  <a:lnTo>
                    <a:pt x="203328" y="108105"/>
                  </a:lnTo>
                  <a:lnTo>
                    <a:pt x="225935" y="149755"/>
                  </a:lnTo>
                  <a:lnTo>
                    <a:pt x="240223" y="195781"/>
                  </a:lnTo>
                  <a:lnTo>
                    <a:pt x="245205" y="245197"/>
                  </a:lnTo>
                  <a:lnTo>
                    <a:pt x="245205" y="2846698"/>
                  </a:lnTo>
                  <a:lnTo>
                    <a:pt x="240223" y="2896112"/>
                  </a:lnTo>
                  <a:lnTo>
                    <a:pt x="225935" y="2942137"/>
                  </a:lnTo>
                  <a:lnTo>
                    <a:pt x="203328" y="2983787"/>
                  </a:lnTo>
                  <a:lnTo>
                    <a:pt x="173386" y="3020075"/>
                  </a:lnTo>
                  <a:lnTo>
                    <a:pt x="137096" y="3050016"/>
                  </a:lnTo>
                  <a:lnTo>
                    <a:pt x="95445" y="3072624"/>
                  </a:lnTo>
                  <a:lnTo>
                    <a:pt x="49417" y="3086911"/>
                  </a:lnTo>
                  <a:lnTo>
                    <a:pt x="0" y="3091893"/>
                  </a:lnTo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05150">
                <a:defRPr/>
              </a:pPr>
              <a:endParaRPr sz="1191">
                <a:solidFill>
                  <a:prstClr val="black"/>
                </a:solidFill>
              </a:endParaRPr>
            </a:p>
          </p:txBody>
        </p:sp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3AADB42F-2F84-1FFD-2AE3-74B6C4591238}"/>
              </a:ext>
            </a:extLst>
          </p:cNvPr>
          <p:cNvSpPr/>
          <p:nvPr/>
        </p:nvSpPr>
        <p:spPr>
          <a:xfrm>
            <a:off x="5205811" y="1565232"/>
            <a:ext cx="2960727" cy="24404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05150">
              <a:defRPr/>
            </a:pPr>
            <a:endParaRPr sz="1191">
              <a:solidFill>
                <a:prstClr val="black"/>
              </a:solidFill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435C2C3-D666-4CDF-9FD0-2D441AC4AFFB}"/>
              </a:ext>
            </a:extLst>
          </p:cNvPr>
          <p:cNvSpPr/>
          <p:nvPr/>
        </p:nvSpPr>
        <p:spPr>
          <a:xfrm>
            <a:off x="4239036" y="2605025"/>
            <a:ext cx="656896" cy="4171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010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1980C-217C-2840-A85E-C9D1AB0C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分布式假设的表现形式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（上下文共现）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7B7013-E147-3D42-8B5C-951C18BAE9BE}"/>
              </a:ext>
            </a:extLst>
          </p:cNvPr>
          <p:cNvSpPr txBox="1"/>
          <p:nvPr/>
        </p:nvSpPr>
        <p:spPr>
          <a:xfrm>
            <a:off x="2107062" y="3277862"/>
            <a:ext cx="462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适合短文本的表达：单词</a:t>
            </a:r>
            <a:r>
              <a:rPr kumimoji="1" lang="zh-CN" altLang="en-US" sz="1600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聚合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关系建模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6E6C031-8DB3-B944-A2AE-3D47790C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9" y="1915664"/>
            <a:ext cx="2841607" cy="9095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60B3C8C-ACE0-4D40-8497-24E53DE6F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97" y="1713160"/>
            <a:ext cx="2286000" cy="13145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A6503BE-BF4F-3F43-A731-9FD8AF9BC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388" y="1745396"/>
            <a:ext cx="1587653" cy="128233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37A5469-FD33-C542-98DE-01C2B768D832}"/>
              </a:ext>
            </a:extLst>
          </p:cNvPr>
          <p:cNvSpPr txBox="1"/>
          <p:nvPr/>
        </p:nvSpPr>
        <p:spPr>
          <a:xfrm>
            <a:off x="1199408" y="3776679"/>
            <a:ext cx="583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词嵌入模型：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Word2Vec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Glove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BTM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等词嵌入模型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454B44F1-AF57-3A4B-A057-62C3566F0FDD}"/>
              </a:ext>
            </a:extLst>
          </p:cNvPr>
          <p:cNvSpPr/>
          <p:nvPr/>
        </p:nvSpPr>
        <p:spPr>
          <a:xfrm>
            <a:off x="3233836" y="2203151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97BADF3B-C483-B94F-9E2A-337F8651EC4B}"/>
              </a:ext>
            </a:extLst>
          </p:cNvPr>
          <p:cNvSpPr/>
          <p:nvPr/>
        </p:nvSpPr>
        <p:spPr>
          <a:xfrm>
            <a:off x="6389846" y="2208963"/>
            <a:ext cx="415637" cy="432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9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47BEB-F029-7044-89C8-1086D3E6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隐空间中与</a:t>
            </a:r>
            <a:r>
              <a:rPr kumimoji="1" lang="en-US" altLang="zh-CN" dirty="0"/>
              <a:t>Feynman</a:t>
            </a:r>
            <a:r>
              <a:rPr kumimoji="1" lang="zh-CN" altLang="en-US" dirty="0"/>
              <a:t>相近的词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A2E1A7-EA8D-9E48-A86C-314AECF1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125"/>
            <a:ext cx="9144000" cy="301924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7B6C277-EAB3-4147-947D-4A9EDCDB5373}"/>
              </a:ext>
            </a:extLst>
          </p:cNvPr>
          <p:cNvSpPr/>
          <p:nvPr/>
        </p:nvSpPr>
        <p:spPr>
          <a:xfrm>
            <a:off x="307700" y="4063979"/>
            <a:ext cx="374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zh-CN" altLang="en-US" b="1" dirty="0">
                <a:solidFill>
                  <a:srgbClr val="00B0F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话题模型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得到的语义相近的词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9AB675-F774-154C-BDDD-011895E9EF10}"/>
              </a:ext>
            </a:extLst>
          </p:cNvPr>
          <p:cNvSpPr/>
          <p:nvPr/>
        </p:nvSpPr>
        <p:spPr>
          <a:xfrm>
            <a:off x="4804350" y="4063979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zh-CN" altLang="en-US" b="1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词嵌入模型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关系得到的语义相近的词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31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2C8BE-F484-CD45-83A8-C4C9355E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代表性的词嵌入模型：</a:t>
            </a:r>
            <a:r>
              <a:rPr kumimoji="1" lang="en-US" altLang="zh-CN" b="1" dirty="0">
                <a:solidFill>
                  <a:srgbClr val="C00000"/>
                </a:solidFill>
              </a:rPr>
              <a:t>Word2Vec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A707BF5-53DC-AC46-8E29-AF380EBC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11335"/>
            <a:ext cx="8229600" cy="1870447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关注于单词的分布式表达（后来的</a:t>
            </a:r>
            <a:r>
              <a:rPr kumimoji="1" lang="en-US" altLang="zh-CN" dirty="0"/>
              <a:t>doc2vec</a:t>
            </a:r>
            <a:r>
              <a:rPr kumimoji="1" lang="zh-CN" altLang="en-US" dirty="0"/>
              <a:t>考虑了文档表达）</a:t>
            </a:r>
            <a:endParaRPr kumimoji="1" lang="en-US" altLang="zh-CN" dirty="0"/>
          </a:p>
          <a:p>
            <a:r>
              <a:rPr kumimoji="1" lang="zh-CN" altLang="en-US" dirty="0"/>
              <a:t>核心想法：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两个单词的相似性 </a:t>
            </a:r>
            <a:r>
              <a:rPr kumimoji="1" lang="en-US" altLang="zh-CN" dirty="0"/>
              <a:t>=</a:t>
            </a:r>
            <a:r>
              <a:rPr kumimoji="1" lang="zh-CN" altLang="en-US" dirty="0"/>
              <a:t> 其对应的词向量的相似度</a:t>
            </a:r>
            <a:endParaRPr kumimoji="1" lang="en-US" altLang="zh-CN" dirty="0"/>
          </a:p>
          <a:p>
            <a:pPr lvl="1"/>
            <a:r>
              <a:rPr lang="zh-CN" altLang="en-US" dirty="0"/>
              <a:t>对文档集合中的每一个词（中心词），计算它周围的词（上下文）的相似度</a:t>
            </a:r>
            <a:endParaRPr lang="en-US" altLang="zh-CN" dirty="0"/>
          </a:p>
          <a:p>
            <a:pPr lvl="2"/>
            <a:r>
              <a:rPr lang="zh-CN" altLang="en-US" dirty="0"/>
              <a:t>用中心词去预测上下文所出现的单词</a:t>
            </a:r>
            <a:endParaRPr lang="en-US" altLang="zh-CN" dirty="0"/>
          </a:p>
          <a:p>
            <a:pPr lvl="2"/>
            <a:r>
              <a:rPr lang="zh-CN" altLang="en-US" dirty="0"/>
              <a:t>或者：用上下文出现的词预测中心词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3488E55F-36D5-B244-9B41-D92062C9A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3" y="958190"/>
            <a:ext cx="3557816" cy="18998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5C467A-CAAA-254E-BCA9-D45874A6F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345" y="1640115"/>
            <a:ext cx="5428265" cy="121788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52E311DC-7D27-C741-8F90-3C35FF8DAF00}"/>
              </a:ext>
            </a:extLst>
          </p:cNvPr>
          <p:cNvSpPr/>
          <p:nvPr/>
        </p:nvSpPr>
        <p:spPr>
          <a:xfrm>
            <a:off x="5140036" y="2507673"/>
            <a:ext cx="942109" cy="35032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" name="Rectangle 2"/>
          <p:cNvSpPr/>
          <p:nvPr/>
        </p:nvSpPr>
        <p:spPr>
          <a:xfrm>
            <a:off x="3920345" y="1017443"/>
            <a:ext cx="49784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Online</a:t>
            </a:r>
            <a:r>
              <a:rPr lang="zh-CN" altLang="en-US" dirty="0"/>
              <a:t> </a:t>
            </a:r>
            <a:r>
              <a:rPr lang="en-US" altLang="zh-CN" dirty="0"/>
              <a:t>Demo:</a:t>
            </a:r>
            <a:r>
              <a:rPr lang="zh-CN" altLang="en-US" dirty="0"/>
              <a:t> </a:t>
            </a:r>
            <a:r>
              <a:rPr lang="en-US" dirty="0">
                <a:hlinkClick r:id="rId4"/>
              </a:rPr>
              <a:t>http://bionlp-www.utu.fi/wv_demo/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61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</a:t>
            </a:r>
            <a:r>
              <a:rPr lang="zh-CN" altLang="en-US" dirty="0"/>
              <a:t>两大类基本模型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两大基本模型：</a:t>
            </a:r>
            <a:endParaRPr lang="en-US" dirty="0"/>
          </a:p>
          <a:p>
            <a:pPr lvl="1"/>
            <a:r>
              <a:rPr lang="zh-CN" altLang="en-US" dirty="0"/>
              <a:t>用上下文出现的单词去预测中心词：</a:t>
            </a:r>
            <a:r>
              <a:rPr lang="en-US" dirty="0"/>
              <a:t>Continuous Bag of Word (CBOW):</a:t>
            </a:r>
          </a:p>
          <a:p>
            <a:pPr lvl="1"/>
            <a:r>
              <a:rPr lang="zh-CN" altLang="en-US" dirty="0"/>
              <a:t>用中心词去预测上下文出现的单词：</a:t>
            </a:r>
            <a:r>
              <a:rPr lang="en-US" dirty="0"/>
              <a:t>Skip-gram (SG</a:t>
            </a:r>
            <a:r>
              <a:rPr lang="zh-CN" altLang="en-US" dirty="0"/>
              <a:t>）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803" y="2256463"/>
            <a:ext cx="4512128" cy="274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4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dirty="0"/>
              <a:t>Continuous Bag of Word</a:t>
            </a:r>
            <a:r>
              <a:rPr lang="en-US" altLang="zh-CN" dirty="0"/>
              <a:t>(CBOW)</a:t>
            </a:r>
            <a:r>
              <a:rPr lang="zh-CN" altLang="en-US" dirty="0"/>
              <a:t>为例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例句：“</a:t>
            </a:r>
            <a:r>
              <a:rPr lang="en-US" dirty="0"/>
              <a:t>The cat sat on mat”</a:t>
            </a:r>
          </a:p>
          <a:p>
            <a:pPr lvl="1"/>
            <a:r>
              <a:rPr lang="zh-CN" altLang="en-US" dirty="0"/>
              <a:t>上下文窗口大小</a:t>
            </a:r>
            <a:r>
              <a:rPr lang="en-US" dirty="0"/>
              <a:t> = 2</a:t>
            </a:r>
            <a:r>
              <a:rPr lang="zh-CN" altLang="en-US" dirty="0"/>
              <a:t>（上文和下文均取同一句话中的两个单词）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F1D967-C194-8B35-8CEF-698630732622}"/>
              </a:ext>
            </a:extLst>
          </p:cNvPr>
          <p:cNvGrpSpPr/>
          <p:nvPr/>
        </p:nvGrpSpPr>
        <p:grpSpPr>
          <a:xfrm>
            <a:off x="4428686" y="1682707"/>
            <a:ext cx="3566056" cy="3073443"/>
            <a:chOff x="3067596" y="1834471"/>
            <a:chExt cx="3566056" cy="307344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1184" y="1834471"/>
              <a:ext cx="2636045" cy="307344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067596" y="2237524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the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67596" y="2714370"/>
              <a:ext cx="4342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67596" y="3898968"/>
              <a:ext cx="4010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69846" y="4336121"/>
              <a:ext cx="5129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mat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04047" y="3295405"/>
              <a:ext cx="429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sat</a:t>
              </a:r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E5F66D90-A7C2-D579-2C24-6E030320B787}"/>
              </a:ext>
            </a:extLst>
          </p:cNvPr>
          <p:cNvSpPr txBox="1">
            <a:spLocks/>
          </p:cNvSpPr>
          <p:nvPr/>
        </p:nvSpPr>
        <p:spPr>
          <a:xfrm>
            <a:off x="1284883" y="2690767"/>
            <a:ext cx="2448910" cy="523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zh-CN" altLang="en-CN" dirty="0"/>
              <a:t>计算</a:t>
            </a:r>
            <a:r>
              <a:rPr kumimoji="1" lang="zh-CN" altLang="en-US" dirty="0"/>
              <a:t>条件概率</a:t>
            </a:r>
            <a:endParaRPr kumimoji="1"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F66168-6A49-4BC4-5851-6DD6AD0BAF72}"/>
                  </a:ext>
                </a:extLst>
              </p:cNvPr>
              <p:cNvSpPr txBox="1"/>
              <p:nvPr/>
            </p:nvSpPr>
            <p:spPr>
              <a:xfrm>
                <a:off x="1364281" y="3174418"/>
                <a:ext cx="23857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F66168-6A49-4BC4-5851-6DD6AD0BA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281" y="3174418"/>
                <a:ext cx="2385781" cy="307777"/>
              </a:xfrm>
              <a:prstGeom prst="rect">
                <a:avLst/>
              </a:prstGeom>
              <a:blipFill>
                <a:blip r:embed="rId3"/>
                <a:stretch>
                  <a:fillRect l="-2116" r="-3175" b="-32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88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5C9DE-5635-0947-9AC6-D9DB991F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CBOW</a:t>
            </a:r>
            <a:r>
              <a:rPr kumimoji="1" lang="zh-CN" altLang="en-US" dirty="0"/>
              <a:t>预测网络结构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02750" y="1332906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02751" y="2945976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043269" y="1393868"/>
            <a:ext cx="466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Cat</a:t>
            </a:r>
            <a:r>
              <a:rPr lang="zh-CN" altLang="en-US" sz="1400" dirty="0"/>
              <a:t> 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2062108" y="3280303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9257" y="2354316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00484" y="2135292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724656" y="89606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输入层：独热表示</a:t>
            </a:r>
            <a:endParaRPr lang="en-US" sz="1600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2657056" y="1332908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57055" y="2352099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52337" y="2668799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57055" y="3165000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605228" y="1810651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隐层：</a:t>
            </a:r>
            <a:r>
              <a:rPr lang="en-US" altLang="zh-CN" sz="1600" dirty="0"/>
              <a:t>K</a:t>
            </a:r>
            <a:r>
              <a:rPr lang="zh-CN" altLang="en-US" sz="1600" dirty="0"/>
              <a:t>维稠密向量</a:t>
            </a:r>
            <a:endParaRPr lang="en-US" sz="1600" dirty="0"/>
          </a:p>
        </p:txBody>
      </p:sp>
      <p:sp>
        <p:nvSpPr>
          <p:cNvPr id="83" name="TextBox 82"/>
          <p:cNvSpPr txBox="1"/>
          <p:nvPr/>
        </p:nvSpPr>
        <p:spPr>
          <a:xfrm>
            <a:off x="6550068" y="2937678"/>
            <a:ext cx="459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03562" y="2134608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03562" y="3156703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656062" y="1106043"/>
            <a:ext cx="1643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输出层：</a:t>
            </a:r>
            <a:endParaRPr lang="en-US" altLang="zh-CN" sz="1600" dirty="0"/>
          </a:p>
          <a:p>
            <a:pPr algn="ctr"/>
            <a:r>
              <a:rPr lang="en-US" altLang="zh-CN" sz="1600" dirty="0"/>
              <a:t>0-1</a:t>
            </a:r>
            <a:r>
              <a:rPr lang="zh-CN" altLang="en-US" sz="1600" dirty="0"/>
              <a:t>独热向量表示预测的单词</a:t>
            </a:r>
            <a:endParaRPr lang="en-US" sz="1600" dirty="0"/>
          </a:p>
        </p:txBody>
      </p:sp>
      <p:sp>
        <p:nvSpPr>
          <p:cNvPr id="69" name="TextBox 68"/>
          <p:cNvSpPr txBox="1"/>
          <p:nvPr/>
        </p:nvSpPr>
        <p:spPr>
          <a:xfrm>
            <a:off x="353788" y="1412356"/>
            <a:ext cx="1653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0-1</a:t>
            </a:r>
            <a:r>
              <a:rPr lang="zh-CN" altLang="en-US" sz="1600" dirty="0">
                <a:solidFill>
                  <a:srgbClr val="FF0000"/>
                </a:solidFill>
              </a:rPr>
              <a:t>向量，每一个单词占据一个维度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5CE84E-4ED2-4A43-BCBC-1A70006EE3C7}"/>
              </a:ext>
            </a:extLst>
          </p:cNvPr>
          <p:cNvSpPr/>
          <p:nvPr/>
        </p:nvSpPr>
        <p:spPr>
          <a:xfrm>
            <a:off x="0" y="4655782"/>
            <a:ext cx="2725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/>
              <a:t>（本图假设窗口大小</a:t>
            </a:r>
            <a:r>
              <a:rPr kumimoji="1" lang="en-US" altLang="zh-CN" dirty="0"/>
              <a:t>=1</a:t>
            </a:r>
            <a:r>
              <a:rPr kumimoji="1" lang="zh-CN" altLang="en-US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603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1787295" y="1770281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787295" y="3383350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481256" y="2268196"/>
            <a:ext cx="34496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cat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255" y="3918274"/>
            <a:ext cx="32252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733802" y="2791690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685029" y="2572667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528676" y="148736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输入层</a:t>
            </a:r>
            <a:endParaRPr lang="en-US" sz="1400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1941602" y="1770282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1941599" y="2789473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1936882" y="3106173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1941599" y="3602374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532341" y="229802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隐藏层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6006823" y="3126018"/>
            <a:ext cx="34176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3888107" y="2571982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3888107" y="3594077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376368" y="224604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输出层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095905" y="2266453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905" y="2266453"/>
                <a:ext cx="725583" cy="3347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111876" y="3716471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876" y="3716471"/>
                <a:ext cx="725583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1307682" y="2925421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07682" y="4520064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01222" y="3697902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596874" y="3030086"/>
                <a:ext cx="805285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874" y="3030086"/>
                <a:ext cx="805285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926429" y="3734380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6660" y="4299309"/>
            <a:ext cx="2015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FF0000"/>
                </a:solidFill>
              </a:defRPr>
            </a:lvl1pPr>
          </a:lstStyle>
          <a:p>
            <a:r>
              <a:rPr lang="en-US" sz="2000" dirty="0"/>
              <a:t>N:</a:t>
            </a:r>
            <a:r>
              <a:rPr lang="zh-CN" altLang="en-US" sz="2000" dirty="0"/>
              <a:t> 词向量</a:t>
            </a:r>
            <a:r>
              <a:rPr lang="zh-CN" altLang="en-US" sz="2000"/>
              <a:t>的维度</a:t>
            </a:r>
            <a:endParaRPr lang="en-US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2561456" y="1269242"/>
            <a:ext cx="224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模型参数：</a:t>
            </a:r>
            <a:r>
              <a:rPr lang="en-US" altLang="zh-CN" sz="2000" dirty="0">
                <a:solidFill>
                  <a:srgbClr val="FF0000"/>
                </a:solidFill>
              </a:rPr>
              <a:t>W</a:t>
            </a:r>
            <a:r>
              <a:rPr lang="zh-CN" altLang="en-US" sz="2000" dirty="0">
                <a:solidFill>
                  <a:srgbClr val="FF0000"/>
                </a:solidFill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W’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" name="Straight Arrow Connector 2"/>
          <p:cNvCxnSpPr>
            <a:stCxn id="81" idx="2"/>
            <a:endCxn id="71" idx="3"/>
          </p:cNvCxnSpPr>
          <p:nvPr/>
        </p:nvCxnSpPr>
        <p:spPr>
          <a:xfrm flipH="1">
            <a:off x="2821488" y="1669352"/>
            <a:ext cx="862295" cy="764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1" idx="2"/>
            <a:endCxn id="78" idx="0"/>
          </p:cNvCxnSpPr>
          <p:nvPr/>
        </p:nvCxnSpPr>
        <p:spPr>
          <a:xfrm>
            <a:off x="3683783" y="1669352"/>
            <a:ext cx="1315734" cy="136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标题 1">
            <a:extLst>
              <a:ext uri="{FF2B5EF4-FFF2-40B4-BE49-F238E27FC236}">
                <a16:creationId xmlns:a16="http://schemas.microsoft.com/office/drawing/2014/main" id="{5CB489A5-E236-CC4E-979B-D15B7DFB4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kumimoji="1" lang="en-US" altLang="zh-CN" dirty="0"/>
              <a:t>CBOW</a:t>
            </a:r>
            <a:r>
              <a:rPr kumimoji="1" lang="zh-CN" altLang="en-US" dirty="0"/>
              <a:t>参数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A6E338-0133-9148-BC89-F90C05C63B85}"/>
              </a:ext>
            </a:extLst>
          </p:cNvPr>
          <p:cNvSpPr txBox="1"/>
          <p:nvPr/>
        </p:nvSpPr>
        <p:spPr>
          <a:xfrm>
            <a:off x="4910828" y="1128364"/>
            <a:ext cx="3089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</a:t>
            </a:r>
            <a:r>
              <a:rPr kumimoji="1" lang="zh-CN" altLang="en-US" dirty="0"/>
              <a:t>：独热表示 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 词嵌入表示</a:t>
            </a:r>
            <a:endParaRPr kumimoji="1" lang="en-US" altLang="zh-CN" dirty="0">
              <a:sym typeface="Wingdings" pitchFamily="2" charset="2"/>
            </a:endParaRPr>
          </a:p>
          <a:p>
            <a:r>
              <a:rPr kumimoji="1" lang="en-US" altLang="zh-CN" dirty="0">
                <a:sym typeface="Wingdings" pitchFamily="2" charset="2"/>
              </a:rPr>
              <a:t>W’</a:t>
            </a:r>
            <a:r>
              <a:rPr kumimoji="1" lang="zh-CN" altLang="en-US" dirty="0">
                <a:sym typeface="Wingdings" pitchFamily="2" charset="2"/>
              </a:rPr>
              <a:t>：词嵌入表示 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 独热表示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114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34369" y="1973212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34370" y="3586282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228329" y="2471128"/>
            <a:ext cx="34817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cat</a:t>
            </a:r>
            <a:endParaRPr lang="en-US" sz="1013" dirty="0"/>
          </a:p>
        </p:txBody>
      </p:sp>
      <p:sp>
        <p:nvSpPr>
          <p:cNvPr id="33" name="TextBox 32"/>
          <p:cNvSpPr txBox="1"/>
          <p:nvPr/>
        </p:nvSpPr>
        <p:spPr>
          <a:xfrm>
            <a:off x="2228330" y="4121206"/>
            <a:ext cx="33054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on</a:t>
            </a:r>
            <a:endParaRPr lang="en-US" sz="1013" dirty="0"/>
          </a:p>
        </p:txBody>
      </p:sp>
      <p:grpSp>
        <p:nvGrpSpPr>
          <p:cNvPr id="46" name="Group 45"/>
          <p:cNvGrpSpPr/>
          <p:nvPr/>
        </p:nvGrpSpPr>
        <p:grpSpPr>
          <a:xfrm>
            <a:off x="4481947" y="2994622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33174" y="2775598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75749" y="1690300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89747" y="1973214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89745" y="2992405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85027" y="3309105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89745" y="3805306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754968" y="3328949"/>
            <a:ext cx="34176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36252" y="2774914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36252" y="3797009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24513" y="2448978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4756" y="3128353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4756" y="4722995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4575" y="3937312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 rot="1413182">
                <a:off x="2704071" y="2717968"/>
                <a:ext cx="1829860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13182">
                <a:off x="2704071" y="2717968"/>
                <a:ext cx="1829860" cy="339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 rot="19631347">
                <a:off x="2778618" y="3799997"/>
                <a:ext cx="1724190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31347">
                <a:off x="2778618" y="3799997"/>
                <a:ext cx="1724190" cy="339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/>
          <p:cNvSpPr txBox="1"/>
          <p:nvPr/>
        </p:nvSpPr>
        <p:spPr>
          <a:xfrm>
            <a:off x="4097789" y="3321796"/>
            <a:ext cx="24878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587348" y="3244625"/>
                <a:ext cx="1026756" cy="374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013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𝑐𝑎𝑡</m:t>
                              </m:r>
                            </m:sub>
                          </m:sSub>
                          <m: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0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r>
                            <a:rPr lang="en-US" sz="10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013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348" y="3244625"/>
                <a:ext cx="1026756" cy="374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2476"/>
              </p:ext>
            </p:extLst>
          </p:nvPr>
        </p:nvGraphicFramePr>
        <p:xfrm>
          <a:off x="3059548" y="1579209"/>
          <a:ext cx="1851660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3241636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4278168359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77520012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058570661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635929464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06092754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4893750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86523009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0471206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79722658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826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6.1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608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1144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58235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996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4947309" y="1938435"/>
                <a:ext cx="306494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309" y="1938435"/>
                <a:ext cx="306494" cy="2482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Group 158"/>
          <p:cNvGrpSpPr/>
          <p:nvPr/>
        </p:nvGrpSpPr>
        <p:grpSpPr>
          <a:xfrm>
            <a:off x="5209917" y="1577190"/>
            <a:ext cx="154305" cy="1337310"/>
            <a:chOff x="1800225" y="419100"/>
            <a:chExt cx="182880" cy="1828800"/>
          </a:xfrm>
        </p:grpSpPr>
        <p:sp>
          <p:nvSpPr>
            <p:cNvPr id="160" name="Rectangle 159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3680186" y="1269719"/>
                <a:ext cx="2458237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              ×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186" y="1269719"/>
                <a:ext cx="2458237" cy="339645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68513"/>
              </p:ext>
            </p:extLst>
          </p:nvPr>
        </p:nvGraphicFramePr>
        <p:xfrm>
          <a:off x="5742537" y="1580445"/>
          <a:ext cx="185166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53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/>
              <p:cNvSpPr txBox="1"/>
              <p:nvPr/>
            </p:nvSpPr>
            <p:spPr>
              <a:xfrm>
                <a:off x="5436426" y="1946043"/>
                <a:ext cx="311304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171" name="TextBox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26" y="1946043"/>
                <a:ext cx="311304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标题 1">
            <a:extLst>
              <a:ext uri="{FF2B5EF4-FFF2-40B4-BE49-F238E27FC236}">
                <a16:creationId xmlns:a16="http://schemas.microsoft.com/office/drawing/2014/main" id="{33743C5E-C23C-C547-9A42-CB6E0BA5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44" y="38463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隐层的计算：上下文的平均向量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A1D9AB-28C4-5247-A1F5-E6AD927A0BBC}"/>
              </a:ext>
            </a:extLst>
          </p:cNvPr>
          <p:cNvSpPr txBox="1"/>
          <p:nvPr/>
        </p:nvSpPr>
        <p:spPr>
          <a:xfrm>
            <a:off x="5927703" y="1746793"/>
            <a:ext cx="146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cat</a:t>
            </a:r>
            <a:r>
              <a:rPr kumimoji="1" lang="zh-CN" altLang="en-US" sz="1600" dirty="0"/>
              <a:t>的表达向量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98F5C8F-78CF-C644-9BDA-CEBFEDE86230}"/>
              </a:ext>
            </a:extLst>
          </p:cNvPr>
          <p:cNvSpPr txBox="1"/>
          <p:nvPr/>
        </p:nvSpPr>
        <p:spPr>
          <a:xfrm>
            <a:off x="3487101" y="4321802"/>
            <a:ext cx="1426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on</a:t>
            </a:r>
            <a:r>
              <a:rPr kumimoji="1" lang="zh-CN" altLang="en-US" sz="1600" dirty="0"/>
              <a:t>的表达向量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54978B8-6920-8B4F-80CE-E011F96D88E1}"/>
              </a:ext>
            </a:extLst>
          </p:cNvPr>
          <p:cNvSpPr txBox="1"/>
          <p:nvPr/>
        </p:nvSpPr>
        <p:spPr>
          <a:xfrm>
            <a:off x="4639901" y="3573180"/>
            <a:ext cx="1173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上下文的平均向量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3BCFFF-75B8-8540-AC70-05155C194613}"/>
              </a:ext>
            </a:extLst>
          </p:cNvPr>
          <p:cNvSpPr/>
          <p:nvPr/>
        </p:nvSpPr>
        <p:spPr>
          <a:xfrm>
            <a:off x="3121253" y="724009"/>
            <a:ext cx="3029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W</a:t>
            </a:r>
            <a:r>
              <a:rPr kumimoji="1" lang="zh-CN" altLang="en-US" dirty="0">
                <a:solidFill>
                  <a:srgbClr val="C00000"/>
                </a:solidFill>
              </a:rPr>
              <a:t>：独热表示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词嵌入表示</a:t>
            </a:r>
            <a:endParaRPr kumimoji="1" lang="en-US" altLang="zh-CN" dirty="0">
              <a:solidFill>
                <a:srgbClr val="C0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611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  <p:bldP spid="170" grpId="0"/>
      <p:bldP spid="17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202173" y="1342354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202173" y="2955423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896134" y="1840269"/>
            <a:ext cx="34496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cat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6133" y="3490347"/>
            <a:ext cx="32252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148680" y="2363763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099907" y="2144740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943554" y="1059441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356480" y="1342355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356477" y="2361546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351760" y="2678246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356477" y="3174447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890062" y="1784677"/>
            <a:ext cx="85632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045917" y="3539486"/>
                <a:ext cx="452240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013">
                            <a:latin typeface="Cambria Math" panose="02040503050406030204" pitchFamily="18" charset="0"/>
                          </a:rPr>
                          <m:t>sat</m:t>
                        </m:r>
                      </m:sub>
                    </m:sSub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17" y="3539486"/>
                <a:ext cx="452240" cy="248209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/>
          <p:cNvCxnSpPr/>
          <p:nvPr/>
        </p:nvCxnSpPr>
        <p:spPr>
          <a:xfrm flipV="1">
            <a:off x="4302985" y="2144055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302985" y="3166150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682264" y="1809483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10783" y="1838526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783" y="1838526"/>
                <a:ext cx="725583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526754" y="3288544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754" y="3288544"/>
                <a:ext cx="725583" cy="3347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1722560" y="2497494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22560" y="4092137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6098" y="3445620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522059" y="2591659"/>
                <a:ext cx="1350498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059" y="2591659"/>
                <a:ext cx="1350498" cy="334707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998671" y="3777177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109645" y="3181135"/>
                <a:ext cx="287836" cy="248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645" y="3181135"/>
                <a:ext cx="287836" cy="2482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177061" y="2551517"/>
                <a:ext cx="1656371" cy="334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75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575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75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061" y="2551517"/>
                <a:ext cx="1656371" cy="334707"/>
              </a:xfrm>
              <a:prstGeom prst="rect">
                <a:avLst/>
              </a:prstGeom>
              <a:blipFill>
                <a:blip r:embed="rId8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标题 1">
            <a:extLst>
              <a:ext uri="{FF2B5EF4-FFF2-40B4-BE49-F238E27FC236}">
                <a16:creationId xmlns:a16="http://schemas.microsoft.com/office/drawing/2014/main" id="{0464236D-B3F7-D248-95D2-197FFC74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59" y="272864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从隐层到输出层：选择一个预测单词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B3D90-7395-434D-9516-67A6C36E359B}"/>
              </a:ext>
            </a:extLst>
          </p:cNvPr>
          <p:cNvSpPr/>
          <p:nvPr/>
        </p:nvSpPr>
        <p:spPr>
          <a:xfrm>
            <a:off x="4397481" y="1166606"/>
            <a:ext cx="3089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W’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：词嵌入表示 </a:t>
            </a:r>
            <a:r>
              <a:rPr kumimoji="1" lang="en-US" altLang="zh-CN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kumimoji="1" lang="zh-CN" altLang="en-US" dirty="0">
                <a:solidFill>
                  <a:srgbClr val="C00000"/>
                </a:solidFill>
                <a:sym typeface="Wingdings" pitchFamily="2" charset="2"/>
              </a:rPr>
              <a:t> 独热表示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242" y="4095087"/>
            <a:ext cx="5842629" cy="10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493877" y="899008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493877" y="2512077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187838" y="1396923"/>
            <a:ext cx="34496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cat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87837" y="3047001"/>
            <a:ext cx="322524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440384" y="1920417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391611" y="1701394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35258" y="616095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48184" y="899009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48181" y="1918200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43464" y="2234900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48181" y="2731101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181766" y="1341331"/>
            <a:ext cx="85632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337621" y="3096140"/>
                <a:ext cx="452240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13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13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013">
                            <a:latin typeface="Cambria Math" panose="02040503050406030204" pitchFamily="18" charset="0"/>
                          </a:rPr>
                          <m:t>sat</m:t>
                        </m:r>
                      </m:sub>
                    </m:sSub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621" y="3096140"/>
                <a:ext cx="452240" cy="248209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/>
          <p:cNvCxnSpPr/>
          <p:nvPr/>
        </p:nvCxnSpPr>
        <p:spPr>
          <a:xfrm flipV="1">
            <a:off x="4594689" y="1700709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594689" y="2722804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082950" y="1374773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802487" y="1395180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487" y="1395180"/>
                <a:ext cx="725583" cy="334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818458" y="2845198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458" y="2845198"/>
                <a:ext cx="725583" cy="334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2014264" y="2054148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4264" y="3648791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07802" y="3002274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813764" y="2148313"/>
                <a:ext cx="1662828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575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575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7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57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764" y="2148313"/>
                <a:ext cx="1662828" cy="577081"/>
              </a:xfrm>
              <a:prstGeom prst="rect">
                <a:avLst/>
              </a:prstGeom>
              <a:blipFill>
                <a:blip r:embed="rId5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6290375" y="3333831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401349" y="2737789"/>
                <a:ext cx="287836" cy="248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013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1013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349" y="2737789"/>
                <a:ext cx="287836" cy="2482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1318"/>
              </p:ext>
            </p:extLst>
          </p:nvPr>
        </p:nvGraphicFramePr>
        <p:xfrm>
          <a:off x="7216665" y="1700710"/>
          <a:ext cx="185166" cy="1851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515912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43869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4459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56361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155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5309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09931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42787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25921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3288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1323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7216665" y="3641638"/>
                <a:ext cx="316753" cy="248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013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13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013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13" dirty="0"/>
                  <a:t> </a:t>
                </a: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5" y="3641638"/>
                <a:ext cx="316753" cy="248209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标题 1">
            <a:extLst>
              <a:ext uri="{FF2B5EF4-FFF2-40B4-BE49-F238E27FC236}">
                <a16:creationId xmlns:a16="http://schemas.microsoft.com/office/drawing/2014/main" id="{02485D69-9160-9147-815C-92C9FF4F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59" y="272864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从隐层到输出层：选择一个预测单词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290520-C307-634D-8B1B-0951222C0412}"/>
              </a:ext>
            </a:extLst>
          </p:cNvPr>
          <p:cNvSpPr txBox="1"/>
          <p:nvPr/>
        </p:nvSpPr>
        <p:spPr>
          <a:xfrm>
            <a:off x="1964522" y="3800453"/>
            <a:ext cx="61927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sz="1600" dirty="0"/>
              <a:t>从隐层向量变回</a:t>
            </a:r>
            <a:r>
              <a:rPr kumimoji="1" lang="en-US" altLang="zh-CN" sz="1600" dirty="0"/>
              <a:t>V</a:t>
            </a:r>
            <a:r>
              <a:rPr kumimoji="1" lang="zh-CN" altLang="en-US" sz="1600" dirty="0"/>
              <a:t>维向量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en-US" altLang="zh-CN" sz="1600" dirty="0" err="1"/>
              <a:t>Softmax</a:t>
            </a:r>
            <a:r>
              <a:rPr kumimoji="1" lang="zh-CN" altLang="en-US" sz="1600" dirty="0"/>
              <a:t>非线性变换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选择最可能的单词作为预测的单词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训练目标：选择合适的</a:t>
            </a:r>
            <a:r>
              <a:rPr kumimoji="1" lang="en-US" altLang="zh-CN" sz="1600" dirty="0"/>
              <a:t>W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W’</a:t>
            </a:r>
            <a:r>
              <a:rPr kumimoji="1" lang="zh-CN" altLang="en-US" sz="1600" dirty="0"/>
              <a:t>参数，使得</a:t>
            </a:r>
            <a:r>
              <a:rPr kumimoji="1" lang="zh-CN" altLang="en-US" sz="1600" dirty="0">
                <a:solidFill>
                  <a:srgbClr val="C00000"/>
                </a:solidFill>
              </a:rPr>
              <a:t>预测到</a:t>
            </a:r>
            <a:r>
              <a:rPr kumimoji="1" lang="en-US" altLang="zh-CN" sz="1600" dirty="0">
                <a:solidFill>
                  <a:srgbClr val="C00000"/>
                </a:solidFill>
              </a:rPr>
              <a:t>sat</a:t>
            </a:r>
            <a:r>
              <a:rPr kumimoji="1" lang="zh-CN" altLang="en-US" sz="1600" dirty="0">
                <a:solidFill>
                  <a:srgbClr val="C00000"/>
                </a:solidFill>
              </a:rPr>
              <a:t>的概率最大</a:t>
            </a:r>
          </a:p>
        </p:txBody>
      </p:sp>
    </p:spTree>
    <p:extLst>
      <p:ext uri="{BB962C8B-B14F-4D97-AF65-F5344CB8AC3E}">
        <p14:creationId xmlns:p14="http://schemas.microsoft.com/office/powerpoint/2010/main" val="334287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2520514" y="1335903"/>
            <a:ext cx="154305" cy="1337310"/>
            <a:chOff x="1800225" y="419100"/>
            <a:chExt cx="182880" cy="1828800"/>
          </a:xfrm>
        </p:grpSpPr>
        <p:sp>
          <p:nvSpPr>
            <p:cNvPr id="9" name="Rectangle 8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20515" y="2948973"/>
            <a:ext cx="154305" cy="1337310"/>
            <a:chOff x="1800225" y="419100"/>
            <a:chExt cx="182880" cy="1828800"/>
          </a:xfrm>
        </p:grpSpPr>
        <p:sp>
          <p:nvSpPr>
            <p:cNvPr id="22" name="Rectangle 21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214474" y="1833819"/>
            <a:ext cx="34817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cat</a:t>
            </a:r>
            <a:endParaRPr lang="en-US" sz="1013" dirty="0"/>
          </a:p>
        </p:txBody>
      </p:sp>
      <p:sp>
        <p:nvSpPr>
          <p:cNvPr id="33" name="TextBox 32"/>
          <p:cNvSpPr txBox="1"/>
          <p:nvPr/>
        </p:nvSpPr>
        <p:spPr>
          <a:xfrm>
            <a:off x="2214475" y="3483897"/>
            <a:ext cx="33054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 err="1"/>
              <a:t>x</a:t>
            </a:r>
            <a:r>
              <a:rPr lang="en-US" sz="1013" baseline="-25000" dirty="0" err="1"/>
              <a:t>on</a:t>
            </a:r>
            <a:endParaRPr lang="en-US" sz="1013" dirty="0"/>
          </a:p>
        </p:txBody>
      </p:sp>
      <p:grpSp>
        <p:nvGrpSpPr>
          <p:cNvPr id="46" name="Group 45"/>
          <p:cNvGrpSpPr/>
          <p:nvPr/>
        </p:nvGrpSpPr>
        <p:grpSpPr>
          <a:xfrm>
            <a:off x="4468092" y="2357313"/>
            <a:ext cx="154305" cy="802386"/>
            <a:chOff x="1800225" y="419100"/>
            <a:chExt cx="182880" cy="1097280"/>
          </a:xfrm>
        </p:grpSpPr>
        <p:sp>
          <p:nvSpPr>
            <p:cNvPr id="47" name="Rectangle 46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en-US" sz="619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419319" y="2138289"/>
            <a:ext cx="154305" cy="1337310"/>
            <a:chOff x="1800225" y="419100"/>
            <a:chExt cx="182880" cy="1828800"/>
          </a:xfrm>
        </p:grpSpPr>
        <p:sp>
          <p:nvSpPr>
            <p:cNvPr id="58" name="Rectangle 57"/>
            <p:cNvSpPr/>
            <p:nvPr/>
          </p:nvSpPr>
          <p:spPr>
            <a:xfrm>
              <a:off x="1800225" y="4191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800225" y="6019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800225" y="7848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800225" y="9677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00225" y="11506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00225" y="133350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00225" y="151638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800225" y="169926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b="1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00225" y="188214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800225" y="2065020"/>
              <a:ext cx="182880" cy="182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619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2261894" y="1052991"/>
            <a:ext cx="756938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Input layer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2675892" y="1335905"/>
            <a:ext cx="1792202" cy="102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2675890" y="2355096"/>
            <a:ext cx="1792202" cy="593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71172" y="2671796"/>
            <a:ext cx="1796921" cy="48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2675890" y="3167997"/>
            <a:ext cx="1792202" cy="1118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204077" y="3436682"/>
            <a:ext cx="856325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Hidden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41113" y="2691640"/>
            <a:ext cx="341760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sat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4622397" y="2137605"/>
            <a:ext cx="1796922" cy="217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4622397" y="3159700"/>
            <a:ext cx="1796922" cy="31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10658" y="1811669"/>
            <a:ext cx="85472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Output layer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40901" y="2491044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40901" y="4085686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46806" y="3634418"/>
            <a:ext cx="511679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N-dim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0720" y="3300003"/>
            <a:ext cx="50206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V-dim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2683403" y="2100872"/>
                <a:ext cx="725583" cy="3609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403" y="2100872"/>
                <a:ext cx="725583" cy="3609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761074" y="3182901"/>
                <a:ext cx="725583" cy="3609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074" y="3182901"/>
                <a:ext cx="725583" cy="3609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5693" y="941900"/>
          <a:ext cx="1851660" cy="9258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5166">
                  <a:extLst>
                    <a:ext uri="{9D8B030D-6E8A-4147-A177-3AD203B41FA5}">
                      <a16:colId xmlns:a16="http://schemas.microsoft.com/office/drawing/2014/main" val="4253241636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4278168359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77520012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058570661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635929464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106092754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4893750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865230097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2604712063"/>
                    </a:ext>
                  </a:extLst>
                </a:gridCol>
                <a:gridCol w="185166">
                  <a:extLst>
                    <a:ext uri="{9D8B030D-6E8A-4147-A177-3AD203B41FA5}">
                      <a16:colId xmlns:a16="http://schemas.microsoft.com/office/drawing/2014/main" val="3797226581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04826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2.6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1.5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3.6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6.1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608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1144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58235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0.6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1.9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2.4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2.0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/>
                        <a:t>1.2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996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3666331" y="632410"/>
                <a:ext cx="725583" cy="339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331" y="632410"/>
                <a:ext cx="725583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/>
          <p:cNvSpPr txBox="1"/>
          <p:nvPr/>
        </p:nvSpPr>
        <p:spPr>
          <a:xfrm>
            <a:off x="5361601" y="985638"/>
            <a:ext cx="139974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>
                <a:solidFill>
                  <a:srgbClr val="FF0000"/>
                </a:solidFill>
              </a:rPr>
              <a:t>Contain word’s vectors</a:t>
            </a:r>
          </a:p>
        </p:txBody>
      </p:sp>
      <p:cxnSp>
        <p:nvCxnSpPr>
          <p:cNvPr id="6" name="Straight Arrow Connector 5"/>
          <p:cNvCxnSpPr>
            <a:stCxn id="81" idx="1"/>
            <a:endCxn id="2" idx="3"/>
          </p:cNvCxnSpPr>
          <p:nvPr/>
        </p:nvCxnSpPr>
        <p:spPr>
          <a:xfrm flipH="1">
            <a:off x="4897353" y="1109743"/>
            <a:ext cx="464248" cy="29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5365983" y="2566430"/>
                <a:ext cx="725583" cy="33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575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575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1575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983" y="2566430"/>
                <a:ext cx="725583" cy="334707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261894" y="4424166"/>
            <a:ext cx="4847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</a:t>
            </a:r>
            <a:r>
              <a:rPr lang="zh-CN" altLang="en-US" dirty="0"/>
              <a:t>和</a:t>
            </a:r>
            <a:r>
              <a:rPr lang="en-US" altLang="zh-CN" dirty="0"/>
              <a:t>W’</a:t>
            </a:r>
            <a:r>
              <a:rPr lang="zh-CN" altLang="en-US" dirty="0"/>
              <a:t>中的向量都可以作为词向量（或者它们的平均值）</a:t>
            </a:r>
            <a:endParaRPr lang="en-US" dirty="0"/>
          </a:p>
        </p:txBody>
      </p:sp>
      <p:sp>
        <p:nvSpPr>
          <p:cNvPr id="69" name="标题 1">
            <a:extLst>
              <a:ext uri="{FF2B5EF4-FFF2-40B4-BE49-F238E27FC236}">
                <a16:creationId xmlns:a16="http://schemas.microsoft.com/office/drawing/2014/main" id="{4C572066-B93A-F643-951F-162CE66A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44" y="133537"/>
            <a:ext cx="8229600" cy="498872"/>
          </a:xfrm>
        </p:spPr>
        <p:txBody>
          <a:bodyPr/>
          <a:lstStyle/>
          <a:p>
            <a:r>
              <a:rPr kumimoji="1" lang="zh-CN" altLang="en-US" dirty="0"/>
              <a:t>学习到的词向量：</a:t>
            </a:r>
            <a:r>
              <a:rPr kumimoji="1" lang="en-US" altLang="zh-CN" dirty="0"/>
              <a:t>W</a:t>
            </a:r>
            <a:r>
              <a:rPr kumimoji="1" lang="zh-CN" altLang="en-US" dirty="0"/>
              <a:t>或者</a:t>
            </a:r>
            <a:r>
              <a:rPr kumimoji="1" lang="en-US" altLang="zh-CN" dirty="0"/>
              <a:t>W</a:t>
            </a:r>
            <a:r>
              <a:rPr kumimoji="1" lang="en-US" altLang="zh-CN" dirty="0">
                <a:latin typeface="Times" pitchFamily="2" charset="0"/>
              </a:rPr>
              <a:t>’</a:t>
            </a:r>
            <a:endParaRPr kumimoji="1" lang="zh-CN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0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7BEEB-AA99-284F-AEA6-A7C82278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学习过程：上下文训练数据构造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6CCC8D-9A8E-9B4A-8F6B-C450B11A0F2E}"/>
              </a:ext>
            </a:extLst>
          </p:cNvPr>
          <p:cNvSpPr txBox="1"/>
          <p:nvPr/>
        </p:nvSpPr>
        <p:spPr>
          <a:xfrm>
            <a:off x="1606550" y="809808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窗口大小</a:t>
            </a:r>
            <a:r>
              <a:rPr kumimoji="1" lang="en-US" altLang="zh-CN" dirty="0"/>
              <a:t>=2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0BE55CF-AD42-8F48-9A50-91466324F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60"/>
          <a:stretch/>
        </p:blipFill>
        <p:spPr>
          <a:xfrm>
            <a:off x="1606550" y="1867876"/>
            <a:ext cx="6595341" cy="32756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B95DBA1-BA80-664A-8AC2-41F536F04349}"/>
              </a:ext>
            </a:extLst>
          </p:cNvPr>
          <p:cNvSpPr txBox="1"/>
          <p:nvPr/>
        </p:nvSpPr>
        <p:spPr>
          <a:xfrm>
            <a:off x="2078182" y="15101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原始文本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AC5BDA-012C-0E42-8B87-994D76222784}"/>
              </a:ext>
            </a:extLst>
          </p:cNvPr>
          <p:cNvSpPr/>
          <p:nvPr/>
        </p:nvSpPr>
        <p:spPr>
          <a:xfrm>
            <a:off x="6082329" y="1510145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/>
              <a:t>生成的训练数据</a:t>
            </a:r>
            <a:endParaRPr lang="zh-CN" alt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508955" y="1879477"/>
            <a:ext cx="1209368" cy="558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08955" y="2568213"/>
            <a:ext cx="1209368" cy="666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08955" y="3356787"/>
            <a:ext cx="1209368" cy="814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508955" y="4258261"/>
            <a:ext cx="1209368" cy="815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37771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7FF4-A253-BC42-826E-BF5A7DE8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学习过程：目标函数构造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974C54-3435-AA4C-93F0-94DA4F2DE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819150"/>
                <a:ext cx="5447053" cy="3937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kumimoji="1" lang="zh-CN" altLang="en-US" sz="1800" dirty="0"/>
                  <a:t>选择一个中心词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zh-CN" altLang="en-US" sz="1800" dirty="0"/>
                  <a:t>和上下文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kumimoji="1"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kumimoji="1" lang="zh-CN" altLang="en-US" sz="1800" dirty="0"/>
                  <a:t>获得上下文的词向量</a:t>
                </a:r>
                <a14:m>
                  <m:oMath xmlns:m="http://schemas.openxmlformats.org/officeDocument/2006/math">
                    <m:r>
                      <a:rPr kumimoji="1" lang="zh-CN" altLang="en-US" sz="1800" i="1" smtClean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800" b="1" i="0">
                        <a:latin typeface="Cambria Math" panose="02040503050406030204" pitchFamily="18" charset="0"/>
                      </a:rPr>
                      <m:t>𝐖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1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800" b="1">
                        <a:latin typeface="Cambria Math" panose="02040503050406030204" pitchFamily="18" charset="0"/>
                      </a:rPr>
                      <m:t>𝐖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kumimoji="1"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kumimoji="1"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kumimoji="1" lang="zh-CN" altLang="en-US" sz="1800" dirty="0"/>
                  <a:t>得到上下文的平均向量</a:t>
                </a:r>
                <a:endParaRPr kumimoji="1"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1800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8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8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zh-CN" sz="1800" dirty="0"/>
              </a:p>
              <a:p>
                <a:pPr>
                  <a:lnSpc>
                    <a:spcPct val="110000"/>
                  </a:lnSpc>
                </a:pPr>
                <a:r>
                  <a:rPr kumimoji="1" lang="zh-CN" altLang="en-US" sz="1800" dirty="0"/>
                  <a:t>预测中心词的概率</a:t>
                </a:r>
                <a:endParaRPr kumimoji="1"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1" i="0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800" b="1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</m:acc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1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800" b="1"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kumimoji="1"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̅"/>
                                      <m:ctrlPr>
                                        <a:rPr kumimoji="1" lang="en-US" altLang="zh-C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1800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kumimoji="1" lang="zh-CN" alt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zh-CN" sz="1800" b="0" i="0" smtClean="0">
                                      <a:latin typeface="Cambria Math" charset="0"/>
                                    </a:rPr>
                                    <m:t>exp</m:t>
                                  </m:r>
                                </m:fName>
                                <m:e>
                                  <m:r>
                                    <a:rPr kumimoji="1" lang="en-US" altLang="zh-CN" sz="1800" b="0" i="1" smtClean="0">
                                      <a:latin typeface="Cambria Math" charset="0"/>
                                    </a:rPr>
                                    <m:t>{</m:t>
                                  </m:r>
                                  <m:sSup>
                                    <m:sSupPr>
                                      <m:ctrlPr>
                                        <a:rPr kumimoji="1"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1800" b="1">
                                              <a:latin typeface="Cambria Math" panose="02040503050406030204" pitchFamily="18" charset="0"/>
                                            </a:rPr>
                                            <m:t>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kumimoji="1"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̅"/>
                                      <m:ctrlPr>
                                        <a:rPr kumimoji="1" lang="en-US" altLang="zh-CN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1800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  <m:r>
                                    <a:rPr kumimoji="1" lang="en-US" altLang="zh-CN" sz="1800" b="0" i="1" smtClean="0">
                                      <a:latin typeface="Cambria Math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nary>
                        </m:den>
                      </m:f>
                      <m:r>
                        <a:rPr kumimoji="1" lang="zh-CN" altLang="en-US" sz="1800" b="0" i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kumimoji="1" lang="zh-CN" altLang="en-US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1800" i="1">
                          <a:latin typeface="Cambria Math" panose="02040503050406030204" pitchFamily="18" charset="0"/>
                        </a:rPr>
                        <m:t>where</m:t>
                      </m:r>
                      <m:sSub>
                        <m:sSubPr>
                          <m:ctrlP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8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1800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en-US" altLang="zh-CN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kumimoji="1"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974C54-3435-AA4C-93F0-94DA4F2DE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819150"/>
                <a:ext cx="5447053" cy="3937000"/>
              </a:xfrm>
              <a:blipFill>
                <a:blip r:embed="rId3"/>
                <a:stretch>
                  <a:fillRect l="-698" t="-322" b="-9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DE6C8B03-4C36-5C44-BE1F-CB3C48ED9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255" y="819150"/>
            <a:ext cx="3323746" cy="3201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11B4FC0-8EE5-3F42-9CC1-974BA8DE9806}"/>
                  </a:ext>
                </a:extLst>
              </p:cNvPr>
              <p:cNvSpPr txBox="1"/>
              <p:nvPr/>
            </p:nvSpPr>
            <p:spPr>
              <a:xfrm>
                <a:off x="457198" y="4208116"/>
                <a:ext cx="6561412" cy="935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/>
                  <a:t>训练优化目标</a:t>
                </a:r>
                <a:r>
                  <a:rPr kumimoji="1" lang="en-US" altLang="zh-CN" sz="2400" dirty="0"/>
                  <a:t>MLE</a:t>
                </a:r>
                <a:r>
                  <a:rPr kumimoji="1" lang="zh-CN" altLang="en-US" sz="2400" dirty="0"/>
                  <a:t>：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kumimoji="1"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{"/>
                            <m:endChr m:val="}"/>
                            <m:ctrlPr>
                              <a:rPr kumimoji="1"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kumimoji="1"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kumimoji="1"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p>
                                <m:r>
                                  <a:rPr kumimoji="1" lang="en-US" altLang="zh-C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lim>
                    </m:limLow>
                    <m:r>
                      <a:rPr kumimoji="1" lang="zh-CN" alt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kumimoji="1" lang="zh-CN" alt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func>
                          <m:funcPr>
                            <m:ctrlPr>
                              <a:rPr kumimoji="1" lang="zh-CN" alt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en-US" altLang="zh-CN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4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kumimoji="1" lang="en-US" altLang="zh-CN" sz="24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sub>
                                                </m:sSub>
                                                <m:sSup>
                                                  <m:sSup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1" lang="en-US" altLang="zh-CN" sz="2400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1" lang="en-US" altLang="zh-CN" sz="2400" b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sup>
                                  <m:e>
                                    <m:func>
                                      <m:funcPr>
                                        <m:ctrlPr>
                                          <a:rPr kumimoji="1" lang="zh-CN" alt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400" b="0" i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sSup>
                                          <m:sSup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sSup>
                                                  <m:sSup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𝑊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1" lang="en-US" altLang="zh-CN" sz="2400" b="1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1" lang="en-US" altLang="zh-CN" sz="2400" b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</m:acc>
                                      </m:e>
                                    </m:func>
                                  </m:e>
                                </m:nary>
                              </m:den>
                            </m:f>
                          </m:e>
                        </m:func>
                      </m:e>
                    </m:nary>
                  </m:oMath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1B4FC0-8EE5-3F42-9CC1-974BA8DE9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8" y="4208116"/>
                <a:ext cx="6561412" cy="935384"/>
              </a:xfrm>
              <a:prstGeom prst="rect">
                <a:avLst/>
              </a:prstGeom>
              <a:blipFill rotWithShape="0">
                <a:blip r:embed="rId5"/>
                <a:stretch>
                  <a:fillRect l="-1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Skip-Gram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也采用类似的做法</a:t>
            </a:r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 dirty="0">
                <a:latin typeface="Times" panose="02020603050405020304" pitchFamily="18" charset="0"/>
                <a:cs typeface="Times" panose="02020603050405020304" pitchFamily="18" charset="0"/>
              </a:rPr>
              <a:t>优化目标构建</a:t>
            </a:r>
            <a:r>
              <a:rPr lang="zh-CN" altLang="en-US" sz="1800" dirty="0">
                <a:latin typeface="Times" panose="02020603050405020304" pitchFamily="18" charset="0"/>
                <a:cs typeface="Times" panose="02020603050405020304" pitchFamily="18" charset="0"/>
              </a:rPr>
              <a:t>：扫描文本数据集合，对遇到的每一个单词，通过当前单词预测从</a:t>
            </a:r>
            <a:r>
              <a:rPr lang="en-US" altLang="zh-CN" sz="1800" dirty="0">
                <a:latin typeface="Times" panose="02020603050405020304" pitchFamily="18" charset="0"/>
                <a:cs typeface="Times" panose="02020603050405020304" pitchFamily="18" charset="0"/>
              </a:rPr>
              <a:t>-</a:t>
            </a:r>
            <a:r>
              <a:rPr lang="en-US" altLang="zh-CN" sz="1800" i="1" dirty="0">
                <a:latin typeface="Times" panose="02020603050405020304" pitchFamily="18" charset="0"/>
                <a:cs typeface="Times" panose="02020603050405020304" pitchFamily="18" charset="0"/>
              </a:rPr>
              <a:t>c</a:t>
            </a:r>
            <a:r>
              <a:rPr lang="zh-CN" altLang="en-US" sz="1800" dirty="0">
                <a:latin typeface="Times" panose="02020603050405020304" pitchFamily="18" charset="0"/>
                <a:cs typeface="Times" panose="02020603050405020304" pitchFamily="18" charset="0"/>
              </a:rPr>
              <a:t>到</a:t>
            </a:r>
            <a:r>
              <a:rPr lang="en-US" altLang="zh-CN" sz="1800" i="1" dirty="0">
                <a:latin typeface="Times" panose="02020603050405020304" pitchFamily="18" charset="0"/>
                <a:cs typeface="Times" panose="02020603050405020304" pitchFamily="18" charset="0"/>
              </a:rPr>
              <a:t>c</a:t>
            </a:r>
            <a:r>
              <a:rPr lang="zh-CN" altLang="en-US" sz="1800" dirty="0">
                <a:latin typeface="Times" panose="02020603050405020304" pitchFamily="18" charset="0"/>
                <a:cs typeface="Times" panose="02020603050405020304" pitchFamily="18" charset="0"/>
              </a:rPr>
              <a:t>的窗口中的单词的概率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30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B53C5D-4C58-9B42-B771-52F359BBA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237" y="1458836"/>
            <a:ext cx="3987689" cy="32973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44BAB8-3E4C-CE41-801E-E8CE696AB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4" y="3264444"/>
            <a:ext cx="4851178" cy="14917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B2F8FDA-A04A-0848-8B91-C59D0CD76041}"/>
              </a:ext>
            </a:extLst>
          </p:cNvPr>
          <p:cNvSpPr txBox="1"/>
          <p:nvPr/>
        </p:nvSpPr>
        <p:spPr>
          <a:xfrm>
            <a:off x="1343892" y="1981201"/>
            <a:ext cx="278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" pitchFamily="2" charset="0"/>
              </a:rPr>
              <a:t>由中心词</a:t>
            </a:r>
            <a:r>
              <a:rPr kumimoji="1" lang="en-US" altLang="zh-CN" dirty="0" err="1">
                <a:latin typeface="Times" pitchFamily="2" charset="0"/>
              </a:rPr>
              <a:t>w</a:t>
            </a:r>
            <a:r>
              <a:rPr kumimoji="1" lang="en-US" altLang="zh-CN" baseline="-25000" dirty="0" err="1">
                <a:latin typeface="Times" pitchFamily="2" charset="0"/>
              </a:rPr>
              <a:t>c</a:t>
            </a:r>
            <a:r>
              <a:rPr kumimoji="1" lang="zh-CN" altLang="en-US" dirty="0">
                <a:latin typeface="Times" pitchFamily="2" charset="0"/>
              </a:rPr>
              <a:t>的表达逐个预测其</a:t>
            </a:r>
            <a:r>
              <a:rPr kumimoji="1" lang="en-US" altLang="zh-CN" dirty="0">
                <a:latin typeface="Times" pitchFamily="2" charset="0"/>
              </a:rPr>
              <a:t>2m</a:t>
            </a:r>
            <a:r>
              <a:rPr kumimoji="1" lang="zh-CN" altLang="en-US" dirty="0">
                <a:latin typeface="Times" pitchFamily="2" charset="0"/>
              </a:rPr>
              <a:t>个上下文词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6621DDC1-E529-7343-98D1-CC15C0CAB5C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736274" y="2627532"/>
            <a:ext cx="838199" cy="8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61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Word2Vec</a:t>
            </a:r>
            <a:r>
              <a:rPr lang="zh-CN" altLang="en-US" dirty="0"/>
              <a:t>在单词类比上的结果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8963"/>
          <a:stretch/>
        </p:blipFill>
        <p:spPr>
          <a:xfrm>
            <a:off x="2330694" y="1908944"/>
            <a:ext cx="4482612" cy="257336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A349754-50A3-F14C-AE85-222FE3838503}"/>
              </a:ext>
            </a:extLst>
          </p:cNvPr>
          <p:cNvSpPr/>
          <p:nvPr/>
        </p:nvSpPr>
        <p:spPr>
          <a:xfrm>
            <a:off x="318654" y="893281"/>
            <a:ext cx="80217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400" dirty="0"/>
              <a:t>单词类比任务：</a:t>
            </a:r>
            <a:endParaRPr lang="en-US" altLang="zh-CN" sz="2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语义关系建模</a:t>
            </a:r>
            <a:r>
              <a:rPr lang="en-US" altLang="zh-CN" dirty="0"/>
              <a:t>: “</a:t>
            </a:r>
            <a:r>
              <a:rPr lang="en-US" altLang="zh-CN" dirty="0">
                <a:solidFill>
                  <a:srgbClr val="C00000"/>
                </a:solidFill>
              </a:rPr>
              <a:t>Beijing</a:t>
            </a:r>
            <a:r>
              <a:rPr lang="en-US" altLang="zh-CN" dirty="0"/>
              <a:t> is to </a:t>
            </a:r>
            <a:r>
              <a:rPr lang="en-US" altLang="zh-CN" dirty="0">
                <a:solidFill>
                  <a:srgbClr val="00B050"/>
                </a:solidFill>
              </a:rPr>
              <a:t>China</a:t>
            </a:r>
            <a:r>
              <a:rPr lang="en-US" altLang="zh-CN" dirty="0"/>
              <a:t> as </a:t>
            </a:r>
            <a:r>
              <a:rPr lang="en-US" altLang="zh-CN" dirty="0">
                <a:solidFill>
                  <a:srgbClr val="C00000"/>
                </a:solidFill>
              </a:rPr>
              <a:t>Paris</a:t>
            </a:r>
            <a:r>
              <a:rPr lang="en-US" altLang="zh-CN" dirty="0"/>
              <a:t> is to _____</a:t>
            </a:r>
            <a:r>
              <a:rPr lang="zh-CN" altLang="en-US" dirty="0"/>
              <a:t> </a:t>
            </a:r>
            <a:r>
              <a:rPr lang="en-US" altLang="zh-CN" dirty="0"/>
              <a:t>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语法关系建模</a:t>
            </a:r>
            <a:r>
              <a:rPr lang="en-US" altLang="zh-CN" dirty="0"/>
              <a:t>: “</a:t>
            </a:r>
            <a:r>
              <a:rPr lang="en-US" altLang="zh-CN" dirty="0">
                <a:solidFill>
                  <a:srgbClr val="C00000"/>
                </a:solidFill>
              </a:rPr>
              <a:t>big</a:t>
            </a:r>
            <a:r>
              <a:rPr lang="en-US" altLang="zh-CN" dirty="0"/>
              <a:t> is to </a:t>
            </a:r>
            <a:r>
              <a:rPr lang="en-US" altLang="zh-CN" dirty="0">
                <a:solidFill>
                  <a:srgbClr val="00B050"/>
                </a:solidFill>
              </a:rPr>
              <a:t>bigger</a:t>
            </a:r>
            <a:r>
              <a:rPr lang="en-US" altLang="zh-CN" dirty="0"/>
              <a:t> as </a:t>
            </a:r>
            <a:r>
              <a:rPr lang="en-US" altLang="zh-CN" dirty="0">
                <a:solidFill>
                  <a:srgbClr val="C00000"/>
                </a:solidFill>
              </a:rPr>
              <a:t>deep</a:t>
            </a:r>
            <a:r>
              <a:rPr lang="en-US" altLang="zh-CN" dirty="0"/>
              <a:t> is to _____”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6DA0EC-8FC6-944D-8CBE-7DCD48CE8761}"/>
              </a:ext>
            </a:extLst>
          </p:cNvPr>
          <p:cNvSpPr txBox="1"/>
          <p:nvPr/>
        </p:nvSpPr>
        <p:spPr>
          <a:xfrm>
            <a:off x="2560872" y="4571484"/>
            <a:ext cx="402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(king)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dirty="0">
                <a:latin typeface="Times" pitchFamily="2" charset="0"/>
              </a:rPr>
              <a:t>–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(man)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dirty="0">
                <a:latin typeface="Times" pitchFamily="2" charset="0"/>
              </a:rPr>
              <a:t>+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(woman)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dirty="0">
                <a:latin typeface="Times" pitchFamily="2" charset="0"/>
              </a:rPr>
              <a:t>=</a:t>
            </a:r>
            <a:r>
              <a:rPr kumimoji="1" lang="zh-CN" altLang="en-US" dirty="0">
                <a:latin typeface="Times" pitchFamily="2" charset="0"/>
              </a:rPr>
              <a:t> </a:t>
            </a:r>
            <a:r>
              <a:rPr kumimoji="1" lang="en-US" altLang="zh-CN" b="1" dirty="0">
                <a:latin typeface="Times" pitchFamily="2" charset="0"/>
              </a:rPr>
              <a:t>v</a:t>
            </a:r>
            <a:r>
              <a:rPr kumimoji="1" lang="en-US" altLang="zh-CN" dirty="0">
                <a:latin typeface="Times" pitchFamily="2" charset="0"/>
              </a:rPr>
              <a:t>(queen)</a:t>
            </a:r>
            <a:endParaRPr kumimoji="1" lang="zh-CN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5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更多单词类比的结果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32AC27-04AE-6E40-AB97-EC337EE80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477" y="782969"/>
            <a:ext cx="6327045" cy="436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6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B8AE-EE3F-89D2-5321-5F655AA7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FDC11-762A-38D3-1355-8AFBC23A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CBOW</a:t>
            </a:r>
            <a:r>
              <a:rPr kumimoji="1" lang="zh-CN" altLang="en-US" dirty="0"/>
              <a:t>课堂练习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05293-64E0-C9F3-694A-2CD1748E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A0B1A23-A249-D9E9-BB77-41928447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4246836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目标：理解 </a:t>
            </a:r>
            <a:r>
              <a:rPr kumimoji="1" lang="en-US" altLang="zh-CN" dirty="0"/>
              <a:t>CBOW </a:t>
            </a:r>
            <a:r>
              <a:rPr kumimoji="1" lang="zh-CN" altLang="en-US" dirty="0"/>
              <a:t>的前向传播、</a:t>
            </a:r>
            <a:r>
              <a:rPr kumimoji="1" lang="en-US" altLang="zh-CN" dirty="0" err="1"/>
              <a:t>Softmax</a:t>
            </a:r>
            <a:r>
              <a:rPr kumimoji="1" lang="en-US" altLang="zh-CN" dirty="0"/>
              <a:t> </a:t>
            </a:r>
            <a:r>
              <a:rPr kumimoji="1" lang="zh-CN" altLang="en-US" dirty="0"/>
              <a:t>梯度、反向传播更新词向量等基本概念与方法</a:t>
            </a:r>
            <a:endParaRPr kumimoji="1" lang="en-US" altLang="zh-CN" dirty="0"/>
          </a:p>
          <a:p>
            <a:r>
              <a:rPr kumimoji="1" lang="zh-CN" altLang="en-US" dirty="0"/>
              <a:t>词表：</a:t>
            </a:r>
            <a:r>
              <a:rPr kumimoji="1" lang="en-US" altLang="zh-CN" dirty="0"/>
              <a:t>[I, like, cats, dogs]</a:t>
            </a:r>
          </a:p>
          <a:p>
            <a:r>
              <a:rPr kumimoji="1" lang="zh-CN" altLang="en-US" dirty="0"/>
              <a:t>训练语料（窗口大小为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，即中心词前后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个单词）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 like cats</a:t>
            </a:r>
          </a:p>
          <a:p>
            <a:pPr lvl="1"/>
            <a:r>
              <a:rPr kumimoji="1" lang="en-US" altLang="zh-CN" dirty="0"/>
              <a:t>I like dogs</a:t>
            </a:r>
          </a:p>
          <a:p>
            <a:pPr lvl="1"/>
            <a:r>
              <a:rPr kumimoji="1" lang="en-US" altLang="zh-CN" dirty="0"/>
              <a:t>cats like dogs</a:t>
            </a:r>
          </a:p>
          <a:p>
            <a:r>
              <a:rPr kumimoji="1" lang="zh-CN" altLang="en-US" dirty="0"/>
              <a:t>假设初始情况下，模型参数为：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A0E61E-1587-0AFD-870E-F390DBFEF5BB}"/>
                  </a:ext>
                </a:extLst>
              </p:cNvPr>
              <p:cNvSpPr txBox="1"/>
              <p:nvPr/>
            </p:nvSpPr>
            <p:spPr>
              <a:xfrm>
                <a:off x="4674475" y="3168120"/>
                <a:ext cx="1249316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A0E61E-1587-0AFD-870E-F390DBFE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475" y="3168120"/>
                <a:ext cx="1249316" cy="1020472"/>
              </a:xfrm>
              <a:prstGeom prst="rect">
                <a:avLst/>
              </a:prstGeom>
              <a:blipFill>
                <a:blip r:embed="rId2"/>
                <a:stretch>
                  <a:fillRect l="-4040" b="-740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AE51C3-8FAF-A2A8-11C4-983CB0D10D0B}"/>
                  </a:ext>
                </a:extLst>
              </p:cNvPr>
              <p:cNvSpPr txBox="1"/>
              <p:nvPr/>
            </p:nvSpPr>
            <p:spPr>
              <a:xfrm>
                <a:off x="6413937" y="3447395"/>
                <a:ext cx="2019463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N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AE51C3-8FAF-A2A8-11C4-983CB0D10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937" y="3447395"/>
                <a:ext cx="2019463" cy="461921"/>
              </a:xfrm>
              <a:prstGeom prst="rect">
                <a:avLst/>
              </a:prstGeom>
              <a:blipFill>
                <a:blip r:embed="rId3"/>
                <a:stretch>
                  <a:fillRect l="-1875" t="-2703" b="-162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54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C376-7209-C500-B6FC-F75A6671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8835-CB82-C919-9C76-FBD1142E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dirty="0"/>
              <a:t>Continuous Bag of Word</a:t>
            </a:r>
            <a:r>
              <a:rPr lang="en-US" altLang="zh-CN" dirty="0"/>
              <a:t>(CBOW)</a:t>
            </a:r>
            <a:r>
              <a:rPr lang="zh-CN" altLang="en-US" dirty="0"/>
              <a:t>为例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A515F-CA24-FA20-EBE1-D5A555E640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2328698"/>
              </a:xfrm>
            </p:spPr>
            <p:txBody>
              <a:bodyPr/>
              <a:lstStyle/>
              <a:p>
                <a:r>
                  <a:rPr lang="zh-CN" altLang="en-US" dirty="0"/>
                  <a:t>针对训练语料：</a:t>
                </a:r>
                <a:r>
                  <a:rPr lang="en-US" altLang="zh-CN" dirty="0"/>
                  <a:t>I like cats</a:t>
                </a:r>
                <a:endParaRPr lang="en-US" dirty="0"/>
              </a:p>
              <a:p>
                <a:pPr lvl="1"/>
                <a:r>
                  <a:rPr lang="en-US" dirty="0" err="1"/>
                  <a:t>训练样本</a:t>
                </a:r>
                <a:r>
                  <a:rPr lang="zh-CN" altLang="en-US" dirty="0"/>
                  <a:t>：上下文为</a:t>
                </a:r>
                <a:r>
                  <a:rPr lang="en-US" altLang="zh-CN" dirty="0"/>
                  <a:t>[</a:t>
                </a:r>
                <a:r>
                  <a:rPr lang="en-US" altLang="zh-CN" b="1" dirty="0"/>
                  <a:t>I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b="1" dirty="0"/>
                  <a:t>cats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，中心词为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like</a:t>
                </a:r>
              </a:p>
              <a:p>
                <a:r>
                  <a:rPr lang="en-US" b="1" dirty="0" err="1"/>
                  <a:t>问题一</a:t>
                </a:r>
                <a:r>
                  <a:rPr lang="zh-CN" altLang="en-US" dirty="0"/>
                  <a:t>：</a:t>
                </a:r>
                <a:r>
                  <a:rPr lang="en-US" dirty="0" err="1"/>
                  <a:t>请计算预测概率分布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A515F-CA24-FA20-EBE1-D5A555E64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2328698"/>
              </a:xfrm>
              <a:blipFill>
                <a:blip r:embed="rId2"/>
                <a:stretch>
                  <a:fillRect l="-617" t="-16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9D104-634F-60B1-101D-E3980D17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B8EC38-E2DB-67B0-1834-64481467EBA5}"/>
                  </a:ext>
                </a:extLst>
              </p:cNvPr>
              <p:cNvSpPr txBox="1"/>
              <p:nvPr/>
            </p:nvSpPr>
            <p:spPr>
              <a:xfrm>
                <a:off x="630992" y="1918449"/>
                <a:ext cx="4574626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1800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8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8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=(1,0.5)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B8EC38-E2DB-67B0-1834-64481467E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2" y="1918449"/>
                <a:ext cx="4574626" cy="848566"/>
              </a:xfrm>
              <a:prstGeom prst="rect">
                <a:avLst/>
              </a:prstGeom>
              <a:blipFill>
                <a:blip r:embed="rId3"/>
                <a:stretch>
                  <a:fillRect t="-101493" b="-1567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">
            <a:extLst>
              <a:ext uri="{FF2B5EF4-FFF2-40B4-BE49-F238E27FC236}">
                <a16:creationId xmlns:a16="http://schemas.microsoft.com/office/drawing/2014/main" id="{24407CDA-54C2-1129-6355-609F55CA1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717" y="3194292"/>
            <a:ext cx="2743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预测 like（第二个词）的概率是多少？</a:t>
            </a: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A.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b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B. 0.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</a:t>
            </a:r>
            <a:b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C. 0.25</a:t>
            </a:r>
            <a:b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D. 0.3</a:t>
            </a: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7237E5-F24C-D025-FE6F-6B6D3FDA3DC9}"/>
              </a:ext>
            </a:extLst>
          </p:cNvPr>
          <p:cNvSpPr/>
          <p:nvPr/>
        </p:nvSpPr>
        <p:spPr>
          <a:xfrm>
            <a:off x="6437351" y="273892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1">
                <a:extLst>
                  <a:ext uri="{FF2B5EF4-FFF2-40B4-BE49-F238E27FC236}">
                    <a16:creationId xmlns:a16="http://schemas.microsoft.com/office/drawing/2014/main" id="{EFAC8C33-B4AB-854A-5A9F-9A6DE04A7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6757" y="3846110"/>
                <a:ext cx="1103586" cy="956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提示</a:t>
                </a:r>
                <a:r>
                  <a:rPr kumimoji="0" lang="zh-CN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：</a:t>
                </a:r>
                <a:endPara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</a:endParaRP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</m:t>
                    </m:r>
                  </m:oMath>
                </a14:m>
                <a:endParaRPr kumimoji="0" lang="en-CN" altLang="en-CN" sz="1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p>
                    <m:r>
                      <a:rPr lang="en-US" altLang="zh-CN" sz="1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CN" altLang="en-CN" sz="1400" dirty="0">
                  <a:solidFill>
                    <a:srgbClr val="0070C0"/>
                  </a:solidFill>
                </a:endParaRP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CN" altLang="en-CN" sz="1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>
          <p:sp>
            <p:nvSpPr>
              <p:cNvPr id="31" name="Rectangle 1">
                <a:extLst>
                  <a:ext uri="{FF2B5EF4-FFF2-40B4-BE49-F238E27FC236}">
                    <a16:creationId xmlns:a16="http://schemas.microsoft.com/office/drawing/2014/main" id="{EFAC8C33-B4AB-854A-5A9F-9A6DE04A79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6757" y="3846110"/>
                <a:ext cx="1103586" cy="956480"/>
              </a:xfrm>
              <a:prstGeom prst="rect">
                <a:avLst/>
              </a:prstGeom>
              <a:blipFill>
                <a:blip r:embed="rId4"/>
                <a:stretch>
                  <a:fillRect l="-1124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FAFD6EB-DACE-3494-56F4-AB6A454CDE14}"/>
                  </a:ext>
                </a:extLst>
              </p:cNvPr>
              <p:cNvSpPr txBox="1"/>
              <p:nvPr/>
            </p:nvSpPr>
            <p:spPr>
              <a:xfrm>
                <a:off x="399764" y="2767015"/>
                <a:ext cx="4574626" cy="3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1,0.5</m:t>
                          </m:r>
                        </m:e>
                      </m:d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FAFD6EB-DACE-3494-56F4-AB6A454CD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64" y="2767015"/>
                <a:ext cx="4574626" cy="375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81A197-74C9-F6B0-E97F-E1D950AC529E}"/>
                  </a:ext>
                </a:extLst>
              </p:cNvPr>
              <p:cNvSpPr txBox="1"/>
              <p:nvPr/>
            </p:nvSpPr>
            <p:spPr>
              <a:xfrm>
                <a:off x="6576848" y="746039"/>
                <a:ext cx="1249316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81A197-74C9-F6B0-E97F-E1D950AC5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848" y="746039"/>
                <a:ext cx="1249316" cy="1020472"/>
              </a:xfrm>
              <a:prstGeom prst="rect">
                <a:avLst/>
              </a:prstGeom>
              <a:blipFill>
                <a:blip r:embed="rId6"/>
                <a:stretch>
                  <a:fillRect l="-3000" b="-609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CB3F084-618C-2D96-0256-113FDE0D2691}"/>
                  </a:ext>
                </a:extLst>
              </p:cNvPr>
              <p:cNvSpPr txBox="1"/>
              <p:nvPr/>
            </p:nvSpPr>
            <p:spPr>
              <a:xfrm>
                <a:off x="6576848" y="1880811"/>
                <a:ext cx="2019463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N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CB3F084-618C-2D96-0256-113FDE0D2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848" y="1880811"/>
                <a:ext cx="2019463" cy="461921"/>
              </a:xfrm>
              <a:prstGeom prst="rect">
                <a:avLst/>
              </a:prstGeom>
              <a:blipFill>
                <a:blip r:embed="rId7"/>
                <a:stretch>
                  <a:fillRect l="-1875" t="-2703" b="-162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75875E-19E9-9718-EDBF-4C7782C62622}"/>
                  </a:ext>
                </a:extLst>
              </p:cNvPr>
              <p:cNvSpPr txBox="1"/>
              <p:nvPr/>
            </p:nvSpPr>
            <p:spPr>
              <a:xfrm>
                <a:off x="604551" y="3136989"/>
                <a:ext cx="4574626" cy="384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𝑙𝑖𝑘𝑒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𝑙𝑖𝑘𝑒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1,0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1,0.5</m:t>
                          </m:r>
                        </m:e>
                      </m:d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75875E-19E9-9718-EDBF-4C7782C62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51" y="3136989"/>
                <a:ext cx="4574626" cy="3844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3055F5-2CC0-FF52-A3B9-75D2A26047B5}"/>
                  </a:ext>
                </a:extLst>
              </p:cNvPr>
              <p:cNvSpPr txBox="1"/>
              <p:nvPr/>
            </p:nvSpPr>
            <p:spPr>
              <a:xfrm>
                <a:off x="630992" y="3556826"/>
                <a:ext cx="4574626" cy="3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𝑐𝑎𝑡𝑠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𝑐𝑎𝑡𝑠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1,0.5</m:t>
                          </m:r>
                        </m:e>
                      </m:d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3055F5-2CC0-FF52-A3B9-75D2A2604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2" y="3556826"/>
                <a:ext cx="4574626" cy="3758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6E36AD-E717-3596-A231-5C7A57444970}"/>
                  </a:ext>
                </a:extLst>
              </p:cNvPr>
              <p:cNvSpPr txBox="1"/>
              <p:nvPr/>
            </p:nvSpPr>
            <p:spPr>
              <a:xfrm>
                <a:off x="688798" y="3982965"/>
                <a:ext cx="4574626" cy="412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𝑑𝑜𝑔𝑠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𝑑𝑜𝑔𝑠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̅"/>
                          <m:ctrlPr>
                            <a:rPr kumimoji="1"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1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</m:acc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</m:d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1,0.5</m:t>
                          </m:r>
                        </m:e>
                      </m:d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6E36AD-E717-3596-A231-5C7A57444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98" y="3982965"/>
                <a:ext cx="4574626" cy="412036"/>
              </a:xfrm>
              <a:prstGeom prst="rect">
                <a:avLst/>
              </a:prstGeom>
              <a:blipFill>
                <a:blip r:embed="rId10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E4500F-1C27-0839-0A39-90F297E1609F}"/>
                  </a:ext>
                </a:extLst>
              </p:cNvPr>
              <p:cNvSpPr txBox="1"/>
              <p:nvPr/>
            </p:nvSpPr>
            <p:spPr>
              <a:xfrm>
                <a:off x="399764" y="4438755"/>
                <a:ext cx="4574626" cy="6347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E4500F-1C27-0839-0A39-90F297E16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64" y="4438755"/>
                <a:ext cx="4574626" cy="63478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07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8" grpId="0"/>
      <p:bldP spid="41" grpId="0"/>
      <p:bldP spid="42" grpId="0"/>
      <p:bldP spid="43" grpId="0"/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194-4C8B-A54A-9AB4-08995E07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6634-0BCA-85C3-1AEC-35A48CFA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dirty="0"/>
              <a:t>Continuous Bag of Word</a:t>
            </a:r>
            <a:r>
              <a:rPr lang="en-US" altLang="zh-CN" dirty="0"/>
              <a:t>(CBOW)</a:t>
            </a:r>
            <a:r>
              <a:rPr lang="zh-CN" altLang="en-US" dirty="0"/>
              <a:t>为例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2E51-0FFE-70E8-4D83-07DD878A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328698"/>
          </a:xfrm>
        </p:spPr>
        <p:txBody>
          <a:bodyPr/>
          <a:lstStyle/>
          <a:p>
            <a:r>
              <a:rPr lang="zh-CN" altLang="en-US" dirty="0"/>
              <a:t>针对训练语料：</a:t>
            </a:r>
            <a:r>
              <a:rPr lang="en-US" altLang="zh-CN" dirty="0"/>
              <a:t>I like cats</a:t>
            </a:r>
            <a:endParaRPr lang="en-US" dirty="0"/>
          </a:p>
          <a:p>
            <a:pPr lvl="1"/>
            <a:r>
              <a:rPr lang="en-US" dirty="0" err="1"/>
              <a:t>训练样本</a:t>
            </a:r>
            <a:r>
              <a:rPr lang="zh-CN" altLang="en-US" dirty="0"/>
              <a:t>：上下文为</a:t>
            </a:r>
            <a:r>
              <a:rPr lang="en-US" altLang="zh-CN" dirty="0"/>
              <a:t>[</a:t>
            </a:r>
            <a:r>
              <a:rPr lang="en-US" altLang="zh-CN" b="1" dirty="0"/>
              <a:t>I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b="1" dirty="0"/>
              <a:t>cats</a:t>
            </a:r>
            <a:r>
              <a:rPr lang="en-US" altLang="zh-CN" dirty="0"/>
              <a:t>]</a:t>
            </a:r>
            <a:r>
              <a:rPr lang="zh-CN" altLang="en-US" dirty="0"/>
              <a:t>，中心词为</a:t>
            </a:r>
            <a:r>
              <a:rPr lang="en-US" altLang="zh-CN" b="1" dirty="0">
                <a:solidFill>
                  <a:srgbClr val="C00000"/>
                </a:solidFill>
              </a:rPr>
              <a:t>like</a:t>
            </a:r>
          </a:p>
          <a:p>
            <a:r>
              <a:rPr lang="en-US" b="1" dirty="0" err="1"/>
              <a:t>问题二</a:t>
            </a:r>
            <a:r>
              <a:rPr lang="zh-CN" altLang="en-US" dirty="0"/>
              <a:t>：</a:t>
            </a:r>
            <a:r>
              <a:rPr lang="en-US" dirty="0" err="1"/>
              <a:t>请计算单个训练样本的目标函数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92FB6-AA00-D5AD-FA51-376E2824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1">
                <a:extLst>
                  <a:ext uri="{FF2B5EF4-FFF2-40B4-BE49-F238E27FC236}">
                    <a16:creationId xmlns:a16="http://schemas.microsoft.com/office/drawing/2014/main" id="{39FF01FF-97AD-58F4-EA25-72F1BE302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8385" y="2430818"/>
                <a:ext cx="2743200" cy="18935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CN" altLang="en-CN" sz="1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针对当前样本和预测出的分布</a:t>
                </a:r>
                <a:r>
                  <a:rPr kumimoji="0" lang="zh-CN" altLang="en-US" sz="180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，目标函数是</a:t>
                </a:r>
                <a: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？</a:t>
                </a:r>
                <a:endParaRPr kumimoji="0" lang="en-CN" altLang="en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A.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zh-CN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zh-CN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kumimoji="0" lang="en-US" altLang="zh-CN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b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B. 0.</a:t>
                </a:r>
                <a:r>
                  <a: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5</a:t>
                </a:r>
                <a:b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C. 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1</a:t>
                </a:r>
                <a:b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en-CN" altLang="en-CN" sz="1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D. 0</a:t>
                </a:r>
                <a:endParaRPr kumimoji="0" lang="en-CN" altLang="en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Rectangle 1">
                <a:extLst>
                  <a:ext uri="{FF2B5EF4-FFF2-40B4-BE49-F238E27FC236}">
                    <a16:creationId xmlns:a16="http://schemas.microsoft.com/office/drawing/2014/main" id="{39FF01FF-97AD-58F4-EA25-72F1BE302C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8385" y="2430818"/>
                <a:ext cx="2743200" cy="1893532"/>
              </a:xfrm>
              <a:prstGeom prst="rect">
                <a:avLst/>
              </a:prstGeom>
              <a:blipFill>
                <a:blip r:embed="rId2"/>
                <a:stretch>
                  <a:fillRect l="-1382" r="-461" b="-4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3F5D7C1F-1756-27C5-E12A-2305494FFCFC}"/>
              </a:ext>
            </a:extLst>
          </p:cNvPr>
          <p:cNvSpPr/>
          <p:nvPr/>
        </p:nvSpPr>
        <p:spPr>
          <a:xfrm>
            <a:off x="1529019" y="2045057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1">
                <a:extLst>
                  <a:ext uri="{FF2B5EF4-FFF2-40B4-BE49-F238E27FC236}">
                    <a16:creationId xmlns:a16="http://schemas.microsoft.com/office/drawing/2014/main" id="{0F74EBD9-AF60-6CAA-C3E7-DD8296031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8425" y="3152239"/>
                <a:ext cx="1103586" cy="956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CN" sz="1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提示</a:t>
                </a:r>
                <a:r>
                  <a:rPr kumimoji="0" lang="zh-CN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</a:rPr>
                  <a:t>：</a:t>
                </a:r>
                <a:endPara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</a:endParaRP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</m:t>
                    </m:r>
                  </m:oMath>
                </a14:m>
                <a:endParaRPr kumimoji="0" lang="en-CN" altLang="en-CN" sz="1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p>
                    <m:r>
                      <a:rPr lang="en-US" altLang="zh-CN" sz="1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CN" altLang="en-CN" sz="1400" dirty="0">
                  <a:solidFill>
                    <a:srgbClr val="0070C0"/>
                  </a:solidFill>
                </a:endParaRP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CN" altLang="en-CN" sz="14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</a:endParaRPr>
              </a:p>
            </p:txBody>
          </p:sp>
        </mc:Choice>
        <mc:Fallback>
          <p:sp>
            <p:nvSpPr>
              <p:cNvPr id="31" name="Rectangle 1">
                <a:extLst>
                  <a:ext uri="{FF2B5EF4-FFF2-40B4-BE49-F238E27FC236}">
                    <a16:creationId xmlns:a16="http://schemas.microsoft.com/office/drawing/2014/main" id="{0F74EBD9-AF60-6CAA-C3E7-DD829603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8425" y="3152239"/>
                <a:ext cx="1103586" cy="956480"/>
              </a:xfrm>
              <a:prstGeom prst="rect">
                <a:avLst/>
              </a:prstGeom>
              <a:blipFill>
                <a:blip r:embed="rId3"/>
                <a:stretch>
                  <a:fillRect l="-1124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B82D0AE-1E18-73AA-8A1D-33594B1A9DF7}"/>
                  </a:ext>
                </a:extLst>
              </p:cNvPr>
              <p:cNvSpPr txBox="1"/>
              <p:nvPr/>
            </p:nvSpPr>
            <p:spPr>
              <a:xfrm>
                <a:off x="6576848" y="746039"/>
                <a:ext cx="1249316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B82D0AE-1E18-73AA-8A1D-33594B1A9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848" y="746039"/>
                <a:ext cx="1249316" cy="1020472"/>
              </a:xfrm>
              <a:prstGeom prst="rect">
                <a:avLst/>
              </a:prstGeom>
              <a:blipFill>
                <a:blip r:embed="rId4"/>
                <a:stretch>
                  <a:fillRect l="-3000" b="-609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9F726D-80E4-ECD9-567D-A7BCA8E5CB0D}"/>
                  </a:ext>
                </a:extLst>
              </p:cNvPr>
              <p:cNvSpPr txBox="1"/>
              <p:nvPr/>
            </p:nvSpPr>
            <p:spPr>
              <a:xfrm>
                <a:off x="6576848" y="1880811"/>
                <a:ext cx="2019463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N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9F726D-80E4-ECD9-567D-A7BCA8E5C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848" y="1880811"/>
                <a:ext cx="2019463" cy="461921"/>
              </a:xfrm>
              <a:prstGeom prst="rect">
                <a:avLst/>
              </a:prstGeom>
              <a:blipFill>
                <a:blip r:embed="rId5"/>
                <a:stretch>
                  <a:fillRect l="-1875" t="-2703" b="-162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083F275-4A5E-9546-DADB-C770E2BDC969}"/>
              </a:ext>
            </a:extLst>
          </p:cNvPr>
          <p:cNvSpPr txBox="1"/>
          <p:nvPr/>
        </p:nvSpPr>
        <p:spPr>
          <a:xfrm>
            <a:off x="902905" y="4568190"/>
            <a:ext cx="4574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问题三</a:t>
            </a:r>
            <a:r>
              <a:rPr lang="zh-CN" altLang="en-US" b="1" dirty="0"/>
              <a:t>（可选）：请给出梯度下降求解过程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147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644D-6CEE-A925-FD67-40337CE2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F016-FC6E-A483-E0BA-87318DC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sz="2400" dirty="0"/>
              <a:t>Glo</a:t>
            </a:r>
            <a:r>
              <a:rPr lang="en-US" altLang="zh-CN" sz="2400" dirty="0"/>
              <a:t>Ve</a:t>
            </a:r>
            <a:r>
              <a:rPr lang="zh-CN" altLang="en-US" sz="2400" dirty="0"/>
              <a:t>：</a:t>
            </a:r>
            <a:r>
              <a:rPr lang="en-US" altLang="zh-CN" sz="2400" dirty="0"/>
              <a:t>Global</a:t>
            </a:r>
            <a:r>
              <a:rPr lang="zh-CN" altLang="en-US" sz="2400" dirty="0"/>
              <a:t> </a:t>
            </a:r>
            <a:r>
              <a:rPr lang="en-US" altLang="zh-CN" sz="2400" dirty="0"/>
              <a:t>Vectors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Word</a:t>
            </a:r>
            <a:r>
              <a:rPr lang="zh-CN" altLang="en-US" sz="2400" dirty="0"/>
              <a:t> </a:t>
            </a:r>
            <a:r>
              <a:rPr lang="en-US" altLang="zh-CN" sz="2400" dirty="0"/>
              <a:t>Representation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6F390-546C-B7A6-67D3-5201E6B8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4A596F-A263-5F01-A8D3-C5E31EE37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22" y="868179"/>
            <a:ext cx="8496546" cy="376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5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F4944-977E-84F5-46A7-35B7A5A9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3F45-E249-2060-6E3B-B863EF77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sz="2400" dirty="0"/>
              <a:t>Glo</a:t>
            </a:r>
            <a:r>
              <a:rPr lang="en-US" altLang="zh-CN" sz="2400" dirty="0"/>
              <a:t>Ve</a:t>
            </a:r>
            <a:r>
              <a:rPr lang="zh-CN" altLang="en-US" sz="2400" dirty="0"/>
              <a:t>：</a:t>
            </a:r>
            <a:r>
              <a:rPr lang="en-US" altLang="zh-CN" sz="2400" dirty="0"/>
              <a:t>Global</a:t>
            </a:r>
            <a:r>
              <a:rPr lang="zh-CN" altLang="en-US" sz="2400" dirty="0"/>
              <a:t> </a:t>
            </a:r>
            <a:r>
              <a:rPr lang="en-US" altLang="zh-CN" sz="2400" dirty="0"/>
              <a:t>Vectors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Word</a:t>
            </a:r>
            <a:r>
              <a:rPr lang="zh-CN" altLang="en-US" sz="2400" dirty="0"/>
              <a:t> </a:t>
            </a:r>
            <a:r>
              <a:rPr lang="en-US" altLang="zh-CN" sz="2400" dirty="0"/>
              <a:t>Representation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81988-8D83-E201-D3F4-4B599B74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8AF8F-1905-B368-0D5B-A2780FA62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836752"/>
            <a:ext cx="7772400" cy="385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1290-1528-84BE-9AC6-8E8A896B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4D8A483-A80F-C192-7337-17BD42F823D6}"/>
              </a:ext>
            </a:extLst>
          </p:cNvPr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0D228-EB62-DCE3-DE96-139E2250C13E}"/>
              </a:ext>
            </a:extLst>
          </p:cNvPr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0C2C8-0A92-4213-C775-AD2132F14459}"/>
              </a:ext>
            </a:extLst>
          </p:cNvPr>
          <p:cNvSpPr txBox="1"/>
          <p:nvPr/>
        </p:nvSpPr>
        <p:spPr>
          <a:xfrm>
            <a:off x="1121124" y="3052428"/>
            <a:ext cx="15376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文本表示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76DB479-0B79-48DC-2523-0743B0A9E0E9}"/>
              </a:ext>
            </a:extLst>
          </p:cNvPr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FF70473-92ED-14B4-1F23-0A5BBC7DA984}"/>
                </a:ext>
              </a:extLst>
            </p:cNvPr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>
              <a:extLst>
                <a:ext uri="{FF2B5EF4-FFF2-40B4-BE49-F238E27FC236}">
                  <a16:creationId xmlns:a16="http://schemas.microsoft.com/office/drawing/2014/main" id="{F1D706AD-0AEE-5C7D-D7EB-B5A0C9C70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779C738-E8D7-CB28-69DA-41DC416AD51E}"/>
              </a:ext>
            </a:extLst>
          </p:cNvPr>
          <p:cNvSpPr txBox="1"/>
          <p:nvPr/>
        </p:nvSpPr>
        <p:spPr>
          <a:xfrm>
            <a:off x="4529959" y="1082507"/>
            <a:ext cx="4515009" cy="2250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文本的独热表示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文本的分布式表示：主题模型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文本表示实践：主题模型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文本的分布式表示：词嵌入模型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从词嵌入到预训练语言模型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文本表示实践：词嵌入模型</a:t>
            </a:r>
            <a:endParaRPr lang="en-US" altLang="zh-CN" sz="1600" b="1" dirty="0">
              <a:solidFill>
                <a:schemeClr val="tx2">
                  <a:lumMod val="40000"/>
                  <a:lumOff val="60000"/>
                </a:schemeClr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EB15D40-04E6-B575-9BAB-515C7A24C17C}"/>
              </a:ext>
            </a:extLst>
          </p:cNvPr>
          <p:cNvSpPr/>
          <p:nvPr/>
        </p:nvSpPr>
        <p:spPr>
          <a:xfrm>
            <a:off x="4016203" y="120748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7D16543-288A-8467-F136-90D04D7E735D}"/>
              </a:ext>
            </a:extLst>
          </p:cNvPr>
          <p:cNvSpPr/>
          <p:nvPr/>
        </p:nvSpPr>
        <p:spPr>
          <a:xfrm>
            <a:off x="4016203" y="189664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F261A2C-A7C8-836D-8EE7-C74FF7C93AAB}"/>
              </a:ext>
            </a:extLst>
          </p:cNvPr>
          <p:cNvSpPr/>
          <p:nvPr/>
        </p:nvSpPr>
        <p:spPr>
          <a:xfrm>
            <a:off x="4016203" y="226242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A8E773A-DF26-9E91-0F2F-0E62607D11DA}"/>
              </a:ext>
            </a:extLst>
          </p:cNvPr>
          <p:cNvSpPr/>
          <p:nvPr/>
        </p:nvSpPr>
        <p:spPr>
          <a:xfrm>
            <a:off x="4016203" y="26282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6925616-4E42-3D46-2A85-A6D66EEB1E0A}"/>
              </a:ext>
            </a:extLst>
          </p:cNvPr>
          <p:cNvSpPr/>
          <p:nvPr/>
        </p:nvSpPr>
        <p:spPr>
          <a:xfrm>
            <a:off x="4016203" y="154919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6" name="椭圆 26">
            <a:extLst>
              <a:ext uri="{FF2B5EF4-FFF2-40B4-BE49-F238E27FC236}">
                <a16:creationId xmlns:a16="http://schemas.microsoft.com/office/drawing/2014/main" id="{2F5E9FC0-9C1B-4BC9-3580-7C209173B54B}"/>
              </a:ext>
            </a:extLst>
          </p:cNvPr>
          <p:cNvSpPr/>
          <p:nvPr/>
        </p:nvSpPr>
        <p:spPr>
          <a:xfrm>
            <a:off x="4016203" y="29939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55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E0195-25CF-41E4-8673-F3A64ED6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1"/>
            <a:ext cx="7429500" cy="514345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ChatGPT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发展路径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23B89051-D318-4FD6-A96C-9ECFE579830D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457200" y="742950"/>
          <a:ext cx="8229600" cy="4046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77FF2A0-13DD-4545-AF49-FE468CFA2300}"/>
              </a:ext>
            </a:extLst>
          </p:cNvPr>
          <p:cNvSpPr txBox="1"/>
          <p:nvPr/>
        </p:nvSpPr>
        <p:spPr>
          <a:xfrm>
            <a:off x="1241505" y="3871190"/>
            <a:ext cx="12234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zh-CN" sz="900" dirty="0">
                <a:solidFill>
                  <a:srgbClr val="FF0000"/>
                </a:solidFill>
              </a:rPr>
              <a:t>预训练语言模型元年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508F2B-950B-4CDC-B3AD-E534785B1F77}"/>
              </a:ext>
            </a:extLst>
          </p:cNvPr>
          <p:cNvSpPr txBox="1"/>
          <p:nvPr/>
        </p:nvSpPr>
        <p:spPr>
          <a:xfrm>
            <a:off x="135264" y="1248608"/>
            <a:ext cx="17572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zh-CN" sz="900" dirty="0">
                <a:solidFill>
                  <a:srgbClr val="FF0000"/>
                </a:solidFill>
              </a:rPr>
              <a:t>解码器部分成为</a:t>
            </a:r>
            <a:r>
              <a:rPr lang="en-US" altLang="zh-CN" sz="900" dirty="0">
                <a:solidFill>
                  <a:srgbClr val="FF0000"/>
                </a:solidFill>
              </a:rPr>
              <a:t>GPT</a:t>
            </a:r>
            <a:r>
              <a:rPr lang="zh-CN" altLang="zh-CN" sz="900" dirty="0">
                <a:solidFill>
                  <a:srgbClr val="FF0000"/>
                </a:solidFill>
              </a:rPr>
              <a:t>发展的基础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69A841-F8F7-4201-9F77-C69C0B175F63}"/>
              </a:ext>
            </a:extLst>
          </p:cNvPr>
          <p:cNvSpPr txBox="1"/>
          <p:nvPr/>
        </p:nvSpPr>
        <p:spPr>
          <a:xfrm>
            <a:off x="5039254" y="4084857"/>
            <a:ext cx="106471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en-US" sz="900" dirty="0">
                <a:solidFill>
                  <a:srgbClr val="FF0000"/>
                </a:solidFill>
              </a:rPr>
              <a:t>赋予</a:t>
            </a:r>
            <a:r>
              <a:rPr lang="en-US" altLang="zh-CN" sz="900" dirty="0">
                <a:solidFill>
                  <a:srgbClr val="FF0000"/>
                </a:solidFill>
              </a:rPr>
              <a:t>GPT</a:t>
            </a:r>
            <a:r>
              <a:rPr lang="zh-CN" altLang="en-US" sz="900" dirty="0">
                <a:solidFill>
                  <a:srgbClr val="FF0000"/>
                </a:solidFill>
              </a:rPr>
              <a:t>搜索能力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4F4A97-7764-42A7-AC52-91CABBB5695D}"/>
              </a:ext>
            </a:extLst>
          </p:cNvPr>
          <p:cNvSpPr txBox="1"/>
          <p:nvPr/>
        </p:nvSpPr>
        <p:spPr>
          <a:xfrm>
            <a:off x="5867781" y="1234661"/>
            <a:ext cx="15263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en-US" sz="900" dirty="0">
                <a:solidFill>
                  <a:srgbClr val="FF0000"/>
                </a:solidFill>
              </a:rPr>
              <a:t>赋予</a:t>
            </a:r>
            <a:r>
              <a:rPr lang="en-US" altLang="zh-CN" sz="900" dirty="0">
                <a:solidFill>
                  <a:srgbClr val="FF0000"/>
                </a:solidFill>
              </a:rPr>
              <a:t>GPT</a:t>
            </a:r>
            <a:r>
              <a:rPr lang="zh-CN" altLang="en-US" sz="900" dirty="0">
                <a:solidFill>
                  <a:srgbClr val="FF0000"/>
                </a:solidFill>
              </a:rPr>
              <a:t>理解人类指令能力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6907D9-7E70-462F-A188-3F1CAF9827ED}"/>
              </a:ext>
            </a:extLst>
          </p:cNvPr>
          <p:cNvSpPr txBox="1"/>
          <p:nvPr/>
        </p:nvSpPr>
        <p:spPr>
          <a:xfrm>
            <a:off x="6941571" y="4074518"/>
            <a:ext cx="106471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en-US" sz="900" dirty="0">
                <a:solidFill>
                  <a:srgbClr val="FF0000"/>
                </a:solidFill>
              </a:rPr>
              <a:t>赋予</a:t>
            </a:r>
            <a:r>
              <a:rPr lang="en-US" altLang="zh-CN" sz="900" dirty="0">
                <a:solidFill>
                  <a:srgbClr val="FF0000"/>
                </a:solidFill>
              </a:rPr>
              <a:t>GPT</a:t>
            </a:r>
            <a:r>
              <a:rPr lang="zh-CN" altLang="en-US" sz="900" dirty="0">
                <a:solidFill>
                  <a:srgbClr val="FF0000"/>
                </a:solidFill>
              </a:rPr>
              <a:t>对话能力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67D618-607B-48EA-BB7A-42B490B1CC3A}"/>
              </a:ext>
            </a:extLst>
          </p:cNvPr>
          <p:cNvSpPr txBox="1"/>
          <p:nvPr/>
        </p:nvSpPr>
        <p:spPr>
          <a:xfrm>
            <a:off x="4136340" y="1269287"/>
            <a:ext cx="12731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en-US" sz="900" dirty="0">
                <a:solidFill>
                  <a:srgbClr val="FF0000"/>
                </a:solidFill>
              </a:rPr>
              <a:t>赋予</a:t>
            </a:r>
            <a:r>
              <a:rPr lang="en-US" altLang="zh-CN" sz="900" dirty="0">
                <a:solidFill>
                  <a:srgbClr val="FF0000"/>
                </a:solidFill>
              </a:rPr>
              <a:t>GPT-3</a:t>
            </a:r>
            <a:r>
              <a:rPr lang="zh-CN" altLang="en-US" sz="900" dirty="0">
                <a:solidFill>
                  <a:srgbClr val="FF0000"/>
                </a:solidFill>
              </a:rPr>
              <a:t>代码能力，</a:t>
            </a:r>
            <a:endParaRPr lang="en-US" altLang="zh-CN" sz="900" dirty="0">
              <a:solidFill>
                <a:srgbClr val="FF0000"/>
              </a:solidFill>
            </a:endParaRPr>
          </a:p>
          <a:p>
            <a:pPr lvl="0"/>
            <a:r>
              <a:rPr lang="zh-CN" altLang="en-US" sz="900" dirty="0">
                <a:solidFill>
                  <a:srgbClr val="FF0000"/>
                </a:solidFill>
              </a:rPr>
              <a:t>同时引入思维链能力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53D88A-69FB-4EB4-85B4-CA92D46C3961}"/>
              </a:ext>
            </a:extLst>
          </p:cNvPr>
          <p:cNvSpPr txBox="1"/>
          <p:nvPr/>
        </p:nvSpPr>
        <p:spPr>
          <a:xfrm>
            <a:off x="3198966" y="3864299"/>
            <a:ext cx="9925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altLang="en-US" sz="900" dirty="0">
                <a:solidFill>
                  <a:srgbClr val="FF0000"/>
                </a:solidFill>
              </a:rPr>
              <a:t>首个千亿级模型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1F2E4-69AB-4724-8A9B-EF0855348CFE}"/>
              </a:ext>
            </a:extLst>
          </p:cNvPr>
          <p:cNvSpPr txBox="1"/>
          <p:nvPr/>
        </p:nvSpPr>
        <p:spPr>
          <a:xfrm>
            <a:off x="1910860" y="4427639"/>
            <a:ext cx="52606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400" dirty="0"/>
              <a:t>大型</a:t>
            </a:r>
            <a:r>
              <a:rPr lang="zh-CN" altLang="en-US" sz="2400" dirty="0">
                <a:solidFill>
                  <a:srgbClr val="C00000"/>
                </a:solidFill>
              </a:rPr>
              <a:t>预训练</a:t>
            </a:r>
            <a:r>
              <a:rPr lang="zh-CN" altLang="en-US" sz="2400" dirty="0">
                <a:solidFill>
                  <a:schemeClr val="accent1"/>
                </a:solidFill>
              </a:rPr>
              <a:t>语言模型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ChatGPT</a:t>
            </a:r>
            <a:r>
              <a:rPr lang="zh-CN" altLang="en-US" sz="2400" dirty="0"/>
              <a:t>的基座</a:t>
            </a:r>
          </a:p>
        </p:txBody>
      </p:sp>
    </p:spTree>
    <p:extLst>
      <p:ext uri="{BB962C8B-B14F-4D97-AF65-F5344CB8AC3E}">
        <p14:creationId xmlns:p14="http://schemas.microsoft.com/office/powerpoint/2010/main" val="1419653434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89857" y="2533075"/>
            <a:ext cx="4560927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 defTabSz="685800">
              <a:spcBef>
                <a:spcPts val="53"/>
              </a:spcBef>
              <a:tabLst>
                <a:tab pos="3629382" algn="l"/>
              </a:tabLst>
            </a:pPr>
            <a:r>
              <a:rPr sz="1575" spc="-6" dirty="0">
                <a:solidFill>
                  <a:prstClr val="black"/>
                </a:solidFill>
                <a:cs typeface="Calibri"/>
              </a:rPr>
              <a:t>Stanford University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is</a:t>
            </a:r>
            <a:r>
              <a:rPr sz="1575" spc="68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located</a:t>
            </a:r>
            <a:r>
              <a:rPr sz="1575" spc="11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in</a:t>
            </a:r>
            <a:r>
              <a:rPr sz="1575" u="heavy" spc="-6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	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,</a:t>
            </a:r>
            <a:r>
              <a:rPr sz="1575" spc="3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California.</a:t>
            </a:r>
            <a:endParaRPr sz="1575">
              <a:solidFill>
                <a:prstClr val="black"/>
              </a:solidFill>
              <a:cs typeface="Calibri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B1EC0C9-0039-41F4-963D-0F14B8A3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55" y="93726"/>
            <a:ext cx="6266498" cy="962564"/>
          </a:xfrm>
        </p:spPr>
        <p:txBody>
          <a:bodyPr/>
          <a:lstStyle/>
          <a:p>
            <a:r>
              <a:rPr lang="en-US" b="0" dirty="0"/>
              <a:t>What can we learn from </a:t>
            </a:r>
            <a:r>
              <a:rPr lang="en-US" b="0" dirty="0">
                <a:solidFill>
                  <a:srgbClr val="C00000"/>
                </a:solidFill>
              </a:rPr>
              <a:t>reconstructing</a:t>
            </a:r>
            <a:r>
              <a:rPr lang="en-US" b="0" dirty="0"/>
              <a:t> the input?</a:t>
            </a:r>
          </a:p>
        </p:txBody>
      </p:sp>
    </p:spTree>
    <p:extLst>
      <p:ext uri="{BB962C8B-B14F-4D97-AF65-F5344CB8AC3E}">
        <p14:creationId xmlns:p14="http://schemas.microsoft.com/office/powerpoint/2010/main" val="265940807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25332" y="2533075"/>
            <a:ext cx="269033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 defTabSz="685800">
              <a:spcBef>
                <a:spcPts val="53"/>
              </a:spcBef>
              <a:tabLst>
                <a:tab pos="767954" algn="l"/>
              </a:tabLst>
            </a:pPr>
            <a:r>
              <a:rPr sz="1575" spc="-3" dirty="0">
                <a:solidFill>
                  <a:prstClr val="black"/>
                </a:solidFill>
                <a:cs typeface="Calibri"/>
              </a:rPr>
              <a:t>I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put</a:t>
            </a:r>
            <a:r>
              <a:rPr sz="1575" u="heavy" spc="-6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	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fork down on the</a:t>
            </a:r>
            <a:r>
              <a:rPr sz="1575" spc="-23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table.</a:t>
            </a:r>
            <a:endParaRPr sz="1575">
              <a:solidFill>
                <a:prstClr val="black"/>
              </a:solidFill>
              <a:cs typeface="Calibri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080283D5-E658-66C9-529F-9C960128FDBB}"/>
              </a:ext>
            </a:extLst>
          </p:cNvPr>
          <p:cNvSpPr txBox="1">
            <a:spLocks/>
          </p:cNvSpPr>
          <p:nvPr/>
        </p:nvSpPr>
        <p:spPr>
          <a:xfrm>
            <a:off x="1430655" y="93726"/>
            <a:ext cx="6266498" cy="9625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What can we learn from </a:t>
            </a:r>
            <a:r>
              <a:rPr lang="en-US">
                <a:solidFill>
                  <a:srgbClr val="C00000"/>
                </a:solidFill>
              </a:rPr>
              <a:t>reconstructing</a:t>
            </a:r>
            <a:r>
              <a:rPr lang="en-US"/>
              <a:t> the input?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673842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22163" y="2238221"/>
            <a:ext cx="3097887" cy="588551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 marR="2858" indent="25718" defTabSz="685800">
              <a:lnSpc>
                <a:spcPct val="120000"/>
              </a:lnSpc>
              <a:spcBef>
                <a:spcPts val="53"/>
              </a:spcBef>
              <a:tabLst>
                <a:tab pos="2324219" algn="l"/>
              </a:tabLst>
            </a:pPr>
            <a:r>
              <a:rPr sz="1575" spc="-6" dirty="0">
                <a:solidFill>
                  <a:prstClr val="black"/>
                </a:solidFill>
                <a:cs typeface="Calibri"/>
              </a:rPr>
              <a:t>The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woman walked across the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street, 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checki</a:t>
            </a:r>
            <a:r>
              <a:rPr sz="1575" spc="-11" dirty="0">
                <a:solidFill>
                  <a:prstClr val="black"/>
                </a:solidFill>
                <a:cs typeface="Calibri"/>
              </a:rPr>
              <a:t>n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g</a:t>
            </a:r>
            <a:r>
              <a:rPr sz="1575" spc="8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fo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r traff</a:t>
            </a:r>
            <a:r>
              <a:rPr sz="1575" spc="-11" dirty="0">
                <a:solidFill>
                  <a:prstClr val="black"/>
                </a:solidFill>
                <a:cs typeface="Calibri"/>
              </a:rPr>
              <a:t>i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c</a:t>
            </a:r>
            <a:r>
              <a:rPr sz="1575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over</a:t>
            </a:r>
            <a:r>
              <a:rPr sz="1575" spc="-8" dirty="0">
                <a:solidFill>
                  <a:prstClr val="black"/>
                </a:solidFill>
                <a:cs typeface="Calibri"/>
              </a:rPr>
              <a:t> </a:t>
            </a:r>
            <a:r>
              <a:rPr sz="1575" u="heavy" spc="-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1575" u="heavy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	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sho</a:t>
            </a:r>
            <a:r>
              <a:rPr sz="1575" spc="-11" dirty="0">
                <a:solidFill>
                  <a:prstClr val="black"/>
                </a:solidFill>
                <a:cs typeface="Calibri"/>
              </a:rPr>
              <a:t>u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l</a:t>
            </a:r>
            <a:r>
              <a:rPr sz="1575" spc="-11" dirty="0">
                <a:solidFill>
                  <a:prstClr val="black"/>
                </a:solidFill>
                <a:cs typeface="Calibri"/>
              </a:rPr>
              <a:t>d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er.</a:t>
            </a:r>
            <a:endParaRPr sz="1575">
              <a:solidFill>
                <a:prstClr val="black"/>
              </a:solidFill>
              <a:cs typeface="Calibri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14B4F516-FF2A-242C-A8DA-EECC3655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55" y="93726"/>
            <a:ext cx="6266498" cy="962564"/>
          </a:xfrm>
        </p:spPr>
        <p:txBody>
          <a:bodyPr/>
          <a:lstStyle/>
          <a:p>
            <a:r>
              <a:rPr lang="en-US" b="0" dirty="0"/>
              <a:t>What can we learn from </a:t>
            </a:r>
            <a:r>
              <a:rPr lang="en-US" b="0" dirty="0">
                <a:solidFill>
                  <a:srgbClr val="C00000"/>
                </a:solidFill>
              </a:rPr>
              <a:t>reconstructing</a:t>
            </a:r>
            <a:r>
              <a:rPr lang="en-US" b="0" dirty="0"/>
              <a:t> the input?</a:t>
            </a:r>
          </a:p>
        </p:txBody>
      </p:sp>
    </p:spTree>
    <p:extLst>
      <p:ext uri="{BB962C8B-B14F-4D97-AF65-F5344CB8AC3E}">
        <p14:creationId xmlns:p14="http://schemas.microsoft.com/office/powerpoint/2010/main" val="1137712488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19266" y="2533075"/>
            <a:ext cx="4902398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 defTabSz="685800">
              <a:spcBef>
                <a:spcPts val="53"/>
              </a:spcBef>
              <a:tabLst>
                <a:tab pos="4844534" algn="l"/>
              </a:tabLst>
            </a:pPr>
            <a:r>
              <a:rPr sz="1575" spc="-3" dirty="0">
                <a:solidFill>
                  <a:prstClr val="black"/>
                </a:solidFill>
                <a:cs typeface="Calibri"/>
              </a:rPr>
              <a:t>I we</a:t>
            </a:r>
            <a:r>
              <a:rPr sz="1575" spc="-8" dirty="0">
                <a:solidFill>
                  <a:prstClr val="black"/>
                </a:solidFill>
                <a:cs typeface="Calibri"/>
              </a:rPr>
              <a:t>n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</a:t>
            </a:r>
            <a:r>
              <a:rPr sz="1575" spc="6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to the</a:t>
            </a:r>
            <a:r>
              <a:rPr sz="1575" spc="3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ocea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n to</a:t>
            </a:r>
            <a:r>
              <a:rPr sz="1575" spc="3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se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e t</a:t>
            </a:r>
            <a:r>
              <a:rPr sz="1575" spc="-8" dirty="0">
                <a:solidFill>
                  <a:prstClr val="black"/>
                </a:solidFill>
                <a:cs typeface="Calibri"/>
              </a:rPr>
              <a:t>h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e</a:t>
            </a:r>
            <a:r>
              <a:rPr sz="1575" spc="6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f</a:t>
            </a:r>
            <a:r>
              <a:rPr sz="1575" spc="-8" dirty="0">
                <a:solidFill>
                  <a:prstClr val="black"/>
                </a:solidFill>
                <a:cs typeface="Calibri"/>
              </a:rPr>
              <a:t>i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sh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,</a:t>
            </a:r>
            <a:r>
              <a:rPr sz="1575" spc="6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tu</a:t>
            </a:r>
            <a:r>
              <a:rPr sz="1575" spc="-11" dirty="0">
                <a:solidFill>
                  <a:prstClr val="black"/>
                </a:solidFill>
                <a:cs typeface="Calibri"/>
              </a:rPr>
              <a:t>r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</a:t>
            </a:r>
            <a:r>
              <a:rPr sz="1575" spc="-8" dirty="0">
                <a:solidFill>
                  <a:prstClr val="black"/>
                </a:solidFill>
                <a:cs typeface="Calibri"/>
              </a:rPr>
              <a:t>l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es,</a:t>
            </a:r>
            <a:r>
              <a:rPr sz="1575" spc="8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seal</a:t>
            </a:r>
            <a:r>
              <a:rPr sz="1575" spc="-11" dirty="0">
                <a:solidFill>
                  <a:prstClr val="black"/>
                </a:solidFill>
                <a:cs typeface="Calibri"/>
              </a:rPr>
              <a:t>s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,</a:t>
            </a:r>
            <a:r>
              <a:rPr sz="1575" spc="6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and</a:t>
            </a:r>
            <a:r>
              <a:rPr sz="1575" spc="8" dirty="0">
                <a:solidFill>
                  <a:prstClr val="black"/>
                </a:solidFill>
                <a:cs typeface="Calibri"/>
              </a:rPr>
              <a:t> </a:t>
            </a:r>
            <a:r>
              <a:rPr sz="1575" u="heavy" spc="-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1575" u="heavy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	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.</a:t>
            </a:r>
            <a:endParaRPr sz="1575">
              <a:solidFill>
                <a:prstClr val="black"/>
              </a:solidFill>
              <a:cs typeface="Calibri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0AC2AD5-F852-0778-9421-7B1E0ECE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55" y="93726"/>
            <a:ext cx="6266498" cy="962564"/>
          </a:xfrm>
        </p:spPr>
        <p:txBody>
          <a:bodyPr/>
          <a:lstStyle/>
          <a:p>
            <a:r>
              <a:rPr lang="en-US" b="0" dirty="0"/>
              <a:t>What can we learn from </a:t>
            </a:r>
            <a:r>
              <a:rPr lang="en-US" b="0" dirty="0">
                <a:solidFill>
                  <a:srgbClr val="C00000"/>
                </a:solidFill>
              </a:rPr>
              <a:t>reconstructing</a:t>
            </a:r>
            <a:r>
              <a:rPr lang="en-US" b="0" dirty="0"/>
              <a:t> the input?</a:t>
            </a:r>
          </a:p>
        </p:txBody>
      </p:sp>
    </p:spTree>
    <p:extLst>
      <p:ext uri="{BB962C8B-B14F-4D97-AF65-F5344CB8AC3E}">
        <p14:creationId xmlns:p14="http://schemas.microsoft.com/office/powerpoint/2010/main" val="339392928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439876" y="2238222"/>
            <a:ext cx="4260533" cy="882221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6787" marR="2858" algn="ctr" defTabSz="685800">
              <a:lnSpc>
                <a:spcPct val="120000"/>
              </a:lnSpc>
              <a:spcBef>
                <a:spcPts val="53"/>
              </a:spcBef>
            </a:pPr>
            <a:r>
              <a:rPr sz="1575" spc="-6" dirty="0">
                <a:solidFill>
                  <a:prstClr val="black"/>
                </a:solidFill>
                <a:cs typeface="Calibri"/>
              </a:rPr>
              <a:t>Overall,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the value I got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from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the two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hours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watching  it was the sum total of the popcorn and the</a:t>
            </a:r>
            <a:r>
              <a:rPr sz="1575" spc="62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drink.</a:t>
            </a:r>
            <a:endParaRPr sz="1575">
              <a:solidFill>
                <a:prstClr val="black"/>
              </a:solidFill>
              <a:cs typeface="Calibri"/>
            </a:endParaRPr>
          </a:p>
          <a:p>
            <a:pPr marL="1786" algn="ctr" defTabSz="685800">
              <a:spcBef>
                <a:spcPts val="380"/>
              </a:spcBef>
              <a:tabLst>
                <a:tab pos="1555195" algn="l"/>
              </a:tabLst>
            </a:pPr>
            <a:r>
              <a:rPr sz="1575" spc="-6" dirty="0">
                <a:solidFill>
                  <a:prstClr val="black"/>
                </a:solidFill>
                <a:cs typeface="Calibri"/>
              </a:rPr>
              <a:t>The</a:t>
            </a:r>
            <a:r>
              <a:rPr sz="1575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movie</a:t>
            </a:r>
            <a:r>
              <a:rPr sz="1575" spc="8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was</a:t>
            </a:r>
            <a:r>
              <a:rPr sz="1575" u="heavy" spc="-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	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.</a:t>
            </a:r>
            <a:endParaRPr sz="1575">
              <a:solidFill>
                <a:prstClr val="black"/>
              </a:solidFill>
              <a:cs typeface="Calibri"/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F3944687-55F3-9CAA-69F1-EAE11161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55" y="93726"/>
            <a:ext cx="6266498" cy="962564"/>
          </a:xfrm>
        </p:spPr>
        <p:txBody>
          <a:bodyPr/>
          <a:lstStyle/>
          <a:p>
            <a:r>
              <a:rPr lang="en-US" b="0" dirty="0"/>
              <a:t>What can we learn from </a:t>
            </a:r>
            <a:r>
              <a:rPr lang="en-US" b="0" dirty="0">
                <a:solidFill>
                  <a:srgbClr val="C00000"/>
                </a:solidFill>
              </a:rPr>
              <a:t>reconstructing</a:t>
            </a:r>
            <a:r>
              <a:rPr lang="en-US" b="0" dirty="0"/>
              <a:t> the input?</a:t>
            </a:r>
          </a:p>
        </p:txBody>
      </p:sp>
    </p:spTree>
    <p:extLst>
      <p:ext uri="{BB962C8B-B14F-4D97-AF65-F5344CB8AC3E}">
        <p14:creationId xmlns:p14="http://schemas.microsoft.com/office/powerpoint/2010/main" val="130036307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64392" y="2238221"/>
            <a:ext cx="4011930" cy="885258"/>
          </a:xfrm>
          <a:prstGeom prst="rect">
            <a:avLst/>
          </a:prstGeom>
        </p:spPr>
        <p:txBody>
          <a:bodyPr vert="horz" wrap="square" lIns="0" tIns="55007" rIns="0" bIns="0" rtlCol="0">
            <a:spAutoFit/>
          </a:bodyPr>
          <a:lstStyle/>
          <a:p>
            <a:pPr marL="2144" algn="ctr" defTabSz="685800">
              <a:spcBef>
                <a:spcPts val="434"/>
              </a:spcBef>
            </a:pPr>
            <a:r>
              <a:rPr sz="1575" spc="-3" dirty="0">
                <a:solidFill>
                  <a:prstClr val="black"/>
                </a:solidFill>
                <a:cs typeface="Calibri"/>
              </a:rPr>
              <a:t>Iroh went into the kitchen to make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some</a:t>
            </a:r>
            <a:r>
              <a:rPr sz="1575" spc="53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tea.</a:t>
            </a:r>
            <a:endParaRPr sz="1575" dirty="0">
              <a:solidFill>
                <a:prstClr val="black"/>
              </a:solidFill>
              <a:cs typeface="Calibri"/>
            </a:endParaRPr>
          </a:p>
          <a:p>
            <a:pPr algn="ctr" defTabSz="685800">
              <a:spcBef>
                <a:spcPts val="377"/>
              </a:spcBef>
            </a:pPr>
            <a:r>
              <a:rPr sz="1575" spc="-6" dirty="0">
                <a:solidFill>
                  <a:prstClr val="black"/>
                </a:solidFill>
                <a:cs typeface="Calibri"/>
              </a:rPr>
              <a:t>Standing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next to Iroh, Zuko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pondered his</a:t>
            </a:r>
            <a:r>
              <a:rPr sz="1575" spc="93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destiny.</a:t>
            </a:r>
            <a:endParaRPr sz="1575" dirty="0">
              <a:solidFill>
                <a:prstClr val="black"/>
              </a:solidFill>
              <a:cs typeface="Calibri"/>
            </a:endParaRPr>
          </a:p>
          <a:p>
            <a:pPr marL="2144" algn="ctr" defTabSz="685800">
              <a:spcBef>
                <a:spcPts val="380"/>
              </a:spcBef>
              <a:tabLst>
                <a:tab pos="1674852" algn="l"/>
              </a:tabLst>
            </a:pPr>
            <a:r>
              <a:rPr sz="1575" spc="-6" dirty="0">
                <a:solidFill>
                  <a:prstClr val="black"/>
                </a:solidFill>
                <a:cs typeface="Calibri"/>
              </a:rPr>
              <a:t>Zuko</a:t>
            </a:r>
            <a:r>
              <a:rPr sz="1575" spc="17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left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the</a:t>
            </a:r>
            <a:r>
              <a:rPr sz="1575" u="heavy" spc="-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	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.</a:t>
            </a:r>
            <a:endParaRPr sz="1575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6CACFF92-3209-F8DA-5E23-F40CF5CC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55" y="93726"/>
            <a:ext cx="6266498" cy="962564"/>
          </a:xfrm>
        </p:spPr>
        <p:txBody>
          <a:bodyPr/>
          <a:lstStyle/>
          <a:p>
            <a:r>
              <a:rPr lang="en-US" b="0" dirty="0"/>
              <a:t>What can we learn from </a:t>
            </a:r>
            <a:r>
              <a:rPr lang="en-US" b="0" dirty="0">
                <a:solidFill>
                  <a:srgbClr val="C00000"/>
                </a:solidFill>
              </a:rPr>
              <a:t>reconstructing</a:t>
            </a:r>
            <a:r>
              <a:rPr lang="en-US" b="0" dirty="0"/>
              <a:t> the input?</a:t>
            </a:r>
          </a:p>
        </p:txBody>
      </p:sp>
    </p:spTree>
    <p:extLst>
      <p:ext uri="{BB962C8B-B14F-4D97-AF65-F5344CB8AC3E}">
        <p14:creationId xmlns:p14="http://schemas.microsoft.com/office/powerpoint/2010/main" val="1529342750"/>
      </p:ext>
    </p:extLst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71847" y="2238221"/>
            <a:ext cx="3598664" cy="588551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09017" marR="2858" indent="-702231" defTabSz="685800">
              <a:lnSpc>
                <a:spcPct val="120000"/>
              </a:lnSpc>
              <a:spcBef>
                <a:spcPts val="53"/>
              </a:spcBef>
              <a:tabLst>
                <a:tab pos="2933224" algn="l"/>
              </a:tabLst>
            </a:pPr>
            <a:r>
              <a:rPr sz="1575" spc="-3" dirty="0">
                <a:solidFill>
                  <a:prstClr val="black"/>
                </a:solidFill>
                <a:cs typeface="Calibri"/>
              </a:rPr>
              <a:t>I was thinking about the </a:t>
            </a:r>
            <a:r>
              <a:rPr sz="1575" spc="-6" dirty="0">
                <a:solidFill>
                  <a:prstClr val="black"/>
                </a:solidFill>
                <a:cs typeface="Calibri"/>
              </a:rPr>
              <a:t>sequence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that goes  1, 1, 2, 3, 5, 8, 13,</a:t>
            </a:r>
            <a:r>
              <a:rPr sz="1575" spc="28" dirty="0">
                <a:solidFill>
                  <a:prstClr val="black"/>
                </a:solidFill>
                <a:cs typeface="Calibri"/>
              </a:rPr>
              <a:t> </a:t>
            </a:r>
            <a:r>
              <a:rPr sz="1575" spc="-3" dirty="0">
                <a:solidFill>
                  <a:prstClr val="black"/>
                </a:solidFill>
                <a:cs typeface="Calibri"/>
              </a:rPr>
              <a:t>21,</a:t>
            </a:r>
            <a:r>
              <a:rPr sz="1575" spc="11" dirty="0">
                <a:solidFill>
                  <a:prstClr val="black"/>
                </a:solidFill>
                <a:cs typeface="Calibri"/>
              </a:rPr>
              <a:t> </a:t>
            </a:r>
            <a:r>
              <a:rPr sz="1575" u="heavy" spc="-3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1575" u="heavy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cs typeface="Calibri"/>
              </a:rPr>
              <a:t>	</a:t>
            </a:r>
            <a:endParaRPr sz="1575">
              <a:solidFill>
                <a:prstClr val="black"/>
              </a:solidFill>
              <a:cs typeface="Calibri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ECA07B24-E78C-372E-70F7-9006C8E3D56E}"/>
              </a:ext>
            </a:extLst>
          </p:cNvPr>
          <p:cNvSpPr txBox="1">
            <a:spLocks/>
          </p:cNvSpPr>
          <p:nvPr/>
        </p:nvSpPr>
        <p:spPr>
          <a:xfrm>
            <a:off x="1430655" y="93726"/>
            <a:ext cx="6266498" cy="9625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/>
              <a:t>What can we learn from </a:t>
            </a:r>
            <a:r>
              <a:rPr lang="en-US">
                <a:solidFill>
                  <a:srgbClr val="C00000"/>
                </a:solidFill>
              </a:rPr>
              <a:t>reconstructing</a:t>
            </a:r>
            <a:r>
              <a:rPr lang="en-US"/>
              <a:t> the input?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28307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4FC7279E-A676-1245-A559-A3C42257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-81299"/>
            <a:ext cx="7866681" cy="857250"/>
          </a:xfrm>
        </p:spPr>
        <p:txBody>
          <a:bodyPr>
            <a:normAutofit/>
          </a:bodyPr>
          <a:lstStyle/>
          <a:p>
            <a:r>
              <a:rPr kumimoji="1" lang="zh-CN" altLang="en-US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如何得到词向量：</a:t>
            </a:r>
            <a:r>
              <a:rPr kumimoji="1" lang="en-US" altLang="zh-CN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Mask</a:t>
            </a:r>
            <a:endParaRPr kumimoji="1" lang="zh-CN" altLang="en-US" sz="2707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3174D4-1DDB-6C44-A955-0DAFF2478DCE}"/>
              </a:ext>
            </a:extLst>
          </p:cNvPr>
          <p:cNvSpPr txBox="1"/>
          <p:nvPr/>
        </p:nvSpPr>
        <p:spPr>
          <a:xfrm>
            <a:off x="122467" y="2246887"/>
            <a:ext cx="8229123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sz="1805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文本</a:t>
            </a:r>
            <a:r>
              <a:rPr kumimoji="1" lang="en-US" altLang="zh-CN" sz="1805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Mask</a:t>
            </a:r>
            <a:r>
              <a:rPr kumimoji="1" lang="zh-CN" altLang="en-US" sz="1805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kumimoji="1" lang="zh-CN" altLang="en-US" sz="1805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完形填空</a:t>
            </a:r>
            <a:endParaRPr kumimoji="1" lang="en-US" altLang="zh-CN" sz="1805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The chef cooked the meal</a:t>
            </a: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The chef cooked the meal. </a:t>
            </a:r>
          </a:p>
        </p:txBody>
      </p:sp>
      <p:pic>
        <p:nvPicPr>
          <p:cNvPr id="6146" name="Picture 2" descr="Google AI Blog: More Efficient NLP Model Pre-training with ELECTRA">
            <a:extLst>
              <a:ext uri="{FF2B5EF4-FFF2-40B4-BE49-F238E27FC236}">
                <a16:creationId xmlns:a16="http://schemas.microsoft.com/office/drawing/2014/main" id="{65F95A4C-1CEC-404B-929A-F34C1E81C0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50"/>
          <a:stretch/>
        </p:blipFill>
        <p:spPr bwMode="auto">
          <a:xfrm>
            <a:off x="4572000" y="1652948"/>
            <a:ext cx="3844215" cy="230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86F5273-F70F-F44D-B17B-AF80A65BA7C3}"/>
              </a:ext>
            </a:extLst>
          </p:cNvPr>
          <p:cNvSpPr/>
          <p:nvPr/>
        </p:nvSpPr>
        <p:spPr>
          <a:xfrm>
            <a:off x="749123" y="3103269"/>
            <a:ext cx="433151" cy="216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6BF5E2-EE0F-6D49-AFCC-F59EE2A69BA3}"/>
              </a:ext>
            </a:extLst>
          </p:cNvPr>
          <p:cNvSpPr/>
          <p:nvPr/>
        </p:nvSpPr>
        <p:spPr>
          <a:xfrm>
            <a:off x="1638123" y="3106311"/>
            <a:ext cx="703870" cy="213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48332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3">
            <a:extLst>
              <a:ext uri="{FF2B5EF4-FFF2-40B4-BE49-F238E27FC236}">
                <a16:creationId xmlns:a16="http://schemas.microsoft.com/office/drawing/2014/main" id="{4FC7279E-A676-1245-A559-A3C42257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-81299"/>
            <a:ext cx="7866681" cy="857250"/>
          </a:xfrm>
        </p:spPr>
        <p:txBody>
          <a:bodyPr>
            <a:normAutofit/>
          </a:bodyPr>
          <a:lstStyle/>
          <a:p>
            <a:r>
              <a:rPr kumimoji="1" lang="en-US" altLang="zh-CN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BERT</a:t>
            </a:r>
            <a:r>
              <a:rPr kumimoji="1" lang="zh-CN" altLang="en-US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707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GPT</a:t>
            </a:r>
            <a:endParaRPr kumimoji="1" lang="zh-CN" altLang="en-US" sz="2707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541" name="图片 6540" descr="图示&#10;&#10;描述已自动生成">
            <a:extLst>
              <a:ext uri="{FF2B5EF4-FFF2-40B4-BE49-F238E27FC236}">
                <a16:creationId xmlns:a16="http://schemas.microsoft.com/office/drawing/2014/main" id="{4321B0ED-5B9A-7682-5314-EA5CFCD1E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088" y="947434"/>
            <a:ext cx="6334832" cy="395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89726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04F5421-1693-5573-98F7-86AC5EEF2DFB}"/>
              </a:ext>
            </a:extLst>
          </p:cNvPr>
          <p:cNvSpPr/>
          <p:nvPr/>
        </p:nvSpPr>
        <p:spPr>
          <a:xfrm>
            <a:off x="280842" y="2218916"/>
            <a:ext cx="1364066" cy="5701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5070E2-C65A-4378-87F3-7CF934483318}"/>
              </a:ext>
            </a:extLst>
          </p:cNvPr>
          <p:cNvSpPr txBox="1"/>
          <p:nvPr/>
        </p:nvSpPr>
        <p:spPr>
          <a:xfrm>
            <a:off x="186347" y="2358526"/>
            <a:ext cx="1581632" cy="38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</a:t>
            </a:r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ord2Vec</a:t>
            </a:r>
          </a:p>
          <a:p>
            <a:pPr algn="ctr"/>
            <a:endParaRPr lang="en-US" sz="526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cxnSp>
        <p:nvCxnSpPr>
          <p:cNvPr id="1030" name="直线连接符 1029">
            <a:extLst>
              <a:ext uri="{FF2B5EF4-FFF2-40B4-BE49-F238E27FC236}">
                <a16:creationId xmlns:a16="http://schemas.microsoft.com/office/drawing/2014/main" id="{326C087A-323D-E83B-964D-E5417CBABF43}"/>
              </a:ext>
            </a:extLst>
          </p:cNvPr>
          <p:cNvCxnSpPr>
            <a:cxnSpLocks/>
          </p:cNvCxnSpPr>
          <p:nvPr/>
        </p:nvCxnSpPr>
        <p:spPr bwMode="auto">
          <a:xfrm>
            <a:off x="3002120" y="2241544"/>
            <a:ext cx="0" cy="3106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B65A0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标题 3">
            <a:extLst>
              <a:ext uri="{FF2B5EF4-FFF2-40B4-BE49-F238E27FC236}">
                <a16:creationId xmlns:a16="http://schemas.microsoft.com/office/drawing/2014/main" id="{AF685C99-8CA7-4D6B-649D-637A2DED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-81299"/>
            <a:ext cx="7866681" cy="857250"/>
          </a:xfrm>
        </p:spPr>
        <p:txBody>
          <a:bodyPr>
            <a:normAutofit/>
          </a:bodyPr>
          <a:lstStyle/>
          <a:p>
            <a:r>
              <a:rPr kumimoji="1" lang="en-US" altLang="zh-CN" sz="2707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ChatGPT</a:t>
            </a:r>
            <a:r>
              <a:rPr kumimoji="1" lang="zh-CN" altLang="en-US" sz="2707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的发展路径</a:t>
            </a:r>
          </a:p>
        </p:txBody>
      </p:sp>
      <p:sp>
        <p:nvSpPr>
          <p:cNvPr id="9" name="íṡlïḓè">
            <a:extLst>
              <a:ext uri="{FF2B5EF4-FFF2-40B4-BE49-F238E27FC236}">
                <a16:creationId xmlns:a16="http://schemas.microsoft.com/office/drawing/2014/main" id="{1876809E-0071-6FDF-D695-8DE97F6BEECF}"/>
              </a:ext>
            </a:extLst>
          </p:cNvPr>
          <p:cNvSpPr/>
          <p:nvPr/>
        </p:nvSpPr>
        <p:spPr>
          <a:xfrm>
            <a:off x="1648231" y="4747142"/>
            <a:ext cx="1191166" cy="204312"/>
          </a:xfrm>
          <a:prstGeom prst="rect">
            <a:avLst/>
          </a:prstGeom>
          <a:solidFill>
            <a:srgbClr val="636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2017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10" name="islïḓé">
            <a:extLst>
              <a:ext uri="{FF2B5EF4-FFF2-40B4-BE49-F238E27FC236}">
                <a16:creationId xmlns:a16="http://schemas.microsoft.com/office/drawing/2014/main" id="{3CC96264-7437-68B2-4A48-32998E08AA27}"/>
              </a:ext>
            </a:extLst>
          </p:cNvPr>
          <p:cNvSpPr/>
          <p:nvPr/>
        </p:nvSpPr>
        <p:spPr>
          <a:xfrm>
            <a:off x="309513" y="4747142"/>
            <a:ext cx="1364066" cy="204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2013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11" name="islîďe">
            <a:extLst>
              <a:ext uri="{FF2B5EF4-FFF2-40B4-BE49-F238E27FC236}">
                <a16:creationId xmlns:a16="http://schemas.microsoft.com/office/drawing/2014/main" id="{C479D82C-66CA-0BFF-2D90-A0653EFD04FA}"/>
              </a:ext>
            </a:extLst>
          </p:cNvPr>
          <p:cNvSpPr/>
          <p:nvPr/>
        </p:nvSpPr>
        <p:spPr>
          <a:xfrm>
            <a:off x="7495770" y="4747142"/>
            <a:ext cx="1407740" cy="202864"/>
          </a:xfrm>
          <a:prstGeom prst="homePlat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lt"/>
              </a:rPr>
              <a:t>20</a:t>
            </a:r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22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18" name="íṡlïḓè">
            <a:extLst>
              <a:ext uri="{FF2B5EF4-FFF2-40B4-BE49-F238E27FC236}">
                <a16:creationId xmlns:a16="http://schemas.microsoft.com/office/drawing/2014/main" id="{E7A1FDC4-B9B4-8A4A-3366-2A2B668C30AB}"/>
              </a:ext>
            </a:extLst>
          </p:cNvPr>
          <p:cNvSpPr/>
          <p:nvPr/>
        </p:nvSpPr>
        <p:spPr>
          <a:xfrm>
            <a:off x="6614054" y="4745222"/>
            <a:ext cx="881716" cy="20168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2021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21" name="íṡlïḓè">
            <a:extLst>
              <a:ext uri="{FF2B5EF4-FFF2-40B4-BE49-F238E27FC236}">
                <a16:creationId xmlns:a16="http://schemas.microsoft.com/office/drawing/2014/main" id="{FD4E1429-BAD5-13C5-9139-6E6852D2D0EA}"/>
              </a:ext>
            </a:extLst>
          </p:cNvPr>
          <p:cNvSpPr/>
          <p:nvPr/>
        </p:nvSpPr>
        <p:spPr>
          <a:xfrm>
            <a:off x="2839396" y="4745694"/>
            <a:ext cx="1364066" cy="204312"/>
          </a:xfrm>
          <a:prstGeom prst="rect">
            <a:avLst/>
          </a:prstGeom>
          <a:solidFill>
            <a:srgbClr val="419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2018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22" name="íṡlïḓè">
            <a:extLst>
              <a:ext uri="{FF2B5EF4-FFF2-40B4-BE49-F238E27FC236}">
                <a16:creationId xmlns:a16="http://schemas.microsoft.com/office/drawing/2014/main" id="{153787ED-E08C-A1A0-3558-DADE62E02981}"/>
              </a:ext>
            </a:extLst>
          </p:cNvPr>
          <p:cNvSpPr/>
          <p:nvPr/>
        </p:nvSpPr>
        <p:spPr>
          <a:xfrm>
            <a:off x="5576993" y="4748322"/>
            <a:ext cx="1037061" cy="204122"/>
          </a:xfrm>
          <a:prstGeom prst="rect">
            <a:avLst/>
          </a:prstGeom>
          <a:solidFill>
            <a:srgbClr val="7D8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2020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23" name="íṡlïḓè">
            <a:extLst>
              <a:ext uri="{FF2B5EF4-FFF2-40B4-BE49-F238E27FC236}">
                <a16:creationId xmlns:a16="http://schemas.microsoft.com/office/drawing/2014/main" id="{E6832170-C5F7-002C-10DE-B7D782D830AC}"/>
              </a:ext>
            </a:extLst>
          </p:cNvPr>
          <p:cNvSpPr/>
          <p:nvPr/>
        </p:nvSpPr>
        <p:spPr>
          <a:xfrm>
            <a:off x="4192993" y="4745884"/>
            <a:ext cx="1394852" cy="204122"/>
          </a:xfrm>
          <a:prstGeom prst="rect">
            <a:avLst/>
          </a:prstGeom>
          <a:solidFill>
            <a:srgbClr val="3B8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2019</a:t>
            </a:r>
            <a:r>
              <a:rPr lang="zh-CN" altLang="en-US" sz="1053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 charset="-122"/>
                <a:sym typeface="+mn-lt"/>
              </a:rPr>
              <a:t>年</a:t>
            </a:r>
            <a:endParaRPr lang="en-US" sz="1053" b="1" dirty="0">
              <a:solidFill>
                <a:prstClr val="white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lt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4DF4641-90BB-7FCF-E9A1-26AA78DBA137}"/>
              </a:ext>
            </a:extLst>
          </p:cNvPr>
          <p:cNvSpPr/>
          <p:nvPr/>
        </p:nvSpPr>
        <p:spPr>
          <a:xfrm>
            <a:off x="1886282" y="2216508"/>
            <a:ext cx="1364066" cy="5701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C85DFB4-FFCB-3D51-6FA9-3FF624416AB2}"/>
              </a:ext>
            </a:extLst>
          </p:cNvPr>
          <p:cNvSpPr txBox="1"/>
          <p:nvPr/>
        </p:nvSpPr>
        <p:spPr>
          <a:xfrm>
            <a:off x="1853347" y="2356118"/>
            <a:ext cx="1581632" cy="38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Transformer</a:t>
            </a:r>
          </a:p>
          <a:p>
            <a:pPr algn="ctr"/>
            <a:endParaRPr lang="en-US" sz="526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99948773-E9CC-98FE-9B8B-2AEC3EA6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91" y="2046188"/>
            <a:ext cx="358607" cy="3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>
            <a:extLst>
              <a:ext uri="{FF2B5EF4-FFF2-40B4-BE49-F238E27FC236}">
                <a16:creationId xmlns:a16="http://schemas.microsoft.com/office/drawing/2014/main" id="{3E946F3A-4100-5325-4C6A-AB28D35B0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654" y="2042281"/>
            <a:ext cx="358607" cy="3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175927C7-D431-10DD-1CC5-988CD818197C}"/>
              </a:ext>
            </a:extLst>
          </p:cNvPr>
          <p:cNvSpPr/>
          <p:nvPr/>
        </p:nvSpPr>
        <p:spPr>
          <a:xfrm>
            <a:off x="2813159" y="3338654"/>
            <a:ext cx="1172297" cy="832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8FC3543-6235-5B9B-FD10-D5C09C9C81A9}"/>
              </a:ext>
            </a:extLst>
          </p:cNvPr>
          <p:cNvSpPr txBox="1"/>
          <p:nvPr/>
        </p:nvSpPr>
        <p:spPr>
          <a:xfrm>
            <a:off x="2602709" y="3487794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GPT</a:t>
            </a:r>
          </a:p>
        </p:txBody>
      </p:sp>
      <p:pic>
        <p:nvPicPr>
          <p:cNvPr id="30726" name="Picture 6">
            <a:extLst>
              <a:ext uri="{FF2B5EF4-FFF2-40B4-BE49-F238E27FC236}">
                <a16:creationId xmlns:a16="http://schemas.microsoft.com/office/drawing/2014/main" id="{8BA3962F-1638-F7FF-3C3F-FD92F57582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2786574" y="3180587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8" name="Picture 8">
            <a:extLst>
              <a:ext uri="{FF2B5EF4-FFF2-40B4-BE49-F238E27FC236}">
                <a16:creationId xmlns:a16="http://schemas.microsoft.com/office/drawing/2014/main" id="{ED4D1A69-0814-B310-8E82-D8636E531D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78"/>
          <a:stretch/>
        </p:blipFill>
        <p:spPr bwMode="auto">
          <a:xfrm>
            <a:off x="3143194" y="3257476"/>
            <a:ext cx="651283" cy="17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AD8408ED-ACF7-08CA-2DA3-A9DA02AF7822}"/>
              </a:ext>
            </a:extLst>
          </p:cNvPr>
          <p:cNvSpPr/>
          <p:nvPr/>
        </p:nvSpPr>
        <p:spPr>
          <a:xfrm>
            <a:off x="4195907" y="3333755"/>
            <a:ext cx="1172297" cy="8325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17994E9-0CF8-E00E-2C16-F7312FB4FF4E}"/>
              </a:ext>
            </a:extLst>
          </p:cNvPr>
          <p:cNvSpPr txBox="1"/>
          <p:nvPr/>
        </p:nvSpPr>
        <p:spPr>
          <a:xfrm>
            <a:off x="3982474" y="3482895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GPT-2</a:t>
            </a:r>
          </a:p>
        </p:txBody>
      </p:sp>
      <p:pic>
        <p:nvPicPr>
          <p:cNvPr id="61" name="Picture 8">
            <a:extLst>
              <a:ext uri="{FF2B5EF4-FFF2-40B4-BE49-F238E27FC236}">
                <a16:creationId xmlns:a16="http://schemas.microsoft.com/office/drawing/2014/main" id="{5E4C3CCF-B50A-1B38-9E33-27C255CD84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78"/>
          <a:stretch/>
        </p:blipFill>
        <p:spPr bwMode="auto">
          <a:xfrm>
            <a:off x="4525941" y="3252577"/>
            <a:ext cx="651283" cy="17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2A2BFBEF-17AE-B3EA-393F-30346421B7BE}"/>
              </a:ext>
            </a:extLst>
          </p:cNvPr>
          <p:cNvSpPr/>
          <p:nvPr/>
        </p:nvSpPr>
        <p:spPr>
          <a:xfrm>
            <a:off x="5587845" y="3331233"/>
            <a:ext cx="1172297" cy="8325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240F54D9-AD17-80F6-9653-AEDF6B85A090}"/>
              </a:ext>
            </a:extLst>
          </p:cNvPr>
          <p:cNvSpPr txBox="1"/>
          <p:nvPr/>
        </p:nvSpPr>
        <p:spPr>
          <a:xfrm>
            <a:off x="5384158" y="3480373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GPT-3</a:t>
            </a:r>
          </a:p>
        </p:txBody>
      </p:sp>
      <p:pic>
        <p:nvPicPr>
          <p:cNvPr id="1025" name="Picture 6">
            <a:extLst>
              <a:ext uri="{FF2B5EF4-FFF2-40B4-BE49-F238E27FC236}">
                <a16:creationId xmlns:a16="http://schemas.microsoft.com/office/drawing/2014/main" id="{1D0AE64F-619D-77B8-2C4E-3A942C27B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5561259" y="3173165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8">
            <a:extLst>
              <a:ext uri="{FF2B5EF4-FFF2-40B4-BE49-F238E27FC236}">
                <a16:creationId xmlns:a16="http://schemas.microsoft.com/office/drawing/2014/main" id="{5441A9AF-60B7-DB38-73BC-5F7517624D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78"/>
          <a:stretch/>
        </p:blipFill>
        <p:spPr bwMode="auto">
          <a:xfrm>
            <a:off x="5917879" y="3250055"/>
            <a:ext cx="651283" cy="17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7" name="直线连接符 1026">
            <a:extLst>
              <a:ext uri="{FF2B5EF4-FFF2-40B4-BE49-F238E27FC236}">
                <a16:creationId xmlns:a16="http://schemas.microsoft.com/office/drawing/2014/main" id="{462AF2A3-01A7-3332-BBB1-E4D19023257A}"/>
              </a:ext>
            </a:extLst>
          </p:cNvPr>
          <p:cNvCxnSpPr>
            <a:cxnSpLocks/>
          </p:cNvCxnSpPr>
          <p:nvPr/>
        </p:nvCxnSpPr>
        <p:spPr bwMode="auto">
          <a:xfrm>
            <a:off x="5300179" y="1223312"/>
            <a:ext cx="0" cy="3106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B65A0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8" name="矩形 1027">
            <a:extLst>
              <a:ext uri="{FF2B5EF4-FFF2-40B4-BE49-F238E27FC236}">
                <a16:creationId xmlns:a16="http://schemas.microsoft.com/office/drawing/2014/main" id="{927BDBE5-AC8E-3E90-3B5B-D4CCD62A93E3}"/>
              </a:ext>
            </a:extLst>
          </p:cNvPr>
          <p:cNvSpPr/>
          <p:nvPr/>
        </p:nvSpPr>
        <p:spPr>
          <a:xfrm>
            <a:off x="4184341" y="1198276"/>
            <a:ext cx="1173087" cy="5701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2713C754-D1C4-587A-5820-21996B1AE3A2}"/>
              </a:ext>
            </a:extLst>
          </p:cNvPr>
          <p:cNvSpPr txBox="1"/>
          <p:nvPr/>
        </p:nvSpPr>
        <p:spPr>
          <a:xfrm>
            <a:off x="3971887" y="1337886"/>
            <a:ext cx="1581632" cy="38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BERT</a:t>
            </a:r>
          </a:p>
          <a:p>
            <a:pPr algn="ctr"/>
            <a:endParaRPr lang="en-US" sz="526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1031" name="Picture 4">
            <a:extLst>
              <a:ext uri="{FF2B5EF4-FFF2-40B4-BE49-F238E27FC236}">
                <a16:creationId xmlns:a16="http://schemas.microsoft.com/office/drawing/2014/main" id="{EAF41C58-EA23-FCF4-5268-F1AC806FF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13" y="1024049"/>
            <a:ext cx="358607" cy="3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6">
            <a:extLst>
              <a:ext uri="{FF2B5EF4-FFF2-40B4-BE49-F238E27FC236}">
                <a16:creationId xmlns:a16="http://schemas.microsoft.com/office/drawing/2014/main" id="{1FDB20B9-17B0-DB68-E279-814B270219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4181276" y="3178877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矩形 1038">
            <a:extLst>
              <a:ext uri="{FF2B5EF4-FFF2-40B4-BE49-F238E27FC236}">
                <a16:creationId xmlns:a16="http://schemas.microsoft.com/office/drawing/2014/main" id="{B50626DF-DADE-A847-17BC-1BA66C373B2E}"/>
              </a:ext>
            </a:extLst>
          </p:cNvPr>
          <p:cNvSpPr/>
          <p:nvPr/>
        </p:nvSpPr>
        <p:spPr>
          <a:xfrm>
            <a:off x="6361088" y="1097096"/>
            <a:ext cx="1172297" cy="721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4BE99DA4-AE29-A494-9C4B-7A1F6C84916C}"/>
              </a:ext>
            </a:extLst>
          </p:cNvPr>
          <p:cNvSpPr txBox="1"/>
          <p:nvPr/>
        </p:nvSpPr>
        <p:spPr>
          <a:xfrm>
            <a:off x="6157402" y="1112737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Codex</a:t>
            </a:r>
          </a:p>
        </p:txBody>
      </p:sp>
      <p:pic>
        <p:nvPicPr>
          <p:cNvPr id="1041" name="Picture 6">
            <a:extLst>
              <a:ext uri="{FF2B5EF4-FFF2-40B4-BE49-F238E27FC236}">
                <a16:creationId xmlns:a16="http://schemas.microsoft.com/office/drawing/2014/main" id="{7BB3BC9E-A3CC-1AC7-999B-8320B5B5C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6224471" y="995387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矩形 1043">
            <a:extLst>
              <a:ext uri="{FF2B5EF4-FFF2-40B4-BE49-F238E27FC236}">
                <a16:creationId xmlns:a16="http://schemas.microsoft.com/office/drawing/2014/main" id="{70E1092D-B93C-8639-7C5F-E851B1B72AF1}"/>
              </a:ext>
            </a:extLst>
          </p:cNvPr>
          <p:cNvSpPr/>
          <p:nvPr/>
        </p:nvSpPr>
        <p:spPr>
          <a:xfrm>
            <a:off x="6810244" y="2115341"/>
            <a:ext cx="1172297" cy="581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FAE70208-E43A-83DA-88AF-3EDA0DC0B338}"/>
              </a:ext>
            </a:extLst>
          </p:cNvPr>
          <p:cNvSpPr txBox="1"/>
          <p:nvPr/>
        </p:nvSpPr>
        <p:spPr>
          <a:xfrm>
            <a:off x="6606558" y="2160487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WebGPT</a:t>
            </a:r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331CDEC5-CB8F-0F95-7FDF-6F61EBEE1DB3}"/>
              </a:ext>
            </a:extLst>
          </p:cNvPr>
          <p:cNvSpPr/>
          <p:nvPr/>
        </p:nvSpPr>
        <p:spPr>
          <a:xfrm>
            <a:off x="7742139" y="3933790"/>
            <a:ext cx="1172297" cy="532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053" name="文本框 1052">
            <a:extLst>
              <a:ext uri="{FF2B5EF4-FFF2-40B4-BE49-F238E27FC236}">
                <a16:creationId xmlns:a16="http://schemas.microsoft.com/office/drawing/2014/main" id="{4C20F293-B8F9-F433-92A9-66742ADD6272}"/>
              </a:ext>
            </a:extLst>
          </p:cNvPr>
          <p:cNvSpPr txBox="1"/>
          <p:nvPr/>
        </p:nvSpPr>
        <p:spPr>
          <a:xfrm>
            <a:off x="7538453" y="3933791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ChatGPT</a:t>
            </a:r>
          </a:p>
        </p:txBody>
      </p:sp>
      <p:pic>
        <p:nvPicPr>
          <p:cNvPr id="1054" name="Picture 6">
            <a:extLst>
              <a:ext uri="{FF2B5EF4-FFF2-40B4-BE49-F238E27FC236}">
                <a16:creationId xmlns:a16="http://schemas.microsoft.com/office/drawing/2014/main" id="{B81ED38E-F2D4-740F-6B44-961725EA96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7589605" y="3791515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文本框 1055">
            <a:extLst>
              <a:ext uri="{FF2B5EF4-FFF2-40B4-BE49-F238E27FC236}">
                <a16:creationId xmlns:a16="http://schemas.microsoft.com/office/drawing/2014/main" id="{66B7A281-6054-9C70-2078-D36C5CC0BA53}"/>
              </a:ext>
            </a:extLst>
          </p:cNvPr>
          <p:cNvSpPr txBox="1"/>
          <p:nvPr/>
        </p:nvSpPr>
        <p:spPr>
          <a:xfrm>
            <a:off x="2886496" y="3724044"/>
            <a:ext cx="979830" cy="46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预训练语言模型元年</a:t>
            </a:r>
            <a:endParaRPr lang="en-US" altLang="zh-CN" sz="1203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57" name="文本框 1056">
            <a:extLst>
              <a:ext uri="{FF2B5EF4-FFF2-40B4-BE49-F238E27FC236}">
                <a16:creationId xmlns:a16="http://schemas.microsoft.com/office/drawing/2014/main" id="{257A3702-692C-56B7-8A0C-9EAEC643BD51}"/>
              </a:ext>
            </a:extLst>
          </p:cNvPr>
          <p:cNvSpPr txBox="1"/>
          <p:nvPr/>
        </p:nvSpPr>
        <p:spPr>
          <a:xfrm>
            <a:off x="5519624" y="3784970"/>
            <a:ext cx="129167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首个千亿级模型</a:t>
            </a:r>
            <a:endParaRPr lang="en-US" altLang="zh-CN" sz="1203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58" name="文本框 1057">
            <a:extLst>
              <a:ext uri="{FF2B5EF4-FFF2-40B4-BE49-F238E27FC236}">
                <a16:creationId xmlns:a16="http://schemas.microsoft.com/office/drawing/2014/main" id="{1BFA4AA9-95EE-EFC3-1FA5-CF8C2825D89B}"/>
              </a:ext>
            </a:extLst>
          </p:cNvPr>
          <p:cNvSpPr txBox="1"/>
          <p:nvPr/>
        </p:nvSpPr>
        <p:spPr>
          <a:xfrm>
            <a:off x="6385331" y="1407311"/>
            <a:ext cx="1172297" cy="46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引入代码能力和思维链能力</a:t>
            </a:r>
            <a:endParaRPr lang="en-US" altLang="zh-CN" sz="1203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59" name="文本框 1058">
            <a:extLst>
              <a:ext uri="{FF2B5EF4-FFF2-40B4-BE49-F238E27FC236}">
                <a16:creationId xmlns:a16="http://schemas.microsoft.com/office/drawing/2014/main" id="{CCF6FE7C-4A50-ADFF-3A04-623444F49B63}"/>
              </a:ext>
            </a:extLst>
          </p:cNvPr>
          <p:cNvSpPr txBox="1"/>
          <p:nvPr/>
        </p:nvSpPr>
        <p:spPr>
          <a:xfrm>
            <a:off x="6758781" y="2442613"/>
            <a:ext cx="129167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引入搜索能力</a:t>
            </a:r>
            <a:endParaRPr lang="en-US" altLang="zh-CN" sz="1203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60" name="文本框 1059">
            <a:extLst>
              <a:ext uri="{FF2B5EF4-FFF2-40B4-BE49-F238E27FC236}">
                <a16:creationId xmlns:a16="http://schemas.microsoft.com/office/drawing/2014/main" id="{778812B7-8302-495A-203B-CC4C392FFEB7}"/>
              </a:ext>
            </a:extLst>
          </p:cNvPr>
          <p:cNvSpPr txBox="1"/>
          <p:nvPr/>
        </p:nvSpPr>
        <p:spPr>
          <a:xfrm>
            <a:off x="7702499" y="4201494"/>
            <a:ext cx="129167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引入对话能力</a:t>
            </a:r>
            <a:endParaRPr lang="en-US" altLang="zh-CN" sz="1203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061" name="矩形 1060">
            <a:extLst>
              <a:ext uri="{FF2B5EF4-FFF2-40B4-BE49-F238E27FC236}">
                <a16:creationId xmlns:a16="http://schemas.microsoft.com/office/drawing/2014/main" id="{50C8BE43-4834-FD58-6E04-2E3936A20D08}"/>
              </a:ext>
            </a:extLst>
          </p:cNvPr>
          <p:cNvSpPr/>
          <p:nvPr/>
        </p:nvSpPr>
        <p:spPr>
          <a:xfrm>
            <a:off x="7403556" y="3013102"/>
            <a:ext cx="1172297" cy="58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>
              <a:solidFill>
                <a:prstClr val="white"/>
              </a:solidFill>
            </a:endParaRPr>
          </a:p>
        </p:txBody>
      </p:sp>
      <p:sp>
        <p:nvSpPr>
          <p:cNvPr id="1062" name="文本框 1061">
            <a:extLst>
              <a:ext uri="{FF2B5EF4-FFF2-40B4-BE49-F238E27FC236}">
                <a16:creationId xmlns:a16="http://schemas.microsoft.com/office/drawing/2014/main" id="{089834D6-AD87-235E-6E64-3BCBBCCE6EF9}"/>
              </a:ext>
            </a:extLst>
          </p:cNvPr>
          <p:cNvSpPr txBox="1"/>
          <p:nvPr/>
        </p:nvSpPr>
        <p:spPr>
          <a:xfrm>
            <a:off x="7199870" y="3061932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InstructGPT</a:t>
            </a:r>
          </a:p>
        </p:txBody>
      </p:sp>
      <p:pic>
        <p:nvPicPr>
          <p:cNvPr id="1063" name="Picture 6">
            <a:extLst>
              <a:ext uri="{FF2B5EF4-FFF2-40B4-BE49-F238E27FC236}">
                <a16:creationId xmlns:a16="http://schemas.microsoft.com/office/drawing/2014/main" id="{498DF64F-8F74-87CD-EE6E-5304DB355A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7242697" y="2884239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文本框 1064">
            <a:extLst>
              <a:ext uri="{FF2B5EF4-FFF2-40B4-BE49-F238E27FC236}">
                <a16:creationId xmlns:a16="http://schemas.microsoft.com/office/drawing/2014/main" id="{06A0FB16-6F5A-CEFD-6C74-30C384E16003}"/>
              </a:ext>
            </a:extLst>
          </p:cNvPr>
          <p:cNvSpPr txBox="1"/>
          <p:nvPr/>
        </p:nvSpPr>
        <p:spPr>
          <a:xfrm>
            <a:off x="7352092" y="3344059"/>
            <a:ext cx="129167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能理解人类指令</a:t>
            </a:r>
            <a:endParaRPr lang="en-US" altLang="zh-CN" sz="1203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1066" name="Picture 6">
            <a:extLst>
              <a:ext uri="{FF2B5EF4-FFF2-40B4-BE49-F238E27FC236}">
                <a16:creationId xmlns:a16="http://schemas.microsoft.com/office/drawing/2014/main" id="{BB129022-D684-FF1B-35E3-B4AB94065F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6696432" y="2007542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288196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的原理与技术演进</a:t>
            </a: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t="19487" r="1073" b="23458"/>
          <a:stretch/>
        </p:blipFill>
        <p:spPr>
          <a:xfrm>
            <a:off x="89209" y="970155"/>
            <a:ext cx="8937125" cy="3010829"/>
          </a:xfrm>
        </p:spPr>
      </p:pic>
      <p:sp>
        <p:nvSpPr>
          <p:cNvPr id="4" name="Rectangle 3"/>
          <p:cNvSpPr/>
          <p:nvPr/>
        </p:nvSpPr>
        <p:spPr>
          <a:xfrm>
            <a:off x="2665141" y="4686740"/>
            <a:ext cx="64788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参考：</a:t>
            </a:r>
            <a:r>
              <a:rPr lang="en-US" dirty="0"/>
              <a:t>https://</a:t>
            </a:r>
            <a:r>
              <a:rPr lang="en-US" dirty="0" err="1"/>
              <a:t>link.springer.com</a:t>
            </a:r>
            <a:r>
              <a:rPr lang="en-US" dirty="0"/>
              <a:t>/article/10.1631/FITEE.2300089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53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成功的关键：长期的坚持，企业家</a:t>
            </a:r>
            <a:r>
              <a:rPr lang="en-US" altLang="zh-CN" sz="2400" b="1" dirty="0">
                <a:solidFill>
                  <a:srgbClr val="FF0000"/>
                </a:solidFill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</a:rPr>
              <a:t>科学家情怀，资本环境的支持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01995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的法宝之一：大！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C748D2-92D7-AC12-6E97-D6939C1AD118}"/>
              </a:ext>
            </a:extLst>
          </p:cNvPr>
          <p:cNvSpPr txBox="1"/>
          <p:nvPr/>
        </p:nvSpPr>
        <p:spPr>
          <a:xfrm>
            <a:off x="457066" y="814293"/>
            <a:ext cx="8229123" cy="814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ChatGPT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：大力出奇迹的典范</a:t>
            </a:r>
            <a:endParaRPr kumimoji="1" lang="en-US" altLang="zh-CN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GPT-3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1750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亿参数量，训练一次消耗</a:t>
            </a:r>
            <a:r>
              <a:rPr kumimoji="1" lang="en-US" altLang="zh-CN" sz="1805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1200</a:t>
            </a:r>
            <a:r>
              <a:rPr kumimoji="1" lang="zh-CN" altLang="en-US" sz="1805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万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美元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1760FD-2E2A-50D5-8E03-AE53492E50F6}"/>
              </a:ext>
            </a:extLst>
          </p:cNvPr>
          <p:cNvSpPr txBox="1"/>
          <p:nvPr/>
        </p:nvSpPr>
        <p:spPr>
          <a:xfrm>
            <a:off x="5763165" y="1922024"/>
            <a:ext cx="2274042" cy="46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3">
                <a:latin typeface="SimHei" panose="02010609060101010101" pitchFamily="49" charset="-122"/>
                <a:ea typeface="SimHei" panose="02010609060101010101" pitchFamily="49" charset="-122"/>
              </a:rPr>
              <a:t>各种预训练模型的</a:t>
            </a:r>
            <a:r>
              <a:rPr lang="en-US" sz="1203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参数量对比</a:t>
            </a:r>
            <a:r>
              <a:rPr lang="zh-CN" altLang="en-US" sz="1203">
                <a:latin typeface="SimHei" panose="02010609060101010101" pitchFamily="49" charset="-122"/>
                <a:ea typeface="SimHei" panose="02010609060101010101" pitchFamily="49" charset="-122"/>
              </a:rPr>
              <a:t>（单位：十亿）</a:t>
            </a:r>
            <a:endParaRPr lang="en-US" sz="1203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 descr="图示&#10;&#10;中度可信度描述已自动生成">
            <a:extLst>
              <a:ext uri="{FF2B5EF4-FFF2-40B4-BE49-F238E27FC236}">
                <a16:creationId xmlns:a16="http://schemas.microsoft.com/office/drawing/2014/main" id="{98337739-B9F6-0D90-08E4-61043618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986" y="1976168"/>
            <a:ext cx="4327955" cy="284247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012CC51-947D-21CD-BB09-FC4C8A3A3DCB}"/>
              </a:ext>
            </a:extLst>
          </p:cNvPr>
          <p:cNvSpPr/>
          <p:nvPr/>
        </p:nvSpPr>
        <p:spPr>
          <a:xfrm>
            <a:off x="6522240" y="2389400"/>
            <a:ext cx="2366335" cy="573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buSzPct val="80000"/>
            </a:pPr>
            <a:r>
              <a:rPr kumimoji="1" lang="zh-CN" altLang="en-US" sz="1203" dirty="0">
                <a:latin typeface="Times New Roman" panose="02020603050405020304" pitchFamily="18" charset="0"/>
                <a:ea typeface="黑体" panose="02010609060101010101" pitchFamily="49" charset="-122"/>
              </a:rPr>
              <a:t>参数量越多，人区分新闻是否由</a:t>
            </a:r>
            <a:r>
              <a:rPr kumimoji="1" lang="en-US" altLang="zh-CN" sz="1203" dirty="0">
                <a:latin typeface="Times New Roman" panose="02020603050405020304" pitchFamily="18" charset="0"/>
                <a:ea typeface="黑体" panose="02010609060101010101" pitchFamily="49" charset="-122"/>
              </a:rPr>
              <a:t>AI</a:t>
            </a:r>
            <a:r>
              <a:rPr kumimoji="1" lang="zh-CN" altLang="en-US" sz="1203" dirty="0">
                <a:latin typeface="Times New Roman" panose="02020603050405020304" pitchFamily="18" charset="0"/>
                <a:ea typeface="黑体" panose="02010609060101010101" pitchFamily="49" charset="-122"/>
              </a:rPr>
              <a:t>生成的准确率越低</a:t>
            </a:r>
            <a:endParaRPr kumimoji="1" lang="en-US" altLang="zh-CN" sz="1203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9458" name="Picture 2" descr="在这里插入图片描述">
            <a:extLst>
              <a:ext uri="{FF2B5EF4-FFF2-40B4-BE49-F238E27FC236}">
                <a16:creationId xmlns:a16="http://schemas.microsoft.com/office/drawing/2014/main" id="{BC7C7266-9D5F-7C82-5D64-208A155ED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49" y="1786663"/>
            <a:ext cx="4659889" cy="322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724739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的法宝之一：大！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C748D2-92D7-AC12-6E97-D6939C1AD118}"/>
              </a:ext>
            </a:extLst>
          </p:cNvPr>
          <p:cNvSpPr txBox="1"/>
          <p:nvPr/>
        </p:nvSpPr>
        <p:spPr>
          <a:xfrm>
            <a:off x="457439" y="4691104"/>
            <a:ext cx="8229123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ChatGPT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的核心能力是</a:t>
            </a:r>
            <a:r>
              <a:rPr kumimoji="1" lang="zh-CN" altLang="en-US" sz="1805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涌现（</a:t>
            </a:r>
            <a:r>
              <a:rPr kumimoji="1" lang="en-US" altLang="zh-CN" sz="1805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Emergent</a:t>
            </a:r>
            <a:r>
              <a:rPr kumimoji="1" lang="zh-CN" altLang="en-US" sz="1805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的！</a:t>
            </a:r>
            <a:endParaRPr kumimoji="1" lang="en-US" altLang="zh-CN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5" name="图片 4" descr="图形用户界面, 应用程序&#10;&#10;描述已自动生成">
            <a:extLst>
              <a:ext uri="{FF2B5EF4-FFF2-40B4-BE49-F238E27FC236}">
                <a16:creationId xmlns:a16="http://schemas.microsoft.com/office/drawing/2014/main" id="{16B10C6E-303C-B73E-98FB-BB5E4B795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943" y="775951"/>
            <a:ext cx="5733188" cy="39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54587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</a:rPr>
              <a:t>ChatGPT</a:t>
            </a:r>
            <a:r>
              <a:rPr lang="zh-CN" altLang="en-US" sz="2400" dirty="0">
                <a:latin typeface="Times New Roman" panose="02020603050405020304" pitchFamily="18" charset="0"/>
              </a:rPr>
              <a:t>的法宝之二：情景学习（</a:t>
            </a:r>
            <a:r>
              <a:rPr lang="en-US" altLang="zh-CN" sz="2400" dirty="0">
                <a:latin typeface="Times New Roman" panose="02020603050405020304" pitchFamily="18" charset="0"/>
              </a:rPr>
              <a:t>In-Context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Learning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2E7CE0-C379-A11D-DCE5-31976672E4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66" b="7954"/>
          <a:stretch/>
        </p:blipFill>
        <p:spPr>
          <a:xfrm>
            <a:off x="161540" y="1055722"/>
            <a:ext cx="9008062" cy="37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56613"/>
      </p:ext>
    </p:extLst>
  </p:cSld>
  <p:clrMapOvr>
    <a:masterClrMapping/>
  </p:clrMapOvr>
  <p:transition spd="slow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</a:rPr>
              <a:t>ChatGPT</a:t>
            </a:r>
            <a:r>
              <a:rPr lang="zh-CN" altLang="en-US" sz="2400" dirty="0">
                <a:latin typeface="Times New Roman" panose="02020603050405020304" pitchFamily="18" charset="0"/>
              </a:rPr>
              <a:t>的法宝之二：情景学习（</a:t>
            </a:r>
            <a:r>
              <a:rPr lang="en-US" altLang="zh-CN" sz="2400" dirty="0">
                <a:latin typeface="Times New Roman" panose="02020603050405020304" pitchFamily="18" charset="0"/>
              </a:rPr>
              <a:t>In-Context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Learning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EC64D1-A903-AAA9-A9BE-A452A3CFD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553" y="1301631"/>
            <a:ext cx="5893919" cy="3664766"/>
          </a:xfrm>
          <a:prstGeom prst="rect">
            <a:avLst/>
          </a:prstGeom>
        </p:spPr>
      </p:pic>
      <p:pic>
        <p:nvPicPr>
          <p:cNvPr id="6" name="Picture 2" descr="GPT-3 Design Hype 🤯 : GPT3 Figma, plus more Design and UX examples">
            <a:extLst>
              <a:ext uri="{FF2B5EF4-FFF2-40B4-BE49-F238E27FC236}">
                <a16:creationId xmlns:a16="http://schemas.microsoft.com/office/drawing/2014/main" id="{6BC33312-A0CE-DCF5-7FAA-DCFB788A7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36" y="1375318"/>
            <a:ext cx="2898898" cy="188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PI开放之后，我们才真正领略GPT-3的强大……-品玩">
            <a:extLst>
              <a:ext uri="{FF2B5EF4-FFF2-40B4-BE49-F238E27FC236}">
                <a16:creationId xmlns:a16="http://schemas.microsoft.com/office/drawing/2014/main" id="{4913FF8B-9C3D-5026-36B4-6937C7AC9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36" y="3321590"/>
            <a:ext cx="2835517" cy="160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B3229E1-C8DF-1A7B-5FB0-2E359C7B75FF}"/>
              </a:ext>
            </a:extLst>
          </p:cNvPr>
          <p:cNvSpPr txBox="1"/>
          <p:nvPr/>
        </p:nvSpPr>
        <p:spPr>
          <a:xfrm>
            <a:off x="2280165" y="889341"/>
            <a:ext cx="4583671" cy="370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5" dirty="0">
                <a:solidFill>
                  <a:srgbClr val="FF0000"/>
                </a:solidFill>
              </a:rPr>
              <a:t>情景学习可以大幅降低下游开发成本！</a:t>
            </a:r>
            <a:endParaRPr lang="x-none" sz="1805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387386"/>
      </p:ext>
    </p:extLst>
  </p:cSld>
  <p:clrMapOvr>
    <a:masterClrMapping/>
  </p:clrMapOvr>
  <p:transition spd="slow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的法宝之三：思维链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957804-BD9D-8EC8-81FF-437C68EFD8AE}"/>
              </a:ext>
            </a:extLst>
          </p:cNvPr>
          <p:cNvSpPr txBox="1"/>
          <p:nvPr/>
        </p:nvSpPr>
        <p:spPr>
          <a:xfrm>
            <a:off x="457066" y="814293"/>
            <a:ext cx="8825451" cy="147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思维链 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CoT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Chain of Thought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）：由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Google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于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2022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年提出</a:t>
            </a:r>
            <a:endParaRPr kumimoji="1" lang="en-US" altLang="zh-CN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大模型可能难以直接解决一个困难的大问题。</a:t>
            </a:r>
            <a:endParaRPr kumimoji="1" lang="en-US" altLang="zh-CN" sz="165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可以在提问时加入引导，将大问题拆分为多个简单的小问题，从而得到解答</a:t>
            </a:r>
          </a:p>
          <a:p>
            <a:pPr lvl="1">
              <a:lnSpc>
                <a:spcPct val="130000"/>
              </a:lnSpc>
              <a:buSzPct val="80000"/>
            </a:pPr>
            <a:endParaRPr kumimoji="1" lang="zh-CN" altLang="en-US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6" name="图片 5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519787F9-1282-F477-8337-2E0AFACF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5" y="2170586"/>
            <a:ext cx="8825451" cy="296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1965"/>
      </p:ext>
    </p:extLst>
  </p:cSld>
  <p:clrMapOvr>
    <a:masterClrMapping/>
  </p:clrMapOvr>
  <p:transition spd="slow">
    <p:pull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的法宝之三：思维链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E0A9BA-A233-EB73-DBB1-D339B2C3DAE4}"/>
              </a:ext>
            </a:extLst>
          </p:cNvPr>
          <p:cNvSpPr txBox="1"/>
          <p:nvPr/>
        </p:nvSpPr>
        <p:spPr>
          <a:xfrm>
            <a:off x="457066" y="814293"/>
            <a:ext cx="8825451" cy="11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思维链 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CoT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Chain of Thought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）：由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Google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于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2022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年提出</a:t>
            </a:r>
            <a:endParaRPr kumimoji="1" lang="en-US" altLang="zh-CN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或者只给一个</a:t>
            </a:r>
            <a:r>
              <a:rPr kumimoji="1" lang="zh-CN" altLang="en-US" sz="1654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提示</a:t>
            </a: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，就可以对大模型进行引导，提示其逐步地解决问题</a:t>
            </a:r>
            <a:endParaRPr kumimoji="1" lang="en-US" altLang="zh-CN" sz="165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en-US" altLang="zh-CN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Let’s think step by step. </a:t>
            </a:r>
            <a:endParaRPr kumimoji="1" lang="zh-CN" altLang="en-US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" name="图片 3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D9C7CD38-4AB8-919B-6DA4-2E991E35B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" y="2084455"/>
            <a:ext cx="8961002" cy="18791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5CC2AC-B0EA-268A-5D32-ACB9249D6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17" y="1939015"/>
            <a:ext cx="4215958" cy="264634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6D503A7-DCAB-B7FB-31B5-614161D53503}"/>
              </a:ext>
            </a:extLst>
          </p:cNvPr>
          <p:cNvSpPr/>
          <p:nvPr/>
        </p:nvSpPr>
        <p:spPr>
          <a:xfrm>
            <a:off x="6670722" y="4174762"/>
            <a:ext cx="1172297" cy="721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3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E1A312-7279-41EA-3C88-7F5AB025B3AF}"/>
              </a:ext>
            </a:extLst>
          </p:cNvPr>
          <p:cNvSpPr txBox="1"/>
          <p:nvPr/>
        </p:nvSpPr>
        <p:spPr>
          <a:xfrm>
            <a:off x="6467036" y="4190403"/>
            <a:ext cx="1581632" cy="30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3" b="1">
                <a:latin typeface="Times New Roman" panose="02020603050405020304" pitchFamily="18" charset="0"/>
                <a:ea typeface="楷体" panose="02010609060101010101" pitchFamily="49" charset="-122"/>
              </a:rPr>
              <a:t>Codex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EF2C44C8-ACE0-8464-D973-85700C269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07" r="31776" b="50319"/>
          <a:stretch/>
        </p:blipFill>
        <p:spPr bwMode="auto">
          <a:xfrm>
            <a:off x="6534105" y="4073052"/>
            <a:ext cx="321719" cy="31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1F4D341-4D9E-37AA-5E2B-64D0E76789CB}"/>
              </a:ext>
            </a:extLst>
          </p:cNvPr>
          <p:cNvSpPr txBox="1"/>
          <p:nvPr/>
        </p:nvSpPr>
        <p:spPr>
          <a:xfrm>
            <a:off x="6694964" y="4484977"/>
            <a:ext cx="1172297" cy="46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3">
                <a:latin typeface="Times New Roman" panose="02020603050405020304" pitchFamily="18" charset="0"/>
                <a:ea typeface="楷体" panose="02010609060101010101" pitchFamily="49" charset="-122"/>
              </a:rPr>
              <a:t>引入代码能力和思维链能力</a:t>
            </a:r>
            <a:endParaRPr lang="en-US" altLang="zh-CN" sz="1203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824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的法宝之四：人在回路强化学习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C748D2-92D7-AC12-6E97-D6939C1AD118}"/>
              </a:ext>
            </a:extLst>
          </p:cNvPr>
          <p:cNvSpPr txBox="1"/>
          <p:nvPr/>
        </p:nvSpPr>
        <p:spPr>
          <a:xfrm>
            <a:off x="457066" y="814292"/>
            <a:ext cx="8229123" cy="1145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RLHF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Reinforcement Learning with Human Feedback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kumimoji="1" lang="en-US" altLang="zh-CN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收集人类真实指令，并且聘用了专门的合同工写回答用于初始训练</a:t>
            </a:r>
          </a:p>
          <a:p>
            <a:pPr lvl="1">
              <a:lnSpc>
                <a:spcPct val="130000"/>
              </a:lnSpc>
              <a:buSzPct val="80000"/>
            </a:pPr>
            <a:endParaRPr kumimoji="1" lang="zh-CN" altLang="en-US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740C63B4-64C1-8695-F2A3-65AA72C9F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490" y="2138599"/>
            <a:ext cx="4948273" cy="27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091159"/>
      </p:ext>
    </p:extLst>
  </p:cSld>
  <p:clrMapOvr>
    <a:masterClrMapping/>
  </p:clrMapOvr>
  <p:transition spd="slow">
    <p:pul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的法宝之四：人在回路强化学习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C748D2-92D7-AC12-6E97-D6939C1AD118}"/>
              </a:ext>
            </a:extLst>
          </p:cNvPr>
          <p:cNvSpPr txBox="1"/>
          <p:nvPr/>
        </p:nvSpPr>
        <p:spPr>
          <a:xfrm>
            <a:off x="457066" y="865728"/>
            <a:ext cx="8500588" cy="11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RLHF</a:t>
            </a: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Reinforcement Learning with Human Feedback</a:t>
            </a: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kumimoji="1" lang="en-US" altLang="zh-CN" sz="165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使用上述模型得到多个预测结果，请人按照回答质量排序，训练出一个打分模型</a:t>
            </a:r>
            <a:endParaRPr kumimoji="1" lang="en-US" altLang="zh-CN" sz="165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SzPct val="80000"/>
            </a:pPr>
            <a:endParaRPr kumimoji="1" lang="zh-CN" altLang="en-US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E4C3F55E-3726-0C3E-3B69-B5122C739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656" y="2247377"/>
            <a:ext cx="6104877" cy="254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989720"/>
      </p:ext>
    </p:extLst>
  </p:cSld>
  <p:clrMapOvr>
    <a:masterClrMapping/>
  </p:clrMapOvr>
  <p:transition spd="slow">
    <p:pull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B63A3-DBAE-6146-3BA5-FC3B426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</a:rPr>
              <a:t>的法宝之四：人在回路强化学习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957804-BD9D-8EC8-81FF-437C68EFD8AE}"/>
              </a:ext>
            </a:extLst>
          </p:cNvPr>
          <p:cNvSpPr txBox="1"/>
          <p:nvPr/>
        </p:nvSpPr>
        <p:spPr>
          <a:xfrm>
            <a:off x="457066" y="814292"/>
            <a:ext cx="8825451" cy="1145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RLHF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Reinforcement Learning with Human Feedback</a:t>
            </a:r>
            <a:r>
              <a:rPr kumimoji="1" lang="zh-CN" altLang="en-US" sz="1805" dirty="0"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kumimoji="1" lang="en-US" altLang="zh-CN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654" dirty="0">
                <a:latin typeface="Times New Roman" panose="02020603050405020304" pitchFamily="18" charset="0"/>
                <a:ea typeface="黑体" panose="02010609060101010101" pitchFamily="49" charset="-122"/>
              </a:rPr>
              <a:t>进一步加速训练过程：使用上述训练模型生成结果，上述打分模型自动评估训练效果。</a:t>
            </a:r>
          </a:p>
          <a:p>
            <a:pPr lvl="1">
              <a:lnSpc>
                <a:spcPct val="130000"/>
              </a:lnSpc>
              <a:buSzPct val="80000"/>
            </a:pPr>
            <a:endParaRPr kumimoji="1" lang="zh-CN" altLang="en-US" sz="1805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9F4EB84F-9B6D-62B7-1A11-D818C8916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05" y="1759592"/>
            <a:ext cx="4437195" cy="3183206"/>
          </a:xfrm>
          <a:prstGeom prst="rect">
            <a:avLst/>
          </a:prstGeom>
        </p:spPr>
      </p:pic>
      <p:pic>
        <p:nvPicPr>
          <p:cNvPr id="43014" name="Picture 6">
            <a:extLst>
              <a:ext uri="{FF2B5EF4-FFF2-40B4-BE49-F238E27FC236}">
                <a16:creationId xmlns:a16="http://schemas.microsoft.com/office/drawing/2014/main" id="{9B019699-5256-CCBC-BC7A-B34A2B822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791" y="1759593"/>
            <a:ext cx="3641113" cy="171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6632F6E-85BB-96F8-B967-DDF74DF6705E}"/>
              </a:ext>
            </a:extLst>
          </p:cNvPr>
          <p:cNvSpPr txBox="1"/>
          <p:nvPr/>
        </p:nvSpPr>
        <p:spPr>
          <a:xfrm>
            <a:off x="4519464" y="3700015"/>
            <a:ext cx="4624271" cy="159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传统强化学习：</a:t>
            </a:r>
            <a:r>
              <a:rPr kumimoji="1" lang="en-US" altLang="zh-CN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Agent</a:t>
            </a: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根据反馈</a:t>
            </a:r>
            <a:r>
              <a:rPr kumimoji="1" lang="en-US" altLang="zh-CN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(rewards)</a:t>
            </a: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选择策略</a:t>
            </a:r>
            <a:endParaRPr kumimoji="1" lang="en-US" altLang="zh-CN" sz="150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257827" indent="-257827">
              <a:lnSpc>
                <a:spcPct val="130000"/>
              </a:lnSpc>
              <a:buSzPct val="80000"/>
              <a:buFont typeface="Wingdings" pitchFamily="2" charset="2"/>
              <a:buChar char="l"/>
            </a:pPr>
            <a:r>
              <a:rPr kumimoji="1" lang="en-US" altLang="zh-CN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RLHF</a:t>
            </a: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kumimoji="1" lang="en-US" altLang="zh-CN" sz="150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预测模型扮演</a:t>
            </a:r>
            <a:r>
              <a:rPr kumimoji="1" lang="en-US" altLang="zh-CN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Agent</a:t>
            </a: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，进行策略选择</a:t>
            </a:r>
            <a:endParaRPr kumimoji="1" lang="en-US" altLang="zh-CN" sz="150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01553" lvl="1" indent="-257827">
              <a:lnSpc>
                <a:spcPct val="130000"/>
              </a:lnSpc>
              <a:buSzPct val="80000"/>
              <a:buFont typeface="Wingdings" pitchFamily="2" charset="2"/>
              <a:buChar char="Ø"/>
            </a:pPr>
            <a:r>
              <a:rPr kumimoji="1" lang="zh-CN" altLang="en-US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评分模型提供</a:t>
            </a:r>
            <a:r>
              <a:rPr kumimoji="1" lang="en-US" altLang="zh-CN" sz="1504" dirty="0">
                <a:latin typeface="Times New Roman" panose="02020603050405020304" pitchFamily="18" charset="0"/>
                <a:ea typeface="黑体" panose="02010609060101010101" pitchFamily="49" charset="-122"/>
              </a:rPr>
              <a:t>rewards</a:t>
            </a:r>
            <a:endParaRPr kumimoji="1" lang="zh-CN" altLang="en-US" sz="150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  <a:buSzPct val="80000"/>
            </a:pPr>
            <a:endParaRPr kumimoji="1" lang="zh-CN" altLang="en-US" sz="1504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3075697"/>
      </p:ext>
    </p:extLst>
  </p:cSld>
  <p:clrMapOvr>
    <a:masterClrMapping/>
  </p:clrMapOvr>
  <p:transition spd="slow"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61E9-5451-EC35-B6E1-5222A34E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0EB716B-3651-CCD0-9CB7-ECB4993C8B59}"/>
              </a:ext>
            </a:extLst>
          </p:cNvPr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933D63-49EC-A4B8-ADB2-1F63242EA702}"/>
              </a:ext>
            </a:extLst>
          </p:cNvPr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A1FFE-CC5E-D7A5-0ED0-B185F6132FFB}"/>
              </a:ext>
            </a:extLst>
          </p:cNvPr>
          <p:cNvSpPr txBox="1"/>
          <p:nvPr/>
        </p:nvSpPr>
        <p:spPr>
          <a:xfrm>
            <a:off x="1121124" y="3052428"/>
            <a:ext cx="15376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文本表示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B3E3BAB-DB9D-B5C1-7BDE-FCD7C25F9CE9}"/>
              </a:ext>
            </a:extLst>
          </p:cNvPr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D2C0DBB-5F76-2A83-6164-194C09943C07}"/>
                </a:ext>
              </a:extLst>
            </p:cNvPr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>
              <a:extLst>
                <a:ext uri="{FF2B5EF4-FFF2-40B4-BE49-F238E27FC236}">
                  <a16:creationId xmlns:a16="http://schemas.microsoft.com/office/drawing/2014/main" id="{2B3422CC-A22F-5FDD-6457-B1B5E46BF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C7FD041-8F2F-5BBB-34B4-A5C8DD1C3BAA}"/>
              </a:ext>
            </a:extLst>
          </p:cNvPr>
          <p:cNvSpPr txBox="1"/>
          <p:nvPr/>
        </p:nvSpPr>
        <p:spPr>
          <a:xfrm>
            <a:off x="4529959" y="1082507"/>
            <a:ext cx="4515009" cy="2250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文本的独热表示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文本的分布式表示：主题模型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文本表示实践：主题模型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文本的分布式表示：词嵌入模型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从词嵌入到大语言模型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arabicPeriod"/>
            </a:pPr>
            <a:r>
              <a:rPr lang="zh-CN" altLang="en-US" sz="1600" b="1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  <a:cs typeface="Yuppy SC" panose="020F0603040207020204" pitchFamily="34" charset="-122"/>
              </a:rPr>
              <a:t>文本表示实践：词嵌入模型</a:t>
            </a:r>
            <a:endParaRPr lang="en-US" altLang="zh-CN" sz="1600" b="1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  <a:cs typeface="Yuppy SC" panose="020F0603040207020204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48552EE-1D55-F957-85F9-244CCF74B1EB}"/>
              </a:ext>
            </a:extLst>
          </p:cNvPr>
          <p:cNvSpPr/>
          <p:nvPr/>
        </p:nvSpPr>
        <p:spPr>
          <a:xfrm>
            <a:off x="4016203" y="1207481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15BFCCA-F885-EB42-D95A-428A4C8240C6}"/>
              </a:ext>
            </a:extLst>
          </p:cNvPr>
          <p:cNvSpPr/>
          <p:nvPr/>
        </p:nvSpPr>
        <p:spPr>
          <a:xfrm>
            <a:off x="4016203" y="189664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1EB038B-F69A-EB24-8B75-CB6145FCB2EA}"/>
              </a:ext>
            </a:extLst>
          </p:cNvPr>
          <p:cNvSpPr/>
          <p:nvPr/>
        </p:nvSpPr>
        <p:spPr>
          <a:xfrm>
            <a:off x="4016203" y="2262426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542C3B1-C7E3-6C4B-7990-1D51FFB3C256}"/>
              </a:ext>
            </a:extLst>
          </p:cNvPr>
          <p:cNvSpPr/>
          <p:nvPr/>
        </p:nvSpPr>
        <p:spPr>
          <a:xfrm>
            <a:off x="4016203" y="26282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AF2D224-3604-B2C7-B8E5-F64B45C7B7D1}"/>
              </a:ext>
            </a:extLst>
          </p:cNvPr>
          <p:cNvSpPr/>
          <p:nvPr/>
        </p:nvSpPr>
        <p:spPr>
          <a:xfrm>
            <a:off x="4016203" y="1549195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6" name="椭圆 26">
            <a:extLst>
              <a:ext uri="{FF2B5EF4-FFF2-40B4-BE49-F238E27FC236}">
                <a16:creationId xmlns:a16="http://schemas.microsoft.com/office/drawing/2014/main" id="{94EA3FF5-8D0D-1399-AC60-92403D3C023F}"/>
              </a:ext>
            </a:extLst>
          </p:cNvPr>
          <p:cNvSpPr/>
          <p:nvPr/>
        </p:nvSpPr>
        <p:spPr>
          <a:xfrm>
            <a:off x="4016203" y="29939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2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32742</TotalTime>
  <Words>3234</Words>
  <Application>Microsoft Macintosh PowerPoint</Application>
  <PresentationFormat>On-screen Show (16:9)</PresentationFormat>
  <Paragraphs>782</Paragraphs>
  <Slides>60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5" baseType="lpstr">
      <vt:lpstr>Heiti SC Medium</vt:lpstr>
      <vt:lpstr>楷体</vt:lpstr>
      <vt:lpstr>Microsoft YaHei</vt:lpstr>
      <vt:lpstr>Microsoft YaHei</vt:lpstr>
      <vt:lpstr>SimHei</vt:lpstr>
      <vt:lpstr>Times</vt:lpstr>
      <vt:lpstr>方正兰亭细黑_GBK</vt:lpstr>
      <vt:lpstr>Arial</vt:lpstr>
      <vt:lpstr>Calibri</vt:lpstr>
      <vt:lpstr>Cambria Math</vt:lpstr>
      <vt:lpstr>Helvetica Neue</vt:lpstr>
      <vt:lpstr>Times New Roman</vt:lpstr>
      <vt:lpstr>Trebuchet MS</vt:lpstr>
      <vt:lpstr>Wingdings</vt:lpstr>
      <vt:lpstr>清风素材 https://12sc.taobao.com/</vt:lpstr>
      <vt:lpstr>PowerPoint Presentation</vt:lpstr>
      <vt:lpstr>如何让计算机理解单词含义</vt:lpstr>
      <vt:lpstr>如何让计算机理解单词含义</vt:lpstr>
      <vt:lpstr>分布式假设的表现形式1（文档内共现）</vt:lpstr>
      <vt:lpstr>PowerPoint Presentation</vt:lpstr>
      <vt:lpstr>独热表达的不足（1）</vt:lpstr>
      <vt:lpstr>独热表达的不足（2）</vt:lpstr>
      <vt:lpstr>单词的分布式表达</vt:lpstr>
      <vt:lpstr>分布式表达的优势（1）</vt:lpstr>
      <vt:lpstr>基于分布式表达的相似单词</vt:lpstr>
      <vt:lpstr>分布式表达的优势（2）</vt:lpstr>
      <vt:lpstr>如何得到（学习）分布式表达？</vt:lpstr>
      <vt:lpstr>为什么可以猜到？</vt:lpstr>
      <vt:lpstr>单词的语义隐藏在它们的共现数据</vt:lpstr>
      <vt:lpstr>语言学中的分布式假设</vt:lpstr>
      <vt:lpstr>词向量（Word Vector）</vt:lpstr>
      <vt:lpstr>分布式假设的表现形式2（上下文共现）</vt:lpstr>
      <vt:lpstr>隐空间中与Feynman相近的词</vt:lpstr>
      <vt:lpstr>代表性的词嵌入模型：Word2Vec</vt:lpstr>
      <vt:lpstr>Word2vec两大类基本模型</vt:lpstr>
      <vt:lpstr>以Continuous Bag of Word(CBOW)为例</vt:lpstr>
      <vt:lpstr>CBOW预测网络结构</vt:lpstr>
      <vt:lpstr>CBOW参数</vt:lpstr>
      <vt:lpstr>隐层的计算：上下文的平均向量</vt:lpstr>
      <vt:lpstr>从隐层到输出层：选择一个预测单词</vt:lpstr>
      <vt:lpstr>从隐层到输出层：选择一个预测单词</vt:lpstr>
      <vt:lpstr>学习到的词向量：W或者W’</vt:lpstr>
      <vt:lpstr>学习过程：上下文训练数据构造</vt:lpstr>
      <vt:lpstr>学习过程：目标函数构造</vt:lpstr>
      <vt:lpstr>Skip-Gram也采用类似的做法</vt:lpstr>
      <vt:lpstr>Word2Vec在单词类比上的结果</vt:lpstr>
      <vt:lpstr>更多单词类比的结果</vt:lpstr>
      <vt:lpstr>CBOW课堂练习</vt:lpstr>
      <vt:lpstr>以Continuous Bag of Word(CBOW)为例</vt:lpstr>
      <vt:lpstr>以Continuous Bag of Word(CBOW)为例</vt:lpstr>
      <vt:lpstr>GloVe：Global Vectors for Word Representation</vt:lpstr>
      <vt:lpstr>GloVe：Global Vectors for Word Representation</vt:lpstr>
      <vt:lpstr>PowerPoint Presentation</vt:lpstr>
      <vt:lpstr>ChatGPT发展路径</vt:lpstr>
      <vt:lpstr>What can we learn from reconstructing the input?</vt:lpstr>
      <vt:lpstr>PowerPoint Presentation</vt:lpstr>
      <vt:lpstr>What can we learn from reconstructing the input?</vt:lpstr>
      <vt:lpstr>What can we learn from reconstructing the input?</vt:lpstr>
      <vt:lpstr>What can we learn from reconstructing the input?</vt:lpstr>
      <vt:lpstr>What can we learn from reconstructing the input?</vt:lpstr>
      <vt:lpstr>PowerPoint Presentation</vt:lpstr>
      <vt:lpstr>如何得到词向量：Mask</vt:lpstr>
      <vt:lpstr>BERT和GPT</vt:lpstr>
      <vt:lpstr>ChatGPT的发展路径</vt:lpstr>
      <vt:lpstr>ChatGPT的原理与技术演进</vt:lpstr>
      <vt:lpstr>ChatGPT的法宝之一：大！</vt:lpstr>
      <vt:lpstr>ChatGPT的法宝之一：大！</vt:lpstr>
      <vt:lpstr>ChatGPT的法宝之二：情景学习（In-Context Learning）</vt:lpstr>
      <vt:lpstr>ChatGPT的法宝之二：情景学习（In-Context Learning）</vt:lpstr>
      <vt:lpstr>ChatGPT的法宝之三：思维链</vt:lpstr>
      <vt:lpstr>ChatGPT的法宝之三：思维链</vt:lpstr>
      <vt:lpstr>ChatGPT的法宝之四：人在回路强化学习</vt:lpstr>
      <vt:lpstr>ChatGPT的法宝之四：人在回路强化学习</vt:lpstr>
      <vt:lpstr>ChatGPT的法宝之四：人在回路强化学习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举 范</cp:lastModifiedBy>
  <cp:revision>979</cp:revision>
  <dcterms:created xsi:type="dcterms:W3CDTF">2015-01-23T04:02:45Z</dcterms:created>
  <dcterms:modified xsi:type="dcterms:W3CDTF">2025-12-11T15:42:41Z</dcterms:modified>
  <cp:category/>
  <cp:contentStatus>12sc.taobao.com</cp:contentStatus>
</cp:coreProperties>
</file>