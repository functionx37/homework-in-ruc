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tiff" ContentType="image/tif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67"/>
  </p:notesMasterIdLst>
  <p:sldIdLst>
    <p:sldId id="853" r:id="rId3"/>
    <p:sldId id="891" r:id="rId4"/>
    <p:sldId id="892" r:id="rId5"/>
    <p:sldId id="893" r:id="rId6"/>
    <p:sldId id="936" r:id="rId7"/>
    <p:sldId id="854" r:id="rId8"/>
    <p:sldId id="858" r:id="rId9"/>
    <p:sldId id="859" r:id="rId10"/>
    <p:sldId id="901" r:id="rId11"/>
    <p:sldId id="902" r:id="rId12"/>
    <p:sldId id="779" r:id="rId13"/>
    <p:sldId id="781" r:id="rId14"/>
    <p:sldId id="865" r:id="rId15"/>
    <p:sldId id="867" r:id="rId16"/>
    <p:sldId id="782" r:id="rId17"/>
    <p:sldId id="783" r:id="rId18"/>
    <p:sldId id="786" r:id="rId19"/>
    <p:sldId id="785" r:id="rId20"/>
    <p:sldId id="866" r:id="rId21"/>
    <p:sldId id="832" r:id="rId22"/>
    <p:sldId id="787" r:id="rId23"/>
    <p:sldId id="788" r:id="rId24"/>
    <p:sldId id="875" r:id="rId25"/>
    <p:sldId id="876" r:id="rId26"/>
    <p:sldId id="886" r:id="rId27"/>
    <p:sldId id="877" r:id="rId28"/>
    <p:sldId id="897" r:id="rId29"/>
    <p:sldId id="898" r:id="rId30"/>
    <p:sldId id="899" r:id="rId31"/>
    <p:sldId id="900" r:id="rId32"/>
    <p:sldId id="880" r:id="rId33"/>
    <p:sldId id="885" r:id="rId34"/>
    <p:sldId id="789" r:id="rId35"/>
    <p:sldId id="790" r:id="rId36"/>
    <p:sldId id="791" r:id="rId37"/>
    <p:sldId id="792" r:id="rId38"/>
    <p:sldId id="793" r:id="rId39"/>
    <p:sldId id="794" r:id="rId40"/>
    <p:sldId id="795" r:id="rId41"/>
    <p:sldId id="796" r:id="rId42"/>
    <p:sldId id="797" r:id="rId43"/>
    <p:sldId id="798" r:id="rId44"/>
    <p:sldId id="937" r:id="rId45"/>
    <p:sldId id="903" r:id="rId46"/>
    <p:sldId id="904" r:id="rId47"/>
    <p:sldId id="905" r:id="rId48"/>
    <p:sldId id="906" r:id="rId49"/>
    <p:sldId id="907" r:id="rId50"/>
    <p:sldId id="908" r:id="rId51"/>
    <p:sldId id="909" r:id="rId52"/>
    <p:sldId id="910" r:id="rId53"/>
    <p:sldId id="911" r:id="rId54"/>
    <p:sldId id="912" r:id="rId55"/>
    <p:sldId id="913" r:id="rId56"/>
    <p:sldId id="914" r:id="rId57"/>
    <p:sldId id="915" r:id="rId58"/>
    <p:sldId id="916" r:id="rId59"/>
    <p:sldId id="917" r:id="rId60"/>
    <p:sldId id="918" r:id="rId61"/>
    <p:sldId id="919" r:id="rId62"/>
    <p:sldId id="920" r:id="rId63"/>
    <p:sldId id="921" r:id="rId64"/>
    <p:sldId id="922" r:id="rId65"/>
    <p:sldId id="923" r:id="rId66"/>
  </p:sldIdLst>
  <p:sldSz cx="9144000" cy="5143500" type="screen16x9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452"/>
    <a:srgbClr val="55A868"/>
    <a:srgbClr val="4F81BD"/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41" autoAdjust="0"/>
    <p:restoredTop sz="83333" autoAdjust="0"/>
  </p:normalViewPr>
  <p:slideViewPr>
    <p:cSldViewPr snapToGrid="0">
      <p:cViewPr>
        <p:scale>
          <a:sx n="153" d="100"/>
          <a:sy n="153" d="100"/>
        </p:scale>
        <p:origin x="1920" y="2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notesMaster" Target="notesMasters/notesMaster1.xml"/><Relationship Id="rId68" Type="http://schemas.openxmlformats.org/officeDocument/2006/relationships/tags" Target="tags/tag1.xml"/><Relationship Id="rId69" Type="http://schemas.openxmlformats.org/officeDocument/2006/relationships/presProps" Target="presProp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59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9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335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57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319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87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085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EC00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57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114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78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822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096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865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26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20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12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03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38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14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7400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175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0.000053</a:t>
            </a:r>
          </a:p>
          <a:p>
            <a:r>
              <a:rPr lang="en-US" altLang="zh-CN" dirty="0" smtClean="0"/>
              <a:t>0.001194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140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518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580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4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78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18" Type="http://schemas.openxmlformats.org/officeDocument/2006/relationships/image" Target="../media/image1.jpg"/><Relationship Id="rId19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3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jpe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10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jpeg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jpeg"/><Relationship Id="rId7" Type="http://schemas.openxmlformats.org/officeDocument/2006/relationships/image" Target="../media/image25.jpg"/><Relationship Id="rId8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tif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tiff"/><Relationship Id="rId3" Type="http://schemas.openxmlformats.org/officeDocument/2006/relationships/image" Target="../media/image35.tif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tif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26.png"/><Relationship Id="rId5" Type="http://schemas.openxmlformats.org/officeDocument/2006/relationships/image" Target="../media/image530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40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0.png"/><Relationship Id="rId3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4" Type="http://schemas.openxmlformats.org/officeDocument/2006/relationships/image" Target="../media/image520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1.png"/><Relationship Id="rId3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4" Type="http://schemas.openxmlformats.org/officeDocument/2006/relationships/image" Target="../media/image320.png"/><Relationship Id="rId5" Type="http://schemas.openxmlformats.org/officeDocument/2006/relationships/image" Target="../media/image33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4" Type="http://schemas.openxmlformats.org/officeDocument/2006/relationships/image" Target="../media/image62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4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4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1.png"/><Relationship Id="rId3" Type="http://schemas.openxmlformats.org/officeDocument/2006/relationships/image" Target="../media/image5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4" Type="http://schemas.openxmlformats.org/officeDocument/2006/relationships/image" Target="../media/image580.png"/><Relationship Id="rId5" Type="http://schemas.openxmlformats.org/officeDocument/2006/relationships/image" Target="../media/image590.png"/><Relationship Id="rId6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1077190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讲：分类问题与典型分类模型</a:t>
            </a:r>
          </a:p>
          <a:p>
            <a:pPr algn="ctr"/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=""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</a:t>
            </a:r>
            <a:r>
              <a:rPr kumimoji="1" lang="zh-CN" altLang="en-US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 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=""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0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典型的机器学习问题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分类（</a:t>
            </a:r>
            <a:r>
              <a:rPr lang="en-US" altLang="zh-CN" dirty="0" smtClean="0"/>
              <a:t>Classification</a:t>
            </a:r>
            <a:r>
              <a:rPr lang="zh-CN" altLang="en-US" dirty="0" smtClean="0"/>
              <a:t>）问题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预测类别，如数字、是</a:t>
            </a:r>
            <a:r>
              <a:rPr lang="en-US" altLang="zh-CN" dirty="0" smtClean="0"/>
              <a:t>/</a:t>
            </a:r>
            <a:r>
              <a:rPr lang="zh-CN" altLang="en-US" dirty="0" smtClean="0"/>
              <a:t>否为垃圾邮件</a:t>
            </a:r>
            <a:endParaRPr lang="en-US" altLang="zh-CN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zh-CN" altLang="en-US" dirty="0"/>
              <a:t>这张照片中是猫还是狗？</a:t>
            </a:r>
          </a:p>
          <a:p>
            <a:pPr lvl="1"/>
            <a:r>
              <a:rPr lang="zh-CN" altLang="en-US" dirty="0"/>
              <a:t>这条评论体现了积极还是消极情绪？</a:t>
            </a:r>
          </a:p>
          <a:p>
            <a:pPr lvl="1"/>
            <a:r>
              <a:rPr lang="zh-CN" altLang="en-US" dirty="0"/>
              <a:t>这个用户是否会点击给他推送的广告？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79365" y="1945831"/>
            <a:ext cx="24182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/>
            </a:pPr>
            <a:r>
              <a:rPr lang="en-US" altLang="zh-CN" sz="2800" dirty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Is This A or </a:t>
            </a:r>
            <a:r>
              <a:rPr lang="en-US" altLang="zh-CN" sz="28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B</a:t>
            </a:r>
            <a:r>
              <a:rPr lang="zh-CN" altLang="en-US" sz="28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8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en-US" altLang="zh-CN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or</a:t>
            </a:r>
            <a:r>
              <a:rPr lang="zh-CN" altLang="en-US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C,</a:t>
            </a:r>
            <a:r>
              <a:rPr lang="zh-CN" altLang="en-US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D,</a:t>
            </a:r>
            <a:r>
              <a:rPr lang="zh-CN" altLang="en-US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mr-IN" altLang="zh-CN" sz="20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…</a:t>
            </a:r>
            <a:r>
              <a:rPr lang="en-US" altLang="zh-CN" sz="2800" dirty="0" smtClean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)?</a:t>
            </a:r>
            <a:endParaRPr lang="zh-CN" altLang="en-US" sz="2800" dirty="0" smtClean="0">
              <a:solidFill>
                <a:srgbClr val="0000CC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53" y="1673462"/>
            <a:ext cx="5464812" cy="149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典型的机器学习问题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回归</a:t>
            </a:r>
            <a:r>
              <a:rPr lang="zh-CN" altLang="en-US" dirty="0"/>
              <a:t>（</a:t>
            </a:r>
            <a:r>
              <a:rPr lang="en-US" altLang="zh-CN" dirty="0"/>
              <a:t>Regression</a:t>
            </a:r>
            <a:r>
              <a:rPr lang="zh-CN" altLang="en-US" dirty="0" smtClean="0"/>
              <a:t>）问题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估计回归的参数，如权重</a:t>
            </a:r>
            <a:endParaRPr lang="en-US" altLang="zh-CN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zh-CN" altLang="en-US" dirty="0" smtClean="0"/>
              <a:t>本周的股票价格如何变化？</a:t>
            </a:r>
            <a:endParaRPr lang="en-US" altLang="zh-CN" dirty="0"/>
          </a:p>
          <a:p>
            <a:pPr lvl="1"/>
            <a:r>
              <a:rPr lang="zh-CN" altLang="en-US" dirty="0"/>
              <a:t>下礼拜一的气温会是多少？</a:t>
            </a:r>
            <a:endParaRPr lang="en-US" altLang="zh-CN" dirty="0"/>
          </a:p>
          <a:p>
            <a:pPr lvl="1"/>
            <a:r>
              <a:rPr lang="zh-CN" altLang="en-US" dirty="0"/>
              <a:t>中国</a:t>
            </a:r>
            <a:r>
              <a:rPr lang="zh-CN" altLang="en-US" dirty="0" smtClean="0"/>
              <a:t>第一季度</a:t>
            </a:r>
            <a:r>
              <a:rPr lang="zh-CN" altLang="en-US" dirty="0"/>
              <a:t>的</a:t>
            </a:r>
            <a:r>
              <a:rPr lang="en-US" altLang="zh-CN" dirty="0"/>
              <a:t>GDP</a:t>
            </a:r>
            <a:r>
              <a:rPr lang="zh-CN" altLang="en-US" dirty="0"/>
              <a:t>增长会是多少</a:t>
            </a:r>
            <a:r>
              <a:rPr lang="zh-CN" altLang="en-US" dirty="0" smtClean="0"/>
              <a:t>？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40984" y="2161275"/>
            <a:ext cx="42583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Aft>
                <a:spcPts val="1800"/>
              </a:spcAft>
              <a:buFont typeface="Wingdings 2" charset="2"/>
              <a:buNone/>
              <a:defRPr/>
            </a:pPr>
            <a:r>
              <a:rPr lang="en-US" altLang="zh-CN" sz="2800" dirty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How much or How Many?</a:t>
            </a:r>
            <a:endParaRPr lang="zh-CN" altLang="en-US" sz="2800" dirty="0" smtClean="0">
              <a:solidFill>
                <a:srgbClr val="0000CC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13719" t="35758" r="58430" b="39875"/>
          <a:stretch/>
        </p:blipFill>
        <p:spPr>
          <a:xfrm>
            <a:off x="1246907" y="1678518"/>
            <a:ext cx="2546717" cy="148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2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典型的机器学习问题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聚类（</a:t>
            </a:r>
            <a:r>
              <a:rPr lang="en-US" altLang="zh-CN" dirty="0" smtClean="0"/>
              <a:t>clustering</a:t>
            </a:r>
            <a:r>
              <a:rPr lang="zh-CN" altLang="en-US" dirty="0" smtClean="0"/>
              <a:t>）问题</a:t>
            </a:r>
            <a:endParaRPr lang="en-US" altLang="zh-CN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zh-CN" altLang="en-US" dirty="0" smtClean="0"/>
              <a:t>目标用户群体分类</a:t>
            </a:r>
            <a:endParaRPr lang="en-US" altLang="zh-CN" dirty="0" smtClean="0"/>
          </a:p>
          <a:p>
            <a:r>
              <a:rPr lang="zh-CN" altLang="en-US" dirty="0" smtClean="0"/>
              <a:t>文档主题划分</a:t>
            </a:r>
            <a:endParaRPr lang="en-US" altLang="zh-CN" dirty="0" smtClean="0"/>
          </a:p>
          <a:p>
            <a:r>
              <a:rPr lang="zh-CN" altLang="en-US" dirty="0" smtClean="0"/>
              <a:t>样本群组分析</a:t>
            </a:r>
            <a:endParaRPr lang="en-US" altLang="zh-CN" dirty="0" smtClean="0"/>
          </a:p>
          <a:p>
            <a:r>
              <a:rPr lang="zh-CN" altLang="en-US" dirty="0" smtClean="0"/>
              <a:t>异常检测</a:t>
            </a:r>
            <a:endParaRPr lang="en-US" altLang="zh-CN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623" y="1188385"/>
            <a:ext cx="4111232" cy="1443574"/>
          </a:xfrm>
          <a:prstGeom prst="rect">
            <a:avLst/>
          </a:prstGeom>
        </p:spPr>
      </p:pic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66311" y="2439049"/>
            <a:ext cx="1863744" cy="25160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855" y="1415457"/>
            <a:ext cx="3322806" cy="2699494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5556210" y="2455827"/>
            <a:ext cx="3302606" cy="618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556210" y="3452990"/>
            <a:ext cx="3302606" cy="618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878354" y="988484"/>
            <a:ext cx="2348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/>
            </a:pPr>
            <a:r>
              <a:rPr lang="en-US" altLang="zh-CN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How Is This Organized?</a:t>
            </a:r>
            <a:endParaRPr lang="zh-CN" altLang="en-US" dirty="0">
              <a:solidFill>
                <a:srgbClr val="0000CC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6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86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分类问题</a:t>
            </a:r>
            <a:r>
              <a:rPr lang="zh-CN" altLang="en-US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与典型分类模型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2539478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分类问题与监督学习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决策树模型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3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分类问题与监督学习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学习目标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zh-CN" altLang="en-US" b="0" i="1" smtClean="0">
                        <a:latin typeface="Cambria Math" charset="0"/>
                      </a:rPr>
                      <m:t>：</m:t>
                    </m:r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→</m:t>
                    </m:r>
                    <m:r>
                      <a:rPr lang="en-US" altLang="zh-CN" b="0" i="1" smtClean="0">
                        <a:latin typeface="Cambria Math" charset="0"/>
                      </a:rPr>
                      <m:t>𝑌</m:t>
                    </m:r>
                  </m:oMath>
                </a14:m>
                <a:endParaRPr lang="en-US" dirty="0" smtClean="0"/>
              </a:p>
              <a:p>
                <a:r>
                  <a:rPr lang="zh-CN" altLang="en-US" dirty="0" smtClean="0"/>
                  <a:t>训练数据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{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  <m:r>
                      <a:rPr lang="en-US" altLang="zh-CN" b="0" i="1" smtClean="0">
                        <a:latin typeface="Cambria Math" charset="0"/>
                      </a:rPr>
                      <m:t>×</m:t>
                    </m:r>
                    <m:r>
                      <a:rPr lang="en-US" altLang="zh-CN" b="0" i="1" smtClean="0">
                        <a:latin typeface="Cambria Math" charset="0"/>
                      </a:rPr>
                      <m:t>𝑌</m:t>
                    </m:r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zh-CN" altLang="en-US" dirty="0" smtClean="0"/>
                  <a:t>学习（训练）过程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寻找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𝐹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zh-CN" altLang="en-US" dirty="0" smtClean="0"/>
                  <a:t>预测（测试）过程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给定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新数据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输出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b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518290" y="1318967"/>
            <a:ext cx="2092745" cy="1890211"/>
            <a:chOff x="1709665" y="1700807"/>
            <a:chExt cx="2790327" cy="2520281"/>
          </a:xfrm>
        </p:grpSpPr>
        <p:sp>
          <p:nvSpPr>
            <p:cNvPr id="5" name="Oval 4"/>
            <p:cNvSpPr/>
            <p:nvPr/>
          </p:nvSpPr>
          <p:spPr>
            <a:xfrm>
              <a:off x="2240773" y="2060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24733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01541" y="2420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6821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2744829" y="19168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2528805" y="2204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2240757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2321149" y="27173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3248869" y="1916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176845" y="242088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2960837" y="2060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2528789" y="2564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3248853" y="22048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3032829" y="2564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897213" y="27173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337629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1952741" y="2708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1880717" y="2996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2024733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032877" y="292496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2384789" y="29249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2151997" y="292496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2168765" y="34926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2456797" y="36450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2656053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3176861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1" name="Oval 30"/>
            <p:cNvSpPr/>
            <p:nvPr/>
          </p:nvSpPr>
          <p:spPr>
            <a:xfrm>
              <a:off x="2584045" y="30605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/>
            <p:cNvSpPr/>
            <p:nvPr/>
          </p:nvSpPr>
          <p:spPr>
            <a:xfrm>
              <a:off x="2312781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280006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2584045" y="3284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/>
            <p:cNvSpPr/>
            <p:nvPr/>
          </p:nvSpPr>
          <p:spPr>
            <a:xfrm>
              <a:off x="2816837" y="378905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2888845" y="34206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324886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360890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3968965" y="2996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3968965" y="2708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3752925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2" name="Oval 41"/>
            <p:cNvSpPr/>
            <p:nvPr/>
          </p:nvSpPr>
          <p:spPr>
            <a:xfrm>
              <a:off x="3608909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3778077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3985717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3392885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3248869" y="36450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3248869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2960837" y="3140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3032845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3592173" y="19888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3841717" y="2204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3536901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3680933" y="227687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3761325" y="25012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3968965" y="2348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6" name="Oval 55"/>
            <p:cNvSpPr/>
            <p:nvPr/>
          </p:nvSpPr>
          <p:spPr>
            <a:xfrm>
              <a:off x="3608909" y="378905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3824933" y="35730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4112965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1709665" y="1700807"/>
              <a:ext cx="2790327" cy="252028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178573" y="1603442"/>
            <a:ext cx="1032390" cy="1137910"/>
            <a:chOff x="5292080" y="2196496"/>
            <a:chExt cx="1376520" cy="1517213"/>
          </a:xfrm>
        </p:grpSpPr>
        <p:sp>
          <p:nvSpPr>
            <p:cNvPr id="61" name="Oval 60"/>
            <p:cNvSpPr/>
            <p:nvPr/>
          </p:nvSpPr>
          <p:spPr>
            <a:xfrm>
              <a:off x="5399475" y="255321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2" name="Oval 61"/>
            <p:cNvSpPr/>
            <p:nvPr/>
          </p:nvSpPr>
          <p:spPr>
            <a:xfrm>
              <a:off x="5444480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3" name="Oval 62"/>
            <p:cNvSpPr/>
            <p:nvPr/>
          </p:nvSpPr>
          <p:spPr>
            <a:xfrm>
              <a:off x="5596880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5580112" y="27005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5732512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5884912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5292080" y="30605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8" name="Oval 67"/>
            <p:cNvSpPr/>
            <p:nvPr/>
          </p:nvSpPr>
          <p:spPr>
            <a:xfrm>
              <a:off x="5444480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9" name="Oval 68"/>
            <p:cNvSpPr/>
            <p:nvPr/>
          </p:nvSpPr>
          <p:spPr>
            <a:xfrm>
              <a:off x="5436096" y="21964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5588496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5740896" y="25012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5893296" y="26536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3" name="Oval 72"/>
            <p:cNvSpPr/>
            <p:nvPr/>
          </p:nvSpPr>
          <p:spPr>
            <a:xfrm>
              <a:off x="5868144" y="23321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4" name="Oval 73"/>
            <p:cNvSpPr/>
            <p:nvPr/>
          </p:nvSpPr>
          <p:spPr>
            <a:xfrm>
              <a:off x="6020544" y="24845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5" name="Oval 74"/>
            <p:cNvSpPr/>
            <p:nvPr/>
          </p:nvSpPr>
          <p:spPr>
            <a:xfrm>
              <a:off x="6084168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6" name="Oval 75"/>
            <p:cNvSpPr/>
            <p:nvPr/>
          </p:nvSpPr>
          <p:spPr>
            <a:xfrm>
              <a:off x="6236568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7" name="Oval 76"/>
            <p:cNvSpPr/>
            <p:nvPr/>
          </p:nvSpPr>
          <p:spPr>
            <a:xfrm>
              <a:off x="6388968" y="32933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8" name="Oval 77"/>
            <p:cNvSpPr/>
            <p:nvPr/>
          </p:nvSpPr>
          <p:spPr>
            <a:xfrm>
              <a:off x="6372200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9" name="Oval 78"/>
            <p:cNvSpPr/>
            <p:nvPr/>
          </p:nvSpPr>
          <p:spPr>
            <a:xfrm>
              <a:off x="6524600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0" name="Oval 79"/>
            <p:cNvSpPr/>
            <p:nvPr/>
          </p:nvSpPr>
          <p:spPr>
            <a:xfrm>
              <a:off x="5823139" y="33369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1" name="Oval 80"/>
            <p:cNvSpPr/>
            <p:nvPr/>
          </p:nvSpPr>
          <p:spPr>
            <a:xfrm>
              <a:off x="5975539" y="34893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2" name="Oval 81"/>
            <p:cNvSpPr/>
            <p:nvPr/>
          </p:nvSpPr>
          <p:spPr>
            <a:xfrm>
              <a:off x="6255187" y="34173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3" name="Oval 82"/>
            <p:cNvSpPr/>
            <p:nvPr/>
          </p:nvSpPr>
          <p:spPr>
            <a:xfrm>
              <a:off x="6407587" y="35697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7224939" y="1588996"/>
            <a:ext cx="1032390" cy="1140414"/>
            <a:chOff x="7063410" y="2348864"/>
            <a:chExt cx="1376520" cy="1520552"/>
          </a:xfrm>
        </p:grpSpPr>
        <p:sp>
          <p:nvSpPr>
            <p:cNvPr id="85" name="Oval 84"/>
            <p:cNvSpPr/>
            <p:nvPr/>
          </p:nvSpPr>
          <p:spPr>
            <a:xfrm>
              <a:off x="7063410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7215810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7" name="Oval 86"/>
            <p:cNvSpPr/>
            <p:nvPr/>
          </p:nvSpPr>
          <p:spPr>
            <a:xfrm>
              <a:off x="7368210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8" name="Oval 87"/>
            <p:cNvSpPr/>
            <p:nvPr/>
          </p:nvSpPr>
          <p:spPr>
            <a:xfrm>
              <a:off x="7351442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9" name="Oval 88"/>
            <p:cNvSpPr/>
            <p:nvPr/>
          </p:nvSpPr>
          <p:spPr>
            <a:xfrm>
              <a:off x="7503842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0" name="Oval 89"/>
            <p:cNvSpPr/>
            <p:nvPr/>
          </p:nvSpPr>
          <p:spPr>
            <a:xfrm>
              <a:off x="7656242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802838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2" name="Oval 91"/>
            <p:cNvSpPr/>
            <p:nvPr/>
          </p:nvSpPr>
          <p:spPr>
            <a:xfrm>
              <a:off x="8180784" y="27893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3" name="Oval 92"/>
            <p:cNvSpPr/>
            <p:nvPr/>
          </p:nvSpPr>
          <p:spPr>
            <a:xfrm>
              <a:off x="7207426" y="23488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4" name="Oval 93"/>
            <p:cNvSpPr/>
            <p:nvPr/>
          </p:nvSpPr>
          <p:spPr>
            <a:xfrm>
              <a:off x="7359826" y="25012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5" name="Oval 94"/>
            <p:cNvSpPr/>
            <p:nvPr/>
          </p:nvSpPr>
          <p:spPr>
            <a:xfrm>
              <a:off x="7512226" y="26536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6" name="Oval 95"/>
            <p:cNvSpPr/>
            <p:nvPr/>
          </p:nvSpPr>
          <p:spPr>
            <a:xfrm>
              <a:off x="7664626" y="28060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7" name="Oval 96"/>
            <p:cNvSpPr/>
            <p:nvPr/>
          </p:nvSpPr>
          <p:spPr>
            <a:xfrm>
              <a:off x="7639474" y="24845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8" name="Oval 97"/>
            <p:cNvSpPr/>
            <p:nvPr/>
          </p:nvSpPr>
          <p:spPr>
            <a:xfrm>
              <a:off x="779187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9" name="Oval 98"/>
            <p:cNvSpPr/>
            <p:nvPr/>
          </p:nvSpPr>
          <p:spPr>
            <a:xfrm>
              <a:off x="7855498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0" name="Oval 99"/>
            <p:cNvSpPr/>
            <p:nvPr/>
          </p:nvSpPr>
          <p:spPr>
            <a:xfrm>
              <a:off x="8007898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1" name="Oval 100"/>
            <p:cNvSpPr/>
            <p:nvPr/>
          </p:nvSpPr>
          <p:spPr>
            <a:xfrm>
              <a:off x="8160298" y="34457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2" name="Oval 101"/>
            <p:cNvSpPr/>
            <p:nvPr/>
          </p:nvSpPr>
          <p:spPr>
            <a:xfrm>
              <a:off x="8143530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3" name="Oval 102"/>
            <p:cNvSpPr/>
            <p:nvPr/>
          </p:nvSpPr>
          <p:spPr>
            <a:xfrm>
              <a:off x="8295930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4" name="Oval 103"/>
            <p:cNvSpPr/>
            <p:nvPr/>
          </p:nvSpPr>
          <p:spPr>
            <a:xfrm>
              <a:off x="7956376" y="35730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5" name="Oval 104"/>
            <p:cNvSpPr/>
            <p:nvPr/>
          </p:nvSpPr>
          <p:spPr>
            <a:xfrm>
              <a:off x="8108776" y="37254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106" name="Curved Connector 105"/>
          <p:cNvCxnSpPr/>
          <p:nvPr/>
        </p:nvCxnSpPr>
        <p:spPr>
          <a:xfrm>
            <a:off x="5123593" y="1612845"/>
            <a:ext cx="1220486" cy="9570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Curved Connector 106"/>
          <p:cNvCxnSpPr/>
          <p:nvPr/>
        </p:nvCxnSpPr>
        <p:spPr>
          <a:xfrm rot="5400000">
            <a:off x="4189997" y="3145977"/>
            <a:ext cx="717127" cy="38140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Oval 107"/>
          <p:cNvSpPr>
            <a:spLocks noChangeAspect="1"/>
          </p:cNvSpPr>
          <p:nvPr/>
        </p:nvSpPr>
        <p:spPr>
          <a:xfrm>
            <a:off x="4213657" y="3842213"/>
            <a:ext cx="270000" cy="27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9" name="Down Arrow 108"/>
          <p:cNvSpPr/>
          <p:nvPr/>
        </p:nvSpPr>
        <p:spPr>
          <a:xfrm>
            <a:off x="7033490" y="2880559"/>
            <a:ext cx="378042" cy="543084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0" name="TextBox 109"/>
          <p:cNvSpPr txBox="1"/>
          <p:nvPr/>
        </p:nvSpPr>
        <p:spPr>
          <a:xfrm>
            <a:off x="5820571" y="3733246"/>
            <a:ext cx="10310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i="1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zh-CN" altLang="en-US" sz="27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7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zh-CN" altLang="en-US" sz="2700" dirty="0">
                <a:latin typeface="Times New Roman" charset="0"/>
                <a:ea typeface="Times New Roman" charset="0"/>
                <a:cs typeface="Times New Roman" charset="0"/>
              </a:rPr>
              <a:t>     </a:t>
            </a:r>
            <a:r>
              <a:rPr lang="en-US" altLang="zh-CN" sz="27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endParaRPr lang="en-US" sz="27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6265395" y="3853198"/>
            <a:ext cx="270000" cy="27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8063000" y="360107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8095341" y="4139261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114" name="Straight Arrow Connector 113"/>
          <p:cNvCxnSpPr/>
          <p:nvPr/>
        </p:nvCxnSpPr>
        <p:spPr>
          <a:xfrm flipV="1">
            <a:off x="6851622" y="3733247"/>
            <a:ext cx="1135678" cy="253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6805455" y="4065771"/>
            <a:ext cx="1181844" cy="21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Down Arrow 115"/>
          <p:cNvSpPr/>
          <p:nvPr/>
        </p:nvSpPr>
        <p:spPr>
          <a:xfrm rot="16200000">
            <a:off x="5036308" y="3675669"/>
            <a:ext cx="378042" cy="645767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7" name="Rectangle 116"/>
          <p:cNvSpPr/>
          <p:nvPr/>
        </p:nvSpPr>
        <p:spPr>
          <a:xfrm>
            <a:off x="7390576" y="2935624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① 训练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749879" y="3439421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② 预测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19" name="Slide Number Placeholder 1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8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案例：手写数字识别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954796"/>
                <a:ext cx="8229600" cy="1801353"/>
              </a:xfrm>
            </p:spPr>
            <p:txBody>
              <a:bodyPr/>
              <a:lstStyle/>
              <a:p>
                <a:r>
                  <a:rPr lang="zh-CN" altLang="en-US" dirty="0" smtClean="0"/>
                  <a:t>输入数据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将图片数据表示为一个向量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784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zh-CN" altLang="en-US" dirty="0" smtClean="0"/>
                  <a:t>输出模型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学习出分类器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对图片进行分类</a:t>
                </a:r>
                <a:endParaRPr lang="en-US" altLang="zh-CN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en-US" altLang="zh-CN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784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→{0,1,2,3,4,5,6,7,8,9}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954796"/>
                <a:ext cx="8229600" cy="1801353"/>
              </a:xfrm>
              <a:blipFill rotWithShape="0">
                <a:blip r:embed="rId3"/>
                <a:stretch>
                  <a:fillRect l="-667" t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4"/>
          <p:cNvPicPr>
            <a:picLocks noChangeAspect="1"/>
          </p:cNvPicPr>
          <p:nvPr/>
        </p:nvPicPr>
        <p:blipFill rotWithShape="1">
          <a:blip r:embed="rId4"/>
          <a:srcRect l="12973" t="26727" r="20676" b="34165"/>
          <a:stretch/>
        </p:blipFill>
        <p:spPr>
          <a:xfrm>
            <a:off x="952185" y="797295"/>
            <a:ext cx="4934737" cy="20650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86922" y="932794"/>
            <a:ext cx="27036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mtClean="0"/>
              <a:t>图片像素</a:t>
            </a:r>
            <a:r>
              <a:rPr lang="en-US" altLang="zh-CN" dirty="0" smtClean="0"/>
              <a:t>28</a:t>
            </a:r>
            <a:r>
              <a:rPr lang="zh-CN" altLang="en-US" dirty="0" smtClean="0"/>
              <a:t>*</a:t>
            </a:r>
            <a:r>
              <a:rPr lang="en-US" altLang="zh-CN" dirty="0" smtClean="0"/>
              <a:t>28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6595640" y="1530070"/>
            <a:ext cx="23083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请问你如将一张照片表示成一个“点”</a:t>
            </a:r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？</a:t>
            </a:r>
            <a:endParaRPr lang="en-US" altLang="zh-CN" b="1" dirty="0" smtClean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FontTx/>
              <a:buAutoNum type="alphaUcPeriod"/>
            </a:pP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考虑图片文件的格式与</a:t>
            </a:r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大小</a:t>
            </a:r>
            <a:endParaRPr lang="en-US" altLang="zh-CN" b="1" dirty="0" smtClean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考虑图片中的像素点</a:t>
            </a:r>
            <a:endParaRPr lang="en-US" altLang="zh-CN" b="1" dirty="0" smtClean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89347" y="162240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963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案例：手写数字</a:t>
            </a:r>
            <a:r>
              <a:rPr lang="zh-CN" altLang="en-US" dirty="0"/>
              <a:t>识别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建模成监督学习中的分类问题（</a:t>
            </a:r>
            <a:r>
              <a:rPr lang="en-US" altLang="zh-CN" dirty="0" smtClean="0"/>
              <a:t>Supervised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Classification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基于训练数据集进行学习，如每个数字</a:t>
            </a:r>
            <a:r>
              <a:rPr lang="en-US" altLang="zh-CN" dirty="0" smtClean="0"/>
              <a:t>6000</a:t>
            </a:r>
            <a:r>
              <a:rPr lang="zh-CN" altLang="en-US" dirty="0" smtClean="0"/>
              <a:t>张图片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可以在测试集上达到分类误差</a:t>
            </a:r>
            <a:r>
              <a:rPr lang="en-US" altLang="zh-CN" dirty="0" smtClean="0"/>
              <a:t>0.4%</a:t>
            </a:r>
          </a:p>
          <a:p>
            <a:pPr lvl="1"/>
            <a:r>
              <a:rPr lang="zh-CN" altLang="en-US" dirty="0" smtClean="0"/>
              <a:t>第一个被广泛应用的机器学习系统：邮编的识别与校验</a:t>
            </a:r>
            <a:endParaRPr lang="en-US" altLang="zh-CN" dirty="0" smtClean="0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 rotWithShape="1">
          <a:blip r:embed="rId2"/>
          <a:srcRect l="11938" t="31128" r="35169" b="14178"/>
          <a:stretch/>
        </p:blipFill>
        <p:spPr>
          <a:xfrm>
            <a:off x="1262641" y="1564305"/>
            <a:ext cx="3148655" cy="217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4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案例二：</a:t>
            </a:r>
            <a:r>
              <a:rPr lang="zh-CN" altLang="en-US" dirty="0"/>
              <a:t>微信朋友圈广告互动行为预测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41974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什么是分类问题？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C00000"/>
                </a:solidFill>
              </a:rPr>
              <a:t>训练集</a:t>
            </a:r>
            <a:r>
              <a:rPr lang="zh-CN" altLang="en-US" dirty="0" smtClean="0"/>
              <a:t>学习出某个</a:t>
            </a:r>
            <a:r>
              <a:rPr lang="zh-CN" altLang="en-US" dirty="0" smtClean="0">
                <a:solidFill>
                  <a:srgbClr val="C00000"/>
                </a:solidFill>
              </a:rPr>
              <a:t>函数</a:t>
            </a:r>
            <a:r>
              <a:rPr lang="zh-CN" altLang="en-US" dirty="0" smtClean="0"/>
              <a:t>，用来预测某些</a:t>
            </a:r>
            <a:r>
              <a:rPr lang="zh-CN" altLang="en-US" dirty="0" smtClean="0">
                <a:solidFill>
                  <a:srgbClr val="C00000"/>
                </a:solidFill>
              </a:rPr>
              <a:t>未知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类别型变量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业界的真实示例：</a:t>
            </a:r>
            <a:r>
              <a:rPr lang="zh-CN" altLang="en-US" dirty="0"/>
              <a:t>微信朋友圈</a:t>
            </a:r>
            <a:r>
              <a:rPr lang="zh-CN" altLang="en-US" dirty="0" smtClean="0"/>
              <a:t>广告互动行为预测</a:t>
            </a:r>
            <a:endParaRPr lang="en-US" altLang="zh-CN" dirty="0" smtClean="0"/>
          </a:p>
          <a:p>
            <a:pPr lvl="1"/>
            <a:r>
              <a:rPr lang="zh-CN" altLang="en-US" dirty="0"/>
              <a:t>广告互动：微信朋友圈广告具有互动属性</a:t>
            </a:r>
          </a:p>
          <a:p>
            <a:pPr lvl="1"/>
            <a:r>
              <a:rPr lang="zh-CN" altLang="en-US" dirty="0" smtClean="0"/>
              <a:t>品牌</a:t>
            </a:r>
            <a:r>
              <a:rPr lang="zh-CN" altLang="en-US" dirty="0"/>
              <a:t>随着关系链传播，好友的互动加强传播效果 </a:t>
            </a:r>
          </a:p>
        </p:txBody>
      </p:sp>
      <p:sp>
        <p:nvSpPr>
          <p:cNvPr id="5" name="微信朋友圈广告是典型的feeds流广告…">
            <a:extLst>
              <a:ext uri="{FF2B5EF4-FFF2-40B4-BE49-F238E27FC236}">
                <a16:creationId xmlns:a16="http://schemas.microsoft.com/office/drawing/2014/main" xmlns="" id="{A10FFC91-14FB-4A4F-BA86-CEBA92EF3D55}"/>
              </a:ext>
            </a:extLst>
          </p:cNvPr>
          <p:cNvSpPr txBox="1"/>
          <p:nvPr/>
        </p:nvSpPr>
        <p:spPr>
          <a:xfrm>
            <a:off x="457201" y="3984768"/>
            <a:ext cx="5926038" cy="29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marL="232164" indent="-232164">
              <a:lnSpc>
                <a:spcPct val="120000"/>
              </a:lnSpc>
              <a:buSzPct val="75000"/>
              <a:buFont typeface="Helvetica Neue"/>
              <a:buChar char="•"/>
              <a:defRPr sz="2500" b="0"/>
            </a:pPr>
            <a:endParaRPr sz="140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Group">
            <a:extLst>
              <a:ext uri="{FF2B5EF4-FFF2-40B4-BE49-F238E27FC236}">
                <a16:creationId xmlns:a16="http://schemas.microsoft.com/office/drawing/2014/main" xmlns="" id="{FDFD5BE2-8EC1-9C45-AF62-CFD81ABC0C28}"/>
              </a:ext>
            </a:extLst>
          </p:cNvPr>
          <p:cNvGrpSpPr/>
          <p:nvPr/>
        </p:nvGrpSpPr>
        <p:grpSpPr>
          <a:xfrm>
            <a:off x="1872178" y="3082869"/>
            <a:ext cx="2504413" cy="1530837"/>
            <a:chOff x="0" y="0"/>
            <a:chExt cx="3561830" cy="2177188"/>
          </a:xfrm>
        </p:grpSpPr>
        <p:sp>
          <p:nvSpPr>
            <p:cNvPr id="7" name="广告互动">
              <a:extLst>
                <a:ext uri="{FF2B5EF4-FFF2-40B4-BE49-F238E27FC236}">
                  <a16:creationId xmlns:a16="http://schemas.microsoft.com/office/drawing/2014/main" xmlns="" id="{DA24BD10-DD0F-0446-9EEF-7B809EA44A82}"/>
                </a:ext>
              </a:extLst>
            </p:cNvPr>
            <p:cNvSpPr txBox="1"/>
            <p:nvPr/>
          </p:nvSpPr>
          <p:spPr>
            <a:xfrm>
              <a:off x="0" y="884977"/>
              <a:ext cx="1457222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 dirty="0" err="1">
                  <a:latin typeface="Microsoft YaHei" charset="-122"/>
                  <a:ea typeface="Microsoft YaHei" charset="-122"/>
                  <a:cs typeface="Microsoft YaHei" charset="-122"/>
                </a:rPr>
                <a:t>广告互动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  <p:sp>
          <p:nvSpPr>
            <p:cNvPr id="8" name="评论">
              <a:extLst>
                <a:ext uri="{FF2B5EF4-FFF2-40B4-BE49-F238E27FC236}">
                  <a16:creationId xmlns:a16="http://schemas.microsoft.com/office/drawing/2014/main" xmlns="" id="{5EE775B5-338F-1C44-BB53-CCEADA7906AC}"/>
                </a:ext>
              </a:extLst>
            </p:cNvPr>
            <p:cNvSpPr txBox="1"/>
            <p:nvPr/>
          </p:nvSpPr>
          <p:spPr>
            <a:xfrm>
              <a:off x="2282551" y="855440"/>
              <a:ext cx="1267008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>
                  <a:latin typeface="Microsoft YaHei" charset="-122"/>
                  <a:ea typeface="Microsoft YaHei" charset="-122"/>
                  <a:cs typeface="Microsoft YaHei" charset="-122"/>
                </a:rPr>
                <a:t>评论</a:t>
              </a:r>
            </a:p>
          </p:txBody>
        </p:sp>
        <p:sp>
          <p:nvSpPr>
            <p:cNvPr id="9" name="@好友">
              <a:extLst>
                <a:ext uri="{FF2B5EF4-FFF2-40B4-BE49-F238E27FC236}">
                  <a16:creationId xmlns:a16="http://schemas.microsoft.com/office/drawing/2014/main" xmlns="" id="{507A1BE3-8DB9-1D42-8CF7-A84157DE9BB0}"/>
                </a:ext>
              </a:extLst>
            </p:cNvPr>
            <p:cNvSpPr txBox="1"/>
            <p:nvPr/>
          </p:nvSpPr>
          <p:spPr>
            <a:xfrm>
              <a:off x="2294822" y="1710880"/>
              <a:ext cx="1267009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>
                  <a:latin typeface="Microsoft YaHei" charset="-122"/>
                  <a:ea typeface="Microsoft YaHei" charset="-122"/>
                  <a:cs typeface="Microsoft YaHei" charset="-122"/>
                </a:rPr>
                <a:t>@好友</a:t>
              </a:r>
            </a:p>
          </p:txBody>
        </p:sp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1EB1F8A6-2BAE-A14A-BE5D-2CFF82E2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1436" y="221905"/>
              <a:ext cx="367130" cy="17924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" name="点赞">
              <a:extLst>
                <a:ext uri="{FF2B5EF4-FFF2-40B4-BE49-F238E27FC236}">
                  <a16:creationId xmlns:a16="http://schemas.microsoft.com/office/drawing/2014/main" xmlns="" id="{1085A0E0-C2BE-E14E-BFB5-2DE4A8C060F7}"/>
                </a:ext>
              </a:extLst>
            </p:cNvPr>
            <p:cNvSpPr txBox="1"/>
            <p:nvPr/>
          </p:nvSpPr>
          <p:spPr>
            <a:xfrm>
              <a:off x="2282551" y="0"/>
              <a:ext cx="1267008" cy="466308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 dirty="0">
                  <a:latin typeface="Microsoft YaHei" charset="-122"/>
                  <a:ea typeface="Microsoft YaHei" charset="-122"/>
                  <a:cs typeface="Microsoft YaHei" charset="-122"/>
                </a:rPr>
                <a:t>点赞</a:t>
              </a:r>
            </a:p>
          </p:txBody>
        </p:sp>
      </p:grpSp>
      <p:grpSp>
        <p:nvGrpSpPr>
          <p:cNvPr id="12" name="Group">
            <a:extLst>
              <a:ext uri="{FF2B5EF4-FFF2-40B4-BE49-F238E27FC236}">
                <a16:creationId xmlns:a16="http://schemas.microsoft.com/office/drawing/2014/main" xmlns="" id="{31395000-2BF0-5D41-9D9F-1729E05CB80A}"/>
              </a:ext>
            </a:extLst>
          </p:cNvPr>
          <p:cNvGrpSpPr/>
          <p:nvPr/>
        </p:nvGrpSpPr>
        <p:grpSpPr>
          <a:xfrm>
            <a:off x="6951879" y="1729604"/>
            <a:ext cx="1801742" cy="2956706"/>
            <a:chOff x="0" y="0"/>
            <a:chExt cx="2562477" cy="4205091"/>
          </a:xfrm>
        </p:grpSpPr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xmlns="" id="{90009E2B-646E-C04C-8EB1-65CFD938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562478" cy="420509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blurRad="88900" dist="50800" dir="5520000" rotWithShape="0">
                <a:srgbClr val="000000">
                  <a:alpha val="60000"/>
                </a:srgbClr>
              </a:outerShdw>
            </a:effectLst>
          </p:spPr>
        </p:pic>
        <p:sp>
          <p:nvSpPr>
            <p:cNvPr id="14" name="Rectangle">
              <a:extLst>
                <a:ext uri="{FF2B5EF4-FFF2-40B4-BE49-F238E27FC236}">
                  <a16:creationId xmlns:a16="http://schemas.microsoft.com/office/drawing/2014/main" xmlns="" id="{EFF47B5C-B863-5C4C-8910-08B541B24CF6}"/>
                </a:ext>
              </a:extLst>
            </p:cNvPr>
            <p:cNvSpPr/>
            <p:nvPr/>
          </p:nvSpPr>
          <p:spPr>
            <a:xfrm>
              <a:off x="380138" y="1924643"/>
              <a:ext cx="2123413" cy="1247879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xmlns="" id="{DBFAF0A7-D206-FD40-AEA3-D765CB29E330}"/>
                </a:ext>
              </a:extLst>
            </p:cNvPr>
            <p:cNvSpPr/>
            <p:nvPr/>
          </p:nvSpPr>
          <p:spPr>
            <a:xfrm>
              <a:off x="380137" y="3201792"/>
              <a:ext cx="2123414" cy="902451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1F220133-2EC7-1B46-83C5-6AA97F1C1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32" y="3377420"/>
            <a:ext cx="996382" cy="983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439909" y="3572957"/>
                <a:ext cx="247053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请将上述问题建模成</a:t>
                </a:r>
                <a:endParaRPr lang="en-US" altLang="zh-CN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𝑦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𝑓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algn="ctr"/>
                <a:r>
                  <a:rPr lang="zh-CN" altLang="en-US" dirty="0" smtClean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形式</a:t>
                </a:r>
                <a:endParaRPr lang="en-US" altLang="zh-CN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909" y="3572957"/>
                <a:ext cx="2470537" cy="923330"/>
              </a:xfrm>
              <a:prstGeom prst="rect">
                <a:avLst/>
              </a:prstGeom>
              <a:blipFill rotWithShape="0"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5271123" y="299526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417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案例二：微信朋友圈广告互动行为预测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41974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什么是分类问题？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C00000"/>
                </a:solidFill>
              </a:rPr>
              <a:t>训练集</a:t>
            </a:r>
            <a:r>
              <a:rPr lang="zh-CN" altLang="en-US" dirty="0" smtClean="0"/>
              <a:t>学习出某个</a:t>
            </a:r>
            <a:r>
              <a:rPr lang="zh-CN" altLang="en-US" dirty="0" smtClean="0">
                <a:solidFill>
                  <a:srgbClr val="C00000"/>
                </a:solidFill>
              </a:rPr>
              <a:t>函数</a:t>
            </a:r>
            <a:r>
              <a:rPr lang="zh-CN" altLang="en-US" dirty="0" smtClean="0"/>
              <a:t>，用来预测某些</a:t>
            </a:r>
            <a:r>
              <a:rPr lang="zh-CN" altLang="en-US" dirty="0" smtClean="0">
                <a:solidFill>
                  <a:srgbClr val="C00000"/>
                </a:solidFill>
              </a:rPr>
              <a:t>未知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类别型变量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业界的真实示例：朋友圈广告互动行为预测</a:t>
            </a:r>
            <a:endParaRPr lang="en-US" altLang="zh-CN" dirty="0" smtClean="0"/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xmlns="" id="{31395000-2BF0-5D41-9D9F-1729E05CB80A}"/>
              </a:ext>
            </a:extLst>
          </p:cNvPr>
          <p:cNvGrpSpPr/>
          <p:nvPr/>
        </p:nvGrpSpPr>
        <p:grpSpPr>
          <a:xfrm>
            <a:off x="6951879" y="1729604"/>
            <a:ext cx="1801742" cy="2956706"/>
            <a:chOff x="0" y="0"/>
            <a:chExt cx="2562477" cy="4205091"/>
          </a:xfrm>
        </p:grpSpPr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xmlns="" id="{90009E2B-646E-C04C-8EB1-65CFD938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562478" cy="420509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blurRad="88900" dist="50800" dir="5520000" rotWithShape="0">
                <a:srgbClr val="000000">
                  <a:alpha val="60000"/>
                </a:srgbClr>
              </a:outerShdw>
            </a:effectLst>
          </p:spPr>
        </p:pic>
        <p:sp>
          <p:nvSpPr>
            <p:cNvPr id="14" name="Rectangle">
              <a:extLst>
                <a:ext uri="{FF2B5EF4-FFF2-40B4-BE49-F238E27FC236}">
                  <a16:creationId xmlns:a16="http://schemas.microsoft.com/office/drawing/2014/main" xmlns="" id="{EFF47B5C-B863-5C4C-8910-08B541B24CF6}"/>
                </a:ext>
              </a:extLst>
            </p:cNvPr>
            <p:cNvSpPr/>
            <p:nvPr/>
          </p:nvSpPr>
          <p:spPr>
            <a:xfrm>
              <a:off x="380138" y="1924643"/>
              <a:ext cx="2123413" cy="1247879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xmlns="" id="{DBFAF0A7-D206-FD40-AEA3-D765CB29E330}"/>
                </a:ext>
              </a:extLst>
            </p:cNvPr>
            <p:cNvSpPr/>
            <p:nvPr/>
          </p:nvSpPr>
          <p:spPr>
            <a:xfrm>
              <a:off x="380137" y="3201792"/>
              <a:ext cx="2123414" cy="902451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941" y="2585640"/>
            <a:ext cx="5056094" cy="12438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77118" y="2296529"/>
            <a:ext cx="1136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1:</a:t>
            </a:r>
            <a:r>
              <a:rPr lang="zh-CN" altLang="en-US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互动</a:t>
            </a:r>
            <a:endParaRPr lang="en-US" altLang="zh-CN" dirty="0" smtClean="0">
              <a:solidFill>
                <a:srgbClr val="00B05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en-US" altLang="zh-CN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0: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不互动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745543" y="2892672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Left Brace 21"/>
          <p:cNvSpPr/>
          <p:nvPr/>
        </p:nvSpPr>
        <p:spPr>
          <a:xfrm rot="16200000">
            <a:off x="3056777" y="2179888"/>
            <a:ext cx="205479" cy="3524223"/>
          </a:xfrm>
          <a:prstGeom prst="leftBrace">
            <a:avLst>
              <a:gd name="adj1" fmla="val 4617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202559" y="4235573"/>
                <a:ext cx="38924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sz="1600" dirty="0" smtClean="0"/>
                  <a:t>:</a:t>
                </a:r>
                <a:r>
                  <a:rPr lang="zh-CN" altLang="en-US" sz="1600" dirty="0"/>
                  <a:t> 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采用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用户特征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、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广告特征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和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上下文特征</a:t>
                </a:r>
                <a:endParaRPr lang="en-US" sz="16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59" y="4235573"/>
                <a:ext cx="3892412" cy="338554"/>
              </a:xfrm>
              <a:prstGeom prst="rect">
                <a:avLst/>
              </a:prstGeom>
              <a:blipFill rotWithShape="0">
                <a:blip r:embed="rId4"/>
                <a:stretch>
                  <a:fillRect t="-7273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36777" y="3487589"/>
                <a:ext cx="14403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𝑦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=1|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𝒙</m:t>
                      </m:r>
                      <m:r>
                        <a:rPr lang="zh-CN" altLang="en-US" sz="2000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）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7" y="3487589"/>
                <a:ext cx="1440331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3814" t="-3922" r="-508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90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监督</a:t>
            </a:r>
            <a:r>
              <a:rPr lang="zh-CN" altLang="en-US" dirty="0"/>
              <a:t>学习概览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提出问题（</a:t>
            </a:r>
            <a:r>
              <a:rPr lang="en-US" altLang="zh-CN" dirty="0"/>
              <a:t>Question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准备数据（</a:t>
            </a: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选择特征（</a:t>
            </a:r>
            <a:r>
              <a:rPr lang="en-US" altLang="zh-CN" dirty="0"/>
              <a:t>Features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标注数据（</a:t>
            </a:r>
            <a:r>
              <a:rPr lang="en-US" altLang="zh-CN" dirty="0"/>
              <a:t>Labels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学习算法（</a:t>
            </a:r>
            <a:r>
              <a:rPr lang="en-US" altLang="zh-CN" dirty="0"/>
              <a:t>Algorithm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评价模型（</a:t>
            </a:r>
            <a:r>
              <a:rPr lang="en-US" altLang="zh-CN" dirty="0"/>
              <a:t>Evaluation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103" y="0"/>
            <a:ext cx="5153807" cy="5143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48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虚假信息（</a:t>
            </a:r>
            <a:r>
              <a:rPr lang="en-US" altLang="zh-CN" dirty="0"/>
              <a:t>Misinformation</a:t>
            </a:r>
            <a:r>
              <a:rPr lang="zh-CN" altLang="en-US" dirty="0"/>
              <a:t>）检测</a:t>
            </a:r>
            <a:endParaRPr lang="en-US" altLang="zh-CN" dirty="0"/>
          </a:p>
          <a:p>
            <a:pPr lvl="1"/>
            <a:r>
              <a:rPr lang="zh-CN" altLang="en-US" dirty="0"/>
              <a:t>问题定义应明确而具体</a:t>
            </a:r>
            <a:endParaRPr lang="en-US" dirty="0"/>
          </a:p>
          <a:p>
            <a:pPr lvl="1"/>
            <a:endParaRPr lang="zh-CN" altLang="en-US" sz="2100" dirty="0"/>
          </a:p>
          <a:p>
            <a:endParaRPr 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b="1">
                <a:solidFill>
                  <a:srgbClr val="0000CC"/>
                </a:solidFill>
              </a:rPr>
              <a:t>Question</a:t>
            </a:r>
            <a:r>
              <a:rPr lang="zh-CN" altLang="en-US" sz="1800">
                <a:sym typeface="Wingdings"/>
              </a:rPr>
              <a:t></a:t>
            </a:r>
            <a:r>
              <a:rPr lang="en-US" altLang="zh-CN" sz="1800">
                <a:sym typeface="Wingdings"/>
              </a:rPr>
              <a:t>Data</a:t>
            </a:r>
            <a:r>
              <a:rPr lang="zh-CN" altLang="en-US" sz="1800">
                <a:sym typeface="Wingdings"/>
              </a:rPr>
              <a:t></a:t>
            </a:r>
            <a:r>
              <a:rPr lang="en-US" altLang="zh-CN" sz="1800">
                <a:sym typeface="Wingdings"/>
              </a:rPr>
              <a:t>Features</a:t>
            </a:r>
            <a:r>
              <a:rPr lang="zh-CN" altLang="en-US" sz="1800">
                <a:sym typeface="Wingdings"/>
              </a:rPr>
              <a:t></a:t>
            </a:r>
            <a:r>
              <a:rPr lang="en-US" altLang="zh-CN" sz="1800">
                <a:sym typeface="Wingdings"/>
              </a:rPr>
              <a:t>Algorithm</a:t>
            </a:r>
            <a:r>
              <a:rPr lang="zh-CN" altLang="en-US" sz="1800">
                <a:sym typeface="Wingdings"/>
              </a:rPr>
              <a:t></a:t>
            </a:r>
            <a:r>
              <a:rPr lang="en-US" altLang="zh-CN" sz="1800">
                <a:sym typeface="Wingdings"/>
              </a:rPr>
              <a:t>Evaluation</a:t>
            </a:r>
            <a:endParaRPr lang="en-US" sz="1800" dirty="0"/>
          </a:p>
        </p:txBody>
      </p:sp>
      <p:grpSp>
        <p:nvGrpSpPr>
          <p:cNvPr id="118" name="Group 117"/>
          <p:cNvGrpSpPr/>
          <p:nvPr/>
        </p:nvGrpSpPr>
        <p:grpSpPr>
          <a:xfrm>
            <a:off x="3059936" y="2157481"/>
            <a:ext cx="2092745" cy="1890211"/>
            <a:chOff x="1709665" y="1700807"/>
            <a:chExt cx="2790327" cy="2520281"/>
          </a:xfrm>
        </p:grpSpPr>
        <p:sp>
          <p:nvSpPr>
            <p:cNvPr id="119" name="Oval 118"/>
            <p:cNvSpPr/>
            <p:nvPr/>
          </p:nvSpPr>
          <p:spPr>
            <a:xfrm>
              <a:off x="2240773" y="2060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0" name="Oval 119"/>
            <p:cNvSpPr/>
            <p:nvPr/>
          </p:nvSpPr>
          <p:spPr>
            <a:xfrm>
              <a:off x="2024733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1" name="Oval 120"/>
            <p:cNvSpPr/>
            <p:nvPr/>
          </p:nvSpPr>
          <p:spPr>
            <a:xfrm>
              <a:off x="2401541" y="2420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2" name="Oval 121"/>
            <p:cNvSpPr/>
            <p:nvPr/>
          </p:nvSpPr>
          <p:spPr>
            <a:xfrm>
              <a:off x="2816821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3" name="Oval 122"/>
            <p:cNvSpPr/>
            <p:nvPr/>
          </p:nvSpPr>
          <p:spPr>
            <a:xfrm>
              <a:off x="2744829" y="19168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4" name="Oval 123"/>
            <p:cNvSpPr/>
            <p:nvPr/>
          </p:nvSpPr>
          <p:spPr>
            <a:xfrm>
              <a:off x="2528805" y="2204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5" name="Oval 124"/>
            <p:cNvSpPr/>
            <p:nvPr/>
          </p:nvSpPr>
          <p:spPr>
            <a:xfrm>
              <a:off x="2240757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6" name="Oval 125"/>
            <p:cNvSpPr/>
            <p:nvPr/>
          </p:nvSpPr>
          <p:spPr>
            <a:xfrm>
              <a:off x="2321149" y="27173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3248869" y="1916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8" name="Oval 127"/>
            <p:cNvSpPr/>
            <p:nvPr/>
          </p:nvSpPr>
          <p:spPr>
            <a:xfrm>
              <a:off x="3176845" y="242088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9" name="Oval 128"/>
            <p:cNvSpPr/>
            <p:nvPr/>
          </p:nvSpPr>
          <p:spPr>
            <a:xfrm>
              <a:off x="2960837" y="206084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0" name="Oval 129"/>
            <p:cNvSpPr/>
            <p:nvPr/>
          </p:nvSpPr>
          <p:spPr>
            <a:xfrm>
              <a:off x="2528789" y="2564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1" name="Oval 130"/>
            <p:cNvSpPr/>
            <p:nvPr/>
          </p:nvSpPr>
          <p:spPr>
            <a:xfrm>
              <a:off x="3248853" y="22048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2" name="Oval 131"/>
            <p:cNvSpPr/>
            <p:nvPr/>
          </p:nvSpPr>
          <p:spPr>
            <a:xfrm>
              <a:off x="3032829" y="25649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3" name="Oval 132"/>
            <p:cNvSpPr/>
            <p:nvPr/>
          </p:nvSpPr>
          <p:spPr>
            <a:xfrm>
              <a:off x="2897213" y="271730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4" name="Oval 133"/>
            <p:cNvSpPr/>
            <p:nvPr/>
          </p:nvSpPr>
          <p:spPr>
            <a:xfrm>
              <a:off x="3337629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5" name="Oval 134"/>
            <p:cNvSpPr/>
            <p:nvPr/>
          </p:nvSpPr>
          <p:spPr>
            <a:xfrm>
              <a:off x="1952741" y="2708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6" name="Oval 135"/>
            <p:cNvSpPr/>
            <p:nvPr/>
          </p:nvSpPr>
          <p:spPr>
            <a:xfrm>
              <a:off x="1880717" y="2996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7" name="Oval 136"/>
            <p:cNvSpPr/>
            <p:nvPr/>
          </p:nvSpPr>
          <p:spPr>
            <a:xfrm>
              <a:off x="2024733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8" name="Oval 137"/>
            <p:cNvSpPr/>
            <p:nvPr/>
          </p:nvSpPr>
          <p:spPr>
            <a:xfrm>
              <a:off x="3032877" y="292496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9" name="Oval 138"/>
            <p:cNvSpPr/>
            <p:nvPr/>
          </p:nvSpPr>
          <p:spPr>
            <a:xfrm>
              <a:off x="2384789" y="29249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0" name="Oval 139"/>
            <p:cNvSpPr/>
            <p:nvPr/>
          </p:nvSpPr>
          <p:spPr>
            <a:xfrm>
              <a:off x="2151997" y="292496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1" name="Oval 140"/>
            <p:cNvSpPr/>
            <p:nvPr/>
          </p:nvSpPr>
          <p:spPr>
            <a:xfrm>
              <a:off x="2168765" y="34926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2" name="Oval 141"/>
            <p:cNvSpPr/>
            <p:nvPr/>
          </p:nvSpPr>
          <p:spPr>
            <a:xfrm>
              <a:off x="2456797" y="36450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3" name="Oval 142"/>
            <p:cNvSpPr/>
            <p:nvPr/>
          </p:nvSpPr>
          <p:spPr>
            <a:xfrm>
              <a:off x="2656053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4" name="Oval 143"/>
            <p:cNvSpPr/>
            <p:nvPr/>
          </p:nvSpPr>
          <p:spPr>
            <a:xfrm>
              <a:off x="3176861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5" name="Oval 144"/>
            <p:cNvSpPr/>
            <p:nvPr/>
          </p:nvSpPr>
          <p:spPr>
            <a:xfrm>
              <a:off x="2584045" y="30605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6" name="Oval 145"/>
            <p:cNvSpPr/>
            <p:nvPr/>
          </p:nvSpPr>
          <p:spPr>
            <a:xfrm>
              <a:off x="2312781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7" name="Oval 146"/>
            <p:cNvSpPr/>
            <p:nvPr/>
          </p:nvSpPr>
          <p:spPr>
            <a:xfrm>
              <a:off x="280006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8" name="Oval 147"/>
            <p:cNvSpPr/>
            <p:nvPr/>
          </p:nvSpPr>
          <p:spPr>
            <a:xfrm>
              <a:off x="2584045" y="3284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9" name="Oval 148"/>
            <p:cNvSpPr/>
            <p:nvPr/>
          </p:nvSpPr>
          <p:spPr>
            <a:xfrm>
              <a:off x="2816837" y="378905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0" name="Oval 149"/>
            <p:cNvSpPr/>
            <p:nvPr/>
          </p:nvSpPr>
          <p:spPr>
            <a:xfrm>
              <a:off x="2888845" y="34206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1" name="Oval 150"/>
            <p:cNvSpPr/>
            <p:nvPr/>
          </p:nvSpPr>
          <p:spPr>
            <a:xfrm>
              <a:off x="324886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2" name="Oval 151"/>
            <p:cNvSpPr/>
            <p:nvPr/>
          </p:nvSpPr>
          <p:spPr>
            <a:xfrm>
              <a:off x="3608909" y="2996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3" name="Oval 152"/>
            <p:cNvSpPr/>
            <p:nvPr/>
          </p:nvSpPr>
          <p:spPr>
            <a:xfrm>
              <a:off x="3968965" y="2996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4" name="Oval 153"/>
            <p:cNvSpPr/>
            <p:nvPr/>
          </p:nvSpPr>
          <p:spPr>
            <a:xfrm>
              <a:off x="3968965" y="2708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5" name="Oval 154"/>
            <p:cNvSpPr/>
            <p:nvPr/>
          </p:nvSpPr>
          <p:spPr>
            <a:xfrm>
              <a:off x="3752925" y="278092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6" name="Oval 155"/>
            <p:cNvSpPr/>
            <p:nvPr/>
          </p:nvSpPr>
          <p:spPr>
            <a:xfrm>
              <a:off x="3608909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7" name="Oval 156"/>
            <p:cNvSpPr/>
            <p:nvPr/>
          </p:nvSpPr>
          <p:spPr>
            <a:xfrm>
              <a:off x="3778077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8" name="Oval 157"/>
            <p:cNvSpPr/>
            <p:nvPr/>
          </p:nvSpPr>
          <p:spPr>
            <a:xfrm>
              <a:off x="3985717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9" name="Oval 158"/>
            <p:cNvSpPr/>
            <p:nvPr/>
          </p:nvSpPr>
          <p:spPr>
            <a:xfrm>
              <a:off x="3392885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0" name="Oval 159"/>
            <p:cNvSpPr/>
            <p:nvPr/>
          </p:nvSpPr>
          <p:spPr>
            <a:xfrm>
              <a:off x="3248869" y="36450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1" name="Oval 160"/>
            <p:cNvSpPr/>
            <p:nvPr/>
          </p:nvSpPr>
          <p:spPr>
            <a:xfrm>
              <a:off x="3248869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2" name="Oval 161"/>
            <p:cNvSpPr/>
            <p:nvPr/>
          </p:nvSpPr>
          <p:spPr>
            <a:xfrm>
              <a:off x="2960837" y="314096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3" name="Oval 162"/>
            <p:cNvSpPr/>
            <p:nvPr/>
          </p:nvSpPr>
          <p:spPr>
            <a:xfrm>
              <a:off x="3032845" y="3356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4" name="Oval 163"/>
            <p:cNvSpPr/>
            <p:nvPr/>
          </p:nvSpPr>
          <p:spPr>
            <a:xfrm>
              <a:off x="3592173" y="198884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5" name="Oval 164"/>
            <p:cNvSpPr/>
            <p:nvPr/>
          </p:nvSpPr>
          <p:spPr>
            <a:xfrm>
              <a:off x="3841717" y="2204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6" name="Oval 165"/>
            <p:cNvSpPr/>
            <p:nvPr/>
          </p:nvSpPr>
          <p:spPr>
            <a:xfrm>
              <a:off x="3536901" y="2492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7" name="Oval 166"/>
            <p:cNvSpPr/>
            <p:nvPr/>
          </p:nvSpPr>
          <p:spPr>
            <a:xfrm>
              <a:off x="3680933" y="227687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8" name="Oval 167"/>
            <p:cNvSpPr/>
            <p:nvPr/>
          </p:nvSpPr>
          <p:spPr>
            <a:xfrm>
              <a:off x="3761325" y="25012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9" name="Oval 168"/>
            <p:cNvSpPr/>
            <p:nvPr/>
          </p:nvSpPr>
          <p:spPr>
            <a:xfrm>
              <a:off x="3968965" y="234888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0" name="Oval 169"/>
            <p:cNvSpPr/>
            <p:nvPr/>
          </p:nvSpPr>
          <p:spPr>
            <a:xfrm>
              <a:off x="3608909" y="378905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1" name="Oval 170"/>
            <p:cNvSpPr/>
            <p:nvPr/>
          </p:nvSpPr>
          <p:spPr>
            <a:xfrm>
              <a:off x="3824933" y="357303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2" name="Oval 171"/>
            <p:cNvSpPr/>
            <p:nvPr/>
          </p:nvSpPr>
          <p:spPr>
            <a:xfrm>
              <a:off x="4112965" y="321297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3" name="Oval 172"/>
            <p:cNvSpPr/>
            <p:nvPr/>
          </p:nvSpPr>
          <p:spPr>
            <a:xfrm>
              <a:off x="1709665" y="1700807"/>
              <a:ext cx="2790327" cy="252028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6098261" y="2387950"/>
            <a:ext cx="1032390" cy="1137910"/>
            <a:chOff x="5292080" y="2196496"/>
            <a:chExt cx="1376520" cy="1517213"/>
          </a:xfrm>
        </p:grpSpPr>
        <p:sp>
          <p:nvSpPr>
            <p:cNvPr id="175" name="Oval 174"/>
            <p:cNvSpPr/>
            <p:nvPr/>
          </p:nvSpPr>
          <p:spPr>
            <a:xfrm>
              <a:off x="5399475" y="255321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6" name="Oval 175"/>
            <p:cNvSpPr/>
            <p:nvPr/>
          </p:nvSpPr>
          <p:spPr>
            <a:xfrm>
              <a:off x="5444480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7" name="Oval 176"/>
            <p:cNvSpPr/>
            <p:nvPr/>
          </p:nvSpPr>
          <p:spPr>
            <a:xfrm>
              <a:off x="5596880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8" name="Oval 177"/>
            <p:cNvSpPr/>
            <p:nvPr/>
          </p:nvSpPr>
          <p:spPr>
            <a:xfrm>
              <a:off x="5580112" y="27005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9" name="Oval 178"/>
            <p:cNvSpPr/>
            <p:nvPr/>
          </p:nvSpPr>
          <p:spPr>
            <a:xfrm>
              <a:off x="5732512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0" name="Oval 179"/>
            <p:cNvSpPr/>
            <p:nvPr/>
          </p:nvSpPr>
          <p:spPr>
            <a:xfrm>
              <a:off x="5884912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1" name="Oval 180"/>
            <p:cNvSpPr/>
            <p:nvPr/>
          </p:nvSpPr>
          <p:spPr>
            <a:xfrm>
              <a:off x="5292080" y="30605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2" name="Oval 181"/>
            <p:cNvSpPr/>
            <p:nvPr/>
          </p:nvSpPr>
          <p:spPr>
            <a:xfrm>
              <a:off x="5444480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3" name="Oval 182"/>
            <p:cNvSpPr/>
            <p:nvPr/>
          </p:nvSpPr>
          <p:spPr>
            <a:xfrm>
              <a:off x="5436096" y="21964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4" name="Oval 183"/>
            <p:cNvSpPr/>
            <p:nvPr/>
          </p:nvSpPr>
          <p:spPr>
            <a:xfrm>
              <a:off x="5588496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5" name="Oval 184"/>
            <p:cNvSpPr/>
            <p:nvPr/>
          </p:nvSpPr>
          <p:spPr>
            <a:xfrm>
              <a:off x="5740896" y="25012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6" name="Oval 185"/>
            <p:cNvSpPr/>
            <p:nvPr/>
          </p:nvSpPr>
          <p:spPr>
            <a:xfrm>
              <a:off x="5893296" y="26536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7" name="Oval 186"/>
            <p:cNvSpPr/>
            <p:nvPr/>
          </p:nvSpPr>
          <p:spPr>
            <a:xfrm>
              <a:off x="5868144" y="23321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8" name="Oval 187"/>
            <p:cNvSpPr/>
            <p:nvPr/>
          </p:nvSpPr>
          <p:spPr>
            <a:xfrm>
              <a:off x="6020544" y="24845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9" name="Oval 188"/>
            <p:cNvSpPr/>
            <p:nvPr/>
          </p:nvSpPr>
          <p:spPr>
            <a:xfrm>
              <a:off x="6084168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0" name="Oval 189"/>
            <p:cNvSpPr/>
            <p:nvPr/>
          </p:nvSpPr>
          <p:spPr>
            <a:xfrm>
              <a:off x="6236568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1" name="Oval 190"/>
            <p:cNvSpPr/>
            <p:nvPr/>
          </p:nvSpPr>
          <p:spPr>
            <a:xfrm>
              <a:off x="6388968" y="32933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2" name="Oval 191"/>
            <p:cNvSpPr/>
            <p:nvPr/>
          </p:nvSpPr>
          <p:spPr>
            <a:xfrm>
              <a:off x="6372200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3" name="Oval 192"/>
            <p:cNvSpPr/>
            <p:nvPr/>
          </p:nvSpPr>
          <p:spPr>
            <a:xfrm>
              <a:off x="6524600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4" name="Oval 193"/>
            <p:cNvSpPr/>
            <p:nvPr/>
          </p:nvSpPr>
          <p:spPr>
            <a:xfrm>
              <a:off x="5823139" y="33369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5" name="Oval 194"/>
            <p:cNvSpPr/>
            <p:nvPr/>
          </p:nvSpPr>
          <p:spPr>
            <a:xfrm>
              <a:off x="5975539" y="34893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6" name="Oval 195"/>
            <p:cNvSpPr/>
            <p:nvPr/>
          </p:nvSpPr>
          <p:spPr>
            <a:xfrm>
              <a:off x="6255187" y="34173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7" name="Oval 196"/>
            <p:cNvSpPr/>
            <p:nvPr/>
          </p:nvSpPr>
          <p:spPr>
            <a:xfrm>
              <a:off x="6407587" y="35697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7144627" y="2373505"/>
            <a:ext cx="1032390" cy="1140414"/>
            <a:chOff x="7063410" y="2348864"/>
            <a:chExt cx="1376520" cy="1520552"/>
          </a:xfrm>
        </p:grpSpPr>
        <p:sp>
          <p:nvSpPr>
            <p:cNvPr id="199" name="Oval 198"/>
            <p:cNvSpPr/>
            <p:nvPr/>
          </p:nvSpPr>
          <p:spPr>
            <a:xfrm>
              <a:off x="7063410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0" name="Oval 199"/>
            <p:cNvSpPr/>
            <p:nvPr/>
          </p:nvSpPr>
          <p:spPr>
            <a:xfrm>
              <a:off x="7215810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1" name="Oval 200"/>
            <p:cNvSpPr/>
            <p:nvPr/>
          </p:nvSpPr>
          <p:spPr>
            <a:xfrm>
              <a:off x="7368210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2" name="Oval 201"/>
            <p:cNvSpPr/>
            <p:nvPr/>
          </p:nvSpPr>
          <p:spPr>
            <a:xfrm>
              <a:off x="7351442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3" name="Oval 202"/>
            <p:cNvSpPr/>
            <p:nvPr/>
          </p:nvSpPr>
          <p:spPr>
            <a:xfrm>
              <a:off x="7503842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4" name="Oval 203"/>
            <p:cNvSpPr/>
            <p:nvPr/>
          </p:nvSpPr>
          <p:spPr>
            <a:xfrm>
              <a:off x="7656242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5" name="Oval 204"/>
            <p:cNvSpPr/>
            <p:nvPr/>
          </p:nvSpPr>
          <p:spPr>
            <a:xfrm>
              <a:off x="802838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6" name="Oval 205"/>
            <p:cNvSpPr/>
            <p:nvPr/>
          </p:nvSpPr>
          <p:spPr>
            <a:xfrm>
              <a:off x="8180784" y="27893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7" name="Oval 206"/>
            <p:cNvSpPr/>
            <p:nvPr/>
          </p:nvSpPr>
          <p:spPr>
            <a:xfrm>
              <a:off x="7207426" y="23488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8" name="Oval 207"/>
            <p:cNvSpPr/>
            <p:nvPr/>
          </p:nvSpPr>
          <p:spPr>
            <a:xfrm>
              <a:off x="7359826" y="25012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9" name="Oval 208"/>
            <p:cNvSpPr/>
            <p:nvPr/>
          </p:nvSpPr>
          <p:spPr>
            <a:xfrm>
              <a:off x="7512226" y="26536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0" name="Oval 209"/>
            <p:cNvSpPr/>
            <p:nvPr/>
          </p:nvSpPr>
          <p:spPr>
            <a:xfrm>
              <a:off x="7664626" y="28060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1" name="Oval 210"/>
            <p:cNvSpPr/>
            <p:nvPr/>
          </p:nvSpPr>
          <p:spPr>
            <a:xfrm>
              <a:off x="7639474" y="24845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2" name="Oval 211"/>
            <p:cNvSpPr/>
            <p:nvPr/>
          </p:nvSpPr>
          <p:spPr>
            <a:xfrm>
              <a:off x="779187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3" name="Oval 212"/>
            <p:cNvSpPr/>
            <p:nvPr/>
          </p:nvSpPr>
          <p:spPr>
            <a:xfrm>
              <a:off x="7855498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4" name="Oval 213"/>
            <p:cNvSpPr/>
            <p:nvPr/>
          </p:nvSpPr>
          <p:spPr>
            <a:xfrm>
              <a:off x="8007898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5" name="Oval 214"/>
            <p:cNvSpPr/>
            <p:nvPr/>
          </p:nvSpPr>
          <p:spPr>
            <a:xfrm>
              <a:off x="8160298" y="34457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6" name="Oval 215"/>
            <p:cNvSpPr/>
            <p:nvPr/>
          </p:nvSpPr>
          <p:spPr>
            <a:xfrm>
              <a:off x="8143530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7" name="Oval 216"/>
            <p:cNvSpPr/>
            <p:nvPr/>
          </p:nvSpPr>
          <p:spPr>
            <a:xfrm>
              <a:off x="8295930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8" name="Oval 217"/>
            <p:cNvSpPr/>
            <p:nvPr/>
          </p:nvSpPr>
          <p:spPr>
            <a:xfrm>
              <a:off x="7956376" y="35730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9" name="Oval 218"/>
            <p:cNvSpPr/>
            <p:nvPr/>
          </p:nvSpPr>
          <p:spPr>
            <a:xfrm>
              <a:off x="8108776" y="37254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220" name="Rectangle 219"/>
          <p:cNvSpPr/>
          <p:nvPr/>
        </p:nvSpPr>
        <p:spPr>
          <a:xfrm>
            <a:off x="3148359" y="4158092"/>
            <a:ext cx="191591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用户在社交媒体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发布的信息，如微博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6692038" y="1911405"/>
            <a:ext cx="76174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训练集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705497" y="3979312"/>
            <a:ext cx="8435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i="1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zh-CN" altLang="en-US" sz="21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1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zh-CN" altLang="en-US" sz="2100" dirty="0">
                <a:latin typeface="Times New Roman" charset="0"/>
                <a:ea typeface="Times New Roman" charset="0"/>
                <a:cs typeface="Times New Roman" charset="0"/>
              </a:rPr>
              <a:t>     </a:t>
            </a:r>
            <a:r>
              <a:rPr lang="en-US" altLang="zh-CN" sz="21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endParaRPr lang="en-US" sz="21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3" name="Oval 222"/>
          <p:cNvSpPr>
            <a:spLocks noChangeAspect="1"/>
          </p:cNvSpPr>
          <p:nvPr/>
        </p:nvSpPr>
        <p:spPr>
          <a:xfrm>
            <a:off x="6073146" y="4099264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24" name="Oval 223"/>
          <p:cNvSpPr>
            <a:spLocks noChangeAspect="1"/>
          </p:cNvSpPr>
          <p:nvPr/>
        </p:nvSpPr>
        <p:spPr>
          <a:xfrm>
            <a:off x="7477707" y="3898073"/>
            <a:ext cx="216000" cy="21600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25" name="Oval 224"/>
          <p:cNvSpPr>
            <a:spLocks noChangeAspect="1"/>
          </p:cNvSpPr>
          <p:nvPr/>
        </p:nvSpPr>
        <p:spPr>
          <a:xfrm>
            <a:off x="7478881" y="4221925"/>
            <a:ext cx="216000" cy="216000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6569614" y="4023414"/>
            <a:ext cx="766644" cy="131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>
            <a:off x="6569615" y="4245435"/>
            <a:ext cx="780620" cy="71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Rectangle 227"/>
          <p:cNvSpPr/>
          <p:nvPr/>
        </p:nvSpPr>
        <p:spPr>
          <a:xfrm>
            <a:off x="7712718" y="3856972"/>
            <a:ext cx="78899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: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 虚假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7728518" y="4179884"/>
            <a:ext cx="78899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0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: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 真实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案例：</a:t>
            </a:r>
            <a:r>
              <a:rPr lang="zh-CN" altLang="en-US" dirty="0"/>
              <a:t>互联网虚假信息检测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994" y="819150"/>
            <a:ext cx="6582012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4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案例：互联网虚假信息检测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6984749" cy="3937000"/>
          </a:xfrm>
        </p:spPr>
        <p:txBody>
          <a:bodyPr/>
          <a:lstStyle/>
          <a:p>
            <a:r>
              <a:rPr lang="zh-CN" altLang="en-US" dirty="0"/>
              <a:t>案例分析：真实的中文虚假</a:t>
            </a:r>
            <a:r>
              <a:rPr lang="zh-CN" altLang="en-US" dirty="0" smtClean="0"/>
              <a:t>信息</a:t>
            </a:r>
            <a:endParaRPr lang="en-US" altLang="zh-C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019445" y="1272978"/>
          <a:ext cx="5355900" cy="161141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355900"/>
              </a:tblGrid>
              <a:tr h="3354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娱乐类（标题）</a:t>
                      </a:r>
                      <a:endParaRPr lang="en-US" sz="1600" dirty="0"/>
                    </a:p>
                  </a:txBody>
                  <a:tcPr marL="78694" marR="78694" marT="39347" marB="39347" anchor="ctr"/>
                </a:tc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曾毅退出凤凰传奇，与庞龙合唱，原来他唱功这么好！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唐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嫣学生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装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现身机场 ，宽松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胖大疑似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怀孕？罗晋要升级当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爸爸 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《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七仙女</a:t>
                      </a:r>
                      <a:r>
                        <a:rPr lang="en-US" altLang="zh-CN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》 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开拍 ， 赵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丽颖和郑爽谁更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适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合演七仙女和鹿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晗搭档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今天鹿晗和关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晓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彤分手了吗 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佟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丽娅被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爆离婚 </a:t>
                      </a:r>
                      <a:r>
                        <a:rPr lang="zh-CN" altLang="en-US" sz="1400" u="none" strike="noStrike" dirty="0" smtClean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，网友为何大喊：痛快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人心 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1019445" y="2998690"/>
          <a:ext cx="5355900" cy="161141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55900"/>
              </a:tblGrid>
              <a:tr h="3242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社会类（标题）</a:t>
                      </a:r>
                      <a:endParaRPr lang="en-US" sz="1600" dirty="0"/>
                    </a:p>
                  </a:txBody>
                  <a:tcPr marL="78694" marR="78694" marT="39347" marB="39347" anchor="ctr"/>
                </a:tc>
              </a:tr>
              <a:tr h="27122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家长注意了！初三有这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zh-CN" altLang="en-US" sz="1400" u="none" strike="noStrike" dirty="0">
                          <a:effectLst/>
                        </a:rPr>
                        <a:t>个现象的孩子，成绩会越来越差！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10918" marB="10918" anchor="b">
                    <a:noFill/>
                  </a:tcPr>
                </a:tc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摊贩城管一家亲！</a:t>
                      </a:r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日起，农户进城摆摊不用愁了，可放心买卖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电瓶车用久了电池就得换？别傻了，教你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招，再多骑</a:t>
                      </a:r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r>
                        <a:rPr lang="zh-CN" altLang="en-US" sz="1400" u="none" strike="noStrike" dirty="0">
                          <a:effectLst/>
                        </a:rPr>
                        <a:t>年都没问题！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医院交停车费，找回来一枚硬币，价值</a:t>
                      </a:r>
                      <a:r>
                        <a:rPr lang="en-US" altLang="zh-CN" sz="1400" u="none" strike="noStrike" dirty="0">
                          <a:effectLst/>
                        </a:rPr>
                        <a:t>3000</a:t>
                      </a:r>
                      <a:r>
                        <a:rPr lang="zh-CN" altLang="en-US" sz="1400" u="none" strike="noStrike" dirty="0">
                          <a:effectLst/>
                        </a:rPr>
                        <a:t>元，真不敢相信！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还用别人的驾驶证代扣分？现在已经行不通了！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3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准备虚假信息检测的数据</a:t>
            </a:r>
            <a:endParaRPr lang="en-US" dirty="0"/>
          </a:p>
          <a:p>
            <a:pPr lvl="1"/>
            <a:endParaRPr lang="zh-CN" altLang="en-US" sz="2100" dirty="0"/>
          </a:p>
          <a:p>
            <a:endParaRPr 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p:sp>
        <p:nvSpPr>
          <p:cNvPr id="117" name="Content Placeholder 2"/>
          <p:cNvSpPr txBox="1">
            <a:spLocks/>
          </p:cNvSpPr>
          <p:nvPr/>
        </p:nvSpPr>
        <p:spPr bwMode="auto">
          <a:xfrm>
            <a:off x="457200" y="1826165"/>
            <a:ext cx="2916324" cy="2569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原始数据获取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根据</a:t>
            </a:r>
            <a:r>
              <a:rPr lang="en-US" altLang="zh-CN" sz="1500" dirty="0">
                <a:latin typeface="Calibri" charset="0"/>
                <a:ea typeface="Calibri" charset="0"/>
                <a:cs typeface="Calibri" charset="0"/>
              </a:rPr>
              <a:t>Twitter</a:t>
            </a:r>
            <a:r>
              <a:rPr lang="zh-CN" altLang="en-US" sz="15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1500" dirty="0">
                <a:latin typeface="Calibri" charset="0"/>
                <a:ea typeface="Calibri" charset="0"/>
                <a:cs typeface="Calibri" charset="0"/>
              </a:rPr>
              <a:t>API</a:t>
            </a:r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获取数据</a:t>
            </a:r>
            <a:endParaRPr lang="en-US" altLang="zh-CN" sz="15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endParaRPr lang="en-US" sz="1500" dirty="0"/>
          </a:p>
          <a:p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数据标注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通过人工标注，为收集到的每条</a:t>
            </a:r>
            <a:r>
              <a:rPr lang="en-US" altLang="zh-CN" sz="1500" dirty="0">
                <a:latin typeface="Calibri" charset="0"/>
                <a:ea typeface="Calibri" charset="0"/>
                <a:cs typeface="Calibri" charset="0"/>
              </a:rPr>
              <a:t>tweet</a:t>
            </a:r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打标签：</a:t>
            </a:r>
            <a:r>
              <a:rPr lang="en-US" altLang="zh-CN" sz="1500" dirty="0">
                <a:latin typeface="Calibri" charset="0"/>
                <a:ea typeface="Calibri" charset="0"/>
                <a:cs typeface="Calibri" charset="0"/>
              </a:rPr>
              <a:t>1</a:t>
            </a:r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为虚假信息；</a:t>
            </a:r>
            <a:r>
              <a:rPr lang="en-US" altLang="zh-CN" sz="1500" dirty="0">
                <a:latin typeface="Calibri" charset="0"/>
                <a:ea typeface="Calibri" charset="0"/>
                <a:cs typeface="Calibri" charset="0"/>
              </a:rPr>
              <a:t>0</a:t>
            </a:r>
            <a:r>
              <a:rPr lang="zh-CN" altLang="en-US" sz="1500" dirty="0">
                <a:latin typeface="Microsoft YaHei" charset="-122"/>
                <a:ea typeface="Microsoft YaHei" charset="-122"/>
                <a:cs typeface="Microsoft YaHei" charset="-122"/>
              </a:rPr>
              <a:t>为真实信息</a:t>
            </a:r>
            <a:endParaRPr lang="en-US" sz="15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30" name="Picture 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993" y="1720837"/>
            <a:ext cx="4954988" cy="296380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95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特征提取</a:t>
            </a:r>
            <a:endParaRPr lang="zh-CN" altLang="en-US" sz="2100" dirty="0"/>
          </a:p>
          <a:p>
            <a:endParaRPr 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2"/>
              <p:cNvSpPr txBox="1">
                <a:spLocks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65125" indent="-282575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2" charset="2"/>
                  <a:buChar char="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1pPr>
                <a:lvl2pPr marL="639763" indent="-236538" algn="l" rtl="0" eaLnBrk="0" fontAlgn="base" hangingPunct="0">
                  <a:spcBef>
                    <a:spcPts val="550"/>
                  </a:spcBef>
                  <a:spcAft>
                    <a:spcPct val="0"/>
                  </a:spcAft>
                  <a:buClr>
                    <a:schemeClr val="accent1"/>
                  </a:buClr>
                  <a:buFont typeface="Verdana" charset="0"/>
                  <a:buChar char="◦"/>
                  <a:defRPr sz="2400" kern="1200">
                    <a:solidFill>
                      <a:srgbClr val="0000CC"/>
                    </a:solidFill>
                    <a:latin typeface="+mn-lt"/>
                    <a:ea typeface="+mn-ea"/>
                    <a:cs typeface="华文中宋" charset="-122"/>
                  </a:defRPr>
                </a:lvl2pPr>
                <a:lvl3pPr marL="8858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charset="2"/>
                  <a:buChar char="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3pPr>
                <a:lvl4pPr marL="1096963" indent="-1730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BBB59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4pPr>
                <a:lvl5pPr marL="1296988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数据表示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{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𝑋</m:t>
                    </m:r>
                    <m:r>
                      <a:rPr lang="en-US" altLang="zh-CN" sz="1800" i="1">
                        <a:latin typeface="Cambria Math" charset="0"/>
                      </a:rPr>
                      <m:t>×</m:t>
                    </m:r>
                    <m:r>
                      <a:rPr lang="en-US" altLang="zh-CN" sz="1800" i="1">
                        <a:latin typeface="Cambria Math" charset="0"/>
                      </a:rPr>
                      <m:t>𝑌</m:t>
                    </m:r>
                    <m:r>
                      <a:rPr lang="en-US" altLang="zh-CN" sz="1800" i="1">
                        <a:latin typeface="Cambria Math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sz="1800" dirty="0"/>
              </a:p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学习（训练）过程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寻找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𝐹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blipFill rotWithShape="0">
                <a:blip r:embed="rId3"/>
                <a:stretch>
                  <a:fillRect t="-19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52105" y="1668378"/>
            <a:ext cx="5624513" cy="4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</a:t>
            </a:r>
            <a:r>
              <a:rPr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特征向量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504" y="2181520"/>
            <a:ext cx="1943116" cy="1215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3407883" y="3638268"/>
            <a:ext cx="1338829" cy="1051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你如何区分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6"/>
                </a:solidFill>
                <a:latin typeface="STZhongsong" charset="-122"/>
                <a:ea typeface="STZhongsong" charset="-122"/>
                <a:cs typeface="STZhongsong" charset="-122"/>
              </a:rPr>
              <a:t>汪星人</a:t>
            </a:r>
            <a:endParaRPr lang="en-US" altLang="zh-CN" dirty="0">
              <a:solidFill>
                <a:schemeClr val="accent6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5"/>
                </a:solidFill>
                <a:latin typeface="STZhongsong" charset="-122"/>
                <a:ea typeface="STZhongsong" charset="-122"/>
                <a:cs typeface="STZhongsong" charset="-122"/>
              </a:rPr>
              <a:t>喵星人</a:t>
            </a:r>
            <a:endParaRPr lang="en-US" dirty="0">
              <a:solidFill>
                <a:schemeClr val="accent5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396768" y="2046421"/>
            <a:ext cx="0" cy="28054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79614" y="1975471"/>
            <a:ext cx="56938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大小</a:t>
            </a:r>
            <a:endParaRPr lang="en-US" sz="15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0" r="67525" b="47047"/>
          <a:stretch/>
        </p:blipFill>
        <p:spPr>
          <a:xfrm>
            <a:off x="5561835" y="3606899"/>
            <a:ext cx="1043879" cy="9089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2750" r="47354" b="74649"/>
          <a:stretch/>
        </p:blipFill>
        <p:spPr>
          <a:xfrm>
            <a:off x="6887184" y="1992414"/>
            <a:ext cx="1674185" cy="146962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5288756" y="3504582"/>
            <a:ext cx="3590255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74050" y="1297774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你觉得下面的特征是否合理？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合理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不合理</a:t>
            </a: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46866" y="13301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特征提取</a:t>
            </a:r>
            <a:endParaRPr lang="zh-CN" altLang="en-US" sz="2100" dirty="0"/>
          </a:p>
          <a:p>
            <a:endParaRPr 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2"/>
              <p:cNvSpPr txBox="1">
                <a:spLocks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65125" indent="-282575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2" charset="2"/>
                  <a:buChar char="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1pPr>
                <a:lvl2pPr marL="639763" indent="-236538" algn="l" rtl="0" eaLnBrk="0" fontAlgn="base" hangingPunct="0">
                  <a:spcBef>
                    <a:spcPts val="550"/>
                  </a:spcBef>
                  <a:spcAft>
                    <a:spcPct val="0"/>
                  </a:spcAft>
                  <a:buClr>
                    <a:schemeClr val="accent1"/>
                  </a:buClr>
                  <a:buFont typeface="Verdana" charset="0"/>
                  <a:buChar char="◦"/>
                  <a:defRPr sz="2400" kern="1200">
                    <a:solidFill>
                      <a:srgbClr val="0000CC"/>
                    </a:solidFill>
                    <a:latin typeface="+mn-lt"/>
                    <a:ea typeface="+mn-ea"/>
                    <a:cs typeface="华文中宋" charset="-122"/>
                  </a:defRPr>
                </a:lvl2pPr>
                <a:lvl3pPr marL="8858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charset="2"/>
                  <a:buChar char="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3pPr>
                <a:lvl4pPr marL="1096963" indent="-1730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BBB59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4pPr>
                <a:lvl5pPr marL="1296988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数据表示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{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𝑋</m:t>
                    </m:r>
                    <m:r>
                      <a:rPr lang="en-US" altLang="zh-CN" sz="1800" i="1">
                        <a:latin typeface="Cambria Math" charset="0"/>
                      </a:rPr>
                      <m:t>×</m:t>
                    </m:r>
                    <m:r>
                      <a:rPr lang="en-US" altLang="zh-CN" sz="1800" i="1">
                        <a:latin typeface="Cambria Math" charset="0"/>
                      </a:rPr>
                      <m:t>𝑌</m:t>
                    </m:r>
                    <m:r>
                      <a:rPr lang="en-US" altLang="zh-CN" sz="1800" i="1">
                        <a:latin typeface="Cambria Math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sz="1800" dirty="0"/>
              </a:p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学习（训练）过程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寻找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𝐹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blipFill rotWithShape="0">
                <a:blip r:embed="rId3"/>
                <a:stretch>
                  <a:fillRect t="-19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52105" y="1668378"/>
            <a:ext cx="5624513" cy="4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</a:t>
            </a:r>
            <a:r>
              <a:rPr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特征向量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504" y="2181520"/>
            <a:ext cx="1943116" cy="1215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3407883" y="3638268"/>
            <a:ext cx="1338829" cy="1051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你如何区分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6"/>
                </a:solidFill>
                <a:latin typeface="STZhongsong" charset="-122"/>
                <a:ea typeface="STZhongsong" charset="-122"/>
                <a:cs typeface="STZhongsong" charset="-122"/>
              </a:rPr>
              <a:t>汪星人</a:t>
            </a:r>
            <a:endParaRPr lang="en-US" altLang="zh-CN" dirty="0">
              <a:solidFill>
                <a:schemeClr val="accent6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5"/>
                </a:solidFill>
                <a:latin typeface="STZhongsong" charset="-122"/>
                <a:ea typeface="STZhongsong" charset="-122"/>
                <a:cs typeface="STZhongsong" charset="-122"/>
              </a:rPr>
              <a:t>喵星人</a:t>
            </a:r>
            <a:endParaRPr lang="en-US" dirty="0">
              <a:solidFill>
                <a:schemeClr val="accent5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396768" y="2046421"/>
            <a:ext cx="0" cy="28054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79614" y="1975471"/>
            <a:ext cx="56938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大小</a:t>
            </a:r>
            <a:endParaRPr lang="en-US" sz="15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0" r="67525" b="47047"/>
          <a:stretch/>
        </p:blipFill>
        <p:spPr>
          <a:xfrm>
            <a:off x="5561835" y="3606899"/>
            <a:ext cx="1043879" cy="9089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2750" r="47354" b="74649"/>
          <a:stretch/>
        </p:blipFill>
        <p:spPr>
          <a:xfrm>
            <a:off x="6887184" y="1992414"/>
            <a:ext cx="1674185" cy="146962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5288756" y="3504582"/>
            <a:ext cx="3590255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74050" y="1297774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你觉得下面的特征是否合理？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合理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不合理</a:t>
            </a: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46866" y="13301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21" name="图片 1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1089" y="3251326"/>
            <a:ext cx="525529" cy="52552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516" y="3903452"/>
            <a:ext cx="824865" cy="75681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特征提取</a:t>
            </a:r>
            <a:endParaRPr 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2"/>
              <p:cNvSpPr txBox="1">
                <a:spLocks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65125" indent="-282575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2" charset="2"/>
                  <a:buChar char="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1pPr>
                <a:lvl2pPr marL="639763" indent="-236538" algn="l" rtl="0" eaLnBrk="0" fontAlgn="base" hangingPunct="0">
                  <a:spcBef>
                    <a:spcPts val="550"/>
                  </a:spcBef>
                  <a:spcAft>
                    <a:spcPct val="0"/>
                  </a:spcAft>
                  <a:buClr>
                    <a:schemeClr val="accent1"/>
                  </a:buClr>
                  <a:buFont typeface="Verdana" charset="0"/>
                  <a:buChar char="◦"/>
                  <a:defRPr sz="2400" kern="1200">
                    <a:solidFill>
                      <a:srgbClr val="0000CC"/>
                    </a:solidFill>
                    <a:latin typeface="+mn-lt"/>
                    <a:ea typeface="+mn-ea"/>
                    <a:cs typeface="华文中宋" charset="-122"/>
                  </a:defRPr>
                </a:lvl2pPr>
                <a:lvl3pPr marL="8858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charset="2"/>
                  <a:buChar char="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3pPr>
                <a:lvl4pPr marL="1096963" indent="-1730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BBB59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4pPr>
                <a:lvl5pPr marL="1296988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华文中宋" charset="-122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数据表示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{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𝑋</m:t>
                    </m:r>
                    <m:r>
                      <a:rPr lang="en-US" altLang="zh-CN" sz="1800" i="1">
                        <a:latin typeface="Cambria Math" charset="0"/>
                      </a:rPr>
                      <m:t>×</m:t>
                    </m:r>
                    <m:r>
                      <a:rPr lang="en-US" altLang="zh-CN" sz="1800" i="1">
                        <a:latin typeface="Cambria Math" charset="0"/>
                      </a:rPr>
                      <m:t>𝑌</m:t>
                    </m:r>
                    <m:r>
                      <a:rPr lang="en-US" altLang="zh-CN" sz="1800" i="1">
                        <a:latin typeface="Cambria Math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sz="1800" dirty="0"/>
              </a:p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学习（训练）过程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寻找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∈</m:t>
                    </m:r>
                    <m:r>
                      <a:rPr lang="en-US" altLang="zh-CN" sz="1800" i="1">
                        <a:latin typeface="Cambria Math" charset="0"/>
                      </a:rPr>
                      <m:t>𝐹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8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𝑓</m:t>
                        </m:r>
                      </m:e>
                    </m:acc>
                    <m:r>
                      <a:rPr lang="en-US" altLang="zh-CN" sz="1800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26165"/>
                <a:ext cx="2916324" cy="2569667"/>
              </a:xfrm>
              <a:prstGeom prst="rect">
                <a:avLst/>
              </a:prstGeom>
              <a:blipFill rotWithShape="0">
                <a:blip r:embed="rId3"/>
                <a:stretch>
                  <a:fillRect t="-19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52105" y="1668378"/>
            <a:ext cx="5624513" cy="4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</a:t>
            </a:r>
            <a:r>
              <a:rPr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特征向量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504" y="2181520"/>
            <a:ext cx="1943116" cy="1215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3407883" y="3638268"/>
            <a:ext cx="1338829" cy="1051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你如何区分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6"/>
                </a:solidFill>
                <a:latin typeface="STZhongsong" charset="-122"/>
                <a:ea typeface="STZhongsong" charset="-122"/>
                <a:cs typeface="STZhongsong" charset="-122"/>
              </a:rPr>
              <a:t>汪星人</a:t>
            </a:r>
            <a:endParaRPr lang="en-US" altLang="zh-CN" dirty="0">
              <a:solidFill>
                <a:schemeClr val="accent6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dirty="0">
                <a:solidFill>
                  <a:schemeClr val="accent5"/>
                </a:solidFill>
                <a:latin typeface="STZhongsong" charset="-122"/>
                <a:ea typeface="STZhongsong" charset="-122"/>
                <a:cs typeface="STZhongsong" charset="-122"/>
              </a:rPr>
              <a:t>喵星人</a:t>
            </a:r>
            <a:endParaRPr lang="en-US" dirty="0">
              <a:solidFill>
                <a:schemeClr val="accent5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396768" y="2046421"/>
            <a:ext cx="0" cy="27715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79614" y="1975471"/>
            <a:ext cx="56938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大小</a:t>
            </a:r>
            <a:endParaRPr lang="en-US" sz="15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0" r="67525" b="47047"/>
          <a:stretch/>
        </p:blipFill>
        <p:spPr>
          <a:xfrm>
            <a:off x="5561835" y="3606899"/>
            <a:ext cx="1043879" cy="9089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2750" r="47354" b="74649"/>
          <a:stretch/>
        </p:blipFill>
        <p:spPr>
          <a:xfrm>
            <a:off x="6887184" y="1992414"/>
            <a:ext cx="1674185" cy="1469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516" y="3903452"/>
            <a:ext cx="824865" cy="756814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5396768" y="4817930"/>
            <a:ext cx="331079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582201" y="4241959"/>
            <a:ext cx="59361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驯化程度</a:t>
            </a:r>
            <a:endParaRPr lang="en-US" sz="15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207353" y="2316966"/>
            <a:ext cx="2878452" cy="259058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图片 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2290" y="2583162"/>
            <a:ext cx="524822" cy="5291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95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互联网应用案例：虚假信息检测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如何给一条</a:t>
            </a:r>
            <a:r>
              <a:rPr lang="en-US" altLang="zh-CN" dirty="0"/>
              <a:t>Tweet</a:t>
            </a:r>
            <a:r>
              <a:rPr lang="zh-CN" altLang="en-US" dirty="0"/>
              <a:t>信息提取特征</a:t>
            </a:r>
            <a:r>
              <a:rPr lang="zh-CN" altLang="en-US" dirty="0" smtClean="0"/>
              <a:t>？</a:t>
            </a:r>
            <a:endParaRPr lang="en-US" altLang="zh-CN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6142581" y="4224543"/>
            <a:ext cx="2895600" cy="4762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mtClean="0"/>
              <a:t>计算传播理论与实务</a:t>
            </a:r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101" y="1737228"/>
            <a:ext cx="5276653" cy="2978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11" y="1310721"/>
            <a:ext cx="3281963" cy="10605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Bent Arrow 9"/>
          <p:cNvSpPr/>
          <p:nvPr/>
        </p:nvSpPr>
        <p:spPr>
          <a:xfrm rot="10800000" flipH="1">
            <a:off x="2365162" y="2659717"/>
            <a:ext cx="752463" cy="1296144"/>
          </a:xfrm>
          <a:prstGeom prst="bentArrow">
            <a:avLst>
              <a:gd name="adj1" fmla="val 28574"/>
              <a:gd name="adj2" fmla="val 3052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1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6984749" cy="3937000"/>
          </a:xfrm>
        </p:spPr>
        <p:txBody>
          <a:bodyPr/>
          <a:lstStyle/>
          <a:p>
            <a:r>
              <a:rPr lang="zh-CN" altLang="en-US" dirty="0"/>
              <a:t>案例分析：真实的中文虚假信息</a:t>
            </a:r>
            <a:endParaRPr lang="en-US" altLang="zh-C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19445" y="1272978"/>
          <a:ext cx="5355900" cy="161141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355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娱乐类（标题）</a:t>
                      </a:r>
                      <a:endParaRPr lang="en-US" sz="1600" dirty="0"/>
                    </a:p>
                  </a:txBody>
                  <a:tcPr marL="78694" marR="78694" marT="39347" marB="39347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曾毅退出凤凰传奇，与庞龙合唱，原来他唱功这么好！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唐嫣学生装现身机场 ，宽松胖大疑似怀孕？罗晋要升级当爸爸 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《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七仙女</a:t>
                      </a:r>
                      <a:r>
                        <a:rPr lang="en-US" altLang="zh-CN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》 </a:t>
                      </a:r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开拍 ， 赵丽颖和郑爽谁更适合演七仙女和鹿晗搭档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今天鹿晗和关晓彤分手了吗 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518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  <a:latin typeface="STZhongsong" charset="-122"/>
                          <a:ea typeface="STZhongsong" charset="-122"/>
                          <a:cs typeface="STZhongsong" charset="-122"/>
                        </a:rPr>
                        <a:t>佟丽娅被爆离婚 ，网友为何大喊：痛快人心 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TZhongsong" charset="-122"/>
                        <a:ea typeface="STZhongsong" charset="-122"/>
                        <a:cs typeface="STZhongsong" charset="-122"/>
                      </a:endParaRPr>
                    </a:p>
                  </a:txBody>
                  <a:tcPr marL="2083" marR="2083" marT="4164" marB="4164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19445" y="2998690"/>
          <a:ext cx="5355900" cy="161141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55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242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社会类（标题）</a:t>
                      </a:r>
                      <a:endParaRPr lang="en-US" sz="1600" dirty="0"/>
                    </a:p>
                  </a:txBody>
                  <a:tcPr marL="78694" marR="78694" marT="39347" marB="39347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122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家长注意了！初三有这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zh-CN" altLang="en-US" sz="1400" u="none" strike="noStrike" dirty="0">
                          <a:effectLst/>
                        </a:rPr>
                        <a:t>个现象的孩子，成绩会越来越差！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10918" marB="10918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摊贩城管一家亲！</a:t>
                      </a:r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日起，农户进城摆摊不用愁了，可放心买卖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电瓶车用久了电池就得换？别傻了，教你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招，再多骑</a:t>
                      </a:r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r>
                        <a:rPr lang="zh-CN" altLang="en-US" sz="1400" u="none" strike="noStrike" dirty="0">
                          <a:effectLst/>
                        </a:rPr>
                        <a:t>年都没问题！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医院交停车费，找回来一枚硬币，价值</a:t>
                      </a:r>
                      <a:r>
                        <a:rPr lang="en-US" altLang="zh-CN" sz="1400" u="none" strike="noStrike" dirty="0">
                          <a:effectLst/>
                        </a:rPr>
                        <a:t>3000</a:t>
                      </a:r>
                      <a:r>
                        <a:rPr lang="zh-CN" altLang="en-US" sz="1400" u="none" strike="noStrike" dirty="0">
                          <a:effectLst/>
                        </a:rPr>
                        <a:t>元，真不敢相信！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399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还用别人的驾驶证代扣分？现在已经行不通了！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5459" marR="5459" marT="5459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ight Brace 10"/>
          <p:cNvSpPr/>
          <p:nvPr/>
        </p:nvSpPr>
        <p:spPr>
          <a:xfrm>
            <a:off x="6757570" y="1272978"/>
            <a:ext cx="360040" cy="3337122"/>
          </a:xfrm>
          <a:prstGeom prst="rightBrace">
            <a:avLst>
              <a:gd name="adj1" fmla="val 55584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362404" y="2341374"/>
                <a:ext cx="159606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Zhongsong" charset="-122"/>
                    <a:ea typeface="STZhongsong" charset="-122"/>
                    <a:cs typeface="STZhongsong" charset="-122"/>
                  </a:rPr>
                  <a:t>特征选取举例：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问号加感叹号</a:t>
                </a:r>
                <a:r>
                  <a:rPr lang="zh-CN" altLang="en-US" dirty="0"/>
                  <a:t>出现在第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zh-CN" altLang="en-US" dirty="0"/>
                  <a:t>篇消息中的频率</a:t>
                </a:r>
                <a:endParaRPr lang="en-US" dirty="0">
                  <a:solidFill>
                    <a:schemeClr val="accent5"/>
                  </a:solidFill>
                  <a:latin typeface="STZhongsong" charset="-122"/>
                  <a:ea typeface="STZhongsong" charset="-122"/>
                  <a:cs typeface="STZhongsong" charset="-122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404" y="2341374"/>
                <a:ext cx="1596065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9160" t="-2538" r="-8779" b="-5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69071" y="1644344"/>
            <a:ext cx="582730" cy="5827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44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22364"/>
                <a:ext cx="8229600" cy="1171121"/>
              </a:xfrm>
            </p:spPr>
            <p:txBody>
              <a:bodyPr/>
              <a:lstStyle/>
              <a:p>
                <a:r>
                  <a:rPr lang="zh-CN" altLang="en-US" dirty="0"/>
                  <a:t>虚假信息检测最简单的特征选取策略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C00000"/>
                    </a:solidFill>
                  </a:rPr>
                  <a:t>问号加感叹号</a:t>
                </a:r>
                <a:r>
                  <a:rPr lang="zh-CN" altLang="en-US" dirty="0"/>
                  <a:t>出现在第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zh-CN" altLang="en-US" dirty="0"/>
                  <a:t>篇消息中的频率：记为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22364"/>
                <a:ext cx="8229600" cy="1171121"/>
              </a:xfrm>
              <a:blipFill rotWithShape="0">
                <a:blip r:embed="rId3"/>
                <a:stretch>
                  <a:fillRect l="-667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024045" y="2848244"/>
            <a:ext cx="1032390" cy="1137910"/>
            <a:chOff x="5292080" y="2196496"/>
            <a:chExt cx="1376520" cy="1517213"/>
          </a:xfrm>
        </p:grpSpPr>
        <p:sp>
          <p:nvSpPr>
            <p:cNvPr id="24" name="Oval 23"/>
            <p:cNvSpPr/>
            <p:nvPr/>
          </p:nvSpPr>
          <p:spPr>
            <a:xfrm>
              <a:off x="5399475" y="255321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5444480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5596880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5580112" y="27005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5732512" y="2852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5884912" y="3005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5292080" y="30605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1" name="Oval 30"/>
            <p:cNvSpPr/>
            <p:nvPr/>
          </p:nvSpPr>
          <p:spPr>
            <a:xfrm>
              <a:off x="5444480" y="321299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/>
            <p:cNvSpPr/>
            <p:nvPr/>
          </p:nvSpPr>
          <p:spPr>
            <a:xfrm>
              <a:off x="5436096" y="21964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5588496" y="23488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5740896" y="25012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/>
            <p:cNvSpPr/>
            <p:nvPr/>
          </p:nvSpPr>
          <p:spPr>
            <a:xfrm>
              <a:off x="5893296" y="265369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5868144" y="23321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6020544" y="248454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6084168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6236568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388968" y="32933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6372200" y="29885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2" name="Oval 41"/>
            <p:cNvSpPr/>
            <p:nvPr/>
          </p:nvSpPr>
          <p:spPr>
            <a:xfrm>
              <a:off x="6524600" y="314098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5823139" y="33369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5975539" y="3489333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6255187" y="34173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6407587" y="3569709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070411" y="2833799"/>
            <a:ext cx="1032390" cy="1140414"/>
            <a:chOff x="7063410" y="2348864"/>
            <a:chExt cx="1376520" cy="1520552"/>
          </a:xfrm>
        </p:grpSpPr>
        <p:sp>
          <p:nvSpPr>
            <p:cNvPr id="48" name="Oval 47"/>
            <p:cNvSpPr/>
            <p:nvPr/>
          </p:nvSpPr>
          <p:spPr>
            <a:xfrm>
              <a:off x="7063410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7215810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7368210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7351442" y="28529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7503842" y="30053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7656242" y="3157720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802838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8180784" y="27893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6" name="Oval 55"/>
            <p:cNvSpPr/>
            <p:nvPr/>
          </p:nvSpPr>
          <p:spPr>
            <a:xfrm>
              <a:off x="7207426" y="23488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7359826" y="25012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7512226" y="26536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7664626" y="2806064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0" name="Oval 59"/>
            <p:cNvSpPr/>
            <p:nvPr/>
          </p:nvSpPr>
          <p:spPr>
            <a:xfrm>
              <a:off x="7639474" y="24845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7791874" y="263691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2" name="Oval 61"/>
            <p:cNvSpPr/>
            <p:nvPr/>
          </p:nvSpPr>
          <p:spPr>
            <a:xfrm>
              <a:off x="7855498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3" name="Oval 62"/>
            <p:cNvSpPr/>
            <p:nvPr/>
          </p:nvSpPr>
          <p:spPr>
            <a:xfrm>
              <a:off x="8007898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8160298" y="34457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8143530" y="31409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8295930" y="3293352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7956376" y="35730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8" name="Oval 67"/>
            <p:cNvSpPr/>
            <p:nvPr/>
          </p:nvSpPr>
          <p:spPr>
            <a:xfrm>
              <a:off x="8108776" y="3725416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1476094" y="240232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训练集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251947" y="4208478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accent6"/>
                </a:solidFill>
                <a:latin typeface="STZhongsong" charset="-122"/>
                <a:ea typeface="STZhongsong" charset="-122"/>
                <a:cs typeface="STZhongsong" charset="-122"/>
              </a:rPr>
              <a:t>正例</a:t>
            </a:r>
            <a:endParaRPr lang="en-US" altLang="zh-CN" sz="1500" dirty="0">
              <a:solidFill>
                <a:schemeClr val="accent6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263340" y="4208478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accent5"/>
                </a:solidFill>
                <a:latin typeface="STZhongsong" charset="-122"/>
                <a:ea typeface="STZhongsong" charset="-122"/>
                <a:cs typeface="STZhongsong" charset="-122"/>
              </a:rPr>
              <a:t>负例</a:t>
            </a:r>
            <a:endParaRPr lang="en-US" altLang="zh-CN" sz="1500" dirty="0">
              <a:solidFill>
                <a:schemeClr val="accent5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761" y="2493485"/>
            <a:ext cx="3241415" cy="1913336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6211233" y="4183198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频率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221772" y="2218678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230978" y="255988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258563" y="36705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55663" y="32282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967743" y="29205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945442" y="346038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593692" y="30435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24923" y="34617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276385" y="36001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1523" y="2578100"/>
            <a:ext cx="150233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训练集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b="1" dirty="0">
                <a:solidFill>
                  <a:srgbClr val="ED7D3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正例：</a:t>
            </a:r>
            <a:r>
              <a:rPr lang="en-US" altLang="zh-CN" sz="1600" b="1" dirty="0">
                <a:solidFill>
                  <a:srgbClr val="ED7D31"/>
                </a:solidFill>
                <a:latin typeface="Calibri" charset="0"/>
                <a:ea typeface="Calibri" charset="0"/>
                <a:cs typeface="Calibri" charset="0"/>
              </a:rPr>
              <a:t>15</a:t>
            </a:r>
            <a:r>
              <a:rPr lang="zh-CN" altLang="en-US" sz="1600" b="1" dirty="0">
                <a:solidFill>
                  <a:srgbClr val="ED7D3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个</a:t>
            </a:r>
            <a:endParaRPr lang="en-US" altLang="zh-CN" sz="1600" b="1" dirty="0">
              <a:solidFill>
                <a:srgbClr val="ED7D3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b="1" dirty="0">
                <a:solidFill>
                  <a:srgbClr val="FEC002"/>
                </a:solidFill>
                <a:latin typeface="Microsoft YaHei" charset="-122"/>
                <a:ea typeface="Microsoft YaHei" charset="-122"/>
                <a:cs typeface="Microsoft YaHei" charset="-122"/>
              </a:rPr>
              <a:t>负例：</a:t>
            </a:r>
            <a:r>
              <a:rPr lang="en-US" altLang="zh-CN" sz="1600" b="1" dirty="0">
                <a:solidFill>
                  <a:srgbClr val="FEC002"/>
                </a:solidFill>
                <a:latin typeface="Calibri" charset="0"/>
                <a:ea typeface="Calibri" charset="0"/>
                <a:cs typeface="Calibri" charset="0"/>
              </a:rPr>
              <a:t>15</a:t>
            </a:r>
            <a:r>
              <a:rPr lang="zh-CN" altLang="en-US" sz="1600" b="1" dirty="0">
                <a:solidFill>
                  <a:srgbClr val="FEC002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个</a:t>
            </a:r>
            <a:endParaRPr lang="en-US" sz="1600" b="1" dirty="0">
              <a:solidFill>
                <a:srgbClr val="FEC002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7028373" y="3950716"/>
            <a:ext cx="1708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备注：左图横坐标只考虑</a:t>
            </a:r>
            <a:r>
              <a:rPr lang="zh-CN" altLang="en-US" sz="1600" b="1" dirty="0"/>
              <a:t>整数点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28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虚假信息检测最简单的分类算法</a:t>
            </a:r>
          </a:p>
          <a:p>
            <a:pPr lvl="1"/>
            <a:r>
              <a:rPr lang="zh-CN" altLang="en-US" dirty="0"/>
              <a:t>设置一个阈值</a:t>
            </a:r>
            <a:r>
              <a:rPr lang="en-US" altLang="zh-CN" dirty="0"/>
              <a:t>C</a:t>
            </a:r>
            <a:r>
              <a:rPr lang="zh-CN" altLang="en-US" dirty="0"/>
              <a:t>，如</a:t>
            </a:r>
            <a:r>
              <a:rPr lang="en-US" altLang="zh-CN" dirty="0"/>
              <a:t>C=1</a:t>
            </a:r>
          </a:p>
          <a:p>
            <a:pPr lvl="1"/>
            <a:endParaRPr lang="en-US" altLang="zh-C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Evaluation</a:t>
            </a:r>
            <a:endParaRPr lang="en-US" sz="1800" dirty="0"/>
          </a:p>
        </p:txBody>
      </p:sp>
      <p:sp>
        <p:nvSpPr>
          <p:cNvPr id="77" name="Rectangle 76"/>
          <p:cNvSpPr/>
          <p:nvPr/>
        </p:nvSpPr>
        <p:spPr>
          <a:xfrm>
            <a:off x="3968176" y="2951953"/>
            <a:ext cx="17926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if </a:t>
            </a:r>
            <a:r>
              <a:rPr lang="en-US" sz="1500" b="1" dirty="0" err="1">
                <a:latin typeface="Courier New" charset="0"/>
                <a:ea typeface="Courier New" charset="0"/>
                <a:cs typeface="Courier New" charset="0"/>
              </a:rPr>
              <a:t>F_i</a:t>
            </a:r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 &gt;</a:t>
            </a:r>
            <a:r>
              <a:rPr lang="en-US" altLang="zh-CN" sz="1500" b="1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 C: </a:t>
            </a:r>
          </a:p>
          <a:p>
            <a:r>
              <a:rPr lang="zh-CN" altLang="en-US" sz="1500" b="1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return 1</a:t>
            </a:r>
          </a:p>
          <a:p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else:  </a:t>
            </a:r>
          </a:p>
          <a:p>
            <a:r>
              <a:rPr lang="zh-CN" altLang="en-US" sz="1500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500" b="1" dirty="0">
                <a:latin typeface="Courier New" charset="0"/>
                <a:ea typeface="Courier New" charset="0"/>
                <a:cs typeface="Courier New" charset="0"/>
              </a:rPr>
              <a:t>return -1</a:t>
            </a:r>
          </a:p>
        </p:txBody>
      </p:sp>
      <p:pic>
        <p:nvPicPr>
          <p:cNvPr id="79" name="图片 5"/>
          <p:cNvPicPr>
            <a:picLocks noChangeAspect="1"/>
          </p:cNvPicPr>
          <p:nvPr/>
        </p:nvPicPr>
        <p:blipFill rotWithShape="1">
          <a:blip r:embed="rId3"/>
          <a:srcRect l="46209" b="327"/>
          <a:stretch/>
        </p:blipFill>
        <p:spPr>
          <a:xfrm>
            <a:off x="6387321" y="2380260"/>
            <a:ext cx="2290527" cy="2381863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5948128" y="1297774"/>
            <a:ext cx="33019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rgbClr val="C00000"/>
                </a:solidFill>
                <a:latin typeface="Helvetica Neue" charset="0"/>
              </a:rPr>
              <a:t>使用介绍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的</a:t>
            </a:r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k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近邻分类器，如果一个样本感叹号</a:t>
            </a:r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/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问号数量为</a:t>
            </a:r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，考虑</a:t>
            </a:r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k=7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，分类结果是</a:t>
            </a:r>
            <a:endParaRPr lang="en-US" altLang="zh-CN" sz="1600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 正例   </a:t>
            </a:r>
            <a:r>
              <a:rPr lang="en-US" altLang="zh-CN" sz="1600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 负例</a:t>
            </a:r>
          </a:p>
          <a:p>
            <a:endParaRPr lang="en-US" altLang="zh-CN" sz="1600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09182" y="1310176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21213"/>
            <a:ext cx="3241415" cy="19133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45672" y="4310926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频率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6211" y="2346406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5417" y="26876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3002" y="3798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0102" y="335592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02182" y="30482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9881" y="35881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28131" y="31712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59362" y="358942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10824" y="37279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52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近邻分类器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对每个测试样本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，在训练集中找到离</a:t>
            </a:r>
            <a:r>
              <a:rPr lang="en-US" altLang="zh-CN" dirty="0" smtClean="0"/>
              <a:t>x</a:t>
            </a:r>
            <a:r>
              <a:rPr lang="zh-CN" altLang="en-US" dirty="0" smtClean="0"/>
              <a:t>最近的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个训练样本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根据这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个样本多类别标签投票，多数标签作为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的预测标签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38" y="1919335"/>
            <a:ext cx="5150782" cy="28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26" y="205978"/>
            <a:ext cx="7312695" cy="473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例子：手写数字识别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79" y="836000"/>
            <a:ext cx="6296934" cy="39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5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采样假设：</a:t>
            </a:r>
            <a:r>
              <a:rPr lang="zh-CN" altLang="en-US" b="1" dirty="0" smtClean="0">
                <a:solidFill>
                  <a:srgbClr val="C00000"/>
                </a:solidFill>
              </a:rPr>
              <a:t>训练集</a:t>
            </a:r>
            <a:r>
              <a:rPr lang="zh-CN" altLang="en-US" dirty="0" smtClean="0"/>
              <a:t>与</a:t>
            </a:r>
            <a:r>
              <a:rPr lang="zh-CN" altLang="en-US" b="1" dirty="0" smtClean="0">
                <a:solidFill>
                  <a:srgbClr val="C00000"/>
                </a:solidFill>
              </a:rPr>
              <a:t>测试集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假设训练样本和测试数据是独立采样</a:t>
            </a:r>
            <a:endParaRPr lang="en-US" altLang="zh-CN" dirty="0" smtClean="0"/>
          </a:p>
          <a:p>
            <a:r>
              <a:rPr lang="zh-CN" altLang="en-US" dirty="0" smtClean="0"/>
              <a:t>训练数据与测试数据的分布很可能不一致</a:t>
            </a:r>
            <a:endParaRPr lang="en-US" altLang="zh-CN" dirty="0" smtClean="0"/>
          </a:p>
          <a:p>
            <a:r>
              <a:rPr lang="zh-CN" altLang="en-US" dirty="0" smtClean="0"/>
              <a:t>分类误差的度量：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80" y="2354661"/>
            <a:ext cx="6051493" cy="25157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526" y="1571797"/>
            <a:ext cx="3352800" cy="6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5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-20538"/>
            <a:ext cx="6858000" cy="486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90" y="-18106"/>
            <a:ext cx="6859010" cy="487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4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11683"/>
            <a:ext cx="6857999" cy="421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894"/>
            <a:ext cx="6858000" cy="415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深入理解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要点：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监督学习旨在测试集上取得好的预测精度，而测试集在训练时是未知的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在训练集上最小化损失函数来设定参数，不一定能获得最佳的分类模型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我们希望模型能够有效地对核心的数据分布建模，而忽略数据中的噪音</a:t>
            </a:r>
            <a:endParaRPr lang="en-US" altLang="zh-CN" dirty="0" smtClean="0"/>
          </a:p>
          <a:p>
            <a:pPr lvl="1"/>
            <a:r>
              <a:rPr lang="zh-CN" altLang="en-US" dirty="0"/>
              <a:t>欠拟合与过拟合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19" y="2552949"/>
            <a:ext cx="7225791" cy="206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参数选择与验证集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7847215" cy="3937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随着</a:t>
            </a:r>
            <a:r>
              <a:rPr lang="en-US" altLang="zh-CN" dirty="0" smtClean="0"/>
              <a:t>K</a:t>
            </a:r>
            <a:r>
              <a:rPr lang="zh-CN" altLang="en-US" dirty="0" smtClean="0"/>
              <a:t>增加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分类边界面越来越平滑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训练误差增加</a:t>
            </a:r>
            <a:endParaRPr lang="zh-CN" altLang="en-US" dirty="0"/>
          </a:p>
          <a:p>
            <a:r>
              <a:rPr lang="zh-CN" altLang="en-US" dirty="0"/>
              <a:t>把整个数据分成</a:t>
            </a:r>
            <a:r>
              <a:rPr lang="en-US" altLang="zh-CN" dirty="0"/>
              <a:t>3</a:t>
            </a:r>
            <a:r>
              <a:rPr lang="zh-CN" altLang="en-US" dirty="0"/>
              <a:t>部分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训练集：学习模型参数</a:t>
            </a:r>
          </a:p>
          <a:p>
            <a:pPr lvl="1"/>
            <a:r>
              <a:rPr lang="zh-CN" altLang="en-US" dirty="0"/>
              <a:t>验证集：不用来学习，用来选择模型或者调节重要参数</a:t>
            </a:r>
          </a:p>
          <a:p>
            <a:pPr lvl="1"/>
            <a:r>
              <a:rPr lang="zh-CN" altLang="en-US" dirty="0"/>
              <a:t>测试集：用来评估模型预测效果，通常评估效果会比验证集差</a:t>
            </a:r>
            <a:r>
              <a:rPr lang="zh-CN" altLang="en-US" dirty="0" smtClean="0"/>
              <a:t>一些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en-US" altLang="zh-CN" dirty="0" smtClean="0"/>
              <a:t>K</a:t>
            </a:r>
            <a:r>
              <a:rPr lang="zh-CN" altLang="en-US" dirty="0" smtClean="0"/>
              <a:t>是参数，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的选择可以基于</a:t>
            </a:r>
            <a:r>
              <a:rPr lang="zh-CN" altLang="en-US" dirty="0" smtClean="0">
                <a:solidFill>
                  <a:srgbClr val="FF0000"/>
                </a:solidFill>
              </a:rPr>
              <a:t>验证集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把训练集进一步分为训练集和验证集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通过验证集的损失误差选择</a:t>
            </a:r>
            <a:r>
              <a:rPr lang="en-US" altLang="zh-CN" dirty="0" smtClean="0"/>
              <a:t>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57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r>
              <a:rPr lang="zh-CN" altLang="en-US" dirty="0"/>
              <a:t>能否直接在训练集评测？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NO</a:t>
            </a:r>
            <a:r>
              <a:rPr lang="zh-CN" altLang="en-US" dirty="0">
                <a:solidFill>
                  <a:srgbClr val="C00000"/>
                </a:solidFill>
              </a:rPr>
              <a:t>！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14" y="2768292"/>
            <a:ext cx="3241415" cy="191333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85186" y="4458005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频率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95726" y="2493485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077626" y="2706905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25358"/>
              </p:ext>
            </p:extLst>
          </p:nvPr>
        </p:nvGraphicFramePr>
        <p:xfrm>
          <a:off x="5346732" y="2902930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3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3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787780" y="2557935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03917" y="2926692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079119" y="4027283"/>
                <a:ext cx="2097241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24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30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19" y="4027283"/>
                <a:ext cx="2097241" cy="485774"/>
              </a:xfrm>
              <a:prstGeom prst="rect">
                <a:avLst/>
              </a:prstGeom>
              <a:blipFill rotWithShape="0">
                <a:blip r:embed="rId4"/>
                <a:stretch>
                  <a:fillRect l="-2035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36868" y="28719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64453" y="39826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61553" y="35402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25848" y="32326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03547" y="37724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51797" y="33556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3028" y="37737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34490" y="391227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2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分类问题的基本步骤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r>
              <a:rPr lang="zh-CN" altLang="en-US" dirty="0"/>
              <a:t>划分为训练集和测试集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交叉验证：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K-fold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cross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validation</a:t>
            </a:r>
          </a:p>
          <a:p>
            <a:pPr lvl="1"/>
            <a:endParaRPr lang="en-US" altLang="zh-CN" dirty="0"/>
          </a:p>
        </p:txBody>
      </p:sp>
      <p:sp>
        <p:nvSpPr>
          <p:cNvPr id="22" name="Can 21"/>
          <p:cNvSpPr/>
          <p:nvPr/>
        </p:nvSpPr>
        <p:spPr>
          <a:xfrm>
            <a:off x="6345233" y="1939355"/>
            <a:ext cx="1019268" cy="702078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4703467" y="3803956"/>
            <a:ext cx="191591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训练集</a:t>
            </a:r>
            <a:endParaRPr lang="en-US" altLang="zh-CN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使用训练集训练模型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4" name="Can 23"/>
          <p:cNvSpPr/>
          <p:nvPr/>
        </p:nvSpPr>
        <p:spPr>
          <a:xfrm>
            <a:off x="5147187" y="3056337"/>
            <a:ext cx="1019268" cy="702078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Can 24"/>
          <p:cNvSpPr/>
          <p:nvPr/>
        </p:nvSpPr>
        <p:spPr>
          <a:xfrm>
            <a:off x="7594795" y="3056337"/>
            <a:ext cx="1019268" cy="702078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Down Arrow 25"/>
          <p:cNvSpPr/>
          <p:nvPr/>
        </p:nvSpPr>
        <p:spPr>
          <a:xfrm rot="2262854">
            <a:off x="5928638" y="2580630"/>
            <a:ext cx="270030" cy="4479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/>
          <p:cNvSpPr/>
          <p:nvPr/>
        </p:nvSpPr>
        <p:spPr>
          <a:xfrm>
            <a:off x="7418820" y="21156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数据集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146476" y="3790208"/>
            <a:ext cx="191591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测试集</a:t>
            </a:r>
            <a:endParaRPr lang="en-US" altLang="zh-CN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使用测试集评测模型</a:t>
            </a:r>
            <a:endParaRPr lang="en-US" altLang="zh-CN" sz="15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9" name="Down Arrow 28"/>
          <p:cNvSpPr/>
          <p:nvPr/>
        </p:nvSpPr>
        <p:spPr>
          <a:xfrm rot="19584083">
            <a:off x="7520186" y="2594164"/>
            <a:ext cx="270030" cy="4479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" y="2641433"/>
            <a:ext cx="4880686" cy="134715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79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035023" y="1374895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76941" y="3558188"/>
          <a:ext cx="1836204" cy="89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8182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680637" y="3501401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93082" y="342137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39190" y="2942858"/>
            <a:ext cx="3317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TP/FP/TN/FN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填到下表</a:t>
            </a: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50437" y="290176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316146" y="3908788"/>
            <a:ext cx="1672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混淆矩阵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Confusion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Matrix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785264" y="4087348"/>
            <a:ext cx="415636" cy="255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73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035023" y="1374895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76941" y="3558188"/>
          <a:ext cx="1836204" cy="89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8182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680637" y="3501401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00615" y="351971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15820" y="3855802"/>
            <a:ext cx="3770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/>
              <a:t>TP</a:t>
            </a:r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6419676" y="3846436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FN</a:t>
            </a:r>
            <a:endParaRPr lang="en-US" sz="1500" dirty="0"/>
          </a:p>
        </p:txBody>
      </p:sp>
      <p:sp>
        <p:nvSpPr>
          <p:cNvPr id="16" name="Rectangle 15"/>
          <p:cNvSpPr/>
          <p:nvPr/>
        </p:nvSpPr>
        <p:spPr>
          <a:xfrm>
            <a:off x="5811218" y="4135199"/>
            <a:ext cx="37221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FP</a:t>
            </a:r>
            <a:endParaRPr lang="en-US" sz="1500" dirty="0"/>
          </a:p>
        </p:txBody>
      </p:sp>
      <p:sp>
        <p:nvSpPr>
          <p:cNvPr id="17" name="Rectangle 16"/>
          <p:cNvSpPr/>
          <p:nvPr/>
        </p:nvSpPr>
        <p:spPr>
          <a:xfrm>
            <a:off x="6415074" y="4125832"/>
            <a:ext cx="40107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TN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5039190" y="2942858"/>
            <a:ext cx="3317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TP/FP/TN/FN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填到下表</a:t>
            </a: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50437" y="290176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3875303" y="1364590"/>
            <a:ext cx="4110608" cy="280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引入新的指标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r>
              <a:rPr lang="en-US" altLang="zh-CN" sz="1800" dirty="0"/>
              <a:t>Precision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准确率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Recall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召回率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F1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-</a:t>
            </a:r>
            <a:r>
              <a:rPr lang="zh-CN" altLang="en-US" sz="1800" dirty="0"/>
              <a:t> </a:t>
            </a:r>
            <a:r>
              <a:rPr lang="en-US" altLang="zh-CN" sz="1800" dirty="0"/>
              <a:t>F</a:t>
            </a:r>
            <a:r>
              <a:rPr lang="zh-CN" altLang="en-US" sz="1800" dirty="0"/>
              <a:t>值</a:t>
            </a:r>
            <a:endParaRPr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𝑃𝑟𝑒𝑐𝑖𝑠𝑖𝑜𝑛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𝑅𝑒𝑐𝑎𝑙𝑙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1=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𝑃𝑟𝑒𝑐𝑖𝑠𝑖𝑜𝑛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𝑅𝑒𝑐𝑎𝑙𝑙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4222772" y="4200588"/>
            <a:ext cx="1467068" cy="512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请</a:t>
            </a:r>
            <a:r>
              <a:rPr lang="zh-CN" altLang="en-US" sz="200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计算左表</a:t>
            </a:r>
            <a:endParaRPr lang="en-US" altLang="zh-CN" sz="20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94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精度（误差）的评测效果总是好吗？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8302" y="1850955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12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8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72</a:t>
                      </a:r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29350" y="1505960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5487" y="1874718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80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100</m:t>
                        </m:r>
                      </m:den>
                    </m:f>
                    <m:r>
                      <a:rPr lang="en-US" altLang="zh-CN" i="1">
                        <a:latin typeface="Cambria Math" charset="0"/>
                        <a:ea typeface="Calibri" charset="0"/>
                        <a:cs typeface="Calibri" charset="0"/>
                      </a:rPr>
                      <m:t>=80%</m:t>
                    </m:r>
                  </m:oMath>
                </a14:m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97" y="2972685"/>
                <a:ext cx="2195024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2222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88" y="3558188"/>
            <a:ext cx="524822" cy="52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18122" y="3558188"/>
            <a:ext cx="172355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看指标很不错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但总感觉哪里不对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4074374" y="1505960"/>
            <a:ext cx="3082956" cy="210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引入新的指标</a:t>
            </a:r>
            <a:endParaRPr lang="en-US" altLang="zh-CN" sz="1800" dirty="0"/>
          </a:p>
          <a:p>
            <a:pPr lvl="1"/>
            <a:r>
              <a:rPr lang="en-US" altLang="zh-CN" sz="1800" dirty="0"/>
              <a:t>Precision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50%</a:t>
            </a:r>
          </a:p>
          <a:p>
            <a:pPr lvl="1"/>
            <a:r>
              <a:rPr lang="en-US" altLang="zh-CN" sz="1800" dirty="0"/>
              <a:t>Recall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40%</a:t>
            </a:r>
          </a:p>
          <a:p>
            <a:pPr lvl="1"/>
            <a:r>
              <a:rPr lang="en-US" altLang="zh-CN" sz="1800" dirty="0"/>
              <a:t>F1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44%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5677" y="3598094"/>
            <a:ext cx="1915909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50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实际分类效果</a:t>
            </a:r>
            <a:r>
              <a:rPr lang="zh-CN" altLang="en-US" sz="1500" dirty="0">
                <a:solidFill>
                  <a:schemeClr val="accent2"/>
                </a:solidFill>
                <a:latin typeface="STZhongsong" charset="-122"/>
                <a:ea typeface="STZhongsong" charset="-122"/>
                <a:cs typeface="STZhongsong" charset="-122"/>
              </a:rPr>
              <a:t>很差！</a:t>
            </a:r>
            <a:endParaRPr lang="en-US" altLang="zh-CN" sz="1500" dirty="0">
              <a:solidFill>
                <a:schemeClr val="accent2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pic>
        <p:nvPicPr>
          <p:cNvPr id="19" name="图片 1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405" y="3558188"/>
            <a:ext cx="525529" cy="52552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74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分类问题的基本评测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endParaRPr lang="en-US" altLang="zh-CN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altLang="zh-C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73" y="2377666"/>
            <a:ext cx="3556354" cy="209923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97785" y="2102859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925151" y="2364150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21170"/>
              </p:ext>
            </p:extLst>
          </p:nvPr>
        </p:nvGraphicFramePr>
        <p:xfrm>
          <a:off x="4772236" y="2364150"/>
          <a:ext cx="3420966" cy="192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275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4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632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C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Precision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Recall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F1</a:t>
                      </a:r>
                      <a:r>
                        <a:rPr lang="zh-CN" altLang="en-US" sz="1400" b="0" baseline="0" dirty="0"/>
                        <a:t> </a:t>
                      </a:r>
                      <a:r>
                        <a:rPr lang="en-US" altLang="zh-CN" sz="1400" b="0" baseline="0" dirty="0"/>
                        <a:t>Score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522173" y="1893970"/>
            <a:ext cx="17926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if </a:t>
            </a:r>
            <a:r>
              <a:rPr lang="en-US" sz="1350" b="1" dirty="0" err="1">
                <a:latin typeface="Courier New" charset="0"/>
                <a:ea typeface="Courier New" charset="0"/>
                <a:cs typeface="Courier New" charset="0"/>
              </a:rPr>
              <a:t>F_i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&gt;</a:t>
            </a:r>
            <a:r>
              <a:rPr lang="en-US" altLang="zh-CN" sz="1350" b="1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C: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1</a:t>
            </a:r>
          </a:p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else: 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20396" y="1368189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请计算下表单元格的分值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0.5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C.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1.0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93212" y="14005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536337" y="1923794"/>
            <a:ext cx="592859" cy="909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3165" y="25357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0750" y="3646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44352" y="327707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42178" y="28501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550964" y="345994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83382" y="299603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19003" y="34582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6558" y="36428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02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分类问题的基本评测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endParaRPr lang="en-US" altLang="zh-CN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altLang="zh-CN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72236" y="2364150"/>
          <a:ext cx="3420966" cy="192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275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4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632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C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Precision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Recall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F1</a:t>
                      </a:r>
                      <a:r>
                        <a:rPr lang="zh-CN" altLang="en-US" sz="1400" b="0" baseline="0" dirty="0"/>
                        <a:t> </a:t>
                      </a:r>
                      <a:r>
                        <a:rPr lang="en-US" altLang="zh-CN" sz="1400" b="0" baseline="0" dirty="0"/>
                        <a:t>Score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420396" y="1368189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请计算下表单元格的分值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0.5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C.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1.0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93212" y="14005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6129196" y="1923795"/>
            <a:ext cx="525101" cy="909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73" y="2377666"/>
            <a:ext cx="3556354" cy="209923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7785" y="2102859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925151" y="2364150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22173" y="1893970"/>
            <a:ext cx="17926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if </a:t>
            </a:r>
            <a:r>
              <a:rPr lang="en-US" sz="1350" b="1" dirty="0" err="1">
                <a:latin typeface="Courier New" charset="0"/>
                <a:ea typeface="Courier New" charset="0"/>
                <a:cs typeface="Courier New" charset="0"/>
              </a:rPr>
              <a:t>F_i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&gt;</a:t>
            </a:r>
            <a:r>
              <a:rPr lang="en-US" altLang="zh-CN" sz="1350" b="1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C: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1</a:t>
            </a:r>
          </a:p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else: 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165" y="25357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0750" y="3646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44352" y="327707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42178" y="28501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0964" y="345994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83382" y="299603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19003" y="34582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56558" y="36428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2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分类问题的基本评测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endParaRPr lang="en-US" altLang="zh-CN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altLang="zh-CN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72236" y="2364150"/>
          <a:ext cx="3420966" cy="192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275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4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632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C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Precision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Recall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F1</a:t>
                      </a:r>
                      <a:r>
                        <a:rPr lang="zh-CN" altLang="en-US" sz="1400" b="0" baseline="0" dirty="0"/>
                        <a:t> </a:t>
                      </a:r>
                      <a:r>
                        <a:rPr lang="en-US" altLang="zh-CN" sz="1400" b="0" baseline="0" dirty="0"/>
                        <a:t>Score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420396" y="1368189"/>
                <a:ext cx="297598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请计算下表单元格的分值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𝟏𝟗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𝟑𝟎</m:t>
                        </m:r>
                      </m:den>
                    </m:f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C.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𝟏𝟗</m:t>
                        </m:r>
                      </m:den>
                    </m:f>
                  </m:oMath>
                </a14:m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396" y="1368189"/>
                <a:ext cx="2975989" cy="708527"/>
              </a:xfrm>
              <a:prstGeom prst="rect">
                <a:avLst/>
              </a:prstGeom>
              <a:blipFill rotWithShape="0">
                <a:blip r:embed="rId3"/>
                <a:stretch>
                  <a:fillRect l="-1025" t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4893212" y="14005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536337" y="1923795"/>
            <a:ext cx="592860" cy="1217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73" y="2377666"/>
            <a:ext cx="3556354" cy="209923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7785" y="2102859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925151" y="2364150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22173" y="1893970"/>
            <a:ext cx="17926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if </a:t>
            </a:r>
            <a:r>
              <a:rPr lang="en-US" sz="1350" b="1" dirty="0" err="1">
                <a:latin typeface="Courier New" charset="0"/>
                <a:ea typeface="Courier New" charset="0"/>
                <a:cs typeface="Courier New" charset="0"/>
              </a:rPr>
              <a:t>F_i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&gt;</a:t>
            </a:r>
            <a:r>
              <a:rPr lang="en-US" altLang="zh-CN" sz="1350" b="1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C: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1</a:t>
            </a:r>
          </a:p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else: 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165" y="25357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0750" y="3646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44352" y="327707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42178" y="28501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0964" y="345994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83382" y="299603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19003" y="34582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56558" y="36428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1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分类问题的基本评测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43812" y="918323"/>
            <a:ext cx="6020525" cy="58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913" indent="0" algn="ctr">
              <a:buFont typeface="Arial" pitchFamily="34" charset="0"/>
              <a:buNone/>
            </a:pPr>
            <a:r>
              <a:rPr lang="en-US" altLang="zh-CN" sz="1800" dirty="0"/>
              <a:t>Question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Data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Features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dirty="0">
                <a:sym typeface="Wingdings"/>
              </a:rPr>
              <a:t>Algorithm</a:t>
            </a:r>
            <a:r>
              <a:rPr lang="zh-CN" altLang="en-US" sz="1800" dirty="0">
                <a:sym typeface="Wingdings"/>
              </a:rPr>
              <a:t></a:t>
            </a:r>
            <a:r>
              <a:rPr lang="en-US" altLang="zh-CN" sz="1800" b="1" dirty="0">
                <a:solidFill>
                  <a:srgbClr val="0000CC"/>
                </a:solidFill>
                <a:sym typeface="Wingdings"/>
              </a:rPr>
              <a:t>Evaluation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22364"/>
            <a:ext cx="8229600" cy="1171121"/>
          </a:xfrm>
        </p:spPr>
        <p:txBody>
          <a:bodyPr/>
          <a:lstStyle/>
          <a:p>
            <a:r>
              <a:rPr lang="zh-CN" altLang="en-US" dirty="0"/>
              <a:t>如何评价你分类器的优劣？</a:t>
            </a:r>
          </a:p>
          <a:p>
            <a:pPr lvl="1"/>
            <a:endParaRPr lang="en-US" altLang="zh-CN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altLang="zh-CN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72236" y="2364150"/>
          <a:ext cx="3420966" cy="192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275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4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632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C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Precision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Recall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F1</a:t>
                      </a:r>
                      <a:r>
                        <a:rPr lang="zh-CN" altLang="en-US" sz="1400" b="0" baseline="0" dirty="0"/>
                        <a:t> </a:t>
                      </a:r>
                      <a:r>
                        <a:rPr lang="en-US" altLang="zh-CN" sz="1400" b="0" baseline="0" dirty="0"/>
                        <a:t>Score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420396" y="1368189"/>
                <a:ext cx="297598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请计算下表单元格的分值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𝟏𝟗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𝟑𝟎</m:t>
                        </m:r>
                      </m:den>
                    </m:f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C.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𝟏𝟗</m:t>
                        </m:r>
                      </m:den>
                    </m:f>
                  </m:oMath>
                </a14:m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396" y="1368189"/>
                <a:ext cx="2975989" cy="708527"/>
              </a:xfrm>
              <a:prstGeom prst="rect">
                <a:avLst/>
              </a:prstGeom>
              <a:blipFill rotWithShape="0">
                <a:blip r:embed="rId3"/>
                <a:stretch>
                  <a:fillRect l="-1025" t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4893212" y="14005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6129197" y="1923796"/>
            <a:ext cx="470779" cy="1235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73" y="2377666"/>
            <a:ext cx="3556354" cy="209923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7785" y="2102859"/>
            <a:ext cx="5693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TZhongsong" charset="-122"/>
                <a:ea typeface="STZhongsong" charset="-122"/>
                <a:cs typeface="STZhongsong" charset="-122"/>
              </a:rPr>
              <a:t>数量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925151" y="2364150"/>
            <a:ext cx="0" cy="18061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22173" y="1893970"/>
            <a:ext cx="17926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if </a:t>
            </a:r>
            <a:r>
              <a:rPr lang="en-US" sz="1350" b="1" dirty="0" err="1">
                <a:latin typeface="Courier New" charset="0"/>
                <a:ea typeface="Courier New" charset="0"/>
                <a:cs typeface="Courier New" charset="0"/>
              </a:rPr>
              <a:t>F_i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&gt;</a:t>
            </a:r>
            <a:r>
              <a:rPr lang="en-US" altLang="zh-CN" sz="1350" b="1" dirty="0"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 C: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1</a:t>
            </a:r>
          </a:p>
          <a:p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else:  </a:t>
            </a:r>
          </a:p>
          <a:p>
            <a:r>
              <a:rPr lang="zh-CN" altLang="en-US" sz="1350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350" b="1" dirty="0">
                <a:latin typeface="Courier New" charset="0"/>
                <a:ea typeface="Courier New" charset="0"/>
                <a:cs typeface="Courier New" charset="0"/>
              </a:rPr>
              <a:t>return 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165" y="25357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0750" y="3646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44352" y="327707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42178" y="28501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0964" y="345994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83382" y="299603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19003" y="34582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56558" y="36428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3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86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分类问题</a:t>
            </a:r>
            <a:r>
              <a:rPr lang="zh-CN" altLang="en-US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与典型分类模型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2539478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分类问题与监督学习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b="1" dirty="0" smtClean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感知机模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决策树模型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02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建立与评估模型的四个</a:t>
            </a:r>
            <a:r>
              <a:rPr lang="zh-CN" altLang="en-US" dirty="0"/>
              <a:t>步骤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1708" y="969664"/>
              <a:ext cx="7999140" cy="3649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回归（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ℝ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分类（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∈{0,1}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线性回归</a:t>
                          </a:r>
                          <a:endParaRPr lang="en-US" altLang="zh-CN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788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Mean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Squared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Loss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bg-BG" altLang="zh-CN" b="0" i="1" dirty="0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is-IS" altLang="zh-CN" b="0" i="1" dirty="0" smtClean="0"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dirty="0" smtClean="0">
                                  <a:latin typeface="Cambria Math" charset="0"/>
                                </a:rPr>
                                <m:t>RMSE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 </a:t>
                          </a:r>
                          <a:r>
                            <a:rPr lang="en-US" altLang="zh-CN" sz="1800" dirty="0" smtClean="0"/>
                            <a:t>or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8567574"/>
                  </p:ext>
                </p:extLst>
              </p:nvPr>
            </p:nvGraphicFramePr>
            <p:xfrm>
              <a:off x="371708" y="969664"/>
              <a:ext cx="7999140" cy="3649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190" r="-100913" b="-6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1190" r="-913" b="-628571"/>
                          </a:stretch>
                        </a:blipFill>
                      </a:tcPr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77982" r="-100913" b="-384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11408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03743" r="-100913" b="-124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450459" r="-100913" b="-11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02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复习：线性回归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 smtClean="0"/>
                  <a:t>预测问题：</a:t>
                </a:r>
                <a:r>
                  <a:rPr lang="zh-CN" altLang="en-US" dirty="0" smtClean="0"/>
                  <a:t>根据若干个协</a:t>
                </a:r>
                <a:r>
                  <a:rPr lang="zh-CN" altLang="en-US" dirty="0"/>
                  <a:t>变量（特征）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 smtClean="0"/>
                  <a:t>预测目标变量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𝑦</m:t>
                    </m:r>
                  </m:oMath>
                </a14:m>
                <a:endParaRPr lang="en-US" altLang="zh-CN" b="1" dirty="0" smtClean="0"/>
              </a:p>
              <a:p>
                <a:r>
                  <a:rPr lang="zh-CN" altLang="en-US" b="1" dirty="0" smtClean="0"/>
                  <a:t>回归</a:t>
                </a:r>
                <a:r>
                  <a:rPr lang="zh-CN" altLang="en-US" b="1" dirty="0"/>
                  <a:t>：</a:t>
                </a:r>
                <a:r>
                  <a:rPr lang="zh-CN" altLang="en-US" dirty="0" smtClean="0"/>
                  <a:t>估计随机变量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上未知分布的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𝑓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b="1" dirty="0" smtClean="0"/>
                  <a:t>线性</a:t>
                </a:r>
                <a:r>
                  <a:rPr lang="zh-CN" altLang="en-US" b="1" dirty="0"/>
                  <a:t>回归：</a:t>
                </a:r>
                <a:r>
                  <a:rPr lang="zh-CN" altLang="en-US" dirty="0" smtClean="0"/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charset="0"/>
                          </a:rPr>
                          <m:t>𝑓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𝒙</m:t>
                    </m:r>
                    <m:r>
                      <a:rPr lang="en-US" altLang="zh-CN" i="1" dirty="0">
                        <a:latin typeface="Cambria Math" charset="0"/>
                      </a:rPr>
                      <m:t>) =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err="1">
                            <a:latin typeface="Cambria Math" charset="0"/>
                          </a:rPr>
                          <m:t>𝜃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>
                        <a:latin typeface="Cambria Math" charset="0"/>
                      </a:rPr>
                      <m:t>·</m:t>
                    </m:r>
                    <m:r>
                      <a:rPr lang="en-US" altLang="zh-CN" b="1" i="1" dirty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并</a:t>
                </a:r>
                <a:r>
                  <a:rPr lang="zh-CN" altLang="en-US" dirty="0" smtClean="0"/>
                  <a:t>估计参数向量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charset="0"/>
                          </a:rPr>
                          <m:t>𝜃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r>
                  <a:rPr lang="zh-CN" altLang="en-US" b="1" dirty="0" smtClean="0"/>
                  <a:t>模型</a:t>
                </a:r>
                <a:r>
                  <a:rPr lang="zh-CN" altLang="en-US" b="1" dirty="0"/>
                  <a:t>：</a:t>
                </a:r>
                <a:r>
                  <a:rPr lang="zh-CN" altLang="en-US" dirty="0"/>
                  <a:t>通过选择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可以得到的所有分布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i="1" dirty="0" smtClean="0">
                        <a:latin typeface="Cambria Math" charset="0"/>
                      </a:rPr>
                      <m:t>·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的集合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b="1" dirty="0" smtClean="0"/>
                  <a:t>拟合</a:t>
                </a:r>
                <a:r>
                  <a:rPr lang="zh-CN" altLang="en-US" b="1" dirty="0"/>
                  <a:t>模型：</a:t>
                </a:r>
                <a:r>
                  <a:rPr lang="zh-CN" altLang="en-US" dirty="0"/>
                  <a:t>选择一个</a:t>
                </a:r>
                <a:r>
                  <a:rPr lang="zh-CN" altLang="en-US" dirty="0" smtClean="0"/>
                  <a:t>损失函数，</a:t>
                </a:r>
                <a:r>
                  <a:rPr lang="zh-CN" altLang="en-US" dirty="0"/>
                  <a:t>然后最小化</a:t>
                </a:r>
                <a:r>
                  <a:rPr lang="zh-CN" altLang="en-US" dirty="0" smtClean="0"/>
                  <a:t>损失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b="1" dirty="0" smtClean="0"/>
                  <a:t>思考：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分类问题能建模成类似的形式吗？</a:t>
                </a:r>
                <a:endParaRPr lang="en-US" altLang="zh-CN" dirty="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880" y="2794877"/>
            <a:ext cx="13430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880" y="2774577"/>
            <a:ext cx="411480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48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Demo</a:t>
            </a:r>
            <a:r>
              <a:rPr lang="zh-CN" altLang="en-US" dirty="0" smtClean="0"/>
              <a:t>演示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回归</a:t>
            </a:r>
            <a:r>
              <a:rPr lang="zh-CN" altLang="en-US" b="1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347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如何类似地解决分类问题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 smtClean="0"/>
                  <a:t>思路：</a:t>
                </a:r>
                <a:r>
                  <a:rPr lang="zh-CN" altLang="en-US" dirty="0" smtClean="0"/>
                  <a:t>目标变量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感觉上是与特征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zh-CN" altLang="en-US" dirty="0" smtClean="0"/>
                  <a:t>相关的伯努利（</a:t>
                </a:r>
                <a:r>
                  <a:rPr lang="en-US" altLang="zh-CN" dirty="0" smtClean="0"/>
                  <a:t>0/1</a:t>
                </a:r>
                <a:r>
                  <a:rPr lang="zh-CN" altLang="en-US" dirty="0" smtClean="0"/>
                  <a:t>）变量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 smtClean="0"/>
                  <a:t>表示一组随机变量，其中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</m:oMath>
                </a14:m>
                <a:r>
                  <a:rPr lang="zh-CN" altLang="en-US" dirty="0" smtClean="0"/>
                  <a:t>为特征、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</m:oMath>
                </a14:m>
                <a:r>
                  <a:rPr lang="zh-CN" altLang="en-US" dirty="0" smtClean="0"/>
                  <a:t>为目标变量</a:t>
                </a:r>
                <a:endParaRPr lang="en-US" altLang="zh-CN" dirty="0" smtClean="0"/>
              </a:p>
              <a:p>
                <a:pPr lvl="1"/>
                <a:endParaRPr lang="en-US" dirty="0"/>
              </a:p>
              <a:p>
                <a:r>
                  <a:rPr lang="zh-CN" altLang="en-US" b="1" dirty="0" smtClean="0"/>
                  <a:t>问题建模：</a:t>
                </a:r>
                <a:r>
                  <a:rPr lang="zh-CN" altLang="en-US" dirty="0" smtClean="0"/>
                  <a:t>估计期望</a:t>
                </a:r>
                <a:endParaRPr lang="en-US" altLang="zh-CN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zh-CN" altLang="en-US" b="1" dirty="0" smtClean="0"/>
                  <a:t>线性分类器：</a:t>
                </a:r>
                <a:r>
                  <a:rPr lang="zh-CN" altLang="en-US" dirty="0" smtClean="0"/>
                  <a:t>将回归问题进行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某种转化</a:t>
                </a:r>
                <a:r>
                  <a:rPr lang="zh-CN" altLang="en-US" dirty="0" smtClean="0"/>
                  <a:t>，估计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b="1" dirty="0" smtClean="0"/>
                  <a:t>本讲重点：</a:t>
                </a:r>
                <a:endParaRPr lang="en-US" altLang="zh-CN" b="1" dirty="0" smtClean="0"/>
              </a:p>
              <a:p>
                <a:pPr lvl="1"/>
                <a:r>
                  <a:rPr lang="zh-CN" altLang="en-US" b="1" dirty="0" smtClean="0"/>
                  <a:t>问题建模：</a:t>
                </a:r>
                <a:r>
                  <a:rPr lang="zh-CN" altLang="en-US" dirty="0" smtClean="0"/>
                  <a:t>掌握如何“调整”线性回归模型，以解决分类问题</a:t>
                </a:r>
                <a:endParaRPr lang="en-US" altLang="zh-CN" dirty="0" smtClean="0"/>
              </a:p>
              <a:p>
                <a:pPr lvl="1"/>
                <a:r>
                  <a:rPr lang="zh-CN" altLang="en-US" b="1" dirty="0" smtClean="0"/>
                  <a:t>问题求解：</a:t>
                </a:r>
                <a:r>
                  <a:rPr lang="zh-CN" altLang="en-US" dirty="0" smtClean="0"/>
                  <a:t>掌握如何对上述问题进行求解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b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51" y="1855841"/>
            <a:ext cx="10668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1" y="1855841"/>
            <a:ext cx="44481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251" y="2357441"/>
            <a:ext cx="18669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1038" y="2357441"/>
            <a:ext cx="1123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7;p24"/>
          <p:cNvPicPr preferRelativeResize="0"/>
          <p:nvPr/>
        </p:nvPicPr>
        <p:blipFill rotWithShape="1">
          <a:blip r:embed="rId5">
            <a:alphaModFix/>
          </a:blip>
          <a:srcRect l="12604" t="6403"/>
          <a:stretch/>
        </p:blipFill>
        <p:spPr>
          <a:xfrm>
            <a:off x="5945644" y="2970201"/>
            <a:ext cx="1631588" cy="347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728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逻辑回归（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Logistic</a:t>
            </a:r>
            <a:r>
              <a:rPr lang="zh-CN" altLang="en-US" dirty="0" smtClean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Regression</a:t>
            </a:r>
            <a:r>
              <a:rPr lang="zh-CN" altLang="en-US" dirty="0" smtClean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819150"/>
                <a:ext cx="4121797" cy="1391615"/>
              </a:xfrm>
            </p:spPr>
            <p:txBody>
              <a:bodyPr/>
              <a:lstStyle/>
              <a:p>
                <a:r>
                  <a:rPr lang="zh-CN" altLang="en-US" dirty="0" smtClean="0"/>
                  <a:t>基本思路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在线性回归输出的结果上加一个非线性函数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𝜎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思考：这个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zh-CN" altLang="en-US" dirty="0" smtClean="0"/>
                  <a:t>应具备什么性质？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819150"/>
                <a:ext cx="4121797" cy="1391615"/>
              </a:xfrm>
              <a:blipFill rotWithShape="0">
                <a:blip r:embed="rId2"/>
                <a:stretch>
                  <a:fillRect l="-1331" t="-2183" b="-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072" y="877162"/>
            <a:ext cx="2076450" cy="37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18;p24"/>
          <p:cNvGrpSpPr/>
          <p:nvPr/>
        </p:nvGrpSpPr>
        <p:grpSpPr>
          <a:xfrm>
            <a:off x="4602697" y="1178825"/>
            <a:ext cx="2229600" cy="868200"/>
            <a:chOff x="3665150" y="3577663"/>
            <a:chExt cx="2229600" cy="868200"/>
          </a:xfrm>
        </p:grpSpPr>
        <p:sp>
          <p:nvSpPr>
            <p:cNvPr id="6" name="Google Shape;119;p24"/>
            <p:cNvSpPr/>
            <p:nvPr/>
          </p:nvSpPr>
          <p:spPr>
            <a:xfrm>
              <a:off x="3665150" y="3958363"/>
              <a:ext cx="2229600" cy="487500"/>
            </a:xfrm>
            <a:prstGeom prst="rect">
              <a:avLst/>
            </a:prstGeom>
            <a:noFill/>
            <a:ln w="381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 dirty="0" smtClean="0">
                  <a:latin typeface="Microsoft YaHei" charset="-122"/>
                  <a:ea typeface="Microsoft YaHei" charset="-122"/>
                  <a:cs typeface="Microsoft YaHei" charset="-122"/>
                  <a:sym typeface="Proxima Nova"/>
                </a:rPr>
                <a:t>非线性函数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  <a:sym typeface="Proxima Nova"/>
              </a:endParaRPr>
            </a:p>
          </p:txBody>
        </p:sp>
        <p:cxnSp>
          <p:nvCxnSpPr>
            <p:cNvPr id="7" name="Google Shape;120;p24"/>
            <p:cNvCxnSpPr/>
            <p:nvPr/>
          </p:nvCxnSpPr>
          <p:spPr>
            <a:xfrm rot="10800000">
              <a:off x="4779950" y="3577663"/>
              <a:ext cx="0" cy="380700"/>
            </a:xfrm>
            <a:prstGeom prst="straightConnector1">
              <a:avLst/>
            </a:prstGeom>
            <a:noFill/>
            <a:ln w="28575" cap="flat" cmpd="sng">
              <a:solidFill>
                <a:srgbClr val="0B539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" name="Google Shape;121;p24"/>
          <p:cNvGrpSpPr/>
          <p:nvPr/>
        </p:nvGrpSpPr>
        <p:grpSpPr>
          <a:xfrm>
            <a:off x="6655597" y="819150"/>
            <a:ext cx="2025415" cy="487500"/>
            <a:chOff x="5718050" y="3217988"/>
            <a:chExt cx="2025415" cy="487500"/>
          </a:xfrm>
        </p:grpSpPr>
        <p:sp>
          <p:nvSpPr>
            <p:cNvPr id="9" name="Google Shape;122;p24"/>
            <p:cNvSpPr/>
            <p:nvPr/>
          </p:nvSpPr>
          <p:spPr>
            <a:xfrm>
              <a:off x="6275750" y="3217988"/>
              <a:ext cx="1467715" cy="487500"/>
            </a:xfrm>
            <a:prstGeom prst="rect">
              <a:avLst/>
            </a:prstGeom>
            <a:noFill/>
            <a:ln w="381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dirty="0" smtClean="0">
                  <a:latin typeface="Microsoft YaHei" charset="-122"/>
                  <a:ea typeface="Microsoft YaHei" charset="-122"/>
                  <a:cs typeface="Microsoft YaHei" charset="-122"/>
                  <a:sym typeface="Proxima Nova"/>
                </a:rPr>
                <a:t>线性回归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  <a:sym typeface="Proxima Nova"/>
              </a:endParaRPr>
            </a:p>
          </p:txBody>
        </p:sp>
        <p:cxnSp>
          <p:nvCxnSpPr>
            <p:cNvPr id="10" name="Google Shape;123;p24"/>
            <p:cNvCxnSpPr/>
            <p:nvPr/>
          </p:nvCxnSpPr>
          <p:spPr>
            <a:xfrm rot="10800000">
              <a:off x="5718050" y="3461738"/>
              <a:ext cx="557700" cy="0"/>
            </a:xfrm>
            <a:prstGeom prst="straightConnector1">
              <a:avLst/>
            </a:prstGeom>
            <a:noFill/>
            <a:ln w="28575" cap="flat" cmpd="sng">
              <a:solidFill>
                <a:srgbClr val="0B539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457200" y="2268776"/>
                <a:ext cx="8229600" cy="24873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zh-CN" altLang="en-US" dirty="0" smtClean="0"/>
                  <a:t>应满足的性质：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>
                    <a:solidFill>
                      <a:srgbClr val="C00000"/>
                    </a:solidFill>
                  </a:rPr>
                  <a:t>函数的输出需要在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[0,1]</m:t>
                    </m:r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zh-CN" altLang="en-US" dirty="0" smtClean="0">
                    <a:solidFill>
                      <a:srgbClr val="C00000"/>
                    </a:solidFill>
                  </a:rPr>
                  <a:t>能够定义损失函数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68776"/>
                <a:ext cx="8229600" cy="2487373"/>
              </a:xfrm>
              <a:prstGeom prst="rect">
                <a:avLst/>
              </a:prstGeom>
              <a:blipFill rotWithShape="0">
                <a:blip r:embed="rId4"/>
                <a:stretch>
                  <a:fillRect l="-667" t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oogle Shape;141;p26"/>
          <p:cNvPicPr preferRelativeResize="0"/>
          <p:nvPr/>
        </p:nvPicPr>
        <p:blipFill rotWithShape="1">
          <a:blip r:embed="rId5">
            <a:alphaModFix/>
          </a:blip>
          <a:srcRect l="24651" t="7939"/>
          <a:stretch/>
        </p:blipFill>
        <p:spPr>
          <a:xfrm>
            <a:off x="4179479" y="2419053"/>
            <a:ext cx="2476043" cy="67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0613" y="3331080"/>
            <a:ext cx="21240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3150" y="3791202"/>
            <a:ext cx="642937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/>
          <p:cNvSpPr/>
          <p:nvPr/>
        </p:nvSpPr>
        <p:spPr>
          <a:xfrm>
            <a:off x="6832297" y="2508869"/>
            <a:ext cx="1446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b="1" dirty="0"/>
              <a:t>sigmoid</a:t>
            </a:r>
            <a:r>
              <a:rPr lang="en" dirty="0"/>
              <a:t> 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函数</a:t>
            </a:r>
            <a:endParaRPr 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00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逻辑回归（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Logistic</a:t>
            </a:r>
            <a:r>
              <a:rPr lang="zh-CN" altLang="en-US" dirty="0" smtClean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 smtClean="0">
                <a:latin typeface="Calibri" charset="0"/>
                <a:ea typeface="Calibri" charset="0"/>
                <a:cs typeface="Calibri" charset="0"/>
              </a:rPr>
              <a:t>Regression</a:t>
            </a:r>
            <a:r>
              <a:rPr lang="zh-CN" altLang="en-US" dirty="0" smtClean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819150"/>
                <a:ext cx="4121797" cy="1391615"/>
              </a:xfrm>
            </p:spPr>
            <p:txBody>
              <a:bodyPr/>
              <a:lstStyle/>
              <a:p>
                <a:r>
                  <a:rPr lang="zh-CN" altLang="en-US" dirty="0" smtClean="0"/>
                  <a:t>基本思路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在线性回归输出的结果上加一个非线性函数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𝜎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思考：这个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zh-CN" altLang="en-US" dirty="0" smtClean="0"/>
                  <a:t>应具备什么性质？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819150"/>
                <a:ext cx="4121797" cy="1391615"/>
              </a:xfrm>
              <a:blipFill rotWithShape="0">
                <a:blip r:embed="rId2"/>
                <a:stretch>
                  <a:fillRect l="-1331" t="-2183" b="-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072" y="877162"/>
            <a:ext cx="2076450" cy="37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18;p24"/>
          <p:cNvGrpSpPr/>
          <p:nvPr/>
        </p:nvGrpSpPr>
        <p:grpSpPr>
          <a:xfrm>
            <a:off x="4602697" y="1178825"/>
            <a:ext cx="2229600" cy="868200"/>
            <a:chOff x="3665150" y="3577663"/>
            <a:chExt cx="2229600" cy="868200"/>
          </a:xfrm>
        </p:grpSpPr>
        <p:sp>
          <p:nvSpPr>
            <p:cNvPr id="6" name="Google Shape;119;p24"/>
            <p:cNvSpPr/>
            <p:nvPr/>
          </p:nvSpPr>
          <p:spPr>
            <a:xfrm>
              <a:off x="3665150" y="3958363"/>
              <a:ext cx="2229600" cy="487500"/>
            </a:xfrm>
            <a:prstGeom prst="rect">
              <a:avLst/>
            </a:prstGeom>
            <a:noFill/>
            <a:ln w="381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 dirty="0" smtClean="0">
                  <a:latin typeface="Microsoft YaHei" charset="-122"/>
                  <a:ea typeface="Microsoft YaHei" charset="-122"/>
                  <a:cs typeface="Microsoft YaHei" charset="-122"/>
                  <a:sym typeface="Proxima Nova"/>
                </a:rPr>
                <a:t>非线性函数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  <a:sym typeface="Proxima Nova"/>
              </a:endParaRPr>
            </a:p>
          </p:txBody>
        </p:sp>
        <p:cxnSp>
          <p:nvCxnSpPr>
            <p:cNvPr id="7" name="Google Shape;120;p24"/>
            <p:cNvCxnSpPr/>
            <p:nvPr/>
          </p:nvCxnSpPr>
          <p:spPr>
            <a:xfrm rot="10800000">
              <a:off x="4779950" y="3577663"/>
              <a:ext cx="0" cy="380700"/>
            </a:xfrm>
            <a:prstGeom prst="straightConnector1">
              <a:avLst/>
            </a:prstGeom>
            <a:noFill/>
            <a:ln w="28575" cap="flat" cmpd="sng">
              <a:solidFill>
                <a:srgbClr val="0B539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" name="Google Shape;121;p24"/>
          <p:cNvGrpSpPr/>
          <p:nvPr/>
        </p:nvGrpSpPr>
        <p:grpSpPr>
          <a:xfrm>
            <a:off x="6655597" y="819150"/>
            <a:ext cx="2025415" cy="487500"/>
            <a:chOff x="5718050" y="3217988"/>
            <a:chExt cx="2025415" cy="487500"/>
          </a:xfrm>
        </p:grpSpPr>
        <p:sp>
          <p:nvSpPr>
            <p:cNvPr id="9" name="Google Shape;122;p24"/>
            <p:cNvSpPr/>
            <p:nvPr/>
          </p:nvSpPr>
          <p:spPr>
            <a:xfrm>
              <a:off x="6275750" y="3217988"/>
              <a:ext cx="1467715" cy="487500"/>
            </a:xfrm>
            <a:prstGeom prst="rect">
              <a:avLst/>
            </a:prstGeom>
            <a:noFill/>
            <a:ln w="381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dirty="0" smtClean="0">
                  <a:latin typeface="Microsoft YaHei" charset="-122"/>
                  <a:ea typeface="Microsoft YaHei" charset="-122"/>
                  <a:cs typeface="Microsoft YaHei" charset="-122"/>
                  <a:sym typeface="Proxima Nova"/>
                </a:rPr>
                <a:t>线性回归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  <a:sym typeface="Proxima Nova"/>
              </a:endParaRPr>
            </a:p>
          </p:txBody>
        </p:sp>
        <p:cxnSp>
          <p:nvCxnSpPr>
            <p:cNvPr id="10" name="Google Shape;123;p24"/>
            <p:cNvCxnSpPr/>
            <p:nvPr/>
          </p:nvCxnSpPr>
          <p:spPr>
            <a:xfrm rot="10800000">
              <a:off x="5718050" y="3461738"/>
              <a:ext cx="557700" cy="0"/>
            </a:xfrm>
            <a:prstGeom prst="straightConnector1">
              <a:avLst/>
            </a:prstGeom>
            <a:noFill/>
            <a:ln w="28575" cap="flat" cmpd="sng">
              <a:solidFill>
                <a:srgbClr val="0B539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2268776"/>
            <a:ext cx="8229600" cy="2487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/>
          </a:p>
          <a:p>
            <a:r>
              <a:rPr lang="zh-CN" altLang="en-US" dirty="0" smtClean="0"/>
              <a:t>如何进行预测：设定决策规则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C00000"/>
                </a:solidFill>
              </a:rPr>
              <a:t>例如：</a:t>
            </a:r>
            <a:r>
              <a:rPr lang="en" dirty="0">
                <a:solidFill>
                  <a:srgbClr val="C00000"/>
                </a:solidFill>
              </a:rPr>
              <a:t> E.g. if f(x) ≥ 0.5, predict 1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为什么使用</a:t>
            </a:r>
            <a:r>
              <a:rPr lang="en-US" altLang="zh-CN" dirty="0" smtClean="0"/>
              <a:t>sigmoid</a:t>
            </a:r>
            <a:r>
              <a:rPr lang="zh-CN" altLang="en-US" dirty="0" smtClean="0"/>
              <a:t>函数？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484212"/>
          </a:xfrm>
        </p:spPr>
        <p:txBody>
          <a:bodyPr/>
          <a:lstStyle/>
          <a:p>
            <a:r>
              <a:rPr lang="zh-CN" altLang="en-US" dirty="0" smtClean="0"/>
              <a:t>请推导以下公式：</a:t>
            </a:r>
            <a:endParaRPr lang="en-US" dirty="0"/>
          </a:p>
        </p:txBody>
      </p:sp>
      <p:pic>
        <p:nvPicPr>
          <p:cNvPr id="4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047" y="1354238"/>
            <a:ext cx="3879193" cy="84791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5191885" y="1477251"/>
            <a:ext cx="752355" cy="6018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C00000"/>
                </a:solidFill>
              </a:rPr>
              <a:t> ？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2314208"/>
            <a:ext cx="8229600" cy="1484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使用</a:t>
            </a:r>
            <a:r>
              <a:rPr lang="en-US" altLang="zh-CN" dirty="0" smtClean="0"/>
              <a:t>sigmoid</a:t>
            </a:r>
            <a:r>
              <a:rPr lang="zh-CN" altLang="en-US" dirty="0" smtClean="0"/>
              <a:t>函数隐含的基本假设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比率比（</a:t>
            </a:r>
            <a:r>
              <a:rPr lang="en-US" altLang="zh-CN" b="1" dirty="0" smtClean="0"/>
              <a:t>odds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ratio</a:t>
            </a:r>
            <a:r>
              <a:rPr lang="zh-CN" altLang="en-US" b="1" dirty="0" smtClean="0"/>
              <a:t>）对数</a:t>
            </a:r>
            <a:r>
              <a:rPr lang="zh-CN" altLang="en-US" dirty="0" smtClean="0"/>
              <a:t>是特征的线性函数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例：利用比率比对数判别“</a:t>
            </a:r>
            <a:r>
              <a:rPr lang="zh-CN" altLang="en-US" dirty="0">
                <a:solidFill>
                  <a:srgbClr val="0000CC"/>
                </a:solidFill>
                <a:latin typeface="Microsoft YaHei" charset="-122"/>
                <a:ea typeface="Microsoft YaHei" charset="-122"/>
                <a:cs typeface="Microsoft YaHei" charset="-122"/>
              </a:rPr>
              <a:t>基因突变是否导致患癌症的比例更高</a:t>
            </a:r>
            <a:r>
              <a:rPr lang="zh-CN" altLang="en-US" dirty="0" smtClean="0"/>
              <a:t>”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608109" y="3796216"/>
          <a:ext cx="1836204" cy="9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0081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是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否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bg1"/>
                          </a:solidFill>
                        </a:rPr>
                        <a:t>有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B050"/>
                          </a:solidFill>
                        </a:rPr>
                        <a:t>23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B050"/>
                          </a:solidFill>
                        </a:rPr>
                        <a:t>117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bg1"/>
                          </a:solidFill>
                        </a:rPr>
                        <a:t>无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210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991950" y="3435241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是否患有癌症</a:t>
            </a:r>
            <a:endParaRPr lang="en-US" altLang="zh-CN" sz="16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0703" y="3895068"/>
            <a:ext cx="59503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有无</a:t>
            </a:r>
            <a:endParaRPr lang="en-US" altLang="zh-CN" sz="1600" dirty="0" smtClean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600" dirty="0" smtClean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突变</a:t>
            </a:r>
            <a:endParaRPr lang="en-US" altLang="zh-CN" sz="1600" dirty="0" smtClean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600" dirty="0" smtClean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基因</a:t>
            </a:r>
            <a:endParaRPr lang="en-US" altLang="zh-CN" sz="16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738438" y="3577020"/>
            <a:ext cx="4265591" cy="924099"/>
            <a:chOff x="3738438" y="3692770"/>
            <a:chExt cx="4265591" cy="924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357265" y="3692770"/>
                  <a:ext cx="745397" cy="9240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bg-BG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bg-BG" i="1" smtClean="0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</a:rPr>
                                  <m:t>23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</a:rPr>
                                  <m:t>117</m:t>
                                </m:r>
                              </m:den>
                            </m:f>
                          </m:num>
                          <m:den>
                            <m:r>
                              <a:rPr lang="zh-CN" altLang="en-US" b="0" i="1" smtClean="0">
                                <a:latin typeface="Cambria Math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bg-BG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210</m:t>
                                </m:r>
                              </m:den>
                            </m:f>
                            <m:r>
                              <a:rPr lang="zh-CN" altLang="en-US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 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265" y="3692770"/>
                  <a:ext cx="745397" cy="9240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738438" y="3989459"/>
                  <a:ext cx="42655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1" smtClean="0">
                            <a:latin typeface="Cambria Math" charset="0"/>
                          </a:rPr>
                          <m:t>log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charset="0"/>
                              </a:rPr>
                              <m:t>              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charset="0"/>
                                  </a:rPr>
                                  <m:t>6.88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400" b="0" i="1" smtClean="0">
                            <a:latin typeface="Cambria Math" charset="0"/>
                          </a:rPr>
                          <m:t>=1.93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8438" y="3989459"/>
                  <a:ext cx="4265591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000" t="-140984" r="-1429" b="-175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2"/>
          <p:cNvSpPr/>
          <p:nvPr/>
        </p:nvSpPr>
        <p:spPr>
          <a:xfrm>
            <a:off x="5355575" y="4316453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smtClean="0">
                <a:latin typeface="Microsoft YaHei" charset="-122"/>
                <a:ea typeface="Microsoft YaHei" charset="-122"/>
                <a:cs typeface="Microsoft YaHei" charset="-122"/>
              </a:rPr>
              <a:t>比率比越大反映特征的预测性越好</a:t>
            </a:r>
            <a:endParaRPr lang="en-US" b="1" dirty="0"/>
          </a:p>
        </p:txBody>
      </p:sp>
      <p:pic>
        <p:nvPicPr>
          <p:cNvPr id="14" name="Google Shape;11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9457" y="1121925"/>
            <a:ext cx="20764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1;p26"/>
          <p:cNvPicPr preferRelativeResize="0"/>
          <p:nvPr/>
        </p:nvPicPr>
        <p:blipFill rotWithShape="1">
          <a:blip r:embed="rId7">
            <a:alphaModFix/>
          </a:blip>
          <a:srcRect l="24651" t="7939"/>
          <a:stretch/>
        </p:blipFill>
        <p:spPr>
          <a:xfrm>
            <a:off x="6314065" y="1549582"/>
            <a:ext cx="2476043" cy="675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877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为什么使用</a:t>
            </a:r>
            <a:r>
              <a:rPr lang="en-US" altLang="zh-CN" dirty="0"/>
              <a:t>sigmoid</a:t>
            </a:r>
            <a:r>
              <a:rPr lang="zh-CN" altLang="en-US" dirty="0"/>
              <a:t>函数？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003630" cy="3937000"/>
              </a:xfrm>
            </p:spPr>
            <p:txBody>
              <a:bodyPr/>
              <a:lstStyle/>
              <a:p>
                <a:r>
                  <a:rPr lang="zh-CN" altLang="en-US" dirty="0" smtClean="0"/>
                  <a:t>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直观上是逻辑回归模型的“斜率”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是正的，对应维度的特征越大，预测的概率越大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是负的</a:t>
                </a:r>
                <a:r>
                  <a:rPr lang="zh-CN" altLang="en-US" dirty="0"/>
                  <a:t>，对应维度的特征越大，预测的概率</a:t>
                </a:r>
                <a:r>
                  <a:rPr lang="zh-CN" altLang="en-US" dirty="0" smtClean="0"/>
                  <a:t>越小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003630" cy="3937000"/>
              </a:xfrm>
              <a:blipFill rotWithShape="0">
                <a:blip r:embed="rId2"/>
                <a:stretch>
                  <a:fillRect l="-1826" t="-77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830" y="1342663"/>
            <a:ext cx="5492723" cy="30616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考虑一个逻辑回归模型的参数为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=[0.1,−0.5]</m:t>
                    </m:r>
                  </m:oMath>
                </a14:m>
                <a:r>
                  <a:rPr lang="zh-CN" altLang="en-US" dirty="0" smtClean="0"/>
                  <a:t>，给定一个数据点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  <m:r>
                      <a:rPr lang="en-US" altLang="zh-CN" b="0" i="1" smtClean="0">
                        <a:latin typeface="Cambria Math" charset="0"/>
                      </a:rPr>
                      <m:t>=[15,1]</m:t>
                    </m:r>
                  </m:oMath>
                </a14:m>
                <a:r>
                  <a:rPr lang="zh-CN" altLang="en-US" dirty="0" smtClean="0"/>
                  <a:t>，请</a:t>
                </a:r>
                <a:r>
                  <a:rPr lang="zh-CN" altLang="en-US" smtClean="0"/>
                  <a:t>给出预测的类别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31" y="2090234"/>
            <a:ext cx="6311281" cy="13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0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建立与评估模型的四个</a:t>
            </a:r>
            <a:r>
              <a:rPr lang="zh-CN" altLang="en-US" dirty="0"/>
              <a:t>步骤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1708" y="969664"/>
              <a:ext cx="7999140" cy="365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回归（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ℝ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分类（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∈{0,1}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线性回归</a:t>
                          </a:r>
                          <a:endParaRPr lang="en-US" altLang="zh-CN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逻辑回归</a:t>
                          </a:r>
                          <a:endParaRPr lang="en-US" altLang="zh-CN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80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𝑌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=1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𝜎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𝜃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788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Mean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Squared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Loss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bg-BG" altLang="zh-CN" b="0" i="1" dirty="0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is-IS" altLang="zh-CN" b="0" i="1" dirty="0" smtClean="0"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 smtClean="0">
                              <a:solidFill>
                                <a:srgbClr val="C00000"/>
                              </a:solidFill>
                            </a:rPr>
                            <a:t>选什么损失函数？</a:t>
                          </a:r>
                          <a:endParaRPr lang="en-US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dirty="0" smtClean="0">
                                  <a:latin typeface="Cambria Math" charset="0"/>
                                </a:rPr>
                                <m:t>RMSE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 </a:t>
                          </a:r>
                          <a:r>
                            <a:rPr lang="en-US" altLang="zh-CN" sz="1800" dirty="0" smtClean="0"/>
                            <a:t>or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962002"/>
                  </p:ext>
                </p:extLst>
              </p:nvPr>
            </p:nvGraphicFramePr>
            <p:xfrm>
              <a:off x="371708" y="969664"/>
              <a:ext cx="7999140" cy="365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190" r="-100913" b="-629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1190" r="-913" b="-629762"/>
                          </a:stretch>
                        </a:blipFill>
                      </a:tcPr>
                    </a:tc>
                  </a:tr>
                  <a:tr h="6736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77273" r="-100913" b="-38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77273" r="-913" b="-380909"/>
                          </a:stretch>
                        </a:blipFill>
                      </a:tcPr>
                    </a:tc>
                  </a:tr>
                  <a:tr h="11408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04278" r="-100913" b="-124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 smtClean="0">
                              <a:solidFill>
                                <a:srgbClr val="C00000"/>
                              </a:solidFill>
                            </a:rPr>
                            <a:t>选什么损失函数？</a:t>
                          </a:r>
                          <a:endParaRPr lang="en-US" sz="18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17619" marR="117619" marT="58810" marB="58810" anchor="ctr"/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451376" r="-100913" b="-11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??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是否可以沿用</a:t>
            </a:r>
            <a:r>
              <a:rPr lang="en-US" altLang="zh-CN" dirty="0" smtClean="0"/>
              <a:t>MSE</a:t>
            </a:r>
            <a:r>
              <a:rPr lang="zh-CN" altLang="en-US" dirty="0" smtClean="0"/>
              <a:t> </a:t>
            </a:r>
            <a:r>
              <a:rPr lang="en-US" altLang="zh-CN" dirty="0" smtClean="0"/>
              <a:t>Loss</a:t>
            </a:r>
            <a:r>
              <a:rPr lang="zh-CN" altLang="en-US" dirty="0" smtClean="0"/>
              <a:t>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137102" cy="3937000"/>
          </a:xfrm>
        </p:spPr>
        <p:txBody>
          <a:bodyPr/>
          <a:lstStyle/>
          <a:p>
            <a:r>
              <a:rPr lang="zh-CN" altLang="en-US" dirty="0" smtClean="0"/>
              <a:t>请分析</a:t>
            </a:r>
            <a:r>
              <a:rPr lang="en-US" altLang="zh-CN" dirty="0" smtClean="0"/>
              <a:t>MSE</a:t>
            </a:r>
            <a:r>
              <a:rPr lang="zh-CN" altLang="en-US" dirty="0" smtClean="0"/>
              <a:t> </a:t>
            </a:r>
            <a:r>
              <a:rPr lang="en-US" altLang="zh-CN" dirty="0" smtClean="0"/>
              <a:t>Loss</a:t>
            </a:r>
            <a:r>
              <a:rPr lang="zh-CN" altLang="en-US" dirty="0" smtClean="0"/>
              <a:t>存在的局限性？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非凸性（</a:t>
            </a:r>
            <a:r>
              <a:rPr lang="en-US" altLang="zh-CN" dirty="0" smtClean="0"/>
              <a:t>Non-convex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sz="1800" dirty="0" smtClean="0"/>
              <a:t>陷入局部最优</a:t>
            </a:r>
            <a:endParaRPr lang="en-US" altLang="zh-CN" sz="1800" dirty="0" smtClean="0"/>
          </a:p>
          <a:p>
            <a:pPr lvl="1"/>
            <a:r>
              <a:rPr lang="zh-CN" altLang="en-US" dirty="0" smtClean="0"/>
              <a:t>梯度下降：不用的初始值可能会得到不同的最优解</a:t>
            </a:r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873" y="819152"/>
            <a:ext cx="2273824" cy="14869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874" y="2643772"/>
            <a:ext cx="2273824" cy="15023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328281" y="2306106"/>
                <a:ext cx="2816284" cy="376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charset="0"/>
                        </a:rPr>
                        <m:t>=</m:t>
                      </m:r>
                      <m:r>
                        <a:rPr lang="en-US" altLang="zh-CN" i="1">
                          <a:latin typeface="Cambria Math" charset="0"/>
                        </a:rPr>
                        <m:t>𝜎</m:t>
                      </m:r>
                      <m:r>
                        <a:rPr lang="en-US" altLang="zh-CN" i="1"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charset="0"/>
                        </a:rPr>
                        <m:t>𝜃</m:t>
                      </m:r>
                      <m:r>
                        <a:rPr lang="en-US" altLang="zh-CN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281" y="2306106"/>
                <a:ext cx="2816284" cy="376770"/>
              </a:xfrm>
              <a:prstGeom prst="rect">
                <a:avLst/>
              </a:prstGeom>
              <a:blipFill rotWithShape="0">
                <a:blip r:embed="rId4"/>
                <a:stretch>
                  <a:fillRect t="-6452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564884" y="4015983"/>
                <a:ext cx="2472407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i="1" dirty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884" y="4015983"/>
                <a:ext cx="2472407" cy="84856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3" name="Picture 5" descr="https://lh7-us.googleusercontent.com/6Ed3maJ3l-ssptjMqZKu0iomnoZcNNBPTIsZecXaVL9YBJwq7IUAUPO8mB6ENwkcsbSZ1u9IpnCCOiyIwBE99gvAqYv9qkSN_J2GZV3jcoED7YEq1hAD5zaDi3OeiK3FbBkGlnEfS2PwxfVzl6V8qjKyOg=s204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33" y="2948152"/>
            <a:ext cx="2398166" cy="167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lh7-us.googleusercontent.com/9Fbj1sTl1uaJ9fPKHLSf9yxL7ItEtjKRz_CkC7YiLqkrqofis4cMNbsQngxZh8lwqqckr6y4wdTqQdy5J6GSJ4AOILxD6I3PTkf4JJPFgM0ZDZsPLldYv175jF2T3-ka6Dmj8q_E9Znt8PxVCvgFzHg3EQ=s204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092" y="2948152"/>
            <a:ext cx="2398166" cy="167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30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交叉熵（</a:t>
            </a:r>
            <a:r>
              <a:rPr lang="en-US" altLang="zh-CN" dirty="0" smtClean="0"/>
              <a:t>Cross</a:t>
            </a:r>
            <a:r>
              <a:rPr lang="zh-CN" altLang="en-US" dirty="0" smtClean="0"/>
              <a:t> </a:t>
            </a:r>
            <a:r>
              <a:rPr lang="en-US" altLang="zh-CN" dirty="0" smtClean="0"/>
              <a:t>Entropy</a:t>
            </a:r>
            <a:r>
              <a:rPr lang="zh-CN" altLang="en-US" dirty="0" smtClean="0"/>
              <a:t>）损失函数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465408"/>
                <a:ext cx="8229600" cy="2290742"/>
              </a:xfrm>
            </p:spPr>
            <p:txBody>
              <a:bodyPr>
                <a:normAutofit/>
              </a:bodyPr>
              <a:lstStyle/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zh-CN" altLang="en-US" dirty="0" smtClean="0"/>
                  <a:t>假设我们只有一维特征（且不考虑常数项）</a:t>
                </a:r>
                <a:endParaRPr lang="en"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charset="0"/>
                      </a:rPr>
                      <m:t>𝜃</m:t>
                    </m:r>
                    <m:r>
                      <a:rPr lang="en" i="1" dirty="0" smtClean="0">
                        <a:latin typeface="Cambria Math" charset="0"/>
                      </a:rPr>
                      <m:t> = 2</m:t>
                    </m:r>
                  </m:oMath>
                </a14:m>
                <a:r>
                  <a:rPr lang="zh-CN" altLang="en-US" dirty="0" smtClean="0"/>
                  <a:t>，计算下面数据点的交叉熵损失</a:t>
                </a:r>
                <a:endParaRPr lang="en" dirty="0"/>
              </a:p>
              <a:p>
                <a:pPr marL="457200" lvl="0" indent="-381000">
                  <a:spcBef>
                    <a:spcPts val="600"/>
                  </a:spcBef>
                  <a:buSzPts val="2400"/>
                  <a:buChar char="●"/>
                </a:pPr>
                <a:r>
                  <a:rPr lang="en" dirty="0"/>
                  <a:t>(x, y) = (5, 1)?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en" dirty="0"/>
                  <a:t>(0, 1)? (0, 0)?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en" dirty="0"/>
                  <a:t>(-1, 1)?</a:t>
                </a:r>
              </a:p>
              <a:p>
                <a:pPr marL="457200" lvl="0" indent="-381000">
                  <a:spcBef>
                    <a:spcPts val="0"/>
                  </a:spcBef>
                  <a:buSzPts val="2400"/>
                  <a:buChar char="●"/>
                </a:pPr>
                <a:r>
                  <a:rPr lang="zh-CN" altLang="en-US" dirty="0" smtClean="0"/>
                  <a:t>如果运行</a:t>
                </a:r>
                <a:r>
                  <a:rPr lang="en" dirty="0" smtClean="0"/>
                  <a:t>SGD</a:t>
                </a:r>
                <a:r>
                  <a:rPr lang="en" dirty="0"/>
                  <a:t>,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应该向增大还是减小的方向更新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465408"/>
                <a:ext cx="8229600" cy="2290742"/>
              </a:xfrm>
              <a:blipFill rotWithShape="0">
                <a:blip r:embed="rId2"/>
                <a:stretch>
                  <a:fillRect l="-741" t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944" y="895394"/>
            <a:ext cx="642937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344" y="1849844"/>
            <a:ext cx="5419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4244" y="2446027"/>
            <a:ext cx="21240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6226" y="3061591"/>
            <a:ext cx="2076450" cy="3714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1" name="Google Shape;141;p26"/>
          <p:cNvPicPr preferRelativeResize="0"/>
          <p:nvPr/>
        </p:nvPicPr>
        <p:blipFill rotWithShape="1">
          <a:blip r:embed="rId7">
            <a:alphaModFix/>
          </a:blip>
          <a:srcRect l="24651" t="7939"/>
          <a:stretch/>
        </p:blipFill>
        <p:spPr>
          <a:xfrm>
            <a:off x="6510834" y="3489248"/>
            <a:ext cx="2476043" cy="6751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462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交叉熵（</a:t>
            </a:r>
            <a:r>
              <a:rPr lang="en-US" altLang="zh-CN" dirty="0"/>
              <a:t>Cross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r>
              <a:rPr lang="zh-CN" altLang="en-US" dirty="0"/>
              <a:t>）损失函数</a:t>
            </a:r>
            <a:endParaRPr lang="en-US" dirty="0"/>
          </a:p>
        </p:txBody>
      </p:sp>
      <p:pic>
        <p:nvPicPr>
          <p:cNvPr id="4" name="Google Shape;18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272" y="837520"/>
            <a:ext cx="5419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147" y="875620"/>
            <a:ext cx="723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22" y="1821332"/>
            <a:ext cx="33718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1097" y="1830857"/>
            <a:ext cx="2714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22" y="2392832"/>
            <a:ext cx="34194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1097" y="2392832"/>
            <a:ext cx="32861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122" y="3308887"/>
            <a:ext cx="43243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4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1097" y="3318412"/>
            <a:ext cx="3495675" cy="352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84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深入理解交叉熵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考虑一组抛硬币的试验，观察到的结果为（正面</a:t>
                </a:r>
                <a:r>
                  <a:rPr lang="en-US" altLang="zh-CN" dirty="0" smtClean="0"/>
                  <a:t>=1</a:t>
                </a:r>
                <a:r>
                  <a:rPr lang="zh-CN" altLang="en-US" dirty="0" smtClean="0"/>
                  <a:t>；背面</a:t>
                </a:r>
                <a:r>
                  <a:rPr lang="en-US" altLang="zh-CN" dirty="0" smtClean="0"/>
                  <a:t>=0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0,0,1,1,1,1,0,0,0,0</m:t>
                        </m:r>
                      </m:e>
                    </m:d>
                  </m:oMath>
                </a14:m>
                <a:endParaRPr lang="en-US" altLang="zh-CN" b="0" dirty="0" smtClean="0"/>
              </a:p>
              <a:p>
                <a:pPr lvl="1"/>
                <a:r>
                  <a:rPr lang="zh-CN" altLang="en-US" dirty="0" smtClean="0"/>
                  <a:t>假设每次抛硬币是独立同分布的（</a:t>
                </a:r>
                <a:r>
                  <a:rPr lang="en-US" altLang="zh-CN" dirty="0" smtClean="0"/>
                  <a:t>I.I.D.</a:t>
                </a:r>
                <a:r>
                  <a:rPr lang="zh-CN" altLang="en-US" dirty="0" smtClean="0"/>
                  <a:t>）</a:t>
                </a:r>
                <a:endParaRPr lang="en-US" dirty="0" smtClean="0"/>
              </a:p>
              <a:p>
                <a:pPr lvl="1"/>
                <a:r>
                  <a:rPr lang="zh-CN" altLang="en-US" dirty="0" smtClean="0"/>
                  <a:t>可以看做一个</a:t>
                </a:r>
                <a:r>
                  <a:rPr lang="en-US" altLang="zh-CN" dirty="0" smtClean="0"/>
                  <a:t>Non-Input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Binary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Classifier</a:t>
                </a:r>
                <a:r>
                  <a:rPr lang="zh-CN" altLang="en-US" dirty="0" smtClean="0"/>
                  <a:t>，上述结果为训练数据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请问：给定上述结果，再抛一次，是正面的概率是多少？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A.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0.8</a:t>
                </a:r>
                <a:r>
                  <a:rPr lang="zh-CN" altLang="en-US" dirty="0" smtClean="0"/>
                  <a:t>  </a:t>
                </a:r>
                <a:r>
                  <a:rPr lang="en-US" altLang="zh-CN" dirty="0" smtClean="0"/>
                  <a:t>B.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0.5</a:t>
                </a:r>
                <a:r>
                  <a:rPr lang="zh-CN" altLang="en-US" dirty="0" smtClean="0"/>
                  <a:t>  </a:t>
                </a:r>
                <a:r>
                  <a:rPr lang="en-US" altLang="zh-CN" dirty="0" smtClean="0"/>
                  <a:t>C.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0.4</a:t>
                </a:r>
                <a:r>
                  <a:rPr lang="zh-CN" altLang="en-US" dirty="0" smtClean="0"/>
                  <a:t>  </a:t>
                </a:r>
                <a:r>
                  <a:rPr lang="en-US" altLang="zh-CN" dirty="0" smtClean="0"/>
                  <a:t>D.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0.2</a:t>
                </a:r>
              </a:p>
              <a:p>
                <a:endParaRPr lang="en-US" dirty="0"/>
              </a:p>
              <a:p>
                <a:r>
                  <a:rPr lang="zh-CN" altLang="en-US" dirty="0" smtClean="0"/>
                  <a:t>为什么直觉上你会选择</a:t>
                </a:r>
                <a:r>
                  <a:rPr lang="en-US" altLang="zh-CN" dirty="0" smtClean="0"/>
                  <a:t>0.4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符合观测数据中的频率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>
                    <a:solidFill>
                      <a:srgbClr val="C00000"/>
                    </a:solidFill>
                  </a:rPr>
                  <a:t>可以极大化训练数据的似然（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Likelihood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）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20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似然（</a:t>
            </a:r>
            <a:r>
              <a:rPr lang="en-US" altLang="zh-CN" dirty="0" smtClean="0"/>
              <a:t>Likelihood</a:t>
            </a:r>
            <a:r>
              <a:rPr lang="zh-CN" altLang="en-US" dirty="0" smtClean="0"/>
              <a:t>）的概念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考虑一个伯努利随机变量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𝑌</m:t>
                    </m:r>
                  </m:oMath>
                </a14:m>
                <a:r>
                  <a:rPr lang="zh-CN" altLang="en-US" dirty="0" smtClean="0"/>
                  <a:t>，其概率分布函数为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𝑌</m:t>
                        </m:r>
                        <m:r>
                          <a:rPr lang="en-US" altLang="zh-CN" b="0" i="1" dirty="0" smtClean="0">
                            <a:latin typeface="Cambria Math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cs-CZ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cs-CZ" altLang="zh-CN" b="0" i="1" dirty="0" smtClean="0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𝑝</m:t>
                            </m:r>
                            <m:r>
                              <a:rPr lang="zh-CN" altLang="en-US" b="0" i="1" dirty="0" smtClean="0">
                                <a:latin typeface="Cambria Math" charset="0"/>
                              </a:rPr>
                              <m:t>            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𝑖𝑓</m:t>
                            </m:r>
                            <m:r>
                              <a:rPr lang="zh-CN" altLang="en-US" b="0" i="1" dirty="0" smtClean="0"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1−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𝑝</m:t>
                            </m:r>
                            <m:r>
                              <a:rPr lang="zh-CN" altLang="en-US" b="0" i="1" dirty="0" smtClean="0">
                                <a:latin typeface="Cambria Math" charset="0"/>
                              </a:rPr>
                              <m:t>    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𝑖𝑓</m:t>
                            </m:r>
                            <m:r>
                              <a:rPr lang="zh-CN" altLang="en-US" b="0" i="1" dirty="0" smtClean="0"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zh-CN" altLang="en-US" dirty="0" smtClean="0"/>
                  <a:t>给定一组对该变量的观测数据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,…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，这组观测数据的似然与观察到这组数据点的概率成正比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举例：观测数据为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[0,0,1,1,1,1,0,0,0,0]</m:t>
                    </m:r>
                  </m:oMath>
                </a14:m>
                <a:r>
                  <a:rPr lang="zh-CN" altLang="en-US" dirty="0" smtClean="0"/>
                  <a:t>，则数据的似然为</a:t>
                </a:r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zh-CN" altLang="en-US" dirty="0" smtClean="0"/>
                  <a:t>练习：计算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𝑝</m:t>
                    </m:r>
                    <m:r>
                      <a:rPr lang="en-US" altLang="zh-CN" b="0" i="1" smtClean="0">
                        <a:latin typeface="Cambria Math" charset="0"/>
                      </a:rPr>
                      <m:t>=0.1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𝑝</m:t>
                    </m:r>
                    <m:r>
                      <a:rPr lang="en-US" altLang="zh-CN" i="1">
                        <a:latin typeface="Cambria Math" charset="0"/>
                      </a:rPr>
                      <m:t>=0.4</m:t>
                    </m:r>
                  </m:oMath>
                </a14:m>
                <a:r>
                  <a:rPr lang="zh-CN" altLang="en-US" dirty="0" smtClean="0"/>
                  <a:t>时，上述训练数据的似然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证明：使上述似然函数最大的概率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𝑝</m:t>
                    </m:r>
                    <m:r>
                      <a:rPr lang="en-US" altLang="zh-CN" i="1">
                        <a:latin typeface="Cambria Math" charset="0"/>
                      </a:rPr>
                      <m:t>=0.4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6018" y="2991774"/>
                <a:ext cx="14991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018" y="2991774"/>
                <a:ext cx="149919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065" t="-1667" r="-20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似然（</a:t>
            </a:r>
            <a:r>
              <a:rPr lang="en-US" altLang="zh-CN" dirty="0"/>
              <a:t>Likelihood</a:t>
            </a:r>
            <a:r>
              <a:rPr lang="zh-CN" altLang="en-US" dirty="0"/>
              <a:t>）的概念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考虑之前的伯努利变量，</a:t>
                </a:r>
                <a:r>
                  <a:rPr lang="zh-CN" altLang="en-US" dirty="0"/>
                  <a:t>给定一组对该变量的观测数据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,…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，如何表示这组数据的似然</a:t>
                </a:r>
                <a:endParaRPr lang="en-US" altLang="zh-CN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考虑更为一般的情况，数据独立但不一定有相同的分布，即有不用的概率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，则一组观测数据的似然为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r="-3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74327" y="1597980"/>
                <a:ext cx="2235548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is-IS" sz="20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𝑝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1−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327" y="1597980"/>
                <a:ext cx="2235548" cy="8402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17903" y="3472648"/>
                <a:ext cx="2309542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is-IS" sz="20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903" y="3472648"/>
                <a:ext cx="2309542" cy="8402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06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极大似然估计（</a:t>
            </a:r>
            <a:r>
              <a:rPr lang="en-US" altLang="zh-CN" dirty="0" smtClean="0"/>
              <a:t>MLE</a:t>
            </a:r>
            <a:r>
              <a:rPr lang="zh-CN" altLang="en-US" dirty="0" smtClean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 smtClean="0"/>
                  <a:t>给定一组随机变量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，其中每个随机变量为一个伯努利变量，其参数表示为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；给定上述随机变量的一组观测值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,…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，请估计这些随机变量的参数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,…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，使下述参数的似然最大化</a:t>
                </a:r>
                <a:endParaRPr lang="en-US" altLang="zh-CN" dirty="0" smtClean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 smtClean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 smtClean="0"/>
                  <a:t>请论述上述极大似然估计与交叉熵的相关性</a:t>
                </a:r>
                <a:endParaRPr lang="en-US" altLang="zh-CN" dirty="0" smtClean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b="1" dirty="0" smtClean="0">
                    <a:solidFill>
                      <a:srgbClr val="C00000"/>
                    </a:solidFill>
                  </a:rPr>
                  <a:t>极大似然估计 等价于 最小化交叉熵！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87582" y="2052221"/>
                <a:ext cx="2768835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is-IS" sz="24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582" y="2052221"/>
                <a:ext cx="2768835" cy="10082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63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建立与评估模型的四个</a:t>
            </a:r>
            <a:r>
              <a:rPr lang="zh-CN" altLang="en-US" dirty="0"/>
              <a:t>步骤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1708" y="969664"/>
              <a:ext cx="7999140" cy="365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回归（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ℝ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分类（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∈{0,1}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）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线性回归</a:t>
                          </a:r>
                          <a:endParaRPr lang="en-US" altLang="zh-CN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逻辑回归</a:t>
                          </a:r>
                          <a:endParaRPr lang="en-US" altLang="zh-CN" sz="18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80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𝑌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=1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𝜎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𝜃</m:t>
                                </m:r>
                                <m:r>
                                  <a:rPr lang="en-US" altLang="zh-CN" sz="1800" b="0" i="1" smtClean="0"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788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Mean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Squared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Loss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zh-CN" b="0" i="1" dirty="0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bg-BG" altLang="zh-CN" b="0" i="1" dirty="0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is-IS" altLang="zh-CN" b="0" i="1" dirty="0" smtClean="0"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dirty="0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b="0" i="1" dirty="0" smtClean="0">
                                                <a:latin typeface="Cambria Math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b="0" i="1" dirty="0" smtClean="0">
                                                        <a:latin typeface="Cambria Math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b="0" i="1" dirty="0" smtClean="0">
                                                    <a:latin typeface="Cambria Math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dirty="0" smtClean="0">
                              <a:solidFill>
                                <a:schemeClr val="tx1"/>
                              </a:solidFill>
                            </a:rPr>
                            <a:t>Cross</a:t>
                          </a:r>
                          <a:r>
                            <a:rPr lang="zh-CN" altLang="en-US" sz="1800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1800" b="0" dirty="0" smtClean="0">
                              <a:solidFill>
                                <a:schemeClr val="tx1"/>
                              </a:solidFill>
                            </a:rPr>
                            <a:t>Entropy</a:t>
                          </a:r>
                          <a:r>
                            <a:rPr lang="zh-CN" altLang="en-US" sz="1800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1800" b="0" dirty="0" smtClean="0">
                              <a:solidFill>
                                <a:schemeClr val="tx1"/>
                              </a:solidFill>
                            </a:rPr>
                            <a:t>Loss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bg-BG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is-I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altLang="zh-CN" sz="1050" b="0" i="0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log</m:t>
                                    </m:r>
                                    <m:d>
                                      <m:dPr>
                                        <m:ctrlP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05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zh-CN" sz="105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105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105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(1−</m:t>
                                        </m:r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1050" b="0" i="0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log</m:t>
                                    </m:r>
                                    <m:d>
                                      <m:dPr>
                                        <m:ctrlP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(1−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05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zh-CN" sz="105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105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105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5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dirty="0" smtClean="0">
                                  <a:latin typeface="Cambria Math" charset="0"/>
                                </a:rPr>
                                <m:t>RMSE</m:t>
                              </m:r>
                            </m:oMath>
                          </a14:m>
                          <a:r>
                            <a:rPr lang="zh-CN" altLang="en-US" sz="1800" dirty="0" smtClean="0"/>
                            <a:t> </a:t>
                          </a:r>
                          <a:r>
                            <a:rPr lang="en-US" altLang="zh-CN" sz="1800" dirty="0" smtClean="0"/>
                            <a:t>or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800" b="0" i="1" baseline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err="1" smtClean="0"/>
                            <a:t>Presicion</a:t>
                          </a:r>
                          <a:r>
                            <a:rPr lang="en-US" altLang="zh-CN" sz="1800" dirty="0" smtClean="0"/>
                            <a:t>/Recall/F1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011548"/>
                  </p:ext>
                </p:extLst>
              </p:nvPr>
            </p:nvGraphicFramePr>
            <p:xfrm>
              <a:off x="371708" y="969664"/>
              <a:ext cx="7999140" cy="365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6380"/>
                    <a:gridCol w="2666380"/>
                    <a:gridCol w="2666380"/>
                  </a:tblGrid>
                  <a:tr h="509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 smtClean="0"/>
                            <a:t>步骤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190" r="-100913" b="-629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1190" r="-913" b="-629762"/>
                          </a:stretch>
                        </a:blipFill>
                      </a:tcPr>
                    </a:tc>
                  </a:tr>
                  <a:tr h="6736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选择某种模型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77273" r="-100913" b="-38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77273" r="-913" b="-380909"/>
                          </a:stretch>
                        </a:blipFill>
                      </a:tcPr>
                    </a:tc>
                  </a:tr>
                  <a:tr h="11408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2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选择目标函数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104278" r="-100913" b="-124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200228" t="-104278" r="-913" b="-124064"/>
                          </a:stretch>
                        </a:blipFill>
                      </a:tcPr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3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拟合模型参数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smtClean="0"/>
                            <a:t>Sklearn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/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Gradient</a:t>
                          </a:r>
                          <a:r>
                            <a:rPr lang="zh-CN" altLang="en-US" sz="1800" baseline="0" dirty="0" smtClean="0"/>
                            <a:t> </a:t>
                          </a:r>
                          <a:r>
                            <a:rPr lang="en-US" altLang="zh-CN" sz="1800" baseline="0" dirty="0" smtClean="0"/>
                            <a:t>Descent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  <a:tr h="666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Step</a:t>
                          </a:r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</a:t>
                          </a:r>
                          <a:r>
                            <a:rPr kumimoji="0" lang="en-US" altLang="zh-CN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4</a:t>
                          </a:r>
                        </a:p>
                        <a:p>
                          <a:pPr algn="ctr"/>
                          <a:r>
                            <a:rPr kumimoji="0" lang="zh-CN" alt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评估模型效果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7619" marR="117619" marT="58810" marB="58810" anchor="ctr">
                        <a:blipFill rotWithShape="0">
                          <a:blip r:embed="rId2"/>
                          <a:stretch>
                            <a:fillRect l="-100228" t="-451376" r="-100913" b="-11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 err="1" smtClean="0"/>
                            <a:t>Presicion</a:t>
                          </a:r>
                          <a:r>
                            <a:rPr lang="en-US" altLang="zh-CN" sz="1800" dirty="0" smtClean="0"/>
                            <a:t>/Recall/F1</a:t>
                          </a:r>
                          <a:endParaRPr lang="en-US" sz="1800" dirty="0"/>
                        </a:p>
                      </a:txBody>
                      <a:tcPr marL="117619" marR="117619" marT="58810" marB="5881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389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分类算法的评测指标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57200" y="1364590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1499118" y="3547883"/>
          <a:ext cx="1836204" cy="89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8182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正例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负例</a:t>
                      </a:r>
                      <a:endParaRPr lang="en-US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正例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bg1"/>
                          </a:solidFill>
                        </a:rPr>
                        <a:t>负例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102814" y="3491096"/>
            <a:ext cx="3770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标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准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答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  <a:p>
            <a:pPr algn="ctr"/>
            <a:r>
              <a:rPr lang="zh-CN" altLang="en-US" sz="1500" dirty="0">
                <a:solidFill>
                  <a:srgbClr val="0000CC"/>
                </a:solidFill>
                <a:latin typeface="STZhongsong" charset="-122"/>
                <a:ea typeface="STZhongsong" charset="-122"/>
                <a:cs typeface="STZhongsong" charset="-122"/>
              </a:rPr>
              <a:t>案</a:t>
            </a:r>
            <a:endParaRPr lang="en-US" altLang="zh-CN" sz="1500" dirty="0">
              <a:solidFill>
                <a:srgbClr val="0000CC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22792" y="3509405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500" dirty="0">
                <a:solidFill>
                  <a:srgbClr val="C00000"/>
                </a:solidFill>
                <a:latin typeface="STZhongsong" charset="-122"/>
                <a:ea typeface="STZhongsong" charset="-122"/>
                <a:cs typeface="STZhongsong" charset="-122"/>
              </a:rPr>
              <a:t>预测结果</a:t>
            </a:r>
            <a:endParaRPr lang="en-US" altLang="zh-CN" sz="1500" dirty="0">
              <a:solidFill>
                <a:srgbClr val="C00000"/>
              </a:solidFill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37997" y="3845497"/>
            <a:ext cx="3770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/>
              <a:t>TP</a:t>
            </a:r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2841853" y="3836131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FN</a:t>
            </a:r>
            <a:endParaRPr lang="en-US" sz="1500" dirty="0"/>
          </a:p>
        </p:txBody>
      </p:sp>
      <p:sp>
        <p:nvSpPr>
          <p:cNvPr id="16" name="Rectangle 15"/>
          <p:cNvSpPr/>
          <p:nvPr/>
        </p:nvSpPr>
        <p:spPr>
          <a:xfrm>
            <a:off x="2233395" y="4124894"/>
            <a:ext cx="37221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FP</a:t>
            </a:r>
            <a:endParaRPr lang="en-US" sz="1500" dirty="0"/>
          </a:p>
        </p:txBody>
      </p:sp>
      <p:sp>
        <p:nvSpPr>
          <p:cNvPr id="17" name="Rectangle 16"/>
          <p:cNvSpPr/>
          <p:nvPr/>
        </p:nvSpPr>
        <p:spPr>
          <a:xfrm>
            <a:off x="2837251" y="4115527"/>
            <a:ext cx="40107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/>
              <a:t>TN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1461367" y="2932553"/>
            <a:ext cx="3317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TP/FP/TN/FN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填到下表</a:t>
            </a: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2614" y="2891455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5156603" y="4472001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分类算法的评测指标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/>
              <a:t>使用测试集评测分类算法，结果如下：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57200" y="1364590"/>
            <a:ext cx="3320919" cy="188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/>
              <a:t>几个关键概念</a:t>
            </a:r>
            <a:endParaRPr lang="en-US" altLang="zh-CN" sz="180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(TP):</a:t>
            </a:r>
            <a:r>
              <a:rPr lang="zh-CN" altLang="en-US" sz="1350" dirty="0"/>
              <a:t> 正确识别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Positive</a:t>
            </a:r>
            <a:r>
              <a:rPr lang="zh-CN" altLang="en-US" sz="1350" dirty="0"/>
              <a:t> </a:t>
            </a:r>
            <a:r>
              <a:rPr lang="en-US" altLang="zh-CN" sz="1350" dirty="0"/>
              <a:t>(FP):</a:t>
            </a:r>
            <a:r>
              <a:rPr lang="zh-CN" altLang="en-US" sz="1350" dirty="0"/>
              <a:t> 错误识别</a:t>
            </a:r>
            <a:endParaRPr lang="en-US" altLang="zh-CN" sz="1350" dirty="0"/>
          </a:p>
          <a:p>
            <a:pPr lvl="1"/>
            <a:r>
              <a:rPr lang="en-US" altLang="zh-CN" sz="1350" dirty="0"/>
              <a:t>True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(TN):</a:t>
            </a:r>
            <a:r>
              <a:rPr lang="zh-CN" altLang="en-US" sz="1350" dirty="0"/>
              <a:t> 正确拒绝</a:t>
            </a:r>
            <a:endParaRPr lang="en-US" altLang="zh-CN" sz="1350" dirty="0"/>
          </a:p>
          <a:p>
            <a:pPr lvl="1"/>
            <a:r>
              <a:rPr lang="en-US" altLang="zh-CN" sz="1350" dirty="0"/>
              <a:t>False</a:t>
            </a:r>
            <a:r>
              <a:rPr lang="zh-CN" altLang="en-US" sz="1350" dirty="0"/>
              <a:t> </a:t>
            </a:r>
            <a:r>
              <a:rPr lang="en-US" altLang="zh-CN" sz="1350" dirty="0"/>
              <a:t>Negative</a:t>
            </a:r>
            <a:r>
              <a:rPr lang="zh-CN" altLang="en-US" sz="1350" dirty="0"/>
              <a:t> </a:t>
            </a:r>
            <a:r>
              <a:rPr lang="en-US" altLang="zh-CN" sz="1350" dirty="0"/>
              <a:t>(FN):</a:t>
            </a:r>
            <a:r>
              <a:rPr lang="zh-CN" altLang="en-US" sz="1350" dirty="0"/>
              <a:t> 错误拒绝</a:t>
            </a:r>
            <a:endParaRPr lang="en-US" altLang="zh-CN" sz="135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5156603" y="4472001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16" y="2911876"/>
            <a:ext cx="2905384" cy="1762948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75303" y="1364590"/>
            <a:ext cx="4110608" cy="280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华文中宋" charset="-122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华文中宋" charset="-122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引入新的指标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/>
            <a:r>
              <a:rPr lang="en-US" altLang="zh-CN" sz="1800" dirty="0"/>
              <a:t>Precision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准确率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Recall</a:t>
            </a:r>
            <a:r>
              <a:rPr lang="zh-CN" altLang="en-US" sz="1800" dirty="0"/>
              <a:t> </a:t>
            </a:r>
            <a:r>
              <a:rPr lang="mr-IN" altLang="zh-CN" sz="1800" dirty="0"/>
              <a:t>–</a:t>
            </a:r>
            <a:r>
              <a:rPr lang="zh-CN" altLang="en-US" sz="1800" dirty="0"/>
              <a:t> 召回率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F1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-</a:t>
            </a:r>
            <a:r>
              <a:rPr lang="zh-CN" altLang="en-US" sz="1800" dirty="0"/>
              <a:t> </a:t>
            </a:r>
            <a:r>
              <a:rPr lang="en-US" altLang="zh-CN" sz="1800" dirty="0"/>
              <a:t>F</a:t>
            </a:r>
            <a:r>
              <a:rPr lang="zh-CN" altLang="en-US" sz="1800" dirty="0"/>
              <a:t>值</a:t>
            </a:r>
            <a:endParaRPr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𝑃𝑟𝑒𝑐𝑖𝑠𝑖𝑜𝑛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1976342"/>
                <a:ext cx="2203360" cy="5231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𝑅𝑒𝑐𝑎𝑙𝑙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607" y="2811158"/>
                <a:ext cx="1889300" cy="5231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1=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𝑃𝑟𝑒𝑐𝑖𝑠𝑖𝑜𝑛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𝑅𝑒𝑐𝑎𝑙𝑙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937" y="3645974"/>
                <a:ext cx="2544030" cy="74565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76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分类算法的评测指标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1140"/>
          </a:xfrm>
        </p:spPr>
        <p:txBody>
          <a:bodyPr/>
          <a:lstStyle/>
          <a:p>
            <a:r>
              <a:rPr lang="zh-CN" altLang="en-US" dirty="0" smtClean="0"/>
              <a:t>课堂练习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7" y="1296407"/>
            <a:ext cx="3766832" cy="30625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124" y="1296407"/>
            <a:ext cx="5145499" cy="306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7945</TotalTime>
  <Words>4554</Words>
  <Application>Microsoft Macintosh PowerPoint</Application>
  <PresentationFormat>On-screen Show (16:9)</PresentationFormat>
  <Paragraphs>871</Paragraphs>
  <Slides>64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87" baseType="lpstr">
      <vt:lpstr>Calibri</vt:lpstr>
      <vt:lpstr>Cambria Math</vt:lpstr>
      <vt:lpstr>Courier New</vt:lpstr>
      <vt:lpstr>Helvetica Neue</vt:lpstr>
      <vt:lpstr>Helvetica Neue Light</vt:lpstr>
      <vt:lpstr>Mangal</vt:lpstr>
      <vt:lpstr>Microsoft YaHei</vt:lpstr>
      <vt:lpstr>Proxima Nova</vt:lpstr>
      <vt:lpstr>STZhongsong</vt:lpstr>
      <vt:lpstr>Times New Roman</vt:lpstr>
      <vt:lpstr>Times-Roman</vt:lpstr>
      <vt:lpstr>Verdana</vt:lpstr>
      <vt:lpstr>Wingdings</vt:lpstr>
      <vt:lpstr>Wingdings 2</vt:lpstr>
      <vt:lpstr>华文中宋</vt:lpstr>
      <vt:lpstr>宋体</vt:lpstr>
      <vt:lpstr>微软雅黑</vt:lpstr>
      <vt:lpstr>方正兰亭细黑_GBK</vt:lpstr>
      <vt:lpstr>方正超粗黑简体</vt:lpstr>
      <vt:lpstr>隶书</vt:lpstr>
      <vt:lpstr>Arial</vt:lpstr>
      <vt:lpstr>清风素材 https://12sc.taobao.com/</vt:lpstr>
      <vt:lpstr>1_清风素材 https://12sc.taobao.com/</vt:lpstr>
      <vt:lpstr>PowerPoint Presentation</vt:lpstr>
      <vt:lpstr>典型的机器学习问题</vt:lpstr>
      <vt:lpstr>典型的机器学习问题</vt:lpstr>
      <vt:lpstr>典型的机器学习问题</vt:lpstr>
      <vt:lpstr>PowerPoint Presentation</vt:lpstr>
      <vt:lpstr>分类问题与监督学习</vt:lpstr>
      <vt:lpstr>案例：手写数字识别</vt:lpstr>
      <vt:lpstr>案例：手写数字识别</vt:lpstr>
      <vt:lpstr>案例二：微信朋友圈广告互动行为预测</vt:lpstr>
      <vt:lpstr>案例二：微信朋友圈广告互动行为预测</vt:lpstr>
      <vt:lpstr>监督学习概览</vt:lpstr>
      <vt:lpstr>分类问题的基本步骤</vt:lpstr>
      <vt:lpstr>案例：互联网虚假信息检测</vt:lpstr>
      <vt:lpstr>案例：互联网虚假信息检测</vt:lpstr>
      <vt:lpstr>分类问题的基本步骤</vt:lpstr>
      <vt:lpstr>分类问题的基本步骤</vt:lpstr>
      <vt:lpstr>分类问题的基本步骤</vt:lpstr>
      <vt:lpstr>分类问题的基本步骤</vt:lpstr>
      <vt:lpstr>互联网应用案例：虚假信息检测</vt:lpstr>
      <vt:lpstr>分类问题的基本步骤</vt:lpstr>
      <vt:lpstr>分类问题的基本步骤</vt:lpstr>
      <vt:lpstr>分类问题的基本步骤</vt:lpstr>
      <vt:lpstr>K近邻分类器</vt:lpstr>
      <vt:lpstr>PowerPoint Presentation</vt:lpstr>
      <vt:lpstr>例子：手写数字识别</vt:lpstr>
      <vt:lpstr>采样假设：训练集与测试集</vt:lpstr>
      <vt:lpstr>PowerPoint Presentation</vt:lpstr>
      <vt:lpstr>PowerPoint Presentation</vt:lpstr>
      <vt:lpstr>PowerPoint Presentation</vt:lpstr>
      <vt:lpstr>PowerPoint Presentation</vt:lpstr>
      <vt:lpstr>深入理解</vt:lpstr>
      <vt:lpstr>参数选择与验证集</vt:lpstr>
      <vt:lpstr>分类问题的基本步骤</vt:lpstr>
      <vt:lpstr>分类问题的基本步骤</vt:lpstr>
      <vt:lpstr>精度（误差）的评测效果总是好吗？</vt:lpstr>
      <vt:lpstr>精度（误差）的评测效果总是好吗？</vt:lpstr>
      <vt:lpstr>精度（误差）的评测效果总是好吗？</vt:lpstr>
      <vt:lpstr>精度（误差）的评测效果总是好吗？</vt:lpstr>
      <vt:lpstr>分类问题的基本评测</vt:lpstr>
      <vt:lpstr>分类问题的基本评测</vt:lpstr>
      <vt:lpstr>分类问题的基本评测</vt:lpstr>
      <vt:lpstr>分类问题的基本评测</vt:lpstr>
      <vt:lpstr>PowerPoint Presentation</vt:lpstr>
      <vt:lpstr>建立与评估模型的四个步骤</vt:lpstr>
      <vt:lpstr>复习：线性回归</vt:lpstr>
      <vt:lpstr>Demo演示</vt:lpstr>
      <vt:lpstr>如何类似地解决分类问题</vt:lpstr>
      <vt:lpstr>逻辑回归（Logistic Regression）</vt:lpstr>
      <vt:lpstr>逻辑回归（Logistic Regression）</vt:lpstr>
      <vt:lpstr>为什么使用sigmoid函数？</vt:lpstr>
      <vt:lpstr>为什么使用sigmoid函数？</vt:lpstr>
      <vt:lpstr>课堂练习</vt:lpstr>
      <vt:lpstr>建立与评估模型的四个步骤</vt:lpstr>
      <vt:lpstr>是否可以沿用MSE Loss？</vt:lpstr>
      <vt:lpstr>交叉熵（Cross Entropy）损失函数</vt:lpstr>
      <vt:lpstr>交叉熵（Cross Entropy）损失函数</vt:lpstr>
      <vt:lpstr>深入理解交叉熵</vt:lpstr>
      <vt:lpstr>似然（Likelihood）的概念</vt:lpstr>
      <vt:lpstr>似然（Likelihood）的概念</vt:lpstr>
      <vt:lpstr>极大似然估计（MLE）</vt:lpstr>
      <vt:lpstr>建立与评估模型的四个步骤</vt:lpstr>
      <vt:lpstr>分类算法的评测指标</vt:lpstr>
      <vt:lpstr>分类算法的评测指标</vt:lpstr>
      <vt:lpstr>分类算法的评测指标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388</cp:revision>
  <cp:lastPrinted>2021-03-28T07:40:01Z</cp:lastPrinted>
  <dcterms:created xsi:type="dcterms:W3CDTF">2015-01-23T04:02:45Z</dcterms:created>
  <dcterms:modified xsi:type="dcterms:W3CDTF">2024-11-13T12:17:24Z</dcterms:modified>
  <cp:category/>
  <cp:contentStatus>12sc.taobao.com</cp:contentStatus>
</cp:coreProperties>
</file>