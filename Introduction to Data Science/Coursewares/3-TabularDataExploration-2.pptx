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wdp" ContentType="image/vnd.ms-photo"/>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301" r:id="rId2"/>
    <p:sldId id="1484" r:id="rId3"/>
    <p:sldId id="1620" r:id="rId4"/>
    <p:sldId id="1621" r:id="rId5"/>
    <p:sldId id="1623" r:id="rId6"/>
    <p:sldId id="1626" r:id="rId7"/>
    <p:sldId id="1665" r:id="rId8"/>
    <p:sldId id="1666" r:id="rId9"/>
    <p:sldId id="1667" r:id="rId10"/>
    <p:sldId id="1668" r:id="rId11"/>
    <p:sldId id="1664" r:id="rId12"/>
    <p:sldId id="1593" r:id="rId13"/>
    <p:sldId id="1669" r:id="rId14"/>
    <p:sldId id="1670" r:id="rId15"/>
    <p:sldId id="1673" r:id="rId16"/>
    <p:sldId id="1679" r:id="rId17"/>
    <p:sldId id="1680" r:id="rId18"/>
    <p:sldId id="1682" r:id="rId19"/>
    <p:sldId id="1441" r:id="rId20"/>
    <p:sldId id="1674" r:id="rId21"/>
    <p:sldId id="1675" r:id="rId22"/>
    <p:sldId id="1676" r:id="rId23"/>
    <p:sldId id="1677" r:id="rId24"/>
    <p:sldId id="1671" r:id="rId25"/>
    <p:sldId id="1587" r:id="rId26"/>
    <p:sldId id="1588" r:id="rId27"/>
    <p:sldId id="1443" r:id="rId28"/>
    <p:sldId id="1591" r:id="rId29"/>
    <p:sldId id="1590" r:id="rId30"/>
    <p:sldId id="1589" r:id="rId31"/>
    <p:sldId id="1592" r:id="rId32"/>
    <p:sldId id="1442" r:id="rId33"/>
    <p:sldId id="1634" r:id="rId34"/>
    <p:sldId id="1635" r:id="rId35"/>
    <p:sldId id="1636" r:id="rId36"/>
    <p:sldId id="1637" r:id="rId37"/>
    <p:sldId id="1638" r:id="rId38"/>
    <p:sldId id="1639" r:id="rId39"/>
    <p:sldId id="1640" r:id="rId40"/>
    <p:sldId id="1672" r:id="rId41"/>
    <p:sldId id="1644" r:id="rId42"/>
    <p:sldId id="1648" r:id="rId43"/>
    <p:sldId id="1649" r:id="rId44"/>
    <p:sldId id="1654" r:id="rId45"/>
    <p:sldId id="1659" r:id="rId46"/>
    <p:sldId id="1660" r:id="rId47"/>
    <p:sldId id="1655" r:id="rId48"/>
    <p:sldId id="1656" r:id="rId49"/>
    <p:sldId id="1678" r:id="rId50"/>
    <p:sldId id="1683" r:id="rId51"/>
    <p:sldId id="1684" r:id="rId52"/>
    <p:sldId id="1685" r:id="rId53"/>
    <p:sldId id="1686" r:id="rId54"/>
    <p:sldId id="1687" r:id="rId55"/>
    <p:sldId id="1661" r:id="rId56"/>
  </p:sldIdLst>
  <p:sldSz cx="9144000" cy="5143500" type="screen16x9"/>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5AB"/>
    <a:srgbClr val="0D5294"/>
    <a:srgbClr val="BF9001"/>
    <a:srgbClr val="F8E9A7"/>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35" autoAdjust="0"/>
    <p:restoredTop sz="70060" autoAdjust="0"/>
  </p:normalViewPr>
  <p:slideViewPr>
    <p:cSldViewPr snapToGrid="0">
      <p:cViewPr varScale="1">
        <p:scale>
          <a:sx n="135" d="100"/>
          <a:sy n="135" d="100"/>
        </p:scale>
        <p:origin x="1384"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tags" Target="tags/tag1.xml"/><Relationship Id="rId59" Type="http://schemas.openxmlformats.org/officeDocument/2006/relationships/presProps" Target="presProp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2025/9/26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42063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9C12D70-93DE-9890-C445-B978006FD93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A643C487-17D9-0457-464A-D830EFA9BC2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68D8431-B258-2416-8D13-BAEA7C9848B6}"/>
              </a:ext>
            </a:extLst>
          </p:cNvPr>
          <p:cNvSpPr>
            <a:spLocks noGrp="1"/>
          </p:cNvSpPr>
          <p:nvPr>
            <p:ph type="body" idx="1"/>
          </p:nvPr>
        </p:nvSpPr>
        <p:spPr/>
        <p:txBody>
          <a:bodyPr/>
          <a:lstStyle/>
          <a:p>
            <a:r>
              <a:rPr lang="zh-CN" altLang="en-US" dirty="0"/>
              <a:t>可以看作定长的有序字典</a:t>
            </a:r>
            <a:endParaRPr lang="en-US" altLang="zh-CN" dirty="0"/>
          </a:p>
          <a:p>
            <a:r>
              <a:rPr lang="en-US" altLang="zh-CN" dirty="0"/>
              <a:t>Series </a:t>
            </a:r>
            <a:r>
              <a:rPr lang="zh-CN" altLang="en-US" dirty="0"/>
              <a:t>对象的元素会严格依照给出的 </a:t>
            </a:r>
            <a:r>
              <a:rPr lang="en-US" altLang="zh-CN" dirty="0"/>
              <a:t>index </a:t>
            </a:r>
            <a:r>
              <a:rPr lang="zh-CN" altLang="en-US" dirty="0"/>
              <a:t>构建，这意味着：如果 </a:t>
            </a:r>
            <a:r>
              <a:rPr lang="en-US" altLang="zh-CN" dirty="0"/>
              <a:t>data </a:t>
            </a:r>
            <a:r>
              <a:rPr lang="zh-CN" altLang="en-US" dirty="0"/>
              <a:t>参数是有键值对的，那么只有 </a:t>
            </a:r>
            <a:r>
              <a:rPr lang="en-US" altLang="zh-CN" dirty="0"/>
              <a:t>index </a:t>
            </a:r>
            <a:r>
              <a:rPr lang="zh-CN" altLang="en-US" dirty="0"/>
              <a:t>中含有的键会被使用；以及如果 </a:t>
            </a:r>
            <a:r>
              <a:rPr lang="en-US" altLang="zh-CN" dirty="0"/>
              <a:t>data </a:t>
            </a:r>
            <a:r>
              <a:rPr lang="zh-CN" altLang="en-US" dirty="0"/>
              <a:t>中缺少响应的键，即使给出 </a:t>
            </a:r>
            <a:r>
              <a:rPr lang="en-US" altLang="zh-CN" dirty="0" err="1"/>
              <a:t>NaN</a:t>
            </a:r>
            <a:r>
              <a:rPr lang="en-US" altLang="zh-CN" dirty="0"/>
              <a:t> </a:t>
            </a:r>
            <a:r>
              <a:rPr lang="zh-CN" altLang="en-US" dirty="0"/>
              <a:t>值，这个键也会被添加</a:t>
            </a:r>
            <a:endParaRPr lang="en-US" altLang="zh-CN" dirty="0"/>
          </a:p>
          <a:p>
            <a:r>
              <a:rPr lang="en-US" altLang="zh-CN" dirty="0"/>
              <a:t>Series </a:t>
            </a:r>
            <a:r>
              <a:rPr lang="zh-CN" altLang="en-US" dirty="0"/>
              <a:t>的 </a:t>
            </a:r>
            <a:r>
              <a:rPr lang="en-US" altLang="zh-CN" dirty="0"/>
              <a:t>index </a:t>
            </a:r>
            <a:r>
              <a:rPr lang="zh-CN" altLang="en-US" dirty="0"/>
              <a:t>和 </a:t>
            </a:r>
            <a:r>
              <a:rPr lang="en-US" altLang="zh-CN" dirty="0"/>
              <a:t>values </a:t>
            </a:r>
            <a:r>
              <a:rPr lang="zh-CN" altLang="en-US" dirty="0"/>
              <a:t>的元素之间虽然存在对应关系，但这与字典的映射不同。</a:t>
            </a:r>
            <a:r>
              <a:rPr lang="en-US" altLang="zh-CN" dirty="0"/>
              <a:t>index </a:t>
            </a:r>
            <a:r>
              <a:rPr lang="zh-CN" altLang="en-US" dirty="0"/>
              <a:t>和 </a:t>
            </a:r>
            <a:r>
              <a:rPr lang="en-US" altLang="zh-CN" dirty="0"/>
              <a:t>values </a:t>
            </a:r>
            <a:r>
              <a:rPr lang="zh-CN" altLang="en-US" dirty="0"/>
              <a:t>实际仍为互相独立的 </a:t>
            </a:r>
            <a:r>
              <a:rPr lang="en-US" altLang="zh-CN" dirty="0" err="1"/>
              <a:t>ndarray</a:t>
            </a:r>
            <a:r>
              <a:rPr lang="en-US" altLang="zh-CN" dirty="0"/>
              <a:t> </a:t>
            </a:r>
            <a:r>
              <a:rPr lang="zh-CN" altLang="en-US" dirty="0"/>
              <a:t>数组</a:t>
            </a:r>
            <a:endParaRPr lang="en-US" altLang="zh-CN" dirty="0"/>
          </a:p>
          <a:p>
            <a:r>
              <a:rPr lang="en-US" altLang="zh-CN" sz="1200" b="0" i="0" kern="1200" dirty="0">
                <a:solidFill>
                  <a:schemeClr val="tx1"/>
                </a:solidFill>
                <a:effectLst/>
                <a:latin typeface="+mn-lt"/>
                <a:ea typeface="+mn-ea"/>
                <a:cs typeface="+mn-cs"/>
              </a:rPr>
              <a:t>Series </a:t>
            </a:r>
            <a:r>
              <a:rPr lang="zh-CN" altLang="en-US" sz="1200" b="0" i="0" kern="1200" dirty="0">
                <a:solidFill>
                  <a:schemeClr val="tx1"/>
                </a:solidFill>
                <a:effectLst/>
                <a:latin typeface="+mn-lt"/>
                <a:ea typeface="+mn-ea"/>
                <a:cs typeface="+mn-cs"/>
              </a:rPr>
              <a:t>这种使用键值对的数据结构最大的好处在于，</a:t>
            </a:r>
            <a:r>
              <a:rPr lang="en-US" altLang="zh-CN" sz="1200" b="0" i="0" kern="1200" dirty="0">
                <a:solidFill>
                  <a:schemeClr val="tx1"/>
                </a:solidFill>
                <a:effectLst/>
                <a:latin typeface="+mn-lt"/>
                <a:ea typeface="+mn-ea"/>
                <a:cs typeface="+mn-cs"/>
              </a:rPr>
              <a:t>Series </a:t>
            </a:r>
            <a:r>
              <a:rPr lang="zh-CN" altLang="en-US" sz="1200" b="0" i="0" kern="1200" dirty="0">
                <a:solidFill>
                  <a:schemeClr val="tx1"/>
                </a:solidFill>
                <a:effectLst/>
                <a:latin typeface="+mn-lt"/>
                <a:ea typeface="+mn-ea"/>
                <a:cs typeface="+mn-cs"/>
              </a:rPr>
              <a:t>间进行算术运算时，</a:t>
            </a:r>
            <a:r>
              <a:rPr lang="en-US" altLang="zh-CN" sz="1200" b="0" i="0" kern="1200" dirty="0">
                <a:solidFill>
                  <a:schemeClr val="tx1"/>
                </a:solidFill>
                <a:effectLst/>
                <a:latin typeface="+mn-lt"/>
                <a:ea typeface="+mn-ea"/>
                <a:cs typeface="+mn-cs"/>
              </a:rPr>
              <a:t>index </a:t>
            </a:r>
            <a:r>
              <a:rPr lang="zh-CN" altLang="en-US" sz="1200" b="0" i="0" kern="1200" dirty="0">
                <a:solidFill>
                  <a:schemeClr val="tx1"/>
                </a:solidFill>
                <a:effectLst/>
                <a:latin typeface="+mn-lt"/>
                <a:ea typeface="+mn-ea"/>
                <a:cs typeface="+mn-cs"/>
              </a:rPr>
              <a:t>会自动对齐</a:t>
            </a:r>
            <a:endParaRPr lang="zh-CN" altLang="en-US" dirty="0"/>
          </a:p>
        </p:txBody>
      </p:sp>
      <p:sp>
        <p:nvSpPr>
          <p:cNvPr id="4" name="Slide Number Placeholder 3">
            <a:extLst>
              <a:ext uri="{FF2B5EF4-FFF2-40B4-BE49-F238E27FC236}">
                <a16:creationId xmlns="" xmlns:a16="http://schemas.microsoft.com/office/drawing/2014/main" id="{CD6E5384-2D95-7A8A-3AC7-60AB6026BBE9}"/>
              </a:ext>
            </a:extLst>
          </p:cNvPr>
          <p:cNvSpPr>
            <a:spLocks noGrp="1"/>
          </p:cNvSpPr>
          <p:nvPr>
            <p:ph type="sldNum" sz="quarter" idx="10"/>
          </p:nvPr>
        </p:nvSpPr>
        <p:spPr/>
        <p:txBody>
          <a:bodyPr/>
          <a:lstStyle/>
          <a:p>
            <a:pPr>
              <a:defRPr/>
            </a:pPr>
            <a:fld id="{5EEA8646-D42C-7848-85C5-5433BC7DD77C}" type="slidenum">
              <a:rPr lang="zh-CN" altLang="en-US" smtClean="0"/>
              <a:pPr>
                <a:defRPr/>
              </a:pPr>
              <a:t>3</a:t>
            </a:fld>
            <a:endParaRPr lang="en-US" altLang="zh-CN"/>
          </a:p>
        </p:txBody>
      </p:sp>
    </p:spTree>
    <p:extLst>
      <p:ext uri="{BB962C8B-B14F-4D97-AF65-F5344CB8AC3E}">
        <p14:creationId xmlns:p14="http://schemas.microsoft.com/office/powerpoint/2010/main" val="350365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343BB81-AECE-20F6-61C7-B4F944C10B4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E32B3448-60FA-6615-D9BB-88B3C2B63EB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1630F31-D829-7478-C29B-B6C23B983AFF}"/>
              </a:ext>
            </a:extLst>
          </p:cNvPr>
          <p:cNvSpPr>
            <a:spLocks noGrp="1"/>
          </p:cNvSpPr>
          <p:nvPr>
            <p:ph type="body" idx="1"/>
          </p:nvPr>
        </p:nvSpPr>
        <p:spPr/>
        <p:txBody>
          <a:bodyPr/>
          <a:lstStyle/>
          <a:p>
            <a:r>
              <a:rPr lang="zh-CN" altLang="en-US" dirty="0"/>
              <a:t>可以看作定长的有序字典</a:t>
            </a:r>
            <a:endParaRPr lang="en-US" altLang="zh-CN" dirty="0"/>
          </a:p>
          <a:p>
            <a:r>
              <a:rPr lang="en-US" altLang="zh-CN" dirty="0"/>
              <a:t>Series </a:t>
            </a:r>
            <a:r>
              <a:rPr lang="zh-CN" altLang="en-US" dirty="0"/>
              <a:t>对象的元素会严格依照给出的 </a:t>
            </a:r>
            <a:r>
              <a:rPr lang="en-US" altLang="zh-CN" dirty="0"/>
              <a:t>index </a:t>
            </a:r>
            <a:r>
              <a:rPr lang="zh-CN" altLang="en-US" dirty="0"/>
              <a:t>构建，这意味着：如果 </a:t>
            </a:r>
            <a:r>
              <a:rPr lang="en-US" altLang="zh-CN" dirty="0"/>
              <a:t>data </a:t>
            </a:r>
            <a:r>
              <a:rPr lang="zh-CN" altLang="en-US" dirty="0"/>
              <a:t>参数是有键值对的，那么只有 </a:t>
            </a:r>
            <a:r>
              <a:rPr lang="en-US" altLang="zh-CN" dirty="0"/>
              <a:t>index </a:t>
            </a:r>
            <a:r>
              <a:rPr lang="zh-CN" altLang="en-US" dirty="0"/>
              <a:t>中含有的键会被使用；以及如果 </a:t>
            </a:r>
            <a:r>
              <a:rPr lang="en-US" altLang="zh-CN" dirty="0"/>
              <a:t>data </a:t>
            </a:r>
            <a:r>
              <a:rPr lang="zh-CN" altLang="en-US" dirty="0"/>
              <a:t>中缺少响应的键，即使给出 </a:t>
            </a:r>
            <a:r>
              <a:rPr lang="en-US" altLang="zh-CN" dirty="0" err="1"/>
              <a:t>NaN</a:t>
            </a:r>
            <a:r>
              <a:rPr lang="en-US" altLang="zh-CN" dirty="0"/>
              <a:t> </a:t>
            </a:r>
            <a:r>
              <a:rPr lang="zh-CN" altLang="en-US" dirty="0"/>
              <a:t>值，这个键也会被添加</a:t>
            </a:r>
            <a:endParaRPr lang="en-US" altLang="zh-CN" dirty="0"/>
          </a:p>
          <a:p>
            <a:r>
              <a:rPr lang="en-US" altLang="zh-CN" dirty="0"/>
              <a:t>Series </a:t>
            </a:r>
            <a:r>
              <a:rPr lang="zh-CN" altLang="en-US" dirty="0"/>
              <a:t>的 </a:t>
            </a:r>
            <a:r>
              <a:rPr lang="en-US" altLang="zh-CN" dirty="0"/>
              <a:t>index </a:t>
            </a:r>
            <a:r>
              <a:rPr lang="zh-CN" altLang="en-US" dirty="0"/>
              <a:t>和 </a:t>
            </a:r>
            <a:r>
              <a:rPr lang="en-US" altLang="zh-CN" dirty="0"/>
              <a:t>values </a:t>
            </a:r>
            <a:r>
              <a:rPr lang="zh-CN" altLang="en-US" dirty="0"/>
              <a:t>的元素之间虽然存在对应关系，但这与字典的映射不同。</a:t>
            </a:r>
            <a:r>
              <a:rPr lang="en-US" altLang="zh-CN" dirty="0"/>
              <a:t>index </a:t>
            </a:r>
            <a:r>
              <a:rPr lang="zh-CN" altLang="en-US" dirty="0"/>
              <a:t>和 </a:t>
            </a:r>
            <a:r>
              <a:rPr lang="en-US" altLang="zh-CN" dirty="0"/>
              <a:t>values </a:t>
            </a:r>
            <a:r>
              <a:rPr lang="zh-CN" altLang="en-US" dirty="0"/>
              <a:t>实际仍为互相独立的 </a:t>
            </a:r>
            <a:r>
              <a:rPr lang="en-US" altLang="zh-CN" dirty="0" err="1"/>
              <a:t>ndarray</a:t>
            </a:r>
            <a:r>
              <a:rPr lang="en-US" altLang="zh-CN" dirty="0"/>
              <a:t> </a:t>
            </a:r>
            <a:r>
              <a:rPr lang="zh-CN" altLang="en-US" dirty="0"/>
              <a:t>数组</a:t>
            </a:r>
            <a:endParaRPr lang="en-US" altLang="zh-CN" dirty="0"/>
          </a:p>
          <a:p>
            <a:r>
              <a:rPr lang="en-US" altLang="zh-CN" sz="1200" b="0" i="0" kern="1200" dirty="0">
                <a:solidFill>
                  <a:schemeClr val="tx1"/>
                </a:solidFill>
                <a:effectLst/>
                <a:latin typeface="+mn-lt"/>
                <a:ea typeface="+mn-ea"/>
                <a:cs typeface="+mn-cs"/>
              </a:rPr>
              <a:t>Series </a:t>
            </a:r>
            <a:r>
              <a:rPr lang="zh-CN" altLang="en-US" sz="1200" b="0" i="0" kern="1200" dirty="0">
                <a:solidFill>
                  <a:schemeClr val="tx1"/>
                </a:solidFill>
                <a:effectLst/>
                <a:latin typeface="+mn-lt"/>
                <a:ea typeface="+mn-ea"/>
                <a:cs typeface="+mn-cs"/>
              </a:rPr>
              <a:t>这种使用键值对的数据结构最大的好处在于，</a:t>
            </a:r>
            <a:r>
              <a:rPr lang="en-US" altLang="zh-CN" sz="1200" b="0" i="0" kern="1200" dirty="0">
                <a:solidFill>
                  <a:schemeClr val="tx1"/>
                </a:solidFill>
                <a:effectLst/>
                <a:latin typeface="+mn-lt"/>
                <a:ea typeface="+mn-ea"/>
                <a:cs typeface="+mn-cs"/>
              </a:rPr>
              <a:t>Series </a:t>
            </a:r>
            <a:r>
              <a:rPr lang="zh-CN" altLang="en-US" sz="1200" b="0" i="0" kern="1200" dirty="0">
                <a:solidFill>
                  <a:schemeClr val="tx1"/>
                </a:solidFill>
                <a:effectLst/>
                <a:latin typeface="+mn-lt"/>
                <a:ea typeface="+mn-ea"/>
                <a:cs typeface="+mn-cs"/>
              </a:rPr>
              <a:t>间进行算术运算时，</a:t>
            </a:r>
            <a:r>
              <a:rPr lang="en-US" altLang="zh-CN" sz="1200" b="0" i="0" kern="1200" dirty="0">
                <a:solidFill>
                  <a:schemeClr val="tx1"/>
                </a:solidFill>
                <a:effectLst/>
                <a:latin typeface="+mn-lt"/>
                <a:ea typeface="+mn-ea"/>
                <a:cs typeface="+mn-cs"/>
              </a:rPr>
              <a:t>index </a:t>
            </a:r>
            <a:r>
              <a:rPr lang="zh-CN" altLang="en-US" sz="1200" b="0" i="0" kern="1200" dirty="0">
                <a:solidFill>
                  <a:schemeClr val="tx1"/>
                </a:solidFill>
                <a:effectLst/>
                <a:latin typeface="+mn-lt"/>
                <a:ea typeface="+mn-ea"/>
                <a:cs typeface="+mn-cs"/>
              </a:rPr>
              <a:t>会自动对齐</a:t>
            </a:r>
            <a:endParaRPr lang="zh-CN" altLang="en-US" dirty="0"/>
          </a:p>
        </p:txBody>
      </p:sp>
      <p:sp>
        <p:nvSpPr>
          <p:cNvPr id="4" name="Slide Number Placeholder 3">
            <a:extLst>
              <a:ext uri="{FF2B5EF4-FFF2-40B4-BE49-F238E27FC236}">
                <a16:creationId xmlns="" xmlns:a16="http://schemas.microsoft.com/office/drawing/2014/main" id="{88342BCF-D5DD-EAD6-51FF-618C0E7384CE}"/>
              </a:ext>
            </a:extLst>
          </p:cNvPr>
          <p:cNvSpPr>
            <a:spLocks noGrp="1"/>
          </p:cNvSpPr>
          <p:nvPr>
            <p:ph type="sldNum" sz="quarter" idx="10"/>
          </p:nvPr>
        </p:nvSpPr>
        <p:spPr/>
        <p:txBody>
          <a:bodyPr/>
          <a:lstStyle/>
          <a:p>
            <a:pPr>
              <a:defRPr/>
            </a:pPr>
            <a:fld id="{5EEA8646-D42C-7848-85C5-5433BC7DD77C}" type="slidenum">
              <a:rPr lang="zh-CN" altLang="en-US" smtClean="0"/>
              <a:pPr>
                <a:defRPr/>
              </a:pPr>
              <a:t>4</a:t>
            </a:fld>
            <a:endParaRPr lang="en-US" altLang="zh-CN"/>
          </a:p>
        </p:txBody>
      </p:sp>
    </p:spTree>
    <p:extLst>
      <p:ext uri="{BB962C8B-B14F-4D97-AF65-F5344CB8AC3E}">
        <p14:creationId xmlns:p14="http://schemas.microsoft.com/office/powerpoint/2010/main" val="1907571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E0163E9-740C-EA76-7F60-738E9C50764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E23B65F-18B3-23FE-D094-EA565CF6A3E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E03B2BEF-868E-63E1-6679-389EA55EF1FF}"/>
              </a:ext>
            </a:extLst>
          </p:cNvPr>
          <p:cNvSpPr>
            <a:spLocks noGrp="1"/>
          </p:cNvSpPr>
          <p:nvPr>
            <p:ph type="body" idx="1"/>
          </p:nvPr>
        </p:nvSpPr>
        <p:spPr/>
        <p:txBody>
          <a:bodyPr/>
          <a:lstStyle/>
          <a:p>
            <a:r>
              <a:rPr lang="zh-CN" altLang="en-US" dirty="0"/>
              <a:t>参数 </a:t>
            </a:r>
            <a:r>
              <a:rPr lang="en-US" altLang="zh-CN" dirty="0"/>
              <a:t>data </a:t>
            </a:r>
            <a:r>
              <a:rPr lang="zh-CN" altLang="en-US" dirty="0"/>
              <a:t>看起来是个字典，但字典的键并非充当 </a:t>
            </a:r>
            <a:r>
              <a:rPr lang="en-US" altLang="zh-CN" dirty="0" err="1"/>
              <a:t>DataFrame</a:t>
            </a:r>
            <a:r>
              <a:rPr lang="en-US" altLang="zh-CN" dirty="0"/>
              <a:t> </a:t>
            </a:r>
            <a:r>
              <a:rPr lang="zh-CN" altLang="en-US" dirty="0"/>
              <a:t>的 </a:t>
            </a:r>
            <a:r>
              <a:rPr lang="en-US" altLang="zh-CN" dirty="0"/>
              <a:t>index </a:t>
            </a:r>
            <a:r>
              <a:rPr lang="zh-CN" altLang="en-US" dirty="0"/>
              <a:t>的角色，而是 </a:t>
            </a:r>
            <a:r>
              <a:rPr lang="en-US" altLang="zh-CN" dirty="0"/>
              <a:t>Series </a:t>
            </a:r>
            <a:r>
              <a:rPr lang="zh-CN" altLang="en-US" dirty="0"/>
              <a:t>的 “</a:t>
            </a:r>
            <a:r>
              <a:rPr lang="en-US" altLang="zh-CN" dirty="0"/>
              <a:t>name” </a:t>
            </a:r>
            <a:r>
              <a:rPr lang="zh-CN" altLang="en-US" dirty="0"/>
              <a:t>属性。这里生成的 </a:t>
            </a:r>
            <a:r>
              <a:rPr lang="en-US" altLang="zh-CN" dirty="0"/>
              <a:t>index </a:t>
            </a:r>
            <a:r>
              <a:rPr lang="zh-CN" altLang="en-US" dirty="0"/>
              <a:t>仍是 </a:t>
            </a:r>
            <a:r>
              <a:rPr lang="en-US" altLang="zh-CN" dirty="0"/>
              <a:t>01234</a:t>
            </a:r>
          </a:p>
          <a:p>
            <a:endParaRPr lang="en-US" altLang="zh-CN" dirty="0"/>
          </a:p>
          <a:p>
            <a:r>
              <a:rPr lang="zh-CN" altLang="en-US" dirty="0"/>
              <a:t>也可以用嵌套字典创建</a:t>
            </a:r>
            <a:r>
              <a:rPr lang="en-US" altLang="zh-CN" dirty="0" err="1"/>
              <a:t>DataFrame</a:t>
            </a:r>
            <a:r>
              <a:rPr lang="zh-CN" altLang="en-US" dirty="0"/>
              <a:t>，外层字典的健是作为列，内层健作为索引</a:t>
            </a:r>
            <a:endParaRPr lang="en-US" altLang="zh-CN" dirty="0"/>
          </a:p>
          <a:p>
            <a:endParaRPr lang="en-US" altLang="zh-CN" dirty="0"/>
          </a:p>
          <a:p>
            <a:r>
              <a:rPr lang="zh-CN" altLang="en-US" dirty="0"/>
              <a:t>感冒</a:t>
            </a:r>
            <a:endParaRPr lang="en-US" altLang="zh-CN" dirty="0"/>
          </a:p>
          <a:p>
            <a:endParaRPr lang="zh-CN" altLang="en-US" dirty="0"/>
          </a:p>
          <a:p>
            <a:endParaRPr lang="en-US" dirty="0"/>
          </a:p>
        </p:txBody>
      </p:sp>
      <p:sp>
        <p:nvSpPr>
          <p:cNvPr id="4" name="Slide Number Placeholder 3">
            <a:extLst>
              <a:ext uri="{FF2B5EF4-FFF2-40B4-BE49-F238E27FC236}">
                <a16:creationId xmlns="" xmlns:a16="http://schemas.microsoft.com/office/drawing/2014/main" id="{E4ECA2AC-8F2C-3558-42BE-39D9DE735294}"/>
              </a:ext>
            </a:extLst>
          </p:cNvPr>
          <p:cNvSpPr>
            <a:spLocks noGrp="1"/>
          </p:cNvSpPr>
          <p:nvPr>
            <p:ph type="sldNum" sz="quarter" idx="10"/>
          </p:nvPr>
        </p:nvSpPr>
        <p:spPr/>
        <p:txBody>
          <a:bodyPr/>
          <a:lstStyle/>
          <a:p>
            <a:fld id="{A8537CBA-0E44-4282-A4F0-C3BCC1A4C2D1}" type="slidenum">
              <a:rPr lang="zh-CN" altLang="en-US" smtClean="0"/>
              <a:t>6</a:t>
            </a:fld>
            <a:endParaRPr lang="zh-CN" altLang="en-US"/>
          </a:p>
        </p:txBody>
      </p:sp>
    </p:spTree>
    <p:extLst>
      <p:ext uri="{BB962C8B-B14F-4D97-AF65-F5344CB8AC3E}">
        <p14:creationId xmlns:p14="http://schemas.microsoft.com/office/powerpoint/2010/main" val="3108100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F0000"/>
              </a:solidFill>
              <a:latin typeface="STZhongsong" charset="-122"/>
              <a:ea typeface="STZhongsong" charset="-122"/>
              <a:cs typeface="STZhongsong" charset="-122"/>
            </a:endParaRPr>
          </a:p>
        </p:txBody>
      </p:sp>
      <p:sp>
        <p:nvSpPr>
          <p:cNvPr id="4" name="Slide Number Placeholder 3"/>
          <p:cNvSpPr>
            <a:spLocks noGrp="1"/>
          </p:cNvSpPr>
          <p:nvPr>
            <p:ph type="sldNum" sz="quarter" idx="10"/>
          </p:nvPr>
        </p:nvSpPr>
        <p:spPr/>
        <p:txBody>
          <a:bodyPr/>
          <a:lstStyle/>
          <a:p>
            <a:pPr>
              <a:defRPr/>
            </a:pPr>
            <a:fld id="{5EEA8646-D42C-7848-85C5-5433BC7DD77C}" type="slidenum">
              <a:rPr lang="zh-CN" altLang="en-US" smtClean="0"/>
              <a:pPr>
                <a:defRPr/>
              </a:pPr>
              <a:t>7</a:t>
            </a:fld>
            <a:endParaRPr lang="en-US" altLang="zh-CN"/>
          </a:p>
        </p:txBody>
      </p:sp>
    </p:spTree>
    <p:extLst>
      <p:ext uri="{BB962C8B-B14F-4D97-AF65-F5344CB8AC3E}">
        <p14:creationId xmlns:p14="http://schemas.microsoft.com/office/powerpoint/2010/main" val="704408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err="1"/>
              <a:t>pop_DF.drop</a:t>
            </a:r>
            <a:r>
              <a:rPr lang="en-US" altLang="zh-CN" dirty="0"/>
              <a:t>(['</a:t>
            </a:r>
            <a:r>
              <a:rPr lang="en-US" altLang="zh-CN" dirty="0" err="1"/>
              <a:t>Bao</a:t>
            </a:r>
            <a:r>
              <a:rPr lang="en-US" altLang="zh-CN" dirty="0"/>
              <a:t>', '</a:t>
            </a:r>
            <a:r>
              <a:rPr lang="en-US" altLang="zh-CN" dirty="0" err="1"/>
              <a:t>Jin</a:t>
            </a:r>
            <a:r>
              <a:rPr lang="en-US" altLang="zh-CN" dirty="0"/>
              <a:t>']) </a:t>
            </a:r>
          </a:p>
          <a:p>
            <a:r>
              <a:rPr lang="en-US" altLang="zh-CN" dirty="0" err="1"/>
              <a:t>pop_DF.drop</a:t>
            </a:r>
            <a:r>
              <a:rPr lang="en-US" altLang="zh-CN" dirty="0"/>
              <a:t>(['province'],axis=1)</a:t>
            </a:r>
            <a:endParaRPr lang="en-US" dirty="0"/>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8</a:t>
            </a:fld>
            <a:endParaRPr lang="zh-CN" altLang="en-US"/>
          </a:p>
        </p:txBody>
      </p:sp>
    </p:spTree>
    <p:extLst>
      <p:ext uri="{BB962C8B-B14F-4D97-AF65-F5344CB8AC3E}">
        <p14:creationId xmlns:p14="http://schemas.microsoft.com/office/powerpoint/2010/main" val="44138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9</a:t>
            </a:fld>
            <a:endParaRPr lang="zh-CN" altLang="en-US"/>
          </a:p>
        </p:txBody>
      </p:sp>
    </p:spTree>
    <p:extLst>
      <p:ext uri="{BB962C8B-B14F-4D97-AF65-F5344CB8AC3E}">
        <p14:creationId xmlns:p14="http://schemas.microsoft.com/office/powerpoint/2010/main" val="1907764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9385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82075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2647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30</a:t>
            </a:fld>
            <a:endParaRPr lang="zh-CN" altLang="en-US"/>
          </a:p>
        </p:txBody>
      </p:sp>
    </p:spTree>
    <p:extLst>
      <p:ext uri="{BB962C8B-B14F-4D97-AF65-F5344CB8AC3E}">
        <p14:creationId xmlns:p14="http://schemas.microsoft.com/office/powerpoint/2010/main" val="40907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31</a:t>
            </a:fld>
            <a:endParaRPr lang="zh-CN" altLang="en-US"/>
          </a:p>
        </p:txBody>
      </p:sp>
    </p:spTree>
    <p:extLst>
      <p:ext uri="{BB962C8B-B14F-4D97-AF65-F5344CB8AC3E}">
        <p14:creationId xmlns:p14="http://schemas.microsoft.com/office/powerpoint/2010/main" val="465501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32</a:t>
            </a:fld>
            <a:endParaRPr lang="zh-CN" altLang="en-US"/>
          </a:p>
        </p:txBody>
      </p:sp>
    </p:spTree>
    <p:extLst>
      <p:ext uri="{BB962C8B-B14F-4D97-AF65-F5344CB8AC3E}">
        <p14:creationId xmlns:p14="http://schemas.microsoft.com/office/powerpoint/2010/main" val="1279046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A8537CBA-0E44-4282-A4F0-C3BCC1A4C2D1}" type="slidenum">
              <a:rPr lang="zh-CN" altLang="en-US" smtClean="0"/>
              <a:t>34</a:t>
            </a:fld>
            <a:endParaRPr lang="zh-CN" altLang="en-US"/>
          </a:p>
        </p:txBody>
      </p:sp>
    </p:spTree>
    <p:extLst>
      <p:ext uri="{BB962C8B-B14F-4D97-AF65-F5344CB8AC3E}">
        <p14:creationId xmlns:p14="http://schemas.microsoft.com/office/powerpoint/2010/main" val="2143898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756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44</a:t>
            </a:fld>
            <a:endParaRPr lang="zh-CN" altLang="en-US"/>
          </a:p>
        </p:txBody>
      </p:sp>
    </p:spTree>
    <p:extLst>
      <p:ext uri="{BB962C8B-B14F-4D97-AF65-F5344CB8AC3E}">
        <p14:creationId xmlns:p14="http://schemas.microsoft.com/office/powerpoint/2010/main" val="1676975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46</a:t>
            </a:fld>
            <a:endParaRPr lang="zh-CN" altLang="en-US"/>
          </a:p>
        </p:txBody>
      </p:sp>
    </p:spTree>
    <p:extLst>
      <p:ext uri="{BB962C8B-B14F-4D97-AF65-F5344CB8AC3E}">
        <p14:creationId xmlns:p14="http://schemas.microsoft.com/office/powerpoint/2010/main" val="916744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47</a:t>
            </a:fld>
            <a:endParaRPr lang="zh-CN" altLang="en-US"/>
          </a:p>
        </p:txBody>
      </p:sp>
    </p:spTree>
    <p:extLst>
      <p:ext uri="{BB962C8B-B14F-4D97-AF65-F5344CB8AC3E}">
        <p14:creationId xmlns:p14="http://schemas.microsoft.com/office/powerpoint/2010/main" val="1169341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48</a:t>
            </a:fld>
            <a:endParaRPr lang="zh-CN" altLang="en-US"/>
          </a:p>
        </p:txBody>
      </p:sp>
    </p:spTree>
    <p:extLst>
      <p:ext uri="{BB962C8B-B14F-4D97-AF65-F5344CB8AC3E}">
        <p14:creationId xmlns:p14="http://schemas.microsoft.com/office/powerpoint/2010/main" val="1006480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83617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p:transition spd="slow">
    <p:cover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164761"/>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jpg"/><Relationship Id="rId19"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2025/9/26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 xmlns:a16="http://schemas.microsoft.com/office/drawing/2014/main" id="{341F63DC-E866-4077-8215-C471E38E7305}"/>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 id="2147483687" r:id="rId16"/>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4" Type="http://schemas.openxmlformats.org/officeDocument/2006/relationships/image" Target="../media/image3.png"/><Relationship Id="rId5" Type="http://schemas.microsoft.com/office/2007/relationships/hdphoto" Target="../media/hdphoto1.wdp"/><Relationship Id="rId6" Type="http://schemas.openxmlformats.org/officeDocument/2006/relationships/image" Target="../media/image4.png"/><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4" Type="http://schemas.openxmlformats.org/officeDocument/2006/relationships/image" Target="../media/image48.png"/><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51.emf"/><Relationship Id="rId4" Type="http://schemas.openxmlformats.org/officeDocument/2006/relationships/image" Target="../media/image52.emf"/><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6.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forwindows.org/"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68379"/>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571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74527"/>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85940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grpSp>
        <p:nvGrpSpPr>
          <p:cNvPr id="25" name="Group 91"/>
          <p:cNvGrpSpPr>
            <a:grpSpLocks/>
          </p:cNvGrpSpPr>
          <p:nvPr/>
        </p:nvGrpSpPr>
        <p:grpSpPr bwMode="auto">
          <a:xfrm>
            <a:off x="1822357" y="385940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b="1">
                  <a:solidFill>
                    <a:srgbClr val="CA0098"/>
                  </a:solidFill>
                  <a:latin typeface="微软雅黑" pitchFamily="34" charset="-122"/>
                  <a:ea typeface="微软雅黑"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122153" y="2178371"/>
            <a:ext cx="8945065" cy="584747"/>
          </a:xfrm>
          <a:prstGeom prst="rect">
            <a:avLst/>
          </a:prstGeom>
          <a:noFill/>
        </p:spPr>
        <p:txBody>
          <a:bodyPr wrap="square" lIns="91413" tIns="45706" rIns="91413" bIns="45706"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a:t>
            </a:r>
            <a:r>
              <a:rPr lang="en-US" altLang="zh-CN" sz="3200" b="1" dirty="0">
                <a:solidFill>
                  <a:schemeClr val="bg1"/>
                </a:solidFill>
                <a:latin typeface="微软雅黑" panose="020B0503020204020204" pitchFamily="34" charset="-122"/>
                <a:ea typeface="微软雅黑" panose="020B0503020204020204" pitchFamily="34" charset="-122"/>
              </a:rPr>
              <a:t>3</a:t>
            </a:r>
            <a:r>
              <a:rPr lang="zh-CN" altLang="en-US" sz="3200" b="1" dirty="0">
                <a:solidFill>
                  <a:schemeClr val="bg1"/>
                </a:solidFill>
                <a:latin typeface="微软雅黑" panose="020B0503020204020204" pitchFamily="34" charset="-122"/>
                <a:ea typeface="微软雅黑" panose="020B0503020204020204" pitchFamily="34" charset="-122"/>
              </a:rPr>
              <a:t>讲：表格数据处理与</a:t>
            </a:r>
            <a:r>
              <a:rPr lang="en-US" altLang="zh-CN" sz="3200" b="1" dirty="0">
                <a:solidFill>
                  <a:schemeClr val="bg1"/>
                </a:solidFill>
                <a:latin typeface="微软雅黑" panose="020B0503020204020204" pitchFamily="34" charset="-122"/>
                <a:ea typeface="微软雅黑" panose="020B0503020204020204" pitchFamily="34" charset="-122"/>
              </a:rPr>
              <a:t>Pandas</a:t>
            </a:r>
            <a:r>
              <a:rPr lang="zh-CN" altLang="en-US" sz="3200" b="1" dirty="0">
                <a:solidFill>
                  <a:schemeClr val="bg1"/>
                </a:solidFill>
                <a:latin typeface="微软雅黑" panose="020B0503020204020204" pitchFamily="34" charset="-122"/>
                <a:ea typeface="微软雅黑" panose="020B0503020204020204" pitchFamily="34" charset="-122"/>
              </a:rPr>
              <a:t> </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 </a:t>
            </a:r>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7" name="Rectangle 3">
            <a:extLst>
              <a:ext uri="{FF2B5EF4-FFF2-40B4-BE49-F238E27FC236}">
                <a16:creationId xmlns="" xmlns:a16="http://schemas.microsoft.com/office/drawing/2014/main" id="{B11913AF-7BDC-6A43-974D-C041DD8A3C13}"/>
              </a:ext>
            </a:extLst>
          </p:cNvPr>
          <p:cNvSpPr txBox="1">
            <a:spLocks noChangeArrowheads="1"/>
          </p:cNvSpPr>
          <p:nvPr/>
        </p:nvSpPr>
        <p:spPr bwMode="auto">
          <a:xfrm>
            <a:off x="1692275" y="3908859"/>
            <a:ext cx="5256213" cy="285750"/>
          </a:xfrm>
          <a:prstGeom prst="rect">
            <a:avLst/>
          </a:prstGeom>
          <a:noFill/>
          <a:ln w="9525">
            <a:noFill/>
            <a:miter lim="800000"/>
            <a:headEnd/>
            <a:tailEnd/>
          </a:ln>
        </p:spPr>
        <p:txBody>
          <a:bodyPr/>
          <a:lstStyle/>
          <a:p>
            <a:pPr algn="ctr">
              <a:lnSpc>
                <a:spcPct val="80000"/>
              </a:lnSpc>
              <a:spcBef>
                <a:spcPct val="20000"/>
              </a:spcBef>
              <a:buSzPct val="100000"/>
              <a:defRPr/>
            </a:pPr>
            <a:r>
              <a:rPr kumimoji="1" lang="zh-CN" altLang="mr-IN" b="1" kern="0" dirty="0">
                <a:solidFill>
                  <a:schemeClr val="bg1"/>
                </a:solidFill>
                <a:latin typeface="Times-Roman" charset="0"/>
                <a:ea typeface="隶书" pitchFamily="49" charset="-122"/>
              </a:rPr>
              <a:t>范举教授         </a:t>
            </a:r>
            <a:r>
              <a:rPr kumimoji="1" lang="mr-IN" altLang="zh-CN" b="1" kern="0" dirty="0" err="1">
                <a:solidFill>
                  <a:schemeClr val="bg1"/>
                </a:solidFill>
                <a:latin typeface="Times-Roman" charset="0"/>
                <a:ea typeface="隶书" pitchFamily="49" charset="-122"/>
              </a:rPr>
              <a:t>fanj@ruc.edu.cn</a:t>
            </a:r>
            <a:endParaRPr kumimoji="1" lang="mr-IN" altLang="zh-CN" b="1" kern="0" dirty="0">
              <a:solidFill>
                <a:schemeClr val="bg1"/>
              </a:solidFill>
              <a:latin typeface="Times-Roman" charset="0"/>
              <a:ea typeface="隶书" pitchFamily="49" charset="-122"/>
            </a:endParaRPr>
          </a:p>
        </p:txBody>
      </p:sp>
      <p:sp>
        <p:nvSpPr>
          <p:cNvPr id="18" name="Title 7">
            <a:extLst>
              <a:ext uri="{FF2B5EF4-FFF2-40B4-BE49-F238E27FC236}">
                <a16:creationId xmlns="" xmlns:a16="http://schemas.microsoft.com/office/drawing/2014/main" id="{9951EC0A-19E6-B749-9332-D3931CB533BE}"/>
              </a:ext>
            </a:extLst>
          </p:cNvPr>
          <p:cNvSpPr txBox="1">
            <a:spLocks/>
          </p:cNvSpPr>
          <p:nvPr/>
        </p:nvSpPr>
        <p:spPr>
          <a:xfrm>
            <a:off x="0" y="2996097"/>
            <a:ext cx="9144000" cy="4988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dirty="0">
                <a:latin typeface="Microsoft YaHei" panose="020B0503020204020204" pitchFamily="34" charset="-122"/>
                <a:ea typeface="Microsoft YaHei" panose="020B0503020204020204" pitchFamily="34" charset="-122"/>
              </a:rPr>
              <a:t>“数据科学导论”专业核心课</a:t>
            </a:r>
            <a:endParaRPr lang="en-US" sz="2400" dirty="0">
              <a:latin typeface="Microsoft YaHei" panose="020B0503020204020204" pitchFamily="34" charset="-122"/>
              <a:ea typeface="Microsoft YaHei" panose="020B0503020204020204" pitchFamily="34" charset="-122"/>
            </a:endParaRPr>
          </a:p>
        </p:txBody>
      </p:sp>
      <p:sp>
        <p:nvSpPr>
          <p:cNvPr id="19" name="Rectangle 18"/>
          <p:cNvSpPr/>
          <p:nvPr/>
        </p:nvSpPr>
        <p:spPr>
          <a:xfrm>
            <a:off x="181594" y="134286"/>
            <a:ext cx="3944889" cy="1569660"/>
          </a:xfrm>
          <a:prstGeom prst="rect">
            <a:avLst/>
          </a:prstGeom>
          <a:solidFill>
            <a:schemeClr val="bg1"/>
          </a:solidFill>
          <a:ln w="19050">
            <a:solidFill>
              <a:schemeClr val="tx1"/>
            </a:solidFill>
          </a:ln>
          <a:effectLst>
            <a:outerShdw blurRad="50800" dist="76200" dir="2700000" algn="tl" rotWithShape="0">
              <a:prstClr val="black">
                <a:alpha val="40000"/>
              </a:prstClr>
            </a:outerShdw>
          </a:effectLst>
        </p:spPr>
        <p:txBody>
          <a:bodyPr wrap="square">
            <a:spAutoFit/>
          </a:bodyPr>
          <a:lstStyle/>
          <a:p>
            <a:pPr algn="ctr">
              <a:lnSpc>
                <a:spcPct val="150000"/>
              </a:lnSpc>
              <a:defRPr/>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本周五（</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26</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日）有上机课</a:t>
            </a:r>
            <a:endPar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charset="0"/>
              <a:buChar char="•"/>
              <a:defRPr/>
            </a:pP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18:00-20:15</a:t>
            </a:r>
          </a:p>
          <a:p>
            <a:pPr marL="342900" indent="-342900">
              <a:lnSpc>
                <a:spcPct val="150000"/>
              </a:lnSpc>
              <a:buFont typeface="Arial" charset="0"/>
              <a:buChar char="•"/>
              <a:defRP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理工配楼二层</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203B-204B</a:t>
            </a:r>
          </a:p>
        </p:txBody>
      </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上节课程回顾：</a:t>
            </a:r>
            <a:r>
              <a:rPr lang="zh-CN" altLang="en-US" b="1" dirty="0">
                <a:solidFill>
                  <a:srgbClr val="C00000"/>
                </a:solidFill>
              </a:rPr>
              <a:t>数据与数据模型</a:t>
            </a:r>
            <a:endParaRPr lang="en-US" b="1" dirty="0">
              <a:solidFill>
                <a:srgbClr val="C00000"/>
              </a:solidFill>
            </a:endParaRPr>
          </a:p>
        </p:txBody>
      </p:sp>
      <p:sp>
        <p:nvSpPr>
          <p:cNvPr id="3" name="Content Placeholder 2"/>
          <p:cNvSpPr>
            <a:spLocks noGrp="1"/>
          </p:cNvSpPr>
          <p:nvPr>
            <p:ph idx="1"/>
          </p:nvPr>
        </p:nvSpPr>
        <p:spPr/>
        <p:txBody>
          <a:bodyPr/>
          <a:lstStyle/>
          <a:p>
            <a:r>
              <a:rPr lang="zh-CN" altLang="en-US" dirty="0"/>
              <a:t>数据模型是定义数据如何输入和与输出的一种模型，从抽象层次上描述了系统的静态特征、动态行为和约束条件，是人们理解和表达数据的基础，也是设计数据分析处理算法和系统的基础</a:t>
            </a:r>
          </a:p>
          <a:p>
            <a:endParaRPr lang="zh-CN" altLang="en-US" dirty="0"/>
          </a:p>
          <a:p>
            <a:r>
              <a:rPr lang="zh-CN" altLang="en-US" dirty="0"/>
              <a:t>数据模型三要素</a:t>
            </a:r>
          </a:p>
          <a:p>
            <a:pPr lvl="1"/>
            <a:r>
              <a:rPr lang="zh-CN" altLang="en-US" dirty="0">
                <a:solidFill>
                  <a:srgbClr val="C00000"/>
                </a:solidFill>
              </a:rPr>
              <a:t>数据结构</a:t>
            </a:r>
            <a:r>
              <a:rPr lang="zh-CN" altLang="en-US" dirty="0"/>
              <a:t>：储存在数据库中对象类型的集合，作用是描述数据中的组成对象以及对象之间的联系</a:t>
            </a:r>
          </a:p>
          <a:p>
            <a:pPr lvl="1"/>
            <a:r>
              <a:rPr lang="zh-CN" altLang="en-US" dirty="0">
                <a:solidFill>
                  <a:schemeClr val="bg1">
                    <a:lumMod val="50000"/>
                  </a:schemeClr>
                </a:solidFill>
              </a:rPr>
              <a:t>数据操作：指对数据中各种对象实例允许执行的操作的集合，包括操作及其相关的操作规则</a:t>
            </a:r>
          </a:p>
          <a:p>
            <a:pPr lvl="1"/>
            <a:r>
              <a:rPr lang="zh-CN" altLang="en-US" dirty="0">
                <a:solidFill>
                  <a:schemeClr val="bg1">
                    <a:lumMod val="50000"/>
                  </a:schemeClr>
                </a:solidFill>
              </a:rPr>
              <a:t>数据完整性约束条件：指在给定的数据模型中，数据及其联系所遵守的一组通用的完整性规则，它能保证数据的正确性和一致性</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8121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A4BA52-96C7-DAAC-FFE7-72A151DB702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8256D67-22B3-9AB3-59A7-88366857E909}"/>
              </a:ext>
            </a:extLst>
          </p:cNvPr>
          <p:cNvSpPr>
            <a:spLocks noGrp="1"/>
          </p:cNvSpPr>
          <p:nvPr>
            <p:ph type="title"/>
          </p:nvPr>
        </p:nvSpPr>
        <p:spPr/>
        <p:txBody>
          <a:bodyPr/>
          <a:lstStyle/>
          <a:p>
            <a:r>
              <a:rPr lang="zh-CN" altLang="en-US" dirty="0"/>
              <a:t>上节课程回顾：</a:t>
            </a:r>
            <a:r>
              <a:rPr lang="en-US" altLang="zh-CN" dirty="0">
                <a:solidFill>
                  <a:srgbClr val="C00000"/>
                </a:solidFill>
              </a:rPr>
              <a:t>Pandas</a:t>
            </a:r>
            <a:r>
              <a:rPr lang="zh-CN" altLang="en-US" dirty="0">
                <a:solidFill>
                  <a:srgbClr val="C00000"/>
                </a:solidFill>
              </a:rPr>
              <a:t>的数据结构</a:t>
            </a:r>
            <a:endParaRPr lang="en-US" dirty="0">
              <a:solidFill>
                <a:srgbClr val="C00000"/>
              </a:solidFill>
            </a:endParaRPr>
          </a:p>
        </p:txBody>
      </p:sp>
      <p:sp>
        <p:nvSpPr>
          <p:cNvPr id="3" name="Content Placeholder 2">
            <a:extLst>
              <a:ext uri="{FF2B5EF4-FFF2-40B4-BE49-F238E27FC236}">
                <a16:creationId xmlns="" xmlns:a16="http://schemas.microsoft.com/office/drawing/2014/main" id="{038244AA-047A-B5B1-0B0C-DE6E28F49674}"/>
              </a:ext>
            </a:extLst>
          </p:cNvPr>
          <p:cNvSpPr>
            <a:spLocks noGrp="1"/>
          </p:cNvSpPr>
          <p:nvPr>
            <p:ph idx="1"/>
          </p:nvPr>
        </p:nvSpPr>
        <p:spPr>
          <a:xfrm>
            <a:off x="618187" y="863504"/>
            <a:ext cx="7251410" cy="3757133"/>
          </a:xfrm>
        </p:spPr>
        <p:txBody>
          <a:bodyPr>
            <a:normAutofit/>
          </a:bodyPr>
          <a:lstStyle/>
          <a:p>
            <a:r>
              <a:rPr lang="zh-CN" altLang="en-US" dirty="0"/>
              <a:t>在</a:t>
            </a:r>
            <a:r>
              <a:rPr lang="en-US" altLang="zh-CN" dirty="0"/>
              <a:t>Pandas</a:t>
            </a:r>
            <a:r>
              <a:rPr lang="zh-CN" altLang="en-US" dirty="0"/>
              <a:t>中，我们称一个表格为一个</a:t>
            </a:r>
            <a:r>
              <a:rPr lang="en-US" altLang="zh-CN" dirty="0" err="1"/>
              <a:t>DataFrame</a:t>
            </a:r>
            <a:endParaRPr lang="en-US" altLang="zh-CN" dirty="0"/>
          </a:p>
          <a:p>
            <a:r>
              <a:rPr lang="zh-CN" altLang="en-US" dirty="0"/>
              <a:t>一个</a:t>
            </a:r>
            <a:r>
              <a:rPr lang="en-US" altLang="zh-CN" dirty="0" err="1"/>
              <a:t>DataFrame</a:t>
            </a:r>
            <a:r>
              <a:rPr lang="zh-CN" altLang="en-US" dirty="0"/>
              <a:t>由一组列数据组成，每列成为一个</a:t>
            </a:r>
            <a:r>
              <a:rPr lang="en-US" altLang="zh-CN" dirty="0"/>
              <a:t>Series</a:t>
            </a:r>
          </a:p>
        </p:txBody>
      </p:sp>
      <p:sp>
        <p:nvSpPr>
          <p:cNvPr id="5" name="Slide Number Placeholder 4">
            <a:extLst>
              <a:ext uri="{FF2B5EF4-FFF2-40B4-BE49-F238E27FC236}">
                <a16:creationId xmlns="" xmlns:a16="http://schemas.microsoft.com/office/drawing/2014/main" id="{9F9E42EE-6967-1A6B-30C0-90D7FDAC3130}"/>
              </a:ext>
            </a:extLst>
          </p:cNvPr>
          <p:cNvSpPr>
            <a:spLocks noGrp="1"/>
          </p:cNvSpPr>
          <p:nvPr>
            <p:ph type="sldNum" sz="quarter" idx="12"/>
          </p:nvPr>
        </p:nvSpPr>
        <p:spPr/>
        <p:txBody>
          <a:bodyPr/>
          <a:lstStyle/>
          <a:p>
            <a:pPr>
              <a:defRPr/>
            </a:pPr>
            <a:fld id="{03E60C35-1193-284A-B3D8-F868547A968B}" type="slidenum">
              <a:rPr lang="zh-CN" altLang="en-US" smtClean="0"/>
              <a:pPr>
                <a:defRPr/>
              </a:pPr>
              <a:t>3</a:t>
            </a:fld>
            <a:endParaRPr lang="en-US" altLang="zh-CN"/>
          </a:p>
        </p:txBody>
      </p:sp>
      <p:pic>
        <p:nvPicPr>
          <p:cNvPr id="6" name="Picture 5">
            <a:extLst>
              <a:ext uri="{FF2B5EF4-FFF2-40B4-BE49-F238E27FC236}">
                <a16:creationId xmlns="" xmlns:a16="http://schemas.microsoft.com/office/drawing/2014/main" id="{FF6621AA-60EE-8C4D-3848-54D4E5A0C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981" y="1660809"/>
            <a:ext cx="2836957" cy="2821497"/>
          </a:xfrm>
          <a:prstGeom prst="rect">
            <a:avLst/>
          </a:prstGeom>
        </p:spPr>
      </p:pic>
      <p:sp>
        <p:nvSpPr>
          <p:cNvPr id="8" name="Google Shape;247;p31">
            <a:extLst>
              <a:ext uri="{FF2B5EF4-FFF2-40B4-BE49-F238E27FC236}">
                <a16:creationId xmlns="" xmlns:a16="http://schemas.microsoft.com/office/drawing/2014/main" id="{9AE0762A-21FD-BAA2-DC4C-DD82E8082193}"/>
              </a:ext>
            </a:extLst>
          </p:cNvPr>
          <p:cNvSpPr/>
          <p:nvPr/>
        </p:nvSpPr>
        <p:spPr>
          <a:xfrm>
            <a:off x="2083323" y="1652561"/>
            <a:ext cx="396000" cy="2829745"/>
          </a:xfrm>
          <a:prstGeom prst="roundRect">
            <a:avLst>
              <a:gd name="adj" fmla="val 16667"/>
            </a:avLst>
          </a:prstGeom>
          <a:noFill/>
          <a:ln w="2857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4" name="Picture 3">
            <a:extLst>
              <a:ext uri="{FF2B5EF4-FFF2-40B4-BE49-F238E27FC236}">
                <a16:creationId xmlns="" xmlns:a16="http://schemas.microsoft.com/office/drawing/2014/main" id="{A8FAEC10-30B4-2033-A348-30B4B84544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3748" y="1838226"/>
            <a:ext cx="4120678" cy="2300141"/>
          </a:xfrm>
          <a:prstGeom prst="rect">
            <a:avLst/>
          </a:prstGeom>
        </p:spPr>
      </p:pic>
      <p:sp>
        <p:nvSpPr>
          <p:cNvPr id="10" name="Google Shape;302;p36">
            <a:extLst>
              <a:ext uri="{FF2B5EF4-FFF2-40B4-BE49-F238E27FC236}">
                <a16:creationId xmlns="" xmlns:a16="http://schemas.microsoft.com/office/drawing/2014/main" id="{D848209F-A498-933A-8C4A-AD7A1FEB56D8}"/>
              </a:ext>
            </a:extLst>
          </p:cNvPr>
          <p:cNvSpPr txBox="1"/>
          <p:nvPr/>
        </p:nvSpPr>
        <p:spPr>
          <a:xfrm>
            <a:off x="1468809" y="4428785"/>
            <a:ext cx="1329300" cy="4002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b="1" kern="0" dirty="0">
                <a:solidFill>
                  <a:srgbClr val="0B5394"/>
                </a:solidFill>
                <a:latin typeface="Roboto"/>
                <a:ea typeface="Roboto"/>
                <a:cs typeface="Roboto"/>
                <a:sym typeface="Roboto"/>
              </a:rPr>
              <a:t>A </a:t>
            </a:r>
            <a:r>
              <a:rPr lang="en" sz="1400" b="1" kern="0" dirty="0" err="1">
                <a:solidFill>
                  <a:srgbClr val="C00000"/>
                </a:solidFill>
                <a:latin typeface="Consolas"/>
                <a:ea typeface="Consolas"/>
                <a:cs typeface="Consolas"/>
                <a:sym typeface="Consolas"/>
              </a:rPr>
              <a:t>DataFrame</a:t>
            </a:r>
            <a:endParaRPr sz="1400" b="1" kern="0" dirty="0">
              <a:solidFill>
                <a:srgbClr val="C00000"/>
              </a:solidFill>
              <a:latin typeface="Consolas"/>
              <a:ea typeface="Consolas"/>
              <a:cs typeface="Consolas"/>
              <a:sym typeface="Consolas"/>
            </a:endParaRPr>
          </a:p>
        </p:txBody>
      </p:sp>
      <p:sp>
        <p:nvSpPr>
          <p:cNvPr id="11" name="Google Shape;304;p36">
            <a:extLst>
              <a:ext uri="{FF2B5EF4-FFF2-40B4-BE49-F238E27FC236}">
                <a16:creationId xmlns="" xmlns:a16="http://schemas.microsoft.com/office/drawing/2014/main" id="{58C0925A-BF1A-381B-9F9E-FB08D057A1A6}"/>
              </a:ext>
            </a:extLst>
          </p:cNvPr>
          <p:cNvSpPr txBox="1"/>
          <p:nvPr/>
        </p:nvSpPr>
        <p:spPr>
          <a:xfrm>
            <a:off x="5492975" y="4339225"/>
            <a:ext cx="3017700" cy="4002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b="1" kern="0" dirty="0">
                <a:solidFill>
                  <a:srgbClr val="0B5394"/>
                </a:solidFill>
                <a:latin typeface="Roboto"/>
                <a:ea typeface="Roboto"/>
                <a:cs typeface="Roboto"/>
                <a:sym typeface="Roboto"/>
              </a:rPr>
              <a:t>A </a:t>
            </a:r>
            <a:r>
              <a:rPr lang="en" sz="1400" b="1" kern="0" dirty="0">
                <a:solidFill>
                  <a:srgbClr val="C00000"/>
                </a:solidFill>
                <a:latin typeface="Consolas"/>
                <a:ea typeface="Consolas"/>
                <a:cs typeface="Consolas"/>
                <a:sym typeface="Consolas"/>
              </a:rPr>
              <a:t>Series</a:t>
            </a:r>
            <a:r>
              <a:rPr lang="en" sz="1400" b="1" kern="0" dirty="0">
                <a:solidFill>
                  <a:srgbClr val="C00000"/>
                </a:solidFill>
                <a:latin typeface="Roboto"/>
                <a:ea typeface="Roboto"/>
                <a:cs typeface="Roboto"/>
                <a:sym typeface="Roboto"/>
              </a:rPr>
              <a:t> </a:t>
            </a:r>
            <a:r>
              <a:rPr lang="en" sz="1400" b="1" kern="0" dirty="0">
                <a:solidFill>
                  <a:srgbClr val="0B5394"/>
                </a:solidFill>
                <a:latin typeface="Roboto"/>
                <a:ea typeface="Roboto"/>
                <a:cs typeface="Roboto"/>
                <a:sym typeface="Roboto"/>
              </a:rPr>
              <a:t>named "</a:t>
            </a:r>
            <a:r>
              <a:rPr lang="en-US" altLang="zh-CN" sz="1400" b="1" kern="0" dirty="0">
                <a:solidFill>
                  <a:srgbClr val="0B5394"/>
                </a:solidFill>
                <a:latin typeface="Roboto"/>
                <a:ea typeface="Roboto"/>
                <a:cs typeface="Roboto"/>
                <a:sym typeface="Roboto"/>
              </a:rPr>
              <a:t>Count</a:t>
            </a:r>
            <a:r>
              <a:rPr lang="en" sz="1400" b="1" kern="0" dirty="0">
                <a:solidFill>
                  <a:srgbClr val="0B5394"/>
                </a:solidFill>
                <a:latin typeface="Roboto"/>
                <a:ea typeface="Roboto"/>
                <a:cs typeface="Roboto"/>
                <a:sym typeface="Roboto"/>
              </a:rPr>
              <a:t>"</a:t>
            </a:r>
            <a:endParaRPr sz="1400" b="1" kern="0" dirty="0">
              <a:solidFill>
                <a:srgbClr val="0B5394"/>
              </a:solidFill>
              <a:latin typeface="Roboto"/>
              <a:ea typeface="Roboto"/>
              <a:cs typeface="Roboto"/>
              <a:sym typeface="Roboto"/>
            </a:endParaRPr>
          </a:p>
        </p:txBody>
      </p:sp>
      <p:cxnSp>
        <p:nvCxnSpPr>
          <p:cNvPr id="14" name="Google Shape;306;p36">
            <a:extLst>
              <a:ext uri="{FF2B5EF4-FFF2-40B4-BE49-F238E27FC236}">
                <a16:creationId xmlns="" xmlns:a16="http://schemas.microsoft.com/office/drawing/2014/main" id="{65B40BA9-CE29-2A84-6E76-24128523983D}"/>
              </a:ext>
            </a:extLst>
          </p:cNvPr>
          <p:cNvCxnSpPr/>
          <p:nvPr/>
        </p:nvCxnSpPr>
        <p:spPr>
          <a:xfrm>
            <a:off x="2479323" y="1838226"/>
            <a:ext cx="2092677" cy="348793"/>
          </a:xfrm>
          <a:prstGeom prst="curvedConnector3">
            <a:avLst>
              <a:gd name="adj1" fmla="val 63064"/>
            </a:avLst>
          </a:prstGeom>
          <a:noFill/>
          <a:ln w="28575" cap="flat" cmpd="sng">
            <a:solidFill>
              <a:srgbClr val="BF9000"/>
            </a:solidFill>
            <a:prstDash val="solid"/>
            <a:round/>
            <a:headEnd type="none" w="med" len="med"/>
            <a:tailEnd type="stealth" w="med" len="med"/>
          </a:ln>
        </p:spPr>
      </p:cxnSp>
    </p:spTree>
    <p:extLst>
      <p:ext uri="{BB962C8B-B14F-4D97-AF65-F5344CB8AC3E}">
        <p14:creationId xmlns:p14="http://schemas.microsoft.com/office/powerpoint/2010/main" val="3500309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0D6270-E27B-8010-DF99-A0F8B13E54A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CC0CE31-5E78-EC53-08E9-1F1B00CBF0EA}"/>
              </a:ext>
            </a:extLst>
          </p:cNvPr>
          <p:cNvSpPr>
            <a:spLocks noGrp="1"/>
          </p:cNvSpPr>
          <p:nvPr>
            <p:ph type="title"/>
          </p:nvPr>
        </p:nvSpPr>
        <p:spPr/>
        <p:txBody>
          <a:bodyPr/>
          <a:lstStyle/>
          <a:p>
            <a:r>
              <a:rPr lang="zh-CN" altLang="en-US" dirty="0"/>
              <a:t>上节课程回顾：</a:t>
            </a:r>
            <a:r>
              <a:rPr lang="en-US" altLang="zh-CN" dirty="0">
                <a:solidFill>
                  <a:srgbClr val="C00000"/>
                </a:solidFill>
              </a:rPr>
              <a:t>Series</a:t>
            </a:r>
            <a:endParaRPr lang="en-US" dirty="0">
              <a:solidFill>
                <a:srgbClr val="C00000"/>
              </a:solidFill>
            </a:endParaRPr>
          </a:p>
        </p:txBody>
      </p:sp>
      <p:sp>
        <p:nvSpPr>
          <p:cNvPr id="3" name="Content Placeholder 2">
            <a:extLst>
              <a:ext uri="{FF2B5EF4-FFF2-40B4-BE49-F238E27FC236}">
                <a16:creationId xmlns="" xmlns:a16="http://schemas.microsoft.com/office/drawing/2014/main" id="{29A8C994-15E2-B32B-DA0F-311C17F4C344}"/>
              </a:ext>
            </a:extLst>
          </p:cNvPr>
          <p:cNvSpPr>
            <a:spLocks noGrp="1"/>
          </p:cNvSpPr>
          <p:nvPr>
            <p:ph idx="1"/>
          </p:nvPr>
        </p:nvSpPr>
        <p:spPr>
          <a:xfrm>
            <a:off x="618187" y="863504"/>
            <a:ext cx="7251410" cy="1064383"/>
          </a:xfrm>
        </p:spPr>
        <p:txBody>
          <a:bodyPr>
            <a:normAutofit/>
          </a:bodyPr>
          <a:lstStyle/>
          <a:p>
            <a:r>
              <a:rPr lang="en-US" altLang="zh-CN" dirty="0"/>
              <a:t>Series</a:t>
            </a:r>
            <a:r>
              <a:rPr lang="zh-CN" altLang="en-US" dirty="0"/>
              <a:t>类似一维数组，由一组</a:t>
            </a:r>
            <a:r>
              <a:rPr lang="zh-CN" altLang="en-US" dirty="0">
                <a:solidFill>
                  <a:srgbClr val="C00000"/>
                </a:solidFill>
              </a:rPr>
              <a:t>数据</a:t>
            </a:r>
            <a:r>
              <a:rPr lang="zh-CN" altLang="en-US" dirty="0"/>
              <a:t>和对应的</a:t>
            </a:r>
            <a:r>
              <a:rPr lang="zh-CN" altLang="en-US" dirty="0">
                <a:solidFill>
                  <a:srgbClr val="C00000"/>
                </a:solidFill>
              </a:rPr>
              <a:t>索引</a:t>
            </a:r>
            <a:r>
              <a:rPr lang="zh-CN" altLang="en-US" dirty="0"/>
              <a:t>组成</a:t>
            </a:r>
            <a:endParaRPr lang="en-US" altLang="zh-CN" dirty="0"/>
          </a:p>
          <a:p>
            <a:pPr lvl="1"/>
            <a:r>
              <a:rPr lang="zh-CN" altLang="en-US" dirty="0"/>
              <a:t>数据值（</a:t>
            </a:r>
            <a:r>
              <a:rPr lang="en-US" altLang="zh-CN" b="1" dirty="0">
                <a:solidFill>
                  <a:srgbClr val="C00000"/>
                </a:solidFill>
              </a:rPr>
              <a:t>values</a:t>
            </a:r>
            <a:r>
              <a:rPr lang="zh-CN" altLang="en-US" dirty="0"/>
              <a:t>）：同一数据类型的一组数值</a:t>
            </a:r>
            <a:endParaRPr lang="en-US" altLang="zh-CN" dirty="0"/>
          </a:p>
          <a:p>
            <a:pPr lvl="1"/>
            <a:r>
              <a:rPr lang="zh-CN" altLang="en-US" dirty="0"/>
              <a:t>索引（</a:t>
            </a:r>
            <a:r>
              <a:rPr lang="en-US" altLang="zh-CN" b="1" dirty="0">
                <a:solidFill>
                  <a:srgbClr val="C00000"/>
                </a:solidFill>
              </a:rPr>
              <a:t>index</a:t>
            </a:r>
            <a:r>
              <a:rPr lang="zh-CN" altLang="en-US" dirty="0"/>
              <a:t>）：标记数据值位置（或其它）的一组标签</a:t>
            </a:r>
            <a:endParaRPr lang="en-US" altLang="zh-CN" dirty="0"/>
          </a:p>
          <a:p>
            <a:endParaRPr lang="en-US" dirty="0"/>
          </a:p>
        </p:txBody>
      </p:sp>
      <p:sp>
        <p:nvSpPr>
          <p:cNvPr id="5" name="Slide Number Placeholder 4">
            <a:extLst>
              <a:ext uri="{FF2B5EF4-FFF2-40B4-BE49-F238E27FC236}">
                <a16:creationId xmlns="" xmlns:a16="http://schemas.microsoft.com/office/drawing/2014/main" id="{DF076419-4642-A8DF-01A2-1F2893D989F3}"/>
              </a:ext>
            </a:extLst>
          </p:cNvPr>
          <p:cNvSpPr>
            <a:spLocks noGrp="1"/>
          </p:cNvSpPr>
          <p:nvPr>
            <p:ph type="sldNum" sz="quarter" idx="12"/>
          </p:nvPr>
        </p:nvSpPr>
        <p:spPr/>
        <p:txBody>
          <a:bodyPr/>
          <a:lstStyle/>
          <a:p>
            <a:pPr>
              <a:defRPr/>
            </a:pPr>
            <a:fld id="{03E60C35-1193-284A-B3D8-F868547A968B}" type="slidenum">
              <a:rPr lang="zh-CN" altLang="en-US" smtClean="0"/>
              <a:pPr>
                <a:defRPr/>
              </a:pPr>
              <a:t>4</a:t>
            </a:fld>
            <a:endParaRPr lang="en-US" altLang="zh-CN"/>
          </a:p>
        </p:txBody>
      </p:sp>
      <p:sp>
        <p:nvSpPr>
          <p:cNvPr id="13" name="Google Shape;314;p37">
            <a:extLst>
              <a:ext uri="{FF2B5EF4-FFF2-40B4-BE49-F238E27FC236}">
                <a16:creationId xmlns="" xmlns:a16="http://schemas.microsoft.com/office/drawing/2014/main" id="{71BF4B7A-7C22-3317-5EE5-1FE8BFFA4A38}"/>
              </a:ext>
            </a:extLst>
          </p:cNvPr>
          <p:cNvSpPr txBox="1"/>
          <p:nvPr/>
        </p:nvSpPr>
        <p:spPr>
          <a:xfrm>
            <a:off x="1496905" y="1927887"/>
            <a:ext cx="5365808" cy="677078"/>
          </a:xfrm>
          <a:prstGeom prst="rect">
            <a:avLst/>
          </a:prstGeom>
          <a:solidFill>
            <a:schemeClr val="bg1"/>
          </a:solidFill>
          <a:ln>
            <a:solidFill>
              <a:srgbClr val="0D5294"/>
            </a:solidFill>
          </a:ln>
          <a:effectLst>
            <a:outerShdw blurRad="50800" dist="76200" dir="2700000" algn="tl" rotWithShape="0">
              <a:prstClr val="black">
                <a:alpha val="40000"/>
              </a:prstClr>
            </a:outerShdw>
          </a:effectLst>
        </p:spPr>
        <p:txBody>
          <a:bodyPr spcFirstLastPara="1" wrap="square" lIns="91425" tIns="91425" rIns="91425" bIns="91425" anchor="t" anchorCtr="0">
            <a:spAutoFit/>
          </a:bodyPr>
          <a:lstStyle/>
          <a:p>
            <a:pPr>
              <a:buClr>
                <a:srgbClr val="000000"/>
              </a:buClr>
              <a:buFont typeface="Arial"/>
              <a:buNone/>
            </a:pPr>
            <a:r>
              <a:rPr lang="en" sz="1600" kern="0" dirty="0">
                <a:solidFill>
                  <a:srgbClr val="09885A"/>
                </a:solidFill>
                <a:latin typeface="Consolas"/>
                <a:ea typeface="Consolas"/>
                <a:cs typeface="Consolas"/>
                <a:sym typeface="Consolas"/>
              </a:rPr>
              <a:t>import</a:t>
            </a:r>
            <a:r>
              <a:rPr lang="en" sz="1600" kern="0" dirty="0">
                <a:solidFill>
                  <a:srgbClr val="000000"/>
                </a:solidFill>
                <a:latin typeface="Consolas"/>
                <a:ea typeface="Consolas"/>
                <a:cs typeface="Consolas"/>
                <a:sym typeface="Consolas"/>
              </a:rPr>
              <a:t> pandas </a:t>
            </a:r>
            <a:r>
              <a:rPr lang="en" sz="1600" kern="0" dirty="0">
                <a:solidFill>
                  <a:srgbClr val="09885A"/>
                </a:solidFill>
                <a:latin typeface="Consolas"/>
                <a:ea typeface="Consolas"/>
                <a:cs typeface="Consolas"/>
                <a:sym typeface="Consolas"/>
              </a:rPr>
              <a:t>as</a:t>
            </a:r>
            <a:r>
              <a:rPr lang="en" sz="1600" kern="0" dirty="0">
                <a:solidFill>
                  <a:srgbClr val="000000"/>
                </a:solidFill>
                <a:latin typeface="Consolas"/>
                <a:ea typeface="Consolas"/>
                <a:cs typeface="Consolas"/>
                <a:sym typeface="Consolas"/>
              </a:rPr>
              <a:t> </a:t>
            </a:r>
            <a:r>
              <a:rPr lang="en" sz="1600" kern="0" dirty="0" err="1">
                <a:solidFill>
                  <a:srgbClr val="000000"/>
                </a:solidFill>
                <a:latin typeface="Consolas"/>
                <a:ea typeface="Consolas"/>
                <a:cs typeface="Consolas"/>
                <a:sym typeface="Consolas"/>
              </a:rPr>
              <a:t>pd</a:t>
            </a:r>
            <a:endParaRPr sz="1600" kern="0" dirty="0">
              <a:solidFill>
                <a:srgbClr val="000000"/>
              </a:solidFill>
              <a:latin typeface="Consolas"/>
              <a:ea typeface="Consolas"/>
              <a:cs typeface="Consolas"/>
              <a:sym typeface="Consolas"/>
            </a:endParaRPr>
          </a:p>
          <a:p>
            <a:pPr>
              <a:buClr>
                <a:srgbClr val="000000"/>
              </a:buClr>
              <a:buFont typeface="Arial"/>
              <a:buNone/>
            </a:pPr>
            <a:r>
              <a:rPr lang="en" sz="1600" kern="0" dirty="0">
                <a:solidFill>
                  <a:srgbClr val="000000"/>
                </a:solidFill>
                <a:latin typeface="Consolas"/>
                <a:ea typeface="Consolas"/>
                <a:cs typeface="Consolas"/>
                <a:sym typeface="Consolas"/>
              </a:rPr>
              <a:t>s = </a:t>
            </a:r>
            <a:r>
              <a:rPr lang="en" sz="1600" kern="0" dirty="0" err="1">
                <a:solidFill>
                  <a:srgbClr val="000000"/>
                </a:solidFill>
                <a:latin typeface="Consolas"/>
                <a:ea typeface="Consolas"/>
                <a:cs typeface="Consolas"/>
                <a:sym typeface="Consolas"/>
              </a:rPr>
              <a:t>pd.</a:t>
            </a:r>
            <a:r>
              <a:rPr lang="en" sz="1600" kern="0" dirty="0" err="1">
                <a:solidFill>
                  <a:srgbClr val="0B5394"/>
                </a:solidFill>
                <a:latin typeface="Consolas"/>
                <a:ea typeface="Consolas"/>
                <a:cs typeface="Consolas"/>
                <a:sym typeface="Consolas"/>
              </a:rPr>
              <a:t>Series</a:t>
            </a:r>
            <a:r>
              <a:rPr lang="en" sz="1600" kern="0" dirty="0">
                <a:solidFill>
                  <a:srgbClr val="000000"/>
                </a:solidFill>
                <a:latin typeface="Consolas"/>
                <a:ea typeface="Consolas"/>
                <a:cs typeface="Consolas"/>
                <a:sym typeface="Consolas"/>
              </a:rPr>
              <a:t>([</a:t>
            </a:r>
            <a:r>
              <a:rPr lang="en" sz="1600" kern="0" dirty="0">
                <a:solidFill>
                  <a:srgbClr val="A31515"/>
                </a:solidFill>
                <a:latin typeface="Consolas"/>
                <a:ea typeface="Consolas"/>
                <a:cs typeface="Consolas"/>
                <a:sym typeface="Consolas"/>
              </a:rPr>
              <a:t>"welcome"</a:t>
            </a:r>
            <a:r>
              <a:rPr lang="en" sz="1600" kern="0" dirty="0">
                <a:solidFill>
                  <a:srgbClr val="000000"/>
                </a:solidFill>
                <a:latin typeface="Consolas"/>
                <a:ea typeface="Consolas"/>
                <a:cs typeface="Consolas"/>
                <a:sym typeface="Consolas"/>
              </a:rPr>
              <a:t>, </a:t>
            </a:r>
            <a:r>
              <a:rPr lang="en" sz="1600" kern="0" dirty="0">
                <a:solidFill>
                  <a:srgbClr val="A31515"/>
                </a:solidFill>
                <a:latin typeface="Consolas"/>
                <a:ea typeface="Consolas"/>
                <a:cs typeface="Consolas"/>
                <a:sym typeface="Consolas"/>
              </a:rPr>
              <a:t>"to"</a:t>
            </a:r>
            <a:r>
              <a:rPr lang="en" sz="1600" kern="0" dirty="0">
                <a:solidFill>
                  <a:srgbClr val="000000"/>
                </a:solidFill>
                <a:latin typeface="Consolas"/>
                <a:ea typeface="Consolas"/>
                <a:cs typeface="Consolas"/>
                <a:sym typeface="Consolas"/>
              </a:rPr>
              <a:t>, </a:t>
            </a:r>
            <a:r>
              <a:rPr lang="en" sz="1600" kern="0" dirty="0">
                <a:solidFill>
                  <a:srgbClr val="A31515"/>
                </a:solidFill>
                <a:latin typeface="Consolas"/>
                <a:ea typeface="Consolas"/>
                <a:cs typeface="Consolas"/>
                <a:sym typeface="Consolas"/>
              </a:rPr>
              <a:t>"data 100"</a:t>
            </a:r>
            <a:r>
              <a:rPr lang="en" sz="1600" kern="0" dirty="0">
                <a:solidFill>
                  <a:srgbClr val="000000"/>
                </a:solidFill>
                <a:latin typeface="Consolas"/>
                <a:ea typeface="Consolas"/>
                <a:cs typeface="Consolas"/>
                <a:sym typeface="Consolas"/>
              </a:rPr>
              <a:t>])</a:t>
            </a:r>
            <a:endParaRPr sz="1600" kern="0" dirty="0">
              <a:solidFill>
                <a:srgbClr val="000000"/>
              </a:solidFill>
              <a:latin typeface="Consolas"/>
              <a:ea typeface="Consolas"/>
              <a:cs typeface="Consolas"/>
              <a:sym typeface="Consolas"/>
            </a:endParaRPr>
          </a:p>
        </p:txBody>
      </p:sp>
      <p:pic>
        <p:nvPicPr>
          <p:cNvPr id="14" name="Google Shape;315;p37">
            <a:extLst>
              <a:ext uri="{FF2B5EF4-FFF2-40B4-BE49-F238E27FC236}">
                <a16:creationId xmlns="" xmlns:a16="http://schemas.microsoft.com/office/drawing/2014/main" id="{11E17109-1643-4422-BFD2-C42A16731FA6}"/>
              </a:ext>
            </a:extLst>
          </p:cNvPr>
          <p:cNvPicPr preferRelativeResize="0"/>
          <p:nvPr/>
        </p:nvPicPr>
        <p:blipFill>
          <a:blip r:embed="rId3">
            <a:alphaModFix/>
          </a:blip>
          <a:stretch>
            <a:fillRect/>
          </a:stretch>
        </p:blipFill>
        <p:spPr>
          <a:xfrm>
            <a:off x="880855" y="3007999"/>
            <a:ext cx="2039009" cy="1266164"/>
          </a:xfrm>
          <a:prstGeom prst="rect">
            <a:avLst/>
          </a:prstGeom>
          <a:noFill/>
          <a:ln>
            <a:noFill/>
          </a:ln>
        </p:spPr>
      </p:pic>
      <p:sp>
        <p:nvSpPr>
          <p:cNvPr id="15" name="Google Shape;316;p37">
            <a:extLst>
              <a:ext uri="{FF2B5EF4-FFF2-40B4-BE49-F238E27FC236}">
                <a16:creationId xmlns="" xmlns:a16="http://schemas.microsoft.com/office/drawing/2014/main" id="{B6A7C165-E748-228F-E9B7-E5FED7656B03}"/>
              </a:ext>
            </a:extLst>
          </p:cNvPr>
          <p:cNvSpPr/>
          <p:nvPr/>
        </p:nvSpPr>
        <p:spPr>
          <a:xfrm>
            <a:off x="880855" y="3017425"/>
            <a:ext cx="548700" cy="857403"/>
          </a:xfrm>
          <a:prstGeom prst="roundRect">
            <a:avLst>
              <a:gd name="adj" fmla="val 16667"/>
            </a:avLst>
          </a:prstGeom>
          <a:noFill/>
          <a:ln w="2857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 name="Google Shape;317;p37">
            <a:extLst>
              <a:ext uri="{FF2B5EF4-FFF2-40B4-BE49-F238E27FC236}">
                <a16:creationId xmlns="" xmlns:a16="http://schemas.microsoft.com/office/drawing/2014/main" id="{62A128DC-E59D-F048-DDEA-C767E243746B}"/>
              </a:ext>
            </a:extLst>
          </p:cNvPr>
          <p:cNvSpPr/>
          <p:nvPr/>
        </p:nvSpPr>
        <p:spPr>
          <a:xfrm>
            <a:off x="1537686" y="3017128"/>
            <a:ext cx="1305225" cy="848274"/>
          </a:xfrm>
          <a:prstGeom prst="roundRect">
            <a:avLst>
              <a:gd name="adj" fmla="val 16667"/>
            </a:avLst>
          </a:prstGeom>
          <a:no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0" name="Rectangle 19">
            <a:extLst>
              <a:ext uri="{FF2B5EF4-FFF2-40B4-BE49-F238E27FC236}">
                <a16:creationId xmlns="" xmlns:a16="http://schemas.microsoft.com/office/drawing/2014/main" id="{BCC341C0-E79A-7114-B9B1-8139B93D0C7F}"/>
              </a:ext>
            </a:extLst>
          </p:cNvPr>
          <p:cNvSpPr/>
          <p:nvPr/>
        </p:nvSpPr>
        <p:spPr>
          <a:xfrm>
            <a:off x="3549775" y="2725910"/>
            <a:ext cx="3948517" cy="369332"/>
          </a:xfrm>
          <a:prstGeom prst="rect">
            <a:avLst/>
          </a:prstGeom>
        </p:spPr>
        <p:txBody>
          <a:bodyPr wrap="none">
            <a:spAutoFit/>
          </a:bodyPr>
          <a:lstStyle/>
          <a:p>
            <a:pPr marL="285750" indent="-285750">
              <a:buFont typeface="Arial" charset="0"/>
              <a:buChar char="•"/>
            </a:pPr>
            <a:r>
              <a:rPr lang="en" b="1" dirty="0">
                <a:solidFill>
                  <a:srgbClr val="BF9001"/>
                </a:solidFill>
                <a:latin typeface="Consolas"/>
                <a:ea typeface="Consolas"/>
                <a:cs typeface="Consolas"/>
                <a:sym typeface="Consolas"/>
              </a:rPr>
              <a:t>Index</a:t>
            </a:r>
            <a:r>
              <a:rPr lang="en" dirty="0">
                <a:latin typeface="Roboto Light"/>
                <a:ea typeface="Roboto Light"/>
                <a:cs typeface="Roboto Light"/>
                <a:sym typeface="Roboto Light"/>
              </a:rPr>
              <a:t>, accessed by calling </a:t>
            </a:r>
            <a:r>
              <a:rPr lang="en" dirty="0" err="1">
                <a:solidFill>
                  <a:srgbClr val="C00000"/>
                </a:solidFill>
                <a:latin typeface="Consolas"/>
                <a:ea typeface="Consolas"/>
                <a:cs typeface="Consolas"/>
                <a:sym typeface="Consolas"/>
              </a:rPr>
              <a:t>s.index</a:t>
            </a:r>
            <a:endParaRPr lang="en-US" dirty="0">
              <a:solidFill>
                <a:srgbClr val="C00000"/>
              </a:solidFill>
            </a:endParaRPr>
          </a:p>
        </p:txBody>
      </p:sp>
      <p:sp>
        <p:nvSpPr>
          <p:cNvPr id="21" name="Rectangle 20">
            <a:extLst>
              <a:ext uri="{FF2B5EF4-FFF2-40B4-BE49-F238E27FC236}">
                <a16:creationId xmlns="" xmlns:a16="http://schemas.microsoft.com/office/drawing/2014/main" id="{6483E882-E32B-1EA1-431B-CBBCB51926C1}"/>
              </a:ext>
            </a:extLst>
          </p:cNvPr>
          <p:cNvSpPr/>
          <p:nvPr/>
        </p:nvSpPr>
        <p:spPr>
          <a:xfrm>
            <a:off x="3902696" y="3087083"/>
            <a:ext cx="4502542" cy="369332"/>
          </a:xfrm>
          <a:prstGeom prst="rect">
            <a:avLst/>
          </a:prstGeom>
        </p:spPr>
        <p:txBody>
          <a:bodyPr wrap="square">
            <a:spAutoFit/>
          </a:bodyPr>
          <a:lstStyle/>
          <a:p>
            <a:pPr marL="285750" indent="-285750">
              <a:buFont typeface="Wingdings" charset="2"/>
              <a:buChar char="Ø"/>
            </a:pPr>
            <a:r>
              <a:rPr lang="en-US" dirty="0" err="1">
                <a:solidFill>
                  <a:srgbClr val="000000"/>
                </a:solidFill>
              </a:rPr>
              <a:t>RangeIndex</a:t>
            </a:r>
            <a:r>
              <a:rPr lang="en-US" dirty="0">
                <a:solidFill>
                  <a:srgbClr val="000000"/>
                </a:solidFill>
              </a:rPr>
              <a:t>(start=0, stop=3, step=1)</a:t>
            </a:r>
          </a:p>
        </p:txBody>
      </p:sp>
      <p:sp>
        <p:nvSpPr>
          <p:cNvPr id="27" name="Google Shape;319;p37">
            <a:extLst>
              <a:ext uri="{FF2B5EF4-FFF2-40B4-BE49-F238E27FC236}">
                <a16:creationId xmlns="" xmlns:a16="http://schemas.microsoft.com/office/drawing/2014/main" id="{8A396DB6-19FE-02FB-9507-391B9622A897}"/>
              </a:ext>
            </a:extLst>
          </p:cNvPr>
          <p:cNvSpPr txBox="1"/>
          <p:nvPr/>
        </p:nvSpPr>
        <p:spPr>
          <a:xfrm>
            <a:off x="3549775" y="3489510"/>
            <a:ext cx="4736384" cy="461635"/>
          </a:xfrm>
          <a:prstGeom prst="rect">
            <a:avLst/>
          </a:prstGeom>
          <a:noFill/>
          <a:ln>
            <a:noFill/>
          </a:ln>
        </p:spPr>
        <p:txBody>
          <a:bodyPr spcFirstLastPara="1" wrap="square" lIns="91425" tIns="91425" rIns="91425" bIns="91425" anchor="t" anchorCtr="0">
            <a:spAutoFit/>
          </a:bodyPr>
          <a:lstStyle/>
          <a:p>
            <a:pPr marL="285750" lvl="0" indent="-285750" algn="l" rtl="0">
              <a:spcBef>
                <a:spcPts val="0"/>
              </a:spcBef>
              <a:spcAft>
                <a:spcPts val="0"/>
              </a:spcAft>
              <a:buFont typeface="Arial" charset="0"/>
              <a:buChar char="•"/>
            </a:pPr>
            <a:r>
              <a:rPr lang="en" b="1" dirty="0">
                <a:solidFill>
                  <a:srgbClr val="0D5294"/>
                </a:solidFill>
                <a:latin typeface="Consolas"/>
                <a:ea typeface="Consolas"/>
                <a:cs typeface="Consolas"/>
                <a:sym typeface="Consolas"/>
              </a:rPr>
              <a:t>Values</a:t>
            </a:r>
            <a:r>
              <a:rPr lang="en" dirty="0">
                <a:latin typeface="Roboto Light"/>
                <a:ea typeface="Roboto Light"/>
                <a:cs typeface="Roboto Light"/>
                <a:sym typeface="Roboto Light"/>
              </a:rPr>
              <a:t>, accessed by calling </a:t>
            </a:r>
            <a:r>
              <a:rPr lang="en" dirty="0" err="1">
                <a:solidFill>
                  <a:srgbClr val="C00000"/>
                </a:solidFill>
                <a:latin typeface="Consolas"/>
                <a:ea typeface="Consolas"/>
                <a:cs typeface="Consolas"/>
                <a:sym typeface="Consolas"/>
              </a:rPr>
              <a:t>s.values</a:t>
            </a:r>
            <a:endParaRPr dirty="0">
              <a:solidFill>
                <a:srgbClr val="C00000"/>
              </a:solidFill>
              <a:latin typeface="Consolas"/>
              <a:ea typeface="Consolas"/>
              <a:cs typeface="Consolas"/>
              <a:sym typeface="Consolas"/>
            </a:endParaRPr>
          </a:p>
        </p:txBody>
      </p:sp>
      <p:sp>
        <p:nvSpPr>
          <p:cNvPr id="28" name="Rectangle 27">
            <a:extLst>
              <a:ext uri="{FF2B5EF4-FFF2-40B4-BE49-F238E27FC236}">
                <a16:creationId xmlns="" xmlns:a16="http://schemas.microsoft.com/office/drawing/2014/main" id="{BFF02658-CB98-8416-23D8-BDC38CBD8146}"/>
              </a:ext>
            </a:extLst>
          </p:cNvPr>
          <p:cNvSpPr/>
          <p:nvPr/>
        </p:nvSpPr>
        <p:spPr>
          <a:xfrm>
            <a:off x="3902695" y="3951145"/>
            <a:ext cx="5073766" cy="369332"/>
          </a:xfrm>
          <a:prstGeom prst="rect">
            <a:avLst/>
          </a:prstGeom>
        </p:spPr>
        <p:txBody>
          <a:bodyPr wrap="square">
            <a:spAutoFit/>
          </a:bodyPr>
          <a:lstStyle/>
          <a:p>
            <a:pPr marL="285750" indent="-285750">
              <a:buFont typeface="Wingdings" charset="2"/>
              <a:buChar char="Ø"/>
            </a:pPr>
            <a:r>
              <a:rPr lang="en-US" dirty="0"/>
              <a:t>array(['welcome', 'to', 'data 100'], </a:t>
            </a:r>
            <a:r>
              <a:rPr lang="en-US" dirty="0" err="1"/>
              <a:t>dtype</a:t>
            </a:r>
            <a:r>
              <a:rPr lang="en-US" dirty="0"/>
              <a:t>=object)</a:t>
            </a:r>
          </a:p>
        </p:txBody>
      </p:sp>
      <p:cxnSp>
        <p:nvCxnSpPr>
          <p:cNvPr id="30" name="Curved Connector 29">
            <a:extLst>
              <a:ext uri="{FF2B5EF4-FFF2-40B4-BE49-F238E27FC236}">
                <a16:creationId xmlns="" xmlns:a16="http://schemas.microsoft.com/office/drawing/2014/main" id="{B36AF50F-474B-61FD-BC25-C41EE9555406}"/>
              </a:ext>
            </a:extLst>
          </p:cNvPr>
          <p:cNvCxnSpPr>
            <a:stCxn id="15" idx="3"/>
            <a:endCxn id="20" idx="1"/>
          </p:cNvCxnSpPr>
          <p:nvPr/>
        </p:nvCxnSpPr>
        <p:spPr>
          <a:xfrm flipV="1">
            <a:off x="1429555" y="2910576"/>
            <a:ext cx="2120220" cy="535551"/>
          </a:xfrm>
          <a:prstGeom prst="curvedConnector3">
            <a:avLst>
              <a:gd name="adj1" fmla="val 64228"/>
            </a:avLst>
          </a:prstGeom>
          <a:ln w="28575">
            <a:solidFill>
              <a:srgbClr val="BF900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urved Connector 31">
            <a:extLst>
              <a:ext uri="{FF2B5EF4-FFF2-40B4-BE49-F238E27FC236}">
                <a16:creationId xmlns="" xmlns:a16="http://schemas.microsoft.com/office/drawing/2014/main" id="{7B19423F-D325-2D13-CE28-74620788CAB1}"/>
              </a:ext>
            </a:extLst>
          </p:cNvPr>
          <p:cNvCxnSpPr>
            <a:endCxn id="27" idx="1"/>
          </p:cNvCxnSpPr>
          <p:nvPr/>
        </p:nvCxnSpPr>
        <p:spPr>
          <a:xfrm>
            <a:off x="2842911" y="3479222"/>
            <a:ext cx="706864" cy="241106"/>
          </a:xfrm>
          <a:prstGeom prst="curvedConnector3">
            <a:avLst>
              <a:gd name="adj1" fmla="val 50000"/>
            </a:avLst>
          </a:prstGeom>
          <a:ln w="28575">
            <a:solidFill>
              <a:srgbClr val="0D5294"/>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 xmlns:a16="http://schemas.microsoft.com/office/drawing/2014/main" id="{54B993C7-E153-0084-AF26-BFD52B14C255}"/>
              </a:ext>
            </a:extLst>
          </p:cNvPr>
          <p:cNvSpPr/>
          <p:nvPr/>
        </p:nvSpPr>
        <p:spPr>
          <a:xfrm>
            <a:off x="1263192" y="4309985"/>
            <a:ext cx="5863472" cy="507831"/>
          </a:xfrm>
          <a:prstGeom prst="rect">
            <a:avLst/>
          </a:prstGeom>
        </p:spPr>
        <p:txBody>
          <a:bodyPr wrap="square">
            <a:spAutoFit/>
          </a:bodyPr>
          <a:lstStyle/>
          <a:p>
            <a:pPr algn="ct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思考：</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Series</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的基本数据类型</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List</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有何异同？</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Rectangle 38">
            <a:extLst>
              <a:ext uri="{FF2B5EF4-FFF2-40B4-BE49-F238E27FC236}">
                <a16:creationId xmlns="" xmlns:a16="http://schemas.microsoft.com/office/drawing/2014/main" id="{22AFEB93-F6F5-1869-B669-3AAB945A7F89}"/>
              </a:ext>
            </a:extLst>
          </p:cNvPr>
          <p:cNvSpPr/>
          <p:nvPr/>
        </p:nvSpPr>
        <p:spPr>
          <a:xfrm>
            <a:off x="731965" y="4345413"/>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2168200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9307FA2-DB7B-FA86-1459-B5780D61A9D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308B516-6E39-492B-9C4A-BDA4A241B13B}"/>
              </a:ext>
            </a:extLst>
          </p:cNvPr>
          <p:cNvSpPr>
            <a:spLocks noGrp="1"/>
          </p:cNvSpPr>
          <p:nvPr>
            <p:ph type="title"/>
          </p:nvPr>
        </p:nvSpPr>
        <p:spPr/>
        <p:txBody>
          <a:bodyPr/>
          <a:lstStyle/>
          <a:p>
            <a:r>
              <a:rPr lang="zh-CN" altLang="en-US" dirty="0"/>
              <a:t>上节课程回顾：</a:t>
            </a:r>
            <a:r>
              <a:rPr lang="en-US" altLang="zh-CN" dirty="0">
                <a:solidFill>
                  <a:srgbClr val="C00000"/>
                </a:solidFill>
              </a:rPr>
              <a:t>Series</a:t>
            </a:r>
            <a:r>
              <a:rPr lang="zh-CN" altLang="en-US" dirty="0">
                <a:solidFill>
                  <a:srgbClr val="C00000"/>
                </a:solidFill>
              </a:rPr>
              <a:t>对象的创建</a:t>
            </a:r>
            <a:endParaRPr lang="en-US" dirty="0">
              <a:solidFill>
                <a:srgbClr val="C00000"/>
              </a:solidFill>
            </a:endParaRPr>
          </a:p>
        </p:txBody>
      </p:sp>
      <p:sp>
        <p:nvSpPr>
          <p:cNvPr id="3" name="Content Placeholder 2">
            <a:extLst>
              <a:ext uri="{FF2B5EF4-FFF2-40B4-BE49-F238E27FC236}">
                <a16:creationId xmlns="" xmlns:a16="http://schemas.microsoft.com/office/drawing/2014/main" id="{A74DEC05-041B-4821-2A68-056A8F255A34}"/>
              </a:ext>
            </a:extLst>
          </p:cNvPr>
          <p:cNvSpPr>
            <a:spLocks noGrp="1"/>
          </p:cNvSpPr>
          <p:nvPr>
            <p:ph idx="1"/>
          </p:nvPr>
        </p:nvSpPr>
        <p:spPr/>
        <p:txBody>
          <a:bodyPr/>
          <a:lstStyle/>
          <a:p>
            <a:r>
              <a:rPr lang="zh-CN" altLang="en-US" dirty="0"/>
              <a:t>请思考如何创建以下的</a:t>
            </a:r>
            <a:r>
              <a:rPr lang="en-US" altLang="zh-CN" dirty="0"/>
              <a:t>Series</a:t>
            </a:r>
            <a:r>
              <a:rPr lang="zh-CN" altLang="en-US" dirty="0"/>
              <a:t>对象？</a:t>
            </a:r>
            <a:endParaRPr lang="en-US" altLang="zh-CN" dirty="0"/>
          </a:p>
        </p:txBody>
      </p:sp>
      <p:sp>
        <p:nvSpPr>
          <p:cNvPr id="4" name="Slide Number Placeholder 3">
            <a:extLst>
              <a:ext uri="{FF2B5EF4-FFF2-40B4-BE49-F238E27FC236}">
                <a16:creationId xmlns="" xmlns:a16="http://schemas.microsoft.com/office/drawing/2014/main" id="{25538484-62FA-384F-462C-D38FEB015EF8}"/>
              </a:ext>
            </a:extLst>
          </p:cNvPr>
          <p:cNvSpPr>
            <a:spLocks noGrp="1"/>
          </p:cNvSpPr>
          <p:nvPr>
            <p:ph type="sldNum" sz="quarter" idx="12"/>
          </p:nvPr>
        </p:nvSpPr>
        <p:spPr/>
        <p:txBody>
          <a:bodyPr/>
          <a:lstStyle/>
          <a:p>
            <a:fld id="{E1BEBC7A-FD02-486B-81B5-A845787C689C}" type="slidenum">
              <a:rPr lang="zh-CN" altLang="en-US" smtClean="0"/>
              <a:t>5</a:t>
            </a:fld>
            <a:endParaRPr lang="zh-CN" altLang="en-US"/>
          </a:p>
        </p:txBody>
      </p:sp>
      <p:pic>
        <p:nvPicPr>
          <p:cNvPr id="5" name="Picture 4">
            <a:extLst>
              <a:ext uri="{FF2B5EF4-FFF2-40B4-BE49-F238E27FC236}">
                <a16:creationId xmlns="" xmlns:a16="http://schemas.microsoft.com/office/drawing/2014/main" id="{521B1B02-E5B1-E995-85E4-1057756A3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079" y="1343755"/>
            <a:ext cx="1471262" cy="1674975"/>
          </a:xfrm>
          <a:prstGeom prst="rect">
            <a:avLst/>
          </a:prstGeom>
        </p:spPr>
      </p:pic>
      <p:pic>
        <p:nvPicPr>
          <p:cNvPr id="9" name="Picture 8">
            <a:extLst>
              <a:ext uri="{FF2B5EF4-FFF2-40B4-BE49-F238E27FC236}">
                <a16:creationId xmlns="" xmlns:a16="http://schemas.microsoft.com/office/drawing/2014/main" id="{D9B53D76-EE5B-9A16-F190-9F4BB0BD4896}"/>
              </a:ext>
            </a:extLst>
          </p:cNvPr>
          <p:cNvPicPr>
            <a:picLocks noChangeAspect="1"/>
          </p:cNvPicPr>
          <p:nvPr/>
        </p:nvPicPr>
        <p:blipFill rotWithShape="1">
          <a:blip r:embed="rId3">
            <a:extLst>
              <a:ext uri="{28A0092B-C50C-407E-A947-70E740481C1C}">
                <a14:useLocalDpi xmlns:a14="http://schemas.microsoft.com/office/drawing/2010/main" val="0"/>
              </a:ext>
            </a:extLst>
          </a:blip>
          <a:srcRect t="4282"/>
          <a:stretch/>
        </p:blipFill>
        <p:spPr>
          <a:xfrm>
            <a:off x="3602351" y="1343755"/>
            <a:ext cx="1539481" cy="1674975"/>
          </a:xfrm>
          <a:prstGeom prst="rect">
            <a:avLst/>
          </a:prstGeom>
        </p:spPr>
      </p:pic>
      <p:pic>
        <p:nvPicPr>
          <p:cNvPr id="10" name="Picture 9">
            <a:extLst>
              <a:ext uri="{FF2B5EF4-FFF2-40B4-BE49-F238E27FC236}">
                <a16:creationId xmlns="" xmlns:a16="http://schemas.microsoft.com/office/drawing/2014/main" id="{EB87D062-11D1-CE39-15F8-BAD6B43EDEC0}"/>
              </a:ext>
            </a:extLst>
          </p:cNvPr>
          <p:cNvPicPr>
            <a:picLocks noChangeAspect="1"/>
          </p:cNvPicPr>
          <p:nvPr/>
        </p:nvPicPr>
        <p:blipFill rotWithShape="1">
          <a:blip r:embed="rId4">
            <a:extLst>
              <a:ext uri="{28A0092B-C50C-407E-A947-70E740481C1C}">
                <a14:useLocalDpi xmlns:a14="http://schemas.microsoft.com/office/drawing/2010/main" val="0"/>
              </a:ext>
            </a:extLst>
          </a:blip>
          <a:srcRect t="3326"/>
          <a:stretch/>
        </p:blipFill>
        <p:spPr>
          <a:xfrm>
            <a:off x="5604867" y="1343755"/>
            <a:ext cx="1804602" cy="1678339"/>
          </a:xfrm>
          <a:prstGeom prst="rect">
            <a:avLst/>
          </a:prstGeom>
        </p:spPr>
      </p:pic>
      <p:sp>
        <p:nvSpPr>
          <p:cNvPr id="11" name="Google Shape;314;p37">
            <a:extLst>
              <a:ext uri="{FF2B5EF4-FFF2-40B4-BE49-F238E27FC236}">
                <a16:creationId xmlns="" xmlns:a16="http://schemas.microsoft.com/office/drawing/2014/main" id="{D7C97370-AD91-2353-C8F8-15D0ED657FE7}"/>
              </a:ext>
            </a:extLst>
          </p:cNvPr>
          <p:cNvSpPr txBox="1"/>
          <p:nvPr/>
        </p:nvSpPr>
        <p:spPr>
          <a:xfrm>
            <a:off x="616800" y="3169777"/>
            <a:ext cx="7716495" cy="415468"/>
          </a:xfrm>
          <a:prstGeom prst="rect">
            <a:avLst/>
          </a:prstGeom>
          <a:solidFill>
            <a:schemeClr val="bg1"/>
          </a:solidFill>
          <a:ln>
            <a:solidFill>
              <a:srgbClr val="0D5294"/>
            </a:solidFill>
          </a:ln>
          <a:effectLst>
            <a:outerShdw blurRad="50800" dist="76200" dir="2700000" algn="tl" rotWithShape="0">
              <a:prstClr val="black">
                <a:alpha val="40000"/>
              </a:prstClr>
            </a:outerShdw>
          </a:effectLst>
        </p:spPr>
        <p:txBody>
          <a:bodyPr spcFirstLastPara="1" wrap="square" lIns="91425" tIns="91425" rIns="91425" bIns="91425" anchor="t" anchorCtr="0">
            <a:spAutoFit/>
          </a:bodyPr>
          <a:lstStyle/>
          <a:p>
            <a:pPr>
              <a:buClr>
                <a:srgbClr val="000000"/>
              </a:buClr>
              <a:buFont typeface="Arial"/>
              <a:buNone/>
            </a:pPr>
            <a:r>
              <a:rPr lang="pt-BR" sz="1500" kern="0" dirty="0">
                <a:solidFill>
                  <a:srgbClr val="000000"/>
                </a:solidFill>
                <a:latin typeface="Consolas"/>
                <a:ea typeface="Consolas"/>
                <a:cs typeface="Consolas"/>
                <a:sym typeface="Consolas"/>
              </a:rPr>
              <a:t>obj1 = </a:t>
            </a:r>
            <a:r>
              <a:rPr lang="pt-BR" sz="1500" kern="0" dirty="0" err="1">
                <a:solidFill>
                  <a:srgbClr val="000000"/>
                </a:solidFill>
                <a:latin typeface="Consolas"/>
                <a:ea typeface="Consolas"/>
                <a:cs typeface="Consolas"/>
                <a:sym typeface="Consolas"/>
              </a:rPr>
              <a:t>pd.Series</a:t>
            </a:r>
            <a:r>
              <a:rPr lang="pt-BR" sz="1500" kern="0" dirty="0">
                <a:solidFill>
                  <a:srgbClr val="000000"/>
                </a:solidFill>
                <a:latin typeface="Consolas"/>
                <a:ea typeface="Consolas"/>
                <a:cs typeface="Consolas"/>
                <a:sym typeface="Consolas"/>
              </a:rPr>
              <a:t>([4, 7, -5, 3])</a:t>
            </a:r>
            <a:endParaRPr sz="1600" kern="0" dirty="0">
              <a:solidFill>
                <a:srgbClr val="000000"/>
              </a:solidFill>
              <a:latin typeface="Consolas"/>
              <a:ea typeface="Consolas"/>
              <a:cs typeface="Consolas"/>
              <a:sym typeface="Consolas"/>
            </a:endParaRPr>
          </a:p>
        </p:txBody>
      </p:sp>
      <p:sp>
        <p:nvSpPr>
          <p:cNvPr id="12" name="Google Shape;314;p37">
            <a:extLst>
              <a:ext uri="{FF2B5EF4-FFF2-40B4-BE49-F238E27FC236}">
                <a16:creationId xmlns="" xmlns:a16="http://schemas.microsoft.com/office/drawing/2014/main" id="{32B5C359-7E85-B349-66E5-9BF329B83BF2}"/>
              </a:ext>
            </a:extLst>
          </p:cNvPr>
          <p:cNvSpPr txBox="1"/>
          <p:nvPr/>
        </p:nvSpPr>
        <p:spPr>
          <a:xfrm>
            <a:off x="616800" y="3713184"/>
            <a:ext cx="7716495" cy="415468"/>
          </a:xfrm>
          <a:prstGeom prst="rect">
            <a:avLst/>
          </a:prstGeom>
          <a:solidFill>
            <a:schemeClr val="bg1"/>
          </a:solidFill>
          <a:ln>
            <a:solidFill>
              <a:srgbClr val="0D5294"/>
            </a:solidFill>
          </a:ln>
          <a:effectLst>
            <a:outerShdw blurRad="50800" dist="76200" dir="2700000" algn="tl" rotWithShape="0">
              <a:prstClr val="black">
                <a:alpha val="40000"/>
              </a:prstClr>
            </a:outerShdw>
          </a:effectLst>
        </p:spPr>
        <p:txBody>
          <a:bodyPr spcFirstLastPara="1" wrap="square" lIns="91425" tIns="91425" rIns="91425" bIns="91425" anchor="t" anchorCtr="0">
            <a:spAutoFit/>
          </a:bodyPr>
          <a:lstStyle/>
          <a:p>
            <a:pPr>
              <a:buClr>
                <a:srgbClr val="000000"/>
              </a:buClr>
              <a:buFont typeface="Arial"/>
              <a:buNone/>
            </a:pPr>
            <a:r>
              <a:rPr lang="pt-BR" sz="1500" kern="0" dirty="0">
                <a:solidFill>
                  <a:srgbClr val="000000"/>
                </a:solidFill>
                <a:latin typeface="Consolas"/>
                <a:ea typeface="Consolas"/>
                <a:cs typeface="Consolas"/>
                <a:sym typeface="Consolas"/>
              </a:rPr>
              <a:t>obj2 = </a:t>
            </a:r>
            <a:r>
              <a:rPr lang="pt-BR" sz="1500" kern="0" dirty="0" err="1">
                <a:solidFill>
                  <a:srgbClr val="000000"/>
                </a:solidFill>
                <a:latin typeface="Consolas"/>
                <a:ea typeface="Consolas"/>
                <a:cs typeface="Consolas"/>
                <a:sym typeface="Consolas"/>
              </a:rPr>
              <a:t>pd.Series</a:t>
            </a:r>
            <a:r>
              <a:rPr lang="pt-BR" sz="1500" kern="0" dirty="0">
                <a:solidFill>
                  <a:srgbClr val="000000"/>
                </a:solidFill>
                <a:latin typeface="Consolas"/>
                <a:ea typeface="Consolas"/>
                <a:cs typeface="Consolas"/>
                <a:sym typeface="Consolas"/>
              </a:rPr>
              <a:t>(data = [4, 7, -5, 3], index=['d', '</a:t>
            </a:r>
            <a:r>
              <a:rPr lang="pt-BR" sz="1500" kern="0" dirty="0" err="1">
                <a:solidFill>
                  <a:srgbClr val="000000"/>
                </a:solidFill>
                <a:latin typeface="Consolas"/>
                <a:ea typeface="Consolas"/>
                <a:cs typeface="Consolas"/>
                <a:sym typeface="Consolas"/>
              </a:rPr>
              <a:t>b</a:t>
            </a:r>
            <a:r>
              <a:rPr lang="pt-BR" sz="1500" kern="0" dirty="0">
                <a:solidFill>
                  <a:srgbClr val="000000"/>
                </a:solidFill>
                <a:latin typeface="Consolas"/>
                <a:ea typeface="Consolas"/>
                <a:cs typeface="Consolas"/>
                <a:sym typeface="Consolas"/>
              </a:rPr>
              <a:t>', 'a', '</a:t>
            </a:r>
            <a:r>
              <a:rPr lang="pt-BR" sz="1500" kern="0" dirty="0" err="1">
                <a:solidFill>
                  <a:srgbClr val="000000"/>
                </a:solidFill>
                <a:latin typeface="Consolas"/>
                <a:ea typeface="Consolas"/>
                <a:cs typeface="Consolas"/>
                <a:sym typeface="Consolas"/>
              </a:rPr>
              <a:t>c</a:t>
            </a:r>
            <a:r>
              <a:rPr lang="pt-BR" sz="1500" kern="0" dirty="0">
                <a:solidFill>
                  <a:srgbClr val="000000"/>
                </a:solidFill>
                <a:latin typeface="Consolas"/>
                <a:ea typeface="Consolas"/>
                <a:cs typeface="Consolas"/>
                <a:sym typeface="Consolas"/>
              </a:rPr>
              <a:t>'])</a:t>
            </a:r>
            <a:endParaRPr sz="1600" kern="0" dirty="0">
              <a:solidFill>
                <a:srgbClr val="000000"/>
              </a:solidFill>
              <a:latin typeface="Consolas"/>
              <a:ea typeface="Consolas"/>
              <a:cs typeface="Consolas"/>
              <a:sym typeface="Consolas"/>
            </a:endParaRPr>
          </a:p>
        </p:txBody>
      </p:sp>
      <p:sp>
        <p:nvSpPr>
          <p:cNvPr id="13" name="Google Shape;314;p37">
            <a:extLst>
              <a:ext uri="{FF2B5EF4-FFF2-40B4-BE49-F238E27FC236}">
                <a16:creationId xmlns="" xmlns:a16="http://schemas.microsoft.com/office/drawing/2014/main" id="{F5E3F25B-7700-3C61-1C84-FC48F10250B8}"/>
              </a:ext>
            </a:extLst>
          </p:cNvPr>
          <p:cNvSpPr txBox="1"/>
          <p:nvPr/>
        </p:nvSpPr>
        <p:spPr>
          <a:xfrm>
            <a:off x="616799" y="4224150"/>
            <a:ext cx="7716496" cy="646300"/>
          </a:xfrm>
          <a:prstGeom prst="rect">
            <a:avLst/>
          </a:prstGeom>
          <a:solidFill>
            <a:schemeClr val="bg1"/>
          </a:solidFill>
          <a:ln>
            <a:solidFill>
              <a:srgbClr val="0D5294"/>
            </a:solidFill>
          </a:ln>
          <a:effectLst>
            <a:outerShdw blurRad="50800" dist="76200" dir="2700000" algn="tl" rotWithShape="0">
              <a:prstClr val="black">
                <a:alpha val="40000"/>
              </a:prstClr>
            </a:outerShdw>
          </a:effectLst>
        </p:spPr>
        <p:txBody>
          <a:bodyPr spcFirstLastPara="1" wrap="square" lIns="91425" tIns="91425" rIns="91425" bIns="91425" anchor="t" anchorCtr="0">
            <a:spAutoFit/>
          </a:bodyPr>
          <a:lstStyle/>
          <a:p>
            <a:pPr>
              <a:buClr>
                <a:srgbClr val="000000"/>
              </a:buClr>
              <a:buFont typeface="Arial"/>
              <a:buNone/>
            </a:pPr>
            <a:r>
              <a:rPr lang="nl-NL" sz="1500" kern="0" dirty="0" err="1">
                <a:solidFill>
                  <a:srgbClr val="000000"/>
                </a:solidFill>
                <a:latin typeface="Consolas"/>
                <a:ea typeface="Consolas"/>
                <a:cs typeface="Consolas"/>
                <a:sym typeface="Consolas"/>
              </a:rPr>
              <a:t>sdata</a:t>
            </a:r>
            <a:r>
              <a:rPr lang="nl-NL" sz="1500" kern="0" dirty="0">
                <a:solidFill>
                  <a:srgbClr val="000000"/>
                </a:solidFill>
                <a:latin typeface="Consolas"/>
                <a:ea typeface="Consolas"/>
                <a:cs typeface="Consolas"/>
                <a:sym typeface="Consolas"/>
              </a:rPr>
              <a:t> = {'Ohio': 35000, 'Texas': 71000, 'Oregon': 16000, 'Utah': 5000}</a:t>
            </a:r>
          </a:p>
          <a:p>
            <a:pPr>
              <a:buClr>
                <a:srgbClr val="000000"/>
              </a:buClr>
              <a:buFont typeface="Arial"/>
              <a:buNone/>
            </a:pPr>
            <a:r>
              <a:rPr lang="nl-NL" sz="1500" kern="0" dirty="0">
                <a:solidFill>
                  <a:srgbClr val="000000"/>
                </a:solidFill>
                <a:latin typeface="Consolas"/>
                <a:ea typeface="Consolas"/>
                <a:cs typeface="Consolas"/>
                <a:sym typeface="Consolas"/>
              </a:rPr>
              <a:t>obj3 = </a:t>
            </a:r>
            <a:r>
              <a:rPr lang="nl-NL" sz="1500" kern="0" dirty="0" err="1">
                <a:solidFill>
                  <a:srgbClr val="000000"/>
                </a:solidFill>
                <a:latin typeface="Consolas"/>
                <a:ea typeface="Consolas"/>
                <a:cs typeface="Consolas"/>
                <a:sym typeface="Consolas"/>
              </a:rPr>
              <a:t>pd.Series</a:t>
            </a:r>
            <a:r>
              <a:rPr lang="nl-NL" sz="1500" kern="0" dirty="0">
                <a:solidFill>
                  <a:srgbClr val="000000"/>
                </a:solidFill>
                <a:latin typeface="Consolas"/>
                <a:ea typeface="Consolas"/>
                <a:cs typeface="Consolas"/>
                <a:sym typeface="Consolas"/>
              </a:rPr>
              <a:t>(</a:t>
            </a:r>
            <a:r>
              <a:rPr lang="nl-NL" sz="1500" kern="0" dirty="0" err="1">
                <a:solidFill>
                  <a:srgbClr val="000000"/>
                </a:solidFill>
                <a:latin typeface="Consolas"/>
                <a:ea typeface="Consolas"/>
                <a:cs typeface="Consolas"/>
                <a:sym typeface="Consolas"/>
              </a:rPr>
              <a:t>sdata</a:t>
            </a:r>
            <a:r>
              <a:rPr lang="nl-NL" sz="1500" kern="0" dirty="0">
                <a:solidFill>
                  <a:srgbClr val="000000"/>
                </a:solidFill>
                <a:latin typeface="Consolas"/>
                <a:ea typeface="Consolas"/>
                <a:cs typeface="Consolas"/>
                <a:sym typeface="Consolas"/>
              </a:rPr>
              <a:t>)</a:t>
            </a:r>
            <a:endParaRPr sz="1600" kern="0" dirty="0">
              <a:solidFill>
                <a:srgbClr val="000000"/>
              </a:solidFill>
              <a:latin typeface="Consolas"/>
              <a:ea typeface="Consolas"/>
              <a:cs typeface="Consolas"/>
              <a:sym typeface="Consolas"/>
            </a:endParaRPr>
          </a:p>
        </p:txBody>
      </p:sp>
      <p:sp>
        <p:nvSpPr>
          <p:cNvPr id="14" name="Rectangle 13">
            <a:extLst>
              <a:ext uri="{FF2B5EF4-FFF2-40B4-BE49-F238E27FC236}">
                <a16:creationId xmlns="" xmlns:a16="http://schemas.microsoft.com/office/drawing/2014/main" id="{E8E9FD17-8CE8-794C-B720-7E3FE0C26513}"/>
              </a:ext>
            </a:extLst>
          </p:cNvPr>
          <p:cNvSpPr/>
          <p:nvPr/>
        </p:nvSpPr>
        <p:spPr>
          <a:xfrm>
            <a:off x="543436" y="1343755"/>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2231288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3D6FDA-5EFE-AF5F-2363-54E0AA4E875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1C096F7-5B99-03CA-77DD-758BDEB03A89}"/>
              </a:ext>
            </a:extLst>
          </p:cNvPr>
          <p:cNvSpPr>
            <a:spLocks noGrp="1"/>
          </p:cNvSpPr>
          <p:nvPr>
            <p:ph type="title"/>
          </p:nvPr>
        </p:nvSpPr>
        <p:spPr/>
        <p:txBody>
          <a:bodyPr/>
          <a:lstStyle/>
          <a:p>
            <a:r>
              <a:rPr lang="zh-CN" altLang="en-US" dirty="0"/>
              <a:t>上节课程回顾：</a:t>
            </a:r>
            <a:r>
              <a:rPr lang="en-US" altLang="zh-CN" dirty="0" err="1">
                <a:solidFill>
                  <a:srgbClr val="C00000"/>
                </a:solidFill>
              </a:rPr>
              <a:t>DataFrame</a:t>
            </a:r>
            <a:endParaRPr lang="en-US" dirty="0"/>
          </a:p>
        </p:txBody>
      </p:sp>
      <p:sp>
        <p:nvSpPr>
          <p:cNvPr id="3" name="Content Placeholder 2">
            <a:extLst>
              <a:ext uri="{FF2B5EF4-FFF2-40B4-BE49-F238E27FC236}">
                <a16:creationId xmlns="" xmlns:a16="http://schemas.microsoft.com/office/drawing/2014/main" id="{5469211A-CDBC-276E-BEA8-04F67962D7C6}"/>
              </a:ext>
            </a:extLst>
          </p:cNvPr>
          <p:cNvSpPr>
            <a:spLocks noGrp="1"/>
          </p:cNvSpPr>
          <p:nvPr>
            <p:ph idx="1"/>
          </p:nvPr>
        </p:nvSpPr>
        <p:spPr>
          <a:xfrm>
            <a:off x="457200" y="819150"/>
            <a:ext cx="8229600" cy="1800603"/>
          </a:xfrm>
        </p:spPr>
        <p:txBody>
          <a:bodyPr/>
          <a:lstStyle/>
          <a:p>
            <a:r>
              <a:rPr lang="en-US" altLang="zh-CN" dirty="0" err="1"/>
              <a:t>DataFrame</a:t>
            </a:r>
            <a:endParaRPr lang="en-US" altLang="zh-CN" dirty="0"/>
          </a:p>
          <a:p>
            <a:pPr lvl="1"/>
            <a:r>
              <a:rPr lang="zh-CN" altLang="en-US" dirty="0"/>
              <a:t>二维的表格型数据结构</a:t>
            </a:r>
            <a:endParaRPr lang="en-US" altLang="zh-CN" dirty="0"/>
          </a:p>
          <a:p>
            <a:pPr lvl="1"/>
            <a:r>
              <a:rPr lang="zh-CN" altLang="en-US" dirty="0"/>
              <a:t>可以将</a:t>
            </a:r>
            <a:r>
              <a:rPr lang="en-US" altLang="zh-CN" dirty="0" err="1"/>
              <a:t>DataFrame</a:t>
            </a:r>
            <a:r>
              <a:rPr lang="zh-CN" altLang="en-US" dirty="0"/>
              <a:t>理解为一组共享</a:t>
            </a:r>
            <a:r>
              <a:rPr lang="en-US" altLang="zh-CN" b="1" dirty="0"/>
              <a:t>Index</a:t>
            </a:r>
            <a:r>
              <a:rPr lang="zh-CN" altLang="en-US" dirty="0"/>
              <a:t>信息的</a:t>
            </a:r>
            <a:r>
              <a:rPr lang="en-US" altLang="zh-CN" dirty="0"/>
              <a:t>Series</a:t>
            </a:r>
            <a:r>
              <a:rPr lang="zh-CN" altLang="en-US" dirty="0"/>
              <a:t>对象</a:t>
            </a:r>
            <a:endParaRPr lang="en-US" altLang="zh-CN" dirty="0"/>
          </a:p>
        </p:txBody>
      </p:sp>
      <p:sp>
        <p:nvSpPr>
          <p:cNvPr id="4" name="Slide Number Placeholder 3">
            <a:extLst>
              <a:ext uri="{FF2B5EF4-FFF2-40B4-BE49-F238E27FC236}">
                <a16:creationId xmlns="" xmlns:a16="http://schemas.microsoft.com/office/drawing/2014/main" id="{8F95776E-4C70-DC07-1110-21EF7AEAEF54}"/>
              </a:ext>
            </a:extLst>
          </p:cNvPr>
          <p:cNvSpPr>
            <a:spLocks noGrp="1"/>
          </p:cNvSpPr>
          <p:nvPr>
            <p:ph type="sldNum" sz="quarter" idx="12"/>
          </p:nvPr>
        </p:nvSpPr>
        <p:spPr/>
        <p:txBody>
          <a:bodyPr/>
          <a:lstStyle/>
          <a:p>
            <a:fld id="{E1BEBC7A-FD02-486B-81B5-A845787C689C}" type="slidenum">
              <a:rPr lang="zh-CN" altLang="en-US" smtClean="0"/>
              <a:t>6</a:t>
            </a:fld>
            <a:endParaRPr lang="zh-CN" altLang="en-US"/>
          </a:p>
        </p:txBody>
      </p:sp>
      <p:pic>
        <p:nvPicPr>
          <p:cNvPr id="8" name="Google Shape;392;p43">
            <a:extLst>
              <a:ext uri="{FF2B5EF4-FFF2-40B4-BE49-F238E27FC236}">
                <a16:creationId xmlns="" xmlns:a16="http://schemas.microsoft.com/office/drawing/2014/main" id="{F25C8666-F6C1-80C7-3F47-286F03EC468B}"/>
              </a:ext>
            </a:extLst>
          </p:cNvPr>
          <p:cNvPicPr preferRelativeResize="0"/>
          <p:nvPr/>
        </p:nvPicPr>
        <p:blipFill>
          <a:blip r:embed="rId3">
            <a:alphaModFix/>
          </a:blip>
          <a:stretch>
            <a:fillRect/>
          </a:stretch>
        </p:blipFill>
        <p:spPr>
          <a:xfrm>
            <a:off x="4670138" y="1963623"/>
            <a:ext cx="4202725" cy="2340226"/>
          </a:xfrm>
          <a:prstGeom prst="rect">
            <a:avLst/>
          </a:prstGeom>
          <a:noFill/>
          <a:ln>
            <a:noFill/>
          </a:ln>
        </p:spPr>
      </p:pic>
      <p:pic>
        <p:nvPicPr>
          <p:cNvPr id="11" name="Google Shape;393;p43">
            <a:extLst>
              <a:ext uri="{FF2B5EF4-FFF2-40B4-BE49-F238E27FC236}">
                <a16:creationId xmlns="" xmlns:a16="http://schemas.microsoft.com/office/drawing/2014/main" id="{22EE568F-106E-FAE8-DBE9-F2AF1D695E52}"/>
              </a:ext>
            </a:extLst>
          </p:cNvPr>
          <p:cNvPicPr preferRelativeResize="0"/>
          <p:nvPr/>
        </p:nvPicPr>
        <p:blipFill>
          <a:blip r:embed="rId4">
            <a:alphaModFix/>
          </a:blip>
          <a:stretch>
            <a:fillRect/>
          </a:stretch>
        </p:blipFill>
        <p:spPr>
          <a:xfrm>
            <a:off x="107050" y="2005298"/>
            <a:ext cx="1084325" cy="2264325"/>
          </a:xfrm>
          <a:prstGeom prst="rect">
            <a:avLst/>
          </a:prstGeom>
          <a:noFill/>
          <a:ln>
            <a:noFill/>
          </a:ln>
        </p:spPr>
      </p:pic>
      <p:pic>
        <p:nvPicPr>
          <p:cNvPr id="12" name="Google Shape;394;p43">
            <a:extLst>
              <a:ext uri="{FF2B5EF4-FFF2-40B4-BE49-F238E27FC236}">
                <a16:creationId xmlns="" xmlns:a16="http://schemas.microsoft.com/office/drawing/2014/main" id="{CAA6858E-BFF7-44AD-CB06-67C028F2BABF}"/>
              </a:ext>
            </a:extLst>
          </p:cNvPr>
          <p:cNvPicPr preferRelativeResize="0"/>
          <p:nvPr/>
        </p:nvPicPr>
        <p:blipFill>
          <a:blip r:embed="rId5">
            <a:alphaModFix/>
          </a:blip>
          <a:stretch>
            <a:fillRect/>
          </a:stretch>
        </p:blipFill>
        <p:spPr>
          <a:xfrm>
            <a:off x="1796550" y="2081495"/>
            <a:ext cx="2061352" cy="2184400"/>
          </a:xfrm>
          <a:prstGeom prst="rect">
            <a:avLst/>
          </a:prstGeom>
          <a:noFill/>
          <a:ln>
            <a:noFill/>
          </a:ln>
        </p:spPr>
      </p:pic>
      <p:sp>
        <p:nvSpPr>
          <p:cNvPr id="13" name="Google Shape;395;p43">
            <a:extLst>
              <a:ext uri="{FF2B5EF4-FFF2-40B4-BE49-F238E27FC236}">
                <a16:creationId xmlns="" xmlns:a16="http://schemas.microsoft.com/office/drawing/2014/main" id="{31867ABA-1ED4-CB61-4D1D-A397A59CE172}"/>
              </a:ext>
            </a:extLst>
          </p:cNvPr>
          <p:cNvSpPr/>
          <p:nvPr/>
        </p:nvSpPr>
        <p:spPr>
          <a:xfrm>
            <a:off x="1267975" y="2884273"/>
            <a:ext cx="357900" cy="347700"/>
          </a:xfrm>
          <a:prstGeom prst="mathPlus">
            <a:avLst>
              <a:gd name="adj1" fmla="val 23520"/>
            </a:avLst>
          </a:prstGeom>
          <a:solidFill>
            <a:srgbClr val="0D5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96;p43">
            <a:extLst>
              <a:ext uri="{FF2B5EF4-FFF2-40B4-BE49-F238E27FC236}">
                <a16:creationId xmlns="" xmlns:a16="http://schemas.microsoft.com/office/drawing/2014/main" id="{DAFC8A66-CCC8-4AE8-40B8-BFD05D330875}"/>
              </a:ext>
            </a:extLst>
          </p:cNvPr>
          <p:cNvSpPr/>
          <p:nvPr/>
        </p:nvSpPr>
        <p:spPr>
          <a:xfrm>
            <a:off x="4039125" y="3006973"/>
            <a:ext cx="548700" cy="225000"/>
          </a:xfrm>
          <a:prstGeom prst="rightArrow">
            <a:avLst>
              <a:gd name="adj1" fmla="val 50000"/>
              <a:gd name="adj2" fmla="val 50000"/>
            </a:avLst>
          </a:prstGeom>
          <a:solidFill>
            <a:srgbClr val="0D5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97;p43">
            <a:extLst>
              <a:ext uri="{FF2B5EF4-FFF2-40B4-BE49-F238E27FC236}">
                <a16:creationId xmlns="" xmlns:a16="http://schemas.microsoft.com/office/drawing/2014/main" id="{6D595CC3-1D9F-0008-520B-EB245AB095EF}"/>
              </a:ext>
            </a:extLst>
          </p:cNvPr>
          <p:cNvSpPr/>
          <p:nvPr/>
        </p:nvSpPr>
        <p:spPr>
          <a:xfrm>
            <a:off x="3180175" y="4090898"/>
            <a:ext cx="677700" cy="17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99;p43">
            <a:extLst>
              <a:ext uri="{FF2B5EF4-FFF2-40B4-BE49-F238E27FC236}">
                <a16:creationId xmlns="" xmlns:a16="http://schemas.microsoft.com/office/drawing/2014/main" id="{E962C8A8-BB98-7793-64D5-23E9F6A4D7F7}"/>
              </a:ext>
            </a:extLst>
          </p:cNvPr>
          <p:cNvSpPr txBox="1"/>
          <p:nvPr/>
        </p:nvSpPr>
        <p:spPr>
          <a:xfrm>
            <a:off x="49976" y="4354466"/>
            <a:ext cx="2014493"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Roboto Light"/>
                <a:ea typeface="Roboto Light"/>
                <a:cs typeface="Roboto Light"/>
                <a:sym typeface="Roboto Light"/>
              </a:rPr>
              <a:t>The Series </a:t>
            </a:r>
            <a:r>
              <a:rPr lang="en" sz="1600" dirty="0">
                <a:latin typeface="Consolas"/>
                <a:ea typeface="Consolas"/>
                <a:cs typeface="Consolas"/>
                <a:sym typeface="Consolas"/>
              </a:rPr>
              <a:t>"Year"</a:t>
            </a:r>
            <a:endParaRPr sz="1600" dirty="0">
              <a:latin typeface="Consolas"/>
              <a:ea typeface="Consolas"/>
              <a:cs typeface="Consolas"/>
              <a:sym typeface="Consolas"/>
            </a:endParaRPr>
          </a:p>
        </p:txBody>
      </p:sp>
      <p:sp>
        <p:nvSpPr>
          <p:cNvPr id="17" name="Google Shape;400;p43">
            <a:extLst>
              <a:ext uri="{FF2B5EF4-FFF2-40B4-BE49-F238E27FC236}">
                <a16:creationId xmlns="" xmlns:a16="http://schemas.microsoft.com/office/drawing/2014/main" id="{B71AA7EA-3489-61CF-7AB7-4A6579578A56}"/>
              </a:ext>
            </a:extLst>
          </p:cNvPr>
          <p:cNvSpPr txBox="1"/>
          <p:nvPr/>
        </p:nvSpPr>
        <p:spPr>
          <a:xfrm>
            <a:off x="1915523" y="4329616"/>
            <a:ext cx="2672301"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Roboto Light"/>
                <a:ea typeface="Roboto Light"/>
                <a:cs typeface="Roboto Light"/>
                <a:sym typeface="Roboto Light"/>
              </a:rPr>
              <a:t>The Series </a:t>
            </a:r>
            <a:r>
              <a:rPr lang="en" sz="1600">
                <a:latin typeface="Consolas"/>
                <a:ea typeface="Consolas"/>
                <a:cs typeface="Consolas"/>
                <a:sym typeface="Consolas"/>
              </a:rPr>
              <a:t>"Candidate"</a:t>
            </a:r>
            <a:endParaRPr sz="1600" dirty="0">
              <a:latin typeface="Consolas"/>
              <a:ea typeface="Consolas"/>
              <a:cs typeface="Consolas"/>
              <a:sym typeface="Consolas"/>
            </a:endParaRPr>
          </a:p>
        </p:txBody>
      </p:sp>
      <p:sp>
        <p:nvSpPr>
          <p:cNvPr id="18" name="Google Shape;401;p43">
            <a:extLst>
              <a:ext uri="{FF2B5EF4-FFF2-40B4-BE49-F238E27FC236}">
                <a16:creationId xmlns="" xmlns:a16="http://schemas.microsoft.com/office/drawing/2014/main" id="{FDF5A3AE-6640-B519-C116-F89E2AEA5777}"/>
              </a:ext>
            </a:extLst>
          </p:cNvPr>
          <p:cNvSpPr txBox="1"/>
          <p:nvPr/>
        </p:nvSpPr>
        <p:spPr>
          <a:xfrm>
            <a:off x="5543232" y="4348641"/>
            <a:ext cx="3191193"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Roboto Light"/>
                <a:ea typeface="Roboto Light"/>
                <a:cs typeface="Roboto Light"/>
                <a:sym typeface="Roboto Light"/>
              </a:rPr>
              <a:t>The </a:t>
            </a:r>
            <a:r>
              <a:rPr lang="en" dirty="0" err="1">
                <a:latin typeface="Roboto Light"/>
                <a:ea typeface="Roboto Light"/>
                <a:cs typeface="Roboto Light"/>
                <a:sym typeface="Roboto Light"/>
              </a:rPr>
              <a:t>DataFrame</a:t>
            </a:r>
            <a:r>
              <a:rPr lang="en" dirty="0">
                <a:latin typeface="Roboto Light"/>
                <a:ea typeface="Roboto Light"/>
                <a:cs typeface="Roboto Light"/>
                <a:sym typeface="Roboto Light"/>
              </a:rPr>
              <a:t> </a:t>
            </a:r>
            <a:r>
              <a:rPr lang="en" dirty="0">
                <a:latin typeface="Consolas"/>
                <a:ea typeface="Consolas"/>
                <a:cs typeface="Consolas"/>
                <a:sym typeface="Consolas"/>
              </a:rPr>
              <a:t>elections</a:t>
            </a:r>
            <a:endParaRPr dirty="0">
              <a:latin typeface="Consolas"/>
              <a:ea typeface="Consolas"/>
              <a:cs typeface="Consolas"/>
              <a:sym typeface="Consolas"/>
            </a:endParaRPr>
          </a:p>
        </p:txBody>
      </p:sp>
      <p:sp>
        <p:nvSpPr>
          <p:cNvPr id="19" name="Google Shape;402;p43">
            <a:extLst>
              <a:ext uri="{FF2B5EF4-FFF2-40B4-BE49-F238E27FC236}">
                <a16:creationId xmlns="" xmlns:a16="http://schemas.microsoft.com/office/drawing/2014/main" id="{E9B1C337-7FBD-07EB-2D39-D4B9C317E7BC}"/>
              </a:ext>
            </a:extLst>
          </p:cNvPr>
          <p:cNvSpPr txBox="1"/>
          <p:nvPr/>
        </p:nvSpPr>
        <p:spPr>
          <a:xfrm>
            <a:off x="4093000" y="2606773"/>
            <a:ext cx="548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Light"/>
                <a:ea typeface="Roboto Light"/>
                <a:cs typeface="Roboto Light"/>
                <a:sym typeface="Roboto Light"/>
              </a:rPr>
              <a:t>[...]</a:t>
            </a:r>
            <a:endParaRPr>
              <a:latin typeface="Roboto Light"/>
              <a:ea typeface="Roboto Light"/>
              <a:cs typeface="Roboto Light"/>
              <a:sym typeface="Roboto Light"/>
            </a:endParaRPr>
          </a:p>
        </p:txBody>
      </p:sp>
    </p:spTree>
    <p:extLst>
      <p:ext uri="{BB962C8B-B14F-4D97-AF65-F5344CB8AC3E}">
        <p14:creationId xmlns:p14="http://schemas.microsoft.com/office/powerpoint/2010/main" val="41778548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DataFrame</a:t>
            </a:r>
            <a:r>
              <a:rPr lang="zh-CN" altLang="en-US" dirty="0"/>
              <a:t>的基本操作</a:t>
            </a:r>
            <a:endParaRPr lang="en-US" dirty="0"/>
          </a:p>
        </p:txBody>
      </p:sp>
      <p:sp>
        <p:nvSpPr>
          <p:cNvPr id="5" name="Slide Number Placeholder 4"/>
          <p:cNvSpPr>
            <a:spLocks noGrp="1"/>
          </p:cNvSpPr>
          <p:nvPr>
            <p:ph type="sldNum" sz="quarter" idx="12"/>
          </p:nvPr>
        </p:nvSpPr>
        <p:spPr/>
        <p:txBody>
          <a:bodyPr/>
          <a:lstStyle/>
          <a:p>
            <a:pPr>
              <a:defRPr/>
            </a:pPr>
            <a:fld id="{03E60C35-1193-284A-B3D8-F868547A968B}" type="slidenum">
              <a:rPr lang="zh-CN" altLang="en-US" smtClean="0"/>
              <a:pPr>
                <a:defRPr/>
              </a:pPr>
              <a:t>7</a:t>
            </a:fld>
            <a:endParaRPr lang="en-US" altLang="zh-CN"/>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1905" r="21233"/>
          <a:stretch/>
        </p:blipFill>
        <p:spPr>
          <a:xfrm>
            <a:off x="1076759" y="1317687"/>
            <a:ext cx="2521346" cy="3458841"/>
          </a:xfrm>
          <a:prstGeom prst="rect">
            <a:avLst/>
          </a:prstGeom>
          <a:ln>
            <a:noFill/>
          </a:ln>
          <a:effectLst>
            <a:outerShdw blurRad="190500" algn="tl" rotWithShape="0">
              <a:srgbClr val="000000">
                <a:alpha val="70000"/>
              </a:srgbClr>
            </a:outerShdw>
          </a:effectLst>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0837" y="1320091"/>
            <a:ext cx="4138125" cy="3456437"/>
          </a:xfrm>
          <a:prstGeom prst="rect">
            <a:avLst/>
          </a:prstGeom>
          <a:ln>
            <a:noFill/>
          </a:ln>
          <a:effectLst>
            <a:outerShdw blurRad="190500" algn="tl" rotWithShape="0">
              <a:srgbClr val="000000">
                <a:alpha val="70000"/>
              </a:srgbClr>
            </a:outerShdw>
          </a:effectLst>
        </p:spPr>
      </p:pic>
      <p:sp>
        <p:nvSpPr>
          <p:cNvPr id="6" name="Content Placeholder 5"/>
          <p:cNvSpPr>
            <a:spLocks noGrp="1"/>
          </p:cNvSpPr>
          <p:nvPr>
            <p:ph idx="1"/>
          </p:nvPr>
        </p:nvSpPr>
        <p:spPr>
          <a:xfrm>
            <a:off x="457200" y="819150"/>
            <a:ext cx="8229600" cy="552450"/>
          </a:xfrm>
        </p:spPr>
        <p:txBody>
          <a:bodyPr/>
          <a:lstStyle/>
          <a:p>
            <a:r>
              <a:rPr lang="zh-CN" altLang="en-US" dirty="0"/>
              <a:t>查看</a:t>
            </a:r>
            <a:r>
              <a:rPr lang="en-US" altLang="zh-CN" dirty="0" err="1"/>
              <a:t>DataFrame</a:t>
            </a:r>
            <a:r>
              <a:rPr lang="zh-CN" altLang="en-US" dirty="0"/>
              <a:t>的基本信息</a:t>
            </a:r>
            <a:endParaRPr lang="en-US" dirty="0"/>
          </a:p>
        </p:txBody>
      </p:sp>
    </p:spTree>
    <p:extLst>
      <p:ext uri="{BB962C8B-B14F-4D97-AF65-F5344CB8AC3E}">
        <p14:creationId xmlns:p14="http://schemas.microsoft.com/office/powerpoint/2010/main" val="245743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DataFrame</a:t>
            </a:r>
            <a:r>
              <a:rPr lang="zh-CN" altLang="en-US" dirty="0"/>
              <a:t>的基本操作</a:t>
            </a:r>
            <a:endParaRPr lang="en-US" dirty="0"/>
          </a:p>
        </p:txBody>
      </p:sp>
      <p:sp>
        <p:nvSpPr>
          <p:cNvPr id="3" name="Content Placeholder 2"/>
          <p:cNvSpPr>
            <a:spLocks noGrp="1"/>
          </p:cNvSpPr>
          <p:nvPr>
            <p:ph idx="1"/>
          </p:nvPr>
        </p:nvSpPr>
        <p:spPr>
          <a:xfrm>
            <a:off x="457200" y="819150"/>
            <a:ext cx="5808133" cy="3937000"/>
          </a:xfrm>
        </p:spPr>
        <p:txBody>
          <a:bodyPr>
            <a:noAutofit/>
          </a:bodyPr>
          <a:lstStyle/>
          <a:p>
            <a:r>
              <a:rPr lang="zh-CN" altLang="en-US" dirty="0"/>
              <a:t>修改索引</a:t>
            </a:r>
            <a:endParaRPr lang="en-US" altLang="zh-CN" dirty="0"/>
          </a:p>
          <a:p>
            <a:pPr lvl="1"/>
            <a:r>
              <a:rPr lang="zh-CN" altLang="en-US" dirty="0"/>
              <a:t>数组的 </a:t>
            </a:r>
            <a:r>
              <a:rPr lang="en-US" altLang="zh-CN" dirty="0"/>
              <a:t>index </a:t>
            </a:r>
            <a:r>
              <a:rPr lang="zh-CN" altLang="en-US" dirty="0"/>
              <a:t>属性是不可变的，其实操作的是一个使用了新索引的新数组，并继承旧数据</a:t>
            </a:r>
            <a:endParaRPr lang="en-US" altLang="zh-CN" dirty="0"/>
          </a:p>
          <a:p>
            <a:r>
              <a:rPr lang="zh-CN" altLang="en-US" dirty="0"/>
              <a:t>重新索引（将现有的行或列调整顺序）</a:t>
            </a:r>
            <a:endParaRPr lang="en-US" altLang="zh-CN" dirty="0"/>
          </a:p>
          <a:p>
            <a:pPr lvl="1"/>
            <a:r>
              <a:rPr lang="en-US" altLang="zh-CN" dirty="0" err="1"/>
              <a:t>reindex</a:t>
            </a:r>
            <a:endParaRPr lang="en-US" altLang="zh-CN" dirty="0"/>
          </a:p>
          <a:p>
            <a:pPr lvl="2"/>
            <a:r>
              <a:rPr lang="en-US" dirty="0"/>
              <a:t>se1=</a:t>
            </a:r>
            <a:r>
              <a:rPr lang="en-US" dirty="0" err="1"/>
              <a:t>pd.Series</a:t>
            </a:r>
            <a:r>
              <a:rPr lang="en-US" dirty="0"/>
              <a:t>([1,7,3,9],index=['</a:t>
            </a:r>
            <a:r>
              <a:rPr lang="en-US" dirty="0" err="1"/>
              <a:t>d','c','a','f</a:t>
            </a:r>
            <a:r>
              <a:rPr lang="en-US" dirty="0"/>
              <a:t>'])</a:t>
            </a:r>
          </a:p>
          <a:p>
            <a:pPr lvl="2"/>
            <a:r>
              <a:rPr lang="en-US" dirty="0"/>
              <a:t>se2=se1.reindex(['</a:t>
            </a:r>
            <a:r>
              <a:rPr lang="en-US" dirty="0" err="1"/>
              <a:t>a','b','c','d','e','f</a:t>
            </a:r>
            <a:r>
              <a:rPr lang="en-US" dirty="0"/>
              <a:t>'])</a:t>
            </a:r>
          </a:p>
          <a:p>
            <a:pPr lvl="2"/>
            <a:r>
              <a:rPr lang="en-US" dirty="0"/>
              <a:t>df1=</a:t>
            </a:r>
            <a:r>
              <a:rPr lang="en-US" dirty="0" err="1"/>
              <a:t>pd.DataFrame</a:t>
            </a:r>
            <a:r>
              <a:rPr lang="en-US" dirty="0"/>
              <a:t>(</a:t>
            </a:r>
            <a:r>
              <a:rPr lang="en-US" dirty="0" err="1"/>
              <a:t>np.arange</a:t>
            </a:r>
            <a:r>
              <a:rPr lang="en-US" dirty="0"/>
              <a:t>(9).reshape(3,3),index=['</a:t>
            </a:r>
            <a:r>
              <a:rPr lang="en-US" dirty="0" err="1"/>
              <a:t>a','c','d</a:t>
            </a:r>
            <a:r>
              <a:rPr lang="en-US" dirty="0"/>
              <a:t>'],columns=['</a:t>
            </a:r>
            <a:r>
              <a:rPr lang="en-US" dirty="0" err="1"/>
              <a:t>one','two','four</a:t>
            </a:r>
            <a:r>
              <a:rPr lang="en-US" dirty="0"/>
              <a:t>'])</a:t>
            </a:r>
          </a:p>
          <a:p>
            <a:pPr lvl="2"/>
            <a:r>
              <a:rPr lang="en-US" dirty="0"/>
              <a:t>df1.reindex(index=['</a:t>
            </a:r>
            <a:r>
              <a:rPr lang="en-US" dirty="0" err="1"/>
              <a:t>a','b','c','d</a:t>
            </a:r>
            <a:r>
              <a:rPr lang="en-US" dirty="0"/>
              <a:t>'],columns=['</a:t>
            </a:r>
            <a:r>
              <a:rPr lang="en-US" dirty="0" err="1"/>
              <a:t>one','two','three','four</a:t>
            </a:r>
            <a:r>
              <a:rPr lang="en-US" dirty="0"/>
              <a:t>'])</a:t>
            </a: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8</a:t>
            </a:fld>
            <a:endParaRPr lang="zh-CN" altLang="en-US"/>
          </a:p>
        </p:txBody>
      </p:sp>
      <p:pic>
        <p:nvPicPr>
          <p:cNvPr id="6" name="图片 5">
            <a:extLst>
              <a:ext uri="{FF2B5EF4-FFF2-40B4-BE49-F238E27FC236}">
                <a16:creationId xmlns="" xmlns:a16="http://schemas.microsoft.com/office/drawing/2014/main" id="{6F977FE7-2AC3-4D2A-B01C-50FC169E99FB}"/>
              </a:ext>
            </a:extLst>
          </p:cNvPr>
          <p:cNvPicPr>
            <a:picLocks noChangeAspect="1"/>
          </p:cNvPicPr>
          <p:nvPr/>
        </p:nvPicPr>
        <p:blipFill>
          <a:blip r:embed="rId3"/>
          <a:stretch>
            <a:fillRect/>
          </a:stretch>
        </p:blipFill>
        <p:spPr>
          <a:xfrm>
            <a:off x="6961033" y="1060074"/>
            <a:ext cx="1560867" cy="1372351"/>
          </a:xfrm>
          <a:prstGeom prst="rect">
            <a:avLst/>
          </a:prstGeom>
        </p:spPr>
      </p:pic>
      <p:pic>
        <p:nvPicPr>
          <p:cNvPr id="7" name="图片 6">
            <a:extLst>
              <a:ext uri="{FF2B5EF4-FFF2-40B4-BE49-F238E27FC236}">
                <a16:creationId xmlns="" xmlns:a16="http://schemas.microsoft.com/office/drawing/2014/main" id="{9976AD1E-5B00-4F82-8AE0-1A4A5D2514EB}"/>
              </a:ext>
            </a:extLst>
          </p:cNvPr>
          <p:cNvPicPr>
            <a:picLocks noChangeAspect="1"/>
          </p:cNvPicPr>
          <p:nvPr/>
        </p:nvPicPr>
        <p:blipFill>
          <a:blip r:embed="rId4"/>
          <a:stretch>
            <a:fillRect/>
          </a:stretch>
        </p:blipFill>
        <p:spPr>
          <a:xfrm>
            <a:off x="6961034" y="2787650"/>
            <a:ext cx="1560867" cy="1694656"/>
          </a:xfrm>
          <a:prstGeom prst="rect">
            <a:avLst/>
          </a:prstGeom>
        </p:spPr>
      </p:pic>
      <p:sp>
        <p:nvSpPr>
          <p:cNvPr id="8" name="文本框 7">
            <a:extLst>
              <a:ext uri="{FF2B5EF4-FFF2-40B4-BE49-F238E27FC236}">
                <a16:creationId xmlns="" xmlns:a16="http://schemas.microsoft.com/office/drawing/2014/main" id="{148CBE28-AFE7-4EEE-8952-FBC65FE96593}"/>
              </a:ext>
            </a:extLst>
          </p:cNvPr>
          <p:cNvSpPr txBox="1"/>
          <p:nvPr/>
        </p:nvSpPr>
        <p:spPr>
          <a:xfrm flipH="1">
            <a:off x="7464072" y="634484"/>
            <a:ext cx="554788" cy="400110"/>
          </a:xfrm>
          <a:prstGeom prst="rect">
            <a:avLst/>
          </a:prstGeom>
          <a:noFill/>
        </p:spPr>
        <p:txBody>
          <a:bodyPr wrap="square" rtlCol="0">
            <a:spAutoFit/>
          </a:bodyPr>
          <a:lstStyle/>
          <a:p>
            <a:r>
              <a:rPr lang="en-US" altLang="zh-CN" sz="2000" dirty="0"/>
              <a:t>se1</a:t>
            </a:r>
            <a:endParaRPr lang="en-US" altLang="zh-CN" sz="2000" kern="1200" dirty="0">
              <a:solidFill>
                <a:schemeClr val="tx1"/>
              </a:solidFill>
              <a:latin typeface="+mn-lt"/>
              <a:ea typeface="+mn-ea"/>
              <a:cs typeface="+mn-cs"/>
            </a:endParaRPr>
          </a:p>
        </p:txBody>
      </p:sp>
      <p:sp>
        <p:nvSpPr>
          <p:cNvPr id="9" name="文本框 8">
            <a:extLst>
              <a:ext uri="{FF2B5EF4-FFF2-40B4-BE49-F238E27FC236}">
                <a16:creationId xmlns="" xmlns:a16="http://schemas.microsoft.com/office/drawing/2014/main" id="{36EECFC8-E83E-4427-B59E-8ED1159058C1}"/>
              </a:ext>
            </a:extLst>
          </p:cNvPr>
          <p:cNvSpPr txBox="1"/>
          <p:nvPr/>
        </p:nvSpPr>
        <p:spPr>
          <a:xfrm flipH="1">
            <a:off x="7464072" y="2425372"/>
            <a:ext cx="554788" cy="369332"/>
          </a:xfrm>
          <a:prstGeom prst="rect">
            <a:avLst/>
          </a:prstGeom>
          <a:noFill/>
        </p:spPr>
        <p:txBody>
          <a:bodyPr wrap="square" rtlCol="0">
            <a:spAutoFit/>
          </a:bodyPr>
          <a:lstStyle/>
          <a:p>
            <a:r>
              <a:rPr lang="en-US" altLang="zh-CN" dirty="0"/>
              <a:t>se2</a:t>
            </a:r>
            <a:endParaRPr lang="en-US" altLang="zh-CN" sz="1800" kern="1200" dirty="0">
              <a:solidFill>
                <a:schemeClr val="tx1"/>
              </a:solidFill>
              <a:latin typeface="+mn-lt"/>
              <a:ea typeface="+mn-ea"/>
              <a:cs typeface="+mn-cs"/>
            </a:endParaRPr>
          </a:p>
        </p:txBody>
      </p:sp>
      <p:cxnSp>
        <p:nvCxnSpPr>
          <p:cNvPr id="11" name="Straight Arrow Connector 10"/>
          <p:cNvCxnSpPr/>
          <p:nvPr/>
        </p:nvCxnSpPr>
        <p:spPr>
          <a:xfrm flipV="1">
            <a:off x="5926667" y="1746249"/>
            <a:ext cx="880533" cy="86378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409484" y="2965264"/>
            <a:ext cx="1397716" cy="1845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368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DataFrame</a:t>
            </a:r>
            <a:r>
              <a:rPr lang="zh-CN" altLang="en-US" dirty="0"/>
              <a:t>的基本操作</a:t>
            </a:r>
            <a:endParaRPr lang="en-US" dirty="0"/>
          </a:p>
        </p:txBody>
      </p:sp>
      <p:sp>
        <p:nvSpPr>
          <p:cNvPr id="3" name="Content Placeholder 2"/>
          <p:cNvSpPr>
            <a:spLocks noGrp="1"/>
          </p:cNvSpPr>
          <p:nvPr>
            <p:ph idx="1"/>
          </p:nvPr>
        </p:nvSpPr>
        <p:spPr>
          <a:xfrm>
            <a:off x="457200" y="819150"/>
            <a:ext cx="4267199" cy="3937000"/>
          </a:xfrm>
        </p:spPr>
        <p:txBody>
          <a:bodyPr>
            <a:noAutofit/>
          </a:bodyPr>
          <a:lstStyle/>
          <a:p>
            <a:r>
              <a:rPr lang="zh-CN" altLang="en-US" dirty="0"/>
              <a:t>重新索引</a:t>
            </a:r>
            <a:endParaRPr lang="en-US" altLang="zh-CN" dirty="0"/>
          </a:p>
          <a:p>
            <a:pPr lvl="1"/>
            <a:r>
              <a:rPr lang="zh-CN" altLang="en-US" dirty="0"/>
              <a:t>将现有的行或列调整顺序</a:t>
            </a:r>
            <a:endParaRPr lang="en-US" altLang="zh-CN" dirty="0"/>
          </a:p>
          <a:p>
            <a:endParaRPr lang="en-US" altLang="zh-CN" dirty="0"/>
          </a:p>
          <a:p>
            <a:r>
              <a:rPr lang="zh-CN" altLang="en-US" dirty="0"/>
              <a:t>增加一列</a:t>
            </a:r>
            <a:endParaRPr lang="en-US" altLang="zh-CN" dirty="0"/>
          </a:p>
          <a:p>
            <a:pPr lvl="1"/>
            <a:r>
              <a:rPr lang="en-US" altLang="zh-CN" sz="1600" dirty="0" err="1"/>
              <a:t>pop_DF</a:t>
            </a:r>
            <a:r>
              <a:rPr lang="en-US" altLang="zh-CN" sz="1600" dirty="0"/>
              <a:t>['Country'] = 'China’</a:t>
            </a:r>
          </a:p>
          <a:p>
            <a:r>
              <a:rPr lang="zh-CN" altLang="en-US" dirty="0"/>
              <a:t>删除行或列 </a:t>
            </a:r>
            <a:r>
              <a:rPr lang="en-US" altLang="zh-CN" dirty="0"/>
              <a:t>Drop</a:t>
            </a:r>
          </a:p>
          <a:p>
            <a:pPr lvl="1"/>
            <a:r>
              <a:rPr lang="zh-CN" altLang="en-US" sz="1600" dirty="0"/>
              <a:t>默认删除行</a:t>
            </a:r>
            <a:endParaRPr lang="en-US" altLang="zh-CN" sz="1600" dirty="0"/>
          </a:p>
          <a:p>
            <a:pPr lvl="1"/>
            <a:r>
              <a:rPr lang="zh-CN" altLang="en-US" sz="1600" dirty="0"/>
              <a:t>删除列需要加</a:t>
            </a:r>
            <a:r>
              <a:rPr lang="en-US" altLang="zh-CN" sz="1600" dirty="0"/>
              <a:t>axis = 1</a:t>
            </a:r>
          </a:p>
          <a:p>
            <a:pPr lvl="1"/>
            <a:r>
              <a:rPr lang="en-US" altLang="zh-CN" dirty="0"/>
              <a:t>drop(labels, axis=1)</a:t>
            </a:r>
          </a:p>
          <a:p>
            <a:pPr lvl="1"/>
            <a:r>
              <a:rPr lang="zh-CN" altLang="en-US" dirty="0"/>
              <a:t>例子：</a:t>
            </a:r>
            <a:endParaRPr lang="en-US" altLang="zh-CN" dirty="0"/>
          </a:p>
          <a:p>
            <a:pPr lvl="2"/>
            <a:r>
              <a:rPr lang="en-US" altLang="zh-CN" sz="1400" dirty="0" err="1"/>
              <a:t>pop_DF.drop</a:t>
            </a:r>
            <a:r>
              <a:rPr lang="en-US" altLang="zh-CN" sz="1400" dirty="0"/>
              <a:t>(['</a:t>
            </a:r>
            <a:r>
              <a:rPr lang="en-US" altLang="zh-CN" sz="1400" dirty="0" err="1"/>
              <a:t>Bao</a:t>
            </a:r>
            <a:r>
              <a:rPr lang="en-US" altLang="zh-CN" sz="1400" dirty="0"/>
              <a:t>', '</a:t>
            </a:r>
            <a:r>
              <a:rPr lang="en-US" altLang="zh-CN" sz="1400" dirty="0" err="1"/>
              <a:t>Jin</a:t>
            </a:r>
            <a:r>
              <a:rPr lang="en-US" altLang="zh-CN" sz="1400" dirty="0"/>
              <a:t>']) </a:t>
            </a:r>
          </a:p>
          <a:p>
            <a:pPr lvl="2"/>
            <a:r>
              <a:rPr lang="en-US" altLang="zh-CN" sz="1400" dirty="0" err="1"/>
              <a:t>pop_DF.drop</a:t>
            </a:r>
            <a:r>
              <a:rPr lang="en-US" altLang="zh-CN" sz="1400" dirty="0"/>
              <a:t>(['province'],axis=1)</a:t>
            </a:r>
            <a:r>
              <a:rPr lang="en-US" altLang="zh-CN" dirty="0"/>
              <a:t>	</a:t>
            </a:r>
          </a:p>
          <a:p>
            <a:pPr lvl="1"/>
            <a:endParaRPr lang="en-US" dirty="0"/>
          </a:p>
          <a:p>
            <a:endParaRPr lang="en-US" altLang="zh-CN"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9</a:t>
            </a:fld>
            <a:endParaRPr lang="zh-CN" altLang="en-US"/>
          </a:p>
        </p:txBody>
      </p:sp>
    </p:spTree>
    <p:extLst>
      <p:ext uri="{BB962C8B-B14F-4D97-AF65-F5344CB8AC3E}">
        <p14:creationId xmlns:p14="http://schemas.microsoft.com/office/powerpoint/2010/main" val="979111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查看和操作数据</a:t>
            </a:r>
            <a:endParaRPr lang="en-US" dirty="0"/>
          </a:p>
        </p:txBody>
      </p:sp>
      <p:sp>
        <p:nvSpPr>
          <p:cNvPr id="3" name="Content Placeholder 2"/>
          <p:cNvSpPr>
            <a:spLocks noGrp="1"/>
          </p:cNvSpPr>
          <p:nvPr>
            <p:ph idx="1"/>
          </p:nvPr>
        </p:nvSpPr>
        <p:spPr/>
        <p:txBody>
          <a:bodyPr/>
          <a:lstStyle/>
          <a:p>
            <a:r>
              <a:rPr lang="zh-CN" altLang="en-US" dirty="0"/>
              <a:t>查看</a:t>
            </a:r>
            <a:r>
              <a:rPr lang="en-US" dirty="0"/>
              <a:t>frame</a:t>
            </a:r>
            <a:r>
              <a:rPr lang="zh-CN" altLang="en-US" dirty="0"/>
              <a:t>中头部和尾部的行</a:t>
            </a:r>
            <a:endParaRPr lang="en-US" altLang="zh-CN" dirty="0"/>
          </a:p>
          <a:p>
            <a:pPr lvl="1"/>
            <a:r>
              <a:rPr lang="en-US" altLang="zh-CN" dirty="0"/>
              <a:t>head() tail()</a:t>
            </a:r>
          </a:p>
          <a:p>
            <a:r>
              <a:rPr lang="zh-CN" altLang="en-US" dirty="0"/>
              <a:t>显示索引、列和底层的</a:t>
            </a:r>
            <a:r>
              <a:rPr lang="en-US" altLang="zh-CN" dirty="0" err="1"/>
              <a:t>numpy</a:t>
            </a:r>
            <a:r>
              <a:rPr lang="zh-CN" altLang="en-US" dirty="0"/>
              <a:t>数据</a:t>
            </a:r>
            <a:endParaRPr lang="en-US" altLang="zh-CN" dirty="0"/>
          </a:p>
          <a:p>
            <a:pPr lvl="1"/>
            <a:r>
              <a:rPr lang="en-US" altLang="zh-CN" dirty="0"/>
              <a:t>index</a:t>
            </a:r>
            <a:r>
              <a:rPr lang="zh-CN" altLang="en-US" dirty="0"/>
              <a:t>、</a:t>
            </a:r>
            <a:r>
              <a:rPr lang="en-US" altLang="zh-CN" dirty="0"/>
              <a:t>columns</a:t>
            </a:r>
            <a:r>
              <a:rPr lang="zh-CN" altLang="en-US" dirty="0"/>
              <a:t>、</a:t>
            </a:r>
            <a:r>
              <a:rPr lang="en-US" altLang="zh-CN" dirty="0"/>
              <a:t>values</a:t>
            </a:r>
          </a:p>
          <a:p>
            <a:r>
              <a:rPr lang="zh-CN" altLang="en-US" dirty="0"/>
              <a:t> </a:t>
            </a:r>
            <a:r>
              <a:rPr lang="en-US" altLang="zh-CN" dirty="0"/>
              <a:t>describe()</a:t>
            </a:r>
            <a:r>
              <a:rPr lang="zh-CN" altLang="en-US" dirty="0"/>
              <a:t>函数对于数据的快速统计汇总</a:t>
            </a:r>
            <a:endParaRPr lang="en-US" altLang="zh-CN" dirty="0"/>
          </a:p>
          <a:p>
            <a:r>
              <a:rPr lang="zh-CN" altLang="en-US" dirty="0"/>
              <a:t>排序</a:t>
            </a:r>
            <a:endParaRPr lang="en-US" altLang="zh-CN" dirty="0"/>
          </a:p>
          <a:p>
            <a:pPr lvl="1"/>
            <a:r>
              <a:rPr lang="zh-CN" altLang="en-US" dirty="0"/>
              <a:t>人为给定顺序；</a:t>
            </a:r>
          </a:p>
          <a:p>
            <a:pPr lvl="1"/>
            <a:r>
              <a:rPr lang="zh-CN" altLang="en-US" dirty="0"/>
              <a:t>按照索引来自动排序：升序、降序；</a:t>
            </a:r>
          </a:p>
          <a:p>
            <a:pPr lvl="1"/>
            <a:r>
              <a:rPr lang="zh-CN" altLang="en-US" dirty="0"/>
              <a:t>按照某一变量来自动排序；</a:t>
            </a: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10</a:t>
            </a:fld>
            <a:endParaRPr lang="zh-CN" altLang="en-US"/>
          </a:p>
        </p:txBody>
      </p:sp>
    </p:spTree>
    <p:extLst>
      <p:ext uri="{BB962C8B-B14F-4D97-AF65-F5344CB8AC3E}">
        <p14:creationId xmlns:p14="http://schemas.microsoft.com/office/powerpoint/2010/main" val="1868597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本节课重点：</a:t>
            </a:r>
            <a:r>
              <a:rPr lang="en-US" altLang="zh-CN" b="1" dirty="0" err="1" smtClean="0">
                <a:solidFill>
                  <a:srgbClr val="C00000"/>
                </a:solidFill>
              </a:rPr>
              <a:t>DataFrame</a:t>
            </a:r>
            <a:r>
              <a:rPr lang="zh-CN" altLang="en-US" b="1" dirty="0" smtClean="0">
                <a:solidFill>
                  <a:srgbClr val="C00000"/>
                </a:solidFill>
              </a:rPr>
              <a:t>上的数据操作</a:t>
            </a:r>
            <a:endParaRPr lang="en-US" b="1" dirty="0">
              <a:solidFill>
                <a:srgbClr val="C00000"/>
              </a:solidFill>
            </a:endParaRPr>
          </a:p>
        </p:txBody>
      </p:sp>
      <p:sp>
        <p:nvSpPr>
          <p:cNvPr id="3" name="Content Placeholder 2"/>
          <p:cNvSpPr>
            <a:spLocks noGrp="1"/>
          </p:cNvSpPr>
          <p:nvPr>
            <p:ph idx="1"/>
          </p:nvPr>
        </p:nvSpPr>
        <p:spPr/>
        <p:txBody>
          <a:bodyPr/>
          <a:lstStyle/>
          <a:p>
            <a:r>
              <a:rPr lang="zh-CN" altLang="en-US" dirty="0" smtClean="0"/>
              <a:t>在</a:t>
            </a:r>
            <a:r>
              <a:rPr lang="en-US" altLang="zh-CN" dirty="0" smtClean="0"/>
              <a:t>AI</a:t>
            </a:r>
            <a:r>
              <a:rPr lang="zh-CN" altLang="en-US" dirty="0" smtClean="0"/>
              <a:t>时代，如何高效地掌握数据科学编程能力？注重</a:t>
            </a:r>
            <a:r>
              <a:rPr lang="zh-CN" altLang="en-US" dirty="0" smtClean="0">
                <a:solidFill>
                  <a:srgbClr val="C00000"/>
                </a:solidFill>
              </a:rPr>
              <a:t>数据思维</a:t>
            </a:r>
            <a:r>
              <a:rPr lang="zh-CN" altLang="en-US" dirty="0" smtClean="0"/>
              <a:t>！</a:t>
            </a:r>
            <a:endParaRPr lang="en-US" altLang="zh-CN" dirty="0" smtClean="0"/>
          </a:p>
          <a:p>
            <a:pPr lvl="1"/>
            <a:r>
              <a:rPr lang="zh-CN" altLang="en-US" dirty="0" smtClean="0"/>
              <a:t>建立</a:t>
            </a:r>
            <a:r>
              <a:rPr lang="zh-CN" altLang="en-US" b="1" dirty="0" smtClean="0">
                <a:solidFill>
                  <a:srgbClr val="C00000"/>
                </a:solidFill>
              </a:rPr>
              <a:t>算子抽象</a:t>
            </a:r>
            <a:r>
              <a:rPr lang="zh-CN" altLang="en-US" dirty="0" smtClean="0"/>
              <a:t>思维，培养</a:t>
            </a:r>
            <a:r>
              <a:rPr lang="zh-CN" altLang="en-US" b="1" dirty="0" smtClean="0">
                <a:solidFill>
                  <a:srgbClr val="C00000"/>
                </a:solidFill>
              </a:rPr>
              <a:t>逻辑思维</a:t>
            </a:r>
            <a:r>
              <a:rPr lang="zh-CN" altLang="en-US" dirty="0" smtClean="0"/>
              <a:t>能力，强调</a:t>
            </a:r>
            <a:r>
              <a:rPr lang="zh-CN" altLang="en-US" b="1" dirty="0" smtClean="0"/>
              <a:t>问题驱动</a:t>
            </a:r>
            <a:r>
              <a:rPr lang="zh-CN" altLang="en-US" dirty="0" smtClean="0"/>
              <a:t>意识</a:t>
            </a:r>
            <a:endParaRPr lang="zh-CN" altLang="en-US"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graphicFrame>
        <p:nvGraphicFramePr>
          <p:cNvPr id="14" name="Content Placeholder 6">
            <a:extLst>
              <a:ext uri="{FF2B5EF4-FFF2-40B4-BE49-F238E27FC236}">
                <a16:creationId xmlns="" xmlns:a16="http://schemas.microsoft.com/office/drawing/2014/main" id="{93CDFB8A-607B-0EEC-3E59-4739CBDABE33}"/>
              </a:ext>
            </a:extLst>
          </p:cNvPr>
          <p:cNvGraphicFramePr>
            <a:graphicFrameLocks/>
          </p:cNvGraphicFramePr>
          <p:nvPr>
            <p:extLst>
              <p:ext uri="{D42A27DB-BD31-4B8C-83A1-F6EECF244321}">
                <p14:modId xmlns:p14="http://schemas.microsoft.com/office/powerpoint/2010/main" val="18372515"/>
              </p:ext>
            </p:extLst>
          </p:nvPr>
        </p:nvGraphicFramePr>
        <p:xfrm>
          <a:off x="504826" y="1621662"/>
          <a:ext cx="8229600" cy="3134487"/>
        </p:xfrm>
        <a:graphic>
          <a:graphicData uri="http://schemas.openxmlformats.org/drawingml/2006/table">
            <a:tbl>
              <a:tblPr firstRow="1" bandRow="1">
                <a:tableStyleId>{5C22544A-7EE6-4342-B048-85BDC9FD1C3A}</a:tableStyleId>
              </a:tblPr>
              <a:tblGrid>
                <a:gridCol w="1795314">
                  <a:extLst>
                    <a:ext uri="{9D8B030D-6E8A-4147-A177-3AD203B41FA5}">
                      <a16:colId xmlns="" xmlns:a16="http://schemas.microsoft.com/office/drawing/2014/main" val="20000"/>
                    </a:ext>
                  </a:extLst>
                </a:gridCol>
                <a:gridCol w="2246088">
                  <a:extLst>
                    <a:ext uri="{9D8B030D-6E8A-4147-A177-3AD203B41FA5}">
                      <a16:colId xmlns="" xmlns:a16="http://schemas.microsoft.com/office/drawing/2014/main" val="20001"/>
                    </a:ext>
                  </a:extLst>
                </a:gridCol>
                <a:gridCol w="4188198">
                  <a:extLst>
                    <a:ext uri="{9D8B030D-6E8A-4147-A177-3AD203B41FA5}">
                      <a16:colId xmlns="" xmlns:a16="http://schemas.microsoft.com/office/drawing/2014/main" val="20002"/>
                    </a:ext>
                  </a:extLst>
                </a:gridCol>
              </a:tblGrid>
              <a:tr h="464679">
                <a:tc>
                  <a:txBody>
                    <a:bodyPr/>
                    <a:lstStyle/>
                    <a:p>
                      <a:r>
                        <a:rPr lang="zh-CN" altLang="en-US" sz="1400" dirty="0" smtClean="0">
                          <a:latin typeface="Microsoft YaHei" charset="-122"/>
                          <a:ea typeface="Microsoft YaHei" charset="-122"/>
                          <a:cs typeface="Microsoft YaHei" charset="-122"/>
                        </a:rPr>
                        <a:t>方法分类</a:t>
                      </a:r>
                      <a:endParaRPr lang="zh-CN" altLang="en-US" sz="1400" dirty="0">
                        <a:latin typeface="Microsoft YaHei" charset="-122"/>
                        <a:ea typeface="Microsoft YaHei" charset="-122"/>
                        <a:cs typeface="Microsoft YaHei" charset="-122"/>
                      </a:endParaRPr>
                    </a:p>
                  </a:txBody>
                  <a:tcPr marL="53032" marR="53032" marT="26516" marB="26516" anchor="ctr"/>
                </a:tc>
                <a:tc>
                  <a:txBody>
                    <a:bodyPr/>
                    <a:lstStyle/>
                    <a:p>
                      <a:r>
                        <a:rPr lang="zh-CN" altLang="en-US" sz="1400" dirty="0">
                          <a:latin typeface="Microsoft YaHei" charset="-122"/>
                          <a:ea typeface="Microsoft YaHei" charset="-122"/>
                          <a:cs typeface="Microsoft YaHei" charset="-122"/>
                        </a:rPr>
                        <a:t>简要解释</a:t>
                      </a:r>
                    </a:p>
                  </a:txBody>
                  <a:tcPr marL="53032" marR="53032" marT="26516" marB="26516" anchor="ctr"/>
                </a:tc>
                <a:tc>
                  <a:txBody>
                    <a:bodyPr/>
                    <a:lstStyle/>
                    <a:p>
                      <a:r>
                        <a:rPr lang="zh-CN" altLang="en-US" sz="1400" dirty="0">
                          <a:latin typeface="Microsoft YaHei" charset="-122"/>
                          <a:ea typeface="Microsoft YaHei" charset="-122"/>
                          <a:cs typeface="Microsoft YaHei" charset="-122"/>
                        </a:rPr>
                        <a:t>典型算子</a:t>
                      </a:r>
                      <a:r>
                        <a:rPr lang="zh-CN" altLang="en-US" sz="1400" dirty="0" smtClean="0">
                          <a:latin typeface="Microsoft YaHei" charset="-122"/>
                          <a:ea typeface="Microsoft YaHei" charset="-122"/>
                          <a:cs typeface="Microsoft YaHei" charset="-122"/>
                        </a:rPr>
                        <a:t>（</a:t>
                      </a:r>
                      <a:r>
                        <a:rPr lang="en-US" altLang="zh-CN" sz="1400" dirty="0" smtClean="0">
                          <a:latin typeface="Microsoft YaHei" charset="-122"/>
                          <a:ea typeface="Microsoft YaHei" charset="-122"/>
                          <a:cs typeface="Microsoft YaHei" charset="-122"/>
                        </a:rPr>
                        <a:t>Pandas</a:t>
                      </a:r>
                      <a:r>
                        <a:rPr lang="zh-CN" altLang="en-US" sz="1400" dirty="0" smtClean="0">
                          <a:latin typeface="Microsoft YaHei" charset="-122"/>
                          <a:ea typeface="Microsoft YaHei" charset="-122"/>
                          <a:cs typeface="Microsoft YaHei" charset="-122"/>
                        </a:rPr>
                        <a:t>函数）</a:t>
                      </a:r>
                      <a:endParaRPr lang="zh-CN" altLang="en-US" sz="1400" dirty="0">
                        <a:latin typeface="Microsoft YaHei" charset="-122"/>
                        <a:ea typeface="Microsoft YaHei" charset="-122"/>
                        <a:cs typeface="Microsoft YaHei" charset="-122"/>
                      </a:endParaRPr>
                    </a:p>
                  </a:txBody>
                  <a:tcPr marL="53032" marR="53032" marT="26516" marB="26516" anchor="ctr"/>
                </a:tc>
                <a:extLst>
                  <a:ext uri="{0D108BD9-81ED-4DB2-BD59-A6C34878D82A}">
                    <a16:rowId xmlns="" xmlns:a16="http://schemas.microsoft.com/office/drawing/2014/main" val="10000"/>
                  </a:ext>
                </a:extLst>
              </a:tr>
              <a:tr h="807118">
                <a:tc>
                  <a:txBody>
                    <a:bodyPr/>
                    <a:lstStyle/>
                    <a:p>
                      <a:r>
                        <a:rPr lang="en-US" sz="1400" b="1" dirty="0" smtClean="0">
                          <a:latin typeface="Microsoft YaHei" charset="-122"/>
                          <a:ea typeface="Microsoft YaHei" charset="-122"/>
                          <a:cs typeface="Microsoft YaHei" charset="-122"/>
                        </a:rPr>
                        <a:t>基本操作</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latin typeface="Microsoft YaHei" charset="-122"/>
                          <a:ea typeface="Microsoft YaHei" charset="-122"/>
                          <a:cs typeface="Microsoft YaHei" charset="-122"/>
                        </a:rPr>
                        <a:t>Data Manipulation</a:t>
                      </a:r>
                      <a:endParaRPr lang="en-US" sz="1400" dirty="0" smtClean="0">
                        <a:latin typeface="Microsoft YaHei" charset="-122"/>
                        <a:ea typeface="Microsoft YaHei" charset="-122"/>
                        <a:cs typeface="Microsoft YaHei" charset="-122"/>
                      </a:endParaRPr>
                    </a:p>
                  </a:txBody>
                  <a:tcPr marL="53032" marR="53032" marT="26516" marB="26516" anchor="ctr"/>
                </a:tc>
                <a:tc>
                  <a:txBody>
                    <a:bodyPr/>
                    <a:lstStyle/>
                    <a:p>
                      <a:r>
                        <a:rPr lang="zh-CN" altLang="en-US" sz="1400">
                          <a:latin typeface="Microsoft YaHei" charset="-122"/>
                          <a:ea typeface="Microsoft YaHei" charset="-122"/>
                          <a:cs typeface="Microsoft YaHei" charset="-122"/>
                        </a:rPr>
                        <a:t>针对 </a:t>
                      </a:r>
                      <a:r>
                        <a:rPr lang="en-US" altLang="zh-CN" sz="1400">
                          <a:latin typeface="Microsoft YaHei" charset="-122"/>
                          <a:ea typeface="Microsoft YaHei" charset="-122"/>
                          <a:cs typeface="Microsoft YaHei" charset="-122"/>
                        </a:rPr>
                        <a:t>DataFrame </a:t>
                      </a:r>
                      <a:r>
                        <a:rPr lang="zh-CN" altLang="en-US" sz="1400">
                          <a:latin typeface="Microsoft YaHei" charset="-122"/>
                          <a:ea typeface="Microsoft YaHei" charset="-122"/>
                          <a:cs typeface="Microsoft YaHei" charset="-122"/>
                        </a:rPr>
                        <a:t>结构进行直接修改，包括增、删、改等最基础的操作。</a:t>
                      </a:r>
                    </a:p>
                  </a:txBody>
                  <a:tcPr marL="53032" marR="53032" marT="26516" marB="26516" anchor="ctr"/>
                </a:tc>
                <a:tc>
                  <a:txBody>
                    <a:bodyPr/>
                    <a:lstStyle/>
                    <a:p>
                      <a:r>
                        <a:rPr lang="en-US" sz="1400">
                          <a:latin typeface="Microsoft YaHei" charset="-122"/>
                          <a:ea typeface="Microsoft YaHei" charset="-122"/>
                          <a:cs typeface="Microsoft YaHei" charset="-122"/>
                        </a:rPr>
                        <a:t>assign()（新增列）、insert()、drop()、replace()、直接赋值 df.loc[]、concat()（拼接）</a:t>
                      </a:r>
                    </a:p>
                  </a:txBody>
                  <a:tcPr marL="53032" marR="53032" marT="26516" marB="26516" anchor="ctr"/>
                </a:tc>
                <a:extLst>
                  <a:ext uri="{0D108BD9-81ED-4DB2-BD59-A6C34878D82A}">
                    <a16:rowId xmlns="" xmlns:a16="http://schemas.microsoft.com/office/drawing/2014/main" val="10001"/>
                  </a:ext>
                </a:extLst>
              </a:tr>
              <a:tr h="1055572">
                <a:tc>
                  <a:txBody>
                    <a:bodyPr/>
                    <a:lstStyle/>
                    <a:p>
                      <a:r>
                        <a:rPr lang="zh-CN" altLang="en-US" sz="1400" b="1" dirty="0">
                          <a:latin typeface="Microsoft YaHei" charset="-122"/>
                          <a:ea typeface="Microsoft YaHei" charset="-122"/>
                          <a:cs typeface="Microsoft YaHei" charset="-122"/>
                        </a:rPr>
                        <a:t>数据</a:t>
                      </a:r>
                      <a:r>
                        <a:rPr lang="zh-CN" altLang="en-US" sz="1400" b="1" dirty="0" smtClean="0">
                          <a:latin typeface="Microsoft YaHei" charset="-122"/>
                          <a:ea typeface="Microsoft YaHei" charset="-122"/>
                          <a:cs typeface="Microsoft YaHei" charset="-122"/>
                        </a:rPr>
                        <a:t>查询</a:t>
                      </a:r>
                      <a:endParaRPr lang="en-US" altLang="zh-CN" sz="1400" b="1" dirty="0" smtClean="0">
                        <a:latin typeface="Microsoft YaHei" charset="-122"/>
                        <a:ea typeface="Microsoft YaHei" charset="-122"/>
                        <a:cs typeface="Microsoft YaHei" charset="-122"/>
                      </a:endParaRPr>
                    </a:p>
                    <a:p>
                      <a:r>
                        <a:rPr lang="en-US" altLang="zh-CN" sz="1400" b="1" dirty="0" smtClean="0">
                          <a:latin typeface="Microsoft YaHei" charset="-122"/>
                          <a:ea typeface="Microsoft YaHei" charset="-122"/>
                          <a:cs typeface="Microsoft YaHei" charset="-122"/>
                        </a:rPr>
                        <a:t>Data</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Querying</a:t>
                      </a:r>
                      <a:endParaRPr lang="zh-CN" altLang="en-US" sz="1400" dirty="0">
                        <a:latin typeface="Microsoft YaHei" charset="-122"/>
                        <a:ea typeface="Microsoft YaHei" charset="-122"/>
                        <a:cs typeface="Microsoft YaHei" charset="-122"/>
                      </a:endParaRPr>
                    </a:p>
                  </a:txBody>
                  <a:tcPr marL="53032" marR="53032" marT="26516" marB="26516" anchor="ctr"/>
                </a:tc>
                <a:tc>
                  <a:txBody>
                    <a:bodyPr/>
                    <a:lstStyle/>
                    <a:p>
                      <a:r>
                        <a:rPr lang="zh-CN" altLang="en-US" sz="1400" dirty="0">
                          <a:latin typeface="Microsoft YaHei" charset="-122"/>
                          <a:ea typeface="Microsoft YaHei" charset="-122"/>
                          <a:cs typeface="Microsoft YaHei" charset="-122"/>
                        </a:rPr>
                        <a:t>按行、列或条件选择数据，是后续分析的前提。既包括基础索引，也包括条件过滤与排序。</a:t>
                      </a:r>
                    </a:p>
                  </a:txBody>
                  <a:tcPr marL="53032" marR="53032" marT="26516" marB="26516" anchor="ctr"/>
                </a:tc>
                <a:tc>
                  <a:txBody>
                    <a:bodyPr/>
                    <a:lstStyle/>
                    <a:p>
                      <a:r>
                        <a:rPr lang="en-US" sz="1400">
                          <a:latin typeface="Microsoft YaHei" charset="-122"/>
                          <a:ea typeface="Microsoft YaHei" charset="-122"/>
                          <a:cs typeface="Microsoft YaHei" charset="-122"/>
                        </a:rPr>
                        <a:t>loc[]、iloc[]、布尔索引、query()、isin()、between()、sort_values()、sort_index()</a:t>
                      </a:r>
                    </a:p>
                  </a:txBody>
                  <a:tcPr marL="53032" marR="53032" marT="26516" marB="26516" anchor="ctr"/>
                </a:tc>
                <a:extLst>
                  <a:ext uri="{0D108BD9-81ED-4DB2-BD59-A6C34878D82A}">
                    <a16:rowId xmlns="" xmlns:a16="http://schemas.microsoft.com/office/drawing/2014/main" val="10002"/>
                  </a:ext>
                </a:extLst>
              </a:tr>
              <a:tr h="807118">
                <a:tc>
                  <a:txBody>
                    <a:bodyPr/>
                    <a:lstStyle/>
                    <a:p>
                      <a:r>
                        <a:rPr lang="zh-CN" altLang="en-US" sz="1400" b="1" dirty="0">
                          <a:latin typeface="Microsoft YaHei" charset="-122"/>
                          <a:ea typeface="Microsoft YaHei" charset="-122"/>
                          <a:cs typeface="Microsoft YaHei" charset="-122"/>
                        </a:rPr>
                        <a:t>数据</a:t>
                      </a:r>
                      <a:r>
                        <a:rPr lang="zh-CN" altLang="en-US" sz="1400" b="1" dirty="0" smtClean="0">
                          <a:latin typeface="Microsoft YaHei" charset="-122"/>
                          <a:ea typeface="Microsoft YaHei" charset="-122"/>
                          <a:cs typeface="Microsoft YaHei" charset="-122"/>
                        </a:rPr>
                        <a:t>分析</a:t>
                      </a:r>
                      <a:endParaRPr lang="en-US" altLang="zh-CN" sz="1400" b="1" dirty="0" smtClean="0">
                        <a:latin typeface="Microsoft YaHei" charset="-122"/>
                        <a:ea typeface="Microsoft YaHei" charset="-122"/>
                        <a:cs typeface="Microsoft YaHei" charset="-122"/>
                      </a:endParaRPr>
                    </a:p>
                    <a:p>
                      <a:r>
                        <a:rPr lang="en-US" altLang="zh-CN" sz="1400" b="1" dirty="0" smtClean="0">
                          <a:latin typeface="Microsoft YaHei" charset="-122"/>
                          <a:ea typeface="Microsoft YaHei" charset="-122"/>
                          <a:cs typeface="Microsoft YaHei" charset="-122"/>
                        </a:rPr>
                        <a:t>Data</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Analysis</a:t>
                      </a:r>
                      <a:endParaRPr lang="zh-CN" altLang="en-US" sz="1400" dirty="0">
                        <a:latin typeface="Microsoft YaHei" charset="-122"/>
                        <a:ea typeface="Microsoft YaHei" charset="-122"/>
                        <a:cs typeface="Microsoft YaHei" charset="-122"/>
                      </a:endParaRPr>
                    </a:p>
                  </a:txBody>
                  <a:tcPr marL="53032" marR="53032" marT="26516" marB="26516" anchor="ctr"/>
                </a:tc>
                <a:tc>
                  <a:txBody>
                    <a:bodyPr/>
                    <a:lstStyle/>
                    <a:p>
                      <a:r>
                        <a:rPr lang="zh-CN" altLang="en-US" sz="1400">
                          <a:latin typeface="Microsoft YaHei" charset="-122"/>
                          <a:ea typeface="Microsoft YaHei" charset="-122"/>
                          <a:cs typeface="Microsoft YaHei" charset="-122"/>
                        </a:rPr>
                        <a:t>对数据进行统计汇总、变换和重塑，形成新的信息视角。</a:t>
                      </a:r>
                    </a:p>
                  </a:txBody>
                  <a:tcPr marL="53032" marR="53032" marT="26516" marB="26516" anchor="ctr"/>
                </a:tc>
                <a:tc>
                  <a:txBody>
                    <a:bodyPr/>
                    <a:lstStyle/>
                    <a:p>
                      <a:r>
                        <a:rPr lang="en-US" sz="1400" dirty="0" err="1">
                          <a:latin typeface="Microsoft YaHei" charset="-122"/>
                          <a:ea typeface="Microsoft YaHei" charset="-122"/>
                          <a:cs typeface="Microsoft YaHei" charset="-122"/>
                        </a:rPr>
                        <a:t>groupby</a:t>
                      </a:r>
                      <a:r>
                        <a:rPr lang="en-US" sz="1400" dirty="0">
                          <a:latin typeface="Microsoft YaHei" charset="-122"/>
                          <a:ea typeface="Microsoft YaHei" charset="-122"/>
                          <a:cs typeface="Microsoft YaHei" charset="-122"/>
                        </a:rPr>
                        <a:t>().</a:t>
                      </a:r>
                      <a:r>
                        <a:rPr lang="en-US" sz="1400" dirty="0" err="1">
                          <a:latin typeface="Microsoft YaHei" charset="-122"/>
                          <a:ea typeface="Microsoft YaHei" charset="-122"/>
                          <a:cs typeface="Microsoft YaHei" charset="-122"/>
                        </a:rPr>
                        <a:t>agg</a:t>
                      </a:r>
                      <a:r>
                        <a:rPr lang="en-US" sz="1400" dirty="0">
                          <a:latin typeface="Microsoft YaHei" charset="-122"/>
                          <a:ea typeface="Microsoft YaHei" charset="-122"/>
                          <a:cs typeface="Microsoft YaHei" charset="-122"/>
                        </a:rPr>
                        <a:t>()、pivot() / </a:t>
                      </a:r>
                      <a:r>
                        <a:rPr lang="en-US" sz="1400" dirty="0" err="1">
                          <a:latin typeface="Microsoft YaHei" charset="-122"/>
                          <a:ea typeface="Microsoft YaHei" charset="-122"/>
                          <a:cs typeface="Microsoft YaHei" charset="-122"/>
                        </a:rPr>
                        <a:t>pivot_table</a:t>
                      </a:r>
                      <a:r>
                        <a:rPr lang="en-US" sz="1400" dirty="0">
                          <a:latin typeface="Microsoft YaHei" charset="-122"/>
                          <a:ea typeface="Microsoft YaHei" charset="-122"/>
                          <a:cs typeface="Microsoft YaHei" charset="-122"/>
                        </a:rPr>
                        <a:t>()、melt()、stack() / unstack()、merge()、</a:t>
                      </a:r>
                      <a:r>
                        <a:rPr lang="en-US" sz="1400" dirty="0" err="1">
                          <a:latin typeface="Microsoft YaHei" charset="-122"/>
                          <a:ea typeface="Microsoft YaHei" charset="-122"/>
                          <a:cs typeface="Microsoft YaHei" charset="-122"/>
                        </a:rPr>
                        <a:t>concat</a:t>
                      </a:r>
                      <a:r>
                        <a:rPr lang="en-US" sz="1400" dirty="0">
                          <a:latin typeface="Microsoft YaHei" charset="-122"/>
                          <a:ea typeface="Microsoft YaHei" charset="-122"/>
                          <a:cs typeface="Microsoft YaHei" charset="-122"/>
                        </a:rPr>
                        <a:t>()（汇总）、</a:t>
                      </a:r>
                      <a:r>
                        <a:rPr lang="en-US" sz="1400" dirty="0" err="1">
                          <a:latin typeface="Microsoft YaHei" charset="-122"/>
                          <a:ea typeface="Microsoft YaHei" charset="-122"/>
                          <a:cs typeface="Microsoft YaHei" charset="-122"/>
                        </a:rPr>
                        <a:t>统计函数（mean</a:t>
                      </a:r>
                      <a:r>
                        <a:rPr lang="en-US" sz="1400" dirty="0">
                          <a:latin typeface="Microsoft YaHei" charset="-122"/>
                          <a:ea typeface="Microsoft YaHei" charset="-122"/>
                          <a:cs typeface="Microsoft YaHei" charset="-122"/>
                        </a:rPr>
                        <a:t>(), sum(), describe()）</a:t>
                      </a:r>
                    </a:p>
                  </a:txBody>
                  <a:tcPr marL="53032" marR="53032" marT="26516" marB="26516" anchor="ct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79599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表格数据处理与</a:t>
            </a:r>
            <a:r>
              <a:rPr lang="en-US" altLang="zh-CN" sz="2000" dirty="0">
                <a:solidFill>
                  <a:prstClr val="white"/>
                </a:solidFill>
                <a:latin typeface="微软雅黑" pitchFamily="34" charset="-122"/>
                <a:ea typeface="微软雅黑" pitchFamily="34" charset="-122"/>
              </a:rPr>
              <a:t>Pandas</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2608406" cy="1865126"/>
          </a:xfrm>
          <a:prstGeom prst="rect">
            <a:avLst/>
          </a:prstGeom>
          <a:noFill/>
        </p:spPr>
        <p:txBody>
          <a:bodyPr wrap="none" rtlCol="0">
            <a:spAutoFit/>
          </a:bodyPr>
          <a:lstStyle/>
          <a:p>
            <a:pPr marL="342900" indent="-342900">
              <a:lnSpc>
                <a:spcPct val="160000"/>
              </a:lnSpc>
              <a:buFontTx/>
              <a:buAutoNum type="arabicPeriod"/>
              <a:defRPr/>
            </a:pPr>
            <a:r>
              <a:rPr lang="en-US" altLang="zh-CN" b="1" dirty="0">
                <a:solidFill>
                  <a:srgbClr val="C00000"/>
                </a:solidFill>
                <a:latin typeface="Microsoft YaHei" panose="020B0503020204020204" pitchFamily="34" charset="-122"/>
                <a:ea typeface="Microsoft YaHei" panose="020B0503020204020204" pitchFamily="34" charset="-122"/>
              </a:rPr>
              <a:t>Pandas</a:t>
            </a:r>
            <a:r>
              <a:rPr lang="zh-CN" altLang="en-US" b="1" dirty="0">
                <a:solidFill>
                  <a:srgbClr val="C00000"/>
                </a:solidFill>
                <a:latin typeface="Microsoft YaHei" panose="020B0503020204020204" pitchFamily="34" charset="-122"/>
                <a:ea typeface="Microsoft YaHei" panose="020B0503020204020204" pitchFamily="34" charset="-122"/>
              </a:rPr>
              <a:t>的</a:t>
            </a:r>
            <a:r>
              <a:rPr lang="zh-CN" altLang="en-US" b="1" dirty="0" smtClean="0">
                <a:solidFill>
                  <a:srgbClr val="C00000"/>
                </a:solidFill>
                <a:latin typeface="Microsoft YaHei" panose="020B0503020204020204" pitchFamily="34" charset="-122"/>
                <a:ea typeface="Microsoft YaHei" panose="020B0503020204020204" pitchFamily="34" charset="-122"/>
              </a:rPr>
              <a:t>基本操作</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的数据查询</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的数据分析</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案例分析与课堂练习</a:t>
            </a:r>
            <a:endParaRPr lang="en-US" altLang="zh-CN" b="1" dirty="0">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14"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91490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5B967C1-74DA-EC56-322D-CE32361EF28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61E2AE2-4E67-F8CD-BF6A-4ADD2C19941B}"/>
              </a:ext>
            </a:extLst>
          </p:cNvPr>
          <p:cNvSpPr>
            <a:spLocks noGrp="1"/>
          </p:cNvSpPr>
          <p:nvPr>
            <p:ph type="title"/>
          </p:nvPr>
        </p:nvSpPr>
        <p:spPr/>
        <p:txBody>
          <a:bodyPr/>
          <a:lstStyle/>
          <a:p>
            <a:r>
              <a:rPr lang="en-US" dirty="0" err="1"/>
              <a:t>如何添加一个新的Column</a:t>
            </a:r>
            <a:r>
              <a:rPr lang="zh-CN" altLang="en-US" dirty="0"/>
              <a:t>？</a:t>
            </a:r>
            <a:endParaRPr lang="en-US" dirty="0"/>
          </a:p>
        </p:txBody>
      </p:sp>
      <p:sp>
        <p:nvSpPr>
          <p:cNvPr id="4" name="Slide Number Placeholder 3">
            <a:extLst>
              <a:ext uri="{FF2B5EF4-FFF2-40B4-BE49-F238E27FC236}">
                <a16:creationId xmlns="" xmlns:a16="http://schemas.microsoft.com/office/drawing/2014/main" id="{10AF1BA1-5D0A-0D76-4E22-90BC42E1636D}"/>
              </a:ext>
            </a:extLst>
          </p:cNvPr>
          <p:cNvSpPr>
            <a:spLocks noGrp="1"/>
          </p:cNvSpPr>
          <p:nvPr>
            <p:ph type="sldNum" sz="quarter" idx="12"/>
          </p:nvPr>
        </p:nvSpPr>
        <p:spPr/>
        <p:txBody>
          <a:bodyPr/>
          <a:lstStyle/>
          <a:p>
            <a:fld id="{E1BEBC7A-FD02-486B-81B5-A845787C689C}" type="slidenum">
              <a:rPr lang="zh-CN" altLang="en-US" smtClean="0"/>
              <a:t>13</a:t>
            </a:fld>
            <a:endParaRPr lang="zh-CN" altLang="en-US"/>
          </a:p>
        </p:txBody>
      </p:sp>
      <p:sp>
        <p:nvSpPr>
          <p:cNvPr id="9" name="Content Placeholder 2">
            <a:extLst>
              <a:ext uri="{FF2B5EF4-FFF2-40B4-BE49-F238E27FC236}">
                <a16:creationId xmlns="" xmlns:a16="http://schemas.microsoft.com/office/drawing/2014/main" id="{ADF3AD99-5F2A-3EAC-4670-F0DF88A34F6C}"/>
              </a:ext>
            </a:extLst>
          </p:cNvPr>
          <p:cNvSpPr>
            <a:spLocks noGrp="1"/>
          </p:cNvSpPr>
          <p:nvPr>
            <p:ph idx="1"/>
          </p:nvPr>
        </p:nvSpPr>
        <p:spPr>
          <a:xfrm>
            <a:off x="457200" y="819150"/>
            <a:ext cx="8229600" cy="3937000"/>
          </a:xfrm>
        </p:spPr>
        <p:txBody>
          <a:bodyPr/>
          <a:lstStyle/>
          <a:p>
            <a:r>
              <a:rPr lang="zh-CN" altLang="en-US" dirty="0"/>
              <a:t>请给</a:t>
            </a:r>
            <a:r>
              <a:rPr lang="en-US" altLang="zh-CN" dirty="0" err="1"/>
              <a:t>babynames</a:t>
            </a:r>
            <a:r>
              <a:rPr lang="zh-CN" altLang="en-US" dirty="0"/>
              <a:t>对象添加一个新列：</a:t>
            </a:r>
            <a:r>
              <a:rPr lang="en-US" altLang="zh-CN" dirty="0" err="1"/>
              <a:t>name_length</a:t>
            </a:r>
            <a:endParaRPr lang="en-US" altLang="zh-CN" dirty="0"/>
          </a:p>
          <a:p>
            <a:pPr>
              <a:spcBef>
                <a:spcPts val="600"/>
              </a:spcBef>
              <a:spcAft>
                <a:spcPts val="600"/>
              </a:spcAft>
            </a:pPr>
            <a:endParaRPr lang="en-US" altLang="zh-CN" dirty="0"/>
          </a:p>
        </p:txBody>
      </p:sp>
      <p:pic>
        <p:nvPicPr>
          <p:cNvPr id="3" name="Picture 2">
            <a:extLst>
              <a:ext uri="{FF2B5EF4-FFF2-40B4-BE49-F238E27FC236}">
                <a16:creationId xmlns="" xmlns:a16="http://schemas.microsoft.com/office/drawing/2014/main" id="{784DDA61-0991-86FC-EAA2-4D9E78D546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1280160"/>
            <a:ext cx="2387548" cy="3475989"/>
          </a:xfrm>
          <a:prstGeom prst="rect">
            <a:avLst/>
          </a:prstGeom>
        </p:spPr>
      </p:pic>
      <p:pic>
        <p:nvPicPr>
          <p:cNvPr id="6" name="Picture 5">
            <a:extLst>
              <a:ext uri="{FF2B5EF4-FFF2-40B4-BE49-F238E27FC236}">
                <a16:creationId xmlns="" xmlns:a16="http://schemas.microsoft.com/office/drawing/2014/main" id="{5727A35A-B309-2D5B-DEF0-073E498D1E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4314" y="1280160"/>
            <a:ext cx="3514899" cy="3475989"/>
          </a:xfrm>
          <a:prstGeom prst="rect">
            <a:avLst/>
          </a:prstGeom>
        </p:spPr>
      </p:pic>
      <p:sp>
        <p:nvSpPr>
          <p:cNvPr id="7" name="Right Arrow 6">
            <a:extLst>
              <a:ext uri="{FF2B5EF4-FFF2-40B4-BE49-F238E27FC236}">
                <a16:creationId xmlns="" xmlns:a16="http://schemas.microsoft.com/office/drawing/2014/main" id="{B6CF1D64-4BC0-8735-611D-D87E811156C9}"/>
              </a:ext>
            </a:extLst>
          </p:cNvPr>
          <p:cNvSpPr/>
          <p:nvPr/>
        </p:nvSpPr>
        <p:spPr>
          <a:xfrm>
            <a:off x="2989139" y="2506994"/>
            <a:ext cx="2304140" cy="342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8" name="Google Shape;619;p63">
            <a:extLst>
              <a:ext uri="{FF2B5EF4-FFF2-40B4-BE49-F238E27FC236}">
                <a16:creationId xmlns="" xmlns:a16="http://schemas.microsoft.com/office/drawing/2014/main" id="{DF66301C-AA86-6D2C-E737-F394AA6CF6D3}"/>
              </a:ext>
            </a:extLst>
          </p:cNvPr>
          <p:cNvSpPr txBox="1"/>
          <p:nvPr/>
        </p:nvSpPr>
        <p:spPr>
          <a:xfrm>
            <a:off x="2940757" y="3012447"/>
            <a:ext cx="2387549" cy="139855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lvl="0">
              <a:lnSpc>
                <a:spcPct val="135714"/>
              </a:lnSpc>
            </a:pPr>
            <a:r>
              <a:rPr lang="en-US" sz="1400" dirty="0" err="1">
                <a:solidFill>
                  <a:schemeClr val="dk1"/>
                </a:solidFill>
                <a:highlight>
                  <a:srgbClr val="FFFFFE"/>
                </a:highlight>
                <a:latin typeface="Consolas"/>
                <a:ea typeface="Consolas"/>
                <a:cs typeface="Consolas"/>
                <a:sym typeface="Consolas"/>
              </a:rPr>
              <a:t>babynames</a:t>
            </a:r>
            <a:r>
              <a:rPr lang="en-US" sz="1400" dirty="0">
                <a:solidFill>
                  <a:schemeClr val="dk1"/>
                </a:solidFill>
                <a:highlight>
                  <a:srgbClr val="FFFFFE"/>
                </a:highlight>
                <a:latin typeface="Consolas"/>
                <a:ea typeface="Consolas"/>
                <a:cs typeface="Consolas"/>
                <a:sym typeface="Consolas"/>
              </a:rPr>
              <a:t>[</a:t>
            </a:r>
            <a:r>
              <a:rPr lang="en-US" sz="1400" dirty="0">
                <a:solidFill>
                  <a:srgbClr val="A31515"/>
                </a:solidFill>
                <a:highlight>
                  <a:srgbClr val="FFFFFE"/>
                </a:highlight>
                <a:latin typeface="Consolas"/>
                <a:ea typeface="Consolas"/>
                <a:cs typeface="Consolas"/>
                <a:sym typeface="Consolas"/>
              </a:rPr>
              <a:t>"</a:t>
            </a:r>
            <a:r>
              <a:rPr lang="en-US" sz="1400" dirty="0" err="1">
                <a:solidFill>
                  <a:srgbClr val="A31515"/>
                </a:solidFill>
                <a:highlight>
                  <a:srgbClr val="FFFFFE"/>
                </a:highlight>
                <a:latin typeface="Consolas"/>
                <a:ea typeface="Consolas"/>
                <a:cs typeface="Consolas"/>
                <a:sym typeface="Consolas"/>
              </a:rPr>
              <a:t>name_lengths</a:t>
            </a:r>
            <a:r>
              <a:rPr lang="en-US" sz="1400" dirty="0">
                <a:solidFill>
                  <a:srgbClr val="A31515"/>
                </a:solidFill>
                <a:highlight>
                  <a:srgbClr val="FFFFFE"/>
                </a:highlight>
                <a:latin typeface="Consolas"/>
                <a:ea typeface="Consolas"/>
                <a:cs typeface="Consolas"/>
                <a:sym typeface="Consolas"/>
              </a:rPr>
              <a:t>"</a:t>
            </a:r>
            <a:r>
              <a:rPr lang="en-US" sz="1400" dirty="0">
                <a:solidFill>
                  <a:schemeClr val="dk1"/>
                </a:solidFill>
                <a:highlight>
                  <a:srgbClr val="FFFFFE"/>
                </a:highlight>
                <a:latin typeface="Consolas"/>
                <a:ea typeface="Consolas"/>
                <a:cs typeface="Consolas"/>
                <a:sym typeface="Consolas"/>
              </a:rPr>
              <a:t>] = </a:t>
            </a:r>
            <a:r>
              <a:rPr lang="en" sz="1500" kern="0" dirty="0" err="1">
                <a:solidFill>
                  <a:srgbClr val="000000"/>
                </a:solidFill>
                <a:highlight>
                  <a:srgbClr val="FFFFFE"/>
                </a:highlight>
                <a:latin typeface="Consolas"/>
                <a:ea typeface="Consolas"/>
                <a:cs typeface="Consolas"/>
                <a:sym typeface="Consolas"/>
              </a:rPr>
              <a:t>babynames</a:t>
            </a:r>
            <a:r>
              <a:rPr lang="en" sz="1500" kern="0" dirty="0">
                <a:solidFill>
                  <a:srgbClr val="000000"/>
                </a:solidFill>
                <a:highlight>
                  <a:srgbClr val="FFFFFE"/>
                </a:highlight>
                <a:latin typeface="Consolas"/>
                <a:ea typeface="Consolas"/>
                <a:cs typeface="Consolas"/>
                <a:sym typeface="Consolas"/>
              </a:rPr>
              <a:t>[</a:t>
            </a:r>
            <a:r>
              <a:rPr lang="en" sz="1500" kern="0" dirty="0">
                <a:solidFill>
                  <a:srgbClr val="A31515"/>
                </a:solidFill>
                <a:highlight>
                  <a:srgbClr val="FFFFFE"/>
                </a:highlight>
                <a:latin typeface="Consolas"/>
                <a:ea typeface="Consolas"/>
                <a:cs typeface="Consolas"/>
                <a:sym typeface="Consolas"/>
              </a:rPr>
              <a:t>"Name"</a:t>
            </a:r>
            <a:r>
              <a:rPr lang="en" sz="1500" kern="0" dirty="0">
                <a:solidFill>
                  <a:srgbClr val="000000"/>
                </a:solidFill>
                <a:highlight>
                  <a:srgbClr val="FFFFFE"/>
                </a:highlight>
                <a:latin typeface="Consolas"/>
                <a:ea typeface="Consolas"/>
                <a:cs typeface="Consolas"/>
                <a:sym typeface="Consolas"/>
              </a:rPr>
              <a:t>].</a:t>
            </a:r>
            <a:r>
              <a:rPr lang="en" sz="1500" kern="0" dirty="0" err="1">
                <a:solidFill>
                  <a:srgbClr val="0B5394"/>
                </a:solidFill>
                <a:highlight>
                  <a:srgbClr val="FFFFFE"/>
                </a:highlight>
                <a:latin typeface="Consolas"/>
                <a:ea typeface="Consolas"/>
                <a:cs typeface="Consolas"/>
                <a:sym typeface="Consolas"/>
              </a:rPr>
              <a:t>str</a:t>
            </a:r>
            <a:r>
              <a:rPr lang="en" sz="1500" kern="0" dirty="0" err="1">
                <a:solidFill>
                  <a:srgbClr val="000000"/>
                </a:solidFill>
                <a:highlight>
                  <a:srgbClr val="FFFFFE"/>
                </a:highlight>
                <a:latin typeface="Consolas"/>
                <a:ea typeface="Consolas"/>
                <a:cs typeface="Consolas"/>
                <a:sym typeface="Consolas"/>
              </a:rPr>
              <a:t>.</a:t>
            </a:r>
            <a:r>
              <a:rPr lang="en" sz="1500" kern="0" dirty="0" err="1">
                <a:solidFill>
                  <a:srgbClr val="0B5394"/>
                </a:solidFill>
                <a:highlight>
                  <a:srgbClr val="FFFFFE"/>
                </a:highlight>
                <a:latin typeface="Consolas"/>
                <a:ea typeface="Consolas"/>
                <a:cs typeface="Consolas"/>
                <a:sym typeface="Consolas"/>
              </a:rPr>
              <a:t>len</a:t>
            </a:r>
            <a:r>
              <a:rPr lang="en" sz="1500" kern="0" dirty="0">
                <a:solidFill>
                  <a:srgbClr val="000000"/>
                </a:solidFill>
                <a:highlight>
                  <a:srgbClr val="FFFFFE"/>
                </a:highlight>
                <a:latin typeface="Consolas"/>
                <a:ea typeface="Consolas"/>
                <a:cs typeface="Consolas"/>
                <a:sym typeface="Consolas"/>
              </a:rPr>
              <a:t>()</a:t>
            </a:r>
            <a:endParaRPr lang="en-US" sz="1400" dirty="0">
              <a:highlight>
                <a:srgbClr val="FFFFFE"/>
              </a:highlight>
              <a:latin typeface="Consolas"/>
              <a:ea typeface="Consolas"/>
              <a:cs typeface="Consolas"/>
              <a:sym typeface="Consolas"/>
            </a:endParaRPr>
          </a:p>
        </p:txBody>
      </p:sp>
      <p:sp>
        <p:nvSpPr>
          <p:cNvPr id="10" name="Content Placeholder 2">
            <a:extLst>
              <a:ext uri="{FF2B5EF4-FFF2-40B4-BE49-F238E27FC236}">
                <a16:creationId xmlns="" xmlns:a16="http://schemas.microsoft.com/office/drawing/2014/main" id="{523886B7-BF77-F62B-FA70-7B386AA59D5F}"/>
              </a:ext>
            </a:extLst>
          </p:cNvPr>
          <p:cNvSpPr txBox="1">
            <a:spLocks/>
          </p:cNvSpPr>
          <p:nvPr/>
        </p:nvSpPr>
        <p:spPr>
          <a:xfrm>
            <a:off x="2895189" y="1636724"/>
            <a:ext cx="2505312" cy="75597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dirty="0"/>
              <a:t>直接使用</a:t>
            </a:r>
            <a:r>
              <a:rPr lang="en-US" altLang="zh-CN" sz="2400" dirty="0">
                <a:solidFill>
                  <a:srgbClr val="C00000"/>
                </a:solidFill>
              </a:rPr>
              <a:t>[</a:t>
            </a:r>
            <a:r>
              <a:rPr lang="zh-CN" altLang="en-US" sz="2400" dirty="0">
                <a:solidFill>
                  <a:srgbClr val="C00000"/>
                </a:solidFill>
              </a:rPr>
              <a:t> </a:t>
            </a:r>
            <a:r>
              <a:rPr lang="en-US" altLang="zh-CN" sz="2400" dirty="0">
                <a:solidFill>
                  <a:srgbClr val="C00000"/>
                </a:solidFill>
              </a:rPr>
              <a:t>]</a:t>
            </a:r>
            <a:r>
              <a:rPr lang="zh-CN" altLang="en-US" dirty="0"/>
              <a:t>来引用新列，并为其初始化</a:t>
            </a:r>
            <a:endParaRPr lang="en-US" altLang="zh-CN" dirty="0"/>
          </a:p>
        </p:txBody>
      </p:sp>
    </p:spTree>
    <p:extLst>
      <p:ext uri="{BB962C8B-B14F-4D97-AF65-F5344CB8AC3E}">
        <p14:creationId xmlns:p14="http://schemas.microsoft.com/office/powerpoint/2010/main" val="496680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87EAE3E-3BAC-5E8C-3258-BC117D29EA5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1738628-FA90-2932-59D5-E4C6561A3D76}"/>
              </a:ext>
            </a:extLst>
          </p:cNvPr>
          <p:cNvSpPr>
            <a:spLocks noGrp="1"/>
          </p:cNvSpPr>
          <p:nvPr>
            <p:ph type="title"/>
          </p:nvPr>
        </p:nvSpPr>
        <p:spPr/>
        <p:txBody>
          <a:bodyPr/>
          <a:lstStyle/>
          <a:p>
            <a:r>
              <a:rPr lang="x-none" dirty="0"/>
              <a:t>Pandas的常用数据操作</a:t>
            </a:r>
            <a:endParaRPr lang="en-US" dirty="0"/>
          </a:p>
        </p:txBody>
      </p:sp>
      <p:sp>
        <p:nvSpPr>
          <p:cNvPr id="4" name="Slide Number Placeholder 3">
            <a:extLst>
              <a:ext uri="{FF2B5EF4-FFF2-40B4-BE49-F238E27FC236}">
                <a16:creationId xmlns="" xmlns:a16="http://schemas.microsoft.com/office/drawing/2014/main" id="{535B1875-2889-5B51-97FF-1A68F839AD8A}"/>
              </a:ext>
            </a:extLst>
          </p:cNvPr>
          <p:cNvSpPr>
            <a:spLocks noGrp="1"/>
          </p:cNvSpPr>
          <p:nvPr>
            <p:ph type="sldNum" sz="quarter" idx="12"/>
          </p:nvPr>
        </p:nvSpPr>
        <p:spPr/>
        <p:txBody>
          <a:bodyPr/>
          <a:lstStyle/>
          <a:p>
            <a:fld id="{E1BEBC7A-FD02-486B-81B5-A845787C689C}" type="slidenum">
              <a:rPr lang="zh-CN" altLang="en-US" smtClean="0"/>
              <a:t>14</a:t>
            </a:fld>
            <a:endParaRPr lang="zh-CN" altLang="en-US"/>
          </a:p>
        </p:txBody>
      </p:sp>
      <p:sp>
        <p:nvSpPr>
          <p:cNvPr id="9" name="Content Placeholder 2">
            <a:extLst>
              <a:ext uri="{FF2B5EF4-FFF2-40B4-BE49-F238E27FC236}">
                <a16:creationId xmlns="" xmlns:a16="http://schemas.microsoft.com/office/drawing/2014/main" id="{0993B93E-6043-C71B-3303-0D9EABBEDC5A}"/>
              </a:ext>
            </a:extLst>
          </p:cNvPr>
          <p:cNvSpPr>
            <a:spLocks noGrp="1"/>
          </p:cNvSpPr>
          <p:nvPr>
            <p:ph idx="1"/>
          </p:nvPr>
        </p:nvSpPr>
        <p:spPr>
          <a:xfrm>
            <a:off x="457200" y="819150"/>
            <a:ext cx="8229600" cy="3937000"/>
          </a:xfrm>
        </p:spPr>
        <p:txBody>
          <a:bodyPr/>
          <a:lstStyle/>
          <a:p>
            <a:r>
              <a:rPr lang="zh-CN" altLang="en-US" dirty="0"/>
              <a:t>整体修改某一个</a:t>
            </a:r>
            <a:r>
              <a:rPr lang="en-US" altLang="zh-CN" dirty="0"/>
              <a:t>column</a:t>
            </a:r>
            <a:r>
              <a:rPr lang="zh-CN" altLang="en-US" dirty="0"/>
              <a:t>中的值</a:t>
            </a:r>
            <a:endParaRPr lang="en-US" altLang="zh-CN" dirty="0"/>
          </a:p>
          <a:p>
            <a:endParaRPr lang="en-US" altLang="zh-CN" dirty="0"/>
          </a:p>
          <a:p>
            <a:endParaRPr lang="en-US" altLang="zh-CN" dirty="0"/>
          </a:p>
          <a:p>
            <a:endParaRPr lang="en-US" altLang="zh-CN" dirty="0"/>
          </a:p>
          <a:p>
            <a:r>
              <a:rPr lang="zh-CN" altLang="en-US" dirty="0"/>
              <a:t>为某列重命名</a:t>
            </a:r>
            <a:endParaRPr lang="en-US" altLang="zh-CN" dirty="0"/>
          </a:p>
          <a:p>
            <a:endParaRPr lang="en-US" altLang="zh-CN" dirty="0"/>
          </a:p>
          <a:p>
            <a:endParaRPr lang="en-US" altLang="zh-CN" dirty="0"/>
          </a:p>
          <a:p>
            <a:endParaRPr lang="en-US" altLang="zh-CN" dirty="0"/>
          </a:p>
          <a:p>
            <a:r>
              <a:rPr lang="zh-CN" altLang="en-US" dirty="0"/>
              <a:t>删除某列（</a:t>
            </a:r>
            <a:r>
              <a:rPr lang="en-US" altLang="zh-CN" dirty="0"/>
              <a:t>drop</a:t>
            </a:r>
            <a:r>
              <a:rPr lang="zh-CN" altLang="en-US" dirty="0"/>
              <a:t>函数默认是删除行）</a:t>
            </a:r>
            <a:endParaRPr lang="en-US" altLang="zh-CN" dirty="0"/>
          </a:p>
          <a:p>
            <a:pPr>
              <a:spcBef>
                <a:spcPts val="600"/>
              </a:spcBef>
              <a:spcAft>
                <a:spcPts val="600"/>
              </a:spcAft>
            </a:pPr>
            <a:endParaRPr lang="en-US" altLang="zh-CN" dirty="0"/>
          </a:p>
        </p:txBody>
      </p:sp>
      <p:sp>
        <p:nvSpPr>
          <p:cNvPr id="11" name="Google Shape;402;p45">
            <a:extLst>
              <a:ext uri="{FF2B5EF4-FFF2-40B4-BE49-F238E27FC236}">
                <a16:creationId xmlns="" xmlns:a16="http://schemas.microsoft.com/office/drawing/2014/main" id="{0098BBD5-5EB3-9174-4E20-41B2DBFEAECC}"/>
              </a:ext>
            </a:extLst>
          </p:cNvPr>
          <p:cNvSpPr txBox="1"/>
          <p:nvPr/>
        </p:nvSpPr>
        <p:spPr>
          <a:xfrm>
            <a:off x="457200" y="1304014"/>
            <a:ext cx="7865100" cy="812500"/>
          </a:xfrm>
          <a:prstGeom prst="rect">
            <a:avLst/>
          </a:prstGeom>
          <a:noFill/>
          <a:ln w="9525" cap="flat" cmpd="sng">
            <a:solidFill>
              <a:srgbClr val="BF9000"/>
            </a:solidFill>
            <a:prstDash val="solid"/>
            <a:round/>
            <a:headEnd type="none" w="sm" len="sm"/>
            <a:tailEnd type="none" w="sm" len="sm"/>
          </a:ln>
        </p:spPr>
        <p:txBody>
          <a:bodyPr spcFirstLastPara="1" wrap="square" lIns="91425" tIns="91425" rIns="91425" bIns="91425" anchor="t" anchorCtr="0">
            <a:spAutoFit/>
          </a:bodyPr>
          <a:lstStyle/>
          <a:p>
            <a:pPr marL="0" marR="0" lvl="0" indent="0" defTabSz="914400" eaLnBrk="1" fontAlgn="auto" latinLnBrk="0" hangingPunct="1">
              <a:lnSpc>
                <a:spcPct val="135714"/>
              </a:lnSpc>
              <a:spcBef>
                <a:spcPts val="0"/>
              </a:spcBef>
              <a:spcAft>
                <a:spcPts val="0"/>
              </a:spcAft>
              <a:buClr>
                <a:srgbClr val="000000"/>
              </a:buClr>
              <a:buSzPts val="1100"/>
              <a:buFont typeface="Arial"/>
              <a:buNone/>
              <a:tabLst/>
              <a:defRPr/>
            </a:pPr>
            <a:r>
              <a:rPr kumimoji="0" lang="en" sz="1500" b="0" i="0" u="none" strike="noStrike" kern="0" cap="none" spc="0" normalizeH="0" baseline="0" noProof="0">
                <a:ln>
                  <a:noFill/>
                </a:ln>
                <a:solidFill>
                  <a:srgbClr val="008000"/>
                </a:solidFill>
                <a:effectLst/>
                <a:uLnTx/>
                <a:uFillTx/>
                <a:latin typeface="Consolas"/>
                <a:ea typeface="Consolas"/>
                <a:cs typeface="Consolas"/>
                <a:sym typeface="Consolas"/>
              </a:rPr>
              <a:t># Modify the "name_lengths" column to be one less than its original value</a:t>
            </a:r>
            <a:endParaRPr kumimoji="0" sz="1500" b="0" i="0" u="none" strike="noStrike" kern="0" cap="none" spc="0" normalizeH="0" baseline="0" noProof="0">
              <a:ln>
                <a:noFill/>
              </a:ln>
              <a:solidFill>
                <a:srgbClr val="008000"/>
              </a:solidFill>
              <a:effectLst/>
              <a:uLnTx/>
              <a:uFillTx/>
              <a:latin typeface="Consolas"/>
              <a:ea typeface="Consolas"/>
              <a:cs typeface="Consolas"/>
              <a:sym typeface="Consolas"/>
            </a:endParaRPr>
          </a:p>
          <a:p>
            <a:pPr marL="0" marR="0" lvl="0" indent="0" defTabSz="914400" eaLnBrk="1" fontAlgn="auto" latinLnBrk="0" hangingPunct="1">
              <a:lnSpc>
                <a:spcPct val="135714"/>
              </a:lnSpc>
              <a:spcBef>
                <a:spcPts val="0"/>
              </a:spcBef>
              <a:spcAft>
                <a:spcPts val="0"/>
              </a:spcAft>
              <a:buClr>
                <a:srgbClr val="000000"/>
              </a:buClr>
              <a:buSzTx/>
              <a:buFont typeface="Arial"/>
              <a:buNone/>
              <a:tabLst/>
              <a:defRPr/>
            </a:pP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babynames[</a:t>
            </a:r>
            <a:r>
              <a:rPr kumimoji="0" lang="en" sz="1500" b="0" i="0" u="none" strike="noStrike" kern="0" cap="none" spc="0" normalizeH="0" baseline="0" noProof="0">
                <a:ln>
                  <a:noFill/>
                </a:ln>
                <a:solidFill>
                  <a:srgbClr val="A31515"/>
                </a:solidFill>
                <a:effectLst/>
                <a:uLnTx/>
                <a:uFillTx/>
                <a:latin typeface="Consolas"/>
                <a:ea typeface="Consolas"/>
                <a:cs typeface="Consolas"/>
                <a:sym typeface="Consolas"/>
              </a:rPr>
              <a:t>"name_lengths"</a:t>
            </a: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 = babynames[</a:t>
            </a:r>
            <a:r>
              <a:rPr kumimoji="0" lang="en" sz="1500" b="0" i="0" u="none" strike="noStrike" kern="0" cap="none" spc="0" normalizeH="0" baseline="0" noProof="0">
                <a:ln>
                  <a:noFill/>
                </a:ln>
                <a:solidFill>
                  <a:srgbClr val="A31515"/>
                </a:solidFill>
                <a:effectLst/>
                <a:uLnTx/>
                <a:uFillTx/>
                <a:latin typeface="Consolas"/>
                <a:ea typeface="Consolas"/>
                <a:cs typeface="Consolas"/>
                <a:sym typeface="Consolas"/>
              </a:rPr>
              <a:t>"name_lengths"</a:t>
            </a: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]-1</a:t>
            </a:r>
            <a:endParaRPr kumimoji="0" sz="1500" b="0" i="0" u="none" strike="noStrike" kern="0" cap="none" spc="0" normalizeH="0" baseline="0" noProof="0">
              <a:ln>
                <a:noFill/>
              </a:ln>
              <a:solidFill>
                <a:srgbClr val="000000"/>
              </a:solidFill>
              <a:effectLst/>
              <a:uLnTx/>
              <a:uFillTx/>
              <a:latin typeface="Consolas"/>
              <a:ea typeface="Consolas"/>
              <a:cs typeface="Consolas"/>
              <a:sym typeface="Consolas"/>
            </a:endParaRPr>
          </a:p>
        </p:txBody>
      </p:sp>
      <p:sp>
        <p:nvSpPr>
          <p:cNvPr id="12" name="Google Shape;411;p46">
            <a:extLst>
              <a:ext uri="{FF2B5EF4-FFF2-40B4-BE49-F238E27FC236}">
                <a16:creationId xmlns="" xmlns:a16="http://schemas.microsoft.com/office/drawing/2014/main" id="{DD052152-01F6-24BD-6647-D61073CF20C9}"/>
              </a:ext>
            </a:extLst>
          </p:cNvPr>
          <p:cNvSpPr txBox="1"/>
          <p:nvPr/>
        </p:nvSpPr>
        <p:spPr>
          <a:xfrm>
            <a:off x="457200" y="2787650"/>
            <a:ext cx="7865100" cy="812500"/>
          </a:xfrm>
          <a:prstGeom prst="rect">
            <a:avLst/>
          </a:prstGeom>
          <a:noFill/>
          <a:ln w="9525" cap="flat" cmpd="sng">
            <a:solidFill>
              <a:srgbClr val="BF9000"/>
            </a:solidFill>
            <a:prstDash val="solid"/>
            <a:round/>
            <a:headEnd type="none" w="sm" len="sm"/>
            <a:tailEnd type="none" w="sm" len="sm"/>
          </a:ln>
        </p:spPr>
        <p:txBody>
          <a:bodyPr spcFirstLastPara="1" wrap="square" lIns="91425" tIns="91425" rIns="91425" bIns="91425" anchor="t" anchorCtr="0">
            <a:spAutoFit/>
          </a:bodyPr>
          <a:lstStyle/>
          <a:p>
            <a:pPr marL="0" marR="0" lvl="0" indent="0" defTabSz="914400" eaLnBrk="1" fontAlgn="auto" latinLnBrk="0" hangingPunct="1">
              <a:lnSpc>
                <a:spcPct val="135714"/>
              </a:lnSpc>
              <a:spcBef>
                <a:spcPts val="0"/>
              </a:spcBef>
              <a:spcAft>
                <a:spcPts val="0"/>
              </a:spcAft>
              <a:buClr>
                <a:srgbClr val="000000"/>
              </a:buClr>
              <a:buSzPts val="1100"/>
              <a:buFont typeface="Arial"/>
              <a:buNone/>
              <a:tabLst/>
              <a:defRPr/>
            </a:pPr>
            <a:r>
              <a:rPr kumimoji="0" lang="en" sz="1500" b="0" i="0" u="none" strike="noStrike" kern="0" cap="none" spc="0" normalizeH="0" baseline="0" noProof="0">
                <a:ln>
                  <a:noFill/>
                </a:ln>
                <a:solidFill>
                  <a:srgbClr val="008000"/>
                </a:solidFill>
                <a:effectLst/>
                <a:uLnTx/>
                <a:uFillTx/>
                <a:latin typeface="Consolas"/>
                <a:ea typeface="Consolas"/>
                <a:cs typeface="Consolas"/>
                <a:sym typeface="Consolas"/>
              </a:rPr>
              <a:t># Rename "name_lengths" to "Length"</a:t>
            </a:r>
            <a:endParaRPr kumimoji="0" sz="1500" b="0" i="0" u="none" strike="noStrike" kern="0" cap="none" spc="0" normalizeH="0" baseline="0" noProof="0">
              <a:ln>
                <a:noFill/>
              </a:ln>
              <a:solidFill>
                <a:srgbClr val="008000"/>
              </a:solidFill>
              <a:effectLst/>
              <a:uLnTx/>
              <a:uFillTx/>
              <a:latin typeface="Consolas"/>
              <a:ea typeface="Consolas"/>
              <a:cs typeface="Consolas"/>
              <a:sym typeface="Consolas"/>
            </a:endParaRPr>
          </a:p>
          <a:p>
            <a:pPr marL="0" marR="0" lvl="0" indent="0" defTabSz="914400" eaLnBrk="1" fontAlgn="auto" latinLnBrk="0" hangingPunct="1">
              <a:lnSpc>
                <a:spcPct val="135714"/>
              </a:lnSpc>
              <a:spcBef>
                <a:spcPts val="0"/>
              </a:spcBef>
              <a:spcAft>
                <a:spcPts val="0"/>
              </a:spcAft>
              <a:buClr>
                <a:srgbClr val="000000"/>
              </a:buClr>
              <a:buSzTx/>
              <a:buFont typeface="Arial"/>
              <a:buNone/>
              <a:tabLst/>
              <a:defRPr/>
            </a:pP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babynames = babynames.</a:t>
            </a:r>
            <a:r>
              <a:rPr kumimoji="0" lang="en" sz="1500" b="0" i="0" u="none" strike="noStrike" kern="0" cap="none" spc="0" normalizeH="0" baseline="0" noProof="0">
                <a:ln>
                  <a:noFill/>
                </a:ln>
                <a:solidFill>
                  <a:srgbClr val="0B5394"/>
                </a:solidFill>
                <a:effectLst/>
                <a:uLnTx/>
                <a:uFillTx/>
                <a:latin typeface="Consolas"/>
                <a:ea typeface="Consolas"/>
                <a:cs typeface="Consolas"/>
                <a:sym typeface="Consolas"/>
              </a:rPr>
              <a:t>rename</a:t>
            </a: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(columns={</a:t>
            </a:r>
            <a:r>
              <a:rPr kumimoji="0" lang="en" sz="1500" b="0" i="0" u="none" strike="noStrike" kern="0" cap="none" spc="0" normalizeH="0" baseline="0" noProof="0">
                <a:ln>
                  <a:noFill/>
                </a:ln>
                <a:solidFill>
                  <a:srgbClr val="A31515"/>
                </a:solidFill>
                <a:effectLst/>
                <a:uLnTx/>
                <a:uFillTx/>
                <a:latin typeface="Consolas"/>
                <a:ea typeface="Consolas"/>
                <a:cs typeface="Consolas"/>
                <a:sym typeface="Consolas"/>
              </a:rPr>
              <a:t>"name_lengths"</a:t>
            </a: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a:t>
            </a:r>
            <a:r>
              <a:rPr kumimoji="0" lang="en" sz="1500" b="0" i="0" u="none" strike="noStrike" kern="0" cap="none" spc="0" normalizeH="0" baseline="0" noProof="0">
                <a:ln>
                  <a:noFill/>
                </a:ln>
                <a:solidFill>
                  <a:srgbClr val="A31515"/>
                </a:solidFill>
                <a:effectLst/>
                <a:uLnTx/>
                <a:uFillTx/>
                <a:latin typeface="Consolas"/>
                <a:ea typeface="Consolas"/>
                <a:cs typeface="Consolas"/>
                <a:sym typeface="Consolas"/>
              </a:rPr>
              <a:t>"Length"</a:t>
            </a:r>
            <a:r>
              <a:rPr kumimoji="0" lang="en" sz="1500" b="0" i="0" u="none" strike="noStrike" kern="0" cap="none" spc="0" normalizeH="0" baseline="0" noProof="0">
                <a:ln>
                  <a:noFill/>
                </a:ln>
                <a:solidFill>
                  <a:srgbClr val="000000"/>
                </a:solidFill>
                <a:effectLst/>
                <a:uLnTx/>
                <a:uFillTx/>
                <a:latin typeface="Consolas"/>
                <a:ea typeface="Consolas"/>
                <a:cs typeface="Consolas"/>
                <a:sym typeface="Consolas"/>
              </a:rPr>
              <a:t>})</a:t>
            </a:r>
            <a:endParaRPr kumimoji="0" sz="1500" b="0" i="0" u="none" strike="noStrike" kern="0" cap="none" spc="0" normalizeH="0" baseline="0" noProof="0">
              <a:ln>
                <a:noFill/>
              </a:ln>
              <a:solidFill>
                <a:srgbClr val="000000"/>
              </a:solidFill>
              <a:effectLst/>
              <a:uLnTx/>
              <a:uFillTx/>
              <a:latin typeface="Consolas"/>
              <a:ea typeface="Consolas"/>
              <a:cs typeface="Consolas"/>
              <a:sym typeface="Consolas"/>
            </a:endParaRPr>
          </a:p>
        </p:txBody>
      </p:sp>
      <p:sp>
        <p:nvSpPr>
          <p:cNvPr id="13" name="Google Shape;421;p47">
            <a:extLst>
              <a:ext uri="{FF2B5EF4-FFF2-40B4-BE49-F238E27FC236}">
                <a16:creationId xmlns="" xmlns:a16="http://schemas.microsoft.com/office/drawing/2014/main" id="{EEB76564-C136-97DD-02DE-D9F28B1F3646}"/>
              </a:ext>
            </a:extLst>
          </p:cNvPr>
          <p:cNvSpPr txBox="1"/>
          <p:nvPr/>
        </p:nvSpPr>
        <p:spPr>
          <a:xfrm>
            <a:off x="457200" y="4120660"/>
            <a:ext cx="6627600" cy="498568"/>
          </a:xfrm>
          <a:prstGeom prst="rect">
            <a:avLst/>
          </a:prstGeom>
          <a:noFill/>
          <a:ln>
            <a:noFill/>
          </a:ln>
        </p:spPr>
        <p:txBody>
          <a:bodyPr spcFirstLastPara="1" wrap="square" lIns="91425" tIns="91425" rIns="91425" bIns="91425" anchor="t" anchorCtr="0">
            <a:spAutoFit/>
          </a:bodyPr>
          <a:lstStyle/>
          <a:p>
            <a:pPr>
              <a:lnSpc>
                <a:spcPct val="135714"/>
              </a:lnSpc>
              <a:buClr>
                <a:srgbClr val="000000"/>
              </a:buClr>
              <a:buFont typeface="Arial"/>
              <a:buNone/>
            </a:pPr>
            <a:r>
              <a:rPr lang="en" sz="1500" kern="0" dirty="0" err="1">
                <a:solidFill>
                  <a:srgbClr val="000000"/>
                </a:solidFill>
                <a:latin typeface="Consolas"/>
                <a:ea typeface="Consolas"/>
                <a:cs typeface="Consolas"/>
                <a:sym typeface="Consolas"/>
              </a:rPr>
              <a:t>babynames</a:t>
            </a:r>
            <a:r>
              <a:rPr lang="en" sz="1500" kern="0" dirty="0">
                <a:solidFill>
                  <a:srgbClr val="000000"/>
                </a:solidFill>
                <a:latin typeface="Consolas"/>
                <a:ea typeface="Consolas"/>
                <a:cs typeface="Consolas"/>
                <a:sym typeface="Consolas"/>
              </a:rPr>
              <a:t> = </a:t>
            </a:r>
            <a:r>
              <a:rPr lang="en" sz="1500" kern="0" dirty="0" err="1">
                <a:solidFill>
                  <a:srgbClr val="000000"/>
                </a:solidFill>
                <a:latin typeface="Consolas"/>
                <a:ea typeface="Consolas"/>
                <a:cs typeface="Consolas"/>
                <a:sym typeface="Consolas"/>
              </a:rPr>
              <a:t>babynames.drop</a:t>
            </a:r>
            <a:r>
              <a:rPr lang="en" sz="1500" kern="0" dirty="0">
                <a:solidFill>
                  <a:srgbClr val="000000"/>
                </a:solidFill>
                <a:latin typeface="Consolas"/>
                <a:ea typeface="Consolas"/>
                <a:cs typeface="Consolas"/>
                <a:sym typeface="Consolas"/>
              </a:rPr>
              <a:t>(</a:t>
            </a:r>
            <a:r>
              <a:rPr lang="en" sz="1500" kern="0" dirty="0">
                <a:solidFill>
                  <a:srgbClr val="A31515"/>
                </a:solidFill>
                <a:latin typeface="Consolas"/>
                <a:ea typeface="Consolas"/>
                <a:cs typeface="Consolas"/>
                <a:sym typeface="Consolas"/>
              </a:rPr>
              <a:t>"Length"</a:t>
            </a:r>
            <a:r>
              <a:rPr lang="en" sz="1500" kern="0" dirty="0">
                <a:solidFill>
                  <a:srgbClr val="000000"/>
                </a:solidFill>
                <a:latin typeface="Consolas"/>
                <a:ea typeface="Consolas"/>
                <a:cs typeface="Consolas"/>
                <a:sym typeface="Consolas"/>
              </a:rPr>
              <a:t>, axis=</a:t>
            </a:r>
            <a:r>
              <a:rPr lang="en" sz="1500" kern="0" dirty="0">
                <a:solidFill>
                  <a:srgbClr val="A31515"/>
                </a:solidFill>
                <a:latin typeface="Consolas"/>
                <a:ea typeface="Consolas"/>
                <a:cs typeface="Consolas"/>
                <a:sym typeface="Consolas"/>
              </a:rPr>
              <a:t>"columns"</a:t>
            </a:r>
            <a:r>
              <a:rPr lang="en" sz="1500" kern="0" dirty="0">
                <a:solidFill>
                  <a:srgbClr val="000000"/>
                </a:solidFill>
                <a:latin typeface="Consolas"/>
                <a:ea typeface="Consolas"/>
                <a:cs typeface="Consolas"/>
                <a:sym typeface="Consolas"/>
              </a:rPr>
              <a:t>)</a:t>
            </a:r>
            <a:endParaRPr sz="1500" kern="0" dirty="0">
              <a:solidFill>
                <a:srgbClr val="000000"/>
              </a:solidFill>
              <a:latin typeface="Consolas"/>
              <a:ea typeface="Consolas"/>
              <a:cs typeface="Consolas"/>
              <a:sym typeface="Consolas"/>
            </a:endParaRPr>
          </a:p>
        </p:txBody>
      </p:sp>
      <p:sp>
        <p:nvSpPr>
          <p:cNvPr id="14" name="Rounded Rectangular Callout 13">
            <a:extLst>
              <a:ext uri="{FF2B5EF4-FFF2-40B4-BE49-F238E27FC236}">
                <a16:creationId xmlns="" xmlns:a16="http://schemas.microsoft.com/office/drawing/2014/main" id="{91F93FE6-DD85-6756-1453-50EFD0925865}"/>
              </a:ext>
            </a:extLst>
          </p:cNvPr>
          <p:cNvSpPr/>
          <p:nvPr/>
        </p:nvSpPr>
        <p:spPr>
          <a:xfrm>
            <a:off x="6508376" y="3861995"/>
            <a:ext cx="1957892" cy="537883"/>
          </a:xfrm>
          <a:prstGeom prst="wedgeRoundRectCallout">
            <a:avLst>
              <a:gd name="adj1" fmla="val -74679"/>
              <a:gd name="adj2" fmla="val 24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axis= "columns"</a:t>
            </a:r>
            <a:endParaRPr lang="x-none" dirty="0"/>
          </a:p>
        </p:txBody>
      </p:sp>
    </p:spTree>
    <p:extLst>
      <p:ext uri="{BB962C8B-B14F-4D97-AF65-F5344CB8AC3E}">
        <p14:creationId xmlns:p14="http://schemas.microsoft.com/office/powerpoint/2010/main" val="1355656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8D27491-9B0E-E291-A747-09346EA25F7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93DF6E6-938C-B292-EA26-606E5C9D80AE}"/>
              </a:ext>
            </a:extLst>
          </p:cNvPr>
          <p:cNvSpPr>
            <a:spLocks noGrp="1"/>
          </p:cNvSpPr>
          <p:nvPr>
            <p:ph type="title"/>
          </p:nvPr>
        </p:nvSpPr>
        <p:spPr/>
        <p:txBody>
          <a:bodyPr/>
          <a:lstStyle/>
          <a:p>
            <a:r>
              <a:rPr lang="zh-CN" altLang="en-US" dirty="0"/>
              <a:t>课堂练习</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86C0FEC0-0A9D-F785-EAB0-05EF4CFD2146}"/>
              </a:ext>
            </a:extLst>
          </p:cNvPr>
          <p:cNvSpPr>
            <a:spLocks noGrp="1"/>
          </p:cNvSpPr>
          <p:nvPr>
            <p:ph type="sldNum" sz="quarter" idx="12"/>
          </p:nvPr>
        </p:nvSpPr>
        <p:spPr/>
        <p:txBody>
          <a:bodyPr/>
          <a:lstStyle/>
          <a:p>
            <a:fld id="{E1BEBC7A-FD02-486B-81B5-A845787C689C}" type="slidenum">
              <a:rPr lang="zh-CN" altLang="en-US" smtClean="0"/>
              <a:t>15</a:t>
            </a:fld>
            <a:endParaRPr lang="zh-CN" altLang="en-US"/>
          </a:p>
        </p:txBody>
      </p:sp>
      <p:pic>
        <p:nvPicPr>
          <p:cNvPr id="3" name="Picture 2">
            <a:extLst>
              <a:ext uri="{FF2B5EF4-FFF2-40B4-BE49-F238E27FC236}">
                <a16:creationId xmlns="" xmlns:a16="http://schemas.microsoft.com/office/drawing/2014/main" id="{B83799CD-0685-378C-100D-A186876CF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613" y="833755"/>
            <a:ext cx="3888871" cy="3845821"/>
          </a:xfrm>
          <a:prstGeom prst="rect">
            <a:avLst/>
          </a:prstGeom>
        </p:spPr>
      </p:pic>
      <p:sp>
        <p:nvSpPr>
          <p:cNvPr id="8" name="Google Shape;421;p47">
            <a:extLst>
              <a:ext uri="{FF2B5EF4-FFF2-40B4-BE49-F238E27FC236}">
                <a16:creationId xmlns="" xmlns:a16="http://schemas.microsoft.com/office/drawing/2014/main" id="{DB0E83AD-4DFF-A13B-F271-C5F5039167AE}"/>
              </a:ext>
            </a:extLst>
          </p:cNvPr>
          <p:cNvSpPr txBox="1"/>
          <p:nvPr/>
        </p:nvSpPr>
        <p:spPr>
          <a:xfrm>
            <a:off x="4106484" y="1221031"/>
            <a:ext cx="4940697" cy="812500"/>
          </a:xfrm>
          <a:prstGeom prst="rect">
            <a:avLst/>
          </a:prstGeom>
          <a:noFill/>
          <a:ln>
            <a:noFill/>
          </a:ln>
        </p:spPr>
        <p:txBody>
          <a:bodyPr spcFirstLastPara="1" wrap="square" lIns="91425" tIns="91425" rIns="91425" bIns="91425" anchor="t" anchorCtr="0">
            <a:spAutoFit/>
          </a:bodyPr>
          <a:lstStyle/>
          <a:p>
            <a:pPr>
              <a:lnSpc>
                <a:spcPct val="135714"/>
              </a:lnSpc>
              <a:buClr>
                <a:srgbClr val="000000"/>
              </a:buClr>
              <a:buFont typeface="Arial"/>
              <a:buNone/>
            </a:pPr>
            <a:r>
              <a:rPr lang="en" sz="1500" kern="0" dirty="0" err="1">
                <a:solidFill>
                  <a:srgbClr val="000000"/>
                </a:solidFill>
                <a:latin typeface="Consolas"/>
                <a:ea typeface="Consolas"/>
                <a:cs typeface="Consolas"/>
                <a:sym typeface="Consolas"/>
              </a:rPr>
              <a:t>babynames.drop</a:t>
            </a:r>
            <a:r>
              <a:rPr lang="en" sz="1500" kern="0" dirty="0">
                <a:solidFill>
                  <a:srgbClr val="000000"/>
                </a:solidFill>
                <a:latin typeface="Consolas"/>
                <a:ea typeface="Consolas"/>
                <a:cs typeface="Consolas"/>
                <a:sym typeface="Consolas"/>
              </a:rPr>
              <a:t>(</a:t>
            </a:r>
            <a:r>
              <a:rPr lang="en" sz="1500" kern="0" dirty="0">
                <a:solidFill>
                  <a:srgbClr val="A31515"/>
                </a:solidFill>
                <a:latin typeface="Consolas"/>
                <a:ea typeface="Consolas"/>
                <a:cs typeface="Consolas"/>
                <a:sym typeface="Consolas"/>
              </a:rPr>
              <a:t>"name</a:t>
            </a:r>
            <a:r>
              <a:rPr lang="en-US" altLang="zh-CN" sz="1500" kern="0" dirty="0">
                <a:solidFill>
                  <a:srgbClr val="A31515"/>
                </a:solidFill>
                <a:latin typeface="Consolas"/>
                <a:ea typeface="Consolas"/>
                <a:cs typeface="Consolas"/>
                <a:sym typeface="Consolas"/>
              </a:rPr>
              <a:t>_length</a:t>
            </a:r>
            <a:r>
              <a:rPr lang="en" sz="1500" kern="0" dirty="0">
                <a:solidFill>
                  <a:srgbClr val="A31515"/>
                </a:solidFill>
                <a:latin typeface="Consolas"/>
                <a:ea typeface="Consolas"/>
                <a:cs typeface="Consolas"/>
                <a:sym typeface="Consolas"/>
              </a:rPr>
              <a:t>"</a:t>
            </a:r>
            <a:r>
              <a:rPr lang="en" sz="1500" kern="0" dirty="0">
                <a:solidFill>
                  <a:srgbClr val="000000"/>
                </a:solidFill>
                <a:latin typeface="Consolas"/>
                <a:ea typeface="Consolas"/>
                <a:cs typeface="Consolas"/>
                <a:sym typeface="Consolas"/>
              </a:rPr>
              <a:t>, axis=</a:t>
            </a:r>
            <a:r>
              <a:rPr lang="en" sz="1500" kern="0" dirty="0">
                <a:solidFill>
                  <a:srgbClr val="A31515"/>
                </a:solidFill>
                <a:latin typeface="Consolas"/>
                <a:ea typeface="Consolas"/>
                <a:cs typeface="Consolas"/>
                <a:sym typeface="Consolas"/>
              </a:rPr>
              <a:t>"columns"</a:t>
            </a:r>
            <a:r>
              <a:rPr lang="en" sz="1500" kern="0" dirty="0">
                <a:solidFill>
                  <a:srgbClr val="000000"/>
                </a:solidFill>
                <a:latin typeface="Consolas"/>
                <a:ea typeface="Consolas"/>
                <a:cs typeface="Consolas"/>
                <a:sym typeface="Consolas"/>
              </a:rPr>
              <a:t>)</a:t>
            </a:r>
          </a:p>
          <a:p>
            <a:pPr>
              <a:lnSpc>
                <a:spcPct val="135714"/>
              </a:lnSpc>
              <a:buClr>
                <a:srgbClr val="000000"/>
              </a:buClr>
              <a:buFont typeface="Arial"/>
              <a:buNone/>
            </a:pPr>
            <a:r>
              <a:rPr lang="en" sz="1500" kern="0" dirty="0" err="1">
                <a:solidFill>
                  <a:srgbClr val="000000"/>
                </a:solidFill>
                <a:latin typeface="Consolas"/>
                <a:ea typeface="Consolas"/>
                <a:cs typeface="Consolas"/>
                <a:sym typeface="Consolas"/>
              </a:rPr>
              <a:t>babynames</a:t>
            </a:r>
            <a:endParaRPr sz="1500" kern="0" dirty="0">
              <a:solidFill>
                <a:srgbClr val="000000"/>
              </a:solidFill>
              <a:latin typeface="Consolas"/>
              <a:ea typeface="Consolas"/>
              <a:cs typeface="Consolas"/>
              <a:sym typeface="Consolas"/>
            </a:endParaRPr>
          </a:p>
        </p:txBody>
      </p:sp>
      <p:sp>
        <p:nvSpPr>
          <p:cNvPr id="12" name="Content Placeholder 2">
            <a:extLst>
              <a:ext uri="{FF2B5EF4-FFF2-40B4-BE49-F238E27FC236}">
                <a16:creationId xmlns="" xmlns:a16="http://schemas.microsoft.com/office/drawing/2014/main" id="{7DC8F9BD-5D9C-474E-6B01-8E8FCA8DBCE1}"/>
              </a:ext>
            </a:extLst>
          </p:cNvPr>
          <p:cNvSpPr>
            <a:spLocks noGrp="1"/>
          </p:cNvSpPr>
          <p:nvPr>
            <p:ph idx="1"/>
          </p:nvPr>
        </p:nvSpPr>
        <p:spPr>
          <a:xfrm>
            <a:off x="4106484" y="819150"/>
            <a:ext cx="4580316" cy="3937000"/>
          </a:xfrm>
        </p:spPr>
        <p:txBody>
          <a:bodyPr/>
          <a:lstStyle/>
          <a:p>
            <a:r>
              <a:rPr lang="zh-CN" altLang="en-US" dirty="0"/>
              <a:t>请选择下列语句的返回结果</a:t>
            </a:r>
            <a:endParaRPr lang="en-US" altLang="zh-CN" dirty="0"/>
          </a:p>
        </p:txBody>
      </p:sp>
      <p:pic>
        <p:nvPicPr>
          <p:cNvPr id="13" name="Picture 12">
            <a:extLst>
              <a:ext uri="{FF2B5EF4-FFF2-40B4-BE49-F238E27FC236}">
                <a16:creationId xmlns="" xmlns:a16="http://schemas.microsoft.com/office/drawing/2014/main" id="{CC0E7B67-72B5-B0CF-03D4-84C507932E2B}"/>
              </a:ext>
            </a:extLst>
          </p:cNvPr>
          <p:cNvPicPr>
            <a:picLocks noChangeAspect="1"/>
          </p:cNvPicPr>
          <p:nvPr/>
        </p:nvPicPr>
        <p:blipFill>
          <a:blip r:embed="rId2">
            <a:extLst>
              <a:ext uri="{28A0092B-C50C-407E-A947-70E740481C1C}">
                <a14:useLocalDpi xmlns:a14="http://schemas.microsoft.com/office/drawing/2010/main" val="0"/>
              </a:ext>
            </a:extLst>
          </a:blip>
          <a:srcRect b="68120"/>
          <a:stretch/>
        </p:blipFill>
        <p:spPr>
          <a:xfrm>
            <a:off x="4797929" y="3426834"/>
            <a:ext cx="3888871" cy="1226036"/>
          </a:xfrm>
          <a:prstGeom prst="rect">
            <a:avLst/>
          </a:prstGeom>
        </p:spPr>
      </p:pic>
      <p:pic>
        <p:nvPicPr>
          <p:cNvPr id="15" name="Picture 14">
            <a:extLst>
              <a:ext uri="{FF2B5EF4-FFF2-40B4-BE49-F238E27FC236}">
                <a16:creationId xmlns="" xmlns:a16="http://schemas.microsoft.com/office/drawing/2014/main" id="{244111CD-44D1-887E-DB37-AB3348949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7929" y="2033531"/>
            <a:ext cx="3102386" cy="1290023"/>
          </a:xfrm>
          <a:prstGeom prst="rect">
            <a:avLst/>
          </a:prstGeom>
        </p:spPr>
      </p:pic>
      <p:sp>
        <p:nvSpPr>
          <p:cNvPr id="16" name="Rectangle 15">
            <a:extLst>
              <a:ext uri="{FF2B5EF4-FFF2-40B4-BE49-F238E27FC236}">
                <a16:creationId xmlns="" xmlns:a16="http://schemas.microsoft.com/office/drawing/2014/main" id="{CF52119C-3C14-CD22-E94F-DB242FC7F725}"/>
              </a:ext>
            </a:extLst>
          </p:cNvPr>
          <p:cNvSpPr/>
          <p:nvPr/>
        </p:nvSpPr>
        <p:spPr>
          <a:xfrm>
            <a:off x="4228922" y="2526040"/>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17" name="Rectangle 16">
            <a:extLst>
              <a:ext uri="{FF2B5EF4-FFF2-40B4-BE49-F238E27FC236}">
                <a16:creationId xmlns="" xmlns:a16="http://schemas.microsoft.com/office/drawing/2014/main" id="{4FA81B99-0DBF-BA5B-DB4C-F0CFB6169EFA}"/>
              </a:ext>
            </a:extLst>
          </p:cNvPr>
          <p:cNvSpPr/>
          <p:nvPr/>
        </p:nvSpPr>
        <p:spPr>
          <a:xfrm>
            <a:off x="4250437" y="3778242"/>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309212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数值间的转换</a:t>
            </a:r>
          </a:p>
        </p:txBody>
      </p:sp>
      <p:sp>
        <p:nvSpPr>
          <p:cNvPr id="3" name="内容占位符 2"/>
          <p:cNvSpPr>
            <a:spLocks noGrp="1"/>
          </p:cNvSpPr>
          <p:nvPr>
            <p:ph idx="1"/>
          </p:nvPr>
        </p:nvSpPr>
        <p:spPr/>
        <p:txBody>
          <a:bodyPr/>
          <a:lstStyle/>
          <a:p>
            <a:r>
              <a:rPr kumimoji="1" lang="zh-CN" altLang="en-US" dirty="0"/>
              <a:t>排序型转换成数值型</a:t>
            </a:r>
            <a:endParaRPr kumimoji="1" lang="en-US" altLang="zh-CN" dirty="0"/>
          </a:p>
          <a:p>
            <a:pPr lvl="1"/>
            <a:r>
              <a:rPr kumimoji="1" lang="en-US" altLang="zh-CN" dirty="0"/>
              <a:t>A</a:t>
            </a:r>
            <a:r>
              <a:rPr kumimoji="1" lang="zh-CN" altLang="en-US" dirty="0"/>
              <a:t> </a:t>
            </a:r>
            <a:r>
              <a:rPr kumimoji="1" lang="en-US" altLang="zh-CN" dirty="0"/>
              <a:t>-&gt;</a:t>
            </a:r>
            <a:r>
              <a:rPr kumimoji="1" lang="zh-CN" altLang="en-US" dirty="0"/>
              <a:t> </a:t>
            </a:r>
            <a:r>
              <a:rPr kumimoji="1" lang="en-US" altLang="zh-CN" dirty="0"/>
              <a:t>4.0</a:t>
            </a:r>
            <a:r>
              <a:rPr kumimoji="1" lang="zh-CN" altLang="en-US" dirty="0"/>
              <a:t>   </a:t>
            </a:r>
            <a:r>
              <a:rPr kumimoji="1" lang="en-US" altLang="zh-CN" dirty="0"/>
              <a:t>A-</a:t>
            </a:r>
            <a:r>
              <a:rPr kumimoji="1" lang="zh-CN" altLang="en-US" dirty="0"/>
              <a:t> </a:t>
            </a:r>
            <a:r>
              <a:rPr kumimoji="1" lang="en-US" altLang="zh-CN" dirty="0"/>
              <a:t>-&gt;3.7</a:t>
            </a:r>
          </a:p>
          <a:p>
            <a:pPr lvl="1"/>
            <a:r>
              <a:rPr kumimoji="1" lang="en-US" altLang="zh-CN" dirty="0"/>
              <a:t>B</a:t>
            </a:r>
            <a:r>
              <a:rPr kumimoji="1" lang="zh-CN" altLang="en-US" dirty="0"/>
              <a:t> </a:t>
            </a:r>
            <a:r>
              <a:rPr kumimoji="1" lang="en-US" altLang="zh-CN" dirty="0"/>
              <a:t>-&gt;</a:t>
            </a:r>
            <a:r>
              <a:rPr kumimoji="1" lang="zh-CN" altLang="en-US" dirty="0"/>
              <a:t> </a:t>
            </a:r>
            <a:r>
              <a:rPr kumimoji="1" lang="en-US" altLang="zh-CN" dirty="0"/>
              <a:t>3.3</a:t>
            </a:r>
            <a:r>
              <a:rPr kumimoji="1" lang="zh-CN" altLang="en-US" dirty="0"/>
              <a:t>   </a:t>
            </a:r>
            <a:r>
              <a:rPr kumimoji="1" lang="en-US" altLang="zh-CN" dirty="0"/>
              <a:t>B-</a:t>
            </a:r>
            <a:r>
              <a:rPr kumimoji="1" lang="zh-CN" altLang="en-US" dirty="0"/>
              <a:t> </a:t>
            </a:r>
            <a:r>
              <a:rPr kumimoji="1" lang="en-US" altLang="zh-CN" dirty="0"/>
              <a:t>-&gt;3.0</a:t>
            </a:r>
          </a:p>
          <a:p>
            <a:r>
              <a:rPr kumimoji="1" lang="zh-CN" altLang="en-US" dirty="0"/>
              <a:t>多值属性处理</a:t>
            </a:r>
            <a:endParaRPr kumimoji="1" lang="en-US" altLang="zh-CN" dirty="0"/>
          </a:p>
          <a:p>
            <a:pPr lvl="1"/>
            <a:r>
              <a:rPr kumimoji="1" lang="zh-CN" altLang="en-US" dirty="0"/>
              <a:t>颜色、国家、省</a:t>
            </a:r>
            <a:r>
              <a:rPr kumimoji="1" lang="en-US" altLang="zh-CN" dirty="0"/>
              <a:t>/</a:t>
            </a:r>
            <a:r>
              <a:rPr kumimoji="1" lang="zh-CN" altLang="en-US" dirty="0"/>
              <a:t>州等有限数值，可以用数值编号字典化处理数据</a:t>
            </a:r>
            <a:endParaRPr kumimoji="1" lang="en-US" altLang="zh-CN" dirty="0"/>
          </a:p>
          <a:p>
            <a:r>
              <a:rPr kumimoji="1" lang="en-US" altLang="zh-CN" dirty="0"/>
              <a:t>ID</a:t>
            </a:r>
            <a:r>
              <a:rPr kumimoji="1" lang="zh-CN" altLang="en-US" dirty="0"/>
              <a:t>属性</a:t>
            </a:r>
            <a:endParaRPr kumimoji="1" lang="en-US" altLang="zh-CN" dirty="0"/>
          </a:p>
          <a:p>
            <a:pPr lvl="1"/>
            <a:r>
              <a:rPr kumimoji="1" lang="zh-CN" altLang="en-US" dirty="0"/>
              <a:t>一般保持不变。过长且带冗余信息的属性值，可以做压缩，注意在不同数据集上压缩</a:t>
            </a:r>
            <a:r>
              <a:rPr kumimoji="1" lang="en-US" altLang="zh-CN" dirty="0"/>
              <a:t>ID</a:t>
            </a:r>
            <a:r>
              <a:rPr kumimoji="1" lang="zh-CN" altLang="en-US" dirty="0"/>
              <a:t>解释的一致性</a:t>
            </a:r>
            <a:endParaRPr kumimoji="1" lang="en-US" altLang="zh-CN" dirty="0"/>
          </a:p>
          <a:p>
            <a:r>
              <a:rPr kumimoji="1" lang="zh-CN" altLang="en-US" dirty="0"/>
              <a:t>属性值分组</a:t>
            </a:r>
            <a:endParaRPr kumimoji="1" lang="en-US" altLang="zh-CN" dirty="0"/>
          </a:p>
          <a:p>
            <a:pPr lvl="1"/>
            <a:r>
              <a:rPr kumimoji="1" lang="zh-CN" altLang="en-US" dirty="0"/>
              <a:t>省份按区域换分成</a:t>
            </a:r>
            <a:r>
              <a:rPr kumimoji="1" lang="en-US" altLang="zh-CN" dirty="0"/>
              <a:t>5-6</a:t>
            </a:r>
            <a:r>
              <a:rPr kumimoji="1" lang="zh-CN" altLang="en-US" dirty="0"/>
              <a:t>组</a:t>
            </a:r>
            <a:endParaRPr kumimoji="1" lang="en-US" altLang="zh-CN" dirty="0"/>
          </a:p>
          <a:p>
            <a:endParaRPr kumimoji="1" lang="zh-CN" alt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16</a:t>
            </a:fld>
            <a:endParaRPr lang="zh-CN" altLang="en-US"/>
          </a:p>
        </p:txBody>
      </p:sp>
    </p:spTree>
    <p:extLst>
      <p:ext uri="{BB962C8B-B14F-4D97-AF65-F5344CB8AC3E}">
        <p14:creationId xmlns:p14="http://schemas.microsoft.com/office/powerpoint/2010/main" val="1752099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en-US" altLang="zh-CN" dirty="0"/>
              <a:t>pandas</a:t>
            </a:r>
            <a:r>
              <a:rPr kumimoji="1" lang="zh-CN" altLang="en-US" dirty="0"/>
              <a:t>处理数值转换</a:t>
            </a:r>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900" r="1"/>
          <a:stretch/>
        </p:blipFill>
        <p:spPr>
          <a:xfrm>
            <a:off x="627344" y="809102"/>
            <a:ext cx="7889311" cy="3937000"/>
          </a:xfrm>
        </p:spPr>
      </p:pic>
      <p:sp>
        <p:nvSpPr>
          <p:cNvPr id="3" name="Slide Number Placeholder 2"/>
          <p:cNvSpPr>
            <a:spLocks noGrp="1"/>
          </p:cNvSpPr>
          <p:nvPr>
            <p:ph type="sldNum" sz="quarter" idx="12"/>
          </p:nvPr>
        </p:nvSpPr>
        <p:spPr/>
        <p:txBody>
          <a:bodyPr/>
          <a:lstStyle/>
          <a:p>
            <a:fld id="{E1BEBC7A-FD02-486B-81B5-A845787C689C}" type="slidenum">
              <a:rPr lang="zh-CN" altLang="en-US" smtClean="0"/>
              <a:t>17</a:t>
            </a:fld>
            <a:endParaRPr lang="zh-CN" altLang="en-US"/>
          </a:p>
        </p:txBody>
      </p:sp>
    </p:spTree>
    <p:extLst>
      <p:ext uri="{BB962C8B-B14F-4D97-AF65-F5344CB8AC3E}">
        <p14:creationId xmlns:p14="http://schemas.microsoft.com/office/powerpoint/2010/main" val="4121349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en-US" altLang="zh-CN" dirty="0"/>
              <a:t>pandas</a:t>
            </a:r>
            <a:r>
              <a:rPr kumimoji="1" lang="zh-CN" altLang="en-US" dirty="0"/>
              <a:t>进行数据离散化</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141730"/>
            <a:ext cx="8229600" cy="3291840"/>
          </a:xfrm>
        </p:spPr>
      </p:pic>
      <p:sp>
        <p:nvSpPr>
          <p:cNvPr id="3" name="Slide Number Placeholder 2"/>
          <p:cNvSpPr>
            <a:spLocks noGrp="1"/>
          </p:cNvSpPr>
          <p:nvPr>
            <p:ph type="sldNum" sz="quarter" idx="12"/>
          </p:nvPr>
        </p:nvSpPr>
        <p:spPr/>
        <p:txBody>
          <a:bodyPr/>
          <a:lstStyle/>
          <a:p>
            <a:fld id="{E1BEBC7A-FD02-486B-81B5-A845787C689C}" type="slidenum">
              <a:rPr lang="zh-CN" altLang="en-US" smtClean="0"/>
              <a:t>18</a:t>
            </a:fld>
            <a:endParaRPr lang="zh-CN" altLang="en-US"/>
          </a:p>
        </p:txBody>
      </p:sp>
    </p:spTree>
    <p:extLst>
      <p:ext uri="{BB962C8B-B14F-4D97-AF65-F5344CB8AC3E}">
        <p14:creationId xmlns:p14="http://schemas.microsoft.com/office/powerpoint/2010/main" val="1517439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排序</a:t>
            </a:r>
            <a:endParaRPr lang="en-US" dirty="0"/>
          </a:p>
        </p:txBody>
      </p:sp>
      <p:sp>
        <p:nvSpPr>
          <p:cNvPr id="3" name="Content Placeholder 2"/>
          <p:cNvSpPr>
            <a:spLocks noGrp="1"/>
          </p:cNvSpPr>
          <p:nvPr>
            <p:ph idx="1"/>
          </p:nvPr>
        </p:nvSpPr>
        <p:spPr/>
        <p:txBody>
          <a:bodyPr/>
          <a:lstStyle/>
          <a:p>
            <a:r>
              <a:rPr lang="zh-CN" altLang="en-US" dirty="0"/>
              <a:t>人为给定顺序</a:t>
            </a:r>
            <a:endParaRPr lang="en-US" altLang="zh-CN" dirty="0"/>
          </a:p>
          <a:p>
            <a:pPr lvl="1"/>
            <a:r>
              <a:rPr lang="en-US" dirty="0" err="1"/>
              <a:t>reindex</a:t>
            </a:r>
            <a:endParaRPr lang="en-US" dirty="0"/>
          </a:p>
          <a:p>
            <a:r>
              <a:rPr lang="zh-CN" altLang="en-US" dirty="0"/>
              <a:t>按照索引自动排序</a:t>
            </a:r>
            <a:endParaRPr lang="en-US" altLang="zh-CN" dirty="0"/>
          </a:p>
          <a:p>
            <a:pPr lvl="1"/>
            <a:r>
              <a:rPr lang="en-US" altLang="zh-CN" dirty="0" err="1"/>
              <a:t>sort_index</a:t>
            </a:r>
            <a:r>
              <a:rPr lang="en-US" altLang="zh-CN" dirty="0"/>
              <a:t>() </a:t>
            </a:r>
          </a:p>
          <a:p>
            <a:r>
              <a:rPr lang="zh-CN" altLang="en-US" dirty="0"/>
              <a:t>按照变量自动排序</a:t>
            </a:r>
            <a:endParaRPr lang="en-US" altLang="zh-CN" dirty="0"/>
          </a:p>
          <a:p>
            <a:pPr lvl="1"/>
            <a:r>
              <a:rPr lang="en-US" dirty="0" err="1"/>
              <a:t>sort_values</a:t>
            </a:r>
            <a:r>
              <a:rPr lang="en-US" dirty="0"/>
              <a:t>( by = '' )</a:t>
            </a:r>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19</a:t>
            </a:fld>
            <a:endParaRPr lang="zh-CN"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949" y="897650"/>
            <a:ext cx="2677465" cy="1521993"/>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9785" y="897669"/>
            <a:ext cx="2729132" cy="1562238"/>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147" y="2615344"/>
            <a:ext cx="4105275" cy="23336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35729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F96D935-5D4E-3296-B08C-D411B4FD576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97BD76D-565C-A3A0-2F35-8436229AE6C5}"/>
              </a:ext>
            </a:extLst>
          </p:cNvPr>
          <p:cNvSpPr>
            <a:spLocks noGrp="1"/>
          </p:cNvSpPr>
          <p:nvPr>
            <p:ph type="title"/>
          </p:nvPr>
        </p:nvSpPr>
        <p:spPr/>
        <p:txBody>
          <a:bodyPr/>
          <a:lstStyle/>
          <a:p>
            <a:r>
              <a:rPr lang="en-US" dirty="0" err="1"/>
              <a:t>使用Pandas的内置函数</a:t>
            </a:r>
            <a:endParaRPr lang="en-US" dirty="0"/>
          </a:p>
        </p:txBody>
      </p:sp>
      <p:sp>
        <p:nvSpPr>
          <p:cNvPr id="3" name="Content Placeholder 2">
            <a:extLst>
              <a:ext uri="{FF2B5EF4-FFF2-40B4-BE49-F238E27FC236}">
                <a16:creationId xmlns="" xmlns:a16="http://schemas.microsoft.com/office/drawing/2014/main" id="{B9CEB902-9550-6D28-7447-BD1C37A6C123}"/>
              </a:ext>
            </a:extLst>
          </p:cNvPr>
          <p:cNvSpPr>
            <a:spLocks noGrp="1"/>
          </p:cNvSpPr>
          <p:nvPr>
            <p:ph idx="1"/>
          </p:nvPr>
        </p:nvSpPr>
        <p:spPr/>
        <p:txBody>
          <a:bodyPr/>
          <a:lstStyle/>
          <a:p>
            <a:r>
              <a:rPr lang="zh-CN" altLang="en-US" dirty="0"/>
              <a:t>人为给定顺序</a:t>
            </a:r>
            <a:endParaRPr lang="en-US" altLang="zh-CN" dirty="0"/>
          </a:p>
          <a:p>
            <a:pPr lvl="1"/>
            <a:r>
              <a:rPr lang="en-US" dirty="0" err="1"/>
              <a:t>reindex</a:t>
            </a:r>
            <a:endParaRPr lang="en-US" dirty="0"/>
          </a:p>
          <a:p>
            <a:r>
              <a:rPr lang="zh-CN" altLang="en-US" dirty="0"/>
              <a:t>按照索引自动排序</a:t>
            </a:r>
            <a:endParaRPr lang="en-US" altLang="zh-CN" dirty="0"/>
          </a:p>
          <a:p>
            <a:pPr lvl="1"/>
            <a:r>
              <a:rPr lang="en-US" altLang="zh-CN" dirty="0" err="1"/>
              <a:t>sort_index</a:t>
            </a:r>
            <a:r>
              <a:rPr lang="en-US" altLang="zh-CN" dirty="0"/>
              <a:t>() </a:t>
            </a:r>
          </a:p>
          <a:p>
            <a:r>
              <a:rPr lang="zh-CN" altLang="en-US" dirty="0"/>
              <a:t>按照变量自动排序</a:t>
            </a:r>
            <a:endParaRPr lang="en-US" altLang="zh-CN" dirty="0"/>
          </a:p>
          <a:p>
            <a:pPr lvl="1"/>
            <a:r>
              <a:rPr lang="en-US" dirty="0" err="1"/>
              <a:t>sort_values</a:t>
            </a:r>
            <a:r>
              <a:rPr lang="en-US" dirty="0"/>
              <a:t>( by = '' )</a:t>
            </a:r>
          </a:p>
          <a:p>
            <a:endParaRPr lang="en-US" dirty="0"/>
          </a:p>
        </p:txBody>
      </p:sp>
      <p:sp>
        <p:nvSpPr>
          <p:cNvPr id="4" name="Slide Number Placeholder 3">
            <a:extLst>
              <a:ext uri="{FF2B5EF4-FFF2-40B4-BE49-F238E27FC236}">
                <a16:creationId xmlns="" xmlns:a16="http://schemas.microsoft.com/office/drawing/2014/main" id="{A314C911-F839-9074-AADB-DB1E18104F7A}"/>
              </a:ext>
            </a:extLst>
          </p:cNvPr>
          <p:cNvSpPr>
            <a:spLocks noGrp="1"/>
          </p:cNvSpPr>
          <p:nvPr>
            <p:ph type="sldNum" sz="quarter" idx="12"/>
          </p:nvPr>
        </p:nvSpPr>
        <p:spPr/>
        <p:txBody>
          <a:bodyPr/>
          <a:lstStyle/>
          <a:p>
            <a:fld id="{E1BEBC7A-FD02-486B-81B5-A845787C689C}" type="slidenum">
              <a:rPr lang="zh-CN" altLang="en-US" smtClean="0"/>
              <a:t>20</a:t>
            </a:fld>
            <a:endParaRPr lang="zh-CN" altLang="en-US"/>
          </a:p>
        </p:txBody>
      </p:sp>
      <p:pic>
        <p:nvPicPr>
          <p:cNvPr id="5" name="Picture 4">
            <a:extLst>
              <a:ext uri="{FF2B5EF4-FFF2-40B4-BE49-F238E27FC236}">
                <a16:creationId xmlns="" xmlns:a16="http://schemas.microsoft.com/office/drawing/2014/main" id="{CEE0EECD-F2C6-B552-E836-CE47C6E29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949" y="897650"/>
            <a:ext cx="2677465" cy="1521993"/>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 xmlns:a16="http://schemas.microsoft.com/office/drawing/2014/main" id="{30294A40-E1DF-9006-34C5-4193C4B2B7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9785" y="897669"/>
            <a:ext cx="2729132" cy="1562238"/>
          </a:xfrm>
          <a:prstGeom prst="rect">
            <a:avLst/>
          </a:prstGeom>
          <a:ln>
            <a:noFill/>
          </a:ln>
          <a:effectLst>
            <a:outerShdw blurRad="190500" algn="tl" rotWithShape="0">
              <a:srgbClr val="000000">
                <a:alpha val="70000"/>
              </a:srgbClr>
            </a:outerShdw>
          </a:effectLst>
        </p:spPr>
      </p:pic>
      <p:pic>
        <p:nvPicPr>
          <p:cNvPr id="7" name="Picture 6">
            <a:extLst>
              <a:ext uri="{FF2B5EF4-FFF2-40B4-BE49-F238E27FC236}">
                <a16:creationId xmlns="" xmlns:a16="http://schemas.microsoft.com/office/drawing/2014/main" id="{EA5F6360-EF6D-7EAC-45C6-C85F4E543E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147" y="2615344"/>
            <a:ext cx="4105275" cy="23336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63391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F96D935-5D4E-3296-B08C-D411B4FD576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97BD76D-565C-A3A0-2F35-8436229AE6C5}"/>
              </a:ext>
            </a:extLst>
          </p:cNvPr>
          <p:cNvSpPr>
            <a:spLocks noGrp="1"/>
          </p:cNvSpPr>
          <p:nvPr>
            <p:ph type="title"/>
          </p:nvPr>
        </p:nvSpPr>
        <p:spPr/>
        <p:txBody>
          <a:bodyPr/>
          <a:lstStyle/>
          <a:p>
            <a:r>
              <a:rPr lang="zh-CN" altLang="en-US" dirty="0"/>
              <a:t>课堂练习</a:t>
            </a:r>
            <a:endParaRPr lang="en-US" dirty="0"/>
          </a:p>
        </p:txBody>
      </p:sp>
      <p:sp>
        <p:nvSpPr>
          <p:cNvPr id="3" name="Content Placeholder 2">
            <a:extLst>
              <a:ext uri="{FF2B5EF4-FFF2-40B4-BE49-F238E27FC236}">
                <a16:creationId xmlns="" xmlns:a16="http://schemas.microsoft.com/office/drawing/2014/main" id="{B9CEB902-9550-6D28-7447-BD1C37A6C123}"/>
              </a:ext>
            </a:extLst>
          </p:cNvPr>
          <p:cNvSpPr>
            <a:spLocks noGrp="1"/>
          </p:cNvSpPr>
          <p:nvPr>
            <p:ph idx="1"/>
          </p:nvPr>
        </p:nvSpPr>
        <p:spPr/>
        <p:txBody>
          <a:bodyPr/>
          <a:lstStyle/>
          <a:p>
            <a:r>
              <a:rPr lang="zh-CN" altLang="en-US" dirty="0"/>
              <a:t>将</a:t>
            </a:r>
            <a:r>
              <a:rPr lang="en-US" altLang="zh-CN" dirty="0" err="1"/>
              <a:t>babynames</a:t>
            </a:r>
            <a:r>
              <a:rPr lang="zh-CN" altLang="en-US" dirty="0"/>
              <a:t>对象按照</a:t>
            </a:r>
            <a:r>
              <a:rPr lang="en-US" altLang="zh-CN" dirty="0"/>
              <a:t>Name</a:t>
            </a:r>
            <a:r>
              <a:rPr lang="zh-CN" altLang="en-US" dirty="0"/>
              <a:t>列的长度从大到小排序</a:t>
            </a:r>
            <a:endParaRPr lang="en-US" altLang="zh-CN" dirty="0"/>
          </a:p>
          <a:p>
            <a:pPr lvl="1"/>
            <a:r>
              <a:rPr lang="zh-CN" altLang="en-US" dirty="0"/>
              <a:t>方法一：创建一个临时列</a:t>
            </a:r>
            <a:r>
              <a:rPr lang="en-US" altLang="zh-CN" dirty="0" err="1"/>
              <a:t>name_length</a:t>
            </a:r>
            <a:r>
              <a:rPr lang="zh-CN" altLang="en-US" dirty="0"/>
              <a:t>再进行排序</a:t>
            </a:r>
            <a:endParaRPr lang="en-US" altLang="zh-CN" dirty="0"/>
          </a:p>
        </p:txBody>
      </p:sp>
      <p:sp>
        <p:nvSpPr>
          <p:cNvPr id="4" name="Slide Number Placeholder 3">
            <a:extLst>
              <a:ext uri="{FF2B5EF4-FFF2-40B4-BE49-F238E27FC236}">
                <a16:creationId xmlns="" xmlns:a16="http://schemas.microsoft.com/office/drawing/2014/main" id="{A314C911-F839-9074-AADB-DB1E18104F7A}"/>
              </a:ext>
            </a:extLst>
          </p:cNvPr>
          <p:cNvSpPr>
            <a:spLocks noGrp="1"/>
          </p:cNvSpPr>
          <p:nvPr>
            <p:ph type="sldNum" sz="quarter" idx="12"/>
          </p:nvPr>
        </p:nvSpPr>
        <p:spPr/>
        <p:txBody>
          <a:bodyPr/>
          <a:lstStyle/>
          <a:p>
            <a:fld id="{E1BEBC7A-FD02-486B-81B5-A845787C689C}" type="slidenum">
              <a:rPr lang="zh-CN" altLang="en-US" smtClean="0"/>
              <a:t>21</a:t>
            </a:fld>
            <a:endParaRPr lang="zh-CN" alt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678" y="1594487"/>
            <a:ext cx="3670968" cy="3161663"/>
          </a:xfrm>
          <a:prstGeom prst="rect">
            <a:avLst/>
          </a:prstGeom>
        </p:spPr>
      </p:pic>
    </p:spTree>
    <p:extLst>
      <p:ext uri="{BB962C8B-B14F-4D97-AF65-F5344CB8AC3E}">
        <p14:creationId xmlns:p14="http://schemas.microsoft.com/office/powerpoint/2010/main" val="523305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F96D935-5D4E-3296-B08C-D411B4FD576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97BD76D-565C-A3A0-2F35-8436229AE6C5}"/>
              </a:ext>
            </a:extLst>
          </p:cNvPr>
          <p:cNvSpPr>
            <a:spLocks noGrp="1"/>
          </p:cNvSpPr>
          <p:nvPr>
            <p:ph type="title"/>
          </p:nvPr>
        </p:nvSpPr>
        <p:spPr/>
        <p:txBody>
          <a:bodyPr/>
          <a:lstStyle/>
          <a:p>
            <a:r>
              <a:rPr lang="zh-CN" altLang="en-US" dirty="0"/>
              <a:t>课堂练习</a:t>
            </a:r>
            <a:endParaRPr lang="en-US" dirty="0"/>
          </a:p>
        </p:txBody>
      </p:sp>
      <p:sp>
        <p:nvSpPr>
          <p:cNvPr id="3" name="Content Placeholder 2">
            <a:extLst>
              <a:ext uri="{FF2B5EF4-FFF2-40B4-BE49-F238E27FC236}">
                <a16:creationId xmlns="" xmlns:a16="http://schemas.microsoft.com/office/drawing/2014/main" id="{B9CEB902-9550-6D28-7447-BD1C37A6C123}"/>
              </a:ext>
            </a:extLst>
          </p:cNvPr>
          <p:cNvSpPr>
            <a:spLocks noGrp="1"/>
          </p:cNvSpPr>
          <p:nvPr>
            <p:ph idx="1"/>
          </p:nvPr>
        </p:nvSpPr>
        <p:spPr/>
        <p:txBody>
          <a:bodyPr/>
          <a:lstStyle/>
          <a:p>
            <a:r>
              <a:rPr lang="zh-CN" altLang="en-US" dirty="0"/>
              <a:t>将</a:t>
            </a:r>
            <a:r>
              <a:rPr lang="en-US" altLang="zh-CN" dirty="0" err="1"/>
              <a:t>babynames</a:t>
            </a:r>
            <a:r>
              <a:rPr lang="zh-CN" altLang="en-US" dirty="0"/>
              <a:t>对象按照</a:t>
            </a:r>
            <a:r>
              <a:rPr lang="en-US" altLang="zh-CN" dirty="0"/>
              <a:t>Name</a:t>
            </a:r>
            <a:r>
              <a:rPr lang="zh-CN" altLang="en-US" dirty="0"/>
              <a:t>列的长度从大到小排序</a:t>
            </a:r>
            <a:endParaRPr lang="en-US" altLang="zh-CN" dirty="0"/>
          </a:p>
          <a:p>
            <a:pPr lvl="1"/>
            <a:r>
              <a:rPr lang="zh-CN" altLang="en-US" dirty="0"/>
              <a:t>方法二：使用</a:t>
            </a:r>
            <a:r>
              <a:rPr lang="en-US" altLang="zh-CN" dirty="0" err="1"/>
              <a:t>sort_values</a:t>
            </a:r>
            <a:r>
              <a:rPr lang="zh-CN" altLang="en-US" dirty="0"/>
              <a:t>的</a:t>
            </a:r>
            <a:r>
              <a:rPr lang="en-US" altLang="zh-CN" dirty="0"/>
              <a:t>Key</a:t>
            </a:r>
            <a:r>
              <a:rPr lang="zh-CN" altLang="en-US" dirty="0"/>
              <a:t>参数</a:t>
            </a:r>
            <a:endParaRPr lang="en-US" altLang="zh-CN" dirty="0"/>
          </a:p>
        </p:txBody>
      </p:sp>
      <p:sp>
        <p:nvSpPr>
          <p:cNvPr id="4" name="Slide Number Placeholder 3">
            <a:extLst>
              <a:ext uri="{FF2B5EF4-FFF2-40B4-BE49-F238E27FC236}">
                <a16:creationId xmlns="" xmlns:a16="http://schemas.microsoft.com/office/drawing/2014/main" id="{A314C911-F839-9074-AADB-DB1E18104F7A}"/>
              </a:ext>
            </a:extLst>
          </p:cNvPr>
          <p:cNvSpPr>
            <a:spLocks noGrp="1"/>
          </p:cNvSpPr>
          <p:nvPr>
            <p:ph type="sldNum" sz="quarter" idx="12"/>
          </p:nvPr>
        </p:nvSpPr>
        <p:spPr/>
        <p:txBody>
          <a:bodyPr/>
          <a:lstStyle/>
          <a:p>
            <a:fld id="{E1BEBC7A-FD02-486B-81B5-A845787C689C}" type="slidenum">
              <a:rPr lang="zh-CN" altLang="en-US" smtClean="0"/>
              <a:t>22</a:t>
            </a:fld>
            <a:endParaRPr lang="zh-CN" alt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123"/>
          <a:stretch/>
        </p:blipFill>
        <p:spPr>
          <a:xfrm>
            <a:off x="1854200" y="1545812"/>
            <a:ext cx="3777342" cy="3210338"/>
          </a:xfrm>
          <a:prstGeom prst="rect">
            <a:avLst/>
          </a:prstGeom>
        </p:spPr>
      </p:pic>
    </p:spTree>
    <p:extLst>
      <p:ext uri="{BB962C8B-B14F-4D97-AF65-F5344CB8AC3E}">
        <p14:creationId xmlns:p14="http://schemas.microsoft.com/office/powerpoint/2010/main" val="970422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F96D935-5D4E-3296-B08C-D411B4FD576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97BD76D-565C-A3A0-2F35-8436229AE6C5}"/>
              </a:ext>
            </a:extLst>
          </p:cNvPr>
          <p:cNvSpPr>
            <a:spLocks noGrp="1"/>
          </p:cNvSpPr>
          <p:nvPr>
            <p:ph type="title"/>
          </p:nvPr>
        </p:nvSpPr>
        <p:spPr/>
        <p:txBody>
          <a:bodyPr/>
          <a:lstStyle/>
          <a:p>
            <a:r>
              <a:rPr lang="zh-CN" altLang="en-US" dirty="0"/>
              <a:t>课堂练习</a:t>
            </a:r>
            <a:endParaRPr lang="en-US" dirty="0"/>
          </a:p>
        </p:txBody>
      </p:sp>
      <p:sp>
        <p:nvSpPr>
          <p:cNvPr id="3" name="Content Placeholder 2">
            <a:extLst>
              <a:ext uri="{FF2B5EF4-FFF2-40B4-BE49-F238E27FC236}">
                <a16:creationId xmlns="" xmlns:a16="http://schemas.microsoft.com/office/drawing/2014/main" id="{B9CEB902-9550-6D28-7447-BD1C37A6C123}"/>
              </a:ext>
            </a:extLst>
          </p:cNvPr>
          <p:cNvSpPr>
            <a:spLocks noGrp="1"/>
          </p:cNvSpPr>
          <p:nvPr>
            <p:ph idx="1"/>
          </p:nvPr>
        </p:nvSpPr>
        <p:spPr/>
        <p:txBody>
          <a:bodyPr/>
          <a:lstStyle/>
          <a:p>
            <a:r>
              <a:rPr lang="zh-CN" altLang="en-US" dirty="0"/>
              <a:t>将</a:t>
            </a:r>
            <a:r>
              <a:rPr lang="en-US" altLang="zh-CN" dirty="0" err="1"/>
              <a:t>babynames</a:t>
            </a:r>
            <a:r>
              <a:rPr lang="zh-CN" altLang="en-US" dirty="0"/>
              <a:t>对象按照包含</a:t>
            </a:r>
            <a:r>
              <a:rPr lang="en-US" altLang="zh-CN" dirty="0"/>
              <a:t>"</a:t>
            </a:r>
            <a:r>
              <a:rPr lang="en-US" altLang="zh-CN" dirty="0" err="1"/>
              <a:t>ea</a:t>
            </a:r>
            <a:r>
              <a:rPr lang="en-US" altLang="zh-CN" dirty="0"/>
              <a:t>"</a:t>
            </a:r>
            <a:r>
              <a:rPr lang="zh-CN" altLang="en-US" dirty="0"/>
              <a:t>的次数排序</a:t>
            </a:r>
            <a:endParaRPr lang="en-US" altLang="zh-CN" dirty="0"/>
          </a:p>
        </p:txBody>
      </p:sp>
      <p:sp>
        <p:nvSpPr>
          <p:cNvPr id="4" name="Slide Number Placeholder 3">
            <a:extLst>
              <a:ext uri="{FF2B5EF4-FFF2-40B4-BE49-F238E27FC236}">
                <a16:creationId xmlns="" xmlns:a16="http://schemas.microsoft.com/office/drawing/2014/main" id="{A314C911-F839-9074-AADB-DB1E18104F7A}"/>
              </a:ext>
            </a:extLst>
          </p:cNvPr>
          <p:cNvSpPr>
            <a:spLocks noGrp="1"/>
          </p:cNvSpPr>
          <p:nvPr>
            <p:ph type="sldNum" sz="quarter" idx="12"/>
          </p:nvPr>
        </p:nvSpPr>
        <p:spPr/>
        <p:txBody>
          <a:bodyPr/>
          <a:lstStyle/>
          <a:p>
            <a:fld id="{E1BEBC7A-FD02-486B-81B5-A845787C689C}" type="slidenum">
              <a:rPr lang="zh-CN" altLang="en-US" smtClean="0"/>
              <a:t>23</a:t>
            </a:fld>
            <a:endParaRPr lang="zh-CN"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1" y="1352550"/>
            <a:ext cx="3671299" cy="3403600"/>
          </a:xfrm>
          <a:prstGeom prst="rect">
            <a:avLst/>
          </a:prstGeom>
        </p:spPr>
      </p:pic>
      <p:sp>
        <p:nvSpPr>
          <p:cNvPr id="7" name="Rectangle 6">
            <a:extLst>
              <a:ext uri="{FF2B5EF4-FFF2-40B4-BE49-F238E27FC236}">
                <a16:creationId xmlns="" xmlns:a16="http://schemas.microsoft.com/office/drawing/2014/main" id="{F1964BF9-7B10-ED8C-AAEF-E6A3D16FE3AE}"/>
              </a:ext>
            </a:extLst>
          </p:cNvPr>
          <p:cNvSpPr/>
          <p:nvPr/>
        </p:nvSpPr>
        <p:spPr>
          <a:xfrm>
            <a:off x="5250365" y="2592685"/>
            <a:ext cx="2755899" cy="923330"/>
          </a:xfrm>
          <a:prstGeom prst="rect">
            <a:avLst/>
          </a:prstGeom>
        </p:spPr>
        <p:txBody>
          <a:bodyPr wrap="square">
            <a:spAutoFit/>
          </a:bodyPr>
          <a:lstStyle/>
          <a:p>
            <a:pPr algn="ct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思考：请用创建一个临时列</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的方式实现</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7">
            <a:extLst>
              <a:ext uri="{FF2B5EF4-FFF2-40B4-BE49-F238E27FC236}">
                <a16:creationId xmlns="" xmlns:a16="http://schemas.microsoft.com/office/drawing/2014/main" id="{BFF16355-BAE1-E3EB-B1C1-E86FA510CDF7}"/>
              </a:ext>
            </a:extLst>
          </p:cNvPr>
          <p:cNvSpPr/>
          <p:nvPr/>
        </p:nvSpPr>
        <p:spPr>
          <a:xfrm>
            <a:off x="6306751" y="1955165"/>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907772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表格数据处理与</a:t>
            </a:r>
            <a:r>
              <a:rPr lang="en-US" altLang="zh-CN" sz="2000" dirty="0">
                <a:solidFill>
                  <a:prstClr val="white"/>
                </a:solidFill>
                <a:latin typeface="微软雅黑" pitchFamily="34" charset="-122"/>
                <a:ea typeface="微软雅黑" pitchFamily="34" charset="-122"/>
              </a:rPr>
              <a:t>Pandas</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2608406" cy="1865126"/>
          </a:xfrm>
          <a:prstGeom prst="rect">
            <a:avLst/>
          </a:prstGeom>
          <a:noFill/>
        </p:spPr>
        <p:txBody>
          <a:bodyPr wrap="none" rtlCol="0">
            <a:spAutoFit/>
          </a:bodyPr>
          <a:lstStyle/>
          <a:p>
            <a:pPr marL="34290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a:t>
            </a:r>
            <a:r>
              <a:rPr lang="zh-CN" altLang="en-US" b="1" dirty="0" smtClean="0">
                <a:latin typeface="Microsoft YaHei" panose="020B0503020204020204" pitchFamily="34" charset="-122"/>
                <a:ea typeface="Microsoft YaHei" panose="020B0503020204020204" pitchFamily="34" charset="-122"/>
              </a:rPr>
              <a:t>基本操作</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solidFill>
                  <a:srgbClr val="C00000"/>
                </a:solidFill>
                <a:latin typeface="Microsoft YaHei" panose="020B0503020204020204" pitchFamily="34" charset="-122"/>
                <a:ea typeface="Microsoft YaHei" panose="020B0503020204020204" pitchFamily="34" charset="-122"/>
              </a:rPr>
              <a:t>Pandas</a:t>
            </a:r>
            <a:r>
              <a:rPr lang="zh-CN" altLang="en-US" b="1" dirty="0">
                <a:solidFill>
                  <a:srgbClr val="C00000"/>
                </a:solidFill>
                <a:latin typeface="Microsoft YaHei" panose="020B0503020204020204" pitchFamily="34" charset="-122"/>
                <a:ea typeface="Microsoft YaHei" panose="020B0503020204020204" pitchFamily="34" charset="-122"/>
              </a:rPr>
              <a:t>的数据查询</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的数据分析</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案例分析与课堂练习</a:t>
            </a:r>
            <a:endParaRPr lang="en-US" altLang="zh-CN" b="1" dirty="0">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14"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72230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基于标签（</a:t>
            </a:r>
            <a:r>
              <a:rPr lang="en-US" altLang="zh-CN" dirty="0"/>
              <a:t>Label</a:t>
            </a:r>
            <a:r>
              <a:rPr lang="zh-CN" altLang="en-US" dirty="0"/>
              <a:t>）的数据选择：</a:t>
            </a:r>
            <a:r>
              <a:rPr lang="en-US" altLang="zh-CN" dirty="0">
                <a:solidFill>
                  <a:srgbClr val="C00000"/>
                </a:solidFill>
              </a:rPr>
              <a:t>.</a:t>
            </a:r>
            <a:r>
              <a:rPr lang="en-US" altLang="zh-CN" dirty="0" err="1">
                <a:solidFill>
                  <a:srgbClr val="C00000"/>
                </a:solidFill>
              </a:rPr>
              <a:t>loc</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25</a:t>
            </a:fld>
            <a:endParaRPr lang="zh-CN" altLang="en-US"/>
          </a:p>
        </p:txBody>
      </p:sp>
      <p:sp>
        <p:nvSpPr>
          <p:cNvPr id="9" name="Content Placeholder 2"/>
          <p:cNvSpPr>
            <a:spLocks noGrp="1"/>
          </p:cNvSpPr>
          <p:nvPr>
            <p:ph idx="1"/>
          </p:nvPr>
        </p:nvSpPr>
        <p:spPr>
          <a:xfrm>
            <a:off x="457200" y="819150"/>
            <a:ext cx="8229600" cy="3937000"/>
          </a:xfrm>
        </p:spPr>
        <p:txBody>
          <a:bodyPr/>
          <a:lstStyle/>
          <a:p>
            <a:r>
              <a:rPr lang="zh-CN" altLang="en-US" dirty="0"/>
              <a:t>从一个</a:t>
            </a:r>
            <a:r>
              <a:rPr lang="en-US" altLang="zh-CN" dirty="0" err="1"/>
              <a:t>DataFrame</a:t>
            </a:r>
            <a:r>
              <a:rPr lang="zh-CN" altLang="en-US" dirty="0"/>
              <a:t>对象中选择特定</a:t>
            </a:r>
            <a:r>
              <a:rPr lang="en-US" altLang="zh-CN" dirty="0"/>
              <a:t>column</a:t>
            </a:r>
            <a:r>
              <a:rPr lang="zh-CN" altLang="en-US" dirty="0"/>
              <a:t>或</a:t>
            </a:r>
            <a:r>
              <a:rPr lang="en-US" altLang="zh-CN" dirty="0"/>
              <a:t>index</a:t>
            </a:r>
            <a:r>
              <a:rPr lang="zh-CN" altLang="en-US" dirty="0"/>
              <a:t>标签的数据</a:t>
            </a:r>
            <a:endParaRPr lang="en-US" altLang="zh-CN" dirty="0"/>
          </a:p>
          <a:p>
            <a:pPr lvl="1"/>
            <a:r>
              <a:rPr lang="zh-CN" altLang="en-US" b="1" dirty="0"/>
              <a:t>使用一个</a:t>
            </a:r>
            <a:r>
              <a:rPr lang="en-US" altLang="zh-CN" b="1" dirty="0"/>
              <a:t>List</a:t>
            </a:r>
            <a:r>
              <a:rPr lang="zh-CN" altLang="en-US" b="1" dirty="0"/>
              <a:t>对象进行选择</a:t>
            </a:r>
            <a:endParaRPr lang="en-US" altLang="zh-CN" b="1" dirty="0"/>
          </a:p>
          <a:p>
            <a:pPr lvl="1"/>
            <a:r>
              <a:rPr lang="zh-CN" altLang="en-US" dirty="0">
                <a:solidFill>
                  <a:schemeClr val="tx1">
                    <a:lumMod val="50000"/>
                    <a:lumOff val="50000"/>
                  </a:schemeClr>
                </a:solidFill>
              </a:rPr>
              <a:t>使用一个</a:t>
            </a:r>
            <a:r>
              <a:rPr lang="en-US" altLang="zh-CN" dirty="0">
                <a:solidFill>
                  <a:schemeClr val="tx1">
                    <a:lumMod val="50000"/>
                    <a:lumOff val="50000"/>
                  </a:schemeClr>
                </a:solidFill>
              </a:rPr>
              <a:t>slice</a:t>
            </a:r>
            <a:r>
              <a:rPr lang="zh-CN" altLang="en-US" dirty="0">
                <a:solidFill>
                  <a:schemeClr val="tx1">
                    <a:lumMod val="50000"/>
                    <a:lumOff val="50000"/>
                  </a:schemeClr>
                </a:solidFill>
              </a:rPr>
              <a:t>进行选择</a:t>
            </a:r>
            <a:endParaRPr lang="en-US" altLang="zh-CN" dirty="0">
              <a:solidFill>
                <a:schemeClr val="tx1">
                  <a:lumMod val="50000"/>
                  <a:lumOff val="50000"/>
                </a:schemeClr>
              </a:solidFill>
            </a:endParaRPr>
          </a:p>
          <a:p>
            <a:pPr>
              <a:spcBef>
                <a:spcPts val="600"/>
              </a:spcBef>
              <a:spcAft>
                <a:spcPts val="600"/>
              </a:spcAft>
            </a:pPr>
            <a:endParaRPr lang="en-US" altLang="zh-CN" dirty="0"/>
          </a:p>
        </p:txBody>
      </p:sp>
      <p:pic>
        <p:nvPicPr>
          <p:cNvPr id="22" name="Google Shape;620;p63"/>
          <p:cNvPicPr preferRelativeResize="0"/>
          <p:nvPr/>
        </p:nvPicPr>
        <p:blipFill>
          <a:blip r:embed="rId2">
            <a:alphaModFix/>
          </a:blip>
          <a:stretch>
            <a:fillRect/>
          </a:stretch>
        </p:blipFill>
        <p:spPr>
          <a:xfrm>
            <a:off x="2481400" y="3183399"/>
            <a:ext cx="3619500" cy="1533525"/>
          </a:xfrm>
          <a:prstGeom prst="rect">
            <a:avLst/>
          </a:prstGeom>
          <a:noFill/>
          <a:ln>
            <a:noFill/>
          </a:ln>
        </p:spPr>
      </p:pic>
      <p:sp>
        <p:nvSpPr>
          <p:cNvPr id="23" name="Google Shape;622;p63"/>
          <p:cNvSpPr/>
          <p:nvPr/>
        </p:nvSpPr>
        <p:spPr>
          <a:xfrm rot="10800000">
            <a:off x="2324150" y="3515936"/>
            <a:ext cx="135600" cy="1155300"/>
          </a:xfrm>
          <a:prstGeom prst="rightBracket">
            <a:avLst>
              <a:gd name="adj" fmla="val 8333"/>
            </a:avLst>
          </a:prstGeom>
          <a:noFill/>
          <a:ln w="2857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4" name="Google Shape;623;p63"/>
          <p:cNvSpPr txBox="1"/>
          <p:nvPr/>
        </p:nvSpPr>
        <p:spPr>
          <a:xfrm>
            <a:off x="340250" y="3709586"/>
            <a:ext cx="1983900" cy="6156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kern="0">
                <a:solidFill>
                  <a:srgbClr val="000000"/>
                </a:solidFill>
                <a:latin typeface="Roboto Light"/>
                <a:ea typeface="Roboto Light"/>
                <a:cs typeface="Roboto Light"/>
                <a:sym typeface="Roboto Light"/>
              </a:rPr>
              <a:t>Select the rows with labels 87, 25, and 179.</a:t>
            </a:r>
            <a:endParaRPr sz="1400" kern="0">
              <a:solidFill>
                <a:srgbClr val="000000"/>
              </a:solidFill>
              <a:latin typeface="Roboto Light"/>
              <a:ea typeface="Roboto Light"/>
              <a:cs typeface="Roboto Light"/>
              <a:sym typeface="Roboto Light"/>
            </a:endParaRPr>
          </a:p>
        </p:txBody>
      </p:sp>
      <p:sp>
        <p:nvSpPr>
          <p:cNvPr id="25" name="Google Shape;624;p63"/>
          <p:cNvSpPr/>
          <p:nvPr/>
        </p:nvSpPr>
        <p:spPr>
          <a:xfrm>
            <a:off x="6100900" y="3271011"/>
            <a:ext cx="132900" cy="225000"/>
          </a:xfrm>
          <a:prstGeom prst="rightBracket">
            <a:avLst>
              <a:gd name="adj" fmla="val 8333"/>
            </a:avLst>
          </a:prstGeom>
          <a:no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6" name="Google Shape;625;p63"/>
          <p:cNvSpPr txBox="1"/>
          <p:nvPr/>
        </p:nvSpPr>
        <p:spPr>
          <a:xfrm>
            <a:off x="6236800" y="3107211"/>
            <a:ext cx="2831100" cy="6156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kern="0">
                <a:solidFill>
                  <a:srgbClr val="000000"/>
                </a:solidFill>
                <a:latin typeface="Roboto Light"/>
                <a:ea typeface="Roboto Light"/>
                <a:cs typeface="Roboto Light"/>
                <a:sym typeface="Roboto Light"/>
              </a:rPr>
              <a:t>Select the columns with labels "Year", "Candidate", and "Result".</a:t>
            </a:r>
            <a:endParaRPr sz="1400" kern="0">
              <a:solidFill>
                <a:srgbClr val="000000"/>
              </a:solidFill>
              <a:latin typeface="Roboto Light"/>
              <a:ea typeface="Roboto Light"/>
              <a:cs typeface="Roboto Light"/>
              <a:sym typeface="Roboto Light"/>
            </a:endParaRPr>
          </a:p>
        </p:txBody>
      </p:sp>
      <p:sp>
        <p:nvSpPr>
          <p:cNvPr id="27" name="Google Shape;619;p63"/>
          <p:cNvSpPr txBox="1"/>
          <p:nvPr/>
        </p:nvSpPr>
        <p:spPr>
          <a:xfrm>
            <a:off x="892200" y="2463324"/>
            <a:ext cx="7359600" cy="415500"/>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500" dirty="0" err="1">
                <a:solidFill>
                  <a:schemeClr val="dk1"/>
                </a:solidFill>
                <a:highlight>
                  <a:srgbClr val="FFFFFE"/>
                </a:highlight>
                <a:latin typeface="Consolas"/>
                <a:ea typeface="Consolas"/>
                <a:cs typeface="Consolas"/>
                <a:sym typeface="Consolas"/>
              </a:rPr>
              <a:t>elections.</a:t>
            </a:r>
            <a:r>
              <a:rPr lang="en" sz="1500" dirty="0" err="1">
                <a:solidFill>
                  <a:schemeClr val="accent3"/>
                </a:solidFill>
                <a:highlight>
                  <a:srgbClr val="FFFFFE"/>
                </a:highlight>
                <a:latin typeface="Consolas"/>
                <a:ea typeface="Consolas"/>
                <a:cs typeface="Consolas"/>
                <a:sym typeface="Consolas"/>
              </a:rPr>
              <a:t>loc</a:t>
            </a:r>
            <a:r>
              <a:rPr lang="en" sz="1500" dirty="0">
                <a:solidFill>
                  <a:schemeClr val="dk1"/>
                </a:solidFill>
                <a:highlight>
                  <a:srgbClr val="FFFFFE"/>
                </a:highlight>
                <a:latin typeface="Consolas"/>
                <a:ea typeface="Consolas"/>
                <a:cs typeface="Consolas"/>
                <a:sym typeface="Consolas"/>
              </a:rPr>
              <a:t>[[</a:t>
            </a:r>
            <a:r>
              <a:rPr lang="en" sz="1500" dirty="0">
                <a:solidFill>
                  <a:srgbClr val="09885A"/>
                </a:solidFill>
                <a:highlight>
                  <a:srgbClr val="FFFFFE"/>
                </a:highlight>
                <a:latin typeface="Consolas"/>
                <a:ea typeface="Consolas"/>
                <a:cs typeface="Consolas"/>
                <a:sym typeface="Consolas"/>
              </a:rPr>
              <a:t>87</a:t>
            </a:r>
            <a:r>
              <a:rPr lang="en" sz="1500" dirty="0">
                <a:solidFill>
                  <a:schemeClr val="dk1"/>
                </a:solidFill>
                <a:highlight>
                  <a:srgbClr val="FFFFFE"/>
                </a:highlight>
                <a:latin typeface="Consolas"/>
                <a:ea typeface="Consolas"/>
                <a:cs typeface="Consolas"/>
                <a:sym typeface="Consolas"/>
              </a:rPr>
              <a:t>, </a:t>
            </a:r>
            <a:r>
              <a:rPr lang="en" sz="1500" dirty="0">
                <a:solidFill>
                  <a:srgbClr val="09885A"/>
                </a:solidFill>
                <a:highlight>
                  <a:srgbClr val="FFFFFE"/>
                </a:highlight>
                <a:latin typeface="Consolas"/>
                <a:ea typeface="Consolas"/>
                <a:cs typeface="Consolas"/>
                <a:sym typeface="Consolas"/>
              </a:rPr>
              <a:t>25</a:t>
            </a:r>
            <a:r>
              <a:rPr lang="en" sz="1500" dirty="0">
                <a:solidFill>
                  <a:schemeClr val="dk1"/>
                </a:solidFill>
                <a:highlight>
                  <a:srgbClr val="FFFFFE"/>
                </a:highlight>
                <a:latin typeface="Consolas"/>
                <a:ea typeface="Consolas"/>
                <a:cs typeface="Consolas"/>
                <a:sym typeface="Consolas"/>
              </a:rPr>
              <a:t>, </a:t>
            </a:r>
            <a:r>
              <a:rPr lang="en" sz="1500" dirty="0">
                <a:solidFill>
                  <a:srgbClr val="09885A"/>
                </a:solidFill>
                <a:highlight>
                  <a:srgbClr val="FFFFFE"/>
                </a:highlight>
                <a:latin typeface="Consolas"/>
                <a:ea typeface="Consolas"/>
                <a:cs typeface="Consolas"/>
                <a:sym typeface="Consolas"/>
              </a:rPr>
              <a:t>179</a:t>
            </a:r>
            <a:r>
              <a:rPr lang="en" sz="1500" dirty="0">
                <a:solidFill>
                  <a:schemeClr val="dk1"/>
                </a:solidFill>
                <a:highlight>
                  <a:srgbClr val="FFFFFE"/>
                </a:highlight>
                <a:latin typeface="Consolas"/>
                <a:ea typeface="Consolas"/>
                <a:cs typeface="Consolas"/>
                <a:sym typeface="Consolas"/>
              </a:rPr>
              <a:t>], [</a:t>
            </a:r>
            <a:r>
              <a:rPr lang="en" sz="1500" dirty="0">
                <a:solidFill>
                  <a:srgbClr val="A31515"/>
                </a:solidFill>
                <a:highlight>
                  <a:srgbClr val="FFFFFE"/>
                </a:highlight>
                <a:latin typeface="Consolas"/>
                <a:ea typeface="Consolas"/>
                <a:cs typeface="Consolas"/>
                <a:sym typeface="Consolas"/>
              </a:rPr>
              <a:t>"Year"</a:t>
            </a:r>
            <a:r>
              <a:rPr lang="en" sz="1500" dirty="0">
                <a:solidFill>
                  <a:schemeClr val="dk1"/>
                </a:solidFill>
                <a:highlight>
                  <a:srgbClr val="FFFFFE"/>
                </a:highlight>
                <a:latin typeface="Consolas"/>
                <a:ea typeface="Consolas"/>
                <a:cs typeface="Consolas"/>
                <a:sym typeface="Consolas"/>
              </a:rPr>
              <a:t>, </a:t>
            </a:r>
            <a:r>
              <a:rPr lang="en" sz="1500" dirty="0">
                <a:solidFill>
                  <a:srgbClr val="A31515"/>
                </a:solidFill>
                <a:highlight>
                  <a:srgbClr val="FFFFFE"/>
                </a:highlight>
                <a:latin typeface="Consolas"/>
                <a:ea typeface="Consolas"/>
                <a:cs typeface="Consolas"/>
                <a:sym typeface="Consolas"/>
              </a:rPr>
              <a:t>"Candidate"</a:t>
            </a:r>
            <a:r>
              <a:rPr lang="en" sz="1500" dirty="0">
                <a:solidFill>
                  <a:schemeClr val="dk1"/>
                </a:solidFill>
                <a:highlight>
                  <a:srgbClr val="FFFFFE"/>
                </a:highlight>
                <a:latin typeface="Consolas"/>
                <a:ea typeface="Consolas"/>
                <a:cs typeface="Consolas"/>
                <a:sym typeface="Consolas"/>
              </a:rPr>
              <a:t>, </a:t>
            </a:r>
            <a:r>
              <a:rPr lang="en" sz="1500" dirty="0">
                <a:solidFill>
                  <a:srgbClr val="A31515"/>
                </a:solidFill>
                <a:highlight>
                  <a:srgbClr val="FFFFFE"/>
                </a:highlight>
                <a:latin typeface="Consolas"/>
                <a:ea typeface="Consolas"/>
                <a:cs typeface="Consolas"/>
                <a:sym typeface="Consolas"/>
              </a:rPr>
              <a:t>"Result"</a:t>
            </a:r>
            <a:r>
              <a:rPr lang="en" sz="1500" dirty="0">
                <a:solidFill>
                  <a:schemeClr val="dk1"/>
                </a:solidFill>
                <a:highlight>
                  <a:srgbClr val="FFFFFE"/>
                </a:highlight>
                <a:latin typeface="Consolas"/>
                <a:ea typeface="Consolas"/>
                <a:cs typeface="Consolas"/>
                <a:sym typeface="Consolas"/>
              </a:rPr>
              <a:t>]]</a:t>
            </a:r>
            <a:endParaRPr sz="1500" dirty="0">
              <a:solidFill>
                <a:schemeClr val="dk1"/>
              </a:solidFill>
              <a:highlight>
                <a:srgbClr val="FFFFFE"/>
              </a:highlight>
              <a:latin typeface="Consolas"/>
              <a:ea typeface="Consolas"/>
              <a:cs typeface="Consolas"/>
              <a:sym typeface="Consolas"/>
            </a:endParaRPr>
          </a:p>
        </p:txBody>
      </p:sp>
    </p:spTree>
    <p:extLst>
      <p:ext uri="{BB962C8B-B14F-4D97-AF65-F5344CB8AC3E}">
        <p14:creationId xmlns:p14="http://schemas.microsoft.com/office/powerpoint/2010/main" val="795124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基于标签（</a:t>
            </a:r>
            <a:r>
              <a:rPr lang="en-US" altLang="zh-CN" dirty="0"/>
              <a:t>Label</a:t>
            </a:r>
            <a:r>
              <a:rPr lang="zh-CN" altLang="en-US" dirty="0"/>
              <a:t>）的数据选择：</a:t>
            </a:r>
            <a:r>
              <a:rPr lang="en-US" altLang="zh-CN" dirty="0">
                <a:solidFill>
                  <a:srgbClr val="C00000"/>
                </a:solidFill>
              </a:rPr>
              <a:t>.</a:t>
            </a:r>
            <a:r>
              <a:rPr lang="en-US" altLang="zh-CN" dirty="0" err="1">
                <a:solidFill>
                  <a:srgbClr val="C00000"/>
                </a:solidFill>
              </a:rPr>
              <a:t>loc</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26</a:t>
            </a:fld>
            <a:endParaRPr lang="zh-CN" altLang="en-US"/>
          </a:p>
        </p:txBody>
      </p:sp>
      <p:sp>
        <p:nvSpPr>
          <p:cNvPr id="9" name="Content Placeholder 2"/>
          <p:cNvSpPr>
            <a:spLocks noGrp="1"/>
          </p:cNvSpPr>
          <p:nvPr>
            <p:ph idx="1"/>
          </p:nvPr>
        </p:nvSpPr>
        <p:spPr>
          <a:xfrm>
            <a:off x="457200" y="819150"/>
            <a:ext cx="8229600" cy="3937000"/>
          </a:xfrm>
        </p:spPr>
        <p:txBody>
          <a:bodyPr/>
          <a:lstStyle/>
          <a:p>
            <a:r>
              <a:rPr lang="zh-CN" altLang="en-US" dirty="0"/>
              <a:t>从一个</a:t>
            </a:r>
            <a:r>
              <a:rPr lang="en-US" altLang="zh-CN" dirty="0" err="1"/>
              <a:t>DataFrame</a:t>
            </a:r>
            <a:r>
              <a:rPr lang="zh-CN" altLang="en-US" dirty="0"/>
              <a:t>对象中选择特定</a:t>
            </a:r>
            <a:r>
              <a:rPr lang="en-US" altLang="zh-CN" dirty="0"/>
              <a:t>column</a:t>
            </a:r>
            <a:r>
              <a:rPr lang="zh-CN" altLang="en-US" dirty="0"/>
              <a:t>或</a:t>
            </a:r>
            <a:r>
              <a:rPr lang="en-US" altLang="zh-CN" dirty="0"/>
              <a:t>index</a:t>
            </a:r>
            <a:r>
              <a:rPr lang="zh-CN" altLang="en-US" dirty="0"/>
              <a:t>标签的数据</a:t>
            </a:r>
            <a:endParaRPr lang="en-US" altLang="zh-CN" dirty="0"/>
          </a:p>
          <a:p>
            <a:pPr lvl="1"/>
            <a:r>
              <a:rPr lang="zh-CN" altLang="en-US" dirty="0"/>
              <a:t>使用一个</a:t>
            </a:r>
            <a:r>
              <a:rPr lang="en-US" altLang="zh-CN" dirty="0"/>
              <a:t>List</a:t>
            </a:r>
            <a:r>
              <a:rPr lang="zh-CN" altLang="en-US" dirty="0"/>
              <a:t>对象进行选择</a:t>
            </a:r>
            <a:endParaRPr lang="en-US" altLang="zh-CN" dirty="0"/>
          </a:p>
          <a:p>
            <a:pPr lvl="1"/>
            <a:r>
              <a:rPr lang="zh-CN" altLang="en-US" b="1" dirty="0"/>
              <a:t>使用一个</a:t>
            </a:r>
            <a:r>
              <a:rPr lang="en-US" altLang="zh-CN" b="1" dirty="0"/>
              <a:t>slice</a:t>
            </a:r>
            <a:r>
              <a:rPr lang="zh-CN" altLang="en-US" b="1" dirty="0"/>
              <a:t>进行选择</a:t>
            </a:r>
            <a:endParaRPr lang="en-US" altLang="zh-CN" b="1" dirty="0"/>
          </a:p>
        </p:txBody>
      </p:sp>
      <p:sp>
        <p:nvSpPr>
          <p:cNvPr id="27" name="Google Shape;619;p63"/>
          <p:cNvSpPr txBox="1"/>
          <p:nvPr/>
        </p:nvSpPr>
        <p:spPr>
          <a:xfrm>
            <a:off x="892200" y="2463324"/>
            <a:ext cx="7359600" cy="49856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lvl="0">
              <a:lnSpc>
                <a:spcPct val="135714"/>
              </a:lnSpc>
            </a:pPr>
            <a:r>
              <a:rPr lang="en" sz="1500" dirty="0" err="1">
                <a:solidFill>
                  <a:schemeClr val="dk1"/>
                </a:solidFill>
                <a:highlight>
                  <a:srgbClr val="FFFFFE"/>
                </a:highlight>
                <a:latin typeface="Consolas"/>
                <a:ea typeface="Consolas"/>
                <a:cs typeface="Consolas"/>
                <a:sym typeface="Consolas"/>
              </a:rPr>
              <a:t>elections.</a:t>
            </a:r>
            <a:r>
              <a:rPr lang="en" sz="1500" dirty="0" err="1">
                <a:solidFill>
                  <a:schemeClr val="accent3"/>
                </a:solidFill>
                <a:highlight>
                  <a:srgbClr val="FFFFFE"/>
                </a:highlight>
                <a:latin typeface="Consolas"/>
                <a:ea typeface="Consolas"/>
                <a:cs typeface="Consolas"/>
                <a:sym typeface="Consolas"/>
              </a:rPr>
              <a:t>loc</a:t>
            </a:r>
            <a:r>
              <a:rPr lang="en" sz="1500" dirty="0">
                <a:solidFill>
                  <a:schemeClr val="dk1"/>
                </a:solidFill>
                <a:highlight>
                  <a:srgbClr val="FFFFFE"/>
                </a:highlight>
                <a:latin typeface="Consolas"/>
                <a:ea typeface="Consolas"/>
                <a:cs typeface="Consolas"/>
                <a:sym typeface="Consolas"/>
              </a:rPr>
              <a:t>[[</a:t>
            </a:r>
            <a:r>
              <a:rPr lang="en" sz="1500" dirty="0">
                <a:solidFill>
                  <a:srgbClr val="09885A"/>
                </a:solidFill>
                <a:highlight>
                  <a:srgbClr val="FFFFFE"/>
                </a:highlight>
                <a:latin typeface="Consolas"/>
                <a:ea typeface="Consolas"/>
                <a:cs typeface="Consolas"/>
                <a:sym typeface="Consolas"/>
              </a:rPr>
              <a:t>87</a:t>
            </a:r>
            <a:r>
              <a:rPr lang="en" sz="1500" dirty="0">
                <a:solidFill>
                  <a:schemeClr val="dk1"/>
                </a:solidFill>
                <a:highlight>
                  <a:srgbClr val="FFFFFE"/>
                </a:highlight>
                <a:latin typeface="Consolas"/>
                <a:ea typeface="Consolas"/>
                <a:cs typeface="Consolas"/>
                <a:sym typeface="Consolas"/>
              </a:rPr>
              <a:t>, </a:t>
            </a:r>
            <a:r>
              <a:rPr lang="en" sz="1500" dirty="0">
                <a:solidFill>
                  <a:srgbClr val="09885A"/>
                </a:solidFill>
                <a:highlight>
                  <a:srgbClr val="FFFFFE"/>
                </a:highlight>
                <a:latin typeface="Consolas"/>
                <a:ea typeface="Consolas"/>
                <a:cs typeface="Consolas"/>
                <a:sym typeface="Consolas"/>
              </a:rPr>
              <a:t>25</a:t>
            </a:r>
            <a:r>
              <a:rPr lang="en" sz="1500" dirty="0">
                <a:solidFill>
                  <a:schemeClr val="dk1"/>
                </a:solidFill>
                <a:highlight>
                  <a:srgbClr val="FFFFFE"/>
                </a:highlight>
                <a:latin typeface="Consolas"/>
                <a:ea typeface="Consolas"/>
                <a:cs typeface="Consolas"/>
                <a:sym typeface="Consolas"/>
              </a:rPr>
              <a:t>, </a:t>
            </a:r>
            <a:r>
              <a:rPr lang="en" sz="1500" dirty="0">
                <a:solidFill>
                  <a:srgbClr val="09885A"/>
                </a:solidFill>
                <a:highlight>
                  <a:srgbClr val="FFFFFE"/>
                </a:highlight>
                <a:latin typeface="Consolas"/>
                <a:ea typeface="Consolas"/>
                <a:cs typeface="Consolas"/>
                <a:sym typeface="Consolas"/>
              </a:rPr>
              <a:t>179</a:t>
            </a:r>
            <a:r>
              <a:rPr lang="en" sz="1500" dirty="0">
                <a:solidFill>
                  <a:schemeClr val="dk1"/>
                </a:solidFill>
                <a:highlight>
                  <a:srgbClr val="FFFFFE"/>
                </a:highlight>
                <a:latin typeface="Consolas"/>
                <a:ea typeface="Consolas"/>
                <a:cs typeface="Consolas"/>
                <a:sym typeface="Consolas"/>
              </a:rPr>
              <a:t>], </a:t>
            </a:r>
            <a:r>
              <a:rPr lang="en" sz="1500" dirty="0">
                <a:solidFill>
                  <a:srgbClr val="A31515"/>
                </a:solidFill>
                <a:highlight>
                  <a:srgbClr val="FFFFFE"/>
                </a:highlight>
                <a:latin typeface="Consolas"/>
                <a:ea typeface="Consolas"/>
                <a:cs typeface="Consolas"/>
                <a:sym typeface="Consolas"/>
              </a:rPr>
              <a:t>"Popular vote"</a:t>
            </a:r>
            <a:r>
              <a:rPr lang="en" sz="1500" dirty="0">
                <a:solidFill>
                  <a:schemeClr val="dk1"/>
                </a:solidFill>
                <a:highlight>
                  <a:srgbClr val="FFFFFE"/>
                </a:highlight>
                <a:latin typeface="Consolas"/>
                <a:ea typeface="Consolas"/>
                <a:cs typeface="Consolas"/>
                <a:sym typeface="Consolas"/>
              </a:rPr>
              <a:t>:</a:t>
            </a:r>
            <a:r>
              <a:rPr lang="en" sz="1500" dirty="0">
                <a:solidFill>
                  <a:srgbClr val="A31515"/>
                </a:solidFill>
                <a:highlight>
                  <a:srgbClr val="FFFFFE"/>
                </a:highlight>
                <a:latin typeface="Consolas"/>
                <a:ea typeface="Consolas"/>
                <a:cs typeface="Consolas"/>
                <a:sym typeface="Consolas"/>
              </a:rPr>
              <a:t>"%"</a:t>
            </a:r>
            <a:r>
              <a:rPr lang="en" sz="1500" dirty="0">
                <a:solidFill>
                  <a:schemeClr val="dk1"/>
                </a:solidFill>
                <a:highlight>
                  <a:srgbClr val="FFFFFE"/>
                </a:highlight>
                <a:latin typeface="Consolas"/>
                <a:ea typeface="Consolas"/>
                <a:cs typeface="Consolas"/>
                <a:sym typeface="Consolas"/>
              </a:rPr>
              <a:t>]</a:t>
            </a:r>
          </a:p>
        </p:txBody>
      </p:sp>
      <p:pic>
        <p:nvPicPr>
          <p:cNvPr id="16" name="Google Shape;632;p64"/>
          <p:cNvPicPr preferRelativeResize="0"/>
          <p:nvPr/>
        </p:nvPicPr>
        <p:blipFill>
          <a:blip r:embed="rId2">
            <a:alphaModFix/>
          </a:blip>
          <a:stretch>
            <a:fillRect/>
          </a:stretch>
        </p:blipFill>
        <p:spPr>
          <a:xfrm>
            <a:off x="2808088" y="3158927"/>
            <a:ext cx="3505200" cy="1552575"/>
          </a:xfrm>
          <a:prstGeom prst="rect">
            <a:avLst/>
          </a:prstGeom>
          <a:noFill/>
          <a:ln>
            <a:noFill/>
          </a:ln>
        </p:spPr>
      </p:pic>
      <p:sp>
        <p:nvSpPr>
          <p:cNvPr id="17" name="Google Shape;634;p64"/>
          <p:cNvSpPr/>
          <p:nvPr/>
        </p:nvSpPr>
        <p:spPr>
          <a:xfrm rot="10800000">
            <a:off x="2632238" y="3480039"/>
            <a:ext cx="135600" cy="1155300"/>
          </a:xfrm>
          <a:prstGeom prst="rightBracket">
            <a:avLst>
              <a:gd name="adj" fmla="val 8333"/>
            </a:avLst>
          </a:prstGeom>
          <a:noFill/>
          <a:ln w="2857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8" name="Google Shape;635;p64"/>
          <p:cNvSpPr/>
          <p:nvPr/>
        </p:nvSpPr>
        <p:spPr>
          <a:xfrm>
            <a:off x="6408988" y="3235114"/>
            <a:ext cx="132900" cy="225000"/>
          </a:xfrm>
          <a:prstGeom prst="rightBracket">
            <a:avLst>
              <a:gd name="adj" fmla="val 8333"/>
            </a:avLst>
          </a:prstGeom>
          <a:no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9" name="Google Shape;636;p64"/>
          <p:cNvSpPr txBox="1"/>
          <p:nvPr/>
        </p:nvSpPr>
        <p:spPr>
          <a:xfrm>
            <a:off x="685988" y="3685114"/>
            <a:ext cx="1983900" cy="6156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kern="0" dirty="0">
                <a:solidFill>
                  <a:srgbClr val="000000"/>
                </a:solidFill>
                <a:latin typeface="Roboto Light"/>
                <a:ea typeface="Roboto Light"/>
                <a:cs typeface="Roboto Light"/>
                <a:sym typeface="Roboto Light"/>
              </a:rPr>
              <a:t>Select the rows with labels 87, 25, and 179.</a:t>
            </a:r>
            <a:endParaRPr sz="1400" kern="0" dirty="0">
              <a:solidFill>
                <a:srgbClr val="000000"/>
              </a:solidFill>
              <a:latin typeface="Roboto Light"/>
              <a:ea typeface="Roboto Light"/>
              <a:cs typeface="Roboto Light"/>
              <a:sym typeface="Roboto Light"/>
            </a:endParaRPr>
          </a:p>
        </p:txBody>
      </p:sp>
      <p:sp>
        <p:nvSpPr>
          <p:cNvPr id="20" name="Google Shape;637;p64"/>
          <p:cNvSpPr txBox="1"/>
          <p:nvPr/>
        </p:nvSpPr>
        <p:spPr>
          <a:xfrm>
            <a:off x="6582538" y="3006539"/>
            <a:ext cx="2403300" cy="6156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kern="0">
                <a:solidFill>
                  <a:srgbClr val="000000"/>
                </a:solidFill>
                <a:latin typeface="Roboto Light"/>
                <a:ea typeface="Roboto Light"/>
                <a:cs typeface="Roboto Light"/>
                <a:sym typeface="Roboto Light"/>
              </a:rPr>
              <a:t>Select all columns </a:t>
            </a:r>
            <a:r>
              <a:rPr lang="en" sz="1400" i="1" kern="0">
                <a:solidFill>
                  <a:srgbClr val="000000"/>
                </a:solidFill>
                <a:latin typeface="Roboto Light"/>
                <a:ea typeface="Roboto Light"/>
                <a:cs typeface="Roboto Light"/>
                <a:sym typeface="Roboto Light"/>
              </a:rPr>
              <a:t>starting</a:t>
            </a:r>
            <a:r>
              <a:rPr lang="en" sz="1400" kern="0">
                <a:solidFill>
                  <a:srgbClr val="000000"/>
                </a:solidFill>
                <a:latin typeface="Roboto Light"/>
                <a:ea typeface="Roboto Light"/>
                <a:cs typeface="Roboto Light"/>
                <a:sym typeface="Roboto Light"/>
              </a:rPr>
              <a:t> from "Popular vote" </a:t>
            </a:r>
            <a:r>
              <a:rPr lang="en" sz="1400" i="1" kern="0">
                <a:solidFill>
                  <a:srgbClr val="000000"/>
                </a:solidFill>
                <a:latin typeface="Roboto Light"/>
                <a:ea typeface="Roboto Light"/>
                <a:cs typeface="Roboto Light"/>
                <a:sym typeface="Roboto Light"/>
              </a:rPr>
              <a:t>until</a:t>
            </a:r>
            <a:r>
              <a:rPr lang="en" sz="1400" kern="0">
                <a:solidFill>
                  <a:srgbClr val="000000"/>
                </a:solidFill>
                <a:latin typeface="Roboto Light"/>
                <a:ea typeface="Roboto Light"/>
                <a:cs typeface="Roboto Light"/>
                <a:sym typeface="Roboto Light"/>
              </a:rPr>
              <a:t> "%".</a:t>
            </a:r>
            <a:endParaRPr sz="1400" kern="0">
              <a:solidFill>
                <a:srgbClr val="000000"/>
              </a:solidFill>
              <a:latin typeface="Roboto Light"/>
              <a:ea typeface="Roboto Light"/>
              <a:cs typeface="Roboto Light"/>
              <a:sym typeface="Roboto Light"/>
            </a:endParaRPr>
          </a:p>
        </p:txBody>
      </p:sp>
      <p:sp>
        <p:nvSpPr>
          <p:cNvPr id="21" name="Rectangle 20"/>
          <p:cNvSpPr/>
          <p:nvPr/>
        </p:nvSpPr>
        <p:spPr>
          <a:xfrm>
            <a:off x="4992227" y="1638541"/>
            <a:ext cx="4100545" cy="507831"/>
          </a:xfrm>
          <a:prstGeom prst="rect">
            <a:avLst/>
          </a:prstGeom>
        </p:spPr>
        <p:txBody>
          <a:bodyPr wrap="square">
            <a:spAutoFit/>
          </a:bodyPr>
          <a:lstStyle/>
          <a:p>
            <a:pPr algn="ct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思考：怎么选择所有</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行、所有列？</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Rectangle 27"/>
          <p:cNvSpPr/>
          <p:nvPr/>
        </p:nvSpPr>
        <p:spPr>
          <a:xfrm>
            <a:off x="4572000" y="1683567"/>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879764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1" grpId="0"/>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基于标签（</a:t>
            </a:r>
            <a:r>
              <a:rPr lang="en-US" altLang="zh-CN" dirty="0"/>
              <a:t>Label</a:t>
            </a:r>
            <a:r>
              <a:rPr lang="zh-CN" altLang="en-US" dirty="0"/>
              <a:t>）的数据选择：</a:t>
            </a:r>
            <a:r>
              <a:rPr lang="en-US" altLang="zh-CN" dirty="0">
                <a:solidFill>
                  <a:srgbClr val="C00000"/>
                </a:solidFill>
              </a:rPr>
              <a:t>.</a:t>
            </a:r>
            <a:r>
              <a:rPr lang="en-US" altLang="zh-CN" dirty="0" err="1">
                <a:solidFill>
                  <a:srgbClr val="C00000"/>
                </a:solidFill>
              </a:rPr>
              <a:t>loc</a:t>
            </a:r>
            <a:endParaRPr lang="en-US" dirty="0"/>
          </a:p>
        </p:txBody>
      </p:sp>
      <p:sp>
        <p:nvSpPr>
          <p:cNvPr id="3" name="Content Placeholder 2"/>
          <p:cNvSpPr>
            <a:spLocks noGrp="1"/>
          </p:cNvSpPr>
          <p:nvPr>
            <p:ph idx="1"/>
          </p:nvPr>
        </p:nvSpPr>
        <p:spPr/>
        <p:txBody>
          <a:bodyPr/>
          <a:lstStyle/>
          <a:p>
            <a:pPr>
              <a:spcBef>
                <a:spcPts val="600"/>
              </a:spcBef>
            </a:pPr>
            <a:r>
              <a:rPr lang="en-US" altLang="zh-CN" dirty="0" err="1">
                <a:solidFill>
                  <a:srgbClr val="C00000"/>
                </a:solidFill>
              </a:rPr>
              <a:t>df.loc</a:t>
            </a:r>
            <a:r>
              <a:rPr lang="en-US" altLang="zh-CN" dirty="0">
                <a:solidFill>
                  <a:srgbClr val="C00000"/>
                </a:solidFill>
              </a:rPr>
              <a:t>[index, </a:t>
            </a:r>
            <a:r>
              <a:rPr lang="en-US" altLang="zh-CN" dirty="0" err="1">
                <a:solidFill>
                  <a:srgbClr val="C00000"/>
                </a:solidFill>
              </a:rPr>
              <a:t>column_name</a:t>
            </a:r>
            <a:r>
              <a:rPr lang="en-US" altLang="zh-CN" dirty="0">
                <a:solidFill>
                  <a:srgbClr val="C00000"/>
                </a:solidFill>
              </a:rPr>
              <a:t>],</a:t>
            </a:r>
            <a:r>
              <a:rPr lang="zh-CN" altLang="en-US" dirty="0">
                <a:solidFill>
                  <a:srgbClr val="C00000"/>
                </a:solidFill>
              </a:rPr>
              <a:t>选取指定行和列的数据    </a:t>
            </a:r>
          </a:p>
          <a:p>
            <a:pPr>
              <a:spcBef>
                <a:spcPts val="600"/>
              </a:spcBef>
            </a:pPr>
            <a:r>
              <a:rPr lang="en-US" altLang="zh-CN" dirty="0" err="1"/>
              <a:t>df.loc</a:t>
            </a:r>
            <a:r>
              <a:rPr lang="en-US" altLang="zh-CN" dirty="0"/>
              <a:t>[0,'Team'] # 'Snow'    </a:t>
            </a:r>
          </a:p>
          <a:p>
            <a:pPr>
              <a:spcBef>
                <a:spcPts val="600"/>
              </a:spcBef>
            </a:pPr>
            <a:r>
              <a:rPr lang="en-US" altLang="zh-CN" dirty="0" err="1"/>
              <a:t>df.loc</a:t>
            </a:r>
            <a:r>
              <a:rPr lang="en-US" altLang="zh-CN" dirty="0"/>
              <a:t>[0:2, ['</a:t>
            </a:r>
            <a:r>
              <a:rPr lang="en-US" altLang="zh-CN" dirty="0" err="1"/>
              <a:t>name','age</a:t>
            </a:r>
            <a:r>
              <a:rPr lang="en-US" altLang="zh-CN" dirty="0"/>
              <a:t>']]          #</a:t>
            </a:r>
            <a:r>
              <a:rPr lang="zh-CN" altLang="en-US" dirty="0"/>
              <a:t>选取第</a:t>
            </a:r>
            <a:r>
              <a:rPr lang="en-US" altLang="zh-CN" dirty="0"/>
              <a:t>0</a:t>
            </a:r>
            <a:r>
              <a:rPr lang="zh-CN" altLang="en-US" dirty="0"/>
              <a:t>行到第</a:t>
            </a:r>
            <a:r>
              <a:rPr lang="en-US" altLang="zh-CN" dirty="0"/>
              <a:t>2</a:t>
            </a:r>
            <a:r>
              <a:rPr lang="zh-CN" altLang="en-US" dirty="0"/>
              <a:t>行，</a:t>
            </a:r>
            <a:r>
              <a:rPr lang="en-US" altLang="zh-CN" dirty="0"/>
              <a:t>name</a:t>
            </a:r>
            <a:r>
              <a:rPr lang="zh-CN" altLang="en-US" dirty="0"/>
              <a:t>列和</a:t>
            </a:r>
            <a:r>
              <a:rPr lang="en-US" altLang="zh-CN" dirty="0"/>
              <a:t>age</a:t>
            </a:r>
            <a:r>
              <a:rPr lang="zh-CN" altLang="en-US" dirty="0"/>
              <a:t>列的数据</a:t>
            </a:r>
            <a:r>
              <a:rPr lang="en-US" altLang="zh-CN" dirty="0"/>
              <a:t>, </a:t>
            </a:r>
            <a:r>
              <a:rPr lang="zh-CN" altLang="en-US" dirty="0"/>
              <a:t>注意这里的行选取是包含下标的。    </a:t>
            </a:r>
          </a:p>
          <a:p>
            <a:pPr>
              <a:spcBef>
                <a:spcPts val="600"/>
              </a:spcBef>
            </a:pPr>
            <a:r>
              <a:rPr lang="en-US" altLang="zh-CN" dirty="0" err="1"/>
              <a:t>df.loc</a:t>
            </a:r>
            <a:r>
              <a:rPr lang="en-US" altLang="zh-CN" dirty="0"/>
              <a:t>[[2,3],['</a:t>
            </a:r>
            <a:r>
              <a:rPr lang="en-US" altLang="zh-CN" dirty="0" err="1"/>
              <a:t>name','age</a:t>
            </a:r>
            <a:r>
              <a:rPr lang="en-US" altLang="zh-CN" dirty="0"/>
              <a:t>']]         #</a:t>
            </a:r>
            <a:r>
              <a:rPr lang="zh-CN" altLang="en-US" dirty="0"/>
              <a:t>选取指定的第</a:t>
            </a:r>
            <a:r>
              <a:rPr lang="en-US" altLang="zh-CN" dirty="0"/>
              <a:t>2</a:t>
            </a:r>
            <a:r>
              <a:rPr lang="zh-CN" altLang="en-US" dirty="0"/>
              <a:t>行和第</a:t>
            </a:r>
            <a:r>
              <a:rPr lang="en-US" altLang="zh-CN" dirty="0"/>
              <a:t>3</a:t>
            </a:r>
            <a:r>
              <a:rPr lang="zh-CN" altLang="en-US" dirty="0"/>
              <a:t>行，</a:t>
            </a:r>
            <a:r>
              <a:rPr lang="en-US" altLang="zh-CN" dirty="0"/>
              <a:t>name</a:t>
            </a:r>
            <a:r>
              <a:rPr lang="zh-CN" altLang="en-US" dirty="0"/>
              <a:t>和</a:t>
            </a:r>
            <a:r>
              <a:rPr lang="en-US" altLang="zh-CN" dirty="0"/>
              <a:t>age</a:t>
            </a:r>
            <a:r>
              <a:rPr lang="zh-CN" altLang="en-US" dirty="0"/>
              <a:t>列的数据    </a:t>
            </a:r>
          </a:p>
          <a:p>
            <a:pPr>
              <a:spcBef>
                <a:spcPts val="600"/>
              </a:spcBef>
            </a:pPr>
            <a:r>
              <a:rPr lang="en-US" altLang="zh-CN" dirty="0" err="1"/>
              <a:t>df.loc</a:t>
            </a:r>
            <a:r>
              <a:rPr lang="en-US" altLang="zh-CN" dirty="0"/>
              <a:t>[</a:t>
            </a:r>
            <a:r>
              <a:rPr lang="en-US" altLang="zh-CN" dirty="0" err="1"/>
              <a:t>df</a:t>
            </a:r>
            <a:r>
              <a:rPr lang="en-US" altLang="zh-CN" dirty="0"/>
              <a:t>['gender']=='</a:t>
            </a:r>
            <a:r>
              <a:rPr lang="en-US" altLang="zh-CN" dirty="0" err="1"/>
              <a:t>M','name</a:t>
            </a:r>
            <a:r>
              <a:rPr lang="en-US" altLang="zh-CN" dirty="0"/>
              <a:t>']     #</a:t>
            </a:r>
            <a:r>
              <a:rPr lang="zh-CN" altLang="en-US" dirty="0"/>
              <a:t>选取</a:t>
            </a:r>
            <a:r>
              <a:rPr lang="en-US" altLang="zh-CN" dirty="0"/>
              <a:t>gender</a:t>
            </a:r>
            <a:r>
              <a:rPr lang="zh-CN" altLang="en-US" dirty="0"/>
              <a:t>列是</a:t>
            </a:r>
            <a:r>
              <a:rPr lang="en-US" altLang="zh-CN" dirty="0"/>
              <a:t>M</a:t>
            </a:r>
            <a:r>
              <a:rPr lang="zh-CN" altLang="en-US" dirty="0"/>
              <a:t>，</a:t>
            </a:r>
            <a:r>
              <a:rPr lang="en-US" altLang="zh-CN" dirty="0"/>
              <a:t>name</a:t>
            </a:r>
            <a:r>
              <a:rPr lang="zh-CN" altLang="en-US" dirty="0"/>
              <a:t>列的数据    </a:t>
            </a:r>
          </a:p>
          <a:p>
            <a:pPr>
              <a:spcBef>
                <a:spcPts val="600"/>
              </a:spcBef>
            </a:pPr>
            <a:r>
              <a:rPr lang="en-US" altLang="zh-CN" dirty="0" err="1"/>
              <a:t>df.loc</a:t>
            </a:r>
            <a:r>
              <a:rPr lang="en-US" altLang="zh-CN" dirty="0"/>
              <a:t>[</a:t>
            </a:r>
            <a:r>
              <a:rPr lang="en-US" altLang="zh-CN" dirty="0" err="1"/>
              <a:t>df</a:t>
            </a:r>
            <a:r>
              <a:rPr lang="en-US" altLang="zh-CN" dirty="0"/>
              <a:t>['gender']=='M',['</a:t>
            </a:r>
            <a:r>
              <a:rPr lang="en-US" altLang="zh-CN" dirty="0" err="1"/>
              <a:t>name','age</a:t>
            </a:r>
            <a:r>
              <a:rPr lang="en-US" altLang="zh-CN" dirty="0"/>
              <a:t>']] #</a:t>
            </a:r>
            <a:r>
              <a:rPr lang="zh-CN" altLang="en-US" dirty="0"/>
              <a:t>选取</a:t>
            </a:r>
            <a:r>
              <a:rPr lang="en-US" altLang="zh-CN" dirty="0"/>
              <a:t>gender</a:t>
            </a:r>
            <a:r>
              <a:rPr lang="zh-CN" altLang="en-US" dirty="0"/>
              <a:t>列是</a:t>
            </a:r>
            <a:r>
              <a:rPr lang="en-US" altLang="zh-CN" dirty="0"/>
              <a:t>M</a:t>
            </a:r>
            <a:r>
              <a:rPr lang="zh-CN" altLang="en-US" dirty="0"/>
              <a:t>，</a:t>
            </a:r>
            <a:r>
              <a:rPr lang="en-US" altLang="zh-CN" dirty="0"/>
              <a:t>name</a:t>
            </a:r>
            <a:r>
              <a:rPr lang="zh-CN" altLang="en-US" dirty="0"/>
              <a:t>和</a:t>
            </a:r>
            <a:r>
              <a:rPr lang="en-US" altLang="zh-CN" dirty="0"/>
              <a:t>age</a:t>
            </a:r>
            <a:r>
              <a:rPr lang="zh-CN" altLang="en-US" dirty="0"/>
              <a:t>列的数据 </a:t>
            </a: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27</a:t>
            </a:fld>
            <a:endParaRPr lang="zh-CN" altLang="en-US"/>
          </a:p>
        </p:txBody>
      </p:sp>
    </p:spTree>
    <p:extLst>
      <p:ext uri="{BB962C8B-B14F-4D97-AF65-F5344CB8AC3E}">
        <p14:creationId xmlns:p14="http://schemas.microsoft.com/office/powerpoint/2010/main" val="952383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基于整数（</a:t>
            </a:r>
            <a:r>
              <a:rPr lang="en-US" altLang="zh-CN" dirty="0"/>
              <a:t>Integer</a:t>
            </a:r>
            <a:r>
              <a:rPr lang="zh-CN" altLang="en-US" dirty="0"/>
              <a:t>）的数据选择：</a:t>
            </a:r>
            <a:r>
              <a:rPr lang="en-US" altLang="zh-CN" dirty="0">
                <a:solidFill>
                  <a:srgbClr val="C00000"/>
                </a:solidFill>
              </a:rPr>
              <a:t>.</a:t>
            </a:r>
            <a:r>
              <a:rPr lang="en-US" altLang="zh-CN" dirty="0" err="1">
                <a:solidFill>
                  <a:srgbClr val="C00000"/>
                </a:solidFill>
              </a:rPr>
              <a:t>iloc</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28</a:t>
            </a:fld>
            <a:endParaRPr lang="zh-CN" altLang="en-US"/>
          </a:p>
        </p:txBody>
      </p:sp>
      <p:sp>
        <p:nvSpPr>
          <p:cNvPr id="9" name="Content Placeholder 2"/>
          <p:cNvSpPr>
            <a:spLocks noGrp="1"/>
          </p:cNvSpPr>
          <p:nvPr>
            <p:ph idx="1"/>
          </p:nvPr>
        </p:nvSpPr>
        <p:spPr>
          <a:xfrm>
            <a:off x="457200" y="819150"/>
            <a:ext cx="8229600" cy="3937000"/>
          </a:xfrm>
        </p:spPr>
        <p:txBody>
          <a:bodyPr/>
          <a:lstStyle/>
          <a:p>
            <a:r>
              <a:rPr lang="zh-CN" altLang="en-US" dirty="0"/>
              <a:t>从一个</a:t>
            </a:r>
            <a:r>
              <a:rPr lang="en-US" altLang="zh-CN" dirty="0" err="1"/>
              <a:t>DataFrame</a:t>
            </a:r>
            <a:r>
              <a:rPr lang="zh-CN" altLang="en-US" dirty="0"/>
              <a:t>对象中选择特定</a:t>
            </a:r>
            <a:r>
              <a:rPr lang="en-US" altLang="zh-CN" dirty="0"/>
              <a:t>column</a:t>
            </a:r>
            <a:r>
              <a:rPr lang="zh-CN" altLang="en-US" dirty="0"/>
              <a:t>或</a:t>
            </a:r>
            <a:r>
              <a:rPr lang="en-US" altLang="zh-CN" dirty="0"/>
              <a:t>index</a:t>
            </a:r>
            <a:r>
              <a:rPr lang="zh-CN" altLang="en-US" b="1" dirty="0">
                <a:solidFill>
                  <a:srgbClr val="C00000"/>
                </a:solidFill>
              </a:rPr>
              <a:t>位置</a:t>
            </a:r>
            <a:r>
              <a:rPr lang="zh-CN" altLang="en-US" dirty="0"/>
              <a:t>的数据</a:t>
            </a:r>
            <a:endParaRPr lang="en-US" altLang="zh-CN" dirty="0"/>
          </a:p>
          <a:p>
            <a:pPr lvl="1"/>
            <a:r>
              <a:rPr lang="zh-CN" altLang="en-US" b="1" dirty="0"/>
              <a:t>使用一个</a:t>
            </a:r>
            <a:r>
              <a:rPr lang="en-US" altLang="zh-CN" b="1" dirty="0"/>
              <a:t>List</a:t>
            </a:r>
            <a:r>
              <a:rPr lang="zh-CN" altLang="en-US" b="1" dirty="0"/>
              <a:t>对象进行选择</a:t>
            </a:r>
            <a:endParaRPr lang="en-US" altLang="zh-CN" b="1" dirty="0"/>
          </a:p>
          <a:p>
            <a:pPr lvl="1"/>
            <a:r>
              <a:rPr lang="zh-CN" altLang="en-US" dirty="0">
                <a:solidFill>
                  <a:schemeClr val="tx1">
                    <a:lumMod val="50000"/>
                    <a:lumOff val="50000"/>
                  </a:schemeClr>
                </a:solidFill>
              </a:rPr>
              <a:t>使用一个</a:t>
            </a:r>
            <a:r>
              <a:rPr lang="en-US" altLang="zh-CN" dirty="0">
                <a:solidFill>
                  <a:schemeClr val="tx1">
                    <a:lumMod val="50000"/>
                    <a:lumOff val="50000"/>
                  </a:schemeClr>
                </a:solidFill>
              </a:rPr>
              <a:t>slice</a:t>
            </a:r>
            <a:r>
              <a:rPr lang="zh-CN" altLang="en-US" dirty="0">
                <a:solidFill>
                  <a:schemeClr val="tx1">
                    <a:lumMod val="50000"/>
                    <a:lumOff val="50000"/>
                  </a:schemeClr>
                </a:solidFill>
              </a:rPr>
              <a:t>进行选择</a:t>
            </a:r>
            <a:endParaRPr lang="en-US" altLang="zh-CN" dirty="0">
              <a:solidFill>
                <a:schemeClr val="tx1">
                  <a:lumMod val="50000"/>
                  <a:lumOff val="50000"/>
                </a:schemeClr>
              </a:solidFill>
            </a:endParaRPr>
          </a:p>
          <a:p>
            <a:endParaRPr lang="en-US" altLang="zh-CN" dirty="0"/>
          </a:p>
          <a:p>
            <a:endParaRPr lang="en-US" altLang="zh-CN" dirty="0"/>
          </a:p>
          <a:p>
            <a:pPr>
              <a:spcBef>
                <a:spcPts val="600"/>
              </a:spcBef>
              <a:spcAft>
                <a:spcPts val="600"/>
              </a:spcAft>
            </a:pPr>
            <a:endParaRPr lang="en-US" altLang="zh-CN" dirty="0"/>
          </a:p>
        </p:txBody>
      </p:sp>
      <p:pic>
        <p:nvPicPr>
          <p:cNvPr id="42" name="Google Shape;713;p70"/>
          <p:cNvPicPr preferRelativeResize="0"/>
          <p:nvPr/>
        </p:nvPicPr>
        <p:blipFill>
          <a:blip r:embed="rId2">
            <a:alphaModFix/>
          </a:blip>
          <a:stretch>
            <a:fillRect/>
          </a:stretch>
        </p:blipFill>
        <p:spPr>
          <a:xfrm>
            <a:off x="2348100" y="2776076"/>
            <a:ext cx="4629150" cy="1619250"/>
          </a:xfrm>
          <a:prstGeom prst="rect">
            <a:avLst/>
          </a:prstGeom>
          <a:noFill/>
          <a:ln>
            <a:noFill/>
          </a:ln>
        </p:spPr>
      </p:pic>
      <p:sp>
        <p:nvSpPr>
          <p:cNvPr id="43" name="Google Shape;714;p70"/>
          <p:cNvSpPr/>
          <p:nvPr/>
        </p:nvSpPr>
        <p:spPr>
          <a:xfrm rot="10800000">
            <a:off x="2212500" y="3167526"/>
            <a:ext cx="135600" cy="1155300"/>
          </a:xfrm>
          <a:prstGeom prst="rightBracket">
            <a:avLst>
              <a:gd name="adj" fmla="val 8333"/>
            </a:avLst>
          </a:prstGeom>
          <a:noFill/>
          <a:ln w="2857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4" name="Google Shape;715;p70"/>
          <p:cNvSpPr txBox="1"/>
          <p:nvPr/>
        </p:nvSpPr>
        <p:spPr>
          <a:xfrm>
            <a:off x="457200" y="3437376"/>
            <a:ext cx="1983900" cy="6156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kern="0">
                <a:solidFill>
                  <a:srgbClr val="000000"/>
                </a:solidFill>
                <a:latin typeface="Roboto Light"/>
                <a:ea typeface="Roboto Light"/>
                <a:cs typeface="Roboto Light"/>
                <a:sym typeface="Roboto Light"/>
              </a:rPr>
              <a:t>Select the rows at positions 1, 2, and 3.</a:t>
            </a:r>
            <a:endParaRPr sz="1400" kern="0">
              <a:solidFill>
                <a:srgbClr val="000000"/>
              </a:solidFill>
              <a:latin typeface="Roboto Light"/>
              <a:ea typeface="Roboto Light"/>
              <a:cs typeface="Roboto Light"/>
              <a:sym typeface="Roboto Light"/>
            </a:endParaRPr>
          </a:p>
        </p:txBody>
      </p:sp>
      <p:sp>
        <p:nvSpPr>
          <p:cNvPr id="45" name="Google Shape;716;p70"/>
          <p:cNvSpPr/>
          <p:nvPr/>
        </p:nvSpPr>
        <p:spPr>
          <a:xfrm>
            <a:off x="6977250" y="2892576"/>
            <a:ext cx="132900" cy="225000"/>
          </a:xfrm>
          <a:prstGeom prst="rightBracket">
            <a:avLst>
              <a:gd name="adj" fmla="val 8333"/>
            </a:avLst>
          </a:prstGeom>
          <a:no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6" name="Google Shape;717;p70"/>
          <p:cNvSpPr txBox="1"/>
          <p:nvPr/>
        </p:nvSpPr>
        <p:spPr>
          <a:xfrm>
            <a:off x="7175375" y="2697276"/>
            <a:ext cx="1702500" cy="615523"/>
          </a:xfrm>
          <a:prstGeom prst="rect">
            <a:avLst/>
          </a:prstGeom>
          <a:noFill/>
          <a:ln>
            <a:noFill/>
          </a:ln>
        </p:spPr>
        <p:txBody>
          <a:bodyPr spcFirstLastPara="1" wrap="square" lIns="91425" tIns="91425" rIns="91425" bIns="91425" anchor="t" anchorCtr="0">
            <a:spAutoFit/>
          </a:bodyPr>
          <a:lstStyle/>
          <a:p>
            <a:pPr lvl="0"/>
            <a:r>
              <a:rPr lang="en" sz="1400" dirty="0">
                <a:latin typeface="Roboto Light"/>
                <a:ea typeface="Roboto Light"/>
                <a:cs typeface="Roboto Light"/>
                <a:sym typeface="Roboto Light"/>
              </a:rPr>
              <a:t>Select the columns at positions 0, 1, and 2.</a:t>
            </a:r>
          </a:p>
        </p:txBody>
      </p:sp>
      <p:sp>
        <p:nvSpPr>
          <p:cNvPr id="10" name="Google Shape;709;p70"/>
          <p:cNvSpPr txBox="1"/>
          <p:nvPr/>
        </p:nvSpPr>
        <p:spPr>
          <a:xfrm>
            <a:off x="1927038" y="2017901"/>
            <a:ext cx="5050212" cy="561342"/>
          </a:xfrm>
          <a:prstGeom prst="rect">
            <a:avLst/>
          </a:prstGeom>
          <a:solidFill>
            <a:schemeClr val="bg1"/>
          </a:solidFill>
          <a:ln>
            <a:solidFill>
              <a:srgbClr val="0D5294"/>
            </a:solidFill>
          </a:ln>
        </p:spPr>
        <p:txBody>
          <a:bodyPr spcFirstLastPara="1" wrap="square" lIns="91425" tIns="91425" rIns="91425" bIns="91425" anchor="t" anchorCtr="0">
            <a:spAutoFit/>
          </a:bodyPr>
          <a:lstStyle/>
          <a:p>
            <a:pPr lvl="0" algn="ctr">
              <a:lnSpc>
                <a:spcPct val="135714"/>
              </a:lnSpc>
            </a:pPr>
            <a:r>
              <a:rPr lang="pt-BR" dirty="0" err="1">
                <a:solidFill>
                  <a:schemeClr val="dk1"/>
                </a:solidFill>
                <a:highlight>
                  <a:srgbClr val="FFFFFE"/>
                </a:highlight>
                <a:latin typeface="Consolas"/>
                <a:ea typeface="Consolas"/>
                <a:cs typeface="Consolas"/>
                <a:sym typeface="Consolas"/>
              </a:rPr>
              <a:t>elections.</a:t>
            </a:r>
            <a:r>
              <a:rPr lang="pt-BR" dirty="0" err="1">
                <a:solidFill>
                  <a:schemeClr val="accent3"/>
                </a:solidFill>
                <a:highlight>
                  <a:srgbClr val="FFFFFE"/>
                </a:highlight>
                <a:latin typeface="Consolas"/>
                <a:ea typeface="Consolas"/>
                <a:cs typeface="Consolas"/>
                <a:sym typeface="Consolas"/>
              </a:rPr>
              <a:t>iloc</a:t>
            </a:r>
            <a:r>
              <a:rPr lang="pt-BR" dirty="0">
                <a:solidFill>
                  <a:schemeClr val="dk1"/>
                </a:solidFill>
                <a:highlight>
                  <a:srgbClr val="FFFFFE"/>
                </a:highlight>
                <a:latin typeface="Consolas"/>
                <a:ea typeface="Consolas"/>
                <a:cs typeface="Consolas"/>
                <a:sym typeface="Consolas"/>
              </a:rPr>
              <a:t>[[</a:t>
            </a:r>
            <a:r>
              <a:rPr lang="pt-BR" dirty="0">
                <a:solidFill>
                  <a:srgbClr val="09885A"/>
                </a:solidFill>
                <a:highlight>
                  <a:srgbClr val="FFFFFE"/>
                </a:highlight>
                <a:latin typeface="Consolas"/>
                <a:ea typeface="Consolas"/>
                <a:cs typeface="Consolas"/>
                <a:sym typeface="Consolas"/>
              </a:rPr>
              <a:t>1</a:t>
            </a:r>
            <a:r>
              <a:rPr lang="pt-BR" dirty="0">
                <a:solidFill>
                  <a:schemeClr val="dk1"/>
                </a:solidFill>
                <a:highlight>
                  <a:srgbClr val="FFFFFE"/>
                </a:highlight>
                <a:latin typeface="Consolas"/>
                <a:ea typeface="Consolas"/>
                <a:cs typeface="Consolas"/>
                <a:sym typeface="Consolas"/>
              </a:rPr>
              <a:t>, </a:t>
            </a:r>
            <a:r>
              <a:rPr lang="pt-BR" dirty="0">
                <a:solidFill>
                  <a:srgbClr val="09885A"/>
                </a:solidFill>
                <a:highlight>
                  <a:srgbClr val="FFFFFE"/>
                </a:highlight>
                <a:latin typeface="Consolas"/>
                <a:ea typeface="Consolas"/>
                <a:cs typeface="Consolas"/>
                <a:sym typeface="Consolas"/>
              </a:rPr>
              <a:t>2</a:t>
            </a:r>
            <a:r>
              <a:rPr lang="pt-BR" dirty="0">
                <a:solidFill>
                  <a:schemeClr val="dk1"/>
                </a:solidFill>
                <a:highlight>
                  <a:srgbClr val="FFFFFE"/>
                </a:highlight>
                <a:latin typeface="Consolas"/>
                <a:ea typeface="Consolas"/>
                <a:cs typeface="Consolas"/>
                <a:sym typeface="Consolas"/>
              </a:rPr>
              <a:t>, </a:t>
            </a:r>
            <a:r>
              <a:rPr lang="pt-BR" dirty="0">
                <a:solidFill>
                  <a:srgbClr val="09885A"/>
                </a:solidFill>
                <a:highlight>
                  <a:srgbClr val="FFFFFE"/>
                </a:highlight>
                <a:latin typeface="Consolas"/>
                <a:ea typeface="Consolas"/>
                <a:cs typeface="Consolas"/>
                <a:sym typeface="Consolas"/>
              </a:rPr>
              <a:t>3</a:t>
            </a:r>
            <a:r>
              <a:rPr lang="pt-BR" dirty="0">
                <a:solidFill>
                  <a:schemeClr val="dk1"/>
                </a:solidFill>
                <a:highlight>
                  <a:srgbClr val="FFFFFE"/>
                </a:highlight>
                <a:latin typeface="Consolas"/>
                <a:ea typeface="Consolas"/>
                <a:cs typeface="Consolas"/>
                <a:sym typeface="Consolas"/>
              </a:rPr>
              <a:t>], [</a:t>
            </a:r>
            <a:r>
              <a:rPr lang="pt-BR" dirty="0">
                <a:solidFill>
                  <a:srgbClr val="09885A"/>
                </a:solidFill>
                <a:highlight>
                  <a:srgbClr val="FFFFFE"/>
                </a:highlight>
                <a:latin typeface="Consolas"/>
                <a:ea typeface="Consolas"/>
                <a:cs typeface="Consolas"/>
                <a:sym typeface="Consolas"/>
              </a:rPr>
              <a:t>0</a:t>
            </a:r>
            <a:r>
              <a:rPr lang="pt-BR" dirty="0">
                <a:solidFill>
                  <a:schemeClr val="dk1"/>
                </a:solidFill>
                <a:highlight>
                  <a:srgbClr val="FFFFFE"/>
                </a:highlight>
                <a:latin typeface="Consolas"/>
                <a:ea typeface="Consolas"/>
                <a:cs typeface="Consolas"/>
                <a:sym typeface="Consolas"/>
              </a:rPr>
              <a:t>, </a:t>
            </a:r>
            <a:r>
              <a:rPr lang="pt-BR" dirty="0">
                <a:solidFill>
                  <a:srgbClr val="09885A"/>
                </a:solidFill>
                <a:highlight>
                  <a:srgbClr val="FFFFFE"/>
                </a:highlight>
                <a:latin typeface="Consolas"/>
                <a:ea typeface="Consolas"/>
                <a:cs typeface="Consolas"/>
                <a:sym typeface="Consolas"/>
              </a:rPr>
              <a:t>1</a:t>
            </a:r>
            <a:r>
              <a:rPr lang="pt-BR" dirty="0">
                <a:solidFill>
                  <a:schemeClr val="dk1"/>
                </a:solidFill>
                <a:highlight>
                  <a:srgbClr val="FFFFFE"/>
                </a:highlight>
                <a:latin typeface="Consolas"/>
                <a:ea typeface="Consolas"/>
                <a:cs typeface="Consolas"/>
                <a:sym typeface="Consolas"/>
              </a:rPr>
              <a:t>, </a:t>
            </a:r>
            <a:r>
              <a:rPr lang="pt-BR" dirty="0">
                <a:solidFill>
                  <a:srgbClr val="09885A"/>
                </a:solidFill>
                <a:highlight>
                  <a:srgbClr val="FFFFFE"/>
                </a:highlight>
                <a:latin typeface="Consolas"/>
                <a:ea typeface="Consolas"/>
                <a:cs typeface="Consolas"/>
                <a:sym typeface="Consolas"/>
              </a:rPr>
              <a:t>2</a:t>
            </a:r>
            <a:r>
              <a:rPr lang="pt-BR" dirty="0">
                <a:solidFill>
                  <a:schemeClr val="dk1"/>
                </a:solidFill>
                <a:highlight>
                  <a:srgbClr val="FFFFFE"/>
                </a:highlight>
                <a:latin typeface="Consolas"/>
                <a:ea typeface="Consolas"/>
                <a:cs typeface="Consolas"/>
                <a:sym typeface="Consolas"/>
              </a:rPr>
              <a:t>]]</a:t>
            </a:r>
          </a:p>
        </p:txBody>
      </p:sp>
    </p:spTree>
    <p:extLst>
      <p:ext uri="{BB962C8B-B14F-4D97-AF65-F5344CB8AC3E}">
        <p14:creationId xmlns:p14="http://schemas.microsoft.com/office/powerpoint/2010/main" val="997990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基于整数（</a:t>
            </a:r>
            <a:r>
              <a:rPr lang="en-US" altLang="zh-CN" dirty="0"/>
              <a:t>Integer</a:t>
            </a:r>
            <a:r>
              <a:rPr lang="zh-CN" altLang="en-US" dirty="0"/>
              <a:t>）的数据选择：</a:t>
            </a:r>
            <a:r>
              <a:rPr lang="en-US" altLang="zh-CN" dirty="0">
                <a:solidFill>
                  <a:srgbClr val="C00000"/>
                </a:solidFill>
              </a:rPr>
              <a:t>.</a:t>
            </a:r>
            <a:r>
              <a:rPr lang="en-US" altLang="zh-CN" dirty="0" err="1">
                <a:solidFill>
                  <a:srgbClr val="C00000"/>
                </a:solidFill>
              </a:rPr>
              <a:t>iloc</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29</a:t>
            </a:fld>
            <a:endParaRPr lang="zh-CN" altLang="en-US"/>
          </a:p>
        </p:txBody>
      </p:sp>
      <p:sp>
        <p:nvSpPr>
          <p:cNvPr id="9" name="Content Placeholder 2"/>
          <p:cNvSpPr>
            <a:spLocks noGrp="1"/>
          </p:cNvSpPr>
          <p:nvPr>
            <p:ph idx="1"/>
          </p:nvPr>
        </p:nvSpPr>
        <p:spPr>
          <a:xfrm>
            <a:off x="457200" y="819150"/>
            <a:ext cx="8229600" cy="3937000"/>
          </a:xfrm>
        </p:spPr>
        <p:txBody>
          <a:bodyPr/>
          <a:lstStyle/>
          <a:p>
            <a:r>
              <a:rPr lang="zh-CN" altLang="en-US" dirty="0"/>
              <a:t>从一个</a:t>
            </a:r>
            <a:r>
              <a:rPr lang="en-US" altLang="zh-CN" dirty="0" err="1"/>
              <a:t>DataFrame</a:t>
            </a:r>
            <a:r>
              <a:rPr lang="zh-CN" altLang="en-US" dirty="0"/>
              <a:t>对象中选择特定</a:t>
            </a:r>
            <a:r>
              <a:rPr lang="en-US" altLang="zh-CN" dirty="0"/>
              <a:t>column</a:t>
            </a:r>
            <a:r>
              <a:rPr lang="zh-CN" altLang="en-US" dirty="0"/>
              <a:t>或</a:t>
            </a:r>
            <a:r>
              <a:rPr lang="en-US" altLang="zh-CN" dirty="0"/>
              <a:t>index</a:t>
            </a:r>
            <a:r>
              <a:rPr lang="zh-CN" altLang="en-US" b="1" dirty="0">
                <a:solidFill>
                  <a:srgbClr val="C00000"/>
                </a:solidFill>
              </a:rPr>
              <a:t>位置</a:t>
            </a:r>
            <a:r>
              <a:rPr lang="zh-CN" altLang="en-US" dirty="0"/>
              <a:t>的数据</a:t>
            </a:r>
            <a:endParaRPr lang="en-US" altLang="zh-CN" dirty="0"/>
          </a:p>
          <a:p>
            <a:pPr lvl="1"/>
            <a:r>
              <a:rPr lang="zh-CN" altLang="en-US" dirty="0"/>
              <a:t>使用一个</a:t>
            </a:r>
            <a:r>
              <a:rPr lang="en-US" altLang="zh-CN" dirty="0"/>
              <a:t>List</a:t>
            </a:r>
            <a:r>
              <a:rPr lang="zh-CN" altLang="en-US" dirty="0"/>
              <a:t>对象进行选择</a:t>
            </a:r>
            <a:endParaRPr lang="en-US" altLang="zh-CN" dirty="0"/>
          </a:p>
          <a:p>
            <a:pPr lvl="1"/>
            <a:r>
              <a:rPr lang="zh-CN" altLang="en-US" b="1" dirty="0"/>
              <a:t>使用一个</a:t>
            </a:r>
            <a:r>
              <a:rPr lang="en-US" altLang="zh-CN" b="1" dirty="0"/>
              <a:t>slice</a:t>
            </a:r>
            <a:r>
              <a:rPr lang="zh-CN" altLang="en-US" b="1" dirty="0"/>
              <a:t>进行选择</a:t>
            </a:r>
            <a:endParaRPr lang="en-US" altLang="zh-CN" b="1" dirty="0"/>
          </a:p>
          <a:p>
            <a:endParaRPr lang="en-US" altLang="zh-CN" dirty="0"/>
          </a:p>
          <a:p>
            <a:endParaRPr lang="en-US" altLang="zh-CN" dirty="0"/>
          </a:p>
          <a:p>
            <a:pPr>
              <a:spcBef>
                <a:spcPts val="600"/>
              </a:spcBef>
              <a:spcAft>
                <a:spcPts val="600"/>
              </a:spcAft>
            </a:pPr>
            <a:endParaRPr lang="en-US" altLang="zh-CN" dirty="0"/>
          </a:p>
        </p:txBody>
      </p:sp>
      <p:pic>
        <p:nvPicPr>
          <p:cNvPr id="42" name="Google Shape;713;p70"/>
          <p:cNvPicPr preferRelativeResize="0"/>
          <p:nvPr/>
        </p:nvPicPr>
        <p:blipFill>
          <a:blip r:embed="rId2">
            <a:alphaModFix/>
          </a:blip>
          <a:stretch>
            <a:fillRect/>
          </a:stretch>
        </p:blipFill>
        <p:spPr>
          <a:xfrm>
            <a:off x="2348100" y="2776076"/>
            <a:ext cx="4629150" cy="1619250"/>
          </a:xfrm>
          <a:prstGeom prst="rect">
            <a:avLst/>
          </a:prstGeom>
          <a:noFill/>
          <a:ln>
            <a:noFill/>
          </a:ln>
        </p:spPr>
      </p:pic>
      <p:sp>
        <p:nvSpPr>
          <p:cNvPr id="43" name="Google Shape;714;p70"/>
          <p:cNvSpPr/>
          <p:nvPr/>
        </p:nvSpPr>
        <p:spPr>
          <a:xfrm rot="10800000">
            <a:off x="2212500" y="3167526"/>
            <a:ext cx="135600" cy="1155300"/>
          </a:xfrm>
          <a:prstGeom prst="rightBracket">
            <a:avLst>
              <a:gd name="adj" fmla="val 8333"/>
            </a:avLst>
          </a:prstGeom>
          <a:noFill/>
          <a:ln w="2857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4" name="Google Shape;715;p70"/>
          <p:cNvSpPr txBox="1"/>
          <p:nvPr/>
        </p:nvSpPr>
        <p:spPr>
          <a:xfrm>
            <a:off x="457200" y="3437376"/>
            <a:ext cx="1983900" cy="615600"/>
          </a:xfrm>
          <a:prstGeom prst="rect">
            <a:avLst/>
          </a:prstGeom>
          <a:noFill/>
          <a:ln>
            <a:noFill/>
          </a:ln>
        </p:spPr>
        <p:txBody>
          <a:bodyPr spcFirstLastPara="1" wrap="square" lIns="91425" tIns="91425" rIns="91425" bIns="91425" anchor="t" anchorCtr="0">
            <a:spAutoFit/>
          </a:bodyPr>
          <a:lstStyle/>
          <a:p>
            <a:pPr>
              <a:buClr>
                <a:srgbClr val="000000"/>
              </a:buClr>
              <a:buFont typeface="Arial"/>
              <a:buNone/>
            </a:pPr>
            <a:r>
              <a:rPr lang="en" sz="1400" kern="0">
                <a:solidFill>
                  <a:srgbClr val="000000"/>
                </a:solidFill>
                <a:latin typeface="Roboto Light"/>
                <a:ea typeface="Roboto Light"/>
                <a:cs typeface="Roboto Light"/>
                <a:sym typeface="Roboto Light"/>
              </a:rPr>
              <a:t>Select the rows at positions 1, 2, and 3.</a:t>
            </a:r>
            <a:endParaRPr sz="1400" kern="0">
              <a:solidFill>
                <a:srgbClr val="000000"/>
              </a:solidFill>
              <a:latin typeface="Roboto Light"/>
              <a:ea typeface="Roboto Light"/>
              <a:cs typeface="Roboto Light"/>
              <a:sym typeface="Roboto Light"/>
            </a:endParaRPr>
          </a:p>
        </p:txBody>
      </p:sp>
      <p:sp>
        <p:nvSpPr>
          <p:cNvPr id="45" name="Google Shape;716;p70"/>
          <p:cNvSpPr/>
          <p:nvPr/>
        </p:nvSpPr>
        <p:spPr>
          <a:xfrm>
            <a:off x="6977250" y="2892576"/>
            <a:ext cx="132900" cy="225000"/>
          </a:xfrm>
          <a:prstGeom prst="rightBracket">
            <a:avLst>
              <a:gd name="adj" fmla="val 8333"/>
            </a:avLst>
          </a:prstGeom>
          <a:no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6" name="Google Shape;717;p70"/>
          <p:cNvSpPr txBox="1"/>
          <p:nvPr/>
        </p:nvSpPr>
        <p:spPr>
          <a:xfrm>
            <a:off x="7175375" y="2697276"/>
            <a:ext cx="1702500" cy="1908600"/>
          </a:xfrm>
          <a:prstGeom prst="rect">
            <a:avLst/>
          </a:prstGeom>
          <a:noFill/>
          <a:ln>
            <a:noFill/>
          </a:ln>
        </p:spPr>
        <p:txBody>
          <a:bodyPr spcFirstLastPara="1" wrap="square" lIns="91425" tIns="91425" rIns="91425" bIns="91425" anchor="t" anchorCtr="0">
            <a:spAutoFit/>
          </a:bodyPr>
          <a:lstStyle/>
          <a:p>
            <a:pPr>
              <a:buClr>
                <a:srgbClr val="000000"/>
              </a:buClr>
              <a:buSzPts val="1100"/>
              <a:buFont typeface="Arial"/>
              <a:buNone/>
            </a:pPr>
            <a:r>
              <a:rPr lang="en" sz="1400" kern="0" dirty="0">
                <a:solidFill>
                  <a:srgbClr val="000000"/>
                </a:solidFill>
                <a:latin typeface="Roboto Light"/>
                <a:ea typeface="Roboto Light"/>
                <a:cs typeface="Roboto Light"/>
                <a:sym typeface="Roboto Light"/>
              </a:rPr>
              <a:t>Select </a:t>
            </a:r>
            <a:r>
              <a:rPr lang="en" sz="1400" i="1" kern="0" dirty="0">
                <a:solidFill>
                  <a:srgbClr val="000000"/>
                </a:solidFill>
                <a:latin typeface="Roboto Light"/>
                <a:ea typeface="Roboto Light"/>
                <a:cs typeface="Roboto Light"/>
                <a:sym typeface="Roboto Light"/>
              </a:rPr>
              <a:t>all</a:t>
            </a:r>
            <a:r>
              <a:rPr lang="en" sz="1400" kern="0" dirty="0">
                <a:solidFill>
                  <a:srgbClr val="000000"/>
                </a:solidFill>
                <a:latin typeface="Roboto Light"/>
                <a:ea typeface="Roboto Light"/>
                <a:cs typeface="Roboto Light"/>
                <a:sym typeface="Roboto Light"/>
              </a:rPr>
              <a:t> columns from integer 0 </a:t>
            </a:r>
            <a:r>
              <a:rPr lang="en" sz="1400" i="1" kern="0" dirty="0">
                <a:solidFill>
                  <a:srgbClr val="000000"/>
                </a:solidFill>
                <a:latin typeface="Roboto Light"/>
                <a:ea typeface="Roboto Light"/>
                <a:cs typeface="Roboto Light"/>
                <a:sym typeface="Roboto Light"/>
              </a:rPr>
              <a:t>to</a:t>
            </a:r>
            <a:r>
              <a:rPr lang="en" sz="1400" kern="0" dirty="0">
                <a:solidFill>
                  <a:srgbClr val="000000"/>
                </a:solidFill>
                <a:latin typeface="Roboto Light"/>
                <a:ea typeface="Roboto Light"/>
                <a:cs typeface="Roboto Light"/>
                <a:sym typeface="Roboto Light"/>
              </a:rPr>
              <a:t> integer 2.</a:t>
            </a:r>
            <a:endParaRPr sz="1400" kern="0" dirty="0">
              <a:solidFill>
                <a:srgbClr val="000000"/>
              </a:solidFill>
              <a:latin typeface="Roboto Light"/>
              <a:ea typeface="Roboto Light"/>
              <a:cs typeface="Roboto Light"/>
              <a:sym typeface="Roboto Light"/>
            </a:endParaRPr>
          </a:p>
          <a:p>
            <a:pPr>
              <a:buClr>
                <a:srgbClr val="000000"/>
              </a:buClr>
              <a:buSzPts val="1100"/>
              <a:buFont typeface="Arial"/>
              <a:buNone/>
            </a:pPr>
            <a:endParaRPr sz="1400" kern="0" dirty="0">
              <a:solidFill>
                <a:srgbClr val="000000"/>
              </a:solidFill>
              <a:latin typeface="Roboto Light"/>
              <a:ea typeface="Roboto Light"/>
              <a:cs typeface="Roboto Light"/>
              <a:sym typeface="Roboto Light"/>
            </a:endParaRPr>
          </a:p>
          <a:p>
            <a:pPr>
              <a:buClr>
                <a:srgbClr val="000000"/>
              </a:buClr>
              <a:buFont typeface="Arial"/>
              <a:buNone/>
            </a:pPr>
            <a:r>
              <a:rPr lang="en" sz="1400" kern="0" dirty="0">
                <a:solidFill>
                  <a:srgbClr val="000000"/>
                </a:solidFill>
                <a:latin typeface="Roboto Light"/>
                <a:ea typeface="Roboto Light"/>
                <a:cs typeface="Roboto Light"/>
                <a:sym typeface="Roboto Light"/>
              </a:rPr>
              <a:t>Remember: integer-based slicing is </a:t>
            </a:r>
            <a:r>
              <a:rPr lang="en" sz="1400" b="1" kern="0" dirty="0">
                <a:solidFill>
                  <a:srgbClr val="000000"/>
                </a:solidFill>
                <a:latin typeface="Roboto"/>
                <a:ea typeface="Roboto"/>
                <a:cs typeface="Roboto"/>
                <a:sym typeface="Roboto"/>
              </a:rPr>
              <a:t>right-end exclusive</a:t>
            </a:r>
            <a:r>
              <a:rPr lang="en" sz="1400" kern="0" dirty="0">
                <a:solidFill>
                  <a:srgbClr val="000000"/>
                </a:solidFill>
                <a:latin typeface="Roboto Light"/>
                <a:ea typeface="Roboto Light"/>
                <a:cs typeface="Roboto Light"/>
                <a:sym typeface="Roboto Light"/>
              </a:rPr>
              <a:t>!</a:t>
            </a:r>
            <a:endParaRPr sz="1400" kern="0" dirty="0">
              <a:solidFill>
                <a:srgbClr val="000000"/>
              </a:solidFill>
              <a:latin typeface="Roboto Light"/>
              <a:ea typeface="Roboto Light"/>
              <a:cs typeface="Roboto Light"/>
              <a:sym typeface="Roboto Light"/>
            </a:endParaRPr>
          </a:p>
        </p:txBody>
      </p:sp>
      <p:sp>
        <p:nvSpPr>
          <p:cNvPr id="47" name="Google Shape;709;p70"/>
          <p:cNvSpPr txBox="1"/>
          <p:nvPr/>
        </p:nvSpPr>
        <p:spPr>
          <a:xfrm>
            <a:off x="1927038" y="2017901"/>
            <a:ext cx="5050212" cy="561342"/>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lvl="0" indent="0" algn="ctr" rtl="0">
              <a:lnSpc>
                <a:spcPct val="135714"/>
              </a:lnSpc>
              <a:spcBef>
                <a:spcPts val="0"/>
              </a:spcBef>
              <a:spcAft>
                <a:spcPts val="0"/>
              </a:spcAft>
              <a:buNone/>
            </a:pPr>
            <a:r>
              <a:rPr lang="en">
                <a:solidFill>
                  <a:schemeClr val="dk1"/>
                </a:solidFill>
                <a:highlight>
                  <a:srgbClr val="FFFFFE"/>
                </a:highlight>
                <a:latin typeface="Consolas"/>
                <a:ea typeface="Consolas"/>
                <a:cs typeface="Consolas"/>
                <a:sym typeface="Consolas"/>
              </a:rPr>
              <a:t>elections.</a:t>
            </a:r>
            <a:r>
              <a:rPr lang="en">
                <a:solidFill>
                  <a:schemeClr val="accent3"/>
                </a:solidFill>
                <a:highlight>
                  <a:srgbClr val="FFFFFE"/>
                </a:highlight>
                <a:latin typeface="Consolas"/>
                <a:ea typeface="Consolas"/>
                <a:cs typeface="Consolas"/>
                <a:sym typeface="Consolas"/>
              </a:rPr>
              <a:t>iloc</a:t>
            </a:r>
            <a:r>
              <a:rPr lang="en" dirty="0">
                <a:solidFill>
                  <a:schemeClr val="dk1"/>
                </a:solidFill>
                <a:highlight>
                  <a:srgbClr val="FFFFFE"/>
                </a:highlight>
                <a:latin typeface="Consolas"/>
                <a:ea typeface="Consolas"/>
                <a:cs typeface="Consolas"/>
                <a:sym typeface="Consolas"/>
              </a:rPr>
              <a:t>[[</a:t>
            </a:r>
            <a:r>
              <a:rPr lang="en" dirty="0">
                <a:solidFill>
                  <a:srgbClr val="09885A"/>
                </a:solidFill>
                <a:highlight>
                  <a:srgbClr val="FFFFFE"/>
                </a:highlight>
                <a:latin typeface="Consolas"/>
                <a:ea typeface="Consolas"/>
                <a:cs typeface="Consolas"/>
                <a:sym typeface="Consolas"/>
              </a:rPr>
              <a:t>1</a:t>
            </a:r>
            <a:r>
              <a:rPr lang="en" dirty="0">
                <a:solidFill>
                  <a:schemeClr val="dk1"/>
                </a:solidFill>
                <a:highlight>
                  <a:srgbClr val="FFFFFE"/>
                </a:highlight>
                <a:latin typeface="Consolas"/>
                <a:ea typeface="Consolas"/>
                <a:cs typeface="Consolas"/>
                <a:sym typeface="Consolas"/>
              </a:rPr>
              <a:t>, </a:t>
            </a:r>
            <a:r>
              <a:rPr lang="en" dirty="0">
                <a:solidFill>
                  <a:srgbClr val="09885A"/>
                </a:solidFill>
                <a:highlight>
                  <a:srgbClr val="FFFFFE"/>
                </a:highlight>
                <a:latin typeface="Consolas"/>
                <a:ea typeface="Consolas"/>
                <a:cs typeface="Consolas"/>
                <a:sym typeface="Consolas"/>
              </a:rPr>
              <a:t>2</a:t>
            </a:r>
            <a:r>
              <a:rPr lang="en" dirty="0">
                <a:solidFill>
                  <a:schemeClr val="dk1"/>
                </a:solidFill>
                <a:highlight>
                  <a:srgbClr val="FFFFFE"/>
                </a:highlight>
                <a:latin typeface="Consolas"/>
                <a:ea typeface="Consolas"/>
                <a:cs typeface="Consolas"/>
                <a:sym typeface="Consolas"/>
              </a:rPr>
              <a:t>, </a:t>
            </a:r>
            <a:r>
              <a:rPr lang="en" dirty="0">
                <a:solidFill>
                  <a:srgbClr val="09885A"/>
                </a:solidFill>
                <a:highlight>
                  <a:srgbClr val="FFFFFE"/>
                </a:highlight>
                <a:latin typeface="Consolas"/>
                <a:ea typeface="Consolas"/>
                <a:cs typeface="Consolas"/>
                <a:sym typeface="Consolas"/>
              </a:rPr>
              <a:t>3</a:t>
            </a:r>
            <a:r>
              <a:rPr lang="en" dirty="0">
                <a:solidFill>
                  <a:schemeClr val="dk1"/>
                </a:solidFill>
                <a:highlight>
                  <a:srgbClr val="FFFFFE"/>
                </a:highlight>
                <a:latin typeface="Consolas"/>
                <a:ea typeface="Consolas"/>
                <a:cs typeface="Consolas"/>
                <a:sym typeface="Consolas"/>
              </a:rPr>
              <a:t>], </a:t>
            </a:r>
            <a:r>
              <a:rPr lang="en" dirty="0">
                <a:solidFill>
                  <a:srgbClr val="09885A"/>
                </a:solidFill>
                <a:highlight>
                  <a:srgbClr val="FFFFFE"/>
                </a:highlight>
                <a:latin typeface="Consolas"/>
                <a:ea typeface="Consolas"/>
                <a:cs typeface="Consolas"/>
                <a:sym typeface="Consolas"/>
              </a:rPr>
              <a:t>0</a:t>
            </a:r>
            <a:r>
              <a:rPr lang="en" dirty="0">
                <a:solidFill>
                  <a:schemeClr val="dk1"/>
                </a:solidFill>
                <a:highlight>
                  <a:srgbClr val="FFFFFE"/>
                </a:highlight>
                <a:latin typeface="Consolas"/>
                <a:ea typeface="Consolas"/>
                <a:cs typeface="Consolas"/>
                <a:sym typeface="Consolas"/>
              </a:rPr>
              <a:t>:</a:t>
            </a:r>
            <a:r>
              <a:rPr lang="en" dirty="0">
                <a:solidFill>
                  <a:srgbClr val="09885A"/>
                </a:solidFill>
                <a:highlight>
                  <a:srgbClr val="FFFFFE"/>
                </a:highlight>
                <a:latin typeface="Consolas"/>
                <a:ea typeface="Consolas"/>
                <a:cs typeface="Consolas"/>
                <a:sym typeface="Consolas"/>
              </a:rPr>
              <a:t>3</a:t>
            </a:r>
            <a:r>
              <a:rPr lang="en" dirty="0">
                <a:solidFill>
                  <a:schemeClr val="dk1"/>
                </a:solidFill>
                <a:highlight>
                  <a:srgbClr val="FFFFFE"/>
                </a:highlight>
                <a:latin typeface="Consolas"/>
                <a:ea typeface="Consolas"/>
                <a:cs typeface="Consolas"/>
                <a:sym typeface="Consolas"/>
              </a:rPr>
              <a:t>]</a:t>
            </a:r>
            <a:endParaRPr dirty="0">
              <a:solidFill>
                <a:schemeClr val="dk1"/>
              </a:solidFill>
              <a:highlight>
                <a:srgbClr val="FFFFFE"/>
              </a:highlight>
              <a:latin typeface="Consolas"/>
              <a:ea typeface="Consolas"/>
              <a:cs typeface="Consolas"/>
              <a:sym typeface="Consolas"/>
            </a:endParaRPr>
          </a:p>
        </p:txBody>
      </p:sp>
    </p:spTree>
    <p:extLst>
      <p:ext uri="{BB962C8B-B14F-4D97-AF65-F5344CB8AC3E}">
        <p14:creationId xmlns:p14="http://schemas.microsoft.com/office/powerpoint/2010/main" val="14972371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基于位置的数据选择：</a:t>
            </a:r>
            <a:r>
              <a:rPr lang="en-US" altLang="zh-CN" dirty="0">
                <a:solidFill>
                  <a:srgbClr val="C00000"/>
                </a:solidFill>
              </a:rPr>
              <a:t>.</a:t>
            </a:r>
            <a:r>
              <a:rPr lang="en-US" altLang="zh-CN" dirty="0" err="1">
                <a:solidFill>
                  <a:srgbClr val="C00000"/>
                </a:solidFill>
              </a:rPr>
              <a:t>iloc</a:t>
            </a:r>
            <a:endParaRPr lang="en-US" dirty="0">
              <a:solidFill>
                <a:srgbClr val="C00000"/>
              </a:solidFill>
            </a:endParaRPr>
          </a:p>
        </p:txBody>
      </p:sp>
      <p:sp>
        <p:nvSpPr>
          <p:cNvPr id="3" name="Content Placeholder 2"/>
          <p:cNvSpPr>
            <a:spLocks noGrp="1"/>
          </p:cNvSpPr>
          <p:nvPr>
            <p:ph idx="1"/>
          </p:nvPr>
        </p:nvSpPr>
        <p:spPr/>
        <p:txBody>
          <a:bodyPr/>
          <a:lstStyle/>
          <a:p>
            <a:r>
              <a:rPr lang="en-US" altLang="zh-CN" dirty="0" err="1"/>
              <a:t>iloc</a:t>
            </a:r>
            <a:endParaRPr lang="en-US" altLang="zh-CN" dirty="0"/>
          </a:p>
          <a:p>
            <a:r>
              <a:rPr lang="zh-CN" altLang="en-US" dirty="0"/>
              <a:t>在</a:t>
            </a:r>
            <a:r>
              <a:rPr lang="en-US" altLang="zh-CN" dirty="0"/>
              <a:t>column name</a:t>
            </a:r>
            <a:r>
              <a:rPr lang="zh-CN" altLang="en-US" dirty="0"/>
              <a:t>特别长或者</a:t>
            </a:r>
            <a:r>
              <a:rPr lang="en-US" altLang="zh-CN" dirty="0"/>
              <a:t>index</a:t>
            </a:r>
            <a:r>
              <a:rPr lang="zh-CN" altLang="en-US" dirty="0"/>
              <a:t>是时间序列等各种不方便输入的情况下，可以用</a:t>
            </a:r>
            <a:r>
              <a:rPr lang="en-US" altLang="zh-CN" dirty="0" err="1"/>
              <a:t>iloc</a:t>
            </a:r>
            <a:r>
              <a:rPr lang="en-US" altLang="zh-CN" dirty="0"/>
              <a:t> (</a:t>
            </a:r>
            <a:r>
              <a:rPr lang="en-US" altLang="zh-CN" dirty="0" err="1"/>
              <a:t>i</a:t>
            </a:r>
            <a:r>
              <a:rPr lang="en-US" altLang="zh-CN" dirty="0"/>
              <a:t> = index)</a:t>
            </a:r>
          </a:p>
          <a:p>
            <a:r>
              <a:rPr lang="en-US" altLang="zh-CN" dirty="0" err="1"/>
              <a:t>iloc</a:t>
            </a:r>
            <a:r>
              <a:rPr lang="zh-CN" altLang="en-US" dirty="0"/>
              <a:t>完全用数字来定位 </a:t>
            </a:r>
            <a:r>
              <a:rPr lang="en-US" altLang="zh-CN" dirty="0" err="1"/>
              <a:t>iloc</a:t>
            </a:r>
            <a:r>
              <a:rPr lang="en-US" altLang="zh-CN" dirty="0"/>
              <a:t>[</a:t>
            </a:r>
            <a:r>
              <a:rPr lang="en-US" altLang="zh-CN" dirty="0" err="1"/>
              <a:t>row_index</a:t>
            </a:r>
            <a:r>
              <a:rPr lang="en-US" altLang="zh-CN" dirty="0"/>
              <a:t>, </a:t>
            </a:r>
            <a:r>
              <a:rPr lang="en-US" altLang="zh-CN" dirty="0" err="1"/>
              <a:t>column_index</a:t>
            </a:r>
            <a:r>
              <a:rPr lang="en-US" altLang="zh-CN" dirty="0"/>
              <a:t>]</a:t>
            </a:r>
          </a:p>
          <a:p>
            <a:pPr lvl="1"/>
            <a:r>
              <a:rPr lang="en-US" altLang="zh-CN" dirty="0" err="1"/>
              <a:t>df.iloc</a:t>
            </a:r>
            <a:r>
              <a:rPr lang="en-US" altLang="zh-CN" dirty="0"/>
              <a:t>[0,0]        #</a:t>
            </a:r>
            <a:r>
              <a:rPr lang="zh-CN" altLang="en-US" dirty="0"/>
              <a:t>第</a:t>
            </a:r>
            <a:r>
              <a:rPr lang="en-US" altLang="zh-CN" dirty="0"/>
              <a:t>0</a:t>
            </a:r>
            <a:r>
              <a:rPr lang="zh-CN" altLang="en-US" dirty="0"/>
              <a:t>行第</a:t>
            </a:r>
            <a:r>
              <a:rPr lang="en-US" altLang="zh-CN" dirty="0"/>
              <a:t>0</a:t>
            </a:r>
            <a:r>
              <a:rPr lang="zh-CN" altLang="en-US" dirty="0"/>
              <a:t>列的数据，</a:t>
            </a:r>
            <a:r>
              <a:rPr lang="en-US" altLang="zh-CN" dirty="0"/>
              <a:t>'Snow'    </a:t>
            </a:r>
          </a:p>
          <a:p>
            <a:pPr lvl="1"/>
            <a:r>
              <a:rPr lang="en-US" altLang="zh-CN" dirty="0" err="1"/>
              <a:t>df.iloc</a:t>
            </a:r>
            <a:r>
              <a:rPr lang="en-US" altLang="zh-CN" dirty="0"/>
              <a:t>[1,2]        #</a:t>
            </a:r>
            <a:r>
              <a:rPr lang="zh-CN" altLang="en-US" dirty="0"/>
              <a:t>第</a:t>
            </a:r>
            <a:r>
              <a:rPr lang="en-US" altLang="zh-CN" dirty="0"/>
              <a:t>1</a:t>
            </a:r>
            <a:r>
              <a:rPr lang="zh-CN" altLang="en-US" dirty="0"/>
              <a:t>行第</a:t>
            </a:r>
            <a:r>
              <a:rPr lang="en-US" altLang="zh-CN" dirty="0"/>
              <a:t>2</a:t>
            </a:r>
            <a:r>
              <a:rPr lang="zh-CN" altLang="en-US" dirty="0"/>
              <a:t>列的数据，</a:t>
            </a:r>
            <a:r>
              <a:rPr lang="en-US" altLang="zh-CN" dirty="0"/>
              <a:t>32    </a:t>
            </a:r>
          </a:p>
          <a:p>
            <a:pPr lvl="1"/>
            <a:r>
              <a:rPr lang="en-US" altLang="zh-CN" dirty="0" err="1"/>
              <a:t>df.iloc</a:t>
            </a:r>
            <a:r>
              <a:rPr lang="en-US" altLang="zh-CN" dirty="0"/>
              <a:t>[[1,3],0:2]  #</a:t>
            </a:r>
            <a:r>
              <a:rPr lang="zh-CN" altLang="en-US" dirty="0"/>
              <a:t>第</a:t>
            </a:r>
            <a:r>
              <a:rPr lang="en-US" altLang="zh-CN" dirty="0"/>
              <a:t>1</a:t>
            </a:r>
            <a:r>
              <a:rPr lang="zh-CN" altLang="en-US" dirty="0"/>
              <a:t>行和第</a:t>
            </a:r>
            <a:r>
              <a:rPr lang="en-US" altLang="zh-CN" dirty="0"/>
              <a:t>3</a:t>
            </a:r>
            <a:r>
              <a:rPr lang="zh-CN" altLang="en-US" dirty="0"/>
              <a:t>行，从第</a:t>
            </a:r>
            <a:r>
              <a:rPr lang="en-US" altLang="zh-CN" dirty="0"/>
              <a:t>0</a:t>
            </a:r>
            <a:r>
              <a:rPr lang="zh-CN" altLang="en-US" dirty="0"/>
              <a:t>列到第</a:t>
            </a:r>
            <a:r>
              <a:rPr lang="en-US" altLang="zh-CN" dirty="0"/>
              <a:t>2</a:t>
            </a:r>
            <a:r>
              <a:rPr lang="zh-CN" altLang="en-US" dirty="0"/>
              <a:t>列（</a:t>
            </a:r>
            <a:r>
              <a:rPr lang="zh-CN" altLang="en-US" dirty="0">
                <a:solidFill>
                  <a:srgbClr val="C00000"/>
                </a:solidFill>
              </a:rPr>
              <a:t>不包含第</a:t>
            </a:r>
            <a:r>
              <a:rPr lang="en-US" altLang="zh-CN" dirty="0">
                <a:solidFill>
                  <a:srgbClr val="C00000"/>
                </a:solidFill>
              </a:rPr>
              <a:t>2</a:t>
            </a:r>
            <a:r>
              <a:rPr lang="zh-CN" altLang="en-US" dirty="0">
                <a:solidFill>
                  <a:srgbClr val="C00000"/>
                </a:solidFill>
              </a:rPr>
              <a:t>列</a:t>
            </a:r>
            <a:r>
              <a:rPr lang="zh-CN" altLang="en-US" dirty="0"/>
              <a:t>）的数据    </a:t>
            </a:r>
          </a:p>
          <a:p>
            <a:pPr lvl="1"/>
            <a:r>
              <a:rPr lang="en-US" altLang="zh-CN" dirty="0" err="1"/>
              <a:t>df.iloc</a:t>
            </a:r>
            <a:r>
              <a:rPr lang="en-US" altLang="zh-CN" dirty="0"/>
              <a:t>[1:3,[1,2]   #</a:t>
            </a:r>
            <a:r>
              <a:rPr lang="zh-CN" altLang="en-US" dirty="0"/>
              <a:t>第</a:t>
            </a:r>
            <a:r>
              <a:rPr lang="en-US" altLang="zh-CN" dirty="0"/>
              <a:t>1</a:t>
            </a:r>
            <a:r>
              <a:rPr lang="zh-CN" altLang="en-US" dirty="0"/>
              <a:t>行到第</a:t>
            </a:r>
            <a:r>
              <a:rPr lang="en-US" altLang="zh-CN" dirty="0"/>
              <a:t>3</a:t>
            </a:r>
            <a:r>
              <a:rPr lang="zh-CN" altLang="en-US" dirty="0"/>
              <a:t>行（不包含第</a:t>
            </a:r>
            <a:r>
              <a:rPr lang="en-US" altLang="zh-CN" dirty="0"/>
              <a:t>3</a:t>
            </a:r>
            <a:r>
              <a:rPr lang="zh-CN" altLang="en-US" dirty="0"/>
              <a:t>行），第</a:t>
            </a:r>
            <a:r>
              <a:rPr lang="en-US" altLang="zh-CN" dirty="0"/>
              <a:t>1</a:t>
            </a:r>
            <a:r>
              <a:rPr lang="zh-CN" altLang="en-US" dirty="0"/>
              <a:t>列和第</a:t>
            </a:r>
            <a:r>
              <a:rPr lang="en-US" altLang="zh-CN" dirty="0"/>
              <a:t>2</a:t>
            </a:r>
            <a:r>
              <a:rPr lang="zh-CN" altLang="en-US" dirty="0"/>
              <a:t>列数据 </a:t>
            </a:r>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30</a:t>
            </a:fld>
            <a:endParaRPr lang="zh-CN" altLang="en-US"/>
          </a:p>
        </p:txBody>
      </p:sp>
    </p:spTree>
    <p:extLst>
      <p:ext uri="{BB962C8B-B14F-4D97-AF65-F5344CB8AC3E}">
        <p14:creationId xmlns:p14="http://schemas.microsoft.com/office/powerpoint/2010/main" val="16336043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课堂练习</a:t>
            </a:r>
            <a:endParaRPr lang="en-US" dirty="0">
              <a:solidFill>
                <a:srgbClr val="C00000"/>
              </a:solidFill>
            </a:endParaRPr>
          </a:p>
        </p:txBody>
      </p:sp>
      <p:sp>
        <p:nvSpPr>
          <p:cNvPr id="3" name="Content Placeholder 2"/>
          <p:cNvSpPr>
            <a:spLocks noGrp="1"/>
          </p:cNvSpPr>
          <p:nvPr>
            <p:ph idx="1"/>
          </p:nvPr>
        </p:nvSpPr>
        <p:spPr/>
        <p:txBody>
          <a:bodyPr/>
          <a:lstStyle/>
          <a:p>
            <a:r>
              <a:rPr lang="zh-CN" altLang="en-US" dirty="0"/>
              <a:t>请辨析下面哪个数据选择操作会出语法错误？</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31</a:t>
            </a:fld>
            <a:endParaRPr lang="zh-CN" altLang="en-US"/>
          </a:p>
        </p:txBody>
      </p:sp>
      <p:pic>
        <p:nvPicPr>
          <p:cNvPr id="5" name="Google Shape;752;p74"/>
          <p:cNvPicPr preferRelativeResize="0"/>
          <p:nvPr/>
        </p:nvPicPr>
        <p:blipFill>
          <a:blip r:embed="rId3">
            <a:alphaModFix/>
          </a:blip>
          <a:stretch>
            <a:fillRect/>
          </a:stretch>
        </p:blipFill>
        <p:spPr>
          <a:xfrm>
            <a:off x="232058" y="2160297"/>
            <a:ext cx="2849275" cy="1712596"/>
          </a:xfrm>
          <a:prstGeom prst="rect">
            <a:avLst/>
          </a:prstGeom>
          <a:noFill/>
          <a:ln>
            <a:noFill/>
          </a:ln>
        </p:spPr>
      </p:pic>
      <p:sp>
        <p:nvSpPr>
          <p:cNvPr id="6" name="Google Shape;757;p74"/>
          <p:cNvSpPr txBox="1"/>
          <p:nvPr/>
        </p:nvSpPr>
        <p:spPr>
          <a:xfrm>
            <a:off x="1020402" y="1713493"/>
            <a:ext cx="1272600" cy="415500"/>
          </a:xfrm>
          <a:prstGeom prst="rect">
            <a:avLst/>
          </a:prstGeom>
          <a:solidFill>
            <a:schemeClr val="bg1"/>
          </a:solidFill>
          <a:ln>
            <a:noFill/>
          </a:ln>
        </p:spPr>
        <p:txBody>
          <a:bodyPr spcFirstLastPara="1" wrap="square" lIns="91425" tIns="91425" rIns="91425" bIns="91425" anchor="t" anchorCtr="0">
            <a:spAutoFit/>
          </a:bodyPr>
          <a:lstStyle/>
          <a:p>
            <a:pPr marL="0" lvl="0" indent="0" algn="ctr" rtl="0">
              <a:lnSpc>
                <a:spcPct val="135714"/>
              </a:lnSpc>
              <a:spcBef>
                <a:spcPts val="0"/>
              </a:spcBef>
              <a:spcAft>
                <a:spcPts val="0"/>
              </a:spcAft>
              <a:buNone/>
            </a:pPr>
            <a:r>
              <a:rPr lang="en" sz="1500">
                <a:solidFill>
                  <a:schemeClr val="dk1"/>
                </a:solidFill>
                <a:highlight>
                  <a:srgbClr val="FFFFFE"/>
                </a:highlight>
                <a:latin typeface="Consolas"/>
                <a:ea typeface="Consolas"/>
                <a:cs typeface="Consolas"/>
                <a:sym typeface="Consolas"/>
              </a:rPr>
              <a:t>ab_df</a:t>
            </a:r>
            <a:endParaRPr sz="1500" dirty="0">
              <a:solidFill>
                <a:schemeClr val="dk1"/>
              </a:solidFill>
              <a:highlight>
                <a:srgbClr val="FFFFFE"/>
              </a:highlight>
              <a:latin typeface="Consolas"/>
              <a:ea typeface="Consolas"/>
              <a:cs typeface="Consolas"/>
              <a:sym typeface="Consolas"/>
            </a:endParaRPr>
          </a:p>
        </p:txBody>
      </p:sp>
      <p:sp>
        <p:nvSpPr>
          <p:cNvPr id="7" name="Google Shape;755;p74"/>
          <p:cNvSpPr txBox="1"/>
          <p:nvPr/>
        </p:nvSpPr>
        <p:spPr>
          <a:xfrm>
            <a:off x="3708874" y="1253223"/>
            <a:ext cx="3300000" cy="415500"/>
          </a:xfrm>
          <a:prstGeom prst="rect">
            <a:avLst/>
          </a:prstGeom>
          <a:solidFill>
            <a:schemeClr val="bg1"/>
          </a:solid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500">
                <a:solidFill>
                  <a:schemeClr val="dk1"/>
                </a:solidFill>
                <a:highlight>
                  <a:srgbClr val="FFFFFE"/>
                </a:highlight>
                <a:latin typeface="Consolas"/>
                <a:ea typeface="Consolas"/>
                <a:cs typeface="Consolas"/>
                <a:sym typeface="Consolas"/>
              </a:rPr>
              <a:t>ab_df.</a:t>
            </a:r>
            <a:r>
              <a:rPr lang="en" sz="1500">
                <a:solidFill>
                  <a:schemeClr val="accent3"/>
                </a:solidFill>
                <a:highlight>
                  <a:srgbClr val="FFFFFE"/>
                </a:highlight>
                <a:latin typeface="Consolas"/>
                <a:ea typeface="Consolas"/>
                <a:cs typeface="Consolas"/>
                <a:sym typeface="Consolas"/>
              </a:rPr>
              <a:t>loc</a:t>
            </a:r>
            <a:r>
              <a:rPr lang="en" sz="1500" dirty="0">
                <a:solidFill>
                  <a:schemeClr val="dk1"/>
                </a:solidFill>
                <a:highlight>
                  <a:srgbClr val="FFFFFE"/>
                </a:highlight>
                <a:latin typeface="Consolas"/>
                <a:ea typeface="Consolas"/>
                <a:cs typeface="Consolas"/>
                <a:sym typeface="Consolas"/>
              </a:rPr>
              <a:t>[[</a:t>
            </a:r>
            <a:r>
              <a:rPr lang="en" sz="1500" dirty="0">
                <a:solidFill>
                  <a:srgbClr val="09885A"/>
                </a:solidFill>
                <a:highlight>
                  <a:srgbClr val="FFFFFE"/>
                </a:highlight>
                <a:latin typeface="Consolas"/>
                <a:ea typeface="Consolas"/>
                <a:cs typeface="Consolas"/>
                <a:sym typeface="Consolas"/>
              </a:rPr>
              <a:t>0</a:t>
            </a:r>
            <a:r>
              <a:rPr lang="en" sz="1500" dirty="0">
                <a:solidFill>
                  <a:schemeClr val="dk1"/>
                </a:solidFill>
                <a:highlight>
                  <a:srgbClr val="FFFFFE"/>
                </a:highlight>
                <a:latin typeface="Consolas"/>
                <a:ea typeface="Consolas"/>
                <a:cs typeface="Consolas"/>
                <a:sym typeface="Consolas"/>
              </a:rPr>
              <a:t>, </a:t>
            </a:r>
            <a:r>
              <a:rPr lang="en" sz="1500" dirty="0">
                <a:solidFill>
                  <a:srgbClr val="09885A"/>
                </a:solidFill>
                <a:highlight>
                  <a:srgbClr val="FFFFFE"/>
                </a:highlight>
                <a:latin typeface="Consolas"/>
                <a:ea typeface="Consolas"/>
                <a:cs typeface="Consolas"/>
                <a:sym typeface="Consolas"/>
              </a:rPr>
              <a:t>4</a:t>
            </a:r>
            <a:r>
              <a:rPr lang="en" sz="1500" dirty="0">
                <a:solidFill>
                  <a:schemeClr val="dk1"/>
                </a:solidFill>
                <a:highlight>
                  <a:srgbClr val="FFFFFE"/>
                </a:highlight>
                <a:latin typeface="Consolas"/>
                <a:ea typeface="Consolas"/>
                <a:cs typeface="Consolas"/>
                <a:sym typeface="Consolas"/>
              </a:rPr>
              <a:t>], :]</a:t>
            </a:r>
            <a:endParaRPr sz="1500" dirty="0">
              <a:solidFill>
                <a:schemeClr val="dk1"/>
              </a:solidFill>
              <a:highlight>
                <a:srgbClr val="FFFFFE"/>
              </a:highlight>
              <a:latin typeface="Consolas"/>
              <a:ea typeface="Consolas"/>
              <a:cs typeface="Consolas"/>
              <a:sym typeface="Consolas"/>
            </a:endParaRPr>
          </a:p>
        </p:txBody>
      </p:sp>
      <p:sp>
        <p:nvSpPr>
          <p:cNvPr id="8" name="Google Shape;756;p74"/>
          <p:cNvSpPr txBox="1"/>
          <p:nvPr/>
        </p:nvSpPr>
        <p:spPr>
          <a:xfrm>
            <a:off x="3708874" y="3009136"/>
            <a:ext cx="3300000" cy="415500"/>
          </a:xfrm>
          <a:prstGeom prst="rect">
            <a:avLst/>
          </a:prstGeom>
          <a:solidFill>
            <a:schemeClr val="bg1"/>
          </a:solid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500">
                <a:solidFill>
                  <a:schemeClr val="dk1"/>
                </a:solidFill>
                <a:highlight>
                  <a:srgbClr val="FFFFFE"/>
                </a:highlight>
                <a:latin typeface="Consolas"/>
                <a:ea typeface="Consolas"/>
                <a:cs typeface="Consolas"/>
                <a:sym typeface="Consolas"/>
              </a:rPr>
              <a:t>ab_df.</a:t>
            </a:r>
            <a:r>
              <a:rPr lang="en" sz="1500">
                <a:solidFill>
                  <a:schemeClr val="accent3"/>
                </a:solidFill>
                <a:highlight>
                  <a:srgbClr val="FFFFFE"/>
                </a:highlight>
                <a:latin typeface="Consolas"/>
                <a:ea typeface="Consolas"/>
                <a:cs typeface="Consolas"/>
                <a:sym typeface="Consolas"/>
              </a:rPr>
              <a:t>iloc</a:t>
            </a:r>
            <a:r>
              <a:rPr lang="en" sz="1500" dirty="0">
                <a:solidFill>
                  <a:schemeClr val="dk1"/>
                </a:solidFill>
                <a:highlight>
                  <a:srgbClr val="FFFFFE"/>
                </a:highlight>
                <a:latin typeface="Consolas"/>
                <a:ea typeface="Consolas"/>
                <a:cs typeface="Consolas"/>
                <a:sym typeface="Consolas"/>
              </a:rPr>
              <a:t>[[</a:t>
            </a:r>
            <a:r>
              <a:rPr lang="en" sz="1500" dirty="0">
                <a:solidFill>
                  <a:srgbClr val="09885A"/>
                </a:solidFill>
                <a:highlight>
                  <a:srgbClr val="FFFFFE"/>
                </a:highlight>
                <a:latin typeface="Consolas"/>
                <a:ea typeface="Consolas"/>
                <a:cs typeface="Consolas"/>
                <a:sym typeface="Consolas"/>
              </a:rPr>
              <a:t>0</a:t>
            </a:r>
            <a:r>
              <a:rPr lang="en" sz="1500" dirty="0">
                <a:solidFill>
                  <a:schemeClr val="dk1"/>
                </a:solidFill>
                <a:highlight>
                  <a:srgbClr val="FFFFFE"/>
                </a:highlight>
                <a:latin typeface="Consolas"/>
                <a:ea typeface="Consolas"/>
                <a:cs typeface="Consolas"/>
                <a:sym typeface="Consolas"/>
              </a:rPr>
              <a:t>, </a:t>
            </a:r>
            <a:r>
              <a:rPr lang="en" sz="1500" dirty="0">
                <a:solidFill>
                  <a:srgbClr val="09885A"/>
                </a:solidFill>
                <a:highlight>
                  <a:srgbClr val="FFFFFE"/>
                </a:highlight>
                <a:latin typeface="Consolas"/>
                <a:ea typeface="Consolas"/>
                <a:cs typeface="Consolas"/>
                <a:sym typeface="Consolas"/>
              </a:rPr>
              <a:t>4</a:t>
            </a:r>
            <a:r>
              <a:rPr lang="en" sz="1500" dirty="0">
                <a:solidFill>
                  <a:schemeClr val="dk1"/>
                </a:solidFill>
                <a:highlight>
                  <a:srgbClr val="FFFFFE"/>
                </a:highlight>
                <a:latin typeface="Consolas"/>
                <a:ea typeface="Consolas"/>
                <a:cs typeface="Consolas"/>
                <a:sym typeface="Consolas"/>
              </a:rPr>
              <a:t>], :]</a:t>
            </a:r>
            <a:endParaRPr sz="1500" dirty="0">
              <a:solidFill>
                <a:schemeClr val="dk1"/>
              </a:solidFill>
              <a:highlight>
                <a:srgbClr val="FFFFFE"/>
              </a:highlight>
              <a:latin typeface="Consolas"/>
              <a:ea typeface="Consolas"/>
              <a:cs typeface="Consolas"/>
              <a:sym typeface="Consolas"/>
            </a:endParaRPr>
          </a:p>
        </p:txBody>
      </p:sp>
      <p:pic>
        <p:nvPicPr>
          <p:cNvPr id="9" name="Google Shape;758;p74"/>
          <p:cNvPicPr preferRelativeResize="0"/>
          <p:nvPr/>
        </p:nvPicPr>
        <p:blipFill>
          <a:blip r:embed="rId4">
            <a:alphaModFix/>
          </a:blip>
          <a:stretch>
            <a:fillRect/>
          </a:stretch>
        </p:blipFill>
        <p:spPr>
          <a:xfrm>
            <a:off x="5136451" y="1713493"/>
            <a:ext cx="2406058" cy="1190232"/>
          </a:xfrm>
          <a:prstGeom prst="rect">
            <a:avLst/>
          </a:prstGeom>
          <a:noFill/>
          <a:ln>
            <a:noFill/>
          </a:ln>
        </p:spPr>
      </p:pic>
      <p:grpSp>
        <p:nvGrpSpPr>
          <p:cNvPr id="10" name="Google Shape;759;p74"/>
          <p:cNvGrpSpPr/>
          <p:nvPr/>
        </p:nvGrpSpPr>
        <p:grpSpPr>
          <a:xfrm>
            <a:off x="3939785" y="3486384"/>
            <a:ext cx="4799390" cy="1322471"/>
            <a:chOff x="3981881" y="3016489"/>
            <a:chExt cx="6215295" cy="1712624"/>
          </a:xfrm>
        </p:grpSpPr>
        <p:pic>
          <p:nvPicPr>
            <p:cNvPr id="11" name="Google Shape;760;p74"/>
            <p:cNvPicPr preferRelativeResize="0"/>
            <p:nvPr/>
          </p:nvPicPr>
          <p:blipFill>
            <a:blip r:embed="rId5">
              <a:alphaModFix/>
            </a:blip>
            <a:stretch>
              <a:fillRect/>
            </a:stretch>
          </p:blipFill>
          <p:spPr>
            <a:xfrm>
              <a:off x="3981881" y="3016489"/>
              <a:ext cx="6215294" cy="1109971"/>
            </a:xfrm>
            <a:prstGeom prst="rect">
              <a:avLst/>
            </a:prstGeom>
            <a:noFill/>
            <a:ln>
              <a:noFill/>
            </a:ln>
          </p:spPr>
        </p:pic>
        <p:pic>
          <p:nvPicPr>
            <p:cNvPr id="12" name="Google Shape;761;p74"/>
            <p:cNvPicPr preferRelativeResize="0"/>
            <p:nvPr/>
          </p:nvPicPr>
          <p:blipFill>
            <a:blip r:embed="rId6">
              <a:alphaModFix/>
            </a:blip>
            <a:stretch>
              <a:fillRect/>
            </a:stretch>
          </p:blipFill>
          <p:spPr>
            <a:xfrm>
              <a:off x="3981883" y="4202106"/>
              <a:ext cx="6215294" cy="527007"/>
            </a:xfrm>
            <a:prstGeom prst="rect">
              <a:avLst/>
            </a:prstGeom>
            <a:noFill/>
            <a:ln>
              <a:noFill/>
            </a:ln>
          </p:spPr>
        </p:pic>
        <p:sp>
          <p:nvSpPr>
            <p:cNvPr id="13" name="Google Shape;762;p74"/>
            <p:cNvSpPr txBox="1"/>
            <p:nvPr/>
          </p:nvSpPr>
          <p:spPr>
            <a:xfrm>
              <a:off x="4026321" y="3980362"/>
              <a:ext cx="3300000" cy="3078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800">
                  <a:solidFill>
                    <a:schemeClr val="dk1"/>
                  </a:solidFill>
                  <a:latin typeface="Consolas"/>
                  <a:ea typeface="Consolas"/>
                  <a:cs typeface="Consolas"/>
                  <a:sym typeface="Consolas"/>
                </a:rPr>
                <a:t>…</a:t>
              </a:r>
              <a:endParaRPr sz="800">
                <a:solidFill>
                  <a:schemeClr val="dk1"/>
                </a:solidFill>
                <a:latin typeface="Consolas"/>
                <a:ea typeface="Consolas"/>
                <a:cs typeface="Consolas"/>
                <a:sym typeface="Consolas"/>
              </a:endParaRPr>
            </a:p>
          </p:txBody>
        </p:sp>
      </p:grpSp>
      <p:sp>
        <p:nvSpPr>
          <p:cNvPr id="14" name="Rectangle 13"/>
          <p:cNvSpPr/>
          <p:nvPr/>
        </p:nvSpPr>
        <p:spPr>
          <a:xfrm>
            <a:off x="3151185" y="1199363"/>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15" name="Rectangle 14"/>
          <p:cNvSpPr/>
          <p:nvPr/>
        </p:nvSpPr>
        <p:spPr>
          <a:xfrm>
            <a:off x="3207335" y="3009136"/>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0973436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a:t>
            </a:r>
            <a:r>
              <a:rPr lang="en-US" altLang="zh-CN" dirty="0"/>
              <a:t>[]</a:t>
            </a:r>
            <a:r>
              <a:rPr lang="zh-CN" altLang="en-US" dirty="0"/>
              <a:t>的数据选择</a:t>
            </a:r>
            <a:endParaRPr lang="en-US" dirty="0"/>
          </a:p>
        </p:txBody>
      </p:sp>
      <p:sp>
        <p:nvSpPr>
          <p:cNvPr id="3" name="Content Placeholder 2"/>
          <p:cNvSpPr>
            <a:spLocks noGrp="1"/>
          </p:cNvSpPr>
          <p:nvPr>
            <p:ph idx="1"/>
          </p:nvPr>
        </p:nvSpPr>
        <p:spPr>
          <a:xfrm>
            <a:off x="457200" y="819150"/>
            <a:ext cx="6746789" cy="3937000"/>
          </a:xfrm>
        </p:spPr>
        <p:txBody>
          <a:bodyPr>
            <a:noAutofit/>
          </a:bodyPr>
          <a:lstStyle/>
          <a:p>
            <a:r>
              <a:rPr lang="en-US" dirty="0" err="1">
                <a:solidFill>
                  <a:srgbClr val="0D5294"/>
                </a:solidFill>
              </a:rPr>
              <a:t>df</a:t>
            </a:r>
            <a:r>
              <a:rPr lang="en-US" dirty="0">
                <a:solidFill>
                  <a:srgbClr val="0D5294"/>
                </a:solidFill>
              </a:rPr>
              <a:t>['</a:t>
            </a:r>
            <a:r>
              <a:rPr lang="en-US" altLang="zh-CN" dirty="0">
                <a:solidFill>
                  <a:srgbClr val="0D5294"/>
                </a:solidFill>
              </a:rPr>
              <a:t>Team</a:t>
            </a:r>
            <a:r>
              <a:rPr lang="en-US" dirty="0">
                <a:solidFill>
                  <a:srgbClr val="0D5294"/>
                </a:solidFill>
              </a:rPr>
              <a:t>']   # </a:t>
            </a:r>
            <a:r>
              <a:rPr lang="zh-CN" altLang="en-US" dirty="0">
                <a:solidFill>
                  <a:srgbClr val="0D5294"/>
                </a:solidFill>
              </a:rPr>
              <a:t>选取一列，成一个</a:t>
            </a:r>
            <a:r>
              <a:rPr lang="en-US" dirty="0">
                <a:solidFill>
                  <a:srgbClr val="0D5294"/>
                </a:solidFill>
              </a:rPr>
              <a:t>series   </a:t>
            </a:r>
          </a:p>
          <a:p>
            <a:r>
              <a:rPr lang="en-US" dirty="0" err="1">
                <a:solidFill>
                  <a:srgbClr val="0D5294"/>
                </a:solidFill>
              </a:rPr>
              <a:t>df</a:t>
            </a:r>
            <a:r>
              <a:rPr lang="en-US" dirty="0">
                <a:solidFill>
                  <a:srgbClr val="0D5294"/>
                </a:solidFill>
              </a:rPr>
              <a:t>[['</a:t>
            </a:r>
            <a:r>
              <a:rPr lang="en-US" altLang="zh-CN" dirty="0">
                <a:solidFill>
                  <a:srgbClr val="0D5294"/>
                </a:solidFill>
              </a:rPr>
              <a:t>Team</a:t>
            </a:r>
            <a:r>
              <a:rPr lang="en-US" dirty="0">
                <a:solidFill>
                  <a:srgbClr val="0D5294"/>
                </a:solidFill>
              </a:rPr>
              <a:t>']]  # </a:t>
            </a:r>
            <a:r>
              <a:rPr lang="zh-CN" altLang="en-US" dirty="0">
                <a:solidFill>
                  <a:srgbClr val="0D5294"/>
                </a:solidFill>
              </a:rPr>
              <a:t>选取一列，成为一个</a:t>
            </a:r>
            <a:r>
              <a:rPr lang="en-US" dirty="0" err="1">
                <a:solidFill>
                  <a:srgbClr val="0D5294"/>
                </a:solidFill>
              </a:rPr>
              <a:t>dataframe</a:t>
            </a:r>
            <a:r>
              <a:rPr lang="en-US" dirty="0">
                <a:solidFill>
                  <a:srgbClr val="0D5294"/>
                </a:solidFill>
              </a:rPr>
              <a:t>     </a:t>
            </a:r>
          </a:p>
          <a:p>
            <a:r>
              <a:rPr lang="en-US" dirty="0" err="1">
                <a:solidFill>
                  <a:srgbClr val="0D5294"/>
                </a:solidFill>
              </a:rPr>
              <a:t>df</a:t>
            </a:r>
            <a:r>
              <a:rPr lang="en-US" dirty="0">
                <a:solidFill>
                  <a:srgbClr val="0D5294"/>
                </a:solidFill>
              </a:rPr>
              <a:t>[['</a:t>
            </a:r>
            <a:r>
              <a:rPr lang="en-US" altLang="zh-CN" dirty="0" err="1">
                <a:solidFill>
                  <a:srgbClr val="0D5294"/>
                </a:solidFill>
              </a:rPr>
              <a:t>Team</a:t>
            </a:r>
            <a:r>
              <a:rPr lang="en-US" dirty="0" err="1">
                <a:solidFill>
                  <a:srgbClr val="0D5294"/>
                </a:solidFill>
              </a:rPr>
              <a:t>','</a:t>
            </a:r>
            <a:r>
              <a:rPr lang="en-US" altLang="zh-CN" dirty="0" err="1">
                <a:solidFill>
                  <a:srgbClr val="0D5294"/>
                </a:solidFill>
              </a:rPr>
              <a:t>Loss</a:t>
            </a:r>
            <a:r>
              <a:rPr lang="en-US" dirty="0">
                <a:solidFill>
                  <a:srgbClr val="0D5294"/>
                </a:solidFill>
              </a:rPr>
              <a:t>']] #</a:t>
            </a:r>
            <a:r>
              <a:rPr lang="zh-CN" altLang="en-US" dirty="0">
                <a:solidFill>
                  <a:srgbClr val="0D5294"/>
                </a:solidFill>
              </a:rPr>
              <a:t>选取多列，多列名字要放在</a:t>
            </a:r>
            <a:r>
              <a:rPr lang="en-US" dirty="0">
                <a:solidFill>
                  <a:srgbClr val="0D5294"/>
                </a:solidFill>
              </a:rPr>
              <a:t>list</a:t>
            </a:r>
            <a:r>
              <a:rPr lang="zh-CN" altLang="en-US" dirty="0">
                <a:solidFill>
                  <a:srgbClr val="0D5294"/>
                </a:solidFill>
              </a:rPr>
              <a:t>里    </a:t>
            </a:r>
          </a:p>
          <a:p>
            <a:r>
              <a:rPr lang="en-US" dirty="0" err="1">
                <a:solidFill>
                  <a:srgbClr val="BF9001"/>
                </a:solidFill>
              </a:rPr>
              <a:t>df</a:t>
            </a:r>
            <a:r>
              <a:rPr lang="en-US" dirty="0">
                <a:solidFill>
                  <a:srgbClr val="BF9001"/>
                </a:solidFill>
              </a:rPr>
              <a:t>[0:]  #</a:t>
            </a:r>
            <a:r>
              <a:rPr lang="zh-CN" altLang="en-US" dirty="0">
                <a:solidFill>
                  <a:srgbClr val="BF9001"/>
                </a:solidFill>
              </a:rPr>
              <a:t>第</a:t>
            </a:r>
            <a:r>
              <a:rPr lang="en-US" altLang="zh-CN" dirty="0">
                <a:solidFill>
                  <a:srgbClr val="BF9001"/>
                </a:solidFill>
              </a:rPr>
              <a:t>0</a:t>
            </a:r>
            <a:r>
              <a:rPr lang="zh-CN" altLang="en-US" dirty="0">
                <a:solidFill>
                  <a:srgbClr val="BF9001"/>
                </a:solidFill>
              </a:rPr>
              <a:t>行及之后的行，相当于</a:t>
            </a:r>
            <a:r>
              <a:rPr lang="en-US" dirty="0" err="1">
                <a:solidFill>
                  <a:srgbClr val="BF9001"/>
                </a:solidFill>
              </a:rPr>
              <a:t>df</a:t>
            </a:r>
            <a:r>
              <a:rPr lang="zh-CN" altLang="en-US" dirty="0">
                <a:solidFill>
                  <a:srgbClr val="BF9001"/>
                </a:solidFill>
              </a:rPr>
              <a:t>的全部数据，注意冒号是必须的    </a:t>
            </a:r>
          </a:p>
          <a:p>
            <a:r>
              <a:rPr lang="en-US" dirty="0" err="1">
                <a:solidFill>
                  <a:srgbClr val="BF9001"/>
                </a:solidFill>
              </a:rPr>
              <a:t>df</a:t>
            </a:r>
            <a:r>
              <a:rPr lang="en-US" dirty="0">
                <a:solidFill>
                  <a:srgbClr val="BF9001"/>
                </a:solidFill>
              </a:rPr>
              <a:t>[:2]  #</a:t>
            </a:r>
            <a:r>
              <a:rPr lang="zh-CN" altLang="en-US" dirty="0">
                <a:solidFill>
                  <a:srgbClr val="BF9001"/>
                </a:solidFill>
              </a:rPr>
              <a:t>第</a:t>
            </a:r>
            <a:r>
              <a:rPr lang="en-US" altLang="zh-CN" dirty="0">
                <a:solidFill>
                  <a:srgbClr val="BF9001"/>
                </a:solidFill>
              </a:rPr>
              <a:t>2</a:t>
            </a:r>
            <a:r>
              <a:rPr lang="zh-CN" altLang="en-US" dirty="0">
                <a:solidFill>
                  <a:srgbClr val="BF9001"/>
                </a:solidFill>
              </a:rPr>
              <a:t>行之前的数据（不含第</a:t>
            </a:r>
            <a:r>
              <a:rPr lang="en-US" altLang="zh-CN" dirty="0">
                <a:solidFill>
                  <a:srgbClr val="BF9001"/>
                </a:solidFill>
              </a:rPr>
              <a:t>2</a:t>
            </a:r>
            <a:r>
              <a:rPr lang="zh-CN" altLang="en-US" dirty="0">
                <a:solidFill>
                  <a:srgbClr val="BF9001"/>
                </a:solidFill>
              </a:rPr>
              <a:t>行）    </a:t>
            </a:r>
          </a:p>
          <a:p>
            <a:r>
              <a:rPr lang="en-US" dirty="0" err="1">
                <a:solidFill>
                  <a:srgbClr val="BF9001"/>
                </a:solidFill>
              </a:rPr>
              <a:t>df</a:t>
            </a:r>
            <a:r>
              <a:rPr lang="en-US" dirty="0">
                <a:solidFill>
                  <a:srgbClr val="BF9001"/>
                </a:solidFill>
              </a:rPr>
              <a:t>[0:1] #</a:t>
            </a:r>
            <a:r>
              <a:rPr lang="zh-CN" altLang="en-US" dirty="0">
                <a:solidFill>
                  <a:srgbClr val="BF9001"/>
                </a:solidFill>
              </a:rPr>
              <a:t>第</a:t>
            </a:r>
            <a:r>
              <a:rPr lang="en-US" altLang="zh-CN" dirty="0">
                <a:solidFill>
                  <a:srgbClr val="BF9001"/>
                </a:solidFill>
              </a:rPr>
              <a:t>0</a:t>
            </a:r>
            <a:r>
              <a:rPr lang="zh-CN" altLang="en-US" dirty="0">
                <a:solidFill>
                  <a:srgbClr val="BF9001"/>
                </a:solidFill>
              </a:rPr>
              <a:t>行    </a:t>
            </a:r>
          </a:p>
          <a:p>
            <a:r>
              <a:rPr lang="en-US" dirty="0" err="1">
                <a:solidFill>
                  <a:srgbClr val="BF9001"/>
                </a:solidFill>
              </a:rPr>
              <a:t>df</a:t>
            </a:r>
            <a:r>
              <a:rPr lang="en-US" dirty="0">
                <a:solidFill>
                  <a:srgbClr val="BF9001"/>
                </a:solidFill>
              </a:rPr>
              <a:t>[1:3] #</a:t>
            </a:r>
            <a:r>
              <a:rPr lang="zh-CN" altLang="en-US" dirty="0">
                <a:solidFill>
                  <a:srgbClr val="BF9001"/>
                </a:solidFill>
              </a:rPr>
              <a:t>第</a:t>
            </a:r>
            <a:r>
              <a:rPr lang="en-US" altLang="zh-CN" dirty="0">
                <a:solidFill>
                  <a:srgbClr val="BF9001"/>
                </a:solidFill>
              </a:rPr>
              <a:t>1</a:t>
            </a:r>
            <a:r>
              <a:rPr lang="zh-CN" altLang="en-US" dirty="0">
                <a:solidFill>
                  <a:srgbClr val="BF9001"/>
                </a:solidFill>
              </a:rPr>
              <a:t>行到第</a:t>
            </a:r>
            <a:r>
              <a:rPr lang="en-US" altLang="zh-CN" dirty="0">
                <a:solidFill>
                  <a:srgbClr val="BF9001"/>
                </a:solidFill>
              </a:rPr>
              <a:t>2</a:t>
            </a:r>
            <a:r>
              <a:rPr lang="zh-CN" altLang="en-US" dirty="0">
                <a:solidFill>
                  <a:srgbClr val="BF9001"/>
                </a:solidFill>
              </a:rPr>
              <a:t>行（不含第</a:t>
            </a:r>
            <a:r>
              <a:rPr lang="en-US" altLang="zh-CN" dirty="0">
                <a:solidFill>
                  <a:srgbClr val="BF9001"/>
                </a:solidFill>
              </a:rPr>
              <a:t>3</a:t>
            </a:r>
            <a:r>
              <a:rPr lang="zh-CN" altLang="en-US" dirty="0">
                <a:solidFill>
                  <a:srgbClr val="BF9001"/>
                </a:solidFill>
              </a:rPr>
              <a:t>行）    </a:t>
            </a:r>
          </a:p>
          <a:p>
            <a:r>
              <a:rPr lang="en-US" dirty="0" err="1">
                <a:solidFill>
                  <a:srgbClr val="BF9001"/>
                </a:solidFill>
              </a:rPr>
              <a:t>df</a:t>
            </a:r>
            <a:r>
              <a:rPr lang="en-US" dirty="0">
                <a:solidFill>
                  <a:srgbClr val="BF9001"/>
                </a:solidFill>
              </a:rPr>
              <a:t>[-1:] #</a:t>
            </a:r>
            <a:r>
              <a:rPr lang="zh-CN" altLang="en-US" dirty="0">
                <a:solidFill>
                  <a:srgbClr val="BF9001"/>
                </a:solidFill>
              </a:rPr>
              <a:t>最后一行    </a:t>
            </a:r>
          </a:p>
          <a:p>
            <a:r>
              <a:rPr lang="en-US" dirty="0" err="1">
                <a:solidFill>
                  <a:srgbClr val="BF9001"/>
                </a:solidFill>
              </a:rPr>
              <a:t>df</a:t>
            </a:r>
            <a:r>
              <a:rPr lang="en-US" dirty="0">
                <a:solidFill>
                  <a:srgbClr val="BF9001"/>
                </a:solidFill>
              </a:rPr>
              <a:t>[-3:-1] #</a:t>
            </a:r>
            <a:r>
              <a:rPr lang="zh-CN" altLang="en-US" dirty="0">
                <a:solidFill>
                  <a:srgbClr val="BF9001"/>
                </a:solidFill>
              </a:rPr>
              <a:t>倒数第</a:t>
            </a:r>
            <a:r>
              <a:rPr lang="en-US" altLang="zh-CN" dirty="0">
                <a:solidFill>
                  <a:srgbClr val="BF9001"/>
                </a:solidFill>
              </a:rPr>
              <a:t>3</a:t>
            </a:r>
            <a:r>
              <a:rPr lang="zh-CN" altLang="en-US" dirty="0">
                <a:solidFill>
                  <a:srgbClr val="BF9001"/>
                </a:solidFill>
              </a:rPr>
              <a:t>行到倒数第</a:t>
            </a:r>
            <a:r>
              <a:rPr lang="en-US" altLang="zh-CN" dirty="0">
                <a:solidFill>
                  <a:srgbClr val="BF9001"/>
                </a:solidFill>
              </a:rPr>
              <a:t>1</a:t>
            </a:r>
            <a:r>
              <a:rPr lang="zh-CN" altLang="en-US" dirty="0">
                <a:solidFill>
                  <a:srgbClr val="BF9001"/>
                </a:solidFill>
              </a:rPr>
              <a:t>行</a:t>
            </a:r>
            <a:endParaRPr lang="en-US" dirty="0">
              <a:solidFill>
                <a:srgbClr val="BF9001"/>
              </a:solidFill>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32</a:t>
            </a:fld>
            <a:endParaRPr lang="zh-CN" altLang="en-US"/>
          </a:p>
        </p:txBody>
      </p:sp>
      <p:sp>
        <p:nvSpPr>
          <p:cNvPr id="6" name="Rectangle 5"/>
          <p:cNvSpPr/>
          <p:nvPr/>
        </p:nvSpPr>
        <p:spPr>
          <a:xfrm>
            <a:off x="6907525" y="1119557"/>
            <a:ext cx="2112907" cy="507831"/>
          </a:xfrm>
          <a:prstGeom prst="rect">
            <a:avLst/>
          </a:prstGeom>
          <a:ln>
            <a:solidFill>
              <a:srgbClr val="0D5294"/>
            </a:solidFill>
          </a:ln>
        </p:spPr>
        <p:txBody>
          <a:bodyPr wrap="square">
            <a:spAutoFit/>
          </a:bodyPr>
          <a:lstStyle/>
          <a:p>
            <a:pPr algn="ctr">
              <a:lnSpc>
                <a:spcPct val="150000"/>
              </a:lnSpc>
              <a:defRPr/>
            </a:pP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Column</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label(s)</a:t>
            </a:r>
          </a:p>
        </p:txBody>
      </p:sp>
      <p:sp>
        <p:nvSpPr>
          <p:cNvPr id="7" name="Rectangle 6"/>
          <p:cNvSpPr/>
          <p:nvPr/>
        </p:nvSpPr>
        <p:spPr>
          <a:xfrm>
            <a:off x="6907525" y="3187255"/>
            <a:ext cx="2112907" cy="874407"/>
          </a:xfrm>
          <a:prstGeom prst="rect">
            <a:avLst/>
          </a:prstGeom>
          <a:ln>
            <a:solidFill>
              <a:srgbClr val="0D5294"/>
            </a:solidFill>
          </a:ln>
        </p:spPr>
        <p:txBody>
          <a:bodyPr wrap="square">
            <a:spAutoFit/>
          </a:bodyPr>
          <a:lstStyle/>
          <a:p>
            <a:pPr algn="ctr">
              <a:lnSpc>
                <a:spcPct val="150000"/>
              </a:lnSpc>
              <a:defRPr/>
            </a:pP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slice</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of</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row</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numbers</a:t>
            </a:r>
          </a:p>
        </p:txBody>
      </p:sp>
    </p:spTree>
    <p:extLst>
      <p:ext uri="{BB962C8B-B14F-4D97-AF65-F5344CB8AC3E}">
        <p14:creationId xmlns:p14="http://schemas.microsoft.com/office/powerpoint/2010/main" val="103810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A460B02-DAF9-F11A-C1FB-BA83FF21AED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BFB634E-EEEC-A3DD-4AEA-C8A696F493CB}"/>
              </a:ext>
            </a:extLst>
          </p:cNvPr>
          <p:cNvSpPr>
            <a:spLocks noGrp="1"/>
          </p:cNvSpPr>
          <p:nvPr>
            <p:ph type="title"/>
          </p:nvPr>
        </p:nvSpPr>
        <p:spPr/>
        <p:txBody>
          <a:bodyPr/>
          <a:lstStyle/>
          <a:p>
            <a:r>
              <a:rPr lang="zh-CN" altLang="en-US" dirty="0"/>
              <a:t>我们已经学过的数据筛选操作</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B8B7B2A6-0D41-7E2D-9B89-B8003E326E43}"/>
              </a:ext>
            </a:extLst>
          </p:cNvPr>
          <p:cNvSpPr>
            <a:spLocks noGrp="1"/>
          </p:cNvSpPr>
          <p:nvPr>
            <p:ph type="sldNum" sz="quarter" idx="12"/>
          </p:nvPr>
        </p:nvSpPr>
        <p:spPr/>
        <p:txBody>
          <a:bodyPr/>
          <a:lstStyle/>
          <a:p>
            <a:fld id="{E1BEBC7A-FD02-486B-81B5-A845787C689C}" type="slidenum">
              <a:rPr lang="zh-CN" altLang="en-US" smtClean="0"/>
              <a:t>33</a:t>
            </a:fld>
            <a:endParaRPr lang="zh-CN" altLang="en-US"/>
          </a:p>
        </p:txBody>
      </p:sp>
      <p:sp>
        <p:nvSpPr>
          <p:cNvPr id="9" name="Content Placeholder 2">
            <a:extLst>
              <a:ext uri="{FF2B5EF4-FFF2-40B4-BE49-F238E27FC236}">
                <a16:creationId xmlns="" xmlns:a16="http://schemas.microsoft.com/office/drawing/2014/main" id="{E6359A1D-FEAB-8470-9408-3C12AE2AA60F}"/>
              </a:ext>
            </a:extLst>
          </p:cNvPr>
          <p:cNvSpPr>
            <a:spLocks noGrp="1"/>
          </p:cNvSpPr>
          <p:nvPr>
            <p:ph idx="1"/>
          </p:nvPr>
        </p:nvSpPr>
        <p:spPr>
          <a:xfrm>
            <a:off x="457200" y="819150"/>
            <a:ext cx="8229600" cy="3937000"/>
          </a:xfrm>
        </p:spPr>
        <p:txBody>
          <a:bodyPr/>
          <a:lstStyle/>
          <a:p>
            <a:r>
              <a:rPr lang="zh-CN" altLang="en-US" dirty="0"/>
              <a:t>基于</a:t>
            </a:r>
            <a:r>
              <a:rPr lang="zh-CN" altLang="en-US" b="1" dirty="0"/>
              <a:t>标签</a:t>
            </a:r>
            <a:r>
              <a:rPr lang="zh-CN" altLang="en-US" dirty="0"/>
              <a:t>的数据筛选（</a:t>
            </a:r>
            <a:r>
              <a:rPr lang="en-US" altLang="zh-CN" dirty="0"/>
              <a:t>.loc</a:t>
            </a:r>
            <a:r>
              <a:rPr lang="zh-CN" altLang="en-US" dirty="0"/>
              <a:t>）：特定</a:t>
            </a:r>
            <a:r>
              <a:rPr lang="en-US" altLang="zh-CN" dirty="0"/>
              <a:t>column</a:t>
            </a:r>
            <a:r>
              <a:rPr lang="zh-CN" altLang="en-US" dirty="0"/>
              <a:t>或</a:t>
            </a:r>
            <a:r>
              <a:rPr lang="en-US" altLang="zh-CN" dirty="0"/>
              <a:t>index</a:t>
            </a:r>
            <a:r>
              <a:rPr lang="zh-CN" altLang="en-US" b="1" dirty="0">
                <a:solidFill>
                  <a:srgbClr val="C00000"/>
                </a:solidFill>
              </a:rPr>
              <a:t>标签</a:t>
            </a:r>
            <a:r>
              <a:rPr lang="zh-CN" altLang="en-US" dirty="0"/>
              <a:t>的数据</a:t>
            </a:r>
            <a:endParaRPr lang="en-US" altLang="zh-CN" dirty="0"/>
          </a:p>
          <a:p>
            <a:pPr>
              <a:spcBef>
                <a:spcPts val="600"/>
              </a:spcBef>
              <a:spcAft>
                <a:spcPts val="600"/>
              </a:spcAft>
            </a:pPr>
            <a:r>
              <a:rPr lang="zh-CN" altLang="en-US" dirty="0"/>
              <a:t>基于</a:t>
            </a:r>
            <a:r>
              <a:rPr lang="zh-CN" altLang="en-US" b="1" dirty="0"/>
              <a:t>整数</a:t>
            </a:r>
            <a:r>
              <a:rPr lang="zh-CN" altLang="en-US" dirty="0"/>
              <a:t>的数据筛选（</a:t>
            </a:r>
            <a:r>
              <a:rPr lang="en-US" altLang="zh-CN" dirty="0"/>
              <a:t>.</a:t>
            </a:r>
            <a:r>
              <a:rPr lang="en-US" altLang="zh-CN" dirty="0" err="1"/>
              <a:t>iloc</a:t>
            </a:r>
            <a:r>
              <a:rPr lang="zh-CN" altLang="en-US" dirty="0"/>
              <a:t>）：特定</a:t>
            </a:r>
            <a:r>
              <a:rPr lang="en-US" altLang="zh-CN" dirty="0"/>
              <a:t>column</a:t>
            </a:r>
            <a:r>
              <a:rPr lang="zh-CN" altLang="en-US" dirty="0"/>
              <a:t>或</a:t>
            </a:r>
            <a:r>
              <a:rPr lang="en-US" altLang="zh-CN" dirty="0"/>
              <a:t>index</a:t>
            </a:r>
            <a:r>
              <a:rPr lang="zh-CN" altLang="en-US" b="1" dirty="0">
                <a:solidFill>
                  <a:srgbClr val="C00000"/>
                </a:solidFill>
              </a:rPr>
              <a:t>位置</a:t>
            </a:r>
            <a:r>
              <a:rPr lang="zh-CN" altLang="en-US" dirty="0"/>
              <a:t>的数据</a:t>
            </a:r>
            <a:endParaRPr lang="en-US" altLang="zh-CN" dirty="0"/>
          </a:p>
        </p:txBody>
      </p:sp>
      <p:sp>
        <p:nvSpPr>
          <p:cNvPr id="27" name="Google Shape;619;p63">
            <a:extLst>
              <a:ext uri="{FF2B5EF4-FFF2-40B4-BE49-F238E27FC236}">
                <a16:creationId xmlns="" xmlns:a16="http://schemas.microsoft.com/office/drawing/2014/main" id="{C9640699-F4CC-86DF-7699-04E4EF0D726B}"/>
              </a:ext>
            </a:extLst>
          </p:cNvPr>
          <p:cNvSpPr txBox="1"/>
          <p:nvPr/>
        </p:nvSpPr>
        <p:spPr>
          <a:xfrm>
            <a:off x="3827197" y="1723696"/>
            <a:ext cx="5112016" cy="49856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lvl="0">
              <a:lnSpc>
                <a:spcPct val="135714"/>
              </a:lnSpc>
            </a:pPr>
            <a:r>
              <a:rPr lang="en-US" sz="1500" dirty="0">
                <a:solidFill>
                  <a:schemeClr val="dk1"/>
                </a:solidFill>
                <a:highlight>
                  <a:srgbClr val="FFFFFE"/>
                </a:highlight>
                <a:latin typeface="Consolas"/>
                <a:ea typeface="Consolas"/>
                <a:cs typeface="Consolas"/>
                <a:sym typeface="Consolas"/>
              </a:rPr>
              <a:t>babynames_first_10_rows = </a:t>
            </a:r>
            <a:r>
              <a:rPr lang="en-US" sz="1500" dirty="0" err="1">
                <a:solidFill>
                  <a:schemeClr val="dk1"/>
                </a:solidFill>
                <a:highlight>
                  <a:srgbClr val="FFFFFE"/>
                </a:highlight>
                <a:latin typeface="Consolas"/>
                <a:ea typeface="Consolas"/>
                <a:cs typeface="Consolas"/>
                <a:sym typeface="Consolas"/>
              </a:rPr>
              <a:t>babynames.</a:t>
            </a:r>
            <a:r>
              <a:rPr lang="en-US" sz="1500" dirty="0" err="1">
                <a:solidFill>
                  <a:schemeClr val="accent3"/>
                </a:solidFill>
                <a:highlight>
                  <a:srgbClr val="FFFFFE"/>
                </a:highlight>
                <a:latin typeface="Consolas"/>
                <a:ea typeface="Consolas"/>
                <a:cs typeface="Consolas"/>
                <a:sym typeface="Consolas"/>
              </a:rPr>
              <a:t>loc</a:t>
            </a:r>
            <a:r>
              <a:rPr lang="en-US" sz="1500" dirty="0">
                <a:solidFill>
                  <a:schemeClr val="dk1"/>
                </a:solidFill>
                <a:highlight>
                  <a:srgbClr val="FFFFFE"/>
                </a:highlight>
                <a:latin typeface="Consolas"/>
                <a:ea typeface="Consolas"/>
                <a:cs typeface="Consolas"/>
                <a:sym typeface="Consolas"/>
              </a:rPr>
              <a:t>[:</a:t>
            </a:r>
            <a:r>
              <a:rPr lang="en-US" sz="1500" dirty="0">
                <a:solidFill>
                  <a:srgbClr val="008000"/>
                </a:solidFill>
                <a:highlight>
                  <a:srgbClr val="FFFFFE"/>
                </a:highlight>
                <a:latin typeface="Consolas"/>
                <a:ea typeface="Consolas"/>
                <a:cs typeface="Consolas"/>
                <a:sym typeface="Consolas"/>
              </a:rPr>
              <a:t>9</a:t>
            </a:r>
            <a:r>
              <a:rPr lang="en-US" sz="1500" dirty="0">
                <a:solidFill>
                  <a:schemeClr val="dk1"/>
                </a:solidFill>
                <a:highlight>
                  <a:srgbClr val="FFFFFE"/>
                </a:highlight>
                <a:latin typeface="Consolas"/>
                <a:ea typeface="Consolas"/>
                <a:cs typeface="Consolas"/>
                <a:sym typeface="Consolas"/>
              </a:rPr>
              <a:t>, :]</a:t>
            </a:r>
          </a:p>
        </p:txBody>
      </p:sp>
      <p:pic>
        <p:nvPicPr>
          <p:cNvPr id="5" name="Picture 4" descr="A screenshot of a computer&#10;&#10;Description automatically generated">
            <a:extLst>
              <a:ext uri="{FF2B5EF4-FFF2-40B4-BE49-F238E27FC236}">
                <a16:creationId xmlns="" xmlns:a16="http://schemas.microsoft.com/office/drawing/2014/main" id="{98B57262-8A80-C6CF-E4EA-830B6834F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996" y="1723696"/>
            <a:ext cx="2867752" cy="3032453"/>
          </a:xfrm>
          <a:prstGeom prst="rect">
            <a:avLst/>
          </a:prstGeom>
        </p:spPr>
      </p:pic>
      <p:pic>
        <p:nvPicPr>
          <p:cNvPr id="7" name="Picture 6" descr="A table with numbers and letters&#10;&#10;Description automatically generated">
            <a:extLst>
              <a:ext uri="{FF2B5EF4-FFF2-40B4-BE49-F238E27FC236}">
                <a16:creationId xmlns="" xmlns:a16="http://schemas.microsoft.com/office/drawing/2014/main" id="{6C578749-A34D-BA52-CB59-6EB97AFC6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7197" y="2291255"/>
            <a:ext cx="1862488" cy="2464894"/>
          </a:xfrm>
          <a:prstGeom prst="rect">
            <a:avLst/>
          </a:prstGeom>
        </p:spPr>
      </p:pic>
      <p:grpSp>
        <p:nvGrpSpPr>
          <p:cNvPr id="18" name="Group 17">
            <a:extLst>
              <a:ext uri="{FF2B5EF4-FFF2-40B4-BE49-F238E27FC236}">
                <a16:creationId xmlns="" xmlns:a16="http://schemas.microsoft.com/office/drawing/2014/main" id="{B6809B2F-BA72-05E0-A28D-3690AC8D3215}"/>
              </a:ext>
            </a:extLst>
          </p:cNvPr>
          <p:cNvGrpSpPr/>
          <p:nvPr/>
        </p:nvGrpSpPr>
        <p:grpSpPr>
          <a:xfrm>
            <a:off x="5767341" y="2291255"/>
            <a:ext cx="3107684" cy="2464894"/>
            <a:chOff x="5767341" y="2291255"/>
            <a:chExt cx="3107684" cy="2464894"/>
          </a:xfrm>
        </p:grpSpPr>
        <p:pic>
          <p:nvPicPr>
            <p:cNvPr id="8" name="Picture 7" descr="A table with numbers and letters&#10;&#10;Description automatically generated">
              <a:extLst>
                <a:ext uri="{FF2B5EF4-FFF2-40B4-BE49-F238E27FC236}">
                  <a16:creationId xmlns="" xmlns:a16="http://schemas.microsoft.com/office/drawing/2014/main" id="{0EB12BA0-05A6-1C90-9248-FCE8CB647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2537" y="2291255"/>
              <a:ext cx="1862488" cy="2464894"/>
            </a:xfrm>
            <a:prstGeom prst="rect">
              <a:avLst/>
            </a:prstGeom>
          </p:spPr>
        </p:pic>
        <p:sp>
          <p:nvSpPr>
            <p:cNvPr id="11" name="Google Shape;223;p30">
              <a:extLst>
                <a:ext uri="{FF2B5EF4-FFF2-40B4-BE49-F238E27FC236}">
                  <a16:creationId xmlns="" xmlns:a16="http://schemas.microsoft.com/office/drawing/2014/main" id="{7DE868E0-460D-C01B-E2FF-EA4AC57FEC50}"/>
                </a:ext>
              </a:extLst>
            </p:cNvPr>
            <p:cNvSpPr/>
            <p:nvPr/>
          </p:nvSpPr>
          <p:spPr>
            <a:xfrm>
              <a:off x="7012536" y="2565950"/>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223;p30">
              <a:extLst>
                <a:ext uri="{FF2B5EF4-FFF2-40B4-BE49-F238E27FC236}">
                  <a16:creationId xmlns="" xmlns:a16="http://schemas.microsoft.com/office/drawing/2014/main" id="{E0F18216-2BBC-48FE-EC2C-CF3F13E91880}"/>
                </a:ext>
              </a:extLst>
            </p:cNvPr>
            <p:cNvSpPr/>
            <p:nvPr/>
          </p:nvSpPr>
          <p:spPr>
            <a:xfrm>
              <a:off x="7012535" y="3010073"/>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223;p30">
              <a:extLst>
                <a:ext uri="{FF2B5EF4-FFF2-40B4-BE49-F238E27FC236}">
                  <a16:creationId xmlns="" xmlns:a16="http://schemas.microsoft.com/office/drawing/2014/main" id="{C8264883-D0FB-80DD-6776-87789CCEA7B8}"/>
                </a:ext>
              </a:extLst>
            </p:cNvPr>
            <p:cNvSpPr/>
            <p:nvPr/>
          </p:nvSpPr>
          <p:spPr>
            <a:xfrm>
              <a:off x="7012534" y="3438032"/>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223;p30">
              <a:extLst>
                <a:ext uri="{FF2B5EF4-FFF2-40B4-BE49-F238E27FC236}">
                  <a16:creationId xmlns="" xmlns:a16="http://schemas.microsoft.com/office/drawing/2014/main" id="{E65EBF32-A87F-C975-FD2F-2A780C316F0C}"/>
                </a:ext>
              </a:extLst>
            </p:cNvPr>
            <p:cNvSpPr/>
            <p:nvPr/>
          </p:nvSpPr>
          <p:spPr>
            <a:xfrm>
              <a:off x="7012533" y="3867239"/>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223;p30">
              <a:extLst>
                <a:ext uri="{FF2B5EF4-FFF2-40B4-BE49-F238E27FC236}">
                  <a16:creationId xmlns="" xmlns:a16="http://schemas.microsoft.com/office/drawing/2014/main" id="{CBB09942-C93A-D250-813A-C7CBAEFDE6FF}"/>
                </a:ext>
              </a:extLst>
            </p:cNvPr>
            <p:cNvSpPr/>
            <p:nvPr/>
          </p:nvSpPr>
          <p:spPr>
            <a:xfrm>
              <a:off x="7012532" y="4310114"/>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Right Arrow 15">
              <a:extLst>
                <a:ext uri="{FF2B5EF4-FFF2-40B4-BE49-F238E27FC236}">
                  <a16:creationId xmlns="" xmlns:a16="http://schemas.microsoft.com/office/drawing/2014/main" id="{CF6115EA-5610-E267-2100-3D1378FDE096}"/>
                </a:ext>
              </a:extLst>
            </p:cNvPr>
            <p:cNvSpPr/>
            <p:nvPr/>
          </p:nvSpPr>
          <p:spPr>
            <a:xfrm>
              <a:off x="6066134" y="2787650"/>
              <a:ext cx="635194" cy="342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7" name="Rectangle 16">
              <a:extLst>
                <a:ext uri="{FF2B5EF4-FFF2-40B4-BE49-F238E27FC236}">
                  <a16:creationId xmlns="" xmlns:a16="http://schemas.microsoft.com/office/drawing/2014/main" id="{C56D729D-AC58-3036-C03D-1E7144F900F2}"/>
                </a:ext>
              </a:extLst>
            </p:cNvPr>
            <p:cNvSpPr/>
            <p:nvPr/>
          </p:nvSpPr>
          <p:spPr>
            <a:xfrm>
              <a:off x="5767341" y="3257942"/>
              <a:ext cx="1119397" cy="874407"/>
            </a:xfrm>
            <a:prstGeom prst="rect">
              <a:avLst/>
            </a:prstGeom>
          </p:spPr>
          <p:txBody>
            <a:bodyPr wrap="square">
              <a:spAutoFit/>
            </a:bodyPr>
            <a:lstStyle/>
            <a:p>
              <a:pPr algn="ctr">
                <a:lnSpc>
                  <a:spcPct val="150000"/>
                </a:lnSpc>
                <a:defRPr/>
              </a:pPr>
              <a:r>
                <a:rPr lang="zh-CN" altLang="en-US" dirty="0">
                  <a:solidFill>
                    <a:srgbClr val="0D5294"/>
                  </a:solidFill>
                  <a:latin typeface="微软雅黑" panose="020B0503020204020204" pitchFamily="34" charset="-122"/>
                  <a:ea typeface="微软雅黑" panose="020B0503020204020204" pitchFamily="34" charset="-122"/>
                  <a:cs typeface="微软雅黑" panose="020B0503020204020204" pitchFamily="34" charset="-122"/>
                </a:rPr>
                <a:t>如何筛选出奇数行</a:t>
              </a:r>
              <a:endParaRPr lang="en-US" altLang="zh-CN" dirty="0">
                <a:solidFill>
                  <a:srgbClr val="0D5294"/>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extLst>
      <p:ext uri="{BB962C8B-B14F-4D97-AF65-F5344CB8AC3E}">
        <p14:creationId xmlns:p14="http://schemas.microsoft.com/office/powerpoint/2010/main" val="3124570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419779-2E1A-5852-FB64-7D0C106AA24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D7251B9-6BFA-580B-49A4-A6752318AC60}"/>
              </a:ext>
            </a:extLst>
          </p:cNvPr>
          <p:cNvSpPr>
            <a:spLocks noGrp="1"/>
          </p:cNvSpPr>
          <p:nvPr>
            <p:ph type="title"/>
          </p:nvPr>
        </p:nvSpPr>
        <p:spPr/>
        <p:txBody>
          <a:bodyPr/>
          <a:lstStyle/>
          <a:p>
            <a:r>
              <a:rPr lang="zh-CN" altLang="en-US" dirty="0"/>
              <a:t>使用布尔数组进行数据筛选</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937D80A4-1442-BDCC-D53C-B3305504CF78}"/>
              </a:ext>
            </a:extLst>
          </p:cNvPr>
          <p:cNvSpPr>
            <a:spLocks noGrp="1"/>
          </p:cNvSpPr>
          <p:nvPr>
            <p:ph type="sldNum" sz="quarter" idx="12"/>
          </p:nvPr>
        </p:nvSpPr>
        <p:spPr/>
        <p:txBody>
          <a:bodyPr/>
          <a:lstStyle/>
          <a:p>
            <a:fld id="{E1BEBC7A-FD02-486B-81B5-A845787C689C}" type="slidenum">
              <a:rPr lang="zh-CN" altLang="en-US" smtClean="0"/>
              <a:t>34</a:t>
            </a:fld>
            <a:endParaRPr lang="zh-CN" altLang="en-US"/>
          </a:p>
        </p:txBody>
      </p:sp>
      <p:sp>
        <p:nvSpPr>
          <p:cNvPr id="9" name="Content Placeholder 2">
            <a:extLst>
              <a:ext uri="{FF2B5EF4-FFF2-40B4-BE49-F238E27FC236}">
                <a16:creationId xmlns="" xmlns:a16="http://schemas.microsoft.com/office/drawing/2014/main" id="{EC425D3B-8F8F-6350-CE8F-EA62BB072B40}"/>
              </a:ext>
            </a:extLst>
          </p:cNvPr>
          <p:cNvSpPr>
            <a:spLocks noGrp="1"/>
          </p:cNvSpPr>
          <p:nvPr>
            <p:ph idx="1"/>
          </p:nvPr>
        </p:nvSpPr>
        <p:spPr>
          <a:xfrm>
            <a:off x="457200" y="819150"/>
            <a:ext cx="8229600" cy="876894"/>
          </a:xfrm>
        </p:spPr>
        <p:txBody>
          <a:bodyPr/>
          <a:lstStyle/>
          <a:p>
            <a:r>
              <a:rPr lang="zh-CN" altLang="en-US" dirty="0"/>
              <a:t>筛选方法 </a:t>
            </a:r>
            <a:r>
              <a:rPr lang="en-US" altLang="zh-CN" dirty="0"/>
              <a:t>loc</a:t>
            </a:r>
            <a:r>
              <a:rPr lang="zh-CN" altLang="en-US" dirty="0"/>
              <a:t> 和 </a:t>
            </a:r>
            <a:r>
              <a:rPr lang="en-US" altLang="zh-CN" dirty="0"/>
              <a:t>[</a:t>
            </a:r>
            <a:r>
              <a:rPr lang="zh-CN" altLang="en-US" dirty="0"/>
              <a:t> </a:t>
            </a:r>
            <a:r>
              <a:rPr lang="en-US" altLang="zh-CN" dirty="0"/>
              <a:t>]</a:t>
            </a:r>
            <a:r>
              <a:rPr lang="zh-CN" altLang="en-US" dirty="0"/>
              <a:t> 可以接收一个布尔数组作为输入</a:t>
            </a:r>
            <a:endParaRPr lang="en-US" altLang="zh-CN" dirty="0"/>
          </a:p>
          <a:p>
            <a:r>
              <a:rPr lang="zh-CN" altLang="en-US" dirty="0"/>
              <a:t>筛选规则：索引对应为</a:t>
            </a:r>
            <a:r>
              <a:rPr lang="en-US" altLang="zh-CN" dirty="0"/>
              <a:t>True</a:t>
            </a:r>
            <a:r>
              <a:rPr lang="zh-CN" altLang="en-US" dirty="0"/>
              <a:t>的行返回，对应为</a:t>
            </a:r>
            <a:r>
              <a:rPr lang="en-US" altLang="zh-CN" dirty="0"/>
              <a:t>False</a:t>
            </a:r>
            <a:r>
              <a:rPr lang="zh-CN" altLang="en-US" dirty="0"/>
              <a:t>的不返回</a:t>
            </a:r>
            <a:endParaRPr lang="en-US" altLang="zh-CN" dirty="0"/>
          </a:p>
        </p:txBody>
      </p:sp>
      <p:grpSp>
        <p:nvGrpSpPr>
          <p:cNvPr id="18" name="Group 17">
            <a:extLst>
              <a:ext uri="{FF2B5EF4-FFF2-40B4-BE49-F238E27FC236}">
                <a16:creationId xmlns="" xmlns:a16="http://schemas.microsoft.com/office/drawing/2014/main" id="{CADB7BB6-8730-DDB8-A83D-157EFD642CC7}"/>
              </a:ext>
            </a:extLst>
          </p:cNvPr>
          <p:cNvGrpSpPr/>
          <p:nvPr/>
        </p:nvGrpSpPr>
        <p:grpSpPr>
          <a:xfrm>
            <a:off x="409574" y="1810344"/>
            <a:ext cx="2184551" cy="2891117"/>
            <a:chOff x="7012532" y="2291255"/>
            <a:chExt cx="1862493" cy="2464894"/>
          </a:xfrm>
        </p:grpSpPr>
        <p:pic>
          <p:nvPicPr>
            <p:cNvPr id="8" name="Picture 7" descr="A table with numbers and letters&#10;&#10;Description automatically generated">
              <a:extLst>
                <a:ext uri="{FF2B5EF4-FFF2-40B4-BE49-F238E27FC236}">
                  <a16:creationId xmlns="" xmlns:a16="http://schemas.microsoft.com/office/drawing/2014/main" id="{30A023F6-7D2A-D02E-0641-9E3E57C9B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2537" y="2291255"/>
              <a:ext cx="1862488" cy="2464894"/>
            </a:xfrm>
            <a:prstGeom prst="rect">
              <a:avLst/>
            </a:prstGeom>
          </p:spPr>
        </p:pic>
        <p:sp>
          <p:nvSpPr>
            <p:cNvPr id="11" name="Google Shape;223;p30">
              <a:extLst>
                <a:ext uri="{FF2B5EF4-FFF2-40B4-BE49-F238E27FC236}">
                  <a16:creationId xmlns="" xmlns:a16="http://schemas.microsoft.com/office/drawing/2014/main" id="{A094A237-D0F1-3A0B-9BA6-DF32CC6839EE}"/>
                </a:ext>
              </a:extLst>
            </p:cNvPr>
            <p:cNvSpPr/>
            <p:nvPr/>
          </p:nvSpPr>
          <p:spPr>
            <a:xfrm>
              <a:off x="7012536" y="2565950"/>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223;p30">
              <a:extLst>
                <a:ext uri="{FF2B5EF4-FFF2-40B4-BE49-F238E27FC236}">
                  <a16:creationId xmlns="" xmlns:a16="http://schemas.microsoft.com/office/drawing/2014/main" id="{C7EC9A4F-B9E9-0881-B084-AA3EAAD706B5}"/>
                </a:ext>
              </a:extLst>
            </p:cNvPr>
            <p:cNvSpPr/>
            <p:nvPr/>
          </p:nvSpPr>
          <p:spPr>
            <a:xfrm>
              <a:off x="7012535" y="3010073"/>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223;p30">
              <a:extLst>
                <a:ext uri="{FF2B5EF4-FFF2-40B4-BE49-F238E27FC236}">
                  <a16:creationId xmlns="" xmlns:a16="http://schemas.microsoft.com/office/drawing/2014/main" id="{A8153116-6A50-0D0E-1F00-0ED6829502D0}"/>
                </a:ext>
              </a:extLst>
            </p:cNvPr>
            <p:cNvSpPr/>
            <p:nvPr/>
          </p:nvSpPr>
          <p:spPr>
            <a:xfrm>
              <a:off x="7012534" y="3438032"/>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223;p30">
              <a:extLst>
                <a:ext uri="{FF2B5EF4-FFF2-40B4-BE49-F238E27FC236}">
                  <a16:creationId xmlns="" xmlns:a16="http://schemas.microsoft.com/office/drawing/2014/main" id="{B63FD82F-DCDD-1280-FC77-8B48E6064F6E}"/>
                </a:ext>
              </a:extLst>
            </p:cNvPr>
            <p:cNvSpPr/>
            <p:nvPr/>
          </p:nvSpPr>
          <p:spPr>
            <a:xfrm>
              <a:off x="7012533" y="3867239"/>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223;p30">
              <a:extLst>
                <a:ext uri="{FF2B5EF4-FFF2-40B4-BE49-F238E27FC236}">
                  <a16:creationId xmlns="" xmlns:a16="http://schemas.microsoft.com/office/drawing/2014/main" id="{334D2C89-B016-90DB-2DB6-CE1E2878FBEB}"/>
                </a:ext>
              </a:extLst>
            </p:cNvPr>
            <p:cNvSpPr/>
            <p:nvPr/>
          </p:nvSpPr>
          <p:spPr>
            <a:xfrm>
              <a:off x="7012532" y="4310114"/>
              <a:ext cx="1800059" cy="144000"/>
            </a:xfrm>
            <a:prstGeom prst="flowChartAlternateProcess">
              <a:avLst/>
            </a:prstGeom>
            <a:noFill/>
            <a:ln w="19050" cap="flat" cmpd="sng">
              <a:solidFill>
                <a:srgbClr val="0B5394"/>
              </a:solidFill>
              <a:prstDash val="solid"/>
              <a:round/>
              <a:headEnd type="none" w="sm" len="sm"/>
              <a:tailEnd type="none" w="sm" len="sm"/>
            </a:ln>
            <a:effectLst>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 name="Google Shape;619;p63">
            <a:extLst>
              <a:ext uri="{FF2B5EF4-FFF2-40B4-BE49-F238E27FC236}">
                <a16:creationId xmlns="" xmlns:a16="http://schemas.microsoft.com/office/drawing/2014/main" id="{1DA972BE-C006-BAA0-8C5F-3C7A8C88D9D0}"/>
              </a:ext>
            </a:extLst>
          </p:cNvPr>
          <p:cNvSpPr txBox="1"/>
          <p:nvPr/>
        </p:nvSpPr>
        <p:spPr>
          <a:xfrm>
            <a:off x="2759939" y="1728111"/>
            <a:ext cx="5974487" cy="792000"/>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marR="0" lvl="0" indent="0" algn="l" defTabSz="914400" rtl="0" eaLnBrk="1" fontAlgn="auto" latinLnBrk="0" hangingPunct="1">
              <a:lnSpc>
                <a:spcPct val="135714"/>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babynames_first_10_rows[[</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True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False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True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False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True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False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True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False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True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False</a:t>
            </a:r>
            <a:r>
              <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p>
        </p:txBody>
      </p:sp>
      <p:sp>
        <p:nvSpPr>
          <p:cNvPr id="6" name="Google Shape;619;p63">
            <a:extLst>
              <a:ext uri="{FF2B5EF4-FFF2-40B4-BE49-F238E27FC236}">
                <a16:creationId xmlns="" xmlns:a16="http://schemas.microsoft.com/office/drawing/2014/main" id="{733780CA-E56B-DEB0-2558-B8F6F2A38FC2}"/>
              </a:ext>
            </a:extLst>
          </p:cNvPr>
          <p:cNvSpPr txBox="1"/>
          <p:nvPr/>
        </p:nvSpPr>
        <p:spPr>
          <a:xfrm>
            <a:off x="2759939" y="2607866"/>
            <a:ext cx="5974487" cy="812500"/>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US" sz="1500" dirty="0">
                <a:solidFill>
                  <a:schemeClr val="dk1"/>
                </a:solidFill>
                <a:highlight>
                  <a:srgbClr val="FFFFFE"/>
                </a:highlight>
                <a:latin typeface="Consolas"/>
                <a:ea typeface="Consolas"/>
                <a:cs typeface="Consolas"/>
                <a:sym typeface="Consolas"/>
              </a:rPr>
              <a:t>babynames_first_10_rows.</a:t>
            </a:r>
            <a:r>
              <a:rPr lang="en-US" sz="1500" dirty="0">
                <a:solidFill>
                  <a:schemeClr val="accent3"/>
                </a:solidFill>
                <a:highlight>
                  <a:srgbClr val="FFFFFE"/>
                </a:highlight>
                <a:latin typeface="Consolas"/>
                <a:ea typeface="Consolas"/>
                <a:cs typeface="Consolas"/>
                <a:sym typeface="Consolas"/>
              </a:rPr>
              <a:t>loc</a:t>
            </a:r>
            <a:r>
              <a:rPr lang="en-US" sz="1500" dirty="0">
                <a:solidFill>
                  <a:schemeClr val="dk1"/>
                </a:solidFill>
                <a:highlight>
                  <a:srgbClr val="FFFFFE"/>
                </a:highlight>
                <a:latin typeface="Consolas"/>
                <a:ea typeface="Consolas"/>
                <a:cs typeface="Consolas"/>
                <a:sym typeface="Consolas"/>
              </a:rPr>
              <a:t>[[</a:t>
            </a:r>
            <a:r>
              <a:rPr lang="en-US" sz="1500" dirty="0">
                <a:solidFill>
                  <a:srgbClr val="008000"/>
                </a:solidFill>
                <a:highlight>
                  <a:srgbClr val="FFFFFE"/>
                </a:highlight>
                <a:latin typeface="Consolas"/>
                <a:ea typeface="Consolas"/>
                <a:cs typeface="Consolas"/>
                <a:sym typeface="Consolas"/>
              </a:rPr>
              <a:t>True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False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True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False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True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False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True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False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True</a:t>
            </a:r>
            <a:r>
              <a:rPr lang="en-US" sz="1500" dirty="0">
                <a:solidFill>
                  <a:schemeClr val="dk1"/>
                </a:solidFill>
                <a:highlight>
                  <a:srgbClr val="FFFFFE"/>
                </a:highlight>
                <a:latin typeface="Consolas"/>
                <a:ea typeface="Consolas"/>
                <a:cs typeface="Consolas"/>
                <a:sym typeface="Consolas"/>
              </a:rPr>
              <a:t>, </a:t>
            </a:r>
            <a:r>
              <a:rPr lang="en-US" sz="1500" dirty="0">
                <a:solidFill>
                  <a:srgbClr val="008000"/>
                </a:solidFill>
                <a:highlight>
                  <a:srgbClr val="FFFFFE"/>
                </a:highlight>
                <a:latin typeface="Consolas"/>
                <a:ea typeface="Consolas"/>
                <a:cs typeface="Consolas"/>
                <a:sym typeface="Consolas"/>
              </a:rPr>
              <a:t>False</a:t>
            </a:r>
            <a:r>
              <a:rPr lang="en-US" sz="1500" dirty="0">
                <a:solidFill>
                  <a:schemeClr val="dk1"/>
                </a:solidFill>
                <a:highlight>
                  <a:srgbClr val="FFFFFE"/>
                </a:highlight>
                <a:latin typeface="Consolas"/>
                <a:ea typeface="Consolas"/>
                <a:cs typeface="Consolas"/>
                <a:sym typeface="Consolas"/>
              </a:rPr>
              <a:t>], :]</a:t>
            </a:r>
          </a:p>
        </p:txBody>
      </p:sp>
      <p:pic>
        <p:nvPicPr>
          <p:cNvPr id="10" name="Picture 9">
            <a:extLst>
              <a:ext uri="{FF2B5EF4-FFF2-40B4-BE49-F238E27FC236}">
                <a16:creationId xmlns="" xmlns:a16="http://schemas.microsoft.com/office/drawing/2014/main" id="{90D73919-A954-3AA4-B82C-B78694F7167C}"/>
              </a:ext>
            </a:extLst>
          </p:cNvPr>
          <p:cNvPicPr>
            <a:picLocks noChangeAspect="1"/>
          </p:cNvPicPr>
          <p:nvPr/>
        </p:nvPicPr>
        <p:blipFill>
          <a:blip r:embed="rId4"/>
          <a:stretch>
            <a:fillRect/>
          </a:stretch>
        </p:blipFill>
        <p:spPr>
          <a:xfrm>
            <a:off x="2759939" y="3508121"/>
            <a:ext cx="1556567" cy="1247350"/>
          </a:xfrm>
          <a:prstGeom prst="rect">
            <a:avLst/>
          </a:prstGeom>
        </p:spPr>
      </p:pic>
      <p:sp>
        <p:nvSpPr>
          <p:cNvPr id="19" name="Rectangle 18">
            <a:extLst>
              <a:ext uri="{FF2B5EF4-FFF2-40B4-BE49-F238E27FC236}">
                <a16:creationId xmlns="" xmlns:a16="http://schemas.microsoft.com/office/drawing/2014/main" id="{8AC79AF9-CCA1-EDC1-810C-53B8F42B3817}"/>
              </a:ext>
            </a:extLst>
          </p:cNvPr>
          <p:cNvSpPr/>
          <p:nvPr/>
        </p:nvSpPr>
        <p:spPr>
          <a:xfrm>
            <a:off x="4986525" y="3819429"/>
            <a:ext cx="4100545" cy="458908"/>
          </a:xfrm>
          <a:prstGeom prst="rect">
            <a:avLst/>
          </a:prstGeom>
        </p:spPr>
        <p:txBody>
          <a:bodyPr wrap="square">
            <a:spAutoFit/>
          </a:bodyPr>
          <a:lstStyle/>
          <a:p>
            <a:pPr algn="ct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思考：筛选方法</a:t>
            </a:r>
            <a:r>
              <a:rPr lang="en-US" altLang="zh-CN" dirty="0" err="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iloc</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是否也可如此？</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Rectangle 19">
            <a:extLst>
              <a:ext uri="{FF2B5EF4-FFF2-40B4-BE49-F238E27FC236}">
                <a16:creationId xmlns="" xmlns:a16="http://schemas.microsoft.com/office/drawing/2014/main" id="{874AC52C-1BE7-3569-686E-812445737C9E}"/>
              </a:ext>
            </a:extLst>
          </p:cNvPr>
          <p:cNvSpPr/>
          <p:nvPr/>
        </p:nvSpPr>
        <p:spPr>
          <a:xfrm>
            <a:off x="4572000" y="3870186"/>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3878489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3C0D4AC-EC40-A302-0D33-B38E6030B32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49BEBCC-FDA6-58FE-44B4-A6A54E54CB2B}"/>
              </a:ext>
            </a:extLst>
          </p:cNvPr>
          <p:cNvSpPr>
            <a:spLocks noGrp="1"/>
          </p:cNvSpPr>
          <p:nvPr>
            <p:ph type="title"/>
          </p:nvPr>
        </p:nvSpPr>
        <p:spPr/>
        <p:txBody>
          <a:bodyPr/>
          <a:lstStyle/>
          <a:p>
            <a:r>
              <a:rPr lang="zh-CN" altLang="en-US" dirty="0"/>
              <a:t>使用布尔数组进行数据筛选</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61D0581E-EB15-6D09-405E-D26A559438DF}"/>
              </a:ext>
            </a:extLst>
          </p:cNvPr>
          <p:cNvSpPr>
            <a:spLocks noGrp="1"/>
          </p:cNvSpPr>
          <p:nvPr>
            <p:ph type="sldNum" sz="quarter" idx="12"/>
          </p:nvPr>
        </p:nvSpPr>
        <p:spPr/>
        <p:txBody>
          <a:bodyPr/>
          <a:lstStyle/>
          <a:p>
            <a:fld id="{E1BEBC7A-FD02-486B-81B5-A845787C689C}" type="slidenum">
              <a:rPr lang="zh-CN" altLang="en-US" smtClean="0"/>
              <a:t>35</a:t>
            </a:fld>
            <a:endParaRPr lang="zh-CN" altLang="en-US"/>
          </a:p>
        </p:txBody>
      </p:sp>
      <p:sp>
        <p:nvSpPr>
          <p:cNvPr id="9" name="Content Placeholder 2">
            <a:extLst>
              <a:ext uri="{FF2B5EF4-FFF2-40B4-BE49-F238E27FC236}">
                <a16:creationId xmlns="" xmlns:a16="http://schemas.microsoft.com/office/drawing/2014/main" id="{9A001EBA-840E-E8D5-7E3B-E52F35DAD4AA}"/>
              </a:ext>
            </a:extLst>
          </p:cNvPr>
          <p:cNvSpPr>
            <a:spLocks noGrp="1"/>
          </p:cNvSpPr>
          <p:nvPr>
            <p:ph idx="1"/>
          </p:nvPr>
        </p:nvSpPr>
        <p:spPr>
          <a:xfrm>
            <a:off x="457200" y="819150"/>
            <a:ext cx="8229600" cy="876894"/>
          </a:xfrm>
        </p:spPr>
        <p:txBody>
          <a:bodyPr/>
          <a:lstStyle/>
          <a:p>
            <a:r>
              <a:rPr lang="zh-CN" altLang="en-US" dirty="0"/>
              <a:t>使用</a:t>
            </a:r>
            <a:r>
              <a:rPr lang="zh-CN" altLang="en-US" b="1" dirty="0">
                <a:solidFill>
                  <a:srgbClr val="C00000"/>
                </a:solidFill>
              </a:rPr>
              <a:t>逻辑表达式</a:t>
            </a:r>
            <a:r>
              <a:rPr lang="zh-CN" altLang="en-US" dirty="0"/>
              <a:t>产生布尔数组，进而进行</a:t>
            </a:r>
            <a:r>
              <a:rPr lang="zh-CN" altLang="en-US" b="1" dirty="0"/>
              <a:t>条件</a:t>
            </a:r>
            <a:r>
              <a:rPr lang="zh-CN" altLang="en-US" dirty="0"/>
              <a:t>数据筛选</a:t>
            </a:r>
            <a:endParaRPr lang="en-US" altLang="zh-CN" dirty="0"/>
          </a:p>
        </p:txBody>
      </p:sp>
      <p:sp>
        <p:nvSpPr>
          <p:cNvPr id="5" name="Google Shape;619;p63">
            <a:extLst>
              <a:ext uri="{FF2B5EF4-FFF2-40B4-BE49-F238E27FC236}">
                <a16:creationId xmlns="" xmlns:a16="http://schemas.microsoft.com/office/drawing/2014/main" id="{A3647AC9-E57B-F65E-E019-CC4531E9E6B5}"/>
              </a:ext>
            </a:extLst>
          </p:cNvPr>
          <p:cNvSpPr txBox="1"/>
          <p:nvPr/>
        </p:nvSpPr>
        <p:spPr>
          <a:xfrm>
            <a:off x="753184" y="1446760"/>
            <a:ext cx="6857922" cy="49856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marR="0" lvl="0" indent="0" algn="l" defTabSz="914400" rtl="0" eaLnBrk="1" fontAlgn="auto" latinLnBrk="0" hangingPunct="1">
              <a:lnSpc>
                <a:spcPct val="135714"/>
              </a:lnSpc>
              <a:spcBef>
                <a:spcPts val="0"/>
              </a:spcBef>
              <a:spcAft>
                <a:spcPts val="0"/>
              </a:spcAft>
              <a:buClr>
                <a:srgbClr val="000000"/>
              </a:buClr>
              <a:buSzTx/>
              <a:buFont typeface="Arial"/>
              <a:buNone/>
              <a:tabLst/>
              <a:defRPr/>
            </a:pPr>
            <a:r>
              <a:rPr kumimoji="0" lang="en-US" altLang="zh-C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cond</a:t>
            </a:r>
            <a:r>
              <a:rPr kumimoji="0" lang="zh-CN" alt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altLang="zh-C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zh-CN" alt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babynames</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 sz="1500" b="0" i="0" u="none" strike="noStrike" kern="0" cap="none" spc="0" normalizeH="0" baseline="0" noProof="0" dirty="0">
                <a:ln>
                  <a:noFill/>
                </a:ln>
                <a:solidFill>
                  <a:srgbClr val="A31515"/>
                </a:solidFill>
                <a:effectLst/>
                <a:highlight>
                  <a:srgbClr val="FFFFFE"/>
                </a:highlight>
                <a:uLnTx/>
                <a:uFillTx/>
                <a:latin typeface="Consolas"/>
                <a:ea typeface="Consolas"/>
                <a:cs typeface="Consolas"/>
                <a:sym typeface="Consolas"/>
              </a:rPr>
              <a:t>"Sex"</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 </a:t>
            </a:r>
            <a:r>
              <a:rPr kumimoji="0" lang="en" sz="1500" b="0" i="0" u="none" strike="noStrike" kern="0" cap="none" spc="0" normalizeH="0" baseline="0" noProof="0" dirty="0">
                <a:ln>
                  <a:noFill/>
                </a:ln>
                <a:solidFill>
                  <a:srgbClr val="A31515"/>
                </a:solidFill>
                <a:effectLst/>
                <a:highlight>
                  <a:srgbClr val="FFFFFE"/>
                </a:highlight>
                <a:uLnTx/>
                <a:uFillTx/>
                <a:latin typeface="Consolas"/>
                <a:ea typeface="Consolas"/>
                <a:cs typeface="Consolas"/>
                <a:sym typeface="Consolas"/>
              </a:rPr>
              <a:t>"F"</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lang="en-US" altLang="zh-CN" sz="1400" kern="0" dirty="0">
                <a:solidFill>
                  <a:srgbClr val="AF00DB"/>
                </a:solidFill>
                <a:highlight>
                  <a:srgbClr val="FFFFFE"/>
                </a:highlight>
                <a:latin typeface="Arial"/>
                <a:ea typeface="Consolas"/>
                <a:cs typeface="Arial"/>
                <a:sym typeface="Arial"/>
              </a:rPr>
              <a:t>&amp;</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babynames</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 sz="1500" b="0" i="0" u="none" strike="noStrike" kern="0" cap="none" spc="0" normalizeH="0" baseline="0" noProof="0" dirty="0">
                <a:ln>
                  <a:noFill/>
                </a:ln>
                <a:solidFill>
                  <a:srgbClr val="A31515"/>
                </a:solidFill>
                <a:effectLst/>
                <a:highlight>
                  <a:srgbClr val="FFFFFE"/>
                </a:highlight>
                <a:uLnTx/>
                <a:uFillTx/>
                <a:latin typeface="Consolas"/>
                <a:ea typeface="Consolas"/>
                <a:cs typeface="Consolas"/>
                <a:sym typeface="Consolas"/>
              </a:rPr>
              <a:t>"Year"</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US" altLang="zh-C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&gt;</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 </a:t>
            </a:r>
            <a:r>
              <a:rPr kumimoji="0" lang="en" sz="1500" b="0" i="0" u="none" strike="noStrike" kern="0" cap="none" spc="0" normalizeH="0" baseline="0" noProof="0" dirty="0">
                <a:ln>
                  <a:noFill/>
                </a:ln>
                <a:solidFill>
                  <a:srgbClr val="008000"/>
                </a:solidFill>
                <a:effectLst/>
                <a:highlight>
                  <a:srgbClr val="FFFFFE"/>
                </a:highlight>
                <a:uLnTx/>
                <a:uFillTx/>
                <a:latin typeface="Consolas"/>
                <a:ea typeface="Consolas"/>
                <a:cs typeface="Consolas"/>
                <a:sym typeface="Consolas"/>
              </a:rPr>
              <a:t>2000</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endPar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endParaRPr>
          </a:p>
        </p:txBody>
      </p:sp>
      <p:grpSp>
        <p:nvGrpSpPr>
          <p:cNvPr id="27" name="Group 26">
            <a:extLst>
              <a:ext uri="{FF2B5EF4-FFF2-40B4-BE49-F238E27FC236}">
                <a16:creationId xmlns="" xmlns:a16="http://schemas.microsoft.com/office/drawing/2014/main" id="{6BFA93D9-71A2-C9B1-ABF1-4B347D7083B4}"/>
              </a:ext>
            </a:extLst>
          </p:cNvPr>
          <p:cNvGrpSpPr/>
          <p:nvPr/>
        </p:nvGrpSpPr>
        <p:grpSpPr>
          <a:xfrm>
            <a:off x="753183" y="2037230"/>
            <a:ext cx="3116356" cy="2718920"/>
            <a:chOff x="769844" y="2037230"/>
            <a:chExt cx="3116356" cy="2718920"/>
          </a:xfrm>
        </p:grpSpPr>
        <p:pic>
          <p:nvPicPr>
            <p:cNvPr id="16" name="Picture 15" descr="A screenshot of a computer&#10;&#10;Description automatically generated">
              <a:extLst>
                <a:ext uri="{FF2B5EF4-FFF2-40B4-BE49-F238E27FC236}">
                  <a16:creationId xmlns="" xmlns:a16="http://schemas.microsoft.com/office/drawing/2014/main" id="{C2ED79D5-BA79-F2A5-99CB-69BA68AB1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844" y="2037230"/>
              <a:ext cx="2945497" cy="2718920"/>
            </a:xfrm>
            <a:prstGeom prst="rect">
              <a:avLst/>
            </a:prstGeom>
          </p:spPr>
        </p:pic>
        <p:sp>
          <p:nvSpPr>
            <p:cNvPr id="23" name="TextBox 22">
              <a:extLst>
                <a:ext uri="{FF2B5EF4-FFF2-40B4-BE49-F238E27FC236}">
                  <a16:creationId xmlns="" xmlns:a16="http://schemas.microsoft.com/office/drawing/2014/main" id="{DAEDE293-97A6-FF29-8FA9-33E398999DB3}"/>
                </a:ext>
              </a:extLst>
            </p:cNvPr>
            <p:cNvSpPr txBox="1"/>
            <p:nvPr/>
          </p:nvSpPr>
          <p:spPr>
            <a:xfrm>
              <a:off x="1590115" y="3493353"/>
              <a:ext cx="2296085" cy="830997"/>
            </a:xfrm>
            <a:prstGeom prst="rect">
              <a:avLst/>
            </a:prstGeom>
            <a:noFill/>
          </p:spPr>
          <p:txBody>
            <a:bodyPr wrap="square">
              <a:spAutoFit/>
            </a:bodyPr>
            <a:lstStyle/>
            <a:p>
              <a:pPr marR="0" lvl="2" algn="l" defTabSz="914400" rtl="0" eaLnBrk="1" fontAlgn="auto" latinLnBrk="0" hangingPunct="1">
                <a:lnSpc>
                  <a:spcPct val="100000"/>
                </a:lnSpc>
                <a:spcBef>
                  <a:spcPct val="20000"/>
                </a:spcBef>
                <a:spcAft>
                  <a:spcPts val="0"/>
                </a:spcAft>
                <a:buClrTx/>
                <a:buSzTx/>
                <a:tabLst/>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Wingdings"/>
                </a:rPr>
                <a:t>一个由布尔值构成的</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Wingdings"/>
                </a:rPr>
                <a:t>Series</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Wingdings"/>
                </a:rPr>
                <a:t>对象</a:t>
              </a:r>
              <a:endPar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Wingdings"/>
              </a:endParaRPr>
            </a:p>
          </p:txBody>
        </p:sp>
      </p:grpSp>
      <p:pic>
        <p:nvPicPr>
          <p:cNvPr id="25" name="Picture 24" descr="A screenshot of a cell phone&#10;&#10;Description automatically generated">
            <a:extLst>
              <a:ext uri="{FF2B5EF4-FFF2-40B4-BE49-F238E27FC236}">
                <a16:creationId xmlns="" xmlns:a16="http://schemas.microsoft.com/office/drawing/2014/main" id="{D08B3A14-7B18-A91B-F7F3-253E04566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913" y="2037230"/>
            <a:ext cx="1946386" cy="2718920"/>
          </a:xfrm>
          <a:prstGeom prst="rect">
            <a:avLst/>
          </a:prstGeom>
        </p:spPr>
      </p:pic>
      <p:sp>
        <p:nvSpPr>
          <p:cNvPr id="26" name="Right Arrow 25">
            <a:extLst>
              <a:ext uri="{FF2B5EF4-FFF2-40B4-BE49-F238E27FC236}">
                <a16:creationId xmlns="" xmlns:a16="http://schemas.microsoft.com/office/drawing/2014/main" id="{9FF7EE27-CA42-E757-3D93-1163A0C6BEA2}"/>
              </a:ext>
            </a:extLst>
          </p:cNvPr>
          <p:cNvSpPr/>
          <p:nvPr/>
        </p:nvSpPr>
        <p:spPr>
          <a:xfrm>
            <a:off x="4074326" y="2206175"/>
            <a:ext cx="2304140" cy="342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8" name="Google Shape;619;p63">
            <a:extLst>
              <a:ext uri="{FF2B5EF4-FFF2-40B4-BE49-F238E27FC236}">
                <a16:creationId xmlns="" xmlns:a16="http://schemas.microsoft.com/office/drawing/2014/main" id="{6A603D61-9A21-14C4-F405-D3121C2FE45F}"/>
              </a:ext>
            </a:extLst>
          </p:cNvPr>
          <p:cNvSpPr txBox="1"/>
          <p:nvPr/>
        </p:nvSpPr>
        <p:spPr>
          <a:xfrm>
            <a:off x="3958127" y="2809132"/>
            <a:ext cx="2508926" cy="49856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marR="0" lvl="0" indent="0" algn="l" defTabSz="914400" rtl="0" eaLnBrk="1" fontAlgn="auto" latinLnBrk="0" hangingPunct="1">
              <a:lnSpc>
                <a:spcPct val="135714"/>
              </a:lnSpc>
              <a:spcBef>
                <a:spcPts val="0"/>
              </a:spcBef>
              <a:spcAft>
                <a:spcPts val="0"/>
              </a:spcAft>
              <a:buClr>
                <a:srgbClr val="000000"/>
              </a:buClr>
              <a:buSzTx/>
              <a:buFont typeface="Arial"/>
              <a:buNone/>
              <a:tabLst/>
              <a:defRPr/>
            </a:pPr>
            <a:r>
              <a:rPr kumimoji="0" lang="e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babynames</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US" altLang="zh-C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cond</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endPar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endParaRPr>
          </a:p>
        </p:txBody>
      </p:sp>
      <p:sp>
        <p:nvSpPr>
          <p:cNvPr id="29" name="Google Shape;619;p63">
            <a:extLst>
              <a:ext uri="{FF2B5EF4-FFF2-40B4-BE49-F238E27FC236}">
                <a16:creationId xmlns="" xmlns:a16="http://schemas.microsoft.com/office/drawing/2014/main" id="{7A37FA3F-BDF6-0148-A237-101DA5E261D2}"/>
              </a:ext>
            </a:extLst>
          </p:cNvPr>
          <p:cNvSpPr txBox="1"/>
          <p:nvPr/>
        </p:nvSpPr>
        <p:spPr>
          <a:xfrm>
            <a:off x="3958126" y="3410283"/>
            <a:ext cx="2508927" cy="49856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marR="0" lvl="0" indent="0" algn="l" defTabSz="914400" rtl="0" eaLnBrk="1" fontAlgn="auto" latinLnBrk="0" hangingPunct="1">
              <a:lnSpc>
                <a:spcPct val="135714"/>
              </a:lnSpc>
              <a:spcBef>
                <a:spcPts val="0"/>
              </a:spcBef>
              <a:spcAft>
                <a:spcPts val="0"/>
              </a:spcAft>
              <a:buClr>
                <a:srgbClr val="000000"/>
              </a:buClr>
              <a:buSzTx/>
              <a:buFont typeface="Arial"/>
              <a:buNone/>
              <a:tabLst/>
              <a:defRPr/>
            </a:pPr>
            <a:r>
              <a:rPr kumimoji="0" lang="e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babynames</a:t>
            </a:r>
            <a:r>
              <a:rPr lang="en-US" altLang="zh-CN" sz="1500" kern="0" dirty="0">
                <a:solidFill>
                  <a:srgbClr val="000000"/>
                </a:solidFill>
                <a:highlight>
                  <a:srgbClr val="FFFFFE"/>
                </a:highlight>
                <a:latin typeface="Consolas"/>
                <a:ea typeface="Consolas"/>
                <a:cs typeface="Consolas"/>
                <a:sym typeface="Consolas"/>
              </a:rPr>
              <a:t>.loc</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US" altLang="zh-C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cond</a:t>
            </a:r>
            <a:r>
              <a:rPr kumimoji="0" lang="en-US" altLang="zh-C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endPar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endParaRPr>
          </a:p>
        </p:txBody>
      </p:sp>
      <p:sp>
        <p:nvSpPr>
          <p:cNvPr id="30" name="Google Shape;619;p63">
            <a:extLst>
              <a:ext uri="{FF2B5EF4-FFF2-40B4-BE49-F238E27FC236}">
                <a16:creationId xmlns="" xmlns:a16="http://schemas.microsoft.com/office/drawing/2014/main" id="{1F5BCEE3-8EEE-5584-49CD-05E052734FB4}"/>
              </a:ext>
            </a:extLst>
          </p:cNvPr>
          <p:cNvSpPr txBox="1"/>
          <p:nvPr/>
        </p:nvSpPr>
        <p:spPr>
          <a:xfrm>
            <a:off x="3958127" y="4066084"/>
            <a:ext cx="2508927" cy="498568"/>
          </a:xfrm>
          <a:prstGeom prst="rect">
            <a:avLst/>
          </a:prstGeom>
          <a:solidFill>
            <a:schemeClr val="bg1"/>
          </a:solidFill>
          <a:ln>
            <a:solidFill>
              <a:srgbClr val="0D5294"/>
            </a:solidFill>
          </a:ln>
        </p:spPr>
        <p:txBody>
          <a:bodyPr spcFirstLastPara="1" wrap="square" lIns="91425" tIns="91425" rIns="91425" bIns="91425" anchor="t" anchorCtr="0">
            <a:spAutoFit/>
          </a:bodyPr>
          <a:lstStyle/>
          <a:p>
            <a:pPr marL="0" marR="0" lvl="0" indent="0" algn="l" defTabSz="914400" rtl="0" eaLnBrk="1" fontAlgn="auto" latinLnBrk="0" hangingPunct="1">
              <a:lnSpc>
                <a:spcPct val="135714"/>
              </a:lnSpc>
              <a:spcBef>
                <a:spcPts val="0"/>
              </a:spcBef>
              <a:spcAft>
                <a:spcPts val="0"/>
              </a:spcAft>
              <a:buClr>
                <a:srgbClr val="000000"/>
              </a:buClr>
              <a:buSzTx/>
              <a:buFont typeface="Arial"/>
              <a:buNone/>
              <a:tabLst/>
              <a:defRPr/>
            </a:pPr>
            <a:r>
              <a:rPr kumimoji="0" lang="e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babynames</a:t>
            </a:r>
            <a:r>
              <a:rPr lang="en-US" altLang="zh-CN" sz="1500" kern="0" dirty="0">
                <a:solidFill>
                  <a:srgbClr val="000000"/>
                </a:solidFill>
                <a:highlight>
                  <a:srgbClr val="FFFFFE"/>
                </a:highlight>
                <a:latin typeface="Consolas"/>
                <a:ea typeface="Consolas"/>
                <a:cs typeface="Consolas"/>
                <a:sym typeface="Consolas"/>
              </a:rPr>
              <a:t>.</a:t>
            </a:r>
            <a:r>
              <a:rPr lang="en-US" altLang="zh-CN" sz="1500" kern="0" dirty="0" err="1">
                <a:solidFill>
                  <a:srgbClr val="000000"/>
                </a:solidFill>
                <a:highlight>
                  <a:srgbClr val="FFFFFE"/>
                </a:highlight>
                <a:latin typeface="Consolas"/>
                <a:ea typeface="Consolas"/>
                <a:cs typeface="Consolas"/>
                <a:sym typeface="Consolas"/>
              </a:rPr>
              <a:t>iloc</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US" altLang="zh-CN" sz="1500" b="0" i="0" u="none" strike="noStrike" kern="0" cap="none" spc="0" normalizeH="0" baseline="0" noProof="0" dirty="0" err="1">
                <a:ln>
                  <a:noFill/>
                </a:ln>
                <a:solidFill>
                  <a:srgbClr val="000000"/>
                </a:solidFill>
                <a:effectLst/>
                <a:highlight>
                  <a:srgbClr val="FFFFFE"/>
                </a:highlight>
                <a:uLnTx/>
                <a:uFillTx/>
                <a:latin typeface="Consolas"/>
                <a:ea typeface="Consolas"/>
                <a:cs typeface="Consolas"/>
                <a:sym typeface="Consolas"/>
              </a:rPr>
              <a:t>cond</a:t>
            </a:r>
            <a:r>
              <a:rPr kumimoji="0" lang="en-US" altLang="zh-C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r>
              <a:rPr kumimoji="0" lang="en"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rPr>
              <a:t>]</a:t>
            </a:r>
            <a:endParaRPr kumimoji="0" lang="en-US" sz="1500" b="0" i="0" u="none" strike="noStrike" kern="0" cap="none" spc="0" normalizeH="0" baseline="0" noProof="0" dirty="0">
              <a:ln>
                <a:noFill/>
              </a:ln>
              <a:solidFill>
                <a:srgbClr val="000000"/>
              </a:solidFill>
              <a:effectLst/>
              <a:highlight>
                <a:srgbClr val="FFFFFE"/>
              </a:highlight>
              <a:uLnTx/>
              <a:uFillTx/>
              <a:latin typeface="Consolas"/>
              <a:ea typeface="Consolas"/>
              <a:cs typeface="Consolas"/>
              <a:sym typeface="Consolas"/>
            </a:endParaRPr>
          </a:p>
        </p:txBody>
      </p:sp>
      <p:grpSp>
        <p:nvGrpSpPr>
          <p:cNvPr id="3" name="Group 2">
            <a:extLst>
              <a:ext uri="{FF2B5EF4-FFF2-40B4-BE49-F238E27FC236}">
                <a16:creationId xmlns="" xmlns:a16="http://schemas.microsoft.com/office/drawing/2014/main" id="{EDF17728-D987-14CE-54ED-30BA2C7F5D5B}"/>
              </a:ext>
            </a:extLst>
          </p:cNvPr>
          <p:cNvGrpSpPr/>
          <p:nvPr/>
        </p:nvGrpSpPr>
        <p:grpSpPr>
          <a:xfrm>
            <a:off x="5027819" y="4109956"/>
            <a:ext cx="451814" cy="451814"/>
            <a:chOff x="1187624" y="5360442"/>
            <a:chExt cx="690437" cy="690437"/>
          </a:xfrm>
        </p:grpSpPr>
        <p:cxnSp>
          <p:nvCxnSpPr>
            <p:cNvPr id="6" name="Straight Connector 5">
              <a:extLst>
                <a:ext uri="{FF2B5EF4-FFF2-40B4-BE49-F238E27FC236}">
                  <a16:creationId xmlns="" xmlns:a16="http://schemas.microsoft.com/office/drawing/2014/main" id="{9D5631FF-774E-73A4-FC74-FBF156670347}"/>
                </a:ext>
              </a:extLst>
            </p:cNvPr>
            <p:cNvCxnSpPr/>
            <p:nvPr/>
          </p:nvCxnSpPr>
          <p:spPr>
            <a:xfrm flipH="1">
              <a:off x="1187624" y="5360442"/>
              <a:ext cx="690437" cy="690437"/>
            </a:xfrm>
            <a:prstGeom prst="line">
              <a:avLst/>
            </a:prstGeom>
            <a:noFill/>
            <a:ln w="57150" cap="flat" cmpd="sng" algn="ctr">
              <a:solidFill>
                <a:srgbClr val="C00000"/>
              </a:solidFill>
              <a:prstDash val="solid"/>
            </a:ln>
            <a:effectLst/>
          </p:spPr>
        </p:cxnSp>
        <p:cxnSp>
          <p:nvCxnSpPr>
            <p:cNvPr id="7" name="Straight Connector 6">
              <a:extLst>
                <a:ext uri="{FF2B5EF4-FFF2-40B4-BE49-F238E27FC236}">
                  <a16:creationId xmlns="" xmlns:a16="http://schemas.microsoft.com/office/drawing/2014/main" id="{80C71E8C-E389-DBD5-56DE-E3702C3F0C57}"/>
                </a:ext>
              </a:extLst>
            </p:cNvPr>
            <p:cNvCxnSpPr/>
            <p:nvPr/>
          </p:nvCxnSpPr>
          <p:spPr>
            <a:xfrm>
              <a:off x="1187624" y="5360442"/>
              <a:ext cx="690437" cy="690437"/>
            </a:xfrm>
            <a:prstGeom prst="line">
              <a:avLst/>
            </a:prstGeom>
            <a:noFill/>
            <a:ln w="57150" cap="flat" cmpd="sng" algn="ctr">
              <a:solidFill>
                <a:srgbClr val="C00000"/>
              </a:solidFill>
              <a:prstDash val="solid"/>
            </a:ln>
            <a:effectLst/>
          </p:spPr>
        </p:cxnSp>
      </p:grpSp>
    </p:spTree>
    <p:extLst>
      <p:ext uri="{BB962C8B-B14F-4D97-AF65-F5344CB8AC3E}">
        <p14:creationId xmlns:p14="http://schemas.microsoft.com/office/powerpoint/2010/main" val="505507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dissolv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E89F7D-5A69-DC1A-770A-D38AB11F523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031AFC3-BD50-2764-874A-026A68B6EFDC}"/>
              </a:ext>
            </a:extLst>
          </p:cNvPr>
          <p:cNvSpPr>
            <a:spLocks noGrp="1"/>
          </p:cNvSpPr>
          <p:nvPr>
            <p:ph type="title"/>
          </p:nvPr>
        </p:nvSpPr>
        <p:spPr/>
        <p:txBody>
          <a:bodyPr/>
          <a:lstStyle/>
          <a:p>
            <a:r>
              <a:rPr lang="zh-CN" altLang="en-US" dirty="0"/>
              <a:t>使用布尔数组进行数据筛选</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B10C164D-2641-49C4-60FD-45AB938861D2}"/>
              </a:ext>
            </a:extLst>
          </p:cNvPr>
          <p:cNvSpPr>
            <a:spLocks noGrp="1"/>
          </p:cNvSpPr>
          <p:nvPr>
            <p:ph type="sldNum" sz="quarter" idx="12"/>
          </p:nvPr>
        </p:nvSpPr>
        <p:spPr/>
        <p:txBody>
          <a:bodyPr/>
          <a:lstStyle/>
          <a:p>
            <a:fld id="{E1BEBC7A-FD02-486B-81B5-A845787C689C}" type="slidenum">
              <a:rPr lang="zh-CN" altLang="en-US" smtClean="0"/>
              <a:t>36</a:t>
            </a:fld>
            <a:endParaRPr lang="zh-CN" altLang="en-US"/>
          </a:p>
        </p:txBody>
      </p:sp>
      <p:sp>
        <p:nvSpPr>
          <p:cNvPr id="9" name="Content Placeholder 2">
            <a:extLst>
              <a:ext uri="{FF2B5EF4-FFF2-40B4-BE49-F238E27FC236}">
                <a16:creationId xmlns="" xmlns:a16="http://schemas.microsoft.com/office/drawing/2014/main" id="{DC355F1E-DB45-8431-C5D5-8E91B7DA2A69}"/>
              </a:ext>
            </a:extLst>
          </p:cNvPr>
          <p:cNvSpPr>
            <a:spLocks noGrp="1"/>
          </p:cNvSpPr>
          <p:nvPr>
            <p:ph idx="1"/>
          </p:nvPr>
        </p:nvSpPr>
        <p:spPr>
          <a:xfrm>
            <a:off x="457200" y="819150"/>
            <a:ext cx="8229600" cy="1219350"/>
          </a:xfrm>
        </p:spPr>
        <p:txBody>
          <a:bodyPr/>
          <a:lstStyle/>
          <a:p>
            <a:r>
              <a:rPr lang="zh-CN" altLang="en-US" dirty="0"/>
              <a:t>使用</a:t>
            </a:r>
            <a:r>
              <a:rPr lang="zh-CN" altLang="en-US" b="1" dirty="0">
                <a:solidFill>
                  <a:srgbClr val="C00000"/>
                </a:solidFill>
              </a:rPr>
              <a:t>逻辑表达式</a:t>
            </a:r>
            <a:r>
              <a:rPr lang="zh-CN" altLang="en-US" dirty="0"/>
              <a:t>产生布尔数组，进而进行</a:t>
            </a:r>
            <a:r>
              <a:rPr lang="zh-CN" altLang="en-US" b="1" dirty="0"/>
              <a:t>条件</a:t>
            </a:r>
            <a:r>
              <a:rPr lang="zh-CN" altLang="en-US" dirty="0"/>
              <a:t>数据筛选</a:t>
            </a:r>
            <a:endParaRPr lang="en-US" altLang="zh-CN" dirty="0"/>
          </a:p>
          <a:p>
            <a:r>
              <a:rPr lang="zh-CN" altLang="en-US" dirty="0"/>
              <a:t>如何连接多个逻辑表达式？</a:t>
            </a:r>
            <a:endParaRPr lang="en-US" altLang="zh-CN" dirty="0"/>
          </a:p>
          <a:p>
            <a:pPr lvl="1"/>
            <a:r>
              <a:rPr lang="zh-CN" altLang="en-US" dirty="0"/>
              <a:t>考虑</a:t>
            </a:r>
            <a:r>
              <a:rPr lang="en-US" altLang="zh-CN" dirty="0"/>
              <a:t>p</a:t>
            </a:r>
            <a:r>
              <a:rPr lang="zh-CN" altLang="en-US" dirty="0"/>
              <a:t>和</a:t>
            </a:r>
            <a:r>
              <a:rPr lang="en-US" altLang="zh-CN" dirty="0"/>
              <a:t>q</a:t>
            </a:r>
            <a:r>
              <a:rPr lang="zh-CN" altLang="en-US" dirty="0"/>
              <a:t>是两个布尔数组或是取值为布尔值的</a:t>
            </a:r>
            <a:r>
              <a:rPr lang="en-US" altLang="zh-CN" dirty="0"/>
              <a:t>Series</a:t>
            </a:r>
            <a:r>
              <a:rPr lang="zh-CN" altLang="en-US" dirty="0"/>
              <a:t>对象</a:t>
            </a:r>
            <a:endParaRPr lang="en-US" altLang="zh-CN" dirty="0"/>
          </a:p>
        </p:txBody>
      </p:sp>
      <p:graphicFrame>
        <p:nvGraphicFramePr>
          <p:cNvPr id="8" name="Google Shape;302;p36">
            <a:extLst>
              <a:ext uri="{FF2B5EF4-FFF2-40B4-BE49-F238E27FC236}">
                <a16:creationId xmlns="" xmlns:a16="http://schemas.microsoft.com/office/drawing/2014/main" id="{7C4CE423-1644-EE30-2A93-28202480BA8C}"/>
              </a:ext>
            </a:extLst>
          </p:cNvPr>
          <p:cNvGraphicFramePr/>
          <p:nvPr>
            <p:extLst>
              <p:ext uri="{D42A27DB-BD31-4B8C-83A1-F6EECF244321}">
                <p14:modId xmlns:p14="http://schemas.microsoft.com/office/powerpoint/2010/main" val="2346974314"/>
              </p:ext>
            </p:extLst>
          </p:nvPr>
        </p:nvGraphicFramePr>
        <p:xfrm>
          <a:off x="952500" y="2114925"/>
          <a:ext cx="7239000" cy="2285850"/>
        </p:xfrm>
        <a:graphic>
          <a:graphicData uri="http://schemas.openxmlformats.org/drawingml/2006/table">
            <a:tbl>
              <a:tblPr>
                <a:noFill/>
              </a:tblPr>
              <a:tblGrid>
                <a:gridCol w="2413000">
                  <a:extLst>
                    <a:ext uri="{9D8B030D-6E8A-4147-A177-3AD203B41FA5}">
                      <a16:colId xmlns="" xmlns:a16="http://schemas.microsoft.com/office/drawing/2014/main" val="20000"/>
                    </a:ext>
                  </a:extLst>
                </a:gridCol>
                <a:gridCol w="2413000">
                  <a:extLst>
                    <a:ext uri="{9D8B030D-6E8A-4147-A177-3AD203B41FA5}">
                      <a16:colId xmlns="" xmlns:a16="http://schemas.microsoft.com/office/drawing/2014/main" val="20001"/>
                    </a:ext>
                  </a:extLst>
                </a:gridCol>
                <a:gridCol w="2413000">
                  <a:extLst>
                    <a:ext uri="{9D8B030D-6E8A-4147-A177-3AD203B41FA5}">
                      <a16:colId xmlns="" xmlns:a16="http://schemas.microsoft.com/office/drawing/2014/main" val="20002"/>
                    </a:ext>
                  </a:extLst>
                </a:gridCol>
              </a:tblGrid>
              <a:tr h="0">
                <a:tc>
                  <a:txBody>
                    <a:bodyPr/>
                    <a:lstStyle/>
                    <a:p>
                      <a:pPr marL="0" lvl="0" indent="0" algn="ctr" rtl="0">
                        <a:spcBef>
                          <a:spcPts val="0"/>
                        </a:spcBef>
                        <a:spcAft>
                          <a:spcPts val="0"/>
                        </a:spcAft>
                        <a:buNone/>
                      </a:pPr>
                      <a:r>
                        <a:rPr lang="en" b="1">
                          <a:latin typeface="Roboto"/>
                          <a:ea typeface="Roboto"/>
                          <a:cs typeface="Roboto"/>
                          <a:sym typeface="Roboto"/>
                        </a:rPr>
                        <a:t>Symbol</a:t>
                      </a:r>
                      <a:endParaRPr b="1">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b="1" dirty="0">
                          <a:latin typeface="Roboto"/>
                          <a:ea typeface="Roboto"/>
                          <a:cs typeface="Roboto"/>
                          <a:sym typeface="Roboto"/>
                        </a:rPr>
                        <a:t>Usage</a:t>
                      </a:r>
                      <a:endParaRPr b="1" dirty="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b="1">
                          <a:latin typeface="Roboto"/>
                          <a:ea typeface="Roboto"/>
                          <a:cs typeface="Roboto"/>
                          <a:sym typeface="Roboto"/>
                        </a:rPr>
                        <a:t>Meaning</a:t>
                      </a:r>
                      <a:endParaRPr b="1">
                        <a:latin typeface="Roboto"/>
                        <a:ea typeface="Roboto"/>
                        <a:cs typeface="Roboto"/>
                        <a:sym typeface="Roboto"/>
                      </a:endParaRPr>
                    </a:p>
                  </a:txBody>
                  <a:tcPr marL="91425" marR="91425" marT="91425" marB="91425"/>
                </a:tc>
                <a:extLst>
                  <a:ext uri="{0D108BD9-81ED-4DB2-BD59-A6C34878D82A}">
                    <a16:rowId xmlns="" xmlns:a16="http://schemas.microsoft.com/office/drawing/2014/main" val="10000"/>
                  </a:ext>
                </a:extLst>
              </a:tr>
              <a:tr h="381000">
                <a:tc>
                  <a:txBody>
                    <a:bodyPr/>
                    <a:lstStyle/>
                    <a:p>
                      <a:pPr marL="0" lvl="0" indent="0" algn="ctr" rtl="0">
                        <a:spcBef>
                          <a:spcPts val="0"/>
                        </a:spcBef>
                        <a:spcAft>
                          <a:spcPts val="0"/>
                        </a:spcAft>
                        <a:buNone/>
                      </a:pPr>
                      <a:r>
                        <a:rPr lang="en">
                          <a:solidFill>
                            <a:srgbClr val="AF00DB"/>
                          </a:solidFill>
                          <a:latin typeface="Consolas"/>
                          <a:ea typeface="Consolas"/>
                          <a:cs typeface="Consolas"/>
                          <a:sym typeface="Consolas"/>
                        </a:rPr>
                        <a:t>~</a:t>
                      </a:r>
                      <a:endParaRPr>
                        <a:solidFill>
                          <a:srgbClr val="AF00DB"/>
                        </a:solidFill>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dirty="0">
                          <a:solidFill>
                            <a:srgbClr val="AF00DB"/>
                          </a:solidFill>
                          <a:latin typeface="Consolas"/>
                          <a:ea typeface="Consolas"/>
                          <a:cs typeface="Consolas"/>
                          <a:sym typeface="Consolas"/>
                        </a:rPr>
                        <a:t>~</a:t>
                      </a:r>
                      <a:r>
                        <a:rPr lang="en" dirty="0">
                          <a:latin typeface="Consolas"/>
                          <a:ea typeface="Consolas"/>
                          <a:cs typeface="Consolas"/>
                          <a:sym typeface="Consolas"/>
                        </a:rPr>
                        <a:t>p</a:t>
                      </a:r>
                      <a:endParaRPr dirty="0">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a:latin typeface="Roboto Light"/>
                          <a:ea typeface="Roboto Light"/>
                          <a:cs typeface="Roboto Light"/>
                          <a:sym typeface="Roboto Light"/>
                        </a:rPr>
                        <a:t>Negation of </a:t>
                      </a:r>
                      <a:r>
                        <a:rPr lang="en">
                          <a:latin typeface="Consolas"/>
                          <a:ea typeface="Consolas"/>
                          <a:cs typeface="Consolas"/>
                          <a:sym typeface="Consolas"/>
                        </a:rPr>
                        <a:t>p</a:t>
                      </a:r>
                      <a:endParaRPr>
                        <a:latin typeface="Consolas"/>
                        <a:ea typeface="Consolas"/>
                        <a:cs typeface="Consolas"/>
                        <a:sym typeface="Consolas"/>
                      </a:endParaRPr>
                    </a:p>
                  </a:txBody>
                  <a:tcPr marL="91425" marR="91425" marT="91425" marB="91425"/>
                </a:tc>
                <a:extLst>
                  <a:ext uri="{0D108BD9-81ED-4DB2-BD59-A6C34878D82A}">
                    <a16:rowId xmlns="" xmlns:a16="http://schemas.microsoft.com/office/drawing/2014/main" val="10001"/>
                  </a:ext>
                </a:extLst>
              </a:tr>
              <a:tr h="381000">
                <a:tc>
                  <a:txBody>
                    <a:bodyPr/>
                    <a:lstStyle/>
                    <a:p>
                      <a:pPr marL="0" lvl="0" indent="0" algn="ctr" rtl="0">
                        <a:spcBef>
                          <a:spcPts val="0"/>
                        </a:spcBef>
                        <a:spcAft>
                          <a:spcPts val="0"/>
                        </a:spcAft>
                        <a:buNone/>
                      </a:pPr>
                      <a:r>
                        <a:rPr lang="en">
                          <a:solidFill>
                            <a:srgbClr val="AF00DB"/>
                          </a:solidFill>
                          <a:latin typeface="Consolas"/>
                          <a:ea typeface="Consolas"/>
                          <a:cs typeface="Consolas"/>
                          <a:sym typeface="Consolas"/>
                        </a:rPr>
                        <a:t>|</a:t>
                      </a:r>
                      <a:endParaRPr>
                        <a:solidFill>
                          <a:srgbClr val="AF00DB"/>
                        </a:solidFill>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a:latin typeface="Consolas"/>
                          <a:ea typeface="Consolas"/>
                          <a:cs typeface="Consolas"/>
                          <a:sym typeface="Consolas"/>
                        </a:rPr>
                        <a:t>p </a:t>
                      </a:r>
                      <a:r>
                        <a:rPr lang="en">
                          <a:solidFill>
                            <a:srgbClr val="AF00DB"/>
                          </a:solidFill>
                          <a:latin typeface="Consolas"/>
                          <a:ea typeface="Consolas"/>
                          <a:cs typeface="Consolas"/>
                          <a:sym typeface="Consolas"/>
                        </a:rPr>
                        <a:t>|</a:t>
                      </a:r>
                      <a:r>
                        <a:rPr lang="en">
                          <a:latin typeface="Consolas"/>
                          <a:ea typeface="Consolas"/>
                          <a:cs typeface="Consolas"/>
                          <a:sym typeface="Consolas"/>
                        </a:rPr>
                        <a:t> q</a:t>
                      </a:r>
                      <a:endParaRPr>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a:latin typeface="Consolas"/>
                          <a:ea typeface="Consolas"/>
                          <a:cs typeface="Consolas"/>
                          <a:sym typeface="Consolas"/>
                        </a:rPr>
                        <a:t>p</a:t>
                      </a:r>
                      <a:r>
                        <a:rPr lang="en">
                          <a:latin typeface="Roboto Light"/>
                          <a:ea typeface="Roboto Light"/>
                          <a:cs typeface="Roboto Light"/>
                          <a:sym typeface="Roboto Light"/>
                        </a:rPr>
                        <a:t> OR </a:t>
                      </a:r>
                      <a:r>
                        <a:rPr lang="en">
                          <a:latin typeface="Consolas"/>
                          <a:ea typeface="Consolas"/>
                          <a:cs typeface="Consolas"/>
                          <a:sym typeface="Consolas"/>
                        </a:rPr>
                        <a:t>q</a:t>
                      </a:r>
                      <a:endParaRPr>
                        <a:latin typeface="Consolas"/>
                        <a:ea typeface="Consolas"/>
                        <a:cs typeface="Consolas"/>
                        <a:sym typeface="Consolas"/>
                      </a:endParaRPr>
                    </a:p>
                  </a:txBody>
                  <a:tcPr marL="91425" marR="91425" marT="91425" marB="91425"/>
                </a:tc>
                <a:extLst>
                  <a:ext uri="{0D108BD9-81ED-4DB2-BD59-A6C34878D82A}">
                    <a16:rowId xmlns="" xmlns:a16="http://schemas.microsoft.com/office/drawing/2014/main" val="10002"/>
                  </a:ext>
                </a:extLst>
              </a:tr>
              <a:tr h="381000">
                <a:tc>
                  <a:txBody>
                    <a:bodyPr/>
                    <a:lstStyle/>
                    <a:p>
                      <a:pPr marL="0" lvl="0" indent="0" algn="ctr" rtl="0">
                        <a:spcBef>
                          <a:spcPts val="0"/>
                        </a:spcBef>
                        <a:spcAft>
                          <a:spcPts val="0"/>
                        </a:spcAft>
                        <a:buNone/>
                      </a:pPr>
                      <a:r>
                        <a:rPr lang="en">
                          <a:solidFill>
                            <a:srgbClr val="AF00DB"/>
                          </a:solidFill>
                          <a:latin typeface="Consolas"/>
                          <a:ea typeface="Consolas"/>
                          <a:cs typeface="Consolas"/>
                          <a:sym typeface="Consolas"/>
                        </a:rPr>
                        <a:t>&amp;</a:t>
                      </a:r>
                      <a:endParaRPr>
                        <a:solidFill>
                          <a:srgbClr val="AF00DB"/>
                        </a:solidFill>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a:latin typeface="Consolas"/>
                          <a:ea typeface="Consolas"/>
                          <a:cs typeface="Consolas"/>
                          <a:sym typeface="Consolas"/>
                        </a:rPr>
                        <a:t>p </a:t>
                      </a:r>
                      <a:r>
                        <a:rPr lang="en">
                          <a:solidFill>
                            <a:srgbClr val="AF00DB"/>
                          </a:solidFill>
                          <a:latin typeface="Consolas"/>
                          <a:ea typeface="Consolas"/>
                          <a:cs typeface="Consolas"/>
                          <a:sym typeface="Consolas"/>
                        </a:rPr>
                        <a:t>&amp;</a:t>
                      </a:r>
                      <a:r>
                        <a:rPr lang="en">
                          <a:latin typeface="Consolas"/>
                          <a:ea typeface="Consolas"/>
                          <a:cs typeface="Consolas"/>
                          <a:sym typeface="Consolas"/>
                        </a:rPr>
                        <a:t> q</a:t>
                      </a:r>
                      <a:endParaRPr>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a:latin typeface="Consolas"/>
                          <a:ea typeface="Consolas"/>
                          <a:cs typeface="Consolas"/>
                          <a:sym typeface="Consolas"/>
                        </a:rPr>
                        <a:t>p</a:t>
                      </a:r>
                      <a:r>
                        <a:rPr lang="en">
                          <a:latin typeface="Roboto Light"/>
                          <a:ea typeface="Roboto Light"/>
                          <a:cs typeface="Roboto Light"/>
                          <a:sym typeface="Roboto Light"/>
                        </a:rPr>
                        <a:t> AND </a:t>
                      </a:r>
                      <a:r>
                        <a:rPr lang="en">
                          <a:latin typeface="Consolas"/>
                          <a:ea typeface="Consolas"/>
                          <a:cs typeface="Consolas"/>
                          <a:sym typeface="Consolas"/>
                        </a:rPr>
                        <a:t>q</a:t>
                      </a:r>
                      <a:endParaRPr>
                        <a:latin typeface="Consolas"/>
                        <a:ea typeface="Consolas"/>
                        <a:cs typeface="Consolas"/>
                        <a:sym typeface="Consolas"/>
                      </a:endParaRPr>
                    </a:p>
                  </a:txBody>
                  <a:tcPr marL="91425" marR="91425" marT="91425" marB="91425"/>
                </a:tc>
                <a:extLst>
                  <a:ext uri="{0D108BD9-81ED-4DB2-BD59-A6C34878D82A}">
                    <a16:rowId xmlns="" xmlns:a16="http://schemas.microsoft.com/office/drawing/2014/main" val="10003"/>
                  </a:ext>
                </a:extLst>
              </a:tr>
              <a:tr h="381000">
                <a:tc>
                  <a:txBody>
                    <a:bodyPr/>
                    <a:lstStyle/>
                    <a:p>
                      <a:pPr marL="0" lvl="0" indent="0" algn="ctr" rtl="0">
                        <a:spcBef>
                          <a:spcPts val="0"/>
                        </a:spcBef>
                        <a:spcAft>
                          <a:spcPts val="0"/>
                        </a:spcAft>
                        <a:buNone/>
                      </a:pPr>
                      <a:r>
                        <a:rPr lang="en" dirty="0">
                          <a:solidFill>
                            <a:srgbClr val="AF00DB"/>
                          </a:solidFill>
                          <a:latin typeface="Consolas"/>
                          <a:ea typeface="Consolas"/>
                          <a:cs typeface="Consolas"/>
                          <a:sym typeface="Consolas"/>
                        </a:rPr>
                        <a:t>^</a:t>
                      </a:r>
                      <a:endParaRPr dirty="0">
                        <a:solidFill>
                          <a:srgbClr val="AF00DB"/>
                        </a:solidFill>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a:latin typeface="Consolas"/>
                          <a:ea typeface="Consolas"/>
                          <a:cs typeface="Consolas"/>
                          <a:sym typeface="Consolas"/>
                        </a:rPr>
                        <a:t>p </a:t>
                      </a:r>
                      <a:r>
                        <a:rPr lang="en">
                          <a:solidFill>
                            <a:srgbClr val="AF00DB"/>
                          </a:solidFill>
                          <a:latin typeface="Consolas"/>
                          <a:ea typeface="Consolas"/>
                          <a:cs typeface="Consolas"/>
                          <a:sym typeface="Consolas"/>
                        </a:rPr>
                        <a:t>^</a:t>
                      </a:r>
                      <a:r>
                        <a:rPr lang="en">
                          <a:latin typeface="Consolas"/>
                          <a:ea typeface="Consolas"/>
                          <a:cs typeface="Consolas"/>
                          <a:sym typeface="Consolas"/>
                        </a:rPr>
                        <a:t> q</a:t>
                      </a:r>
                      <a:endParaRPr>
                        <a:latin typeface="Consolas"/>
                        <a:ea typeface="Consolas"/>
                        <a:cs typeface="Consolas"/>
                        <a:sym typeface="Consolas"/>
                      </a:endParaRPr>
                    </a:p>
                  </a:txBody>
                  <a:tcPr marL="91425" marR="91425" marT="91425" marB="91425"/>
                </a:tc>
                <a:tc>
                  <a:txBody>
                    <a:bodyPr/>
                    <a:lstStyle/>
                    <a:p>
                      <a:pPr marL="0" lvl="0" indent="0" algn="ctr" rtl="0">
                        <a:spcBef>
                          <a:spcPts val="0"/>
                        </a:spcBef>
                        <a:spcAft>
                          <a:spcPts val="0"/>
                        </a:spcAft>
                        <a:buNone/>
                      </a:pPr>
                      <a:r>
                        <a:rPr lang="en" dirty="0">
                          <a:latin typeface="Consolas"/>
                          <a:ea typeface="Consolas"/>
                          <a:cs typeface="Consolas"/>
                          <a:sym typeface="Consolas"/>
                        </a:rPr>
                        <a:t>p</a:t>
                      </a:r>
                      <a:r>
                        <a:rPr lang="en" dirty="0">
                          <a:latin typeface="Roboto Light"/>
                          <a:ea typeface="Roboto Light"/>
                          <a:cs typeface="Roboto Light"/>
                          <a:sym typeface="Roboto Light"/>
                        </a:rPr>
                        <a:t> XOR </a:t>
                      </a:r>
                      <a:r>
                        <a:rPr lang="en" dirty="0">
                          <a:latin typeface="Consolas"/>
                          <a:ea typeface="Consolas"/>
                          <a:cs typeface="Consolas"/>
                          <a:sym typeface="Consolas"/>
                        </a:rPr>
                        <a:t>q</a:t>
                      </a:r>
                      <a:r>
                        <a:rPr lang="en" dirty="0">
                          <a:latin typeface="Roboto Light"/>
                          <a:ea typeface="Roboto Light"/>
                          <a:cs typeface="Roboto Light"/>
                          <a:sym typeface="Roboto Light"/>
                        </a:rPr>
                        <a:t> (exclusive or)</a:t>
                      </a:r>
                      <a:endParaRPr dirty="0">
                        <a:latin typeface="Roboto Light"/>
                        <a:ea typeface="Roboto Light"/>
                        <a:cs typeface="Roboto Light"/>
                        <a:sym typeface="Roboto Light"/>
                      </a:endParaRPr>
                    </a:p>
                  </a:txBody>
                  <a:tcPr marL="91425" marR="91425" marT="91425" marB="91425"/>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38283953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94CE91-AAD9-37C7-99F0-6A99D1B8CC5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A351E38-F1DB-D558-3855-4335461D26E7}"/>
              </a:ext>
            </a:extLst>
          </p:cNvPr>
          <p:cNvSpPr>
            <a:spLocks noGrp="1"/>
          </p:cNvSpPr>
          <p:nvPr>
            <p:ph type="title"/>
          </p:nvPr>
        </p:nvSpPr>
        <p:spPr/>
        <p:txBody>
          <a:bodyPr/>
          <a:lstStyle/>
          <a:p>
            <a:r>
              <a:rPr lang="zh-CN" altLang="en-US" dirty="0"/>
              <a:t>课堂练习</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2A356A16-E951-914B-F1C6-E1B72EEFF91F}"/>
              </a:ext>
            </a:extLst>
          </p:cNvPr>
          <p:cNvSpPr>
            <a:spLocks noGrp="1"/>
          </p:cNvSpPr>
          <p:nvPr>
            <p:ph type="sldNum" sz="quarter" idx="12"/>
          </p:nvPr>
        </p:nvSpPr>
        <p:spPr/>
        <p:txBody>
          <a:bodyPr/>
          <a:lstStyle/>
          <a:p>
            <a:fld id="{E1BEBC7A-FD02-486B-81B5-A845787C689C}" type="slidenum">
              <a:rPr lang="zh-CN" altLang="en-US" smtClean="0"/>
              <a:t>37</a:t>
            </a:fld>
            <a:endParaRPr lang="zh-CN" altLang="en-US"/>
          </a:p>
        </p:txBody>
      </p:sp>
      <p:sp>
        <p:nvSpPr>
          <p:cNvPr id="9" name="Content Placeholder 2">
            <a:extLst>
              <a:ext uri="{FF2B5EF4-FFF2-40B4-BE49-F238E27FC236}">
                <a16:creationId xmlns="" xmlns:a16="http://schemas.microsoft.com/office/drawing/2014/main" id="{EA7F632D-B7CC-425B-245B-DC625AFC26AC}"/>
              </a:ext>
            </a:extLst>
          </p:cNvPr>
          <p:cNvSpPr>
            <a:spLocks noGrp="1"/>
          </p:cNvSpPr>
          <p:nvPr>
            <p:ph idx="1"/>
          </p:nvPr>
        </p:nvSpPr>
        <p:spPr>
          <a:xfrm>
            <a:off x="457200" y="819150"/>
            <a:ext cx="8229600" cy="1219350"/>
          </a:xfrm>
        </p:spPr>
        <p:txBody>
          <a:bodyPr>
            <a:normAutofit/>
          </a:bodyPr>
          <a:lstStyle/>
          <a:p>
            <a:r>
              <a:rPr lang="zh-CN" altLang="en-US" dirty="0"/>
              <a:t>返回</a:t>
            </a:r>
            <a:r>
              <a:rPr lang="en-US" altLang="zh-CN" dirty="0"/>
              <a:t>Name</a:t>
            </a:r>
            <a:r>
              <a:rPr lang="zh-CN" altLang="en-US" dirty="0"/>
              <a:t>中包含</a:t>
            </a:r>
            <a:r>
              <a:rPr lang="en-US" altLang="zh-CN" dirty="0"/>
              <a:t>Angela</a:t>
            </a:r>
            <a:r>
              <a:rPr lang="zh-CN" altLang="en-US" dirty="0"/>
              <a:t>、</a:t>
            </a:r>
            <a:r>
              <a:rPr lang="en-US" altLang="zh-CN" dirty="0"/>
              <a:t>Jacob</a:t>
            </a:r>
            <a:r>
              <a:rPr lang="zh-CN" altLang="en-US" dirty="0"/>
              <a:t>、</a:t>
            </a:r>
            <a:r>
              <a:rPr lang="en-US" altLang="zh-CN" dirty="0" err="1"/>
              <a:t>Zekai</a:t>
            </a:r>
            <a:r>
              <a:rPr lang="zh-CN" altLang="en-US" dirty="0"/>
              <a:t>、</a:t>
            </a:r>
            <a:r>
              <a:rPr lang="en-US" altLang="zh-CN" dirty="0"/>
              <a:t>Maya</a:t>
            </a:r>
            <a:r>
              <a:rPr lang="zh-CN" altLang="en-US" dirty="0"/>
              <a:t>的记录</a:t>
            </a:r>
            <a:endParaRPr lang="en-US" altLang="zh-CN" dirty="0"/>
          </a:p>
        </p:txBody>
      </p:sp>
      <p:pic>
        <p:nvPicPr>
          <p:cNvPr id="5" name="Picture 4" descr="A screenshot of a computer&#10;&#10;Description automatically generated">
            <a:extLst>
              <a:ext uri="{FF2B5EF4-FFF2-40B4-BE49-F238E27FC236}">
                <a16:creationId xmlns="" xmlns:a16="http://schemas.microsoft.com/office/drawing/2014/main" id="{288B114C-7AC6-887C-9FCD-4496A44256EB}"/>
              </a:ext>
            </a:extLst>
          </p:cNvPr>
          <p:cNvPicPr>
            <a:picLocks noChangeAspect="1"/>
          </p:cNvPicPr>
          <p:nvPr/>
        </p:nvPicPr>
        <p:blipFill>
          <a:blip r:embed="rId2">
            <a:extLst>
              <a:ext uri="{28A0092B-C50C-407E-A947-70E740481C1C}">
                <a14:useLocalDpi xmlns:a14="http://schemas.microsoft.com/office/drawing/2010/main" val="0"/>
              </a:ext>
            </a:extLst>
          </a:blip>
          <a:srcRect l="11441" t="13093" r="18411"/>
          <a:stretch/>
        </p:blipFill>
        <p:spPr>
          <a:xfrm>
            <a:off x="365759" y="1293270"/>
            <a:ext cx="2538805" cy="3325958"/>
          </a:xfrm>
          <a:prstGeom prst="rect">
            <a:avLst/>
          </a:prstGeom>
        </p:spPr>
      </p:pic>
      <p:pic>
        <p:nvPicPr>
          <p:cNvPr id="11" name="Picture 10">
            <a:extLst>
              <a:ext uri="{FF2B5EF4-FFF2-40B4-BE49-F238E27FC236}">
                <a16:creationId xmlns="" xmlns:a16="http://schemas.microsoft.com/office/drawing/2014/main" id="{1B199B1B-B2FC-DA0B-1357-89A91A00D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9438" y="1293270"/>
            <a:ext cx="2392464" cy="3325958"/>
          </a:xfrm>
          <a:prstGeom prst="rect">
            <a:avLst/>
          </a:prstGeom>
        </p:spPr>
      </p:pic>
      <p:sp>
        <p:nvSpPr>
          <p:cNvPr id="12" name="Right Arrow 11">
            <a:extLst>
              <a:ext uri="{FF2B5EF4-FFF2-40B4-BE49-F238E27FC236}">
                <a16:creationId xmlns="" xmlns:a16="http://schemas.microsoft.com/office/drawing/2014/main" id="{25EC749D-9423-9003-6A9C-6310F94F939D}"/>
              </a:ext>
            </a:extLst>
          </p:cNvPr>
          <p:cNvSpPr/>
          <p:nvPr/>
        </p:nvSpPr>
        <p:spPr>
          <a:xfrm>
            <a:off x="3177474" y="1428825"/>
            <a:ext cx="2789053" cy="342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3" name="Google Shape;619;p63">
            <a:extLst>
              <a:ext uri="{FF2B5EF4-FFF2-40B4-BE49-F238E27FC236}">
                <a16:creationId xmlns="" xmlns:a16="http://schemas.microsoft.com/office/drawing/2014/main" id="{4EA5BC1A-B235-0379-4BE0-0C2B90A43C25}"/>
              </a:ext>
            </a:extLst>
          </p:cNvPr>
          <p:cNvSpPr txBox="1"/>
          <p:nvPr/>
        </p:nvSpPr>
        <p:spPr>
          <a:xfrm>
            <a:off x="2996005" y="1903516"/>
            <a:ext cx="3140909" cy="1477297"/>
          </a:xfrm>
          <a:prstGeom prst="rect">
            <a:avLst/>
          </a:prstGeom>
          <a:solidFill>
            <a:schemeClr val="bg1"/>
          </a:solidFill>
          <a:ln>
            <a:solidFill>
              <a:srgbClr val="0D5294"/>
            </a:solidFill>
          </a:ln>
        </p:spPr>
        <p:txBody>
          <a:bodyPr spcFirstLastPara="1" wrap="square" lIns="91425" tIns="91425" rIns="91425" bIns="91425" anchor="t" anchorCtr="0">
            <a:spAutoFit/>
          </a:bodyPr>
          <a:lstStyle/>
          <a:p>
            <a:pPr lvl="0">
              <a:buClr>
                <a:srgbClr val="000000"/>
              </a:buClr>
            </a:pP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"Name"</a:t>
            </a:r>
            <a:r>
              <a:rPr lang="en-US" sz="1400" kern="0" dirty="0">
                <a:solidFill>
                  <a:srgbClr val="000000"/>
                </a:solidFill>
                <a:highlight>
                  <a:srgbClr val="FFFFFE"/>
                </a:highlight>
                <a:latin typeface="Consolas"/>
                <a:ea typeface="Consolas"/>
                <a:cs typeface="Consolas"/>
                <a:sym typeface="Consolas"/>
              </a:rPr>
              <a:t>] == </a:t>
            </a:r>
            <a:r>
              <a:rPr lang="en-US" sz="1400" kern="0" dirty="0">
                <a:solidFill>
                  <a:srgbClr val="A31515"/>
                </a:solidFill>
                <a:highlight>
                  <a:srgbClr val="FFFFFE"/>
                </a:highlight>
                <a:latin typeface="Consolas"/>
                <a:ea typeface="Consolas"/>
                <a:cs typeface="Consolas"/>
                <a:sym typeface="Consolas"/>
              </a:rPr>
              <a:t>"Angela"</a:t>
            </a:r>
            <a:r>
              <a:rPr lang="en-US" sz="1400" kern="0" dirty="0">
                <a:solidFill>
                  <a:srgbClr val="000000"/>
                </a:solidFill>
                <a:highlight>
                  <a:srgbClr val="FFFFFE"/>
                </a:highlight>
                <a:latin typeface="Consolas"/>
                <a:ea typeface="Consolas"/>
                <a:cs typeface="Consolas"/>
                <a:sym typeface="Consolas"/>
              </a:rPr>
              <a:t>) </a:t>
            </a:r>
            <a:r>
              <a:rPr lang="en-US" sz="1400" kern="0" dirty="0">
                <a:solidFill>
                  <a:srgbClr val="AF00DB"/>
                </a:solidFill>
                <a:highlight>
                  <a:srgbClr val="FFFFFE"/>
                </a:highlight>
                <a:latin typeface="Consolas"/>
                <a:ea typeface="Consolas"/>
                <a:cs typeface="Consolas"/>
                <a:sym typeface="Consolas"/>
              </a:rPr>
              <a:t>|</a:t>
            </a:r>
            <a:r>
              <a:rPr lang="en-US" sz="1400" kern="0" dirty="0">
                <a:solidFill>
                  <a:srgbClr val="000000"/>
                </a:solidFill>
                <a:highlight>
                  <a:srgbClr val="FFFFFE"/>
                </a:highlight>
                <a:latin typeface="Consolas"/>
                <a:ea typeface="Consolas"/>
                <a:cs typeface="Consolas"/>
                <a:sym typeface="Consolas"/>
              </a:rPr>
              <a:t> (</a:t>
            </a: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"Name"</a:t>
            </a:r>
            <a:r>
              <a:rPr lang="en-US" sz="1400" kern="0" dirty="0">
                <a:solidFill>
                  <a:srgbClr val="000000"/>
                </a:solidFill>
                <a:highlight>
                  <a:srgbClr val="FFFFFE"/>
                </a:highlight>
                <a:latin typeface="Consolas"/>
                <a:ea typeface="Consolas"/>
                <a:cs typeface="Consolas"/>
                <a:sym typeface="Consolas"/>
              </a:rPr>
              <a:t>] == </a:t>
            </a:r>
            <a:r>
              <a:rPr lang="en-US" sz="1400" kern="0" dirty="0">
                <a:solidFill>
                  <a:srgbClr val="A31515"/>
                </a:solidFill>
                <a:highlight>
                  <a:srgbClr val="FFFFFE"/>
                </a:highlight>
                <a:latin typeface="Consolas"/>
                <a:ea typeface="Consolas"/>
                <a:cs typeface="Consolas"/>
                <a:sym typeface="Consolas"/>
              </a:rPr>
              <a:t>"Jacob"</a:t>
            </a:r>
            <a:r>
              <a:rPr lang="en-US" sz="1400" kern="0" dirty="0">
                <a:solidFill>
                  <a:srgbClr val="000000"/>
                </a:solidFill>
                <a:highlight>
                  <a:srgbClr val="FFFFFE"/>
                </a:highlight>
                <a:latin typeface="Consolas"/>
                <a:ea typeface="Consolas"/>
                <a:cs typeface="Consolas"/>
                <a:sym typeface="Consolas"/>
              </a:rPr>
              <a:t>) </a:t>
            </a:r>
            <a:r>
              <a:rPr lang="en-US" sz="1400" kern="0" dirty="0">
                <a:solidFill>
                  <a:srgbClr val="AF00DB"/>
                </a:solidFill>
                <a:highlight>
                  <a:srgbClr val="FFFFFE"/>
                </a:highlight>
                <a:latin typeface="Consolas"/>
                <a:ea typeface="Consolas"/>
                <a:cs typeface="Consolas"/>
                <a:sym typeface="Consolas"/>
              </a:rPr>
              <a:t>| </a:t>
            </a:r>
            <a:r>
              <a:rPr lang="en-US" sz="1400" kern="0" dirty="0">
                <a:solidFill>
                  <a:srgbClr val="000000"/>
                </a:solidFill>
                <a:highlight>
                  <a:srgbClr val="FFFFFE"/>
                </a:highlight>
                <a:latin typeface="Consolas"/>
                <a:ea typeface="Consolas"/>
                <a:cs typeface="Consolas"/>
                <a:sym typeface="Consolas"/>
              </a:rPr>
              <a:t>(</a:t>
            </a: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"Name"</a:t>
            </a:r>
            <a:r>
              <a:rPr lang="en-US" sz="1400" kern="0" dirty="0">
                <a:solidFill>
                  <a:srgbClr val="000000"/>
                </a:solidFill>
                <a:highlight>
                  <a:srgbClr val="FFFFFE"/>
                </a:highlight>
                <a:latin typeface="Consolas"/>
                <a:ea typeface="Consolas"/>
                <a:cs typeface="Consolas"/>
                <a:sym typeface="Consolas"/>
              </a:rPr>
              <a:t>] == </a:t>
            </a:r>
            <a:r>
              <a:rPr lang="en-US" sz="1400" kern="0" dirty="0">
                <a:solidFill>
                  <a:srgbClr val="A31515"/>
                </a:solidFill>
                <a:highlight>
                  <a:srgbClr val="FFFFFE"/>
                </a:highlight>
                <a:latin typeface="Consolas"/>
                <a:ea typeface="Consolas"/>
                <a:cs typeface="Consolas"/>
                <a:sym typeface="Consolas"/>
              </a:rPr>
              <a:t>"</a:t>
            </a:r>
            <a:r>
              <a:rPr lang="en-US" sz="1400" kern="0" dirty="0" err="1">
                <a:solidFill>
                  <a:srgbClr val="A31515"/>
                </a:solidFill>
                <a:highlight>
                  <a:srgbClr val="FFFFFE"/>
                </a:highlight>
                <a:latin typeface="Consolas"/>
                <a:ea typeface="Consolas"/>
                <a:cs typeface="Consolas"/>
                <a:sym typeface="Consolas"/>
              </a:rPr>
              <a:t>Zekai</a:t>
            </a:r>
            <a:r>
              <a:rPr lang="en-US" sz="1400" kern="0" dirty="0">
                <a:solidFill>
                  <a:srgbClr val="A31515"/>
                </a:solidFill>
                <a:highlight>
                  <a:srgbClr val="FFFFFE"/>
                </a:highlight>
                <a:latin typeface="Consolas"/>
                <a:ea typeface="Consolas"/>
                <a:cs typeface="Consolas"/>
                <a:sym typeface="Consolas"/>
              </a:rPr>
              <a:t>"</a:t>
            </a:r>
            <a:r>
              <a:rPr lang="en-US" sz="1400" kern="0" dirty="0">
                <a:solidFill>
                  <a:srgbClr val="000000"/>
                </a:solidFill>
                <a:highlight>
                  <a:srgbClr val="FFFFFE"/>
                </a:highlight>
                <a:latin typeface="Consolas"/>
                <a:ea typeface="Consolas"/>
                <a:cs typeface="Consolas"/>
                <a:sym typeface="Consolas"/>
              </a:rPr>
              <a:t>) </a:t>
            </a:r>
            <a:r>
              <a:rPr lang="en-US" sz="1400" kern="0" dirty="0">
                <a:solidFill>
                  <a:srgbClr val="AF00DB"/>
                </a:solidFill>
                <a:highlight>
                  <a:srgbClr val="FFFFFE"/>
                </a:highlight>
                <a:latin typeface="Consolas"/>
                <a:ea typeface="Consolas"/>
                <a:cs typeface="Consolas"/>
                <a:sym typeface="Consolas"/>
              </a:rPr>
              <a:t>|</a:t>
            </a:r>
            <a:r>
              <a:rPr lang="zh-CN" altLang="en-US" sz="1400" kern="0" dirty="0">
                <a:solidFill>
                  <a:srgbClr val="000000"/>
                </a:solidFill>
                <a:highlight>
                  <a:srgbClr val="FFFFFE"/>
                </a:highlight>
                <a:latin typeface="Consolas"/>
                <a:ea typeface="Consolas"/>
                <a:cs typeface="Consolas"/>
                <a:sym typeface="Consolas"/>
              </a:rPr>
              <a:t> </a:t>
            </a:r>
            <a:r>
              <a:rPr lang="en-US" sz="1400" kern="0" dirty="0">
                <a:solidFill>
                  <a:srgbClr val="000000"/>
                </a:solidFill>
                <a:highlight>
                  <a:srgbClr val="FFFFFE"/>
                </a:highlight>
                <a:latin typeface="Consolas"/>
                <a:ea typeface="Consolas"/>
                <a:cs typeface="Consolas"/>
                <a:sym typeface="Consolas"/>
              </a:rPr>
              <a:t>(</a:t>
            </a: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"Name"</a:t>
            </a:r>
            <a:r>
              <a:rPr lang="en-US" sz="1400" kern="0" dirty="0">
                <a:solidFill>
                  <a:srgbClr val="000000"/>
                </a:solidFill>
                <a:highlight>
                  <a:srgbClr val="FFFFFE"/>
                </a:highlight>
                <a:latin typeface="Consolas"/>
                <a:ea typeface="Consolas"/>
                <a:cs typeface="Consolas"/>
                <a:sym typeface="Consolas"/>
              </a:rPr>
              <a:t>] == </a:t>
            </a:r>
            <a:r>
              <a:rPr lang="en-US" sz="1400" kern="0" dirty="0">
                <a:solidFill>
                  <a:srgbClr val="A31515"/>
                </a:solidFill>
                <a:highlight>
                  <a:srgbClr val="FFFFFE"/>
                </a:highlight>
                <a:latin typeface="Consolas"/>
                <a:ea typeface="Consolas"/>
                <a:cs typeface="Consolas"/>
                <a:sym typeface="Consolas"/>
              </a:rPr>
              <a:t>"Maya"</a:t>
            </a:r>
            <a:r>
              <a:rPr lang="en-US" sz="1400" kern="0" dirty="0">
                <a:solidFill>
                  <a:srgbClr val="000000"/>
                </a:solidFill>
                <a:highlight>
                  <a:srgbClr val="FFFFFE"/>
                </a:highlight>
                <a:latin typeface="Consolas"/>
                <a:ea typeface="Consolas"/>
                <a:cs typeface="Consolas"/>
                <a:sym typeface="Consolas"/>
              </a:rPr>
              <a:t>)]</a:t>
            </a:r>
          </a:p>
        </p:txBody>
      </p:sp>
      <p:sp>
        <p:nvSpPr>
          <p:cNvPr id="14" name="Google Shape;619;p63">
            <a:extLst>
              <a:ext uri="{FF2B5EF4-FFF2-40B4-BE49-F238E27FC236}">
                <a16:creationId xmlns="" xmlns:a16="http://schemas.microsoft.com/office/drawing/2014/main" id="{5372A615-2EAD-5C19-69EB-1F3FB8F2481F}"/>
              </a:ext>
            </a:extLst>
          </p:cNvPr>
          <p:cNvSpPr txBox="1"/>
          <p:nvPr/>
        </p:nvSpPr>
        <p:spPr>
          <a:xfrm>
            <a:off x="2996004" y="3585701"/>
            <a:ext cx="3140909" cy="892522"/>
          </a:xfrm>
          <a:prstGeom prst="rect">
            <a:avLst/>
          </a:prstGeom>
          <a:solidFill>
            <a:schemeClr val="bg1"/>
          </a:solidFill>
          <a:ln>
            <a:solidFill>
              <a:srgbClr val="0D5294"/>
            </a:solidFill>
          </a:ln>
        </p:spPr>
        <p:txBody>
          <a:bodyPr spcFirstLastPara="1" wrap="square" lIns="91425" tIns="91425" rIns="91425" bIns="91425" anchor="t" anchorCtr="0">
            <a:spAutoFit/>
          </a:bodyPr>
          <a:lstStyle/>
          <a:p>
            <a:pPr lvl="0">
              <a:buClr>
                <a:srgbClr val="000000"/>
              </a:buClr>
            </a:pP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err="1">
                <a:solidFill>
                  <a:srgbClr val="000000"/>
                </a:solidFill>
                <a:highlight>
                  <a:srgbClr val="FFFFFE"/>
                </a:highlight>
                <a:latin typeface="Consolas"/>
                <a:ea typeface="Consolas"/>
                <a:cs typeface="Consolas"/>
                <a:sym typeface="Consolas"/>
              </a:rPr>
              <a:t>babynames</a:t>
            </a:r>
            <a:r>
              <a:rPr lang="en-US"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“Name”</a:t>
            </a:r>
            <a:r>
              <a:rPr lang="en-US" sz="1400" kern="0" dirty="0">
                <a:solidFill>
                  <a:srgbClr val="000000"/>
                </a:solidFill>
                <a:highlight>
                  <a:srgbClr val="FFFFFE"/>
                </a:highlight>
                <a:latin typeface="Consolas"/>
                <a:ea typeface="Consolas"/>
                <a:cs typeface="Consolas"/>
                <a:sym typeface="Consolas"/>
              </a:rPr>
              <a:t>]</a:t>
            </a:r>
            <a:r>
              <a:rPr lang="en-US" altLang="zh-CN" sz="1400" kern="0" dirty="0">
                <a:solidFill>
                  <a:srgbClr val="000000"/>
                </a:solidFill>
                <a:highlight>
                  <a:srgbClr val="FFFFFE"/>
                </a:highlight>
                <a:latin typeface="Consolas"/>
                <a:ea typeface="Consolas"/>
                <a:cs typeface="Consolas"/>
                <a:sym typeface="Consolas"/>
              </a:rPr>
              <a:t>.</a:t>
            </a:r>
            <a:r>
              <a:rPr lang="en-US" altLang="zh-CN" kern="0" dirty="0" err="1">
                <a:solidFill>
                  <a:srgbClr val="0055AB"/>
                </a:solidFill>
                <a:highlight>
                  <a:srgbClr val="FFFFFE"/>
                </a:highlight>
                <a:latin typeface="Consolas"/>
                <a:ea typeface="Consolas"/>
                <a:cs typeface="Consolas"/>
                <a:sym typeface="Consolas"/>
              </a:rPr>
              <a:t>isin</a:t>
            </a:r>
            <a:r>
              <a:rPr lang="en-US" altLang="zh-CN"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"Angela”</a:t>
            </a:r>
            <a:r>
              <a:rPr lang="en-US" altLang="zh-CN" sz="1400" kern="0" dirty="0">
                <a:solidFill>
                  <a:srgbClr val="000000"/>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"Jacob"</a:t>
            </a:r>
            <a:r>
              <a:rPr lang="en-US" altLang="zh-CN" sz="1400" kern="0" dirty="0">
                <a:solidFill>
                  <a:srgbClr val="A31515"/>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a:t>
            </a:r>
            <a:r>
              <a:rPr lang="en-US" sz="1400" kern="0" dirty="0" err="1">
                <a:solidFill>
                  <a:srgbClr val="A31515"/>
                </a:solidFill>
                <a:highlight>
                  <a:srgbClr val="FFFFFE"/>
                </a:highlight>
                <a:latin typeface="Consolas"/>
                <a:ea typeface="Consolas"/>
                <a:cs typeface="Consolas"/>
                <a:sym typeface="Consolas"/>
              </a:rPr>
              <a:t>Zekai</a:t>
            </a:r>
            <a:r>
              <a:rPr lang="en-US" sz="1400" kern="0" dirty="0">
                <a:solidFill>
                  <a:srgbClr val="A31515"/>
                </a:solidFill>
                <a:highlight>
                  <a:srgbClr val="FFFFFE"/>
                </a:highlight>
                <a:latin typeface="Consolas"/>
                <a:ea typeface="Consolas"/>
                <a:cs typeface="Consolas"/>
                <a:sym typeface="Consolas"/>
              </a:rPr>
              <a:t>"</a:t>
            </a:r>
            <a:r>
              <a:rPr lang="en-US" altLang="zh-CN" sz="1400" kern="0" dirty="0">
                <a:solidFill>
                  <a:srgbClr val="A31515"/>
                </a:solidFill>
                <a:highlight>
                  <a:srgbClr val="FFFFFE"/>
                </a:highlight>
                <a:latin typeface="Consolas"/>
                <a:ea typeface="Consolas"/>
                <a:cs typeface="Consolas"/>
                <a:sym typeface="Consolas"/>
              </a:rPr>
              <a:t>,</a:t>
            </a:r>
            <a:r>
              <a:rPr lang="en-US" sz="1400" kern="0" dirty="0">
                <a:solidFill>
                  <a:srgbClr val="A31515"/>
                </a:solidFill>
                <a:highlight>
                  <a:srgbClr val="FFFFFE"/>
                </a:highlight>
                <a:latin typeface="Consolas"/>
                <a:ea typeface="Consolas"/>
                <a:cs typeface="Consolas"/>
                <a:sym typeface="Consolas"/>
              </a:rPr>
              <a:t>"Maya”</a:t>
            </a:r>
            <a:r>
              <a:rPr lang="en-US" altLang="zh-CN" sz="1400" kern="0" dirty="0">
                <a:solidFill>
                  <a:srgbClr val="000000"/>
                </a:solidFill>
                <a:highlight>
                  <a:srgbClr val="FFFFFE"/>
                </a:highlight>
                <a:latin typeface="Consolas"/>
                <a:ea typeface="Consolas"/>
                <a:cs typeface="Consolas"/>
                <a:sym typeface="Consolas"/>
              </a:rPr>
              <a:t>]</a:t>
            </a:r>
            <a:r>
              <a:rPr lang="en-US" sz="1400" kern="0" dirty="0">
                <a:solidFill>
                  <a:srgbClr val="000000"/>
                </a:solidFill>
                <a:highlight>
                  <a:srgbClr val="FFFFFE"/>
                </a:highlight>
                <a:latin typeface="Consolas"/>
                <a:ea typeface="Consolas"/>
                <a:cs typeface="Consolas"/>
                <a:sym typeface="Consolas"/>
              </a:rPr>
              <a:t>)</a:t>
            </a:r>
            <a:r>
              <a:rPr lang="en-US" altLang="zh-CN" sz="1400" kern="0" dirty="0">
                <a:solidFill>
                  <a:srgbClr val="000000"/>
                </a:solidFill>
                <a:highlight>
                  <a:srgbClr val="FFFFFE"/>
                </a:highlight>
                <a:latin typeface="Consolas"/>
                <a:ea typeface="Consolas"/>
                <a:cs typeface="Consolas"/>
                <a:sym typeface="Consolas"/>
              </a:rPr>
              <a:t>]</a:t>
            </a:r>
            <a:endParaRPr lang="en-US" sz="1400" kern="0" dirty="0">
              <a:solidFill>
                <a:srgbClr val="000000"/>
              </a:solidFill>
              <a:highlight>
                <a:srgbClr val="FFFFFE"/>
              </a:highlight>
              <a:latin typeface="Consolas"/>
              <a:ea typeface="Consolas"/>
              <a:cs typeface="Consolas"/>
              <a:sym typeface="Consolas"/>
            </a:endParaRPr>
          </a:p>
        </p:txBody>
      </p:sp>
    </p:spTree>
    <p:extLst>
      <p:ext uri="{BB962C8B-B14F-4D97-AF65-F5344CB8AC3E}">
        <p14:creationId xmlns:p14="http://schemas.microsoft.com/office/powerpoint/2010/main" val="1802627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55B143E-F6E9-CD92-779F-0026FC00CB9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10D2D3C-4847-2A01-BAA8-2E32992872EB}"/>
              </a:ext>
            </a:extLst>
          </p:cNvPr>
          <p:cNvSpPr>
            <a:spLocks noGrp="1"/>
          </p:cNvSpPr>
          <p:nvPr>
            <p:ph type="title"/>
          </p:nvPr>
        </p:nvSpPr>
        <p:spPr/>
        <p:txBody>
          <a:bodyPr/>
          <a:lstStyle/>
          <a:p>
            <a:r>
              <a:rPr lang="zh-CN" altLang="en-US" dirty="0"/>
              <a:t>课堂练习</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FF1203A1-3C05-3EE6-6F85-162E3A0F16D6}"/>
              </a:ext>
            </a:extLst>
          </p:cNvPr>
          <p:cNvSpPr>
            <a:spLocks noGrp="1"/>
          </p:cNvSpPr>
          <p:nvPr>
            <p:ph type="sldNum" sz="quarter" idx="12"/>
          </p:nvPr>
        </p:nvSpPr>
        <p:spPr/>
        <p:txBody>
          <a:bodyPr/>
          <a:lstStyle/>
          <a:p>
            <a:fld id="{E1BEBC7A-FD02-486B-81B5-A845787C689C}" type="slidenum">
              <a:rPr lang="zh-CN" altLang="en-US" smtClean="0"/>
              <a:t>38</a:t>
            </a:fld>
            <a:endParaRPr lang="zh-CN" altLang="en-US"/>
          </a:p>
        </p:txBody>
      </p:sp>
      <p:sp>
        <p:nvSpPr>
          <p:cNvPr id="9" name="Content Placeholder 2">
            <a:extLst>
              <a:ext uri="{FF2B5EF4-FFF2-40B4-BE49-F238E27FC236}">
                <a16:creationId xmlns="" xmlns:a16="http://schemas.microsoft.com/office/drawing/2014/main" id="{EABF3108-B1C1-D09C-E40C-ECCBBFA530C0}"/>
              </a:ext>
            </a:extLst>
          </p:cNvPr>
          <p:cNvSpPr>
            <a:spLocks noGrp="1"/>
          </p:cNvSpPr>
          <p:nvPr>
            <p:ph idx="1"/>
          </p:nvPr>
        </p:nvSpPr>
        <p:spPr>
          <a:xfrm>
            <a:off x="457200" y="819150"/>
            <a:ext cx="8229600" cy="1219350"/>
          </a:xfrm>
        </p:spPr>
        <p:txBody>
          <a:bodyPr>
            <a:normAutofit/>
          </a:bodyPr>
          <a:lstStyle/>
          <a:p>
            <a:r>
              <a:rPr lang="zh-CN" altLang="en-US" dirty="0"/>
              <a:t>返回所有</a:t>
            </a:r>
            <a:r>
              <a:rPr lang="en-US" altLang="zh-CN" dirty="0"/>
              <a:t>Name</a:t>
            </a:r>
            <a:r>
              <a:rPr lang="zh-CN" altLang="en-US" dirty="0"/>
              <a:t>以</a:t>
            </a:r>
            <a:r>
              <a:rPr lang="en-US" altLang="zh-CN" dirty="0"/>
              <a:t>M</a:t>
            </a:r>
            <a:r>
              <a:rPr lang="zh-CN" altLang="en-US" dirty="0"/>
              <a:t>开头的数据记录</a:t>
            </a:r>
            <a:endParaRPr lang="en-US" altLang="zh-CN" dirty="0"/>
          </a:p>
        </p:txBody>
      </p:sp>
      <p:sp>
        <p:nvSpPr>
          <p:cNvPr id="6" name="Google Shape;349;p40">
            <a:extLst>
              <a:ext uri="{FF2B5EF4-FFF2-40B4-BE49-F238E27FC236}">
                <a16:creationId xmlns="" xmlns:a16="http://schemas.microsoft.com/office/drawing/2014/main" id="{1774110C-A3B2-3420-45C3-D3E4107E29CF}"/>
              </a:ext>
            </a:extLst>
          </p:cNvPr>
          <p:cNvSpPr txBox="1"/>
          <p:nvPr/>
        </p:nvSpPr>
        <p:spPr>
          <a:xfrm>
            <a:off x="724131" y="1327848"/>
            <a:ext cx="5794986" cy="498568"/>
          </a:xfrm>
          <a:prstGeom prst="rect">
            <a:avLst/>
          </a:prstGeom>
          <a:noFill/>
          <a:ln>
            <a:noFill/>
          </a:ln>
        </p:spPr>
        <p:txBody>
          <a:bodyPr spcFirstLastPara="1" wrap="square" lIns="91425" tIns="91425" rIns="91425" bIns="91425" anchor="t" anchorCtr="0">
            <a:spAutoFit/>
          </a:bodyPr>
          <a:lstStyle/>
          <a:p>
            <a:pPr>
              <a:lnSpc>
                <a:spcPct val="135714"/>
              </a:lnSpc>
              <a:buClr>
                <a:srgbClr val="000000"/>
              </a:buClr>
              <a:buFont typeface="Arial"/>
              <a:buNone/>
            </a:pPr>
            <a:r>
              <a:rPr lang="en" sz="1500" kern="0" dirty="0" err="1">
                <a:solidFill>
                  <a:srgbClr val="000000"/>
                </a:solidFill>
                <a:latin typeface="Consolas"/>
                <a:ea typeface="Consolas"/>
                <a:cs typeface="Consolas"/>
                <a:sym typeface="Consolas"/>
              </a:rPr>
              <a:t>babynames</a:t>
            </a:r>
            <a:r>
              <a:rPr lang="en" sz="1500" kern="0" dirty="0">
                <a:solidFill>
                  <a:srgbClr val="000000"/>
                </a:solidFill>
                <a:latin typeface="Consolas"/>
                <a:ea typeface="Consolas"/>
                <a:cs typeface="Consolas"/>
                <a:sym typeface="Consolas"/>
              </a:rPr>
              <a:t>[</a:t>
            </a:r>
            <a:r>
              <a:rPr lang="en" sz="1500" kern="0" dirty="0" err="1">
                <a:solidFill>
                  <a:srgbClr val="000000"/>
                </a:solidFill>
                <a:latin typeface="Consolas"/>
                <a:ea typeface="Consolas"/>
                <a:cs typeface="Consolas"/>
                <a:sym typeface="Consolas"/>
              </a:rPr>
              <a:t>babynames</a:t>
            </a:r>
            <a:r>
              <a:rPr lang="en" sz="1500" kern="0" dirty="0">
                <a:solidFill>
                  <a:srgbClr val="000000"/>
                </a:solidFill>
                <a:latin typeface="Consolas"/>
                <a:ea typeface="Consolas"/>
                <a:cs typeface="Consolas"/>
                <a:sym typeface="Consolas"/>
              </a:rPr>
              <a:t>[</a:t>
            </a:r>
            <a:r>
              <a:rPr lang="en" sz="1500" kern="0" dirty="0">
                <a:solidFill>
                  <a:srgbClr val="A31515"/>
                </a:solidFill>
                <a:latin typeface="Consolas"/>
                <a:ea typeface="Consolas"/>
                <a:cs typeface="Consolas"/>
                <a:sym typeface="Consolas"/>
              </a:rPr>
              <a:t>"Name"</a:t>
            </a:r>
            <a:r>
              <a:rPr lang="en" sz="1500" kern="0" dirty="0">
                <a:solidFill>
                  <a:srgbClr val="000000"/>
                </a:solidFill>
                <a:latin typeface="Consolas"/>
                <a:ea typeface="Consolas"/>
                <a:cs typeface="Consolas"/>
                <a:sym typeface="Consolas"/>
              </a:rPr>
              <a:t>].</a:t>
            </a:r>
            <a:r>
              <a:rPr lang="en" sz="1500" kern="0" dirty="0" err="1">
                <a:solidFill>
                  <a:srgbClr val="0B5394"/>
                </a:solidFill>
                <a:latin typeface="Consolas"/>
                <a:ea typeface="Consolas"/>
                <a:cs typeface="Consolas"/>
                <a:sym typeface="Consolas"/>
              </a:rPr>
              <a:t>str</a:t>
            </a:r>
            <a:r>
              <a:rPr lang="en" sz="1500" kern="0" dirty="0" err="1">
                <a:solidFill>
                  <a:srgbClr val="000000"/>
                </a:solidFill>
                <a:latin typeface="Consolas"/>
                <a:ea typeface="Consolas"/>
                <a:cs typeface="Consolas"/>
                <a:sym typeface="Consolas"/>
              </a:rPr>
              <a:t>.</a:t>
            </a:r>
            <a:r>
              <a:rPr lang="en" sz="1500" kern="0" dirty="0" err="1">
                <a:solidFill>
                  <a:srgbClr val="0B5394"/>
                </a:solidFill>
                <a:latin typeface="Consolas"/>
                <a:ea typeface="Consolas"/>
                <a:cs typeface="Consolas"/>
                <a:sym typeface="Consolas"/>
              </a:rPr>
              <a:t>startswith</a:t>
            </a:r>
            <a:r>
              <a:rPr lang="en" sz="1500" kern="0" dirty="0">
                <a:solidFill>
                  <a:srgbClr val="000000"/>
                </a:solidFill>
                <a:latin typeface="Consolas"/>
                <a:ea typeface="Consolas"/>
                <a:cs typeface="Consolas"/>
                <a:sym typeface="Consolas"/>
              </a:rPr>
              <a:t>(</a:t>
            </a:r>
            <a:r>
              <a:rPr lang="en" sz="1500" kern="0" dirty="0">
                <a:solidFill>
                  <a:srgbClr val="A31515"/>
                </a:solidFill>
                <a:latin typeface="Consolas"/>
                <a:ea typeface="Consolas"/>
                <a:cs typeface="Consolas"/>
                <a:sym typeface="Consolas"/>
              </a:rPr>
              <a:t>"M"</a:t>
            </a:r>
            <a:r>
              <a:rPr lang="en" sz="1500" kern="0" dirty="0">
                <a:solidFill>
                  <a:srgbClr val="000000"/>
                </a:solidFill>
                <a:latin typeface="Consolas"/>
                <a:ea typeface="Consolas"/>
                <a:cs typeface="Consolas"/>
                <a:sym typeface="Consolas"/>
              </a:rPr>
              <a:t>)]</a:t>
            </a:r>
            <a:endParaRPr sz="1500" kern="0" dirty="0">
              <a:solidFill>
                <a:srgbClr val="000000"/>
              </a:solidFill>
              <a:latin typeface="Consolas"/>
              <a:ea typeface="Consolas"/>
              <a:cs typeface="Consolas"/>
              <a:sym typeface="Consolas"/>
            </a:endParaRPr>
          </a:p>
        </p:txBody>
      </p:sp>
      <p:pic>
        <p:nvPicPr>
          <p:cNvPr id="8" name="Picture 7">
            <a:extLst>
              <a:ext uri="{FF2B5EF4-FFF2-40B4-BE49-F238E27FC236}">
                <a16:creationId xmlns="" xmlns:a16="http://schemas.microsoft.com/office/drawing/2014/main" id="{31C696BB-0B33-82F2-162F-451B07E9C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846" y="1886187"/>
            <a:ext cx="3641154" cy="2378496"/>
          </a:xfrm>
          <a:prstGeom prst="rect">
            <a:avLst/>
          </a:prstGeom>
        </p:spPr>
      </p:pic>
      <p:pic>
        <p:nvPicPr>
          <p:cNvPr id="15" name="Picture 14">
            <a:extLst>
              <a:ext uri="{FF2B5EF4-FFF2-40B4-BE49-F238E27FC236}">
                <a16:creationId xmlns="" xmlns:a16="http://schemas.microsoft.com/office/drawing/2014/main" id="{45F5B5D5-B324-8BC6-447B-A1F59EE946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9854" y="1425632"/>
            <a:ext cx="2774572" cy="3219300"/>
          </a:xfrm>
          <a:prstGeom prst="rect">
            <a:avLst/>
          </a:prstGeom>
        </p:spPr>
      </p:pic>
      <p:sp>
        <p:nvSpPr>
          <p:cNvPr id="16" name="Rectangle 15">
            <a:extLst>
              <a:ext uri="{FF2B5EF4-FFF2-40B4-BE49-F238E27FC236}">
                <a16:creationId xmlns="" xmlns:a16="http://schemas.microsoft.com/office/drawing/2014/main" id="{F1964BF9-7B10-ED8C-AAEF-E6A3D16FE3AE}"/>
              </a:ext>
            </a:extLst>
          </p:cNvPr>
          <p:cNvSpPr/>
          <p:nvPr/>
        </p:nvSpPr>
        <p:spPr>
          <a:xfrm>
            <a:off x="724131" y="4324350"/>
            <a:ext cx="4826149" cy="458908"/>
          </a:xfrm>
          <a:prstGeom prst="rect">
            <a:avLst/>
          </a:prstGeom>
        </p:spPr>
        <p:txBody>
          <a:bodyPr wrap="square">
            <a:spAutoFit/>
          </a:bodyPr>
          <a:lstStyle/>
          <a:p>
            <a:pPr algn="ct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思考：还有哪些字符串函数可以用于数据筛选？</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5303102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AAA62-3553-57DC-F518-D751D527C5A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F3481E3-9D7C-3934-797F-9D40BAD32DC9}"/>
              </a:ext>
            </a:extLst>
          </p:cNvPr>
          <p:cNvSpPr>
            <a:spLocks noGrp="1"/>
          </p:cNvSpPr>
          <p:nvPr>
            <p:ph type="title"/>
          </p:nvPr>
        </p:nvSpPr>
        <p:spPr/>
        <p:txBody>
          <a:bodyPr/>
          <a:lstStyle/>
          <a:p>
            <a:r>
              <a:rPr lang="zh-CN" altLang="en-US" dirty="0"/>
              <a:t>课堂练习</a:t>
            </a:r>
            <a:endParaRPr lang="en-US" dirty="0">
              <a:solidFill>
                <a:srgbClr val="C00000"/>
              </a:solidFill>
            </a:endParaRPr>
          </a:p>
        </p:txBody>
      </p:sp>
      <p:sp>
        <p:nvSpPr>
          <p:cNvPr id="4" name="Slide Number Placeholder 3">
            <a:extLst>
              <a:ext uri="{FF2B5EF4-FFF2-40B4-BE49-F238E27FC236}">
                <a16:creationId xmlns="" xmlns:a16="http://schemas.microsoft.com/office/drawing/2014/main" id="{477AA70E-AAC4-9C77-B390-55704E83F2F3}"/>
              </a:ext>
            </a:extLst>
          </p:cNvPr>
          <p:cNvSpPr>
            <a:spLocks noGrp="1"/>
          </p:cNvSpPr>
          <p:nvPr>
            <p:ph type="sldNum" sz="quarter" idx="12"/>
          </p:nvPr>
        </p:nvSpPr>
        <p:spPr/>
        <p:txBody>
          <a:bodyPr/>
          <a:lstStyle/>
          <a:p>
            <a:fld id="{E1BEBC7A-FD02-486B-81B5-A845787C689C}" type="slidenum">
              <a:rPr lang="zh-CN" altLang="en-US" smtClean="0"/>
              <a:t>39</a:t>
            </a:fld>
            <a:endParaRPr lang="zh-CN" altLang="en-US"/>
          </a:p>
        </p:txBody>
      </p:sp>
      <p:sp>
        <p:nvSpPr>
          <p:cNvPr id="9" name="Content Placeholder 2">
            <a:extLst>
              <a:ext uri="{FF2B5EF4-FFF2-40B4-BE49-F238E27FC236}">
                <a16:creationId xmlns="" xmlns:a16="http://schemas.microsoft.com/office/drawing/2014/main" id="{21DFD257-80BF-D83A-DCEA-D29DD7B7ADBE}"/>
              </a:ext>
            </a:extLst>
          </p:cNvPr>
          <p:cNvSpPr>
            <a:spLocks noGrp="1"/>
          </p:cNvSpPr>
          <p:nvPr>
            <p:ph idx="1"/>
          </p:nvPr>
        </p:nvSpPr>
        <p:spPr>
          <a:xfrm>
            <a:off x="3474720" y="997526"/>
            <a:ext cx="5054138" cy="3682050"/>
          </a:xfrm>
        </p:spPr>
        <p:txBody>
          <a:bodyPr>
            <a:normAutofit/>
          </a:bodyPr>
          <a:lstStyle/>
          <a:p>
            <a:r>
              <a:rPr lang="zh-CN" altLang="en-US" dirty="0"/>
              <a:t>返回在</a:t>
            </a:r>
            <a:r>
              <a:rPr lang="en-US" altLang="zh-CN" dirty="0"/>
              <a:t>2000</a:t>
            </a:r>
            <a:r>
              <a:rPr lang="zh-CN" altLang="en-US" dirty="0"/>
              <a:t>年，起名为</a:t>
            </a:r>
            <a:r>
              <a:rPr lang="en-US" altLang="zh-CN" dirty="0"/>
              <a:t>Alex</a:t>
            </a:r>
            <a:r>
              <a:rPr lang="zh-CN" altLang="en-US" dirty="0"/>
              <a:t>的女性新生儿有多少个（注：只返回个数即可）</a:t>
            </a:r>
            <a:endParaRPr lang="en-US" altLang="zh-CN" dirty="0"/>
          </a:p>
          <a:p>
            <a:endParaRPr lang="en-US" altLang="zh-CN" dirty="0"/>
          </a:p>
          <a:p>
            <a:endParaRPr lang="en-US" altLang="zh-CN" dirty="0"/>
          </a:p>
          <a:p>
            <a:endParaRPr lang="en-US" altLang="zh-CN" dirty="0"/>
          </a:p>
          <a:p>
            <a:r>
              <a:rPr lang="zh-CN" altLang="en-US" dirty="0"/>
              <a:t>返回姓名以</a:t>
            </a:r>
            <a:r>
              <a:rPr lang="en-US" altLang="zh-CN" dirty="0"/>
              <a:t>Kev</a:t>
            </a:r>
            <a:r>
              <a:rPr lang="zh-CN" altLang="en-US" dirty="0"/>
              <a:t>开头或者</a:t>
            </a:r>
            <a:r>
              <a:rPr lang="en-US" altLang="zh-CN" dirty="0"/>
              <a:t>Count</a:t>
            </a:r>
            <a:r>
              <a:rPr lang="zh-CN" altLang="en-US" dirty="0"/>
              <a:t>大于</a:t>
            </a:r>
            <a:r>
              <a:rPr lang="en-US" altLang="zh-CN" dirty="0"/>
              <a:t>600</a:t>
            </a:r>
            <a:r>
              <a:rPr lang="zh-CN" altLang="en-US" dirty="0"/>
              <a:t>的所有新生儿姓名记录</a:t>
            </a:r>
            <a:endParaRPr lang="en-US" altLang="zh-CN" dirty="0"/>
          </a:p>
        </p:txBody>
      </p:sp>
      <p:pic>
        <p:nvPicPr>
          <p:cNvPr id="5" name="Picture 4">
            <a:extLst>
              <a:ext uri="{FF2B5EF4-FFF2-40B4-BE49-F238E27FC236}">
                <a16:creationId xmlns="" xmlns:a16="http://schemas.microsoft.com/office/drawing/2014/main" id="{FD8F8BDA-F3DC-59B5-A852-F183DFE81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997526"/>
            <a:ext cx="2581680" cy="3758623"/>
          </a:xfrm>
          <a:prstGeom prst="rect">
            <a:avLst/>
          </a:prstGeom>
        </p:spPr>
      </p:pic>
      <p:sp>
        <p:nvSpPr>
          <p:cNvPr id="10" name="Google Shape;377;p42">
            <a:extLst>
              <a:ext uri="{FF2B5EF4-FFF2-40B4-BE49-F238E27FC236}">
                <a16:creationId xmlns="" xmlns:a16="http://schemas.microsoft.com/office/drawing/2014/main" id="{D9951725-F962-1D75-3263-17CC70D28D5E}"/>
              </a:ext>
            </a:extLst>
          </p:cNvPr>
          <p:cNvSpPr txBox="1"/>
          <p:nvPr/>
        </p:nvSpPr>
        <p:spPr>
          <a:xfrm>
            <a:off x="3258589" y="1828638"/>
            <a:ext cx="5769033" cy="8772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500" dirty="0">
                <a:solidFill>
                  <a:schemeClr val="dk1"/>
                </a:solidFill>
                <a:latin typeface="Consolas"/>
                <a:ea typeface="Consolas"/>
                <a:cs typeface="Consolas"/>
                <a:sym typeface="Consolas"/>
              </a:rPr>
              <a:t>    </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a:solidFill>
                  <a:srgbClr val="A31515"/>
                </a:solidFill>
                <a:latin typeface="Consolas"/>
                <a:ea typeface="Consolas"/>
                <a:cs typeface="Consolas"/>
                <a:sym typeface="Consolas"/>
              </a:rPr>
              <a:t>"Name"</a:t>
            </a:r>
            <a:r>
              <a:rPr lang="en" sz="1500" dirty="0">
                <a:solidFill>
                  <a:schemeClr val="dk1"/>
                </a:solidFill>
                <a:latin typeface="Consolas"/>
                <a:ea typeface="Consolas"/>
                <a:cs typeface="Consolas"/>
                <a:sym typeface="Consolas"/>
              </a:rPr>
              <a:t>] == </a:t>
            </a:r>
            <a:r>
              <a:rPr lang="en" sz="1500" dirty="0">
                <a:solidFill>
                  <a:srgbClr val="A31515"/>
                </a:solidFill>
                <a:latin typeface="Consolas"/>
                <a:ea typeface="Consolas"/>
                <a:cs typeface="Consolas"/>
                <a:sym typeface="Consolas"/>
              </a:rPr>
              <a:t>"Alex"</a:t>
            </a:r>
            <a:r>
              <a:rPr lang="en" sz="1500" dirty="0">
                <a:solidFill>
                  <a:schemeClr val="dk1"/>
                </a:solidFill>
                <a:latin typeface="Consolas"/>
                <a:ea typeface="Consolas"/>
                <a:cs typeface="Consolas"/>
                <a:sym typeface="Consolas"/>
              </a:rPr>
              <a:t>) </a:t>
            </a:r>
            <a:r>
              <a:rPr lang="en" sz="1500" dirty="0">
                <a:solidFill>
                  <a:srgbClr val="AF00DB"/>
                </a:solidFill>
                <a:latin typeface="Consolas"/>
                <a:ea typeface="Consolas"/>
                <a:cs typeface="Consolas"/>
                <a:sym typeface="Consolas"/>
              </a:rPr>
              <a:t>&amp;</a:t>
            </a:r>
            <a:r>
              <a:rPr lang="en" sz="1500" dirty="0">
                <a:solidFill>
                  <a:schemeClr val="dk1"/>
                </a:solidFill>
                <a:latin typeface="Consolas"/>
                <a:ea typeface="Consolas"/>
                <a:cs typeface="Consolas"/>
                <a:sym typeface="Consolas"/>
              </a:rPr>
              <a:t> </a:t>
            </a:r>
            <a:endParaRPr sz="1500" dirty="0">
              <a:solidFill>
                <a:schemeClr val="dk1"/>
              </a:solidFill>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500" dirty="0">
                <a:solidFill>
                  <a:schemeClr val="dk1"/>
                </a:solidFill>
                <a:latin typeface="Consolas"/>
                <a:ea typeface="Consolas"/>
                <a:cs typeface="Consolas"/>
                <a:sym typeface="Consolas"/>
              </a:rPr>
              <a:t>              (</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a:solidFill>
                  <a:srgbClr val="A31515"/>
                </a:solidFill>
                <a:latin typeface="Consolas"/>
                <a:ea typeface="Consolas"/>
                <a:cs typeface="Consolas"/>
                <a:sym typeface="Consolas"/>
              </a:rPr>
              <a:t>"Sex"</a:t>
            </a:r>
            <a:r>
              <a:rPr lang="en" sz="1500" dirty="0">
                <a:solidFill>
                  <a:schemeClr val="dk1"/>
                </a:solidFill>
                <a:latin typeface="Consolas"/>
                <a:ea typeface="Consolas"/>
                <a:cs typeface="Consolas"/>
                <a:sym typeface="Consolas"/>
              </a:rPr>
              <a:t>] == </a:t>
            </a:r>
            <a:r>
              <a:rPr lang="en" sz="1500" dirty="0">
                <a:solidFill>
                  <a:srgbClr val="A31515"/>
                </a:solidFill>
                <a:latin typeface="Consolas"/>
                <a:ea typeface="Consolas"/>
                <a:cs typeface="Consolas"/>
                <a:sym typeface="Consolas"/>
              </a:rPr>
              <a:t>"F"</a:t>
            </a:r>
            <a:r>
              <a:rPr lang="en" sz="1500" dirty="0">
                <a:solidFill>
                  <a:schemeClr val="dk1"/>
                </a:solidFill>
                <a:latin typeface="Consolas"/>
                <a:ea typeface="Consolas"/>
                <a:cs typeface="Consolas"/>
                <a:sym typeface="Consolas"/>
              </a:rPr>
              <a:t>) </a:t>
            </a:r>
            <a:r>
              <a:rPr lang="en" sz="1500" dirty="0">
                <a:solidFill>
                  <a:srgbClr val="AF00DB"/>
                </a:solidFill>
                <a:latin typeface="Consolas"/>
                <a:ea typeface="Consolas"/>
                <a:cs typeface="Consolas"/>
                <a:sym typeface="Consolas"/>
              </a:rPr>
              <a:t>&amp;</a:t>
            </a:r>
            <a:endParaRPr sz="1500" dirty="0">
              <a:solidFill>
                <a:srgbClr val="AF00DB"/>
              </a:solidFill>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500" dirty="0">
                <a:solidFill>
                  <a:schemeClr val="dk1"/>
                </a:solidFill>
                <a:latin typeface="Consolas"/>
                <a:ea typeface="Consolas"/>
                <a:cs typeface="Consolas"/>
                <a:sym typeface="Consolas"/>
              </a:rPr>
              <a:t>              (</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a:solidFill>
                  <a:srgbClr val="A31515"/>
                </a:solidFill>
                <a:latin typeface="Consolas"/>
                <a:ea typeface="Consolas"/>
                <a:cs typeface="Consolas"/>
                <a:sym typeface="Consolas"/>
              </a:rPr>
              <a:t>"Year"</a:t>
            </a:r>
            <a:r>
              <a:rPr lang="en" sz="1500" dirty="0">
                <a:solidFill>
                  <a:schemeClr val="dk1"/>
                </a:solidFill>
                <a:latin typeface="Consolas"/>
                <a:ea typeface="Consolas"/>
                <a:cs typeface="Consolas"/>
                <a:sym typeface="Consolas"/>
              </a:rPr>
              <a:t>] == </a:t>
            </a:r>
            <a:r>
              <a:rPr lang="en" sz="1500" dirty="0">
                <a:solidFill>
                  <a:srgbClr val="008000"/>
                </a:solidFill>
                <a:latin typeface="Consolas"/>
                <a:ea typeface="Consolas"/>
                <a:cs typeface="Consolas"/>
                <a:sym typeface="Consolas"/>
              </a:rPr>
              <a:t>2000</a:t>
            </a:r>
            <a:r>
              <a:rPr lang="en" sz="1500" dirty="0">
                <a:solidFill>
                  <a:schemeClr val="dk1"/>
                </a:solidFill>
                <a:latin typeface="Consolas"/>
                <a:ea typeface="Consolas"/>
                <a:cs typeface="Consolas"/>
                <a:sym typeface="Consolas"/>
              </a:rPr>
              <a:t>)].</a:t>
            </a:r>
            <a:r>
              <a:rPr lang="en" sz="1500" dirty="0" err="1">
                <a:solidFill>
                  <a:schemeClr val="dk1"/>
                </a:solidFill>
                <a:latin typeface="Consolas"/>
                <a:ea typeface="Consolas"/>
                <a:cs typeface="Consolas"/>
                <a:sym typeface="Consolas"/>
              </a:rPr>
              <a:t>iloc</a:t>
            </a:r>
            <a:r>
              <a:rPr lang="en" sz="1500" dirty="0">
                <a:solidFill>
                  <a:schemeClr val="dk1"/>
                </a:solidFill>
                <a:latin typeface="Consolas"/>
                <a:ea typeface="Consolas"/>
                <a:cs typeface="Consolas"/>
                <a:sym typeface="Consolas"/>
              </a:rPr>
              <a:t>[0, </a:t>
            </a:r>
            <a:r>
              <a:rPr lang="en-US" altLang="zh-CN" sz="1500" dirty="0">
                <a:solidFill>
                  <a:schemeClr val="dk1"/>
                </a:solidFill>
                <a:latin typeface="Consolas"/>
                <a:ea typeface="Consolas"/>
                <a:cs typeface="Consolas"/>
                <a:sym typeface="Consolas"/>
              </a:rPr>
              <a:t>3</a:t>
            </a:r>
            <a:r>
              <a:rPr lang="en" sz="1500" dirty="0">
                <a:solidFill>
                  <a:schemeClr val="dk1"/>
                </a:solidFill>
                <a:latin typeface="Consolas"/>
                <a:ea typeface="Consolas"/>
                <a:cs typeface="Consolas"/>
                <a:sym typeface="Consolas"/>
              </a:rPr>
              <a:t>]</a:t>
            </a:r>
            <a:endParaRPr sz="1500" dirty="0">
              <a:solidFill>
                <a:schemeClr val="dk1"/>
              </a:solidFill>
              <a:latin typeface="Consolas"/>
              <a:ea typeface="Consolas"/>
              <a:cs typeface="Consolas"/>
              <a:sym typeface="Consolas"/>
            </a:endParaRPr>
          </a:p>
        </p:txBody>
      </p:sp>
      <p:sp>
        <p:nvSpPr>
          <p:cNvPr id="11" name="Google Shape;378;p42">
            <a:extLst>
              <a:ext uri="{FF2B5EF4-FFF2-40B4-BE49-F238E27FC236}">
                <a16:creationId xmlns="" xmlns:a16="http://schemas.microsoft.com/office/drawing/2014/main" id="{AF49B0C4-1FE2-25E3-080C-4EA1D2734148}"/>
              </a:ext>
            </a:extLst>
          </p:cNvPr>
          <p:cNvSpPr txBox="1"/>
          <p:nvPr/>
        </p:nvSpPr>
        <p:spPr>
          <a:xfrm>
            <a:off x="3374967" y="3458835"/>
            <a:ext cx="5769033" cy="877133"/>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500" dirty="0">
                <a:solidFill>
                  <a:schemeClr val="dk1"/>
                </a:solidFill>
                <a:latin typeface="Consolas"/>
                <a:ea typeface="Consolas"/>
                <a:cs typeface="Consolas"/>
                <a:sym typeface="Consolas"/>
              </a:rPr>
              <a:t>    </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a:solidFill>
                  <a:srgbClr val="A31515"/>
                </a:solidFill>
                <a:latin typeface="Consolas"/>
                <a:ea typeface="Consolas"/>
                <a:cs typeface="Consolas"/>
                <a:sym typeface="Consolas"/>
              </a:rPr>
              <a:t>"Name"</a:t>
            </a:r>
            <a:r>
              <a:rPr lang="en" sz="1500" dirty="0">
                <a:solidFill>
                  <a:schemeClr val="dk1"/>
                </a:solidFill>
                <a:latin typeface="Consolas"/>
                <a:ea typeface="Consolas"/>
                <a:cs typeface="Consolas"/>
                <a:sym typeface="Consolas"/>
              </a:rPr>
              <a:t>].</a:t>
            </a:r>
            <a:r>
              <a:rPr lang="en" sz="1500" dirty="0" err="1">
                <a:solidFill>
                  <a:schemeClr val="dk1"/>
                </a:solidFill>
                <a:latin typeface="Consolas"/>
                <a:ea typeface="Consolas"/>
                <a:cs typeface="Consolas"/>
                <a:sym typeface="Consolas"/>
              </a:rPr>
              <a:t>str.startswith</a:t>
            </a:r>
            <a:r>
              <a:rPr lang="en" sz="1500" dirty="0">
                <a:solidFill>
                  <a:schemeClr val="dk1"/>
                </a:solidFill>
                <a:latin typeface="Consolas"/>
                <a:ea typeface="Consolas"/>
                <a:cs typeface="Consolas"/>
                <a:sym typeface="Consolas"/>
              </a:rPr>
              <a:t>(</a:t>
            </a:r>
            <a:r>
              <a:rPr lang="en" sz="1500" dirty="0">
                <a:solidFill>
                  <a:srgbClr val="A31515"/>
                </a:solidFill>
                <a:latin typeface="Consolas"/>
                <a:ea typeface="Consolas"/>
                <a:cs typeface="Consolas"/>
                <a:sym typeface="Consolas"/>
              </a:rPr>
              <a:t>"Kev"</a:t>
            </a:r>
            <a:r>
              <a:rPr lang="en" sz="1500" dirty="0">
                <a:solidFill>
                  <a:schemeClr val="dk1"/>
                </a:solidFill>
                <a:latin typeface="Consolas"/>
                <a:ea typeface="Consolas"/>
                <a:cs typeface="Consolas"/>
                <a:sym typeface="Consolas"/>
              </a:rPr>
              <a:t>)) </a:t>
            </a:r>
            <a:r>
              <a:rPr lang="en" sz="1500" dirty="0">
                <a:solidFill>
                  <a:srgbClr val="AF00DB"/>
                </a:solidFill>
                <a:latin typeface="Consolas"/>
                <a:ea typeface="Consolas"/>
                <a:cs typeface="Consolas"/>
                <a:sym typeface="Consolas"/>
              </a:rPr>
              <a:t>|</a:t>
            </a:r>
            <a:r>
              <a:rPr lang="en" sz="1500" dirty="0">
                <a:solidFill>
                  <a:schemeClr val="dk1"/>
                </a:solidFill>
                <a:latin typeface="Consolas"/>
                <a:ea typeface="Consolas"/>
                <a:cs typeface="Consolas"/>
                <a:sym typeface="Consolas"/>
              </a:rPr>
              <a:t> </a:t>
            </a:r>
            <a:endParaRPr sz="1500" dirty="0">
              <a:solidFill>
                <a:srgbClr val="AF00DB"/>
              </a:solidFill>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500" dirty="0">
                <a:solidFill>
                  <a:schemeClr val="dk1"/>
                </a:solidFill>
                <a:latin typeface="Consolas"/>
                <a:ea typeface="Consolas"/>
                <a:cs typeface="Consolas"/>
                <a:sym typeface="Consolas"/>
              </a:rPr>
              <a:t>              (</a:t>
            </a:r>
            <a:r>
              <a:rPr lang="en" sz="1500" dirty="0" err="1">
                <a:solidFill>
                  <a:schemeClr val="dk1"/>
                </a:solidFill>
                <a:latin typeface="Consolas"/>
                <a:ea typeface="Consolas"/>
                <a:cs typeface="Consolas"/>
                <a:sym typeface="Consolas"/>
              </a:rPr>
              <a:t>babynames</a:t>
            </a:r>
            <a:r>
              <a:rPr lang="en" sz="1500" dirty="0">
                <a:solidFill>
                  <a:schemeClr val="dk1"/>
                </a:solidFill>
                <a:latin typeface="Consolas"/>
                <a:ea typeface="Consolas"/>
                <a:cs typeface="Consolas"/>
                <a:sym typeface="Consolas"/>
              </a:rPr>
              <a:t>[</a:t>
            </a:r>
            <a:r>
              <a:rPr lang="en" sz="1500" dirty="0">
                <a:solidFill>
                  <a:srgbClr val="A31515"/>
                </a:solidFill>
                <a:latin typeface="Consolas"/>
                <a:ea typeface="Consolas"/>
                <a:cs typeface="Consolas"/>
                <a:sym typeface="Consolas"/>
              </a:rPr>
              <a:t>"Count"</a:t>
            </a:r>
            <a:r>
              <a:rPr lang="en" sz="1500" dirty="0">
                <a:solidFill>
                  <a:schemeClr val="dk1"/>
                </a:solidFill>
                <a:latin typeface="Consolas"/>
                <a:ea typeface="Consolas"/>
                <a:cs typeface="Consolas"/>
                <a:sym typeface="Consolas"/>
              </a:rPr>
              <a:t>] &gt; </a:t>
            </a:r>
            <a:r>
              <a:rPr lang="en" sz="1500" dirty="0">
                <a:solidFill>
                  <a:srgbClr val="008000"/>
                </a:solidFill>
                <a:latin typeface="Consolas"/>
                <a:ea typeface="Consolas"/>
                <a:cs typeface="Consolas"/>
                <a:sym typeface="Consolas"/>
              </a:rPr>
              <a:t>600</a:t>
            </a:r>
            <a:r>
              <a:rPr lang="en" sz="1500" dirty="0">
                <a:solidFill>
                  <a:schemeClr val="dk1"/>
                </a:solidFill>
                <a:latin typeface="Consolas"/>
                <a:ea typeface="Consolas"/>
                <a:cs typeface="Consolas"/>
                <a:sym typeface="Consolas"/>
              </a:rPr>
              <a:t>)]</a:t>
            </a:r>
            <a:endParaRPr sz="1500"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2452765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表格数据处理与</a:t>
            </a:r>
            <a:r>
              <a:rPr lang="en-US" altLang="zh-CN" sz="2000" dirty="0">
                <a:solidFill>
                  <a:prstClr val="white"/>
                </a:solidFill>
                <a:latin typeface="微软雅黑" pitchFamily="34" charset="-122"/>
                <a:ea typeface="微软雅黑" pitchFamily="34" charset="-122"/>
              </a:rPr>
              <a:t>Pandas</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2608406" cy="1865126"/>
          </a:xfrm>
          <a:prstGeom prst="rect">
            <a:avLst/>
          </a:prstGeom>
          <a:noFill/>
        </p:spPr>
        <p:txBody>
          <a:bodyPr wrap="none" rtlCol="0">
            <a:spAutoFit/>
          </a:bodyPr>
          <a:lstStyle/>
          <a:p>
            <a:pPr marL="34290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a:t>
            </a:r>
            <a:r>
              <a:rPr lang="zh-CN" altLang="en-US" b="1" dirty="0" smtClean="0">
                <a:latin typeface="Microsoft YaHei" panose="020B0503020204020204" pitchFamily="34" charset="-122"/>
                <a:ea typeface="Microsoft YaHei" panose="020B0503020204020204" pitchFamily="34" charset="-122"/>
              </a:rPr>
              <a:t>基本操作</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的数据查询</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solidFill>
                  <a:srgbClr val="C00000"/>
                </a:solidFill>
                <a:latin typeface="Microsoft YaHei" panose="020B0503020204020204" pitchFamily="34" charset="-122"/>
                <a:ea typeface="Microsoft YaHei" panose="020B0503020204020204" pitchFamily="34" charset="-122"/>
              </a:rPr>
              <a:t>Pandas</a:t>
            </a:r>
            <a:r>
              <a:rPr lang="zh-CN" altLang="en-US" b="1" dirty="0">
                <a:solidFill>
                  <a:srgbClr val="C00000"/>
                </a:solidFill>
                <a:latin typeface="Microsoft YaHei" panose="020B0503020204020204" pitchFamily="34" charset="-122"/>
                <a:ea typeface="Microsoft YaHei" panose="020B0503020204020204" pitchFamily="34" charset="-122"/>
              </a:rPr>
              <a:t>的数据分析</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案例分析与课堂练习</a:t>
            </a:r>
            <a:endParaRPr lang="en-US" altLang="zh-CN" b="1" dirty="0">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14"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67289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8654A4-4356-A3E8-DA03-F160ADBB0DD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947F48F-4E8C-D886-4135-0687F942119A}"/>
              </a:ext>
            </a:extLst>
          </p:cNvPr>
          <p:cNvSpPr>
            <a:spLocks noGrp="1"/>
          </p:cNvSpPr>
          <p:nvPr>
            <p:ph type="title"/>
          </p:nvPr>
        </p:nvSpPr>
        <p:spPr/>
        <p:txBody>
          <a:bodyPr/>
          <a:lstStyle/>
          <a:p>
            <a:r>
              <a:rPr lang="en-US" dirty="0" err="1"/>
              <a:t>使用NumPy函数</a:t>
            </a:r>
            <a:endParaRPr lang="en-US" dirty="0"/>
          </a:p>
        </p:txBody>
      </p:sp>
      <p:sp>
        <p:nvSpPr>
          <p:cNvPr id="4" name="Slide Number Placeholder 3">
            <a:extLst>
              <a:ext uri="{FF2B5EF4-FFF2-40B4-BE49-F238E27FC236}">
                <a16:creationId xmlns="" xmlns:a16="http://schemas.microsoft.com/office/drawing/2014/main" id="{958D87E3-BBAF-30AE-E38E-B7A60FC8F2EE}"/>
              </a:ext>
            </a:extLst>
          </p:cNvPr>
          <p:cNvSpPr>
            <a:spLocks noGrp="1"/>
          </p:cNvSpPr>
          <p:nvPr>
            <p:ph type="sldNum" sz="quarter" idx="12"/>
          </p:nvPr>
        </p:nvSpPr>
        <p:spPr/>
        <p:txBody>
          <a:bodyPr/>
          <a:lstStyle/>
          <a:p>
            <a:fld id="{E1BEBC7A-FD02-486B-81B5-A845787C689C}" type="slidenum">
              <a:rPr lang="zh-CN" altLang="en-US" smtClean="0"/>
              <a:t>41</a:t>
            </a:fld>
            <a:endParaRPr lang="zh-CN" altLang="en-US"/>
          </a:p>
        </p:txBody>
      </p:sp>
      <p:sp>
        <p:nvSpPr>
          <p:cNvPr id="9" name="Content Placeholder 2">
            <a:extLst>
              <a:ext uri="{FF2B5EF4-FFF2-40B4-BE49-F238E27FC236}">
                <a16:creationId xmlns="" xmlns:a16="http://schemas.microsoft.com/office/drawing/2014/main" id="{F1162699-6427-FC72-C99B-836B78DECFF0}"/>
              </a:ext>
            </a:extLst>
          </p:cNvPr>
          <p:cNvSpPr>
            <a:spLocks noGrp="1"/>
          </p:cNvSpPr>
          <p:nvPr>
            <p:ph idx="1"/>
          </p:nvPr>
        </p:nvSpPr>
        <p:spPr>
          <a:xfrm>
            <a:off x="457200" y="819150"/>
            <a:ext cx="8229600" cy="3937000"/>
          </a:xfrm>
        </p:spPr>
        <p:txBody>
          <a:bodyPr/>
          <a:lstStyle/>
          <a:p>
            <a:r>
              <a:rPr lang="x-none" altLang="zh-CN" dirty="0"/>
              <a:t>Pandas</a:t>
            </a:r>
            <a:r>
              <a:rPr lang="zh-CN" altLang="x-none" dirty="0"/>
              <a:t>的</a:t>
            </a:r>
            <a:r>
              <a:rPr lang="en-US" altLang="zh-CN" dirty="0"/>
              <a:t>Series</a:t>
            </a:r>
            <a:r>
              <a:rPr lang="zh-CN" altLang="en-US" dirty="0"/>
              <a:t>与</a:t>
            </a:r>
            <a:r>
              <a:rPr lang="en-US" altLang="zh-CN" dirty="0" err="1"/>
              <a:t>DataFrame</a:t>
            </a:r>
            <a:r>
              <a:rPr lang="zh-CN" altLang="en-US" dirty="0"/>
              <a:t>对象支持</a:t>
            </a:r>
            <a:r>
              <a:rPr lang="en-US" altLang="zh-CN" dirty="0"/>
              <a:t>NumPy</a:t>
            </a:r>
            <a:r>
              <a:rPr lang="zh-CN" altLang="en-US" dirty="0"/>
              <a:t>函数</a:t>
            </a:r>
            <a:endParaRPr lang="en-US" altLang="zh-CN" dirty="0"/>
          </a:p>
          <a:p>
            <a:r>
              <a:rPr lang="zh-CN" altLang="en-US" dirty="0"/>
              <a:t>请给出名为</a:t>
            </a:r>
            <a:r>
              <a:rPr lang="en-US" altLang="zh-CN" dirty="0"/>
              <a:t>John</a:t>
            </a:r>
            <a:r>
              <a:rPr lang="zh-CN" altLang="en-US" dirty="0"/>
              <a:t>的新生儿数量的最小、最大、平均值、标准差</a:t>
            </a:r>
            <a:endParaRPr lang="en-US" altLang="zh-CN" dirty="0"/>
          </a:p>
        </p:txBody>
      </p:sp>
      <p:sp>
        <p:nvSpPr>
          <p:cNvPr id="12" name="Google Shape;411;p46">
            <a:extLst>
              <a:ext uri="{FF2B5EF4-FFF2-40B4-BE49-F238E27FC236}">
                <a16:creationId xmlns="" xmlns:a16="http://schemas.microsoft.com/office/drawing/2014/main" id="{053F4C26-A435-5747-3000-A2E353ADDC10}"/>
              </a:ext>
            </a:extLst>
          </p:cNvPr>
          <p:cNvSpPr txBox="1"/>
          <p:nvPr/>
        </p:nvSpPr>
        <p:spPr>
          <a:xfrm>
            <a:off x="601168" y="1657405"/>
            <a:ext cx="7865100" cy="812500"/>
          </a:xfrm>
          <a:prstGeom prst="rect">
            <a:avLst/>
          </a:prstGeom>
          <a:noFill/>
          <a:ln w="9525" cap="flat" cmpd="sng">
            <a:solidFill>
              <a:srgbClr val="BF9000"/>
            </a:solidFill>
            <a:prstDash val="solid"/>
            <a:round/>
            <a:headEnd type="none" w="sm" len="sm"/>
            <a:tailEnd type="none" w="sm" len="sm"/>
          </a:ln>
        </p:spPr>
        <p:txBody>
          <a:bodyPr spcFirstLastPara="1" wrap="square" lIns="91425" tIns="91425" rIns="91425" bIns="91425" anchor="t" anchorCtr="0">
            <a:spAutoFit/>
          </a:bodyPr>
          <a:lstStyle/>
          <a:p>
            <a:pPr marL="0" marR="0" lvl="0" indent="0" defTabSz="914400" eaLnBrk="1" fontAlgn="auto" latinLnBrk="0" hangingPunct="1">
              <a:lnSpc>
                <a:spcPct val="135714"/>
              </a:lnSpc>
              <a:spcBef>
                <a:spcPts val="0"/>
              </a:spcBef>
              <a:spcAft>
                <a:spcPts val="0"/>
              </a:spcAft>
              <a:buClr>
                <a:srgbClr val="000000"/>
              </a:buClr>
              <a:buSzPts val="1100"/>
              <a:buFont typeface="Arial"/>
              <a:buNone/>
              <a:tabLst/>
              <a:defRPr/>
            </a:pPr>
            <a:r>
              <a:rPr kumimoji="0" lang="en" sz="1500" b="0" i="0" u="none" strike="noStrike" kern="0" cap="none" spc="0" normalizeH="0" baseline="0" noProof="0" dirty="0">
                <a:ln>
                  <a:noFill/>
                </a:ln>
                <a:solidFill>
                  <a:srgbClr val="008000"/>
                </a:solidFill>
                <a:effectLst/>
                <a:uLnTx/>
                <a:uFillTx/>
                <a:latin typeface="Consolas"/>
                <a:ea typeface="Consolas"/>
                <a:cs typeface="Consolas"/>
                <a:sym typeface="Consolas"/>
              </a:rPr>
              <a:t># </a:t>
            </a:r>
            <a:r>
              <a:rPr kumimoji="0" lang="en" sz="1500" b="0" i="0" u="none" strike="noStrike" kern="0" cap="none" spc="0" normalizeH="0" baseline="0" noProof="0" dirty="0" err="1">
                <a:ln>
                  <a:noFill/>
                </a:ln>
                <a:solidFill>
                  <a:srgbClr val="008000"/>
                </a:solidFill>
                <a:effectLst/>
                <a:uLnTx/>
                <a:uFillTx/>
                <a:latin typeface="Consolas"/>
                <a:ea typeface="Consolas"/>
                <a:cs typeface="Consolas"/>
                <a:sym typeface="Consolas"/>
              </a:rPr>
              <a:t>生成满足条件的Series对象</a:t>
            </a:r>
            <a:endParaRPr kumimoji="0" sz="1500" b="0" i="0" u="none" strike="noStrike" kern="0" cap="none" spc="0" normalizeH="0" baseline="0" noProof="0" dirty="0">
              <a:ln>
                <a:noFill/>
              </a:ln>
              <a:solidFill>
                <a:srgbClr val="008000"/>
              </a:solidFill>
              <a:effectLst/>
              <a:uLnTx/>
              <a:uFillTx/>
              <a:latin typeface="Consolas"/>
              <a:ea typeface="Consolas"/>
              <a:cs typeface="Consolas"/>
              <a:sym typeface="Consolas"/>
            </a:endParaRPr>
          </a:p>
          <a:p>
            <a:pPr lvl="0">
              <a:lnSpc>
                <a:spcPct val="135714"/>
              </a:lnSpc>
              <a:buClr>
                <a:srgbClr val="000000"/>
              </a:buClr>
            </a:pPr>
            <a:r>
              <a:rPr lang="en-US" altLang="zh-CN" sz="1500" kern="0" dirty="0" err="1">
                <a:solidFill>
                  <a:srgbClr val="000000"/>
                </a:solidFill>
                <a:latin typeface="Consolas"/>
                <a:ea typeface="Consolas"/>
                <a:cs typeface="Consolas"/>
                <a:sym typeface="Consolas"/>
              </a:rPr>
              <a:t>john</a:t>
            </a:r>
            <a:r>
              <a:rPr lang="en-US" sz="1500" kern="0" dirty="0" err="1">
                <a:solidFill>
                  <a:srgbClr val="000000"/>
                </a:solidFill>
                <a:latin typeface="Consolas"/>
                <a:ea typeface="Consolas"/>
                <a:cs typeface="Consolas"/>
                <a:sym typeface="Consolas"/>
              </a:rPr>
              <a:t>_count</a:t>
            </a:r>
            <a:r>
              <a:rPr lang="en-US" sz="1500" kern="0" dirty="0">
                <a:solidFill>
                  <a:srgbClr val="000000"/>
                </a:solidFill>
                <a:latin typeface="Consolas"/>
                <a:ea typeface="Consolas"/>
                <a:cs typeface="Consolas"/>
                <a:sym typeface="Consolas"/>
              </a:rPr>
              <a:t> = </a:t>
            </a:r>
            <a:r>
              <a:rPr lang="en-US" sz="1500" kern="0" dirty="0" err="1">
                <a:solidFill>
                  <a:srgbClr val="000000"/>
                </a:solidFill>
                <a:latin typeface="Consolas"/>
                <a:ea typeface="Consolas"/>
                <a:cs typeface="Consolas"/>
                <a:sym typeface="Consolas"/>
              </a:rPr>
              <a:t>babynames</a:t>
            </a:r>
            <a:r>
              <a:rPr lang="en-US" sz="1500" kern="0" dirty="0">
                <a:solidFill>
                  <a:srgbClr val="000000"/>
                </a:solidFill>
                <a:latin typeface="Consolas"/>
                <a:ea typeface="Consolas"/>
                <a:cs typeface="Consolas"/>
                <a:sym typeface="Consolas"/>
              </a:rPr>
              <a:t>[</a:t>
            </a:r>
            <a:r>
              <a:rPr lang="en-US" sz="1500" kern="0" dirty="0" err="1">
                <a:solidFill>
                  <a:srgbClr val="000000"/>
                </a:solidFill>
                <a:latin typeface="Consolas"/>
                <a:ea typeface="Consolas"/>
                <a:cs typeface="Consolas"/>
                <a:sym typeface="Consolas"/>
              </a:rPr>
              <a:t>babynames</a:t>
            </a:r>
            <a:r>
              <a:rPr lang="en-US" sz="1500" kern="0" dirty="0">
                <a:solidFill>
                  <a:srgbClr val="000000"/>
                </a:solidFill>
                <a:latin typeface="Consolas"/>
                <a:ea typeface="Consolas"/>
                <a:cs typeface="Consolas"/>
                <a:sym typeface="Consolas"/>
              </a:rPr>
              <a:t>[</a:t>
            </a:r>
            <a:r>
              <a:rPr lang="en-US" sz="1500" kern="0" dirty="0">
                <a:solidFill>
                  <a:srgbClr val="A31515"/>
                </a:solidFill>
                <a:latin typeface="Consolas"/>
                <a:ea typeface="Consolas"/>
                <a:cs typeface="Consolas"/>
                <a:sym typeface="Consolas"/>
              </a:rPr>
              <a:t>"Name"</a:t>
            </a:r>
            <a:r>
              <a:rPr lang="en-US" sz="1500" kern="0" dirty="0">
                <a:solidFill>
                  <a:srgbClr val="000000"/>
                </a:solidFill>
                <a:latin typeface="Consolas"/>
                <a:ea typeface="Consolas"/>
                <a:cs typeface="Consolas"/>
                <a:sym typeface="Consolas"/>
              </a:rPr>
              <a:t>] == </a:t>
            </a:r>
            <a:r>
              <a:rPr lang="en-US" sz="1500" kern="0" dirty="0">
                <a:solidFill>
                  <a:srgbClr val="A31515"/>
                </a:solidFill>
                <a:latin typeface="Consolas"/>
                <a:ea typeface="Consolas"/>
                <a:cs typeface="Consolas"/>
                <a:sym typeface="Consolas"/>
              </a:rPr>
              <a:t>"</a:t>
            </a:r>
            <a:r>
              <a:rPr lang="en-US" altLang="zh-CN" sz="1500" kern="0" dirty="0">
                <a:solidFill>
                  <a:srgbClr val="A31515"/>
                </a:solidFill>
                <a:latin typeface="Consolas"/>
                <a:ea typeface="Consolas"/>
                <a:cs typeface="Consolas"/>
                <a:sym typeface="Consolas"/>
              </a:rPr>
              <a:t>John</a:t>
            </a:r>
            <a:r>
              <a:rPr lang="en-US" sz="1500" kern="0" dirty="0">
                <a:solidFill>
                  <a:srgbClr val="A31515"/>
                </a:solidFill>
                <a:latin typeface="Consolas"/>
                <a:ea typeface="Consolas"/>
                <a:cs typeface="Consolas"/>
                <a:sym typeface="Consolas"/>
              </a:rPr>
              <a:t>"</a:t>
            </a:r>
            <a:r>
              <a:rPr lang="en-US" sz="1500" kern="0" dirty="0">
                <a:solidFill>
                  <a:srgbClr val="000000"/>
                </a:solidFill>
                <a:latin typeface="Consolas"/>
                <a:ea typeface="Consolas"/>
                <a:cs typeface="Consolas"/>
                <a:sym typeface="Consolas"/>
              </a:rPr>
              <a:t>][</a:t>
            </a:r>
            <a:r>
              <a:rPr lang="en-US" sz="1500" kern="0" dirty="0">
                <a:solidFill>
                  <a:srgbClr val="A31515"/>
                </a:solidFill>
                <a:latin typeface="Consolas"/>
                <a:ea typeface="Consolas"/>
                <a:cs typeface="Consolas"/>
                <a:sym typeface="Consolas"/>
              </a:rPr>
              <a:t>"Count"</a:t>
            </a:r>
            <a:r>
              <a:rPr lang="en-US" sz="1500" kern="0" dirty="0">
                <a:solidFill>
                  <a:srgbClr val="000000"/>
                </a:solidFill>
                <a:latin typeface="Consolas"/>
                <a:ea typeface="Consolas"/>
                <a:cs typeface="Consolas"/>
                <a:sym typeface="Consolas"/>
              </a:rPr>
              <a:t>]</a:t>
            </a:r>
          </a:p>
        </p:txBody>
      </p:sp>
      <p:pic>
        <p:nvPicPr>
          <p:cNvPr id="5" name="Picture 4" descr="A screenshot of a computer&#10;&#10;Description automatically generated">
            <a:extLst>
              <a:ext uri="{FF2B5EF4-FFF2-40B4-BE49-F238E27FC236}">
                <a16:creationId xmlns="" xmlns:a16="http://schemas.microsoft.com/office/drawing/2014/main" id="{073FC057-93B8-F75A-91E4-3D6EB3E52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168" y="2586714"/>
            <a:ext cx="3157364" cy="2169436"/>
          </a:xfrm>
          <a:prstGeom prst="rect">
            <a:avLst/>
          </a:prstGeom>
        </p:spPr>
      </p:pic>
      <p:pic>
        <p:nvPicPr>
          <p:cNvPr id="7" name="Picture 6" descr="A screenshot of a phone&#10;&#10;Description automatically generated">
            <a:extLst>
              <a:ext uri="{FF2B5EF4-FFF2-40B4-BE49-F238E27FC236}">
                <a16:creationId xmlns="" xmlns:a16="http://schemas.microsoft.com/office/drawing/2014/main" id="{F77B026E-39C8-9498-3C33-019296784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2500" y="2586714"/>
            <a:ext cx="1589929" cy="2169436"/>
          </a:xfrm>
          <a:prstGeom prst="rect">
            <a:avLst/>
          </a:prstGeom>
        </p:spPr>
      </p:pic>
      <p:sp>
        <p:nvSpPr>
          <p:cNvPr id="10" name="TextBox 9">
            <a:extLst>
              <a:ext uri="{FF2B5EF4-FFF2-40B4-BE49-F238E27FC236}">
                <a16:creationId xmlns="" xmlns:a16="http://schemas.microsoft.com/office/drawing/2014/main" id="{FB457EBA-3472-9DB0-F474-634B0D33F103}"/>
              </a:ext>
            </a:extLst>
          </p:cNvPr>
          <p:cNvSpPr txBox="1"/>
          <p:nvPr/>
        </p:nvSpPr>
        <p:spPr>
          <a:xfrm>
            <a:off x="5706608" y="2914495"/>
            <a:ext cx="3157364" cy="923330"/>
          </a:xfrm>
          <a:prstGeom prst="rect">
            <a:avLst/>
          </a:prstGeom>
          <a:noFill/>
        </p:spPr>
        <p:txBody>
          <a:bodyPr wrap="square">
            <a:spAutoFit/>
          </a:bodyPr>
          <a:lstStyle/>
          <a:p>
            <a:pPr algn="l"/>
            <a:r>
              <a:rPr lang="en-US" b="1" i="0" u="none" strike="noStrike" dirty="0" err="1">
                <a:solidFill>
                  <a:srgbClr val="000000"/>
                </a:solidFill>
                <a:effectLst/>
                <a:latin typeface="Helvetica Neue" panose="02000503000000020004" pitchFamily="2" charset="0"/>
              </a:rPr>
              <a:t>扩展阅读</a:t>
            </a:r>
            <a:r>
              <a:rPr lang="zh-CN" altLang="en-US" b="1" i="0" u="none" strike="noStrike" dirty="0">
                <a:solidFill>
                  <a:srgbClr val="000000"/>
                </a:solidFill>
                <a:effectLst/>
                <a:latin typeface="Helvetica Neue" panose="02000503000000020004" pitchFamily="2" charset="0"/>
              </a:rPr>
              <a:t>：</a:t>
            </a:r>
            <a:r>
              <a:rPr lang="en-US" b="1" i="0" u="none" strike="noStrike" dirty="0">
                <a:solidFill>
                  <a:srgbClr val="000000"/>
                </a:solidFill>
                <a:effectLst/>
                <a:latin typeface="Helvetica Neue" panose="02000503000000020004" pitchFamily="2" charset="0"/>
              </a:rPr>
              <a:t>NumPy </a:t>
            </a:r>
            <a:r>
              <a:rPr lang="en-US" b="1" i="0" u="none" strike="noStrike" dirty="0" err="1">
                <a:solidFill>
                  <a:srgbClr val="000000"/>
                </a:solidFill>
                <a:effectLst/>
                <a:latin typeface="Helvetica Neue" panose="02000503000000020004" pitchFamily="2" charset="0"/>
              </a:rPr>
              <a:t>教程</a:t>
            </a:r>
            <a:endParaRPr lang="zh-CN" altLang="en-US" b="1" i="0" u="none" strike="noStrike" dirty="0">
              <a:solidFill>
                <a:srgbClr val="000000"/>
              </a:solidFill>
              <a:effectLst/>
              <a:latin typeface="Helvetica Neue" panose="02000503000000020004" pitchFamily="2" charset="0"/>
            </a:endParaRPr>
          </a:p>
          <a:p>
            <a:r>
              <a:rPr lang="zh-CN" altLang="en-US" dirty="0"/>
              <a:t/>
            </a:r>
            <a:br>
              <a:rPr lang="zh-CN" altLang="en-US" dirty="0"/>
            </a:br>
            <a:endParaRPr lang="x-none" dirty="0"/>
          </a:p>
        </p:txBody>
      </p:sp>
      <p:sp>
        <p:nvSpPr>
          <p:cNvPr id="16" name="TextBox 15">
            <a:extLst>
              <a:ext uri="{FF2B5EF4-FFF2-40B4-BE49-F238E27FC236}">
                <a16:creationId xmlns="" xmlns:a16="http://schemas.microsoft.com/office/drawing/2014/main" id="{3048568B-F772-042B-9257-70F353F38B15}"/>
              </a:ext>
            </a:extLst>
          </p:cNvPr>
          <p:cNvSpPr txBox="1"/>
          <p:nvPr/>
        </p:nvSpPr>
        <p:spPr>
          <a:xfrm>
            <a:off x="5706608" y="3499920"/>
            <a:ext cx="3157364" cy="646331"/>
          </a:xfrm>
          <a:prstGeom prst="rect">
            <a:avLst/>
          </a:prstGeom>
          <a:noFill/>
        </p:spPr>
        <p:txBody>
          <a:bodyPr wrap="square">
            <a:spAutoFit/>
          </a:bodyPr>
          <a:lstStyle/>
          <a:p>
            <a:r>
              <a:rPr lang="en-US" dirty="0"/>
              <a:t>https://</a:t>
            </a:r>
            <a:r>
              <a:rPr lang="en-US" dirty="0" err="1"/>
              <a:t>www.runoob.com</a:t>
            </a:r>
            <a:r>
              <a:rPr lang="en-US" dirty="0"/>
              <a:t>/</a:t>
            </a:r>
            <a:r>
              <a:rPr lang="en-US" dirty="0" err="1"/>
              <a:t>numpy</a:t>
            </a:r>
            <a:r>
              <a:rPr lang="en-US" dirty="0"/>
              <a:t>/</a:t>
            </a:r>
            <a:r>
              <a:rPr lang="en-US" dirty="0" err="1"/>
              <a:t>numpy-tutorial.html</a:t>
            </a:r>
            <a:endParaRPr lang="x-none" dirty="0"/>
          </a:p>
        </p:txBody>
      </p:sp>
    </p:spTree>
    <p:extLst>
      <p:ext uri="{BB962C8B-B14F-4D97-AF65-F5344CB8AC3E}">
        <p14:creationId xmlns:p14="http://schemas.microsoft.com/office/powerpoint/2010/main" val="3139075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F0A518-8C46-7F82-B905-0C9092E15BA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E983C4F-B029-123D-FC5F-B9AD698434AF}"/>
              </a:ext>
            </a:extLst>
          </p:cNvPr>
          <p:cNvSpPr>
            <a:spLocks noGrp="1"/>
          </p:cNvSpPr>
          <p:nvPr>
            <p:ph type="title"/>
          </p:nvPr>
        </p:nvSpPr>
        <p:spPr/>
        <p:txBody>
          <a:bodyPr/>
          <a:lstStyle/>
          <a:p>
            <a:r>
              <a:rPr lang="en-US" dirty="0" err="1"/>
              <a:t>使用Pandas的内置函数</a:t>
            </a:r>
            <a:endParaRPr lang="en-US" dirty="0"/>
          </a:p>
        </p:txBody>
      </p:sp>
      <p:sp>
        <p:nvSpPr>
          <p:cNvPr id="4" name="Slide Number Placeholder 3">
            <a:extLst>
              <a:ext uri="{FF2B5EF4-FFF2-40B4-BE49-F238E27FC236}">
                <a16:creationId xmlns="" xmlns:a16="http://schemas.microsoft.com/office/drawing/2014/main" id="{2A41036E-D5E5-0041-9D97-47ECB5807FA4}"/>
              </a:ext>
            </a:extLst>
          </p:cNvPr>
          <p:cNvSpPr>
            <a:spLocks noGrp="1"/>
          </p:cNvSpPr>
          <p:nvPr>
            <p:ph type="sldNum" sz="quarter" idx="12"/>
          </p:nvPr>
        </p:nvSpPr>
        <p:spPr/>
        <p:txBody>
          <a:bodyPr/>
          <a:lstStyle/>
          <a:p>
            <a:fld id="{E1BEBC7A-FD02-486B-81B5-A845787C689C}" type="slidenum">
              <a:rPr lang="zh-CN" altLang="en-US" smtClean="0"/>
              <a:t>42</a:t>
            </a:fld>
            <a:endParaRPr lang="zh-CN" altLang="en-US"/>
          </a:p>
        </p:txBody>
      </p:sp>
      <p:sp>
        <p:nvSpPr>
          <p:cNvPr id="9" name="Content Placeholder 2">
            <a:extLst>
              <a:ext uri="{FF2B5EF4-FFF2-40B4-BE49-F238E27FC236}">
                <a16:creationId xmlns="" xmlns:a16="http://schemas.microsoft.com/office/drawing/2014/main" id="{7D0891EA-D907-DD8B-1250-8C8A48185365}"/>
              </a:ext>
            </a:extLst>
          </p:cNvPr>
          <p:cNvSpPr>
            <a:spLocks noGrp="1"/>
          </p:cNvSpPr>
          <p:nvPr>
            <p:ph idx="1"/>
          </p:nvPr>
        </p:nvSpPr>
        <p:spPr>
          <a:xfrm>
            <a:off x="457200" y="819150"/>
            <a:ext cx="8229600" cy="3937000"/>
          </a:xfrm>
        </p:spPr>
        <p:txBody>
          <a:bodyPr/>
          <a:lstStyle/>
          <a:p>
            <a:r>
              <a:rPr lang="x-none" altLang="zh-CN" dirty="0"/>
              <a:t>Pandas</a:t>
            </a:r>
            <a:r>
              <a:rPr lang="zh-CN" altLang="x-none" dirty="0"/>
              <a:t>提供</a:t>
            </a:r>
            <a:r>
              <a:rPr lang="zh-CN" altLang="en-US" dirty="0"/>
              <a:t>了一系列非常有用的内置函数</a:t>
            </a:r>
            <a:endParaRPr lang="en-US" altLang="zh-CN" dirty="0"/>
          </a:p>
          <a:p>
            <a:pPr lvl="1"/>
            <a:r>
              <a:rPr lang="en-US" dirty="0">
                <a:latin typeface="Consolas"/>
                <a:ea typeface="Consolas"/>
                <a:cs typeface="Consolas"/>
                <a:sym typeface="Consolas"/>
              </a:rPr>
              <a:t>size/shape</a:t>
            </a:r>
            <a:r>
              <a:rPr lang="zh-CN" altLang="en-US" dirty="0">
                <a:latin typeface="Consolas"/>
                <a:ea typeface="Consolas"/>
                <a:cs typeface="Consolas"/>
                <a:sym typeface="Consolas"/>
              </a:rPr>
              <a:t> </a:t>
            </a:r>
            <a:r>
              <a:rPr lang="en-US" altLang="zh-CN" dirty="0">
                <a:latin typeface="Consolas"/>
                <a:ea typeface="Consolas"/>
                <a:cs typeface="Consolas"/>
                <a:sym typeface="Consolas"/>
              </a:rPr>
              <a:t>#</a:t>
            </a:r>
            <a:r>
              <a:rPr lang="zh-CN" altLang="en-US" dirty="0">
                <a:latin typeface="Consolas"/>
                <a:ea typeface="Consolas"/>
                <a:cs typeface="Consolas"/>
                <a:sym typeface="Consolas"/>
              </a:rPr>
              <a:t> 返回</a:t>
            </a:r>
            <a:r>
              <a:rPr lang="en-US" altLang="zh-CN" dirty="0" err="1">
                <a:latin typeface="Consolas"/>
                <a:ea typeface="Consolas"/>
                <a:cs typeface="Consolas"/>
                <a:sym typeface="Consolas"/>
              </a:rPr>
              <a:t>DataFrame</a:t>
            </a:r>
            <a:r>
              <a:rPr lang="zh-CN" altLang="en-US" dirty="0">
                <a:latin typeface="Consolas"/>
                <a:ea typeface="Consolas"/>
                <a:cs typeface="Consolas"/>
                <a:sym typeface="Consolas"/>
              </a:rPr>
              <a:t>对象的元素数 </a:t>
            </a:r>
            <a:r>
              <a:rPr lang="en-US" altLang="zh-CN" dirty="0">
                <a:latin typeface="Consolas"/>
                <a:ea typeface="Consolas"/>
                <a:cs typeface="Consolas"/>
                <a:sym typeface="Consolas"/>
              </a:rPr>
              <a:t>/</a:t>
            </a:r>
            <a:r>
              <a:rPr lang="zh-CN" altLang="en-US" dirty="0">
                <a:latin typeface="Consolas"/>
                <a:ea typeface="Consolas"/>
                <a:cs typeface="Consolas"/>
                <a:sym typeface="Consolas"/>
              </a:rPr>
              <a:t> 行列数</a:t>
            </a:r>
            <a:endParaRPr lang="en-US" dirty="0">
              <a:latin typeface="Consolas"/>
              <a:ea typeface="Consolas"/>
              <a:cs typeface="Consolas"/>
              <a:sym typeface="Consolas"/>
            </a:endParaRPr>
          </a:p>
          <a:p>
            <a:pPr lvl="1"/>
            <a:r>
              <a:rPr lang="en-US" dirty="0">
                <a:latin typeface="Consolas"/>
                <a:ea typeface="Consolas"/>
                <a:cs typeface="Consolas"/>
                <a:sym typeface="Consolas"/>
              </a:rPr>
              <a:t>describe</a:t>
            </a:r>
            <a:r>
              <a:rPr lang="zh-CN" altLang="en-US" dirty="0">
                <a:latin typeface="Consolas"/>
                <a:ea typeface="Consolas"/>
                <a:cs typeface="Consolas"/>
                <a:sym typeface="Consolas"/>
              </a:rPr>
              <a:t> </a:t>
            </a:r>
            <a:r>
              <a:rPr lang="en-US" altLang="zh-CN" dirty="0">
                <a:latin typeface="Consolas"/>
                <a:ea typeface="Consolas"/>
                <a:cs typeface="Consolas"/>
                <a:sym typeface="Consolas"/>
              </a:rPr>
              <a:t>#</a:t>
            </a:r>
            <a:r>
              <a:rPr lang="zh-CN" altLang="en-US" dirty="0">
                <a:latin typeface="Consolas"/>
                <a:ea typeface="Consolas"/>
                <a:cs typeface="Consolas"/>
                <a:sym typeface="Consolas"/>
              </a:rPr>
              <a:t> 返回</a:t>
            </a:r>
            <a:r>
              <a:rPr lang="en-US" altLang="zh-CN" dirty="0" err="1">
                <a:latin typeface="Consolas"/>
                <a:ea typeface="Consolas"/>
                <a:cs typeface="Consolas"/>
                <a:sym typeface="Consolas"/>
              </a:rPr>
              <a:t>DataFrame</a:t>
            </a:r>
            <a:r>
              <a:rPr lang="zh-CN" altLang="en-US" dirty="0">
                <a:latin typeface="Consolas"/>
                <a:ea typeface="Consolas"/>
                <a:cs typeface="Consolas"/>
                <a:sym typeface="Consolas"/>
              </a:rPr>
              <a:t>对象的统计信息</a:t>
            </a:r>
            <a:endParaRPr lang="en-US" dirty="0">
              <a:latin typeface="Consolas"/>
              <a:ea typeface="Consolas"/>
              <a:cs typeface="Consolas"/>
              <a:sym typeface="Consolas"/>
            </a:endParaRPr>
          </a:p>
        </p:txBody>
      </p:sp>
      <p:pic>
        <p:nvPicPr>
          <p:cNvPr id="6" name="Picture 5" descr="A screenshot of a computer&#10;&#10;Description automatically generated">
            <a:extLst>
              <a:ext uri="{FF2B5EF4-FFF2-40B4-BE49-F238E27FC236}">
                <a16:creationId xmlns="" xmlns:a16="http://schemas.microsoft.com/office/drawing/2014/main" id="{B4D80ED3-1691-F1F5-271C-EEDAFAEA9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573" y="1973234"/>
            <a:ext cx="1813278" cy="1651115"/>
          </a:xfrm>
          <a:prstGeom prst="rect">
            <a:avLst/>
          </a:prstGeom>
        </p:spPr>
      </p:pic>
      <p:pic>
        <p:nvPicPr>
          <p:cNvPr id="11" name="Picture 10" descr="A screenshot of a cell phone&#10;&#10;Description automatically generated">
            <a:extLst>
              <a:ext uri="{FF2B5EF4-FFF2-40B4-BE49-F238E27FC236}">
                <a16:creationId xmlns="" xmlns:a16="http://schemas.microsoft.com/office/drawing/2014/main" id="{EEDBFC73-FE62-0F72-9294-2F6D6C7ABE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7782" y="1973234"/>
            <a:ext cx="2204481" cy="2782916"/>
          </a:xfrm>
          <a:prstGeom prst="rect">
            <a:avLst/>
          </a:prstGeom>
        </p:spPr>
      </p:pic>
      <p:pic>
        <p:nvPicPr>
          <p:cNvPr id="14" name="Picture 13" descr="A screenshot of a computer&#10;&#10;Description automatically generated">
            <a:extLst>
              <a:ext uri="{FF2B5EF4-FFF2-40B4-BE49-F238E27FC236}">
                <a16:creationId xmlns="" xmlns:a16="http://schemas.microsoft.com/office/drawing/2014/main" id="{531A144D-A88A-79B3-15B9-FE33020223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4194" y="1973234"/>
            <a:ext cx="2947514" cy="2033501"/>
          </a:xfrm>
          <a:prstGeom prst="rect">
            <a:avLst/>
          </a:prstGeom>
        </p:spPr>
      </p:pic>
    </p:spTree>
    <p:extLst>
      <p:ext uri="{BB962C8B-B14F-4D97-AF65-F5344CB8AC3E}">
        <p14:creationId xmlns:p14="http://schemas.microsoft.com/office/powerpoint/2010/main" val="1018501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F0A518-8C46-7F82-B905-0C9092E15BA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E983C4F-B029-123D-FC5F-B9AD698434AF}"/>
              </a:ext>
            </a:extLst>
          </p:cNvPr>
          <p:cNvSpPr>
            <a:spLocks noGrp="1"/>
          </p:cNvSpPr>
          <p:nvPr>
            <p:ph type="title"/>
          </p:nvPr>
        </p:nvSpPr>
        <p:spPr/>
        <p:txBody>
          <a:bodyPr/>
          <a:lstStyle/>
          <a:p>
            <a:r>
              <a:rPr lang="en-US" dirty="0" err="1"/>
              <a:t>使用Pandas的内置函数</a:t>
            </a:r>
            <a:endParaRPr lang="en-US" dirty="0"/>
          </a:p>
        </p:txBody>
      </p:sp>
      <p:sp>
        <p:nvSpPr>
          <p:cNvPr id="4" name="Slide Number Placeholder 3">
            <a:extLst>
              <a:ext uri="{FF2B5EF4-FFF2-40B4-BE49-F238E27FC236}">
                <a16:creationId xmlns="" xmlns:a16="http://schemas.microsoft.com/office/drawing/2014/main" id="{2A41036E-D5E5-0041-9D97-47ECB5807FA4}"/>
              </a:ext>
            </a:extLst>
          </p:cNvPr>
          <p:cNvSpPr>
            <a:spLocks noGrp="1"/>
          </p:cNvSpPr>
          <p:nvPr>
            <p:ph type="sldNum" sz="quarter" idx="12"/>
          </p:nvPr>
        </p:nvSpPr>
        <p:spPr/>
        <p:txBody>
          <a:bodyPr/>
          <a:lstStyle/>
          <a:p>
            <a:fld id="{E1BEBC7A-FD02-486B-81B5-A845787C689C}" type="slidenum">
              <a:rPr lang="zh-CN" altLang="en-US" smtClean="0"/>
              <a:t>43</a:t>
            </a:fld>
            <a:endParaRPr lang="zh-CN" altLang="en-US"/>
          </a:p>
        </p:txBody>
      </p:sp>
      <p:sp>
        <p:nvSpPr>
          <p:cNvPr id="9" name="Content Placeholder 2">
            <a:extLst>
              <a:ext uri="{FF2B5EF4-FFF2-40B4-BE49-F238E27FC236}">
                <a16:creationId xmlns="" xmlns:a16="http://schemas.microsoft.com/office/drawing/2014/main" id="{7D0891EA-D907-DD8B-1250-8C8A48185365}"/>
              </a:ext>
            </a:extLst>
          </p:cNvPr>
          <p:cNvSpPr>
            <a:spLocks noGrp="1"/>
          </p:cNvSpPr>
          <p:nvPr>
            <p:ph idx="1"/>
          </p:nvPr>
        </p:nvSpPr>
        <p:spPr>
          <a:xfrm>
            <a:off x="457200" y="819150"/>
            <a:ext cx="8229600" cy="1125130"/>
          </a:xfrm>
        </p:spPr>
        <p:txBody>
          <a:bodyPr/>
          <a:lstStyle/>
          <a:p>
            <a:r>
              <a:rPr lang="x-none" altLang="zh-CN" dirty="0"/>
              <a:t>Pandas</a:t>
            </a:r>
            <a:r>
              <a:rPr lang="zh-CN" altLang="x-none" dirty="0"/>
              <a:t>提供</a:t>
            </a:r>
            <a:r>
              <a:rPr lang="zh-CN" altLang="en-US" dirty="0"/>
              <a:t>了一系列非常有用的内置函数</a:t>
            </a:r>
            <a:endParaRPr lang="en-US" altLang="zh-CN" dirty="0"/>
          </a:p>
          <a:p>
            <a:pPr lvl="1"/>
            <a:r>
              <a:rPr lang="en-US" altLang="zh-CN" dirty="0" err="1">
                <a:latin typeface="Consolas"/>
                <a:ea typeface="Consolas"/>
                <a:cs typeface="Consolas"/>
                <a:sym typeface="Consolas"/>
              </a:rPr>
              <a:t>value_counts</a:t>
            </a:r>
            <a:r>
              <a:rPr lang="zh-CN" altLang="en-US" dirty="0">
                <a:latin typeface="Consolas"/>
                <a:ea typeface="Consolas"/>
                <a:cs typeface="Consolas"/>
                <a:sym typeface="Consolas"/>
              </a:rPr>
              <a:t> </a:t>
            </a:r>
            <a:r>
              <a:rPr lang="en-US" altLang="zh-CN" dirty="0">
                <a:latin typeface="Microsoft YaHei" charset="-122"/>
                <a:ea typeface="Microsoft YaHei" charset="-122"/>
                <a:cs typeface="Microsoft YaHei" charset="-122"/>
                <a:sym typeface="Consolas"/>
              </a:rPr>
              <a:t>#</a:t>
            </a:r>
            <a:r>
              <a:rPr lang="zh-CN" altLang="en-US" dirty="0">
                <a:latin typeface="Microsoft YaHei" charset="-122"/>
                <a:ea typeface="Microsoft YaHei" charset="-122"/>
                <a:cs typeface="Microsoft YaHei" charset="-122"/>
                <a:sym typeface="Consolas"/>
              </a:rPr>
              <a:t> 返回每个取值出现的频次，</a:t>
            </a:r>
            <a:r>
              <a:rPr lang="en-US" altLang="zh-CN" dirty="0">
                <a:latin typeface="Consolas"/>
                <a:ea typeface="Consolas"/>
                <a:cs typeface="Consolas"/>
                <a:sym typeface="Consolas"/>
              </a:rPr>
              <a:t>Series</a:t>
            </a:r>
            <a:r>
              <a:rPr lang="zh-CN" altLang="en-US" dirty="0">
                <a:latin typeface="Consolas"/>
                <a:ea typeface="Consolas"/>
                <a:cs typeface="Consolas"/>
                <a:sym typeface="Consolas"/>
              </a:rPr>
              <a:t>对象</a:t>
            </a:r>
            <a:endParaRPr lang="en-US" altLang="zh-CN" dirty="0">
              <a:latin typeface="Consolas"/>
              <a:ea typeface="Consolas"/>
              <a:cs typeface="Consolas"/>
              <a:sym typeface="Consolas"/>
            </a:endParaRPr>
          </a:p>
          <a:p>
            <a:pPr lvl="1"/>
            <a:r>
              <a:rPr lang="en-US" altLang="zh-CN" dirty="0">
                <a:latin typeface="Consolas"/>
                <a:ea typeface="Consolas"/>
                <a:cs typeface="Consolas"/>
                <a:sym typeface="Consolas"/>
              </a:rPr>
              <a:t>unique</a:t>
            </a:r>
            <a:r>
              <a:rPr lang="zh-CN" altLang="en-US" dirty="0">
                <a:latin typeface="Microsoft YaHei" charset="-122"/>
                <a:ea typeface="Microsoft YaHei" charset="-122"/>
                <a:cs typeface="Microsoft YaHei" charset="-122"/>
                <a:sym typeface="Consolas"/>
              </a:rPr>
              <a:t> </a:t>
            </a:r>
            <a:r>
              <a:rPr lang="en-US" altLang="zh-CN" dirty="0">
                <a:latin typeface="Microsoft YaHei" charset="-122"/>
                <a:ea typeface="Microsoft YaHei" charset="-122"/>
                <a:cs typeface="Microsoft YaHei" charset="-122"/>
                <a:sym typeface="Consolas"/>
              </a:rPr>
              <a:t>#</a:t>
            </a:r>
            <a:r>
              <a:rPr lang="zh-CN" altLang="en-US" dirty="0">
                <a:latin typeface="Microsoft YaHei" charset="-122"/>
                <a:ea typeface="Microsoft YaHei" charset="-122"/>
                <a:cs typeface="Microsoft YaHei" charset="-122"/>
                <a:sym typeface="Consolas"/>
              </a:rPr>
              <a:t> 返回不同的取值，数组对象</a:t>
            </a:r>
            <a:endParaRPr lang="en-US" dirty="0">
              <a:latin typeface="Microsoft YaHei" charset="-122"/>
              <a:ea typeface="Microsoft YaHei" charset="-122"/>
              <a:cs typeface="Microsoft YaHei" charset="-122"/>
              <a:sym typeface="Consolas"/>
            </a:endParaRPr>
          </a:p>
        </p:txBody>
      </p:sp>
      <p:sp>
        <p:nvSpPr>
          <p:cNvPr id="13" name="Google Shape;421;p47">
            <a:extLst>
              <a:ext uri="{FF2B5EF4-FFF2-40B4-BE49-F238E27FC236}">
                <a16:creationId xmlns="" xmlns:a16="http://schemas.microsoft.com/office/drawing/2014/main" id="{DB0E83AD-4DFF-A13B-F271-C5F5039167AE}"/>
              </a:ext>
            </a:extLst>
          </p:cNvPr>
          <p:cNvSpPr txBox="1"/>
          <p:nvPr/>
        </p:nvSpPr>
        <p:spPr>
          <a:xfrm>
            <a:off x="709398" y="1944280"/>
            <a:ext cx="3920419" cy="519471"/>
          </a:xfrm>
          <a:prstGeom prst="rect">
            <a:avLst/>
          </a:prstGeom>
          <a:solidFill>
            <a:schemeClr val="bg1"/>
          </a:solidFill>
          <a:ln>
            <a:noFill/>
          </a:ln>
        </p:spPr>
        <p:txBody>
          <a:bodyPr spcFirstLastPara="1" wrap="square" lIns="91425" tIns="91425" rIns="91425" bIns="91425" anchor="t" anchorCtr="0">
            <a:spAutoFit/>
          </a:bodyPr>
          <a:lstStyle/>
          <a:p>
            <a:pPr lvl="0">
              <a:lnSpc>
                <a:spcPct val="135714"/>
              </a:lnSpc>
              <a:buClr>
                <a:srgbClr val="000000"/>
              </a:buClr>
            </a:pPr>
            <a:r>
              <a:rPr lang="en" sz="1600" kern="0" dirty="0" err="1">
                <a:solidFill>
                  <a:srgbClr val="000000"/>
                </a:solidFill>
                <a:highlight>
                  <a:srgbClr val="FFFFFE"/>
                </a:highlight>
                <a:latin typeface="Consolas"/>
                <a:ea typeface="Consolas"/>
                <a:cs typeface="Consolas"/>
                <a:sym typeface="Consolas"/>
              </a:rPr>
              <a:t>babyname</a:t>
            </a:r>
            <a:r>
              <a:rPr lang="en" sz="1600" kern="0" dirty="0">
                <a:solidFill>
                  <a:srgbClr val="000000"/>
                </a:solidFill>
                <a:highlight>
                  <a:srgbClr val="FFFFFE"/>
                </a:highlight>
                <a:latin typeface="Consolas"/>
                <a:ea typeface="Consolas"/>
                <a:cs typeface="Consolas"/>
                <a:sym typeface="Consolas"/>
              </a:rPr>
              <a:t>[</a:t>
            </a:r>
            <a:r>
              <a:rPr lang="en" sz="1600" kern="0" dirty="0">
                <a:solidFill>
                  <a:srgbClr val="A31515"/>
                </a:solidFill>
                <a:highlight>
                  <a:srgbClr val="FFFFFE"/>
                </a:highlight>
                <a:latin typeface="Consolas"/>
                <a:ea typeface="Consolas"/>
                <a:cs typeface="Consolas"/>
                <a:sym typeface="Consolas"/>
              </a:rPr>
              <a:t>"Name"</a:t>
            </a:r>
            <a:r>
              <a:rPr lang="en" sz="1600" kern="0" dirty="0">
                <a:solidFill>
                  <a:srgbClr val="000000"/>
                </a:solidFill>
                <a:highlight>
                  <a:srgbClr val="FFFFFE"/>
                </a:highlight>
                <a:latin typeface="Consolas"/>
                <a:ea typeface="Consolas"/>
                <a:cs typeface="Consolas"/>
                <a:sym typeface="Consolas"/>
              </a:rPr>
              <a:t>].</a:t>
            </a:r>
            <a:r>
              <a:rPr lang="en" sz="1600" kern="0" dirty="0" err="1">
                <a:solidFill>
                  <a:srgbClr val="0B5394"/>
                </a:solidFill>
                <a:highlight>
                  <a:srgbClr val="FFFFFE"/>
                </a:highlight>
                <a:latin typeface="Consolas"/>
                <a:ea typeface="Consolas"/>
                <a:cs typeface="Consolas"/>
                <a:sym typeface="Consolas"/>
              </a:rPr>
              <a:t>value_counts</a:t>
            </a:r>
            <a:r>
              <a:rPr lang="en" sz="1600" kern="0" dirty="0">
                <a:solidFill>
                  <a:srgbClr val="000000"/>
                </a:solidFill>
                <a:highlight>
                  <a:srgbClr val="FFFFFE"/>
                </a:highlight>
                <a:latin typeface="Consolas"/>
                <a:ea typeface="Consolas"/>
                <a:cs typeface="Consolas"/>
                <a:sym typeface="Consolas"/>
              </a:rPr>
              <a:t>()</a:t>
            </a:r>
            <a:endParaRPr lang="en" sz="1600" kern="0" dirty="0">
              <a:solidFill>
                <a:srgbClr val="000000"/>
              </a:solidFill>
              <a:latin typeface="Consolas"/>
              <a:ea typeface="Consolas"/>
              <a:cs typeface="Consolas"/>
              <a:sym typeface="Consolas"/>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2014" y="1944280"/>
            <a:ext cx="3804786" cy="2728883"/>
          </a:xfrm>
          <a:prstGeom prst="rect">
            <a:avLst/>
          </a:prstGeom>
        </p:spPr>
      </p:pic>
      <p:sp>
        <p:nvSpPr>
          <p:cNvPr id="16" name="Google Shape;421;p47">
            <a:extLst>
              <a:ext uri="{FF2B5EF4-FFF2-40B4-BE49-F238E27FC236}">
                <a16:creationId xmlns="" xmlns:a16="http://schemas.microsoft.com/office/drawing/2014/main" id="{DB0E83AD-4DFF-A13B-F271-C5F5039167AE}"/>
              </a:ext>
            </a:extLst>
          </p:cNvPr>
          <p:cNvSpPr txBox="1"/>
          <p:nvPr/>
        </p:nvSpPr>
        <p:spPr>
          <a:xfrm>
            <a:off x="709398" y="2693242"/>
            <a:ext cx="3920419" cy="498568"/>
          </a:xfrm>
          <a:prstGeom prst="rect">
            <a:avLst/>
          </a:prstGeom>
          <a:solidFill>
            <a:schemeClr val="bg1"/>
          </a:solidFill>
          <a:ln>
            <a:noFill/>
          </a:ln>
        </p:spPr>
        <p:txBody>
          <a:bodyPr spcFirstLastPara="1" wrap="square" lIns="91425" tIns="91425" rIns="91425" bIns="91425" anchor="t" anchorCtr="0">
            <a:spAutoFit/>
          </a:bodyPr>
          <a:lstStyle/>
          <a:p>
            <a:pPr lvl="0">
              <a:lnSpc>
                <a:spcPct val="135714"/>
              </a:lnSpc>
              <a:buClr>
                <a:srgbClr val="000000"/>
              </a:buClr>
            </a:pPr>
            <a:r>
              <a:rPr lang="en" sz="1500" kern="0" dirty="0" err="1">
                <a:solidFill>
                  <a:srgbClr val="000000"/>
                </a:solidFill>
                <a:highlight>
                  <a:srgbClr val="FFFFFE"/>
                </a:highlight>
                <a:latin typeface="Consolas"/>
                <a:ea typeface="Consolas"/>
                <a:cs typeface="Consolas"/>
                <a:sym typeface="Consolas"/>
              </a:rPr>
              <a:t>babynames</a:t>
            </a:r>
            <a:r>
              <a:rPr lang="en" sz="1500" kern="0" dirty="0">
                <a:solidFill>
                  <a:srgbClr val="000000"/>
                </a:solidFill>
                <a:highlight>
                  <a:srgbClr val="FFFFFE"/>
                </a:highlight>
                <a:latin typeface="Consolas"/>
                <a:ea typeface="Consolas"/>
                <a:cs typeface="Consolas"/>
                <a:sym typeface="Consolas"/>
              </a:rPr>
              <a:t>[</a:t>
            </a:r>
            <a:r>
              <a:rPr lang="en" sz="1500" kern="0" dirty="0">
                <a:solidFill>
                  <a:srgbClr val="A31515"/>
                </a:solidFill>
                <a:highlight>
                  <a:srgbClr val="FFFFFE"/>
                </a:highlight>
                <a:latin typeface="Consolas"/>
                <a:ea typeface="Consolas"/>
                <a:cs typeface="Consolas"/>
                <a:sym typeface="Consolas"/>
              </a:rPr>
              <a:t>"Name"</a:t>
            </a:r>
            <a:r>
              <a:rPr lang="en" sz="1500" kern="0" dirty="0">
                <a:solidFill>
                  <a:srgbClr val="000000"/>
                </a:solidFill>
                <a:highlight>
                  <a:srgbClr val="FFFFFE"/>
                </a:highlight>
                <a:latin typeface="Consolas"/>
                <a:ea typeface="Consolas"/>
                <a:cs typeface="Consolas"/>
                <a:sym typeface="Consolas"/>
              </a:rPr>
              <a:t>].</a:t>
            </a:r>
            <a:r>
              <a:rPr lang="en" sz="1500" kern="0" dirty="0">
                <a:solidFill>
                  <a:srgbClr val="0B5394"/>
                </a:solidFill>
                <a:highlight>
                  <a:srgbClr val="FFFFFE"/>
                </a:highlight>
                <a:latin typeface="Consolas"/>
                <a:ea typeface="Consolas"/>
                <a:cs typeface="Consolas"/>
                <a:sym typeface="Consolas"/>
              </a:rPr>
              <a:t>unique</a:t>
            </a:r>
            <a:r>
              <a:rPr lang="en" sz="1500" kern="0" dirty="0">
                <a:solidFill>
                  <a:srgbClr val="000000"/>
                </a:solidFill>
                <a:highlight>
                  <a:srgbClr val="FFFFFE"/>
                </a:highlight>
                <a:latin typeface="Consolas"/>
                <a:ea typeface="Consolas"/>
                <a:cs typeface="Consolas"/>
                <a:sym typeface="Consolas"/>
              </a:rPr>
              <a:t>()</a:t>
            </a:r>
            <a:endParaRPr lang="en" sz="1600" kern="0" dirty="0">
              <a:solidFill>
                <a:srgbClr val="000000"/>
              </a:solidFill>
              <a:latin typeface="Consolas"/>
              <a:ea typeface="Consolas"/>
              <a:cs typeface="Consolas"/>
              <a:sym typeface="Consolas"/>
            </a:endParaRP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388" y="3421301"/>
            <a:ext cx="4572000" cy="491207"/>
          </a:xfrm>
          <a:prstGeom prst="rect">
            <a:avLst/>
          </a:prstGeom>
        </p:spPr>
      </p:pic>
    </p:spTree>
    <p:extLst>
      <p:ext uri="{BB962C8B-B14F-4D97-AF65-F5344CB8AC3E}">
        <p14:creationId xmlns:p14="http://schemas.microsoft.com/office/powerpoint/2010/main" val="372793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聚合操作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groupby</a:t>
            </a:r>
            <a:endParaRPr lang="en-US" sz="2800" dirty="0">
              <a:latin typeface="Microsoft YaHei" charset="-122"/>
              <a:ea typeface="Microsoft YaHei" charset="-122"/>
              <a:cs typeface="Microsoft YaHei" charset="-122"/>
            </a:endParaRPr>
          </a:p>
        </p:txBody>
      </p:sp>
      <p:sp>
        <p:nvSpPr>
          <p:cNvPr id="8" name="Content Placeholder 2"/>
          <p:cNvSpPr>
            <a:spLocks noGrp="1"/>
          </p:cNvSpPr>
          <p:nvPr>
            <p:ph idx="1"/>
          </p:nvPr>
        </p:nvSpPr>
        <p:spPr>
          <a:xfrm>
            <a:off x="451945" y="851053"/>
            <a:ext cx="8493751" cy="3908234"/>
          </a:xfrm>
        </p:spPr>
        <p:txBody>
          <a:bodyPr/>
          <a:lstStyle/>
          <a:p>
            <a:pPr marL="342900" lvl="1" indent="-342900">
              <a:lnSpc>
                <a:spcPct val="100000"/>
              </a:lnSpc>
              <a:spcBef>
                <a:spcPts val="672"/>
              </a:spcBef>
            </a:pPr>
            <a:r>
              <a:rPr kumimoji="1" lang="zh-CN" altLang="en-US" sz="2000" dirty="0">
                <a:latin typeface="Microsoft YaHei" charset="-122"/>
                <a:ea typeface="Microsoft YaHei" charset="-122"/>
              </a:rPr>
              <a:t>通常我们希望对在某些属性上取值相同的的数据点进行聚合分析</a:t>
            </a:r>
            <a:endParaRPr kumimoji="1" lang="en-US" altLang="zh-CN" sz="2000" dirty="0">
              <a:latin typeface="Microsoft YaHei" charset="-122"/>
              <a:ea typeface="Microsoft YaHei" charset="-122"/>
            </a:endParaRPr>
          </a:p>
          <a:p>
            <a:pPr marL="800100" lvl="2" indent="-342900">
              <a:lnSpc>
                <a:spcPct val="100000"/>
              </a:lnSpc>
              <a:spcBef>
                <a:spcPts val="672"/>
              </a:spcBef>
            </a:pPr>
            <a:r>
              <a:rPr kumimoji="1" lang="zh-CN" altLang="en-US" sz="1600" dirty="0">
                <a:latin typeface="Microsoft YaHei" charset="-122"/>
                <a:ea typeface="Microsoft YaHei" charset="-122"/>
              </a:rPr>
              <a:t>每个政党在美国所有选举中的平均投票份额是多少？</a:t>
            </a:r>
            <a:endParaRPr kumimoji="1" lang="en-US" altLang="zh-CN" sz="1600" dirty="0">
              <a:latin typeface="Microsoft YaHei" charset="-122"/>
              <a:ea typeface="Microsoft YaHei" charset="-122"/>
            </a:endParaRPr>
          </a:p>
          <a:p>
            <a:pPr marL="800100" lvl="2" indent="-342900">
              <a:lnSpc>
                <a:spcPct val="100000"/>
              </a:lnSpc>
              <a:spcBef>
                <a:spcPts val="672"/>
              </a:spcBef>
            </a:pPr>
            <a:r>
              <a:rPr kumimoji="1" lang="zh-CN" altLang="en-US" sz="1600" dirty="0">
                <a:latin typeface="Microsoft YaHei" charset="-122"/>
                <a:ea typeface="Microsoft YaHei" charset="-122"/>
              </a:rPr>
              <a:t>中国人民大学每个学期每个系的平均班级人数是多少？</a:t>
            </a:r>
            <a:endParaRPr kumimoji="1" lang="en-US" altLang="zh-CN" sz="1600" dirty="0">
              <a:latin typeface="Microsoft YaHei" charset="-122"/>
              <a:ea typeface="Microsoft YaHei" charset="-122"/>
            </a:endParaRPr>
          </a:p>
          <a:p>
            <a:pPr marL="342900" lvl="1" indent="-342900">
              <a:lnSpc>
                <a:spcPct val="100000"/>
              </a:lnSpc>
              <a:spcBef>
                <a:spcPts val="672"/>
              </a:spcBef>
            </a:pPr>
            <a:r>
              <a:rPr kumimoji="1" lang="en-US" altLang="zh-CN" dirty="0" err="1">
                <a:latin typeface="Microsoft YaHei" charset="-122"/>
                <a:ea typeface="Microsoft YaHei" charset="-122"/>
              </a:rPr>
              <a:t>groupby</a:t>
            </a:r>
            <a:r>
              <a:rPr kumimoji="1" lang="en-US" altLang="zh-CN" dirty="0">
                <a:latin typeface="Microsoft YaHei" charset="-122"/>
                <a:ea typeface="Microsoft YaHei" charset="-122"/>
              </a:rPr>
              <a:t> </a:t>
            </a:r>
            <a:r>
              <a:rPr kumimoji="1" lang="zh-CN" altLang="en-US" dirty="0">
                <a:latin typeface="Microsoft YaHei" charset="-122"/>
                <a:ea typeface="Microsoft YaHei" charset="-122"/>
              </a:rPr>
              <a:t>是解决这类问题的一个非常强大的工具。</a:t>
            </a:r>
            <a:endParaRPr kumimoji="1" lang="zh-CN" altLang="en-US" sz="1600" dirty="0">
              <a:latin typeface="Microsoft YaHei" charset="-122"/>
              <a:ea typeface="Microsoft YaHei" charset="-122"/>
            </a:endParaRPr>
          </a:p>
        </p:txBody>
      </p:sp>
      <p:pic>
        <p:nvPicPr>
          <p:cNvPr id="11" name="Picture 10"/>
          <p:cNvPicPr>
            <a:picLocks noChangeAspect="1"/>
          </p:cNvPicPr>
          <p:nvPr/>
        </p:nvPicPr>
        <p:blipFill>
          <a:blip r:embed="rId3"/>
          <a:stretch>
            <a:fillRect/>
          </a:stretch>
        </p:blipFill>
        <p:spPr>
          <a:xfrm>
            <a:off x="813670" y="2400784"/>
            <a:ext cx="3355554" cy="2354891"/>
          </a:xfrm>
          <a:prstGeom prst="rect">
            <a:avLst/>
          </a:prstGeom>
        </p:spPr>
      </p:pic>
      <p:pic>
        <p:nvPicPr>
          <p:cNvPr id="12" name="Picture 11"/>
          <p:cNvPicPr>
            <a:picLocks noChangeAspect="1"/>
          </p:cNvPicPr>
          <p:nvPr/>
        </p:nvPicPr>
        <p:blipFill>
          <a:blip r:embed="rId4"/>
          <a:stretch>
            <a:fillRect/>
          </a:stretch>
        </p:blipFill>
        <p:spPr>
          <a:xfrm>
            <a:off x="4530948" y="2408818"/>
            <a:ext cx="3959909" cy="2346857"/>
          </a:xfrm>
          <a:prstGeom prst="rect">
            <a:avLst/>
          </a:prstGeom>
        </p:spPr>
      </p:pic>
    </p:spTree>
    <p:extLst>
      <p:ext uri="{BB962C8B-B14F-4D97-AF65-F5344CB8AC3E}">
        <p14:creationId xmlns:p14="http://schemas.microsoft.com/office/powerpoint/2010/main" val="871385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数据</a:t>
            </a:r>
            <a:r>
              <a:rPr lang="zh-CN" altLang="en-US" dirty="0">
                <a:solidFill>
                  <a:srgbClr val="C00000"/>
                </a:solidFill>
                <a:latin typeface="Microsoft YaHei" charset="-122"/>
                <a:ea typeface="Microsoft YaHei" charset="-122"/>
                <a:cs typeface="Microsoft YaHei" charset="-122"/>
              </a:rPr>
              <a:t>聚合操作</a:t>
            </a:r>
            <a:r>
              <a:rPr lang="en-US" altLang="zh-CN" dirty="0">
                <a:latin typeface="Microsoft YaHei" charset="-122"/>
                <a:ea typeface="Microsoft YaHei" charset="-122"/>
                <a:cs typeface="Microsoft YaHei" charset="-122"/>
              </a:rPr>
              <a:t>-</a:t>
            </a:r>
            <a:r>
              <a:rPr lang="en-US" altLang="zh-CN" dirty="0" err="1">
                <a:latin typeface="Microsoft YaHei" charset="-122"/>
                <a:ea typeface="Microsoft YaHei" charset="-122"/>
                <a:cs typeface="Microsoft YaHei" charset="-122"/>
              </a:rPr>
              <a:t>groupby</a:t>
            </a:r>
            <a:endParaRPr lang="en-US" dirty="0"/>
          </a:p>
        </p:txBody>
      </p:sp>
      <p:sp>
        <p:nvSpPr>
          <p:cNvPr id="3" name="Content Placeholder 2"/>
          <p:cNvSpPr>
            <a:spLocks noGrp="1"/>
          </p:cNvSpPr>
          <p:nvPr>
            <p:ph idx="1"/>
          </p:nvPr>
        </p:nvSpPr>
        <p:spPr>
          <a:xfrm>
            <a:off x="457200" y="819150"/>
            <a:ext cx="4407973" cy="3937000"/>
          </a:xfrm>
        </p:spPr>
        <p:txBody>
          <a:bodyPr/>
          <a:lstStyle/>
          <a:p>
            <a:r>
              <a:rPr lang="zh-CN" altLang="en-US" dirty="0"/>
              <a:t>聚合查询（</a:t>
            </a:r>
            <a:r>
              <a:rPr lang="en-US" altLang="zh-CN" dirty="0"/>
              <a:t>Aggregate</a:t>
            </a:r>
            <a:r>
              <a:rPr lang="zh-CN" altLang="en-US" dirty="0"/>
              <a:t> </a:t>
            </a:r>
            <a:r>
              <a:rPr lang="en-US" altLang="zh-CN" dirty="0"/>
              <a:t>Queries</a:t>
            </a:r>
            <a:r>
              <a:rPr lang="zh-CN" altLang="en-US" dirty="0"/>
              <a:t>）</a:t>
            </a:r>
            <a:endParaRPr lang="en-US" altLang="zh-CN" dirty="0"/>
          </a:p>
          <a:p>
            <a:pPr lvl="1"/>
            <a:r>
              <a:rPr lang="zh-CN" altLang="en-US" dirty="0"/>
              <a:t>使用一个或多个键（如</a:t>
            </a:r>
            <a:r>
              <a:rPr lang="en-US" altLang="zh-CN" dirty="0" err="1"/>
              <a:t>DataFrame</a:t>
            </a:r>
            <a:r>
              <a:rPr lang="zh-CN" altLang="en-US" dirty="0"/>
              <a:t>列名</a:t>
            </a:r>
            <a:r>
              <a:rPr lang="en-US" altLang="zh-CN" dirty="0"/>
              <a:t>)</a:t>
            </a:r>
            <a:r>
              <a:rPr lang="zh-CN" altLang="en-US" dirty="0"/>
              <a:t>将表格数据进行分组</a:t>
            </a:r>
            <a:endParaRPr lang="en-US" altLang="zh-CN" dirty="0"/>
          </a:p>
          <a:p>
            <a:pPr lvl="1"/>
            <a:r>
              <a:rPr lang="zh-CN" altLang="en-US" dirty="0"/>
              <a:t>计算分组的统计信息，比如数量、平均值或求和</a:t>
            </a:r>
            <a:endParaRPr lang="en-US" altLang="zh-CN" dirty="0"/>
          </a:p>
          <a:p>
            <a:r>
              <a:rPr lang="zh-CN" altLang="en-US" dirty="0"/>
              <a:t>聚合函数（</a:t>
            </a:r>
            <a:r>
              <a:rPr lang="en-US" altLang="zh-CN" dirty="0"/>
              <a:t>Aggregate</a:t>
            </a:r>
            <a:r>
              <a:rPr lang="zh-CN" altLang="en-US" dirty="0"/>
              <a:t> </a:t>
            </a:r>
            <a:r>
              <a:rPr lang="en-US" altLang="zh-CN" dirty="0"/>
              <a:t>Function</a:t>
            </a:r>
            <a:r>
              <a:rPr lang="zh-CN" altLang="en-US" dirty="0"/>
              <a:t>）</a:t>
            </a:r>
            <a:endParaRPr lang="en-US" altLang="zh-CN" dirty="0"/>
          </a:p>
          <a:p>
            <a:pPr lvl="1"/>
            <a:r>
              <a:rPr lang="en-US" altLang="zh-CN" dirty="0"/>
              <a:t>count,</a:t>
            </a:r>
            <a:r>
              <a:rPr lang="zh-CN" altLang="en-US" dirty="0"/>
              <a:t> </a:t>
            </a:r>
            <a:r>
              <a:rPr lang="en-US" altLang="zh-CN" dirty="0"/>
              <a:t>sum,</a:t>
            </a:r>
            <a:r>
              <a:rPr lang="zh-CN" altLang="en-US" dirty="0"/>
              <a:t> </a:t>
            </a:r>
            <a:r>
              <a:rPr lang="en-US" altLang="zh-CN" dirty="0" err="1"/>
              <a:t>avg</a:t>
            </a:r>
            <a:endParaRPr lang="en-US" altLang="zh-CN" dirty="0"/>
          </a:p>
          <a:p>
            <a:r>
              <a:rPr lang="zh-CN" altLang="en-US" dirty="0"/>
              <a:t>分组机制（</a:t>
            </a:r>
            <a:r>
              <a:rPr lang="en-US" altLang="zh-CN" dirty="0" err="1"/>
              <a:t>GroupBy</a:t>
            </a:r>
            <a:r>
              <a:rPr lang="zh-CN" altLang="en-US" dirty="0"/>
              <a:t>）</a:t>
            </a:r>
            <a:endParaRPr lang="en-US" altLang="zh-CN" dirty="0"/>
          </a:p>
          <a:p>
            <a:pPr lvl="1"/>
            <a:r>
              <a:rPr lang="zh-CN" altLang="en-US" dirty="0"/>
              <a:t>一个或多个属性</a:t>
            </a:r>
            <a:endParaRPr lang="en-US" altLang="zh-CN" dirty="0"/>
          </a:p>
          <a:p>
            <a:r>
              <a:rPr lang="zh-CN" altLang="en-US" dirty="0"/>
              <a:t>选择条件（</a:t>
            </a:r>
            <a:r>
              <a:rPr lang="en-US" altLang="zh-CN" dirty="0"/>
              <a:t>Where</a:t>
            </a:r>
            <a:r>
              <a:rPr lang="zh-CN" altLang="en-US" dirty="0"/>
              <a:t>）</a:t>
            </a:r>
            <a:endParaRPr lang="en-US" altLang="zh-CN" dirty="0"/>
          </a:p>
          <a:p>
            <a:pPr lvl="1"/>
            <a:r>
              <a:rPr lang="zh-CN" altLang="en-US" dirty="0"/>
              <a:t>对数据进行筛选</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45</a:t>
            </a:fld>
            <a:endParaRPr lang="zh-CN" altLang="en-US">
              <a:solidFill>
                <a:prstClr val="black">
                  <a:tint val="75000"/>
                </a:prst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2799" y="1136828"/>
            <a:ext cx="3821627" cy="3301643"/>
          </a:xfrm>
          <a:prstGeom prst="rect">
            <a:avLst/>
          </a:prstGeom>
        </p:spPr>
      </p:pic>
    </p:spTree>
    <p:extLst>
      <p:ext uri="{BB962C8B-B14F-4D97-AF65-F5344CB8AC3E}">
        <p14:creationId xmlns:p14="http://schemas.microsoft.com/office/powerpoint/2010/main" val="1206042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聚合操作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groupby</a:t>
            </a:r>
            <a:endParaRPr lang="en-US" sz="2800" dirty="0">
              <a:latin typeface="Microsoft YaHei" charset="-122"/>
              <a:ea typeface="Microsoft YaHei" charset="-122"/>
              <a:cs typeface="Microsoft YaHei" charset="-122"/>
            </a:endParaRPr>
          </a:p>
        </p:txBody>
      </p:sp>
      <p:sp>
        <p:nvSpPr>
          <p:cNvPr id="8" name="Content Placeholder 2"/>
          <p:cNvSpPr>
            <a:spLocks noGrp="1"/>
          </p:cNvSpPr>
          <p:nvPr>
            <p:ph idx="1"/>
          </p:nvPr>
        </p:nvSpPr>
        <p:spPr>
          <a:xfrm>
            <a:off x="451945" y="851053"/>
            <a:ext cx="8493751" cy="3908234"/>
          </a:xfrm>
        </p:spPr>
        <p:txBody>
          <a:bodyPr>
            <a:normAutofit/>
          </a:bodyPr>
          <a:lstStyle/>
          <a:p>
            <a:pPr marL="342900" lvl="1" indent="-342900">
              <a:lnSpc>
                <a:spcPct val="100000"/>
              </a:lnSpc>
              <a:buFont typeface="Arial" pitchFamily="34" charset="0"/>
              <a:buChar char="•"/>
            </a:pPr>
            <a:r>
              <a:rPr lang="zh-CN" altLang="en-US" sz="2000" dirty="0"/>
              <a:t>请给出每年新生儿的总数</a:t>
            </a:r>
            <a:endParaRPr lang="en-US" altLang="zh-CN" sz="2000" dirty="0"/>
          </a:p>
          <a:p>
            <a:pPr marL="742950" lvl="2" indent="-342900"/>
            <a:r>
              <a:rPr lang="en-US" altLang="zh-CN" dirty="0"/>
              <a:t>Split</a:t>
            </a:r>
            <a:r>
              <a:rPr lang="zh-CN" altLang="en-US" dirty="0"/>
              <a:t>步骤：按照</a:t>
            </a:r>
            <a:r>
              <a:rPr lang="en-US" altLang="zh-CN" dirty="0"/>
              <a:t>Year</a:t>
            </a:r>
            <a:r>
              <a:rPr lang="zh-CN" altLang="en-US" dirty="0"/>
              <a:t>进行分组</a:t>
            </a:r>
            <a:endParaRPr lang="en-US" altLang="zh-CN" dirty="0"/>
          </a:p>
          <a:p>
            <a:pPr marL="742950" lvl="2" indent="-342900"/>
            <a:r>
              <a:rPr lang="en-US" altLang="zh-CN" dirty="0"/>
              <a:t>Apply</a:t>
            </a:r>
            <a:r>
              <a:rPr lang="zh-CN" altLang="en-US" dirty="0"/>
              <a:t>步骤：每组应用</a:t>
            </a:r>
            <a:r>
              <a:rPr lang="en-US" altLang="zh-CN" dirty="0"/>
              <a:t>sum</a:t>
            </a:r>
            <a:r>
              <a:rPr lang="zh-CN" altLang="en-US" dirty="0"/>
              <a:t>函数</a:t>
            </a:r>
            <a:endParaRPr lang="en-US" altLang="zh-CN" dirty="0"/>
          </a:p>
          <a:p>
            <a:pPr marL="742950" lvl="2" indent="-342900"/>
            <a:r>
              <a:rPr lang="en-US" altLang="zh-CN" dirty="0"/>
              <a:t>Combine</a:t>
            </a:r>
            <a:r>
              <a:rPr lang="zh-CN" altLang="en-US" dirty="0"/>
              <a:t>步骤：各组组成一个新的</a:t>
            </a:r>
            <a:r>
              <a:rPr lang="en-US" altLang="zh-CN" dirty="0" err="1"/>
              <a:t>DataFrame</a:t>
            </a:r>
            <a:r>
              <a:rPr lang="zh-CN" altLang="en-US" dirty="0"/>
              <a:t>对象</a:t>
            </a:r>
            <a:endParaRPr lang="en-US" altLang="zh-CN" dirty="0"/>
          </a:p>
        </p:txBody>
      </p:sp>
      <p:sp>
        <p:nvSpPr>
          <p:cNvPr id="6" name="Google Shape;377;p42">
            <a:extLst>
              <a:ext uri="{FF2B5EF4-FFF2-40B4-BE49-F238E27FC236}">
                <a16:creationId xmlns="" xmlns:a16="http://schemas.microsoft.com/office/drawing/2014/main" id="{D9951725-F962-1D75-3263-17CC70D28D5E}"/>
              </a:ext>
            </a:extLst>
          </p:cNvPr>
          <p:cNvSpPr txBox="1"/>
          <p:nvPr/>
        </p:nvSpPr>
        <p:spPr>
          <a:xfrm>
            <a:off x="623054" y="2519816"/>
            <a:ext cx="4913042" cy="430857"/>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600" dirty="0">
                <a:solidFill>
                  <a:schemeClr val="dk1"/>
                </a:solidFill>
                <a:latin typeface="Consolas"/>
                <a:ea typeface="Consolas"/>
                <a:cs typeface="Consolas"/>
                <a:sym typeface="Consolas"/>
              </a:rPr>
              <a:t>    </a:t>
            </a:r>
            <a:r>
              <a:rPr lang="en" sz="1600" dirty="0" err="1">
                <a:solidFill>
                  <a:schemeClr val="dk1"/>
                </a:solidFill>
                <a:latin typeface="Consolas"/>
                <a:ea typeface="Consolas"/>
                <a:cs typeface="Consolas"/>
                <a:sym typeface="Consolas"/>
              </a:rPr>
              <a:t>babynames</a:t>
            </a:r>
            <a:r>
              <a:rPr lang="en-US" altLang="zh-CN" sz="1600" dirty="0">
                <a:solidFill>
                  <a:schemeClr val="dk1"/>
                </a:solidFill>
                <a:latin typeface="Consolas"/>
                <a:ea typeface="Consolas"/>
                <a:cs typeface="Consolas"/>
                <a:sym typeface="Consolas"/>
              </a:rPr>
              <a:t>.</a:t>
            </a:r>
            <a:r>
              <a:rPr lang="en-US" altLang="zh-CN" sz="1600" dirty="0" err="1">
                <a:solidFill>
                  <a:schemeClr val="dk1"/>
                </a:solidFill>
                <a:latin typeface="Consolas"/>
                <a:ea typeface="Consolas"/>
                <a:cs typeface="Consolas"/>
                <a:sym typeface="Consolas"/>
              </a:rPr>
              <a:t>groupby</a:t>
            </a:r>
            <a:r>
              <a:rPr lang="en-US" altLang="zh-CN" sz="1600" dirty="0">
                <a:solidFill>
                  <a:schemeClr val="dk1"/>
                </a:solidFill>
                <a:latin typeface="Consolas"/>
                <a:ea typeface="Consolas"/>
                <a:cs typeface="Consolas"/>
                <a:sym typeface="Consolas"/>
              </a:rPr>
              <a:t>(</a:t>
            </a:r>
            <a:r>
              <a:rPr lang="en" sz="1600" dirty="0">
                <a:solidFill>
                  <a:srgbClr val="A31515"/>
                </a:solidFill>
                <a:latin typeface="Consolas"/>
                <a:ea typeface="Consolas"/>
                <a:cs typeface="Consolas"/>
                <a:sym typeface="Consolas"/>
              </a:rPr>
              <a:t>"Year"</a:t>
            </a:r>
            <a:r>
              <a:rPr lang="en-US" altLang="zh-CN" sz="1600" dirty="0">
                <a:solidFill>
                  <a:schemeClr val="dk1"/>
                </a:solidFill>
                <a:latin typeface="Consolas"/>
                <a:ea typeface="Consolas"/>
                <a:cs typeface="Consolas"/>
                <a:sym typeface="Consolas"/>
              </a:rPr>
              <a:t>).</a:t>
            </a:r>
            <a:r>
              <a:rPr lang="en-US" altLang="zh-CN" sz="1600" dirty="0" err="1">
                <a:solidFill>
                  <a:schemeClr val="dk1"/>
                </a:solidFill>
                <a:latin typeface="Consolas"/>
                <a:ea typeface="Consolas"/>
                <a:cs typeface="Consolas"/>
                <a:sym typeface="Consolas"/>
              </a:rPr>
              <a:t>agg</a:t>
            </a:r>
            <a:r>
              <a:rPr lang="en-US" altLang="zh-CN" sz="1600" dirty="0">
                <a:solidFill>
                  <a:schemeClr val="dk1"/>
                </a:solidFill>
                <a:latin typeface="Consolas"/>
                <a:ea typeface="Consolas"/>
                <a:cs typeface="Consolas"/>
                <a:sym typeface="Consolas"/>
              </a:rPr>
              <a:t>(</a:t>
            </a:r>
            <a:r>
              <a:rPr lang="en-US" altLang="zh-CN" sz="1600" dirty="0">
                <a:solidFill>
                  <a:srgbClr val="008000"/>
                </a:solidFill>
                <a:latin typeface="Consolas"/>
                <a:ea typeface="Consolas"/>
                <a:cs typeface="Consolas"/>
                <a:sym typeface="Consolas"/>
              </a:rPr>
              <a:t>sum</a:t>
            </a:r>
            <a:r>
              <a:rPr lang="en" sz="1600" dirty="0">
                <a:solidFill>
                  <a:schemeClr val="dk1"/>
                </a:solidFill>
                <a:latin typeface="Consolas"/>
                <a:ea typeface="Consolas"/>
                <a:cs typeface="Consolas"/>
                <a:sym typeface="Consolas"/>
              </a:rPr>
              <a:t>)</a:t>
            </a:r>
            <a:endParaRPr sz="1600" dirty="0">
              <a:solidFill>
                <a:schemeClr val="dk1"/>
              </a:solidFill>
              <a:latin typeface="Consolas"/>
              <a:ea typeface="Consolas"/>
              <a:cs typeface="Consolas"/>
              <a:sym typeface="Consolas"/>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0955" y="322561"/>
            <a:ext cx="1508887" cy="4343148"/>
          </a:xfrm>
          <a:prstGeom prst="rect">
            <a:avLst/>
          </a:prstGeom>
        </p:spPr>
      </p:pic>
      <p:sp>
        <p:nvSpPr>
          <p:cNvPr id="9" name="Rectangle 8">
            <a:extLst>
              <a:ext uri="{FF2B5EF4-FFF2-40B4-BE49-F238E27FC236}">
                <a16:creationId xmlns="" xmlns:a16="http://schemas.microsoft.com/office/drawing/2014/main" id="{F1964BF9-7B10-ED8C-AAEF-E6A3D16FE3AE}"/>
              </a:ext>
            </a:extLst>
          </p:cNvPr>
          <p:cNvSpPr/>
          <p:nvPr/>
        </p:nvSpPr>
        <p:spPr>
          <a:xfrm>
            <a:off x="773507" y="3629947"/>
            <a:ext cx="3289923" cy="507831"/>
          </a:xfrm>
          <a:prstGeom prst="rect">
            <a:avLst/>
          </a:prstGeom>
        </p:spPr>
        <p:txBody>
          <a:bodyPr wrap="square">
            <a:spAutoFit/>
          </a:bodyPr>
          <a:lstStyle/>
          <a:p>
            <a:pPr algn="ct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练习：替换其它的聚合函数</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Rectangle 9">
            <a:extLst>
              <a:ext uri="{FF2B5EF4-FFF2-40B4-BE49-F238E27FC236}">
                <a16:creationId xmlns="" xmlns:a16="http://schemas.microsoft.com/office/drawing/2014/main" id="{BFF16355-BAE1-E3EB-B1C1-E86FA510CDF7}"/>
              </a:ext>
            </a:extLst>
          </p:cNvPr>
          <p:cNvSpPr/>
          <p:nvPr/>
        </p:nvSpPr>
        <p:spPr>
          <a:xfrm>
            <a:off x="451945" y="2979108"/>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634320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聚合操作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groupby</a:t>
            </a:r>
            <a:endParaRPr lang="en-US" sz="2800" dirty="0">
              <a:latin typeface="Microsoft YaHei" charset="-122"/>
              <a:ea typeface="Microsoft YaHei" charset="-122"/>
              <a:cs typeface="Microsoft YaHei" charset="-122"/>
            </a:endParaRPr>
          </a:p>
        </p:txBody>
      </p:sp>
      <p:sp>
        <p:nvSpPr>
          <p:cNvPr id="16" name="Google Shape;78;p15"/>
          <p:cNvSpPr txBox="1">
            <a:spLocks/>
          </p:cNvSpPr>
          <p:nvPr/>
        </p:nvSpPr>
        <p:spPr>
          <a:xfrm>
            <a:off x="457200" y="971550"/>
            <a:ext cx="8229600" cy="3623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rgbClr val="C4820E"/>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lnSpc>
                <a:spcPct val="100000"/>
              </a:lnSpc>
              <a:spcBef>
                <a:spcPts val="0"/>
              </a:spcBef>
              <a:spcAft>
                <a:spcPts val="0"/>
              </a:spcAft>
              <a:buClr>
                <a:srgbClr val="C4820E"/>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100000"/>
              </a:lnSpc>
              <a:spcBef>
                <a:spcPts val="0"/>
              </a:spcBef>
              <a:spcAft>
                <a:spcPts val="0"/>
              </a:spcAft>
              <a:buClr>
                <a:srgbClr val="C4820E"/>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480"/>
              </a:spcBef>
              <a:spcAft>
                <a:spcPts val="0"/>
              </a:spcAft>
              <a:buClr>
                <a:srgbClr val="C4820E"/>
              </a:buClr>
              <a:buSzPts val="2400"/>
              <a:buFont typeface="Arial"/>
              <a:buNone/>
              <a:tabLst/>
              <a:defRPr/>
            </a:pP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The </a:t>
            </a:r>
            <a:r>
              <a:rPr kumimoji="0" lang="en" sz="2400" b="1" i="0" u="none" strike="noStrike" kern="0" cap="none" spc="0" normalizeH="0" baseline="0" noProof="0" dirty="0">
                <a:ln>
                  <a:noFill/>
                </a:ln>
                <a:solidFill>
                  <a:srgbClr val="3B7EA1"/>
                </a:solidFill>
                <a:effectLst/>
                <a:uLnTx/>
                <a:uFillTx/>
                <a:latin typeface="Courier New"/>
                <a:ea typeface="Courier New"/>
                <a:cs typeface="Courier New"/>
                <a:sym typeface="Courier New"/>
              </a:rPr>
              <a:t>group</a:t>
            </a:r>
            <a:r>
              <a:rPr kumimoji="0" lang="en-US" altLang="zh-CN" sz="2400" b="1" i="0" u="none" strike="noStrike" kern="0" cap="none" spc="0" normalizeH="0" baseline="0" noProof="0" dirty="0">
                <a:ln>
                  <a:noFill/>
                </a:ln>
                <a:solidFill>
                  <a:srgbClr val="3B7EA1"/>
                </a:solidFill>
                <a:effectLst/>
                <a:uLnTx/>
                <a:uFillTx/>
                <a:latin typeface="Courier New"/>
                <a:ea typeface="Courier New"/>
                <a:cs typeface="Courier New"/>
                <a:sym typeface="Courier New"/>
              </a:rPr>
              <a:t>by</a:t>
            </a: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 method aggregates all rows with the same value for </a:t>
            </a:r>
            <a:r>
              <a:rPr kumimoji="0" lang="en-US" altLang="zh-CN" sz="2400" b="0" i="0" u="none" strike="noStrike" kern="0" cap="none" spc="0" normalizeH="0" baseline="0" noProof="0" dirty="0">
                <a:ln>
                  <a:noFill/>
                </a:ln>
                <a:solidFill>
                  <a:srgbClr val="3B3B3B"/>
                </a:solidFill>
                <a:effectLst/>
                <a:uLnTx/>
                <a:uFillTx/>
                <a:latin typeface="Arial"/>
                <a:ea typeface="Arial"/>
                <a:cs typeface="Arial"/>
                <a:sym typeface="Arial"/>
              </a:rPr>
              <a:t>one</a:t>
            </a:r>
            <a:r>
              <a:rPr kumimoji="0" lang="zh-CN" altLang="en-US" sz="2400" b="0" i="0" u="none" strike="noStrike" kern="0" cap="none" spc="0" normalizeH="0" noProof="0" dirty="0">
                <a:ln>
                  <a:noFill/>
                </a:ln>
                <a:solidFill>
                  <a:srgbClr val="3B3B3B"/>
                </a:solidFill>
                <a:effectLst/>
                <a:uLnTx/>
                <a:uFillTx/>
                <a:latin typeface="Arial"/>
                <a:ea typeface="Arial"/>
                <a:cs typeface="Arial"/>
                <a:sym typeface="Arial"/>
              </a:rPr>
              <a:t> </a:t>
            </a:r>
            <a:r>
              <a:rPr lang="en-US" altLang="zh-CN" kern="0" dirty="0">
                <a:solidFill>
                  <a:srgbClr val="3B3B3B"/>
                </a:solidFill>
              </a:rPr>
              <a:t>or</a:t>
            </a:r>
            <a:r>
              <a:rPr lang="zh-CN" altLang="en-US" kern="0" dirty="0">
                <a:solidFill>
                  <a:srgbClr val="3B3B3B"/>
                </a:solidFill>
              </a:rPr>
              <a:t> </a:t>
            </a:r>
            <a:r>
              <a:rPr lang="en-US" altLang="zh-CN" kern="0" dirty="0">
                <a:solidFill>
                  <a:srgbClr val="3B3B3B"/>
                </a:solidFill>
              </a:rPr>
              <a:t>more</a:t>
            </a: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 column</a:t>
            </a:r>
            <a:r>
              <a:rPr kumimoji="0" lang="en-US" altLang="zh-CN" sz="2400" b="0" i="0" u="none" strike="noStrike" kern="0" cap="none" spc="0" normalizeH="0" baseline="0" noProof="0" dirty="0">
                <a:ln>
                  <a:noFill/>
                </a:ln>
                <a:solidFill>
                  <a:srgbClr val="3B3B3B"/>
                </a:solidFill>
                <a:effectLst/>
                <a:uLnTx/>
                <a:uFillTx/>
                <a:latin typeface="Arial"/>
                <a:ea typeface="Arial"/>
                <a:cs typeface="Arial"/>
                <a:sym typeface="Arial"/>
              </a:rPr>
              <a:t>s</a:t>
            </a: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 into a single row</a:t>
            </a:r>
          </a:p>
        </p:txBody>
      </p:sp>
      <p:pic>
        <p:nvPicPr>
          <p:cNvPr id="1026" name="Picture 2" descr="roupBy in Pandas Python (Latest 2022) - KeyToData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32" y="1977245"/>
            <a:ext cx="6471075" cy="26174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422913" y="4167575"/>
            <a:ext cx="4579869" cy="519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代码参考：</a:t>
            </a:r>
            <a:r>
              <a:rPr lang="en-US" altLang="zh-CN" dirty="0"/>
              <a:t> data-aggregation-</a:t>
            </a:r>
            <a:r>
              <a:rPr lang="en-US" altLang="zh-CN" dirty="0" err="1"/>
              <a:t>group.ipynb</a:t>
            </a:r>
            <a:endParaRPr lang="en-US" dirty="0"/>
          </a:p>
        </p:txBody>
      </p:sp>
    </p:spTree>
    <p:extLst>
      <p:ext uri="{BB962C8B-B14F-4D97-AF65-F5344CB8AC3E}">
        <p14:creationId xmlns:p14="http://schemas.microsoft.com/office/powerpoint/2010/main" val="16548598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透视操作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pivot_table</a:t>
            </a:r>
            <a:endParaRPr lang="en-US" sz="2800" dirty="0">
              <a:latin typeface="Microsoft YaHei" charset="-122"/>
              <a:ea typeface="Microsoft YaHei" charset="-122"/>
              <a:cs typeface="Microsoft YaHei" charset="-122"/>
            </a:endParaRPr>
          </a:p>
        </p:txBody>
      </p:sp>
      <p:sp>
        <p:nvSpPr>
          <p:cNvPr id="8" name="Content Placeholder 2"/>
          <p:cNvSpPr>
            <a:spLocks noGrp="1"/>
          </p:cNvSpPr>
          <p:nvPr>
            <p:ph idx="1"/>
          </p:nvPr>
        </p:nvSpPr>
        <p:spPr>
          <a:xfrm>
            <a:off x="451945" y="851053"/>
            <a:ext cx="8493751" cy="3908234"/>
          </a:xfrm>
        </p:spPr>
        <p:txBody>
          <a:bodyPr/>
          <a:lstStyle/>
          <a:p>
            <a:pPr marL="342900" lvl="1" indent="-342900">
              <a:lnSpc>
                <a:spcPct val="100000"/>
              </a:lnSpc>
              <a:spcBef>
                <a:spcPts val="672"/>
              </a:spcBef>
            </a:pPr>
            <a:r>
              <a:rPr kumimoji="1" lang="zh-CN" altLang="en-US" sz="2000" dirty="0">
                <a:latin typeface="Microsoft YaHei" charset="-122"/>
                <a:ea typeface="Microsoft YaHei" charset="-122"/>
              </a:rPr>
              <a:t>数据透视表是一种常见于电子表格和数据分析软件中的数据汇总工具。 </a:t>
            </a:r>
            <a:endParaRPr kumimoji="1" lang="en-US" altLang="zh-CN" sz="2000" dirty="0">
              <a:latin typeface="Microsoft YaHei" charset="-122"/>
              <a:ea typeface="Microsoft YaHei" charset="-122"/>
            </a:endParaRPr>
          </a:p>
          <a:p>
            <a:pPr marL="342900" lvl="1" indent="-342900">
              <a:lnSpc>
                <a:spcPct val="100000"/>
              </a:lnSpc>
              <a:spcBef>
                <a:spcPts val="672"/>
              </a:spcBef>
            </a:pPr>
            <a:r>
              <a:rPr kumimoji="1" lang="zh-CN" altLang="en-US" sz="2000" dirty="0">
                <a:latin typeface="Microsoft YaHei" charset="-122"/>
                <a:ea typeface="Microsoft YaHei" charset="-122"/>
              </a:rPr>
              <a:t>数据透视表通过一个或多个键聚合数据表，将数据排列在一个矩形中，其中一些组键沿着行，一些沿着列。</a:t>
            </a:r>
            <a:endParaRPr kumimoji="1" lang="en-US" altLang="zh-CN" sz="2000" dirty="0">
              <a:latin typeface="Microsoft YaHei" charset="-122"/>
              <a:ea typeface="Microsoft YaHei" charset="-122"/>
            </a:endParaRPr>
          </a:p>
        </p:txBody>
      </p:sp>
      <p:pic>
        <p:nvPicPr>
          <p:cNvPr id="3" name="Picture 2"/>
          <p:cNvPicPr>
            <a:picLocks noChangeAspect="1"/>
          </p:cNvPicPr>
          <p:nvPr/>
        </p:nvPicPr>
        <p:blipFill>
          <a:blip r:embed="rId3"/>
          <a:stretch>
            <a:fillRect/>
          </a:stretch>
        </p:blipFill>
        <p:spPr>
          <a:xfrm>
            <a:off x="2162421" y="2022646"/>
            <a:ext cx="5072797" cy="2736641"/>
          </a:xfrm>
          <a:prstGeom prst="rect">
            <a:avLst/>
          </a:prstGeom>
        </p:spPr>
      </p:pic>
      <p:sp>
        <p:nvSpPr>
          <p:cNvPr id="5" name="Rectangle 4"/>
          <p:cNvSpPr/>
          <p:nvPr/>
        </p:nvSpPr>
        <p:spPr>
          <a:xfrm>
            <a:off x="4422913" y="4167575"/>
            <a:ext cx="4579869" cy="519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代码参考：</a:t>
            </a:r>
            <a:r>
              <a:rPr lang="en-US" altLang="zh-CN" dirty="0"/>
              <a:t> data-aggregation-</a:t>
            </a:r>
            <a:r>
              <a:rPr lang="en-US" altLang="zh-CN" dirty="0" err="1"/>
              <a:t>group.ipynb</a:t>
            </a:r>
            <a:endParaRPr lang="en-US" dirty="0"/>
          </a:p>
        </p:txBody>
      </p:sp>
    </p:spTree>
    <p:extLst>
      <p:ext uri="{BB962C8B-B14F-4D97-AF65-F5344CB8AC3E}">
        <p14:creationId xmlns:p14="http://schemas.microsoft.com/office/powerpoint/2010/main" val="365363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表格数据处理与</a:t>
            </a:r>
            <a:r>
              <a:rPr lang="en-US" altLang="zh-CN" sz="2000" dirty="0">
                <a:solidFill>
                  <a:prstClr val="white"/>
                </a:solidFill>
                <a:latin typeface="微软雅黑" pitchFamily="34" charset="-122"/>
                <a:ea typeface="微软雅黑" pitchFamily="34" charset="-122"/>
              </a:rPr>
              <a:t>Pandas</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2608406" cy="1865126"/>
          </a:xfrm>
          <a:prstGeom prst="rect">
            <a:avLst/>
          </a:prstGeom>
          <a:noFill/>
        </p:spPr>
        <p:txBody>
          <a:bodyPr wrap="none" rtlCol="0">
            <a:spAutoFit/>
          </a:bodyPr>
          <a:lstStyle/>
          <a:p>
            <a:pPr marL="34290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a:t>
            </a:r>
            <a:r>
              <a:rPr lang="zh-CN" altLang="en-US" b="1" dirty="0" smtClean="0">
                <a:latin typeface="Microsoft YaHei" panose="020B0503020204020204" pitchFamily="34" charset="-122"/>
                <a:ea typeface="Microsoft YaHei" panose="020B0503020204020204" pitchFamily="34" charset="-122"/>
              </a:rPr>
              <a:t>基本操作</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的数据查询</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en-US" altLang="zh-CN" b="1" dirty="0">
                <a:latin typeface="Microsoft YaHei" panose="020B0503020204020204" pitchFamily="34" charset="-122"/>
                <a:ea typeface="Microsoft YaHei" panose="020B0503020204020204" pitchFamily="34" charset="-122"/>
              </a:rPr>
              <a:t>Pandas</a:t>
            </a:r>
            <a:r>
              <a:rPr lang="zh-CN" altLang="en-US" b="1" dirty="0">
                <a:latin typeface="Microsoft YaHei" panose="020B0503020204020204" pitchFamily="34" charset="-122"/>
                <a:ea typeface="Microsoft YaHei" panose="020B0503020204020204" pitchFamily="34" charset="-122"/>
              </a:rPr>
              <a:t>的数据分析</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solidFill>
                  <a:srgbClr val="C00000"/>
                </a:solidFill>
                <a:latin typeface="Microsoft YaHei" panose="020B0503020204020204" pitchFamily="34" charset="-122"/>
                <a:ea typeface="Microsoft YaHei" panose="020B0503020204020204" pitchFamily="34" charset="-122"/>
              </a:rPr>
              <a:t>案例分析与课堂练习</a:t>
            </a:r>
            <a:endParaRPr lang="en-US" altLang="zh-CN" b="1" dirty="0">
              <a:solidFill>
                <a:srgbClr val="C00000"/>
              </a:solidFill>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14"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1760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135139F-EE7A-49F3-9F2E-A98389F84A6C}"/>
              </a:ext>
            </a:extLst>
          </p:cNvPr>
          <p:cNvSpPr>
            <a:spLocks noGrp="1"/>
          </p:cNvSpPr>
          <p:nvPr>
            <p:ph type="title"/>
          </p:nvPr>
        </p:nvSpPr>
        <p:spPr/>
        <p:txBody>
          <a:bodyPr/>
          <a:lstStyle/>
          <a:p>
            <a:r>
              <a:rPr lang="en-US" altLang="zh-CN" dirty="0"/>
              <a:t>Git </a:t>
            </a:r>
            <a:r>
              <a:rPr lang="zh-CN" altLang="en-US" dirty="0"/>
              <a:t>基本使用方法</a:t>
            </a:r>
          </a:p>
        </p:txBody>
      </p:sp>
      <p:sp>
        <p:nvSpPr>
          <p:cNvPr id="3" name="文本占位符 2">
            <a:extLst>
              <a:ext uri="{FF2B5EF4-FFF2-40B4-BE49-F238E27FC236}">
                <a16:creationId xmlns:a16="http://schemas.microsoft.com/office/drawing/2014/main" xmlns="" id="{BFF390D9-1565-4808-BA1B-E431B775723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808642"/>
      </p:ext>
    </p:extLst>
  </p:cSld>
  <p:clrMapOvr>
    <a:masterClrMapping/>
  </p:clrMapOvr>
  <p:transition spd="slow">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15EC873-E322-4638-8191-66E70D2DFAA0}"/>
              </a:ext>
            </a:extLst>
          </p:cNvPr>
          <p:cNvSpPr>
            <a:spLocks noGrp="1"/>
          </p:cNvSpPr>
          <p:nvPr>
            <p:ph type="title"/>
          </p:nvPr>
        </p:nvSpPr>
        <p:spPr/>
        <p:txBody>
          <a:bodyPr/>
          <a:lstStyle/>
          <a:p>
            <a:r>
              <a:rPr lang="en-US" altLang="zh-CN" dirty="0"/>
              <a:t>git </a:t>
            </a:r>
            <a:r>
              <a:rPr lang="zh-CN" altLang="en-US" dirty="0"/>
              <a:t>安装与配置</a:t>
            </a:r>
          </a:p>
        </p:txBody>
      </p:sp>
      <p:sp>
        <p:nvSpPr>
          <p:cNvPr id="3" name="内容占位符 2">
            <a:extLst>
              <a:ext uri="{FF2B5EF4-FFF2-40B4-BE49-F238E27FC236}">
                <a16:creationId xmlns:a16="http://schemas.microsoft.com/office/drawing/2014/main" xmlns="" id="{FDA209C0-1C68-4B81-BEDC-ACE4378811A4}"/>
              </a:ext>
            </a:extLst>
          </p:cNvPr>
          <p:cNvSpPr>
            <a:spLocks noGrp="1"/>
          </p:cNvSpPr>
          <p:nvPr>
            <p:ph idx="1"/>
          </p:nvPr>
        </p:nvSpPr>
        <p:spPr>
          <a:xfrm>
            <a:off x="631595" y="848413"/>
            <a:ext cx="8220173" cy="3912124"/>
          </a:xfrm>
        </p:spPr>
        <p:txBody>
          <a:bodyPr>
            <a:normAutofit/>
          </a:bodyPr>
          <a:lstStyle/>
          <a:p>
            <a:r>
              <a:rPr lang="en-US" altLang="zh-CN" dirty="0"/>
              <a:t>Windows </a:t>
            </a:r>
            <a:r>
              <a:rPr lang="zh-CN" altLang="en-US" dirty="0"/>
              <a:t>用户下载安装 </a:t>
            </a:r>
            <a:r>
              <a:rPr lang="en-US" altLang="zh-CN" dirty="0"/>
              <a:t>git for windows</a:t>
            </a:r>
          </a:p>
          <a:p>
            <a:pPr lvl="1"/>
            <a:r>
              <a:rPr lang="en-US" altLang="zh-CN" dirty="0">
                <a:hlinkClick r:id="rId2"/>
              </a:rPr>
              <a:t>Git for Windows</a:t>
            </a:r>
            <a:endParaRPr lang="en-US" altLang="zh-CN" dirty="0"/>
          </a:p>
          <a:p>
            <a:r>
              <a:rPr lang="zh-CN" altLang="en-US" dirty="0"/>
              <a:t>打开 </a:t>
            </a:r>
            <a:r>
              <a:rPr lang="en-US" altLang="zh-CN" dirty="0"/>
              <a:t>Git GUI—Help—Show SSH Key</a:t>
            </a:r>
          </a:p>
          <a:p>
            <a:r>
              <a:rPr lang="zh-CN" altLang="en-US" dirty="0"/>
              <a:t>运行 </a:t>
            </a:r>
            <a:r>
              <a:rPr lang="en-US" altLang="zh-CN" dirty="0"/>
              <a:t>Generate Key</a:t>
            </a:r>
            <a:r>
              <a:rPr lang="zh-CN" altLang="en-US" dirty="0"/>
              <a:t>，不断 </a:t>
            </a:r>
            <a:r>
              <a:rPr lang="en-US" altLang="zh-CN" dirty="0"/>
              <a:t>ok</a:t>
            </a:r>
          </a:p>
          <a:p>
            <a:r>
              <a:rPr lang="zh-CN" altLang="en-US" dirty="0"/>
              <a:t>复制生成的 </a:t>
            </a:r>
            <a:r>
              <a:rPr lang="en-US" altLang="zh-CN" dirty="0"/>
              <a:t>SSH Key</a:t>
            </a:r>
            <a:r>
              <a:rPr lang="zh-CN" altLang="en-US" dirty="0"/>
              <a:t>，在 </a:t>
            </a:r>
            <a:r>
              <a:rPr lang="en-US" altLang="zh-CN" dirty="0"/>
              <a:t>git.ruc.edu.cn </a:t>
            </a:r>
            <a:r>
              <a:rPr lang="zh-CN" altLang="en-US" dirty="0"/>
              <a:t>登录之后的 </a:t>
            </a:r>
            <a:r>
              <a:rPr lang="en-US" altLang="zh-CN" dirty="0"/>
              <a:t>User Profiles </a:t>
            </a:r>
            <a:r>
              <a:rPr lang="zh-CN" altLang="en-US" dirty="0"/>
              <a:t>中 </a:t>
            </a:r>
            <a:r>
              <a:rPr lang="en-US" altLang="zh-CN" dirty="0"/>
              <a:t>SSH Key </a:t>
            </a:r>
            <a:r>
              <a:rPr lang="zh-CN" altLang="en-US" dirty="0"/>
              <a:t>中添加此 </a:t>
            </a:r>
            <a:r>
              <a:rPr lang="en-US" altLang="zh-CN" dirty="0" smtClean="0"/>
              <a:t>Key</a:t>
            </a:r>
            <a:endParaRPr lang="en-US" altLang="zh-CN" dirty="0"/>
          </a:p>
          <a:p>
            <a:r>
              <a:rPr lang="zh-CN" altLang="en-US" dirty="0"/>
              <a:t>其他系统用户使用包管理工具安装 </a:t>
            </a:r>
            <a:r>
              <a:rPr lang="en-US" altLang="zh-CN" dirty="0"/>
              <a:t>git </a:t>
            </a:r>
          </a:p>
          <a:p>
            <a:r>
              <a:rPr lang="zh-CN" altLang="en-US" dirty="0"/>
              <a:t>运行 </a:t>
            </a:r>
            <a:r>
              <a:rPr lang="en-US" altLang="zh-CN" dirty="0" err="1"/>
              <a:t>ssh</a:t>
            </a:r>
            <a:r>
              <a:rPr lang="en-US" altLang="zh-CN" dirty="0"/>
              <a:t>-keygen</a:t>
            </a:r>
            <a:r>
              <a:rPr lang="zh-CN" altLang="en-US" dirty="0"/>
              <a:t>，生成 </a:t>
            </a:r>
            <a:r>
              <a:rPr lang="en-US" altLang="zh-CN" dirty="0"/>
              <a:t>SSH Key</a:t>
            </a:r>
            <a:r>
              <a:rPr lang="zh-CN" altLang="en-US" dirty="0"/>
              <a:t>，并添加到 </a:t>
            </a:r>
            <a:r>
              <a:rPr lang="en-US" altLang="zh-CN" dirty="0" err="1" smtClean="0"/>
              <a:t>git.ruc.edu.cn</a:t>
            </a:r>
            <a:endParaRPr lang="en-US" altLang="zh-CN" dirty="0"/>
          </a:p>
          <a:p>
            <a:r>
              <a:rPr lang="zh-CN" altLang="en-US" dirty="0"/>
              <a:t>使用如下命令设置 </a:t>
            </a:r>
            <a:r>
              <a:rPr lang="en-US" altLang="zh-CN" dirty="0"/>
              <a:t>git</a:t>
            </a:r>
          </a:p>
          <a:p>
            <a:pPr lvl="1"/>
            <a:r>
              <a:rPr lang="en-US" altLang="zh-CN" dirty="0"/>
              <a:t>$ git config --global user.name “Name"</a:t>
            </a:r>
          </a:p>
          <a:p>
            <a:pPr lvl="1"/>
            <a:r>
              <a:rPr lang="en-US" altLang="zh-CN" dirty="0"/>
              <a:t>$ git config --global </a:t>
            </a:r>
            <a:r>
              <a:rPr lang="en-US" altLang="zh-CN" dirty="0" err="1"/>
              <a:t>user.email</a:t>
            </a:r>
            <a:r>
              <a:rPr lang="en-US" altLang="zh-CN" dirty="0"/>
              <a:t> </a:t>
            </a:r>
            <a:r>
              <a:rPr lang="en-US" altLang="zh-CN" dirty="0" err="1" smtClean="0"/>
              <a:t>Name@example.com</a:t>
            </a:r>
            <a:endParaRPr lang="en-US" altLang="zh-CN" dirty="0"/>
          </a:p>
        </p:txBody>
      </p:sp>
    </p:spTree>
    <p:extLst>
      <p:ext uri="{BB962C8B-B14F-4D97-AF65-F5344CB8AC3E}">
        <p14:creationId xmlns:p14="http://schemas.microsoft.com/office/powerpoint/2010/main" val="273033909"/>
      </p:ext>
    </p:extLst>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9E5D924-2D80-413A-A6BF-FF3D32E70336}"/>
              </a:ext>
            </a:extLst>
          </p:cNvPr>
          <p:cNvSpPr>
            <a:spLocks noGrp="1"/>
          </p:cNvSpPr>
          <p:nvPr>
            <p:ph type="title"/>
          </p:nvPr>
        </p:nvSpPr>
        <p:spPr/>
        <p:txBody>
          <a:bodyPr/>
          <a:lstStyle/>
          <a:p>
            <a:r>
              <a:rPr lang="en-US" altLang="zh-CN" dirty="0"/>
              <a:t>git </a:t>
            </a:r>
            <a:r>
              <a:rPr lang="zh-CN" altLang="en-US" dirty="0"/>
              <a:t>流程</a:t>
            </a:r>
          </a:p>
        </p:txBody>
      </p:sp>
      <p:pic>
        <p:nvPicPr>
          <p:cNvPr id="1026" name="Picture 2" descr="查看源图像">
            <a:extLst>
              <a:ext uri="{FF2B5EF4-FFF2-40B4-BE49-F238E27FC236}">
                <a16:creationId xmlns:a16="http://schemas.microsoft.com/office/drawing/2014/main" xmlns="" id="{AC77BE99-C480-4647-93C1-A6A01FF3D62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1618" y="827201"/>
            <a:ext cx="6420764" cy="3926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838571"/>
      </p:ext>
    </p:extLst>
  </p:cSld>
  <p:clrMapOvr>
    <a:masterClrMapping/>
  </p:clrMapOvr>
  <p:transition spd="slow">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201AC3B-CEEF-44B8-B639-5CFAD013AFBD}"/>
              </a:ext>
            </a:extLst>
          </p:cNvPr>
          <p:cNvSpPr>
            <a:spLocks noGrp="1"/>
          </p:cNvSpPr>
          <p:nvPr>
            <p:ph type="title"/>
          </p:nvPr>
        </p:nvSpPr>
        <p:spPr/>
        <p:txBody>
          <a:bodyPr/>
          <a:lstStyle/>
          <a:p>
            <a:r>
              <a:rPr lang="en-US" altLang="zh-CN" dirty="0"/>
              <a:t>Git </a:t>
            </a:r>
            <a:endParaRPr lang="zh-CN" altLang="en-US" dirty="0"/>
          </a:p>
        </p:txBody>
      </p:sp>
      <p:sp>
        <p:nvSpPr>
          <p:cNvPr id="3" name="内容占位符 2">
            <a:extLst>
              <a:ext uri="{FF2B5EF4-FFF2-40B4-BE49-F238E27FC236}">
                <a16:creationId xmlns:a16="http://schemas.microsoft.com/office/drawing/2014/main" xmlns="" id="{8B5E2AF7-07FE-4FE5-974A-E372711B4CC1}"/>
              </a:ext>
            </a:extLst>
          </p:cNvPr>
          <p:cNvSpPr>
            <a:spLocks noGrp="1"/>
          </p:cNvSpPr>
          <p:nvPr>
            <p:ph idx="1"/>
          </p:nvPr>
        </p:nvSpPr>
        <p:spPr/>
        <p:txBody>
          <a:bodyPr>
            <a:normAutofit/>
          </a:bodyPr>
          <a:lstStyle/>
          <a:p>
            <a:r>
              <a:rPr lang="zh-CN" altLang="en-US" dirty="0"/>
              <a:t>在 </a:t>
            </a:r>
            <a:r>
              <a:rPr lang="en-US" altLang="zh-CN" dirty="0"/>
              <a:t>git.ruc.edu.cn </a:t>
            </a:r>
            <a:r>
              <a:rPr lang="zh-CN" altLang="en-US" dirty="0"/>
              <a:t>中将项目 </a:t>
            </a:r>
            <a:r>
              <a:rPr lang="en-US" altLang="zh-CN" dirty="0"/>
              <a:t>fork </a:t>
            </a:r>
            <a:r>
              <a:rPr lang="zh-CN" altLang="en-US" dirty="0"/>
              <a:t>到自己的仓库</a:t>
            </a:r>
            <a:endParaRPr lang="en-US" altLang="zh-CN" dirty="0"/>
          </a:p>
          <a:p>
            <a:r>
              <a:rPr lang="en-US" altLang="zh-CN" dirty="0"/>
              <a:t>git clone </a:t>
            </a:r>
            <a:r>
              <a:rPr lang="zh-CN" altLang="en-US" dirty="0"/>
              <a:t>项目地址</a:t>
            </a:r>
            <a:endParaRPr lang="en-US" altLang="zh-CN" dirty="0"/>
          </a:p>
          <a:p>
            <a:r>
              <a:rPr lang="zh-CN" altLang="en-US" dirty="0"/>
              <a:t>写作业和运行程序</a:t>
            </a:r>
            <a:endParaRPr lang="en-US" altLang="zh-CN" dirty="0"/>
          </a:p>
          <a:p>
            <a:r>
              <a:rPr lang="zh-CN" altLang="en-US" dirty="0"/>
              <a:t>写完作业后</a:t>
            </a:r>
            <a:endParaRPr lang="en-US" altLang="zh-CN" dirty="0"/>
          </a:p>
          <a:p>
            <a:pPr lvl="1"/>
            <a:r>
              <a:rPr lang="en-US" altLang="zh-CN" dirty="0"/>
              <a:t>git add .</a:t>
            </a:r>
          </a:p>
          <a:p>
            <a:pPr lvl="1"/>
            <a:r>
              <a:rPr lang="en-US" altLang="zh-CN" dirty="0"/>
              <a:t>git commit –m ‘</a:t>
            </a:r>
            <a:r>
              <a:rPr lang="zh-CN" altLang="en-US" dirty="0"/>
              <a:t>任意</a:t>
            </a:r>
            <a:r>
              <a:rPr lang="en-US" altLang="zh-CN" dirty="0" err="1"/>
              <a:t>commet</a:t>
            </a:r>
            <a:r>
              <a:rPr lang="zh-CN" altLang="en-US" dirty="0"/>
              <a:t>信息</a:t>
            </a:r>
            <a:r>
              <a:rPr lang="en-US" altLang="zh-CN" dirty="0"/>
              <a:t>’</a:t>
            </a:r>
          </a:p>
          <a:p>
            <a:pPr lvl="1"/>
            <a:r>
              <a:rPr lang="en-US" altLang="zh-CN" dirty="0"/>
              <a:t>git push</a:t>
            </a:r>
            <a:r>
              <a:rPr lang="zh-CN" altLang="en-US" dirty="0"/>
              <a:t> 这三步将作业上传的自己的</a:t>
            </a:r>
            <a:r>
              <a:rPr lang="en-US" altLang="zh-CN" dirty="0"/>
              <a:t>git</a:t>
            </a:r>
            <a:r>
              <a:rPr lang="zh-CN" altLang="en-US" dirty="0"/>
              <a:t>项目中</a:t>
            </a:r>
            <a:endParaRPr lang="en-US" altLang="zh-CN" dirty="0"/>
          </a:p>
          <a:p>
            <a:pPr lvl="1"/>
            <a:r>
              <a:rPr lang="zh-CN" altLang="en-US" dirty="0"/>
              <a:t>在 </a:t>
            </a:r>
            <a:r>
              <a:rPr lang="en-US" altLang="zh-CN" dirty="0"/>
              <a:t>git.ruc.edu.cn </a:t>
            </a:r>
            <a:r>
              <a:rPr lang="zh-CN" altLang="en-US" dirty="0"/>
              <a:t>中新建 </a:t>
            </a:r>
            <a:r>
              <a:rPr lang="en-US" altLang="zh-CN" dirty="0"/>
              <a:t>merge request </a:t>
            </a:r>
            <a:r>
              <a:rPr lang="zh-CN" altLang="en-US" dirty="0"/>
              <a:t>，就可以将作业</a:t>
            </a:r>
            <a:r>
              <a:rPr lang="en-US" altLang="zh-CN" dirty="0"/>
              <a:t>merge</a:t>
            </a:r>
            <a:r>
              <a:rPr lang="zh-CN" altLang="en-US" dirty="0"/>
              <a:t>的主项目中，相当于交作业</a:t>
            </a:r>
            <a:endParaRPr lang="en-US" altLang="zh-CN" dirty="0"/>
          </a:p>
          <a:p>
            <a:r>
              <a:rPr lang="zh-CN" altLang="en-US" dirty="0"/>
              <a:t>下次写作业前记得 </a:t>
            </a:r>
            <a:r>
              <a:rPr lang="en-US" altLang="zh-CN" dirty="0"/>
              <a:t>git pull </a:t>
            </a:r>
            <a:r>
              <a:rPr lang="zh-CN" altLang="en-US" dirty="0"/>
              <a:t>，更新项目。</a:t>
            </a:r>
            <a:endParaRPr lang="en-US" altLang="zh-CN" dirty="0"/>
          </a:p>
        </p:txBody>
      </p:sp>
    </p:spTree>
    <p:extLst>
      <p:ext uri="{BB962C8B-B14F-4D97-AF65-F5344CB8AC3E}">
        <p14:creationId xmlns:p14="http://schemas.microsoft.com/office/powerpoint/2010/main" val="1026373769"/>
      </p:ext>
    </p:extLst>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Github</a:t>
            </a:r>
            <a:r>
              <a:rPr lang="en-US" altLang="zh-CN" dirty="0"/>
              <a:t> Desktop</a:t>
            </a:r>
            <a:endParaRPr lang="zh-CN" altLang="en-US" dirty="0"/>
          </a:p>
        </p:txBody>
      </p:sp>
      <p:sp>
        <p:nvSpPr>
          <p:cNvPr id="3" name="内容占位符 2"/>
          <p:cNvSpPr>
            <a:spLocks noGrp="1"/>
          </p:cNvSpPr>
          <p:nvPr>
            <p:ph idx="1"/>
          </p:nvPr>
        </p:nvSpPr>
        <p:spPr/>
        <p:txBody>
          <a:bodyPr/>
          <a:lstStyle/>
          <a:p>
            <a:r>
              <a:rPr lang="en-US" altLang="zh-CN" dirty="0"/>
              <a:t>desktop.github.com</a:t>
            </a:r>
          </a:p>
          <a:p>
            <a:r>
              <a:rPr lang="en-US" altLang="zh-CN" dirty="0"/>
              <a:t>download.rabbit-lb.cn/GithubDesktop.exe</a:t>
            </a:r>
            <a:endParaRPr lang="zh-CN" altLang="en-US" dirty="0"/>
          </a:p>
        </p:txBody>
      </p:sp>
    </p:spTree>
    <p:extLst>
      <p:ext uri="{BB962C8B-B14F-4D97-AF65-F5344CB8AC3E}">
        <p14:creationId xmlns:p14="http://schemas.microsoft.com/office/powerpoint/2010/main" val="1675282879"/>
      </p:ext>
    </p:extLst>
  </p:cSld>
  <p:clrMapOvr>
    <a:masterClrMapping/>
  </p:clrMapOvr>
  <p:transition spd="slow">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课堂演示：何以知吾名（</a:t>
            </a:r>
            <a:r>
              <a:rPr lang="en-US" altLang="zh-CN" dirty="0">
                <a:latin typeface="Calibri" charset="0"/>
                <a:ea typeface="Calibri" charset="0"/>
                <a:cs typeface="Calibri" charset="0"/>
              </a:rPr>
              <a:t>What’s in a Name</a:t>
            </a:r>
            <a:r>
              <a:rPr lang="zh-CN" altLang="en-US" dirty="0">
                <a:latin typeface="Microsoft YaHei" charset="-122"/>
                <a:ea typeface="Microsoft YaHei" charset="-122"/>
                <a:cs typeface="Microsoft YaHei" charset="-122"/>
              </a:rPr>
              <a:t>）</a:t>
            </a:r>
            <a:endParaRPr lang="zh-CN" altLang="en-US" dirty="0"/>
          </a:p>
        </p:txBody>
      </p:sp>
      <p:sp>
        <p:nvSpPr>
          <p:cNvPr id="3" name="Content Placeholder 2"/>
          <p:cNvSpPr>
            <a:spLocks noGrp="1"/>
          </p:cNvSpPr>
          <p:nvPr>
            <p:ph idx="1"/>
          </p:nvPr>
        </p:nvSpPr>
        <p:spPr>
          <a:xfrm>
            <a:off x="457199" y="819150"/>
            <a:ext cx="8385243" cy="3937000"/>
          </a:xfrm>
        </p:spPr>
        <p:txBody>
          <a:bodyPr>
            <a:normAutofit/>
          </a:bodyPr>
          <a:lstStyle/>
          <a:p>
            <a:pPr marL="342900" lvl="1" indent="-342900">
              <a:lnSpc>
                <a:spcPct val="100000"/>
              </a:lnSpc>
              <a:spcBef>
                <a:spcPts val="672"/>
              </a:spcBef>
            </a:pPr>
            <a:r>
              <a:rPr kumimoji="1" lang="zh-CN" altLang="en-US" sz="2000" dirty="0">
                <a:latin typeface="Microsoft YaHei" charset="-122"/>
                <a:ea typeface="Microsoft YaHei" charset="-122"/>
              </a:rPr>
              <a:t>问题：体会如何综合运用本节课教授的知识</a:t>
            </a:r>
            <a:endParaRPr kumimoji="1" lang="en-US" altLang="zh-CN" dirty="0">
              <a:latin typeface="Microsoft YaHei" charset="-122"/>
              <a:ea typeface="Microsoft YaHei" charset="-122"/>
            </a:endParaRPr>
          </a:p>
          <a:p>
            <a:pPr marL="342900" lvl="1" indent="-342900">
              <a:lnSpc>
                <a:spcPct val="100000"/>
              </a:lnSpc>
              <a:spcBef>
                <a:spcPts val="672"/>
              </a:spcBef>
            </a:pPr>
            <a:r>
              <a:rPr kumimoji="1" lang="zh-CN" altLang="en-US" sz="2000" dirty="0">
                <a:solidFill>
                  <a:srgbClr val="C00000"/>
                </a:solidFill>
                <a:latin typeface="Microsoft YaHei" charset="-122"/>
                <a:ea typeface="Microsoft YaHei" charset="-122"/>
              </a:rPr>
              <a:t>欢迎在线把玩：</a:t>
            </a:r>
            <a:r>
              <a:rPr kumimoji="1" lang="en-US" altLang="zh-CN" sz="2000" dirty="0">
                <a:solidFill>
                  <a:srgbClr val="C00000"/>
                </a:solidFill>
                <a:latin typeface="Microsoft YaHei" charset="-122"/>
                <a:ea typeface="Microsoft YaHei" charset="-122"/>
              </a:rPr>
              <a:t> https://</a:t>
            </a:r>
            <a:r>
              <a:rPr kumimoji="1" lang="en-US" altLang="zh-CN" sz="2000" dirty="0" err="1">
                <a:solidFill>
                  <a:srgbClr val="C00000"/>
                </a:solidFill>
                <a:latin typeface="Microsoft YaHei" charset="-122"/>
                <a:ea typeface="Microsoft YaHei" charset="-122"/>
              </a:rPr>
              <a:t>git.ruc.edu.cn</a:t>
            </a:r>
            <a:r>
              <a:rPr kumimoji="1" lang="en-US" altLang="zh-CN" sz="2000" dirty="0">
                <a:solidFill>
                  <a:srgbClr val="C00000"/>
                </a:solidFill>
                <a:latin typeface="Microsoft YaHei" charset="-122"/>
                <a:ea typeface="Microsoft YaHei" charset="-122"/>
              </a:rPr>
              <a:t>/data-science/notebooks/-/tree/main/us-</a:t>
            </a:r>
            <a:r>
              <a:rPr kumimoji="1" lang="en-US" altLang="zh-CN" sz="2000" dirty="0" err="1">
                <a:solidFill>
                  <a:srgbClr val="C00000"/>
                </a:solidFill>
                <a:latin typeface="Microsoft YaHei" charset="-122"/>
                <a:ea typeface="Microsoft YaHei" charset="-122"/>
              </a:rPr>
              <a:t>babynames</a:t>
            </a:r>
            <a:endParaRPr kumimoji="1" lang="en-US" altLang="zh-CN" sz="2000" dirty="0">
              <a:solidFill>
                <a:srgbClr val="C00000"/>
              </a:solidFill>
              <a:latin typeface="Microsoft YaHei" charset="-122"/>
              <a:ea typeface="Microsoft YaHei" charset="-122"/>
            </a:endParaRPr>
          </a:p>
        </p:txBody>
      </p:sp>
      <p:pic>
        <p:nvPicPr>
          <p:cNvPr id="10" name="Picture 9"/>
          <p:cNvPicPr>
            <a:picLocks noChangeAspect="1"/>
          </p:cNvPicPr>
          <p:nvPr/>
        </p:nvPicPr>
        <p:blipFill>
          <a:blip r:embed="rId2"/>
          <a:stretch>
            <a:fillRect/>
          </a:stretch>
        </p:blipFill>
        <p:spPr>
          <a:xfrm>
            <a:off x="1118680" y="1924506"/>
            <a:ext cx="7476967" cy="3133877"/>
          </a:xfrm>
          <a:prstGeom prst="rect">
            <a:avLst/>
          </a:prstGeom>
        </p:spPr>
      </p:pic>
    </p:spTree>
    <p:extLst>
      <p:ext uri="{BB962C8B-B14F-4D97-AF65-F5344CB8AC3E}">
        <p14:creationId xmlns:p14="http://schemas.microsoft.com/office/powerpoint/2010/main" val="1078054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14158</TotalTime>
  <Words>3553</Words>
  <Application>Microsoft Macintosh PowerPoint</Application>
  <PresentationFormat>On-screen Show (16:9)</PresentationFormat>
  <Paragraphs>464</Paragraphs>
  <Slides>55</Slides>
  <Notes>21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55</vt:i4>
      </vt:variant>
    </vt:vector>
  </HeadingPairs>
  <TitlesOfParts>
    <vt:vector size="73" baseType="lpstr">
      <vt:lpstr>Calibri</vt:lpstr>
      <vt:lpstr>Consolas</vt:lpstr>
      <vt:lpstr>Courier New</vt:lpstr>
      <vt:lpstr>Helvetica Neue</vt:lpstr>
      <vt:lpstr>Mangal</vt:lpstr>
      <vt:lpstr>Microsoft YaHei</vt:lpstr>
      <vt:lpstr>Roboto</vt:lpstr>
      <vt:lpstr>Roboto Light</vt:lpstr>
      <vt:lpstr>STZhongsong</vt:lpstr>
      <vt:lpstr>Times-Roman</vt:lpstr>
      <vt:lpstr>Wingdings</vt:lpstr>
      <vt:lpstr>宋体</vt:lpstr>
      <vt:lpstr>微软雅黑</vt:lpstr>
      <vt:lpstr>方正兰亭细黑_GBK</vt:lpstr>
      <vt:lpstr>方正超粗黑简体</vt:lpstr>
      <vt:lpstr>隶书</vt:lpstr>
      <vt:lpstr>Arial</vt:lpstr>
      <vt:lpstr>清风素材 https://12sc.taobao.com/</vt:lpstr>
      <vt:lpstr>PowerPoint Presentation</vt:lpstr>
      <vt:lpstr>上节课程回顾：数据与数据模型</vt:lpstr>
      <vt:lpstr>上节课程回顾：Pandas的数据结构</vt:lpstr>
      <vt:lpstr>上节课程回顾：Series</vt:lpstr>
      <vt:lpstr>上节课程回顾：Series对象的创建</vt:lpstr>
      <vt:lpstr>上节课程回顾：DataFrame</vt:lpstr>
      <vt:lpstr>DataFrame的基本操作</vt:lpstr>
      <vt:lpstr>DataFrame的基本操作</vt:lpstr>
      <vt:lpstr>DataFrame的基本操作</vt:lpstr>
      <vt:lpstr>查看和操作数据</vt:lpstr>
      <vt:lpstr>本节课重点：DataFrame上的数据操作</vt:lpstr>
      <vt:lpstr>PowerPoint Presentation</vt:lpstr>
      <vt:lpstr>如何添加一个新的Column？</vt:lpstr>
      <vt:lpstr>Pandas的常用数据操作</vt:lpstr>
      <vt:lpstr>课堂练习</vt:lpstr>
      <vt:lpstr>数值间的转换</vt:lpstr>
      <vt:lpstr>使用pandas处理数值转换</vt:lpstr>
      <vt:lpstr>使用pandas进行数据离散化</vt:lpstr>
      <vt:lpstr>排序</vt:lpstr>
      <vt:lpstr>使用Pandas的内置函数</vt:lpstr>
      <vt:lpstr>课堂练习</vt:lpstr>
      <vt:lpstr>课堂练习</vt:lpstr>
      <vt:lpstr>课堂练习</vt:lpstr>
      <vt:lpstr>PowerPoint Presentation</vt:lpstr>
      <vt:lpstr>基于标签（Label）的数据选择：.loc</vt:lpstr>
      <vt:lpstr>基于标签（Label）的数据选择：.loc</vt:lpstr>
      <vt:lpstr>基于标签（Label）的数据选择：.loc</vt:lpstr>
      <vt:lpstr>基于整数（Integer）的数据选择：.iloc</vt:lpstr>
      <vt:lpstr>基于整数（Integer）的数据选择：.iloc</vt:lpstr>
      <vt:lpstr>基于位置的数据选择：.iloc</vt:lpstr>
      <vt:lpstr>课堂练习</vt:lpstr>
      <vt:lpstr>基于[]的数据选择</vt:lpstr>
      <vt:lpstr>我们已经学过的数据筛选操作</vt:lpstr>
      <vt:lpstr>使用布尔数组进行数据筛选</vt:lpstr>
      <vt:lpstr>使用布尔数组进行数据筛选</vt:lpstr>
      <vt:lpstr>使用布尔数组进行数据筛选</vt:lpstr>
      <vt:lpstr>课堂练习</vt:lpstr>
      <vt:lpstr>课堂练习</vt:lpstr>
      <vt:lpstr>课堂练习</vt:lpstr>
      <vt:lpstr>PowerPoint Presentation</vt:lpstr>
      <vt:lpstr>使用NumPy函数</vt:lpstr>
      <vt:lpstr>使用Pandas的内置函数</vt:lpstr>
      <vt:lpstr>使用Pandas的内置函数</vt:lpstr>
      <vt:lpstr>数据聚合操作-groupby</vt:lpstr>
      <vt:lpstr>数据聚合操作-groupby</vt:lpstr>
      <vt:lpstr>数据聚合操作-groupby</vt:lpstr>
      <vt:lpstr>数据聚合操作-groupby</vt:lpstr>
      <vt:lpstr>数据透视操作-pivot_table</vt:lpstr>
      <vt:lpstr>PowerPoint Presentation</vt:lpstr>
      <vt:lpstr>Git 基本使用方法</vt:lpstr>
      <vt:lpstr>git 安装与配置</vt:lpstr>
      <vt:lpstr>git 流程</vt:lpstr>
      <vt:lpstr>Git </vt:lpstr>
      <vt:lpstr>Github Desktop</vt:lpstr>
      <vt:lpstr>课堂演示：何以知吾名（What’s in a Name）</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范 举</cp:lastModifiedBy>
  <cp:revision>376</cp:revision>
  <cp:lastPrinted>2021-03-01T06:17:34Z</cp:lastPrinted>
  <dcterms:created xsi:type="dcterms:W3CDTF">2015-01-23T04:02:45Z</dcterms:created>
  <dcterms:modified xsi:type="dcterms:W3CDTF">2025-09-25T23:50:51Z</dcterms:modified>
  <cp:category/>
  <cp:contentStatus>12sc.taobao.com</cp:contentStatus>
</cp:coreProperties>
</file>