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0" r:id="rId2"/>
  </p:sldMasterIdLst>
  <p:notesMasterIdLst>
    <p:notesMasterId r:id="rId59"/>
  </p:notesMasterIdLst>
  <p:sldIdLst>
    <p:sldId id="301" r:id="rId3"/>
    <p:sldId id="496" r:id="rId4"/>
    <p:sldId id="1718" r:id="rId5"/>
    <p:sldId id="1719" r:id="rId6"/>
    <p:sldId id="1721" r:id="rId7"/>
    <p:sldId id="1365" r:id="rId8"/>
    <p:sldId id="1881" r:id="rId9"/>
    <p:sldId id="1723" r:id="rId10"/>
    <p:sldId id="1725" r:id="rId11"/>
    <p:sldId id="1726" r:id="rId12"/>
    <p:sldId id="1727" r:id="rId13"/>
    <p:sldId id="1728" r:id="rId14"/>
    <p:sldId id="1729" r:id="rId15"/>
    <p:sldId id="1730" r:id="rId16"/>
    <p:sldId id="1731" r:id="rId17"/>
    <p:sldId id="1732" r:id="rId18"/>
    <p:sldId id="1733" r:id="rId19"/>
    <p:sldId id="1734" r:id="rId20"/>
    <p:sldId id="1735" r:id="rId21"/>
    <p:sldId id="1736" r:id="rId22"/>
    <p:sldId id="1738" r:id="rId23"/>
    <p:sldId id="1739" r:id="rId24"/>
    <p:sldId id="1740" r:id="rId25"/>
    <p:sldId id="1741" r:id="rId26"/>
    <p:sldId id="1742" r:id="rId27"/>
    <p:sldId id="1743" r:id="rId28"/>
    <p:sldId id="1744" r:id="rId29"/>
    <p:sldId id="1745" r:id="rId30"/>
    <p:sldId id="1746" r:id="rId31"/>
    <p:sldId id="1747" r:id="rId32"/>
    <p:sldId id="1748" r:id="rId33"/>
    <p:sldId id="1749" r:id="rId34"/>
    <p:sldId id="1750" r:id="rId35"/>
    <p:sldId id="1751" r:id="rId36"/>
    <p:sldId id="1752" r:id="rId37"/>
    <p:sldId id="1753" r:id="rId38"/>
    <p:sldId id="1882" r:id="rId39"/>
    <p:sldId id="1770" r:id="rId40"/>
    <p:sldId id="1771" r:id="rId41"/>
    <p:sldId id="1772" r:id="rId42"/>
    <p:sldId id="1773" r:id="rId43"/>
    <p:sldId id="1766" r:id="rId44"/>
    <p:sldId id="1767" r:id="rId45"/>
    <p:sldId id="1768" r:id="rId46"/>
    <p:sldId id="1883" r:id="rId47"/>
    <p:sldId id="1754" r:id="rId48"/>
    <p:sldId id="1764" r:id="rId49"/>
    <p:sldId id="1756" r:id="rId50"/>
    <p:sldId id="1757" r:id="rId51"/>
    <p:sldId id="1758" r:id="rId52"/>
    <p:sldId id="1759" r:id="rId53"/>
    <p:sldId id="1760" r:id="rId54"/>
    <p:sldId id="1761" r:id="rId55"/>
    <p:sldId id="1762" r:id="rId56"/>
    <p:sldId id="1541" r:id="rId57"/>
    <p:sldId id="1880" r:id="rId58"/>
  </p:sldIdLst>
  <p:sldSz cx="9144000" cy="5143500" type="screen16x9"/>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E9A7"/>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8" autoAdjust="0"/>
    <p:restoredTop sz="70148" autoAdjust="0"/>
  </p:normalViewPr>
  <p:slideViewPr>
    <p:cSldViewPr snapToGrid="0">
      <p:cViewPr varScale="1">
        <p:scale>
          <a:sx n="189" d="100"/>
          <a:sy n="189" d="100"/>
        </p:scale>
        <p:origin x="3144" y="168"/>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2025/10/9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cnblogs.com/chaosimple/p/4153083.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80865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solidFill>
                  <a:schemeClr val="tx1"/>
                </a:solidFill>
                <a:effectLst/>
                <a:latin typeface="+mn-lt"/>
                <a:ea typeface="+mn-ea"/>
                <a:cs typeface="+mn-cs"/>
              </a:rPr>
              <a:t>適逢 </a:t>
            </a:r>
            <a:r>
              <a:rPr lang="en-US" altLang="zh-CN" sz="1200" kern="1200" dirty="0">
                <a:solidFill>
                  <a:schemeClr val="tx1"/>
                </a:solidFill>
                <a:effectLst/>
                <a:latin typeface="+mn-lt"/>
                <a:ea typeface="+mn-ea"/>
                <a:cs typeface="+mn-cs"/>
              </a:rPr>
              <a:t>1854 </a:t>
            </a:r>
            <a:r>
              <a:rPr lang="zh-CN" altLang="en-US" sz="1200" kern="1200" dirty="0">
                <a:solidFill>
                  <a:schemeClr val="tx1"/>
                </a:solidFill>
                <a:effectLst/>
                <a:latin typeface="+mn-lt"/>
                <a:ea typeface="+mn-ea"/>
                <a:cs typeface="+mn-cs"/>
              </a:rPr>
              <a:t>年的克里米亞戰爭，南丁格爾與其它 </a:t>
            </a:r>
            <a:r>
              <a:rPr lang="en-US" altLang="zh-CN" sz="1200" kern="1200" dirty="0">
                <a:solidFill>
                  <a:schemeClr val="tx1"/>
                </a:solidFill>
                <a:effectLst/>
                <a:latin typeface="+mn-lt"/>
                <a:ea typeface="+mn-ea"/>
                <a:cs typeface="+mn-cs"/>
              </a:rPr>
              <a:t>38 </a:t>
            </a:r>
            <a:r>
              <a:rPr lang="zh-CN" altLang="en-US" sz="1200" kern="1200" dirty="0">
                <a:solidFill>
                  <a:schemeClr val="tx1"/>
                </a:solidFill>
                <a:effectLst/>
                <a:latin typeface="+mn-lt"/>
                <a:ea typeface="+mn-ea"/>
                <a:cs typeface="+mn-cs"/>
              </a:rPr>
              <a:t>位女性志願者的身份來到英軍位於俄國克李米亞半島的野戰醫院；當時的野戰醫院衛生條件極差，甚至連乾淨的水源與廁所都沒有，讓 </a:t>
            </a:r>
            <a:r>
              <a:rPr lang="en-US" altLang="zh-CN" sz="1200" kern="1200" dirty="0">
                <a:solidFill>
                  <a:schemeClr val="tx1"/>
                </a:solidFill>
                <a:effectLst/>
                <a:latin typeface="+mn-lt"/>
                <a:ea typeface="+mn-ea"/>
                <a:cs typeface="+mn-cs"/>
              </a:rPr>
              <a:t>1854 </a:t>
            </a:r>
            <a:r>
              <a:rPr lang="zh-CN" altLang="en-US" sz="1200" kern="1200" dirty="0">
                <a:solidFill>
                  <a:schemeClr val="tx1"/>
                </a:solidFill>
                <a:effectLst/>
                <a:latin typeface="+mn-lt"/>
                <a:ea typeface="+mn-ea"/>
                <a:cs typeface="+mn-cs"/>
              </a:rPr>
              <a:t>年冬天的傷士死亡率高達 </a:t>
            </a:r>
            <a:r>
              <a:rPr lang="en-US" altLang="zh-CN" sz="1200" kern="1200" dirty="0">
                <a:solidFill>
                  <a:schemeClr val="tx1"/>
                </a:solidFill>
                <a:effectLst/>
                <a:latin typeface="+mn-lt"/>
                <a:ea typeface="+mn-ea"/>
                <a:cs typeface="+mn-cs"/>
              </a:rPr>
              <a:t>23%</a:t>
            </a:r>
            <a:r>
              <a:rPr lang="zh-CN" altLang="en-US" sz="1200" kern="1200" dirty="0">
                <a:solidFill>
                  <a:schemeClr val="tx1"/>
                </a:solidFill>
                <a:effectLst/>
                <a:latin typeface="+mn-lt"/>
                <a:ea typeface="+mn-ea"/>
                <a:cs typeface="+mn-cs"/>
              </a:rPr>
              <a:t>，直到 </a:t>
            </a:r>
            <a:r>
              <a:rPr lang="en-US" altLang="zh-CN" sz="1200" kern="1200" dirty="0">
                <a:solidFill>
                  <a:schemeClr val="tx1"/>
                </a:solidFill>
                <a:effectLst/>
                <a:latin typeface="+mn-lt"/>
                <a:ea typeface="+mn-ea"/>
                <a:cs typeface="+mn-cs"/>
              </a:rPr>
              <a:t>1855 </a:t>
            </a:r>
            <a:r>
              <a:rPr lang="zh-CN" altLang="en-US" sz="1200" kern="1200" dirty="0">
                <a:solidFill>
                  <a:schemeClr val="tx1"/>
                </a:solidFill>
                <a:effectLst/>
                <a:latin typeface="+mn-lt"/>
                <a:ea typeface="+mn-ea"/>
                <a:cs typeface="+mn-cs"/>
              </a:rPr>
              <a:t>年 </a:t>
            </a:r>
            <a:r>
              <a:rPr lang="en-US" altLang="zh-CN" sz="1200" kern="1200" dirty="0">
                <a:solidFill>
                  <a:schemeClr val="tx1"/>
                </a:solidFill>
                <a:effectLst/>
                <a:latin typeface="+mn-lt"/>
                <a:ea typeface="+mn-ea"/>
                <a:cs typeface="+mn-cs"/>
              </a:rPr>
              <a:t>John Sutherland </a:t>
            </a:r>
            <a:r>
              <a:rPr lang="zh-CN" altLang="en-US" sz="1200" kern="1200" dirty="0">
                <a:solidFill>
                  <a:schemeClr val="tx1"/>
                </a:solidFill>
                <a:effectLst/>
                <a:latin typeface="+mn-lt"/>
                <a:ea typeface="+mn-ea"/>
                <a:cs typeface="+mn-cs"/>
              </a:rPr>
              <a:t>博士等土木、水利工程專家所帶領的衛生委員會來到醫院改善整體的衛生環境後，才將死亡率戲劇性的降至 </a:t>
            </a:r>
            <a:r>
              <a:rPr lang="en-US" altLang="zh-CN" sz="1200" kern="1200" dirty="0">
                <a:solidFill>
                  <a:schemeClr val="tx1"/>
                </a:solidFill>
                <a:effectLst/>
                <a:latin typeface="+mn-lt"/>
                <a:ea typeface="+mn-ea"/>
                <a:cs typeface="+mn-cs"/>
              </a:rPr>
              <a:t>2.5% </a:t>
            </a:r>
            <a:r>
              <a:rPr lang="zh-CN" altLang="en-US" sz="1200" kern="1200" dirty="0">
                <a:solidFill>
                  <a:schemeClr val="tx1"/>
                </a:solidFill>
                <a:effectLst/>
                <a:latin typeface="+mn-lt"/>
                <a:ea typeface="+mn-ea"/>
                <a:cs typeface="+mn-cs"/>
              </a:rPr>
              <a:t>。當時的南丁格爾注意到這件事，並認為政府應該要改善戰地醫院的品質來拯救更多年輕的生命。</a:t>
            </a:r>
          </a:p>
          <a:p>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南丁格尔玫瑰图本质上是柱状图在极坐标上的展示。</a:t>
            </a:r>
          </a:p>
          <a:p>
            <a:r>
              <a:rPr lang="zh-CN" altLang="en-US" sz="1200" kern="1200" dirty="0">
                <a:solidFill>
                  <a:schemeClr val="tx1"/>
                </a:solidFill>
                <a:effectLst/>
                <a:latin typeface="+mn-lt"/>
                <a:ea typeface="+mn-ea"/>
                <a:cs typeface="+mn-cs"/>
              </a:rPr>
              <a:t>柱状图使用矩形的高度表示数值的大小</a:t>
            </a:r>
          </a:p>
          <a:p>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南丁格尔玫瑰图使用扇形的半径表示数值的大小，饼图使用扇形的弧度表示数据的大小。</a:t>
            </a:r>
          </a:p>
          <a:p>
            <a:r>
              <a:rPr lang="zh-CN" altLang="en-US" sz="1200" kern="1200" dirty="0">
                <a:solidFill>
                  <a:schemeClr val="tx1"/>
                </a:solidFill>
                <a:effectLst/>
                <a:latin typeface="+mn-lt"/>
                <a:ea typeface="+mn-ea"/>
                <a:cs typeface="+mn-cs"/>
              </a:rPr>
              <a:t>南丁格尔玫瑰图可以同时表现的分类多于饼图。</a:t>
            </a:r>
          </a:p>
          <a:p>
            <a:endParaRPr lang="zh-CN" alt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a:t>
            </a:fld>
            <a:endParaRPr lang="zh-CN" altLang="en-US"/>
          </a:p>
        </p:txBody>
      </p:sp>
    </p:spTree>
    <p:extLst>
      <p:ext uri="{BB962C8B-B14F-4D97-AF65-F5344CB8AC3E}">
        <p14:creationId xmlns:p14="http://schemas.microsoft.com/office/powerpoint/2010/main" val="1968253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88301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21476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对数据进行排序为[11, 15, 16, 17, 23, 37, 56]。</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中位数位置为4，中位数为17</a:t>
            </a:r>
          </a:p>
          <a:p>
            <a:r>
              <a:rPr lang="en-US" sz="1200" kern="1200" dirty="0">
                <a:solidFill>
                  <a:schemeClr val="tx1"/>
                </a:solidFill>
                <a:effectLst/>
                <a:latin typeface="+mn-lt"/>
                <a:ea typeface="+mn-ea"/>
                <a:cs typeface="+mn-cs"/>
              </a:rPr>
              <a:t>下四分位点位置为2+1/2，下四分位点为15+1/2*(16-15)=15.5</a:t>
            </a:r>
          </a:p>
          <a:p>
            <a:r>
              <a:rPr lang="en-US" sz="1200" kern="1200" dirty="0">
                <a:solidFill>
                  <a:schemeClr val="tx1"/>
                </a:solidFill>
                <a:effectLst/>
                <a:latin typeface="+mn-lt"/>
                <a:ea typeface="+mn-ea"/>
                <a:cs typeface="+mn-cs"/>
              </a:rPr>
              <a:t>上四分位点位置为5+1/2，上四分位点为23+(37-23)/2=30</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IQR = 30-15.5 = 14.5</a:t>
            </a:r>
          </a:p>
          <a:p>
            <a:r>
              <a:rPr lang="en-US" sz="1200" kern="1200" dirty="0">
                <a:solidFill>
                  <a:schemeClr val="tx1"/>
                </a:solidFill>
                <a:effectLst/>
                <a:latin typeface="+mn-lt"/>
                <a:ea typeface="+mn-ea"/>
                <a:cs typeface="+mn-cs"/>
              </a:rPr>
              <a:t>下四分位点-1.5*IQR为15.5 -14.5*1.5 = -6.25</a:t>
            </a:r>
          </a:p>
          <a:p>
            <a:r>
              <a:rPr lang="en-US" sz="1200" kern="1200" dirty="0">
                <a:solidFill>
                  <a:schemeClr val="tx1"/>
                </a:solidFill>
                <a:effectLst/>
                <a:latin typeface="+mn-lt"/>
                <a:ea typeface="+mn-ea"/>
                <a:cs typeface="+mn-cs"/>
              </a:rPr>
              <a:t>上四分位点+1.5*IQR为30 +14.5*1.5=51.75</a:t>
            </a:r>
          </a:p>
          <a:p>
            <a:r>
              <a:rPr lang="en-US" sz="1200" kern="1200" dirty="0">
                <a:solidFill>
                  <a:schemeClr val="tx1"/>
                </a:solidFill>
                <a:effectLst/>
                <a:latin typeface="+mn-lt"/>
                <a:ea typeface="+mn-ea"/>
                <a:cs typeface="+mn-cs"/>
              </a:rPr>
              <a:t>因此，这组数值存在离群值56。</a:t>
            </a: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18</a:t>
            </a:fld>
            <a:endParaRPr lang="zh-CN" altLang="en-US"/>
          </a:p>
        </p:txBody>
      </p:sp>
    </p:spTree>
    <p:extLst>
      <p:ext uri="{BB962C8B-B14F-4D97-AF65-F5344CB8AC3E}">
        <p14:creationId xmlns:p14="http://schemas.microsoft.com/office/powerpoint/2010/main" val="2019052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21</a:t>
            </a:fld>
            <a:endParaRPr lang="zh-CN" altLang="en-US"/>
          </a:p>
        </p:txBody>
      </p:sp>
    </p:spTree>
    <p:extLst>
      <p:ext uri="{BB962C8B-B14F-4D97-AF65-F5344CB8AC3E}">
        <p14:creationId xmlns:p14="http://schemas.microsoft.com/office/powerpoint/2010/main" val="1166148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一个 </a:t>
            </a:r>
            <a:r>
              <a:rPr lang="en-US" altLang="zh-CN" sz="1200" b="0" i="0" kern="1200" dirty="0">
                <a:solidFill>
                  <a:schemeClr val="tx1"/>
                </a:solidFill>
                <a:effectLst/>
                <a:latin typeface="+mn-lt"/>
                <a:ea typeface="+mn-ea"/>
                <a:cs typeface="+mn-cs"/>
              </a:rPr>
              <a:t>Figure</a:t>
            </a:r>
            <a:r>
              <a:rPr lang="zh-CN" altLang="en-US" sz="1200" b="0" i="0" kern="1200" dirty="0">
                <a:solidFill>
                  <a:schemeClr val="tx1"/>
                </a:solidFill>
                <a:effectLst/>
                <a:latin typeface="+mn-lt"/>
                <a:ea typeface="+mn-ea"/>
                <a:cs typeface="+mn-cs"/>
              </a:rPr>
              <a:t>可以理解成一个画布或装图片的容器，是绘图的承载对象，画布上有很多绘图方法可供使用。</a:t>
            </a:r>
            <a:endParaRPr lang="en-US" altLang="zh-C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23</a:t>
            </a:fld>
            <a:endParaRPr lang="zh-CN" altLang="en-US"/>
          </a:p>
        </p:txBody>
      </p:sp>
    </p:spTree>
    <p:extLst>
      <p:ext uri="{BB962C8B-B14F-4D97-AF65-F5344CB8AC3E}">
        <p14:creationId xmlns:p14="http://schemas.microsoft.com/office/powerpoint/2010/main" val="758754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scatter()</a:t>
            </a:r>
            <a:r>
              <a:rPr lang="zh-CN" altLang="en-US" sz="1200" b="0" i="0" kern="1200" dirty="0">
                <a:solidFill>
                  <a:schemeClr val="tx1"/>
                </a:solidFill>
                <a:effectLst/>
                <a:latin typeface="+mn-lt"/>
                <a:ea typeface="+mn-ea"/>
                <a:cs typeface="+mn-cs"/>
              </a:rPr>
              <a:t>的前两个参数是数组，分别指定每个点的</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轴和</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轴的坐标。</a:t>
            </a:r>
            <a:br>
              <a:rPr lang="zh-CN" altLang="en-US" dirty="0"/>
            </a:br>
            <a:r>
              <a:rPr lang="en-US" altLang="zh-CN" sz="1200" b="0" i="0"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参数指定点的大 小，值和点的面积成正比。它可以是一个数，指定所有点的大小；也可以是数组，分别对每个点指定大小。</a:t>
            </a:r>
            <a:br>
              <a:rPr lang="zh-CN" altLang="en-US" dirty="0"/>
            </a:b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参数指定每个点的颜色，可以是数值或数组。这里使用一维数组为每个点指定了一个数值。通过颜色映射表，每个数值都会与一个颜色相对应。默认的颜色映射表中蓝色与最小值对应，红色与最大值对应。当</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参数是形状为</a:t>
            </a:r>
            <a:r>
              <a:rPr lang="en-US" altLang="zh-CN" sz="1200" b="0" i="0" kern="1200" dirty="0">
                <a:solidFill>
                  <a:schemeClr val="tx1"/>
                </a:solidFill>
                <a:effectLst/>
                <a:latin typeface="+mn-lt"/>
                <a:ea typeface="+mn-ea"/>
                <a:cs typeface="+mn-cs"/>
              </a:rPr>
              <a:t>(N,3)</a:t>
            </a:r>
            <a:r>
              <a:rPr lang="zh-CN" altLang="en-US" sz="1200" b="0" i="0" kern="1200" dirty="0">
                <a:solidFill>
                  <a:schemeClr val="tx1"/>
                </a:solidFill>
                <a:effectLst/>
                <a:latin typeface="+mn-lt"/>
                <a:ea typeface="+mn-ea"/>
                <a:cs typeface="+mn-cs"/>
              </a:rPr>
              <a:t>或</a:t>
            </a:r>
            <a:r>
              <a:rPr lang="en-US" altLang="zh-CN" sz="1200" b="0" i="0" kern="1200" dirty="0">
                <a:solidFill>
                  <a:schemeClr val="tx1"/>
                </a:solidFill>
                <a:effectLst/>
                <a:latin typeface="+mn-lt"/>
                <a:ea typeface="+mn-ea"/>
                <a:cs typeface="+mn-cs"/>
              </a:rPr>
              <a:t>(N,4)</a:t>
            </a:r>
            <a:r>
              <a:rPr lang="zh-CN" altLang="en-US" sz="1200" b="0" i="0" kern="1200" dirty="0">
                <a:solidFill>
                  <a:schemeClr val="tx1"/>
                </a:solidFill>
                <a:effectLst/>
                <a:latin typeface="+mn-lt"/>
                <a:ea typeface="+mn-ea"/>
                <a:cs typeface="+mn-cs"/>
              </a:rPr>
              <a:t>的二维数组时，则直接表示每个点的</a:t>
            </a:r>
            <a:r>
              <a:rPr lang="en-US" altLang="zh-CN" sz="1200" b="0" i="0" kern="1200" dirty="0">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颜色。</a:t>
            </a:r>
            <a:br>
              <a:rPr lang="zh-CN" altLang="en-US" dirty="0"/>
            </a:br>
            <a:r>
              <a:rPr lang="en-US" altLang="zh-CN" sz="1200" b="0" i="0" kern="1200" dirty="0">
                <a:solidFill>
                  <a:schemeClr val="tx1"/>
                </a:solidFill>
                <a:effectLst/>
                <a:latin typeface="+mn-lt"/>
                <a:ea typeface="+mn-ea"/>
                <a:cs typeface="+mn-cs"/>
              </a:rPr>
              <a:t>marker</a:t>
            </a:r>
            <a:r>
              <a:rPr lang="zh-CN" altLang="en-US" sz="1200" b="0" i="0" kern="1200" dirty="0">
                <a:solidFill>
                  <a:schemeClr val="tx1"/>
                </a:solidFill>
                <a:effectLst/>
                <a:latin typeface="+mn-lt"/>
                <a:ea typeface="+mn-ea"/>
                <a:cs typeface="+mn-cs"/>
              </a:rPr>
              <a:t>参数设置点的形状，可以是个表示形状的字符串，也可以是表示多边形的两个元素的元组，第一个元素表示多边形的边数，第二个元素表示多边形的样式，取值范围为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表示多边形，</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表示星形，</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表示放射形，</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表示忽略边数而显示为圆形。</a:t>
            </a:r>
            <a:br>
              <a:rPr lang="zh-CN" altLang="en-US" dirty="0"/>
            </a:br>
            <a:r>
              <a:rPr lang="en-US" altLang="zh-CN" sz="1200" b="0" i="0" kern="1200" dirty="0">
                <a:solidFill>
                  <a:schemeClr val="tx1"/>
                </a:solidFill>
                <a:effectLst/>
                <a:latin typeface="+mn-lt"/>
                <a:ea typeface="+mn-ea"/>
                <a:cs typeface="+mn-cs"/>
              </a:rPr>
              <a:t>alpha</a:t>
            </a:r>
            <a:r>
              <a:rPr lang="zh-CN" altLang="en-US" sz="1200" b="0" i="0" kern="1200" dirty="0">
                <a:solidFill>
                  <a:schemeClr val="tx1"/>
                </a:solidFill>
                <a:effectLst/>
                <a:latin typeface="+mn-lt"/>
                <a:ea typeface="+mn-ea"/>
                <a:cs typeface="+mn-cs"/>
              </a:rPr>
              <a:t>参数设置点的透明度。</a:t>
            </a:r>
            <a:br>
              <a:rPr lang="zh-CN" altLang="en-US" dirty="0"/>
            </a:br>
            <a:r>
              <a:rPr lang="en-US" altLang="zh-CN" sz="1200" b="0" i="0" kern="1200" dirty="0" err="1">
                <a:solidFill>
                  <a:schemeClr val="tx1"/>
                </a:solidFill>
                <a:effectLst/>
                <a:latin typeface="+mn-lt"/>
                <a:ea typeface="+mn-ea"/>
                <a:cs typeface="+mn-cs"/>
              </a:rPr>
              <a:t>lw</a:t>
            </a:r>
            <a:r>
              <a:rPr lang="zh-CN" altLang="en-US" sz="1200" b="0" i="0" kern="1200" dirty="0">
                <a:solidFill>
                  <a:schemeClr val="tx1"/>
                </a:solidFill>
                <a:effectLst/>
                <a:latin typeface="+mn-lt"/>
                <a:ea typeface="+mn-ea"/>
                <a:cs typeface="+mn-cs"/>
              </a:rPr>
              <a:t>参数设置线宽，</a:t>
            </a:r>
            <a:r>
              <a:rPr lang="en-US" altLang="zh-CN" sz="1200" b="0" i="0" kern="1200" dirty="0" err="1">
                <a:solidFill>
                  <a:schemeClr val="tx1"/>
                </a:solidFill>
                <a:effectLst/>
                <a:latin typeface="+mn-lt"/>
                <a:ea typeface="+mn-ea"/>
                <a:cs typeface="+mn-cs"/>
              </a:rPr>
              <a:t>lw</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line width</a:t>
            </a:r>
            <a:r>
              <a:rPr lang="zh-CN" altLang="en-US" sz="1200" b="0" i="0" kern="1200" dirty="0">
                <a:solidFill>
                  <a:schemeClr val="tx1"/>
                </a:solidFill>
                <a:effectLst/>
                <a:latin typeface="+mn-lt"/>
                <a:ea typeface="+mn-ea"/>
                <a:cs typeface="+mn-cs"/>
              </a:rPr>
              <a:t>的缩写。</a:t>
            </a:r>
            <a:br>
              <a:rPr lang="zh-CN" altLang="en-US" dirty="0"/>
            </a:br>
            <a:r>
              <a:rPr lang="en-US" altLang="zh-CN" sz="1200" b="0" i="0" kern="1200" dirty="0" err="1">
                <a:solidFill>
                  <a:schemeClr val="tx1"/>
                </a:solidFill>
                <a:effectLst/>
                <a:latin typeface="+mn-lt"/>
                <a:ea typeface="+mn-ea"/>
                <a:cs typeface="+mn-cs"/>
              </a:rPr>
              <a:t>facecolors</a:t>
            </a:r>
            <a:r>
              <a:rPr lang="zh-CN" altLang="en-US" sz="1200" b="0" i="0" kern="1200" dirty="0">
                <a:solidFill>
                  <a:schemeClr val="tx1"/>
                </a:solidFill>
                <a:effectLst/>
                <a:latin typeface="+mn-lt"/>
                <a:ea typeface="+mn-ea"/>
                <a:cs typeface="+mn-cs"/>
              </a:rPr>
              <a:t>参数为“</a:t>
            </a:r>
            <a:r>
              <a:rPr lang="en-US" altLang="zh-CN" sz="1200" b="0" i="0" kern="1200" dirty="0">
                <a:solidFill>
                  <a:schemeClr val="tx1"/>
                </a:solidFill>
                <a:effectLst/>
                <a:latin typeface="+mn-lt"/>
                <a:ea typeface="+mn-ea"/>
                <a:cs typeface="+mn-cs"/>
              </a:rPr>
              <a:t>none”</a:t>
            </a:r>
            <a:r>
              <a:rPr lang="zh-CN" altLang="en-US" sz="1200" b="0" i="0" kern="1200" dirty="0">
                <a:solidFill>
                  <a:schemeClr val="tx1"/>
                </a:solidFill>
                <a:effectLst/>
                <a:latin typeface="+mn-lt"/>
                <a:ea typeface="+mn-ea"/>
                <a:cs typeface="+mn-cs"/>
              </a:rPr>
              <a:t>时，表示散列点没有填充色。</a:t>
            </a:r>
            <a:endParaRPr lang="en-US" dirty="0"/>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32</a:t>
            </a:fld>
            <a:endParaRPr lang="zh-CN" altLang="en-US"/>
          </a:p>
        </p:txBody>
      </p:sp>
    </p:spTree>
    <p:extLst>
      <p:ext uri="{BB962C8B-B14F-4D97-AF65-F5344CB8AC3E}">
        <p14:creationId xmlns:p14="http://schemas.microsoft.com/office/powerpoint/2010/main" val="1394459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35</a:t>
            </a:fld>
            <a:endParaRPr lang="zh-CN" altLang="en-US"/>
          </a:p>
        </p:txBody>
      </p:sp>
    </p:spTree>
    <p:extLst>
      <p:ext uri="{BB962C8B-B14F-4D97-AF65-F5344CB8AC3E}">
        <p14:creationId xmlns:p14="http://schemas.microsoft.com/office/powerpoint/2010/main" val="697201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25200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参考：</a:t>
            </a:r>
            <a:r>
              <a:rPr lang="en-US" dirty="0">
                <a:hlinkClick r:id="rId3"/>
              </a:rPr>
              <a:t>http://www.cnblogs.com/chaosimple/p/4153083.html</a:t>
            </a:r>
            <a:endParaRPr lang="en-US" dirty="0"/>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38</a:t>
            </a:fld>
            <a:endParaRPr lang="zh-CN" altLang="en-US"/>
          </a:p>
        </p:txBody>
      </p:sp>
    </p:spTree>
    <p:extLst>
      <p:ext uri="{BB962C8B-B14F-4D97-AF65-F5344CB8AC3E}">
        <p14:creationId xmlns:p14="http://schemas.microsoft.com/office/powerpoint/2010/main" val="846511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行标签就是我们所说的索引（</a:t>
            </a:r>
            <a:r>
              <a:rPr lang="en-US" altLang="zh-CN" dirty="0"/>
              <a:t>index</a:t>
            </a:r>
            <a:r>
              <a:rPr lang="zh-CN" altLang="en-US" dirty="0"/>
              <a:t>），列标签就是列名（</a:t>
            </a:r>
            <a:r>
              <a:rPr lang="en-US" altLang="zh-CN" dirty="0"/>
              <a:t>columns</a:t>
            </a:r>
            <a:r>
              <a:rPr lang="zh-CN" altLang="en-US" dirty="0"/>
              <a:t>）</a:t>
            </a:r>
            <a:endParaRPr lang="en-US" altLang="zh-CN" dirty="0"/>
          </a:p>
          <a:p>
            <a:r>
              <a:rPr lang="zh-CN" altLang="en-US" dirty="0"/>
              <a:t>参考</a:t>
            </a:r>
            <a:endParaRPr lang="en-US" altLang="zh-CN" dirty="0"/>
          </a:p>
          <a:p>
            <a:r>
              <a:rPr lang="en-US" dirty="0"/>
              <a:t>https://pandas.pydata.org/pandas-docs/stable/reference/api/pandas.DataFrame.loc.html</a:t>
            </a:r>
          </a:p>
          <a:p>
            <a:endParaRPr lang="en-US" dirty="0"/>
          </a:p>
        </p:txBody>
      </p:sp>
      <p:sp>
        <p:nvSpPr>
          <p:cNvPr id="4" name="灯片编号占位符 3"/>
          <p:cNvSpPr>
            <a:spLocks noGrp="1"/>
          </p:cNvSpPr>
          <p:nvPr>
            <p:ph type="sldNum" sz="quarter" idx="5"/>
          </p:nvPr>
        </p:nvSpPr>
        <p:spPr/>
        <p:txBody>
          <a:bodyPr/>
          <a:lstStyle/>
          <a:p>
            <a:fld id="{98C9DCC3-69D3-4019-8DFA-EB11D31BE37F}" type="slidenum">
              <a:rPr lang="zh-CN" altLang="en-US" smtClean="0"/>
              <a:t>39</a:t>
            </a:fld>
            <a:endParaRPr lang="zh-CN" altLang="en-US"/>
          </a:p>
        </p:txBody>
      </p:sp>
    </p:spTree>
    <p:extLst>
      <p:ext uri="{BB962C8B-B14F-4D97-AF65-F5344CB8AC3E}">
        <p14:creationId xmlns:p14="http://schemas.microsoft.com/office/powerpoint/2010/main" val="259416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参考：</a:t>
            </a:r>
            <a:r>
              <a:rPr lang="en-US" altLang="zh-CN" dirty="0"/>
              <a:t>https://pandas.pydata.org/pandas-docs/stable/reference/api/pandas.DataFrame.iloc.html</a:t>
            </a: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40</a:t>
            </a:fld>
            <a:endParaRPr lang="zh-CN" altLang="en-US"/>
          </a:p>
        </p:txBody>
      </p:sp>
    </p:spTree>
    <p:extLst>
      <p:ext uri="{BB962C8B-B14F-4D97-AF65-F5344CB8AC3E}">
        <p14:creationId xmlns:p14="http://schemas.microsoft.com/office/powerpoint/2010/main" val="1820507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EEA8646-D42C-7848-85C5-5433BC7DD77C}" type="slidenum">
              <a:rPr lang="zh-CN" altLang="en-US" smtClean="0"/>
              <a:pPr>
                <a:defRPr/>
              </a:pPr>
              <a:t>41</a:t>
            </a:fld>
            <a:endParaRPr lang="en-US" altLang="zh-CN"/>
          </a:p>
        </p:txBody>
      </p:sp>
    </p:spTree>
    <p:extLst>
      <p:ext uri="{BB962C8B-B14F-4D97-AF65-F5344CB8AC3E}">
        <p14:creationId xmlns:p14="http://schemas.microsoft.com/office/powerpoint/2010/main" val="91984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42</a:t>
            </a:fld>
            <a:endParaRPr lang="zh-CN" altLang="en-US"/>
          </a:p>
        </p:txBody>
      </p:sp>
    </p:spTree>
    <p:extLst>
      <p:ext uri="{BB962C8B-B14F-4D97-AF65-F5344CB8AC3E}">
        <p14:creationId xmlns:p14="http://schemas.microsoft.com/office/powerpoint/2010/main" val="658223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43</a:t>
            </a:fld>
            <a:endParaRPr lang="zh-CN" altLang="en-US"/>
          </a:p>
        </p:txBody>
      </p:sp>
    </p:spTree>
    <p:extLst>
      <p:ext uri="{BB962C8B-B14F-4D97-AF65-F5344CB8AC3E}">
        <p14:creationId xmlns:p14="http://schemas.microsoft.com/office/powerpoint/2010/main" val="1387011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44</a:t>
            </a:fld>
            <a:endParaRPr lang="zh-CN" altLang="en-US"/>
          </a:p>
        </p:txBody>
      </p:sp>
    </p:spTree>
    <p:extLst>
      <p:ext uri="{BB962C8B-B14F-4D97-AF65-F5344CB8AC3E}">
        <p14:creationId xmlns:p14="http://schemas.microsoft.com/office/powerpoint/2010/main" val="131428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FC198-2D83-4DFC-8CDD-7D23AF44D41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21233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49</a:t>
            </a:fld>
            <a:endParaRPr lang="zh-CN" altLang="en-US"/>
          </a:p>
        </p:txBody>
      </p:sp>
    </p:spTree>
    <p:extLst>
      <p:ext uri="{BB962C8B-B14F-4D97-AF65-F5344CB8AC3E}">
        <p14:creationId xmlns:p14="http://schemas.microsoft.com/office/powerpoint/2010/main" val="1591900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0915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1335429399"/>
      </p:ext>
    </p:extLst>
  </p:cSld>
  <p:clrMapOvr>
    <a:masterClrMapping/>
  </p:clrMapOvr>
  <p:transition spd="slow">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3059749"/>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957460346"/>
      </p:ext>
    </p:extLst>
  </p:cSld>
  <p:clrMapOvr>
    <a:masterClrMapping/>
  </p:clrMapOvr>
  <p:transition spd="slow">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44867452"/>
      </p:ext>
    </p:extLst>
  </p:cSld>
  <p:clrMapOvr>
    <a:masterClrMapping/>
  </p:clrMapOvr>
  <p:transition spd="slow">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976596384"/>
      </p:ext>
    </p:extLst>
  </p:cSld>
  <p:clrMapOvr>
    <a:masterClrMapping/>
  </p:clrMapOvr>
  <p:transition spd="slow">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79460766"/>
      </p:ext>
    </p:extLst>
  </p:cSld>
  <p:clrMapOvr>
    <a:masterClrMapping/>
  </p:clrMapOvr>
  <p:transition spd="slow">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12825772"/>
      </p:ext>
    </p:extLst>
  </p:cSld>
  <p:clrMapOvr>
    <a:masterClrMapping/>
  </p:clrMapOvr>
  <p:transition spd="slow">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231816997"/>
      </p:ext>
    </p:extLst>
  </p:cSld>
  <p:clrMapOvr>
    <a:masterClrMapping/>
  </p:clrMapOvr>
  <p:transition spd="slow">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849873669"/>
      </p:ext>
    </p:extLst>
  </p:cSld>
  <p:clrMapOvr>
    <a:masterClrMapping/>
  </p:clrMapOvr>
  <p:transition spd="slow">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813495262"/>
      </p:ext>
    </p:extLst>
  </p:cSld>
  <p:clrMapOvr>
    <a:masterClrMapping/>
  </p:clrMapOvr>
  <p:transition spd="slow">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979235163"/>
      </p:ext>
    </p:extLst>
  </p:cSld>
  <p:clrMapOvr>
    <a:masterClrMapping/>
  </p:clrMapOvr>
  <p:transition spd="slow">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854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917118"/>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30072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59098"/>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3.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75713909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4" Type="http://schemas.openxmlformats.org/officeDocument/2006/relationships/hyperlink" Target="https://www.bilibili.com/video/BV1DP411z7g5/?share_source=copy_web&amp;vd_source=61162fa3cae46557c8656dee5b330347"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1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28.tiff"/><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hyperlink" Target="https://matplotlib.org/users/legend_guide.html" TargetMode="External"/><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50.emf"/></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4" Type="http://schemas.openxmlformats.org/officeDocument/2006/relationships/hyperlink" Target="https://www.bilibili.com/video/BV1DP411z7g5/?share_source=copy_web&amp;vd_source=61162fa3cae46557c8656dee5b330347"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image" Target="../media/image53.tiff"/><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58.tiff"/><Relationship Id="rId2" Type="http://schemas.openxmlformats.org/officeDocument/2006/relationships/image" Target="../media/image57.tiff"/><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60.tiff"/><Relationship Id="rId2" Type="http://schemas.openxmlformats.org/officeDocument/2006/relationships/image" Target="../media/image59.tiff"/><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image" Target="../media/image63.tiff"/><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14.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68379"/>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571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74527"/>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85940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grpSp>
        <p:nvGrpSpPr>
          <p:cNvPr id="25" name="Group 91"/>
          <p:cNvGrpSpPr>
            <a:grpSpLocks/>
          </p:cNvGrpSpPr>
          <p:nvPr/>
        </p:nvGrpSpPr>
        <p:grpSpPr bwMode="auto">
          <a:xfrm>
            <a:off x="1822357" y="385940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122153" y="2178371"/>
            <a:ext cx="8945065" cy="584747"/>
          </a:xfrm>
          <a:prstGeom prst="rect">
            <a:avLst/>
          </a:prstGeom>
          <a:noFill/>
        </p:spPr>
        <p:txBody>
          <a:bodyPr wrap="square" lIns="91413" tIns="45706" rIns="91413" bIns="45706"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a:t>
            </a:r>
            <a:r>
              <a:rPr lang="en-US" altLang="zh-CN" sz="3200" b="1" dirty="0">
                <a:solidFill>
                  <a:schemeClr val="bg1"/>
                </a:solidFill>
                <a:latin typeface="微软雅黑" panose="020B0503020204020204" pitchFamily="34" charset="-122"/>
                <a:ea typeface="微软雅黑" panose="020B0503020204020204" pitchFamily="34" charset="-122"/>
              </a:rPr>
              <a:t>4</a:t>
            </a:r>
            <a:r>
              <a:rPr lang="zh-CN" altLang="en-US" sz="3200" b="1" dirty="0">
                <a:solidFill>
                  <a:schemeClr val="bg1"/>
                </a:solidFill>
                <a:latin typeface="微软雅黑" panose="020B0503020204020204" pitchFamily="34" charset="-122"/>
                <a:ea typeface="微软雅黑" panose="020B0503020204020204" pitchFamily="34" charset="-122"/>
              </a:rPr>
              <a:t>讲：探索数据分析 </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 数据可视化</a:t>
            </a:r>
          </a:p>
        </p:txBody>
      </p:sp>
      <p:sp>
        <p:nvSpPr>
          <p:cNvPr id="17" name="Rectangle 3">
            <a:extLst>
              <a:ext uri="{FF2B5EF4-FFF2-40B4-BE49-F238E27FC236}">
                <a16:creationId xmlns:a16="http://schemas.microsoft.com/office/drawing/2014/main" id="{B11913AF-7BDC-6A43-974D-C041DD8A3C13}"/>
              </a:ext>
            </a:extLst>
          </p:cNvPr>
          <p:cNvSpPr txBox="1">
            <a:spLocks noChangeArrowheads="1"/>
          </p:cNvSpPr>
          <p:nvPr/>
        </p:nvSpPr>
        <p:spPr bwMode="auto">
          <a:xfrm>
            <a:off x="1692275" y="3908859"/>
            <a:ext cx="5256213" cy="285750"/>
          </a:xfrm>
          <a:prstGeom prst="rect">
            <a:avLst/>
          </a:prstGeom>
          <a:noFill/>
          <a:ln w="9525">
            <a:noFill/>
            <a:miter lim="800000"/>
            <a:headEnd/>
            <a:tailEnd/>
          </a:ln>
        </p:spPr>
        <p:txBody>
          <a:bodyPr/>
          <a:lstStyle/>
          <a:p>
            <a:pPr algn="ctr">
              <a:lnSpc>
                <a:spcPct val="80000"/>
              </a:lnSpc>
              <a:spcBef>
                <a:spcPct val="20000"/>
              </a:spcBef>
              <a:buSzPct val="100000"/>
              <a:defRPr/>
            </a:pPr>
            <a:r>
              <a:rPr kumimoji="1" lang="zh-CN" altLang="mr-IN" b="1" kern="0" dirty="0">
                <a:solidFill>
                  <a:schemeClr val="bg1"/>
                </a:solidFill>
                <a:latin typeface="Times-Roman" charset="0"/>
                <a:ea typeface="隶书" pitchFamily="49" charset="-122"/>
              </a:rPr>
              <a:t>范举</a:t>
            </a:r>
            <a:r>
              <a:rPr kumimoji="1" lang="zh-CN" altLang="en-US" b="1" kern="0" dirty="0">
                <a:solidFill>
                  <a:schemeClr val="bg1"/>
                </a:solidFill>
                <a:latin typeface="Times-Roman" charset="0"/>
                <a:ea typeface="隶书" pitchFamily="49" charset="-122"/>
              </a:rPr>
              <a:t>  </a:t>
            </a:r>
            <a:r>
              <a:rPr kumimoji="1" lang="zh-CN" altLang="mr-IN" b="1" kern="0" dirty="0">
                <a:solidFill>
                  <a:schemeClr val="bg1"/>
                </a:solidFill>
                <a:latin typeface="Times-Roman" charset="0"/>
                <a:ea typeface="隶书" pitchFamily="49" charset="-122"/>
              </a:rPr>
              <a:t>教授         </a:t>
            </a:r>
            <a:r>
              <a:rPr kumimoji="1" lang="mr-IN" altLang="zh-CN" b="1" kern="0" dirty="0" err="1">
                <a:solidFill>
                  <a:schemeClr val="bg1"/>
                </a:solidFill>
                <a:latin typeface="Times-Roman" charset="0"/>
                <a:ea typeface="隶书" pitchFamily="49" charset="-122"/>
              </a:rPr>
              <a:t>fanj@ruc.edu.cn</a:t>
            </a:r>
            <a:endParaRPr kumimoji="1" lang="mr-IN" altLang="zh-CN" b="1" kern="0" dirty="0">
              <a:solidFill>
                <a:schemeClr val="bg1"/>
              </a:solidFill>
              <a:latin typeface="Times-Roman" charset="0"/>
              <a:ea typeface="隶书" pitchFamily="49" charset="-122"/>
            </a:endParaRPr>
          </a:p>
        </p:txBody>
      </p:sp>
      <p:sp>
        <p:nvSpPr>
          <p:cNvPr id="18" name="Title 7">
            <a:extLst>
              <a:ext uri="{FF2B5EF4-FFF2-40B4-BE49-F238E27FC236}">
                <a16:creationId xmlns:a16="http://schemas.microsoft.com/office/drawing/2014/main" id="{9951EC0A-19E6-B749-9332-D3931CB533BE}"/>
              </a:ext>
            </a:extLst>
          </p:cNvPr>
          <p:cNvSpPr txBox="1">
            <a:spLocks/>
          </p:cNvSpPr>
          <p:nvPr/>
        </p:nvSpPr>
        <p:spPr>
          <a:xfrm>
            <a:off x="0" y="2996097"/>
            <a:ext cx="9144000" cy="4988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Microsoft YaHei" panose="020B0503020204020204" pitchFamily="34" charset="-122"/>
                <a:ea typeface="Microsoft YaHei" panose="020B0503020204020204" pitchFamily="34" charset="-122"/>
              </a:rPr>
              <a:t>“数据科学导论”专业核心课</a:t>
            </a:r>
            <a:endParaRPr lang="en-US" sz="2400" dirty="0">
              <a:latin typeface="Microsoft YaHei" panose="020B0503020204020204" pitchFamily="34" charset="-122"/>
              <a:ea typeface="Microsoft YaHei" panose="020B0503020204020204" pitchFamily="34" charset="-122"/>
            </a:endParaRPr>
          </a:p>
        </p:txBody>
      </p:sp>
      <p:sp>
        <p:nvSpPr>
          <p:cNvPr id="19" name="Rectangle 18"/>
          <p:cNvSpPr/>
          <p:nvPr/>
        </p:nvSpPr>
        <p:spPr>
          <a:xfrm>
            <a:off x="131116" y="53164"/>
            <a:ext cx="3944889" cy="1569660"/>
          </a:xfrm>
          <a:prstGeom prst="rect">
            <a:avLst/>
          </a:prstGeom>
          <a:solidFill>
            <a:schemeClr val="bg1"/>
          </a:solidFill>
          <a:ln w="19050">
            <a:solidFill>
              <a:schemeClr val="tx1"/>
            </a:solidFill>
          </a:ln>
          <a:effectLst>
            <a:outerShdw blurRad="50800" dist="76200" dir="2700000" algn="tl" rotWithShape="0">
              <a:prstClr val="black">
                <a:alpha val="40000"/>
              </a:prstClr>
            </a:outerShdw>
          </a:effectLst>
        </p:spPr>
        <p:txBody>
          <a:bodyPr wrap="square">
            <a:spAutoFit/>
          </a:bodyPr>
          <a:lstStyle/>
          <a:p>
            <a:pPr algn="ctr">
              <a:lnSpc>
                <a:spcPct val="150000"/>
              </a:lnSpc>
              <a:defRPr/>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本周五（</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日）有上机课</a:t>
            </a:r>
            <a:endPar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charset="0"/>
              <a:buChar char="•"/>
              <a:defRPr/>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18:00-20:15</a:t>
            </a:r>
          </a:p>
          <a:p>
            <a:pPr marL="342900" indent="-342900">
              <a:lnSpc>
                <a:spcPct val="150000"/>
              </a:lnSpc>
              <a:buFont typeface="Arial" charset="0"/>
              <a:buChar char="•"/>
              <a:defRP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理工配楼二层</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203B-204B</a:t>
            </a:r>
          </a:p>
        </p:txBody>
      </p:sp>
      <p:sp>
        <p:nvSpPr>
          <p:cNvPr id="20" name="Rectangle 19"/>
          <p:cNvSpPr/>
          <p:nvPr/>
        </p:nvSpPr>
        <p:spPr>
          <a:xfrm>
            <a:off x="3339146" y="778979"/>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探索数据分析 </a:t>
            </a:r>
            <a:r>
              <a:rPr lang="en-US" altLang="zh-CN" sz="2000" dirty="0">
                <a:solidFill>
                  <a:prstClr val="white"/>
                </a:solidFill>
                <a:latin typeface="微软雅黑" pitchFamily="34" charset="-122"/>
                <a:ea typeface="微软雅黑" pitchFamily="34" charset="-122"/>
              </a:rPr>
              <a:t>-</a:t>
            </a:r>
            <a:r>
              <a:rPr lang="zh-CN" altLang="en-US" sz="2000" dirty="0">
                <a:solidFill>
                  <a:prstClr val="white"/>
                </a:solidFill>
                <a:latin typeface="微软雅黑" pitchFamily="34" charset="-122"/>
                <a:ea typeface="微软雅黑" pitchFamily="34" charset="-122"/>
              </a:rPr>
              <a:t> 可视化</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3300904" cy="1865126"/>
          </a:xfrm>
          <a:prstGeom prst="rect">
            <a:avLst/>
          </a:prstGeom>
          <a:noFill/>
        </p:spPr>
        <p:txBody>
          <a:bodyPr wrap="none" rtlCol="0">
            <a:spAutoFit/>
          </a:bodyPr>
          <a:lstStyle/>
          <a:p>
            <a:pPr marL="342900" lvl="0" indent="-342900">
              <a:lnSpc>
                <a:spcPct val="160000"/>
              </a:lnSpc>
              <a:buFontTx/>
              <a:buAutoNum type="arabicPeriod"/>
              <a:defRPr/>
            </a:pPr>
            <a:r>
              <a:rPr lang="zh-CN" altLang="en-US" b="1" dirty="0">
                <a:solidFill>
                  <a:srgbClr val="C00000"/>
                </a:solidFill>
                <a:latin typeface="Microsoft YaHei" panose="020B0503020204020204" pitchFamily="34" charset="-122"/>
                <a:ea typeface="Microsoft YaHei" panose="020B0503020204020204" pitchFamily="34" charset="-122"/>
              </a:rPr>
              <a:t>探索数据分析</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数据可视化</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复习：数据探索的基本操作</a:t>
            </a:r>
            <a:endParaRPr lang="en-US" altLang="zh-CN" b="1" dirty="0">
              <a:latin typeface="Microsoft YaHei" panose="020B0503020204020204" pitchFamily="34" charset="-122"/>
              <a:ea typeface="Microsoft YaHei" panose="020B0503020204020204" pitchFamily="34" charset="-122"/>
            </a:endParaRPr>
          </a:p>
          <a:p>
            <a:pPr marL="342900" marR="0" lvl="0" indent="-342900" algn="l" defTabSz="914400" rtl="0" eaLnBrk="1" fontAlgn="auto" latinLnBrk="0" hangingPunct="1">
              <a:lnSpc>
                <a:spcPct val="160000"/>
              </a:lnSpc>
              <a:spcBef>
                <a:spcPts val="0"/>
              </a:spcBef>
              <a:spcAft>
                <a:spcPts val="0"/>
              </a:spcAft>
              <a:buClrTx/>
              <a:buSzTx/>
              <a:buFontTx/>
              <a:buAutoNum type="arabicPeriod"/>
              <a:tabLst/>
              <a:defRPr/>
            </a:pPr>
            <a:r>
              <a:rPr lang="zh-CN" altLang="en-US" b="1" dirty="0">
                <a:latin typeface="Microsoft YaHei" panose="020B0503020204020204" pitchFamily="34" charset="-122"/>
                <a:ea typeface="Microsoft YaHei" panose="020B0503020204020204" pitchFamily="34" charset="-122"/>
              </a:rPr>
              <a:t>课堂练习与研讨</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92222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数据分析的目标：</a:t>
            </a:r>
            <a:r>
              <a:rPr lang="zh-CN" altLang="en-US" dirty="0">
                <a:solidFill>
                  <a:srgbClr val="C00000"/>
                </a:solidFill>
              </a:rPr>
              <a:t>让数据说话</a:t>
            </a:r>
            <a:endParaRPr lang="en-US" dirty="0">
              <a:solidFill>
                <a:srgbClr val="C00000"/>
              </a:solidFill>
            </a:endParaRPr>
          </a:p>
        </p:txBody>
      </p:sp>
      <p:sp>
        <p:nvSpPr>
          <p:cNvPr id="3" name="Content Placeholder 2"/>
          <p:cNvSpPr>
            <a:spLocks noGrp="1"/>
          </p:cNvSpPr>
          <p:nvPr>
            <p:ph idx="1"/>
          </p:nvPr>
        </p:nvSpPr>
        <p:spPr>
          <a:xfrm>
            <a:off x="457200" y="1105785"/>
            <a:ext cx="2855626" cy="3650364"/>
          </a:xfrm>
        </p:spPr>
        <p:txBody>
          <a:bodyPr/>
          <a:lstStyle/>
          <a:p>
            <a:r>
              <a:rPr lang="zh-CN" altLang="en-US" dirty="0"/>
              <a:t>数据自己不会说话，需要数据科学家帮它</a:t>
            </a:r>
            <a:endParaRPr lang="en-US" altLang="zh-CN" dirty="0"/>
          </a:p>
          <a:p>
            <a:r>
              <a:rPr lang="en-US" altLang="zh-CN" dirty="0"/>
              <a:t>Data</a:t>
            </a:r>
            <a:r>
              <a:rPr lang="zh-CN" altLang="en-US" dirty="0"/>
              <a:t> </a:t>
            </a:r>
            <a:r>
              <a:rPr lang="zh-CN" altLang="en-US" dirty="0">
                <a:sym typeface="Wingdings"/>
              </a:rPr>
              <a:t> </a:t>
            </a:r>
            <a:r>
              <a:rPr lang="en-US" altLang="zh-CN" dirty="0">
                <a:sym typeface="Wingdings"/>
              </a:rPr>
              <a:t>Insight</a:t>
            </a:r>
            <a:endParaRPr lang="en-US" altLang="zh-CN" dirty="0"/>
          </a:p>
          <a:p>
            <a:endParaRPr lang="en-US" altLang="zh-CN" dirty="0"/>
          </a:p>
          <a:p>
            <a:r>
              <a:rPr lang="zh-CN" altLang="en-US" b="1" dirty="0"/>
              <a:t>原则一：要说人话</a:t>
            </a:r>
            <a:endParaRPr lang="en-US" altLang="zh-CN" b="1" dirty="0"/>
          </a:p>
          <a:p>
            <a:pPr lvl="1"/>
            <a:r>
              <a:rPr lang="zh-CN" altLang="en-US" dirty="0"/>
              <a:t>从数据中得到人们</a:t>
            </a:r>
            <a:r>
              <a:rPr lang="zh-CN" altLang="en-US" dirty="0">
                <a:solidFill>
                  <a:srgbClr val="C00000"/>
                </a:solidFill>
              </a:rPr>
              <a:t>容易理解</a:t>
            </a:r>
            <a:r>
              <a:rPr lang="zh-CN" altLang="en-US" dirty="0"/>
              <a:t>的结论</a:t>
            </a:r>
            <a:endParaRPr lang="en-US" altLang="zh-CN" dirty="0"/>
          </a:p>
          <a:p>
            <a:r>
              <a:rPr lang="zh-CN" altLang="en-US" b="1" dirty="0"/>
              <a:t>原则二：不说废话</a:t>
            </a:r>
            <a:endParaRPr lang="en-US" altLang="zh-CN" b="1" dirty="0"/>
          </a:p>
          <a:p>
            <a:pPr lvl="1"/>
            <a:r>
              <a:rPr lang="zh-CN" altLang="en-US" dirty="0"/>
              <a:t>得到的结论需要有</a:t>
            </a:r>
            <a:r>
              <a:rPr lang="zh-CN" altLang="en-US" dirty="0">
                <a:solidFill>
                  <a:srgbClr val="C00000"/>
                </a:solidFill>
              </a:rPr>
              <a:t>信息增量</a:t>
            </a:r>
            <a:endParaRPr lang="en-US" altLang="zh-CN" dirty="0">
              <a:solidFill>
                <a:srgbClr val="C00000"/>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2826" y="1105785"/>
            <a:ext cx="5711254" cy="3587930"/>
          </a:xfrm>
          <a:prstGeom prst="rect">
            <a:avLst/>
          </a:prstGeom>
        </p:spPr>
      </p:pic>
      <p:pic>
        <p:nvPicPr>
          <p:cNvPr id="5" name="Content Placeholder 5"/>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8087298" y="0"/>
            <a:ext cx="1056702" cy="138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6" name="Picture 5"/>
          <p:cNvPicPr>
            <a:picLocks noChangeAspect="1"/>
          </p:cNvPicPr>
          <p:nvPr/>
        </p:nvPicPr>
        <p:blipFill>
          <a:blip r:embed="rId5"/>
          <a:stretch>
            <a:fillRect/>
          </a:stretch>
        </p:blipFill>
        <p:spPr>
          <a:xfrm>
            <a:off x="6085302" y="0"/>
            <a:ext cx="1999159" cy="1105785"/>
          </a:xfrm>
          <a:prstGeom prst="rect">
            <a:avLst/>
          </a:prstGeom>
        </p:spPr>
      </p:pic>
    </p:spTree>
    <p:extLst>
      <p:ext uri="{BB962C8B-B14F-4D97-AF65-F5344CB8AC3E}">
        <p14:creationId xmlns:p14="http://schemas.microsoft.com/office/powerpoint/2010/main" val="566407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xit" presetSubtype="0" fill="hold" nodeType="clickEffect">
                                  <p:stCondLst>
                                    <p:cond delay="0"/>
                                  </p:stCondLst>
                                  <p:childTnLst>
                                    <p:animEffect transition="out" filter="dissolve">
                                      <p:cBhvr>
                                        <p:cTn id="10" dur="500"/>
                                        <p:tgtEl>
                                          <p:spTgt spid="6"/>
                                        </p:tgtEl>
                                      </p:cBhvr>
                                    </p:animEffect>
                                    <p:set>
                                      <p:cBhvr>
                                        <p:cTn id="1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如何用数据支撑自己的观点</a:t>
            </a:r>
            <a:endParaRPr lang="en-US" dirty="0"/>
          </a:p>
        </p:txBody>
      </p:sp>
      <p:sp>
        <p:nvSpPr>
          <p:cNvPr id="3" name="Content Placeholder 2"/>
          <p:cNvSpPr>
            <a:spLocks noGrp="1"/>
          </p:cNvSpPr>
          <p:nvPr>
            <p:ph idx="1"/>
          </p:nvPr>
        </p:nvSpPr>
        <p:spPr/>
        <p:txBody>
          <a:bodyPr/>
          <a:lstStyle/>
          <a:p>
            <a:r>
              <a:rPr lang="zh-CN" altLang="en-US" dirty="0"/>
              <a:t>案例：全世界各国的温室气体排放数据</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a:t>
            </a:fld>
            <a:endParaRPr lang="zh-CN"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36038"/>
            <a:ext cx="5103651" cy="32831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0396" y="1478374"/>
            <a:ext cx="2985789" cy="1702535"/>
          </a:xfrm>
          <a:prstGeom prst="rect">
            <a:avLst/>
          </a:prstGeom>
        </p:spPr>
      </p:pic>
      <p:sp>
        <p:nvSpPr>
          <p:cNvPr id="8" name="Rectangle 7"/>
          <p:cNvSpPr/>
          <p:nvPr/>
        </p:nvSpPr>
        <p:spPr>
          <a:xfrm>
            <a:off x="5635303" y="3317831"/>
            <a:ext cx="3508698" cy="954107"/>
          </a:xfrm>
          <a:prstGeom prst="rect">
            <a:avLst/>
          </a:prstGeom>
        </p:spPr>
        <p:txBody>
          <a:bodyPr wrap="square">
            <a:spAutoFit/>
          </a:bodyPr>
          <a:lstStyle/>
          <a:p>
            <a:r>
              <a:rPr lang="en-US" sz="1400" dirty="0">
                <a:latin typeface="Roboto" charset="0"/>
              </a:rPr>
              <a:t>【谁该为气候变化买单?--谁应该解决它?】</a:t>
            </a:r>
          </a:p>
          <a:p>
            <a:r>
              <a:rPr lang="en-US" sz="1400" dirty="0">
                <a:latin typeface="Roboto" charset="0"/>
                <a:hlinkClick r:id="rId4"/>
              </a:rPr>
              <a:t>https://www.bilibili.com/video/BV1DP411z7g5/?share_source=copy_web&amp;vd_source=61162fa3cae46557c8656dee5b330347</a:t>
            </a:r>
            <a:endParaRPr lang="en-US" sz="1400" dirty="0">
              <a:latin typeface="Roboto" charset="0"/>
            </a:endParaRPr>
          </a:p>
        </p:txBody>
      </p:sp>
    </p:spTree>
    <p:extLst>
      <p:ext uri="{BB962C8B-B14F-4D97-AF65-F5344CB8AC3E}">
        <p14:creationId xmlns:p14="http://schemas.microsoft.com/office/powerpoint/2010/main" val="14016219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探索数据分析：</a:t>
            </a:r>
            <a:r>
              <a:rPr lang="zh-CN" altLang="en-US" dirty="0">
                <a:solidFill>
                  <a:srgbClr val="C00000"/>
                </a:solidFill>
              </a:rPr>
              <a:t>思维方式</a:t>
            </a:r>
            <a:endParaRPr lang="en-US" dirty="0">
              <a:solidFill>
                <a:srgbClr val="C00000"/>
              </a:solidFill>
            </a:endParaRPr>
          </a:p>
        </p:txBody>
      </p:sp>
      <p:sp>
        <p:nvSpPr>
          <p:cNvPr id="3" name="Content Placeholder 2"/>
          <p:cNvSpPr>
            <a:spLocks noGrp="1"/>
          </p:cNvSpPr>
          <p:nvPr>
            <p:ph idx="1"/>
          </p:nvPr>
        </p:nvSpPr>
        <p:spPr/>
        <p:txBody>
          <a:bodyPr/>
          <a:lstStyle/>
          <a:p>
            <a:pPr marL="342900" lvl="1" indent="-342900">
              <a:lnSpc>
                <a:spcPct val="100000"/>
              </a:lnSpc>
              <a:spcBef>
                <a:spcPts val="672"/>
              </a:spcBef>
            </a:pPr>
            <a:r>
              <a:rPr kumimoji="1" lang="zh-CN" altLang="en-US" sz="2000" b="1" dirty="0">
                <a:latin typeface="Microsoft YaHei" charset="-122"/>
                <a:ea typeface="Microsoft YaHei" charset="-122"/>
              </a:rPr>
              <a:t>大胆地假设：</a:t>
            </a:r>
            <a:r>
              <a:rPr kumimoji="1" lang="zh-CN" altLang="en-US" sz="2000" dirty="0">
                <a:latin typeface="Microsoft YaHei" charset="-122"/>
                <a:ea typeface="Microsoft YaHei" charset="-122"/>
              </a:rPr>
              <a:t>学会从数据中挖掘信息，从不同的角度或层次</a:t>
            </a:r>
            <a:r>
              <a:rPr kumimoji="1" lang="zh-CN" altLang="en-US" sz="2000" dirty="0">
                <a:solidFill>
                  <a:srgbClr val="C00000"/>
                </a:solidFill>
                <a:latin typeface="Microsoft YaHei" charset="-122"/>
                <a:ea typeface="Microsoft YaHei" charset="-122"/>
              </a:rPr>
              <a:t>提出问题</a:t>
            </a:r>
            <a:endParaRPr kumimoji="1" lang="en-US" altLang="zh-CN" sz="2000" dirty="0">
              <a:solidFill>
                <a:srgbClr val="C00000"/>
              </a:solidFill>
              <a:latin typeface="Microsoft YaHei" charset="-122"/>
              <a:ea typeface="Microsoft YaHei" charset="-122"/>
            </a:endParaRPr>
          </a:p>
          <a:p>
            <a:pPr marL="800100" lvl="2" indent="-342900">
              <a:lnSpc>
                <a:spcPct val="100000"/>
              </a:lnSpc>
              <a:spcBef>
                <a:spcPts val="672"/>
              </a:spcBef>
            </a:pPr>
            <a:r>
              <a:rPr kumimoji="1" lang="zh-CN" altLang="en-US" dirty="0">
                <a:latin typeface="Microsoft YaHei" charset="-122"/>
                <a:ea typeface="Microsoft YaHei" charset="-122"/>
              </a:rPr>
              <a:t>最普遍的方式：阐明现象，分析原因，提出改进，等等</a:t>
            </a:r>
            <a:endParaRPr kumimoji="1" lang="en-US" altLang="zh-CN" dirty="0">
              <a:latin typeface="Microsoft YaHei" charset="-122"/>
              <a:ea typeface="Microsoft YaHei" charset="-122"/>
            </a:endParaRPr>
          </a:p>
          <a:p>
            <a:pPr marL="342900" lvl="1" indent="-342900">
              <a:lnSpc>
                <a:spcPct val="100000"/>
              </a:lnSpc>
              <a:spcBef>
                <a:spcPts val="672"/>
              </a:spcBef>
            </a:pPr>
            <a:r>
              <a:rPr kumimoji="1" lang="zh-CN" altLang="en-US" sz="2000" b="1" dirty="0">
                <a:latin typeface="Microsoft YaHei" charset="-122"/>
                <a:ea typeface="Microsoft YaHei" charset="-122"/>
              </a:rPr>
              <a:t>小心地求证：</a:t>
            </a:r>
            <a:r>
              <a:rPr kumimoji="1" lang="zh-CN" altLang="en-US" sz="2000" dirty="0">
                <a:latin typeface="Microsoft YaHei" charset="-122"/>
                <a:ea typeface="Microsoft YaHei" charset="-122"/>
              </a:rPr>
              <a:t>多途径</a:t>
            </a:r>
            <a:r>
              <a:rPr kumimoji="1" lang="zh-CN" altLang="en-US" sz="2000" dirty="0">
                <a:solidFill>
                  <a:srgbClr val="C00000"/>
                </a:solidFill>
                <a:latin typeface="Microsoft YaHei" charset="-122"/>
                <a:ea typeface="Microsoft YaHei" charset="-122"/>
              </a:rPr>
              <a:t>获取</a:t>
            </a:r>
            <a:r>
              <a:rPr kumimoji="1" lang="zh-CN" altLang="en-US" sz="2000" dirty="0">
                <a:latin typeface="Microsoft YaHei" charset="-122"/>
                <a:ea typeface="Microsoft YaHei" charset="-122"/>
              </a:rPr>
              <a:t>数据，多维度</a:t>
            </a:r>
            <a:r>
              <a:rPr kumimoji="1" lang="zh-CN" altLang="en-US" sz="2000" dirty="0">
                <a:solidFill>
                  <a:srgbClr val="C00000"/>
                </a:solidFill>
                <a:latin typeface="Microsoft YaHei" charset="-122"/>
                <a:ea typeface="Microsoft YaHei" charset="-122"/>
              </a:rPr>
              <a:t>探索</a:t>
            </a:r>
            <a:r>
              <a:rPr kumimoji="1" lang="zh-CN" altLang="en-US" sz="2000" dirty="0">
                <a:latin typeface="Microsoft YaHei" charset="-122"/>
                <a:ea typeface="Microsoft YaHei" charset="-122"/>
              </a:rPr>
              <a:t>数据，多角度</a:t>
            </a:r>
            <a:r>
              <a:rPr kumimoji="1" lang="zh-CN" altLang="en-US" sz="2000" dirty="0">
                <a:solidFill>
                  <a:srgbClr val="C00000"/>
                </a:solidFill>
                <a:latin typeface="Microsoft YaHei" charset="-122"/>
                <a:ea typeface="Microsoft YaHei" charset="-122"/>
              </a:rPr>
              <a:t>可视化</a:t>
            </a:r>
            <a:r>
              <a:rPr kumimoji="1" lang="zh-CN" altLang="en-US" sz="2000" dirty="0">
                <a:latin typeface="Microsoft YaHei" charset="-122"/>
                <a:ea typeface="Microsoft YaHei" charset="-122"/>
              </a:rPr>
              <a:t>数据，多学科知识</a:t>
            </a:r>
            <a:r>
              <a:rPr kumimoji="1" lang="zh-CN" altLang="en-US" sz="2000" dirty="0">
                <a:solidFill>
                  <a:srgbClr val="C00000"/>
                </a:solidFill>
                <a:latin typeface="Microsoft YaHei" charset="-122"/>
                <a:ea typeface="Microsoft YaHei" charset="-122"/>
              </a:rPr>
              <a:t>解读</a:t>
            </a:r>
            <a:r>
              <a:rPr kumimoji="1" lang="zh-CN" altLang="en-US" sz="2000" dirty="0">
                <a:latin typeface="Microsoft YaHei" charset="-122"/>
                <a:ea typeface="Microsoft YaHei" charset="-122"/>
              </a:rPr>
              <a:t>数据</a:t>
            </a:r>
            <a:endParaRPr kumimoji="1" lang="zh-CN" altLang="en-US" sz="1600" dirty="0">
              <a:latin typeface="Microsoft YaHei" charset="-122"/>
              <a:ea typeface="Microsoft YaHei" charset="-122"/>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62" y="2332300"/>
            <a:ext cx="1490770" cy="2290289"/>
          </a:xfrm>
          <a:prstGeom prst="rect">
            <a:avLst/>
          </a:prstGeom>
          <a:ln>
            <a:noFill/>
          </a:ln>
          <a:effectLst>
            <a:softEdge rad="25400"/>
          </a:effectLst>
        </p:spPr>
      </p:pic>
      <p:sp>
        <p:nvSpPr>
          <p:cNvPr id="7" name="Rectangle 6"/>
          <p:cNvSpPr/>
          <p:nvPr/>
        </p:nvSpPr>
        <p:spPr>
          <a:xfrm>
            <a:off x="4453217" y="2387084"/>
            <a:ext cx="343364" cy="369332"/>
          </a:xfrm>
          <a:prstGeom prst="rect">
            <a:avLst/>
          </a:prstGeom>
        </p:spPr>
        <p:txBody>
          <a:bodyPr wrap="none">
            <a:spAutoFit/>
          </a:bodyPr>
          <a:lstStyle/>
          <a:p>
            <a:r>
              <a:rPr lang="sk-SK" dirty="0"/>
              <a:t> </a:t>
            </a:r>
            <a:r>
              <a:rPr lang="is-IS"/>
              <a:t>  </a:t>
            </a:r>
            <a:endParaRPr lang="en-US"/>
          </a:p>
        </p:txBody>
      </p:sp>
      <p:sp>
        <p:nvSpPr>
          <p:cNvPr id="8" name="Rectangle 7"/>
          <p:cNvSpPr/>
          <p:nvPr/>
        </p:nvSpPr>
        <p:spPr>
          <a:xfrm>
            <a:off x="2777894" y="2375845"/>
            <a:ext cx="5765259" cy="1569660"/>
          </a:xfrm>
          <a:prstGeom prst="rect">
            <a:avLst/>
          </a:prstGeom>
        </p:spPr>
        <p:txBody>
          <a:bodyPr wrap="square">
            <a:spAutoFit/>
          </a:bodyPr>
          <a:lstStyle/>
          <a:p>
            <a:pPr algn="just"/>
            <a:r>
              <a:rPr lang="en-US" sz="2400" dirty="0"/>
              <a:t>Exploratory data analysis is an attitude, a state of flexibility, a willingness to </a:t>
            </a:r>
            <a:r>
              <a:rPr lang="en-US" sz="2400" dirty="0">
                <a:solidFill>
                  <a:srgbClr val="C00000"/>
                </a:solidFill>
              </a:rPr>
              <a:t>look for those things that we believe are not there, as well as those that we believe to be there</a:t>
            </a:r>
          </a:p>
        </p:txBody>
      </p:sp>
      <p:sp>
        <p:nvSpPr>
          <p:cNvPr id="9" name="Rectangle 8"/>
          <p:cNvSpPr/>
          <p:nvPr/>
        </p:nvSpPr>
        <p:spPr>
          <a:xfrm>
            <a:off x="5819587" y="4013628"/>
            <a:ext cx="2723566" cy="400110"/>
          </a:xfrm>
          <a:prstGeom prst="rect">
            <a:avLst/>
          </a:prstGeom>
        </p:spPr>
        <p:txBody>
          <a:bodyPr wrap="none">
            <a:spAutoFit/>
          </a:bodyPr>
          <a:lstStyle/>
          <a:p>
            <a:r>
              <a:rPr lang="en-US" altLang="zh-CN" sz="2000" b="1" dirty="0">
                <a:solidFill>
                  <a:srgbClr val="3F3F3F"/>
                </a:solidFill>
                <a:latin typeface="Futura" charset="0"/>
              </a:rPr>
              <a:t>From</a:t>
            </a:r>
            <a:r>
              <a:rPr lang="zh-CN" altLang="en-US" sz="2000" b="1" dirty="0">
                <a:solidFill>
                  <a:srgbClr val="3F3F3F"/>
                </a:solidFill>
                <a:latin typeface="Futura" charset="0"/>
              </a:rPr>
              <a:t> </a:t>
            </a:r>
            <a:r>
              <a:rPr lang="en-US" sz="2000" b="1" dirty="0">
                <a:solidFill>
                  <a:srgbClr val="3F3F3F"/>
                </a:solidFill>
                <a:latin typeface="Futura" charset="0"/>
              </a:rPr>
              <a:t>John Turkey </a:t>
            </a:r>
            <a:endParaRPr lang="en-US" sz="2000" dirty="0"/>
          </a:p>
        </p:txBody>
      </p:sp>
    </p:spTree>
    <p:extLst>
      <p:ext uri="{BB962C8B-B14F-4D97-AF65-F5344CB8AC3E}">
        <p14:creationId xmlns:p14="http://schemas.microsoft.com/office/powerpoint/2010/main" val="658887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探索数据分析：</a:t>
            </a:r>
            <a:r>
              <a:rPr lang="zh-CN" altLang="en-US" dirty="0">
                <a:solidFill>
                  <a:srgbClr val="C00000"/>
                </a:solidFill>
              </a:rPr>
              <a:t>迭代工作流</a:t>
            </a:r>
            <a:endParaRPr kumimoji="1" lang="zh-CN" altLang="en-US" dirty="0">
              <a:solidFill>
                <a:srgbClr val="C00000"/>
              </a:solidFill>
            </a:endParaRPr>
          </a:p>
        </p:txBody>
      </p:sp>
      <p:sp>
        <p:nvSpPr>
          <p:cNvPr id="16" name="Slide Number Placeholder 1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19" name="Picture 4" descr="See the source image">
            <a:extLst>
              <a:ext uri="{FF2B5EF4-FFF2-40B4-BE49-F238E27FC236}">
                <a16:creationId xmlns:a16="http://schemas.microsoft.com/office/drawing/2014/main" id="{AF9411DD-B67E-E047-8674-4D5270E1D9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266" y="1493056"/>
            <a:ext cx="995540" cy="9955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Educational Theory and Practice: Teaching to Learn">
            <a:extLst>
              <a:ext uri="{FF2B5EF4-FFF2-40B4-BE49-F238E27FC236}">
                <a16:creationId xmlns:a16="http://schemas.microsoft.com/office/drawing/2014/main" id="{E1242FAE-5D34-4342-8BD3-051EF8D240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9252" y="1427288"/>
            <a:ext cx="987892" cy="987892"/>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77312953-4F0C-8147-8AA3-5EF1A5AE829F}"/>
              </a:ext>
            </a:extLst>
          </p:cNvPr>
          <p:cNvGrpSpPr/>
          <p:nvPr/>
        </p:nvGrpSpPr>
        <p:grpSpPr>
          <a:xfrm>
            <a:off x="2028098" y="1410601"/>
            <a:ext cx="5038962" cy="1651307"/>
            <a:chOff x="2242867" y="1109557"/>
            <a:chExt cx="5038962" cy="1651307"/>
          </a:xfrm>
        </p:grpSpPr>
        <p:sp>
          <p:nvSpPr>
            <p:cNvPr id="23" name="Rectangle 22" descr="再生纸">
              <a:extLst>
                <a:ext uri="{FF2B5EF4-FFF2-40B4-BE49-F238E27FC236}">
                  <a16:creationId xmlns:a16="http://schemas.microsoft.com/office/drawing/2014/main" id="{432DA395-D40C-2144-A047-97DE0FAC570A}"/>
                </a:ext>
              </a:extLst>
            </p:cNvPr>
            <p:cNvSpPr>
              <a:spLocks noChangeArrowheads="1"/>
            </p:cNvSpPr>
            <p:nvPr/>
          </p:nvSpPr>
          <p:spPr bwMode="auto">
            <a:xfrm>
              <a:off x="2242867" y="1112618"/>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获取</a:t>
              </a:r>
            </a:p>
          </p:txBody>
        </p:sp>
        <p:sp>
          <p:nvSpPr>
            <p:cNvPr id="24" name="Rectangle 23" descr="再生纸">
              <a:extLst>
                <a:ext uri="{FF2B5EF4-FFF2-40B4-BE49-F238E27FC236}">
                  <a16:creationId xmlns:a16="http://schemas.microsoft.com/office/drawing/2014/main" id="{BE01A64B-E92F-1A45-A4C6-01DB7E3F7482}"/>
                </a:ext>
              </a:extLst>
            </p:cNvPr>
            <p:cNvSpPr>
              <a:spLocks noChangeArrowheads="1"/>
            </p:cNvSpPr>
            <p:nvPr/>
          </p:nvSpPr>
          <p:spPr bwMode="auto">
            <a:xfrm>
              <a:off x="3302990" y="1112618"/>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准备</a:t>
              </a:r>
            </a:p>
          </p:txBody>
        </p:sp>
        <p:sp>
          <p:nvSpPr>
            <p:cNvPr id="25" name="Rectangle 24" descr="再生纸">
              <a:extLst>
                <a:ext uri="{FF2B5EF4-FFF2-40B4-BE49-F238E27FC236}">
                  <a16:creationId xmlns:a16="http://schemas.microsoft.com/office/drawing/2014/main" id="{8134BFE4-C3B1-1B4A-AB66-6AA6339044C1}"/>
                </a:ext>
              </a:extLst>
            </p:cNvPr>
            <p:cNvSpPr>
              <a:spLocks noChangeArrowheads="1"/>
            </p:cNvSpPr>
            <p:nvPr/>
          </p:nvSpPr>
          <p:spPr bwMode="auto">
            <a:xfrm>
              <a:off x="4363113" y="1110602"/>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探索</a:t>
              </a:r>
            </a:p>
          </p:txBody>
        </p:sp>
        <p:cxnSp>
          <p:nvCxnSpPr>
            <p:cNvPr id="27" name="Straight Arrow Connector 26">
              <a:extLst>
                <a:ext uri="{FF2B5EF4-FFF2-40B4-BE49-F238E27FC236}">
                  <a16:creationId xmlns:a16="http://schemas.microsoft.com/office/drawing/2014/main" id="{4B5A9933-E2D1-2C4C-A7B1-0987FDFA97DF}"/>
                </a:ext>
              </a:extLst>
            </p:cNvPr>
            <p:cNvCxnSpPr>
              <a:stCxn id="23" idx="3"/>
              <a:endCxn id="24" idx="1"/>
            </p:cNvCxnSpPr>
            <p:nvPr/>
          </p:nvCxnSpPr>
          <p:spPr>
            <a:xfrm>
              <a:off x="3041337" y="1934934"/>
              <a:ext cx="261653" cy="0"/>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cxnSp>
          <p:nvCxnSpPr>
            <p:cNvPr id="28" name="Straight Arrow Connector 27">
              <a:extLst>
                <a:ext uri="{FF2B5EF4-FFF2-40B4-BE49-F238E27FC236}">
                  <a16:creationId xmlns:a16="http://schemas.microsoft.com/office/drawing/2014/main" id="{74039D2F-BE54-1146-AF8A-55D6BDC434D8}"/>
                </a:ext>
              </a:extLst>
            </p:cNvPr>
            <p:cNvCxnSpPr>
              <a:cxnSpLocks/>
              <a:stCxn id="24" idx="3"/>
              <a:endCxn id="25" idx="1"/>
            </p:cNvCxnSpPr>
            <p:nvPr/>
          </p:nvCxnSpPr>
          <p:spPr>
            <a:xfrm flipV="1">
              <a:off x="4101460" y="1932918"/>
              <a:ext cx="261653" cy="2016"/>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sp>
          <p:nvSpPr>
            <p:cNvPr id="32" name="Rectangle 31" descr="再生纸">
              <a:extLst>
                <a:ext uri="{FF2B5EF4-FFF2-40B4-BE49-F238E27FC236}">
                  <a16:creationId xmlns:a16="http://schemas.microsoft.com/office/drawing/2014/main" id="{BBD36A06-EC22-B04F-ABFE-8D7CDD40BCB8}"/>
                </a:ext>
              </a:extLst>
            </p:cNvPr>
            <p:cNvSpPr>
              <a:spLocks noChangeArrowheads="1"/>
            </p:cNvSpPr>
            <p:nvPr/>
          </p:nvSpPr>
          <p:spPr bwMode="auto">
            <a:xfrm>
              <a:off x="5423236" y="1116232"/>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chemeClr val="bg1">
                      <a:lumMod val="85000"/>
                    </a:schemeClr>
                  </a:solidFill>
                  <a:latin typeface="Microsoft YaHei" panose="020B0503020204020204" pitchFamily="34" charset="-122"/>
                  <a:ea typeface="Microsoft YaHei" panose="020B0503020204020204" pitchFamily="34" charset="-122"/>
                </a:rPr>
                <a:t>数据建模</a:t>
              </a:r>
            </a:p>
          </p:txBody>
        </p:sp>
        <p:sp>
          <p:nvSpPr>
            <p:cNvPr id="33" name="Rectangle 32" descr="再生纸">
              <a:extLst>
                <a:ext uri="{FF2B5EF4-FFF2-40B4-BE49-F238E27FC236}">
                  <a16:creationId xmlns:a16="http://schemas.microsoft.com/office/drawing/2014/main" id="{A1583949-3D3E-464A-A707-8904EDA3138D}"/>
                </a:ext>
              </a:extLst>
            </p:cNvPr>
            <p:cNvSpPr>
              <a:spLocks noChangeArrowheads="1"/>
            </p:cNvSpPr>
            <p:nvPr/>
          </p:nvSpPr>
          <p:spPr bwMode="auto">
            <a:xfrm>
              <a:off x="6483359" y="1109557"/>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展示</a:t>
              </a:r>
            </a:p>
          </p:txBody>
        </p:sp>
        <p:cxnSp>
          <p:nvCxnSpPr>
            <p:cNvPr id="34" name="Straight Arrow Connector 33">
              <a:extLst>
                <a:ext uri="{FF2B5EF4-FFF2-40B4-BE49-F238E27FC236}">
                  <a16:creationId xmlns:a16="http://schemas.microsoft.com/office/drawing/2014/main" id="{2F1D232F-E60D-4D43-8E54-862304AC51B3}"/>
                </a:ext>
              </a:extLst>
            </p:cNvPr>
            <p:cNvCxnSpPr>
              <a:cxnSpLocks/>
              <a:stCxn id="25" idx="3"/>
              <a:endCxn id="32" idx="1"/>
            </p:cNvCxnSpPr>
            <p:nvPr/>
          </p:nvCxnSpPr>
          <p:spPr>
            <a:xfrm>
              <a:off x="5161583" y="1932918"/>
              <a:ext cx="261653" cy="5630"/>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cxnSp>
          <p:nvCxnSpPr>
            <p:cNvPr id="35" name="Straight Arrow Connector 34">
              <a:extLst>
                <a:ext uri="{FF2B5EF4-FFF2-40B4-BE49-F238E27FC236}">
                  <a16:creationId xmlns:a16="http://schemas.microsoft.com/office/drawing/2014/main" id="{4F2625BE-45DB-1948-BD98-51755AD3FF5A}"/>
                </a:ext>
              </a:extLst>
            </p:cNvPr>
            <p:cNvCxnSpPr>
              <a:cxnSpLocks/>
              <a:stCxn id="32" idx="3"/>
              <a:endCxn id="33" idx="1"/>
            </p:cNvCxnSpPr>
            <p:nvPr/>
          </p:nvCxnSpPr>
          <p:spPr>
            <a:xfrm flipV="1">
              <a:off x="6221706" y="1931873"/>
              <a:ext cx="261653" cy="6675"/>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grpSp>
      <p:sp>
        <p:nvSpPr>
          <p:cNvPr id="43" name="PA-A000320150529F30PPSH-3574">
            <a:extLst>
              <a:ext uri="{FF2B5EF4-FFF2-40B4-BE49-F238E27FC236}">
                <a16:creationId xmlns:a16="http://schemas.microsoft.com/office/drawing/2014/main" id="{C78E604D-4F74-5B4A-9572-AD7AF3DC1E65}"/>
              </a:ext>
            </a:extLst>
          </p:cNvPr>
          <p:cNvSpPr/>
          <p:nvPr>
            <p:custDataLst>
              <p:tags r:id="rId1"/>
            </p:custDataLst>
          </p:nvPr>
        </p:nvSpPr>
        <p:spPr bwMode="auto">
          <a:xfrm>
            <a:off x="1534025" y="2033907"/>
            <a:ext cx="353236" cy="400110"/>
          </a:xfrm>
          <a:custGeom>
            <a:avLst/>
            <a:gdLst>
              <a:gd name="T0" fmla="*/ 195102655 w 13050"/>
              <a:gd name="T1" fmla="*/ 195059630 h 10203"/>
              <a:gd name="T2" fmla="*/ 195102655 w 13050"/>
              <a:gd name="T3" fmla="*/ 195059630 h 10203"/>
              <a:gd name="T4" fmla="*/ 195102655 w 13050"/>
              <a:gd name="T5" fmla="*/ 195059630 h 10203"/>
              <a:gd name="T6" fmla="*/ 195102655 w 13050"/>
              <a:gd name="T7" fmla="*/ 195059630 h 10203"/>
              <a:gd name="T8" fmla="*/ 195102655 w 13050"/>
              <a:gd name="T9" fmla="*/ 195059630 h 10203"/>
              <a:gd name="T10" fmla="*/ 195102655 w 13050"/>
              <a:gd name="T11" fmla="*/ 195059630 h 10203"/>
              <a:gd name="T12" fmla="*/ 195102655 w 13050"/>
              <a:gd name="T13" fmla="*/ 195059630 h 10203"/>
              <a:gd name="T14" fmla="*/ 195102655 w 13050"/>
              <a:gd name="T15" fmla="*/ 195059630 h 10203"/>
              <a:gd name="T16" fmla="*/ 195102655 w 13050"/>
              <a:gd name="T17" fmla="*/ 195059630 h 10203"/>
              <a:gd name="T18" fmla="*/ 195102655 w 13050"/>
              <a:gd name="T19" fmla="*/ 195059630 h 10203"/>
              <a:gd name="T20" fmla="*/ 195102655 w 13050"/>
              <a:gd name="T21" fmla="*/ 195059630 h 10203"/>
              <a:gd name="T22" fmla="*/ 195102655 w 13050"/>
              <a:gd name="T23" fmla="*/ 195059630 h 10203"/>
              <a:gd name="T24" fmla="*/ 195102655 w 13050"/>
              <a:gd name="T25" fmla="*/ 195059630 h 10203"/>
              <a:gd name="T26" fmla="*/ 195102655 w 13050"/>
              <a:gd name="T27" fmla="*/ 195059630 h 10203"/>
              <a:gd name="T28" fmla="*/ 195102655 w 13050"/>
              <a:gd name="T29" fmla="*/ 195059630 h 10203"/>
              <a:gd name="T30" fmla="*/ 195102655 w 13050"/>
              <a:gd name="T31" fmla="*/ 195059630 h 10203"/>
              <a:gd name="T32" fmla="*/ 195102655 w 13050"/>
              <a:gd name="T33" fmla="*/ 195059630 h 10203"/>
              <a:gd name="T34" fmla="*/ 195102655 w 13050"/>
              <a:gd name="T35" fmla="*/ 195059630 h 10203"/>
              <a:gd name="T36" fmla="*/ 195102655 w 13050"/>
              <a:gd name="T37" fmla="*/ 195059630 h 10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050" h="10203">
                <a:moveTo>
                  <a:pt x="555" y="7026"/>
                </a:moveTo>
                <a:lnTo>
                  <a:pt x="6858" y="7026"/>
                </a:lnTo>
                <a:lnTo>
                  <a:pt x="6858" y="9812"/>
                </a:lnTo>
                <a:lnTo>
                  <a:pt x="10878" y="5102"/>
                </a:lnTo>
                <a:lnTo>
                  <a:pt x="6858" y="391"/>
                </a:lnTo>
                <a:lnTo>
                  <a:pt x="6858" y="3177"/>
                </a:lnTo>
                <a:lnTo>
                  <a:pt x="555" y="3177"/>
                </a:lnTo>
                <a:lnTo>
                  <a:pt x="555" y="7026"/>
                </a:lnTo>
                <a:close/>
                <a:moveTo>
                  <a:pt x="0" y="7580"/>
                </a:moveTo>
                <a:lnTo>
                  <a:pt x="0" y="2622"/>
                </a:lnTo>
                <a:lnTo>
                  <a:pt x="6303" y="2622"/>
                </a:lnTo>
                <a:lnTo>
                  <a:pt x="6303" y="0"/>
                </a:lnTo>
                <a:lnTo>
                  <a:pt x="8698" y="0"/>
                </a:lnTo>
                <a:lnTo>
                  <a:pt x="13050" y="5102"/>
                </a:lnTo>
                <a:lnTo>
                  <a:pt x="8698" y="10203"/>
                </a:lnTo>
                <a:lnTo>
                  <a:pt x="6303" y="10203"/>
                </a:lnTo>
                <a:lnTo>
                  <a:pt x="6303" y="7580"/>
                </a:lnTo>
                <a:lnTo>
                  <a:pt x="0" y="7580"/>
                </a:lnTo>
                <a:close/>
              </a:path>
            </a:pathLst>
          </a:custGeom>
          <a:solidFill>
            <a:srgbClr val="C00000"/>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600"/>
          </a:p>
        </p:txBody>
      </p:sp>
      <p:sp>
        <p:nvSpPr>
          <p:cNvPr id="44" name="PA-A000320150529F30PPSH-3574">
            <a:extLst>
              <a:ext uri="{FF2B5EF4-FFF2-40B4-BE49-F238E27FC236}">
                <a16:creationId xmlns:a16="http://schemas.microsoft.com/office/drawing/2014/main" id="{FF15215D-37D9-E04C-9191-B6E539285870}"/>
              </a:ext>
            </a:extLst>
          </p:cNvPr>
          <p:cNvSpPr/>
          <p:nvPr>
            <p:custDataLst>
              <p:tags r:id="rId2"/>
            </p:custDataLst>
          </p:nvPr>
        </p:nvSpPr>
        <p:spPr bwMode="auto">
          <a:xfrm>
            <a:off x="7277832" y="2033907"/>
            <a:ext cx="353236" cy="400110"/>
          </a:xfrm>
          <a:custGeom>
            <a:avLst/>
            <a:gdLst>
              <a:gd name="T0" fmla="*/ 195102655 w 13050"/>
              <a:gd name="T1" fmla="*/ 195059630 h 10203"/>
              <a:gd name="T2" fmla="*/ 195102655 w 13050"/>
              <a:gd name="T3" fmla="*/ 195059630 h 10203"/>
              <a:gd name="T4" fmla="*/ 195102655 w 13050"/>
              <a:gd name="T5" fmla="*/ 195059630 h 10203"/>
              <a:gd name="T6" fmla="*/ 195102655 w 13050"/>
              <a:gd name="T7" fmla="*/ 195059630 h 10203"/>
              <a:gd name="T8" fmla="*/ 195102655 w 13050"/>
              <a:gd name="T9" fmla="*/ 195059630 h 10203"/>
              <a:gd name="T10" fmla="*/ 195102655 w 13050"/>
              <a:gd name="T11" fmla="*/ 195059630 h 10203"/>
              <a:gd name="T12" fmla="*/ 195102655 w 13050"/>
              <a:gd name="T13" fmla="*/ 195059630 h 10203"/>
              <a:gd name="T14" fmla="*/ 195102655 w 13050"/>
              <a:gd name="T15" fmla="*/ 195059630 h 10203"/>
              <a:gd name="T16" fmla="*/ 195102655 w 13050"/>
              <a:gd name="T17" fmla="*/ 195059630 h 10203"/>
              <a:gd name="T18" fmla="*/ 195102655 w 13050"/>
              <a:gd name="T19" fmla="*/ 195059630 h 10203"/>
              <a:gd name="T20" fmla="*/ 195102655 w 13050"/>
              <a:gd name="T21" fmla="*/ 195059630 h 10203"/>
              <a:gd name="T22" fmla="*/ 195102655 w 13050"/>
              <a:gd name="T23" fmla="*/ 195059630 h 10203"/>
              <a:gd name="T24" fmla="*/ 195102655 w 13050"/>
              <a:gd name="T25" fmla="*/ 195059630 h 10203"/>
              <a:gd name="T26" fmla="*/ 195102655 w 13050"/>
              <a:gd name="T27" fmla="*/ 195059630 h 10203"/>
              <a:gd name="T28" fmla="*/ 195102655 w 13050"/>
              <a:gd name="T29" fmla="*/ 195059630 h 10203"/>
              <a:gd name="T30" fmla="*/ 195102655 w 13050"/>
              <a:gd name="T31" fmla="*/ 195059630 h 10203"/>
              <a:gd name="T32" fmla="*/ 195102655 w 13050"/>
              <a:gd name="T33" fmla="*/ 195059630 h 10203"/>
              <a:gd name="T34" fmla="*/ 195102655 w 13050"/>
              <a:gd name="T35" fmla="*/ 195059630 h 10203"/>
              <a:gd name="T36" fmla="*/ 195102655 w 13050"/>
              <a:gd name="T37" fmla="*/ 195059630 h 10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050" h="10203">
                <a:moveTo>
                  <a:pt x="555" y="7026"/>
                </a:moveTo>
                <a:lnTo>
                  <a:pt x="6858" y="7026"/>
                </a:lnTo>
                <a:lnTo>
                  <a:pt x="6858" y="9812"/>
                </a:lnTo>
                <a:lnTo>
                  <a:pt x="10878" y="5102"/>
                </a:lnTo>
                <a:lnTo>
                  <a:pt x="6858" y="391"/>
                </a:lnTo>
                <a:lnTo>
                  <a:pt x="6858" y="3177"/>
                </a:lnTo>
                <a:lnTo>
                  <a:pt x="555" y="3177"/>
                </a:lnTo>
                <a:lnTo>
                  <a:pt x="555" y="7026"/>
                </a:lnTo>
                <a:close/>
                <a:moveTo>
                  <a:pt x="0" y="7580"/>
                </a:moveTo>
                <a:lnTo>
                  <a:pt x="0" y="2622"/>
                </a:lnTo>
                <a:lnTo>
                  <a:pt x="6303" y="2622"/>
                </a:lnTo>
                <a:lnTo>
                  <a:pt x="6303" y="0"/>
                </a:lnTo>
                <a:lnTo>
                  <a:pt x="8698" y="0"/>
                </a:lnTo>
                <a:lnTo>
                  <a:pt x="13050" y="5102"/>
                </a:lnTo>
                <a:lnTo>
                  <a:pt x="8698" y="10203"/>
                </a:lnTo>
                <a:lnTo>
                  <a:pt x="6303" y="10203"/>
                </a:lnTo>
                <a:lnTo>
                  <a:pt x="6303" y="7580"/>
                </a:lnTo>
                <a:lnTo>
                  <a:pt x="0" y="7580"/>
                </a:lnTo>
                <a:close/>
              </a:path>
            </a:pathLst>
          </a:custGeom>
          <a:solidFill>
            <a:srgbClr val="C00000"/>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600"/>
          </a:p>
        </p:txBody>
      </p:sp>
      <p:cxnSp>
        <p:nvCxnSpPr>
          <p:cNvPr id="51" name="Elbow Connector 50">
            <a:extLst>
              <a:ext uri="{FF2B5EF4-FFF2-40B4-BE49-F238E27FC236}">
                <a16:creationId xmlns:a16="http://schemas.microsoft.com/office/drawing/2014/main" id="{34EA2F09-CDF7-5747-ACCD-7BD2322E7CE1}"/>
              </a:ext>
            </a:extLst>
          </p:cNvPr>
          <p:cNvCxnSpPr>
            <a:cxnSpLocks/>
            <a:stCxn id="21" idx="0"/>
            <a:endCxn id="19" idx="0"/>
          </p:cNvCxnSpPr>
          <p:nvPr/>
        </p:nvCxnSpPr>
        <p:spPr>
          <a:xfrm rot="16200000" flipH="1" flipV="1">
            <a:off x="4573233" y="-2186909"/>
            <a:ext cx="65768" cy="7294162"/>
          </a:xfrm>
          <a:prstGeom prst="bentConnector3">
            <a:avLst>
              <a:gd name="adj1" fmla="val -743377"/>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pic>
        <p:nvPicPr>
          <p:cNvPr id="53" name="Picture 6" descr="查看源图像">
            <a:extLst>
              <a:ext uri="{FF2B5EF4-FFF2-40B4-BE49-F238E27FC236}">
                <a16:creationId xmlns:a16="http://schemas.microsoft.com/office/drawing/2014/main" id="{CAEC491B-3E81-3748-B578-6A313F7B76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3595" y="991742"/>
            <a:ext cx="385200" cy="38520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查看源图像">
            <a:extLst>
              <a:ext uri="{FF2B5EF4-FFF2-40B4-BE49-F238E27FC236}">
                <a16:creationId xmlns:a16="http://schemas.microsoft.com/office/drawing/2014/main" id="{B11C0C8B-974D-6344-84F0-B50A49939C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3718" y="991742"/>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查看源图像">
            <a:extLst>
              <a:ext uri="{FF2B5EF4-FFF2-40B4-BE49-F238E27FC236}">
                <a16:creationId xmlns:a16="http://schemas.microsoft.com/office/drawing/2014/main" id="{E3B2EBE1-3535-7F46-9BBB-A9BCED257D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8262" y="996882"/>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查看源图像">
            <a:extLst>
              <a:ext uri="{FF2B5EF4-FFF2-40B4-BE49-F238E27FC236}">
                <a16:creationId xmlns:a16="http://schemas.microsoft.com/office/drawing/2014/main" id="{3CCA8C50-7C33-DC43-904B-16AEB4FA48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3964" y="988849"/>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 descr="查看源图像">
            <a:extLst>
              <a:ext uri="{FF2B5EF4-FFF2-40B4-BE49-F238E27FC236}">
                <a16:creationId xmlns:a16="http://schemas.microsoft.com/office/drawing/2014/main" id="{30161B49-62FD-7A4B-B1F6-7785C3B1CB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4087" y="1000673"/>
            <a:ext cx="387476" cy="387476"/>
          </a:xfrm>
          <a:prstGeom prst="rect">
            <a:avLst/>
          </a:prstGeom>
          <a:noFill/>
          <a:extLst>
            <a:ext uri="{909E8E84-426E-40DD-AFC4-6F175D3DCCD1}">
              <a14:hiddenFill xmlns:a14="http://schemas.microsoft.com/office/drawing/2010/main">
                <a:solidFill>
                  <a:srgbClr val="FFFFFF"/>
                </a:solidFill>
              </a14:hiddenFill>
            </a:ext>
          </a:extLst>
        </p:spPr>
      </p:pic>
      <p:sp>
        <p:nvSpPr>
          <p:cNvPr id="63" name="Left Brace 62">
            <a:extLst>
              <a:ext uri="{FF2B5EF4-FFF2-40B4-BE49-F238E27FC236}">
                <a16:creationId xmlns:a16="http://schemas.microsoft.com/office/drawing/2014/main" id="{74EC68A6-117D-2C4A-A07A-1E249EC32FFA}"/>
              </a:ext>
            </a:extLst>
          </p:cNvPr>
          <p:cNvSpPr/>
          <p:nvPr/>
        </p:nvSpPr>
        <p:spPr>
          <a:xfrm rot="16200000">
            <a:off x="4420111" y="538745"/>
            <a:ext cx="303779" cy="5469056"/>
          </a:xfrm>
          <a:prstGeom prst="leftBrace">
            <a:avLst>
              <a:gd name="adj1" fmla="val 5675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x-none"/>
          </a:p>
        </p:txBody>
      </p:sp>
      <p:sp>
        <p:nvSpPr>
          <p:cNvPr id="64" name="TextBox 63">
            <a:extLst>
              <a:ext uri="{FF2B5EF4-FFF2-40B4-BE49-F238E27FC236}">
                <a16:creationId xmlns:a16="http://schemas.microsoft.com/office/drawing/2014/main" id="{9B5B45BB-3C3A-6543-9DE0-5A4BEA990956}"/>
              </a:ext>
            </a:extLst>
          </p:cNvPr>
          <p:cNvSpPr txBox="1"/>
          <p:nvPr/>
        </p:nvSpPr>
        <p:spPr>
          <a:xfrm>
            <a:off x="579200" y="2482872"/>
            <a:ext cx="748923" cy="430887"/>
          </a:xfrm>
          <a:prstGeom prst="rect">
            <a:avLst/>
          </a:prstGeom>
          <a:noFill/>
        </p:spPr>
        <p:txBody>
          <a:bodyPr wrap="none" rtlCol="0">
            <a:spAutoFit/>
          </a:bodyPr>
          <a:lstStyle/>
          <a:p>
            <a:pPr algn="ctr"/>
            <a:r>
              <a:rPr lang="x-none" sz="2200" dirty="0">
                <a:latin typeface="Microsoft YaHei" charset="-122"/>
                <a:ea typeface="Microsoft YaHei" charset="-122"/>
                <a:cs typeface="Microsoft YaHei" charset="-122"/>
              </a:rPr>
              <a:t>问题</a:t>
            </a:r>
          </a:p>
        </p:txBody>
      </p:sp>
      <p:sp>
        <p:nvSpPr>
          <p:cNvPr id="65" name="TextBox 64">
            <a:extLst>
              <a:ext uri="{FF2B5EF4-FFF2-40B4-BE49-F238E27FC236}">
                <a16:creationId xmlns:a16="http://schemas.microsoft.com/office/drawing/2014/main" id="{BA0924BA-7468-8547-8E30-95CBFE47FCEE}"/>
              </a:ext>
            </a:extLst>
          </p:cNvPr>
          <p:cNvSpPr txBox="1"/>
          <p:nvPr/>
        </p:nvSpPr>
        <p:spPr>
          <a:xfrm>
            <a:off x="7878736" y="2482884"/>
            <a:ext cx="748923" cy="430887"/>
          </a:xfrm>
          <a:prstGeom prst="rect">
            <a:avLst/>
          </a:prstGeom>
          <a:noFill/>
        </p:spPr>
        <p:txBody>
          <a:bodyPr wrap="none" rtlCol="0">
            <a:spAutoFit/>
          </a:bodyPr>
          <a:lstStyle/>
          <a:p>
            <a:r>
              <a:rPr lang="x-none" sz="2200" dirty="0">
                <a:latin typeface="Microsoft YaHei" charset="-122"/>
                <a:ea typeface="Microsoft YaHei" charset="-122"/>
                <a:cs typeface="Microsoft YaHei" charset="-122"/>
              </a:rPr>
              <a:t>答案</a:t>
            </a:r>
          </a:p>
        </p:txBody>
      </p:sp>
      <p:sp>
        <p:nvSpPr>
          <p:cNvPr id="66" name="文本框 49">
            <a:extLst>
              <a:ext uri="{FF2B5EF4-FFF2-40B4-BE49-F238E27FC236}">
                <a16:creationId xmlns:a16="http://schemas.microsoft.com/office/drawing/2014/main" id="{B793BEF9-0C01-CC45-A139-0906FD4CB9C6}"/>
              </a:ext>
            </a:extLst>
          </p:cNvPr>
          <p:cNvSpPr txBox="1"/>
          <p:nvPr/>
        </p:nvSpPr>
        <p:spPr>
          <a:xfrm>
            <a:off x="1830796" y="3614991"/>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x-none" b="0" kern="0" dirty="0">
                <a:solidFill>
                  <a:srgbClr val="014B88"/>
                </a:solidFill>
              </a:rPr>
              <a:t>数据</a:t>
            </a:r>
            <a:r>
              <a:rPr lang="zh-CN" altLang="en-US" b="0" kern="0" dirty="0">
                <a:solidFill>
                  <a:srgbClr val="014B88"/>
                </a:solidFill>
              </a:rPr>
              <a:t>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多样性</a:t>
            </a:r>
          </a:p>
        </p:txBody>
      </p:sp>
      <p:sp>
        <p:nvSpPr>
          <p:cNvPr id="67" name="文本框 49">
            <a:extLst>
              <a:ext uri="{FF2B5EF4-FFF2-40B4-BE49-F238E27FC236}">
                <a16:creationId xmlns:a16="http://schemas.microsoft.com/office/drawing/2014/main" id="{7CFC82EE-7785-E048-986D-89B6A1212E52}"/>
              </a:ext>
            </a:extLst>
          </p:cNvPr>
          <p:cNvSpPr txBox="1"/>
          <p:nvPr/>
        </p:nvSpPr>
        <p:spPr>
          <a:xfrm>
            <a:off x="3420981"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x-none" b="0" kern="0" dirty="0">
                <a:solidFill>
                  <a:srgbClr val="014B88"/>
                </a:solidFill>
              </a:rPr>
              <a:t>数据</a:t>
            </a:r>
            <a:r>
              <a:rPr lang="zh-CN" altLang="en-US" b="0" kern="0" dirty="0">
                <a:solidFill>
                  <a:srgbClr val="014B88"/>
                </a:solidFill>
              </a:rPr>
              <a:t>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海量性</a:t>
            </a:r>
          </a:p>
        </p:txBody>
      </p:sp>
      <p:sp>
        <p:nvSpPr>
          <p:cNvPr id="68" name="文本框 49">
            <a:extLst>
              <a:ext uri="{FF2B5EF4-FFF2-40B4-BE49-F238E27FC236}">
                <a16:creationId xmlns:a16="http://schemas.microsoft.com/office/drawing/2014/main" id="{2EA96626-46AA-EE46-8BED-87D62C593A9B}"/>
              </a:ext>
            </a:extLst>
          </p:cNvPr>
          <p:cNvSpPr txBox="1"/>
          <p:nvPr/>
        </p:nvSpPr>
        <p:spPr>
          <a:xfrm>
            <a:off x="5011166"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en-US" b="0" kern="0" dirty="0">
                <a:solidFill>
                  <a:srgbClr val="014B88"/>
                </a:solidFill>
              </a:rPr>
              <a:t>结果的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及时性</a:t>
            </a:r>
          </a:p>
        </p:txBody>
      </p:sp>
      <p:sp>
        <p:nvSpPr>
          <p:cNvPr id="69" name="文本框 49">
            <a:extLst>
              <a:ext uri="{FF2B5EF4-FFF2-40B4-BE49-F238E27FC236}">
                <a16:creationId xmlns:a16="http://schemas.microsoft.com/office/drawing/2014/main" id="{E69D8E4F-D7D4-8D40-98D2-4606B459B125}"/>
              </a:ext>
            </a:extLst>
          </p:cNvPr>
          <p:cNvSpPr txBox="1"/>
          <p:nvPr/>
        </p:nvSpPr>
        <p:spPr>
          <a:xfrm>
            <a:off x="6601351"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en-US" b="0" kern="0" dirty="0">
                <a:solidFill>
                  <a:srgbClr val="014B88"/>
                </a:solidFill>
              </a:rPr>
              <a:t>数据的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隐私保护</a:t>
            </a:r>
          </a:p>
        </p:txBody>
      </p:sp>
      <p:sp>
        <p:nvSpPr>
          <p:cNvPr id="70" name="TextBox 69">
            <a:extLst>
              <a:ext uri="{FF2B5EF4-FFF2-40B4-BE49-F238E27FC236}">
                <a16:creationId xmlns:a16="http://schemas.microsoft.com/office/drawing/2014/main" id="{FFEBAC01-D8CE-1A44-BA27-4D0B97579E2E}"/>
              </a:ext>
            </a:extLst>
          </p:cNvPr>
          <p:cNvSpPr txBox="1"/>
          <p:nvPr/>
        </p:nvSpPr>
        <p:spPr>
          <a:xfrm>
            <a:off x="297071" y="3846898"/>
            <a:ext cx="1313180" cy="430887"/>
          </a:xfrm>
          <a:prstGeom prst="rect">
            <a:avLst/>
          </a:prstGeom>
          <a:noFill/>
        </p:spPr>
        <p:txBody>
          <a:bodyPr wrap="none" rtlCol="0">
            <a:spAutoFit/>
          </a:bodyPr>
          <a:lstStyle/>
          <a:p>
            <a:r>
              <a:rPr lang="x-none" sz="2200" dirty="0">
                <a:latin typeface="Microsoft YaHei" charset="-122"/>
                <a:ea typeface="Microsoft YaHei" charset="-122"/>
                <a:cs typeface="Microsoft YaHei" charset="-122"/>
              </a:rPr>
              <a:t>技术挑战</a:t>
            </a:r>
          </a:p>
        </p:txBody>
      </p:sp>
      <p:sp>
        <p:nvSpPr>
          <p:cNvPr id="71" name="TextBox 70">
            <a:extLst>
              <a:ext uri="{FF2B5EF4-FFF2-40B4-BE49-F238E27FC236}">
                <a16:creationId xmlns:a16="http://schemas.microsoft.com/office/drawing/2014/main" id="{1AAFADD0-3541-9C47-8993-C3B647D53215}"/>
              </a:ext>
            </a:extLst>
          </p:cNvPr>
          <p:cNvSpPr txBox="1"/>
          <p:nvPr/>
        </p:nvSpPr>
        <p:spPr>
          <a:xfrm>
            <a:off x="8068778" y="3776765"/>
            <a:ext cx="575799" cy="430887"/>
          </a:xfrm>
          <a:prstGeom prst="rect">
            <a:avLst/>
          </a:prstGeom>
          <a:noFill/>
        </p:spPr>
        <p:txBody>
          <a:bodyPr wrap="none" rtlCol="0">
            <a:spAutoFit/>
          </a:bodyPr>
          <a:lstStyle/>
          <a:p>
            <a:pPr algn="ctr"/>
            <a:r>
              <a:rPr lang="en-US" altLang="zh-CN" sz="2200" dirty="0"/>
              <a:t>……</a:t>
            </a:r>
            <a:endParaRPr lang="x-none" sz="2200" dirty="0"/>
          </a:p>
        </p:txBody>
      </p:sp>
      <p:sp>
        <p:nvSpPr>
          <p:cNvPr id="36" name="Rectangle 35"/>
          <p:cNvSpPr/>
          <p:nvPr/>
        </p:nvSpPr>
        <p:spPr>
          <a:xfrm>
            <a:off x="6687909" y="2789169"/>
            <a:ext cx="1104882" cy="635994"/>
          </a:xfrm>
          <a:prstGeom prst="rect">
            <a:avLst/>
          </a:prstGeom>
          <a:solidFill>
            <a:srgbClr val="F8E9A7"/>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Microsoft YaHei" charset="-122"/>
                <a:ea typeface="Microsoft YaHei" charset="-122"/>
                <a:cs typeface="Microsoft YaHei" charset="-122"/>
              </a:rPr>
              <a:t>本讲重点</a:t>
            </a:r>
            <a:endParaRPr lang="en-US" altLang="zh-CN" sz="1600" dirty="0">
              <a:solidFill>
                <a:schemeClr val="tx1"/>
              </a:solidFill>
              <a:latin typeface="Microsoft YaHei" charset="-122"/>
              <a:ea typeface="Microsoft YaHei" charset="-122"/>
              <a:cs typeface="Microsoft YaHei" charset="-122"/>
            </a:endParaRPr>
          </a:p>
          <a:p>
            <a:pPr algn="ctr"/>
            <a:r>
              <a:rPr lang="zh-CN" altLang="en-US" dirty="0">
                <a:solidFill>
                  <a:srgbClr val="C00000"/>
                </a:solidFill>
                <a:latin typeface="Microsoft YaHei" charset="-122"/>
                <a:ea typeface="Microsoft YaHei" charset="-122"/>
                <a:cs typeface="Microsoft YaHei" charset="-122"/>
              </a:rPr>
              <a:t>可视化</a:t>
            </a:r>
            <a:endParaRPr lang="en-US" dirty="0">
              <a:solidFill>
                <a:srgbClr val="C00000"/>
              </a:solidFill>
              <a:latin typeface="Microsoft YaHei" charset="-122"/>
              <a:ea typeface="Microsoft YaHei" charset="-122"/>
              <a:cs typeface="Microsoft YaHei" charset="-122"/>
            </a:endParaRPr>
          </a:p>
        </p:txBody>
      </p:sp>
      <p:sp>
        <p:nvSpPr>
          <p:cNvPr id="37" name="Rectangle 36"/>
          <p:cNvSpPr/>
          <p:nvPr/>
        </p:nvSpPr>
        <p:spPr>
          <a:xfrm>
            <a:off x="4053676" y="2789169"/>
            <a:ext cx="1104882" cy="635994"/>
          </a:xfrm>
          <a:prstGeom prst="rect">
            <a:avLst/>
          </a:prstGeom>
          <a:solidFill>
            <a:srgbClr val="F8E9A7"/>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Microsoft YaHei" charset="-122"/>
                <a:ea typeface="Microsoft YaHei" charset="-122"/>
                <a:cs typeface="Microsoft YaHei" charset="-122"/>
              </a:rPr>
              <a:t>本讲重点</a:t>
            </a:r>
            <a:endParaRPr lang="en-US" altLang="zh-CN" sz="1600" dirty="0">
              <a:solidFill>
                <a:schemeClr val="tx1"/>
              </a:solidFill>
              <a:latin typeface="Microsoft YaHei" charset="-122"/>
              <a:ea typeface="Microsoft YaHei" charset="-122"/>
              <a:cs typeface="Microsoft YaHei" charset="-122"/>
            </a:endParaRPr>
          </a:p>
          <a:p>
            <a:pPr algn="ctr"/>
            <a:r>
              <a:rPr lang="zh-CN" altLang="en-US" dirty="0">
                <a:solidFill>
                  <a:srgbClr val="C00000"/>
                </a:solidFill>
                <a:latin typeface="Microsoft YaHei" charset="-122"/>
                <a:ea typeface="Microsoft YaHei" charset="-122"/>
                <a:cs typeface="Microsoft YaHei" charset="-122"/>
              </a:rPr>
              <a:t>探索操作</a:t>
            </a:r>
            <a:endParaRPr lang="en-US" dirty="0">
              <a:solidFill>
                <a:srgbClr val="C00000"/>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4293388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linds(horizontal)">
                                      <p:cBhvr>
                                        <p:cTn id="1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探索数据分析 </a:t>
            </a:r>
            <a:r>
              <a:rPr lang="en-US" altLang="zh-CN" sz="2000" dirty="0">
                <a:solidFill>
                  <a:prstClr val="white"/>
                </a:solidFill>
                <a:latin typeface="微软雅黑" pitchFamily="34" charset="-122"/>
                <a:ea typeface="微软雅黑" pitchFamily="34" charset="-122"/>
              </a:rPr>
              <a:t>-</a:t>
            </a:r>
            <a:r>
              <a:rPr lang="zh-CN" altLang="en-US" sz="2000" dirty="0">
                <a:solidFill>
                  <a:prstClr val="white"/>
                </a:solidFill>
                <a:latin typeface="微软雅黑" pitchFamily="34" charset="-122"/>
                <a:ea typeface="微软雅黑" pitchFamily="34" charset="-122"/>
              </a:rPr>
              <a:t> 可视化</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3300904" cy="1865126"/>
          </a:xfrm>
          <a:prstGeom prst="rect">
            <a:avLst/>
          </a:prstGeom>
          <a:noFill/>
        </p:spPr>
        <p:txBody>
          <a:bodyPr wrap="none" rtlCol="0">
            <a:spAutoFit/>
          </a:bodyPr>
          <a:lstStyle/>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探索式数据分析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solidFill>
                  <a:srgbClr val="C00000"/>
                </a:solidFill>
                <a:latin typeface="Microsoft YaHei" panose="020B0503020204020204" pitchFamily="34" charset="-122"/>
                <a:ea typeface="Microsoft YaHei" panose="020B0503020204020204" pitchFamily="34" charset="-122"/>
              </a:rPr>
              <a:t>数据可视化</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复习：数据探索的基本操作</a:t>
            </a:r>
            <a:endParaRPr lang="en-US" altLang="zh-CN" b="1" dirty="0">
              <a:latin typeface="Microsoft YaHei" panose="020B0503020204020204" pitchFamily="34" charset="-122"/>
              <a:ea typeface="Microsoft YaHei" panose="020B0503020204020204" pitchFamily="34" charset="-122"/>
            </a:endParaRPr>
          </a:p>
          <a:p>
            <a:pPr marL="342900" marR="0" lvl="0" indent="-342900" algn="l" defTabSz="914400" rtl="0" eaLnBrk="1" fontAlgn="auto" latinLnBrk="0" hangingPunct="1">
              <a:lnSpc>
                <a:spcPct val="160000"/>
              </a:lnSpc>
              <a:spcBef>
                <a:spcPts val="0"/>
              </a:spcBef>
              <a:spcAft>
                <a:spcPts val="0"/>
              </a:spcAft>
              <a:buClrTx/>
              <a:buSzTx/>
              <a:buFontTx/>
              <a:buAutoNum type="arabicPeriod"/>
              <a:tabLst/>
              <a:defRPr/>
            </a:pPr>
            <a:r>
              <a:rPr lang="zh-CN" altLang="en-US" b="1" dirty="0">
                <a:latin typeface="Microsoft YaHei" panose="020B0503020204020204" pitchFamily="34" charset="-122"/>
                <a:ea typeface="Microsoft YaHei" panose="020B0503020204020204" pitchFamily="34" charset="-122"/>
              </a:rPr>
              <a:t>课堂练习与研讨</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6359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dirty="0"/>
              <a:t>可视化的目标是让人发现规律</a:t>
            </a:r>
            <a:endParaRPr lang="en-US" dirty="0"/>
          </a:p>
        </p:txBody>
      </p:sp>
      <p:sp>
        <p:nvSpPr>
          <p:cNvPr id="5" name="Content Placeholder 4"/>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8</a:t>
            </a:fld>
            <a:endParaRPr lang="zh-CN" altLang="en-US"/>
          </a:p>
        </p:txBody>
      </p:sp>
      <p:pic>
        <p:nvPicPr>
          <p:cNvPr id="6" name="Google Shape;159;p18"/>
          <p:cNvPicPr preferRelativeResize="0"/>
          <p:nvPr/>
        </p:nvPicPr>
        <p:blipFill>
          <a:blip r:embed="rId2">
            <a:alphaModFix/>
          </a:blip>
          <a:stretch>
            <a:fillRect/>
          </a:stretch>
        </p:blipFill>
        <p:spPr>
          <a:xfrm>
            <a:off x="3587650" y="761988"/>
            <a:ext cx="5556350" cy="3798875"/>
          </a:xfrm>
          <a:prstGeom prst="rect">
            <a:avLst/>
          </a:prstGeom>
          <a:noFill/>
          <a:ln>
            <a:noFill/>
          </a:ln>
        </p:spPr>
      </p:pic>
      <p:pic>
        <p:nvPicPr>
          <p:cNvPr id="7" name="Google Shape;161;p18"/>
          <p:cNvPicPr preferRelativeResize="0"/>
          <p:nvPr/>
        </p:nvPicPr>
        <p:blipFill rotWithShape="1">
          <a:blip r:embed="rId3">
            <a:alphaModFix/>
          </a:blip>
          <a:srcRect b="12793"/>
          <a:stretch/>
        </p:blipFill>
        <p:spPr>
          <a:xfrm>
            <a:off x="2042450" y="836725"/>
            <a:ext cx="1418375" cy="1334300"/>
          </a:xfrm>
          <a:prstGeom prst="rect">
            <a:avLst/>
          </a:prstGeom>
          <a:noFill/>
          <a:ln>
            <a:noFill/>
          </a:ln>
        </p:spPr>
      </p:pic>
      <p:sp>
        <p:nvSpPr>
          <p:cNvPr id="8" name="Google Shape;160;p18"/>
          <p:cNvSpPr txBox="1"/>
          <p:nvPr/>
        </p:nvSpPr>
        <p:spPr>
          <a:xfrm>
            <a:off x="243425" y="2391325"/>
            <a:ext cx="3207600" cy="147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tLang="en-US" sz="2400" dirty="0">
                <a:latin typeface="Microsoft YaHei" charset="-122"/>
                <a:ea typeface="Microsoft YaHei" charset="-122"/>
                <a:cs typeface="Microsoft YaHei" charset="-122"/>
                <a:sym typeface="Proxima Nova"/>
              </a:rPr>
              <a:t>看上去年纪更大的人并没有比年轻人花费更多的金额</a:t>
            </a:r>
            <a:endParaRPr sz="2400" dirty="0">
              <a:latin typeface="Microsoft YaHei" charset="-122"/>
              <a:ea typeface="Microsoft YaHei" charset="-122"/>
              <a:cs typeface="Microsoft YaHei" charset="-122"/>
              <a:sym typeface="Proxima Nova"/>
            </a:endParaRPr>
          </a:p>
        </p:txBody>
      </p:sp>
    </p:spTree>
    <p:extLst>
      <p:ext uri="{BB962C8B-B14F-4D97-AF65-F5344CB8AC3E}">
        <p14:creationId xmlns:p14="http://schemas.microsoft.com/office/powerpoint/2010/main" val="1623682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可视化：基本图表类型</a:t>
            </a:r>
            <a:endParaRPr lang="en-US" dirty="0"/>
          </a:p>
        </p:txBody>
      </p:sp>
      <p:sp>
        <p:nvSpPr>
          <p:cNvPr id="3" name="Content Placeholder 2"/>
          <p:cNvSpPr>
            <a:spLocks noGrp="1"/>
          </p:cNvSpPr>
          <p:nvPr>
            <p:ph idx="1"/>
          </p:nvPr>
        </p:nvSpPr>
        <p:spPr/>
        <p:txBody>
          <a:bodyPr/>
          <a:lstStyle/>
          <a:p>
            <a:r>
              <a:rPr lang="zh-CN" altLang="en-US" dirty="0"/>
              <a:t>单变量典型图表</a:t>
            </a:r>
            <a:endParaRPr lang="en-US" altLang="zh-CN" dirty="0"/>
          </a:p>
          <a:p>
            <a:pPr lvl="1"/>
            <a:r>
              <a:rPr lang="zh-CN" altLang="en-US" dirty="0"/>
              <a:t>点阵图 </a:t>
            </a:r>
            <a:r>
              <a:rPr lang="en-US" altLang="zh-CN" dirty="0"/>
              <a:t>-</a:t>
            </a:r>
            <a:r>
              <a:rPr lang="zh-CN" altLang="en-US" dirty="0"/>
              <a:t> </a:t>
            </a:r>
            <a:r>
              <a:rPr lang="en-US" dirty="0"/>
              <a:t>Dot plot</a:t>
            </a:r>
          </a:p>
          <a:p>
            <a:pPr lvl="1"/>
            <a:r>
              <a:rPr lang="zh-CN" altLang="en-US" dirty="0"/>
              <a:t>直方图 </a:t>
            </a:r>
            <a:r>
              <a:rPr lang="en-US" altLang="zh-CN" dirty="0"/>
              <a:t>-</a:t>
            </a:r>
            <a:r>
              <a:rPr lang="zh-CN" altLang="en-US" dirty="0"/>
              <a:t> </a:t>
            </a:r>
            <a:r>
              <a:rPr lang="en-US" dirty="0"/>
              <a:t>Histogram</a:t>
            </a:r>
          </a:p>
          <a:p>
            <a:pPr lvl="1"/>
            <a:r>
              <a:rPr lang="zh-CN" altLang="en-US" dirty="0"/>
              <a:t>累积分布函数 </a:t>
            </a:r>
            <a:r>
              <a:rPr lang="en-US" altLang="zh-CN" dirty="0"/>
              <a:t>-</a:t>
            </a:r>
            <a:r>
              <a:rPr lang="zh-CN" altLang="en-US" dirty="0"/>
              <a:t> </a:t>
            </a:r>
            <a:r>
              <a:rPr lang="en-US" dirty="0"/>
              <a:t>Cumulative distribution function</a:t>
            </a:r>
            <a:endParaRPr lang="en-US" altLang="zh-CN" dirty="0"/>
          </a:p>
          <a:p>
            <a:pPr lvl="1"/>
            <a:r>
              <a:rPr lang="zh-CN" altLang="en-US" dirty="0"/>
              <a:t>箱线图 </a:t>
            </a:r>
            <a:r>
              <a:rPr lang="en-US" altLang="zh-CN" dirty="0"/>
              <a:t>-</a:t>
            </a:r>
            <a:r>
              <a:rPr lang="zh-CN" altLang="en-US" dirty="0"/>
              <a:t> </a:t>
            </a:r>
            <a:r>
              <a:rPr lang="en-US" dirty="0"/>
              <a:t>Box plot</a:t>
            </a:r>
            <a:endParaRPr lang="en-US" altLang="zh-CN" dirty="0"/>
          </a:p>
          <a:p>
            <a:r>
              <a:rPr lang="zh-CN" altLang="en-US" dirty="0"/>
              <a:t>多变量典型图表</a:t>
            </a:r>
            <a:endParaRPr lang="en-US" altLang="zh-CN" dirty="0"/>
          </a:p>
          <a:p>
            <a:pPr lvl="1"/>
            <a:r>
              <a:rPr lang="zh-CN" altLang="en-US" dirty="0"/>
              <a:t>柱状图 </a:t>
            </a:r>
            <a:r>
              <a:rPr lang="en-US" altLang="zh-CN" dirty="0"/>
              <a:t>-</a:t>
            </a:r>
            <a:r>
              <a:rPr lang="zh-CN" altLang="en-US" dirty="0"/>
              <a:t> </a:t>
            </a:r>
            <a:r>
              <a:rPr lang="en-US" altLang="zh-CN" dirty="0"/>
              <a:t>Bar</a:t>
            </a:r>
            <a:r>
              <a:rPr lang="en-US" dirty="0"/>
              <a:t> </a:t>
            </a:r>
            <a:r>
              <a:rPr lang="en-US" altLang="zh-CN" dirty="0"/>
              <a:t>chart</a:t>
            </a:r>
            <a:endParaRPr lang="en-US" dirty="0"/>
          </a:p>
          <a:p>
            <a:pPr lvl="1"/>
            <a:r>
              <a:rPr lang="zh-CN" altLang="en-US" dirty="0"/>
              <a:t>散布图 </a:t>
            </a:r>
            <a:r>
              <a:rPr lang="mr-IN" altLang="zh-CN" dirty="0"/>
              <a:t>–</a:t>
            </a:r>
            <a:r>
              <a:rPr lang="zh-CN" altLang="en-US" dirty="0"/>
              <a:t> </a:t>
            </a:r>
            <a:r>
              <a:rPr lang="en-US" altLang="zh-CN" dirty="0"/>
              <a:t>Scatter</a:t>
            </a:r>
            <a:r>
              <a:rPr lang="zh-CN" altLang="en-US" dirty="0"/>
              <a:t> </a:t>
            </a:r>
            <a:r>
              <a:rPr lang="en-US" altLang="zh-CN" dirty="0"/>
              <a:t>plot</a:t>
            </a:r>
            <a:endParaRPr lang="en-US" dirty="0"/>
          </a:p>
          <a:p>
            <a:pPr lvl="1"/>
            <a:r>
              <a:rPr lang="zh-CN" altLang="en-US" dirty="0"/>
              <a:t>线条图 </a:t>
            </a:r>
            <a:r>
              <a:rPr lang="en-US" altLang="zh-CN" dirty="0"/>
              <a:t>-</a:t>
            </a:r>
            <a:r>
              <a:rPr lang="zh-CN" altLang="en-US" dirty="0"/>
              <a:t> </a:t>
            </a:r>
            <a:r>
              <a:rPr lang="en-US" altLang="zh-CN" dirty="0"/>
              <a:t>Line</a:t>
            </a:r>
            <a:r>
              <a:rPr lang="en-US" dirty="0"/>
              <a:t> plot</a:t>
            </a:r>
          </a:p>
        </p:txBody>
      </p:sp>
      <p:sp>
        <p:nvSpPr>
          <p:cNvPr id="5" name="Slide Number Placeholder 4"/>
          <p:cNvSpPr>
            <a:spLocks noGrp="1"/>
          </p:cNvSpPr>
          <p:nvPr>
            <p:ph type="sldNum" sz="quarter" idx="12"/>
          </p:nvPr>
        </p:nvSpPr>
        <p:spPr/>
        <p:txBody>
          <a:bodyPr/>
          <a:lstStyle/>
          <a:p>
            <a:pPr>
              <a:defRPr/>
            </a:pPr>
            <a:fld id="{03E60C35-1193-284A-B3D8-F868547A968B}" type="slidenum">
              <a:rPr lang="zh-CN" altLang="en-US" smtClean="0"/>
              <a:pPr>
                <a:defRPr/>
              </a:pPr>
              <a:t>9</a:t>
            </a:fld>
            <a:endParaRPr lang="en-US" altLang="zh-CN"/>
          </a:p>
        </p:txBody>
      </p:sp>
    </p:spTree>
    <p:extLst>
      <p:ext uri="{BB962C8B-B14F-4D97-AF65-F5344CB8AC3E}">
        <p14:creationId xmlns:p14="http://schemas.microsoft.com/office/powerpoint/2010/main" val="1595398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散点图（</a:t>
            </a:r>
            <a:r>
              <a:rPr lang="en-US" altLang="zh-CN" dirty="0"/>
              <a:t>Scatter</a:t>
            </a:r>
            <a:r>
              <a:rPr lang="zh-CN" altLang="en-US" dirty="0"/>
              <a:t>）</a:t>
            </a:r>
            <a:endParaRPr lang="en-US" dirty="0"/>
          </a:p>
        </p:txBody>
      </p:sp>
      <p:sp>
        <p:nvSpPr>
          <p:cNvPr id="3" name="Content Placeholder 2"/>
          <p:cNvSpPr>
            <a:spLocks noGrp="1"/>
          </p:cNvSpPr>
          <p:nvPr>
            <p:ph idx="1"/>
          </p:nvPr>
        </p:nvSpPr>
        <p:spPr/>
        <p:txBody>
          <a:bodyPr/>
          <a:lstStyle/>
          <a:p>
            <a:r>
              <a:rPr lang="zh-CN" altLang="en-US" dirty="0"/>
              <a:t>散点图将所有的数据以点的形式展现在直角坐标系上</a:t>
            </a: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931" y="1629222"/>
            <a:ext cx="988865" cy="263983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3527" y="1502273"/>
            <a:ext cx="4036945" cy="2893739"/>
          </a:xfrm>
          <a:prstGeom prst="rect">
            <a:avLst/>
          </a:prstGeom>
        </p:spPr>
      </p:pic>
    </p:spTree>
    <p:extLst>
      <p:ext uri="{BB962C8B-B14F-4D97-AF65-F5344CB8AC3E}">
        <p14:creationId xmlns:p14="http://schemas.microsoft.com/office/powerpoint/2010/main" val="657042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散点图的示例</a:t>
            </a:r>
            <a:endParaRPr lang="en-US" dirty="0"/>
          </a:p>
        </p:txBody>
      </p:sp>
      <p:sp>
        <p:nvSpPr>
          <p:cNvPr id="3" name="Content Placeholder 2"/>
          <p:cNvSpPr>
            <a:spLocks noGrp="1"/>
          </p:cNvSpPr>
          <p:nvPr>
            <p:ph idx="1"/>
          </p:nvPr>
        </p:nvSpPr>
        <p:spPr/>
        <p:txBody>
          <a:bodyPr/>
          <a:lstStyle/>
          <a:p>
            <a:r>
              <a:rPr lang="zh-CN" altLang="en-US" dirty="0"/>
              <a:t>分析某个购物中心的客户数据</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11</a:t>
            </a:fld>
            <a:endParaRPr lang="zh-CN"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24" y="1376680"/>
            <a:ext cx="3695187" cy="3231356"/>
          </a:xfrm>
          <a:prstGeom prst="rect">
            <a:avLst/>
          </a:prstGeom>
        </p:spPr>
      </p:pic>
      <p:cxnSp>
        <p:nvCxnSpPr>
          <p:cNvPr id="7" name="Google Shape;104;p16"/>
          <p:cNvCxnSpPr/>
          <p:nvPr/>
        </p:nvCxnSpPr>
        <p:spPr>
          <a:xfrm>
            <a:off x="4152387" y="2823633"/>
            <a:ext cx="482479" cy="1"/>
          </a:xfrm>
          <a:prstGeom prst="straightConnector1">
            <a:avLst/>
          </a:prstGeom>
          <a:noFill/>
          <a:ln w="38100" cap="flat" cmpd="sng">
            <a:solidFill>
              <a:schemeClr val="accent1"/>
            </a:solidFill>
            <a:prstDash val="solid"/>
            <a:round/>
            <a:headEnd type="none" w="med" len="med"/>
            <a:tailEnd type="triangle" w="med" len="med"/>
          </a:ln>
        </p:spPr>
      </p:cxnSp>
      <p:pic>
        <p:nvPicPr>
          <p:cNvPr id="8" name="Picture 7"/>
          <p:cNvPicPr>
            <a:picLocks noChangeAspect="1"/>
          </p:cNvPicPr>
          <p:nvPr/>
        </p:nvPicPr>
        <p:blipFill>
          <a:blip r:embed="rId3"/>
          <a:stretch>
            <a:fillRect/>
          </a:stretch>
        </p:blipFill>
        <p:spPr>
          <a:xfrm>
            <a:off x="4705352" y="1300833"/>
            <a:ext cx="4272604" cy="3045600"/>
          </a:xfrm>
          <a:prstGeom prst="rect">
            <a:avLst/>
          </a:prstGeom>
        </p:spPr>
      </p:pic>
    </p:spTree>
    <p:extLst>
      <p:ext uri="{BB962C8B-B14F-4D97-AF65-F5344CB8AC3E}">
        <p14:creationId xmlns:p14="http://schemas.microsoft.com/office/powerpoint/2010/main" val="2114309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散点图的示例</a:t>
            </a:r>
            <a:endParaRPr lang="en-US" dirty="0"/>
          </a:p>
        </p:txBody>
      </p:sp>
      <p:sp>
        <p:nvSpPr>
          <p:cNvPr id="3" name="Content Placeholder 2"/>
          <p:cNvSpPr>
            <a:spLocks noGrp="1"/>
          </p:cNvSpPr>
          <p:nvPr>
            <p:ph idx="1"/>
          </p:nvPr>
        </p:nvSpPr>
        <p:spPr/>
        <p:txBody>
          <a:bodyPr/>
          <a:lstStyle/>
          <a:p>
            <a:r>
              <a:rPr lang="zh-CN" altLang="en-US" dirty="0"/>
              <a:t>分析某个购物中心的客户数据</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12</a:t>
            </a:fld>
            <a:endParaRPr lang="zh-CN"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24" y="1376680"/>
            <a:ext cx="3695187" cy="3231356"/>
          </a:xfrm>
          <a:prstGeom prst="rect">
            <a:avLst/>
          </a:prstGeom>
        </p:spPr>
      </p:pic>
      <p:pic>
        <p:nvPicPr>
          <p:cNvPr id="6" name="Picture 5"/>
          <p:cNvPicPr>
            <a:picLocks noChangeAspect="1"/>
          </p:cNvPicPr>
          <p:nvPr/>
        </p:nvPicPr>
        <p:blipFill>
          <a:blip r:embed="rId3"/>
          <a:stretch>
            <a:fillRect/>
          </a:stretch>
        </p:blipFill>
        <p:spPr>
          <a:xfrm>
            <a:off x="4634866" y="1302081"/>
            <a:ext cx="4269104" cy="3043105"/>
          </a:xfrm>
          <a:prstGeom prst="rect">
            <a:avLst/>
          </a:prstGeom>
        </p:spPr>
      </p:pic>
      <p:cxnSp>
        <p:nvCxnSpPr>
          <p:cNvPr id="7" name="Google Shape;104;p16"/>
          <p:cNvCxnSpPr>
            <a:endCxn id="6" idx="1"/>
          </p:cNvCxnSpPr>
          <p:nvPr/>
        </p:nvCxnSpPr>
        <p:spPr>
          <a:xfrm>
            <a:off x="4152387" y="2823633"/>
            <a:ext cx="482479" cy="1"/>
          </a:xfrm>
          <a:prstGeom prst="straightConnector1">
            <a:avLst/>
          </a:prstGeom>
          <a:noFill/>
          <a:ln w="38100" cap="flat" cmpd="sng">
            <a:solidFill>
              <a:schemeClr val="accent1"/>
            </a:solidFill>
            <a:prstDash val="solid"/>
            <a:round/>
            <a:headEnd type="none" w="med" len="med"/>
            <a:tailEnd type="triangle" w="med" len="med"/>
          </a:ln>
        </p:spPr>
      </p:cxnSp>
    </p:spTree>
    <p:extLst>
      <p:ext uri="{BB962C8B-B14F-4D97-AF65-F5344CB8AC3E}">
        <p14:creationId xmlns:p14="http://schemas.microsoft.com/office/powerpoint/2010/main" val="604887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直方图（</a:t>
            </a:r>
            <a:r>
              <a:rPr lang="en-US" altLang="zh-CN" dirty="0"/>
              <a:t>Histogram</a:t>
            </a:r>
            <a:r>
              <a:rPr lang="zh-CN" altLang="en-US" dirty="0"/>
              <a:t>）</a:t>
            </a:r>
            <a:endParaRPr lang="en-US" dirty="0"/>
          </a:p>
        </p:txBody>
      </p:sp>
      <p:sp>
        <p:nvSpPr>
          <p:cNvPr id="3" name="Content Placeholder 2"/>
          <p:cNvSpPr>
            <a:spLocks noGrp="1"/>
          </p:cNvSpPr>
          <p:nvPr>
            <p:ph idx="1"/>
          </p:nvPr>
        </p:nvSpPr>
        <p:spPr>
          <a:xfrm>
            <a:off x="457200" y="819150"/>
            <a:ext cx="5670667" cy="3937000"/>
          </a:xfrm>
        </p:spPr>
        <p:txBody>
          <a:bodyPr/>
          <a:lstStyle/>
          <a:p>
            <a:r>
              <a:rPr lang="zh-CN" altLang="en-US" dirty="0"/>
              <a:t>直方图表示了数据在各组</a:t>
            </a:r>
            <a:r>
              <a:rPr lang="zh-CN" altLang="en-US"/>
              <a:t>的</a:t>
            </a:r>
            <a:r>
              <a:rPr lang="zh-CN" altLang="en-US">
                <a:solidFill>
                  <a:srgbClr val="C00000"/>
                </a:solidFill>
              </a:rPr>
              <a:t>频数</a:t>
            </a:r>
            <a:r>
              <a:rPr lang="zh-CN" altLang="en-US"/>
              <a:t>分布</a:t>
            </a:r>
            <a:r>
              <a:rPr lang="zh-CN" altLang="en-US" dirty="0"/>
              <a:t>情况</a:t>
            </a: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8959" y="1364236"/>
            <a:ext cx="3280955" cy="334837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857" y="1742278"/>
            <a:ext cx="988865" cy="2639839"/>
          </a:xfrm>
          <a:prstGeom prst="rect">
            <a:avLst/>
          </a:prstGeom>
        </p:spPr>
      </p:pic>
      <p:sp>
        <p:nvSpPr>
          <p:cNvPr id="6" name="Rectangle 5"/>
          <p:cNvSpPr/>
          <p:nvPr/>
        </p:nvSpPr>
        <p:spPr>
          <a:xfrm>
            <a:off x="5287221" y="4386397"/>
            <a:ext cx="805157" cy="300082"/>
          </a:xfrm>
          <a:prstGeom prst="rect">
            <a:avLst/>
          </a:prstGeom>
          <a:solidFill>
            <a:schemeClr val="bg1"/>
          </a:solidFill>
          <a:ln>
            <a:solidFill>
              <a:schemeClr val="tx1"/>
            </a:solidFill>
          </a:ln>
          <a:effectLst>
            <a:outerShdw blurRad="50800" dist="76200" dir="2700000" algn="tl" rotWithShape="0">
              <a:prstClr val="black">
                <a:alpha val="40000"/>
              </a:prstClr>
            </a:outerShdw>
          </a:effectLst>
        </p:spPr>
        <p:txBody>
          <a:bodyPr wrap="none">
            <a:spAutoFit/>
          </a:bodyPr>
          <a:lstStyle/>
          <a:p>
            <a:r>
              <a:rPr lang="en-US" altLang="zh-CN" sz="1350" b="1" dirty="0">
                <a:solidFill>
                  <a:srgbClr val="FF0000"/>
                </a:solidFill>
              </a:rPr>
              <a:t>Revenue</a:t>
            </a:r>
            <a:endParaRPr lang="en-US" sz="1350" b="1" dirty="0">
              <a:solidFill>
                <a:srgbClr val="FF0000"/>
              </a:solidFill>
            </a:endParaRPr>
          </a:p>
        </p:txBody>
      </p:sp>
      <p:sp>
        <p:nvSpPr>
          <p:cNvPr id="7" name="Rectangle 6"/>
          <p:cNvSpPr/>
          <p:nvPr/>
        </p:nvSpPr>
        <p:spPr>
          <a:xfrm>
            <a:off x="2532915" y="1364236"/>
            <a:ext cx="612732" cy="300082"/>
          </a:xfrm>
          <a:prstGeom prst="rect">
            <a:avLst/>
          </a:prstGeom>
          <a:solidFill>
            <a:schemeClr val="bg1"/>
          </a:solidFill>
          <a:ln>
            <a:solidFill>
              <a:schemeClr val="tx1"/>
            </a:solidFill>
          </a:ln>
          <a:effectLst>
            <a:outerShdw blurRad="50800" dist="76200" dir="2700000" algn="tl" rotWithShape="0">
              <a:prstClr val="black">
                <a:alpha val="40000"/>
              </a:prstClr>
            </a:outerShdw>
          </a:effectLst>
        </p:spPr>
        <p:txBody>
          <a:bodyPr wrap="none">
            <a:spAutoFit/>
          </a:bodyPr>
          <a:lstStyle/>
          <a:p>
            <a:r>
              <a:rPr lang="en-US" altLang="zh-CN" sz="1350" b="1" dirty="0">
                <a:solidFill>
                  <a:srgbClr val="FF0000"/>
                </a:solidFill>
              </a:rPr>
              <a:t>Count</a:t>
            </a:r>
            <a:endParaRPr lang="en-US" sz="1350" b="1" dirty="0">
              <a:solidFill>
                <a:srgbClr val="FF0000"/>
              </a:solidFill>
            </a:endParaRPr>
          </a:p>
        </p:txBody>
      </p:sp>
      <p:sp>
        <p:nvSpPr>
          <p:cNvPr id="9" name="Rectangle 8"/>
          <p:cNvSpPr/>
          <p:nvPr/>
        </p:nvSpPr>
        <p:spPr>
          <a:xfrm>
            <a:off x="6630230" y="1065169"/>
            <a:ext cx="2308318" cy="3139321"/>
          </a:xfrm>
          <a:prstGeom prst="rect">
            <a:avLst/>
          </a:prstGeom>
        </p:spPr>
        <p:txBody>
          <a:bodyPr wrap="square">
            <a:spAutoFit/>
          </a:bodyPr>
          <a:lstStyle/>
          <a:p>
            <a:r>
              <a:rPr lang="zh-CN" altLang="en-US" b="1" dirty="0">
                <a:solidFill>
                  <a:srgbClr val="C00000"/>
                </a:solidFill>
                <a:latin typeface="Helvetica Neue" charset="0"/>
              </a:rPr>
              <a:t>在绘制</a:t>
            </a:r>
            <a:r>
              <a:rPr lang="en-US" altLang="zh-CN" b="1" dirty="0">
                <a:solidFill>
                  <a:srgbClr val="C00000"/>
                </a:solidFill>
                <a:latin typeface="Helvetica Neue" charset="0"/>
              </a:rPr>
              <a:t>40</a:t>
            </a:r>
            <a:r>
              <a:rPr lang="zh-CN" altLang="en-US" b="1" dirty="0">
                <a:solidFill>
                  <a:srgbClr val="C00000"/>
                </a:solidFill>
                <a:latin typeface="Helvetica Neue" charset="0"/>
              </a:rPr>
              <a:t>个企业营收的直方图时，这些企业的营收落在了</a:t>
            </a:r>
            <a:r>
              <a:rPr lang="en-US" altLang="zh-CN" b="1" dirty="0">
                <a:solidFill>
                  <a:srgbClr val="C00000"/>
                </a:solidFill>
                <a:latin typeface="Helvetica Neue" charset="0"/>
              </a:rPr>
              <a:t>4</a:t>
            </a:r>
            <a:r>
              <a:rPr lang="zh-CN" altLang="en-US" b="1" dirty="0">
                <a:solidFill>
                  <a:srgbClr val="C00000"/>
                </a:solidFill>
                <a:latin typeface="Helvetica Neue" charset="0"/>
              </a:rPr>
              <a:t>个桶中。如果第一、二、三组的频数分别是</a:t>
            </a:r>
            <a:r>
              <a:rPr lang="en-US" altLang="zh-CN" b="1" dirty="0">
                <a:solidFill>
                  <a:srgbClr val="C00000"/>
                </a:solidFill>
                <a:latin typeface="Helvetica Neue" charset="0"/>
              </a:rPr>
              <a:t>5</a:t>
            </a:r>
            <a:r>
              <a:rPr lang="zh-CN" altLang="en-US" b="1" dirty="0">
                <a:solidFill>
                  <a:srgbClr val="C00000"/>
                </a:solidFill>
                <a:latin typeface="Helvetica Neue" charset="0"/>
              </a:rPr>
              <a:t>、</a:t>
            </a:r>
            <a:r>
              <a:rPr lang="en-US" altLang="zh-CN" b="1" dirty="0">
                <a:solidFill>
                  <a:srgbClr val="C00000"/>
                </a:solidFill>
                <a:latin typeface="Helvetica Neue" charset="0"/>
              </a:rPr>
              <a:t>8</a:t>
            </a:r>
            <a:r>
              <a:rPr lang="zh-CN" altLang="en-US" b="1" dirty="0">
                <a:solidFill>
                  <a:srgbClr val="C00000"/>
                </a:solidFill>
                <a:latin typeface="Helvetica Neue" charset="0"/>
              </a:rPr>
              <a:t>、</a:t>
            </a:r>
            <a:r>
              <a:rPr lang="en-US" altLang="zh-CN" b="1" dirty="0">
                <a:solidFill>
                  <a:srgbClr val="C00000"/>
                </a:solidFill>
                <a:latin typeface="Helvetica Neue" charset="0"/>
              </a:rPr>
              <a:t>15</a:t>
            </a:r>
            <a:r>
              <a:rPr lang="zh-CN" altLang="en-US" b="1" dirty="0">
                <a:solidFill>
                  <a:srgbClr val="C00000"/>
                </a:solidFill>
                <a:latin typeface="Helvetica Neue" charset="0"/>
              </a:rPr>
              <a:t>，则第四组的频数是多少？</a:t>
            </a:r>
            <a:endParaRPr lang="en-US" altLang="zh-CN" b="1" dirty="0">
              <a:solidFill>
                <a:srgbClr val="C00000"/>
              </a:solidFill>
              <a:latin typeface="Helvetica Neue" charset="0"/>
            </a:endParaRPr>
          </a:p>
          <a:p>
            <a:endParaRPr lang="en-US" altLang="zh-CN" b="1" dirty="0">
              <a:solidFill>
                <a:srgbClr val="C00000"/>
              </a:solidFill>
              <a:latin typeface="Helvetica Neue" charset="0"/>
            </a:endParaRPr>
          </a:p>
          <a:p>
            <a:pPr marL="342900" indent="-342900">
              <a:buAutoNum type="alphaUcPeriod"/>
            </a:pPr>
            <a:r>
              <a:rPr lang="en-US" altLang="zh-CN" b="1" dirty="0">
                <a:solidFill>
                  <a:srgbClr val="C00000"/>
                </a:solidFill>
                <a:latin typeface="Helvetica Neue" charset="0"/>
              </a:rPr>
              <a:t>12</a:t>
            </a:r>
          </a:p>
          <a:p>
            <a:pPr marL="342900" indent="-342900">
              <a:buAutoNum type="alphaUcPeriod"/>
            </a:pPr>
            <a:r>
              <a:rPr lang="en-US" altLang="zh-CN" b="1" dirty="0">
                <a:solidFill>
                  <a:srgbClr val="C00000"/>
                </a:solidFill>
                <a:latin typeface="Helvetica Neue" charset="0"/>
              </a:rPr>
              <a:t>40</a:t>
            </a:r>
          </a:p>
          <a:p>
            <a:pPr marL="342900" indent="-342900">
              <a:buAutoNum type="alphaUcPeriod"/>
            </a:pPr>
            <a:r>
              <a:rPr lang="en-US" altLang="zh-CN" b="1" dirty="0">
                <a:solidFill>
                  <a:srgbClr val="C00000"/>
                </a:solidFill>
                <a:latin typeface="Helvetica Neue" charset="0"/>
              </a:rPr>
              <a:t>15</a:t>
            </a:r>
          </a:p>
        </p:txBody>
      </p:sp>
      <p:sp>
        <p:nvSpPr>
          <p:cNvPr id="10" name="Rectangle 9"/>
          <p:cNvSpPr/>
          <p:nvPr/>
        </p:nvSpPr>
        <p:spPr>
          <a:xfrm>
            <a:off x="5987105" y="1123084"/>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799728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直方图的局限性</a:t>
            </a:r>
            <a:endParaRPr lang="en-US" dirty="0"/>
          </a:p>
        </p:txBody>
      </p:sp>
      <p:sp>
        <p:nvSpPr>
          <p:cNvPr id="3" name="Content Placeholder 2"/>
          <p:cNvSpPr>
            <a:spLocks noGrp="1"/>
          </p:cNvSpPr>
          <p:nvPr>
            <p:ph idx="1"/>
          </p:nvPr>
        </p:nvSpPr>
        <p:spPr/>
        <p:txBody>
          <a:bodyPr/>
          <a:lstStyle/>
          <a:p>
            <a:r>
              <a:rPr lang="zh-CN" altLang="en-US" dirty="0"/>
              <a:t>如何分桶（</a:t>
            </a:r>
            <a:r>
              <a:rPr lang="en-US" altLang="zh-CN" dirty="0"/>
              <a:t>binning</a:t>
            </a:r>
            <a:r>
              <a:rPr lang="zh-CN" altLang="en-US" dirty="0"/>
              <a:t>）会带来很大的视觉差异</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527" y="1294276"/>
            <a:ext cx="6886946" cy="2610538"/>
          </a:xfrm>
          <a:prstGeom prst="rect">
            <a:avLst/>
          </a:prstGeom>
        </p:spPr>
      </p:pic>
      <p:sp>
        <p:nvSpPr>
          <p:cNvPr id="5" name="Rectangle 4"/>
          <p:cNvSpPr/>
          <p:nvPr/>
        </p:nvSpPr>
        <p:spPr>
          <a:xfrm>
            <a:off x="918029" y="3992037"/>
            <a:ext cx="6320971" cy="830997"/>
          </a:xfrm>
          <a:prstGeom prst="rect">
            <a:avLst/>
          </a:prstGeom>
        </p:spPr>
        <p:txBody>
          <a:bodyPr wrap="square">
            <a:spAutoFit/>
          </a:bodyPr>
          <a:lstStyle/>
          <a:p>
            <a:r>
              <a:rPr lang="en-US" altLang="zh-CN" sz="2400" dirty="0">
                <a:latin typeface="gotham" charset="0"/>
              </a:rPr>
              <a:t>D</a:t>
            </a:r>
            <a:r>
              <a:rPr lang="en-US" sz="2400" dirty="0">
                <a:latin typeface="gotham" charset="0"/>
              </a:rPr>
              <a:t>ata is like people – interrogate it hard enough and it will tell you whatever you want to hear.</a:t>
            </a:r>
            <a:endParaRPr lang="en-US" sz="24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8501" y="3933842"/>
            <a:ext cx="986972" cy="986972"/>
          </a:xfrm>
          <a:prstGeom prst="rect">
            <a:avLst/>
          </a:prstGeom>
        </p:spPr>
      </p:pic>
    </p:spTree>
    <p:extLst>
      <p:ext uri="{BB962C8B-B14F-4D97-AF65-F5344CB8AC3E}">
        <p14:creationId xmlns:p14="http://schemas.microsoft.com/office/powerpoint/2010/main" val="1222100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累积分布函数</a:t>
            </a:r>
            <a:endParaRPr lang="en-US" dirty="0"/>
          </a:p>
        </p:txBody>
      </p:sp>
      <p:sp>
        <p:nvSpPr>
          <p:cNvPr id="3" name="Content Placeholder 2"/>
          <p:cNvSpPr>
            <a:spLocks noGrp="1"/>
          </p:cNvSpPr>
          <p:nvPr>
            <p:ph idx="1"/>
          </p:nvPr>
        </p:nvSpPr>
        <p:spPr/>
        <p:txBody>
          <a:bodyPr/>
          <a:lstStyle/>
          <a:p>
            <a:r>
              <a:rPr lang="zh-CN" altLang="en-US" sz="1800" dirty="0"/>
              <a:t>对于连续变量</a:t>
            </a:r>
            <a:r>
              <a:rPr lang="en-US" altLang="zh-CN" sz="1800" i="1" dirty="0">
                <a:latin typeface="Times New Roman" charset="0"/>
                <a:ea typeface="Times New Roman" charset="0"/>
                <a:cs typeface="Times New Roman" charset="0"/>
              </a:rPr>
              <a:t>x</a:t>
            </a:r>
            <a:r>
              <a:rPr lang="zh-CN" altLang="en-US" sz="1800" dirty="0"/>
              <a:t>，累积分布函数定义如下：</a:t>
            </a:r>
            <a:endParaRPr lang="en-US" altLang="zh-CN" sz="1800" dirty="0"/>
          </a:p>
          <a:p>
            <a:endParaRPr lang="en-US" dirty="0"/>
          </a:p>
          <a:p>
            <a:r>
              <a:rPr lang="zh-CN" altLang="en-US" sz="1800" dirty="0"/>
              <a:t>离散变量：所有小于等于</a:t>
            </a:r>
            <a:r>
              <a:rPr lang="en-US" altLang="zh-CN" sz="1800" dirty="0"/>
              <a:t>a</a:t>
            </a:r>
            <a:r>
              <a:rPr lang="zh-CN" altLang="en-US" sz="1800" dirty="0"/>
              <a:t>的值出现概率的和</a:t>
            </a:r>
            <a:endParaRPr lang="en-US" sz="1800" dirty="0"/>
          </a:p>
        </p:txBody>
      </p:sp>
      <p:pic>
        <p:nvPicPr>
          <p:cNvPr id="4098" name="Picture 2" descr="https://gss1.bdstatic.com/-vo3dSag_xI4khGkpoWK1HF6hhy/baike/pic/item/bd315c6034a85edfd874f6a542540923dc5475b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0"/>
            <a:ext cx="64294" cy="571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9250" y="1068225"/>
            <a:ext cx="1934165" cy="285369"/>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887" y="2071399"/>
            <a:ext cx="988865" cy="2639839"/>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2133"/>
          <a:stretch/>
        </p:blipFill>
        <p:spPr>
          <a:xfrm>
            <a:off x="4951724" y="1910421"/>
            <a:ext cx="2889215" cy="2800817"/>
          </a:xfrm>
          <a:prstGeom prst="rect">
            <a:avLst/>
          </a:prstGeom>
        </p:spPr>
      </p:pic>
    </p:spTree>
    <p:extLst>
      <p:ext uri="{BB962C8B-B14F-4D97-AF65-F5344CB8AC3E}">
        <p14:creationId xmlns:p14="http://schemas.microsoft.com/office/powerpoint/2010/main" val="2108518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累计分布图的示例</a:t>
            </a:r>
            <a:endParaRPr lang="en-US" dirty="0"/>
          </a:p>
        </p:txBody>
      </p:sp>
      <p:pic>
        <p:nvPicPr>
          <p:cNvPr id="5" name="Content Placeholder 4"/>
          <p:cNvPicPr>
            <a:picLocks noGrp="1" noChangeAspect="1"/>
          </p:cNvPicPr>
          <p:nvPr>
            <p:ph idx="1"/>
          </p:nvPr>
        </p:nvPicPr>
        <p:blipFill>
          <a:blip r:embed="rId2"/>
          <a:stretch>
            <a:fillRect/>
          </a:stretch>
        </p:blipFill>
        <p:spPr>
          <a:xfrm>
            <a:off x="331470" y="853440"/>
            <a:ext cx="6012180" cy="3046576"/>
          </a:xfrm>
          <a:prstGeom prst="rect">
            <a:avLst/>
          </a:prstGeom>
        </p:spPr>
      </p:pic>
      <p:sp>
        <p:nvSpPr>
          <p:cNvPr id="4" name="Slide Number Placeholder 3"/>
          <p:cNvSpPr>
            <a:spLocks noGrp="1"/>
          </p:cNvSpPr>
          <p:nvPr>
            <p:ph type="sldNum" sz="quarter" idx="12"/>
          </p:nvPr>
        </p:nvSpPr>
        <p:spPr/>
        <p:txBody>
          <a:bodyPr/>
          <a:lstStyle/>
          <a:p>
            <a:fld id="{E1BEBC7A-FD02-486B-81B5-A845787C689C}" type="slidenum">
              <a:rPr lang="zh-CN" altLang="en-US" smtClean="0"/>
              <a:t>16</a:t>
            </a:fld>
            <a:endParaRPr lang="zh-CN" altLang="en-US"/>
          </a:p>
        </p:txBody>
      </p:sp>
      <p:sp>
        <p:nvSpPr>
          <p:cNvPr id="7" name="Rectangle 6"/>
          <p:cNvSpPr/>
          <p:nvPr/>
        </p:nvSpPr>
        <p:spPr>
          <a:xfrm>
            <a:off x="6630230" y="1065169"/>
            <a:ext cx="2308318" cy="2308324"/>
          </a:xfrm>
          <a:prstGeom prst="rect">
            <a:avLst/>
          </a:prstGeom>
        </p:spPr>
        <p:txBody>
          <a:bodyPr wrap="square">
            <a:spAutoFit/>
          </a:bodyPr>
          <a:lstStyle/>
          <a:p>
            <a:r>
              <a:rPr lang="zh-CN" altLang="en-US" b="1" dirty="0">
                <a:solidFill>
                  <a:srgbClr val="C00000"/>
                </a:solidFill>
                <a:latin typeface="Helvetica Neue" charset="0"/>
              </a:rPr>
              <a:t>左侧的红色、蓝色、橙色、绿色的四条线分别代表了：</a:t>
            </a:r>
            <a:endParaRPr lang="en-US" altLang="zh-CN" b="1" dirty="0">
              <a:solidFill>
                <a:srgbClr val="C00000"/>
              </a:solidFill>
              <a:latin typeface="Helvetica Neue" charset="0"/>
            </a:endParaRPr>
          </a:p>
          <a:p>
            <a:endParaRPr lang="en-US" altLang="zh-CN" b="1" dirty="0">
              <a:solidFill>
                <a:srgbClr val="C00000"/>
              </a:solidFill>
              <a:latin typeface="Helvetica Neue" charset="0"/>
            </a:endParaRPr>
          </a:p>
          <a:p>
            <a:pPr marL="342900" indent="-342900">
              <a:buAutoNum type="alphaUcPeriod"/>
            </a:pPr>
            <a:r>
              <a:rPr lang="zh-CN" altLang="en-US" b="1" dirty="0">
                <a:solidFill>
                  <a:srgbClr val="C00000"/>
                </a:solidFill>
                <a:latin typeface="Helvetica Neue" charset="0"/>
              </a:rPr>
              <a:t>惜春</a:t>
            </a:r>
            <a:endParaRPr lang="en-US" altLang="zh-CN" b="1" dirty="0">
              <a:solidFill>
                <a:srgbClr val="C00000"/>
              </a:solidFill>
              <a:latin typeface="Helvetica Neue" charset="0"/>
            </a:endParaRPr>
          </a:p>
          <a:p>
            <a:pPr marL="342900" indent="-342900">
              <a:buAutoNum type="alphaUcPeriod"/>
            </a:pPr>
            <a:r>
              <a:rPr lang="zh-CN" altLang="en-US" b="1" dirty="0">
                <a:solidFill>
                  <a:srgbClr val="C00000"/>
                </a:solidFill>
                <a:latin typeface="Helvetica Neue" charset="0"/>
              </a:rPr>
              <a:t>迎春</a:t>
            </a:r>
            <a:endParaRPr lang="en-US" altLang="zh-CN" b="1" dirty="0">
              <a:solidFill>
                <a:srgbClr val="C00000"/>
              </a:solidFill>
              <a:latin typeface="Helvetica Neue" charset="0"/>
            </a:endParaRPr>
          </a:p>
          <a:p>
            <a:pPr marL="342900" indent="-342900">
              <a:buAutoNum type="alphaUcPeriod"/>
            </a:pPr>
            <a:r>
              <a:rPr lang="zh-CN" altLang="en-US" b="1" dirty="0">
                <a:solidFill>
                  <a:srgbClr val="C00000"/>
                </a:solidFill>
                <a:latin typeface="Helvetica Neue" charset="0"/>
              </a:rPr>
              <a:t>探春</a:t>
            </a:r>
            <a:endParaRPr lang="en-US" altLang="zh-CN" b="1" dirty="0">
              <a:solidFill>
                <a:srgbClr val="C00000"/>
              </a:solidFill>
              <a:latin typeface="Helvetica Neue" charset="0"/>
            </a:endParaRPr>
          </a:p>
          <a:p>
            <a:pPr marL="342900" indent="-342900">
              <a:buAutoNum type="alphaUcPeriod"/>
            </a:pPr>
            <a:r>
              <a:rPr lang="zh-CN" altLang="en-US" b="1" dirty="0">
                <a:solidFill>
                  <a:srgbClr val="C00000"/>
                </a:solidFill>
                <a:latin typeface="Helvetica Neue" charset="0"/>
              </a:rPr>
              <a:t>元春</a:t>
            </a:r>
            <a:endParaRPr lang="en-US" altLang="zh-CN" b="1" dirty="0">
              <a:solidFill>
                <a:srgbClr val="C00000"/>
              </a:solidFill>
              <a:latin typeface="Helvetica Neue" charset="0"/>
            </a:endParaRPr>
          </a:p>
        </p:txBody>
      </p:sp>
    </p:spTree>
    <p:extLst>
      <p:ext uri="{BB962C8B-B14F-4D97-AF65-F5344CB8AC3E}">
        <p14:creationId xmlns:p14="http://schemas.microsoft.com/office/powerpoint/2010/main" val="103622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箱线图</a:t>
            </a:r>
            <a:endParaRPr lang="en-US" dirty="0"/>
          </a:p>
        </p:txBody>
      </p:sp>
      <p:sp>
        <p:nvSpPr>
          <p:cNvPr id="3" name="Content Placeholder 2"/>
          <p:cNvSpPr>
            <a:spLocks noGrp="1"/>
          </p:cNvSpPr>
          <p:nvPr>
            <p:ph idx="1"/>
          </p:nvPr>
        </p:nvSpPr>
        <p:spPr/>
        <p:txBody>
          <a:bodyPr/>
          <a:lstStyle/>
          <a:p>
            <a:r>
              <a:rPr lang="zh-CN" altLang="en-US" dirty="0"/>
              <a:t>通过图形的方式表示数据的</a:t>
            </a:r>
            <a:endParaRPr lang="en-US" altLang="zh-CN" dirty="0"/>
          </a:p>
          <a:p>
            <a:pPr lvl="1"/>
            <a:r>
              <a:rPr lang="en-US" dirty="0"/>
              <a:t>Min, 25% Quartile, Median, 75% Quartile, Max</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183" y="1830062"/>
            <a:ext cx="5161633" cy="1915176"/>
          </a:xfrm>
          <a:prstGeom prst="rect">
            <a:avLst/>
          </a:prstGeom>
        </p:spPr>
      </p:pic>
    </p:spTree>
    <p:extLst>
      <p:ext uri="{BB962C8B-B14F-4D97-AF65-F5344CB8AC3E}">
        <p14:creationId xmlns:p14="http://schemas.microsoft.com/office/powerpoint/2010/main" val="7020724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箱线图</a:t>
            </a:r>
            <a:endParaRPr lang="en-US" dirty="0"/>
          </a:p>
        </p:txBody>
      </p:sp>
      <p:sp>
        <p:nvSpPr>
          <p:cNvPr id="3" name="Content Placeholder 2"/>
          <p:cNvSpPr>
            <a:spLocks noGrp="1"/>
          </p:cNvSpPr>
          <p:nvPr>
            <p:ph idx="1"/>
          </p:nvPr>
        </p:nvSpPr>
        <p:spPr>
          <a:xfrm>
            <a:off x="457200" y="819149"/>
            <a:ext cx="3834384" cy="3810499"/>
          </a:xfrm>
        </p:spPr>
        <p:txBody>
          <a:bodyPr>
            <a:normAutofit/>
          </a:bodyPr>
          <a:lstStyle/>
          <a:p>
            <a:r>
              <a:rPr lang="en-US" dirty="0"/>
              <a:t>Find the median, lower quartile and upper quartile of the following numbers.</a:t>
            </a:r>
          </a:p>
          <a:p>
            <a:pPr lvl="1"/>
            <a:r>
              <a:rPr lang="en-US" sz="1500" dirty="0"/>
              <a:t>The </a:t>
            </a:r>
            <a:r>
              <a:rPr lang="en-US" sz="1500" b="1" dirty="0"/>
              <a:t>median</a:t>
            </a:r>
            <a:r>
              <a:rPr lang="en-US" sz="1500" dirty="0"/>
              <a:t> divides the data into a lower half and an upper half.</a:t>
            </a:r>
            <a:br>
              <a:rPr lang="en-US" sz="1500" dirty="0"/>
            </a:br>
            <a:r>
              <a:rPr lang="en-US" sz="1500" dirty="0"/>
              <a:t>The </a:t>
            </a:r>
            <a:r>
              <a:rPr lang="en-US" sz="1500" b="1" dirty="0"/>
              <a:t>lower quartile</a:t>
            </a:r>
            <a:r>
              <a:rPr lang="en-US" sz="1500" dirty="0"/>
              <a:t> is the middle value of the lower half.</a:t>
            </a:r>
            <a:br>
              <a:rPr lang="en-US" sz="1500" dirty="0"/>
            </a:br>
            <a:r>
              <a:rPr lang="en-US" sz="1500" dirty="0"/>
              <a:t>The </a:t>
            </a:r>
            <a:r>
              <a:rPr lang="en-US" sz="1500" b="1" dirty="0"/>
              <a:t>upper quartile </a:t>
            </a:r>
            <a:r>
              <a:rPr lang="en-US" sz="1500" dirty="0"/>
              <a:t>is the middle value of the upper half.</a:t>
            </a:r>
            <a:endParaRPr lang="en-US" dirty="0"/>
          </a:p>
          <a:p>
            <a:endParaRPr lang="en-US" dirty="0"/>
          </a:p>
        </p:txBody>
      </p:sp>
      <p:sp>
        <p:nvSpPr>
          <p:cNvPr id="5" name="Rectangle 4"/>
          <p:cNvSpPr/>
          <p:nvPr/>
        </p:nvSpPr>
        <p:spPr>
          <a:xfrm>
            <a:off x="2641306" y="3794672"/>
            <a:ext cx="2308318" cy="461665"/>
          </a:xfrm>
          <a:prstGeom prst="rect">
            <a:avLst/>
          </a:prstGeom>
        </p:spPr>
        <p:txBody>
          <a:bodyPr wrap="square">
            <a:spAutoFit/>
          </a:bodyPr>
          <a:lstStyle/>
          <a:p>
            <a:r>
              <a:rPr lang="zh-CN" altLang="en-US" sz="2400" b="1" dirty="0">
                <a:solidFill>
                  <a:srgbClr val="C00000"/>
                </a:solidFill>
                <a:latin typeface="Helvetica Neue" charset="0"/>
              </a:rPr>
              <a:t>课堂练习</a:t>
            </a:r>
            <a:endParaRPr lang="en-US" altLang="zh-CN" sz="2400" b="1" dirty="0">
              <a:solidFill>
                <a:srgbClr val="C00000"/>
              </a:solidFill>
              <a:latin typeface="Helvetica Neue" charset="0"/>
            </a:endParaRPr>
          </a:p>
        </p:txBody>
      </p:sp>
      <p:sp>
        <p:nvSpPr>
          <p:cNvPr id="6" name="Rectangle 5"/>
          <p:cNvSpPr/>
          <p:nvPr/>
        </p:nvSpPr>
        <p:spPr>
          <a:xfrm>
            <a:off x="2052829" y="3794672"/>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0566" y="819149"/>
            <a:ext cx="4112602" cy="3830916"/>
          </a:xfrm>
          <a:prstGeom prst="rect">
            <a:avLst/>
          </a:prstGeom>
        </p:spPr>
      </p:pic>
    </p:spTree>
    <p:extLst>
      <p:ext uri="{BB962C8B-B14F-4D97-AF65-F5344CB8AC3E}">
        <p14:creationId xmlns:p14="http://schemas.microsoft.com/office/powerpoint/2010/main" val="1549370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柱状图</a:t>
            </a:r>
            <a:endParaRPr lang="en-US" dirty="0"/>
          </a:p>
        </p:txBody>
      </p:sp>
      <p:sp>
        <p:nvSpPr>
          <p:cNvPr id="3" name="Content Placeholder 2"/>
          <p:cNvSpPr>
            <a:spLocks noGrp="1"/>
          </p:cNvSpPr>
          <p:nvPr>
            <p:ph idx="1"/>
          </p:nvPr>
        </p:nvSpPr>
        <p:spPr/>
        <p:txBody>
          <a:bodyPr/>
          <a:lstStyle/>
          <a:p>
            <a:r>
              <a:rPr lang="zh-CN" altLang="en-US" dirty="0"/>
              <a:t>一个变量为离散型（</a:t>
            </a:r>
            <a:r>
              <a:rPr lang="en-US" altLang="zh-CN" dirty="0"/>
              <a:t>Categorical</a:t>
            </a:r>
            <a:r>
              <a:rPr lang="zh-CN" altLang="en-US" dirty="0"/>
              <a:t>）</a:t>
            </a: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331" y="1446883"/>
            <a:ext cx="6957963" cy="3023517"/>
          </a:xfrm>
          <a:prstGeom prst="rect">
            <a:avLst/>
          </a:prstGeom>
        </p:spPr>
      </p:pic>
    </p:spTree>
    <p:extLst>
      <p:ext uri="{BB962C8B-B14F-4D97-AF65-F5344CB8AC3E}">
        <p14:creationId xmlns:p14="http://schemas.microsoft.com/office/powerpoint/2010/main" val="496094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线条图</a:t>
            </a:r>
            <a:endParaRPr lang="en-US" dirty="0"/>
          </a:p>
        </p:txBody>
      </p:sp>
      <p:sp>
        <p:nvSpPr>
          <p:cNvPr id="3" name="Content Placeholder 2"/>
          <p:cNvSpPr>
            <a:spLocks noGrp="1"/>
          </p:cNvSpPr>
          <p:nvPr>
            <p:ph idx="1"/>
          </p:nvPr>
        </p:nvSpPr>
        <p:spPr/>
        <p:txBody>
          <a:bodyPr/>
          <a:lstStyle/>
          <a:p>
            <a:r>
              <a:rPr lang="zh-CN" altLang="en-US" dirty="0"/>
              <a:t>一个变量为数值型 </a:t>
            </a:r>
            <a:r>
              <a:rPr lang="mr-IN" altLang="zh-CN" dirty="0"/>
              <a:t>–</a:t>
            </a:r>
            <a:r>
              <a:rPr lang="zh-CN" altLang="en-US" dirty="0"/>
              <a:t> 看趋势</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85" y="1442943"/>
            <a:ext cx="7431315" cy="3052325"/>
          </a:xfrm>
          <a:prstGeom prst="rect">
            <a:avLst/>
          </a:prstGeom>
        </p:spPr>
      </p:pic>
    </p:spTree>
    <p:extLst>
      <p:ext uri="{BB962C8B-B14F-4D97-AF65-F5344CB8AC3E}">
        <p14:creationId xmlns:p14="http://schemas.microsoft.com/office/powerpoint/2010/main" val="1111293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热力图</a:t>
            </a:r>
            <a:endParaRPr lang="en-US" dirty="0"/>
          </a:p>
        </p:txBody>
      </p:sp>
      <p:sp>
        <p:nvSpPr>
          <p:cNvPr id="3" name="Content Placeholder 2"/>
          <p:cNvSpPr>
            <a:spLocks noGrp="1"/>
          </p:cNvSpPr>
          <p:nvPr>
            <p:ph idx="1"/>
          </p:nvPr>
        </p:nvSpPr>
        <p:spPr/>
        <p:txBody>
          <a:bodyPr/>
          <a:lstStyle/>
          <a:p>
            <a:r>
              <a:rPr lang="zh-CN" altLang="en-US" dirty="0"/>
              <a:t>两个变量均为离散型，计算相关性</a:t>
            </a:r>
            <a:endParaRPr lang="en-US" dirty="0"/>
          </a:p>
        </p:txBody>
      </p:sp>
      <p:pic>
        <p:nvPicPr>
          <p:cNvPr id="5" name="Picture 4" descr="Table&#10;&#10;Description automatically generated">
            <a:extLst>
              <a:ext uri="{FF2B5EF4-FFF2-40B4-BE49-F238E27FC236}">
                <a16:creationId xmlns:a16="http://schemas.microsoft.com/office/drawing/2014/main" id="{E2D65902-2029-154A-9A02-2CCA68F5B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478" y="1224758"/>
            <a:ext cx="2136768" cy="1586798"/>
          </a:xfrm>
          <a:prstGeom prst="rect">
            <a:avLst/>
          </a:prstGeom>
        </p:spPr>
      </p:pic>
      <p:pic>
        <p:nvPicPr>
          <p:cNvPr id="9" name="Picture 8" descr="Table&#10;&#10;Description automatically generated">
            <a:extLst>
              <a:ext uri="{FF2B5EF4-FFF2-40B4-BE49-F238E27FC236}">
                <a16:creationId xmlns:a16="http://schemas.microsoft.com/office/drawing/2014/main" id="{EAAF5E35-E795-4F40-A799-EE21B7F430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479" y="3223932"/>
            <a:ext cx="2136767" cy="1532218"/>
          </a:xfrm>
          <a:prstGeom prst="rect">
            <a:avLst/>
          </a:prstGeom>
        </p:spPr>
      </p:pic>
      <p:cxnSp>
        <p:nvCxnSpPr>
          <p:cNvPr id="10" name="Google Shape;104;p16">
            <a:extLst>
              <a:ext uri="{FF2B5EF4-FFF2-40B4-BE49-F238E27FC236}">
                <a16:creationId xmlns:a16="http://schemas.microsoft.com/office/drawing/2014/main" id="{C5AAB4AB-3DCA-654D-AC7F-6DCC723EC4AB}"/>
              </a:ext>
            </a:extLst>
          </p:cNvPr>
          <p:cNvCxnSpPr>
            <a:cxnSpLocks/>
            <a:stCxn id="5" idx="2"/>
            <a:endCxn id="9" idx="0"/>
          </p:cNvCxnSpPr>
          <p:nvPr/>
        </p:nvCxnSpPr>
        <p:spPr>
          <a:xfrm>
            <a:off x="2183862" y="2811556"/>
            <a:ext cx="1" cy="412376"/>
          </a:xfrm>
          <a:prstGeom prst="straightConnector1">
            <a:avLst/>
          </a:prstGeom>
          <a:noFill/>
          <a:ln w="38100" cap="flat" cmpd="sng">
            <a:solidFill>
              <a:schemeClr val="accent1"/>
            </a:solidFill>
            <a:prstDash val="solid"/>
            <a:round/>
            <a:headEnd type="none" w="med" len="med"/>
            <a:tailEnd type="triangle" w="med" len="med"/>
          </a:ln>
        </p:spPr>
      </p:cxnSp>
      <p:pic>
        <p:nvPicPr>
          <p:cNvPr id="2050" name="Picture 2">
            <a:extLst>
              <a:ext uri="{FF2B5EF4-FFF2-40B4-BE49-F238E27FC236}">
                <a16:creationId xmlns:a16="http://schemas.microsoft.com/office/drawing/2014/main" id="{7F6DB51B-D41D-D04B-B245-0E5C361F11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8814" y="1224758"/>
            <a:ext cx="4749800" cy="3416300"/>
          </a:xfrm>
          <a:prstGeom prst="rect">
            <a:avLst/>
          </a:prstGeom>
          <a:noFill/>
          <a:extLst>
            <a:ext uri="{909E8E84-426E-40DD-AFC4-6F175D3DCCD1}">
              <a14:hiddenFill xmlns:a14="http://schemas.microsoft.com/office/drawing/2010/main">
                <a:solidFill>
                  <a:srgbClr val="FFFFFF"/>
                </a:solidFill>
              </a14:hiddenFill>
            </a:ext>
          </a:extLst>
        </p:spPr>
      </p:pic>
      <p:sp>
        <p:nvSpPr>
          <p:cNvPr id="14" name="Right Arrow 13">
            <a:extLst>
              <a:ext uri="{FF2B5EF4-FFF2-40B4-BE49-F238E27FC236}">
                <a16:creationId xmlns:a16="http://schemas.microsoft.com/office/drawing/2014/main" id="{49C0B7D2-92EE-5B45-B700-63C3908E8FD5}"/>
              </a:ext>
            </a:extLst>
          </p:cNvPr>
          <p:cNvSpPr/>
          <p:nvPr/>
        </p:nvSpPr>
        <p:spPr>
          <a:xfrm>
            <a:off x="3479800" y="2726720"/>
            <a:ext cx="457200" cy="291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Tree>
    <p:extLst>
      <p:ext uri="{BB962C8B-B14F-4D97-AF65-F5344CB8AC3E}">
        <p14:creationId xmlns:p14="http://schemas.microsoft.com/office/powerpoint/2010/main" val="2105387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Matplotlib</a:t>
            </a:r>
            <a:r>
              <a:rPr lang="zh-CN" altLang="en-US" dirty="0"/>
              <a:t>库</a:t>
            </a:r>
            <a:endParaRPr lang="en-US" dirty="0"/>
          </a:p>
        </p:txBody>
      </p:sp>
      <p:sp>
        <p:nvSpPr>
          <p:cNvPr id="3" name="Content Placeholder 2"/>
          <p:cNvSpPr>
            <a:spLocks noGrp="1"/>
          </p:cNvSpPr>
          <p:nvPr>
            <p:ph idx="1"/>
          </p:nvPr>
        </p:nvSpPr>
        <p:spPr/>
        <p:txBody>
          <a:bodyPr/>
          <a:lstStyle/>
          <a:p>
            <a:r>
              <a:rPr lang="en-US" altLang="zh-CN" dirty="0" err="1"/>
              <a:t>matplotlib</a:t>
            </a:r>
            <a:r>
              <a:rPr lang="en-US" altLang="zh-CN" dirty="0"/>
              <a:t> </a:t>
            </a:r>
            <a:r>
              <a:rPr lang="zh-CN" altLang="en-US" dirty="0"/>
              <a:t>是</a:t>
            </a:r>
            <a:r>
              <a:rPr lang="en-US" altLang="zh-CN" dirty="0"/>
              <a:t>python</a:t>
            </a:r>
            <a:r>
              <a:rPr lang="zh-CN" altLang="en-US" dirty="0"/>
              <a:t>最著名的绘图库，它提供了一整套和</a:t>
            </a:r>
            <a:r>
              <a:rPr lang="en-US" altLang="zh-CN" dirty="0" err="1"/>
              <a:t>matlab</a:t>
            </a:r>
            <a:r>
              <a:rPr lang="zh-CN" altLang="en-US" dirty="0"/>
              <a:t>相似的命令</a:t>
            </a:r>
            <a:r>
              <a:rPr lang="en-US" altLang="zh-CN" dirty="0"/>
              <a:t>API</a:t>
            </a:r>
            <a:r>
              <a:rPr lang="zh-CN" altLang="en-US" dirty="0"/>
              <a:t>，十分适合交互式地行制图</a:t>
            </a:r>
          </a:p>
          <a:p>
            <a:r>
              <a:rPr lang="en-US" altLang="zh-CN" dirty="0" err="1"/>
              <a:t>Matlab</a:t>
            </a:r>
            <a:r>
              <a:rPr lang="zh-CN" altLang="en-US" dirty="0"/>
              <a:t>的语法、</a:t>
            </a:r>
            <a:r>
              <a:rPr lang="en-US" altLang="zh-CN" dirty="0"/>
              <a:t>python</a:t>
            </a:r>
            <a:r>
              <a:rPr lang="zh-CN" altLang="en-US" dirty="0"/>
              <a:t>语言、</a:t>
            </a:r>
            <a:r>
              <a:rPr lang="en-US" altLang="zh-CN" dirty="0"/>
              <a:t>latex</a:t>
            </a:r>
            <a:r>
              <a:rPr lang="zh-CN" altLang="en-US" dirty="0"/>
              <a:t>的画图质量（还可以使用内嵌的</a:t>
            </a:r>
            <a:r>
              <a:rPr lang="en-US" altLang="zh-CN" dirty="0"/>
              <a:t>latex</a:t>
            </a:r>
            <a:r>
              <a:rPr lang="zh-CN" altLang="en-US" dirty="0"/>
              <a:t>引擎绘制的数学公式）</a:t>
            </a:r>
          </a:p>
          <a:p>
            <a:r>
              <a:rPr lang="zh-CN" altLang="en-US" dirty="0"/>
              <a:t>通过</a:t>
            </a:r>
            <a:r>
              <a:rPr lang="en-US" altLang="zh-CN" dirty="0" err="1"/>
              <a:t>pyplot</a:t>
            </a:r>
            <a:r>
              <a:rPr lang="zh-CN" altLang="en-US" dirty="0"/>
              <a:t>模块提供了一套和</a:t>
            </a:r>
            <a:r>
              <a:rPr lang="en-US" altLang="zh-CN" dirty="0"/>
              <a:t>MATLAB</a:t>
            </a:r>
            <a:r>
              <a:rPr lang="zh-CN" altLang="en-US" dirty="0"/>
              <a:t>类似的绘图</a:t>
            </a:r>
            <a:r>
              <a:rPr lang="en-US" altLang="zh-CN" dirty="0"/>
              <a:t>API</a:t>
            </a:r>
            <a:r>
              <a:rPr lang="zh-CN" altLang="en-US" dirty="0"/>
              <a:t>，将众多绘图对象所构成的复杂结构隐藏在这套</a:t>
            </a:r>
            <a:r>
              <a:rPr lang="en-US" altLang="zh-CN" dirty="0"/>
              <a:t>API</a:t>
            </a:r>
            <a:r>
              <a:rPr lang="zh-CN" altLang="en-US" dirty="0"/>
              <a:t>内部，其中最重要的函数是</a:t>
            </a:r>
            <a:r>
              <a:rPr lang="en-US" altLang="zh-CN" dirty="0"/>
              <a:t>Plot</a:t>
            </a:r>
            <a:r>
              <a:rPr lang="zh-CN" altLang="en-US" dirty="0"/>
              <a:t>。该函数允许你做出</a:t>
            </a:r>
            <a:r>
              <a:rPr lang="en-US" altLang="zh-CN" dirty="0"/>
              <a:t>2D</a:t>
            </a:r>
            <a:r>
              <a:rPr lang="zh-CN" altLang="en-US" dirty="0"/>
              <a:t>图形</a:t>
            </a:r>
          </a:p>
          <a:p>
            <a:r>
              <a:rPr lang="zh-CN" altLang="en-US" dirty="0"/>
              <a:t>引入</a:t>
            </a:r>
            <a:r>
              <a:rPr lang="en-US" altLang="zh-CN" dirty="0" err="1"/>
              <a:t>matplotlib</a:t>
            </a:r>
            <a:r>
              <a:rPr lang="zh-CN" altLang="en-US" dirty="0"/>
              <a:t>库</a:t>
            </a:r>
            <a:endParaRPr lang="en-US" dirty="0"/>
          </a:p>
        </p:txBody>
      </p:sp>
      <p:sp>
        <p:nvSpPr>
          <p:cNvPr id="4" name="Rectangle 3">
            <a:extLst>
              <a:ext uri="{FF2B5EF4-FFF2-40B4-BE49-F238E27FC236}">
                <a16:creationId xmlns:a16="http://schemas.microsoft.com/office/drawing/2014/main" id="{AA89848C-010B-433A-8C5C-86AA0A401ECF}"/>
              </a:ext>
            </a:extLst>
          </p:cNvPr>
          <p:cNvSpPr/>
          <p:nvPr/>
        </p:nvSpPr>
        <p:spPr>
          <a:xfrm>
            <a:off x="3215390" y="3414267"/>
            <a:ext cx="4572000" cy="830997"/>
          </a:xfrm>
          <a:prstGeom prst="rect">
            <a:avLst/>
          </a:prstGeom>
        </p:spPr>
        <p:txBody>
          <a:bodyPr>
            <a:spAutoFit/>
          </a:bodyPr>
          <a:lstStyle/>
          <a:p>
            <a:r>
              <a:rPr lang="en-US" sz="2400" dirty="0">
                <a:solidFill>
                  <a:srgbClr val="C00000"/>
                </a:solidFill>
              </a:rPr>
              <a:t>import </a:t>
            </a:r>
            <a:r>
              <a:rPr lang="en-US" sz="2400" dirty="0" err="1">
                <a:solidFill>
                  <a:srgbClr val="C00000"/>
                </a:solidFill>
              </a:rPr>
              <a:t>numpy</a:t>
            </a:r>
            <a:r>
              <a:rPr lang="en-US" sz="2400" dirty="0">
                <a:solidFill>
                  <a:srgbClr val="C00000"/>
                </a:solidFill>
              </a:rPr>
              <a:t> as np</a:t>
            </a:r>
          </a:p>
          <a:p>
            <a:r>
              <a:rPr lang="en-US" sz="2400" dirty="0">
                <a:solidFill>
                  <a:srgbClr val="C00000"/>
                </a:solidFill>
              </a:rPr>
              <a:t>import </a:t>
            </a:r>
            <a:r>
              <a:rPr lang="en-US" sz="2400" dirty="0" err="1">
                <a:solidFill>
                  <a:srgbClr val="C00000"/>
                </a:solidFill>
              </a:rPr>
              <a:t>matplotlib.pyplot</a:t>
            </a:r>
            <a:r>
              <a:rPr lang="en-US" sz="2400" dirty="0">
                <a:solidFill>
                  <a:srgbClr val="C00000"/>
                </a:solidFill>
              </a:rPr>
              <a:t> as </a:t>
            </a:r>
            <a:r>
              <a:rPr lang="en-US" sz="2400" dirty="0" err="1">
                <a:solidFill>
                  <a:srgbClr val="C00000"/>
                </a:solidFill>
              </a:rPr>
              <a:t>plt</a:t>
            </a:r>
            <a:endParaRPr lang="en-US" sz="2400" dirty="0">
              <a:solidFill>
                <a:srgbClr val="C00000"/>
              </a:solidFill>
            </a:endParaRPr>
          </a:p>
        </p:txBody>
      </p:sp>
    </p:spTree>
    <p:extLst>
      <p:ext uri="{BB962C8B-B14F-4D97-AF65-F5344CB8AC3E}">
        <p14:creationId xmlns:p14="http://schemas.microsoft.com/office/powerpoint/2010/main" val="1714239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Matplotlib</a:t>
            </a:r>
            <a:r>
              <a:rPr lang="en-US" dirty="0"/>
              <a:t> </a:t>
            </a:r>
            <a:r>
              <a:rPr lang="zh-CN" altLang="en-US" dirty="0"/>
              <a:t>对象总览</a:t>
            </a:r>
            <a:endParaRPr lang="en-US" dirty="0"/>
          </a:p>
        </p:txBody>
      </p:sp>
      <p:sp>
        <p:nvSpPr>
          <p:cNvPr id="3" name="Content Placeholder 2"/>
          <p:cNvSpPr>
            <a:spLocks noGrp="1"/>
          </p:cNvSpPr>
          <p:nvPr>
            <p:ph idx="1"/>
          </p:nvPr>
        </p:nvSpPr>
        <p:spPr/>
        <p:txBody>
          <a:bodyPr/>
          <a:lstStyle/>
          <a:p>
            <a:r>
              <a:rPr lang="zh-CN" altLang="en-US" dirty="0"/>
              <a:t>在</a:t>
            </a:r>
            <a:r>
              <a:rPr lang="en-US" altLang="zh-CN" dirty="0" err="1"/>
              <a:t>matplotlib</a:t>
            </a:r>
            <a:r>
              <a:rPr lang="zh-CN" altLang="en-US" dirty="0"/>
              <a:t>中，整个图像为一个</a:t>
            </a:r>
            <a:r>
              <a:rPr lang="en-US" altLang="zh-CN" dirty="0"/>
              <a:t>Figure</a:t>
            </a:r>
            <a:r>
              <a:rPr lang="zh-CN" altLang="en-US" dirty="0"/>
              <a:t>对象。在</a:t>
            </a:r>
            <a:r>
              <a:rPr lang="en-US" altLang="zh-CN" dirty="0"/>
              <a:t>Figure</a:t>
            </a:r>
            <a:r>
              <a:rPr lang="zh-CN" altLang="en-US" dirty="0"/>
              <a:t>对象中可以包含一个，或者多个</a:t>
            </a:r>
            <a:r>
              <a:rPr lang="en-US" altLang="zh-CN" dirty="0"/>
              <a:t>Axes</a:t>
            </a:r>
            <a:r>
              <a:rPr lang="zh-CN" altLang="en-US" dirty="0"/>
              <a:t>对象（子图</a:t>
            </a:r>
            <a:r>
              <a:rPr lang="en-US" altLang="zh-CN" dirty="0"/>
              <a:t>)</a:t>
            </a:r>
            <a:r>
              <a:rPr lang="zh-CN" altLang="en-US" dirty="0"/>
              <a:t>。每个</a:t>
            </a:r>
            <a:r>
              <a:rPr lang="en-US" altLang="zh-CN" dirty="0"/>
              <a:t>Axes</a:t>
            </a:r>
            <a:r>
              <a:rPr lang="zh-CN" altLang="en-US" dirty="0"/>
              <a:t>对象都是一个拥有自己坐标系统的绘图区域。其逻辑关系如下</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23</a:t>
            </a:fld>
            <a:endParaRPr lang="zh-CN" altLang="en-US"/>
          </a:p>
        </p:txBody>
      </p:sp>
      <p:pic>
        <p:nvPicPr>
          <p:cNvPr id="5" name="Picture 4">
            <a:extLst>
              <a:ext uri="{FF2B5EF4-FFF2-40B4-BE49-F238E27FC236}">
                <a16:creationId xmlns:a16="http://schemas.microsoft.com/office/drawing/2014/main" id="{3235C062-A9D4-418A-B050-B706CF9BF6B7}"/>
              </a:ext>
            </a:extLst>
          </p:cNvPr>
          <p:cNvPicPr>
            <a:picLocks noChangeAspect="1"/>
          </p:cNvPicPr>
          <p:nvPr/>
        </p:nvPicPr>
        <p:blipFill>
          <a:blip r:embed="rId3"/>
          <a:stretch>
            <a:fillRect/>
          </a:stretch>
        </p:blipFill>
        <p:spPr>
          <a:xfrm>
            <a:off x="1914646" y="1917236"/>
            <a:ext cx="4936209" cy="2838914"/>
          </a:xfrm>
          <a:prstGeom prst="rect">
            <a:avLst/>
          </a:prstGeom>
        </p:spPr>
      </p:pic>
    </p:spTree>
    <p:extLst>
      <p:ext uri="{BB962C8B-B14F-4D97-AF65-F5344CB8AC3E}">
        <p14:creationId xmlns:p14="http://schemas.microsoft.com/office/powerpoint/2010/main" val="575407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Matplotlib</a:t>
            </a:r>
            <a:r>
              <a:rPr lang="en-US" dirty="0"/>
              <a:t> 对象总览(2)</a:t>
            </a:r>
          </a:p>
        </p:txBody>
      </p:sp>
      <p:sp>
        <p:nvSpPr>
          <p:cNvPr id="3" name="Content Placeholder 2"/>
          <p:cNvSpPr>
            <a:spLocks noGrp="1"/>
          </p:cNvSpPr>
          <p:nvPr>
            <p:ph idx="1"/>
          </p:nvPr>
        </p:nvSpPr>
        <p:spPr>
          <a:xfrm>
            <a:off x="457201" y="819150"/>
            <a:ext cx="4129247" cy="3937000"/>
          </a:xfrm>
        </p:spPr>
        <p:txBody>
          <a:bodyPr>
            <a:normAutofit/>
          </a:bodyPr>
          <a:lstStyle/>
          <a:p>
            <a:r>
              <a:rPr lang="en-US" altLang="zh-CN" dirty="0"/>
              <a:t>Title</a:t>
            </a:r>
            <a:r>
              <a:rPr lang="zh-CN" altLang="en-US" dirty="0"/>
              <a:t>为标题。</a:t>
            </a:r>
            <a:r>
              <a:rPr lang="en-US" altLang="zh-CN" dirty="0"/>
              <a:t>Axis</a:t>
            </a:r>
            <a:r>
              <a:rPr lang="zh-CN" altLang="en-US" dirty="0"/>
              <a:t>为坐标轴，</a:t>
            </a:r>
            <a:r>
              <a:rPr lang="en-US" altLang="zh-CN" dirty="0"/>
              <a:t>Label</a:t>
            </a:r>
            <a:r>
              <a:rPr lang="zh-CN" altLang="en-US" dirty="0"/>
              <a:t>为坐标轴标注。</a:t>
            </a:r>
            <a:r>
              <a:rPr lang="en-US" altLang="zh-CN" dirty="0"/>
              <a:t>Tick</a:t>
            </a:r>
            <a:r>
              <a:rPr lang="zh-CN" altLang="en-US" dirty="0"/>
              <a:t>为刻度线，</a:t>
            </a:r>
            <a:r>
              <a:rPr lang="en-US" altLang="zh-CN" dirty="0"/>
              <a:t>Tick Label</a:t>
            </a:r>
            <a:r>
              <a:rPr lang="zh-CN" altLang="en-US" dirty="0"/>
              <a:t>为刻度注释。</a:t>
            </a:r>
          </a:p>
          <a:p>
            <a:endParaRPr lang="en-US" sz="1800"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24</a:t>
            </a:fld>
            <a:endParaRPr lang="zh-CN" altLang="en-US"/>
          </a:p>
        </p:txBody>
      </p:sp>
      <p:pic>
        <p:nvPicPr>
          <p:cNvPr id="5" name="Picture 4">
            <a:extLst>
              <a:ext uri="{FF2B5EF4-FFF2-40B4-BE49-F238E27FC236}">
                <a16:creationId xmlns:a16="http://schemas.microsoft.com/office/drawing/2014/main" id="{7DA817F2-AB4C-44E4-ABF9-349FE25E5BCC}"/>
              </a:ext>
            </a:extLst>
          </p:cNvPr>
          <p:cNvPicPr>
            <a:picLocks noChangeAspect="1"/>
          </p:cNvPicPr>
          <p:nvPr/>
        </p:nvPicPr>
        <p:blipFill>
          <a:blip r:embed="rId2"/>
          <a:stretch>
            <a:fillRect/>
          </a:stretch>
        </p:blipFill>
        <p:spPr>
          <a:xfrm>
            <a:off x="586394" y="2101601"/>
            <a:ext cx="3870862" cy="2380705"/>
          </a:xfrm>
          <a:prstGeom prst="rect">
            <a:avLst/>
          </a:prstGeom>
        </p:spPr>
      </p:pic>
      <p:pic>
        <p:nvPicPr>
          <p:cNvPr id="6" name="Picture 5">
            <a:extLst>
              <a:ext uri="{FF2B5EF4-FFF2-40B4-BE49-F238E27FC236}">
                <a16:creationId xmlns:a16="http://schemas.microsoft.com/office/drawing/2014/main" id="{7518232A-3B84-4020-9925-BECD90CC09AF}"/>
              </a:ext>
            </a:extLst>
          </p:cNvPr>
          <p:cNvPicPr>
            <a:picLocks noChangeAspect="1"/>
          </p:cNvPicPr>
          <p:nvPr/>
        </p:nvPicPr>
        <p:blipFill>
          <a:blip r:embed="rId3"/>
          <a:stretch>
            <a:fillRect/>
          </a:stretch>
        </p:blipFill>
        <p:spPr>
          <a:xfrm>
            <a:off x="4586448" y="789597"/>
            <a:ext cx="4199037" cy="3871173"/>
          </a:xfrm>
          <a:prstGeom prst="rect">
            <a:avLst/>
          </a:prstGeom>
        </p:spPr>
      </p:pic>
    </p:spTree>
    <p:extLst>
      <p:ext uri="{BB962C8B-B14F-4D97-AF65-F5344CB8AC3E}">
        <p14:creationId xmlns:p14="http://schemas.microsoft.com/office/powerpoint/2010/main" val="634481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基本绘图过程</a:t>
            </a:r>
            <a:endParaRPr lang="en-US" dirty="0"/>
          </a:p>
        </p:txBody>
      </p:sp>
      <p:sp>
        <p:nvSpPr>
          <p:cNvPr id="3" name="Content Placeholder 2"/>
          <p:cNvSpPr>
            <a:spLocks noGrp="1"/>
          </p:cNvSpPr>
          <p:nvPr>
            <p:ph idx="1"/>
          </p:nvPr>
        </p:nvSpPr>
        <p:spPr/>
        <p:txBody>
          <a:bodyPr>
            <a:normAutofit/>
          </a:bodyPr>
          <a:lstStyle/>
          <a:p>
            <a:r>
              <a:rPr lang="zh-CN" altLang="en-US" sz="2175" dirty="0"/>
              <a:t>调用</a:t>
            </a:r>
            <a:r>
              <a:rPr lang="en-US" altLang="zh-CN" sz="2175" dirty="0"/>
              <a:t>figure</a:t>
            </a:r>
            <a:r>
              <a:rPr lang="zh-CN" altLang="en-US" sz="2175" dirty="0"/>
              <a:t>创建一个绘图对象</a:t>
            </a:r>
            <a:endParaRPr lang="en-US" altLang="zh-CN" sz="2175" dirty="0"/>
          </a:p>
          <a:p>
            <a:pPr lvl="1"/>
            <a:r>
              <a:rPr lang="en-US" sz="1875" dirty="0" err="1"/>
              <a:t>plt.figure</a:t>
            </a:r>
            <a:r>
              <a:rPr lang="en-US" sz="1875" dirty="0"/>
              <a:t>(</a:t>
            </a:r>
            <a:r>
              <a:rPr lang="en-US" sz="1875" dirty="0" err="1"/>
              <a:t>figsize</a:t>
            </a:r>
            <a:r>
              <a:rPr lang="en-US" sz="1875" dirty="0"/>
              <a:t>=(8,4))</a:t>
            </a:r>
          </a:p>
          <a:p>
            <a:pPr lvl="2"/>
            <a:r>
              <a:rPr lang="en-US" altLang="zh-CN" sz="1650" dirty="0" err="1"/>
              <a:t>figsize</a:t>
            </a:r>
            <a:r>
              <a:rPr lang="en-US" altLang="zh-CN" sz="1650" dirty="0"/>
              <a:t>: </a:t>
            </a:r>
            <a:r>
              <a:rPr lang="zh-CN" altLang="en-US" sz="1650" dirty="0"/>
              <a:t>指定绘图对象的宽度和高度，单位为英寸</a:t>
            </a:r>
            <a:endParaRPr lang="en-US" altLang="zh-CN" sz="1650" dirty="0"/>
          </a:p>
          <a:p>
            <a:pPr lvl="2"/>
            <a:r>
              <a:rPr lang="en-US" altLang="zh-CN" sz="1650" b="1" dirty="0"/>
              <a:t>dpi</a:t>
            </a:r>
            <a:r>
              <a:rPr lang="en-US" altLang="zh-CN" sz="1650" dirty="0"/>
              <a:t>: </a:t>
            </a:r>
            <a:r>
              <a:rPr lang="zh-CN" altLang="en-US" sz="1650" dirty="0"/>
              <a:t>指定绘图对象的分辨率，每英寸多少个像素，缺省值为</a:t>
            </a:r>
            <a:r>
              <a:rPr lang="en-US" altLang="zh-CN" sz="1650" dirty="0"/>
              <a:t>80</a:t>
            </a:r>
            <a:endParaRPr lang="en-US" sz="1650" dirty="0"/>
          </a:p>
          <a:p>
            <a:pPr lvl="1"/>
            <a:r>
              <a:rPr lang="zh-CN" altLang="en-US" sz="1875" dirty="0"/>
              <a:t>也可以不创建绘图对象直接调用接下来的</a:t>
            </a:r>
            <a:r>
              <a:rPr lang="en-US" altLang="zh-CN" sz="1875" dirty="0"/>
              <a:t>plot</a:t>
            </a:r>
            <a:r>
              <a:rPr lang="zh-CN" altLang="en-US" sz="1875" dirty="0"/>
              <a:t>函数直接绘图，</a:t>
            </a:r>
            <a:r>
              <a:rPr lang="en-US" altLang="zh-CN" sz="1875" dirty="0" err="1"/>
              <a:t>matplotlib</a:t>
            </a:r>
            <a:r>
              <a:rPr lang="zh-CN" altLang="en-US" sz="1875" dirty="0"/>
              <a:t>会为我们自动创建一个绘图对象</a:t>
            </a:r>
            <a:endParaRPr lang="en-US" altLang="zh-CN" sz="1875" dirty="0"/>
          </a:p>
          <a:p>
            <a:pPr lvl="1"/>
            <a:r>
              <a:rPr lang="zh-CN" altLang="en-US" sz="1875" dirty="0"/>
              <a:t>如果需要同时绘制多幅图表的话，可以是给</a:t>
            </a:r>
            <a:r>
              <a:rPr lang="en-US" altLang="zh-CN" sz="1875" dirty="0"/>
              <a:t>figure</a:t>
            </a:r>
            <a:r>
              <a:rPr lang="zh-CN" altLang="en-US" sz="1875" dirty="0"/>
              <a:t>传递一个整数参数指定图标的序号</a:t>
            </a:r>
            <a:endParaRPr lang="en-US" altLang="zh-CN" sz="1875"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25</a:t>
            </a:fld>
            <a:endParaRPr lang="zh-CN" altLang="en-US"/>
          </a:p>
        </p:txBody>
      </p:sp>
    </p:spTree>
    <p:extLst>
      <p:ext uri="{BB962C8B-B14F-4D97-AF65-F5344CB8AC3E}">
        <p14:creationId xmlns:p14="http://schemas.microsoft.com/office/powerpoint/2010/main" val="112178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基本绘图过程</a:t>
            </a:r>
            <a:endParaRPr lang="en-US" dirty="0"/>
          </a:p>
        </p:txBody>
      </p:sp>
      <p:sp>
        <p:nvSpPr>
          <p:cNvPr id="3" name="Content Placeholder 2"/>
          <p:cNvSpPr>
            <a:spLocks noGrp="1"/>
          </p:cNvSpPr>
          <p:nvPr>
            <p:ph idx="1"/>
          </p:nvPr>
        </p:nvSpPr>
        <p:spPr/>
        <p:txBody>
          <a:bodyPr>
            <a:normAutofit/>
          </a:bodyPr>
          <a:lstStyle/>
          <a:p>
            <a:r>
              <a:rPr lang="en-US" altLang="zh-CN" sz="2175" dirty="0"/>
              <a:t>plot</a:t>
            </a:r>
            <a:r>
              <a:rPr lang="zh-CN" altLang="en-US" sz="2175" dirty="0"/>
              <a:t>函数在当前的绘图对象中进行绘图</a:t>
            </a:r>
            <a:endParaRPr lang="en-US" altLang="zh-CN" sz="2175" dirty="0"/>
          </a:p>
          <a:p>
            <a:pPr lvl="1"/>
            <a:r>
              <a:rPr lang="zh-CN" altLang="en-US" sz="1875" dirty="0"/>
              <a:t>实际上</a:t>
            </a:r>
            <a:r>
              <a:rPr lang="en-US" altLang="zh-CN" sz="1875" dirty="0"/>
              <a:t>plot()</a:t>
            </a:r>
            <a:r>
              <a:rPr lang="zh-CN" altLang="en-US" sz="1875" dirty="0"/>
              <a:t>是在</a:t>
            </a:r>
            <a:r>
              <a:rPr lang="en-US" altLang="zh-CN" sz="1875" dirty="0"/>
              <a:t>Axes(</a:t>
            </a:r>
            <a:r>
              <a:rPr lang="zh-CN" altLang="en-US" sz="1875" dirty="0"/>
              <a:t>子图</a:t>
            </a:r>
            <a:r>
              <a:rPr lang="en-US" altLang="zh-CN" sz="1875" dirty="0"/>
              <a:t>)</a:t>
            </a:r>
            <a:r>
              <a:rPr lang="zh-CN" altLang="en-US" sz="1875" dirty="0"/>
              <a:t>对象上绘图</a:t>
            </a:r>
            <a:endParaRPr lang="en-US" altLang="zh-CN" sz="1875" dirty="0"/>
          </a:p>
          <a:p>
            <a:pPr lvl="1"/>
            <a:r>
              <a:rPr lang="zh-CN" altLang="en-US" sz="1875" dirty="0"/>
              <a:t>如果当前的</a:t>
            </a:r>
            <a:r>
              <a:rPr lang="en-US" altLang="zh-CN" sz="1875" dirty="0"/>
              <a:t>Figure</a:t>
            </a:r>
            <a:r>
              <a:rPr lang="zh-CN" altLang="en-US" sz="1875" dirty="0"/>
              <a:t>对象中没有</a:t>
            </a:r>
            <a:r>
              <a:rPr lang="en-US" altLang="zh-CN" sz="1875" dirty="0"/>
              <a:t>Axes</a:t>
            </a:r>
            <a:r>
              <a:rPr lang="zh-CN" altLang="en-US" sz="1875" dirty="0"/>
              <a:t>对象，将会为之创建一个几乎充满整个图表的</a:t>
            </a:r>
            <a:r>
              <a:rPr lang="en-US" altLang="zh-CN" sz="1875" dirty="0"/>
              <a:t>Axes</a:t>
            </a:r>
            <a:r>
              <a:rPr lang="zh-CN" altLang="en-US" sz="1875" dirty="0"/>
              <a:t>对象，并且使此</a:t>
            </a:r>
            <a:r>
              <a:rPr lang="en-US" altLang="zh-CN" sz="1875" dirty="0"/>
              <a:t>Axes</a:t>
            </a:r>
            <a:r>
              <a:rPr lang="zh-CN" altLang="en-US" sz="1875" dirty="0"/>
              <a:t>对象成为当前的</a:t>
            </a:r>
            <a:r>
              <a:rPr lang="en-US" altLang="zh-CN" sz="1875" dirty="0"/>
              <a:t>Axes</a:t>
            </a:r>
            <a:r>
              <a:rPr lang="zh-CN" altLang="en-US" sz="1875" dirty="0"/>
              <a:t>对象</a:t>
            </a:r>
            <a:endParaRPr lang="en-US" altLang="zh-CN" sz="1875" dirty="0"/>
          </a:p>
          <a:p>
            <a:r>
              <a:rPr lang="zh-CN" altLang="en-US" sz="2175" dirty="0"/>
              <a:t>配置对象属性</a:t>
            </a:r>
            <a:endParaRPr lang="en-US" altLang="zh-CN" sz="2175" dirty="0"/>
          </a:p>
          <a:p>
            <a:pPr lvl="1"/>
            <a:r>
              <a:rPr lang="zh-CN" altLang="en-US" sz="1875" dirty="0"/>
              <a:t>通过一系列函数设置当前</a:t>
            </a:r>
            <a:r>
              <a:rPr lang="en-US" altLang="zh-CN" sz="1875" dirty="0"/>
              <a:t>Axes</a:t>
            </a:r>
            <a:r>
              <a:rPr lang="zh-CN" altLang="en-US" sz="1875" dirty="0"/>
              <a:t>对象的各个属性</a:t>
            </a:r>
            <a:endParaRPr lang="en-US" altLang="zh-CN" sz="1875" dirty="0"/>
          </a:p>
          <a:p>
            <a:r>
              <a:rPr lang="zh-CN" altLang="en-US" sz="2175" dirty="0"/>
              <a:t>调用</a:t>
            </a:r>
            <a:r>
              <a:rPr lang="en-US" altLang="zh-CN" sz="2175" dirty="0" err="1"/>
              <a:t>plt.savefig</a:t>
            </a:r>
            <a:r>
              <a:rPr lang="en-US" altLang="zh-CN" sz="2175" dirty="0"/>
              <a:t>()</a:t>
            </a:r>
            <a:r>
              <a:rPr lang="zh-CN" altLang="en-US" sz="2175" dirty="0"/>
              <a:t>将当前的</a:t>
            </a:r>
            <a:r>
              <a:rPr lang="en-US" altLang="zh-CN" sz="2175" dirty="0"/>
              <a:t>Figure</a:t>
            </a:r>
            <a:r>
              <a:rPr lang="zh-CN" altLang="en-US" sz="2175" dirty="0"/>
              <a:t>对象保存成图像文件</a:t>
            </a:r>
            <a:endParaRPr lang="en-US" altLang="zh-CN" sz="2175"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26</a:t>
            </a:fld>
            <a:endParaRPr lang="zh-CN" altLang="en-US"/>
          </a:p>
        </p:txBody>
      </p:sp>
    </p:spTree>
    <p:extLst>
      <p:ext uri="{BB962C8B-B14F-4D97-AF65-F5344CB8AC3E}">
        <p14:creationId xmlns:p14="http://schemas.microsoft.com/office/powerpoint/2010/main" val="1164861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matplotlib.pyplot绘制的常见图形</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27</a:t>
            </a:fld>
            <a:endParaRPr lang="zh-CN" altLang="en-US"/>
          </a:p>
        </p:txBody>
      </p:sp>
      <p:pic>
        <p:nvPicPr>
          <p:cNvPr id="6" name="Content Placeholder 5">
            <a:extLst>
              <a:ext uri="{FF2B5EF4-FFF2-40B4-BE49-F238E27FC236}">
                <a16:creationId xmlns:a16="http://schemas.microsoft.com/office/drawing/2014/main" id="{4B8319A2-8B6F-4F15-9C7C-8F2B87F259AC}"/>
              </a:ext>
            </a:extLst>
          </p:cNvPr>
          <p:cNvPicPr>
            <a:picLocks noGrp="1" noChangeAspect="1"/>
          </p:cNvPicPr>
          <p:nvPr>
            <p:ph idx="1"/>
          </p:nvPr>
        </p:nvPicPr>
        <p:blipFill>
          <a:blip r:embed="rId2"/>
          <a:stretch>
            <a:fillRect/>
          </a:stretch>
        </p:blipFill>
        <p:spPr>
          <a:xfrm>
            <a:off x="1162521" y="819150"/>
            <a:ext cx="6818957" cy="3937000"/>
          </a:xfrm>
          <a:prstGeom prst="rect">
            <a:avLst/>
          </a:prstGeom>
        </p:spPr>
      </p:pic>
    </p:spTree>
    <p:extLst>
      <p:ext uri="{BB962C8B-B14F-4D97-AF65-F5344CB8AC3E}">
        <p14:creationId xmlns:p14="http://schemas.microsoft.com/office/powerpoint/2010/main" val="1368170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画一条直线 </a:t>
            </a:r>
            <a:r>
              <a:rPr lang="en-US" altLang="zh-CN" dirty="0"/>
              <a:t>y=x</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28</a:t>
            </a:fld>
            <a:endParaRPr lang="zh-CN" altLang="en-US"/>
          </a:p>
        </p:txBody>
      </p:sp>
      <p:pic>
        <p:nvPicPr>
          <p:cNvPr id="5" name="Content Placeholder 4">
            <a:extLst>
              <a:ext uri="{FF2B5EF4-FFF2-40B4-BE49-F238E27FC236}">
                <a16:creationId xmlns:a16="http://schemas.microsoft.com/office/drawing/2014/main" id="{04BF235B-2C52-4716-AE82-DF8EF5613E2D}"/>
              </a:ext>
            </a:extLst>
          </p:cNvPr>
          <p:cNvPicPr>
            <a:picLocks noGrp="1" noChangeAspect="1"/>
          </p:cNvPicPr>
          <p:nvPr>
            <p:ph idx="1"/>
          </p:nvPr>
        </p:nvPicPr>
        <p:blipFill>
          <a:blip r:embed="rId2"/>
          <a:stretch>
            <a:fillRect/>
          </a:stretch>
        </p:blipFill>
        <p:spPr>
          <a:xfrm>
            <a:off x="2551223" y="819150"/>
            <a:ext cx="4041554" cy="3937000"/>
          </a:xfrm>
          <a:prstGeom prst="rect">
            <a:avLst/>
          </a:prstGeom>
        </p:spPr>
      </p:pic>
    </p:spTree>
    <p:extLst>
      <p:ext uri="{BB962C8B-B14F-4D97-AF65-F5344CB8AC3E}">
        <p14:creationId xmlns:p14="http://schemas.microsoft.com/office/powerpoint/2010/main" val="1916157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画</a:t>
            </a:r>
            <a:r>
              <a:rPr lang="en-US" altLang="zh-CN" dirty="0"/>
              <a:t>sin</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29</a:t>
            </a:fld>
            <a:endParaRPr lang="zh-CN" altLang="en-US"/>
          </a:p>
        </p:txBody>
      </p:sp>
      <p:pic>
        <p:nvPicPr>
          <p:cNvPr id="5" name="Content Placeholder 4">
            <a:extLst>
              <a:ext uri="{FF2B5EF4-FFF2-40B4-BE49-F238E27FC236}">
                <a16:creationId xmlns:a16="http://schemas.microsoft.com/office/drawing/2014/main" id="{10EE5493-C20E-47CC-8887-2F9524B099AE}"/>
              </a:ext>
            </a:extLst>
          </p:cNvPr>
          <p:cNvPicPr>
            <a:picLocks noGrp="1" noChangeAspect="1"/>
          </p:cNvPicPr>
          <p:nvPr>
            <p:ph idx="1"/>
          </p:nvPr>
        </p:nvPicPr>
        <p:blipFill>
          <a:blip r:embed="rId2"/>
          <a:stretch>
            <a:fillRect/>
          </a:stretch>
        </p:blipFill>
        <p:spPr>
          <a:xfrm>
            <a:off x="2495456" y="819150"/>
            <a:ext cx="4153087" cy="3937000"/>
          </a:xfrm>
          <a:prstGeom prst="rect">
            <a:avLst/>
          </a:prstGeom>
        </p:spPr>
      </p:pic>
    </p:spTree>
    <p:extLst>
      <p:ext uri="{BB962C8B-B14F-4D97-AF65-F5344CB8AC3E}">
        <p14:creationId xmlns:p14="http://schemas.microsoft.com/office/powerpoint/2010/main" val="1197676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a:t>
            </a:r>
            <a:r>
              <a:rPr lang="zh-CN" altLang="en-US" dirty="0"/>
              <a:t>、</a:t>
            </a:r>
            <a:r>
              <a:rPr lang="en-US" altLang="zh-CN" dirty="0"/>
              <a:t>sin(x)</a:t>
            </a:r>
            <a:r>
              <a:rPr lang="zh-CN" altLang="en-US" dirty="0"/>
              <a:t>、</a:t>
            </a:r>
            <a:r>
              <a:rPr lang="en-US" altLang="zh-CN" dirty="0"/>
              <a:t>sin(x</a:t>
            </a:r>
            <a:r>
              <a:rPr lang="en-US" altLang="zh-CN" baseline="30000" dirty="0"/>
              <a:t>2</a:t>
            </a:r>
            <a:r>
              <a:rPr lang="en-US" altLang="zh-CN" dirty="0"/>
              <a:t>)</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30</a:t>
            </a:fld>
            <a:endParaRPr lang="zh-CN" altLang="en-US"/>
          </a:p>
        </p:txBody>
      </p:sp>
      <p:pic>
        <p:nvPicPr>
          <p:cNvPr id="5" name="Content Placeholder 4">
            <a:extLst>
              <a:ext uri="{FF2B5EF4-FFF2-40B4-BE49-F238E27FC236}">
                <a16:creationId xmlns:a16="http://schemas.microsoft.com/office/drawing/2014/main" id="{BDC90A34-BE44-40FB-9E60-14C4760A2655}"/>
              </a:ext>
            </a:extLst>
          </p:cNvPr>
          <p:cNvPicPr>
            <a:picLocks noGrp="1" noChangeAspect="1"/>
          </p:cNvPicPr>
          <p:nvPr>
            <p:ph idx="1"/>
          </p:nvPr>
        </p:nvPicPr>
        <p:blipFill>
          <a:blip r:embed="rId2"/>
          <a:stretch>
            <a:fillRect/>
          </a:stretch>
        </p:blipFill>
        <p:spPr>
          <a:xfrm>
            <a:off x="2778186" y="819150"/>
            <a:ext cx="3587628" cy="3937000"/>
          </a:xfrm>
          <a:prstGeom prst="rect">
            <a:avLst/>
          </a:prstGeom>
        </p:spPr>
      </p:pic>
    </p:spTree>
    <p:extLst>
      <p:ext uri="{BB962C8B-B14F-4D97-AF65-F5344CB8AC3E}">
        <p14:creationId xmlns:p14="http://schemas.microsoft.com/office/powerpoint/2010/main" val="9877542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调整线条属性</a:t>
            </a:r>
            <a:endParaRPr lang="en-US" dirty="0"/>
          </a:p>
        </p:txBody>
      </p:sp>
      <p:sp>
        <p:nvSpPr>
          <p:cNvPr id="3" name="Content Placeholder 2"/>
          <p:cNvSpPr>
            <a:spLocks noGrp="1"/>
          </p:cNvSpPr>
          <p:nvPr>
            <p:ph idx="1"/>
          </p:nvPr>
        </p:nvSpPr>
        <p:spPr/>
        <p:txBody>
          <a:bodyPr/>
          <a:lstStyle/>
          <a:p>
            <a:r>
              <a:rPr lang="zh-CN" altLang="en-US" dirty="0"/>
              <a:t>线形</a:t>
            </a:r>
            <a:endParaRPr lang="en-US" altLang="zh-CN" dirty="0"/>
          </a:p>
          <a:p>
            <a:r>
              <a:rPr lang="zh-CN" altLang="en-US" dirty="0"/>
              <a:t>颜色</a:t>
            </a:r>
          </a:p>
          <a:p>
            <a:r>
              <a:rPr lang="zh-CN" altLang="en-US" dirty="0"/>
              <a:t>宽度</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31</a:t>
            </a:fld>
            <a:endParaRPr lang="zh-CN" altLang="en-US"/>
          </a:p>
        </p:txBody>
      </p:sp>
      <p:pic>
        <p:nvPicPr>
          <p:cNvPr id="5" name="Picture 4">
            <a:extLst>
              <a:ext uri="{FF2B5EF4-FFF2-40B4-BE49-F238E27FC236}">
                <a16:creationId xmlns:a16="http://schemas.microsoft.com/office/drawing/2014/main" id="{1A936525-CDD6-4D4F-809B-1C0A89B211AC}"/>
              </a:ext>
            </a:extLst>
          </p:cNvPr>
          <p:cNvPicPr>
            <a:picLocks noChangeAspect="1"/>
          </p:cNvPicPr>
          <p:nvPr/>
        </p:nvPicPr>
        <p:blipFill>
          <a:blip r:embed="rId2"/>
          <a:stretch>
            <a:fillRect/>
          </a:stretch>
        </p:blipFill>
        <p:spPr>
          <a:xfrm>
            <a:off x="4810627" y="847364"/>
            <a:ext cx="3876173" cy="3908786"/>
          </a:xfrm>
          <a:prstGeom prst="rect">
            <a:avLst/>
          </a:prstGeom>
        </p:spPr>
      </p:pic>
      <p:sp>
        <p:nvSpPr>
          <p:cNvPr id="6" name="Rectangle 5">
            <a:extLst>
              <a:ext uri="{FF2B5EF4-FFF2-40B4-BE49-F238E27FC236}">
                <a16:creationId xmlns:a16="http://schemas.microsoft.com/office/drawing/2014/main" id="{54D2838A-FF83-4296-85F9-5813B86FFF80}"/>
              </a:ext>
            </a:extLst>
          </p:cNvPr>
          <p:cNvSpPr/>
          <p:nvPr/>
        </p:nvSpPr>
        <p:spPr>
          <a:xfrm>
            <a:off x="508001" y="2933739"/>
            <a:ext cx="877163" cy="507831"/>
          </a:xfrm>
          <a:prstGeom prst="rect">
            <a:avLst/>
          </a:prstGeom>
        </p:spPr>
        <p:txBody>
          <a:bodyPr wrap="none">
            <a:spAutoFit/>
          </a:bodyPr>
          <a:lstStyle/>
          <a:p>
            <a:r>
              <a:rPr lang="zh-CN" altLang="en-US" sz="2700" dirty="0">
                <a:solidFill>
                  <a:schemeClr val="accent1"/>
                </a:solidFill>
                <a:latin typeface="+mj-lt"/>
                <a:ea typeface="+mj-ea"/>
                <a:cs typeface="+mj-cs"/>
              </a:rPr>
              <a:t>图例</a:t>
            </a:r>
            <a:endParaRPr lang="en-US" sz="2700" dirty="0">
              <a:solidFill>
                <a:schemeClr val="accent1"/>
              </a:solidFill>
              <a:latin typeface="+mj-lt"/>
              <a:ea typeface="+mj-ea"/>
              <a:cs typeface="+mj-cs"/>
            </a:endParaRPr>
          </a:p>
        </p:txBody>
      </p:sp>
      <p:sp>
        <p:nvSpPr>
          <p:cNvPr id="7" name="Rectangle 6">
            <a:extLst>
              <a:ext uri="{FF2B5EF4-FFF2-40B4-BE49-F238E27FC236}">
                <a16:creationId xmlns:a16="http://schemas.microsoft.com/office/drawing/2014/main" id="{3B6F84E9-554B-4447-9E8B-8C2D243D13F6}"/>
              </a:ext>
            </a:extLst>
          </p:cNvPr>
          <p:cNvSpPr/>
          <p:nvPr/>
        </p:nvSpPr>
        <p:spPr>
          <a:xfrm>
            <a:off x="661172" y="3246112"/>
            <a:ext cx="4572000" cy="1131079"/>
          </a:xfrm>
          <a:prstGeom prst="rect">
            <a:avLst/>
          </a:prstGeom>
        </p:spPr>
        <p:txBody>
          <a:bodyPr>
            <a:spAutoFit/>
          </a:bodyPr>
          <a:lstStyle/>
          <a:p>
            <a:pPr algn="just"/>
            <a:br>
              <a:rPr lang="en-US" sz="1350" dirty="0">
                <a:solidFill>
                  <a:srgbClr val="000000"/>
                </a:solidFill>
                <a:latin typeface="Helvetica Neue"/>
              </a:rPr>
            </a:br>
            <a:r>
              <a:rPr lang="zh-CN" altLang="en-US" sz="1350" dirty="0">
                <a:solidFill>
                  <a:srgbClr val="000000"/>
                </a:solidFill>
                <a:latin typeface="Helvetica Neue"/>
              </a:rPr>
              <a:t>位置 </a:t>
            </a:r>
            <a:r>
              <a:rPr lang="en-US" sz="1350" dirty="0">
                <a:solidFill>
                  <a:srgbClr val="000000"/>
                </a:solidFill>
                <a:latin typeface="Helvetica Neue"/>
              </a:rPr>
              <a:t>location</a:t>
            </a:r>
          </a:p>
          <a:p>
            <a:r>
              <a:rPr lang="zh-CN" altLang="en-US" sz="1350" dirty="0">
                <a:solidFill>
                  <a:srgbClr val="000000"/>
                </a:solidFill>
                <a:latin typeface="Helvetica Neue"/>
              </a:rPr>
              <a:t>字体大小 </a:t>
            </a:r>
            <a:r>
              <a:rPr lang="en-US" sz="1350" dirty="0">
                <a:solidFill>
                  <a:srgbClr val="000000"/>
                </a:solidFill>
                <a:latin typeface="Helvetica Neue"/>
              </a:rPr>
              <a:t>font</a:t>
            </a:r>
          </a:p>
          <a:p>
            <a:r>
              <a:rPr lang="en-US" sz="1350" dirty="0">
                <a:solidFill>
                  <a:srgbClr val="000000"/>
                </a:solidFill>
                <a:latin typeface="Helvetica Neue"/>
              </a:rPr>
              <a:t>...</a:t>
            </a:r>
          </a:p>
          <a:p>
            <a:pPr algn="just"/>
            <a:r>
              <a:rPr lang="en-US" sz="1350" u="sng" dirty="0">
                <a:solidFill>
                  <a:srgbClr val="0088CC"/>
                </a:solidFill>
                <a:latin typeface="Helvetica Neue"/>
                <a:hlinkClick r:id="rId3"/>
              </a:rPr>
              <a:t>https://matplotlib.org/users/legend_guide.html</a:t>
            </a:r>
            <a:endParaRPr lang="en-US" sz="1350" dirty="0">
              <a:solidFill>
                <a:srgbClr val="000000"/>
              </a:solidFill>
              <a:latin typeface="Helvetica Neue"/>
            </a:endParaRPr>
          </a:p>
        </p:txBody>
      </p:sp>
    </p:spTree>
    <p:extLst>
      <p:ext uri="{BB962C8B-B14F-4D97-AF65-F5344CB8AC3E}">
        <p14:creationId xmlns:p14="http://schemas.microsoft.com/office/powerpoint/2010/main" val="1136853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散点图</a:t>
            </a:r>
            <a:endParaRPr lang="en-US" dirty="0"/>
          </a:p>
        </p:txBody>
      </p:sp>
      <p:sp>
        <p:nvSpPr>
          <p:cNvPr id="3" name="Content Placeholder 2"/>
          <p:cNvSpPr>
            <a:spLocks noGrp="1"/>
          </p:cNvSpPr>
          <p:nvPr>
            <p:ph idx="1"/>
          </p:nvPr>
        </p:nvSpPr>
        <p:spPr>
          <a:xfrm>
            <a:off x="457200" y="819150"/>
            <a:ext cx="3964898" cy="3937000"/>
          </a:xfrm>
        </p:spPr>
        <p:txBody>
          <a:bodyPr/>
          <a:lstStyle/>
          <a:p>
            <a:r>
              <a:rPr lang="zh-CN" altLang="en-US" dirty="0"/>
              <a:t>使用</a:t>
            </a:r>
            <a:r>
              <a:rPr lang="en-US" altLang="zh-CN" dirty="0"/>
              <a:t>plot()</a:t>
            </a:r>
            <a:r>
              <a:rPr lang="zh-CN" altLang="en-US" dirty="0"/>
              <a:t>绘图时，如果指定样式参数为仅绘制数据点，那么所绘制的就是一幅散列图</a:t>
            </a:r>
            <a:endParaRPr lang="en-US" altLang="zh-CN" dirty="0"/>
          </a:p>
          <a:p>
            <a:pPr lvl="1"/>
            <a:r>
              <a:rPr lang="zh-CN" altLang="en-US" dirty="0"/>
              <a:t>方法所绘制的点无法单独指定颜色和大小</a:t>
            </a:r>
            <a:endParaRPr lang="en-US" dirty="0"/>
          </a:p>
          <a:p>
            <a:r>
              <a:rPr lang="en-US" altLang="zh-CN" b="1" dirty="0">
                <a:solidFill>
                  <a:srgbClr val="FF0000"/>
                </a:solidFill>
              </a:rPr>
              <a:t>scatter</a:t>
            </a:r>
            <a:r>
              <a:rPr lang="en-US" altLang="zh-CN" b="1" dirty="0"/>
              <a:t>()</a:t>
            </a:r>
            <a:r>
              <a:rPr lang="zh-CN" altLang="en-US" dirty="0"/>
              <a:t>所绘制的散列图却可以指定每个点的颜色和大小</a:t>
            </a:r>
            <a:endParaRPr lang="en-US" altLang="zh-CN"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32</a:t>
            </a:fld>
            <a:endParaRPr lang="zh-CN" altLang="en-US"/>
          </a:p>
        </p:txBody>
      </p:sp>
      <p:pic>
        <p:nvPicPr>
          <p:cNvPr id="5" name="Picture 4">
            <a:extLst>
              <a:ext uri="{FF2B5EF4-FFF2-40B4-BE49-F238E27FC236}">
                <a16:creationId xmlns:a16="http://schemas.microsoft.com/office/drawing/2014/main" id="{23C0A072-D6C3-4927-9A7B-DEBBFA58819A}"/>
              </a:ext>
            </a:extLst>
          </p:cNvPr>
          <p:cNvPicPr>
            <a:picLocks noChangeAspect="1"/>
          </p:cNvPicPr>
          <p:nvPr/>
        </p:nvPicPr>
        <p:blipFill>
          <a:blip r:embed="rId3"/>
          <a:stretch>
            <a:fillRect/>
          </a:stretch>
        </p:blipFill>
        <p:spPr>
          <a:xfrm>
            <a:off x="4714859" y="998310"/>
            <a:ext cx="4224354" cy="3206840"/>
          </a:xfrm>
          <a:prstGeom prst="rect">
            <a:avLst/>
          </a:prstGeom>
        </p:spPr>
      </p:pic>
    </p:spTree>
    <p:extLst>
      <p:ext uri="{BB962C8B-B14F-4D97-AF65-F5344CB8AC3E}">
        <p14:creationId xmlns:p14="http://schemas.microsoft.com/office/powerpoint/2010/main" val="1594053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配置文件</a:t>
            </a:r>
            <a:endParaRPr lang="en-US" dirty="0"/>
          </a:p>
        </p:txBody>
      </p:sp>
      <p:sp>
        <p:nvSpPr>
          <p:cNvPr id="3" name="Content Placeholder 2"/>
          <p:cNvSpPr>
            <a:spLocks noGrp="1"/>
          </p:cNvSpPr>
          <p:nvPr>
            <p:ph idx="1"/>
          </p:nvPr>
        </p:nvSpPr>
        <p:spPr/>
        <p:txBody>
          <a:bodyPr/>
          <a:lstStyle/>
          <a:p>
            <a:r>
              <a:rPr lang="zh-CN" altLang="en-US" dirty="0"/>
              <a:t>绘制一幅图需要对许多对象的属性进行配置在绘图时，并没有逐一对这些属性进。行配置，许多都直接采用了</a:t>
            </a:r>
            <a:r>
              <a:rPr lang="en-US" altLang="zh-CN" dirty="0" err="1"/>
              <a:t>matplotlib</a:t>
            </a:r>
            <a:r>
              <a:rPr lang="zh-CN" altLang="en-US" dirty="0"/>
              <a:t>的缺省配置</a:t>
            </a:r>
          </a:p>
          <a:p>
            <a:r>
              <a:rPr lang="en-US" altLang="zh-CN" dirty="0" err="1"/>
              <a:t>matplotlib</a:t>
            </a:r>
            <a:r>
              <a:rPr lang="zh-CN" altLang="en-US" dirty="0"/>
              <a:t>将这些缺省配置保存在一个名为“</a:t>
            </a:r>
            <a:r>
              <a:rPr lang="en-US" altLang="zh-CN" dirty="0" err="1"/>
              <a:t>matplotlibrc</a:t>
            </a:r>
            <a:r>
              <a:rPr lang="en-US" altLang="zh-CN" dirty="0"/>
              <a:t>”</a:t>
            </a:r>
            <a:r>
              <a:rPr lang="zh-CN" altLang="en-US" dirty="0"/>
              <a:t>的配置文件中，通过修改配置文件，我们可以修改图表的缺省样式。</a:t>
            </a:r>
          </a:p>
          <a:p>
            <a:r>
              <a:rPr lang="zh-CN" altLang="en-US" dirty="0"/>
              <a:t>配置文件的读入可以使用</a:t>
            </a:r>
            <a:r>
              <a:rPr lang="en-US" altLang="zh-CN" dirty="0" err="1"/>
              <a:t>rc_params</a:t>
            </a:r>
            <a:r>
              <a:rPr lang="en-US" altLang="zh-CN" dirty="0"/>
              <a:t>()</a:t>
            </a:r>
            <a:r>
              <a:rPr lang="zh-CN" altLang="en-US" dirty="0"/>
              <a:t>，它返回一个配置字典</a:t>
            </a:r>
          </a:p>
          <a:p>
            <a:r>
              <a:rPr lang="zh-CN" altLang="en-US" dirty="0"/>
              <a:t>在</a:t>
            </a:r>
            <a:r>
              <a:rPr lang="en-US" altLang="zh-CN" dirty="0" err="1"/>
              <a:t>matplotlib</a:t>
            </a:r>
            <a:r>
              <a:rPr lang="zh-CN" altLang="en-US" dirty="0"/>
              <a:t>模块载入时会调用</a:t>
            </a:r>
            <a:r>
              <a:rPr lang="en-US" altLang="zh-CN" dirty="0" err="1"/>
              <a:t>rc_params</a:t>
            </a:r>
            <a:r>
              <a:rPr lang="en-US" altLang="zh-CN" dirty="0"/>
              <a:t>()</a:t>
            </a:r>
            <a:r>
              <a:rPr lang="zh-CN" altLang="en-US" dirty="0"/>
              <a:t>，并把得到的配置字典保存到</a:t>
            </a:r>
            <a:r>
              <a:rPr lang="en-US" altLang="zh-CN" dirty="0" err="1"/>
              <a:t>rcParams</a:t>
            </a:r>
            <a:r>
              <a:rPr lang="zh-CN" altLang="en-US" dirty="0"/>
              <a:t>变量中</a:t>
            </a:r>
          </a:p>
          <a:p>
            <a:pPr lvl="1"/>
            <a:r>
              <a:rPr lang="zh-CN" altLang="en-US" dirty="0"/>
              <a:t>可以直接修改此字典中的配置</a:t>
            </a:r>
            <a:r>
              <a:rPr lang="en-US" altLang="zh-CN" dirty="0"/>
              <a:t>: </a:t>
            </a:r>
            <a:r>
              <a:rPr lang="en-US" altLang="zh-CN" dirty="0" err="1"/>
              <a:t>matplotlib.rcParams</a:t>
            </a:r>
            <a:r>
              <a:rPr lang="en-US" altLang="zh-CN" dirty="0"/>
              <a:t>["</a:t>
            </a:r>
            <a:r>
              <a:rPr lang="en-US" altLang="zh-CN" dirty="0" err="1"/>
              <a:t>lines.marker</a:t>
            </a:r>
            <a:r>
              <a:rPr lang="en-US" altLang="zh-CN" dirty="0"/>
              <a:t>"] = "o“</a:t>
            </a:r>
          </a:p>
          <a:p>
            <a:pPr lvl="1"/>
            <a:r>
              <a:rPr lang="zh-CN" altLang="en-US" dirty="0"/>
              <a:t>为了方便对配置字典进行设置，可以使用</a:t>
            </a:r>
            <a:r>
              <a:rPr lang="en-US" altLang="zh-CN" dirty="0" err="1"/>
              <a:t>rc</a:t>
            </a:r>
            <a:r>
              <a:rPr lang="en-US" altLang="zh-CN" dirty="0"/>
              <a:t>()</a:t>
            </a:r>
          </a:p>
          <a:p>
            <a:pPr lvl="2"/>
            <a:r>
              <a:rPr lang="en-US" altLang="zh-CN" dirty="0" err="1"/>
              <a:t>matplotlib.rc</a:t>
            </a:r>
            <a:r>
              <a:rPr lang="en-US" altLang="zh-CN" dirty="0"/>
              <a:t>("lines", marker="x", linewidth=2, color="red")</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33</a:t>
            </a:fld>
            <a:endParaRPr lang="zh-CN" altLang="en-US"/>
          </a:p>
        </p:txBody>
      </p:sp>
    </p:spTree>
    <p:extLst>
      <p:ext uri="{BB962C8B-B14F-4D97-AF65-F5344CB8AC3E}">
        <p14:creationId xmlns:p14="http://schemas.microsoft.com/office/powerpoint/2010/main" val="11937600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Seaborn</a:t>
            </a:r>
            <a:r>
              <a:rPr lang="zh-CN" altLang="en-US" dirty="0"/>
              <a:t>库</a:t>
            </a:r>
            <a:endParaRPr lang="en-US" dirty="0"/>
          </a:p>
        </p:txBody>
      </p:sp>
      <p:sp>
        <p:nvSpPr>
          <p:cNvPr id="3" name="Content Placeholder 2"/>
          <p:cNvSpPr>
            <a:spLocks noGrp="1"/>
          </p:cNvSpPr>
          <p:nvPr>
            <p:ph idx="1"/>
          </p:nvPr>
        </p:nvSpPr>
        <p:spPr/>
        <p:txBody>
          <a:bodyPr/>
          <a:lstStyle/>
          <a:p>
            <a:r>
              <a:rPr lang="zh-CN" altLang="en-US" dirty="0"/>
              <a:t>针对表格数据的良好可视化工具</a:t>
            </a:r>
            <a:endParaRPr lang="en-US" altLang="zh-CN" dirty="0"/>
          </a:p>
          <a:p>
            <a:pPr lvl="1"/>
            <a:r>
              <a:rPr lang="en-US" altLang="zh-CN" dirty="0" err="1"/>
              <a:t>Seaborn</a:t>
            </a:r>
            <a:r>
              <a:rPr lang="zh-CN" altLang="en-US" dirty="0"/>
              <a:t>能够较好地支持</a:t>
            </a:r>
            <a:r>
              <a:rPr lang="en-US" altLang="zh-CN" dirty="0" err="1"/>
              <a:t>Groupby</a:t>
            </a:r>
            <a:r>
              <a:rPr lang="zh-CN" altLang="en-US" dirty="0"/>
              <a:t>功能</a:t>
            </a:r>
            <a:endParaRPr lang="en-US" altLang="zh-CN" dirty="0"/>
          </a:p>
          <a:p>
            <a:pPr lvl="1"/>
            <a:endParaRPr lang="en-US" dirty="0"/>
          </a:p>
          <a:p>
            <a:r>
              <a:rPr lang="en-US" altLang="zh-CN" dirty="0" err="1"/>
              <a:t>Seaborn</a:t>
            </a:r>
            <a:r>
              <a:rPr lang="zh-CN" altLang="en-US" dirty="0"/>
              <a:t>的典型用法</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34</a:t>
            </a:fld>
            <a:endParaRPr lang="zh-CN" altLang="en-US"/>
          </a:p>
        </p:txBody>
      </p:sp>
      <p:sp>
        <p:nvSpPr>
          <p:cNvPr id="5" name="Rectangle 4"/>
          <p:cNvSpPr/>
          <p:nvPr/>
        </p:nvSpPr>
        <p:spPr>
          <a:xfrm>
            <a:off x="1154242" y="3013084"/>
            <a:ext cx="7532558" cy="461665"/>
          </a:xfrm>
          <a:prstGeom prst="rect">
            <a:avLst/>
          </a:prstGeom>
        </p:spPr>
        <p:txBody>
          <a:bodyPr wrap="square">
            <a:spAutoFit/>
          </a:bodyPr>
          <a:lstStyle/>
          <a:p>
            <a:pPr lvl="0">
              <a:spcBef>
                <a:spcPts val="600"/>
              </a:spcBef>
            </a:pPr>
            <a:r>
              <a:rPr lang="nl-NL" sz="2400" dirty="0" err="1">
                <a:solidFill>
                  <a:srgbClr val="C00000"/>
                </a:solidFill>
                <a:latin typeface="Consolas"/>
                <a:ea typeface="Consolas"/>
                <a:cs typeface="Consolas"/>
                <a:sym typeface="Consolas"/>
              </a:rPr>
              <a:t>sns.someplot</a:t>
            </a:r>
            <a:r>
              <a:rPr lang="nl-NL" sz="2400" dirty="0">
                <a:solidFill>
                  <a:srgbClr val="C00000"/>
                </a:solidFill>
                <a:latin typeface="Consolas"/>
                <a:ea typeface="Consolas"/>
                <a:cs typeface="Consolas"/>
                <a:sym typeface="Consolas"/>
              </a:rPr>
              <a:t>(x='...', y='...', data=...)</a:t>
            </a:r>
          </a:p>
        </p:txBody>
      </p:sp>
    </p:spTree>
    <p:extLst>
      <p:ext uri="{BB962C8B-B14F-4D97-AF65-F5344CB8AC3E}">
        <p14:creationId xmlns:p14="http://schemas.microsoft.com/office/powerpoint/2010/main" val="1732341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err="1"/>
              <a:t>Seaborn</a:t>
            </a:r>
            <a:r>
              <a:rPr lang="zh-CN" altLang="en-US" dirty="0"/>
              <a:t>绘制</a:t>
            </a:r>
            <a:r>
              <a:rPr lang="en-US" altLang="zh-CN" dirty="0" err="1"/>
              <a:t>barplot</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35</a:t>
            </a:fld>
            <a:endParaRPr lang="zh-CN" altLang="en-US"/>
          </a:p>
        </p:txBody>
      </p:sp>
      <p:sp>
        <p:nvSpPr>
          <p:cNvPr id="6" name="Google Shape;208;p25"/>
          <p:cNvSpPr txBox="1">
            <a:spLocks/>
          </p:cNvSpPr>
          <p:nvPr/>
        </p:nvSpPr>
        <p:spPr>
          <a:xfrm>
            <a:off x="614596" y="824458"/>
            <a:ext cx="7996003" cy="3962041"/>
          </a:xfrm>
          <a:prstGeom prst="rect">
            <a:avLst/>
          </a:prstGeom>
        </p:spPr>
        <p:txBody>
          <a:bodyPr spcFirstLastPara="1" vert="horz" wrap="square" lIns="91425" tIns="91425" rIns="91425" bIns="91425" rtlCol="0" anchor="t" anchorCtr="0">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Font typeface="Arial" pitchFamily="34" charset="0"/>
              <a:buNone/>
            </a:pPr>
            <a:r>
              <a:rPr lang="en" sz="2400">
                <a:latin typeface="Consolas"/>
                <a:ea typeface="Consolas"/>
                <a:cs typeface="Consolas"/>
                <a:sym typeface="Consolas"/>
              </a:rPr>
              <a:t>sns.barplot</a:t>
            </a:r>
            <a:r>
              <a:rPr lang="en" sz="2400" dirty="0">
                <a:latin typeface="Consolas"/>
                <a:ea typeface="Consolas"/>
                <a:cs typeface="Consolas"/>
                <a:sym typeface="Consolas"/>
              </a:rPr>
              <a:t>(x='sex', y='survived', data=</a:t>
            </a:r>
            <a:r>
              <a:rPr lang="en" sz="2400" dirty="0" err="1">
                <a:latin typeface="Consolas"/>
                <a:ea typeface="Consolas"/>
                <a:cs typeface="Consolas"/>
                <a:sym typeface="Consolas"/>
              </a:rPr>
              <a:t>ti</a:t>
            </a:r>
            <a:r>
              <a:rPr lang="en" sz="2400" dirty="0">
                <a:latin typeface="Consolas"/>
                <a:ea typeface="Consolas"/>
                <a:cs typeface="Consolas"/>
                <a:sym typeface="Consolas"/>
              </a:rPr>
              <a:t>)</a:t>
            </a:r>
          </a:p>
        </p:txBody>
      </p:sp>
      <p:pic>
        <p:nvPicPr>
          <p:cNvPr id="7" name="Google Shape;209;p25"/>
          <p:cNvPicPr preferRelativeResize="0"/>
          <p:nvPr/>
        </p:nvPicPr>
        <p:blipFill>
          <a:blip r:embed="rId3">
            <a:alphaModFix/>
          </a:blip>
          <a:stretch>
            <a:fillRect/>
          </a:stretch>
        </p:blipFill>
        <p:spPr>
          <a:xfrm>
            <a:off x="293298" y="1792221"/>
            <a:ext cx="3575251" cy="2739770"/>
          </a:xfrm>
          <a:prstGeom prst="rect">
            <a:avLst/>
          </a:prstGeom>
          <a:noFill/>
          <a:ln>
            <a:noFill/>
          </a:ln>
        </p:spPr>
      </p:pic>
      <p:pic>
        <p:nvPicPr>
          <p:cNvPr id="8" name="Google Shape;210;p25"/>
          <p:cNvPicPr preferRelativeResize="0"/>
          <p:nvPr/>
        </p:nvPicPr>
        <p:blipFill>
          <a:blip r:embed="rId4">
            <a:alphaModFix/>
          </a:blip>
          <a:stretch>
            <a:fillRect/>
          </a:stretch>
        </p:blipFill>
        <p:spPr>
          <a:xfrm>
            <a:off x="3916175" y="1507365"/>
            <a:ext cx="4818251" cy="3248785"/>
          </a:xfrm>
          <a:prstGeom prst="rect">
            <a:avLst/>
          </a:prstGeom>
          <a:noFill/>
          <a:ln>
            <a:noFill/>
          </a:ln>
        </p:spPr>
      </p:pic>
    </p:spTree>
    <p:extLst>
      <p:ext uri="{BB962C8B-B14F-4D97-AF65-F5344CB8AC3E}">
        <p14:creationId xmlns:p14="http://schemas.microsoft.com/office/powerpoint/2010/main" val="783163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err="1"/>
              <a:t>Seaborn</a:t>
            </a:r>
            <a:r>
              <a:rPr lang="zh-CN" altLang="en-US" dirty="0"/>
              <a:t>绘制</a:t>
            </a:r>
            <a:r>
              <a:rPr lang="en-US" altLang="zh-CN" dirty="0" err="1"/>
              <a:t>lmplot</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36</a:t>
            </a:fld>
            <a:endParaRPr lang="zh-CN" altLang="en-US"/>
          </a:p>
        </p:txBody>
      </p:sp>
      <p:sp>
        <p:nvSpPr>
          <p:cNvPr id="6" name="Google Shape;216;p26"/>
          <p:cNvSpPr txBox="1">
            <a:spLocks/>
          </p:cNvSpPr>
          <p:nvPr/>
        </p:nvSpPr>
        <p:spPr>
          <a:xfrm>
            <a:off x="166800" y="845389"/>
            <a:ext cx="8443800" cy="3941111"/>
          </a:xfrm>
          <a:prstGeom prst="rect">
            <a:avLst/>
          </a:prstGeom>
        </p:spPr>
        <p:txBody>
          <a:bodyPr spcFirstLastPara="1" vert="horz" wrap="square" lIns="91425" tIns="91425" rIns="91425" bIns="91425" rtlCol="0" anchor="t" anchorCtr="0">
            <a:no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Clr>
                <a:schemeClr val="dk1"/>
              </a:buClr>
              <a:buSzPts val="1100"/>
              <a:buFont typeface="Arial"/>
              <a:buNone/>
            </a:pPr>
            <a:r>
              <a:rPr lang="en" sz="2400" dirty="0" err="1">
                <a:latin typeface="Consolas"/>
                <a:ea typeface="Consolas"/>
                <a:cs typeface="Consolas"/>
                <a:sym typeface="Consolas"/>
              </a:rPr>
              <a:t>sns.lmplot</a:t>
            </a:r>
            <a:r>
              <a:rPr lang="en" sz="2400" dirty="0">
                <a:latin typeface="Consolas"/>
                <a:ea typeface="Consolas"/>
                <a:cs typeface="Consolas"/>
                <a:sym typeface="Consolas"/>
              </a:rPr>
              <a:t>(x="</a:t>
            </a:r>
            <a:r>
              <a:rPr lang="en" sz="2400" dirty="0" err="1">
                <a:latin typeface="Consolas"/>
                <a:ea typeface="Consolas"/>
                <a:cs typeface="Consolas"/>
                <a:sym typeface="Consolas"/>
              </a:rPr>
              <a:t>total_bill</a:t>
            </a:r>
            <a:r>
              <a:rPr lang="en" sz="2400" dirty="0">
                <a:latin typeface="Consolas"/>
                <a:ea typeface="Consolas"/>
                <a:cs typeface="Consolas"/>
                <a:sym typeface="Consolas"/>
              </a:rPr>
              <a:t>", y="tip",</a:t>
            </a:r>
            <a:br>
              <a:rPr lang="en" sz="2400" dirty="0">
                <a:latin typeface="Consolas"/>
                <a:ea typeface="Consolas"/>
                <a:cs typeface="Consolas"/>
                <a:sym typeface="Consolas"/>
              </a:rPr>
            </a:br>
            <a:r>
              <a:rPr lang="en" sz="2400" dirty="0">
                <a:latin typeface="Consolas"/>
                <a:ea typeface="Consolas"/>
                <a:cs typeface="Consolas"/>
                <a:sym typeface="Consolas"/>
              </a:rPr>
              <a:t>           col="day", hue="day", data=tips)</a:t>
            </a:r>
          </a:p>
          <a:p>
            <a:pPr marL="0" indent="0">
              <a:spcBef>
                <a:spcPts val="600"/>
              </a:spcBef>
              <a:buFont typeface="Arial" pitchFamily="34" charset="0"/>
              <a:buNone/>
            </a:pPr>
            <a:endParaRPr lang="en" dirty="0">
              <a:latin typeface="Consolas"/>
              <a:ea typeface="Consolas"/>
              <a:cs typeface="Consolas"/>
              <a:sym typeface="Consolas"/>
            </a:endParaRPr>
          </a:p>
        </p:txBody>
      </p:sp>
      <p:pic>
        <p:nvPicPr>
          <p:cNvPr id="7" name="Google Shape;217;p26"/>
          <p:cNvPicPr preferRelativeResize="0"/>
          <p:nvPr/>
        </p:nvPicPr>
        <p:blipFill>
          <a:blip r:embed="rId2">
            <a:alphaModFix/>
          </a:blip>
          <a:stretch>
            <a:fillRect/>
          </a:stretch>
        </p:blipFill>
        <p:spPr>
          <a:xfrm>
            <a:off x="1224951" y="1794294"/>
            <a:ext cx="6672090" cy="2992206"/>
          </a:xfrm>
          <a:prstGeom prst="rect">
            <a:avLst/>
          </a:prstGeom>
          <a:noFill/>
          <a:ln>
            <a:noFill/>
          </a:ln>
        </p:spPr>
      </p:pic>
    </p:spTree>
    <p:extLst>
      <p:ext uri="{BB962C8B-B14F-4D97-AF65-F5344CB8AC3E}">
        <p14:creationId xmlns:p14="http://schemas.microsoft.com/office/powerpoint/2010/main" val="1270655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探索数据分析 </a:t>
            </a:r>
            <a:r>
              <a:rPr lang="en-US" altLang="zh-CN" sz="2000" dirty="0">
                <a:solidFill>
                  <a:prstClr val="white"/>
                </a:solidFill>
                <a:latin typeface="微软雅黑" pitchFamily="34" charset="-122"/>
                <a:ea typeface="微软雅黑" pitchFamily="34" charset="-122"/>
              </a:rPr>
              <a:t>-</a:t>
            </a:r>
            <a:r>
              <a:rPr lang="zh-CN" altLang="en-US" sz="2000" dirty="0">
                <a:solidFill>
                  <a:prstClr val="white"/>
                </a:solidFill>
                <a:latin typeface="微软雅黑" pitchFamily="34" charset="-122"/>
                <a:ea typeface="微软雅黑" pitchFamily="34" charset="-122"/>
              </a:rPr>
              <a:t> 可视化</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3300904" cy="1865126"/>
          </a:xfrm>
          <a:prstGeom prst="rect">
            <a:avLst/>
          </a:prstGeom>
          <a:noFill/>
        </p:spPr>
        <p:txBody>
          <a:bodyPr wrap="none" rtlCol="0">
            <a:spAutoFit/>
          </a:bodyPr>
          <a:lstStyle/>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探索式数据分析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数据可视化</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solidFill>
                  <a:srgbClr val="C00000"/>
                </a:solidFill>
                <a:latin typeface="Microsoft YaHei" panose="020B0503020204020204" pitchFamily="34" charset="-122"/>
                <a:ea typeface="Microsoft YaHei" panose="020B0503020204020204" pitchFamily="34" charset="-122"/>
              </a:rPr>
              <a:t>复习：数据探索的基本操作</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342900" marR="0" lvl="0" indent="-342900" algn="l" defTabSz="914400" rtl="0" eaLnBrk="1" fontAlgn="auto" latinLnBrk="0" hangingPunct="1">
              <a:lnSpc>
                <a:spcPct val="160000"/>
              </a:lnSpc>
              <a:spcBef>
                <a:spcPts val="0"/>
              </a:spcBef>
              <a:spcAft>
                <a:spcPts val="0"/>
              </a:spcAft>
              <a:buClrTx/>
              <a:buSzTx/>
              <a:buFontTx/>
              <a:buAutoNum type="arabicPeriod"/>
              <a:tabLst/>
              <a:defRPr/>
            </a:pPr>
            <a:r>
              <a:rPr lang="zh-CN" altLang="en-US" b="1" dirty="0">
                <a:latin typeface="Microsoft YaHei" panose="020B0503020204020204" pitchFamily="34" charset="-122"/>
                <a:ea typeface="Microsoft YaHei" panose="020B0503020204020204" pitchFamily="34" charset="-122"/>
              </a:rPr>
              <a:t>课堂练习与研讨</a:t>
            </a:r>
            <a:endParaRPr lang="en-US" altLang="zh-CN" b="1" dirty="0">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1980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选取操作</a:t>
            </a:r>
            <a:r>
              <a:rPr lang="en-US" altLang="zh-CN" sz="2800" dirty="0">
                <a:latin typeface="Microsoft YaHei" charset="-122"/>
                <a:ea typeface="Microsoft YaHei" charset="-122"/>
                <a:cs typeface="Microsoft YaHei" charset="-122"/>
              </a:rPr>
              <a:t>-</a:t>
            </a:r>
            <a:r>
              <a:rPr lang="zh-CN" altLang="en-US" sz="2800" dirty="0">
                <a:latin typeface="Microsoft YaHei" charset="-122"/>
                <a:ea typeface="Microsoft YaHei" charset="-122"/>
                <a:cs typeface="Microsoft YaHei" charset="-122"/>
              </a:rPr>
              <a:t>选择与切片</a:t>
            </a:r>
            <a:r>
              <a:rPr lang="en-US" altLang="zh-CN" sz="2800" dirty="0">
                <a:latin typeface="Microsoft YaHei" charset="-122"/>
                <a:ea typeface="Microsoft YaHei" charset="-122"/>
                <a:cs typeface="Microsoft YaHei" charset="-122"/>
              </a:rPr>
              <a:t>(1)</a:t>
            </a:r>
            <a:endParaRPr lang="en-US" sz="2800" dirty="0">
              <a:latin typeface="Microsoft YaHei" charset="-122"/>
              <a:ea typeface="Microsoft YaHei" charset="-122"/>
              <a:cs typeface="Microsoft YaHei" charset="-122"/>
            </a:endParaRPr>
          </a:p>
        </p:txBody>
      </p:sp>
      <p:sp>
        <p:nvSpPr>
          <p:cNvPr id="3" name="Content Placeholder 2"/>
          <p:cNvSpPr>
            <a:spLocks noGrp="1"/>
          </p:cNvSpPr>
          <p:nvPr>
            <p:ph idx="1"/>
          </p:nvPr>
        </p:nvSpPr>
        <p:spPr>
          <a:xfrm>
            <a:off x="628650" y="851052"/>
            <a:ext cx="8317046" cy="4091061"/>
          </a:xfrm>
        </p:spPr>
        <p:txBody>
          <a:bodyPr>
            <a:noAutofit/>
          </a:bodyPr>
          <a:lstStyle/>
          <a:p>
            <a:r>
              <a:rPr lang="en-US" sz="2000" dirty="0"/>
              <a:t>df['</a:t>
            </a:r>
            <a:r>
              <a:rPr lang="en-US" altLang="zh-CN" sz="2000" dirty="0"/>
              <a:t>Team</a:t>
            </a:r>
            <a:r>
              <a:rPr lang="en-US" sz="2000" dirty="0"/>
              <a:t>']   # </a:t>
            </a:r>
            <a:r>
              <a:rPr lang="zh-CN" altLang="en-US" sz="2000" dirty="0"/>
              <a:t>选取一列，成一个</a:t>
            </a:r>
            <a:r>
              <a:rPr lang="en-US" sz="2000" dirty="0">
                <a:solidFill>
                  <a:srgbClr val="C00000"/>
                </a:solidFill>
              </a:rPr>
              <a:t>series</a:t>
            </a:r>
            <a:r>
              <a:rPr lang="en-US" sz="2000" dirty="0"/>
              <a:t>   </a:t>
            </a:r>
          </a:p>
          <a:p>
            <a:r>
              <a:rPr lang="en-US" sz="2000" dirty="0"/>
              <a:t>df['</a:t>
            </a:r>
            <a:r>
              <a:rPr lang="en-US" altLang="zh-CN" sz="2000" dirty="0"/>
              <a:t>Team</a:t>
            </a:r>
            <a:r>
              <a:rPr lang="en-US" sz="2000" dirty="0"/>
              <a:t>'][0] #</a:t>
            </a:r>
            <a:r>
              <a:rPr lang="zh-CN" altLang="en-US" sz="2000" dirty="0"/>
              <a:t>选取单例单行</a:t>
            </a:r>
            <a:endParaRPr lang="en-US" sz="2000" dirty="0"/>
          </a:p>
          <a:p>
            <a:r>
              <a:rPr lang="en-US" sz="2000" dirty="0"/>
              <a:t>df[['</a:t>
            </a:r>
            <a:r>
              <a:rPr lang="en-US" altLang="zh-CN" sz="2000" dirty="0"/>
              <a:t>Team</a:t>
            </a:r>
            <a:r>
              <a:rPr lang="en-US" sz="2000" dirty="0"/>
              <a:t>']]  # </a:t>
            </a:r>
            <a:r>
              <a:rPr lang="zh-CN" altLang="en-US" sz="2000" dirty="0"/>
              <a:t>选取一列，成为一个</a:t>
            </a:r>
            <a:r>
              <a:rPr lang="en-US" sz="2000" dirty="0" err="1">
                <a:solidFill>
                  <a:srgbClr val="C00000"/>
                </a:solidFill>
              </a:rPr>
              <a:t>dataframe</a:t>
            </a:r>
            <a:r>
              <a:rPr lang="en-US" sz="2000" dirty="0">
                <a:solidFill>
                  <a:srgbClr val="C00000"/>
                </a:solidFill>
              </a:rPr>
              <a:t> </a:t>
            </a:r>
            <a:r>
              <a:rPr lang="en-US" sz="2000" dirty="0"/>
              <a:t>    </a:t>
            </a:r>
          </a:p>
          <a:p>
            <a:r>
              <a:rPr lang="en-US" sz="2000" dirty="0"/>
              <a:t>df[['</a:t>
            </a:r>
            <a:r>
              <a:rPr lang="en-US" altLang="zh-CN" sz="2000" dirty="0" err="1"/>
              <a:t>Team</a:t>
            </a:r>
            <a:r>
              <a:rPr lang="en-US" sz="2000" dirty="0" err="1"/>
              <a:t>','</a:t>
            </a:r>
            <a:r>
              <a:rPr lang="en-US" altLang="zh-CN" sz="2000" dirty="0" err="1"/>
              <a:t>Loss</a:t>
            </a:r>
            <a:r>
              <a:rPr lang="en-US" sz="2000" dirty="0"/>
              <a:t>']] #</a:t>
            </a:r>
            <a:r>
              <a:rPr lang="zh-CN" altLang="en-US" sz="2000" dirty="0"/>
              <a:t>选取多列，多列名字要放在</a:t>
            </a:r>
            <a:r>
              <a:rPr lang="en-US" sz="2000" dirty="0"/>
              <a:t>list</a:t>
            </a:r>
            <a:r>
              <a:rPr lang="zh-CN" altLang="en-US" sz="2000" dirty="0"/>
              <a:t>里    </a:t>
            </a:r>
          </a:p>
          <a:p>
            <a:r>
              <a:rPr lang="en-US" sz="2000" dirty="0"/>
              <a:t>df[0:]  #</a:t>
            </a:r>
            <a:r>
              <a:rPr lang="zh-CN" altLang="en-US" sz="2000" dirty="0"/>
              <a:t>第</a:t>
            </a:r>
            <a:r>
              <a:rPr lang="en-US" altLang="zh-CN" sz="2000" dirty="0"/>
              <a:t>0</a:t>
            </a:r>
            <a:r>
              <a:rPr lang="zh-CN" altLang="en-US" sz="2000" dirty="0"/>
              <a:t>行及之后的行，相当于</a:t>
            </a:r>
            <a:r>
              <a:rPr lang="en-US" sz="2000" dirty="0" err="1"/>
              <a:t>df</a:t>
            </a:r>
            <a:r>
              <a:rPr lang="zh-CN" altLang="en-US" sz="2000" dirty="0"/>
              <a:t>的全部数据，注意冒号是必须的    </a:t>
            </a:r>
          </a:p>
          <a:p>
            <a:r>
              <a:rPr lang="en-US" sz="2000" dirty="0"/>
              <a:t>df[:2]  #</a:t>
            </a:r>
            <a:r>
              <a:rPr lang="zh-CN" altLang="en-US" sz="2000" dirty="0"/>
              <a:t>第</a:t>
            </a:r>
            <a:r>
              <a:rPr lang="en-US" altLang="zh-CN" sz="2000" dirty="0"/>
              <a:t>2</a:t>
            </a:r>
            <a:r>
              <a:rPr lang="zh-CN" altLang="en-US" sz="2000" dirty="0"/>
              <a:t>行之前的数据（不含第</a:t>
            </a:r>
            <a:r>
              <a:rPr lang="en-US" altLang="zh-CN" sz="2000" dirty="0"/>
              <a:t>2</a:t>
            </a:r>
            <a:r>
              <a:rPr lang="zh-CN" altLang="en-US" sz="2000" dirty="0"/>
              <a:t>行）    </a:t>
            </a:r>
          </a:p>
          <a:p>
            <a:r>
              <a:rPr lang="en-US" sz="2000" dirty="0"/>
              <a:t>df[0:1] #</a:t>
            </a:r>
            <a:r>
              <a:rPr lang="zh-CN" altLang="en-US" sz="2000" dirty="0"/>
              <a:t>第</a:t>
            </a:r>
            <a:r>
              <a:rPr lang="en-US" altLang="zh-CN" sz="2000" dirty="0"/>
              <a:t>0</a:t>
            </a:r>
            <a:r>
              <a:rPr lang="zh-CN" altLang="en-US" sz="2000" dirty="0"/>
              <a:t>行    </a:t>
            </a:r>
          </a:p>
          <a:p>
            <a:r>
              <a:rPr lang="en-US" sz="2000" dirty="0"/>
              <a:t>df[1:3] #</a:t>
            </a:r>
            <a:r>
              <a:rPr lang="zh-CN" altLang="en-US" sz="2000" dirty="0"/>
              <a:t>第</a:t>
            </a:r>
            <a:r>
              <a:rPr lang="en-US" altLang="zh-CN" sz="2000" dirty="0"/>
              <a:t>1</a:t>
            </a:r>
            <a:r>
              <a:rPr lang="zh-CN" altLang="en-US" sz="2000" dirty="0"/>
              <a:t>行到第</a:t>
            </a:r>
            <a:r>
              <a:rPr lang="en-US" altLang="zh-CN" sz="2000" dirty="0"/>
              <a:t>2</a:t>
            </a:r>
            <a:r>
              <a:rPr lang="zh-CN" altLang="en-US" sz="2000" dirty="0"/>
              <a:t>行（不含第</a:t>
            </a:r>
            <a:r>
              <a:rPr lang="en-US" altLang="zh-CN" sz="2000" dirty="0"/>
              <a:t>3</a:t>
            </a:r>
            <a:r>
              <a:rPr lang="zh-CN" altLang="en-US" sz="2000" dirty="0"/>
              <a:t>行）    </a:t>
            </a:r>
          </a:p>
          <a:p>
            <a:r>
              <a:rPr lang="en-US" sz="2000" dirty="0"/>
              <a:t>df[-1:] #</a:t>
            </a:r>
            <a:r>
              <a:rPr lang="zh-CN" altLang="en-US" sz="2000" dirty="0"/>
              <a:t>最后一行    </a:t>
            </a:r>
          </a:p>
          <a:p>
            <a:r>
              <a:rPr lang="en-US" sz="2000" dirty="0"/>
              <a:t>df[-3:-1] #</a:t>
            </a:r>
            <a:r>
              <a:rPr lang="zh-CN" altLang="en-US" sz="2000" dirty="0"/>
              <a:t>倒数第</a:t>
            </a:r>
            <a:r>
              <a:rPr lang="en-US" altLang="zh-CN" sz="2000" dirty="0"/>
              <a:t>3</a:t>
            </a:r>
            <a:r>
              <a:rPr lang="zh-CN" altLang="en-US" sz="2000" dirty="0"/>
              <a:t>行到倒数第</a:t>
            </a:r>
            <a:r>
              <a:rPr lang="en-US" altLang="zh-CN" sz="2000" dirty="0"/>
              <a:t>1</a:t>
            </a:r>
            <a:r>
              <a:rPr lang="zh-CN" altLang="en-US" sz="2000" dirty="0"/>
              <a:t>行</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38</a:t>
            </a:fld>
            <a:endParaRPr lang="zh-CN" altLang="en-US"/>
          </a:p>
        </p:txBody>
      </p:sp>
      <p:sp>
        <p:nvSpPr>
          <p:cNvPr id="5" name="矩形 4">
            <a:extLst>
              <a:ext uri="{FF2B5EF4-FFF2-40B4-BE49-F238E27FC236}">
                <a16:creationId xmlns:a16="http://schemas.microsoft.com/office/drawing/2014/main" id="{EBD38AC8-A9A5-4C77-A3F1-19AC9F1D6E3C}"/>
              </a:ext>
            </a:extLst>
          </p:cNvPr>
          <p:cNvSpPr/>
          <p:nvPr/>
        </p:nvSpPr>
        <p:spPr>
          <a:xfrm>
            <a:off x="6885932" y="122911"/>
            <a:ext cx="904430" cy="646331"/>
          </a:xfrm>
          <a:prstGeom prst="rect">
            <a:avLst/>
          </a:prstGeom>
        </p:spPr>
        <p:txBody>
          <a:bodyPr wrap="square">
            <a:spAutoFit/>
          </a:bodyPr>
          <a:lstStyle/>
          <a:p>
            <a:r>
              <a:rPr lang="en-US" sz="3600" dirty="0">
                <a:solidFill>
                  <a:srgbClr val="C00000"/>
                </a:solidFill>
                <a:latin typeface="source-code-pro"/>
              </a:rPr>
              <a:t> [ ]</a:t>
            </a:r>
            <a:endParaRPr lang="en-US" sz="3600" dirty="0">
              <a:solidFill>
                <a:srgbClr val="C00000"/>
              </a:solidFill>
            </a:endParaRPr>
          </a:p>
        </p:txBody>
      </p:sp>
    </p:spTree>
    <p:extLst>
      <p:ext uri="{BB962C8B-B14F-4D97-AF65-F5344CB8AC3E}">
        <p14:creationId xmlns:p14="http://schemas.microsoft.com/office/powerpoint/2010/main" val="1379233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选取操作</a:t>
            </a:r>
            <a:r>
              <a:rPr lang="en-US" altLang="zh-CN" sz="2800" dirty="0">
                <a:latin typeface="Microsoft YaHei" charset="-122"/>
                <a:ea typeface="Microsoft YaHei" charset="-122"/>
                <a:cs typeface="Microsoft YaHei" charset="-122"/>
              </a:rPr>
              <a:t>-</a:t>
            </a:r>
            <a:r>
              <a:rPr lang="zh-CN" altLang="en-US" sz="2800" dirty="0">
                <a:latin typeface="Microsoft YaHei" charset="-122"/>
                <a:ea typeface="Microsoft YaHei" charset="-122"/>
                <a:cs typeface="Microsoft YaHei" charset="-122"/>
              </a:rPr>
              <a:t>选择与切片</a:t>
            </a:r>
            <a:r>
              <a:rPr lang="en-US" altLang="zh-CN" sz="2800" dirty="0">
                <a:latin typeface="Microsoft YaHei" charset="-122"/>
                <a:ea typeface="Microsoft YaHei" charset="-122"/>
                <a:cs typeface="Microsoft YaHei" charset="-122"/>
              </a:rPr>
              <a:t>(2)</a:t>
            </a:r>
            <a:endParaRPr lang="en-US" sz="2800" dirty="0">
              <a:latin typeface="Microsoft YaHei" charset="-122"/>
              <a:ea typeface="Microsoft YaHei" charset="-122"/>
              <a:cs typeface="Microsoft YaHei" charset="-122"/>
            </a:endParaRPr>
          </a:p>
        </p:txBody>
      </p:sp>
      <p:sp>
        <p:nvSpPr>
          <p:cNvPr id="3" name="Content Placeholder 2"/>
          <p:cNvSpPr>
            <a:spLocks noGrp="1"/>
          </p:cNvSpPr>
          <p:nvPr>
            <p:ph idx="1"/>
          </p:nvPr>
        </p:nvSpPr>
        <p:spPr/>
        <p:txBody>
          <a:bodyPr>
            <a:normAutofit/>
          </a:bodyPr>
          <a:lstStyle/>
          <a:p>
            <a:r>
              <a:rPr lang="en-US" altLang="zh-CN" sz="2400" dirty="0" err="1"/>
              <a:t>df.loc</a:t>
            </a:r>
            <a:r>
              <a:rPr lang="en-US" altLang="zh-CN" sz="2400" dirty="0"/>
              <a:t>[</a:t>
            </a:r>
            <a:r>
              <a:rPr lang="en-US" altLang="zh-CN" sz="2400" dirty="0">
                <a:solidFill>
                  <a:srgbClr val="C00000"/>
                </a:solidFill>
              </a:rPr>
              <a:t>index</a:t>
            </a:r>
            <a:r>
              <a:rPr lang="en-US" altLang="zh-CN" sz="2400" dirty="0"/>
              <a:t>, </a:t>
            </a:r>
            <a:r>
              <a:rPr lang="en-US" altLang="zh-CN" sz="2400" dirty="0" err="1">
                <a:solidFill>
                  <a:srgbClr val="C00000"/>
                </a:solidFill>
              </a:rPr>
              <a:t>column_name</a:t>
            </a:r>
            <a:r>
              <a:rPr lang="en-US" altLang="zh-CN" sz="2400" dirty="0"/>
              <a:t>], </a:t>
            </a:r>
            <a:r>
              <a:rPr lang="zh-CN" altLang="en-US" sz="2400" dirty="0"/>
              <a:t>根据</a:t>
            </a:r>
            <a:r>
              <a:rPr lang="zh-CN" altLang="en-US" sz="2400" dirty="0">
                <a:solidFill>
                  <a:srgbClr val="C00000"/>
                </a:solidFill>
              </a:rPr>
              <a:t>标签</a:t>
            </a:r>
            <a:r>
              <a:rPr lang="zh-CN" altLang="en-US" sz="2400" dirty="0"/>
              <a:t>选择指定的数据    </a:t>
            </a:r>
          </a:p>
          <a:p>
            <a:pPr lvl="1"/>
            <a:r>
              <a:rPr lang="en-US" altLang="zh-CN" dirty="0" err="1"/>
              <a:t>df.loc</a:t>
            </a:r>
            <a:r>
              <a:rPr lang="en-US" altLang="zh-CN" dirty="0"/>
              <a:t>[0,'Team'] # 'Snow'    </a:t>
            </a:r>
          </a:p>
          <a:p>
            <a:pPr lvl="1"/>
            <a:r>
              <a:rPr lang="en-US" altLang="zh-CN" dirty="0" err="1"/>
              <a:t>df.loc</a:t>
            </a:r>
            <a:r>
              <a:rPr lang="en-US" altLang="zh-CN" dirty="0"/>
              <a:t>[0:2, [‘</a:t>
            </a:r>
            <a:r>
              <a:rPr lang="en-US" altLang="zh-CN" dirty="0" err="1"/>
              <a:t>name’,‘age</a:t>
            </a:r>
            <a:r>
              <a:rPr lang="en-US" altLang="zh-CN" dirty="0"/>
              <a:t>’]]          #</a:t>
            </a:r>
            <a:r>
              <a:rPr lang="zh-CN" altLang="en-US" dirty="0"/>
              <a:t>选取第</a:t>
            </a:r>
            <a:r>
              <a:rPr lang="en-US" altLang="zh-CN" dirty="0"/>
              <a:t>0</a:t>
            </a:r>
            <a:r>
              <a:rPr lang="zh-CN" altLang="en-US" dirty="0"/>
              <a:t>行到第</a:t>
            </a:r>
            <a:r>
              <a:rPr lang="en-US" altLang="zh-CN" dirty="0"/>
              <a:t>2</a:t>
            </a:r>
            <a:r>
              <a:rPr lang="zh-CN" altLang="en-US" dirty="0"/>
              <a:t>行</a:t>
            </a:r>
            <a:r>
              <a:rPr lang="en-US" altLang="zh-CN" dirty="0">
                <a:solidFill>
                  <a:srgbClr val="C00000"/>
                </a:solidFill>
              </a:rPr>
              <a:t>(</a:t>
            </a:r>
            <a:r>
              <a:rPr lang="zh-CN" altLang="en-US" dirty="0">
                <a:solidFill>
                  <a:srgbClr val="C00000"/>
                </a:solidFill>
              </a:rPr>
              <a:t>含第</a:t>
            </a:r>
            <a:r>
              <a:rPr lang="en-US" altLang="zh-CN" dirty="0">
                <a:solidFill>
                  <a:srgbClr val="C00000"/>
                </a:solidFill>
              </a:rPr>
              <a:t>2</a:t>
            </a:r>
            <a:r>
              <a:rPr lang="zh-CN" altLang="en-US" dirty="0">
                <a:solidFill>
                  <a:srgbClr val="C00000"/>
                </a:solidFill>
              </a:rPr>
              <a:t>行）</a:t>
            </a:r>
            <a:r>
              <a:rPr lang="zh-CN" altLang="en-US" dirty="0"/>
              <a:t>，</a:t>
            </a:r>
            <a:r>
              <a:rPr lang="en-US" altLang="zh-CN" dirty="0"/>
              <a:t>name</a:t>
            </a:r>
            <a:r>
              <a:rPr lang="zh-CN" altLang="en-US" dirty="0"/>
              <a:t>列和</a:t>
            </a:r>
            <a:r>
              <a:rPr lang="en-US" altLang="zh-CN" dirty="0"/>
              <a:t>age</a:t>
            </a:r>
            <a:r>
              <a:rPr lang="zh-CN" altLang="en-US" dirty="0"/>
              <a:t>列的数据</a:t>
            </a:r>
          </a:p>
          <a:p>
            <a:pPr lvl="1"/>
            <a:r>
              <a:rPr lang="en-US" altLang="zh-CN" dirty="0" err="1"/>
              <a:t>df.loc</a:t>
            </a:r>
            <a:r>
              <a:rPr lang="en-US" altLang="zh-CN" dirty="0"/>
              <a:t>[[2,3],['</a:t>
            </a:r>
            <a:r>
              <a:rPr lang="en-US" altLang="zh-CN" dirty="0" err="1"/>
              <a:t>name','age</a:t>
            </a:r>
            <a:r>
              <a:rPr lang="en-US" altLang="zh-CN" dirty="0"/>
              <a:t>']]         #</a:t>
            </a:r>
            <a:r>
              <a:rPr lang="zh-CN" altLang="en-US" dirty="0"/>
              <a:t>选取指定的第</a:t>
            </a:r>
            <a:r>
              <a:rPr lang="en-US" altLang="zh-CN" dirty="0"/>
              <a:t>2</a:t>
            </a:r>
            <a:r>
              <a:rPr lang="zh-CN" altLang="en-US" dirty="0"/>
              <a:t>行和第</a:t>
            </a:r>
            <a:r>
              <a:rPr lang="en-US" altLang="zh-CN" dirty="0"/>
              <a:t>3</a:t>
            </a:r>
            <a:r>
              <a:rPr lang="zh-CN" altLang="en-US" dirty="0"/>
              <a:t>行，</a:t>
            </a:r>
            <a:r>
              <a:rPr lang="en-US" altLang="zh-CN" dirty="0"/>
              <a:t>name</a:t>
            </a:r>
            <a:r>
              <a:rPr lang="zh-CN" altLang="en-US" dirty="0"/>
              <a:t>和</a:t>
            </a:r>
            <a:r>
              <a:rPr lang="en-US" altLang="zh-CN" dirty="0"/>
              <a:t>age</a:t>
            </a:r>
            <a:r>
              <a:rPr lang="zh-CN" altLang="en-US" dirty="0"/>
              <a:t>列的数据    </a:t>
            </a:r>
          </a:p>
          <a:p>
            <a:pPr lvl="1"/>
            <a:r>
              <a:rPr lang="en-US" altLang="zh-CN" dirty="0" err="1"/>
              <a:t>df.loc</a:t>
            </a:r>
            <a:r>
              <a:rPr lang="en-US" altLang="zh-CN" dirty="0"/>
              <a:t>[</a:t>
            </a:r>
            <a:r>
              <a:rPr lang="en-US" altLang="zh-CN" dirty="0" err="1"/>
              <a:t>df</a:t>
            </a:r>
            <a:r>
              <a:rPr lang="en-US" altLang="zh-CN" dirty="0"/>
              <a:t>['gender']=='</a:t>
            </a:r>
            <a:r>
              <a:rPr lang="en-US" altLang="zh-CN" dirty="0" err="1"/>
              <a:t>M','name</a:t>
            </a:r>
            <a:r>
              <a:rPr lang="en-US" altLang="zh-CN" dirty="0"/>
              <a:t>']     #</a:t>
            </a:r>
            <a:r>
              <a:rPr lang="zh-CN" altLang="en-US" dirty="0"/>
              <a:t>选取</a:t>
            </a:r>
            <a:r>
              <a:rPr lang="en-US" altLang="zh-CN" dirty="0"/>
              <a:t>gender</a:t>
            </a:r>
            <a:r>
              <a:rPr lang="zh-CN" altLang="en-US" dirty="0"/>
              <a:t>列是</a:t>
            </a:r>
            <a:r>
              <a:rPr lang="en-US" altLang="zh-CN" dirty="0"/>
              <a:t>M</a:t>
            </a:r>
            <a:r>
              <a:rPr lang="zh-CN" altLang="en-US" dirty="0"/>
              <a:t>，</a:t>
            </a:r>
            <a:r>
              <a:rPr lang="en-US" altLang="zh-CN" dirty="0"/>
              <a:t>name</a:t>
            </a:r>
            <a:r>
              <a:rPr lang="zh-CN" altLang="en-US" dirty="0"/>
              <a:t>列的数据    </a:t>
            </a:r>
          </a:p>
          <a:p>
            <a:pPr lvl="1"/>
            <a:r>
              <a:rPr lang="en-US" altLang="zh-CN" dirty="0" err="1"/>
              <a:t>df.loc</a:t>
            </a:r>
            <a:r>
              <a:rPr lang="en-US" altLang="zh-CN" dirty="0"/>
              <a:t>[</a:t>
            </a:r>
            <a:r>
              <a:rPr lang="en-US" altLang="zh-CN" dirty="0" err="1"/>
              <a:t>df</a:t>
            </a:r>
            <a:r>
              <a:rPr lang="en-US" altLang="zh-CN" dirty="0"/>
              <a:t>['gender']=='M',['</a:t>
            </a:r>
            <a:r>
              <a:rPr lang="en-US" altLang="zh-CN" dirty="0" err="1"/>
              <a:t>name','age</a:t>
            </a:r>
            <a:r>
              <a:rPr lang="en-US" altLang="zh-CN" dirty="0"/>
              <a:t>']] #</a:t>
            </a:r>
            <a:r>
              <a:rPr lang="zh-CN" altLang="en-US" dirty="0"/>
              <a:t>选取</a:t>
            </a:r>
            <a:r>
              <a:rPr lang="en-US" altLang="zh-CN" dirty="0"/>
              <a:t>gender</a:t>
            </a:r>
            <a:r>
              <a:rPr lang="zh-CN" altLang="en-US" dirty="0"/>
              <a:t>列是</a:t>
            </a:r>
            <a:r>
              <a:rPr lang="en-US" altLang="zh-CN" dirty="0"/>
              <a:t>M</a:t>
            </a:r>
            <a:r>
              <a:rPr lang="zh-CN" altLang="en-US" dirty="0"/>
              <a:t>，</a:t>
            </a:r>
            <a:r>
              <a:rPr lang="en-US" altLang="zh-CN" dirty="0"/>
              <a:t>name</a:t>
            </a:r>
            <a:r>
              <a:rPr lang="zh-CN" altLang="en-US" dirty="0"/>
              <a:t>和</a:t>
            </a:r>
            <a:r>
              <a:rPr lang="en-US" altLang="zh-CN" dirty="0"/>
              <a:t>age</a:t>
            </a:r>
            <a:r>
              <a:rPr lang="zh-CN" altLang="en-US" dirty="0"/>
              <a:t>列的数据 </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39</a:t>
            </a:fld>
            <a:endParaRPr lang="zh-CN" altLang="en-US"/>
          </a:p>
        </p:txBody>
      </p:sp>
      <p:sp>
        <p:nvSpPr>
          <p:cNvPr id="5" name="矩形 4">
            <a:extLst>
              <a:ext uri="{FF2B5EF4-FFF2-40B4-BE49-F238E27FC236}">
                <a16:creationId xmlns:a16="http://schemas.microsoft.com/office/drawing/2014/main" id="{89801FA7-D6C5-4518-B01A-9B3F5CC74C83}"/>
              </a:ext>
            </a:extLst>
          </p:cNvPr>
          <p:cNvSpPr/>
          <p:nvPr/>
        </p:nvSpPr>
        <p:spPr>
          <a:xfrm>
            <a:off x="5155519" y="4112974"/>
            <a:ext cx="2629246" cy="369332"/>
          </a:xfrm>
          <a:prstGeom prst="rect">
            <a:avLst/>
          </a:prstGeom>
        </p:spPr>
        <p:txBody>
          <a:bodyPr wrap="none">
            <a:spAutoFit/>
          </a:bodyPr>
          <a:lstStyle/>
          <a:p>
            <a:r>
              <a:rPr lang="en-US" altLang="zh-CN" dirty="0">
                <a:solidFill>
                  <a:srgbClr val="404040"/>
                </a:solidFill>
                <a:latin typeface="-apple-system"/>
              </a:rPr>
              <a:t>loc[0:1] </a:t>
            </a:r>
            <a:r>
              <a:rPr lang="zh-CN" altLang="en-US" dirty="0">
                <a:solidFill>
                  <a:srgbClr val="404040"/>
                </a:solidFill>
                <a:latin typeface="-apple-system"/>
              </a:rPr>
              <a:t>和 </a:t>
            </a:r>
            <a:r>
              <a:rPr lang="en-US" altLang="zh-CN" dirty="0">
                <a:solidFill>
                  <a:srgbClr val="404040"/>
                </a:solidFill>
                <a:latin typeface="-apple-system"/>
              </a:rPr>
              <a:t>loc[0,1]</a:t>
            </a:r>
            <a:r>
              <a:rPr lang="zh-CN" altLang="en-US" dirty="0">
                <a:solidFill>
                  <a:srgbClr val="404040"/>
                </a:solidFill>
                <a:latin typeface="-apple-system"/>
              </a:rPr>
              <a:t>的区别</a:t>
            </a:r>
            <a:endParaRPr lang="en-US" dirty="0"/>
          </a:p>
        </p:txBody>
      </p:sp>
      <p:sp>
        <p:nvSpPr>
          <p:cNvPr id="6" name="矩形 5">
            <a:extLst>
              <a:ext uri="{FF2B5EF4-FFF2-40B4-BE49-F238E27FC236}">
                <a16:creationId xmlns:a16="http://schemas.microsoft.com/office/drawing/2014/main" id="{238413FE-4993-4AD4-99DE-AA301EB9FEF0}"/>
              </a:ext>
            </a:extLst>
          </p:cNvPr>
          <p:cNvSpPr/>
          <p:nvPr/>
        </p:nvSpPr>
        <p:spPr>
          <a:xfrm>
            <a:off x="6938193" y="224581"/>
            <a:ext cx="760851" cy="461665"/>
          </a:xfrm>
          <a:prstGeom prst="rect">
            <a:avLst/>
          </a:prstGeom>
        </p:spPr>
        <p:txBody>
          <a:bodyPr wrap="square">
            <a:spAutoFit/>
          </a:bodyPr>
          <a:lstStyle/>
          <a:p>
            <a:r>
              <a:rPr lang="en-US" altLang="zh-CN" sz="2400" dirty="0">
                <a:solidFill>
                  <a:srgbClr val="C00000"/>
                </a:solidFill>
              </a:rPr>
              <a:t>loc</a:t>
            </a:r>
            <a:endParaRPr lang="en-US" sz="2400" dirty="0">
              <a:solidFill>
                <a:srgbClr val="C00000"/>
              </a:solidFill>
            </a:endParaRPr>
          </a:p>
        </p:txBody>
      </p:sp>
    </p:spTree>
    <p:extLst>
      <p:ext uri="{BB962C8B-B14F-4D97-AF65-F5344CB8AC3E}">
        <p14:creationId xmlns:p14="http://schemas.microsoft.com/office/powerpoint/2010/main" val="369535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选取操作</a:t>
            </a:r>
            <a:r>
              <a:rPr lang="en-US" altLang="zh-CN" sz="2800" dirty="0">
                <a:latin typeface="Microsoft YaHei" charset="-122"/>
                <a:ea typeface="Microsoft YaHei" charset="-122"/>
                <a:cs typeface="Microsoft YaHei" charset="-122"/>
              </a:rPr>
              <a:t>-</a:t>
            </a:r>
            <a:r>
              <a:rPr lang="zh-CN" altLang="en-US" sz="2800" dirty="0">
                <a:latin typeface="Microsoft YaHei" charset="-122"/>
                <a:ea typeface="Microsoft YaHei" charset="-122"/>
                <a:cs typeface="Microsoft YaHei" charset="-122"/>
              </a:rPr>
              <a:t>选择与切片</a:t>
            </a:r>
            <a:r>
              <a:rPr lang="en-US" altLang="zh-CN" sz="2800" dirty="0">
                <a:latin typeface="Microsoft YaHei" charset="-122"/>
                <a:ea typeface="Microsoft YaHei" charset="-122"/>
                <a:cs typeface="Microsoft YaHei" charset="-122"/>
              </a:rPr>
              <a:t>(3)</a:t>
            </a:r>
            <a:endParaRPr lang="en-US" sz="2800" dirty="0">
              <a:latin typeface="Microsoft YaHei" charset="-122"/>
              <a:ea typeface="Microsoft YaHei" charset="-122"/>
              <a:cs typeface="Microsoft YaHei" charset="-122"/>
            </a:endParaRP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altLang="zh-CN" sz="2400" dirty="0" err="1"/>
              <a:t>iloc</a:t>
            </a:r>
            <a:r>
              <a:rPr lang="zh-CN" altLang="en-US" sz="2400" dirty="0"/>
              <a:t>是基于位置索引的，也就是常说的几行几列</a:t>
            </a:r>
            <a:endParaRPr lang="en-US" altLang="zh-CN" sz="2400" dirty="0"/>
          </a:p>
          <a:p>
            <a:pPr marL="342900" indent="-342900">
              <a:buFont typeface="Arial" panose="020B0604020202020204" pitchFamily="34" charset="0"/>
              <a:buChar char="•"/>
            </a:pPr>
            <a:r>
              <a:rPr lang="en-US" altLang="zh-CN" sz="2400" dirty="0" err="1"/>
              <a:t>iloc</a:t>
            </a:r>
            <a:r>
              <a:rPr lang="zh-CN" altLang="en-US" sz="2400" dirty="0"/>
              <a:t>完全用数字来定位 </a:t>
            </a:r>
            <a:r>
              <a:rPr lang="en-US" altLang="zh-CN" sz="2400" dirty="0" err="1"/>
              <a:t>iloc</a:t>
            </a:r>
            <a:r>
              <a:rPr lang="en-US" altLang="zh-CN" sz="2400" dirty="0"/>
              <a:t>[</a:t>
            </a:r>
            <a:r>
              <a:rPr lang="en-US" altLang="zh-CN" sz="2400" dirty="0" err="1"/>
              <a:t>row_index</a:t>
            </a:r>
            <a:r>
              <a:rPr lang="en-US" altLang="zh-CN" sz="2400" dirty="0"/>
              <a:t>, </a:t>
            </a:r>
            <a:r>
              <a:rPr lang="en-US" altLang="zh-CN" sz="2400" dirty="0" err="1"/>
              <a:t>column_index</a:t>
            </a:r>
            <a:r>
              <a:rPr lang="en-US" altLang="zh-CN" sz="2400" dirty="0"/>
              <a:t>]</a:t>
            </a:r>
          </a:p>
          <a:p>
            <a:pPr lvl="1"/>
            <a:r>
              <a:rPr lang="en-US" altLang="zh-CN" dirty="0" err="1"/>
              <a:t>df.iloc</a:t>
            </a:r>
            <a:r>
              <a:rPr lang="en-US" altLang="zh-CN" dirty="0"/>
              <a:t>[0,0]        #</a:t>
            </a:r>
            <a:r>
              <a:rPr lang="zh-CN" altLang="en-US" dirty="0"/>
              <a:t>第</a:t>
            </a:r>
            <a:r>
              <a:rPr lang="en-US" altLang="zh-CN" dirty="0"/>
              <a:t>0</a:t>
            </a:r>
            <a:r>
              <a:rPr lang="zh-CN" altLang="en-US" dirty="0"/>
              <a:t>行第</a:t>
            </a:r>
            <a:r>
              <a:rPr lang="en-US" altLang="zh-CN" dirty="0"/>
              <a:t>0</a:t>
            </a:r>
            <a:r>
              <a:rPr lang="zh-CN" altLang="en-US" dirty="0"/>
              <a:t>列的数据</a:t>
            </a:r>
            <a:endParaRPr lang="en-US" altLang="zh-CN" dirty="0"/>
          </a:p>
          <a:p>
            <a:pPr lvl="1"/>
            <a:r>
              <a:rPr lang="en-US" altLang="zh-CN" dirty="0" err="1"/>
              <a:t>df.iloc</a:t>
            </a:r>
            <a:r>
              <a:rPr lang="en-US" altLang="zh-CN" dirty="0"/>
              <a:t>[1,2]        #</a:t>
            </a:r>
            <a:r>
              <a:rPr lang="zh-CN" altLang="en-US" dirty="0"/>
              <a:t>第</a:t>
            </a:r>
            <a:r>
              <a:rPr lang="en-US" altLang="zh-CN" dirty="0"/>
              <a:t>1</a:t>
            </a:r>
            <a:r>
              <a:rPr lang="zh-CN" altLang="en-US" dirty="0"/>
              <a:t>行第</a:t>
            </a:r>
            <a:r>
              <a:rPr lang="en-US" altLang="zh-CN" dirty="0"/>
              <a:t>2</a:t>
            </a:r>
            <a:r>
              <a:rPr lang="zh-CN" altLang="en-US" dirty="0"/>
              <a:t>列的数据，</a:t>
            </a:r>
            <a:r>
              <a:rPr lang="en-US" altLang="zh-CN" dirty="0"/>
              <a:t>32    </a:t>
            </a:r>
          </a:p>
          <a:p>
            <a:pPr lvl="1"/>
            <a:r>
              <a:rPr lang="en-US" altLang="zh-CN" dirty="0" err="1"/>
              <a:t>df.iloc</a:t>
            </a:r>
            <a:r>
              <a:rPr lang="en-US" altLang="zh-CN" dirty="0"/>
              <a:t>[[1,3],0:2]  #</a:t>
            </a:r>
            <a:r>
              <a:rPr lang="zh-CN" altLang="en-US" dirty="0"/>
              <a:t>第</a:t>
            </a:r>
            <a:r>
              <a:rPr lang="en-US" altLang="zh-CN" dirty="0"/>
              <a:t>1</a:t>
            </a:r>
            <a:r>
              <a:rPr lang="zh-CN" altLang="en-US" dirty="0"/>
              <a:t>行和第</a:t>
            </a:r>
            <a:r>
              <a:rPr lang="en-US" altLang="zh-CN" dirty="0"/>
              <a:t>3</a:t>
            </a:r>
            <a:r>
              <a:rPr lang="zh-CN" altLang="en-US" dirty="0"/>
              <a:t>行，从第</a:t>
            </a:r>
            <a:r>
              <a:rPr lang="en-US" altLang="zh-CN" dirty="0"/>
              <a:t>0</a:t>
            </a:r>
            <a:r>
              <a:rPr lang="zh-CN" altLang="en-US" dirty="0"/>
              <a:t>列到第</a:t>
            </a:r>
            <a:r>
              <a:rPr lang="en-US" altLang="zh-CN" dirty="0"/>
              <a:t>2</a:t>
            </a:r>
            <a:r>
              <a:rPr lang="zh-CN" altLang="en-US" dirty="0"/>
              <a:t>列</a:t>
            </a:r>
            <a:r>
              <a:rPr lang="zh-CN" altLang="en-US" dirty="0">
                <a:solidFill>
                  <a:srgbClr val="C00000"/>
                </a:solidFill>
              </a:rPr>
              <a:t>（不包含第</a:t>
            </a:r>
            <a:r>
              <a:rPr lang="en-US" altLang="zh-CN" dirty="0">
                <a:solidFill>
                  <a:srgbClr val="C00000"/>
                </a:solidFill>
              </a:rPr>
              <a:t>2</a:t>
            </a:r>
            <a:r>
              <a:rPr lang="zh-CN" altLang="en-US" dirty="0">
                <a:solidFill>
                  <a:srgbClr val="C00000"/>
                </a:solidFill>
              </a:rPr>
              <a:t>列）</a:t>
            </a:r>
            <a:r>
              <a:rPr lang="zh-CN" altLang="en-US" dirty="0"/>
              <a:t>的数据    </a:t>
            </a:r>
          </a:p>
          <a:p>
            <a:pPr lvl="1"/>
            <a:r>
              <a:rPr lang="en-US" altLang="zh-CN" dirty="0" err="1"/>
              <a:t>df.iloc</a:t>
            </a:r>
            <a:r>
              <a:rPr lang="en-US" altLang="zh-CN" dirty="0"/>
              <a:t>[1:3,[1,2]]   #</a:t>
            </a:r>
            <a:r>
              <a:rPr lang="zh-CN" altLang="en-US" dirty="0"/>
              <a:t>第</a:t>
            </a:r>
            <a:r>
              <a:rPr lang="en-US" altLang="zh-CN" dirty="0"/>
              <a:t>1</a:t>
            </a:r>
            <a:r>
              <a:rPr lang="zh-CN" altLang="en-US" dirty="0"/>
              <a:t>行到第</a:t>
            </a:r>
            <a:r>
              <a:rPr lang="en-US" altLang="zh-CN" dirty="0"/>
              <a:t>3</a:t>
            </a:r>
            <a:r>
              <a:rPr lang="zh-CN" altLang="en-US" dirty="0"/>
              <a:t>行（不包含第</a:t>
            </a:r>
            <a:r>
              <a:rPr lang="en-US" altLang="zh-CN" dirty="0"/>
              <a:t>3</a:t>
            </a:r>
            <a:r>
              <a:rPr lang="zh-CN" altLang="en-US" dirty="0"/>
              <a:t>行），第</a:t>
            </a:r>
            <a:r>
              <a:rPr lang="en-US" altLang="zh-CN" dirty="0"/>
              <a:t>1</a:t>
            </a:r>
            <a:r>
              <a:rPr lang="zh-CN" altLang="en-US" dirty="0"/>
              <a:t>列和第</a:t>
            </a:r>
            <a:r>
              <a:rPr lang="en-US" altLang="zh-CN" dirty="0"/>
              <a:t>2</a:t>
            </a:r>
            <a:r>
              <a:rPr lang="zh-CN" altLang="en-US" dirty="0"/>
              <a:t>列数据 </a:t>
            </a:r>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40</a:t>
            </a:fld>
            <a:endParaRPr lang="zh-CN" altLang="en-US"/>
          </a:p>
        </p:txBody>
      </p:sp>
      <p:sp>
        <p:nvSpPr>
          <p:cNvPr id="5" name="矩形 5">
            <a:extLst>
              <a:ext uri="{FF2B5EF4-FFF2-40B4-BE49-F238E27FC236}">
                <a16:creationId xmlns:a16="http://schemas.microsoft.com/office/drawing/2014/main" id="{238413FE-4993-4AD4-99DE-AA301EB9FEF0}"/>
              </a:ext>
            </a:extLst>
          </p:cNvPr>
          <p:cNvSpPr/>
          <p:nvPr/>
        </p:nvSpPr>
        <p:spPr>
          <a:xfrm>
            <a:off x="6849306" y="224581"/>
            <a:ext cx="760851" cy="461665"/>
          </a:xfrm>
          <a:prstGeom prst="rect">
            <a:avLst/>
          </a:prstGeom>
        </p:spPr>
        <p:txBody>
          <a:bodyPr wrap="square">
            <a:spAutoFit/>
          </a:bodyPr>
          <a:lstStyle/>
          <a:p>
            <a:r>
              <a:rPr lang="en-US" altLang="zh-CN" sz="2400" dirty="0" err="1">
                <a:solidFill>
                  <a:srgbClr val="C00000"/>
                </a:solidFill>
              </a:rPr>
              <a:t>iloc</a:t>
            </a:r>
            <a:endParaRPr lang="en-US" sz="2400" dirty="0">
              <a:solidFill>
                <a:srgbClr val="C00000"/>
              </a:solidFill>
            </a:endParaRPr>
          </a:p>
        </p:txBody>
      </p:sp>
    </p:spTree>
    <p:extLst>
      <p:ext uri="{BB962C8B-B14F-4D97-AF65-F5344CB8AC3E}">
        <p14:creationId xmlns:p14="http://schemas.microsoft.com/office/powerpoint/2010/main" val="96224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选取操作</a:t>
            </a:r>
            <a:r>
              <a:rPr lang="en-US" altLang="zh-CN" sz="2800" dirty="0">
                <a:latin typeface="Microsoft YaHei" charset="-122"/>
                <a:ea typeface="Microsoft YaHei" charset="-122"/>
                <a:cs typeface="Microsoft YaHei" charset="-122"/>
              </a:rPr>
              <a:t>-</a:t>
            </a:r>
            <a:r>
              <a:rPr lang="zh-CN" altLang="en-US" sz="2800" dirty="0">
                <a:latin typeface="Microsoft YaHei" charset="-122"/>
                <a:ea typeface="Microsoft YaHei" charset="-122"/>
                <a:cs typeface="Microsoft YaHei" charset="-122"/>
              </a:rPr>
              <a:t>条件过滤</a:t>
            </a:r>
            <a:endParaRPr lang="en-US" sz="2800" dirty="0">
              <a:latin typeface="Microsoft YaHei" charset="-122"/>
              <a:ea typeface="Microsoft YaHei" charset="-122"/>
              <a:cs typeface="Microsoft YaHei" charset="-122"/>
            </a:endParaRPr>
          </a:p>
        </p:txBody>
      </p:sp>
      <p:sp>
        <p:nvSpPr>
          <p:cNvPr id="3" name="Content Placeholder 2"/>
          <p:cNvSpPr>
            <a:spLocks noGrp="1"/>
          </p:cNvSpPr>
          <p:nvPr>
            <p:ph idx="1"/>
          </p:nvPr>
        </p:nvSpPr>
        <p:spPr/>
        <p:txBody>
          <a:bodyPr/>
          <a:lstStyle/>
          <a:p>
            <a:r>
              <a:rPr lang="zh-CN" altLang="en-US" dirty="0"/>
              <a:t>使用条件过滤，获取部分行数据</a:t>
            </a:r>
          </a:p>
          <a:p>
            <a:pPr lvl="1"/>
            <a:endParaRPr lang="zh-CN" altLang="en-US" dirty="0"/>
          </a:p>
        </p:txBody>
      </p:sp>
      <p:sp>
        <p:nvSpPr>
          <p:cNvPr id="5" name="Slide Number Placeholder 4"/>
          <p:cNvSpPr>
            <a:spLocks noGrp="1"/>
          </p:cNvSpPr>
          <p:nvPr>
            <p:ph type="sldNum" sz="quarter" idx="12"/>
          </p:nvPr>
        </p:nvSpPr>
        <p:spPr/>
        <p:txBody>
          <a:bodyPr/>
          <a:lstStyle/>
          <a:p>
            <a:pPr>
              <a:defRPr/>
            </a:pPr>
            <a:fld id="{03E60C35-1193-284A-B3D8-F868547A968B}" type="slidenum">
              <a:rPr lang="zh-CN" altLang="en-US" smtClean="0"/>
              <a:pPr>
                <a:defRPr/>
              </a:pPr>
              <a:t>41</a:t>
            </a:fld>
            <a:endParaRPr lang="en-US" altLang="zh-CN"/>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538" r="-1"/>
          <a:stretch/>
        </p:blipFill>
        <p:spPr>
          <a:xfrm>
            <a:off x="1209958" y="1462281"/>
            <a:ext cx="5689942" cy="322226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65714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聚合操作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groupby</a:t>
            </a:r>
            <a:endParaRPr lang="en-US" sz="2800" dirty="0">
              <a:latin typeface="Microsoft YaHei" charset="-122"/>
              <a:ea typeface="Microsoft YaHei" charset="-122"/>
              <a:cs typeface="Microsoft YaHei" charset="-122"/>
            </a:endParaRPr>
          </a:p>
        </p:txBody>
      </p:sp>
      <p:sp>
        <p:nvSpPr>
          <p:cNvPr id="8" name="Content Placeholder 2"/>
          <p:cNvSpPr>
            <a:spLocks noGrp="1"/>
          </p:cNvSpPr>
          <p:nvPr>
            <p:ph idx="1"/>
          </p:nvPr>
        </p:nvSpPr>
        <p:spPr>
          <a:xfrm>
            <a:off x="451945" y="851053"/>
            <a:ext cx="8493751" cy="3908234"/>
          </a:xfrm>
        </p:spPr>
        <p:txBody>
          <a:bodyPr/>
          <a:lstStyle/>
          <a:p>
            <a:pPr marL="342900" lvl="1" indent="-342900">
              <a:lnSpc>
                <a:spcPct val="100000"/>
              </a:lnSpc>
              <a:spcBef>
                <a:spcPts val="672"/>
              </a:spcBef>
            </a:pPr>
            <a:r>
              <a:rPr kumimoji="1" lang="zh-CN" altLang="en-US" sz="2000" dirty="0">
                <a:latin typeface="Microsoft YaHei" charset="-122"/>
                <a:ea typeface="Microsoft YaHei" charset="-122"/>
              </a:rPr>
              <a:t>通常我们希望对在某些属性上取值相同的的数据点进行聚合分析</a:t>
            </a:r>
            <a:endParaRPr kumimoji="1" lang="en-US" altLang="zh-CN" sz="2000" dirty="0">
              <a:latin typeface="Microsoft YaHei" charset="-122"/>
              <a:ea typeface="Microsoft YaHei" charset="-122"/>
            </a:endParaRPr>
          </a:p>
          <a:p>
            <a:pPr marL="800100" lvl="2" indent="-342900">
              <a:lnSpc>
                <a:spcPct val="100000"/>
              </a:lnSpc>
              <a:spcBef>
                <a:spcPts val="672"/>
              </a:spcBef>
            </a:pPr>
            <a:r>
              <a:rPr kumimoji="1" lang="zh-CN" altLang="en-US" sz="1600" dirty="0">
                <a:latin typeface="Microsoft YaHei" charset="-122"/>
                <a:ea typeface="Microsoft YaHei" charset="-122"/>
              </a:rPr>
              <a:t>每个政党在美国所有选举中的平均投票份额是多少？</a:t>
            </a:r>
            <a:endParaRPr kumimoji="1" lang="en-US" altLang="zh-CN" sz="1600" dirty="0">
              <a:latin typeface="Microsoft YaHei" charset="-122"/>
              <a:ea typeface="Microsoft YaHei" charset="-122"/>
            </a:endParaRPr>
          </a:p>
          <a:p>
            <a:pPr marL="800100" lvl="2" indent="-342900">
              <a:lnSpc>
                <a:spcPct val="100000"/>
              </a:lnSpc>
              <a:spcBef>
                <a:spcPts val="672"/>
              </a:spcBef>
            </a:pPr>
            <a:r>
              <a:rPr kumimoji="1" lang="zh-CN" altLang="en-US" sz="1600" dirty="0">
                <a:latin typeface="Microsoft YaHei" charset="-122"/>
                <a:ea typeface="Microsoft YaHei" charset="-122"/>
              </a:rPr>
              <a:t>中国人民大学每个学期每个系的平均班级人数是多少？</a:t>
            </a:r>
            <a:endParaRPr kumimoji="1" lang="en-US" altLang="zh-CN" sz="1600" dirty="0">
              <a:latin typeface="Microsoft YaHei" charset="-122"/>
              <a:ea typeface="Microsoft YaHei" charset="-122"/>
            </a:endParaRPr>
          </a:p>
          <a:p>
            <a:pPr marL="342900" lvl="1" indent="-342900">
              <a:lnSpc>
                <a:spcPct val="100000"/>
              </a:lnSpc>
              <a:spcBef>
                <a:spcPts val="672"/>
              </a:spcBef>
            </a:pPr>
            <a:r>
              <a:rPr kumimoji="1" lang="en-US" altLang="zh-CN" dirty="0" err="1">
                <a:latin typeface="Microsoft YaHei" charset="-122"/>
                <a:ea typeface="Microsoft YaHei" charset="-122"/>
              </a:rPr>
              <a:t>groupby</a:t>
            </a:r>
            <a:r>
              <a:rPr kumimoji="1" lang="en-US" altLang="zh-CN" dirty="0">
                <a:latin typeface="Microsoft YaHei" charset="-122"/>
                <a:ea typeface="Microsoft YaHei" charset="-122"/>
              </a:rPr>
              <a:t> </a:t>
            </a:r>
            <a:r>
              <a:rPr kumimoji="1" lang="zh-CN" altLang="en-US" dirty="0">
                <a:latin typeface="Microsoft YaHei" charset="-122"/>
                <a:ea typeface="Microsoft YaHei" charset="-122"/>
              </a:rPr>
              <a:t>是解决这类问题的一个非常强大的工具。</a:t>
            </a:r>
            <a:endParaRPr kumimoji="1" lang="zh-CN" altLang="en-US" sz="1600" dirty="0">
              <a:latin typeface="Microsoft YaHei" charset="-122"/>
              <a:ea typeface="Microsoft YaHei" charset="-122"/>
            </a:endParaRPr>
          </a:p>
        </p:txBody>
      </p:sp>
      <p:pic>
        <p:nvPicPr>
          <p:cNvPr id="11" name="Picture 10"/>
          <p:cNvPicPr>
            <a:picLocks noChangeAspect="1"/>
          </p:cNvPicPr>
          <p:nvPr/>
        </p:nvPicPr>
        <p:blipFill>
          <a:blip r:embed="rId3"/>
          <a:stretch>
            <a:fillRect/>
          </a:stretch>
        </p:blipFill>
        <p:spPr>
          <a:xfrm>
            <a:off x="813670" y="2400784"/>
            <a:ext cx="3355554" cy="2354891"/>
          </a:xfrm>
          <a:prstGeom prst="rect">
            <a:avLst/>
          </a:prstGeom>
        </p:spPr>
      </p:pic>
      <p:pic>
        <p:nvPicPr>
          <p:cNvPr id="12" name="Picture 11"/>
          <p:cNvPicPr>
            <a:picLocks noChangeAspect="1"/>
          </p:cNvPicPr>
          <p:nvPr/>
        </p:nvPicPr>
        <p:blipFill>
          <a:blip r:embed="rId4"/>
          <a:stretch>
            <a:fillRect/>
          </a:stretch>
        </p:blipFill>
        <p:spPr>
          <a:xfrm>
            <a:off x="4530948" y="2408818"/>
            <a:ext cx="3959909" cy="2346857"/>
          </a:xfrm>
          <a:prstGeom prst="rect">
            <a:avLst/>
          </a:prstGeom>
        </p:spPr>
      </p:pic>
    </p:spTree>
    <p:extLst>
      <p:ext uri="{BB962C8B-B14F-4D97-AF65-F5344CB8AC3E}">
        <p14:creationId xmlns:p14="http://schemas.microsoft.com/office/powerpoint/2010/main" val="1964551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聚合操作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groupby</a:t>
            </a:r>
            <a:endParaRPr lang="en-US" sz="2800" dirty="0">
              <a:latin typeface="Microsoft YaHei" charset="-122"/>
              <a:ea typeface="Microsoft YaHei" charset="-122"/>
              <a:cs typeface="Microsoft YaHei" charset="-122"/>
            </a:endParaRPr>
          </a:p>
        </p:txBody>
      </p:sp>
      <p:sp>
        <p:nvSpPr>
          <p:cNvPr id="16" name="Google Shape;78;p15"/>
          <p:cNvSpPr txBox="1">
            <a:spLocks/>
          </p:cNvSpPr>
          <p:nvPr/>
        </p:nvSpPr>
        <p:spPr>
          <a:xfrm>
            <a:off x="457200" y="971550"/>
            <a:ext cx="8229600" cy="362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lnSpc>
                <a:spcPct val="100000"/>
              </a:lnSpc>
              <a:spcBef>
                <a:spcPts val="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100000"/>
              </a:lnSpc>
              <a:spcBef>
                <a:spcPts val="0"/>
              </a:spcBef>
              <a:spcAft>
                <a:spcPts val="0"/>
              </a:spcAft>
              <a:buClr>
                <a:srgbClr val="C4820E"/>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0"/>
              </a:spcBef>
              <a:spcAft>
                <a:spcPts val="0"/>
              </a:spcAft>
              <a:buClr>
                <a:srgbClr val="C4820E"/>
              </a:buClr>
              <a:buSzPts val="1800"/>
              <a:buFont typeface="Arial"/>
              <a:buChar char="■"/>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480"/>
              </a:spcBef>
              <a:spcAft>
                <a:spcPts val="0"/>
              </a:spcAft>
              <a:buClr>
                <a:srgbClr val="C4820E"/>
              </a:buClr>
              <a:buSzPts val="2400"/>
              <a:buFont typeface="Arial"/>
              <a:buNone/>
              <a:tabLst/>
              <a:defRPr/>
            </a:pP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The </a:t>
            </a:r>
            <a:r>
              <a:rPr kumimoji="0" lang="en" sz="2400" b="1" i="0" u="none" strike="noStrike" kern="0" cap="none" spc="0" normalizeH="0" baseline="0" noProof="0" dirty="0">
                <a:ln>
                  <a:noFill/>
                </a:ln>
                <a:solidFill>
                  <a:srgbClr val="3B7EA1"/>
                </a:solidFill>
                <a:effectLst/>
                <a:uLnTx/>
                <a:uFillTx/>
                <a:latin typeface="Courier New"/>
                <a:ea typeface="Courier New"/>
                <a:cs typeface="Courier New"/>
                <a:sym typeface="Courier New"/>
              </a:rPr>
              <a:t>group</a:t>
            </a:r>
            <a:r>
              <a:rPr kumimoji="0" lang="en-US" altLang="zh-CN" sz="2400" b="1" i="0" u="none" strike="noStrike" kern="0" cap="none" spc="0" normalizeH="0" baseline="0" noProof="0" dirty="0">
                <a:ln>
                  <a:noFill/>
                </a:ln>
                <a:solidFill>
                  <a:srgbClr val="3B7EA1"/>
                </a:solidFill>
                <a:effectLst/>
                <a:uLnTx/>
                <a:uFillTx/>
                <a:latin typeface="Courier New"/>
                <a:ea typeface="Courier New"/>
                <a:cs typeface="Courier New"/>
                <a:sym typeface="Courier New"/>
              </a:rPr>
              <a:t>by</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method aggregates all rows with the same value for </a:t>
            </a:r>
            <a:r>
              <a:rPr kumimoji="0" lang="en-US" altLang="zh-CN" sz="2400" b="0" i="0" u="none" strike="noStrike" kern="0" cap="none" spc="0" normalizeH="0" baseline="0" noProof="0" dirty="0">
                <a:ln>
                  <a:noFill/>
                </a:ln>
                <a:solidFill>
                  <a:srgbClr val="3B3B3B"/>
                </a:solidFill>
                <a:effectLst/>
                <a:uLnTx/>
                <a:uFillTx/>
                <a:latin typeface="Arial"/>
                <a:ea typeface="Arial"/>
                <a:cs typeface="Arial"/>
                <a:sym typeface="Arial"/>
              </a:rPr>
              <a:t>one</a:t>
            </a:r>
            <a:r>
              <a:rPr kumimoji="0" lang="zh-CN" altLang="en-US" sz="2400" b="0" i="0" u="none" strike="noStrike" kern="0" cap="none" spc="0" normalizeH="0" noProof="0" dirty="0">
                <a:ln>
                  <a:noFill/>
                </a:ln>
                <a:solidFill>
                  <a:srgbClr val="3B3B3B"/>
                </a:solidFill>
                <a:effectLst/>
                <a:uLnTx/>
                <a:uFillTx/>
                <a:latin typeface="Arial"/>
                <a:ea typeface="Arial"/>
                <a:cs typeface="Arial"/>
                <a:sym typeface="Arial"/>
              </a:rPr>
              <a:t> </a:t>
            </a:r>
            <a:r>
              <a:rPr lang="en-US" altLang="zh-CN" kern="0" dirty="0">
                <a:solidFill>
                  <a:srgbClr val="3B3B3B"/>
                </a:solidFill>
              </a:rPr>
              <a:t>or</a:t>
            </a:r>
            <a:r>
              <a:rPr lang="zh-CN" altLang="en-US" kern="0" dirty="0">
                <a:solidFill>
                  <a:srgbClr val="3B3B3B"/>
                </a:solidFill>
              </a:rPr>
              <a:t> </a:t>
            </a:r>
            <a:r>
              <a:rPr lang="en-US" altLang="zh-CN" kern="0" dirty="0">
                <a:solidFill>
                  <a:srgbClr val="3B3B3B"/>
                </a:solidFill>
              </a:rPr>
              <a:t>more</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column</a:t>
            </a:r>
            <a:r>
              <a:rPr kumimoji="0" lang="en-US" altLang="zh-CN" sz="2400" b="0" i="0" u="none" strike="noStrike" kern="0" cap="none" spc="0" normalizeH="0" baseline="0" noProof="0" dirty="0">
                <a:ln>
                  <a:noFill/>
                </a:ln>
                <a:solidFill>
                  <a:srgbClr val="3B3B3B"/>
                </a:solidFill>
                <a:effectLst/>
                <a:uLnTx/>
                <a:uFillTx/>
                <a:latin typeface="Arial"/>
                <a:ea typeface="Arial"/>
                <a:cs typeface="Arial"/>
                <a:sym typeface="Arial"/>
              </a:rPr>
              <a:t>s</a:t>
            </a:r>
            <a:r>
              <a:rPr kumimoji="0" lang="en" sz="2400" b="0" i="0" u="none" strike="noStrike" kern="0" cap="none" spc="0" normalizeH="0" baseline="0" noProof="0" dirty="0">
                <a:ln>
                  <a:noFill/>
                </a:ln>
                <a:solidFill>
                  <a:srgbClr val="3B3B3B"/>
                </a:solidFill>
                <a:effectLst/>
                <a:uLnTx/>
                <a:uFillTx/>
                <a:latin typeface="Arial"/>
                <a:ea typeface="Arial"/>
                <a:cs typeface="Arial"/>
                <a:sym typeface="Arial"/>
              </a:rPr>
              <a:t> into a single row</a:t>
            </a:r>
          </a:p>
        </p:txBody>
      </p:sp>
      <p:pic>
        <p:nvPicPr>
          <p:cNvPr id="1026" name="Picture 2" descr="roupBy in Pandas Python (Latest 2022) - KeyToData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462" y="1977245"/>
            <a:ext cx="6471075" cy="2617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184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sz="2800" dirty="0">
                <a:latin typeface="Microsoft YaHei" charset="-122"/>
                <a:ea typeface="Microsoft YaHei" charset="-122"/>
                <a:cs typeface="Microsoft YaHei" charset="-122"/>
              </a:rPr>
              <a:t>数据</a:t>
            </a:r>
            <a:r>
              <a:rPr lang="zh-CN" altLang="en-US" sz="2800" dirty="0">
                <a:solidFill>
                  <a:srgbClr val="C00000"/>
                </a:solidFill>
                <a:latin typeface="Microsoft YaHei" charset="-122"/>
                <a:ea typeface="Microsoft YaHei" charset="-122"/>
                <a:cs typeface="Microsoft YaHei" charset="-122"/>
              </a:rPr>
              <a:t>透视操作</a:t>
            </a:r>
            <a:r>
              <a:rPr lang="en-US" altLang="zh-CN" sz="2800" dirty="0">
                <a:latin typeface="Microsoft YaHei" charset="-122"/>
                <a:ea typeface="Microsoft YaHei" charset="-122"/>
                <a:cs typeface="Microsoft YaHei" charset="-122"/>
              </a:rPr>
              <a:t>-</a:t>
            </a:r>
            <a:r>
              <a:rPr lang="en-US" altLang="zh-CN" sz="2800" dirty="0" err="1">
                <a:latin typeface="Microsoft YaHei" charset="-122"/>
                <a:ea typeface="Microsoft YaHei" charset="-122"/>
                <a:cs typeface="Microsoft YaHei" charset="-122"/>
              </a:rPr>
              <a:t>pivot_table</a:t>
            </a:r>
            <a:endParaRPr lang="en-US" sz="2800" dirty="0">
              <a:latin typeface="Microsoft YaHei" charset="-122"/>
              <a:ea typeface="Microsoft YaHei" charset="-122"/>
              <a:cs typeface="Microsoft YaHei" charset="-122"/>
            </a:endParaRPr>
          </a:p>
        </p:txBody>
      </p:sp>
      <p:sp>
        <p:nvSpPr>
          <p:cNvPr id="8" name="Content Placeholder 2"/>
          <p:cNvSpPr>
            <a:spLocks noGrp="1"/>
          </p:cNvSpPr>
          <p:nvPr>
            <p:ph idx="1"/>
          </p:nvPr>
        </p:nvSpPr>
        <p:spPr>
          <a:xfrm>
            <a:off x="451945" y="851053"/>
            <a:ext cx="8493751" cy="3908234"/>
          </a:xfrm>
        </p:spPr>
        <p:txBody>
          <a:bodyPr/>
          <a:lstStyle/>
          <a:p>
            <a:pPr marL="342900" lvl="1" indent="-342900">
              <a:lnSpc>
                <a:spcPct val="100000"/>
              </a:lnSpc>
              <a:spcBef>
                <a:spcPts val="672"/>
              </a:spcBef>
            </a:pPr>
            <a:r>
              <a:rPr kumimoji="1" lang="zh-CN" altLang="en-US" sz="2000" dirty="0">
                <a:latin typeface="Microsoft YaHei" charset="-122"/>
                <a:ea typeface="Microsoft YaHei" charset="-122"/>
              </a:rPr>
              <a:t>数据透视表是一种常见于电子表格和数据分析软件中的数据汇总工具。 </a:t>
            </a:r>
            <a:endParaRPr kumimoji="1" lang="en-US" altLang="zh-CN" sz="2000" dirty="0">
              <a:latin typeface="Microsoft YaHei" charset="-122"/>
              <a:ea typeface="Microsoft YaHei" charset="-122"/>
            </a:endParaRPr>
          </a:p>
          <a:p>
            <a:pPr marL="342900" lvl="1" indent="-342900">
              <a:lnSpc>
                <a:spcPct val="100000"/>
              </a:lnSpc>
              <a:spcBef>
                <a:spcPts val="672"/>
              </a:spcBef>
            </a:pPr>
            <a:r>
              <a:rPr kumimoji="1" lang="zh-CN" altLang="en-US" sz="2000" dirty="0">
                <a:latin typeface="Microsoft YaHei" charset="-122"/>
                <a:ea typeface="Microsoft YaHei" charset="-122"/>
              </a:rPr>
              <a:t>数据透视表通过一个或多个键聚合数据表，将数据排列在一个矩形中，其中一些组键沿着行，一些沿着列。</a:t>
            </a:r>
            <a:endParaRPr kumimoji="1" lang="en-US" altLang="zh-CN" sz="2000" dirty="0">
              <a:latin typeface="Microsoft YaHei" charset="-122"/>
              <a:ea typeface="Microsoft YaHei" charset="-122"/>
            </a:endParaRPr>
          </a:p>
        </p:txBody>
      </p:sp>
      <p:pic>
        <p:nvPicPr>
          <p:cNvPr id="3" name="Picture 2"/>
          <p:cNvPicPr>
            <a:picLocks noChangeAspect="1"/>
          </p:cNvPicPr>
          <p:nvPr/>
        </p:nvPicPr>
        <p:blipFill>
          <a:blip r:embed="rId3"/>
          <a:stretch>
            <a:fillRect/>
          </a:stretch>
        </p:blipFill>
        <p:spPr>
          <a:xfrm>
            <a:off x="2162421" y="2022646"/>
            <a:ext cx="5072797" cy="2736641"/>
          </a:xfrm>
          <a:prstGeom prst="rect">
            <a:avLst/>
          </a:prstGeom>
        </p:spPr>
      </p:pic>
    </p:spTree>
    <p:extLst>
      <p:ext uri="{BB962C8B-B14F-4D97-AF65-F5344CB8AC3E}">
        <p14:creationId xmlns:p14="http://schemas.microsoft.com/office/powerpoint/2010/main" val="573326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TextBox 1"/>
          <p:cNvSpPr txBox="1"/>
          <p:nvPr/>
        </p:nvSpPr>
        <p:spPr>
          <a:xfrm>
            <a:off x="3995936" y="157881"/>
            <a:ext cx="12105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black"/>
                </a:solidFill>
                <a:effectLst/>
                <a:uLnTx/>
                <a:uFillTx/>
                <a:latin typeface="方正兰亭细黑_GBK" pitchFamily="2" charset="-122"/>
                <a:ea typeface="方正兰亭细黑_GBK" pitchFamily="2" charset="-122"/>
                <a:cs typeface="+mn-cs"/>
              </a:rPr>
              <a:t>提纲</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lvl="0" algn="ctr">
              <a:defRPr/>
            </a:pPr>
            <a:r>
              <a:rPr lang="zh-CN" altLang="en-US" sz="2000" dirty="0">
                <a:solidFill>
                  <a:prstClr val="white"/>
                </a:solidFill>
                <a:latin typeface="微软雅黑" pitchFamily="34" charset="-122"/>
                <a:ea typeface="微软雅黑" pitchFamily="34" charset="-122"/>
              </a:rPr>
              <a:t>探索数据分析 </a:t>
            </a:r>
            <a:r>
              <a:rPr lang="en-US" altLang="zh-CN" sz="2000" dirty="0">
                <a:solidFill>
                  <a:prstClr val="white"/>
                </a:solidFill>
                <a:latin typeface="微软雅黑" pitchFamily="34" charset="-122"/>
                <a:ea typeface="微软雅黑" pitchFamily="34" charset="-122"/>
              </a:rPr>
              <a:t>-</a:t>
            </a:r>
            <a:r>
              <a:rPr lang="zh-CN" altLang="en-US" sz="2000" dirty="0">
                <a:solidFill>
                  <a:prstClr val="white"/>
                </a:solidFill>
                <a:latin typeface="微软雅黑" pitchFamily="34" charset="-122"/>
                <a:ea typeface="微软雅黑" pitchFamily="34" charset="-122"/>
              </a:rPr>
              <a:t> 可视化</a:t>
            </a:r>
            <a:endParaRPr kumimoji="0" lang="zh-CN" altLang="en-US" sz="2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Calibri"/>
                <a:ea typeface="微软雅黑" pitchFamily="34" charset="-122"/>
                <a:cs typeface="+mn-cs"/>
              </a:endParaRPr>
            </a:p>
          </p:txBody>
        </p:sp>
      </p:grpSp>
      <p:sp>
        <p:nvSpPr>
          <p:cNvPr id="15" name="TextBox 14"/>
          <p:cNvSpPr txBox="1"/>
          <p:nvPr/>
        </p:nvSpPr>
        <p:spPr>
          <a:xfrm>
            <a:off x="4369893" y="1091396"/>
            <a:ext cx="3300904" cy="1865126"/>
          </a:xfrm>
          <a:prstGeom prst="rect">
            <a:avLst/>
          </a:prstGeom>
          <a:noFill/>
        </p:spPr>
        <p:txBody>
          <a:bodyPr wrap="none" rtlCol="0">
            <a:spAutoFit/>
          </a:bodyPr>
          <a:lstStyle/>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探索式数据分析</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数据可视化</a:t>
            </a:r>
            <a:endParaRPr lang="en-US" altLang="zh-CN" b="1" dirty="0">
              <a:latin typeface="Microsoft YaHei" panose="020B0503020204020204" pitchFamily="34" charset="-122"/>
              <a:ea typeface="Microsoft YaHei" panose="020B0503020204020204" pitchFamily="34" charset="-122"/>
            </a:endParaRPr>
          </a:p>
          <a:p>
            <a:pPr marL="342900" lvl="0" indent="-342900">
              <a:lnSpc>
                <a:spcPct val="160000"/>
              </a:lnSpc>
              <a:buFontTx/>
              <a:buAutoNum type="arabicPeriod"/>
              <a:defRPr/>
            </a:pPr>
            <a:r>
              <a:rPr lang="zh-CN" altLang="en-US" b="1" dirty="0">
                <a:latin typeface="Microsoft YaHei" panose="020B0503020204020204" pitchFamily="34" charset="-122"/>
                <a:ea typeface="Microsoft YaHei" panose="020B0503020204020204" pitchFamily="34" charset="-122"/>
              </a:rPr>
              <a:t>复习：数据探索的基本操作</a:t>
            </a:r>
            <a:endParaRPr lang="en-US" altLang="zh-CN" b="1" dirty="0">
              <a:latin typeface="Microsoft YaHei" panose="020B0503020204020204" pitchFamily="34" charset="-122"/>
              <a:ea typeface="Microsoft YaHei" panose="020B0503020204020204" pitchFamily="34" charset="-122"/>
            </a:endParaRPr>
          </a:p>
          <a:p>
            <a:pPr marL="342900" marR="0" lvl="0" indent="-342900" algn="l" defTabSz="914400" rtl="0" eaLnBrk="1" fontAlgn="auto" latinLnBrk="0" hangingPunct="1">
              <a:lnSpc>
                <a:spcPct val="160000"/>
              </a:lnSpc>
              <a:spcBef>
                <a:spcPts val="0"/>
              </a:spcBef>
              <a:spcAft>
                <a:spcPts val="0"/>
              </a:spcAft>
              <a:buClrTx/>
              <a:buSzTx/>
              <a:buFontTx/>
              <a:buAutoNum type="arabicPeriod"/>
              <a:tabLst/>
              <a:defRPr/>
            </a:pPr>
            <a:r>
              <a:rPr lang="zh-CN" altLang="en-US" b="1" dirty="0">
                <a:solidFill>
                  <a:srgbClr val="C00000"/>
                </a:solidFill>
                <a:latin typeface="Microsoft YaHei" panose="020B0503020204020204" pitchFamily="34" charset="-122"/>
                <a:ea typeface="Microsoft YaHei" panose="020B0503020204020204" pitchFamily="34" charset="-122"/>
              </a:rPr>
              <a:t>课堂练习与研讨</a:t>
            </a:r>
            <a:endParaRPr lang="en-US" altLang="zh-CN" b="1" dirty="0">
              <a:solidFill>
                <a:srgbClr val="C00000"/>
              </a:solidFill>
              <a:latin typeface="Microsoft YaHei" panose="020B0503020204020204" pitchFamily="34" charset="-122"/>
              <a:ea typeface="Microsoft YaHei"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A3F6C"/>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42300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表格数据可视化的基本流程</a:t>
            </a:r>
            <a:endParaRPr lang="en-US" dirty="0"/>
          </a:p>
        </p:txBody>
      </p:sp>
      <p:sp>
        <p:nvSpPr>
          <p:cNvPr id="3" name="Content Placeholder 2"/>
          <p:cNvSpPr>
            <a:spLocks noGrp="1"/>
          </p:cNvSpPr>
          <p:nvPr>
            <p:ph idx="1"/>
          </p:nvPr>
        </p:nvSpPr>
        <p:spPr/>
        <p:txBody>
          <a:bodyPr/>
          <a:lstStyle/>
          <a:p>
            <a:r>
              <a:rPr lang="zh-CN" altLang="en-US" dirty="0"/>
              <a:t>第一步：使用</a:t>
            </a:r>
            <a:r>
              <a:rPr lang="en-US" altLang="zh-CN" dirty="0" err="1"/>
              <a:t>seaborn</a:t>
            </a:r>
            <a:r>
              <a:rPr lang="zh-CN" altLang="en-US" dirty="0"/>
              <a:t>库进行可视化</a:t>
            </a:r>
            <a:endParaRPr lang="en-US" altLang="zh-CN" dirty="0"/>
          </a:p>
          <a:p>
            <a:pPr lvl="1"/>
            <a:r>
              <a:rPr lang="zh-CN" altLang="en-US" dirty="0"/>
              <a:t>尽可能地达到预期的效果</a:t>
            </a:r>
            <a:endParaRPr lang="en-US" altLang="zh-CN" dirty="0"/>
          </a:p>
          <a:p>
            <a:endParaRPr lang="en-US" altLang="zh-CN" dirty="0"/>
          </a:p>
          <a:p>
            <a:r>
              <a:rPr lang="zh-CN" altLang="en-US" dirty="0"/>
              <a:t>第二步：使用</a:t>
            </a:r>
            <a:r>
              <a:rPr lang="en-US" altLang="zh-CN" dirty="0" err="1"/>
              <a:t>matplotlib</a:t>
            </a:r>
            <a:r>
              <a:rPr lang="zh-CN" altLang="en-US" dirty="0"/>
              <a:t>库进行调优</a:t>
            </a:r>
            <a:endParaRPr lang="en-US" altLang="zh-CN" dirty="0"/>
          </a:p>
          <a:p>
            <a:pPr lvl="1"/>
            <a:r>
              <a:rPr lang="zh-CN" altLang="en-US" dirty="0"/>
              <a:t>修改标题、坐标轴标签等</a:t>
            </a:r>
            <a:endParaRPr lang="en-US" altLang="zh-CN" dirty="0"/>
          </a:p>
          <a:p>
            <a:pPr lvl="1"/>
            <a:r>
              <a:rPr lang="zh-CN" altLang="en-US" dirty="0"/>
              <a:t>标注特别的数据点</a:t>
            </a:r>
            <a:endParaRPr lang="en-US" altLang="zh-CN" dirty="0"/>
          </a:p>
          <a:p>
            <a:endParaRPr lang="en-US" altLang="zh-CN" dirty="0"/>
          </a:p>
          <a:p>
            <a:r>
              <a:rPr lang="zh-CN" altLang="en-US" dirty="0"/>
              <a:t>循环执行上述步骤，直到自己满意为止</a:t>
            </a:r>
            <a:endParaRPr lang="en-US" altLang="zh-CN" dirty="0"/>
          </a:p>
          <a:p>
            <a:pPr lvl="1"/>
            <a:r>
              <a:rPr lang="zh-CN" altLang="en-US" dirty="0"/>
              <a:t>很多</a:t>
            </a:r>
            <a:r>
              <a:rPr lang="en-US" altLang="zh-CN" dirty="0"/>
              <a:t>plot</a:t>
            </a:r>
            <a:r>
              <a:rPr lang="zh-CN" altLang="en-US" dirty="0"/>
              <a:t>的配置和参数需要在实践中积累</a:t>
            </a:r>
            <a:endParaRPr lang="en-US" altLang="zh-CN"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46</a:t>
            </a:fld>
            <a:endParaRPr lang="zh-CN" altLang="en-US"/>
          </a:p>
        </p:txBody>
      </p:sp>
    </p:spTree>
    <p:extLst>
      <p:ext uri="{BB962C8B-B14F-4D97-AF65-F5344CB8AC3E}">
        <p14:creationId xmlns:p14="http://schemas.microsoft.com/office/powerpoint/2010/main" val="1028034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通过具体的例子熟悉可视化方法</a:t>
            </a:r>
            <a:endParaRPr lang="en-US" dirty="0"/>
          </a:p>
        </p:txBody>
      </p:sp>
      <p:sp>
        <p:nvSpPr>
          <p:cNvPr id="3" name="Content Placeholder 2"/>
          <p:cNvSpPr>
            <a:spLocks noGrp="1"/>
          </p:cNvSpPr>
          <p:nvPr>
            <p:ph idx="1"/>
          </p:nvPr>
        </p:nvSpPr>
        <p:spPr/>
        <p:txBody>
          <a:bodyPr/>
          <a:lstStyle/>
          <a:p>
            <a:r>
              <a:rPr lang="zh-CN" altLang="en-US" dirty="0"/>
              <a:t>案例：全世界各国的温室气体排放数据</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47</a:t>
            </a:fld>
            <a:endParaRPr lang="zh-CN"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36038"/>
            <a:ext cx="5103651" cy="32831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0396" y="1478374"/>
            <a:ext cx="2985789" cy="1702535"/>
          </a:xfrm>
          <a:prstGeom prst="rect">
            <a:avLst/>
          </a:prstGeom>
        </p:spPr>
      </p:pic>
      <p:sp>
        <p:nvSpPr>
          <p:cNvPr id="8" name="Rectangle 7"/>
          <p:cNvSpPr/>
          <p:nvPr/>
        </p:nvSpPr>
        <p:spPr>
          <a:xfrm>
            <a:off x="5635303" y="3317831"/>
            <a:ext cx="3508698" cy="954107"/>
          </a:xfrm>
          <a:prstGeom prst="rect">
            <a:avLst/>
          </a:prstGeom>
        </p:spPr>
        <p:txBody>
          <a:bodyPr wrap="square">
            <a:spAutoFit/>
          </a:bodyPr>
          <a:lstStyle/>
          <a:p>
            <a:r>
              <a:rPr lang="en-US" sz="1400" dirty="0">
                <a:latin typeface="Roboto" charset="0"/>
              </a:rPr>
              <a:t>【谁该为气候变化买单?--谁应该解决它?】</a:t>
            </a:r>
          </a:p>
          <a:p>
            <a:r>
              <a:rPr lang="en-US" sz="1400" dirty="0">
                <a:latin typeface="Roboto" charset="0"/>
                <a:hlinkClick r:id="rId4"/>
              </a:rPr>
              <a:t>https://www.bilibili.com/video/BV1DP411z7g5/?share_source=copy_web&amp;vd_source=61162fa3cae46557c8656dee5b330347</a:t>
            </a:r>
            <a:endParaRPr lang="en-US" sz="1400" dirty="0">
              <a:latin typeface="Roboto" charset="0"/>
            </a:endParaRPr>
          </a:p>
        </p:txBody>
      </p:sp>
    </p:spTree>
    <p:extLst>
      <p:ext uri="{BB962C8B-B14F-4D97-AF65-F5344CB8AC3E}">
        <p14:creationId xmlns:p14="http://schemas.microsoft.com/office/powerpoint/2010/main" val="214477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直方图</a:t>
            </a:r>
            <a:endParaRPr lang="en-US" dirty="0"/>
          </a:p>
        </p:txBody>
      </p:sp>
      <p:sp>
        <p:nvSpPr>
          <p:cNvPr id="3" name="Content Placeholder 2"/>
          <p:cNvSpPr>
            <a:spLocks noGrp="1"/>
          </p:cNvSpPr>
          <p:nvPr>
            <p:ph idx="1"/>
          </p:nvPr>
        </p:nvSpPr>
        <p:spPr/>
        <p:txBody>
          <a:bodyPr/>
          <a:lstStyle/>
          <a:p>
            <a:r>
              <a:rPr lang="zh-CN" altLang="en-US" dirty="0"/>
              <a:t>写代码绘制出</a:t>
            </a:r>
            <a:r>
              <a:rPr lang="en-US" altLang="zh-CN" dirty="0"/>
              <a:t>2018</a:t>
            </a:r>
            <a:r>
              <a:rPr lang="zh-CN" altLang="en-US" dirty="0"/>
              <a:t>年全球各国</a:t>
            </a:r>
            <a:r>
              <a:rPr lang="en-US" altLang="zh-CN" dirty="0"/>
              <a:t>co2_growth_prct</a:t>
            </a:r>
            <a:r>
              <a:rPr lang="zh-CN" altLang="en-US" dirty="0"/>
              <a:t>排放量的直方图</a:t>
            </a:r>
            <a:endParaRPr lang="en-US" altLang="zh-CN" dirty="0"/>
          </a:p>
          <a:p>
            <a:pPr lvl="1"/>
            <a:r>
              <a:rPr lang="zh-CN" altLang="en-US" dirty="0"/>
              <a:t>提示：</a:t>
            </a:r>
            <a:r>
              <a:rPr lang="en-US" altLang="zh-CN" dirty="0" err="1"/>
              <a:t>histplot</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48</a:t>
            </a:fld>
            <a:endParaRPr lang="zh-CN" altLang="en-US"/>
          </a:p>
        </p:txBody>
      </p:sp>
      <p:pic>
        <p:nvPicPr>
          <p:cNvPr id="7" name="Picture 6"/>
          <p:cNvPicPr>
            <a:picLocks noChangeAspect="1"/>
          </p:cNvPicPr>
          <p:nvPr/>
        </p:nvPicPr>
        <p:blipFill>
          <a:blip r:embed="rId2"/>
          <a:stretch>
            <a:fillRect/>
          </a:stretch>
        </p:blipFill>
        <p:spPr>
          <a:xfrm>
            <a:off x="409574" y="1718108"/>
            <a:ext cx="4015911" cy="2764198"/>
          </a:xfrm>
          <a:prstGeom prst="rect">
            <a:avLst/>
          </a:prstGeom>
        </p:spPr>
      </p:pic>
      <p:pic>
        <p:nvPicPr>
          <p:cNvPr id="8" name="Picture 7"/>
          <p:cNvPicPr>
            <a:picLocks noChangeAspect="1"/>
          </p:cNvPicPr>
          <p:nvPr/>
        </p:nvPicPr>
        <p:blipFill>
          <a:blip r:embed="rId3"/>
          <a:stretch>
            <a:fillRect/>
          </a:stretch>
        </p:blipFill>
        <p:spPr>
          <a:xfrm>
            <a:off x="4563041" y="1718108"/>
            <a:ext cx="4078496" cy="2764198"/>
          </a:xfrm>
          <a:prstGeom prst="rect">
            <a:avLst/>
          </a:prstGeom>
        </p:spPr>
      </p:pic>
    </p:spTree>
    <p:extLst>
      <p:ext uri="{BB962C8B-B14F-4D97-AF65-F5344CB8AC3E}">
        <p14:creationId xmlns:p14="http://schemas.microsoft.com/office/powerpoint/2010/main" val="390507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密度分布图</a:t>
            </a:r>
            <a:endParaRPr lang="en-US" dirty="0"/>
          </a:p>
        </p:txBody>
      </p:sp>
      <p:sp>
        <p:nvSpPr>
          <p:cNvPr id="3" name="Content Placeholder 2"/>
          <p:cNvSpPr>
            <a:spLocks noGrp="1"/>
          </p:cNvSpPr>
          <p:nvPr>
            <p:ph idx="1"/>
          </p:nvPr>
        </p:nvSpPr>
        <p:spPr/>
        <p:txBody>
          <a:bodyPr/>
          <a:lstStyle/>
          <a:p>
            <a:r>
              <a:rPr lang="zh-CN" altLang="en-US" dirty="0"/>
              <a:t>写代码绘制出</a:t>
            </a:r>
            <a:r>
              <a:rPr lang="en-US" altLang="zh-CN" dirty="0"/>
              <a:t>2018</a:t>
            </a:r>
            <a:r>
              <a:rPr lang="zh-CN" altLang="en-US" dirty="0"/>
              <a:t>年全球各国</a:t>
            </a:r>
            <a:r>
              <a:rPr lang="en-US" altLang="zh-CN" dirty="0"/>
              <a:t>co2_growth_prct</a:t>
            </a:r>
            <a:r>
              <a:rPr lang="zh-CN" altLang="en-US" dirty="0"/>
              <a:t>排放量的分布图</a:t>
            </a:r>
            <a:endParaRPr lang="en-US" altLang="zh-CN" dirty="0"/>
          </a:p>
          <a:p>
            <a:pPr lvl="1"/>
            <a:r>
              <a:rPr lang="zh-CN" altLang="en-US" dirty="0"/>
              <a:t>提示：</a:t>
            </a:r>
            <a:r>
              <a:rPr lang="en-US" altLang="zh-CN" dirty="0" err="1"/>
              <a:t>distplot</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49</a:t>
            </a:fld>
            <a:endParaRPr lang="zh-CN" altLang="en-US"/>
          </a:p>
        </p:txBody>
      </p:sp>
      <p:sp>
        <p:nvSpPr>
          <p:cNvPr id="6" name="Rectangle 5"/>
          <p:cNvSpPr/>
          <p:nvPr/>
        </p:nvSpPr>
        <p:spPr>
          <a:xfrm>
            <a:off x="6378482" y="1616829"/>
            <a:ext cx="2308318" cy="923330"/>
          </a:xfrm>
          <a:prstGeom prst="rect">
            <a:avLst/>
          </a:prstGeom>
        </p:spPr>
        <p:txBody>
          <a:bodyPr wrap="square">
            <a:spAutoFit/>
          </a:bodyPr>
          <a:lstStyle/>
          <a:p>
            <a:r>
              <a:rPr lang="zh-CN" altLang="en-US" b="1" dirty="0">
                <a:solidFill>
                  <a:srgbClr val="C00000"/>
                </a:solidFill>
                <a:latin typeface="Helvetica Neue" charset="0"/>
              </a:rPr>
              <a:t>思考：密度分布图的纵坐标与直方图的纵坐标有何不同？</a:t>
            </a:r>
            <a:endParaRPr lang="en-US" altLang="zh-CN" b="1" dirty="0">
              <a:solidFill>
                <a:srgbClr val="C00000"/>
              </a:solidFill>
              <a:latin typeface="Helvetica Neue" charset="0"/>
            </a:endParaRPr>
          </a:p>
        </p:txBody>
      </p:sp>
      <p:sp>
        <p:nvSpPr>
          <p:cNvPr id="7" name="Rectangle 6"/>
          <p:cNvSpPr/>
          <p:nvPr/>
        </p:nvSpPr>
        <p:spPr>
          <a:xfrm>
            <a:off x="5735357" y="1674744"/>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pic>
        <p:nvPicPr>
          <p:cNvPr id="8" name="Picture 7"/>
          <p:cNvPicPr>
            <a:picLocks noChangeAspect="1"/>
          </p:cNvPicPr>
          <p:nvPr/>
        </p:nvPicPr>
        <p:blipFill>
          <a:blip r:embed="rId3"/>
          <a:stretch>
            <a:fillRect/>
          </a:stretch>
        </p:blipFill>
        <p:spPr>
          <a:xfrm>
            <a:off x="971101" y="1628177"/>
            <a:ext cx="4721468" cy="3127973"/>
          </a:xfrm>
          <a:prstGeom prst="rect">
            <a:avLst/>
          </a:prstGeom>
        </p:spPr>
      </p:pic>
    </p:spTree>
    <p:extLst>
      <p:ext uri="{BB962C8B-B14F-4D97-AF65-F5344CB8AC3E}">
        <p14:creationId xmlns:p14="http://schemas.microsoft.com/office/powerpoint/2010/main" val="542619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散点图</a:t>
            </a:r>
            <a:endParaRPr lang="en-US" dirty="0"/>
          </a:p>
        </p:txBody>
      </p:sp>
      <p:sp>
        <p:nvSpPr>
          <p:cNvPr id="3" name="Content Placeholder 2"/>
          <p:cNvSpPr>
            <a:spLocks noGrp="1"/>
          </p:cNvSpPr>
          <p:nvPr>
            <p:ph idx="1"/>
          </p:nvPr>
        </p:nvSpPr>
        <p:spPr/>
        <p:txBody>
          <a:bodyPr/>
          <a:lstStyle/>
          <a:p>
            <a:r>
              <a:rPr lang="zh-CN" altLang="en-US" dirty="0"/>
              <a:t>写代码绘制出</a:t>
            </a:r>
            <a:r>
              <a:rPr lang="en-US" altLang="zh-CN" dirty="0"/>
              <a:t>2018</a:t>
            </a:r>
            <a:r>
              <a:rPr lang="zh-CN" altLang="en-US" dirty="0"/>
              <a:t>年全球各国</a:t>
            </a:r>
            <a:r>
              <a:rPr lang="en-US" altLang="zh-CN" dirty="0" err="1"/>
              <a:t>gdp</a:t>
            </a:r>
            <a:r>
              <a:rPr lang="zh-CN" altLang="en-US" dirty="0"/>
              <a:t>和</a:t>
            </a:r>
            <a:r>
              <a:rPr lang="en-US" altLang="zh-CN" dirty="0"/>
              <a:t>co2</a:t>
            </a:r>
            <a:r>
              <a:rPr lang="zh-CN" altLang="en-US" dirty="0"/>
              <a:t>的散点图</a:t>
            </a:r>
            <a:endParaRPr lang="en-US" altLang="zh-CN" dirty="0"/>
          </a:p>
          <a:p>
            <a:pPr lvl="1"/>
            <a:r>
              <a:rPr lang="zh-CN" altLang="en-US" dirty="0"/>
              <a:t>提示：</a:t>
            </a:r>
            <a:r>
              <a:rPr lang="en-US" altLang="zh-CN" dirty="0"/>
              <a:t>scatterplot</a:t>
            </a:r>
            <a:r>
              <a:rPr lang="zh-CN" altLang="en-US" dirty="0"/>
              <a:t>函数</a:t>
            </a:r>
            <a:endParaRPr lang="en-US" dirty="0"/>
          </a:p>
          <a:p>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50</a:t>
            </a:fld>
            <a:endParaRPr lang="zh-CN" altLang="en-US"/>
          </a:p>
        </p:txBody>
      </p:sp>
      <p:pic>
        <p:nvPicPr>
          <p:cNvPr id="6" name="Picture 5"/>
          <p:cNvPicPr>
            <a:picLocks noChangeAspect="1"/>
          </p:cNvPicPr>
          <p:nvPr/>
        </p:nvPicPr>
        <p:blipFill>
          <a:blip r:embed="rId2"/>
          <a:stretch>
            <a:fillRect/>
          </a:stretch>
        </p:blipFill>
        <p:spPr>
          <a:xfrm>
            <a:off x="1890443" y="1664898"/>
            <a:ext cx="4477769" cy="3091252"/>
          </a:xfrm>
          <a:prstGeom prst="rect">
            <a:avLst/>
          </a:prstGeom>
        </p:spPr>
      </p:pic>
    </p:spTree>
    <p:extLst>
      <p:ext uri="{BB962C8B-B14F-4D97-AF65-F5344CB8AC3E}">
        <p14:creationId xmlns:p14="http://schemas.microsoft.com/office/powerpoint/2010/main" val="2139748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条形图</a:t>
            </a:r>
            <a:endParaRPr lang="en-US" dirty="0"/>
          </a:p>
        </p:txBody>
      </p:sp>
      <p:sp>
        <p:nvSpPr>
          <p:cNvPr id="3" name="Content Placeholder 2"/>
          <p:cNvSpPr>
            <a:spLocks noGrp="1"/>
          </p:cNvSpPr>
          <p:nvPr>
            <p:ph idx="1"/>
          </p:nvPr>
        </p:nvSpPr>
        <p:spPr/>
        <p:txBody>
          <a:bodyPr/>
          <a:lstStyle/>
          <a:p>
            <a:r>
              <a:rPr lang="zh-CN" altLang="en-US" dirty="0"/>
              <a:t>写代码绘制出</a:t>
            </a:r>
            <a:r>
              <a:rPr lang="en-US" altLang="zh-CN" dirty="0"/>
              <a:t>2018</a:t>
            </a:r>
            <a:r>
              <a:rPr lang="zh-CN" altLang="en-US" dirty="0"/>
              <a:t>年</a:t>
            </a:r>
            <a:r>
              <a:rPr lang="en-US" altLang="zh-CN" dirty="0"/>
              <a:t>co2</a:t>
            </a:r>
            <a:r>
              <a:rPr lang="zh-CN" altLang="en-US" dirty="0"/>
              <a:t>和</a:t>
            </a:r>
            <a:r>
              <a:rPr lang="en-US" altLang="zh-CN" dirty="0"/>
              <a:t>co2_per_capita</a:t>
            </a:r>
            <a:r>
              <a:rPr lang="zh-CN" altLang="en-US" dirty="0"/>
              <a:t>前</a:t>
            </a:r>
            <a:r>
              <a:rPr lang="en-US" altLang="zh-CN" dirty="0"/>
              <a:t>15</a:t>
            </a:r>
            <a:r>
              <a:rPr lang="zh-CN" altLang="en-US" dirty="0"/>
              <a:t>名的国家</a:t>
            </a:r>
            <a:endParaRPr lang="en-US" altLang="zh-CN" dirty="0"/>
          </a:p>
          <a:p>
            <a:pPr lvl="1"/>
            <a:r>
              <a:rPr lang="zh-CN" altLang="en-US" dirty="0"/>
              <a:t>提示：</a:t>
            </a:r>
            <a:r>
              <a:rPr lang="en-US" altLang="zh-CN" dirty="0" err="1"/>
              <a:t>barplot</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51</a:t>
            </a:fld>
            <a:endParaRPr lang="zh-CN" altLang="en-US"/>
          </a:p>
        </p:txBody>
      </p:sp>
      <p:pic>
        <p:nvPicPr>
          <p:cNvPr id="5" name="Picture 4"/>
          <p:cNvPicPr>
            <a:picLocks noChangeAspect="1"/>
          </p:cNvPicPr>
          <p:nvPr/>
        </p:nvPicPr>
        <p:blipFill>
          <a:blip r:embed="rId2"/>
          <a:stretch>
            <a:fillRect/>
          </a:stretch>
        </p:blipFill>
        <p:spPr>
          <a:xfrm>
            <a:off x="238846" y="1656796"/>
            <a:ext cx="4296908" cy="2825510"/>
          </a:xfrm>
          <a:prstGeom prst="rect">
            <a:avLst/>
          </a:prstGeom>
        </p:spPr>
      </p:pic>
      <p:pic>
        <p:nvPicPr>
          <p:cNvPr id="6" name="Picture 5"/>
          <p:cNvPicPr>
            <a:picLocks noChangeAspect="1"/>
          </p:cNvPicPr>
          <p:nvPr/>
        </p:nvPicPr>
        <p:blipFill>
          <a:blip r:embed="rId3"/>
          <a:stretch>
            <a:fillRect/>
          </a:stretch>
        </p:blipFill>
        <p:spPr>
          <a:xfrm>
            <a:off x="4660189" y="1656796"/>
            <a:ext cx="4074237" cy="2825510"/>
          </a:xfrm>
          <a:prstGeom prst="rect">
            <a:avLst/>
          </a:prstGeom>
        </p:spPr>
      </p:pic>
    </p:spTree>
    <p:extLst>
      <p:ext uri="{BB962C8B-B14F-4D97-AF65-F5344CB8AC3E}">
        <p14:creationId xmlns:p14="http://schemas.microsoft.com/office/powerpoint/2010/main" val="281408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线条图</a:t>
            </a:r>
            <a:endParaRPr lang="en-US" dirty="0"/>
          </a:p>
        </p:txBody>
      </p:sp>
      <p:sp>
        <p:nvSpPr>
          <p:cNvPr id="3" name="Content Placeholder 2"/>
          <p:cNvSpPr>
            <a:spLocks noGrp="1"/>
          </p:cNvSpPr>
          <p:nvPr>
            <p:ph idx="1"/>
          </p:nvPr>
        </p:nvSpPr>
        <p:spPr/>
        <p:txBody>
          <a:bodyPr/>
          <a:lstStyle/>
          <a:p>
            <a:r>
              <a:rPr lang="zh-CN" altLang="en-US" dirty="0"/>
              <a:t>绘制中国、美国、印度、俄罗斯、日本逐年的</a:t>
            </a:r>
            <a:r>
              <a:rPr lang="en-US" altLang="zh-CN" dirty="0"/>
              <a:t>co2</a:t>
            </a:r>
            <a:r>
              <a:rPr lang="zh-CN" altLang="en-US" dirty="0"/>
              <a:t>和</a:t>
            </a:r>
            <a:r>
              <a:rPr lang="en-US" altLang="zh-CN" dirty="0"/>
              <a:t>co2_per_capita</a:t>
            </a:r>
          </a:p>
          <a:p>
            <a:pPr lvl="1"/>
            <a:r>
              <a:rPr lang="zh-CN" altLang="en-US" dirty="0"/>
              <a:t>提示：</a:t>
            </a:r>
            <a:r>
              <a:rPr lang="en-US" altLang="zh-CN" dirty="0" err="1"/>
              <a:t>lineplot</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52</a:t>
            </a:fld>
            <a:endParaRPr lang="zh-CN" altLang="en-US"/>
          </a:p>
        </p:txBody>
      </p:sp>
      <p:pic>
        <p:nvPicPr>
          <p:cNvPr id="7" name="Picture 6"/>
          <p:cNvPicPr>
            <a:picLocks noChangeAspect="1"/>
          </p:cNvPicPr>
          <p:nvPr/>
        </p:nvPicPr>
        <p:blipFill>
          <a:blip r:embed="rId2"/>
          <a:stretch>
            <a:fillRect/>
          </a:stretch>
        </p:blipFill>
        <p:spPr>
          <a:xfrm>
            <a:off x="409573" y="1656272"/>
            <a:ext cx="4297705" cy="2826034"/>
          </a:xfrm>
          <a:prstGeom prst="rect">
            <a:avLst/>
          </a:prstGeom>
        </p:spPr>
      </p:pic>
      <p:pic>
        <p:nvPicPr>
          <p:cNvPr id="8" name="Picture 7"/>
          <p:cNvPicPr>
            <a:picLocks noChangeAspect="1"/>
          </p:cNvPicPr>
          <p:nvPr/>
        </p:nvPicPr>
        <p:blipFill>
          <a:blip r:embed="rId3"/>
          <a:stretch>
            <a:fillRect/>
          </a:stretch>
        </p:blipFill>
        <p:spPr>
          <a:xfrm>
            <a:off x="4796287" y="1656272"/>
            <a:ext cx="4142925" cy="2859050"/>
          </a:xfrm>
          <a:prstGeom prst="rect">
            <a:avLst/>
          </a:prstGeom>
        </p:spPr>
      </p:pic>
    </p:spTree>
    <p:extLst>
      <p:ext uri="{BB962C8B-B14F-4D97-AF65-F5344CB8AC3E}">
        <p14:creationId xmlns:p14="http://schemas.microsoft.com/office/powerpoint/2010/main" val="878441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C745-8DC6-2343-9E7E-DB185AD35014}"/>
              </a:ext>
            </a:extLst>
          </p:cNvPr>
          <p:cNvSpPr>
            <a:spLocks noGrp="1"/>
          </p:cNvSpPr>
          <p:nvPr>
            <p:ph type="title"/>
          </p:nvPr>
        </p:nvSpPr>
        <p:spPr/>
        <p:txBody>
          <a:bodyPr/>
          <a:lstStyle/>
          <a:p>
            <a:r>
              <a:rPr lang="en-US" altLang="zh-CN" dirty="0" err="1"/>
              <a:t>Lmplot</a:t>
            </a:r>
            <a:r>
              <a:rPr lang="zh-CN" altLang="en-US" dirty="0"/>
              <a:t>图</a:t>
            </a:r>
            <a:endParaRPr lang="x-none" dirty="0"/>
          </a:p>
        </p:txBody>
      </p:sp>
      <p:sp>
        <p:nvSpPr>
          <p:cNvPr id="3" name="Content Placeholder 2">
            <a:extLst>
              <a:ext uri="{FF2B5EF4-FFF2-40B4-BE49-F238E27FC236}">
                <a16:creationId xmlns:a16="http://schemas.microsoft.com/office/drawing/2014/main" id="{A2A1A48F-7AF3-A64E-9FCB-DF2B4BF6595D}"/>
              </a:ext>
            </a:extLst>
          </p:cNvPr>
          <p:cNvSpPr>
            <a:spLocks noGrp="1"/>
          </p:cNvSpPr>
          <p:nvPr>
            <p:ph idx="1"/>
          </p:nvPr>
        </p:nvSpPr>
        <p:spPr/>
        <p:txBody>
          <a:bodyPr/>
          <a:lstStyle/>
          <a:p>
            <a:r>
              <a:rPr lang="zh-CN" altLang="en-US" dirty="0"/>
              <a:t>绘制中国、美国、印度、俄罗斯、日本逐年的</a:t>
            </a:r>
            <a:r>
              <a:rPr lang="en-US" altLang="zh-CN" dirty="0"/>
              <a:t>co2</a:t>
            </a:r>
            <a:r>
              <a:rPr lang="zh-CN" altLang="en-US" dirty="0"/>
              <a:t>和</a:t>
            </a:r>
            <a:r>
              <a:rPr lang="en-US" altLang="zh-CN" dirty="0"/>
              <a:t>co2_per_capita</a:t>
            </a:r>
          </a:p>
          <a:p>
            <a:pPr lvl="1"/>
            <a:r>
              <a:rPr lang="x-none" dirty="0"/>
              <a:t>使用lm</a:t>
            </a:r>
            <a:r>
              <a:rPr lang="en-US" altLang="zh-CN" dirty="0"/>
              <a:t>plot</a:t>
            </a:r>
            <a:endParaRPr lang="x-none" dirty="0"/>
          </a:p>
        </p:txBody>
      </p:sp>
      <p:sp>
        <p:nvSpPr>
          <p:cNvPr id="4" name="Slide Number Placeholder 3">
            <a:extLst>
              <a:ext uri="{FF2B5EF4-FFF2-40B4-BE49-F238E27FC236}">
                <a16:creationId xmlns:a16="http://schemas.microsoft.com/office/drawing/2014/main" id="{4175D602-9614-C541-BDD9-ADE27511E2A7}"/>
              </a:ext>
            </a:extLst>
          </p:cNvPr>
          <p:cNvSpPr>
            <a:spLocks noGrp="1"/>
          </p:cNvSpPr>
          <p:nvPr>
            <p:ph type="sldNum" sz="quarter" idx="12"/>
          </p:nvPr>
        </p:nvSpPr>
        <p:spPr/>
        <p:txBody>
          <a:bodyPr/>
          <a:lstStyle/>
          <a:p>
            <a:fld id="{E1BEBC7A-FD02-486B-81B5-A845787C689C}" type="slidenum">
              <a:rPr lang="zh-CN" altLang="en-US" smtClean="0"/>
              <a:t>53</a:t>
            </a:fld>
            <a:endParaRPr lang="zh-CN" altLang="en-US"/>
          </a:p>
        </p:txBody>
      </p:sp>
      <p:pic>
        <p:nvPicPr>
          <p:cNvPr id="1026" name="Picture 2">
            <a:extLst>
              <a:ext uri="{FF2B5EF4-FFF2-40B4-BE49-F238E27FC236}">
                <a16:creationId xmlns:a16="http://schemas.microsoft.com/office/drawing/2014/main" id="{A40C718D-FC22-9040-AF9F-432D1B057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164" y="1612247"/>
            <a:ext cx="7449671" cy="14964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CE72204-4397-C047-8418-0C37F18EA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163" y="3259749"/>
            <a:ext cx="7449671" cy="1496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657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箱型图</a:t>
            </a:r>
            <a:endParaRPr lang="en-US" dirty="0"/>
          </a:p>
        </p:txBody>
      </p:sp>
      <p:sp>
        <p:nvSpPr>
          <p:cNvPr id="3" name="Content Placeholder 2"/>
          <p:cNvSpPr>
            <a:spLocks noGrp="1"/>
          </p:cNvSpPr>
          <p:nvPr>
            <p:ph idx="1"/>
          </p:nvPr>
        </p:nvSpPr>
        <p:spPr/>
        <p:txBody>
          <a:bodyPr/>
          <a:lstStyle/>
          <a:p>
            <a:r>
              <a:rPr lang="zh-CN" altLang="en-US" dirty="0"/>
              <a:t>写代码绘制出</a:t>
            </a:r>
            <a:r>
              <a:rPr lang="en-US" altLang="zh-CN" dirty="0"/>
              <a:t>2018-2020</a:t>
            </a:r>
            <a:r>
              <a:rPr lang="zh-CN" altLang="en-US" dirty="0"/>
              <a:t>年全球国家</a:t>
            </a:r>
            <a:r>
              <a:rPr lang="en-US" altLang="zh-CN" dirty="0"/>
              <a:t>co2_growth_prct</a:t>
            </a:r>
            <a:r>
              <a:rPr lang="zh-CN" altLang="en-US" dirty="0"/>
              <a:t>的分布</a:t>
            </a:r>
            <a:endParaRPr lang="en-US" altLang="zh-CN" dirty="0"/>
          </a:p>
          <a:p>
            <a:pPr lvl="1"/>
            <a:r>
              <a:rPr lang="zh-CN" altLang="en-US" dirty="0"/>
              <a:t>提示：</a:t>
            </a:r>
            <a:r>
              <a:rPr lang="en-US" altLang="zh-CN" dirty="0"/>
              <a:t>boxplot</a:t>
            </a:r>
            <a:r>
              <a:rPr lang="zh-CN" altLang="en-US" dirty="0"/>
              <a:t>函数</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54</a:t>
            </a:fld>
            <a:endParaRPr lang="zh-CN" altLang="en-US"/>
          </a:p>
        </p:txBody>
      </p:sp>
      <p:pic>
        <p:nvPicPr>
          <p:cNvPr id="5" name="Picture 4"/>
          <p:cNvPicPr>
            <a:picLocks noChangeAspect="1"/>
          </p:cNvPicPr>
          <p:nvPr/>
        </p:nvPicPr>
        <p:blipFill>
          <a:blip r:embed="rId2"/>
          <a:stretch>
            <a:fillRect/>
          </a:stretch>
        </p:blipFill>
        <p:spPr>
          <a:xfrm>
            <a:off x="2760453" y="1693615"/>
            <a:ext cx="4518684" cy="3062535"/>
          </a:xfrm>
          <a:prstGeom prst="rect">
            <a:avLst/>
          </a:prstGeom>
        </p:spPr>
      </p:pic>
    </p:spTree>
    <p:extLst>
      <p:ext uri="{BB962C8B-B14F-4D97-AF65-F5344CB8AC3E}">
        <p14:creationId xmlns:p14="http://schemas.microsoft.com/office/powerpoint/2010/main" val="934580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课堂练习</a:t>
            </a:r>
            <a:endParaRPr lang="en-US" dirty="0"/>
          </a:p>
        </p:txBody>
      </p:sp>
      <p:sp>
        <p:nvSpPr>
          <p:cNvPr id="3" name="Content Placeholder 2"/>
          <p:cNvSpPr>
            <a:spLocks noGrp="1"/>
          </p:cNvSpPr>
          <p:nvPr>
            <p:ph idx="1"/>
          </p:nvPr>
        </p:nvSpPr>
        <p:spPr>
          <a:xfrm>
            <a:off x="457200" y="1001486"/>
            <a:ext cx="8229600" cy="3754664"/>
          </a:xfrm>
        </p:spPr>
        <p:txBody>
          <a:bodyPr/>
          <a:lstStyle/>
          <a:p>
            <a:r>
              <a:rPr lang="zh-CN" altLang="en-US" dirty="0"/>
              <a:t>加州大学伯克利分校（</a:t>
            </a:r>
            <a:r>
              <a:rPr lang="en-US" altLang="zh-CN" dirty="0"/>
              <a:t>UC Berkeley</a:t>
            </a:r>
            <a:r>
              <a:rPr lang="zh-CN" altLang="en-US" dirty="0"/>
              <a:t>）的入学申请是否存在</a:t>
            </a:r>
            <a:r>
              <a:rPr lang="zh-CN" altLang="en-US" dirty="0">
                <a:solidFill>
                  <a:srgbClr val="C00000"/>
                </a:solidFill>
              </a:rPr>
              <a:t>性别歧视</a:t>
            </a:r>
            <a:r>
              <a:rPr lang="zh-CN" altLang="en-US" dirty="0"/>
              <a:t>？</a:t>
            </a:r>
            <a:endParaRPr lang="en-US" dirty="0"/>
          </a:p>
          <a:p>
            <a:endParaRPr lang="en-US" dirty="0"/>
          </a:p>
        </p:txBody>
      </p:sp>
      <p:sp>
        <p:nvSpPr>
          <p:cNvPr id="9" name="Slide Number Placeholder 8"/>
          <p:cNvSpPr>
            <a:spLocks noGrp="1"/>
          </p:cNvSpPr>
          <p:nvPr>
            <p:ph type="sldNum" sz="quarter" idx="12"/>
          </p:nvPr>
        </p:nvSpPr>
        <p:spPr/>
        <p:txBody>
          <a:bodyPr/>
          <a:lstStyle/>
          <a:p>
            <a:fld id="{E1BEBC7A-FD02-486B-81B5-A845787C689C}" type="slidenum">
              <a:rPr lang="zh-CN" altLang="en-US" smtClean="0"/>
              <a:t>55</a:t>
            </a:fld>
            <a:endParaRPr lang="zh-CN" altLang="en-US"/>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1219"/>
          <a:stretch/>
        </p:blipFill>
        <p:spPr>
          <a:xfrm>
            <a:off x="905691" y="1428206"/>
            <a:ext cx="2687594" cy="3327944"/>
          </a:xfrm>
          <a:prstGeom prst="rect">
            <a:avLst/>
          </a:prstGeom>
        </p:spPr>
      </p:pic>
      <p:sp>
        <p:nvSpPr>
          <p:cNvPr id="11" name="Content Placeholder 2"/>
          <p:cNvSpPr txBox="1">
            <a:spLocks/>
          </p:cNvSpPr>
          <p:nvPr/>
        </p:nvSpPr>
        <p:spPr>
          <a:xfrm>
            <a:off x="3746752" y="1428206"/>
            <a:ext cx="4987674" cy="33279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800" dirty="0"/>
              <a:t>根据提供的数据（如左图），完成以下练习</a:t>
            </a:r>
            <a:endParaRPr lang="en-US" altLang="zh-CN" sz="1800" dirty="0"/>
          </a:p>
          <a:p>
            <a:pPr lvl="1"/>
            <a:r>
              <a:rPr lang="zh-CN" altLang="en-US" sz="1600" dirty="0"/>
              <a:t>请</a:t>
            </a:r>
            <a:r>
              <a:rPr lang="zh-CN" altLang="en-US" sz="1600" dirty="0">
                <a:solidFill>
                  <a:srgbClr val="C00000"/>
                </a:solidFill>
              </a:rPr>
              <a:t>女生</a:t>
            </a:r>
            <a:r>
              <a:rPr lang="zh-CN" altLang="en-US" sz="1600" dirty="0"/>
              <a:t>利用数据论证入学申请存在</a:t>
            </a:r>
            <a:r>
              <a:rPr lang="zh-CN" altLang="en-US" sz="1600" b="1" dirty="0"/>
              <a:t>歧视女生</a:t>
            </a:r>
            <a:r>
              <a:rPr lang="zh-CN" altLang="en-US" sz="1600" dirty="0"/>
              <a:t>的问题；请</a:t>
            </a:r>
            <a:r>
              <a:rPr lang="zh-CN" altLang="en-US" sz="1600" dirty="0">
                <a:solidFill>
                  <a:srgbClr val="0070C0"/>
                </a:solidFill>
              </a:rPr>
              <a:t>男生</a:t>
            </a:r>
            <a:r>
              <a:rPr lang="zh-CN" altLang="en-US" sz="1600" dirty="0"/>
              <a:t>说明不存在</a:t>
            </a:r>
            <a:r>
              <a:rPr lang="zh-CN" altLang="en-US" sz="1600" b="1" dirty="0"/>
              <a:t>歧视女生</a:t>
            </a:r>
            <a:r>
              <a:rPr lang="zh-CN" altLang="en-US" sz="1600" dirty="0"/>
              <a:t>的问题</a:t>
            </a:r>
            <a:endParaRPr lang="en-US" altLang="zh-CN" sz="1600" dirty="0"/>
          </a:p>
          <a:p>
            <a:pPr lvl="1"/>
            <a:r>
              <a:rPr lang="zh-CN" altLang="en-US" sz="1600" dirty="0"/>
              <a:t>请尽可能通过</a:t>
            </a:r>
            <a:r>
              <a:rPr lang="zh-CN" altLang="en-US" sz="1600" b="1" dirty="0"/>
              <a:t>多种方式</a:t>
            </a:r>
            <a:r>
              <a:rPr lang="zh-CN" altLang="en-US" sz="1600" dirty="0"/>
              <a:t>说明观点，但每种方式只允许</a:t>
            </a:r>
            <a:r>
              <a:rPr lang="zh-CN" altLang="en-US" sz="1600" b="1" dirty="0"/>
              <a:t>写一行</a:t>
            </a:r>
            <a:r>
              <a:rPr lang="en-US" altLang="zh-CN" sz="1600" b="1" dirty="0"/>
              <a:t>Python</a:t>
            </a:r>
            <a:r>
              <a:rPr lang="zh-CN" altLang="en-US" sz="1600" b="1" dirty="0"/>
              <a:t>代码</a:t>
            </a:r>
            <a:endParaRPr lang="en-US" altLang="zh-CN" sz="1600" b="1" dirty="0"/>
          </a:p>
          <a:p>
            <a:pPr lvl="2"/>
            <a:r>
              <a:rPr lang="zh-CN" altLang="en-US" sz="1400" dirty="0"/>
              <a:t>利用</a:t>
            </a:r>
            <a:r>
              <a:rPr lang="en-US" altLang="zh-CN" sz="1400" dirty="0" err="1"/>
              <a:t>seaborn</a:t>
            </a:r>
            <a:r>
              <a:rPr lang="zh-CN" altLang="en-US" sz="1400" dirty="0"/>
              <a:t>绘制图表</a:t>
            </a:r>
            <a:endParaRPr lang="en-US" altLang="zh-CN" sz="1400" dirty="0"/>
          </a:p>
          <a:p>
            <a:pPr lvl="2"/>
            <a:r>
              <a:rPr lang="zh-CN" altLang="en-US" sz="1400" dirty="0"/>
              <a:t>利用</a:t>
            </a:r>
            <a:r>
              <a:rPr lang="en-US" altLang="zh-CN" sz="1400" dirty="0" err="1"/>
              <a:t>groupby</a:t>
            </a:r>
            <a:r>
              <a:rPr lang="zh-CN" altLang="en-US" sz="1400" dirty="0"/>
              <a:t>进行分组展示</a:t>
            </a:r>
            <a:endParaRPr lang="en-US" altLang="zh-CN" sz="1400" dirty="0"/>
          </a:p>
          <a:p>
            <a:pPr lvl="2"/>
            <a:r>
              <a:rPr lang="zh-CN" altLang="en-US" sz="1400" dirty="0"/>
              <a:t>利用</a:t>
            </a:r>
            <a:r>
              <a:rPr lang="en-US" altLang="zh-CN" sz="1400" dirty="0" err="1"/>
              <a:t>pivot_table</a:t>
            </a:r>
            <a:r>
              <a:rPr lang="zh-CN" altLang="en-US" sz="1400" dirty="0"/>
              <a:t>进行分组展示</a:t>
            </a:r>
            <a:endParaRPr lang="en-US" altLang="zh-CN" sz="1400" dirty="0"/>
          </a:p>
          <a:p>
            <a:pPr lvl="2"/>
            <a:endParaRPr lang="en-US" altLang="zh-CN" dirty="0"/>
          </a:p>
          <a:p>
            <a:pPr lvl="1"/>
            <a:r>
              <a:rPr lang="zh-CN" altLang="en-US" dirty="0"/>
              <a:t>提示：“</a:t>
            </a:r>
            <a:r>
              <a:rPr lang="zh-CN" altLang="en-US" b="1" dirty="0"/>
              <a:t>辛普森悖论</a:t>
            </a:r>
            <a:r>
              <a:rPr lang="zh-CN" altLang="en-US" dirty="0"/>
              <a:t>”</a:t>
            </a:r>
            <a:endParaRPr lang="en-US" altLang="zh-CN" dirty="0"/>
          </a:p>
        </p:txBody>
      </p:sp>
    </p:spTree>
    <p:extLst>
      <p:ext uri="{BB962C8B-B14F-4D97-AF65-F5344CB8AC3E}">
        <p14:creationId xmlns:p14="http://schemas.microsoft.com/office/powerpoint/2010/main" val="172973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总结：数据探索分析与可视化</a:t>
            </a:r>
            <a:endParaRPr kumimoji="1" lang="zh-CN" altLang="en-US" dirty="0">
              <a:solidFill>
                <a:srgbClr val="C00000"/>
              </a:solidFill>
            </a:endParaRPr>
          </a:p>
        </p:txBody>
      </p:sp>
      <p:sp>
        <p:nvSpPr>
          <p:cNvPr id="16" name="Slide Number Placeholder 1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19" name="Picture 4" descr="See the source image">
            <a:extLst>
              <a:ext uri="{FF2B5EF4-FFF2-40B4-BE49-F238E27FC236}">
                <a16:creationId xmlns:a16="http://schemas.microsoft.com/office/drawing/2014/main" id="{AF9411DD-B67E-E047-8674-4D5270E1D9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266" y="1493056"/>
            <a:ext cx="995540" cy="9955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Educational Theory and Practice: Teaching to Learn">
            <a:extLst>
              <a:ext uri="{FF2B5EF4-FFF2-40B4-BE49-F238E27FC236}">
                <a16:creationId xmlns:a16="http://schemas.microsoft.com/office/drawing/2014/main" id="{E1242FAE-5D34-4342-8BD3-051EF8D240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9252" y="1427288"/>
            <a:ext cx="987892" cy="987892"/>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77312953-4F0C-8147-8AA3-5EF1A5AE829F}"/>
              </a:ext>
            </a:extLst>
          </p:cNvPr>
          <p:cNvGrpSpPr/>
          <p:nvPr/>
        </p:nvGrpSpPr>
        <p:grpSpPr>
          <a:xfrm>
            <a:off x="2028098" y="1410601"/>
            <a:ext cx="5038962" cy="1651307"/>
            <a:chOff x="2242867" y="1109557"/>
            <a:chExt cx="5038962" cy="1651307"/>
          </a:xfrm>
        </p:grpSpPr>
        <p:sp>
          <p:nvSpPr>
            <p:cNvPr id="23" name="Rectangle 22" descr="再生纸">
              <a:extLst>
                <a:ext uri="{FF2B5EF4-FFF2-40B4-BE49-F238E27FC236}">
                  <a16:creationId xmlns:a16="http://schemas.microsoft.com/office/drawing/2014/main" id="{432DA395-D40C-2144-A047-97DE0FAC570A}"/>
                </a:ext>
              </a:extLst>
            </p:cNvPr>
            <p:cNvSpPr>
              <a:spLocks noChangeArrowheads="1"/>
            </p:cNvSpPr>
            <p:nvPr/>
          </p:nvSpPr>
          <p:spPr bwMode="auto">
            <a:xfrm>
              <a:off x="2242867" y="1112618"/>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采集</a:t>
              </a:r>
            </a:p>
          </p:txBody>
        </p:sp>
        <p:sp>
          <p:nvSpPr>
            <p:cNvPr id="24" name="Rectangle 23" descr="再生纸">
              <a:extLst>
                <a:ext uri="{FF2B5EF4-FFF2-40B4-BE49-F238E27FC236}">
                  <a16:creationId xmlns:a16="http://schemas.microsoft.com/office/drawing/2014/main" id="{BE01A64B-E92F-1A45-A4C6-01DB7E3F7482}"/>
                </a:ext>
              </a:extLst>
            </p:cNvPr>
            <p:cNvSpPr>
              <a:spLocks noChangeArrowheads="1"/>
            </p:cNvSpPr>
            <p:nvPr/>
          </p:nvSpPr>
          <p:spPr bwMode="auto">
            <a:xfrm>
              <a:off x="3302990" y="1112618"/>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准备</a:t>
              </a:r>
            </a:p>
          </p:txBody>
        </p:sp>
        <p:sp>
          <p:nvSpPr>
            <p:cNvPr id="25" name="Rectangle 24" descr="再生纸">
              <a:extLst>
                <a:ext uri="{FF2B5EF4-FFF2-40B4-BE49-F238E27FC236}">
                  <a16:creationId xmlns:a16="http://schemas.microsoft.com/office/drawing/2014/main" id="{8134BFE4-C3B1-1B4A-AB66-6AA6339044C1}"/>
                </a:ext>
              </a:extLst>
            </p:cNvPr>
            <p:cNvSpPr>
              <a:spLocks noChangeArrowheads="1"/>
            </p:cNvSpPr>
            <p:nvPr/>
          </p:nvSpPr>
          <p:spPr bwMode="auto">
            <a:xfrm>
              <a:off x="4363113" y="1110602"/>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探索</a:t>
              </a:r>
            </a:p>
          </p:txBody>
        </p:sp>
        <p:cxnSp>
          <p:nvCxnSpPr>
            <p:cNvPr id="27" name="Straight Arrow Connector 26">
              <a:extLst>
                <a:ext uri="{FF2B5EF4-FFF2-40B4-BE49-F238E27FC236}">
                  <a16:creationId xmlns:a16="http://schemas.microsoft.com/office/drawing/2014/main" id="{4B5A9933-E2D1-2C4C-A7B1-0987FDFA97DF}"/>
                </a:ext>
              </a:extLst>
            </p:cNvPr>
            <p:cNvCxnSpPr>
              <a:stCxn id="23" idx="3"/>
              <a:endCxn id="24" idx="1"/>
            </p:cNvCxnSpPr>
            <p:nvPr/>
          </p:nvCxnSpPr>
          <p:spPr>
            <a:xfrm>
              <a:off x="3041337" y="1934934"/>
              <a:ext cx="261653" cy="0"/>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cxnSp>
          <p:nvCxnSpPr>
            <p:cNvPr id="28" name="Straight Arrow Connector 27">
              <a:extLst>
                <a:ext uri="{FF2B5EF4-FFF2-40B4-BE49-F238E27FC236}">
                  <a16:creationId xmlns:a16="http://schemas.microsoft.com/office/drawing/2014/main" id="{74039D2F-BE54-1146-AF8A-55D6BDC434D8}"/>
                </a:ext>
              </a:extLst>
            </p:cNvPr>
            <p:cNvCxnSpPr>
              <a:cxnSpLocks/>
              <a:stCxn id="24" idx="3"/>
              <a:endCxn id="25" idx="1"/>
            </p:cNvCxnSpPr>
            <p:nvPr/>
          </p:nvCxnSpPr>
          <p:spPr>
            <a:xfrm flipV="1">
              <a:off x="4101460" y="1932918"/>
              <a:ext cx="261653" cy="2016"/>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sp>
          <p:nvSpPr>
            <p:cNvPr id="32" name="Rectangle 31" descr="再生纸">
              <a:extLst>
                <a:ext uri="{FF2B5EF4-FFF2-40B4-BE49-F238E27FC236}">
                  <a16:creationId xmlns:a16="http://schemas.microsoft.com/office/drawing/2014/main" id="{BBD36A06-EC22-B04F-ABFE-8D7CDD40BCB8}"/>
                </a:ext>
              </a:extLst>
            </p:cNvPr>
            <p:cNvSpPr>
              <a:spLocks noChangeArrowheads="1"/>
            </p:cNvSpPr>
            <p:nvPr/>
          </p:nvSpPr>
          <p:spPr bwMode="auto">
            <a:xfrm>
              <a:off x="5423236" y="1116232"/>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建模</a:t>
              </a:r>
            </a:p>
          </p:txBody>
        </p:sp>
        <p:sp>
          <p:nvSpPr>
            <p:cNvPr id="33" name="Rectangle 32" descr="再生纸">
              <a:extLst>
                <a:ext uri="{FF2B5EF4-FFF2-40B4-BE49-F238E27FC236}">
                  <a16:creationId xmlns:a16="http://schemas.microsoft.com/office/drawing/2014/main" id="{A1583949-3D3E-464A-A707-8904EDA3138D}"/>
                </a:ext>
              </a:extLst>
            </p:cNvPr>
            <p:cNvSpPr>
              <a:spLocks noChangeArrowheads="1"/>
            </p:cNvSpPr>
            <p:nvPr/>
          </p:nvSpPr>
          <p:spPr bwMode="auto">
            <a:xfrm>
              <a:off x="6483359" y="1109557"/>
              <a:ext cx="798470" cy="1644632"/>
            </a:xfrm>
            <a:prstGeom prst="rect">
              <a:avLst/>
            </a:prstGeom>
            <a:solidFill>
              <a:schemeClr val="bg1"/>
            </a:solidFill>
            <a:ln w="38100" algn="ctr">
              <a:solidFill>
                <a:srgbClr val="3E79BD"/>
              </a:solidFill>
              <a:miter lim="800000"/>
              <a:headEnd/>
              <a:tailEnd/>
            </a:ln>
            <a:effectLst>
              <a:outerShdw dist="57150" dir="2700000" algn="ctr" rotWithShape="0">
                <a:srgbClr val="888888">
                  <a:alpha val="50000"/>
                </a:srgbClr>
              </a:outerShdw>
            </a:effectLst>
          </p:spPr>
          <p:txBody>
            <a:bodyPr anchor="ctr"/>
            <a:lstStyle/>
            <a:p>
              <a:pPr algn="ctr">
                <a:lnSpc>
                  <a:spcPts val="3040"/>
                </a:lnSpc>
                <a:buFontTx/>
                <a:buNone/>
                <a:defRPr/>
              </a:pPr>
              <a:r>
                <a:rPr lang="zh-CN" altLang="en-US" sz="2000" dirty="0">
                  <a:solidFill>
                    <a:srgbClr val="3D79BD"/>
                  </a:solidFill>
                  <a:latin typeface="Microsoft YaHei" panose="020B0503020204020204" pitchFamily="34" charset="-122"/>
                  <a:ea typeface="Microsoft YaHei" panose="020B0503020204020204" pitchFamily="34" charset="-122"/>
                </a:rPr>
                <a:t>数据</a:t>
              </a:r>
              <a:r>
                <a:rPr lang="zh-CN" altLang="en-US" sz="2000" dirty="0">
                  <a:solidFill>
                    <a:srgbClr val="C00000"/>
                  </a:solidFill>
                  <a:latin typeface="Microsoft YaHei" panose="020B0503020204020204" pitchFamily="34" charset="-122"/>
                  <a:ea typeface="Microsoft YaHei" panose="020B0503020204020204" pitchFamily="34" charset="-122"/>
                </a:rPr>
                <a:t>展示</a:t>
              </a:r>
            </a:p>
          </p:txBody>
        </p:sp>
        <p:cxnSp>
          <p:nvCxnSpPr>
            <p:cNvPr id="34" name="Straight Arrow Connector 33">
              <a:extLst>
                <a:ext uri="{FF2B5EF4-FFF2-40B4-BE49-F238E27FC236}">
                  <a16:creationId xmlns:a16="http://schemas.microsoft.com/office/drawing/2014/main" id="{2F1D232F-E60D-4D43-8E54-862304AC51B3}"/>
                </a:ext>
              </a:extLst>
            </p:cNvPr>
            <p:cNvCxnSpPr>
              <a:cxnSpLocks/>
              <a:stCxn id="25" idx="3"/>
              <a:endCxn id="32" idx="1"/>
            </p:cNvCxnSpPr>
            <p:nvPr/>
          </p:nvCxnSpPr>
          <p:spPr>
            <a:xfrm>
              <a:off x="5161583" y="1932918"/>
              <a:ext cx="261653" cy="5630"/>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cxnSp>
          <p:nvCxnSpPr>
            <p:cNvPr id="35" name="Straight Arrow Connector 34">
              <a:extLst>
                <a:ext uri="{FF2B5EF4-FFF2-40B4-BE49-F238E27FC236}">
                  <a16:creationId xmlns:a16="http://schemas.microsoft.com/office/drawing/2014/main" id="{4F2625BE-45DB-1948-BD98-51755AD3FF5A}"/>
                </a:ext>
              </a:extLst>
            </p:cNvPr>
            <p:cNvCxnSpPr>
              <a:cxnSpLocks/>
              <a:stCxn id="32" idx="3"/>
              <a:endCxn id="33" idx="1"/>
            </p:cNvCxnSpPr>
            <p:nvPr/>
          </p:nvCxnSpPr>
          <p:spPr>
            <a:xfrm flipV="1">
              <a:off x="6221706" y="1931873"/>
              <a:ext cx="261653" cy="6675"/>
            </a:xfrm>
            <a:prstGeom prst="straightConnector1">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grpSp>
      <p:sp>
        <p:nvSpPr>
          <p:cNvPr id="43" name="PA-A000320150529F30PPSH-3574">
            <a:extLst>
              <a:ext uri="{FF2B5EF4-FFF2-40B4-BE49-F238E27FC236}">
                <a16:creationId xmlns:a16="http://schemas.microsoft.com/office/drawing/2014/main" id="{C78E604D-4F74-5B4A-9572-AD7AF3DC1E65}"/>
              </a:ext>
            </a:extLst>
          </p:cNvPr>
          <p:cNvSpPr/>
          <p:nvPr>
            <p:custDataLst>
              <p:tags r:id="rId1"/>
            </p:custDataLst>
          </p:nvPr>
        </p:nvSpPr>
        <p:spPr bwMode="auto">
          <a:xfrm>
            <a:off x="1534025" y="2033907"/>
            <a:ext cx="353236" cy="400110"/>
          </a:xfrm>
          <a:custGeom>
            <a:avLst/>
            <a:gdLst>
              <a:gd name="T0" fmla="*/ 195102655 w 13050"/>
              <a:gd name="T1" fmla="*/ 195059630 h 10203"/>
              <a:gd name="T2" fmla="*/ 195102655 w 13050"/>
              <a:gd name="T3" fmla="*/ 195059630 h 10203"/>
              <a:gd name="T4" fmla="*/ 195102655 w 13050"/>
              <a:gd name="T5" fmla="*/ 195059630 h 10203"/>
              <a:gd name="T6" fmla="*/ 195102655 w 13050"/>
              <a:gd name="T7" fmla="*/ 195059630 h 10203"/>
              <a:gd name="T8" fmla="*/ 195102655 w 13050"/>
              <a:gd name="T9" fmla="*/ 195059630 h 10203"/>
              <a:gd name="T10" fmla="*/ 195102655 w 13050"/>
              <a:gd name="T11" fmla="*/ 195059630 h 10203"/>
              <a:gd name="T12" fmla="*/ 195102655 w 13050"/>
              <a:gd name="T13" fmla="*/ 195059630 h 10203"/>
              <a:gd name="T14" fmla="*/ 195102655 w 13050"/>
              <a:gd name="T15" fmla="*/ 195059630 h 10203"/>
              <a:gd name="T16" fmla="*/ 195102655 w 13050"/>
              <a:gd name="T17" fmla="*/ 195059630 h 10203"/>
              <a:gd name="T18" fmla="*/ 195102655 w 13050"/>
              <a:gd name="T19" fmla="*/ 195059630 h 10203"/>
              <a:gd name="T20" fmla="*/ 195102655 w 13050"/>
              <a:gd name="T21" fmla="*/ 195059630 h 10203"/>
              <a:gd name="T22" fmla="*/ 195102655 w 13050"/>
              <a:gd name="T23" fmla="*/ 195059630 h 10203"/>
              <a:gd name="T24" fmla="*/ 195102655 w 13050"/>
              <a:gd name="T25" fmla="*/ 195059630 h 10203"/>
              <a:gd name="T26" fmla="*/ 195102655 w 13050"/>
              <a:gd name="T27" fmla="*/ 195059630 h 10203"/>
              <a:gd name="T28" fmla="*/ 195102655 w 13050"/>
              <a:gd name="T29" fmla="*/ 195059630 h 10203"/>
              <a:gd name="T30" fmla="*/ 195102655 w 13050"/>
              <a:gd name="T31" fmla="*/ 195059630 h 10203"/>
              <a:gd name="T32" fmla="*/ 195102655 w 13050"/>
              <a:gd name="T33" fmla="*/ 195059630 h 10203"/>
              <a:gd name="T34" fmla="*/ 195102655 w 13050"/>
              <a:gd name="T35" fmla="*/ 195059630 h 10203"/>
              <a:gd name="T36" fmla="*/ 195102655 w 13050"/>
              <a:gd name="T37" fmla="*/ 195059630 h 10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050" h="10203">
                <a:moveTo>
                  <a:pt x="555" y="7026"/>
                </a:moveTo>
                <a:lnTo>
                  <a:pt x="6858" y="7026"/>
                </a:lnTo>
                <a:lnTo>
                  <a:pt x="6858" y="9812"/>
                </a:lnTo>
                <a:lnTo>
                  <a:pt x="10878" y="5102"/>
                </a:lnTo>
                <a:lnTo>
                  <a:pt x="6858" y="391"/>
                </a:lnTo>
                <a:lnTo>
                  <a:pt x="6858" y="3177"/>
                </a:lnTo>
                <a:lnTo>
                  <a:pt x="555" y="3177"/>
                </a:lnTo>
                <a:lnTo>
                  <a:pt x="555" y="7026"/>
                </a:lnTo>
                <a:close/>
                <a:moveTo>
                  <a:pt x="0" y="7580"/>
                </a:moveTo>
                <a:lnTo>
                  <a:pt x="0" y="2622"/>
                </a:lnTo>
                <a:lnTo>
                  <a:pt x="6303" y="2622"/>
                </a:lnTo>
                <a:lnTo>
                  <a:pt x="6303" y="0"/>
                </a:lnTo>
                <a:lnTo>
                  <a:pt x="8698" y="0"/>
                </a:lnTo>
                <a:lnTo>
                  <a:pt x="13050" y="5102"/>
                </a:lnTo>
                <a:lnTo>
                  <a:pt x="8698" y="10203"/>
                </a:lnTo>
                <a:lnTo>
                  <a:pt x="6303" y="10203"/>
                </a:lnTo>
                <a:lnTo>
                  <a:pt x="6303" y="7580"/>
                </a:lnTo>
                <a:lnTo>
                  <a:pt x="0" y="7580"/>
                </a:lnTo>
                <a:close/>
              </a:path>
            </a:pathLst>
          </a:custGeom>
          <a:solidFill>
            <a:srgbClr val="C00000"/>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600"/>
          </a:p>
        </p:txBody>
      </p:sp>
      <p:sp>
        <p:nvSpPr>
          <p:cNvPr id="44" name="PA-A000320150529F30PPSH-3574">
            <a:extLst>
              <a:ext uri="{FF2B5EF4-FFF2-40B4-BE49-F238E27FC236}">
                <a16:creationId xmlns:a16="http://schemas.microsoft.com/office/drawing/2014/main" id="{FF15215D-37D9-E04C-9191-B6E539285870}"/>
              </a:ext>
            </a:extLst>
          </p:cNvPr>
          <p:cNvSpPr/>
          <p:nvPr>
            <p:custDataLst>
              <p:tags r:id="rId2"/>
            </p:custDataLst>
          </p:nvPr>
        </p:nvSpPr>
        <p:spPr bwMode="auto">
          <a:xfrm>
            <a:off x="7277832" y="2033907"/>
            <a:ext cx="353236" cy="400110"/>
          </a:xfrm>
          <a:custGeom>
            <a:avLst/>
            <a:gdLst>
              <a:gd name="T0" fmla="*/ 195102655 w 13050"/>
              <a:gd name="T1" fmla="*/ 195059630 h 10203"/>
              <a:gd name="T2" fmla="*/ 195102655 w 13050"/>
              <a:gd name="T3" fmla="*/ 195059630 h 10203"/>
              <a:gd name="T4" fmla="*/ 195102655 w 13050"/>
              <a:gd name="T5" fmla="*/ 195059630 h 10203"/>
              <a:gd name="T6" fmla="*/ 195102655 w 13050"/>
              <a:gd name="T7" fmla="*/ 195059630 h 10203"/>
              <a:gd name="T8" fmla="*/ 195102655 w 13050"/>
              <a:gd name="T9" fmla="*/ 195059630 h 10203"/>
              <a:gd name="T10" fmla="*/ 195102655 w 13050"/>
              <a:gd name="T11" fmla="*/ 195059630 h 10203"/>
              <a:gd name="T12" fmla="*/ 195102655 w 13050"/>
              <a:gd name="T13" fmla="*/ 195059630 h 10203"/>
              <a:gd name="T14" fmla="*/ 195102655 w 13050"/>
              <a:gd name="T15" fmla="*/ 195059630 h 10203"/>
              <a:gd name="T16" fmla="*/ 195102655 w 13050"/>
              <a:gd name="T17" fmla="*/ 195059630 h 10203"/>
              <a:gd name="T18" fmla="*/ 195102655 w 13050"/>
              <a:gd name="T19" fmla="*/ 195059630 h 10203"/>
              <a:gd name="T20" fmla="*/ 195102655 w 13050"/>
              <a:gd name="T21" fmla="*/ 195059630 h 10203"/>
              <a:gd name="T22" fmla="*/ 195102655 w 13050"/>
              <a:gd name="T23" fmla="*/ 195059630 h 10203"/>
              <a:gd name="T24" fmla="*/ 195102655 w 13050"/>
              <a:gd name="T25" fmla="*/ 195059630 h 10203"/>
              <a:gd name="T26" fmla="*/ 195102655 w 13050"/>
              <a:gd name="T27" fmla="*/ 195059630 h 10203"/>
              <a:gd name="T28" fmla="*/ 195102655 w 13050"/>
              <a:gd name="T29" fmla="*/ 195059630 h 10203"/>
              <a:gd name="T30" fmla="*/ 195102655 w 13050"/>
              <a:gd name="T31" fmla="*/ 195059630 h 10203"/>
              <a:gd name="T32" fmla="*/ 195102655 w 13050"/>
              <a:gd name="T33" fmla="*/ 195059630 h 10203"/>
              <a:gd name="T34" fmla="*/ 195102655 w 13050"/>
              <a:gd name="T35" fmla="*/ 195059630 h 10203"/>
              <a:gd name="T36" fmla="*/ 195102655 w 13050"/>
              <a:gd name="T37" fmla="*/ 195059630 h 10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050" h="10203">
                <a:moveTo>
                  <a:pt x="555" y="7026"/>
                </a:moveTo>
                <a:lnTo>
                  <a:pt x="6858" y="7026"/>
                </a:lnTo>
                <a:lnTo>
                  <a:pt x="6858" y="9812"/>
                </a:lnTo>
                <a:lnTo>
                  <a:pt x="10878" y="5102"/>
                </a:lnTo>
                <a:lnTo>
                  <a:pt x="6858" y="391"/>
                </a:lnTo>
                <a:lnTo>
                  <a:pt x="6858" y="3177"/>
                </a:lnTo>
                <a:lnTo>
                  <a:pt x="555" y="3177"/>
                </a:lnTo>
                <a:lnTo>
                  <a:pt x="555" y="7026"/>
                </a:lnTo>
                <a:close/>
                <a:moveTo>
                  <a:pt x="0" y="7580"/>
                </a:moveTo>
                <a:lnTo>
                  <a:pt x="0" y="2622"/>
                </a:lnTo>
                <a:lnTo>
                  <a:pt x="6303" y="2622"/>
                </a:lnTo>
                <a:lnTo>
                  <a:pt x="6303" y="0"/>
                </a:lnTo>
                <a:lnTo>
                  <a:pt x="8698" y="0"/>
                </a:lnTo>
                <a:lnTo>
                  <a:pt x="13050" y="5102"/>
                </a:lnTo>
                <a:lnTo>
                  <a:pt x="8698" y="10203"/>
                </a:lnTo>
                <a:lnTo>
                  <a:pt x="6303" y="10203"/>
                </a:lnTo>
                <a:lnTo>
                  <a:pt x="6303" y="7580"/>
                </a:lnTo>
                <a:lnTo>
                  <a:pt x="0" y="7580"/>
                </a:lnTo>
                <a:close/>
              </a:path>
            </a:pathLst>
          </a:custGeom>
          <a:solidFill>
            <a:srgbClr val="C00000"/>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600"/>
          </a:p>
        </p:txBody>
      </p:sp>
      <p:cxnSp>
        <p:nvCxnSpPr>
          <p:cNvPr id="51" name="Elbow Connector 50">
            <a:extLst>
              <a:ext uri="{FF2B5EF4-FFF2-40B4-BE49-F238E27FC236}">
                <a16:creationId xmlns:a16="http://schemas.microsoft.com/office/drawing/2014/main" id="{34EA2F09-CDF7-5747-ACCD-7BD2322E7CE1}"/>
              </a:ext>
            </a:extLst>
          </p:cNvPr>
          <p:cNvCxnSpPr>
            <a:cxnSpLocks/>
            <a:stCxn id="21" idx="0"/>
            <a:endCxn id="19" idx="0"/>
          </p:cNvCxnSpPr>
          <p:nvPr/>
        </p:nvCxnSpPr>
        <p:spPr>
          <a:xfrm rot="16200000" flipH="1" flipV="1">
            <a:off x="4573233" y="-2186909"/>
            <a:ext cx="65768" cy="7294162"/>
          </a:xfrm>
          <a:prstGeom prst="bentConnector3">
            <a:avLst>
              <a:gd name="adj1" fmla="val -743377"/>
            </a:avLst>
          </a:prstGeom>
          <a:solidFill>
            <a:schemeClr val="bg1"/>
          </a:solidFill>
          <a:ln w="38100" algn="ctr">
            <a:solidFill>
              <a:srgbClr val="3E79BD"/>
            </a:solidFill>
            <a:miter lim="800000"/>
            <a:headEnd type="none" w="med" len="med"/>
            <a:tailEnd type="triangle" w="med" len="med"/>
          </a:ln>
          <a:effectLst>
            <a:outerShdw dist="57150" dir="2700000" algn="ctr" rotWithShape="0">
              <a:srgbClr val="888888">
                <a:alpha val="50000"/>
              </a:srgbClr>
            </a:outerShdw>
          </a:effectLst>
        </p:spPr>
      </p:cxnSp>
      <p:pic>
        <p:nvPicPr>
          <p:cNvPr id="53" name="Picture 6" descr="查看源图像">
            <a:extLst>
              <a:ext uri="{FF2B5EF4-FFF2-40B4-BE49-F238E27FC236}">
                <a16:creationId xmlns:a16="http://schemas.microsoft.com/office/drawing/2014/main" id="{CAEC491B-3E81-3748-B578-6A313F7B76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3595" y="991742"/>
            <a:ext cx="385200" cy="38520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查看源图像">
            <a:extLst>
              <a:ext uri="{FF2B5EF4-FFF2-40B4-BE49-F238E27FC236}">
                <a16:creationId xmlns:a16="http://schemas.microsoft.com/office/drawing/2014/main" id="{B11C0C8B-974D-6344-84F0-B50A49939C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3718" y="991742"/>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查看源图像">
            <a:extLst>
              <a:ext uri="{FF2B5EF4-FFF2-40B4-BE49-F238E27FC236}">
                <a16:creationId xmlns:a16="http://schemas.microsoft.com/office/drawing/2014/main" id="{E3B2EBE1-3535-7F46-9BBB-A9BCED257D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8262" y="996882"/>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查看源图像">
            <a:extLst>
              <a:ext uri="{FF2B5EF4-FFF2-40B4-BE49-F238E27FC236}">
                <a16:creationId xmlns:a16="http://schemas.microsoft.com/office/drawing/2014/main" id="{3CCA8C50-7C33-DC43-904B-16AEB4FA48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3964" y="988849"/>
            <a:ext cx="387476" cy="38747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 descr="查看源图像">
            <a:extLst>
              <a:ext uri="{FF2B5EF4-FFF2-40B4-BE49-F238E27FC236}">
                <a16:creationId xmlns:a16="http://schemas.microsoft.com/office/drawing/2014/main" id="{30161B49-62FD-7A4B-B1F6-7785C3B1CB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4087" y="1000673"/>
            <a:ext cx="387476" cy="387476"/>
          </a:xfrm>
          <a:prstGeom prst="rect">
            <a:avLst/>
          </a:prstGeom>
          <a:noFill/>
          <a:extLst>
            <a:ext uri="{909E8E84-426E-40DD-AFC4-6F175D3DCCD1}">
              <a14:hiddenFill xmlns:a14="http://schemas.microsoft.com/office/drawing/2010/main">
                <a:solidFill>
                  <a:srgbClr val="FFFFFF"/>
                </a:solidFill>
              </a14:hiddenFill>
            </a:ext>
          </a:extLst>
        </p:spPr>
      </p:pic>
      <p:sp>
        <p:nvSpPr>
          <p:cNvPr id="63" name="Left Brace 62">
            <a:extLst>
              <a:ext uri="{FF2B5EF4-FFF2-40B4-BE49-F238E27FC236}">
                <a16:creationId xmlns:a16="http://schemas.microsoft.com/office/drawing/2014/main" id="{74EC68A6-117D-2C4A-A07A-1E249EC32FFA}"/>
              </a:ext>
            </a:extLst>
          </p:cNvPr>
          <p:cNvSpPr/>
          <p:nvPr/>
        </p:nvSpPr>
        <p:spPr>
          <a:xfrm rot="16200000">
            <a:off x="4420111" y="538745"/>
            <a:ext cx="303779" cy="5469056"/>
          </a:xfrm>
          <a:prstGeom prst="leftBrace">
            <a:avLst>
              <a:gd name="adj1" fmla="val 5675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x-none"/>
          </a:p>
        </p:txBody>
      </p:sp>
      <p:sp>
        <p:nvSpPr>
          <p:cNvPr id="64" name="TextBox 63">
            <a:extLst>
              <a:ext uri="{FF2B5EF4-FFF2-40B4-BE49-F238E27FC236}">
                <a16:creationId xmlns:a16="http://schemas.microsoft.com/office/drawing/2014/main" id="{9B5B45BB-3C3A-6543-9DE0-5A4BEA990956}"/>
              </a:ext>
            </a:extLst>
          </p:cNvPr>
          <p:cNvSpPr txBox="1"/>
          <p:nvPr/>
        </p:nvSpPr>
        <p:spPr>
          <a:xfrm>
            <a:off x="579200" y="2482872"/>
            <a:ext cx="748923" cy="430887"/>
          </a:xfrm>
          <a:prstGeom prst="rect">
            <a:avLst/>
          </a:prstGeom>
          <a:noFill/>
        </p:spPr>
        <p:txBody>
          <a:bodyPr wrap="none" rtlCol="0">
            <a:spAutoFit/>
          </a:bodyPr>
          <a:lstStyle/>
          <a:p>
            <a:pPr algn="ctr"/>
            <a:r>
              <a:rPr lang="x-none" sz="2200" dirty="0">
                <a:latin typeface="Microsoft YaHei" charset="-122"/>
                <a:ea typeface="Microsoft YaHei" charset="-122"/>
                <a:cs typeface="Microsoft YaHei" charset="-122"/>
              </a:rPr>
              <a:t>问题</a:t>
            </a:r>
          </a:p>
        </p:txBody>
      </p:sp>
      <p:sp>
        <p:nvSpPr>
          <p:cNvPr id="65" name="TextBox 64">
            <a:extLst>
              <a:ext uri="{FF2B5EF4-FFF2-40B4-BE49-F238E27FC236}">
                <a16:creationId xmlns:a16="http://schemas.microsoft.com/office/drawing/2014/main" id="{BA0924BA-7468-8547-8E30-95CBFE47FCEE}"/>
              </a:ext>
            </a:extLst>
          </p:cNvPr>
          <p:cNvSpPr txBox="1"/>
          <p:nvPr/>
        </p:nvSpPr>
        <p:spPr>
          <a:xfrm>
            <a:off x="7878736" y="2482884"/>
            <a:ext cx="748923" cy="430887"/>
          </a:xfrm>
          <a:prstGeom prst="rect">
            <a:avLst/>
          </a:prstGeom>
          <a:noFill/>
        </p:spPr>
        <p:txBody>
          <a:bodyPr wrap="none" rtlCol="0">
            <a:spAutoFit/>
          </a:bodyPr>
          <a:lstStyle/>
          <a:p>
            <a:r>
              <a:rPr lang="x-none" sz="2200" dirty="0">
                <a:latin typeface="Microsoft YaHei" charset="-122"/>
                <a:ea typeface="Microsoft YaHei" charset="-122"/>
                <a:cs typeface="Microsoft YaHei" charset="-122"/>
              </a:rPr>
              <a:t>答案</a:t>
            </a:r>
          </a:p>
        </p:txBody>
      </p:sp>
      <p:sp>
        <p:nvSpPr>
          <p:cNvPr id="66" name="文本框 49">
            <a:extLst>
              <a:ext uri="{FF2B5EF4-FFF2-40B4-BE49-F238E27FC236}">
                <a16:creationId xmlns:a16="http://schemas.microsoft.com/office/drawing/2014/main" id="{B793BEF9-0C01-CC45-A139-0906FD4CB9C6}"/>
              </a:ext>
            </a:extLst>
          </p:cNvPr>
          <p:cNvSpPr txBox="1"/>
          <p:nvPr/>
        </p:nvSpPr>
        <p:spPr>
          <a:xfrm>
            <a:off x="1830796" y="3614991"/>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x-none" b="0" kern="0" dirty="0">
                <a:solidFill>
                  <a:srgbClr val="014B88"/>
                </a:solidFill>
              </a:rPr>
              <a:t>数据</a:t>
            </a:r>
            <a:r>
              <a:rPr lang="zh-CN" altLang="en-US" b="0" kern="0" dirty="0">
                <a:solidFill>
                  <a:srgbClr val="014B88"/>
                </a:solidFill>
              </a:rPr>
              <a:t>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多样性</a:t>
            </a:r>
          </a:p>
        </p:txBody>
      </p:sp>
      <p:sp>
        <p:nvSpPr>
          <p:cNvPr id="67" name="文本框 49">
            <a:extLst>
              <a:ext uri="{FF2B5EF4-FFF2-40B4-BE49-F238E27FC236}">
                <a16:creationId xmlns:a16="http://schemas.microsoft.com/office/drawing/2014/main" id="{7CFC82EE-7785-E048-986D-89B6A1212E52}"/>
              </a:ext>
            </a:extLst>
          </p:cNvPr>
          <p:cNvSpPr txBox="1"/>
          <p:nvPr/>
        </p:nvSpPr>
        <p:spPr>
          <a:xfrm>
            <a:off x="3420981"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x-none" b="0" kern="0" dirty="0">
                <a:solidFill>
                  <a:srgbClr val="014B88"/>
                </a:solidFill>
              </a:rPr>
              <a:t>数据</a:t>
            </a:r>
            <a:r>
              <a:rPr lang="zh-CN" altLang="en-US" b="0" kern="0" dirty="0">
                <a:solidFill>
                  <a:srgbClr val="014B88"/>
                </a:solidFill>
              </a:rPr>
              <a:t>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海量性</a:t>
            </a:r>
          </a:p>
        </p:txBody>
      </p:sp>
      <p:sp>
        <p:nvSpPr>
          <p:cNvPr id="68" name="文本框 49">
            <a:extLst>
              <a:ext uri="{FF2B5EF4-FFF2-40B4-BE49-F238E27FC236}">
                <a16:creationId xmlns:a16="http://schemas.microsoft.com/office/drawing/2014/main" id="{2EA96626-46AA-EE46-8BED-87D62C593A9B}"/>
              </a:ext>
            </a:extLst>
          </p:cNvPr>
          <p:cNvSpPr txBox="1"/>
          <p:nvPr/>
        </p:nvSpPr>
        <p:spPr>
          <a:xfrm>
            <a:off x="5011166"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en-US" b="0" kern="0" dirty="0">
                <a:solidFill>
                  <a:srgbClr val="014B88"/>
                </a:solidFill>
              </a:rPr>
              <a:t>结果的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及时性</a:t>
            </a:r>
          </a:p>
        </p:txBody>
      </p:sp>
      <p:sp>
        <p:nvSpPr>
          <p:cNvPr id="69" name="文本框 49">
            <a:extLst>
              <a:ext uri="{FF2B5EF4-FFF2-40B4-BE49-F238E27FC236}">
                <a16:creationId xmlns:a16="http://schemas.microsoft.com/office/drawing/2014/main" id="{E69D8E4F-D7D4-8D40-98D2-4606B459B125}"/>
              </a:ext>
            </a:extLst>
          </p:cNvPr>
          <p:cNvSpPr txBox="1"/>
          <p:nvPr/>
        </p:nvSpPr>
        <p:spPr>
          <a:xfrm>
            <a:off x="6601351" y="3614990"/>
            <a:ext cx="1377578" cy="894705"/>
          </a:xfrm>
          <a:prstGeom prst="rect">
            <a:avLst/>
          </a:prstGeom>
          <a:solidFill>
            <a:srgbClr val="6CC9EE">
              <a:alpha val="16000"/>
            </a:srgbClr>
          </a:solidFill>
          <a:ln w="6350" cap="flat" cmpd="sng" algn="ctr">
            <a:solidFill>
              <a:srgbClr val="000090"/>
            </a:solidFill>
            <a:prstDash val="solid"/>
            <a:miter lim="800000"/>
          </a:ln>
          <a:effectLst/>
        </p:spPr>
        <p:txBody>
          <a:bodyPr rtlCol="0" anchor="ctr"/>
          <a:lstStyle>
            <a:defPPr>
              <a:defRPr lang="zh-CN"/>
            </a:defPPr>
            <a:lvl1pPr>
              <a:defRPr kumimoji="1" sz="2000" b="1">
                <a:latin typeface="微软雅黑" panose="020B0503020204020204" pitchFamily="34" charset="-122"/>
                <a:ea typeface="微软雅黑" panose="020B0503020204020204" pitchFamily="34"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ctr">
              <a:lnSpc>
                <a:spcPct val="125000"/>
              </a:lnSpc>
              <a:spcBef>
                <a:spcPts val="0"/>
              </a:spcBef>
            </a:pPr>
            <a:r>
              <a:rPr lang="zh-CN" altLang="en-US" b="0" kern="0" dirty="0">
                <a:solidFill>
                  <a:srgbClr val="014B88"/>
                </a:solidFill>
              </a:rPr>
              <a:t>数据的</a:t>
            </a:r>
            <a:endParaRPr lang="en-US" altLang="zh-CN" b="0" kern="0" dirty="0">
              <a:solidFill>
                <a:srgbClr val="014B88"/>
              </a:solidFill>
            </a:endParaRPr>
          </a:p>
          <a:p>
            <a:pPr algn="ctr">
              <a:lnSpc>
                <a:spcPct val="125000"/>
              </a:lnSpc>
              <a:spcBef>
                <a:spcPts val="0"/>
              </a:spcBef>
            </a:pPr>
            <a:r>
              <a:rPr lang="zh-CN" altLang="en-US" b="0" kern="0" dirty="0">
                <a:solidFill>
                  <a:srgbClr val="014B88"/>
                </a:solidFill>
                <a:latin typeface="微软雅黑" panose="020B0503020204020204" pitchFamily="34" charset="-122"/>
                <a:ea typeface="微软雅黑" panose="020B0503020204020204" pitchFamily="34" charset="-122"/>
              </a:rPr>
              <a:t>隐私保护</a:t>
            </a:r>
          </a:p>
        </p:txBody>
      </p:sp>
      <p:sp>
        <p:nvSpPr>
          <p:cNvPr id="70" name="TextBox 69">
            <a:extLst>
              <a:ext uri="{FF2B5EF4-FFF2-40B4-BE49-F238E27FC236}">
                <a16:creationId xmlns:a16="http://schemas.microsoft.com/office/drawing/2014/main" id="{FFEBAC01-D8CE-1A44-BA27-4D0B97579E2E}"/>
              </a:ext>
            </a:extLst>
          </p:cNvPr>
          <p:cNvSpPr txBox="1"/>
          <p:nvPr/>
        </p:nvSpPr>
        <p:spPr>
          <a:xfrm>
            <a:off x="297071" y="3846898"/>
            <a:ext cx="1313180" cy="430887"/>
          </a:xfrm>
          <a:prstGeom prst="rect">
            <a:avLst/>
          </a:prstGeom>
          <a:noFill/>
        </p:spPr>
        <p:txBody>
          <a:bodyPr wrap="none" rtlCol="0">
            <a:spAutoFit/>
          </a:bodyPr>
          <a:lstStyle/>
          <a:p>
            <a:r>
              <a:rPr lang="x-none" sz="2200" dirty="0">
                <a:latin typeface="Microsoft YaHei" charset="-122"/>
                <a:ea typeface="Microsoft YaHei" charset="-122"/>
                <a:cs typeface="Microsoft YaHei" charset="-122"/>
              </a:rPr>
              <a:t>技术挑战</a:t>
            </a:r>
          </a:p>
        </p:txBody>
      </p:sp>
      <p:sp>
        <p:nvSpPr>
          <p:cNvPr id="71" name="TextBox 70">
            <a:extLst>
              <a:ext uri="{FF2B5EF4-FFF2-40B4-BE49-F238E27FC236}">
                <a16:creationId xmlns:a16="http://schemas.microsoft.com/office/drawing/2014/main" id="{1AAFADD0-3541-9C47-8993-C3B647D53215}"/>
              </a:ext>
            </a:extLst>
          </p:cNvPr>
          <p:cNvSpPr txBox="1"/>
          <p:nvPr/>
        </p:nvSpPr>
        <p:spPr>
          <a:xfrm>
            <a:off x="8068778" y="3776765"/>
            <a:ext cx="575799" cy="430887"/>
          </a:xfrm>
          <a:prstGeom prst="rect">
            <a:avLst/>
          </a:prstGeom>
          <a:noFill/>
        </p:spPr>
        <p:txBody>
          <a:bodyPr wrap="none" rtlCol="0">
            <a:spAutoFit/>
          </a:bodyPr>
          <a:lstStyle/>
          <a:p>
            <a:pPr algn="ctr"/>
            <a:r>
              <a:rPr lang="en-US" altLang="zh-CN" sz="2200" dirty="0"/>
              <a:t>……</a:t>
            </a:r>
            <a:endParaRPr lang="x-none" sz="2200" dirty="0"/>
          </a:p>
        </p:txBody>
      </p:sp>
    </p:spTree>
    <p:extLst>
      <p:ext uri="{BB962C8B-B14F-4D97-AF65-F5344CB8AC3E}">
        <p14:creationId xmlns:p14="http://schemas.microsoft.com/office/powerpoint/2010/main" val="47682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ags/tag2.xml><?xml version="1.0" encoding="utf-8"?>
<p:tagLst xmlns:a="http://schemas.openxmlformats.org/drawingml/2006/main" xmlns:r="http://schemas.openxmlformats.org/officeDocument/2006/relationships" xmlns:p="http://schemas.openxmlformats.org/presentationml/2006/main">
  <p:tag name="PA" val="v5.2.10"/>
  <p:tag name="PAMAINTYPE" val="4"/>
  <p:tag name="PATYPE" val="140"/>
  <p:tag name="PASUBTYPE" val="141"/>
  <p:tag name="RESOURCELIBID_SHAPE" val="3571"/>
  <p:tag name="RESOURCELIB_SHAPETYPE" val="4"/>
</p:tagLst>
</file>

<file path=ppt/tags/tag3.xml><?xml version="1.0" encoding="utf-8"?>
<p:tagLst xmlns:a="http://schemas.openxmlformats.org/drawingml/2006/main" xmlns:r="http://schemas.openxmlformats.org/officeDocument/2006/relationships" xmlns:p="http://schemas.openxmlformats.org/presentationml/2006/main">
  <p:tag name="PA" val="v5.2.10"/>
  <p:tag name="PAMAINTYPE" val="4"/>
  <p:tag name="PATYPE" val="140"/>
  <p:tag name="PASUBTYPE" val="141"/>
  <p:tag name="RESOURCELIBID_SHAPE" val="3571"/>
  <p:tag name="RESOURCELIB_SHAPETYPE" val="4"/>
</p:tagLst>
</file>

<file path=ppt/tags/tag4.xml><?xml version="1.0" encoding="utf-8"?>
<p:tagLst xmlns:a="http://schemas.openxmlformats.org/drawingml/2006/main" xmlns:r="http://schemas.openxmlformats.org/officeDocument/2006/relationships" xmlns:p="http://schemas.openxmlformats.org/presentationml/2006/main">
  <p:tag name="PA" val="v5.2.10"/>
  <p:tag name="PAMAINTYPE" val="4"/>
  <p:tag name="PATYPE" val="140"/>
  <p:tag name="PASUBTYPE" val="141"/>
  <p:tag name="RESOURCELIBID_SHAPE" val="3571"/>
  <p:tag name="RESOURCELIB_SHAPETYPE" val="4"/>
</p:tagLst>
</file>

<file path=ppt/tags/tag5.xml><?xml version="1.0" encoding="utf-8"?>
<p:tagLst xmlns:a="http://schemas.openxmlformats.org/drawingml/2006/main" xmlns:r="http://schemas.openxmlformats.org/officeDocument/2006/relationships" xmlns:p="http://schemas.openxmlformats.org/presentationml/2006/main">
  <p:tag name="PA" val="v5.2.10"/>
  <p:tag name="PAMAINTYPE" val="4"/>
  <p:tag name="PATYPE" val="140"/>
  <p:tag name="PASUBTYPE" val="141"/>
  <p:tag name="RESOURCELIBID_SHAPE" val="3571"/>
  <p:tag name="RESOURCELIB_SHAPETYPE" val="4"/>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14113</TotalTime>
  <Words>3277</Words>
  <Application>Microsoft Macintosh PowerPoint</Application>
  <PresentationFormat>On-screen Show (16:9)</PresentationFormat>
  <Paragraphs>375</Paragraphs>
  <Slides>56</Slides>
  <Notes>21</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56</vt:i4>
      </vt:variant>
    </vt:vector>
  </HeadingPairs>
  <TitlesOfParts>
    <vt:vector size="74" baseType="lpstr">
      <vt:lpstr>-apple-system</vt:lpstr>
      <vt:lpstr>gotham</vt:lpstr>
      <vt:lpstr>微软雅黑</vt:lpstr>
      <vt:lpstr>微软雅黑</vt:lpstr>
      <vt:lpstr>source-code-pro</vt:lpstr>
      <vt:lpstr>Times-Roman</vt:lpstr>
      <vt:lpstr>方正兰亭细黑_GBK</vt:lpstr>
      <vt:lpstr>Arial</vt:lpstr>
      <vt:lpstr>Calibri</vt:lpstr>
      <vt:lpstr>Consolas</vt:lpstr>
      <vt:lpstr>Courier New</vt:lpstr>
      <vt:lpstr>Futura</vt:lpstr>
      <vt:lpstr>Helvetica Neue</vt:lpstr>
      <vt:lpstr>Roboto</vt:lpstr>
      <vt:lpstr>Times New Roman</vt:lpstr>
      <vt:lpstr>Wingdings</vt:lpstr>
      <vt:lpstr>清风素材 https://12sc.taobao.com/</vt:lpstr>
      <vt:lpstr>1_清风素材 https://12sc.taobao.com/</vt:lpstr>
      <vt:lpstr>PowerPoint Presentation</vt:lpstr>
      <vt:lpstr>PowerPoint Presentation</vt:lpstr>
      <vt:lpstr>数据分析的目标：让数据说话</vt:lpstr>
      <vt:lpstr>如何用数据支撑自己的观点</vt:lpstr>
      <vt:lpstr>探索数据分析：思维方式</vt:lpstr>
      <vt:lpstr>探索数据分析：迭代工作流</vt:lpstr>
      <vt:lpstr>PowerPoint Presentation</vt:lpstr>
      <vt:lpstr>可视化的目标是让人发现规律</vt:lpstr>
      <vt:lpstr>可视化：基本图表类型</vt:lpstr>
      <vt:lpstr>散点图（Scatter）</vt:lpstr>
      <vt:lpstr>散点图的示例</vt:lpstr>
      <vt:lpstr>散点图的示例</vt:lpstr>
      <vt:lpstr>直方图（Histogram）</vt:lpstr>
      <vt:lpstr>直方图的局限性</vt:lpstr>
      <vt:lpstr>累积分布函数</vt:lpstr>
      <vt:lpstr>累计分布图的示例</vt:lpstr>
      <vt:lpstr>箱线图</vt:lpstr>
      <vt:lpstr>箱线图</vt:lpstr>
      <vt:lpstr>柱状图</vt:lpstr>
      <vt:lpstr>线条图</vt:lpstr>
      <vt:lpstr>热力图</vt:lpstr>
      <vt:lpstr>Matplotlib库</vt:lpstr>
      <vt:lpstr>Matplotlib 对象总览</vt:lpstr>
      <vt:lpstr>Matplotlib 对象总览(2)</vt:lpstr>
      <vt:lpstr>基本绘图过程</vt:lpstr>
      <vt:lpstr>基本绘图过程</vt:lpstr>
      <vt:lpstr>matplotlib.pyplot绘制的常见图形</vt:lpstr>
      <vt:lpstr>画一条直线 y=x</vt:lpstr>
      <vt:lpstr>画sin函数</vt:lpstr>
      <vt:lpstr>3、sin(x)、sin(x2)</vt:lpstr>
      <vt:lpstr>调整线条属性</vt:lpstr>
      <vt:lpstr>散点图</vt:lpstr>
      <vt:lpstr>配置文件</vt:lpstr>
      <vt:lpstr>Seaborn库</vt:lpstr>
      <vt:lpstr>使用Seaborn绘制barplot</vt:lpstr>
      <vt:lpstr>使用Seaborn绘制lmplot</vt:lpstr>
      <vt:lpstr>PowerPoint Presentation</vt:lpstr>
      <vt:lpstr>数据选取操作-选择与切片(1)</vt:lpstr>
      <vt:lpstr>数据选取操作-选择与切片(2)</vt:lpstr>
      <vt:lpstr>数据选取操作-选择与切片(3)</vt:lpstr>
      <vt:lpstr>数据选取操作-条件过滤</vt:lpstr>
      <vt:lpstr>数据聚合操作-groupby</vt:lpstr>
      <vt:lpstr>数据聚合操作-groupby</vt:lpstr>
      <vt:lpstr>数据透视操作-pivot_table</vt:lpstr>
      <vt:lpstr>PowerPoint Presentation</vt:lpstr>
      <vt:lpstr>表格数据可视化的基本流程</vt:lpstr>
      <vt:lpstr>通过具体的例子熟悉可视化方法</vt:lpstr>
      <vt:lpstr>直方图</vt:lpstr>
      <vt:lpstr>密度分布图</vt:lpstr>
      <vt:lpstr>散点图</vt:lpstr>
      <vt:lpstr>条形图</vt:lpstr>
      <vt:lpstr>线条图</vt:lpstr>
      <vt:lpstr>Lmplot图</vt:lpstr>
      <vt:lpstr>箱型图</vt:lpstr>
      <vt:lpstr>课堂练习</vt:lpstr>
      <vt:lpstr>总结：数据探索分析与可视化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举 范</cp:lastModifiedBy>
  <cp:revision>388</cp:revision>
  <cp:lastPrinted>2021-03-01T06:17:34Z</cp:lastPrinted>
  <dcterms:created xsi:type="dcterms:W3CDTF">2015-01-23T04:02:45Z</dcterms:created>
  <dcterms:modified xsi:type="dcterms:W3CDTF">2025-10-09T05:10:21Z</dcterms:modified>
  <cp:category/>
  <cp:contentStatus>12sc.taobao.com</cp:contentStatus>
</cp:coreProperties>
</file>