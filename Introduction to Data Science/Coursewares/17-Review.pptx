
<file path=[Content_Types].xml><?xml version="1.0" encoding="utf-8"?>
<Types xmlns="http://schemas.openxmlformats.org/package/2006/content-types">
  <Default Extension="xml" ContentType="application/xml"/>
  <Default Extension="jpg" ContentType="image/jpeg"/>
  <Default Extension="jpeg" ContentType="image/jpeg"/>
  <Default Extension="emf" ContentType="image/x-emf"/>
  <Default Extension="rels" ContentType="application/vnd.openxmlformats-package.relationships+xml"/>
  <Default Extension="vml" ContentType="application/vnd.openxmlformats-officedocument.vmlDrawing"/>
  <Default Extension="wdp" ContentType="image/vnd.ms-photo"/>
  <Default Extension="png" ContentType="image/png"/>
  <Default Extension="bin" ContentType="application/vnd.openxmlformats-officedocument.oleObjec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8"/>
  </p:notesMasterIdLst>
  <p:sldIdLst>
    <p:sldId id="449" r:id="rId2"/>
    <p:sldId id="798" r:id="rId3"/>
    <p:sldId id="843" r:id="rId4"/>
    <p:sldId id="844" r:id="rId5"/>
    <p:sldId id="845" r:id="rId6"/>
    <p:sldId id="846" r:id="rId7"/>
    <p:sldId id="920" r:id="rId8"/>
    <p:sldId id="921" r:id="rId9"/>
    <p:sldId id="922" r:id="rId10"/>
    <p:sldId id="925" r:id="rId11"/>
    <p:sldId id="927" r:id="rId12"/>
    <p:sldId id="929" r:id="rId13"/>
    <p:sldId id="930" r:id="rId14"/>
    <p:sldId id="931" r:id="rId15"/>
    <p:sldId id="932" r:id="rId16"/>
    <p:sldId id="933" r:id="rId17"/>
    <p:sldId id="934" r:id="rId18"/>
    <p:sldId id="847" r:id="rId19"/>
    <p:sldId id="849" r:id="rId20"/>
    <p:sldId id="850" r:id="rId21"/>
    <p:sldId id="851" r:id="rId22"/>
    <p:sldId id="852" r:id="rId23"/>
    <p:sldId id="853" r:id="rId24"/>
    <p:sldId id="854" r:id="rId25"/>
    <p:sldId id="855" r:id="rId26"/>
    <p:sldId id="856" r:id="rId27"/>
    <p:sldId id="859" r:id="rId28"/>
    <p:sldId id="860" r:id="rId29"/>
    <p:sldId id="861" r:id="rId30"/>
    <p:sldId id="862" r:id="rId31"/>
    <p:sldId id="863" r:id="rId32"/>
    <p:sldId id="864" r:id="rId33"/>
    <p:sldId id="866" r:id="rId34"/>
    <p:sldId id="867" r:id="rId35"/>
    <p:sldId id="868" r:id="rId36"/>
    <p:sldId id="869" r:id="rId37"/>
    <p:sldId id="870" r:id="rId38"/>
    <p:sldId id="871" r:id="rId39"/>
    <p:sldId id="872" r:id="rId40"/>
    <p:sldId id="890" r:id="rId41"/>
    <p:sldId id="891" r:id="rId42"/>
    <p:sldId id="892" r:id="rId43"/>
    <p:sldId id="893" r:id="rId44"/>
    <p:sldId id="894" r:id="rId45"/>
    <p:sldId id="895" r:id="rId46"/>
    <p:sldId id="896" r:id="rId47"/>
    <p:sldId id="897" r:id="rId48"/>
    <p:sldId id="898" r:id="rId49"/>
    <p:sldId id="899" r:id="rId50"/>
    <p:sldId id="906" r:id="rId51"/>
    <p:sldId id="907" r:id="rId52"/>
    <p:sldId id="908" r:id="rId53"/>
    <p:sldId id="909" r:id="rId54"/>
    <p:sldId id="910" r:id="rId55"/>
    <p:sldId id="911" r:id="rId56"/>
    <p:sldId id="913" r:id="rId57"/>
    <p:sldId id="767" r:id="rId58"/>
    <p:sldId id="775" r:id="rId59"/>
    <p:sldId id="776" r:id="rId60"/>
    <p:sldId id="777" r:id="rId61"/>
    <p:sldId id="778" r:id="rId62"/>
    <p:sldId id="779" r:id="rId63"/>
    <p:sldId id="781" r:id="rId64"/>
    <p:sldId id="782" r:id="rId65"/>
    <p:sldId id="814" r:id="rId66"/>
    <p:sldId id="815" r:id="rId67"/>
    <p:sldId id="816" r:id="rId68"/>
    <p:sldId id="817" r:id="rId69"/>
    <p:sldId id="784" r:id="rId70"/>
    <p:sldId id="785" r:id="rId71"/>
    <p:sldId id="786" r:id="rId72"/>
    <p:sldId id="787" r:id="rId73"/>
    <p:sldId id="803" r:id="rId74"/>
    <p:sldId id="804" r:id="rId75"/>
    <p:sldId id="805" r:id="rId76"/>
    <p:sldId id="806" r:id="rId77"/>
    <p:sldId id="807" r:id="rId78"/>
    <p:sldId id="808" r:id="rId79"/>
    <p:sldId id="809" r:id="rId80"/>
    <p:sldId id="810" r:id="rId81"/>
    <p:sldId id="811" r:id="rId82"/>
    <p:sldId id="727" r:id="rId83"/>
    <p:sldId id="674" r:id="rId84"/>
    <p:sldId id="680" r:id="rId85"/>
    <p:sldId id="725" r:id="rId86"/>
    <p:sldId id="813" r:id="rId87"/>
  </p:sldIdLst>
  <p:sldSz cx="9144000" cy="5143500" type="screen16x9"/>
  <p:notesSz cx="6858000" cy="9144000"/>
  <p:custDataLst>
    <p:tags r:id="rId8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E223A"/>
    <a:srgbClr val="F6F8FA"/>
    <a:srgbClr val="1A3F6C"/>
    <a:srgbClr val="AE062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212" autoAdjust="0"/>
    <p:restoredTop sz="73810" autoAdjust="0"/>
  </p:normalViewPr>
  <p:slideViewPr>
    <p:cSldViewPr snapToGrid="0">
      <p:cViewPr>
        <p:scale>
          <a:sx n="129" d="100"/>
          <a:sy n="129" d="100"/>
        </p:scale>
        <p:origin x="2640" y="34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90" Type="http://schemas.openxmlformats.org/officeDocument/2006/relationships/presProps" Target="presProps.xml"/><Relationship Id="rId91" Type="http://schemas.openxmlformats.org/officeDocument/2006/relationships/viewProps" Target="viewProps.xml"/><Relationship Id="rId92" Type="http://schemas.openxmlformats.org/officeDocument/2006/relationships/theme" Target="theme/theme1.xml"/><Relationship Id="rId93" Type="http://schemas.openxmlformats.org/officeDocument/2006/relationships/tableStyles" Target="tableStyles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notesMaster" Target="notesMasters/notesMaster1.xml"/><Relationship Id="rId89" Type="http://schemas.openxmlformats.org/officeDocument/2006/relationships/tags" Target="tags/tag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4659926-7688-1849-AE9C-599A9672BCBA}" type="doc">
      <dgm:prSet loTypeId="urn:microsoft.com/office/officeart/2005/8/layout/hProcess4" loCatId="" qsTypeId="urn:microsoft.com/office/officeart/2005/8/quickstyle/simple1" qsCatId="simple" csTypeId="urn:microsoft.com/office/officeart/2005/8/colors/colorful1" csCatId="colorful" phldr="1"/>
      <dgm:spPr/>
    </dgm:pt>
    <dgm:pt modelId="{833B1DEE-7F72-9246-8FD8-BC852CE35CC9}">
      <dgm:prSet phldrT="[文本]"/>
      <dgm:spPr/>
      <dgm:t>
        <a:bodyPr/>
        <a:lstStyle/>
        <a:p>
          <a:r>
            <a:rPr lang="zh-CN" altLang="en-US" dirty="0"/>
            <a:t>数据获取</a:t>
          </a:r>
        </a:p>
      </dgm:t>
    </dgm:pt>
    <dgm:pt modelId="{B978D1CD-A1DA-CF46-8621-67B8D60750F1}" type="parTrans" cxnId="{7E59E897-608F-3A47-9B7A-4205BE11696A}">
      <dgm:prSet/>
      <dgm:spPr/>
      <dgm:t>
        <a:bodyPr/>
        <a:lstStyle/>
        <a:p>
          <a:endParaRPr lang="zh-CN" altLang="en-US"/>
        </a:p>
      </dgm:t>
    </dgm:pt>
    <dgm:pt modelId="{FECCF492-001F-F240-9F6C-1978B4716F0F}" type="sibTrans" cxnId="{7E59E897-608F-3A47-9B7A-4205BE11696A}">
      <dgm:prSet/>
      <dgm:spPr/>
      <dgm:t>
        <a:bodyPr/>
        <a:lstStyle/>
        <a:p>
          <a:endParaRPr lang="zh-CN" altLang="en-US"/>
        </a:p>
      </dgm:t>
    </dgm:pt>
    <dgm:pt modelId="{0116DF6C-A155-4149-AB47-728336A47087}">
      <dgm:prSet phldrT="[文本]"/>
      <dgm:spPr/>
      <dgm:t>
        <a:bodyPr/>
        <a:lstStyle/>
        <a:p>
          <a:r>
            <a:rPr lang="zh-CN" altLang="en-US" dirty="0"/>
            <a:t>数据处理</a:t>
          </a:r>
        </a:p>
      </dgm:t>
    </dgm:pt>
    <dgm:pt modelId="{65CDC210-3BB7-B540-A018-68179870C284}" type="parTrans" cxnId="{4B8A84DA-1DC5-0F4A-965D-02899D16F0BC}">
      <dgm:prSet/>
      <dgm:spPr/>
      <dgm:t>
        <a:bodyPr/>
        <a:lstStyle/>
        <a:p>
          <a:endParaRPr lang="zh-CN" altLang="en-US"/>
        </a:p>
      </dgm:t>
    </dgm:pt>
    <dgm:pt modelId="{F58BED02-63C3-E742-B7B0-4EAD27092D13}" type="sibTrans" cxnId="{4B8A84DA-1DC5-0F4A-965D-02899D16F0BC}">
      <dgm:prSet/>
      <dgm:spPr/>
      <dgm:t>
        <a:bodyPr/>
        <a:lstStyle/>
        <a:p>
          <a:endParaRPr lang="zh-CN" altLang="en-US"/>
        </a:p>
      </dgm:t>
    </dgm:pt>
    <dgm:pt modelId="{44500AF1-8EBA-0B4B-9D51-E060F41D95BD}">
      <dgm:prSet phldrT="[文本]"/>
      <dgm:spPr/>
      <dgm:t>
        <a:bodyPr/>
        <a:lstStyle/>
        <a:p>
          <a:r>
            <a:rPr lang="zh-CN" altLang="en-US" dirty="0"/>
            <a:t>网页抓取</a:t>
          </a:r>
        </a:p>
      </dgm:t>
    </dgm:pt>
    <dgm:pt modelId="{44B111CD-4AC1-524E-B6BC-766A95B9414C}" type="parTrans" cxnId="{740EAB13-A4E2-6E42-8C00-055AD3DB6845}">
      <dgm:prSet/>
      <dgm:spPr/>
      <dgm:t>
        <a:bodyPr/>
        <a:lstStyle/>
        <a:p>
          <a:endParaRPr lang="zh-CN" altLang="en-US"/>
        </a:p>
      </dgm:t>
    </dgm:pt>
    <dgm:pt modelId="{C82898E2-8FEC-0843-BC38-A0C16AC7CE04}" type="sibTrans" cxnId="{740EAB13-A4E2-6E42-8C00-055AD3DB6845}">
      <dgm:prSet/>
      <dgm:spPr/>
      <dgm:t>
        <a:bodyPr/>
        <a:lstStyle/>
        <a:p>
          <a:endParaRPr lang="zh-CN" altLang="en-US"/>
        </a:p>
      </dgm:t>
    </dgm:pt>
    <dgm:pt modelId="{FA07C8EC-F731-FF48-B519-A31843CA3717}">
      <dgm:prSet phldrT="[文本]"/>
      <dgm:spPr/>
      <dgm:t>
        <a:bodyPr/>
        <a:lstStyle/>
        <a:p>
          <a:r>
            <a:rPr lang="zh-CN" altLang="en-US" dirty="0"/>
            <a:t>网页解析</a:t>
          </a:r>
        </a:p>
      </dgm:t>
    </dgm:pt>
    <dgm:pt modelId="{0F0F9BC9-54F7-D842-A559-82D3B7AD4653}" type="parTrans" cxnId="{B5C36E08-D695-9345-9C36-CE693A9AD70A}">
      <dgm:prSet/>
      <dgm:spPr/>
      <dgm:t>
        <a:bodyPr/>
        <a:lstStyle/>
        <a:p>
          <a:endParaRPr lang="zh-CN" altLang="en-US"/>
        </a:p>
      </dgm:t>
    </dgm:pt>
    <dgm:pt modelId="{BA34FC4C-05F2-D349-8146-3005C5F27100}" type="sibTrans" cxnId="{B5C36E08-D695-9345-9C36-CE693A9AD70A}">
      <dgm:prSet/>
      <dgm:spPr/>
      <dgm:t>
        <a:bodyPr/>
        <a:lstStyle/>
        <a:p>
          <a:endParaRPr lang="zh-CN" altLang="en-US"/>
        </a:p>
      </dgm:t>
    </dgm:pt>
    <dgm:pt modelId="{B651ABBC-427E-5244-B07C-71F3C59F5E5E}">
      <dgm:prSet phldrT="[文本]"/>
      <dgm:spPr/>
      <dgm:t>
        <a:bodyPr/>
        <a:lstStyle/>
        <a:p>
          <a:r>
            <a:rPr lang="zh-CN" altLang="en-US" dirty="0"/>
            <a:t>中文分词</a:t>
          </a:r>
        </a:p>
      </dgm:t>
    </dgm:pt>
    <dgm:pt modelId="{B7A4B335-173A-C14C-8C18-9E5745719133}" type="parTrans" cxnId="{406BEE41-4D98-7A49-A57A-144280E7521C}">
      <dgm:prSet/>
      <dgm:spPr/>
      <dgm:t>
        <a:bodyPr/>
        <a:lstStyle/>
        <a:p>
          <a:endParaRPr lang="zh-CN" altLang="en-US"/>
        </a:p>
      </dgm:t>
    </dgm:pt>
    <dgm:pt modelId="{2785AB89-E3E7-A744-A12B-1CC92E99D52E}" type="sibTrans" cxnId="{406BEE41-4D98-7A49-A57A-144280E7521C}">
      <dgm:prSet/>
      <dgm:spPr/>
      <dgm:t>
        <a:bodyPr/>
        <a:lstStyle/>
        <a:p>
          <a:endParaRPr lang="zh-CN" altLang="en-US"/>
        </a:p>
      </dgm:t>
    </dgm:pt>
    <dgm:pt modelId="{D99DD0C5-2410-944D-82F5-76556657EC0A}">
      <dgm:prSet phldrT="[文本]"/>
      <dgm:spPr/>
      <dgm:t>
        <a:bodyPr/>
        <a:lstStyle/>
        <a:p>
          <a:r>
            <a:rPr lang="zh-CN" altLang="en-US" dirty="0"/>
            <a:t>文本分析</a:t>
          </a:r>
        </a:p>
      </dgm:t>
    </dgm:pt>
    <dgm:pt modelId="{9D0F7265-B34F-4345-864A-0A46275C629E}" type="parTrans" cxnId="{42BDDF96-0574-E147-BEBD-57FEAB7B2D61}">
      <dgm:prSet/>
      <dgm:spPr/>
      <dgm:t>
        <a:bodyPr/>
        <a:lstStyle/>
        <a:p>
          <a:endParaRPr lang="zh-CN" altLang="en-US"/>
        </a:p>
      </dgm:t>
    </dgm:pt>
    <dgm:pt modelId="{CE881428-7A05-F841-B4E0-BF7E1DDEEFF9}" type="sibTrans" cxnId="{42BDDF96-0574-E147-BEBD-57FEAB7B2D61}">
      <dgm:prSet/>
      <dgm:spPr/>
      <dgm:t>
        <a:bodyPr/>
        <a:lstStyle/>
        <a:p>
          <a:endParaRPr lang="zh-CN" altLang="en-US"/>
        </a:p>
      </dgm:t>
    </dgm:pt>
    <dgm:pt modelId="{A82678BB-F781-2C4F-AAC9-04CFD4DB88C9}">
      <dgm:prSet phldrT="[文本]"/>
      <dgm:spPr/>
      <dgm:t>
        <a:bodyPr/>
        <a:lstStyle/>
        <a:p>
          <a:r>
            <a:rPr lang="zh-CN" altLang="en-US" b="1" dirty="0">
              <a:solidFill>
                <a:schemeClr val="tx1"/>
              </a:solidFill>
            </a:rPr>
            <a:t>文本分类</a:t>
          </a:r>
        </a:p>
      </dgm:t>
    </dgm:pt>
    <dgm:pt modelId="{6FCCE503-66C3-8C42-AE4F-393FC9CBB764}" type="parTrans" cxnId="{CB43649C-FCAB-8646-8E37-5E81D0FFCFA3}">
      <dgm:prSet/>
      <dgm:spPr/>
      <dgm:t>
        <a:bodyPr/>
        <a:lstStyle/>
        <a:p>
          <a:endParaRPr lang="zh-CN" altLang="en-US"/>
        </a:p>
      </dgm:t>
    </dgm:pt>
    <dgm:pt modelId="{C7F9F490-953A-C445-A529-E15388A52E02}" type="sibTrans" cxnId="{CB43649C-FCAB-8646-8E37-5E81D0FFCFA3}">
      <dgm:prSet/>
      <dgm:spPr/>
      <dgm:t>
        <a:bodyPr/>
        <a:lstStyle/>
        <a:p>
          <a:endParaRPr lang="zh-CN" altLang="en-US"/>
        </a:p>
      </dgm:t>
    </dgm:pt>
    <dgm:pt modelId="{DD8FF1EA-B8DF-C743-BCCE-C58876BBA00E}">
      <dgm:prSet phldrT="[文本]"/>
      <dgm:spPr/>
      <dgm:t>
        <a:bodyPr/>
        <a:lstStyle/>
        <a:p>
          <a:r>
            <a:rPr lang="zh-CN" altLang="en-US" dirty="0"/>
            <a:t>文本检索</a:t>
          </a:r>
        </a:p>
      </dgm:t>
    </dgm:pt>
    <dgm:pt modelId="{5B95E0AE-FA35-7045-9D44-D3C872BA0C82}" type="parTrans" cxnId="{FA6E7569-D588-784D-9184-DAED66EBD88E}">
      <dgm:prSet/>
      <dgm:spPr/>
      <dgm:t>
        <a:bodyPr/>
        <a:lstStyle/>
        <a:p>
          <a:endParaRPr lang="zh-CN" altLang="en-US"/>
        </a:p>
      </dgm:t>
    </dgm:pt>
    <dgm:pt modelId="{AC204E78-EC04-6745-A22C-2ADF33008BC9}" type="sibTrans" cxnId="{FA6E7569-D588-784D-9184-DAED66EBD88E}">
      <dgm:prSet/>
      <dgm:spPr/>
      <dgm:t>
        <a:bodyPr/>
        <a:lstStyle/>
        <a:p>
          <a:endParaRPr lang="zh-CN" altLang="en-US"/>
        </a:p>
      </dgm:t>
    </dgm:pt>
    <dgm:pt modelId="{EED821C7-95DF-E641-97C2-133743204DB6}">
      <dgm:prSet phldrT="[文本]"/>
      <dgm:spPr/>
      <dgm:t>
        <a:bodyPr/>
        <a:lstStyle/>
        <a:p>
          <a:r>
            <a:rPr lang="zh-CN" altLang="en-US" dirty="0">
              <a:solidFill>
                <a:srgbClr val="C00000"/>
              </a:solidFill>
            </a:rPr>
            <a:t>文本索引</a:t>
          </a:r>
        </a:p>
      </dgm:t>
    </dgm:pt>
    <dgm:pt modelId="{72966840-7996-834B-906C-CB84AED1F40C}" type="parTrans" cxnId="{E9A0EECF-605F-DF4A-963C-25FCB8546B7D}">
      <dgm:prSet/>
      <dgm:spPr/>
      <dgm:t>
        <a:bodyPr/>
        <a:lstStyle/>
        <a:p>
          <a:endParaRPr lang="zh-CN" altLang="en-US"/>
        </a:p>
      </dgm:t>
    </dgm:pt>
    <dgm:pt modelId="{04119EC4-1403-5D45-84B7-C76F36A9FC02}" type="sibTrans" cxnId="{E9A0EECF-605F-DF4A-963C-25FCB8546B7D}">
      <dgm:prSet/>
      <dgm:spPr/>
      <dgm:t>
        <a:bodyPr/>
        <a:lstStyle/>
        <a:p>
          <a:endParaRPr lang="zh-CN" altLang="en-US"/>
        </a:p>
      </dgm:t>
    </dgm:pt>
    <dgm:pt modelId="{06403A1A-0864-B447-B238-ED31EDF5001D}">
      <dgm:prSet phldrT="[文本]"/>
      <dgm:spPr/>
      <dgm:t>
        <a:bodyPr/>
        <a:lstStyle/>
        <a:p>
          <a:r>
            <a:rPr lang="zh-CN" altLang="en-US" dirty="0">
              <a:solidFill>
                <a:srgbClr val="C00000"/>
              </a:solidFill>
            </a:rPr>
            <a:t>搜索排序</a:t>
          </a:r>
        </a:p>
      </dgm:t>
    </dgm:pt>
    <dgm:pt modelId="{3852C253-DB98-C04A-9BF7-0609DDA5E91B}" type="parTrans" cxnId="{00CF601F-1AE0-E247-AC30-E6C9840EA820}">
      <dgm:prSet/>
      <dgm:spPr/>
      <dgm:t>
        <a:bodyPr/>
        <a:lstStyle/>
        <a:p>
          <a:endParaRPr lang="zh-CN" altLang="en-US"/>
        </a:p>
      </dgm:t>
    </dgm:pt>
    <dgm:pt modelId="{E660A346-C36C-1848-B453-7FD3C7F63046}" type="sibTrans" cxnId="{00CF601F-1AE0-E247-AC30-E6C9840EA820}">
      <dgm:prSet/>
      <dgm:spPr/>
      <dgm:t>
        <a:bodyPr/>
        <a:lstStyle/>
        <a:p>
          <a:endParaRPr lang="zh-CN" altLang="en-US"/>
        </a:p>
      </dgm:t>
    </dgm:pt>
    <dgm:pt modelId="{2A1DD125-8E64-FB4E-B27D-6250CE552D84}">
      <dgm:prSet phldrT="[文本]"/>
      <dgm:spPr/>
      <dgm:t>
        <a:bodyPr/>
        <a:lstStyle/>
        <a:p>
          <a:r>
            <a:rPr lang="zh-CN" altLang="en-US" dirty="0"/>
            <a:t>文本表达</a:t>
          </a:r>
        </a:p>
      </dgm:t>
    </dgm:pt>
    <dgm:pt modelId="{E7E03099-E63D-BE46-8D39-86C1A0B448D5}" type="parTrans" cxnId="{3AC788BF-D988-0D4C-ADEF-965AC6FDA4FD}">
      <dgm:prSet/>
      <dgm:spPr/>
      <dgm:t>
        <a:bodyPr/>
        <a:lstStyle/>
        <a:p>
          <a:endParaRPr lang="zh-CN" altLang="en-US"/>
        </a:p>
      </dgm:t>
    </dgm:pt>
    <dgm:pt modelId="{1DB38D97-D14E-F14D-A6F9-71E603B4D1CC}" type="sibTrans" cxnId="{3AC788BF-D988-0D4C-ADEF-965AC6FDA4FD}">
      <dgm:prSet/>
      <dgm:spPr/>
      <dgm:t>
        <a:bodyPr/>
        <a:lstStyle/>
        <a:p>
          <a:endParaRPr lang="zh-CN" altLang="en-US"/>
        </a:p>
      </dgm:t>
    </dgm:pt>
    <dgm:pt modelId="{E5075839-91B5-7044-B058-6F21619ED097}" type="pres">
      <dgm:prSet presAssocID="{24659926-7688-1849-AE9C-599A9672BCBA}" presName="Name0" presStyleCnt="0">
        <dgm:presLayoutVars>
          <dgm:dir/>
          <dgm:animLvl val="lvl"/>
          <dgm:resizeHandles val="exact"/>
        </dgm:presLayoutVars>
      </dgm:prSet>
      <dgm:spPr/>
    </dgm:pt>
    <dgm:pt modelId="{F120307F-8B23-5B4D-B011-9FC75E4A583D}" type="pres">
      <dgm:prSet presAssocID="{24659926-7688-1849-AE9C-599A9672BCBA}" presName="tSp" presStyleCnt="0"/>
      <dgm:spPr/>
    </dgm:pt>
    <dgm:pt modelId="{4C39AE1B-49F7-384A-800E-0657AFE406BB}" type="pres">
      <dgm:prSet presAssocID="{24659926-7688-1849-AE9C-599A9672BCBA}" presName="bSp" presStyleCnt="0"/>
      <dgm:spPr/>
    </dgm:pt>
    <dgm:pt modelId="{1AA61AE4-B7D7-E344-9826-9D64F8849257}" type="pres">
      <dgm:prSet presAssocID="{24659926-7688-1849-AE9C-599A9672BCBA}" presName="process" presStyleCnt="0"/>
      <dgm:spPr/>
    </dgm:pt>
    <dgm:pt modelId="{03FF4FCA-E73F-0D4E-979A-37EEDAE8D6FB}" type="pres">
      <dgm:prSet presAssocID="{833B1DEE-7F72-9246-8FD8-BC852CE35CC9}" presName="composite1" presStyleCnt="0"/>
      <dgm:spPr/>
    </dgm:pt>
    <dgm:pt modelId="{2FFED8AC-39D2-C54C-AC92-80C7D2153AE4}" type="pres">
      <dgm:prSet presAssocID="{833B1DEE-7F72-9246-8FD8-BC852CE35CC9}" presName="dummyNode1" presStyleLbl="node1" presStyleIdx="0" presStyleCnt="4"/>
      <dgm:spPr/>
    </dgm:pt>
    <dgm:pt modelId="{A8110EEC-AD82-434C-9290-A27EF621883E}" type="pres">
      <dgm:prSet presAssocID="{833B1DEE-7F72-9246-8FD8-BC852CE35CC9}" presName="childNode1" presStyleLbl="bgAcc1" presStyleIdx="0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217656A-0350-9442-A0D9-4712DFB72432}" type="pres">
      <dgm:prSet presAssocID="{833B1DEE-7F72-9246-8FD8-BC852CE35CC9}" presName="childNode1tx" presStyleLbl="bgAcc1" presStyleIdx="0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3413BEC-7C9C-C04F-9631-99E62CA70244}" type="pres">
      <dgm:prSet presAssocID="{833B1DEE-7F72-9246-8FD8-BC852CE35CC9}" presName="parentNode1" presStyleLbl="node1" presStyleIdx="0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0F7F00A-30BA-B546-8E8A-FA8D4AE209E4}" type="pres">
      <dgm:prSet presAssocID="{833B1DEE-7F72-9246-8FD8-BC852CE35CC9}" presName="connSite1" presStyleCnt="0"/>
      <dgm:spPr/>
    </dgm:pt>
    <dgm:pt modelId="{379EEBE1-51F9-1646-B5B6-BC1E0819AB48}" type="pres">
      <dgm:prSet presAssocID="{FECCF492-001F-F240-9F6C-1978B4716F0F}" presName="Name9" presStyleLbl="sibTrans2D1" presStyleIdx="0" presStyleCnt="3"/>
      <dgm:spPr/>
      <dgm:t>
        <a:bodyPr/>
        <a:lstStyle/>
        <a:p>
          <a:endParaRPr lang="en-US"/>
        </a:p>
      </dgm:t>
    </dgm:pt>
    <dgm:pt modelId="{78EA44FF-EF89-8248-95B2-C80BB7EF8FA7}" type="pres">
      <dgm:prSet presAssocID="{0116DF6C-A155-4149-AB47-728336A47087}" presName="composite2" presStyleCnt="0"/>
      <dgm:spPr/>
    </dgm:pt>
    <dgm:pt modelId="{44D1863D-F201-074C-B74F-4981905D6149}" type="pres">
      <dgm:prSet presAssocID="{0116DF6C-A155-4149-AB47-728336A47087}" presName="dummyNode2" presStyleLbl="node1" presStyleIdx="0" presStyleCnt="4"/>
      <dgm:spPr/>
    </dgm:pt>
    <dgm:pt modelId="{A7B9A3F5-0CD8-9344-8718-5D9C8D970C21}" type="pres">
      <dgm:prSet presAssocID="{0116DF6C-A155-4149-AB47-728336A47087}" presName="childNode2" presStyleLbl="bgAcc1" presStyleIdx="1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8DA2EE0-4142-7341-8D01-5F5CE72D9AD1}" type="pres">
      <dgm:prSet presAssocID="{0116DF6C-A155-4149-AB47-728336A47087}" presName="childNode2tx" presStyleLbl="bgAcc1" presStyleIdx="1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E2ED394-5EF0-7445-9715-B775B3128571}" type="pres">
      <dgm:prSet presAssocID="{0116DF6C-A155-4149-AB47-728336A47087}" presName="parentNode2" presStyleLbl="node1" presStyleIdx="1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179691C-E4BB-7A44-908C-05EAF3039001}" type="pres">
      <dgm:prSet presAssocID="{0116DF6C-A155-4149-AB47-728336A47087}" presName="connSite2" presStyleCnt="0"/>
      <dgm:spPr/>
    </dgm:pt>
    <dgm:pt modelId="{1037E3CE-7135-264D-82C3-7E2956D0F1DF}" type="pres">
      <dgm:prSet presAssocID="{F58BED02-63C3-E742-B7B0-4EAD27092D13}" presName="Name18" presStyleLbl="sibTrans2D1" presStyleIdx="1" presStyleCnt="3"/>
      <dgm:spPr/>
      <dgm:t>
        <a:bodyPr/>
        <a:lstStyle/>
        <a:p>
          <a:endParaRPr lang="en-US"/>
        </a:p>
      </dgm:t>
    </dgm:pt>
    <dgm:pt modelId="{3EF294AC-FB04-854B-8F3C-98E055F2836A}" type="pres">
      <dgm:prSet presAssocID="{D99DD0C5-2410-944D-82F5-76556657EC0A}" presName="composite1" presStyleCnt="0"/>
      <dgm:spPr/>
    </dgm:pt>
    <dgm:pt modelId="{4867D926-EA8D-0A4B-AD69-4BAB211159CB}" type="pres">
      <dgm:prSet presAssocID="{D99DD0C5-2410-944D-82F5-76556657EC0A}" presName="dummyNode1" presStyleLbl="node1" presStyleIdx="1" presStyleCnt="4"/>
      <dgm:spPr/>
    </dgm:pt>
    <dgm:pt modelId="{27FFE134-25C8-4844-9149-DC9D8EBE9B0B}" type="pres">
      <dgm:prSet presAssocID="{D99DD0C5-2410-944D-82F5-76556657EC0A}" presName="childNode1" presStyleLbl="bgAcc1" presStyleIdx="2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49B987A-7BAE-914A-9001-15147BF265EA}" type="pres">
      <dgm:prSet presAssocID="{D99DD0C5-2410-944D-82F5-76556657EC0A}" presName="childNode1tx" presStyleLbl="bgAcc1" presStyleIdx="2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30C239E-E5D6-BC44-ACAB-C2E8B0678885}" type="pres">
      <dgm:prSet presAssocID="{D99DD0C5-2410-944D-82F5-76556657EC0A}" presName="parentNode1" presStyleLbl="node1" presStyleIdx="2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21B83D0-C799-214F-8B89-D398FD3F1748}" type="pres">
      <dgm:prSet presAssocID="{D99DD0C5-2410-944D-82F5-76556657EC0A}" presName="connSite1" presStyleCnt="0"/>
      <dgm:spPr/>
    </dgm:pt>
    <dgm:pt modelId="{40716FB7-70DF-F447-9B02-C6F0E2E3363B}" type="pres">
      <dgm:prSet presAssocID="{CE881428-7A05-F841-B4E0-BF7E1DDEEFF9}" presName="Name9" presStyleLbl="sibTrans2D1" presStyleIdx="2" presStyleCnt="3"/>
      <dgm:spPr/>
      <dgm:t>
        <a:bodyPr/>
        <a:lstStyle/>
        <a:p>
          <a:endParaRPr lang="en-US"/>
        </a:p>
      </dgm:t>
    </dgm:pt>
    <dgm:pt modelId="{341D3FDF-8E0F-E74D-A6DE-D35BEB89FEBF}" type="pres">
      <dgm:prSet presAssocID="{DD8FF1EA-B8DF-C743-BCCE-C58876BBA00E}" presName="composite2" presStyleCnt="0"/>
      <dgm:spPr/>
    </dgm:pt>
    <dgm:pt modelId="{BEDE2A24-B59C-9444-8C14-B09AFB77DAB3}" type="pres">
      <dgm:prSet presAssocID="{DD8FF1EA-B8DF-C743-BCCE-C58876BBA00E}" presName="dummyNode2" presStyleLbl="node1" presStyleIdx="2" presStyleCnt="4"/>
      <dgm:spPr/>
    </dgm:pt>
    <dgm:pt modelId="{C36CB93B-7954-874E-B46F-76B89349002E}" type="pres">
      <dgm:prSet presAssocID="{DD8FF1EA-B8DF-C743-BCCE-C58876BBA00E}" presName="childNode2" presStyleLbl="bgAcc1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171B5DB-4FAC-0D4F-B637-0B01D1DAF4EE}" type="pres">
      <dgm:prSet presAssocID="{DD8FF1EA-B8DF-C743-BCCE-C58876BBA00E}" presName="childNode2tx" presStyleLbl="bgAcc1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0F4225C-8C02-4340-AB5D-6F00F902940B}" type="pres">
      <dgm:prSet presAssocID="{DD8FF1EA-B8DF-C743-BCCE-C58876BBA00E}" presName="parentNode2" presStyleLbl="node1" presStyleIdx="3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5D8C511-A90B-CE47-932B-BA773FA5548C}" type="pres">
      <dgm:prSet presAssocID="{DD8FF1EA-B8DF-C743-BCCE-C58876BBA00E}" presName="connSite2" presStyleCnt="0"/>
      <dgm:spPr/>
    </dgm:pt>
  </dgm:ptLst>
  <dgm:cxnLst>
    <dgm:cxn modelId="{55B42496-A519-F54B-BE09-17170B6C8154}" type="presOf" srcId="{DD8FF1EA-B8DF-C743-BCCE-C58876BBA00E}" destId="{C0F4225C-8C02-4340-AB5D-6F00F902940B}" srcOrd="0" destOrd="0" presId="urn:microsoft.com/office/officeart/2005/8/layout/hProcess4"/>
    <dgm:cxn modelId="{192D33CC-95C6-684D-B2AB-469A0EA65993}" type="presOf" srcId="{B651ABBC-427E-5244-B07C-71F3C59F5E5E}" destId="{08DA2EE0-4142-7341-8D01-5F5CE72D9AD1}" srcOrd="1" destOrd="0" presId="urn:microsoft.com/office/officeart/2005/8/layout/hProcess4"/>
    <dgm:cxn modelId="{BC63364F-FFC4-7A48-8E9E-EC72E83A8196}" type="presOf" srcId="{833B1DEE-7F72-9246-8FD8-BC852CE35CC9}" destId="{E3413BEC-7C9C-C04F-9631-99E62CA70244}" srcOrd="0" destOrd="0" presId="urn:microsoft.com/office/officeart/2005/8/layout/hProcess4"/>
    <dgm:cxn modelId="{7E59E897-608F-3A47-9B7A-4205BE11696A}" srcId="{24659926-7688-1849-AE9C-599A9672BCBA}" destId="{833B1DEE-7F72-9246-8FD8-BC852CE35CC9}" srcOrd="0" destOrd="0" parTransId="{B978D1CD-A1DA-CF46-8621-67B8D60750F1}" sibTransId="{FECCF492-001F-F240-9F6C-1978B4716F0F}"/>
    <dgm:cxn modelId="{224032D0-08C6-8748-A0C5-7E5A9E282D3A}" type="presOf" srcId="{24659926-7688-1849-AE9C-599A9672BCBA}" destId="{E5075839-91B5-7044-B058-6F21619ED097}" srcOrd="0" destOrd="0" presId="urn:microsoft.com/office/officeart/2005/8/layout/hProcess4"/>
    <dgm:cxn modelId="{5920340C-F170-6B42-B16C-29BDFC44AB7B}" type="presOf" srcId="{44500AF1-8EBA-0B4B-9D51-E060F41D95BD}" destId="{A8110EEC-AD82-434C-9290-A27EF621883E}" srcOrd="0" destOrd="0" presId="urn:microsoft.com/office/officeart/2005/8/layout/hProcess4"/>
    <dgm:cxn modelId="{B48CA495-7454-2249-B96C-F42F65D79F51}" type="presOf" srcId="{EED821C7-95DF-E641-97C2-133743204DB6}" destId="{C36CB93B-7954-874E-B46F-76B89349002E}" srcOrd="0" destOrd="0" presId="urn:microsoft.com/office/officeart/2005/8/layout/hProcess4"/>
    <dgm:cxn modelId="{3AC788BF-D988-0D4C-ADEF-965AC6FDA4FD}" srcId="{D99DD0C5-2410-944D-82F5-76556657EC0A}" destId="{2A1DD125-8E64-FB4E-B27D-6250CE552D84}" srcOrd="0" destOrd="0" parTransId="{E7E03099-E63D-BE46-8D39-86C1A0B448D5}" sibTransId="{1DB38D97-D14E-F14D-A6F9-71E603B4D1CC}"/>
    <dgm:cxn modelId="{CB43649C-FCAB-8646-8E37-5E81D0FFCFA3}" srcId="{D99DD0C5-2410-944D-82F5-76556657EC0A}" destId="{A82678BB-F781-2C4F-AAC9-04CFD4DB88C9}" srcOrd="1" destOrd="0" parTransId="{6FCCE503-66C3-8C42-AE4F-393FC9CBB764}" sibTransId="{C7F9F490-953A-C445-A529-E15388A52E02}"/>
    <dgm:cxn modelId="{90E8F182-7132-4A4D-B141-02A0CE2E8A48}" type="presOf" srcId="{44500AF1-8EBA-0B4B-9D51-E060F41D95BD}" destId="{C217656A-0350-9442-A0D9-4712DFB72432}" srcOrd="1" destOrd="0" presId="urn:microsoft.com/office/officeart/2005/8/layout/hProcess4"/>
    <dgm:cxn modelId="{130747CB-95A2-D245-B36F-307666A2A0AD}" type="presOf" srcId="{A82678BB-F781-2C4F-AAC9-04CFD4DB88C9}" destId="{27FFE134-25C8-4844-9149-DC9D8EBE9B0B}" srcOrd="0" destOrd="1" presId="urn:microsoft.com/office/officeart/2005/8/layout/hProcess4"/>
    <dgm:cxn modelId="{C8937B6E-2D18-BF4D-BE71-B20CDB80D083}" type="presOf" srcId="{F58BED02-63C3-E742-B7B0-4EAD27092D13}" destId="{1037E3CE-7135-264D-82C3-7E2956D0F1DF}" srcOrd="0" destOrd="0" presId="urn:microsoft.com/office/officeart/2005/8/layout/hProcess4"/>
    <dgm:cxn modelId="{A59CC250-740E-0644-AAFB-07900AE7FB60}" type="presOf" srcId="{0116DF6C-A155-4149-AB47-728336A47087}" destId="{3E2ED394-5EF0-7445-9715-B775B3128571}" srcOrd="0" destOrd="0" presId="urn:microsoft.com/office/officeart/2005/8/layout/hProcess4"/>
    <dgm:cxn modelId="{BFDF598A-A615-1047-B9C9-A231DC7316B1}" type="presOf" srcId="{FA07C8EC-F731-FF48-B519-A31843CA3717}" destId="{A8110EEC-AD82-434C-9290-A27EF621883E}" srcOrd="0" destOrd="1" presId="urn:microsoft.com/office/officeart/2005/8/layout/hProcess4"/>
    <dgm:cxn modelId="{50840246-CCA9-914B-A716-A6EF5A62D6A9}" type="presOf" srcId="{FA07C8EC-F731-FF48-B519-A31843CA3717}" destId="{C217656A-0350-9442-A0D9-4712DFB72432}" srcOrd="1" destOrd="1" presId="urn:microsoft.com/office/officeart/2005/8/layout/hProcess4"/>
    <dgm:cxn modelId="{00CF601F-1AE0-E247-AC30-E6C9840EA820}" srcId="{DD8FF1EA-B8DF-C743-BCCE-C58876BBA00E}" destId="{06403A1A-0864-B447-B238-ED31EDF5001D}" srcOrd="1" destOrd="0" parTransId="{3852C253-DB98-C04A-9BF7-0609DDA5E91B}" sibTransId="{E660A346-C36C-1848-B453-7FD3C7F63046}"/>
    <dgm:cxn modelId="{A7B50FB5-B320-7149-A37D-A400A218D329}" type="presOf" srcId="{A82678BB-F781-2C4F-AAC9-04CFD4DB88C9}" destId="{C49B987A-7BAE-914A-9001-15147BF265EA}" srcOrd="1" destOrd="1" presId="urn:microsoft.com/office/officeart/2005/8/layout/hProcess4"/>
    <dgm:cxn modelId="{908DFE79-83D5-DD41-92E8-9FE42ECE3FF6}" type="presOf" srcId="{2A1DD125-8E64-FB4E-B27D-6250CE552D84}" destId="{27FFE134-25C8-4844-9149-DC9D8EBE9B0B}" srcOrd="0" destOrd="0" presId="urn:microsoft.com/office/officeart/2005/8/layout/hProcess4"/>
    <dgm:cxn modelId="{AF9CC24A-9CD6-264E-9497-5BCD46597CCA}" type="presOf" srcId="{EED821C7-95DF-E641-97C2-133743204DB6}" destId="{F171B5DB-4FAC-0D4F-B637-0B01D1DAF4EE}" srcOrd="1" destOrd="0" presId="urn:microsoft.com/office/officeart/2005/8/layout/hProcess4"/>
    <dgm:cxn modelId="{42BDDF96-0574-E147-BEBD-57FEAB7B2D61}" srcId="{24659926-7688-1849-AE9C-599A9672BCBA}" destId="{D99DD0C5-2410-944D-82F5-76556657EC0A}" srcOrd="2" destOrd="0" parTransId="{9D0F7265-B34F-4345-864A-0A46275C629E}" sibTransId="{CE881428-7A05-F841-B4E0-BF7E1DDEEFF9}"/>
    <dgm:cxn modelId="{B5C36E08-D695-9345-9C36-CE693A9AD70A}" srcId="{833B1DEE-7F72-9246-8FD8-BC852CE35CC9}" destId="{FA07C8EC-F731-FF48-B519-A31843CA3717}" srcOrd="1" destOrd="0" parTransId="{0F0F9BC9-54F7-D842-A559-82D3B7AD4653}" sibTransId="{BA34FC4C-05F2-D349-8146-3005C5F27100}"/>
    <dgm:cxn modelId="{E52E5B59-D01B-9A47-BFBA-6EF0E18EB3BF}" type="presOf" srcId="{06403A1A-0864-B447-B238-ED31EDF5001D}" destId="{F171B5DB-4FAC-0D4F-B637-0B01D1DAF4EE}" srcOrd="1" destOrd="1" presId="urn:microsoft.com/office/officeart/2005/8/layout/hProcess4"/>
    <dgm:cxn modelId="{29A50588-AB71-EC43-914D-93FE470B3557}" type="presOf" srcId="{B651ABBC-427E-5244-B07C-71F3C59F5E5E}" destId="{A7B9A3F5-0CD8-9344-8718-5D9C8D970C21}" srcOrd="0" destOrd="0" presId="urn:microsoft.com/office/officeart/2005/8/layout/hProcess4"/>
    <dgm:cxn modelId="{406BEE41-4D98-7A49-A57A-144280E7521C}" srcId="{0116DF6C-A155-4149-AB47-728336A47087}" destId="{B651ABBC-427E-5244-B07C-71F3C59F5E5E}" srcOrd="0" destOrd="0" parTransId="{B7A4B335-173A-C14C-8C18-9E5745719133}" sibTransId="{2785AB89-E3E7-A744-A12B-1CC92E99D52E}"/>
    <dgm:cxn modelId="{E9A0EECF-605F-DF4A-963C-25FCB8546B7D}" srcId="{DD8FF1EA-B8DF-C743-BCCE-C58876BBA00E}" destId="{EED821C7-95DF-E641-97C2-133743204DB6}" srcOrd="0" destOrd="0" parTransId="{72966840-7996-834B-906C-CB84AED1F40C}" sibTransId="{04119EC4-1403-5D45-84B7-C76F36A9FC02}"/>
    <dgm:cxn modelId="{E0FFEF88-1AB1-C945-A810-AA95C02CB33B}" type="presOf" srcId="{FECCF492-001F-F240-9F6C-1978B4716F0F}" destId="{379EEBE1-51F9-1646-B5B6-BC1E0819AB48}" srcOrd="0" destOrd="0" presId="urn:microsoft.com/office/officeart/2005/8/layout/hProcess4"/>
    <dgm:cxn modelId="{88A9EFF6-4CC2-F640-9EE4-2F7A2F60D357}" type="presOf" srcId="{06403A1A-0864-B447-B238-ED31EDF5001D}" destId="{C36CB93B-7954-874E-B46F-76B89349002E}" srcOrd="0" destOrd="1" presId="urn:microsoft.com/office/officeart/2005/8/layout/hProcess4"/>
    <dgm:cxn modelId="{740EAB13-A4E2-6E42-8C00-055AD3DB6845}" srcId="{833B1DEE-7F72-9246-8FD8-BC852CE35CC9}" destId="{44500AF1-8EBA-0B4B-9D51-E060F41D95BD}" srcOrd="0" destOrd="0" parTransId="{44B111CD-4AC1-524E-B6BC-766A95B9414C}" sibTransId="{C82898E2-8FEC-0843-BC38-A0C16AC7CE04}"/>
    <dgm:cxn modelId="{30F7EFA8-B3B7-0C4C-8C0C-165E164E3995}" type="presOf" srcId="{2A1DD125-8E64-FB4E-B27D-6250CE552D84}" destId="{C49B987A-7BAE-914A-9001-15147BF265EA}" srcOrd="1" destOrd="0" presId="urn:microsoft.com/office/officeart/2005/8/layout/hProcess4"/>
    <dgm:cxn modelId="{4B8A84DA-1DC5-0F4A-965D-02899D16F0BC}" srcId="{24659926-7688-1849-AE9C-599A9672BCBA}" destId="{0116DF6C-A155-4149-AB47-728336A47087}" srcOrd="1" destOrd="0" parTransId="{65CDC210-3BB7-B540-A018-68179870C284}" sibTransId="{F58BED02-63C3-E742-B7B0-4EAD27092D13}"/>
    <dgm:cxn modelId="{FA6E7569-D588-784D-9184-DAED66EBD88E}" srcId="{24659926-7688-1849-AE9C-599A9672BCBA}" destId="{DD8FF1EA-B8DF-C743-BCCE-C58876BBA00E}" srcOrd="3" destOrd="0" parTransId="{5B95E0AE-FA35-7045-9D44-D3C872BA0C82}" sibTransId="{AC204E78-EC04-6745-A22C-2ADF33008BC9}"/>
    <dgm:cxn modelId="{4411E783-6C2D-134B-821D-7FA9C77D5076}" type="presOf" srcId="{D99DD0C5-2410-944D-82F5-76556657EC0A}" destId="{B30C239E-E5D6-BC44-ACAB-C2E8B0678885}" srcOrd="0" destOrd="0" presId="urn:microsoft.com/office/officeart/2005/8/layout/hProcess4"/>
    <dgm:cxn modelId="{732650C2-6ACC-D849-B9EB-4C937BF93148}" type="presOf" srcId="{CE881428-7A05-F841-B4E0-BF7E1DDEEFF9}" destId="{40716FB7-70DF-F447-9B02-C6F0E2E3363B}" srcOrd="0" destOrd="0" presId="urn:microsoft.com/office/officeart/2005/8/layout/hProcess4"/>
    <dgm:cxn modelId="{3A9074F5-29F0-5E4B-BE8F-19FF38914517}" type="presParOf" srcId="{E5075839-91B5-7044-B058-6F21619ED097}" destId="{F120307F-8B23-5B4D-B011-9FC75E4A583D}" srcOrd="0" destOrd="0" presId="urn:microsoft.com/office/officeart/2005/8/layout/hProcess4"/>
    <dgm:cxn modelId="{0A196114-E998-254F-85E2-2A8A1F8DA346}" type="presParOf" srcId="{E5075839-91B5-7044-B058-6F21619ED097}" destId="{4C39AE1B-49F7-384A-800E-0657AFE406BB}" srcOrd="1" destOrd="0" presId="urn:microsoft.com/office/officeart/2005/8/layout/hProcess4"/>
    <dgm:cxn modelId="{CDC3E557-2992-0142-85D3-A26F66D660D1}" type="presParOf" srcId="{E5075839-91B5-7044-B058-6F21619ED097}" destId="{1AA61AE4-B7D7-E344-9826-9D64F8849257}" srcOrd="2" destOrd="0" presId="urn:microsoft.com/office/officeart/2005/8/layout/hProcess4"/>
    <dgm:cxn modelId="{85975F04-D733-794B-BD15-3A0BA0438C87}" type="presParOf" srcId="{1AA61AE4-B7D7-E344-9826-9D64F8849257}" destId="{03FF4FCA-E73F-0D4E-979A-37EEDAE8D6FB}" srcOrd="0" destOrd="0" presId="urn:microsoft.com/office/officeart/2005/8/layout/hProcess4"/>
    <dgm:cxn modelId="{94880ED1-4B69-F947-9E04-2E66264831EC}" type="presParOf" srcId="{03FF4FCA-E73F-0D4E-979A-37EEDAE8D6FB}" destId="{2FFED8AC-39D2-C54C-AC92-80C7D2153AE4}" srcOrd="0" destOrd="0" presId="urn:microsoft.com/office/officeart/2005/8/layout/hProcess4"/>
    <dgm:cxn modelId="{0A23EACB-59AF-6B4F-AD8C-D39AC2F7882F}" type="presParOf" srcId="{03FF4FCA-E73F-0D4E-979A-37EEDAE8D6FB}" destId="{A8110EEC-AD82-434C-9290-A27EF621883E}" srcOrd="1" destOrd="0" presId="urn:microsoft.com/office/officeart/2005/8/layout/hProcess4"/>
    <dgm:cxn modelId="{0DE6A962-0445-5946-8E0B-6004D2E5D7A3}" type="presParOf" srcId="{03FF4FCA-E73F-0D4E-979A-37EEDAE8D6FB}" destId="{C217656A-0350-9442-A0D9-4712DFB72432}" srcOrd="2" destOrd="0" presId="urn:microsoft.com/office/officeart/2005/8/layout/hProcess4"/>
    <dgm:cxn modelId="{57B0FD30-49AD-E546-B995-E21DCB791A18}" type="presParOf" srcId="{03FF4FCA-E73F-0D4E-979A-37EEDAE8D6FB}" destId="{E3413BEC-7C9C-C04F-9631-99E62CA70244}" srcOrd="3" destOrd="0" presId="urn:microsoft.com/office/officeart/2005/8/layout/hProcess4"/>
    <dgm:cxn modelId="{9B355F65-2C6F-024B-9F62-216D1C33114F}" type="presParOf" srcId="{03FF4FCA-E73F-0D4E-979A-37EEDAE8D6FB}" destId="{E0F7F00A-30BA-B546-8E8A-FA8D4AE209E4}" srcOrd="4" destOrd="0" presId="urn:microsoft.com/office/officeart/2005/8/layout/hProcess4"/>
    <dgm:cxn modelId="{7BD1B023-B301-4245-A81F-D2AEDC4D5B75}" type="presParOf" srcId="{1AA61AE4-B7D7-E344-9826-9D64F8849257}" destId="{379EEBE1-51F9-1646-B5B6-BC1E0819AB48}" srcOrd="1" destOrd="0" presId="urn:microsoft.com/office/officeart/2005/8/layout/hProcess4"/>
    <dgm:cxn modelId="{BD2C0322-6655-DD46-985E-5187AEEB511E}" type="presParOf" srcId="{1AA61AE4-B7D7-E344-9826-9D64F8849257}" destId="{78EA44FF-EF89-8248-95B2-C80BB7EF8FA7}" srcOrd="2" destOrd="0" presId="urn:microsoft.com/office/officeart/2005/8/layout/hProcess4"/>
    <dgm:cxn modelId="{12674D72-A962-3042-9E22-C22CB04668FE}" type="presParOf" srcId="{78EA44FF-EF89-8248-95B2-C80BB7EF8FA7}" destId="{44D1863D-F201-074C-B74F-4981905D6149}" srcOrd="0" destOrd="0" presId="urn:microsoft.com/office/officeart/2005/8/layout/hProcess4"/>
    <dgm:cxn modelId="{E11895F1-6EA4-A745-ABDC-D8F7C4D2DFC0}" type="presParOf" srcId="{78EA44FF-EF89-8248-95B2-C80BB7EF8FA7}" destId="{A7B9A3F5-0CD8-9344-8718-5D9C8D970C21}" srcOrd="1" destOrd="0" presId="urn:microsoft.com/office/officeart/2005/8/layout/hProcess4"/>
    <dgm:cxn modelId="{AFEDAD2A-BB04-9342-A738-232D55D7DDB6}" type="presParOf" srcId="{78EA44FF-EF89-8248-95B2-C80BB7EF8FA7}" destId="{08DA2EE0-4142-7341-8D01-5F5CE72D9AD1}" srcOrd="2" destOrd="0" presId="urn:microsoft.com/office/officeart/2005/8/layout/hProcess4"/>
    <dgm:cxn modelId="{A7844682-DCC8-B048-AC29-4C4C99A204E7}" type="presParOf" srcId="{78EA44FF-EF89-8248-95B2-C80BB7EF8FA7}" destId="{3E2ED394-5EF0-7445-9715-B775B3128571}" srcOrd="3" destOrd="0" presId="urn:microsoft.com/office/officeart/2005/8/layout/hProcess4"/>
    <dgm:cxn modelId="{E1F16C5F-136B-B04D-B22E-2AB2115D4BAD}" type="presParOf" srcId="{78EA44FF-EF89-8248-95B2-C80BB7EF8FA7}" destId="{5179691C-E4BB-7A44-908C-05EAF3039001}" srcOrd="4" destOrd="0" presId="urn:microsoft.com/office/officeart/2005/8/layout/hProcess4"/>
    <dgm:cxn modelId="{E2E8F3F8-5569-764C-B3F5-F5D93C247FC4}" type="presParOf" srcId="{1AA61AE4-B7D7-E344-9826-9D64F8849257}" destId="{1037E3CE-7135-264D-82C3-7E2956D0F1DF}" srcOrd="3" destOrd="0" presId="urn:microsoft.com/office/officeart/2005/8/layout/hProcess4"/>
    <dgm:cxn modelId="{015A7462-AF77-1D4C-88FE-0E2DCF9925E2}" type="presParOf" srcId="{1AA61AE4-B7D7-E344-9826-9D64F8849257}" destId="{3EF294AC-FB04-854B-8F3C-98E055F2836A}" srcOrd="4" destOrd="0" presId="urn:microsoft.com/office/officeart/2005/8/layout/hProcess4"/>
    <dgm:cxn modelId="{84F21C02-15D9-B045-A04E-511028D5C0E0}" type="presParOf" srcId="{3EF294AC-FB04-854B-8F3C-98E055F2836A}" destId="{4867D926-EA8D-0A4B-AD69-4BAB211159CB}" srcOrd="0" destOrd="0" presId="urn:microsoft.com/office/officeart/2005/8/layout/hProcess4"/>
    <dgm:cxn modelId="{3E0E0BDA-7B5C-AB4E-8FCC-A49657E6FBDF}" type="presParOf" srcId="{3EF294AC-FB04-854B-8F3C-98E055F2836A}" destId="{27FFE134-25C8-4844-9149-DC9D8EBE9B0B}" srcOrd="1" destOrd="0" presId="urn:microsoft.com/office/officeart/2005/8/layout/hProcess4"/>
    <dgm:cxn modelId="{67851FEC-223B-E948-8B19-2819E4ED1512}" type="presParOf" srcId="{3EF294AC-FB04-854B-8F3C-98E055F2836A}" destId="{C49B987A-7BAE-914A-9001-15147BF265EA}" srcOrd="2" destOrd="0" presId="urn:microsoft.com/office/officeart/2005/8/layout/hProcess4"/>
    <dgm:cxn modelId="{34FBFC83-905D-E145-9E23-C06250F84EB0}" type="presParOf" srcId="{3EF294AC-FB04-854B-8F3C-98E055F2836A}" destId="{B30C239E-E5D6-BC44-ACAB-C2E8B0678885}" srcOrd="3" destOrd="0" presId="urn:microsoft.com/office/officeart/2005/8/layout/hProcess4"/>
    <dgm:cxn modelId="{4F9312F2-919E-8046-911F-6BECC2CB2E23}" type="presParOf" srcId="{3EF294AC-FB04-854B-8F3C-98E055F2836A}" destId="{621B83D0-C799-214F-8B89-D398FD3F1748}" srcOrd="4" destOrd="0" presId="urn:microsoft.com/office/officeart/2005/8/layout/hProcess4"/>
    <dgm:cxn modelId="{302706BE-BEBB-E947-A390-6A66BDBEC25D}" type="presParOf" srcId="{1AA61AE4-B7D7-E344-9826-9D64F8849257}" destId="{40716FB7-70DF-F447-9B02-C6F0E2E3363B}" srcOrd="5" destOrd="0" presId="urn:microsoft.com/office/officeart/2005/8/layout/hProcess4"/>
    <dgm:cxn modelId="{C61AE5D3-81CD-3E42-9C43-E7E12011B1B1}" type="presParOf" srcId="{1AA61AE4-B7D7-E344-9826-9D64F8849257}" destId="{341D3FDF-8E0F-E74D-A6DE-D35BEB89FEBF}" srcOrd="6" destOrd="0" presId="urn:microsoft.com/office/officeart/2005/8/layout/hProcess4"/>
    <dgm:cxn modelId="{02589906-1141-BC4D-B546-00BFC3A6576B}" type="presParOf" srcId="{341D3FDF-8E0F-E74D-A6DE-D35BEB89FEBF}" destId="{BEDE2A24-B59C-9444-8C14-B09AFB77DAB3}" srcOrd="0" destOrd="0" presId="urn:microsoft.com/office/officeart/2005/8/layout/hProcess4"/>
    <dgm:cxn modelId="{CEFBCD22-B736-E043-9DA9-C7A2A83CC19B}" type="presParOf" srcId="{341D3FDF-8E0F-E74D-A6DE-D35BEB89FEBF}" destId="{C36CB93B-7954-874E-B46F-76B89349002E}" srcOrd="1" destOrd="0" presId="urn:microsoft.com/office/officeart/2005/8/layout/hProcess4"/>
    <dgm:cxn modelId="{22582B6F-CEEE-C242-B8D1-4AF6E6257E15}" type="presParOf" srcId="{341D3FDF-8E0F-E74D-A6DE-D35BEB89FEBF}" destId="{F171B5DB-4FAC-0D4F-B637-0B01D1DAF4EE}" srcOrd="2" destOrd="0" presId="urn:microsoft.com/office/officeart/2005/8/layout/hProcess4"/>
    <dgm:cxn modelId="{932D4A2B-E8CA-0446-A26D-296518B5EA3D}" type="presParOf" srcId="{341D3FDF-8E0F-E74D-A6DE-D35BEB89FEBF}" destId="{C0F4225C-8C02-4340-AB5D-6F00F902940B}" srcOrd="3" destOrd="0" presId="urn:microsoft.com/office/officeart/2005/8/layout/hProcess4"/>
    <dgm:cxn modelId="{9C5ED2C3-26D7-FE45-ABAF-FACDC696112E}" type="presParOf" srcId="{341D3FDF-8E0F-E74D-A6DE-D35BEB89FEBF}" destId="{B5D8C511-A90B-CE47-932B-BA773FA5548C}" srcOrd="4" destOrd="0" presId="urn:microsoft.com/office/officeart/2005/8/layout/h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8110EEC-AD82-434C-9290-A27EF621883E}">
      <dsp:nvSpPr>
        <dsp:cNvPr id="0" name=""/>
        <dsp:cNvSpPr/>
      </dsp:nvSpPr>
      <dsp:spPr>
        <a:xfrm>
          <a:off x="3521" y="1286522"/>
          <a:ext cx="1653698" cy="13639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400" kern="1200" dirty="0"/>
            <a:t>网页抓取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400" kern="1200" dirty="0"/>
            <a:t>网页解析</a:t>
          </a:r>
        </a:p>
      </dsp:txBody>
      <dsp:txXfrm>
        <a:off x="34909" y="1317910"/>
        <a:ext cx="1590922" cy="1008903"/>
      </dsp:txXfrm>
    </dsp:sp>
    <dsp:sp modelId="{379EEBE1-51F9-1646-B5B6-BC1E0819AB48}">
      <dsp:nvSpPr>
        <dsp:cNvPr id="0" name=""/>
        <dsp:cNvSpPr/>
      </dsp:nvSpPr>
      <dsp:spPr>
        <a:xfrm>
          <a:off x="927716" y="1592912"/>
          <a:ext cx="1850994" cy="1850994"/>
        </a:xfrm>
        <a:prstGeom prst="leftCircularArrow">
          <a:avLst>
            <a:gd name="adj1" fmla="val 3301"/>
            <a:gd name="adj2" fmla="val 407599"/>
            <a:gd name="adj3" fmla="val 2183110"/>
            <a:gd name="adj4" fmla="val 9024489"/>
            <a:gd name="adj5" fmla="val 3851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413BEC-7C9C-C04F-9631-99E62CA70244}">
      <dsp:nvSpPr>
        <dsp:cNvPr id="0" name=""/>
        <dsp:cNvSpPr/>
      </dsp:nvSpPr>
      <dsp:spPr>
        <a:xfrm>
          <a:off x="371009" y="2358201"/>
          <a:ext cx="1469953" cy="58455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33020" rIns="49530" bIns="33020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600" kern="1200" dirty="0"/>
            <a:t>数据获取</a:t>
          </a:r>
        </a:p>
      </dsp:txBody>
      <dsp:txXfrm>
        <a:off x="388130" y="2375322"/>
        <a:ext cx="1435711" cy="550310"/>
      </dsp:txXfrm>
    </dsp:sp>
    <dsp:sp modelId="{A7B9A3F5-0CD8-9344-8718-5D9C8D970C21}">
      <dsp:nvSpPr>
        <dsp:cNvPr id="0" name=""/>
        <dsp:cNvSpPr/>
      </dsp:nvSpPr>
      <dsp:spPr>
        <a:xfrm>
          <a:off x="2131892" y="1286522"/>
          <a:ext cx="1653698" cy="13639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400" kern="1200" dirty="0"/>
            <a:t>中文分词</a:t>
          </a:r>
        </a:p>
      </dsp:txBody>
      <dsp:txXfrm>
        <a:off x="2163280" y="1610186"/>
        <a:ext cx="1590922" cy="1008903"/>
      </dsp:txXfrm>
    </dsp:sp>
    <dsp:sp modelId="{1037E3CE-7135-264D-82C3-7E2956D0F1DF}">
      <dsp:nvSpPr>
        <dsp:cNvPr id="0" name=""/>
        <dsp:cNvSpPr/>
      </dsp:nvSpPr>
      <dsp:spPr>
        <a:xfrm>
          <a:off x="3042307" y="439612"/>
          <a:ext cx="2062300" cy="2062300"/>
        </a:xfrm>
        <a:prstGeom prst="circularArrow">
          <a:avLst>
            <a:gd name="adj1" fmla="val 2962"/>
            <a:gd name="adj2" fmla="val 362927"/>
            <a:gd name="adj3" fmla="val 19461562"/>
            <a:gd name="adj4" fmla="val 12575511"/>
            <a:gd name="adj5" fmla="val 3456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2ED394-5EF0-7445-9715-B775B3128571}">
      <dsp:nvSpPr>
        <dsp:cNvPr id="0" name=""/>
        <dsp:cNvSpPr/>
      </dsp:nvSpPr>
      <dsp:spPr>
        <a:xfrm>
          <a:off x="2499381" y="994246"/>
          <a:ext cx="1469953" cy="58455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33020" rIns="49530" bIns="33020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600" kern="1200" dirty="0"/>
            <a:t>数据处理</a:t>
          </a:r>
        </a:p>
      </dsp:txBody>
      <dsp:txXfrm>
        <a:off x="2516502" y="1011367"/>
        <a:ext cx="1435711" cy="550310"/>
      </dsp:txXfrm>
    </dsp:sp>
    <dsp:sp modelId="{27FFE134-25C8-4844-9149-DC9D8EBE9B0B}">
      <dsp:nvSpPr>
        <dsp:cNvPr id="0" name=""/>
        <dsp:cNvSpPr/>
      </dsp:nvSpPr>
      <dsp:spPr>
        <a:xfrm>
          <a:off x="4260264" y="1286522"/>
          <a:ext cx="1653698" cy="13639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400" kern="1200" dirty="0"/>
            <a:t>文本表达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400" b="1" kern="1200" dirty="0">
              <a:solidFill>
                <a:schemeClr val="tx1"/>
              </a:solidFill>
            </a:rPr>
            <a:t>文本分类</a:t>
          </a:r>
        </a:p>
      </dsp:txBody>
      <dsp:txXfrm>
        <a:off x="4291652" y="1317910"/>
        <a:ext cx="1590922" cy="1008903"/>
      </dsp:txXfrm>
    </dsp:sp>
    <dsp:sp modelId="{40716FB7-70DF-F447-9B02-C6F0E2E3363B}">
      <dsp:nvSpPr>
        <dsp:cNvPr id="0" name=""/>
        <dsp:cNvSpPr/>
      </dsp:nvSpPr>
      <dsp:spPr>
        <a:xfrm>
          <a:off x="5184459" y="1592912"/>
          <a:ext cx="1850994" cy="1850994"/>
        </a:xfrm>
        <a:prstGeom prst="leftCircularArrow">
          <a:avLst>
            <a:gd name="adj1" fmla="val 3301"/>
            <a:gd name="adj2" fmla="val 407599"/>
            <a:gd name="adj3" fmla="val 2183110"/>
            <a:gd name="adj4" fmla="val 9024489"/>
            <a:gd name="adj5" fmla="val 3851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0C239E-E5D6-BC44-ACAB-C2E8B0678885}">
      <dsp:nvSpPr>
        <dsp:cNvPr id="0" name=""/>
        <dsp:cNvSpPr/>
      </dsp:nvSpPr>
      <dsp:spPr>
        <a:xfrm>
          <a:off x="4627753" y="2358201"/>
          <a:ext cx="1469953" cy="584552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33020" rIns="49530" bIns="33020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600" kern="1200" dirty="0"/>
            <a:t>文本分析</a:t>
          </a:r>
        </a:p>
      </dsp:txBody>
      <dsp:txXfrm>
        <a:off x="4644874" y="2375322"/>
        <a:ext cx="1435711" cy="550310"/>
      </dsp:txXfrm>
    </dsp:sp>
    <dsp:sp modelId="{C36CB93B-7954-874E-B46F-76B89349002E}">
      <dsp:nvSpPr>
        <dsp:cNvPr id="0" name=""/>
        <dsp:cNvSpPr/>
      </dsp:nvSpPr>
      <dsp:spPr>
        <a:xfrm>
          <a:off x="6388636" y="1286522"/>
          <a:ext cx="1653698" cy="13639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400" kern="1200" dirty="0">
              <a:solidFill>
                <a:srgbClr val="C00000"/>
              </a:solidFill>
            </a:rPr>
            <a:t>文本索引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400" kern="1200" dirty="0">
              <a:solidFill>
                <a:srgbClr val="C00000"/>
              </a:solidFill>
            </a:rPr>
            <a:t>搜索排序</a:t>
          </a:r>
        </a:p>
      </dsp:txBody>
      <dsp:txXfrm>
        <a:off x="6420024" y="1610186"/>
        <a:ext cx="1590922" cy="1008903"/>
      </dsp:txXfrm>
    </dsp:sp>
    <dsp:sp modelId="{C0F4225C-8C02-4340-AB5D-6F00F902940B}">
      <dsp:nvSpPr>
        <dsp:cNvPr id="0" name=""/>
        <dsp:cNvSpPr/>
      </dsp:nvSpPr>
      <dsp:spPr>
        <a:xfrm>
          <a:off x="6756124" y="994246"/>
          <a:ext cx="1469953" cy="584552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33020" rIns="49530" bIns="33020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600" kern="1200" dirty="0"/>
            <a:t>文本检索</a:t>
          </a:r>
        </a:p>
      </dsp:txBody>
      <dsp:txXfrm>
        <a:off x="6773245" y="1011367"/>
        <a:ext cx="1435711" cy="55031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4">
  <dgm:title val=""/>
  <dgm:desc val=""/>
  <dgm:catLst>
    <dgm:cat type="process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tSp" refType="w"/>
      <dgm:constr type="h" for="ch" forName="tSp" refType="h" fact="0.15"/>
      <dgm:constr type="l" for="ch" forName="tSp"/>
      <dgm:constr type="t" for="ch" forName="tSp"/>
      <dgm:constr type="w" for="ch" forName="bSp" refType="w"/>
      <dgm:constr type="h" for="ch" forName="bSp" refType="h" fact="0.15"/>
      <dgm:constr type="l" for="ch" forName="bSp"/>
      <dgm:constr type="t" for="ch" forName="bSp" refType="h" fact="0.85"/>
      <dgm:constr type="w" for="ch" forName="process" refType="w"/>
      <dgm:constr type="h" for="ch" forName="process" refType="h" fact="0.7"/>
      <dgm:constr type="l" for="ch" forName="process"/>
      <dgm:constr type="t" for="ch" forName="process" refType="h" fact="0.15"/>
    </dgm:constrLst>
    <dgm:ruleLst/>
    <dgm:layoutNode name="t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b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process">
      <dgm:choose name="Name1">
        <dgm:if name="Name2" func="var" arg="dir" op="equ" val="norm">
          <dgm:alg type="lin">
            <dgm:param type="linDir" val="fromL"/>
          </dgm:alg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1" refType="w"/>
        <dgm:constr type="w" for="ch" forName="composite2" refType="w" refFor="ch" refForName="composite1" op="equ"/>
        <dgm:constr type="h" for="ch" forName="composite1" refType="h"/>
        <dgm:constr type="h" for="ch" forName="composite2" refType="h" refFor="ch" refForName="composite1" op="equ"/>
        <dgm:constr type="primFontSz" for="des" forName="parentNode1" val="65"/>
        <dgm:constr type="primFontSz" for="des" forName="parentNode2" refType="primFontSz" refFor="des" refForName="parentNode1" op="equ"/>
        <dgm:constr type="secFontSz" for="des" forName="childNode1tx" val="65"/>
        <dgm:constr type="secFontSz" for="des" forName="childNode2tx" refType="secFontSz" refFor="des" refForName="childNode1tx" op="equ"/>
        <dgm:constr type="w" for="des" ptType="sibTrans" refType="w" refFor="ch" refForName="composite1" op="equ" fact="0.05"/>
      </dgm:constrLst>
      <dgm:ruleLst/>
      <dgm:forEach name="Name4" axis="ch" ptType="node" step="2">
        <dgm:layoutNode name="composite1">
          <dgm:alg type="composite">
            <dgm:param type="ar" val="0.943"/>
          </dgm:alg>
          <dgm:shape xmlns:r="http://schemas.openxmlformats.org/officeDocument/2006/relationships" r:blip="">
            <dgm:adjLst/>
          </dgm:shape>
          <dgm:presOf/>
          <dgm:choose name="Name5">
            <dgm:if name="Name6" func="var" arg="dir" op="equ" val="norm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 refType="w" fact="0.2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35"/>
              </dgm:constrLst>
            </dgm:if>
            <dgm:else name="Name7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 refType="w" fact="0.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 refType="w" fact="0.1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65"/>
              </dgm:constrLst>
            </dgm:else>
          </dgm:choose>
          <dgm:ruleLst/>
          <dgm:layoutNode name="dummyNode1">
            <dgm:alg type="sp"/>
            <dgm:shape xmlns:r="http://schemas.openxmlformats.org/officeDocument/2006/relationships" type="rect" r:blip="" hideGeom="1">
              <dgm:adjLst/>
            </dgm:shape>
            <dgm:presOf/>
            <dgm:constrLst/>
            <dgm:ruleLst/>
          </dgm:layoutNode>
          <dgm:layoutNode name="childNode1" styleLbl="bgAcc1">
            <dgm:varLst>
              <dgm:bulletEnabled val="1"/>
            </dgm:varLst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/>
            <dgm:ruleLst/>
          </dgm:layoutNode>
          <dgm:layoutNode name="childNode1tx" styleLbl="bgAcc1">
            <dgm:varLst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 axis="des" ptType="node"/>
            <dgm:constrLst>
              <dgm:constr type="secFontSz" val="65"/>
              <dgm:constr type="primFontSz" refType="secFontSz"/>
              <dgm:constr type="tMarg" refType="secFontSz" fact="0.15"/>
              <dgm:constr type="bMarg" refType="secFontSz" fact="0.15"/>
              <dgm:constr type="lMarg" refType="secFontSz" fact="0.15"/>
              <dgm:constr type="rMarg" refType="secFontSz" fact="0.15"/>
            </dgm:constrLst>
            <dgm:ruleLst>
              <dgm:rule type="secFontSz" val="5" fact="NaN" max="NaN"/>
            </dgm:ruleLst>
          </dgm:layoutNode>
          <dgm:layoutNode name="parentNode1" styleLbl="node1">
            <dgm:varLst>
              <dgm:chMax val="1"/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1"/>
              <dgm:constr type="bMarg" refType="primFontSz" fact="0.1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  <dgm:layoutNode name="connSite1" moveWith="childNode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forEach name="Name8" axis="followSib" ptType="sibTrans" cnt="1">
          <dgm:layoutNode name="Name9">
            <dgm:alg type="conn">
              <dgm:param type="connRout" val="curve"/>
              <dgm:param type="srcNode" val="parentNode1"/>
              <dgm:param type="dstNode" val="connSite2"/>
              <dgm:param type="begPts" val="bCtr"/>
              <dgm:param type="endPts" val="bCtr"/>
            </dgm:alg>
            <dgm:shape xmlns:r="http://schemas.openxmlformats.org/officeDocument/2006/relationships" type="conn" r:blip="" zOrderOff="-2">
              <dgm:adjLst/>
            </dgm:shape>
            <dgm:presOf axis="self"/>
            <dgm:choose name="Name10">
              <dgm:if name="Name11" func="var" arg="dir" op="equ" val="norm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-1.15"/>
                  <dgm:constr type="begPad"/>
                  <dgm:constr type="endPad"/>
                </dgm:constrLst>
              </dgm:if>
              <dgm:else name="Name12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1.15"/>
                  <dgm:constr type="begPad"/>
                  <dgm:constr type="endPad"/>
                </dgm:constrLst>
              </dgm:else>
            </dgm:choose>
            <dgm:ruleLst/>
          </dgm:layoutNode>
        </dgm:forEach>
        <dgm:forEach name="Name13" axis="followSib" ptType="node" cnt="1">
          <dgm:layoutNode name="composite2">
            <dgm:alg type="composite">
              <dgm:param type="ar" val="0.943"/>
            </dgm:alg>
            <dgm:shape xmlns:r="http://schemas.openxmlformats.org/officeDocument/2006/relationships" r:blip="">
              <dgm:adjLst/>
            </dgm:shape>
            <dgm:presOf/>
            <dgm:choose name="Name14">
              <dgm:if name="Name15" func="var" arg="dir" op="equ" val="norm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 refType="w" fact="0.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25"/>
                </dgm:constrLst>
              </dgm:if>
              <dgm:else name="Name16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 refType="w" fact="0.1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 refType="w" fact="0.1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85"/>
                </dgm:constrLst>
              </dgm:else>
            </dgm:choose>
            <dgm:ruleLst/>
            <dgm:layoutNode name="dummyNode2">
              <dgm:alg type="sp"/>
              <dgm:shape xmlns:r="http://schemas.openxmlformats.org/officeDocument/2006/relationships" type="rect" r:blip="" hideGeom="1">
                <dgm:adjLst/>
              </dgm:shape>
              <dgm:presOf/>
              <dgm:constrLst/>
              <dgm:ruleLst/>
            </dgm:layoutNode>
            <dgm:layoutNode name="childNode2" styleLbl="bgAcc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des" ptType="node"/>
              <dgm:constrLst/>
              <dgm:ruleLst/>
            </dgm:layoutNode>
            <dgm:layoutNode name="childNode2tx" styleLbl="bgAcc1">
              <dgm:varLst>
                <dgm:bulletEnabled val="1"/>
              </dgm:varLst>
              <dgm:alg type="tx">
                <dgm:param type="stBulletLvl" val="1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15"/>
                <dgm:constr type="bMarg" refType="secFontSz" fact="0.15"/>
                <dgm:constr type="lMarg" refType="secFontSz" fact="0.15"/>
                <dgm:constr type="rMarg" refType="secFontSz" fact="0.15"/>
              </dgm:constrLst>
              <dgm:ruleLst>
                <dgm:rule type="secFontSz" val="5" fact="NaN" max="NaN"/>
              </dgm:ruleLst>
            </dgm:layoutNode>
            <dgm:layoutNode name="parentNode2" styleLbl="node1">
              <dgm:varLst>
                <dgm:chMax val="0"/>
                <dgm:bulletEnabled val="1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connSite2" moveWith="childNode2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layoutNode>
          <dgm:forEach name="Name17" axis="followSib" ptType="sibTrans" cnt="1">
            <dgm:layoutNode name="Name18">
              <dgm:alg type="conn">
                <dgm:param type="connRout" val="curve"/>
                <dgm:param type="srcNode" val="parentNode2"/>
                <dgm:param type="dstNode" val="connSite1"/>
                <dgm:param type="begPts" val="tCtr"/>
                <dgm:param type="endPts" val="tCtr"/>
              </dgm:alg>
              <dgm:shape xmlns:r="http://schemas.openxmlformats.org/officeDocument/2006/relationships" type="conn" r:blip="" zOrderOff="-2">
                <dgm:adjLst/>
              </dgm:shape>
              <dgm:presOf axis="self"/>
              <dgm:choose name="Name19">
                <dgm:if name="Name20" func="var" arg="dir" op="equ" val="norm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1.15"/>
                    <dgm:constr type="begPad"/>
                    <dgm:constr type="endPad"/>
                  </dgm:constrLst>
                </dgm:if>
                <dgm:else name="Name21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-1.15"/>
                    <dgm:constr type="begPad"/>
                    <dgm:constr type="endPad"/>
                  </dgm:constrLst>
                </dgm:else>
              </dgm:choose>
              <dgm:ruleLst/>
            </dgm:layoutNode>
          </dgm:forEach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7.emf"/><Relationship Id="rId4" Type="http://schemas.openxmlformats.org/officeDocument/2006/relationships/image" Target="../media/image48.emf"/><Relationship Id="rId1" Type="http://schemas.openxmlformats.org/officeDocument/2006/relationships/image" Target="../media/image45.emf"/><Relationship Id="rId2" Type="http://schemas.openxmlformats.org/officeDocument/2006/relationships/image" Target="../media/image46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37FD7A-F41B-4FED-8E35-F78DB9F4D037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537CBA-0E44-4282-A4F0-C3BCC1A4C2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58367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1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2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2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2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2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2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DEAE63-D6C4-437F-B8DA-DA689F991AA7}" type="slidenum">
              <a:rPr lang="zh-CN" altLang="en-US" smtClean="0">
                <a:solidFill>
                  <a:prstClr val="black"/>
                </a:solidFill>
              </a:rPr>
              <a:pPr/>
              <a:t>1</a:t>
            </a:fld>
            <a:endParaRPr lang="en-US" altLang="zh-CN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53001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等宽简单，但对不均衡分布效果不好</a:t>
            </a:r>
            <a:endParaRPr kumimoji="1" lang="en-US" altLang="zh-CN" dirty="0"/>
          </a:p>
          <a:p>
            <a:r>
              <a:rPr kumimoji="1" lang="zh-CN" altLang="en-US" dirty="0"/>
              <a:t>决策树方法自己做离散化处理</a:t>
            </a: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537CBA-0E44-4282-A4F0-C3BCC1A4C2D1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9091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Mean</a:t>
            </a:r>
            <a:r>
              <a:rPr lang="zh-CN" altLang="en-US" dirty="0"/>
              <a:t> </a:t>
            </a:r>
            <a:r>
              <a:rPr lang="en-US" altLang="zh-CN" dirty="0"/>
              <a:t>=</a:t>
            </a:r>
            <a:r>
              <a:rPr lang="zh-CN" altLang="en-US" dirty="0"/>
              <a:t> </a:t>
            </a:r>
            <a:r>
              <a:rPr lang="en-US" altLang="zh-CN" dirty="0"/>
              <a:t>37;</a:t>
            </a:r>
            <a:r>
              <a:rPr lang="zh-CN" altLang="en-US" baseline="0" dirty="0"/>
              <a:t> </a:t>
            </a:r>
            <a:r>
              <a:rPr lang="en-US" altLang="zh-CN" baseline="0" dirty="0" err="1"/>
              <a:t>Stddev</a:t>
            </a:r>
            <a:r>
              <a:rPr lang="zh-CN" altLang="en-US" baseline="0" dirty="0"/>
              <a:t> </a:t>
            </a:r>
            <a:r>
              <a:rPr lang="en-US" altLang="zh-CN" baseline="0" dirty="0"/>
              <a:t>=</a:t>
            </a:r>
            <a:r>
              <a:rPr lang="zh-CN" altLang="en-US" baseline="0" dirty="0"/>
              <a:t> </a:t>
            </a:r>
            <a:r>
              <a:rPr lang="en-US" altLang="zh-CN" baseline="0" dirty="0"/>
              <a:t>16</a:t>
            </a:r>
          </a:p>
          <a:p>
            <a:r>
              <a:rPr lang="en-US" altLang="zh-CN" baseline="0" dirty="0"/>
              <a:t>K</a:t>
            </a:r>
            <a:r>
              <a:rPr lang="zh-CN" altLang="en-US" baseline="0" dirty="0"/>
              <a:t> </a:t>
            </a:r>
            <a:r>
              <a:rPr lang="en-US" altLang="zh-CN" baseline="0" dirty="0"/>
              <a:t>=</a:t>
            </a:r>
            <a:r>
              <a:rPr lang="zh-CN" altLang="en-US" baseline="0" dirty="0"/>
              <a:t> </a:t>
            </a:r>
            <a:r>
              <a:rPr lang="en-US" altLang="zh-CN" baseline="0" dirty="0"/>
              <a:t>2</a:t>
            </a:r>
            <a:r>
              <a:rPr lang="zh-CN" altLang="en-US" baseline="0" dirty="0"/>
              <a:t> </a:t>
            </a:r>
            <a:r>
              <a:rPr lang="zh-CN" altLang="en-US" baseline="0" dirty="0">
                <a:sym typeface="Wingdings"/>
              </a:rPr>
              <a:t> </a:t>
            </a:r>
            <a:r>
              <a:rPr lang="en-US" altLang="zh-CN" baseline="0" dirty="0"/>
              <a:t>[4,</a:t>
            </a:r>
            <a:r>
              <a:rPr lang="zh-CN" altLang="en-US" baseline="0" dirty="0"/>
              <a:t> </a:t>
            </a:r>
            <a:r>
              <a:rPr lang="en-US" altLang="zh-CN" baseline="0" dirty="0"/>
              <a:t>70]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537CBA-0E44-4282-A4F0-C3BCC1A4C2D1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99489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537CBA-0E44-4282-A4F0-C3BCC1A4C2D1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95580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参考答案：</a:t>
            </a:r>
            <a:r>
              <a:rPr lang="en-US" altLang="zh-CN" dirty="0"/>
              <a:t>31.6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537CBA-0E44-4282-A4F0-C3BCC1A4C2D1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96642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参考答案：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en-US" altLang="zh-CN" dirty="0"/>
              <a:t>B</a:t>
            </a:r>
          </a:p>
          <a:p>
            <a:pPr marL="228600" indent="-228600">
              <a:buAutoNum type="arabicPeriod"/>
            </a:pPr>
            <a:r>
              <a:rPr lang="en-US" altLang="zh-CN" dirty="0"/>
              <a:t>A</a:t>
            </a:r>
            <a:r>
              <a:rPr lang="zh-CN" altLang="en-US" dirty="0"/>
              <a:t>、</a:t>
            </a:r>
            <a:r>
              <a:rPr lang="en-US" altLang="zh-CN" dirty="0"/>
              <a:t>B</a:t>
            </a:r>
            <a:r>
              <a:rPr lang="zh-CN" altLang="en-US" dirty="0"/>
              <a:t>、</a:t>
            </a:r>
            <a:r>
              <a:rPr lang="en-US" altLang="zh-CN" dirty="0"/>
              <a:t>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537CBA-0E44-4282-A4F0-C3BCC1A4C2D1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4705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537CBA-0E44-4282-A4F0-C3BCC1A4C2D1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78601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参考答案</a:t>
            </a:r>
            <a:r>
              <a:rPr lang="en-US" altLang="zh-CN" dirty="0"/>
              <a:t>:</a:t>
            </a:r>
            <a:r>
              <a:rPr lang="zh-CN" altLang="en-US" baseline="0" dirty="0"/>
              <a:t> </a:t>
            </a:r>
            <a:r>
              <a:rPr lang="en-US" altLang="zh-CN" baseline="0" dirty="0"/>
              <a:t>[0,0]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537CBA-0E44-4282-A4F0-C3BCC1A4C2D1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34765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537CBA-0E44-4282-A4F0-C3BCC1A4C2D1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87597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537CBA-0E44-4282-A4F0-C3BCC1A4C2D1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675316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537CBA-0E44-4282-A4F0-C3BCC1A4C2D1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534911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537CBA-0E44-4282-A4F0-C3BCC1A4C2D1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181959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537CBA-0E44-4282-A4F0-C3BCC1A4C2D1}" type="slidenum">
              <a:rPr lang="zh-CN" altLang="en-US" smtClean="0"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018838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537CBA-0E44-4282-A4F0-C3BCC1A4C2D1}" type="slidenum">
              <a:rPr lang="zh-CN" altLang="en-US" smtClean="0"/>
              <a:t>50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396984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537CBA-0E44-4282-A4F0-C3BCC1A4C2D1}" type="slidenum">
              <a:rPr lang="zh-CN" altLang="en-US" smtClean="0"/>
              <a:t>51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316344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537CBA-0E44-4282-A4F0-C3BCC1A4C2D1}" type="slidenum">
              <a:rPr lang="zh-CN" altLang="en-US" smtClean="0"/>
              <a:t>52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266552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537CBA-0E44-4282-A4F0-C3BCC1A4C2D1}" type="slidenum">
              <a:rPr lang="zh-CN" altLang="en-US" smtClean="0"/>
              <a:t>53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952902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537CBA-0E44-4282-A4F0-C3BCC1A4C2D1}" type="slidenum">
              <a:rPr lang="zh-CN" altLang="en-US" smtClean="0"/>
              <a:t>54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255253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537CBA-0E44-4282-A4F0-C3BCC1A4C2D1}" type="slidenum">
              <a:rPr lang="zh-CN" altLang="en-US" smtClean="0"/>
              <a:t>55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814732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537CBA-0E44-4282-A4F0-C3BCC1A4C2D1}" type="slidenum">
              <a:rPr lang="zh-CN" altLang="en-US" smtClean="0"/>
              <a:t>74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205968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537CBA-0E44-4282-A4F0-C3BCC1A4C2D1}" type="slidenum">
              <a:rPr lang="zh-CN" altLang="en-US" smtClean="0"/>
              <a:t>75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333983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537CBA-0E44-4282-A4F0-C3BCC1A4C2D1}" type="slidenum">
              <a:rPr lang="zh-CN" altLang="en-US" smtClean="0"/>
              <a:t>76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163825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537CBA-0E44-4282-A4F0-C3BCC1A4C2D1}" type="slidenum">
              <a:rPr lang="zh-CN" altLang="en-US" smtClean="0"/>
              <a:t>79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107183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537CBA-0E44-4282-A4F0-C3BCC1A4C2D1}" type="slidenum">
              <a:rPr lang="zh-CN" altLang="en-US" smtClean="0"/>
              <a:t>84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68282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E9E4D-0BE1-4AAA-A57B-DA425863F4AF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="" xmlns:a16="http://schemas.microsoft.com/office/drawing/2014/main" id="{C3CF4CA7-7AAC-4C45-88E6-57EAF6DA16C9}"/>
              </a:ext>
            </a:extLst>
          </p:cNvPr>
          <p:cNvSpPr/>
          <p:nvPr userDrawn="1"/>
        </p:nvSpPr>
        <p:spPr>
          <a:xfrm>
            <a:off x="0" y="4835507"/>
            <a:ext cx="9144000" cy="307777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3" tIns="45706" rIns="91413" bIns="45706"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5011272"/>
      </p:ext>
    </p:extLst>
  </p:cSld>
  <p:clrMapOvr>
    <a:masterClrMapping/>
  </p:clrMapOvr>
  <p:transition spd="slow">
    <p:pull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498872"/>
          </a:xfrm>
        </p:spPr>
        <p:txBody>
          <a:bodyPr>
            <a:noAutofit/>
          </a:bodyPr>
          <a:lstStyle>
            <a:lvl1pPr>
              <a:defRPr sz="2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819150"/>
            <a:ext cx="8229600" cy="3937000"/>
          </a:xfrm>
        </p:spPr>
        <p:txBody>
          <a:bodyPr>
            <a:normAutofit/>
          </a:bodyPr>
          <a:lstStyle>
            <a:lvl1pPr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4426" y="4482306"/>
            <a:ext cx="409574" cy="273844"/>
          </a:xfrm>
        </p:spPr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="" xmlns:a16="http://schemas.microsoft.com/office/drawing/2014/main" id="{0EDCEBCB-EE73-45D6-92CE-B2AE1D434CFB}"/>
              </a:ext>
            </a:extLst>
          </p:cNvPr>
          <p:cNvSpPr/>
          <p:nvPr userDrawn="1"/>
        </p:nvSpPr>
        <p:spPr>
          <a:xfrm>
            <a:off x="646880" y="268997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0677444"/>
      </p:ext>
    </p:extLst>
  </p:cSld>
  <p:clrMapOvr>
    <a:masterClrMapping/>
  </p:clrMapOvr>
  <p:transition spd="slow">
    <p:pull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E9E4D-0BE1-4AAA-A57B-DA425863F4AF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2218166"/>
      </p:ext>
    </p:extLst>
  </p:cSld>
  <p:clrMapOvr>
    <a:masterClrMapping/>
  </p:clrMapOvr>
  <p:transition spd="slow">
    <p:pull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E9E4D-0BE1-4AAA-A57B-DA425863F4AF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1850969"/>
      </p:ext>
    </p:extLst>
  </p:cSld>
  <p:clrMapOvr>
    <a:masterClrMapping/>
  </p:clrMapOvr>
  <p:transition spd="slow">
    <p:pull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E9E4D-0BE1-4AAA-A57B-DA425863F4AF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4861265"/>
      </p:ext>
    </p:extLst>
  </p:cSld>
  <p:clrMapOvr>
    <a:masterClrMapping/>
  </p:clrMapOvr>
  <p:transition spd="slow">
    <p:pull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E9E4D-0BE1-4AAA-A57B-DA425863F4AF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1343882"/>
      </p:ext>
    </p:extLst>
  </p:cSld>
  <p:clrMapOvr>
    <a:masterClrMapping/>
  </p:clrMapOvr>
  <p:transition spd="slow">
    <p:pull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E9E4D-0BE1-4AAA-A57B-DA425863F4AF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3712181"/>
      </p:ext>
    </p:extLst>
  </p:cSld>
  <p:clrMapOvr>
    <a:masterClrMapping/>
  </p:clrMapOvr>
  <p:transition spd="slow">
    <p:pull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E9E4D-0BE1-4AAA-A57B-DA425863F4AF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7382833"/>
      </p:ext>
    </p:extLst>
  </p:cSld>
  <p:clrMapOvr>
    <a:masterClrMapping/>
  </p:clrMapOvr>
  <p:transition spd="slow">
    <p:pull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E9E4D-0BE1-4AAA-A57B-DA425863F4AF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4744713"/>
      </p:ext>
    </p:extLst>
  </p:cSld>
  <p:clrMapOvr>
    <a:masterClrMapping/>
  </p:clrMapOvr>
  <p:transition spd="slow">
    <p:pull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E9E4D-0BE1-4AAA-A57B-DA425863F4AF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5365753"/>
      </p:ext>
    </p:extLst>
  </p:cSld>
  <p:clrMapOvr>
    <a:masterClrMapping/>
  </p:clrMapOvr>
  <p:transition spd="slow">
    <p:pull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E9E4D-0BE1-4AAA-A57B-DA425863F4AF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9847810"/>
      </p:ext>
    </p:extLst>
  </p:cSld>
  <p:clrMapOvr>
    <a:masterClrMapping/>
  </p:clrMapOvr>
  <p:transition spd="slow">
    <p:pull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 userDrawn="1"/>
        </p:nvCxnSpPr>
        <p:spPr>
          <a:xfrm>
            <a:off x="515257" y="624114"/>
            <a:ext cx="3192647" cy="5237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 userDrawn="1"/>
        </p:nvCxnSpPr>
        <p:spPr>
          <a:xfrm>
            <a:off x="5436096" y="629351"/>
            <a:ext cx="326465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23278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4026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 advTm="0">
        <p:blinds dir="vert"/>
      </p:transition>
    </mc:Choice>
    <mc:Fallback xmlns="">
      <p:transition spd="slow" advClick="0" advTm="0">
        <p:blinds dir="vert"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0016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 advTm="0">
        <p:blinds dir="vert"/>
      </p:transition>
    </mc:Choice>
    <mc:Fallback xmlns="">
      <p:transition spd="slow" advClick="0" advTm="0">
        <p:blinds dir="vert"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1_标题幻灯片">
    <p:bg>
      <p:bgPr>
        <a:pattFill prst="ltUpDiag">
          <a:fgClr>
            <a:schemeClr val="accent6">
              <a:lumMod val="8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="" xmlns:a16="http://schemas.microsoft.com/office/drawing/2014/main" id="{36B1EA47-AA99-4F55-AEF3-3DA66267A0C2}"/>
              </a:ext>
            </a:extLst>
          </p:cNvPr>
          <p:cNvSpPr/>
          <p:nvPr userDrawn="1"/>
        </p:nvSpPr>
        <p:spPr>
          <a:xfrm>
            <a:off x="0" y="4835507"/>
            <a:ext cx="9144000" cy="307777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3" tIns="45706" rIns="91413" bIns="45706"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="" xmlns:a16="http://schemas.microsoft.com/office/drawing/2014/main" id="{B9470B42-93C0-4049-B9CB-A8EBAAC7803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85054" y="0"/>
            <a:ext cx="1064467" cy="963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937429"/>
      </p:ext>
    </p:extLst>
  </p:cSld>
  <p:clrMapOvr>
    <a:masterClrMapping/>
  </p:clrMapOvr>
  <p:transition spd="slow">
    <p:cover dir="rd"/>
  </p:transition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Relationship Id="rId17" Type="http://schemas.openxmlformats.org/officeDocument/2006/relationships/image" Target="../media/image1.jpg"/><Relationship Id="rId18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1E9E4D-0BE1-4AAA-A57B-DA425863F4AF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="" xmlns:a16="http://schemas.microsoft.com/office/drawing/2014/main" id="{341F63DC-E866-4077-8215-C471E38E7305}"/>
              </a:ext>
            </a:extLst>
          </p:cNvPr>
          <p:cNvPicPr>
            <a:picLocks noChangeAspect="1"/>
          </p:cNvPicPr>
          <p:nvPr userDrawn="1"/>
        </p:nvPicPr>
        <p:blipFill>
          <a:blip r:embed="rId1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85054" y="0"/>
            <a:ext cx="1064467" cy="963887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="" xmlns:a16="http://schemas.microsoft.com/office/drawing/2014/main" id="{3FFCFCD4-6DCF-4A23-AD20-AF62BB293DA8}"/>
              </a:ext>
            </a:extLst>
          </p:cNvPr>
          <p:cNvSpPr/>
          <p:nvPr userDrawn="1"/>
        </p:nvSpPr>
        <p:spPr>
          <a:xfrm>
            <a:off x="0" y="4835507"/>
            <a:ext cx="9144000" cy="307777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3" tIns="45706" rIns="91413" bIns="45706"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97878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2" r:id="rId13"/>
    <p:sldLayoutId id="2147483663" r:id="rId14"/>
    <p:sldLayoutId id="2147483669" r:id="rId15"/>
  </p:sldLayoutIdLst>
  <p:transition spd="slow">
    <p:pull/>
  </p:transition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4" Type="http://schemas.openxmlformats.org/officeDocument/2006/relationships/image" Target="../media/image3.png"/><Relationship Id="rId5" Type="http://schemas.microsoft.com/office/2007/relationships/hdphoto" Target="../media/hdphoto1.wdp"/><Relationship Id="rId6" Type="http://schemas.openxmlformats.org/officeDocument/2006/relationships/image" Target="../media/image4.png"/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emf"/><Relationship Id="rId3" Type="http://schemas.openxmlformats.org/officeDocument/2006/relationships/image" Target="../media/image6.emf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emf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emf"/><Relationship Id="rId3" Type="http://schemas.openxmlformats.org/officeDocument/2006/relationships/image" Target="../media/image9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4" Type="http://schemas.openxmlformats.org/officeDocument/2006/relationships/image" Target="../media/image12.emf"/><Relationship Id="rId5" Type="http://schemas.openxmlformats.org/officeDocument/2006/relationships/image" Target="../media/image13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emf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4" Type="http://schemas.openxmlformats.org/officeDocument/2006/relationships/image" Target="../media/image17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emf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emf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4" Type="http://schemas.openxmlformats.org/officeDocument/2006/relationships/image" Target="../media/image70.png"/><Relationship Id="rId5" Type="http://schemas.openxmlformats.org/officeDocument/2006/relationships/image" Target="../media/image71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4" Type="http://schemas.openxmlformats.org/officeDocument/2006/relationships/image" Target="../media/image69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4" Type="http://schemas.openxmlformats.org/officeDocument/2006/relationships/image" Target="../media/image96.png"/><Relationship Id="rId5" Type="http://schemas.openxmlformats.org/officeDocument/2006/relationships/image" Target="../media/image100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4" Type="http://schemas.openxmlformats.org/officeDocument/2006/relationships/image" Target="../media/image151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2.png"/><Relationship Id="rId3" Type="http://schemas.openxmlformats.org/officeDocument/2006/relationships/image" Target="../media/image153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1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0.png"/><Relationship Id="rId4" Type="http://schemas.openxmlformats.org/officeDocument/2006/relationships/image" Target="../media/image270.png"/><Relationship Id="rId5" Type="http://schemas.openxmlformats.org/officeDocument/2006/relationships/image" Target="../media/image280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0.png"/><Relationship Id="rId4" Type="http://schemas.openxmlformats.org/officeDocument/2006/relationships/image" Target="../media/image560.png"/><Relationship Id="rId5" Type="http://schemas.openxmlformats.org/officeDocument/2006/relationships/image" Target="../media/image570.png"/><Relationship Id="rId6" Type="http://schemas.openxmlformats.org/officeDocument/2006/relationships/image" Target="../media/image58.png"/><Relationship Id="rId7" Type="http://schemas.openxmlformats.org/officeDocument/2006/relationships/image" Target="../media/image59.png"/><Relationship Id="rId8" Type="http://schemas.openxmlformats.org/officeDocument/2006/relationships/image" Target="../media/image600.png"/><Relationship Id="rId9" Type="http://schemas.openxmlformats.org/officeDocument/2006/relationships/image" Target="../media/image610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0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0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image" Target="../media/image26.png"/><Relationship Id="rId7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6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image" Target="../media/image35.png"/><Relationship Id="rId8" Type="http://schemas.openxmlformats.org/officeDocument/2006/relationships/image" Target="../media/image36.png"/><Relationship Id="rId9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1.png"/><Relationship Id="rId4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8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4" Type="http://schemas.openxmlformats.org/officeDocument/2006/relationships/image" Target="../media/image180.png"/><Relationship Id="rId5" Type="http://schemas.openxmlformats.org/officeDocument/2006/relationships/image" Target="../media/image190.png"/><Relationship Id="rId6" Type="http://schemas.openxmlformats.org/officeDocument/2006/relationships/image" Target="../media/image200.png"/><Relationship Id="rId7" Type="http://schemas.openxmlformats.org/officeDocument/2006/relationships/image" Target="../media/image210.png"/><Relationship Id="rId8" Type="http://schemas.openxmlformats.org/officeDocument/2006/relationships/image" Target="../media/image240.png"/><Relationship Id="rId9" Type="http://schemas.openxmlformats.org/officeDocument/2006/relationships/image" Target="../media/image230.png"/><Relationship Id="rId10" Type="http://schemas.openxmlformats.org/officeDocument/2006/relationships/image" Target="../media/image40.em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0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0.png"/><Relationship Id="rId4" Type="http://schemas.openxmlformats.org/officeDocument/2006/relationships/image" Target="../media/image300.png"/><Relationship Id="rId5" Type="http://schemas.openxmlformats.org/officeDocument/2006/relationships/image" Target="../media/image310.png"/><Relationship Id="rId6" Type="http://schemas.openxmlformats.org/officeDocument/2006/relationships/image" Target="../media/image41.em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4" Type="http://schemas.openxmlformats.org/officeDocument/2006/relationships/image" Target="../media/image42.png"/><Relationship Id="rId5" Type="http://schemas.openxmlformats.org/officeDocument/2006/relationships/image" Target="../media/image43.png"/><Relationship Id="rId6" Type="http://schemas.openxmlformats.org/officeDocument/2006/relationships/image" Target="NULL"/><Relationship Id="rId1" Type="http://schemas.openxmlformats.org/officeDocument/2006/relationships/slideLayout" Target="../slideLayouts/slideLayout2.xml"/><Relationship Id="rId2" Type="http://schemas.openxmlformats.org/officeDocument/2006/relationships/image" Target="NUL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4" Type="http://schemas.openxmlformats.org/officeDocument/2006/relationships/image" Target="NULL"/><Relationship Id="rId5" Type="http://schemas.openxmlformats.org/officeDocument/2006/relationships/image" Target="../media/image42.png"/><Relationship Id="rId6" Type="http://schemas.openxmlformats.org/officeDocument/2006/relationships/image" Target="NULL"/><Relationship Id="rId1" Type="http://schemas.openxmlformats.org/officeDocument/2006/relationships/slideLayout" Target="../slideLayouts/slideLayout2.xml"/><Relationship Id="rId2" Type="http://schemas.openxmlformats.org/officeDocument/2006/relationships/image" Target="NUL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4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4" Type="http://schemas.openxmlformats.org/officeDocument/2006/relationships/image" Target="NULL"/><Relationship Id="rId1" Type="http://schemas.openxmlformats.org/officeDocument/2006/relationships/slideLayout" Target="../slideLayouts/slideLayout2.xml"/><Relationship Id="rId2" Type="http://schemas.openxmlformats.org/officeDocument/2006/relationships/image" Target="NUL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4" Type="http://schemas.openxmlformats.org/officeDocument/2006/relationships/image" Target="NULL"/><Relationship Id="rId5" Type="http://schemas.openxmlformats.org/officeDocument/2006/relationships/image" Target="NULL"/><Relationship Id="rId1" Type="http://schemas.openxmlformats.org/officeDocument/2006/relationships/slideLayout" Target="../slideLayouts/slideLayout2.xml"/><Relationship Id="rId2" Type="http://schemas.openxmlformats.org/officeDocument/2006/relationships/image" Target="NUL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4" Type="http://schemas.openxmlformats.org/officeDocument/2006/relationships/image" Target="NULL"/><Relationship Id="rId5" Type="http://schemas.openxmlformats.org/officeDocument/2006/relationships/image" Target="NULL"/><Relationship Id="rId6" Type="http://schemas.openxmlformats.org/officeDocument/2006/relationships/image" Target="NULL"/><Relationship Id="rId1" Type="http://schemas.openxmlformats.org/officeDocument/2006/relationships/slideLayout" Target="../slideLayouts/slideLayout2.xml"/><Relationship Id="rId2" Type="http://schemas.openxmlformats.org/officeDocument/2006/relationships/image" Target="NUL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4" Type="http://schemas.openxmlformats.org/officeDocument/2006/relationships/image" Target="NULL"/><Relationship Id="rId5" Type="http://schemas.openxmlformats.org/officeDocument/2006/relationships/image" Target="NULL"/><Relationship Id="rId6" Type="http://schemas.openxmlformats.org/officeDocument/2006/relationships/image" Target="NULL"/><Relationship Id="rId7" Type="http://schemas.openxmlformats.org/officeDocument/2006/relationships/image" Target="NULL"/><Relationship Id="rId1" Type="http://schemas.openxmlformats.org/officeDocument/2006/relationships/slideLayout" Target="../slideLayouts/slideLayout2.xml"/><Relationship Id="rId2" Type="http://schemas.openxmlformats.org/officeDocument/2006/relationships/image" Target="NULL"/></Relationships>
</file>

<file path=ppt/slides/_rels/slide47.xml.rels><?xml version="1.0" encoding="UTF-8" standalone="yes"?>
<Relationships xmlns="http://schemas.openxmlformats.org/package/2006/relationships"><Relationship Id="rId11" Type="http://schemas.openxmlformats.org/officeDocument/2006/relationships/image" Target="../media/image48.emf"/><Relationship Id="rId12" Type="http://schemas.openxmlformats.org/officeDocument/2006/relationships/image" Target="NULL"/><Relationship Id="rId13" Type="http://schemas.openxmlformats.org/officeDocument/2006/relationships/image" Target="NULL"/><Relationship Id="rId14" Type="http://schemas.openxmlformats.org/officeDocument/2006/relationships/image" Target="NULL"/><Relationship Id="rId15" Type="http://schemas.openxmlformats.org/officeDocument/2006/relationships/image" Target="NULL"/><Relationship Id="rId1" Type="http://schemas.openxmlformats.org/officeDocument/2006/relationships/vmlDrawing" Target="../drawings/vmlDrawing1.vml"/><Relationship Id="rId2" Type="http://schemas.openxmlformats.org/officeDocument/2006/relationships/slideLayout" Target="../slideLayouts/slideLayout2.xml"/><Relationship Id="rId3" Type="http://schemas.openxmlformats.org/officeDocument/2006/relationships/image" Target="NULL"/><Relationship Id="rId4" Type="http://schemas.openxmlformats.org/officeDocument/2006/relationships/oleObject" Target="../embeddings/oleObject1.bin"/><Relationship Id="rId5" Type="http://schemas.openxmlformats.org/officeDocument/2006/relationships/image" Target="../media/image45.emf"/><Relationship Id="rId6" Type="http://schemas.openxmlformats.org/officeDocument/2006/relationships/oleObject" Target="../embeddings/oleObject2.bin"/><Relationship Id="rId7" Type="http://schemas.openxmlformats.org/officeDocument/2006/relationships/image" Target="../media/image46.emf"/><Relationship Id="rId8" Type="http://schemas.openxmlformats.org/officeDocument/2006/relationships/oleObject" Target="../embeddings/oleObject3.bin"/><Relationship Id="rId9" Type="http://schemas.openxmlformats.org/officeDocument/2006/relationships/image" Target="../media/image47.emf"/><Relationship Id="rId10" Type="http://schemas.openxmlformats.org/officeDocument/2006/relationships/oleObject" Target="../embeddings/oleObject4.bin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9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4" Type="http://schemas.openxmlformats.org/officeDocument/2006/relationships/image" Target="NULL"/><Relationship Id="rId5" Type="http://schemas.openxmlformats.org/officeDocument/2006/relationships/image" Target="NULL"/><Relationship Id="rId6" Type="http://schemas.openxmlformats.org/officeDocument/2006/relationships/image" Target="NULL"/><Relationship Id="rId7" Type="http://schemas.openxmlformats.org/officeDocument/2006/relationships/image" Target="NULL"/><Relationship Id="rId1" Type="http://schemas.openxmlformats.org/officeDocument/2006/relationships/slideLayout" Target="../slideLayouts/slideLayout2.xml"/><Relationship Id="rId2" Type="http://schemas.openxmlformats.org/officeDocument/2006/relationships/image" Target="NUL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4" Type="http://schemas.openxmlformats.org/officeDocument/2006/relationships/image" Target="../media/image190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1.emf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0.png"/><Relationship Id="rId4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0.png"/><Relationship Id="rId4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0.png"/><Relationship Id="rId4" Type="http://schemas.openxmlformats.org/officeDocument/2006/relationships/image" Target="../media/image52.png"/><Relationship Id="rId5" Type="http://schemas.openxmlformats.org/officeDocument/2006/relationships/image" Target="../media/image530.png"/><Relationship Id="rId6" Type="http://schemas.openxmlformats.org/officeDocument/2006/relationships/image" Target="../media/image540.png"/><Relationship Id="rId7" Type="http://schemas.openxmlformats.org/officeDocument/2006/relationships/image" Target="../media/image550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0.png"/><Relationship Id="rId4" Type="http://schemas.openxmlformats.org/officeDocument/2006/relationships/image" Target="../media/image52.png"/><Relationship Id="rId5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4" Type="http://schemas.openxmlformats.org/officeDocument/2006/relationships/diagramQuickStyle" Target="../diagrams/quickStyle1.xml"/><Relationship Id="rId5" Type="http://schemas.openxmlformats.org/officeDocument/2006/relationships/diagramColors" Target="../diagrams/colors1.xml"/><Relationship Id="rId6" Type="http://schemas.microsoft.com/office/2007/relationships/diagramDrawing" Target="../diagrams/drawing1.xml"/><Relationship Id="rId1" Type="http://schemas.openxmlformats.org/officeDocument/2006/relationships/slideLayout" Target="../slideLayouts/slideLayout2.xml"/><Relationship Id="rId2" Type="http://schemas.openxmlformats.org/officeDocument/2006/relationships/diagramData" Target="../diagrams/data1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4" Type="http://schemas.openxmlformats.org/officeDocument/2006/relationships/image" Target="../media/image56.emf"/><Relationship Id="rId5" Type="http://schemas.openxmlformats.org/officeDocument/2006/relationships/image" Target="../media/image57.png"/><Relationship Id="rId6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4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4" Type="http://schemas.openxmlformats.org/officeDocument/2006/relationships/image" Target="NULL"/><Relationship Id="rId1" Type="http://schemas.openxmlformats.org/officeDocument/2006/relationships/slideLayout" Target="../slideLayouts/slideLayout2.xml"/><Relationship Id="rId2" Type="http://schemas.openxmlformats.org/officeDocument/2006/relationships/image" Target="NUL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4" Type="http://schemas.openxmlformats.org/officeDocument/2006/relationships/image" Target="../media/image61.png"/><Relationship Id="rId5" Type="http://schemas.openxmlformats.org/officeDocument/2006/relationships/image" Target="../media/image62.png"/><Relationship Id="rId6" Type="http://schemas.openxmlformats.org/officeDocument/2006/relationships/image" Target="../media/image65.png"/><Relationship Id="rId7" Type="http://schemas.openxmlformats.org/officeDocument/2006/relationships/image" Target="NULL"/><Relationship Id="rId1" Type="http://schemas.openxmlformats.org/officeDocument/2006/relationships/slideLayout" Target="../slideLayouts/slideLayout2.xml"/><Relationship Id="rId2" Type="http://schemas.openxmlformats.org/officeDocument/2006/relationships/image" Target="NUL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30.png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NULL"/><Relationship Id="rId3" Type="http://schemas.openxmlformats.org/officeDocument/2006/relationships/image" Target="../media/image440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4" Type="http://schemas.openxmlformats.org/officeDocument/2006/relationships/image" Target="../media/image62.png"/><Relationship Id="rId5" Type="http://schemas.openxmlformats.org/officeDocument/2006/relationships/image" Target="../media/image66.png"/><Relationship Id="rId6" Type="http://schemas.openxmlformats.org/officeDocument/2006/relationships/image" Target="NULL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5.png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NULL"/><Relationship Id="rId3" Type="http://schemas.openxmlformats.org/officeDocument/2006/relationships/image" Target="../media/image72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4" Type="http://schemas.openxmlformats.org/officeDocument/2006/relationships/image" Target="../media/image75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3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4" Type="http://schemas.openxmlformats.org/officeDocument/2006/relationships/image" Target="NULL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6.png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7.png"/><Relationship Id="rId3" Type="http://schemas.openxmlformats.org/officeDocument/2006/relationships/image" Target="../media/image78.png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9.png"/><Relationship Id="rId3" Type="http://schemas.openxmlformats.org/officeDocument/2006/relationships/image" Target="../media/image80.png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0.png"/><Relationship Id="rId3" Type="http://schemas.openxmlformats.org/officeDocument/2006/relationships/image" Target="../media/image81.emf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0.png"/><Relationship Id="rId3" Type="http://schemas.openxmlformats.org/officeDocument/2006/relationships/image" Target="../media/image82.emf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3.png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4.png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eigenvector-centrality-centrality-measure/" TargetMode="External"/><Relationship Id="rId4" Type="http://schemas.openxmlformats.org/officeDocument/2006/relationships/image" Target="../media/image85.png"/><Relationship Id="rId5" Type="http://schemas.openxmlformats.org/officeDocument/2006/relationships/image" Target="../media/image86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4" Type="http://schemas.openxmlformats.org/officeDocument/2006/relationships/image" Target="NULL"/><Relationship Id="rId5" Type="http://schemas.openxmlformats.org/officeDocument/2006/relationships/image" Target="NULL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4" Type="http://schemas.openxmlformats.org/officeDocument/2006/relationships/image" Target="NULL"/><Relationship Id="rId5" Type="http://schemas.openxmlformats.org/officeDocument/2006/relationships/image" Target="NULL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7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4" Type="http://schemas.openxmlformats.org/officeDocument/2006/relationships/image" Target="NULL"/><Relationship Id="rId5" Type="http://schemas.openxmlformats.org/officeDocument/2006/relationships/image" Target="NULL"/><Relationship Id="rId6" Type="http://schemas.openxmlformats.org/officeDocument/2006/relationships/image" Target="NULL"/><Relationship Id="rId7" Type="http://schemas.openxmlformats.org/officeDocument/2006/relationships/image" Target="NULL"/><Relationship Id="rId8" Type="http://schemas.openxmlformats.org/officeDocument/2006/relationships/image" Target="NULL"/><Relationship Id="rId9" Type="http://schemas.openxmlformats.org/officeDocument/2006/relationships/image" Target="NULL"/><Relationship Id="rId1" Type="http://schemas.openxmlformats.org/officeDocument/2006/relationships/slideLayout" Target="../slideLayouts/slideLayout2.xml"/><Relationship Id="rId2" Type="http://schemas.openxmlformats.org/officeDocument/2006/relationships/image" Target="NUL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4" Type="http://schemas.openxmlformats.org/officeDocument/2006/relationships/image" Target="NULL"/><Relationship Id="rId5" Type="http://schemas.openxmlformats.org/officeDocument/2006/relationships/image" Target="NULL"/><Relationship Id="rId6" Type="http://schemas.openxmlformats.org/officeDocument/2006/relationships/image" Target="NULL"/><Relationship Id="rId7" Type="http://schemas.openxmlformats.org/officeDocument/2006/relationships/image" Target="NULL"/><Relationship Id="rId8" Type="http://schemas.openxmlformats.org/officeDocument/2006/relationships/image" Target="NULL"/><Relationship Id="rId9" Type="http://schemas.openxmlformats.org/officeDocument/2006/relationships/image" Target="NULL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NUL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8.png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0.pn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4" Type="http://schemas.openxmlformats.org/officeDocument/2006/relationships/image" Target="../media/image450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90.png"/><Relationship Id="rId3" Type="http://schemas.openxmlformats.org/officeDocument/2006/relationships/image" Target="../media/image500.png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2059145"/>
            <a:ext cx="9144000" cy="854123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3" tIns="45706" rIns="91413" bIns="45706"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pic>
        <p:nvPicPr>
          <p:cNvPr id="103" name="Picture 2" descr="C:\Users\Administrator\Desktop\微立体创业计划\001.png"/>
          <p:cNvPicPr>
            <a:picLocks noChangeAspect="1" noChangeArrowheads="1"/>
          </p:cNvPicPr>
          <p:nvPr/>
        </p:nvPicPr>
        <p:blipFill>
          <a:blip r:embed="rId4" cstate="email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825941" y="158700"/>
            <a:ext cx="1967244" cy="1966978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" name="Picture 3" descr="C:\Users\Administrator\Desktop\微立体创业计划\002.png"/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891057" y="27073"/>
            <a:ext cx="2230535" cy="2230233"/>
          </a:xfrm>
          <a:prstGeom prst="rect">
            <a:avLst/>
          </a:prstGeom>
          <a:noFill/>
          <a:effectLst>
            <a:outerShdw blurRad="292100" dist="177800" dir="2460000" sx="99000" sy="99000" algn="l" rotWithShape="0">
              <a:prstClr val="black">
                <a:alpha val="39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圆角矩形 22"/>
          <p:cNvSpPr/>
          <p:nvPr/>
        </p:nvSpPr>
        <p:spPr>
          <a:xfrm>
            <a:off x="2349113" y="3309842"/>
            <a:ext cx="3919063" cy="40913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3" tIns="45706" rIns="91413" bIns="45706" rtlCol="0" anchor="ctr"/>
          <a:lstStyle/>
          <a:p>
            <a:pPr algn="ctr"/>
            <a:r>
              <a:rPr lang="zh-CN" altLang="en-US" dirty="0" smtClean="0">
                <a:solidFill>
                  <a:prstClr val="white"/>
                </a:solidFill>
              </a:rPr>
              <a:t>范举教授               </a:t>
            </a:r>
            <a:r>
              <a:rPr lang="en-US" altLang="zh-CN" dirty="0" err="1" smtClean="0">
                <a:solidFill>
                  <a:prstClr val="white"/>
                </a:solidFill>
              </a:rPr>
              <a:t>fanj@ruc.edu.cn</a:t>
            </a:r>
            <a:endParaRPr lang="zh-CN" altLang="en-US" dirty="0">
              <a:solidFill>
                <a:prstClr val="white"/>
              </a:solidFill>
            </a:endParaRPr>
          </a:p>
        </p:txBody>
      </p:sp>
      <p:grpSp>
        <p:nvGrpSpPr>
          <p:cNvPr id="25" name="Group 91"/>
          <p:cNvGrpSpPr>
            <a:grpSpLocks/>
          </p:cNvGrpSpPr>
          <p:nvPr/>
        </p:nvGrpSpPr>
        <p:grpSpPr bwMode="auto">
          <a:xfrm>
            <a:off x="1822357" y="3309841"/>
            <a:ext cx="390552" cy="616758"/>
            <a:chOff x="936" y="1480"/>
            <a:chExt cx="1589" cy="2510"/>
          </a:xfrm>
        </p:grpSpPr>
        <p:grpSp>
          <p:nvGrpSpPr>
            <p:cNvPr id="26" name="组合 33"/>
            <p:cNvGrpSpPr>
              <a:grpSpLocks/>
            </p:cNvGrpSpPr>
            <p:nvPr/>
          </p:nvGrpSpPr>
          <p:grpSpPr bwMode="auto">
            <a:xfrm>
              <a:off x="985" y="1583"/>
              <a:ext cx="1441" cy="2407"/>
              <a:chOff x="1754168" y="3653262"/>
              <a:chExt cx="1857599" cy="3107815"/>
            </a:xfrm>
          </p:grpSpPr>
          <p:sp>
            <p:nvSpPr>
              <p:cNvPr id="31" name="椭圆 30"/>
              <p:cNvSpPr/>
              <p:nvPr/>
            </p:nvSpPr>
            <p:spPr>
              <a:xfrm>
                <a:off x="1754168" y="3653262"/>
                <a:ext cx="1857599" cy="1857597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  <a:effectLst>
                <a:innerShdw blurRad="88900" dist="635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/>
              <a:p>
                <a:pPr algn="ctr">
                  <a:defRPr/>
                </a:pPr>
                <a:endParaRPr lang="zh-CN" altLang="en-US" sz="3000" dirty="0">
                  <a:solidFill>
                    <a:prstClr val="white"/>
                  </a:solidFill>
                  <a:ea typeface="方正超粗黑简体" panose="03000509000000000000" pitchFamily="65" charset="-122"/>
                </a:endParaRPr>
              </a:p>
            </p:txBody>
          </p:sp>
          <p:sp>
            <p:nvSpPr>
              <p:cNvPr id="32" name="椭圆 31"/>
              <p:cNvSpPr/>
              <p:nvPr/>
            </p:nvSpPr>
            <p:spPr>
              <a:xfrm>
                <a:off x="1911556" y="3810650"/>
                <a:ext cx="1542822" cy="1542820"/>
              </a:xfrm>
              <a:prstGeom prst="ellipse">
                <a:avLst/>
              </a:prstGeom>
              <a:solidFill>
                <a:srgbClr val="C20100"/>
              </a:solidFill>
              <a:ln w="28575">
                <a:gradFill flip="none" rotWithShape="1">
                  <a:gsLst>
                    <a:gs pos="100000">
                      <a:srgbClr val="FFFFFF"/>
                    </a:gs>
                    <a:gs pos="0">
                      <a:srgbClr val="CECED0"/>
                    </a:gs>
                  </a:gsLst>
                  <a:lin ang="13500000" scaled="1"/>
                  <a:tileRect/>
                </a:gradFill>
              </a:ln>
              <a:effectLst>
                <a:outerShdw blurRad="190500" dist="88900" dir="2700000" algn="tl" rotWithShape="0">
                  <a:prstClr val="black">
                    <a:alpha val="3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33" name="椭圆 32"/>
              <p:cNvSpPr/>
              <p:nvPr/>
            </p:nvSpPr>
            <p:spPr>
              <a:xfrm>
                <a:off x="1890879" y="3789973"/>
                <a:ext cx="1584176" cy="1584174"/>
              </a:xfrm>
              <a:prstGeom prst="ellipse">
                <a:avLst/>
              </a:prstGeom>
              <a:solidFill>
                <a:srgbClr val="1A3F6C"/>
              </a:solidFill>
              <a:ln>
                <a:noFill/>
              </a:ln>
              <a:effectLst>
                <a:innerShdw blurRad="88900" dist="635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/>
              <a:p>
                <a:pPr algn="ctr">
                  <a:defRPr/>
                </a:pPr>
                <a:endParaRPr lang="zh-CN" altLang="en-US" sz="3000" dirty="0">
                  <a:solidFill>
                    <a:srgbClr val="0087CF"/>
                  </a:solidFill>
                  <a:ea typeface="方正超粗黑简体" panose="03000509000000000000" pitchFamily="65" charset="-122"/>
                </a:endParaRPr>
              </a:p>
            </p:txBody>
          </p:sp>
          <p:sp>
            <p:nvSpPr>
              <p:cNvPr id="34" name="矩形 33"/>
              <p:cNvSpPr/>
              <p:nvPr/>
            </p:nvSpPr>
            <p:spPr>
              <a:xfrm>
                <a:off x="2196990" y="4093185"/>
                <a:ext cx="968886" cy="266789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algn="ctr"/>
                <a:endParaRPr lang="zh-CN" altLang="zh-CN" sz="2700" b="1">
                  <a:solidFill>
                    <a:srgbClr val="CA0098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  <p:grpSp>
          <p:nvGrpSpPr>
            <p:cNvPr id="27" name="组合 4"/>
            <p:cNvGrpSpPr>
              <a:grpSpLocks/>
            </p:cNvGrpSpPr>
            <p:nvPr/>
          </p:nvGrpSpPr>
          <p:grpSpPr bwMode="auto">
            <a:xfrm>
              <a:off x="936" y="1480"/>
              <a:ext cx="1589" cy="1588"/>
              <a:chOff x="3733576" y="3930057"/>
              <a:chExt cx="1801556" cy="1800152"/>
            </a:xfrm>
          </p:grpSpPr>
          <p:sp>
            <p:nvSpPr>
              <p:cNvPr id="28" name="椭圆 27"/>
              <p:cNvSpPr/>
              <p:nvPr/>
            </p:nvSpPr>
            <p:spPr>
              <a:xfrm>
                <a:off x="4003576" y="4200057"/>
                <a:ext cx="1260000" cy="1260000"/>
              </a:xfrm>
              <a:prstGeom prst="ellipse">
                <a:avLst/>
              </a:prstGeom>
              <a:noFill/>
              <a:ln>
                <a:gradFill flip="none" rotWithShape="1">
                  <a:gsLst>
                    <a:gs pos="100000">
                      <a:schemeClr val="bg1"/>
                    </a:gs>
                    <a:gs pos="0">
                      <a:schemeClr val="bg1">
                        <a:lumMod val="75000"/>
                      </a:schemeClr>
                    </a:gs>
                  </a:gsLst>
                  <a:lin ang="2700000" scaled="1"/>
                  <a:tileRect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29" name="任意多边形 6"/>
              <p:cNvSpPr/>
              <p:nvPr/>
            </p:nvSpPr>
            <p:spPr>
              <a:xfrm>
                <a:off x="3734710" y="3930057"/>
                <a:ext cx="1800422" cy="1800152"/>
              </a:xfrm>
              <a:custGeom>
                <a:avLst/>
                <a:gdLst>
                  <a:gd name="connsiteX0" fmla="*/ 900000 w 1800000"/>
                  <a:gd name="connsiteY0" fmla="*/ 0 h 1800000"/>
                  <a:gd name="connsiteX1" fmla="*/ 1800000 w 1800000"/>
                  <a:gd name="connsiteY1" fmla="*/ 900000 h 1800000"/>
                  <a:gd name="connsiteX2" fmla="*/ 900000 w 1800000"/>
                  <a:gd name="connsiteY2" fmla="*/ 1800000 h 1800000"/>
                  <a:gd name="connsiteX3" fmla="*/ 0 w 1800000"/>
                  <a:gd name="connsiteY3" fmla="*/ 900000 h 1800000"/>
                  <a:gd name="connsiteX4" fmla="*/ 900000 w 1800000"/>
                  <a:gd name="connsiteY4" fmla="*/ 0 h 1800000"/>
                  <a:gd name="connsiteX5" fmla="*/ 900000 w 1800000"/>
                  <a:gd name="connsiteY5" fmla="*/ 270000 h 1800000"/>
                  <a:gd name="connsiteX6" fmla="*/ 270000 w 1800000"/>
                  <a:gd name="connsiteY6" fmla="*/ 900000 h 1800000"/>
                  <a:gd name="connsiteX7" fmla="*/ 900000 w 1800000"/>
                  <a:gd name="connsiteY7" fmla="*/ 1530000 h 1800000"/>
                  <a:gd name="connsiteX8" fmla="*/ 1530000 w 1800000"/>
                  <a:gd name="connsiteY8" fmla="*/ 900000 h 1800000"/>
                  <a:gd name="connsiteX9" fmla="*/ 900000 w 1800000"/>
                  <a:gd name="connsiteY9" fmla="*/ 270000 h 180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00000" h="1800000">
                    <a:moveTo>
                      <a:pt x="900000" y="0"/>
                    </a:moveTo>
                    <a:cubicBezTo>
                      <a:pt x="1397056" y="0"/>
                      <a:pt x="1800000" y="402944"/>
                      <a:pt x="1800000" y="900000"/>
                    </a:cubicBezTo>
                    <a:cubicBezTo>
                      <a:pt x="1800000" y="1397056"/>
                      <a:pt x="1397056" y="1800000"/>
                      <a:pt x="900000" y="1800000"/>
                    </a:cubicBezTo>
                    <a:cubicBezTo>
                      <a:pt x="402944" y="1800000"/>
                      <a:pt x="0" y="1397056"/>
                      <a:pt x="0" y="900000"/>
                    </a:cubicBezTo>
                    <a:cubicBezTo>
                      <a:pt x="0" y="402944"/>
                      <a:pt x="402944" y="0"/>
                      <a:pt x="900000" y="0"/>
                    </a:cubicBezTo>
                    <a:close/>
                    <a:moveTo>
                      <a:pt x="900000" y="270000"/>
                    </a:moveTo>
                    <a:cubicBezTo>
                      <a:pt x="552061" y="270000"/>
                      <a:pt x="270000" y="552061"/>
                      <a:pt x="270000" y="900000"/>
                    </a:cubicBezTo>
                    <a:cubicBezTo>
                      <a:pt x="270000" y="1247939"/>
                      <a:pt x="552061" y="1530000"/>
                      <a:pt x="900000" y="1530000"/>
                    </a:cubicBezTo>
                    <a:cubicBezTo>
                      <a:pt x="1247939" y="1530000"/>
                      <a:pt x="1530000" y="1247939"/>
                      <a:pt x="1530000" y="900000"/>
                    </a:cubicBezTo>
                    <a:cubicBezTo>
                      <a:pt x="1530000" y="552061"/>
                      <a:pt x="1247939" y="270000"/>
                      <a:pt x="900000" y="270000"/>
                    </a:cubicBezTo>
                    <a:close/>
                  </a:path>
                </a:pathLst>
              </a:custGeom>
              <a:gradFill>
                <a:gsLst>
                  <a:gs pos="0">
                    <a:srgbClr val="F0F0F0"/>
                  </a:gs>
                  <a:gs pos="100000">
                    <a:srgbClr val="DBDBDB"/>
                  </a:gs>
                </a:gsLst>
                <a:lin ang="2700000" scaled="1"/>
              </a:gradFill>
              <a:ln>
                <a:noFill/>
              </a:ln>
              <a:effectLst>
                <a:outerShdw blurRad="88900" dist="635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30" name="椭圆 7"/>
              <p:cNvSpPr/>
              <p:nvPr/>
            </p:nvSpPr>
            <p:spPr>
              <a:xfrm>
                <a:off x="3733576" y="3930057"/>
                <a:ext cx="1800000" cy="1800000"/>
              </a:xfrm>
              <a:prstGeom prst="ellipse">
                <a:avLst/>
              </a:prstGeom>
              <a:noFill/>
              <a:ln>
                <a:gradFill flip="none" rotWithShape="1">
                  <a:gsLst>
                    <a:gs pos="0">
                      <a:schemeClr val="bg1"/>
                    </a:gs>
                    <a:gs pos="100000">
                      <a:schemeClr val="bg1">
                        <a:lumMod val="75000"/>
                      </a:schemeClr>
                    </a:gs>
                  </a:gsLst>
                  <a:lin ang="2700000" scaled="1"/>
                  <a:tileRect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>
                  <a:solidFill>
                    <a:prstClr val="white"/>
                  </a:solidFill>
                </a:endParaRPr>
              </a:p>
            </p:txBody>
          </p:sp>
        </p:grpSp>
      </p:grpSp>
      <p:sp>
        <p:nvSpPr>
          <p:cNvPr id="2" name="TextBox 1"/>
          <p:cNvSpPr txBox="1"/>
          <p:nvPr/>
        </p:nvSpPr>
        <p:spPr>
          <a:xfrm>
            <a:off x="122153" y="2169137"/>
            <a:ext cx="8945065" cy="646303"/>
          </a:xfrm>
          <a:prstGeom prst="rect">
            <a:avLst/>
          </a:prstGeom>
          <a:noFill/>
        </p:spPr>
        <p:txBody>
          <a:bodyPr wrap="square" lIns="91413" tIns="45706" rIns="91413" bIns="45706" rtlCol="0">
            <a:spAutoFit/>
          </a:bodyPr>
          <a:lstStyle/>
          <a:p>
            <a:pPr algn="ctr"/>
            <a:r>
              <a:rPr lang="zh-CN" altLang="en-US" sz="3600" b="1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数据科学导论 </a:t>
            </a:r>
            <a:r>
              <a:rPr lang="en-US" altLang="zh-CN" sz="3600" b="1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3600" b="1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期末复习</a:t>
            </a:r>
            <a:endParaRPr lang="zh-CN" altLang="en-US" sz="3600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287852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期末考试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考试时间</a:t>
            </a:r>
          </a:p>
          <a:p>
            <a:pPr lvl="1"/>
            <a:r>
              <a:rPr lang="en-US" altLang="zh-CN" b="1" dirty="0" smtClean="0">
                <a:solidFill>
                  <a:srgbClr val="C00000"/>
                </a:solidFill>
              </a:rPr>
              <a:t>2025</a:t>
            </a:r>
            <a:r>
              <a:rPr lang="zh-CN" altLang="en-US" b="1" dirty="0" smtClean="0">
                <a:solidFill>
                  <a:srgbClr val="C00000"/>
                </a:solidFill>
              </a:rPr>
              <a:t>年</a:t>
            </a:r>
            <a:r>
              <a:rPr lang="en-US" altLang="zh-CN" b="1" dirty="0" smtClean="0">
                <a:solidFill>
                  <a:srgbClr val="C00000"/>
                </a:solidFill>
              </a:rPr>
              <a:t>1</a:t>
            </a:r>
            <a:r>
              <a:rPr lang="zh-CN" altLang="en-US" b="1" dirty="0" smtClean="0">
                <a:solidFill>
                  <a:srgbClr val="C00000"/>
                </a:solidFill>
              </a:rPr>
              <a:t>月</a:t>
            </a:r>
            <a:r>
              <a:rPr lang="en-US" altLang="zh-CN" b="1" dirty="0">
                <a:solidFill>
                  <a:srgbClr val="C00000"/>
                </a:solidFill>
              </a:rPr>
              <a:t>4</a:t>
            </a:r>
            <a:r>
              <a:rPr lang="zh-CN" altLang="en-US" b="1" dirty="0" smtClean="0">
                <a:solidFill>
                  <a:srgbClr val="C00000"/>
                </a:solidFill>
              </a:rPr>
              <a:t>日（</a:t>
            </a:r>
            <a:r>
              <a:rPr lang="zh-CN" altLang="en-US" b="1" dirty="0" smtClean="0">
                <a:solidFill>
                  <a:srgbClr val="C00000"/>
                </a:solidFill>
              </a:rPr>
              <a:t>周日</a:t>
            </a:r>
            <a:r>
              <a:rPr lang="zh-CN" altLang="en-US" b="1" dirty="0" smtClean="0">
                <a:solidFill>
                  <a:srgbClr val="C00000"/>
                </a:solidFill>
              </a:rPr>
              <a:t>）</a:t>
            </a:r>
            <a:endParaRPr lang="en-US" altLang="zh-CN" b="1" dirty="0" smtClean="0">
              <a:solidFill>
                <a:srgbClr val="C00000"/>
              </a:solidFill>
            </a:endParaRPr>
          </a:p>
          <a:p>
            <a:pPr lvl="1"/>
            <a:r>
              <a:rPr lang="en-US" altLang="zh-CN" dirty="0" smtClean="0"/>
              <a:t>8:00 </a:t>
            </a:r>
            <a:r>
              <a:rPr lang="en-US" altLang="zh-CN" dirty="0"/>
              <a:t>– </a:t>
            </a:r>
            <a:r>
              <a:rPr lang="en-US" altLang="zh-CN" dirty="0" smtClean="0"/>
              <a:t>10:30</a:t>
            </a:r>
            <a:endParaRPr lang="en-US" altLang="zh-CN" dirty="0"/>
          </a:p>
          <a:p>
            <a:r>
              <a:rPr lang="zh-CN" altLang="en-US" b="1" dirty="0">
                <a:solidFill>
                  <a:srgbClr val="C00000"/>
                </a:solidFill>
              </a:rPr>
              <a:t>闭卷</a:t>
            </a:r>
            <a:r>
              <a:rPr lang="zh-CN" altLang="en-US" b="1" dirty="0" smtClean="0">
                <a:solidFill>
                  <a:srgbClr val="C00000"/>
                </a:solidFill>
              </a:rPr>
              <a:t>考试</a:t>
            </a:r>
            <a:endParaRPr lang="zh-CN" altLang="en-US" b="1" dirty="0">
              <a:solidFill>
                <a:srgbClr val="C00000"/>
              </a:solidFill>
            </a:endParaRPr>
          </a:p>
          <a:p>
            <a:r>
              <a:rPr lang="zh-CN" altLang="en-US" dirty="0"/>
              <a:t>考试地点</a:t>
            </a:r>
            <a:r>
              <a:rPr lang="zh-CN" altLang="en-US" dirty="0" smtClean="0"/>
              <a:t>：</a:t>
            </a:r>
            <a:r>
              <a:rPr lang="zh-CN" altLang="fi-FI" dirty="0"/>
              <a:t>教一</a:t>
            </a:r>
            <a:r>
              <a:rPr lang="fi-FI" altLang="zh-CN" dirty="0" smtClean="0"/>
              <a:t>1</a:t>
            </a:r>
            <a:r>
              <a:rPr lang="en-US" altLang="zh-CN" dirty="0" smtClean="0"/>
              <a:t>1</a:t>
            </a:r>
            <a:r>
              <a:rPr lang="fi-FI" altLang="zh-CN" dirty="0" smtClean="0"/>
              <a:t>0</a:t>
            </a:r>
            <a:r>
              <a:rPr lang="en-US" altLang="zh-CN" dirty="0" smtClean="0"/>
              <a:t>1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考题类型（简答</a:t>
            </a:r>
            <a:r>
              <a:rPr lang="en-US" altLang="zh-CN" dirty="0"/>
              <a:t>/</a:t>
            </a:r>
            <a:r>
              <a:rPr lang="zh-CN" altLang="en-US" dirty="0"/>
              <a:t>计算题）</a:t>
            </a:r>
          </a:p>
          <a:p>
            <a:pPr lvl="1"/>
            <a:r>
              <a:rPr lang="zh-CN" altLang="en-US" dirty="0"/>
              <a:t>数据准备与数据</a:t>
            </a:r>
            <a:r>
              <a:rPr lang="zh-CN" altLang="en-US" dirty="0" smtClean="0"/>
              <a:t>分析</a:t>
            </a:r>
            <a:endParaRPr lang="zh-CN" altLang="en-US" dirty="0"/>
          </a:p>
          <a:p>
            <a:pPr lvl="1"/>
            <a:r>
              <a:rPr lang="zh-CN" altLang="en-US" dirty="0"/>
              <a:t>机器学习 </a:t>
            </a:r>
          </a:p>
          <a:p>
            <a:pPr lvl="1"/>
            <a:r>
              <a:rPr lang="zh-CN" altLang="en-US" dirty="0"/>
              <a:t>文本数据</a:t>
            </a:r>
            <a:r>
              <a:rPr lang="zh-CN" altLang="en-US" dirty="0" smtClean="0"/>
              <a:t>分析</a:t>
            </a:r>
            <a:endParaRPr lang="zh-CN" altLang="en-US" dirty="0"/>
          </a:p>
          <a:p>
            <a:pPr lvl="1"/>
            <a:r>
              <a:rPr lang="zh-CN" altLang="en-US" dirty="0"/>
              <a:t>图数据</a:t>
            </a:r>
            <a:r>
              <a:rPr lang="zh-CN" altLang="en-US" dirty="0" smtClean="0"/>
              <a:t>分析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46663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课程主要内容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数据准备与数据分析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数据科学基本概念与流程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数据预处理：数据缺失值处理、异常</a:t>
            </a:r>
            <a:r>
              <a:rPr lang="zh-CN" altLang="en-US" dirty="0"/>
              <a:t>值</a:t>
            </a:r>
            <a:r>
              <a:rPr lang="zh-CN" altLang="en-US" dirty="0" smtClean="0"/>
              <a:t>检测、数据规范化</a:t>
            </a:r>
            <a:endParaRPr lang="en-US" altLang="zh-CN" dirty="0" smtClean="0"/>
          </a:p>
          <a:p>
            <a:r>
              <a:rPr lang="zh-CN" altLang="en-US" b="1" dirty="0" smtClean="0"/>
              <a:t>机器学习</a:t>
            </a:r>
            <a:endParaRPr lang="en-US" altLang="zh-CN" b="1" dirty="0" smtClean="0"/>
          </a:p>
          <a:p>
            <a:r>
              <a:rPr lang="zh-CN" altLang="en-US" b="1" dirty="0" smtClean="0"/>
              <a:t>文本数据分析</a:t>
            </a:r>
            <a:endParaRPr lang="en-US" altLang="zh-CN" b="1" dirty="0" smtClean="0"/>
          </a:p>
          <a:p>
            <a:r>
              <a:rPr lang="zh-CN" altLang="en-US" b="1" dirty="0" smtClean="0"/>
              <a:t>图数据分析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17744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课程主要内容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dirty="0"/>
              <a:t>机器</a:t>
            </a:r>
            <a:r>
              <a:rPr lang="zh-CN" altLang="en-US" b="1" dirty="0" smtClean="0"/>
              <a:t>学习</a:t>
            </a:r>
            <a:endParaRPr lang="en-US" altLang="zh-CN" b="1" dirty="0" smtClean="0"/>
          </a:p>
          <a:p>
            <a:pPr lvl="1"/>
            <a:r>
              <a:rPr lang="zh-CN" altLang="en-US" dirty="0"/>
              <a:t>基础、一些基本</a:t>
            </a:r>
            <a:r>
              <a:rPr lang="zh-CN" altLang="en-US" dirty="0" smtClean="0"/>
              <a:t>概念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评价</a:t>
            </a:r>
            <a:r>
              <a:rPr lang="zh-CN" altLang="en-US" dirty="0"/>
              <a:t>：</a:t>
            </a:r>
            <a:r>
              <a:rPr lang="zh-CN" altLang="en-US" dirty="0" smtClean="0"/>
              <a:t>准确率、召回率、</a:t>
            </a:r>
            <a:r>
              <a:rPr lang="en-US" altLang="zh-CN" dirty="0" smtClean="0"/>
              <a:t>F</a:t>
            </a:r>
            <a:r>
              <a:rPr lang="zh-CN" altLang="en-US" dirty="0" smtClean="0"/>
              <a:t>值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线性回归（包含设计矩阵、解析解、梯度下降等）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决策树分类器（包含信息熵、条件熵、信息增益、决策树构建等）</a:t>
            </a:r>
            <a:endParaRPr lang="en-US" altLang="zh-CN" dirty="0"/>
          </a:p>
          <a:p>
            <a:pPr lvl="1"/>
            <a:r>
              <a:rPr lang="zh-CN" altLang="en-US" dirty="0" smtClean="0"/>
              <a:t>线性分类器（感知机、逻辑回归等）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聚类</a:t>
            </a:r>
            <a:r>
              <a:rPr lang="en-US" altLang="zh-CN" dirty="0" smtClean="0"/>
              <a:t>K-Means</a:t>
            </a:r>
          </a:p>
          <a:p>
            <a:pPr lvl="1"/>
            <a:r>
              <a:rPr lang="en-US" altLang="zh-CN" dirty="0" smtClean="0"/>
              <a:t>GMM/EM</a:t>
            </a:r>
            <a:r>
              <a:rPr lang="zh-CN" altLang="en-US" dirty="0" smtClean="0"/>
              <a:t>算法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4540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课程主要内容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dirty="0"/>
              <a:t>文本数据分析</a:t>
            </a:r>
            <a:endParaRPr lang="en-US" altLang="zh-CN" b="1" dirty="0"/>
          </a:p>
          <a:p>
            <a:pPr lvl="1"/>
            <a:r>
              <a:rPr lang="zh-CN" altLang="en-US" dirty="0" smtClean="0"/>
              <a:t>文本的预处理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文本的独热表示</a:t>
            </a:r>
            <a:endParaRPr lang="en-US" dirty="0" smtClean="0"/>
          </a:p>
          <a:p>
            <a:pPr lvl="1"/>
            <a:r>
              <a:rPr lang="en-US" dirty="0" smtClean="0"/>
              <a:t>文本</a:t>
            </a:r>
            <a:r>
              <a:rPr lang="zh-CN" altLang="en-US" dirty="0" smtClean="0"/>
              <a:t>的稠密表示</a:t>
            </a:r>
            <a:endParaRPr lang="en-US" dirty="0" smtClean="0"/>
          </a:p>
          <a:p>
            <a:pPr lvl="1"/>
            <a:r>
              <a:rPr lang="en-US" dirty="0" smtClean="0"/>
              <a:t>文本分类</a:t>
            </a:r>
          </a:p>
        </p:txBody>
      </p:sp>
    </p:spTree>
    <p:extLst>
      <p:ext uri="{BB962C8B-B14F-4D97-AF65-F5344CB8AC3E}">
        <p14:creationId xmlns:p14="http://schemas.microsoft.com/office/powerpoint/2010/main" val="2191831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课程主要内容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dirty="0" smtClean="0"/>
              <a:t>图数据</a:t>
            </a:r>
            <a:r>
              <a:rPr lang="zh-CN" altLang="en-US" b="1" dirty="0"/>
              <a:t>分析</a:t>
            </a:r>
            <a:endParaRPr lang="en-US" altLang="zh-CN" b="1" dirty="0"/>
          </a:p>
          <a:p>
            <a:pPr lvl="1"/>
            <a:r>
              <a:rPr lang="en-US" dirty="0" smtClean="0"/>
              <a:t>基础知识</a:t>
            </a:r>
          </a:p>
          <a:p>
            <a:pPr lvl="1"/>
            <a:r>
              <a:rPr lang="en-US" altLang="zh-CN" dirty="0" smtClean="0"/>
              <a:t>C</a:t>
            </a:r>
            <a:r>
              <a:rPr lang="en-US" dirty="0" smtClean="0"/>
              <a:t>entrality </a:t>
            </a:r>
            <a:r>
              <a:rPr lang="zh-CN" altLang="en-US" dirty="0" smtClean="0"/>
              <a:t>（</a:t>
            </a:r>
            <a:r>
              <a:rPr lang="en-US" dirty="0" err="1" smtClean="0"/>
              <a:t>degree、closeness、betweenness中心度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pPr lvl="1"/>
            <a:r>
              <a:rPr lang="en-US" altLang="zh-CN" dirty="0" err="1" smtClean="0"/>
              <a:t>P</a:t>
            </a:r>
            <a:r>
              <a:rPr lang="en-US" dirty="0" err="1" smtClean="0"/>
              <a:t>age</a:t>
            </a:r>
            <a:r>
              <a:rPr lang="en-US" altLang="zh-CN" dirty="0" err="1" smtClean="0"/>
              <a:t>R</a:t>
            </a:r>
            <a:r>
              <a:rPr lang="en-US" dirty="0" err="1" smtClean="0"/>
              <a:t>ank的计算</a:t>
            </a:r>
            <a:endParaRPr lang="en-US" dirty="0" smtClean="0"/>
          </a:p>
          <a:p>
            <a:pPr lvl="1"/>
            <a:r>
              <a:rPr lang="zh-CN" altLang="en-US" dirty="0" smtClean="0"/>
              <a:t>社区检测（</a:t>
            </a:r>
            <a:r>
              <a:rPr lang="en-US" dirty="0" smtClean="0"/>
              <a:t>模块度</a:t>
            </a:r>
            <a:r>
              <a:rPr lang="zh-CN" altLang="en-US" dirty="0" smtClean="0"/>
              <a:t>计算，</a:t>
            </a:r>
            <a:r>
              <a:rPr lang="en-US" dirty="0"/>
              <a:t> </a:t>
            </a:r>
            <a:r>
              <a:rPr lang="en-US" dirty="0" err="1" smtClean="0"/>
              <a:t>louvain</a:t>
            </a:r>
            <a:r>
              <a:rPr lang="zh-CN" altLang="en-US" dirty="0" smtClean="0"/>
              <a:t>算法）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影响力（传播模型、</a:t>
            </a:r>
            <a:r>
              <a:rPr lang="en-US" altLang="zh-CN" dirty="0" smtClean="0"/>
              <a:t>Degree</a:t>
            </a:r>
            <a:r>
              <a:rPr lang="zh-CN" altLang="en-US" dirty="0" smtClean="0"/>
              <a:t> </a:t>
            </a:r>
            <a:r>
              <a:rPr lang="en-US" altLang="zh-CN" dirty="0" smtClean="0"/>
              <a:t>Discount</a:t>
            </a:r>
            <a:r>
              <a:rPr lang="zh-CN" altLang="en-US" dirty="0" smtClean="0"/>
              <a:t>算法）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260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数据值的类型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CN" dirty="0"/>
              <a:t>Nominal</a:t>
            </a:r>
            <a:r>
              <a:rPr kumimoji="1" lang="zh-CN" altLang="en-US" dirty="0"/>
              <a:t> 标记值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ID</a:t>
            </a:r>
            <a:r>
              <a:rPr kumimoji="1" lang="zh-CN" altLang="en-US" dirty="0"/>
              <a:t>、姓名、电话等，和数据项个数相当</a:t>
            </a:r>
            <a:endParaRPr kumimoji="1" lang="en-US" altLang="zh-CN" dirty="0"/>
          </a:p>
          <a:p>
            <a:r>
              <a:rPr kumimoji="1" lang="en-US" altLang="zh-CN" dirty="0"/>
              <a:t>Categorical</a:t>
            </a:r>
            <a:r>
              <a:rPr kumimoji="1" lang="zh-CN" altLang="en-US" dirty="0"/>
              <a:t> 离散值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邮编、性别、型号等</a:t>
            </a:r>
            <a:endParaRPr kumimoji="1" lang="en-US" altLang="zh-CN" dirty="0"/>
          </a:p>
          <a:p>
            <a:r>
              <a:rPr kumimoji="1" lang="en-US" altLang="zh-CN" dirty="0"/>
              <a:t>Ordinal</a:t>
            </a:r>
            <a:r>
              <a:rPr kumimoji="1" lang="zh-CN" altLang="en-US" dirty="0"/>
              <a:t> 排序型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分数分级</a:t>
            </a:r>
            <a:r>
              <a:rPr kumimoji="1" lang="en-US" altLang="zh-CN" dirty="0"/>
              <a:t>A</a:t>
            </a:r>
            <a:r>
              <a:rPr kumimoji="1" lang="zh-CN" altLang="en-US" dirty="0"/>
              <a:t>、</a:t>
            </a:r>
            <a:r>
              <a:rPr kumimoji="1" lang="en-US" altLang="zh-CN" dirty="0"/>
              <a:t>B</a:t>
            </a:r>
            <a:r>
              <a:rPr kumimoji="1" lang="zh-CN" altLang="en-US" dirty="0"/>
              <a:t>、</a:t>
            </a:r>
            <a:r>
              <a:rPr kumimoji="1" lang="en-US" altLang="zh-CN" dirty="0"/>
              <a:t>C</a:t>
            </a:r>
            <a:r>
              <a:rPr kumimoji="1" lang="zh-CN" altLang="en-US" dirty="0"/>
              <a:t>等</a:t>
            </a:r>
            <a:endParaRPr kumimoji="1" lang="en-US" altLang="zh-CN" dirty="0"/>
          </a:p>
          <a:p>
            <a:r>
              <a:rPr kumimoji="1" lang="en-US" altLang="zh-CN" dirty="0"/>
              <a:t>Numerical</a:t>
            </a:r>
            <a:r>
              <a:rPr kumimoji="1" lang="zh-CN" altLang="en-US" dirty="0"/>
              <a:t> 数值型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度量值，薪水、高度等</a:t>
            </a:r>
            <a:endParaRPr kumimoji="1" lang="en-US" altLang="zh-CN" dirty="0"/>
          </a:p>
          <a:p>
            <a:r>
              <a:rPr kumimoji="1" lang="en-US" altLang="zh-CN" dirty="0"/>
              <a:t>Interval</a:t>
            </a:r>
            <a:r>
              <a:rPr kumimoji="1" lang="zh-CN" altLang="en-US" dirty="0"/>
              <a:t> 区间型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数据值范围</a:t>
            </a:r>
            <a:endParaRPr kumimoji="1" lang="en-US" altLang="zh-CN" dirty="0"/>
          </a:p>
          <a:p>
            <a:r>
              <a:rPr kumimoji="1" lang="en-US" altLang="zh-CN" dirty="0"/>
              <a:t>Ratio</a:t>
            </a:r>
            <a:r>
              <a:rPr kumimoji="1" lang="zh-CN" altLang="en-US" dirty="0"/>
              <a:t> 比例</a:t>
            </a:r>
          </a:p>
        </p:txBody>
      </p:sp>
      <p:sp>
        <p:nvSpPr>
          <p:cNvPr id="4" name="右大括号 3"/>
          <p:cNvSpPr/>
          <p:nvPr/>
        </p:nvSpPr>
        <p:spPr>
          <a:xfrm>
            <a:off x="5436158" y="944544"/>
            <a:ext cx="317024" cy="1874227"/>
          </a:xfrm>
          <a:prstGeom prst="rightBrace">
            <a:avLst>
              <a:gd name="adj1" fmla="val 40146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右大括号 4"/>
          <p:cNvSpPr/>
          <p:nvPr/>
        </p:nvSpPr>
        <p:spPr>
          <a:xfrm>
            <a:off x="5421586" y="2933595"/>
            <a:ext cx="317024" cy="1728839"/>
          </a:xfrm>
          <a:prstGeom prst="rightBrace">
            <a:avLst>
              <a:gd name="adj1" fmla="val 33783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5848141" y="1696991"/>
            <a:ext cx="7938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/>
              <a:t>定性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5848140" y="3613348"/>
            <a:ext cx="7938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定量</a:t>
            </a:r>
          </a:p>
        </p:txBody>
      </p:sp>
      <p:cxnSp>
        <p:nvCxnSpPr>
          <p:cNvPr id="9" name="直线箭头连接符 8"/>
          <p:cNvCxnSpPr/>
          <p:nvPr/>
        </p:nvCxnSpPr>
        <p:spPr>
          <a:xfrm flipH="1">
            <a:off x="7546312" y="1306286"/>
            <a:ext cx="10048" cy="28336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7556360" y="2303688"/>
            <a:ext cx="461665" cy="1595073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kumimoji="1" lang="zh-CN" altLang="en-US" dirty="0"/>
              <a:t>信息量增加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6634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数据缺失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有数据的地方，通常也就有缺失的数据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我们没有上帝视角</a:t>
            </a:r>
            <a:endParaRPr kumimoji="1" lang="en-US" altLang="zh-CN" dirty="0"/>
          </a:p>
          <a:p>
            <a:r>
              <a:rPr kumimoji="1" lang="zh-CN" altLang="en-US" dirty="0"/>
              <a:t>数据科学，必须面对数据缺失的问题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仪器故障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因为与以它记录冲突被删除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人为因数没有输入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当初录入数据时数据项没有被重视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数据变化没有被记录</a:t>
            </a:r>
            <a:endParaRPr kumimoji="1" lang="en-US" altLang="zh-CN" dirty="0"/>
          </a:p>
          <a:p>
            <a:r>
              <a:rPr kumimoji="1" lang="zh-CN" altLang="en-US" dirty="0"/>
              <a:t>缺失数据对分析建模有很大影响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忽略还是弥补，这是个问题</a:t>
            </a:r>
            <a:endParaRPr kumimoji="1" lang="en-US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4319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缺失值处理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忽略记录：保留全的记录</a:t>
            </a:r>
            <a:endParaRPr kumimoji="1" lang="en-US" altLang="zh-CN" dirty="0"/>
          </a:p>
          <a:p>
            <a:r>
              <a:rPr kumimoji="1" lang="zh-CN" altLang="en-US" dirty="0"/>
              <a:t>忽略属性：保留全的属性</a:t>
            </a:r>
            <a:endParaRPr kumimoji="1" lang="en-US" altLang="zh-CN" dirty="0"/>
          </a:p>
          <a:p>
            <a:r>
              <a:rPr kumimoji="1" lang="zh-CN" altLang="en-US" dirty="0"/>
              <a:t>手动填充：可行吗？</a:t>
            </a:r>
            <a:endParaRPr kumimoji="1" lang="en-US" altLang="zh-CN" dirty="0"/>
          </a:p>
          <a:p>
            <a:r>
              <a:rPr kumimoji="1" lang="zh-CN" altLang="en-US" dirty="0"/>
              <a:t>用一个全局值代替，例如</a:t>
            </a:r>
            <a:r>
              <a:rPr kumimoji="1" lang="en-US" altLang="zh-CN" dirty="0"/>
              <a:t>-1</a:t>
            </a:r>
            <a:r>
              <a:rPr kumimoji="1" lang="zh-CN" altLang="en-US" dirty="0"/>
              <a:t>， </a:t>
            </a:r>
            <a:r>
              <a:rPr kumimoji="1" lang="en-US" altLang="zh-CN" dirty="0"/>
              <a:t>unknown</a:t>
            </a:r>
          </a:p>
          <a:p>
            <a:r>
              <a:rPr kumimoji="1" lang="zh-CN" altLang="en-US" dirty="0"/>
              <a:t>使用对应属性的平均值</a:t>
            </a:r>
            <a:endParaRPr kumimoji="1" lang="en-US" altLang="zh-CN" dirty="0"/>
          </a:p>
          <a:p>
            <a:r>
              <a:rPr kumimoji="1" lang="zh-CN" altLang="en-US" dirty="0"/>
              <a:t>使用相同类标签样本对应属性上的平均值</a:t>
            </a:r>
            <a:endParaRPr kumimoji="1" lang="en-US" altLang="zh-CN" dirty="0"/>
          </a:p>
          <a:p>
            <a:r>
              <a:rPr kumimoji="1" lang="zh-CN" altLang="en-US" dirty="0"/>
              <a:t>用最大可能的值推理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如找最相似的点推理缺失值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使用贝叶斯或决策树推理</a:t>
            </a:r>
            <a:endParaRPr kumimoji="1" lang="en-US" altLang="zh-CN" dirty="0"/>
          </a:p>
          <a:p>
            <a:r>
              <a:rPr kumimoji="1" lang="zh-CN" altLang="en-US" dirty="0"/>
              <a:t>缺失值填充：猜的越多，离真实数据越远</a:t>
            </a:r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6150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数值间的转换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排序型转换成数值型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A</a:t>
            </a:r>
            <a:r>
              <a:rPr kumimoji="1" lang="zh-CN" altLang="en-US" dirty="0"/>
              <a:t> </a:t>
            </a:r>
            <a:r>
              <a:rPr kumimoji="1" lang="en-US" altLang="zh-CN" dirty="0"/>
              <a:t>-&gt;</a:t>
            </a:r>
            <a:r>
              <a:rPr kumimoji="1" lang="zh-CN" altLang="en-US" dirty="0"/>
              <a:t> </a:t>
            </a:r>
            <a:r>
              <a:rPr kumimoji="1" lang="en-US" altLang="zh-CN" dirty="0"/>
              <a:t>4.0</a:t>
            </a:r>
            <a:r>
              <a:rPr kumimoji="1" lang="zh-CN" altLang="en-US" dirty="0"/>
              <a:t>   </a:t>
            </a:r>
            <a:r>
              <a:rPr kumimoji="1" lang="en-US" altLang="zh-CN" dirty="0"/>
              <a:t>A-</a:t>
            </a:r>
            <a:r>
              <a:rPr kumimoji="1" lang="zh-CN" altLang="en-US" dirty="0"/>
              <a:t> </a:t>
            </a:r>
            <a:r>
              <a:rPr kumimoji="1" lang="en-US" altLang="zh-CN" dirty="0"/>
              <a:t>-&gt;3.7</a:t>
            </a:r>
          </a:p>
          <a:p>
            <a:pPr lvl="1"/>
            <a:r>
              <a:rPr kumimoji="1" lang="en-US" altLang="zh-CN" dirty="0"/>
              <a:t>B</a:t>
            </a:r>
            <a:r>
              <a:rPr kumimoji="1" lang="zh-CN" altLang="en-US" dirty="0"/>
              <a:t> </a:t>
            </a:r>
            <a:r>
              <a:rPr kumimoji="1" lang="en-US" altLang="zh-CN" dirty="0"/>
              <a:t>-&gt;</a:t>
            </a:r>
            <a:r>
              <a:rPr kumimoji="1" lang="zh-CN" altLang="en-US" dirty="0"/>
              <a:t> </a:t>
            </a:r>
            <a:r>
              <a:rPr kumimoji="1" lang="en-US" altLang="zh-CN" dirty="0"/>
              <a:t>3.3</a:t>
            </a:r>
            <a:r>
              <a:rPr kumimoji="1" lang="zh-CN" altLang="en-US" dirty="0"/>
              <a:t>   </a:t>
            </a:r>
            <a:r>
              <a:rPr kumimoji="1" lang="en-US" altLang="zh-CN" dirty="0"/>
              <a:t>B-</a:t>
            </a:r>
            <a:r>
              <a:rPr kumimoji="1" lang="zh-CN" altLang="en-US" dirty="0"/>
              <a:t> </a:t>
            </a:r>
            <a:r>
              <a:rPr kumimoji="1" lang="en-US" altLang="zh-CN" dirty="0"/>
              <a:t>-&gt;3.0</a:t>
            </a:r>
          </a:p>
          <a:p>
            <a:r>
              <a:rPr kumimoji="1" lang="zh-CN" altLang="en-US" dirty="0"/>
              <a:t>多值属性处理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颜色、国家、省</a:t>
            </a:r>
            <a:r>
              <a:rPr kumimoji="1" lang="en-US" altLang="zh-CN" dirty="0"/>
              <a:t>/</a:t>
            </a:r>
            <a:r>
              <a:rPr kumimoji="1" lang="zh-CN" altLang="en-US" dirty="0"/>
              <a:t>州等有限数值，可以用数值编号字典化处理数据</a:t>
            </a:r>
            <a:endParaRPr kumimoji="1" lang="en-US" altLang="zh-CN" dirty="0"/>
          </a:p>
          <a:p>
            <a:r>
              <a:rPr kumimoji="1" lang="en-US" altLang="zh-CN" dirty="0"/>
              <a:t>ID</a:t>
            </a:r>
            <a:r>
              <a:rPr kumimoji="1" lang="zh-CN" altLang="en-US" dirty="0"/>
              <a:t>属性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一般保持不变。过长且带冗余信息的属性值，可以做压缩，注意在不同数据集上压缩</a:t>
            </a:r>
            <a:r>
              <a:rPr kumimoji="1" lang="en-US" altLang="zh-CN" dirty="0"/>
              <a:t>ID</a:t>
            </a:r>
            <a:r>
              <a:rPr kumimoji="1" lang="zh-CN" altLang="en-US" dirty="0"/>
              <a:t>解释的一致性</a:t>
            </a:r>
            <a:endParaRPr kumimoji="1" lang="en-US" altLang="zh-CN" dirty="0"/>
          </a:p>
          <a:p>
            <a:r>
              <a:rPr kumimoji="1" lang="zh-CN" altLang="en-US" dirty="0"/>
              <a:t>属性值分组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省份按区域换分成</a:t>
            </a:r>
            <a:r>
              <a:rPr kumimoji="1" lang="en-US" altLang="zh-CN" dirty="0"/>
              <a:t>5-6</a:t>
            </a:r>
            <a:r>
              <a:rPr kumimoji="1" lang="zh-CN" altLang="en-US" dirty="0"/>
              <a:t>组</a:t>
            </a:r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8394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数据离散化处理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把连续型的数值数据分成区间型数据</a:t>
            </a:r>
            <a:r>
              <a:rPr kumimoji="1" lang="en-US" altLang="zh-CN" dirty="0"/>
              <a:t>Binning</a:t>
            </a:r>
          </a:p>
          <a:p>
            <a:pPr lvl="1"/>
            <a:r>
              <a:rPr kumimoji="1" lang="zh-CN" altLang="en-US" dirty="0"/>
              <a:t>如</a:t>
            </a:r>
            <a:r>
              <a:rPr kumimoji="1" lang="en-US" altLang="zh-CN" dirty="0"/>
              <a:t>4</a:t>
            </a:r>
            <a:r>
              <a:rPr kumimoji="1" lang="zh-CN" altLang="en-US" dirty="0"/>
              <a:t>分制到</a:t>
            </a:r>
            <a:r>
              <a:rPr kumimoji="1" lang="en-US" altLang="zh-CN" dirty="0"/>
              <a:t>A/B/C</a:t>
            </a:r>
            <a:r>
              <a:rPr kumimoji="1" lang="zh-CN" altLang="en-US" dirty="0"/>
              <a:t>转换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可以减少数据量、压缩数据</a:t>
            </a:r>
            <a:endParaRPr kumimoji="1" lang="en-US" altLang="zh-CN" dirty="0"/>
          </a:p>
          <a:p>
            <a:r>
              <a:rPr kumimoji="1" lang="zh-CN" altLang="en-US" dirty="0"/>
              <a:t>等宽度划分离散化</a:t>
            </a:r>
            <a:r>
              <a:rPr kumimoji="1" lang="en-US" altLang="zh-CN" dirty="0"/>
              <a:t>Equal-Width</a:t>
            </a:r>
            <a:r>
              <a:rPr kumimoji="1" lang="zh-CN" altLang="en-US" dirty="0"/>
              <a:t> </a:t>
            </a:r>
            <a:r>
              <a:rPr kumimoji="1" lang="en-US" altLang="zh-CN" dirty="0"/>
              <a:t>Binning</a:t>
            </a:r>
          </a:p>
          <a:p>
            <a:pPr lvl="1"/>
            <a:r>
              <a:rPr kumimoji="1" lang="zh-CN" altLang="en-US" dirty="0"/>
              <a:t>优点：简单、易懂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缺点：分成多少个桶？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受</a:t>
            </a:r>
            <a:r>
              <a:rPr kumimoji="1" lang="zh-CN" altLang="en-US"/>
              <a:t>噪音影响大</a:t>
            </a:r>
            <a:endParaRPr kumimoji="1"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5480091" y="951569"/>
            <a:ext cx="2092626" cy="505432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1204559" y="2468113"/>
            <a:ext cx="1809781" cy="3304499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89283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数据离散化处理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等高划分离散化 </a:t>
            </a:r>
            <a:r>
              <a:rPr kumimoji="1" lang="en-US" altLang="zh-CN" dirty="0"/>
              <a:t>Equal-Depth</a:t>
            </a:r>
            <a:r>
              <a:rPr kumimoji="1" lang="zh-CN" altLang="en-US" dirty="0"/>
              <a:t> </a:t>
            </a:r>
            <a:r>
              <a:rPr kumimoji="1" lang="en-US" altLang="zh-CN" dirty="0"/>
              <a:t>Binning</a:t>
            </a:r>
          </a:p>
          <a:p>
            <a:pPr lvl="1"/>
            <a:r>
              <a:rPr kumimoji="1" lang="zh-CN" altLang="en-US" dirty="0"/>
              <a:t>对比一下与</a:t>
            </a:r>
            <a:r>
              <a:rPr kumimoji="1" lang="en-US" altLang="zh-CN" dirty="0"/>
              <a:t>EW</a:t>
            </a:r>
            <a:r>
              <a:rPr kumimoji="1" lang="zh-CN" altLang="en-US" dirty="0"/>
              <a:t>的优缺点？</a:t>
            </a:r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请将下面数据用</a:t>
            </a:r>
            <a:r>
              <a:rPr kumimoji="1" lang="en-US" altLang="zh-CN" dirty="0"/>
              <a:t>EW</a:t>
            </a:r>
            <a:r>
              <a:rPr kumimoji="1" lang="zh-CN" altLang="en-US" dirty="0"/>
              <a:t>和</a:t>
            </a:r>
            <a:r>
              <a:rPr kumimoji="1" lang="en-US" altLang="zh-CN" dirty="0"/>
              <a:t>ED</a:t>
            </a:r>
            <a:r>
              <a:rPr kumimoji="1" lang="zh-CN" altLang="en-US" dirty="0"/>
              <a:t>离散化处理</a:t>
            </a:r>
            <a:endParaRPr kumimoji="1" lang="en-US" altLang="zh-CN" dirty="0"/>
          </a:p>
          <a:p>
            <a:pPr lvl="1"/>
            <a:r>
              <a:rPr lang="cs-CZ" altLang="zh-CN" dirty="0"/>
              <a:t>13,15,16,16,19,20,21,22,22,25,30,33,35,35,36,40,45 </a:t>
            </a:r>
          </a:p>
          <a:p>
            <a:endParaRPr kumimoji="1"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3602472" y="-458319"/>
            <a:ext cx="1496932" cy="5857561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5903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发现异常值（</a:t>
            </a:r>
            <a:r>
              <a:rPr kumimoji="1" lang="en-US" altLang="zh-CN" dirty="0"/>
              <a:t>outlier</a:t>
            </a:r>
            <a:r>
              <a:rPr kumimoji="1" lang="zh-CN" altLang="en-US" dirty="0"/>
              <a:t>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单变量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统计方法，</a:t>
            </a:r>
            <a:r>
              <a:rPr kumimoji="1" lang="en-US" altLang="zh-CN" dirty="0"/>
              <a:t>k=2</a:t>
            </a:r>
            <a:r>
              <a:rPr kumimoji="1" lang="zh-CN" altLang="en-US" dirty="0"/>
              <a:t> </a:t>
            </a:r>
            <a:r>
              <a:rPr kumimoji="1" lang="en-US" altLang="zh-CN" dirty="0"/>
              <a:t>or</a:t>
            </a:r>
            <a:r>
              <a:rPr kumimoji="1" lang="zh-CN" altLang="en-US" dirty="0"/>
              <a:t> </a:t>
            </a:r>
            <a:r>
              <a:rPr kumimoji="1" lang="en-US" altLang="zh-CN" dirty="0"/>
              <a:t>3</a:t>
            </a:r>
            <a:endParaRPr kumimoji="1"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821121" y="1212620"/>
            <a:ext cx="3006488" cy="3893147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5126770" y="1101181"/>
            <a:ext cx="3006490" cy="4116028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1129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发现异常值（</a:t>
            </a:r>
            <a:r>
              <a:rPr kumimoji="1" lang="en-US" altLang="zh-CN" dirty="0"/>
              <a:t>outlier</a:t>
            </a:r>
            <a:r>
              <a:rPr kumimoji="1" lang="zh-CN" altLang="en-US" dirty="0"/>
              <a:t>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单变量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超级异常值：</a:t>
            </a:r>
            <a:endParaRPr kumimoji="1" lang="en-US" altLang="zh-CN" dirty="0"/>
          </a:p>
          <a:p>
            <a:pPr lvl="1"/>
            <a:endParaRPr kumimoji="1" lang="en-US" altLang="zh-CN" dirty="0"/>
          </a:p>
          <a:p>
            <a:pPr lvl="1"/>
            <a:endParaRPr kumimoji="1" lang="en-US" altLang="zh-CN" dirty="0"/>
          </a:p>
          <a:p>
            <a:pPr lvl="1"/>
            <a:endParaRPr kumimoji="1" lang="en-US" altLang="zh-CN" dirty="0"/>
          </a:p>
          <a:p>
            <a:pPr lvl="1"/>
            <a:r>
              <a:rPr kumimoji="1" lang="zh-CN" altLang="en-US" dirty="0"/>
              <a:t>普通异常值</a:t>
            </a:r>
            <a:endParaRPr kumimoji="1" lang="en-US" altLang="zh-CN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3730796" y="2032292"/>
            <a:ext cx="2797819" cy="269021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2516308" y="-839129"/>
            <a:ext cx="307428" cy="51435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1914990" y="1360139"/>
            <a:ext cx="317500" cy="33274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6262372" y="2109059"/>
            <a:ext cx="3130426" cy="2070121"/>
          </a:xfrm>
          <a:prstGeom prst="rect">
            <a:avLst/>
          </a:prstGeom>
        </p:spPr>
      </p:pic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45258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发现异常值（</a:t>
            </a:r>
            <a:r>
              <a:rPr kumimoji="1" lang="en-US" altLang="zh-CN" dirty="0"/>
              <a:t>outlier</a:t>
            </a:r>
            <a:r>
              <a:rPr kumimoji="1" lang="zh-CN" altLang="en-US" dirty="0"/>
              <a:t>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单变量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统计方法：</a:t>
            </a:r>
            <a:r>
              <a:rPr kumimoji="1" lang="en-US" altLang="zh-CN" dirty="0"/>
              <a:t>k</a:t>
            </a:r>
            <a:r>
              <a:rPr kumimoji="1" lang="zh-CN" altLang="en-US" dirty="0"/>
              <a:t>倍标准差之外（</a:t>
            </a:r>
            <a:r>
              <a:rPr kumimoji="1" lang="en-US" altLang="zh-CN" dirty="0"/>
              <a:t>k</a:t>
            </a:r>
            <a:r>
              <a:rPr kumimoji="1" lang="zh-CN" altLang="en-US" dirty="0"/>
              <a:t> </a:t>
            </a:r>
            <a:r>
              <a:rPr kumimoji="1" lang="en-US" altLang="zh-CN" dirty="0"/>
              <a:t>=</a:t>
            </a:r>
            <a:r>
              <a:rPr kumimoji="1" lang="zh-CN" altLang="en-US" dirty="0"/>
              <a:t> </a:t>
            </a:r>
            <a:r>
              <a:rPr kumimoji="1" lang="en-US" altLang="zh-CN" dirty="0"/>
              <a:t>2,</a:t>
            </a:r>
            <a:r>
              <a:rPr kumimoji="1" lang="zh-CN" altLang="en-US" dirty="0"/>
              <a:t> </a:t>
            </a:r>
            <a:r>
              <a:rPr kumimoji="1" lang="en-US" altLang="zh-CN" dirty="0"/>
              <a:t>3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思考：这种方法存在什么问题？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考虑一组年龄数据</a:t>
            </a:r>
            <a:endParaRPr kumimoji="1" lang="en-US" altLang="zh-CN" dirty="0"/>
          </a:p>
          <a:p>
            <a:pPr lvl="1"/>
            <a:endParaRPr kumimoji="1" lang="en-US" altLang="zh-CN" dirty="0"/>
          </a:p>
          <a:p>
            <a:pPr lvl="1"/>
            <a:endParaRPr kumimoji="1" lang="en-US" altLang="zh-CN" dirty="0"/>
          </a:p>
          <a:p>
            <a:pPr lvl="1"/>
            <a:endParaRPr kumimoji="1" lang="en-US" altLang="zh-CN" dirty="0"/>
          </a:p>
          <a:p>
            <a:pPr lvl="1"/>
            <a:r>
              <a:rPr kumimoji="1" lang="zh-CN" altLang="en-US" dirty="0"/>
              <a:t>计算出：均值为</a:t>
            </a:r>
            <a:r>
              <a:rPr kumimoji="1" lang="en-US" altLang="zh-CN" dirty="0"/>
              <a:t>56</a:t>
            </a:r>
            <a:r>
              <a:rPr kumimoji="1" lang="zh-CN" altLang="en-US" dirty="0"/>
              <a:t>；标准差为</a:t>
            </a:r>
            <a:r>
              <a:rPr kumimoji="1" lang="en-US" altLang="zh-CN" dirty="0"/>
              <a:t>83</a:t>
            </a:r>
            <a:r>
              <a:rPr kumimoji="1" lang="zh-CN" altLang="en-US" dirty="0"/>
              <a:t> </a:t>
            </a:r>
            <a:r>
              <a:rPr kumimoji="1" lang="zh-CN" altLang="en-US" dirty="0">
                <a:sym typeface="Wingdings"/>
              </a:rPr>
              <a:t> 两倍标准差区间</a:t>
            </a:r>
            <a:r>
              <a:rPr kumimoji="1" lang="en-US" altLang="zh-CN" dirty="0">
                <a:sym typeface="Wingdings"/>
              </a:rPr>
              <a:t>[-109,</a:t>
            </a:r>
            <a:r>
              <a:rPr kumimoji="1" lang="zh-CN" altLang="en-US" dirty="0">
                <a:sym typeface="Wingdings"/>
              </a:rPr>
              <a:t> </a:t>
            </a:r>
            <a:r>
              <a:rPr kumimoji="1" lang="en-US" altLang="zh-CN" dirty="0">
                <a:sym typeface="Wingdings"/>
              </a:rPr>
              <a:t>221]</a:t>
            </a:r>
          </a:p>
          <a:p>
            <a:pPr lvl="1"/>
            <a:r>
              <a:rPr kumimoji="1" lang="zh-CN" altLang="en-US" dirty="0">
                <a:sym typeface="Wingdings"/>
              </a:rPr>
              <a:t>为什么会出现这种情况？</a:t>
            </a:r>
            <a:endParaRPr kumimoji="1" lang="en-US" altLang="zh-CN" dirty="0">
              <a:sym typeface="Wingdings"/>
            </a:endParaRPr>
          </a:p>
          <a:p>
            <a:pPr lvl="1"/>
            <a:r>
              <a:rPr kumimoji="1" lang="zh-CN" altLang="en-US" dirty="0">
                <a:sym typeface="Wingdings"/>
              </a:rPr>
              <a:t>均值</a:t>
            </a:r>
            <a:r>
              <a:rPr kumimoji="1" lang="en-US" altLang="zh-CN" dirty="0">
                <a:sym typeface="Wingdings"/>
              </a:rPr>
              <a:t>Mean</a:t>
            </a:r>
            <a:r>
              <a:rPr kumimoji="1" lang="zh-CN" altLang="en-US" dirty="0">
                <a:sym typeface="Wingdings"/>
              </a:rPr>
              <a:t>对异常值很敏感！</a:t>
            </a:r>
            <a:endParaRPr kumimoji="1" lang="en-US" altLang="zh-CN" dirty="0">
              <a:sym typeface="Wingdings"/>
            </a:endParaRPr>
          </a:p>
          <a:p>
            <a:pPr lvl="1"/>
            <a:r>
              <a:rPr kumimoji="1" lang="zh-CN" altLang="en-US" dirty="0">
                <a:sym typeface="Wingdings"/>
              </a:rPr>
              <a:t>怎么解决？中位数</a:t>
            </a:r>
            <a:r>
              <a:rPr kumimoji="1" lang="en-US" altLang="zh-CN" dirty="0">
                <a:sym typeface="Wingdings"/>
              </a:rPr>
              <a:t>Median</a:t>
            </a:r>
            <a:endParaRPr kumimoji="1" lang="en-US" altLang="zh-CN" dirty="0"/>
          </a:p>
          <a:p>
            <a:pPr lvl="1"/>
            <a:endParaRPr kumimoji="1" lang="en-US" altLang="zh-CN" dirty="0"/>
          </a:p>
          <a:p>
            <a:pPr lvl="1"/>
            <a:endParaRPr kumimoji="1" lang="en-US" altLang="zh-CN" dirty="0"/>
          </a:p>
          <a:p>
            <a:pPr lvl="1"/>
            <a:endParaRPr kumimoji="1" lang="en-US" altLang="zh-CN" dirty="0"/>
          </a:p>
          <a:p>
            <a:pPr lvl="1"/>
            <a:endParaRPr kumimoji="1" lang="en-US" altLang="zh-CN" dirty="0"/>
          </a:p>
          <a:p>
            <a:pPr lvl="1"/>
            <a:endParaRPr kumimoji="1" lang="en-US" altLang="zh-CN" dirty="0"/>
          </a:p>
          <a:p>
            <a:pPr lvl="1"/>
            <a:endParaRPr kumimoji="1" lang="en-US" altLang="zh-CN" dirty="0"/>
          </a:p>
          <a:p>
            <a:pPr lvl="1"/>
            <a:endParaRPr kumimoji="1" lang="en-US" altLang="zh-CN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1946" y="2362628"/>
            <a:ext cx="5753528" cy="598997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9205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数据归一化</a:t>
            </a:r>
            <a:r>
              <a:rPr kumimoji="1" lang="en-US" altLang="zh-CN" dirty="0"/>
              <a:t>(normalization)</a:t>
            </a:r>
            <a:r>
              <a:rPr kumimoji="1" lang="zh-CN" altLang="en-US" dirty="0"/>
              <a:t>处理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Min-max</a:t>
            </a:r>
            <a:r>
              <a:rPr kumimoji="1" lang="zh-CN" altLang="en-US" dirty="0"/>
              <a:t>归一化</a:t>
            </a:r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en-US" altLang="zh-CN" dirty="0"/>
              <a:t>Z-score</a:t>
            </a:r>
            <a:r>
              <a:rPr kumimoji="1" lang="zh-CN" altLang="en-US" dirty="0"/>
              <a:t>归一化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基于统计</a:t>
            </a:r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十位数归一化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j</a:t>
            </a:r>
            <a:r>
              <a:rPr kumimoji="1" lang="zh-CN" altLang="en-US" dirty="0"/>
              <a:t>取值刚好让最大的数小于等于</a:t>
            </a:r>
            <a:r>
              <a:rPr kumimoji="1" lang="en-US" altLang="zh-CN" dirty="0"/>
              <a:t>1</a:t>
            </a:r>
          </a:p>
          <a:p>
            <a:endParaRPr kumimoji="1"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3948004" y="-1014884"/>
            <a:ext cx="544606" cy="51435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3082541" y="2415582"/>
            <a:ext cx="647700" cy="9652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4847073" y="3724659"/>
            <a:ext cx="736600" cy="1003300"/>
          </a:xfrm>
          <a:prstGeom prst="rect">
            <a:avLst/>
          </a:prstGeom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828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2037306" y="-881118"/>
            <a:ext cx="5150402" cy="6912638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05451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数据建模的四个</a:t>
            </a:r>
            <a:r>
              <a:rPr lang="zh-CN" altLang="en-US" dirty="0"/>
              <a:t>步骤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dirty="0" smtClean="0"/>
              <a:t>选择</a:t>
            </a:r>
            <a:r>
              <a:rPr lang="zh-CN" altLang="en-US" b="1" dirty="0"/>
              <a:t>某种</a:t>
            </a:r>
            <a:r>
              <a:rPr lang="zh-CN" altLang="en-US" b="1" dirty="0" smtClean="0"/>
              <a:t>模型</a:t>
            </a:r>
            <a:r>
              <a:rPr lang="zh-CN" altLang="en-US" b="1" dirty="0"/>
              <a:t> </a:t>
            </a:r>
            <a:r>
              <a:rPr lang="en-US" altLang="zh-CN" dirty="0"/>
              <a:t>–</a:t>
            </a:r>
            <a:r>
              <a:rPr lang="zh-CN" altLang="en-US" b="1" dirty="0" smtClean="0"/>
              <a:t> </a:t>
            </a:r>
            <a:r>
              <a:rPr lang="en-US" altLang="zh-CN" b="1" dirty="0" smtClean="0"/>
              <a:t>Model</a:t>
            </a:r>
            <a:endParaRPr lang="en-US" altLang="zh-CN" b="1" dirty="0"/>
          </a:p>
          <a:p>
            <a:pPr lvl="1"/>
            <a:r>
              <a:rPr lang="zh-CN" altLang="en-US" dirty="0" smtClean="0"/>
              <a:t>回归模型 </a:t>
            </a:r>
            <a:r>
              <a:rPr lang="en-US" altLang="zh-CN" dirty="0"/>
              <a:t>–</a:t>
            </a:r>
            <a:r>
              <a:rPr lang="zh-CN" altLang="en-US" dirty="0"/>
              <a:t> </a:t>
            </a:r>
            <a:r>
              <a:rPr lang="en-US" altLang="zh-CN" dirty="0" smtClean="0"/>
              <a:t>Linear</a:t>
            </a:r>
            <a:r>
              <a:rPr lang="zh-CN" altLang="en-US" dirty="0" smtClean="0"/>
              <a:t> </a:t>
            </a:r>
            <a:r>
              <a:rPr lang="en-US" altLang="zh-CN" dirty="0" smtClean="0"/>
              <a:t>Regression</a:t>
            </a:r>
            <a:endParaRPr lang="en-US" altLang="zh-CN" dirty="0"/>
          </a:p>
          <a:p>
            <a:pPr lvl="1"/>
            <a:r>
              <a:rPr lang="zh-CN" altLang="en-US" dirty="0" smtClean="0"/>
              <a:t>分类模型 </a:t>
            </a:r>
            <a:r>
              <a:rPr lang="en-US" altLang="zh-CN" dirty="0"/>
              <a:t>–</a:t>
            </a:r>
            <a:r>
              <a:rPr lang="zh-CN" altLang="en-US" dirty="0"/>
              <a:t> </a:t>
            </a:r>
            <a:r>
              <a:rPr lang="en-US" altLang="zh-CN" dirty="0" smtClean="0"/>
              <a:t>Logistic</a:t>
            </a:r>
            <a:r>
              <a:rPr lang="zh-CN" altLang="en-US" dirty="0" smtClean="0"/>
              <a:t> </a:t>
            </a:r>
            <a:r>
              <a:rPr lang="en-US" altLang="zh-CN" dirty="0" smtClean="0"/>
              <a:t>Regression,</a:t>
            </a:r>
            <a:r>
              <a:rPr lang="zh-CN" altLang="en-US" dirty="0" smtClean="0"/>
              <a:t> </a:t>
            </a:r>
            <a:r>
              <a:rPr lang="en-US" altLang="zh-CN" dirty="0" smtClean="0"/>
              <a:t>Perceptron,</a:t>
            </a:r>
            <a:r>
              <a:rPr lang="zh-CN" altLang="en-US" dirty="0" smtClean="0"/>
              <a:t> </a:t>
            </a:r>
            <a:r>
              <a:rPr lang="en-US" altLang="zh-CN" dirty="0" smtClean="0"/>
              <a:t>SVM,</a:t>
            </a:r>
            <a:r>
              <a:rPr lang="zh-CN" altLang="en-US" dirty="0" smtClean="0"/>
              <a:t> </a:t>
            </a:r>
            <a:r>
              <a:rPr lang="en-US" altLang="zh-CN" dirty="0" smtClean="0"/>
              <a:t>Decision</a:t>
            </a:r>
            <a:r>
              <a:rPr lang="zh-CN" altLang="en-US" dirty="0" smtClean="0"/>
              <a:t> </a:t>
            </a:r>
            <a:r>
              <a:rPr lang="en-US" altLang="zh-CN" dirty="0" smtClean="0"/>
              <a:t>Tree</a:t>
            </a:r>
            <a:endParaRPr lang="en-US" altLang="zh-CN" dirty="0"/>
          </a:p>
          <a:p>
            <a:pPr lvl="1"/>
            <a:r>
              <a:rPr lang="zh-CN" altLang="en-US" dirty="0" smtClean="0"/>
              <a:t>聚类模型 </a:t>
            </a:r>
            <a:r>
              <a:rPr lang="en-US" altLang="zh-CN" dirty="0" smtClean="0"/>
              <a:t>–</a:t>
            </a:r>
            <a:r>
              <a:rPr lang="zh-CN" altLang="en-US" dirty="0" smtClean="0"/>
              <a:t> </a:t>
            </a:r>
            <a:r>
              <a:rPr lang="en-US" altLang="zh-CN" dirty="0" smtClean="0"/>
              <a:t>K-Means,</a:t>
            </a:r>
            <a:r>
              <a:rPr lang="zh-CN" altLang="en-US" dirty="0" smtClean="0"/>
              <a:t> </a:t>
            </a:r>
            <a:r>
              <a:rPr lang="en-US" altLang="zh-CN" dirty="0" smtClean="0"/>
              <a:t>GMM</a:t>
            </a:r>
            <a:endParaRPr lang="en-US" altLang="zh-CN" dirty="0"/>
          </a:p>
          <a:p>
            <a:r>
              <a:rPr lang="zh-CN" altLang="en-US" b="1" dirty="0" smtClean="0"/>
              <a:t>选择</a:t>
            </a:r>
            <a:r>
              <a:rPr lang="zh-CN" altLang="en-US" b="1" dirty="0"/>
              <a:t>目标</a:t>
            </a:r>
            <a:r>
              <a:rPr lang="zh-CN" altLang="en-US" b="1" dirty="0" smtClean="0"/>
              <a:t>函数 </a:t>
            </a:r>
            <a:r>
              <a:rPr lang="en-US" altLang="zh-CN" dirty="0"/>
              <a:t>–</a:t>
            </a:r>
            <a:r>
              <a:rPr lang="zh-CN" altLang="en-US" b="1" dirty="0" smtClean="0"/>
              <a:t> </a:t>
            </a:r>
            <a:r>
              <a:rPr lang="en-US" altLang="zh-CN" b="1" dirty="0" smtClean="0"/>
              <a:t>Objective</a:t>
            </a:r>
            <a:endParaRPr lang="en-US" altLang="zh-CN" b="1" dirty="0"/>
          </a:p>
          <a:p>
            <a:pPr lvl="1"/>
            <a:r>
              <a:rPr lang="zh-CN" altLang="en-US" dirty="0" smtClean="0"/>
              <a:t>经验分享最小 </a:t>
            </a:r>
            <a:r>
              <a:rPr lang="en-US" altLang="zh-CN" dirty="0"/>
              <a:t>–</a:t>
            </a:r>
            <a:r>
              <a:rPr lang="zh-CN" altLang="en-US" dirty="0" smtClean="0"/>
              <a:t> </a:t>
            </a:r>
            <a:r>
              <a:rPr lang="en-US" altLang="zh-CN" dirty="0" smtClean="0"/>
              <a:t>Empirical</a:t>
            </a:r>
            <a:r>
              <a:rPr lang="zh-CN" altLang="en-US" dirty="0" smtClean="0"/>
              <a:t> </a:t>
            </a:r>
            <a:r>
              <a:rPr lang="en-US" altLang="zh-CN" dirty="0" smtClean="0"/>
              <a:t>Risk</a:t>
            </a:r>
            <a:r>
              <a:rPr lang="zh-CN" altLang="en-US" dirty="0" smtClean="0"/>
              <a:t> </a:t>
            </a:r>
            <a:r>
              <a:rPr lang="en-US" altLang="zh-CN" dirty="0" smtClean="0"/>
              <a:t>Minimization</a:t>
            </a:r>
            <a:endParaRPr lang="en-US" altLang="zh-CN" dirty="0"/>
          </a:p>
          <a:p>
            <a:pPr lvl="1"/>
            <a:r>
              <a:rPr lang="zh-CN" altLang="en-US" dirty="0" smtClean="0"/>
              <a:t>极大似然估计 </a:t>
            </a:r>
            <a:r>
              <a:rPr lang="en-US" altLang="zh-CN" dirty="0" smtClean="0"/>
              <a:t>–</a:t>
            </a:r>
            <a:r>
              <a:rPr lang="zh-CN" altLang="en-US" dirty="0" smtClean="0"/>
              <a:t> </a:t>
            </a:r>
            <a:r>
              <a:rPr lang="en-US" altLang="zh-CN" dirty="0" smtClean="0"/>
              <a:t>Maximum Likelihood Estimation</a:t>
            </a:r>
            <a:endParaRPr lang="en-US" altLang="zh-CN" dirty="0"/>
          </a:p>
          <a:p>
            <a:r>
              <a:rPr lang="zh-CN" altLang="en-US" b="1" dirty="0" smtClean="0"/>
              <a:t>优化</a:t>
            </a:r>
            <a:r>
              <a:rPr lang="zh-CN" altLang="en-US" b="1" dirty="0"/>
              <a:t>目标</a:t>
            </a:r>
            <a:r>
              <a:rPr lang="zh-CN" altLang="en-US" b="1" dirty="0" smtClean="0"/>
              <a:t>函数 </a:t>
            </a:r>
            <a:r>
              <a:rPr lang="en-US" altLang="zh-CN" dirty="0"/>
              <a:t>–</a:t>
            </a:r>
            <a:r>
              <a:rPr lang="zh-CN" altLang="en-US" b="1" dirty="0" smtClean="0"/>
              <a:t> </a:t>
            </a:r>
            <a:r>
              <a:rPr lang="en-US" altLang="zh-CN" b="1" dirty="0" smtClean="0"/>
              <a:t>Optimization</a:t>
            </a:r>
            <a:endParaRPr lang="en-US" altLang="zh-CN" b="1" dirty="0"/>
          </a:p>
          <a:p>
            <a:pPr lvl="1"/>
            <a:r>
              <a:rPr lang="zh-CN" altLang="en-US" dirty="0"/>
              <a:t>最小化</a:t>
            </a:r>
            <a:r>
              <a:rPr lang="en-US" altLang="zh-CN" dirty="0"/>
              <a:t>/</a:t>
            </a:r>
            <a:r>
              <a:rPr lang="zh-CN" altLang="en-US" dirty="0"/>
              <a:t>最大化目标</a:t>
            </a:r>
            <a:r>
              <a:rPr lang="zh-CN" altLang="en-US" dirty="0" smtClean="0"/>
              <a:t>函数</a:t>
            </a:r>
            <a:endParaRPr lang="en-US" altLang="zh-CN" dirty="0" smtClean="0"/>
          </a:p>
          <a:p>
            <a:r>
              <a:rPr lang="zh-CN" altLang="en-US" b="1" dirty="0" smtClean="0"/>
              <a:t>评测模型效果 </a:t>
            </a:r>
            <a:r>
              <a:rPr lang="en-US" altLang="zh-CN" b="1" dirty="0" smtClean="0"/>
              <a:t>–</a:t>
            </a:r>
            <a:r>
              <a:rPr lang="zh-CN" altLang="en-US" b="1" dirty="0" smtClean="0"/>
              <a:t> </a:t>
            </a:r>
            <a:r>
              <a:rPr lang="en-US" altLang="zh-CN" b="1" dirty="0" smtClean="0"/>
              <a:t>Evaluation</a:t>
            </a:r>
          </a:p>
          <a:p>
            <a:pPr lvl="1"/>
            <a:r>
              <a:rPr lang="zh-CN" altLang="en-US" dirty="0" smtClean="0"/>
              <a:t>评测指标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0766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线性回归模型 </a:t>
            </a:r>
            <a:r>
              <a:rPr lang="en-US" altLang="zh-CN" dirty="0"/>
              <a:t>–</a:t>
            </a:r>
            <a:r>
              <a:rPr lang="zh-CN" altLang="en-US" dirty="0"/>
              <a:t> </a:t>
            </a:r>
            <a:r>
              <a:rPr lang="en-US" altLang="zh-CN" dirty="0"/>
              <a:t>Linear</a:t>
            </a:r>
            <a:r>
              <a:rPr lang="zh-CN" altLang="en-US" dirty="0"/>
              <a:t> </a:t>
            </a:r>
            <a:r>
              <a:rPr lang="en-US" altLang="zh-CN" dirty="0"/>
              <a:t>Regression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 smtClean="0"/>
                  <a:t>多元线性回归（</a:t>
                </a:r>
                <a:r>
                  <a:rPr lang="en-US" altLang="zh-CN" dirty="0">
                    <a:latin typeface="Calibri" charset="0"/>
                    <a:ea typeface="Calibri" charset="0"/>
                    <a:cs typeface="Calibri" charset="0"/>
                  </a:rPr>
                  <a:t>Multiple</a:t>
                </a:r>
                <a:r>
                  <a:rPr lang="zh-CN" altLang="en-US" dirty="0">
                    <a:latin typeface="Calibri" charset="0"/>
                    <a:ea typeface="Calibri" charset="0"/>
                    <a:cs typeface="Calibri" charset="0"/>
                  </a:rPr>
                  <a:t> </a:t>
                </a:r>
                <a:r>
                  <a:rPr lang="en-US" altLang="zh-CN" dirty="0">
                    <a:latin typeface="Calibri" charset="0"/>
                    <a:ea typeface="Calibri" charset="0"/>
                    <a:cs typeface="Calibri" charset="0"/>
                  </a:rPr>
                  <a:t>Linear</a:t>
                </a:r>
                <a:r>
                  <a:rPr lang="zh-CN" altLang="en-US" dirty="0">
                    <a:latin typeface="Calibri" charset="0"/>
                    <a:ea typeface="Calibri" charset="0"/>
                    <a:cs typeface="Calibri" charset="0"/>
                  </a:rPr>
                  <a:t> </a:t>
                </a:r>
                <a:r>
                  <a:rPr lang="en-US" altLang="zh-CN" dirty="0">
                    <a:latin typeface="Calibri" charset="0"/>
                    <a:ea typeface="Calibri" charset="0"/>
                    <a:cs typeface="Calibri" charset="0"/>
                  </a:rPr>
                  <a:t>Regression,</a:t>
                </a:r>
                <a:r>
                  <a:rPr lang="zh-CN" altLang="en-US" dirty="0">
                    <a:latin typeface="Calibri" charset="0"/>
                    <a:ea typeface="Calibri" charset="0"/>
                    <a:cs typeface="Calibri" charset="0"/>
                  </a:rPr>
                  <a:t> </a:t>
                </a:r>
                <a:r>
                  <a:rPr lang="en-US" altLang="zh-CN" dirty="0">
                    <a:latin typeface="Calibri" charset="0"/>
                    <a:ea typeface="Calibri" charset="0"/>
                    <a:cs typeface="Calibri" charset="0"/>
                  </a:rPr>
                  <a:t>MLR</a:t>
                </a:r>
                <a:r>
                  <a:rPr lang="zh-CN" altLang="en-US" dirty="0"/>
                  <a:t>）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在简单（一元）线性回归</a:t>
                </a:r>
                <a:r>
                  <a:rPr lang="en-US" altLang="zh-CN" dirty="0"/>
                  <a:t>SLR</a:t>
                </a:r>
                <a:r>
                  <a:rPr lang="zh-CN" altLang="en-US" dirty="0"/>
                  <a:t>模型基础上添加更多的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独立</a:t>
                </a:r>
                <a:r>
                  <a:rPr lang="zh-CN" altLang="en-US" dirty="0"/>
                  <a:t>变量</a:t>
                </a:r>
                <a:endParaRPr lang="en-US" altLang="zh-CN" dirty="0"/>
              </a:p>
              <a:p>
                <a:r>
                  <a:rPr lang="zh-CN" altLang="en-US" dirty="0"/>
                  <a:t>针对每个数据点，添加一个常数特征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charset="0"/>
                          </a:rPr>
                          <m:t>0</m:t>
                        </m:r>
                      </m:sub>
                    </m:sSub>
                    <m:r>
                      <a:rPr lang="en-US" altLang="zh-CN" b="0" i="1" smtClean="0">
                        <a:latin typeface="Cambria Math" charset="0"/>
                      </a:rPr>
                      <m:t>=1</m:t>
                    </m:r>
                  </m:oMath>
                </a14:m>
                <a:r>
                  <a:rPr lang="zh-CN" altLang="en-US" dirty="0"/>
                  <a:t>，得到</a:t>
                </a: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1800" i="1" smtClean="0">
                              <a:latin typeface="Cambria Math" charset="0"/>
                            </a:rPr>
                          </m:ctrlPr>
                        </m:accPr>
                        <m:e>
                          <m:r>
                            <a:rPr lang="en-US" altLang="zh-CN" sz="1800" b="0" i="1" smtClean="0">
                              <a:latin typeface="Cambria Math" charset="0"/>
                            </a:rPr>
                            <m:t>𝑦</m:t>
                          </m:r>
                        </m:e>
                      </m:acc>
                      <m:r>
                        <a:rPr lang="en-US" altLang="zh-CN" sz="1800" b="0" i="1" smtClean="0">
                          <a:latin typeface="Cambria Math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1800" i="1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sz="1800" i="1">
                              <a:latin typeface="Cambria Math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sz="1800" i="1">
                              <a:latin typeface="Cambria Math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en-US" altLang="zh-CN" sz="1800" i="1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en-US" altLang="zh-CN" sz="1800" i="1">
                              <a:latin typeface="Cambria Math" charset="0"/>
                            </a:rPr>
                            <m:t>𝑥</m:t>
                          </m:r>
                        </m:e>
                      </m:d>
                      <m:r>
                        <a:rPr lang="en-US" altLang="zh-CN" sz="1800" i="1">
                          <a:latin typeface="Cambria Math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1800" i="1">
                              <a:latin typeface="Cambria Math" charset="0"/>
                            </a:rPr>
                          </m:ctrlPr>
                        </m:sSupPr>
                        <m:e>
                          <m:r>
                            <a:rPr lang="en-US" altLang="zh-CN" sz="1800" i="1">
                              <a:latin typeface="Cambria Math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CN" sz="1800" i="1">
                              <a:latin typeface="Cambria Math" charset="0"/>
                            </a:rPr>
                            <m:t>𝑇</m:t>
                          </m:r>
                        </m:sup>
                      </m:sSup>
                      <m:r>
                        <a:rPr lang="en-US" altLang="zh-CN" sz="1800" i="1">
                          <a:latin typeface="Cambria Math" charset="0"/>
                        </a:rPr>
                        <m:t>𝜃</m:t>
                      </m:r>
                      <m:r>
                        <a:rPr lang="en-US" altLang="zh-CN" sz="1800" i="1">
                          <a:latin typeface="Cambria Math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is-IS" altLang="zh-CN" sz="1800" b="0" i="1" smtClean="0">
                              <a:latin typeface="Cambria Math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altLang="zh-CN" sz="18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𝑗</m:t>
                          </m:r>
                          <m:r>
                            <a:rPr lang="en-US" altLang="zh-CN" sz="18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=0</m:t>
                          </m:r>
                        </m:sub>
                        <m:sup>
                          <m:r>
                            <a:rPr lang="en-US" altLang="zh-CN" sz="1800" b="0" i="1" smtClean="0">
                              <a:latin typeface="Cambria Math" charset="0"/>
                            </a:rPr>
                            <m:t>𝑑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1800" b="0" i="1" smtClean="0">
                                  <a:latin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b="0" i="1" smtClean="0">
                                  <a:latin typeface="Cambria Math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zh-CN" sz="1800" b="0" i="1" smtClean="0">
                                  <a:latin typeface="Cambria Math" charset="0"/>
                                </a:rPr>
                                <m:t>𝑑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1800" b="0" i="1" smtClean="0">
                                  <a:latin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b="0" i="1" smtClean="0">
                                  <a:latin typeface="Cambria Math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1800" b="0" i="1" smtClean="0">
                                  <a:latin typeface="Cambria Math" charset="0"/>
                                </a:rPr>
                                <m:t>𝑑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altLang="zh-CN" dirty="0"/>
              </a:p>
              <a:p>
                <a:r>
                  <a:rPr lang="en-US" altLang="zh-CN" dirty="0"/>
                  <a:t>MLR</a:t>
                </a:r>
                <a:r>
                  <a:rPr lang="zh-CN" altLang="en-US" dirty="0"/>
                  <a:t>模型举例：波士顿房价数据集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输入变量</a:t>
                </a:r>
                <a:endParaRPr lang="en-US" altLang="zh-CN" dirty="0"/>
              </a:p>
              <a:p>
                <a:pPr lvl="2"/>
                <a:r>
                  <a:rPr lang="en-US" altLang="zh-CN" dirty="0"/>
                  <a:t>RM: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average number of rooms per dwelling</a:t>
                </a:r>
              </a:p>
              <a:p>
                <a:pPr lvl="2"/>
                <a:r>
                  <a:rPr lang="en-US" altLang="zh-CN" dirty="0"/>
                  <a:t>LSTAT: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% lower status of the population</a:t>
                </a:r>
              </a:p>
              <a:p>
                <a:pPr lvl="1"/>
                <a:r>
                  <a:rPr lang="zh-CN" altLang="en-US" dirty="0"/>
                  <a:t>输出变量</a:t>
                </a:r>
                <a:endParaRPr lang="en-US" altLang="zh-CN" dirty="0"/>
              </a:p>
              <a:p>
                <a:pPr lvl="2"/>
                <a:r>
                  <a:rPr lang="en-US" altLang="zh-CN" dirty="0"/>
                  <a:t>Price: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price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of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house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 l="-667" t="-9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19</a:t>
            </a:fld>
            <a:endParaRPr lang="zh-CN" altLang="en-US"/>
          </a:p>
        </p:txBody>
      </p:sp>
      <p:sp>
        <p:nvSpPr>
          <p:cNvPr id="5" name="Right Brace 4"/>
          <p:cNvSpPr/>
          <p:nvPr/>
        </p:nvSpPr>
        <p:spPr>
          <a:xfrm>
            <a:off x="6168788" y="2606722"/>
            <a:ext cx="382137" cy="2006221"/>
          </a:xfrm>
          <a:prstGeom prst="rightBrace">
            <a:avLst>
              <a:gd name="adj1" fmla="val 65476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6823880" y="3286666"/>
            <a:ext cx="15899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rgbClr val="C00000"/>
                </a:solidFill>
                <a:latin typeface="Microsoft YaHei" charset="-122"/>
                <a:ea typeface="Microsoft YaHei" charset="-122"/>
                <a:cs typeface="Microsoft YaHei" charset="-122"/>
              </a:rPr>
              <a:t>应该如何建立</a:t>
            </a:r>
            <a:r>
              <a:rPr lang="en-US" altLang="zh-CN" dirty="0">
                <a:solidFill>
                  <a:srgbClr val="C00000"/>
                </a:solidFill>
                <a:latin typeface="Microsoft YaHei" charset="-122"/>
                <a:ea typeface="Microsoft YaHei" charset="-122"/>
                <a:cs typeface="Microsoft YaHei" charset="-122"/>
              </a:rPr>
              <a:t>MLR</a:t>
            </a:r>
            <a:r>
              <a:rPr lang="zh-CN" altLang="en-US" dirty="0">
                <a:solidFill>
                  <a:srgbClr val="C00000"/>
                </a:solidFill>
                <a:latin typeface="Microsoft YaHei" charset="-122"/>
                <a:ea typeface="Microsoft YaHei" charset="-122"/>
                <a:cs typeface="Microsoft YaHei" charset="-122"/>
              </a:rPr>
              <a:t>模型？</a:t>
            </a:r>
            <a:endParaRPr lang="en-US" dirty="0">
              <a:solidFill>
                <a:srgbClr val="C00000"/>
              </a:solidFill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70444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将线性回归表示为矩阵相乘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20</a:t>
            </a:fld>
            <a:endParaRPr lang="zh-CN" altLang="en-US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57200" y="819150"/>
            <a:ext cx="3806575" cy="3937000"/>
          </a:xfrm>
        </p:spPr>
        <p:txBody>
          <a:bodyPr/>
          <a:lstStyle/>
          <a:p>
            <a:r>
              <a:rPr lang="zh-CN" altLang="en-US" dirty="0"/>
              <a:t>考虑之前波士顿房价的例子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1470" y="1356189"/>
            <a:ext cx="1835649" cy="328773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304819" y="2570470"/>
            <a:ext cx="1582219" cy="290524"/>
          </a:xfrm>
          <a:prstGeom prst="rect">
            <a:avLst/>
          </a:prstGeom>
          <a:solidFill>
            <a:srgbClr val="4F81BD">
              <a:alpha val="2980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493214" y="2350343"/>
                <a:ext cx="1288623" cy="730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 charset="0"/>
                        </a:rPr>
                        <m:t>𝜽</m:t>
                      </m:r>
                      <m:r>
                        <a:rPr lang="en-US" altLang="zh-CN" b="0" i="1" smtClean="0">
                          <a:latin typeface="Cambria Math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uk-UA" altLang="zh-CN" b="0" i="1" smtClean="0">
                              <a:latin typeface="Cambria Math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b="0" i="1" smtClean="0">
                                  <a:latin typeface="Cambria Math" charset="0"/>
                                </a:rPr>
                              </m:ctrlPr>
                            </m:eqArrPr>
                            <m:e>
                              <m:r>
                                <a:rPr lang="en-US" altLang="zh-CN" b="0" i="1" smtClean="0">
                                  <a:latin typeface="Cambria Math" charset="0"/>
                                </a:rPr>
                                <m:t>−1.36</m:t>
                              </m:r>
                            </m:e>
                            <m:e>
                              <m:r>
                                <a:rPr lang="en-US" altLang="zh-CN" b="0" i="1" smtClean="0">
                                  <a:latin typeface="Cambria Math" charset="0"/>
                                </a:rPr>
                                <m:t>5.09</m:t>
                              </m:r>
                            </m:e>
                            <m:e>
                              <m:r>
                                <a:rPr lang="en-US" altLang="zh-CN" b="0" i="1" smtClean="0">
                                  <a:latin typeface="Cambria Math" charset="0"/>
                                </a:rPr>
                                <m:t>−0.64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3214" y="2350343"/>
                <a:ext cx="1288623" cy="730777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5806090" y="2392565"/>
                <a:ext cx="1386020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dirty="0">
                    <a:latin typeface="Microsoft YaHei" charset="-122"/>
                    <a:ea typeface="Microsoft YaHei" charset="-122"/>
                    <a:cs typeface="Microsoft YaHei" charset="-122"/>
                  </a:rPr>
                  <a:t>练习：</a:t>
                </a:r>
                <a:endParaRPr lang="en-US" altLang="zh-CN" dirty="0">
                  <a:latin typeface="Microsoft YaHei" charset="-122"/>
                  <a:ea typeface="Microsoft YaHei" charset="-122"/>
                  <a:cs typeface="Microsoft YaHei" charset="-122"/>
                </a:endParaRPr>
              </a:p>
              <a:p>
                <a:pPr marL="285750" indent="-285750">
                  <a:buFont typeface="Arial" charset="0"/>
                  <a:buChar char="•"/>
                </a:pPr>
                <a:r>
                  <a:rPr lang="zh-CN" altLang="en-US" dirty="0">
                    <a:latin typeface="Microsoft YaHei" charset="-122"/>
                    <a:ea typeface="Microsoft YaHei" charset="-122"/>
                    <a:cs typeface="Microsoft YaHei" charset="-122"/>
                  </a:rPr>
                  <a:t>请计算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charset="0"/>
                            <a:ea typeface="Microsoft YaHei" charset="-122"/>
                            <a:cs typeface="Microsoft YaHei" charset="-122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zh-CN" altLang="en-US" i="1" smtClean="0">
                                <a:latin typeface="Cambria Math" charset="0"/>
                                <a:ea typeface="Microsoft YaHei" charset="-122"/>
                                <a:cs typeface="Microsoft YaHei" charset="-122"/>
                              </a:rPr>
                            </m:ctrlPr>
                          </m:accPr>
                          <m:e>
                            <m:r>
                              <a:rPr lang="en-US" altLang="zh-CN" b="0" i="1" smtClean="0">
                                <a:latin typeface="Cambria Math" charset="0"/>
                                <a:ea typeface="Microsoft YaHei" charset="-122"/>
                                <a:cs typeface="Microsoft YaHei" charset="-122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altLang="zh-CN" b="0" i="1" smtClean="0">
                            <a:latin typeface="Cambria Math" charset="0"/>
                            <a:ea typeface="Microsoft YaHei" charset="-122"/>
                            <a:cs typeface="Microsoft YaHei" charset="-122"/>
                          </a:rPr>
                          <m:t>4</m:t>
                        </m:r>
                      </m:sub>
                    </m:sSub>
                  </m:oMath>
                </a14:m>
                <a:endParaRPr lang="en-US" dirty="0">
                  <a:latin typeface="Microsoft YaHei" charset="-122"/>
                  <a:ea typeface="Microsoft YaHei" charset="-122"/>
                  <a:cs typeface="Microsoft YaHei" charset="-122"/>
                </a:endParaRPr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6090" y="2392565"/>
                <a:ext cx="1386020" cy="646331"/>
              </a:xfrm>
              <a:prstGeom prst="rect">
                <a:avLst/>
              </a:prstGeom>
              <a:blipFill rotWithShape="0">
                <a:blip r:embed="rId5"/>
                <a:stretch>
                  <a:fillRect l="-3509" t="-4673" r="-12719" b="-130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295793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设计矩阵（</a:t>
            </a:r>
            <a:r>
              <a:rPr lang="en-US" altLang="zh-CN" dirty="0"/>
              <a:t>Design</a:t>
            </a:r>
            <a:r>
              <a:rPr lang="zh-CN" altLang="en-US" dirty="0"/>
              <a:t> </a:t>
            </a:r>
            <a:r>
              <a:rPr lang="en-US" altLang="zh-CN" dirty="0"/>
              <a:t>Matrix</a:t>
            </a:r>
            <a:r>
              <a:rPr lang="zh-CN" altLang="en-US" dirty="0"/>
              <a:t>）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19150"/>
            <a:ext cx="8229600" cy="413749"/>
          </a:xfrm>
        </p:spPr>
        <p:txBody>
          <a:bodyPr/>
          <a:lstStyle/>
          <a:p>
            <a:r>
              <a:rPr lang="zh-CN" altLang="en-US" dirty="0"/>
              <a:t>给定训练集，我们可以定义设计矩阵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21</a:t>
            </a:fld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371600" y="1745533"/>
                <a:ext cx="4183709" cy="17287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1" i="1" smtClean="0">
                          <a:latin typeface="Cambria Math" charset="0"/>
                        </a:rPr>
                        <m:t>𝕏</m:t>
                      </m:r>
                      <m:r>
                        <a:rPr lang="en-US" altLang="zh-CN" sz="2000" b="0" i="1" smtClean="0">
                          <a:latin typeface="Cambria Math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uk-UA" altLang="zh-CN" sz="2000" b="0" i="1" smtClean="0">
                              <a:latin typeface="Cambria Math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uk-UA" altLang="zh-CN" sz="2000" b="0" i="1" smtClean="0">
                                  <a:latin typeface="Cambria Math" charset="0"/>
                                </a:rPr>
                              </m:ctrlPr>
                            </m:eqArr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uk-UA" altLang="zh-CN" sz="2000" b="0" i="1" smtClean="0">
                                      <a:latin typeface="Cambria Math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CN" sz="2000" b="0" i="1" smtClean="0">
                                        <a:latin typeface="Cambria Math" charset="0"/>
                                      </a:rPr>
                                      <m:t>1</m:t>
                                    </m:r>
                                  </m:e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3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uk-UA" altLang="zh-CN" sz="2000" b="0" i="1" smtClean="0">
                                            <a:latin typeface="Cambria Math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sz="2000" b="0" i="1" smtClean="0">
                                                  <a:latin typeface="Cambria Math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brk m:alnAt="7"/>
                                                </m:rPr>
                                                <a:rPr lang="en-US" altLang="zh-CN" sz="2000" b="0" i="1" smtClean="0">
                                                  <a:latin typeface="Cambria Math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000" b="0" i="1" smtClean="0">
                                                  <a:latin typeface="Cambria Math" charset="0"/>
                                                </a:rPr>
                                                <m:t>11</m:t>
                                              </m:r>
                                            </m:sub>
                                          </m:sSub>
                                        </m:e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sz="2000" b="0" i="1" smtClean="0">
                                                  <a:latin typeface="Cambria Math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2000" b="0" i="1" smtClean="0">
                                                  <a:latin typeface="Cambria Math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000" b="0" i="1" smtClean="0">
                                                  <a:latin typeface="Cambria Math" charset="0"/>
                                                </a:rPr>
                                                <m:t>12</m:t>
                                              </m:r>
                                            </m:sub>
                                          </m:sSub>
                                        </m:e>
                                        <m:e>
                                          <m:m>
                                            <m:mPr>
                                              <m:mcs>
                                                <m:mc>
                                                  <m:mcPr>
                                                    <m:count m:val="3"/>
                                                    <m:mcJc m:val="center"/>
                                                  </m:mcPr>
                                                </m:mc>
                                              </m:mcs>
                                              <m:ctrlPr>
                                                <a:rPr lang="uk-UA" altLang="zh-CN" sz="2000" b="0" i="1" smtClean="0">
                                                  <a:latin typeface="Cambria Math" charset="0"/>
                                                </a:rPr>
                                              </m:ctrlPr>
                                            </m:mPr>
                                            <m:mr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en-US" altLang="zh-CN" sz="2000" b="0" i="1" smtClean="0">
                                                        <a:latin typeface="Cambria Math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m:rPr>
                                                        <m:brk m:alnAt="7"/>
                                                      </m:rPr>
                                                      <a:rPr lang="en-US" altLang="zh-CN" sz="2000" b="0" i="1" smtClean="0">
                                                        <a:latin typeface="Cambria Math" charset="0"/>
                                                      </a:rPr>
                                                      <m:t>𝑥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altLang="zh-CN" sz="2000" b="0" i="1" smtClean="0">
                                                        <a:latin typeface="Cambria Math" charset="0"/>
                                                      </a:rPr>
                                                      <m:t>13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  <m:e>
                                                <m:r>
                                                  <a:rPr lang="uk-UA" altLang="zh-CN" sz="2000" b="0" i="1" smtClean="0">
                                                    <a:latin typeface="Cambria Math" charset="0"/>
                                                  </a:rPr>
                                                  <m:t>⋯</m:t>
                                                </m:r>
                                              </m:e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en-US" altLang="zh-CN" sz="2000" b="0" i="1" smtClean="0">
                                                        <a:latin typeface="Cambria Math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US" altLang="zh-CN" sz="2000" b="0" i="1" smtClean="0">
                                                        <a:latin typeface="Cambria Math" charset="0"/>
                                                      </a:rPr>
                                                      <m:t>𝑥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altLang="zh-CN" sz="2000" b="0" i="1" smtClean="0">
                                                        <a:latin typeface="Cambria Math" charset="0"/>
                                                      </a:rPr>
                                                      <m:t>1</m:t>
                                                    </m:r>
                                                    <m:r>
                                                      <a:rPr lang="en-US" altLang="zh-CN" sz="2000" b="0" i="1" smtClean="0">
                                                        <a:latin typeface="Cambria Math" charset="0"/>
                                                      </a:rPr>
                                                      <m:t>𝑑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</m:mr>
                                          </m:m>
                                        </m:e>
                                      </m:mr>
                                    </m:m>
                                  </m:e>
                                </m:mr>
                                <m:mr>
                                  <m:e>
                                    <m:r>
                                      <a:rPr lang="en-US" altLang="zh-CN" sz="2000" b="0" i="1" smtClean="0">
                                        <a:latin typeface="Cambria Math" charset="0"/>
                                      </a:rPr>
                                      <m:t>1</m:t>
                                    </m:r>
                                  </m:e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3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uk-UA" altLang="zh-CN" sz="2000" b="0" i="1" smtClean="0">
                                            <a:latin typeface="Cambria Math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sz="2000" b="0" i="1" smtClean="0">
                                                  <a:latin typeface="Cambria Math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brk m:alnAt="7"/>
                                                </m:rPr>
                                                <a:rPr lang="en-US" altLang="zh-CN" sz="2000" b="0" i="1" smtClean="0">
                                                  <a:latin typeface="Cambria Math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000" b="0" i="1" smtClean="0">
                                                  <a:latin typeface="Cambria Math" charset="0"/>
                                                </a:rPr>
                                                <m:t>21</m:t>
                                              </m:r>
                                            </m:sub>
                                          </m:sSub>
                                        </m:e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sz="2000" b="0" i="1" smtClean="0">
                                                  <a:latin typeface="Cambria Math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2000" b="0" i="1" smtClean="0">
                                                  <a:latin typeface="Cambria Math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000" b="0" i="1" smtClean="0">
                                                  <a:latin typeface="Cambria Math" charset="0"/>
                                                </a:rPr>
                                                <m:t>22</m:t>
                                              </m:r>
                                            </m:sub>
                                          </m:sSub>
                                        </m:e>
                                        <m:e>
                                          <m:m>
                                            <m:mPr>
                                              <m:mcs>
                                                <m:mc>
                                                  <m:mcPr>
                                                    <m:count m:val="3"/>
                                                    <m:mcJc m:val="center"/>
                                                  </m:mcPr>
                                                </m:mc>
                                              </m:mcs>
                                              <m:ctrlPr>
                                                <a:rPr lang="uk-UA" altLang="zh-CN" sz="2000" b="0" i="1" smtClean="0">
                                                  <a:latin typeface="Cambria Math" charset="0"/>
                                                </a:rPr>
                                              </m:ctrlPr>
                                            </m:mPr>
                                            <m:mr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en-US" altLang="zh-CN" sz="2000" b="0" i="1" smtClean="0">
                                                        <a:latin typeface="Cambria Math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m:rPr>
                                                        <m:brk m:alnAt="7"/>
                                                      </m:rPr>
                                                      <a:rPr lang="en-US" altLang="zh-CN" sz="2000" b="0" i="1" smtClean="0">
                                                        <a:latin typeface="Cambria Math" charset="0"/>
                                                      </a:rPr>
                                                      <m:t>𝑥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altLang="zh-CN" sz="2000" b="0" i="1" smtClean="0">
                                                        <a:latin typeface="Cambria Math" charset="0"/>
                                                      </a:rPr>
                                                      <m:t>23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  <m:e>
                                                <m:r>
                                                  <a:rPr lang="uk-UA" altLang="zh-CN" sz="2000" b="0" i="1" smtClean="0">
                                                    <a:latin typeface="Cambria Math" charset="0"/>
                                                  </a:rPr>
                                                  <m:t>⋯</m:t>
                                                </m:r>
                                              </m:e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en-US" altLang="zh-CN" sz="2000" b="0" i="1" smtClean="0">
                                                        <a:latin typeface="Cambria Math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US" altLang="zh-CN" sz="2000" b="0" i="1" smtClean="0">
                                                        <a:latin typeface="Cambria Math" charset="0"/>
                                                      </a:rPr>
                                                      <m:t>𝑥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altLang="zh-CN" sz="2000" b="0" i="1" smtClean="0">
                                                        <a:latin typeface="Cambria Math" charset="0"/>
                                                      </a:rPr>
                                                      <m:t>2</m:t>
                                                    </m:r>
                                                    <m:r>
                                                      <a:rPr lang="en-US" altLang="zh-CN" sz="2000" b="0" i="1" smtClean="0">
                                                        <a:latin typeface="Cambria Math" charset="0"/>
                                                      </a:rPr>
                                                      <m:t>𝑑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</m:mr>
                                          </m:m>
                                        </m:e>
                                      </m:mr>
                                    </m:m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uk-UA" altLang="zh-CN" sz="2000" i="1">
                                      <a:latin typeface="Cambria Math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CN" sz="2000" b="0" i="1" smtClean="0">
                                        <a:latin typeface="Cambria Math" charset="0"/>
                                      </a:rPr>
                                      <m:t>1</m:t>
                                    </m:r>
                                  </m:e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3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uk-UA" altLang="zh-CN" sz="2000" i="1">
                                            <a:latin typeface="Cambria Math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sz="2000" b="0" i="1" smtClean="0">
                                                  <a:latin typeface="Cambria Math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brk m:alnAt="7"/>
                                                </m:rPr>
                                                <a:rPr lang="en-US" altLang="zh-CN" sz="2000" b="0" i="1" smtClean="0">
                                                  <a:latin typeface="Cambria Math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000" b="0" i="1" smtClean="0">
                                                  <a:latin typeface="Cambria Math" charset="0"/>
                                                </a:rPr>
                                                <m:t>31</m:t>
                                              </m:r>
                                            </m:sub>
                                          </m:sSub>
                                        </m:e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sz="2000" b="0" i="1" smtClean="0">
                                                  <a:latin typeface="Cambria Math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2000" b="0" i="1" smtClean="0">
                                                  <a:latin typeface="Cambria Math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000" b="0" i="1" smtClean="0">
                                                  <a:latin typeface="Cambria Math" charset="0"/>
                                                </a:rPr>
                                                <m:t>23</m:t>
                                              </m:r>
                                            </m:sub>
                                          </m:sSub>
                                        </m:e>
                                        <m:e>
                                          <m:m>
                                            <m:mPr>
                                              <m:mcs>
                                                <m:mc>
                                                  <m:mcPr>
                                                    <m:count m:val="3"/>
                                                    <m:mcJc m:val="center"/>
                                                  </m:mcPr>
                                                </m:mc>
                                              </m:mcs>
                                              <m:ctrlPr>
                                                <a:rPr lang="uk-UA" altLang="zh-CN" sz="2000" i="1">
                                                  <a:latin typeface="Cambria Math" charset="0"/>
                                                </a:rPr>
                                              </m:ctrlPr>
                                            </m:mPr>
                                            <m:mr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en-US" altLang="zh-CN" sz="2000" b="0" i="1" smtClean="0">
                                                        <a:latin typeface="Cambria Math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m:rPr>
                                                        <m:brk m:alnAt="7"/>
                                                      </m:rPr>
                                                      <a:rPr lang="en-US" altLang="zh-CN" sz="2000" b="0" i="1" smtClean="0">
                                                        <a:latin typeface="Cambria Math" charset="0"/>
                                                      </a:rPr>
                                                      <m:t>𝑥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altLang="zh-CN" sz="2000" b="0" i="1" smtClean="0">
                                                        <a:latin typeface="Cambria Math" charset="0"/>
                                                      </a:rPr>
                                                      <m:t>33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  <m:e>
                                                <m:r>
                                                  <a:rPr lang="uk-UA" altLang="zh-CN" sz="2000" i="1" smtClean="0">
                                                    <a:latin typeface="Cambria Math" charset="0"/>
                                                  </a:rPr>
                                                  <m:t>⋯</m:t>
                                                </m:r>
                                              </m:e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en-US" altLang="zh-CN" sz="2000" b="0" i="1" smtClean="0">
                                                        <a:latin typeface="Cambria Math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US" altLang="zh-CN" sz="2000" b="0" i="1" smtClean="0">
                                                        <a:latin typeface="Cambria Math" charset="0"/>
                                                      </a:rPr>
                                                      <m:t>𝑥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altLang="zh-CN" sz="2000" b="0" i="1" smtClean="0">
                                                        <a:latin typeface="Cambria Math" charset="0"/>
                                                      </a:rPr>
                                                      <m:t>3</m:t>
                                                    </m:r>
                                                    <m:r>
                                                      <a:rPr lang="en-US" altLang="zh-CN" sz="2000" b="0" i="1" smtClean="0">
                                                        <a:latin typeface="Cambria Math" charset="0"/>
                                                      </a:rPr>
                                                      <m:t>𝑑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</m:mr>
                                          </m:m>
                                        </m:e>
                                      </m:mr>
                                    </m:m>
                                  </m:e>
                                </m:mr>
                                <m:mr>
                                  <m:e>
                                    <m:r>
                                      <a:rPr lang="en-US" altLang="zh-CN" sz="2000" b="0" i="1" smtClean="0">
                                        <a:latin typeface="Cambria Math" charset="0"/>
                                      </a:rPr>
                                      <m:t>1</m:t>
                                    </m:r>
                                  </m:e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3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uk-UA" altLang="zh-CN" sz="2000" i="1">
                                            <a:latin typeface="Cambria Math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sz="2000" b="0" i="1" smtClean="0">
                                                  <a:latin typeface="Cambria Math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brk m:alnAt="7"/>
                                                </m:rPr>
                                                <a:rPr lang="en-US" altLang="zh-CN" sz="2000" b="0" i="1" smtClean="0">
                                                  <a:latin typeface="Cambria Math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000" b="0" i="1" smtClean="0">
                                                  <a:latin typeface="Cambria Math" charset="0"/>
                                                </a:rPr>
                                                <m:t>41</m:t>
                                              </m:r>
                                            </m:sub>
                                          </m:sSub>
                                        </m:e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sz="2000" b="0" i="1" smtClean="0">
                                                  <a:latin typeface="Cambria Math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2000" b="0" i="1" smtClean="0">
                                                  <a:latin typeface="Cambria Math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000" b="0" i="1" smtClean="0">
                                                  <a:latin typeface="Cambria Math" charset="0"/>
                                                </a:rPr>
                                                <m:t>42</m:t>
                                              </m:r>
                                            </m:sub>
                                          </m:sSub>
                                        </m:e>
                                        <m:e>
                                          <m:m>
                                            <m:mPr>
                                              <m:mcs>
                                                <m:mc>
                                                  <m:mcPr>
                                                    <m:count m:val="3"/>
                                                    <m:mcJc m:val="center"/>
                                                  </m:mcPr>
                                                </m:mc>
                                              </m:mcs>
                                              <m:ctrlPr>
                                                <a:rPr lang="uk-UA" altLang="zh-CN" sz="2000" i="1">
                                                  <a:latin typeface="Cambria Math" charset="0"/>
                                                </a:rPr>
                                              </m:ctrlPr>
                                            </m:mPr>
                                            <m:mr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en-US" altLang="zh-CN" sz="2000" b="0" i="1" smtClean="0">
                                                        <a:latin typeface="Cambria Math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m:rPr>
                                                        <m:brk m:alnAt="7"/>
                                                      </m:rPr>
                                                      <a:rPr lang="en-US" altLang="zh-CN" sz="2000" b="0" i="1" smtClean="0">
                                                        <a:latin typeface="Cambria Math" charset="0"/>
                                                      </a:rPr>
                                                      <m:t>𝑥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altLang="zh-CN" sz="2000" b="0" i="1" smtClean="0">
                                                        <a:latin typeface="Cambria Math" charset="0"/>
                                                      </a:rPr>
                                                      <m:t>43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  <m:e>
                                                <m:r>
                                                  <a:rPr lang="uk-UA" altLang="zh-CN" sz="2000" i="1" smtClean="0">
                                                    <a:latin typeface="Cambria Math" charset="0"/>
                                                  </a:rPr>
                                                  <m:t>⋯</m:t>
                                                </m:r>
                                              </m:e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en-US" altLang="zh-CN" sz="2000" b="0" i="1" smtClean="0">
                                                        <a:latin typeface="Cambria Math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US" altLang="zh-CN" sz="2000" b="0" i="1" smtClean="0">
                                                        <a:latin typeface="Cambria Math" charset="0"/>
                                                      </a:rPr>
                                                      <m:t>𝑥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altLang="zh-CN" sz="2000" b="0" i="1" smtClean="0">
                                                        <a:latin typeface="Cambria Math" charset="0"/>
                                                      </a:rPr>
                                                      <m:t>4</m:t>
                                                    </m:r>
                                                    <m:r>
                                                      <a:rPr lang="en-US" altLang="zh-CN" sz="2000" b="0" i="1" smtClean="0">
                                                        <a:latin typeface="Cambria Math" charset="0"/>
                                                      </a:rPr>
                                                      <m:t>𝑑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</m:mr>
                                          </m:m>
                                        </m:e>
                                      </m:mr>
                                    </m:m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uk-UA" altLang="zh-CN" sz="2000" i="1">
                                      <a:latin typeface="Cambria Math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zh-CN" altLang="en-US" sz="2000" b="0" i="1" smtClean="0">
                                        <a:latin typeface="Cambria Math" charset="0"/>
                                      </a:rPr>
                                      <m:t> </m:t>
                                    </m:r>
                                    <m:r>
                                      <a:rPr lang="zh-CN" altLang="en-US" sz="2000" b="0" i="1" smtClean="0">
                                        <a:latin typeface="Cambria Math" charset="0"/>
                                      </a:rPr>
                                      <m:t>  </m:t>
                                    </m:r>
                                    <m:r>
                                      <a:rPr lang="uk-UA" altLang="zh-CN" sz="2000" i="1">
                                        <a:latin typeface="Cambria Math" charset="0"/>
                                      </a:rPr>
                                      <m:t>⋮</m:t>
                                    </m:r>
                                    <m:r>
                                      <a:rPr lang="zh-CN" altLang="en-US" sz="2000" b="0" i="1" smtClean="0">
                                        <a:latin typeface="Cambria Math" charset="0"/>
                                      </a:rPr>
                                      <m:t>   </m:t>
                                    </m:r>
                                  </m:e>
                                  <m:e>
                                    <m:r>
                                      <a:rPr lang="zh-CN" altLang="en-US" sz="2000" b="0" i="1" smtClean="0">
                                        <a:latin typeface="Cambria Math" charset="0"/>
                                      </a:rPr>
                                      <m:t>  </m:t>
                                    </m:r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3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uk-UA" altLang="zh-CN" sz="2000" i="1">
                                            <a:latin typeface="Cambria Math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uk-UA" altLang="zh-CN" sz="2000" i="1" smtClean="0">
                                              <a:latin typeface="Cambria Math" charset="0"/>
                                            </a:rPr>
                                            <m:t>⋮</m:t>
                                          </m:r>
                                          <m:r>
                                            <a:rPr lang="zh-CN" altLang="en-US" sz="2000" b="0" i="1" smtClean="0">
                                              <a:latin typeface="Cambria Math" charset="0"/>
                                            </a:rPr>
                                            <m:t>  </m:t>
                                          </m:r>
                                        </m:e>
                                        <m:e>
                                          <m:r>
                                            <a:rPr lang="zh-CN" altLang="en-US" sz="2000" b="0" i="1" smtClean="0">
                                              <a:latin typeface="Cambria Math" charset="0"/>
                                            </a:rPr>
                                            <m:t>  </m:t>
                                          </m:r>
                                          <m:r>
                                            <a:rPr lang="uk-UA" altLang="zh-CN" sz="2000" i="1" smtClean="0">
                                              <a:latin typeface="Cambria Math" charset="0"/>
                                            </a:rPr>
                                            <m:t>⋮</m:t>
                                          </m:r>
                                          <m:r>
                                            <a:rPr lang="zh-CN" altLang="en-US" sz="2000" b="0" i="1" smtClean="0">
                                              <a:latin typeface="Cambria Math" charset="0"/>
                                            </a:rPr>
                                            <m:t>  </m:t>
                                          </m:r>
                                        </m:e>
                                        <m:e>
                                          <m:m>
                                            <m:mPr>
                                              <m:mcs>
                                                <m:mc>
                                                  <m:mcPr>
                                                    <m:count m:val="3"/>
                                                    <m:mcJc m:val="center"/>
                                                  </m:mcPr>
                                                </m:mc>
                                              </m:mcs>
                                              <m:ctrlPr>
                                                <a:rPr lang="uk-UA" altLang="zh-CN" sz="2000" i="1">
                                                  <a:latin typeface="Cambria Math" charset="0"/>
                                                </a:rPr>
                                              </m:ctrlPr>
                                            </m:mPr>
                                            <m:mr>
                                              <m:e>
                                                <m:r>
                                                  <m:rPr>
                                                    <m:brk m:alnAt="7"/>
                                                  </m:rPr>
                                                  <a:rPr lang="zh-CN" altLang="en-US" sz="2000" b="0" i="1" smtClean="0">
                                                    <a:latin typeface="Cambria Math" charset="0"/>
                                                  </a:rPr>
                                                  <m:t> </m:t>
                                                </m:r>
                                                <m:r>
                                                  <a:rPr lang="zh-CN" altLang="en-US" sz="2000" b="0" i="1" smtClean="0">
                                                    <a:latin typeface="Cambria Math" charset="0"/>
                                                  </a:rPr>
                                                  <m:t> </m:t>
                                                </m:r>
                                                <m:r>
                                                  <a:rPr lang="uk-UA" altLang="zh-CN" sz="2000" i="1" smtClean="0">
                                                    <a:latin typeface="Cambria Math" charset="0"/>
                                                  </a:rPr>
                                                  <m:t>⋮</m:t>
                                                </m:r>
                                                <m:r>
                                                  <a:rPr lang="zh-CN" altLang="en-US" sz="2000" b="0" i="1" smtClean="0">
                                                    <a:latin typeface="Cambria Math" charset="0"/>
                                                  </a:rPr>
                                                  <m:t>  </m:t>
                                                </m:r>
                                              </m:e>
                                              <m:e>
                                                <m:r>
                                                  <a:rPr lang="zh-CN" altLang="en-US" sz="2000" b="0" i="1" smtClean="0">
                                                    <a:latin typeface="Cambria Math" charset="0"/>
                                                  </a:rPr>
                                                  <m:t>  </m:t>
                                                </m:r>
                                                <m:r>
                                                  <a:rPr lang="uk-UA" altLang="zh-CN" sz="2000" i="1" smtClean="0">
                                                    <a:latin typeface="Cambria Math" charset="0"/>
                                                  </a:rPr>
                                                  <m:t>⋮</m:t>
                                                </m:r>
                                                <m:r>
                                                  <a:rPr lang="zh-CN" altLang="en-US" sz="2000" b="0" i="1" smtClean="0">
                                                    <a:latin typeface="Cambria Math" charset="0"/>
                                                  </a:rPr>
                                                  <m:t>  </m:t>
                                                </m:r>
                                              </m:e>
                                              <m:e>
                                                <m:r>
                                                  <a:rPr lang="zh-CN" altLang="en-US" sz="2000" b="0" i="1" smtClean="0">
                                                    <a:latin typeface="Cambria Math" charset="0"/>
                                                  </a:rPr>
                                                  <m:t>  </m:t>
                                                </m:r>
                                                <m:r>
                                                  <a:rPr lang="uk-UA" altLang="zh-CN" sz="2000" i="1" smtClean="0">
                                                    <a:latin typeface="Cambria Math" charset="0"/>
                                                  </a:rPr>
                                                  <m:t>⋮</m:t>
                                                </m:r>
                                                <m:r>
                                                  <a:rPr lang="zh-CN" altLang="en-US" sz="2000" b="0" i="1" smtClean="0">
                                                    <a:latin typeface="Cambria Math" charset="0"/>
                                                  </a:rPr>
                                                  <m:t>  </m:t>
                                                </m:r>
                                              </m:e>
                                            </m:mr>
                                          </m:m>
                                        </m:e>
                                      </m:mr>
                                    </m:m>
                                  </m:e>
                                </m:mr>
                                <m:mr>
                                  <m:e>
                                    <m:r>
                                      <a:rPr lang="en-US" altLang="zh-CN" sz="2000" b="0" i="1" smtClean="0">
                                        <a:latin typeface="Cambria Math" charset="0"/>
                                      </a:rPr>
                                      <m:t>1</m:t>
                                    </m:r>
                                  </m:e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3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uk-UA" altLang="zh-CN" sz="2000" i="1">
                                            <a:latin typeface="Cambria Math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sz="2000" b="0" i="1" smtClean="0">
                                                  <a:latin typeface="Cambria Math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brk m:alnAt="7"/>
                                                </m:rPr>
                                                <a:rPr lang="en-US" altLang="zh-CN" sz="2000" b="0" i="1" smtClean="0">
                                                  <a:latin typeface="Cambria Math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000" b="0" i="1" smtClean="0">
                                                  <a:latin typeface="Cambria Math" charset="0"/>
                                                </a:rPr>
                                                <m:t>𝑛</m:t>
                                              </m:r>
                                              <m:r>
                                                <a:rPr lang="en-US" altLang="zh-CN" sz="2000" b="0" i="1" smtClean="0">
                                                  <a:latin typeface="Cambria Math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</m:e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sz="2000" b="0" i="1" smtClean="0">
                                                  <a:latin typeface="Cambria Math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2000" b="0" i="1" smtClean="0">
                                                  <a:latin typeface="Cambria Math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000" b="0" i="1" smtClean="0">
                                                  <a:latin typeface="Cambria Math" charset="0"/>
                                                </a:rPr>
                                                <m:t>𝑛</m:t>
                                              </m:r>
                                              <m:r>
                                                <a:rPr lang="en-US" altLang="zh-CN" sz="2000" b="0" i="1" smtClean="0">
                                                  <a:latin typeface="Cambria Math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</m:e>
                                        <m:e>
                                          <m:m>
                                            <m:mPr>
                                              <m:mcs>
                                                <m:mc>
                                                  <m:mcPr>
                                                    <m:count m:val="3"/>
                                                    <m:mcJc m:val="center"/>
                                                  </m:mcPr>
                                                </m:mc>
                                              </m:mcs>
                                              <m:ctrlPr>
                                                <a:rPr lang="uk-UA" altLang="zh-CN" sz="2000" i="1">
                                                  <a:latin typeface="Cambria Math" charset="0"/>
                                                </a:rPr>
                                              </m:ctrlPr>
                                            </m:mPr>
                                            <m:mr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en-US" altLang="zh-CN" sz="2000" b="0" i="1" smtClean="0">
                                                        <a:latin typeface="Cambria Math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m:rPr>
                                                        <m:brk m:alnAt="7"/>
                                                      </m:rPr>
                                                      <a:rPr lang="en-US" altLang="zh-CN" sz="2000" b="0" i="1" smtClean="0">
                                                        <a:latin typeface="Cambria Math" charset="0"/>
                                                      </a:rPr>
                                                      <m:t>𝑥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altLang="zh-CN" sz="2000" b="0" i="1" smtClean="0">
                                                        <a:latin typeface="Cambria Math" charset="0"/>
                                                      </a:rPr>
                                                      <m:t>𝑛</m:t>
                                                    </m:r>
                                                    <m:r>
                                                      <a:rPr lang="en-US" altLang="zh-CN" sz="2000" b="0" i="1" smtClean="0">
                                                        <a:latin typeface="Cambria Math" charset="0"/>
                                                      </a:rPr>
                                                      <m:t>3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  <m:e>
                                                <m:r>
                                                  <a:rPr lang="uk-UA" altLang="zh-CN" sz="2000" i="1" smtClean="0">
                                                    <a:latin typeface="Cambria Math" charset="0"/>
                                                  </a:rPr>
                                                  <m:t>⋯</m:t>
                                                </m:r>
                                              </m:e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en-US" altLang="zh-CN" sz="2000" b="0" i="1" smtClean="0">
                                                        <a:latin typeface="Cambria Math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US" altLang="zh-CN" sz="2000" b="0" i="1" smtClean="0">
                                                        <a:latin typeface="Cambria Math" charset="0"/>
                                                      </a:rPr>
                                                      <m:t>𝑥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altLang="zh-CN" sz="2000" b="0" i="1" smtClean="0">
                                                        <a:latin typeface="Cambria Math" charset="0"/>
                                                      </a:rPr>
                                                      <m:t>𝑛𝑑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</m:mr>
                                          </m:m>
                                        </m:e>
                                      </m:mr>
                                    </m:m>
                                  </m:e>
                                </m:mr>
                              </m:m>
                            </m:e>
                          </m:eqArr>
                        </m:e>
                      </m:d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1600" y="1745533"/>
                <a:ext cx="4183709" cy="1728743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/>
          <p:cNvSpPr/>
          <p:nvPr/>
        </p:nvSpPr>
        <p:spPr>
          <a:xfrm>
            <a:off x="2095928" y="1654139"/>
            <a:ext cx="3205537" cy="380144"/>
          </a:xfrm>
          <a:prstGeom prst="rect">
            <a:avLst/>
          </a:prstGeom>
          <a:solidFill>
            <a:srgbClr val="4F81BD">
              <a:alpha val="2980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507517" y="1582220"/>
            <a:ext cx="543908" cy="1993188"/>
          </a:xfrm>
          <a:prstGeom prst="rect">
            <a:avLst/>
          </a:prstGeom>
          <a:solidFill>
            <a:schemeClr val="accent3">
              <a:alpha val="29804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ular Callout 7"/>
          <p:cNvSpPr/>
          <p:nvPr/>
        </p:nvSpPr>
        <p:spPr>
          <a:xfrm>
            <a:off x="6437381" y="986319"/>
            <a:ext cx="2131265" cy="1047964"/>
          </a:xfrm>
          <a:prstGeom prst="wedgeRoundRectCallout">
            <a:avLst>
              <a:gd name="adj1" fmla="val -96354"/>
              <a:gd name="adj2" fmla="val 35049"/>
              <a:gd name="adj3" fmla="val 16667"/>
            </a:avLst>
          </a:prstGeom>
          <a:solidFill>
            <a:srgbClr val="4F81BD">
              <a:alpha val="2980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chemeClr val="tx1"/>
                </a:solidFill>
              </a:rPr>
              <a:t>每行代表一个数据实例（数据点）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如数据点</a:t>
            </a:r>
            <a:r>
              <a:rPr lang="en-US" altLang="zh-CN" dirty="0">
                <a:solidFill>
                  <a:schemeClr val="tx1"/>
                </a:solidFill>
              </a:rPr>
              <a:t>1</a:t>
            </a:r>
            <a:r>
              <a:rPr lang="zh-CN" altLang="en-US" dirty="0">
                <a:solidFill>
                  <a:schemeClr val="tx1"/>
                </a:solidFill>
              </a:rPr>
              <a:t>的特征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9" name="Rounded Rectangular Callout 8"/>
          <p:cNvSpPr/>
          <p:nvPr/>
        </p:nvSpPr>
        <p:spPr>
          <a:xfrm>
            <a:off x="4760981" y="3708186"/>
            <a:ext cx="2985734" cy="1047964"/>
          </a:xfrm>
          <a:prstGeom prst="wedgeRoundRectCallout">
            <a:avLst>
              <a:gd name="adj1" fmla="val -110761"/>
              <a:gd name="adj2" fmla="val -65931"/>
              <a:gd name="adj3" fmla="val 16667"/>
            </a:avLst>
          </a:prstGeom>
          <a:solidFill>
            <a:schemeClr val="accent3">
              <a:alpha val="29804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chemeClr val="tx1"/>
                </a:solidFill>
              </a:rPr>
              <a:t>每列代表一个数据特征（输入变量）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如所有点在特征</a:t>
            </a:r>
            <a:r>
              <a:rPr lang="en-US" altLang="zh-CN" dirty="0">
                <a:solidFill>
                  <a:schemeClr val="tx1"/>
                </a:solidFill>
              </a:rPr>
              <a:t>1</a:t>
            </a:r>
            <a:r>
              <a:rPr lang="zh-CN" altLang="en-US" dirty="0">
                <a:solidFill>
                  <a:schemeClr val="tx1"/>
                </a:solidFill>
              </a:rPr>
              <a:t>上的取值</a:t>
            </a:r>
            <a:endParaRPr lang="en-US" altLang="zh-C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4671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将线性回归表示为矩阵相乘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19150"/>
            <a:ext cx="8229600" cy="458739"/>
          </a:xfrm>
        </p:spPr>
        <p:txBody>
          <a:bodyPr/>
          <a:lstStyle/>
          <a:p>
            <a:r>
              <a:rPr lang="zh-CN" altLang="en-US" dirty="0"/>
              <a:t>基于设计矩阵，</a:t>
            </a:r>
            <a:r>
              <a:rPr lang="en-US" altLang="zh-CN" dirty="0"/>
              <a:t>MLR</a:t>
            </a:r>
            <a:r>
              <a:rPr lang="zh-CN" altLang="en-US" dirty="0"/>
              <a:t>模型表示为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22</a:t>
            </a:fld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837398" y="1473594"/>
                <a:ext cx="4550989" cy="18982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uk-UA" altLang="zh-CN" b="1" i="1" smtClean="0">
                              <a:latin typeface="Cambria Math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uk-UA" altLang="zh-CN" b="1" i="1" smtClean="0">
                                  <a:latin typeface="Cambria Math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altLang="zh-CN" b="1" i="1" smtClean="0">
                                      <a:latin typeface="Cambria Math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uk-UA" altLang="zh-CN" b="1" i="1" smtClean="0">
                                          <a:latin typeface="Cambria Math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CN" b="0" i="1" smtClean="0">
                                          <a:latin typeface="Cambria Math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CN" b="1" i="1">
                                      <a:latin typeface="Cambria Math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uk-UA" altLang="zh-CN" b="1" i="1">
                                          <a:latin typeface="Cambria Math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CN" i="1">
                                          <a:latin typeface="Cambria Math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CN" b="1" i="1">
                                      <a:latin typeface="Cambria Math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uk-UA" altLang="zh-CN" b="1" i="1">
                                          <a:latin typeface="Cambria Math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CN" i="1">
                                          <a:latin typeface="Cambria Math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CN" b="1" i="1">
                                      <a:latin typeface="Cambria Math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uk-UA" altLang="zh-CN" b="1" i="1">
                                          <a:latin typeface="Cambria Math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CN" i="1">
                                          <a:latin typeface="Cambria Math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charset="0"/>
                                    </a:rPr>
                                    <m:t>4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i="1" smtClean="0">
                                  <a:latin typeface="Cambria Math" charset="0"/>
                                </a:rPr>
                                <m:t>⋮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altLang="zh-CN" b="1" i="1">
                                      <a:latin typeface="Cambria Math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uk-UA" altLang="zh-CN" b="1" i="1">
                                          <a:latin typeface="Cambria Math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CN" i="1">
                                          <a:latin typeface="Cambria Math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  <m:r>
                        <a:rPr lang="en-US" altLang="zh-CN" b="0" i="1" smtClean="0">
                          <a:latin typeface="Cambria Math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uk-UA" altLang="zh-CN" b="0" i="1" smtClean="0">
                              <a:latin typeface="Cambria Math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uk-UA" altLang="zh-CN" b="0" i="1" smtClean="0">
                                  <a:latin typeface="Cambria Math" charset="0"/>
                                </a:rPr>
                              </m:ctrlPr>
                            </m:eqArr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uk-UA" altLang="zh-CN" b="0" i="1" smtClean="0">
                                      <a:latin typeface="Cambria Math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CN" b="0" i="1" smtClean="0">
                                        <a:latin typeface="Cambria Math" charset="0"/>
                                      </a:rPr>
                                      <m:t>1</m:t>
                                    </m:r>
                                  </m:e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3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uk-UA" altLang="zh-CN" b="0" i="1" smtClean="0">
                                            <a:latin typeface="Cambria Math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b="0" i="1" smtClean="0">
                                                  <a:latin typeface="Cambria Math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brk m:alnAt="7"/>
                                                </m:rPr>
                                                <a:rPr lang="en-US" altLang="zh-CN" b="0" i="1" smtClean="0">
                                                  <a:latin typeface="Cambria Math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b="0" i="1" smtClean="0">
                                                  <a:latin typeface="Cambria Math" charset="0"/>
                                                </a:rPr>
                                                <m:t>11</m:t>
                                              </m:r>
                                            </m:sub>
                                          </m:sSub>
                                        </m:e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b="0" i="1" smtClean="0">
                                                  <a:latin typeface="Cambria Math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b="0" i="1" smtClean="0">
                                                  <a:latin typeface="Cambria Math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b="0" i="1" smtClean="0">
                                                  <a:latin typeface="Cambria Math" charset="0"/>
                                                </a:rPr>
                                                <m:t>12</m:t>
                                              </m:r>
                                            </m:sub>
                                          </m:sSub>
                                        </m:e>
                                        <m:e>
                                          <m:m>
                                            <m:mPr>
                                              <m:mcs>
                                                <m:mc>
                                                  <m:mcPr>
                                                    <m:count m:val="3"/>
                                                    <m:mcJc m:val="center"/>
                                                  </m:mcPr>
                                                </m:mc>
                                              </m:mcs>
                                              <m:ctrlPr>
                                                <a:rPr lang="uk-UA" altLang="zh-CN" b="0" i="1" smtClean="0">
                                                  <a:latin typeface="Cambria Math" charset="0"/>
                                                </a:rPr>
                                              </m:ctrlPr>
                                            </m:mPr>
                                            <m:mr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en-US" altLang="zh-CN" b="0" i="1" smtClean="0">
                                                        <a:latin typeface="Cambria Math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m:rPr>
                                                        <m:brk m:alnAt="7"/>
                                                      </m:rPr>
                                                      <a:rPr lang="en-US" altLang="zh-CN" b="0" i="1" smtClean="0">
                                                        <a:latin typeface="Cambria Math" charset="0"/>
                                                      </a:rPr>
                                                      <m:t>𝑥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altLang="zh-CN" b="0" i="1" smtClean="0">
                                                        <a:latin typeface="Cambria Math" charset="0"/>
                                                      </a:rPr>
                                                      <m:t>13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  <m:e>
                                                <m:r>
                                                  <a:rPr lang="uk-UA" altLang="zh-CN" b="0" i="1" smtClean="0">
                                                    <a:latin typeface="Cambria Math" charset="0"/>
                                                  </a:rPr>
                                                  <m:t>⋯</m:t>
                                                </m:r>
                                              </m:e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en-US" altLang="zh-CN" b="0" i="1" smtClean="0">
                                                        <a:latin typeface="Cambria Math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US" altLang="zh-CN" b="0" i="1" smtClean="0">
                                                        <a:latin typeface="Cambria Math" charset="0"/>
                                                      </a:rPr>
                                                      <m:t>𝑥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altLang="zh-CN" b="0" i="1" smtClean="0">
                                                        <a:latin typeface="Cambria Math" charset="0"/>
                                                      </a:rPr>
                                                      <m:t>1</m:t>
                                                    </m:r>
                                                    <m:r>
                                                      <a:rPr lang="en-US" altLang="zh-CN" b="0" i="1" smtClean="0">
                                                        <a:latin typeface="Cambria Math" charset="0"/>
                                                      </a:rPr>
                                                      <m:t>𝑑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</m:mr>
                                          </m:m>
                                        </m:e>
                                      </m:mr>
                                    </m:m>
                                  </m:e>
                                </m:mr>
                                <m:mr>
                                  <m:e>
                                    <m:r>
                                      <a:rPr lang="en-US" altLang="zh-CN" b="0" i="1" smtClean="0">
                                        <a:latin typeface="Cambria Math" charset="0"/>
                                      </a:rPr>
                                      <m:t>1</m:t>
                                    </m:r>
                                  </m:e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3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uk-UA" altLang="zh-CN" b="0" i="1" smtClean="0">
                                            <a:latin typeface="Cambria Math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b="0" i="1" smtClean="0">
                                                  <a:latin typeface="Cambria Math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brk m:alnAt="7"/>
                                                </m:rPr>
                                                <a:rPr lang="en-US" altLang="zh-CN" b="0" i="1" smtClean="0">
                                                  <a:latin typeface="Cambria Math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b="0" i="1" smtClean="0">
                                                  <a:latin typeface="Cambria Math" charset="0"/>
                                                </a:rPr>
                                                <m:t>21</m:t>
                                              </m:r>
                                            </m:sub>
                                          </m:sSub>
                                        </m:e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b="0" i="1" smtClean="0">
                                                  <a:latin typeface="Cambria Math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b="0" i="1" smtClean="0">
                                                  <a:latin typeface="Cambria Math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b="0" i="1" smtClean="0">
                                                  <a:latin typeface="Cambria Math" charset="0"/>
                                                </a:rPr>
                                                <m:t>22</m:t>
                                              </m:r>
                                            </m:sub>
                                          </m:sSub>
                                        </m:e>
                                        <m:e>
                                          <m:m>
                                            <m:mPr>
                                              <m:mcs>
                                                <m:mc>
                                                  <m:mcPr>
                                                    <m:count m:val="3"/>
                                                    <m:mcJc m:val="center"/>
                                                  </m:mcPr>
                                                </m:mc>
                                              </m:mcs>
                                              <m:ctrlPr>
                                                <a:rPr lang="uk-UA" altLang="zh-CN" b="0" i="1" smtClean="0">
                                                  <a:latin typeface="Cambria Math" charset="0"/>
                                                </a:rPr>
                                              </m:ctrlPr>
                                            </m:mPr>
                                            <m:mr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en-US" altLang="zh-CN" b="0" i="1" smtClean="0">
                                                        <a:latin typeface="Cambria Math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m:rPr>
                                                        <m:brk m:alnAt="7"/>
                                                      </m:rPr>
                                                      <a:rPr lang="en-US" altLang="zh-CN" b="0" i="1" smtClean="0">
                                                        <a:latin typeface="Cambria Math" charset="0"/>
                                                      </a:rPr>
                                                      <m:t>𝑥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altLang="zh-CN" b="0" i="1" smtClean="0">
                                                        <a:latin typeface="Cambria Math" charset="0"/>
                                                      </a:rPr>
                                                      <m:t>23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  <m:e>
                                                <m:r>
                                                  <a:rPr lang="uk-UA" altLang="zh-CN" b="0" i="1" smtClean="0">
                                                    <a:latin typeface="Cambria Math" charset="0"/>
                                                  </a:rPr>
                                                  <m:t>⋯</m:t>
                                                </m:r>
                                              </m:e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en-US" altLang="zh-CN" b="0" i="1" smtClean="0">
                                                        <a:latin typeface="Cambria Math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US" altLang="zh-CN" b="0" i="1" smtClean="0">
                                                        <a:latin typeface="Cambria Math" charset="0"/>
                                                      </a:rPr>
                                                      <m:t>𝑥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altLang="zh-CN" b="0" i="1" smtClean="0">
                                                        <a:latin typeface="Cambria Math" charset="0"/>
                                                      </a:rPr>
                                                      <m:t>2</m:t>
                                                    </m:r>
                                                    <m:r>
                                                      <a:rPr lang="en-US" altLang="zh-CN" b="0" i="1" smtClean="0">
                                                        <a:latin typeface="Cambria Math" charset="0"/>
                                                      </a:rPr>
                                                      <m:t>𝑑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</m:mr>
                                          </m:m>
                                        </m:e>
                                      </m:mr>
                                    </m:m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uk-UA" altLang="zh-CN" i="1">
                                      <a:latin typeface="Cambria Math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CN" b="0" i="1" smtClean="0">
                                        <a:latin typeface="Cambria Math" charset="0"/>
                                      </a:rPr>
                                      <m:t>1</m:t>
                                    </m:r>
                                  </m:e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3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uk-UA" altLang="zh-CN" i="1">
                                            <a:latin typeface="Cambria Math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b="0" i="1" smtClean="0">
                                                  <a:latin typeface="Cambria Math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brk m:alnAt="7"/>
                                                </m:rPr>
                                                <a:rPr lang="en-US" altLang="zh-CN" b="0" i="1" smtClean="0">
                                                  <a:latin typeface="Cambria Math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b="0" i="1" smtClean="0">
                                                  <a:latin typeface="Cambria Math" charset="0"/>
                                                </a:rPr>
                                                <m:t>31</m:t>
                                              </m:r>
                                            </m:sub>
                                          </m:sSub>
                                        </m:e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b="0" i="1" smtClean="0">
                                                  <a:latin typeface="Cambria Math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b="0" i="1" smtClean="0">
                                                  <a:latin typeface="Cambria Math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b="0" i="1" smtClean="0">
                                                  <a:latin typeface="Cambria Math" charset="0"/>
                                                </a:rPr>
                                                <m:t>23</m:t>
                                              </m:r>
                                            </m:sub>
                                          </m:sSub>
                                        </m:e>
                                        <m:e>
                                          <m:m>
                                            <m:mPr>
                                              <m:mcs>
                                                <m:mc>
                                                  <m:mcPr>
                                                    <m:count m:val="3"/>
                                                    <m:mcJc m:val="center"/>
                                                  </m:mcPr>
                                                </m:mc>
                                              </m:mcs>
                                              <m:ctrlPr>
                                                <a:rPr lang="uk-UA" altLang="zh-CN" i="1">
                                                  <a:latin typeface="Cambria Math" charset="0"/>
                                                </a:rPr>
                                              </m:ctrlPr>
                                            </m:mPr>
                                            <m:mr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en-US" altLang="zh-CN" b="0" i="1" smtClean="0">
                                                        <a:latin typeface="Cambria Math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m:rPr>
                                                        <m:brk m:alnAt="7"/>
                                                      </m:rPr>
                                                      <a:rPr lang="en-US" altLang="zh-CN" b="0" i="1" smtClean="0">
                                                        <a:latin typeface="Cambria Math" charset="0"/>
                                                      </a:rPr>
                                                      <m:t>𝑥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altLang="zh-CN" b="0" i="1" smtClean="0">
                                                        <a:latin typeface="Cambria Math" charset="0"/>
                                                      </a:rPr>
                                                      <m:t>33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  <m:e>
                                                <m:r>
                                                  <a:rPr lang="uk-UA" altLang="zh-CN" i="1" smtClean="0">
                                                    <a:latin typeface="Cambria Math" charset="0"/>
                                                  </a:rPr>
                                                  <m:t>⋯</m:t>
                                                </m:r>
                                              </m:e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en-US" altLang="zh-CN" b="0" i="1" smtClean="0">
                                                        <a:latin typeface="Cambria Math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US" altLang="zh-CN" b="0" i="1" smtClean="0">
                                                        <a:latin typeface="Cambria Math" charset="0"/>
                                                      </a:rPr>
                                                      <m:t>𝑥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altLang="zh-CN" b="0" i="1" smtClean="0">
                                                        <a:latin typeface="Cambria Math" charset="0"/>
                                                      </a:rPr>
                                                      <m:t>3</m:t>
                                                    </m:r>
                                                    <m:r>
                                                      <a:rPr lang="en-US" altLang="zh-CN" b="0" i="1" smtClean="0">
                                                        <a:latin typeface="Cambria Math" charset="0"/>
                                                      </a:rPr>
                                                      <m:t>𝑑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</m:mr>
                                          </m:m>
                                        </m:e>
                                      </m:mr>
                                    </m:m>
                                  </m:e>
                                </m:mr>
                                <m:mr>
                                  <m:e>
                                    <m:r>
                                      <a:rPr lang="en-US" altLang="zh-CN" b="0" i="1" smtClean="0">
                                        <a:latin typeface="Cambria Math" charset="0"/>
                                      </a:rPr>
                                      <m:t>1</m:t>
                                    </m:r>
                                  </m:e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3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uk-UA" altLang="zh-CN" i="1">
                                            <a:latin typeface="Cambria Math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b="0" i="1" smtClean="0">
                                                  <a:latin typeface="Cambria Math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brk m:alnAt="7"/>
                                                </m:rPr>
                                                <a:rPr lang="en-US" altLang="zh-CN" b="0" i="1" smtClean="0">
                                                  <a:latin typeface="Cambria Math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b="0" i="1" smtClean="0">
                                                  <a:latin typeface="Cambria Math" charset="0"/>
                                                </a:rPr>
                                                <m:t>41</m:t>
                                              </m:r>
                                            </m:sub>
                                          </m:sSub>
                                        </m:e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b="0" i="1" smtClean="0">
                                                  <a:latin typeface="Cambria Math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b="0" i="1" smtClean="0">
                                                  <a:latin typeface="Cambria Math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b="0" i="1" smtClean="0">
                                                  <a:latin typeface="Cambria Math" charset="0"/>
                                                </a:rPr>
                                                <m:t>42</m:t>
                                              </m:r>
                                            </m:sub>
                                          </m:sSub>
                                        </m:e>
                                        <m:e>
                                          <m:m>
                                            <m:mPr>
                                              <m:mcs>
                                                <m:mc>
                                                  <m:mcPr>
                                                    <m:count m:val="3"/>
                                                    <m:mcJc m:val="center"/>
                                                  </m:mcPr>
                                                </m:mc>
                                              </m:mcs>
                                              <m:ctrlPr>
                                                <a:rPr lang="uk-UA" altLang="zh-CN" i="1">
                                                  <a:latin typeface="Cambria Math" charset="0"/>
                                                </a:rPr>
                                              </m:ctrlPr>
                                            </m:mPr>
                                            <m:mr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en-US" altLang="zh-CN" b="0" i="1" smtClean="0">
                                                        <a:latin typeface="Cambria Math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m:rPr>
                                                        <m:brk m:alnAt="7"/>
                                                      </m:rPr>
                                                      <a:rPr lang="en-US" altLang="zh-CN" b="0" i="1" smtClean="0">
                                                        <a:latin typeface="Cambria Math" charset="0"/>
                                                      </a:rPr>
                                                      <m:t>𝑥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altLang="zh-CN" b="0" i="1" smtClean="0">
                                                        <a:latin typeface="Cambria Math" charset="0"/>
                                                      </a:rPr>
                                                      <m:t>43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  <m:e>
                                                <m:r>
                                                  <a:rPr lang="uk-UA" altLang="zh-CN" i="1" smtClean="0">
                                                    <a:latin typeface="Cambria Math" charset="0"/>
                                                  </a:rPr>
                                                  <m:t>⋯</m:t>
                                                </m:r>
                                              </m:e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en-US" altLang="zh-CN" b="0" i="1" smtClean="0">
                                                        <a:latin typeface="Cambria Math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US" altLang="zh-CN" b="0" i="1" smtClean="0">
                                                        <a:latin typeface="Cambria Math" charset="0"/>
                                                      </a:rPr>
                                                      <m:t>𝑥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altLang="zh-CN" b="0" i="1" smtClean="0">
                                                        <a:latin typeface="Cambria Math" charset="0"/>
                                                      </a:rPr>
                                                      <m:t>4</m:t>
                                                    </m:r>
                                                    <m:r>
                                                      <a:rPr lang="en-US" altLang="zh-CN" b="0" i="1" smtClean="0">
                                                        <a:latin typeface="Cambria Math" charset="0"/>
                                                      </a:rPr>
                                                      <m:t>𝑑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</m:mr>
                                          </m:m>
                                        </m:e>
                                      </m:mr>
                                    </m:m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uk-UA" altLang="zh-CN" i="1">
                                      <a:latin typeface="Cambria Math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zh-CN" altLang="en-US" b="0" i="1" smtClean="0">
                                        <a:latin typeface="Cambria Math" charset="0"/>
                                      </a:rPr>
                                      <m:t> </m:t>
                                    </m:r>
                                    <m:r>
                                      <a:rPr lang="zh-CN" altLang="en-US" b="0" i="1" smtClean="0">
                                        <a:latin typeface="Cambria Math" charset="0"/>
                                      </a:rPr>
                                      <m:t>  </m:t>
                                    </m:r>
                                    <m:r>
                                      <a:rPr lang="uk-UA" altLang="zh-CN" i="1">
                                        <a:latin typeface="Cambria Math" charset="0"/>
                                      </a:rPr>
                                      <m:t>⋮</m:t>
                                    </m:r>
                                    <m:r>
                                      <a:rPr lang="zh-CN" altLang="en-US" b="0" i="1" smtClean="0">
                                        <a:latin typeface="Cambria Math" charset="0"/>
                                      </a:rPr>
                                      <m:t>   </m:t>
                                    </m:r>
                                  </m:e>
                                  <m:e>
                                    <m:r>
                                      <a:rPr lang="zh-CN" altLang="en-US" b="0" i="1" smtClean="0">
                                        <a:latin typeface="Cambria Math" charset="0"/>
                                      </a:rPr>
                                      <m:t>  </m:t>
                                    </m:r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3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uk-UA" altLang="zh-CN" i="1">
                                            <a:latin typeface="Cambria Math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uk-UA" altLang="zh-CN" i="1" smtClean="0">
                                              <a:latin typeface="Cambria Math" charset="0"/>
                                            </a:rPr>
                                            <m:t>⋮</m:t>
                                          </m:r>
                                          <m:r>
                                            <a:rPr lang="zh-CN" altLang="en-US" b="0" i="1" smtClean="0">
                                              <a:latin typeface="Cambria Math" charset="0"/>
                                            </a:rPr>
                                            <m:t>  </m:t>
                                          </m:r>
                                        </m:e>
                                        <m:e>
                                          <m:r>
                                            <a:rPr lang="zh-CN" altLang="en-US" b="0" i="1" smtClean="0">
                                              <a:latin typeface="Cambria Math" charset="0"/>
                                            </a:rPr>
                                            <m:t>  </m:t>
                                          </m:r>
                                          <m:r>
                                            <a:rPr lang="uk-UA" altLang="zh-CN" i="1" smtClean="0">
                                              <a:latin typeface="Cambria Math" charset="0"/>
                                            </a:rPr>
                                            <m:t>⋮</m:t>
                                          </m:r>
                                          <m:r>
                                            <a:rPr lang="zh-CN" altLang="en-US" b="0" i="1" smtClean="0">
                                              <a:latin typeface="Cambria Math" charset="0"/>
                                            </a:rPr>
                                            <m:t>  </m:t>
                                          </m:r>
                                        </m:e>
                                        <m:e>
                                          <m:m>
                                            <m:mPr>
                                              <m:mcs>
                                                <m:mc>
                                                  <m:mcPr>
                                                    <m:count m:val="3"/>
                                                    <m:mcJc m:val="center"/>
                                                  </m:mcPr>
                                                </m:mc>
                                              </m:mcs>
                                              <m:ctrlPr>
                                                <a:rPr lang="uk-UA" altLang="zh-CN" i="1">
                                                  <a:latin typeface="Cambria Math" charset="0"/>
                                                </a:rPr>
                                              </m:ctrlPr>
                                            </m:mPr>
                                            <m:mr>
                                              <m:e>
                                                <m:r>
                                                  <m:rPr>
                                                    <m:brk m:alnAt="7"/>
                                                  </m:rPr>
                                                  <a:rPr lang="zh-CN" altLang="en-US" b="0" i="1" smtClean="0">
                                                    <a:latin typeface="Cambria Math" charset="0"/>
                                                  </a:rPr>
                                                  <m:t> </m:t>
                                                </m:r>
                                                <m:r>
                                                  <a:rPr lang="zh-CN" altLang="en-US" b="0" i="1" smtClean="0">
                                                    <a:latin typeface="Cambria Math" charset="0"/>
                                                  </a:rPr>
                                                  <m:t> </m:t>
                                                </m:r>
                                                <m:r>
                                                  <a:rPr lang="uk-UA" altLang="zh-CN" i="1" smtClean="0">
                                                    <a:latin typeface="Cambria Math" charset="0"/>
                                                  </a:rPr>
                                                  <m:t>⋮</m:t>
                                                </m:r>
                                                <m:r>
                                                  <a:rPr lang="zh-CN" altLang="en-US" b="0" i="1" smtClean="0">
                                                    <a:latin typeface="Cambria Math" charset="0"/>
                                                  </a:rPr>
                                                  <m:t>  </m:t>
                                                </m:r>
                                              </m:e>
                                              <m:e>
                                                <m:r>
                                                  <a:rPr lang="zh-CN" altLang="en-US" b="0" i="1" smtClean="0">
                                                    <a:latin typeface="Cambria Math" charset="0"/>
                                                  </a:rPr>
                                                  <m:t>  </m:t>
                                                </m:r>
                                                <m:r>
                                                  <a:rPr lang="uk-UA" altLang="zh-CN" i="1" smtClean="0">
                                                    <a:latin typeface="Cambria Math" charset="0"/>
                                                  </a:rPr>
                                                  <m:t>⋮</m:t>
                                                </m:r>
                                                <m:r>
                                                  <a:rPr lang="zh-CN" altLang="en-US" b="0" i="1" smtClean="0">
                                                    <a:latin typeface="Cambria Math" charset="0"/>
                                                  </a:rPr>
                                                  <m:t>  </m:t>
                                                </m:r>
                                              </m:e>
                                              <m:e>
                                                <m:r>
                                                  <a:rPr lang="zh-CN" altLang="en-US" b="0" i="1" smtClean="0">
                                                    <a:latin typeface="Cambria Math" charset="0"/>
                                                  </a:rPr>
                                                  <m:t>  </m:t>
                                                </m:r>
                                                <m:r>
                                                  <a:rPr lang="uk-UA" altLang="zh-CN" i="1" smtClean="0">
                                                    <a:latin typeface="Cambria Math" charset="0"/>
                                                  </a:rPr>
                                                  <m:t>⋮</m:t>
                                                </m:r>
                                                <m:r>
                                                  <a:rPr lang="zh-CN" altLang="en-US" b="0" i="1" smtClean="0">
                                                    <a:latin typeface="Cambria Math" charset="0"/>
                                                  </a:rPr>
                                                  <m:t>  </m:t>
                                                </m:r>
                                              </m:e>
                                            </m:mr>
                                          </m:m>
                                        </m:e>
                                      </m:mr>
                                    </m:m>
                                  </m:e>
                                </m:mr>
                                <m:mr>
                                  <m:e>
                                    <m:r>
                                      <a:rPr lang="en-US" altLang="zh-CN" b="0" i="1" smtClean="0">
                                        <a:latin typeface="Cambria Math" charset="0"/>
                                      </a:rPr>
                                      <m:t>1</m:t>
                                    </m:r>
                                  </m:e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3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uk-UA" altLang="zh-CN" i="1">
                                            <a:latin typeface="Cambria Math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b="0" i="1" smtClean="0">
                                                  <a:latin typeface="Cambria Math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brk m:alnAt="7"/>
                                                </m:rPr>
                                                <a:rPr lang="en-US" altLang="zh-CN" b="0" i="1" smtClean="0">
                                                  <a:latin typeface="Cambria Math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b="0" i="1" smtClean="0">
                                                  <a:latin typeface="Cambria Math" charset="0"/>
                                                </a:rPr>
                                                <m:t>𝑛</m:t>
                                              </m:r>
                                              <m:r>
                                                <a:rPr lang="en-US" altLang="zh-CN" b="0" i="1" smtClean="0">
                                                  <a:latin typeface="Cambria Math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</m:e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b="0" i="1" smtClean="0">
                                                  <a:latin typeface="Cambria Math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b="0" i="1" smtClean="0">
                                                  <a:latin typeface="Cambria Math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b="0" i="1" smtClean="0">
                                                  <a:latin typeface="Cambria Math" charset="0"/>
                                                </a:rPr>
                                                <m:t>𝑛</m:t>
                                              </m:r>
                                              <m:r>
                                                <a:rPr lang="en-US" altLang="zh-CN" b="0" i="1" smtClean="0">
                                                  <a:latin typeface="Cambria Math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</m:e>
                                        <m:e>
                                          <m:m>
                                            <m:mPr>
                                              <m:mcs>
                                                <m:mc>
                                                  <m:mcPr>
                                                    <m:count m:val="3"/>
                                                    <m:mcJc m:val="center"/>
                                                  </m:mcPr>
                                                </m:mc>
                                              </m:mcs>
                                              <m:ctrlPr>
                                                <a:rPr lang="uk-UA" altLang="zh-CN" i="1">
                                                  <a:latin typeface="Cambria Math" charset="0"/>
                                                </a:rPr>
                                              </m:ctrlPr>
                                            </m:mPr>
                                            <m:mr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en-US" altLang="zh-CN" b="0" i="1" smtClean="0">
                                                        <a:latin typeface="Cambria Math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m:rPr>
                                                        <m:brk m:alnAt="7"/>
                                                      </m:rPr>
                                                      <a:rPr lang="en-US" altLang="zh-CN" b="0" i="1" smtClean="0">
                                                        <a:latin typeface="Cambria Math" charset="0"/>
                                                      </a:rPr>
                                                      <m:t>𝑥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altLang="zh-CN" b="0" i="1" smtClean="0">
                                                        <a:latin typeface="Cambria Math" charset="0"/>
                                                      </a:rPr>
                                                      <m:t>𝑛</m:t>
                                                    </m:r>
                                                    <m:r>
                                                      <a:rPr lang="en-US" altLang="zh-CN" b="0" i="1" smtClean="0">
                                                        <a:latin typeface="Cambria Math" charset="0"/>
                                                      </a:rPr>
                                                      <m:t>3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  <m:e>
                                                <m:r>
                                                  <a:rPr lang="uk-UA" altLang="zh-CN" i="1" smtClean="0">
                                                    <a:latin typeface="Cambria Math" charset="0"/>
                                                  </a:rPr>
                                                  <m:t>⋯</m:t>
                                                </m:r>
                                              </m:e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en-US" altLang="zh-CN" b="0" i="1" smtClean="0">
                                                        <a:latin typeface="Cambria Math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US" altLang="zh-CN" b="0" i="1" smtClean="0">
                                                        <a:latin typeface="Cambria Math" charset="0"/>
                                                      </a:rPr>
                                                      <m:t>𝑥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altLang="zh-CN" b="0" i="1" smtClean="0">
                                                        <a:latin typeface="Cambria Math" charset="0"/>
                                                      </a:rPr>
                                                      <m:t>𝑛𝑑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</m:mr>
                                          </m:m>
                                        </m:e>
                                      </m:mr>
                                    </m:m>
                                  </m:e>
                                </m:mr>
                              </m:m>
                            </m:e>
                          </m:eqArr>
                        </m:e>
                      </m:d>
                      <m:r>
                        <a:rPr lang="zh-CN" altLang="en-US" b="0" i="1" smtClean="0">
                          <a:latin typeface="Cambria Math" charset="0"/>
                        </a:rPr>
                        <m:t> </m:t>
                      </m:r>
                      <m:d>
                        <m:dPr>
                          <m:begChr m:val="["/>
                          <m:endChr m:val="]"/>
                          <m:ctrlPr>
                            <a:rPr lang="uk-UA" altLang="zh-CN" b="0" i="1" smtClean="0">
                              <a:latin typeface="Cambria Math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uk-UA" altLang="zh-CN" b="0" i="1" smtClean="0">
                                  <a:latin typeface="Cambria Math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charset="0"/>
                                    </a:rPr>
                                    <m:t>4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altLang="zh-CN" b="0" i="1" smtClean="0">
                                  <a:latin typeface="Cambria Math" charset="0"/>
                                </a:rPr>
                                <m:t>⋮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charset="0"/>
                                    </a:rPr>
                                    <m:t>𝑑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7398" y="1473594"/>
                <a:ext cx="4550989" cy="1898277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062940" y="2201517"/>
                <a:ext cx="1254318" cy="44242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2800" b="1" i="1" smtClean="0">
                              <a:solidFill>
                                <a:srgbClr val="C00000"/>
                              </a:solidFill>
                              <a:latin typeface="Cambria Math" charset="0"/>
                            </a:rPr>
                          </m:ctrlPr>
                        </m:accPr>
                        <m:e>
                          <m:r>
                            <a:rPr lang="en-US" altLang="zh-CN" sz="2800" b="1" i="1" smtClean="0">
                              <a:solidFill>
                                <a:srgbClr val="C00000"/>
                              </a:solidFill>
                              <a:latin typeface="Cambria Math" charset="0"/>
                            </a:rPr>
                            <m:t>𝕐</m:t>
                          </m:r>
                        </m:e>
                      </m:acc>
                      <m:r>
                        <a:rPr lang="en-US" altLang="zh-CN" sz="2800" b="0" i="1" smtClean="0">
                          <a:solidFill>
                            <a:srgbClr val="C00000"/>
                          </a:solidFill>
                          <a:latin typeface="Cambria Math" charset="0"/>
                        </a:rPr>
                        <m:t>=</m:t>
                      </m:r>
                      <m:r>
                        <a:rPr lang="en-US" altLang="zh-CN" sz="2800" b="0" i="1" smtClean="0">
                          <a:solidFill>
                            <a:srgbClr val="C00000"/>
                          </a:solidFill>
                          <a:latin typeface="Cambria Math" charset="0"/>
                        </a:rPr>
                        <m:t>𝕏</m:t>
                      </m:r>
                      <m:r>
                        <a:rPr lang="en-US" altLang="zh-CN" sz="2800" b="1" i="1" smtClean="0">
                          <a:solidFill>
                            <a:srgbClr val="C00000"/>
                          </a:solidFill>
                          <a:latin typeface="Cambria Math" charset="0"/>
                        </a:rPr>
                        <m:t>𝜽</m:t>
                      </m:r>
                    </m:oMath>
                  </m:oMathPara>
                </a14:m>
                <a:endParaRPr lang="en-US" sz="28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2940" y="2201517"/>
                <a:ext cx="1254318" cy="442429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ight Arrow 6"/>
          <p:cNvSpPr/>
          <p:nvPr/>
        </p:nvSpPr>
        <p:spPr>
          <a:xfrm>
            <a:off x="2922998" y="2201517"/>
            <a:ext cx="505785" cy="45012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685017" y="1910993"/>
            <a:ext cx="3051424" cy="290524"/>
          </a:xfrm>
          <a:prstGeom prst="rect">
            <a:avLst/>
          </a:prstGeom>
          <a:solidFill>
            <a:srgbClr val="4F81BD">
              <a:alpha val="2980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844479" y="1378683"/>
            <a:ext cx="543908" cy="2093982"/>
          </a:xfrm>
          <a:prstGeom prst="rect">
            <a:avLst/>
          </a:prstGeom>
          <a:solidFill>
            <a:schemeClr val="accent3">
              <a:alpha val="29804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4315605" y="4144197"/>
                <a:ext cx="3594574" cy="28918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 smtClean="0">
                                  <a:latin typeface="Cambria Math" charset="0"/>
                                </a:rPr>
                              </m:ctrlPr>
                            </m:accPr>
                            <m:e>
                              <m:r>
                                <a:rPr lang="en-US" altLang="zh-CN" b="0" i="1" smtClean="0">
                                  <a:latin typeface="Cambria Math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altLang="zh-CN" b="0" i="1" smtClean="0">
                              <a:latin typeface="Cambria Math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b="0" i="1" smtClean="0">
                          <a:latin typeface="Cambria Math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charset="0"/>
                            </a:rPr>
                            <m:t>𝕏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charset="0"/>
                            </a:rPr>
                            <m:t>2,:</m:t>
                          </m:r>
                        </m:sub>
                      </m:sSub>
                      <m:r>
                        <a:rPr lang="en-US" altLang="zh-CN" b="1" i="1" smtClean="0">
                          <a:latin typeface="Cambria Math" charset="0"/>
                        </a:rPr>
                        <m:t>𝜽</m:t>
                      </m:r>
                      <m:r>
                        <a:rPr lang="en-US" altLang="zh-CN" b="1" i="1" smtClean="0">
                          <a:latin typeface="Cambria Math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b="0" i="1" smtClean="0">
                          <a:latin typeface="Cambria Math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CN" b="0" i="1" smtClean="0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smtClean="0">
                          <a:latin typeface="Cambria Math" charset="0"/>
                        </a:rPr>
                        <m:t>+…+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charset="0"/>
                            </a:rPr>
                            <m:t>𝑑</m:t>
                          </m:r>
                        </m:sub>
                      </m:sSub>
                      <m:sSub>
                        <m:sSubPr>
                          <m:ctrlPr>
                            <a:rPr lang="en-US" altLang="zh-CN" b="0" i="1" smtClean="0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charset="0"/>
                            </a:rPr>
                            <m:t>𝑑</m:t>
                          </m:r>
                        </m:sub>
                      </m:sSub>
                    </m:oMath>
                  </m:oMathPara>
                </a14:m>
                <a:endParaRPr lang="en-US" altLang="zh-CN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5605" y="4144197"/>
                <a:ext cx="3594574" cy="289182"/>
              </a:xfrm>
              <a:prstGeom prst="rect">
                <a:avLst/>
              </a:prstGeom>
              <a:blipFill rotWithShape="0">
                <a:blip r:embed="rId4"/>
                <a:stretch>
                  <a:fillRect l="-508" t="-19149" b="-212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ight Arrow 11"/>
          <p:cNvSpPr/>
          <p:nvPr/>
        </p:nvSpPr>
        <p:spPr>
          <a:xfrm rot="5400000">
            <a:off x="5945771" y="3289499"/>
            <a:ext cx="334243" cy="7053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108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设计矩阵（</a:t>
            </a:r>
            <a:r>
              <a:rPr lang="en-US" altLang="zh-CN" dirty="0"/>
              <a:t>Design</a:t>
            </a:r>
            <a:r>
              <a:rPr lang="zh-CN" altLang="en-US" dirty="0"/>
              <a:t> </a:t>
            </a:r>
            <a:r>
              <a:rPr lang="en-US" altLang="zh-CN" dirty="0"/>
              <a:t>Matrix</a:t>
            </a:r>
            <a:r>
              <a:rPr lang="zh-CN" altLang="en-US" dirty="0"/>
              <a:t>）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19150"/>
            <a:ext cx="3806575" cy="3937000"/>
          </a:xfrm>
        </p:spPr>
        <p:txBody>
          <a:bodyPr/>
          <a:lstStyle/>
          <a:p>
            <a:r>
              <a:rPr lang="zh-CN" altLang="en-US" dirty="0"/>
              <a:t>考虑之前波士顿房价的例子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23</a:t>
            </a:fld>
            <a:endParaRPr lang="zh-CN" alt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1470" y="1356189"/>
            <a:ext cx="1835649" cy="3287730"/>
          </a:xfrm>
          <a:prstGeom prst="rect">
            <a:avLst/>
          </a:prstGeom>
        </p:spPr>
      </p:pic>
      <p:sp>
        <p:nvSpPr>
          <p:cNvPr id="8" name="Content Placeholder 2"/>
          <p:cNvSpPr txBox="1">
            <a:spLocks/>
          </p:cNvSpPr>
          <p:nvPr/>
        </p:nvSpPr>
        <p:spPr>
          <a:xfrm>
            <a:off x="4017793" y="1356190"/>
            <a:ext cx="4669007" cy="523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基于设计矩阵，</a:t>
            </a:r>
            <a:r>
              <a:rPr lang="en-US" altLang="zh-CN" dirty="0"/>
              <a:t>MLR</a:t>
            </a:r>
            <a:r>
              <a:rPr lang="zh-CN" altLang="en-US" dirty="0"/>
              <a:t>模型表示为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5462021" y="1964801"/>
                <a:ext cx="1254318" cy="44242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2800" b="1" i="1" smtClean="0">
                              <a:solidFill>
                                <a:srgbClr val="C00000"/>
                              </a:solidFill>
                              <a:latin typeface="Cambria Math" charset="0"/>
                            </a:rPr>
                          </m:ctrlPr>
                        </m:accPr>
                        <m:e>
                          <m:r>
                            <a:rPr lang="en-US" altLang="zh-CN" sz="2800" b="1" i="1" smtClean="0">
                              <a:solidFill>
                                <a:srgbClr val="C00000"/>
                              </a:solidFill>
                              <a:latin typeface="Cambria Math" charset="0"/>
                            </a:rPr>
                            <m:t>𝕐</m:t>
                          </m:r>
                        </m:e>
                      </m:acc>
                      <m:r>
                        <a:rPr lang="en-US" altLang="zh-CN" sz="2800" b="0" i="1" smtClean="0">
                          <a:solidFill>
                            <a:srgbClr val="C00000"/>
                          </a:solidFill>
                          <a:latin typeface="Cambria Math" charset="0"/>
                        </a:rPr>
                        <m:t>=</m:t>
                      </m:r>
                      <m:r>
                        <a:rPr lang="en-US" altLang="zh-CN" sz="2800" b="0" i="1" smtClean="0">
                          <a:solidFill>
                            <a:srgbClr val="C00000"/>
                          </a:solidFill>
                          <a:latin typeface="Cambria Math" charset="0"/>
                        </a:rPr>
                        <m:t>𝕏</m:t>
                      </m:r>
                      <m:r>
                        <a:rPr lang="en-US" altLang="zh-CN" sz="2800" b="1" i="1" smtClean="0">
                          <a:solidFill>
                            <a:srgbClr val="C00000"/>
                          </a:solidFill>
                          <a:latin typeface="Cambria Math" charset="0"/>
                        </a:rPr>
                        <m:t>𝜽</m:t>
                      </m:r>
                    </m:oMath>
                  </m:oMathPara>
                </a14:m>
                <a:endParaRPr lang="en-US" sz="28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2021" y="1964801"/>
                <a:ext cx="1254318" cy="442429"/>
              </a:xfrm>
              <a:prstGeom prst="rect">
                <a:avLst/>
              </a:prstGeom>
              <a:blipFill>
                <a:blip r:embed="rId4"/>
                <a:stretch>
                  <a:fillRect l="-7071" t="-19444" r="-6061" b="-5556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4601186" y="2658789"/>
                <a:ext cx="3566769" cy="59144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en-US" sz="1600" b="1" dirty="0">
                    <a:solidFill>
                      <a:srgbClr val="C00000"/>
                    </a:solidFill>
                    <a:latin typeface="Helvetica Neue" charset="0"/>
                  </a:rPr>
                  <a:t>请结合左图分别说出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600" b="1" i="1">
                            <a:solidFill>
                              <a:srgbClr val="C00000"/>
                            </a:solidFill>
                            <a:latin typeface="Cambria Math" charset="0"/>
                          </a:rPr>
                        </m:ctrlPr>
                      </m:accPr>
                      <m:e>
                        <m:r>
                          <a:rPr lang="en-US" altLang="zh-CN" sz="1600" b="1" i="1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𝕐</m:t>
                        </m:r>
                      </m:e>
                    </m:acc>
                  </m:oMath>
                </a14:m>
                <a:r>
                  <a:rPr lang="zh-CN" altLang="en-US" sz="1600" b="1" dirty="0">
                    <a:solidFill>
                      <a:srgbClr val="C00000"/>
                    </a:solidFill>
                    <a:latin typeface="Helvetica Neue" charset="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1600" i="1">
                        <a:solidFill>
                          <a:srgbClr val="C00000"/>
                        </a:solidFill>
                        <a:latin typeface="Cambria Math" charset="0"/>
                      </a:rPr>
                      <m:t>𝕏</m:t>
                    </m:r>
                  </m:oMath>
                </a14:m>
                <a:r>
                  <a:rPr lang="zh-CN" altLang="en-US" sz="1600" b="1" dirty="0">
                    <a:solidFill>
                      <a:srgbClr val="C00000"/>
                    </a:solidFill>
                    <a:latin typeface="Helvetica Neue" charset="0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1600" b="1" i="1">
                        <a:solidFill>
                          <a:srgbClr val="C00000"/>
                        </a:solidFill>
                        <a:latin typeface="Cambria Math" charset="0"/>
                      </a:rPr>
                      <m:t>𝜽</m:t>
                    </m:r>
                  </m:oMath>
                </a14:m>
                <a:r>
                  <a:rPr lang="zh-CN" altLang="en-US" sz="1600" b="1" dirty="0">
                    <a:solidFill>
                      <a:srgbClr val="C00000"/>
                    </a:solidFill>
                    <a:latin typeface="Helvetica Neue" charset="0"/>
                  </a:rPr>
                  <a:t>的维数</a:t>
                </a:r>
                <a:endParaRPr lang="en-US" altLang="zh-CN" sz="1600" b="1" dirty="0">
                  <a:solidFill>
                    <a:srgbClr val="C00000"/>
                  </a:solidFill>
                  <a:latin typeface="Helvetica Neue" charset="0"/>
                </a:endParaRPr>
              </a:p>
              <a:p>
                <a:r>
                  <a:rPr lang="en-US" altLang="zh-CN" sz="1600" b="1" dirty="0">
                    <a:solidFill>
                      <a:srgbClr val="C00000"/>
                    </a:solidFill>
                    <a:latin typeface="Helvetica Neue" charset="0"/>
                  </a:rPr>
                  <a:t>A.</a:t>
                </a:r>
                <a:r>
                  <a:rPr lang="zh-CN" altLang="en-US" sz="1600" b="1" dirty="0">
                    <a:solidFill>
                      <a:srgbClr val="C00000"/>
                    </a:solidFill>
                    <a:latin typeface="Helvetica Neue" charset="0"/>
                  </a:rPr>
                  <a:t> </a:t>
                </a:r>
                <a:r>
                  <a:rPr lang="en-US" altLang="zh-CN" sz="1600" b="1" dirty="0">
                    <a:solidFill>
                      <a:srgbClr val="C00000"/>
                    </a:solidFill>
                    <a:latin typeface="Helvetica Neue" charset="0"/>
                  </a:rPr>
                  <a:t>506</a:t>
                </a:r>
                <a:r>
                  <a:rPr lang="zh-CN" altLang="en-US" sz="1600" b="1" dirty="0">
                    <a:solidFill>
                      <a:srgbClr val="C00000"/>
                    </a:solidFill>
                    <a:latin typeface="Helvetica Neue" charset="0"/>
                  </a:rPr>
                  <a:t>*</a:t>
                </a:r>
                <a:r>
                  <a:rPr lang="en-US" altLang="zh-CN" sz="1600" b="1" dirty="0">
                    <a:solidFill>
                      <a:srgbClr val="C00000"/>
                    </a:solidFill>
                    <a:latin typeface="Helvetica Neue" charset="0"/>
                  </a:rPr>
                  <a:t>1</a:t>
                </a:r>
                <a:r>
                  <a:rPr lang="zh-CN" altLang="en-US" sz="1600" b="1" dirty="0">
                    <a:solidFill>
                      <a:srgbClr val="C00000"/>
                    </a:solidFill>
                    <a:latin typeface="Helvetica Neue" charset="0"/>
                  </a:rPr>
                  <a:t>   </a:t>
                </a:r>
                <a:r>
                  <a:rPr lang="en-US" altLang="zh-CN" sz="1600" b="1" dirty="0">
                    <a:solidFill>
                      <a:srgbClr val="C00000"/>
                    </a:solidFill>
                    <a:latin typeface="Helvetica Neue" charset="0"/>
                  </a:rPr>
                  <a:t>B.</a:t>
                </a:r>
                <a:r>
                  <a:rPr lang="zh-CN" altLang="en-US" sz="1600" b="1" dirty="0">
                    <a:solidFill>
                      <a:srgbClr val="C00000"/>
                    </a:solidFill>
                    <a:latin typeface="Helvetica Neue" charset="0"/>
                  </a:rPr>
                  <a:t> </a:t>
                </a:r>
                <a:r>
                  <a:rPr lang="en-US" altLang="zh-CN" sz="1600" b="1" dirty="0">
                    <a:solidFill>
                      <a:srgbClr val="C00000"/>
                    </a:solidFill>
                    <a:latin typeface="Helvetica Neue" charset="0"/>
                  </a:rPr>
                  <a:t>506</a:t>
                </a:r>
                <a:r>
                  <a:rPr lang="zh-CN" altLang="en-US" sz="1600" b="1" dirty="0">
                    <a:solidFill>
                      <a:srgbClr val="C00000"/>
                    </a:solidFill>
                    <a:latin typeface="Helvetica Neue" charset="0"/>
                  </a:rPr>
                  <a:t>*</a:t>
                </a:r>
                <a:r>
                  <a:rPr lang="en-US" altLang="zh-CN" sz="1600" b="1" dirty="0">
                    <a:solidFill>
                      <a:srgbClr val="C00000"/>
                    </a:solidFill>
                    <a:latin typeface="Helvetica Neue" charset="0"/>
                  </a:rPr>
                  <a:t>3</a:t>
                </a:r>
                <a:r>
                  <a:rPr lang="zh-CN" altLang="en-US" sz="1600" b="1" dirty="0">
                    <a:solidFill>
                      <a:srgbClr val="C00000"/>
                    </a:solidFill>
                    <a:latin typeface="Helvetica Neue" charset="0"/>
                  </a:rPr>
                  <a:t>  </a:t>
                </a:r>
                <a:r>
                  <a:rPr lang="en-US" altLang="zh-CN" sz="1600" b="1" dirty="0">
                    <a:solidFill>
                      <a:srgbClr val="C00000"/>
                    </a:solidFill>
                    <a:latin typeface="Helvetica Neue" charset="0"/>
                  </a:rPr>
                  <a:t>C.</a:t>
                </a:r>
                <a:r>
                  <a:rPr lang="zh-CN" altLang="en-US" sz="1600" b="1" dirty="0">
                    <a:solidFill>
                      <a:srgbClr val="C00000"/>
                    </a:solidFill>
                    <a:latin typeface="Helvetica Neue" charset="0"/>
                  </a:rPr>
                  <a:t> </a:t>
                </a:r>
                <a:r>
                  <a:rPr lang="en-US" altLang="zh-CN" sz="1600" b="1" dirty="0">
                    <a:solidFill>
                      <a:srgbClr val="C00000"/>
                    </a:solidFill>
                    <a:latin typeface="Helvetica Neue" charset="0"/>
                  </a:rPr>
                  <a:t>3</a:t>
                </a:r>
                <a:r>
                  <a:rPr lang="zh-CN" altLang="en-US" sz="1600" b="1" dirty="0">
                    <a:solidFill>
                      <a:srgbClr val="C00000"/>
                    </a:solidFill>
                    <a:latin typeface="Helvetica Neue" charset="0"/>
                  </a:rPr>
                  <a:t>*</a:t>
                </a:r>
                <a:r>
                  <a:rPr lang="en-US" altLang="zh-CN" sz="1600" b="1" dirty="0">
                    <a:solidFill>
                      <a:srgbClr val="C00000"/>
                    </a:solidFill>
                    <a:latin typeface="Helvetica Neue" charset="0"/>
                  </a:rPr>
                  <a:t>506</a:t>
                </a:r>
                <a:r>
                  <a:rPr lang="zh-CN" altLang="en-US" sz="1600" b="1" dirty="0">
                    <a:solidFill>
                      <a:srgbClr val="C00000"/>
                    </a:solidFill>
                    <a:latin typeface="Helvetica Neue" charset="0"/>
                  </a:rPr>
                  <a:t> </a:t>
                </a:r>
                <a:r>
                  <a:rPr lang="en-US" altLang="zh-CN" sz="1600" b="1" dirty="0">
                    <a:solidFill>
                      <a:srgbClr val="C00000"/>
                    </a:solidFill>
                    <a:latin typeface="Helvetica Neue" charset="0"/>
                  </a:rPr>
                  <a:t>D.</a:t>
                </a:r>
                <a:r>
                  <a:rPr lang="zh-CN" altLang="en-US" sz="1600" b="1" dirty="0">
                    <a:solidFill>
                      <a:srgbClr val="C00000"/>
                    </a:solidFill>
                    <a:latin typeface="Helvetica Neue" charset="0"/>
                  </a:rPr>
                  <a:t> </a:t>
                </a:r>
                <a:r>
                  <a:rPr lang="en-US" altLang="zh-CN" sz="1600" b="1" dirty="0">
                    <a:solidFill>
                      <a:srgbClr val="C00000"/>
                    </a:solidFill>
                    <a:latin typeface="Helvetica Neue" charset="0"/>
                  </a:rPr>
                  <a:t>3</a:t>
                </a:r>
                <a:r>
                  <a:rPr lang="zh-CN" altLang="en-US" sz="1600" b="1" dirty="0">
                    <a:solidFill>
                      <a:srgbClr val="C00000"/>
                    </a:solidFill>
                    <a:latin typeface="Helvetica Neue" charset="0"/>
                  </a:rPr>
                  <a:t>*</a:t>
                </a:r>
                <a:r>
                  <a:rPr lang="en-US" altLang="zh-CN" sz="1600" b="1" dirty="0">
                    <a:solidFill>
                      <a:srgbClr val="C00000"/>
                    </a:solidFill>
                    <a:latin typeface="Helvetica Neue" charset="0"/>
                  </a:rPr>
                  <a:t>1</a:t>
                </a:r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1186" y="2658789"/>
                <a:ext cx="3566769" cy="591444"/>
              </a:xfrm>
              <a:prstGeom prst="rect">
                <a:avLst/>
              </a:prstGeom>
              <a:blipFill>
                <a:blip r:embed="rId5"/>
                <a:stretch>
                  <a:fillRect l="-1064" t="-6383" b="-10638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/>
          <p:cNvSpPr/>
          <p:nvPr/>
        </p:nvSpPr>
        <p:spPr>
          <a:xfrm>
            <a:off x="4074002" y="2691173"/>
            <a:ext cx="64312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000000"/>
                </a:solidFill>
                <a:latin typeface="Helvetica Neue" charset="0"/>
              </a:rPr>
              <a:t>🔔</a:t>
            </a:r>
            <a:r>
              <a:rPr lang="zh-CN" altLang="en-US" sz="2800" dirty="0">
                <a:solidFill>
                  <a:srgbClr val="000000"/>
                </a:solidFill>
                <a:latin typeface="Helvetica Neue" charset="0"/>
              </a:rPr>
              <a:t> 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698383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MSE</a:t>
            </a:r>
            <a:r>
              <a:rPr lang="zh-CN" altLang="en-US" dirty="0"/>
              <a:t>目标函数的矩阵形式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zh-CN" altLang="en-US" dirty="0" smtClean="0"/>
                  <a:t>给定线性回归模型</a:t>
                </a:r>
                <a:r>
                  <a:rPr lang="zh-CN" altLang="en-US" dirty="0"/>
                  <a:t>，均方误差</a:t>
                </a:r>
                <a:r>
                  <a:rPr lang="en-US" altLang="zh-CN" dirty="0"/>
                  <a:t>MSE</a:t>
                </a:r>
                <a:r>
                  <a:rPr lang="zh-CN" altLang="en-US" dirty="0"/>
                  <a:t>可以写为</a:t>
                </a: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dirty="0">
                          <a:latin typeface="Cambria Math" charset="0"/>
                        </a:rPr>
                        <m:t>𝑅</m:t>
                      </m:r>
                      <m:d>
                        <m:dPr>
                          <m:ctrlPr>
                            <a:rPr lang="en-US" altLang="zh-CN" i="1" dirty="0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en-US" altLang="zh-CN" i="1" dirty="0">
                              <a:latin typeface="Cambria Math" charset="0"/>
                            </a:rPr>
                            <m:t>𝑎</m:t>
                          </m:r>
                          <m:r>
                            <a:rPr lang="en-US" altLang="zh-CN" i="1" dirty="0">
                              <a:latin typeface="Cambria Math" charset="0"/>
                            </a:rPr>
                            <m:t>,</m:t>
                          </m:r>
                          <m:r>
                            <a:rPr lang="en-US" altLang="zh-CN" i="1" dirty="0">
                              <a:latin typeface="Cambria Math" charset="0"/>
                            </a:rPr>
                            <m:t>𝑏</m:t>
                          </m:r>
                        </m:e>
                      </m:d>
                      <m:r>
                        <a:rPr lang="en-US" altLang="zh-CN" i="1" dirty="0">
                          <a:latin typeface="Cambria Math" charset="0"/>
                        </a:rPr>
                        <m:t>=</m:t>
                      </m:r>
                      <m:f>
                        <m:fPr>
                          <m:ctrlPr>
                            <a:rPr lang="bg-BG" altLang="zh-CN" i="1" dirty="0">
                              <a:latin typeface="Cambria Math" charset="0"/>
                            </a:rPr>
                          </m:ctrlPr>
                        </m:fPr>
                        <m:num>
                          <m:r>
                            <a:rPr lang="en-US" altLang="zh-CN" i="1" dirty="0">
                              <a:latin typeface="Cambria Math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b="0" i="1" dirty="0" smtClean="0">
                              <a:latin typeface="Cambria Math" charset="0"/>
                            </a:rPr>
                            <m:t>2</m:t>
                          </m:r>
                          <m:r>
                            <a:rPr lang="en-US" altLang="zh-CN" i="1" dirty="0">
                              <a:latin typeface="Cambria Math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is-IS" altLang="zh-CN" i="1" dirty="0">
                              <a:latin typeface="Cambria Math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i="1" dirty="0">
                              <a:latin typeface="Cambria Math" charset="0"/>
                            </a:rPr>
                            <m:t>𝑖</m:t>
                          </m:r>
                          <m:r>
                            <a:rPr lang="en-US" altLang="zh-CN" i="1" dirty="0">
                              <a:latin typeface="Cambria Math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i="1" dirty="0">
                              <a:latin typeface="Cambria Math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altLang="zh-CN" i="1" dirty="0">
                                  <a:latin typeface="Cambria Math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i="1" dirty="0">
                                      <a:latin typeface="Cambria Math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i="1" dirty="0">
                                          <a:latin typeface="Cambria Math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 dirty="0">
                                          <a:latin typeface="Cambria Math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altLang="zh-CN" i="1" dirty="0">
                                          <a:latin typeface="Cambria Math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zh-CN" i="1" dirty="0">
                                      <a:latin typeface="Cambria Math" charset="0"/>
                                    </a:rPr>
                                    <m:t>−</m:t>
                                  </m:r>
                                  <m:d>
                                    <m:dPr>
                                      <m:ctrlPr>
                                        <a:rPr lang="en-US" altLang="zh-CN" i="1" dirty="0">
                                          <a:latin typeface="Cambria Math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i="1" dirty="0">
                                          <a:latin typeface="Cambria Math" charset="0"/>
                                        </a:rPr>
                                        <m:t>𝑎</m:t>
                                      </m:r>
                                      <m:r>
                                        <a:rPr lang="en-US" altLang="zh-CN" i="1" dirty="0">
                                          <a:latin typeface="Cambria Math" charset="0"/>
                                        </a:rPr>
                                        <m:t>+</m:t>
                                      </m:r>
                                      <m:r>
                                        <a:rPr lang="en-US" altLang="zh-CN" i="1" dirty="0">
                                          <a:latin typeface="Cambria Math" charset="0"/>
                                        </a:rPr>
                                        <m:t>𝑏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i="1" dirty="0">
                                              <a:latin typeface="Cambria Math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i="1" dirty="0">
                                              <a:latin typeface="Cambria Math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 dirty="0">
                                              <a:latin typeface="Cambria Math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altLang="zh-CN" i="1" dirty="0">
                                  <a:latin typeface="Cambria Math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dirty="0"/>
              </a:p>
              <a:p>
                <a:endParaRPr lang="en-US" altLang="zh-CN" dirty="0"/>
              </a:p>
              <a:p>
                <a:pPr>
                  <a:spcAft>
                    <a:spcPts val="1200"/>
                  </a:spcAft>
                </a:pPr>
                <a:r>
                  <a:rPr lang="zh-CN" altLang="en-US" dirty="0"/>
                  <a:t>给定线性回归的矩阵形式，我们有</a:t>
                </a: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charset="0"/>
                        </a:rPr>
                        <m:t>𝑅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latin typeface="Cambria Math" charset="0"/>
                            </a:rPr>
                            <m:t>𝜽</m:t>
                          </m:r>
                        </m:e>
                      </m:d>
                      <m:r>
                        <a:rPr lang="en-US" altLang="zh-CN" b="0" i="1" smtClean="0">
                          <a:latin typeface="Cambria Math" charset="0"/>
                        </a:rPr>
                        <m:t>=</m:t>
                      </m:r>
                      <m:f>
                        <m:fPr>
                          <m:ctrlPr>
                            <a:rPr lang="bg-BG" altLang="zh-CN" i="1" dirty="0">
                              <a:latin typeface="Cambria Math" charset="0"/>
                            </a:rPr>
                          </m:ctrlPr>
                        </m:fPr>
                        <m:num>
                          <m:r>
                            <a:rPr lang="en-US" altLang="zh-CN" i="1" dirty="0">
                              <a:latin typeface="Cambria Math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i="1" dirty="0">
                              <a:latin typeface="Cambria Math" charset="0"/>
                            </a:rPr>
                            <m:t>2</m:t>
                          </m:r>
                          <m:r>
                            <a:rPr lang="en-US" altLang="zh-CN" i="1" dirty="0">
                              <a:latin typeface="Cambria Math" charset="0"/>
                            </a:rPr>
                            <m:t>𝑛</m:t>
                          </m:r>
                        </m:den>
                      </m:f>
                      <m:sSubSup>
                        <m:sSubSupPr>
                          <m:ctrlPr>
                            <a:rPr lang="en-US" altLang="zh-CN" b="0" i="1" smtClean="0">
                              <a:latin typeface="Cambria Math" charset="0"/>
                            </a:rPr>
                          </m:ctrlPr>
                        </m:sSub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uk-UA" altLang="zh-CN" b="0" i="1" smtClean="0">
                                  <a:latin typeface="Cambria Math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charset="0"/>
                                </a:rPr>
                                <m:t>𝕐</m:t>
                              </m:r>
                              <m:r>
                                <a:rPr lang="en-US" altLang="zh-CN" b="0" i="1" smtClean="0">
                                  <a:latin typeface="Cambria Math" charset="0"/>
                                </a:rPr>
                                <m:t>−</m:t>
                              </m:r>
                              <m:r>
                                <a:rPr lang="en-US" altLang="zh-CN" b="0" i="1" smtClean="0">
                                  <a:latin typeface="Cambria Math" charset="0"/>
                                </a:rPr>
                                <m:t>𝕏</m:t>
                              </m:r>
                              <m:r>
                                <a:rPr lang="en-US" altLang="zh-CN" b="1" i="1" smtClean="0">
                                  <a:latin typeface="Cambria Math" charset="0"/>
                                </a:rPr>
                                <m:t>𝜽</m:t>
                              </m:r>
                            </m:e>
                          </m:d>
                        </m:e>
                        <m:sub>
                          <m:r>
                            <a:rPr lang="en-US" altLang="zh-CN" b="0" i="1" smtClean="0">
                              <a:latin typeface="Cambria Math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  <a:p>
                <a:r>
                  <a:rPr lang="zh-CN" altLang="en-US" dirty="0"/>
                  <a:t>注：</a:t>
                </a:r>
                <a:endParaRPr lang="en-US" altLang="zh-CN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charset="0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uk-UA" i="1" smtClean="0">
                                <a:latin typeface="Cambria Math" charset="0"/>
                              </a:rPr>
                            </m:ctrlPr>
                          </m:dPr>
                          <m:e>
                            <m:r>
                              <a:rPr lang="en-US" altLang="zh-CN" b="1" i="1" smtClean="0">
                                <a:latin typeface="Cambria Math" charset="0"/>
                              </a:rPr>
                              <m:t>𝒙</m:t>
                            </m:r>
                          </m:e>
                        </m:d>
                      </m:e>
                      <m:sub>
                        <m:r>
                          <a:rPr lang="en-US" altLang="zh-CN" b="0" i="1" smtClean="0">
                            <a:latin typeface="Cambria Math" charset="0"/>
                          </a:rPr>
                          <m:t>2</m:t>
                        </m:r>
                      </m:sub>
                    </m:sSub>
                    <m:r>
                      <a:rPr lang="en-US" altLang="zh-CN" b="0" i="1" smtClean="0">
                        <a:latin typeface="Cambria Math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zh-CN" b="0" i="1" smtClean="0">
                            <a:latin typeface="Cambria Math" charset="0"/>
                          </a:rPr>
                        </m:ctrlPr>
                      </m:radPr>
                      <m:deg/>
                      <m:e>
                        <m:nary>
                          <m:naryPr>
                            <m:chr m:val="∑"/>
                            <m:limLoc m:val="subSup"/>
                            <m:ctrlPr>
                              <a:rPr lang="is-IS" altLang="zh-CN" b="0" i="1" smtClean="0">
                                <a:latin typeface="Cambria Math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5"/>
                              </m:rPr>
                              <a:rPr lang="en-US" altLang="zh-CN" b="0" i="1" smtClean="0">
                                <a:latin typeface="Cambria Math" charset="0"/>
                              </a:rPr>
                              <m:t>𝑖</m:t>
                            </m:r>
                            <m:r>
                              <a:rPr lang="en-US" altLang="zh-CN" b="0" i="1" smtClean="0">
                                <a:latin typeface="Cambria Math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zh-CN" b="0" i="1" smtClean="0">
                                <a:latin typeface="Cambria Math" charset="0"/>
                              </a:rPr>
                              <m:t>𝑛</m:t>
                            </m:r>
                          </m:sup>
                          <m:e>
                            <m:sSubSup>
                              <m:sSubSupPr>
                                <m:ctrlPr>
                                  <a:rPr lang="en-US" altLang="zh-CN" b="0" i="1" smtClean="0">
                                    <a:latin typeface="Cambria Math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b="0" i="1" smtClean="0">
                                    <a:latin typeface="Cambria Math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en-US" altLang="zh-CN" b="0" i="1" smtClean="0">
                                    <a:latin typeface="Cambria Math" charset="0"/>
                                  </a:rPr>
                                  <m:t>2</m:t>
                                </m:r>
                              </m:sup>
                            </m:sSubSup>
                          </m:e>
                        </m:nary>
                      </m:e>
                    </m:rad>
                  </m:oMath>
                </a14:m>
                <a:r>
                  <a:rPr lang="zh-CN" altLang="en-US" dirty="0"/>
                  <a:t> 称为向量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charset="0"/>
                      </a:rPr>
                      <m:t>𝒙</m:t>
                    </m:r>
                  </m:oMath>
                </a14:m>
                <a:r>
                  <a:rPr lang="zh-CN" altLang="en-US" dirty="0"/>
                  <a:t>的</a:t>
                </a:r>
                <a:r>
                  <a:rPr lang="en-US" altLang="zh-CN" dirty="0"/>
                  <a:t>L2</a:t>
                </a:r>
                <a:r>
                  <a:rPr lang="zh-CN" altLang="en-US" dirty="0"/>
                  <a:t>范数（</a:t>
                </a:r>
                <a:r>
                  <a:rPr lang="en-US" altLang="zh-CN" dirty="0"/>
                  <a:t>L2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Norm</a:t>
                </a:r>
                <a:r>
                  <a:rPr lang="zh-CN" altLang="en-US" dirty="0"/>
                  <a:t>）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 l="-667" t="-7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25855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使用梯度下降求解多元线性回归模型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zh-CN" altLang="en-US" dirty="0" smtClean="0"/>
                  <a:t>给定线性回归的矩阵形式，我们有</a:t>
                </a: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charset="0"/>
                        </a:rPr>
                        <m:t>𝑅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latin typeface="Cambria Math" charset="0"/>
                            </a:rPr>
                            <m:t>𝜽</m:t>
                          </m:r>
                        </m:e>
                      </m:d>
                      <m:r>
                        <a:rPr lang="en-US" altLang="zh-CN" b="0" i="1" smtClean="0">
                          <a:latin typeface="Cambria Math" charset="0"/>
                        </a:rPr>
                        <m:t>=</m:t>
                      </m:r>
                      <m:sSubSup>
                        <m:sSubSupPr>
                          <m:ctrlPr>
                            <a:rPr lang="en-US" altLang="zh-CN" b="0" i="1" smtClean="0">
                              <a:latin typeface="Cambria Math" charset="0"/>
                            </a:rPr>
                          </m:ctrlPr>
                        </m:sSubSupPr>
                        <m:e>
                          <m:f>
                            <m:fPr>
                              <m:ctrlPr>
                                <a:rPr lang="bg-BG" altLang="zh-CN" b="0" i="1" smtClean="0">
                                  <a:latin typeface="Cambria Math" charset="0"/>
                                </a:rPr>
                              </m:ctrlPr>
                            </m:fPr>
                            <m:num>
                              <m:r>
                                <a:rPr lang="en-US" altLang="zh-CN" b="0" i="1" smtClean="0">
                                  <a:latin typeface="Cambria Math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b="0" i="1" smtClean="0">
                                  <a:latin typeface="Cambria Math" charset="0"/>
                                </a:rPr>
                                <m:t>2</m:t>
                              </m:r>
                              <m:r>
                                <a:rPr lang="en-US" altLang="zh-CN" b="0" i="1" smtClean="0">
                                  <a:latin typeface="Cambria Math" charset="0"/>
                                </a:rPr>
                                <m:t>𝑛</m:t>
                              </m:r>
                            </m:den>
                          </m:f>
                          <m:d>
                            <m:dPr>
                              <m:begChr m:val="‖"/>
                              <m:endChr m:val="‖"/>
                              <m:ctrlPr>
                                <a:rPr lang="uk-UA" altLang="zh-CN" b="0" i="1" smtClean="0">
                                  <a:latin typeface="Cambria Math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charset="0"/>
                                </a:rPr>
                                <m:t>𝕐</m:t>
                              </m:r>
                              <m:r>
                                <a:rPr lang="en-US" altLang="zh-CN" b="0" i="1" smtClean="0">
                                  <a:latin typeface="Cambria Math" charset="0"/>
                                </a:rPr>
                                <m:t>−</m:t>
                              </m:r>
                              <m:r>
                                <a:rPr lang="en-US" altLang="zh-CN" b="0" i="1" smtClean="0">
                                  <a:latin typeface="Cambria Math" charset="0"/>
                                </a:rPr>
                                <m:t>𝕏</m:t>
                              </m:r>
                              <m:r>
                                <a:rPr lang="en-US" altLang="zh-CN" b="1" i="1" smtClean="0">
                                  <a:latin typeface="Cambria Math" charset="0"/>
                                </a:rPr>
                                <m:t>𝜽</m:t>
                              </m:r>
                            </m:e>
                          </m:d>
                        </m:e>
                        <m:sub>
                          <m:r>
                            <a:rPr lang="en-US" altLang="zh-CN" b="0" i="1" smtClean="0">
                              <a:latin typeface="Cambria Math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  <a:p>
                <a:r>
                  <a:rPr lang="zh-CN" altLang="en-US" dirty="0"/>
                  <a:t>请推导出梯度向量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</m:ctrlPr>
                      </m:sSubPr>
                      <m:e>
                        <m:r>
                          <a:rPr lang="zh-CN" altLang="en-US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𝛻</m:t>
                        </m:r>
                      </m:e>
                      <m:sub>
                        <m:r>
                          <a:rPr lang="en-US" altLang="zh-CN" b="1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𝜽</m:t>
                        </m:r>
                      </m:sub>
                    </m:sSub>
                    <m:r>
                      <a:rPr lang="en-US" altLang="zh-CN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𝑅</m:t>
                    </m:r>
                    <m:d>
                      <m:dPr>
                        <m:ctrlPr>
                          <a:rPr lang="en-US" altLang="zh-CN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𝜽</m:t>
                        </m:r>
                      </m:e>
                    </m:d>
                  </m:oMath>
                </a14:m>
                <a:endParaRPr lang="en-US" altLang="zh-CN" b="0" dirty="0" smtClean="0">
                  <a:ea typeface="Cambria Math" charset="0"/>
                  <a:cs typeface="Cambria Math" charset="0"/>
                </a:endParaRPr>
              </a:p>
              <a:p>
                <a:endParaRPr lang="en-US" dirty="0" smtClean="0"/>
              </a:p>
              <a:p>
                <a:endParaRPr lang="en-US" dirty="0"/>
              </a:p>
              <a:p>
                <a:endParaRPr lang="en-US" dirty="0" smtClean="0"/>
              </a:p>
              <a:p>
                <a:r>
                  <a:rPr lang="zh-CN" altLang="en-US" dirty="0"/>
                  <a:t>课堂练习：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给定一组训练数据：</a:t>
                </a:r>
                <a:r>
                  <a:rPr lang="en-US" altLang="zh-CN" dirty="0"/>
                  <a:t>(2,4),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(5,1),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(8,9)</a:t>
                </a:r>
              </a:p>
              <a:p>
                <a:pPr lvl="1"/>
                <a:r>
                  <a:rPr lang="zh-CN" altLang="en-US" dirty="0"/>
                  <a:t>请计算</a:t>
                </a:r>
                <a14:m>
                  <m:oMath xmlns:m="http://schemas.openxmlformats.org/officeDocument/2006/math">
                    <m:r>
                      <a:rPr lang="en-US" altLang="zh-CN" b="1" i="1">
                        <a:latin typeface="Cambria Math" charset="0"/>
                      </a:rPr>
                      <m:t>𝜽</m:t>
                    </m:r>
                    <m:r>
                      <a:rPr lang="en-US" altLang="zh-CN" i="1">
                        <a:latin typeface="Cambria Math" charset="0"/>
                      </a:rPr>
                      <m:t>=[</m:t>
                    </m:r>
                    <m:f>
                      <m:fPr>
                        <m:ctrlPr>
                          <a:rPr lang="bg-BG" altLang="zh-CN" i="1"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charset="0"/>
                          </a:rPr>
                          <m:t>1</m:t>
                        </m:r>
                      </m:num>
                      <m:den>
                        <m:r>
                          <a:rPr lang="en-US" altLang="zh-CN" i="1">
                            <a:latin typeface="Cambria Math" charset="0"/>
                          </a:rPr>
                          <m:t>2</m:t>
                        </m:r>
                      </m:den>
                    </m:f>
                    <m:r>
                      <a:rPr lang="en-US" altLang="zh-CN" i="1">
                        <a:latin typeface="Cambria Math" charset="0"/>
                      </a:rPr>
                      <m:t>,</m:t>
                    </m:r>
                    <m:f>
                      <m:fPr>
                        <m:ctrlPr>
                          <a:rPr lang="bg-BG" altLang="zh-CN" i="1"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charset="0"/>
                          </a:rPr>
                          <m:t>5</m:t>
                        </m:r>
                      </m:num>
                      <m:den>
                        <m:r>
                          <a:rPr lang="en-US" altLang="zh-CN" i="1">
                            <a:latin typeface="Cambria Math" charset="0"/>
                          </a:rPr>
                          <m:t>6</m:t>
                        </m:r>
                      </m:den>
                    </m:f>
                    <m:r>
                      <a:rPr lang="en-US" altLang="zh-CN" i="1">
                        <a:latin typeface="Cambria Math" charset="0"/>
                      </a:rPr>
                      <m:t>]</m:t>
                    </m:r>
                  </m:oMath>
                </a14:m>
                <a:r>
                  <a:rPr lang="zh-CN" altLang="en-US" dirty="0"/>
                  <a:t>时的梯度向量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𝛻</m:t>
                        </m:r>
                      </m:e>
                      <m:sub>
                        <m:r>
                          <a:rPr lang="en-US" altLang="zh-CN" b="1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𝜽</m:t>
                        </m:r>
                      </m:sub>
                    </m:sSub>
                    <m:r>
                      <a:rPr lang="en-US" altLang="zh-CN" i="1">
                        <a:latin typeface="Cambria Math" charset="0"/>
                        <a:ea typeface="Cambria Math" charset="0"/>
                        <a:cs typeface="Cambria Math" charset="0"/>
                      </a:rPr>
                      <m:t>𝑅</m:t>
                    </m:r>
                    <m:r>
                      <a:rPr lang="en-US" altLang="zh-CN" i="1">
                        <a:latin typeface="Cambria Math" charset="0"/>
                        <a:ea typeface="Cambria Math" charset="0"/>
                        <a:cs typeface="Cambria Math" charset="0"/>
                      </a:rPr>
                      <m:t>(</m:t>
                    </m:r>
                    <m:r>
                      <a:rPr lang="en-US" altLang="zh-CN" b="1" i="1">
                        <a:latin typeface="Cambria Math" charset="0"/>
                        <a:ea typeface="Cambria Math" charset="0"/>
                        <a:cs typeface="Cambria Math" charset="0"/>
                      </a:rPr>
                      <m:t>𝜽</m:t>
                    </m:r>
                    <m:r>
                      <a:rPr lang="en-US" altLang="zh-CN" i="1">
                        <a:latin typeface="Cambria Math" charset="0"/>
                        <a:ea typeface="Cambria Math" charset="0"/>
                        <a:cs typeface="Cambria Math" charset="0"/>
                      </a:rPr>
                      <m:t>)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pPr lvl="1"/>
                <a:endParaRPr lang="en-US" altLang="zh-CN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 l="-667" t="-7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25</a:t>
            </a:fld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574026" y="2514003"/>
                <a:ext cx="4827604" cy="10204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𝛻</m:t>
                          </m:r>
                        </m:e>
                        <m:sub>
                          <m:r>
                            <a:rPr lang="en-US" altLang="zh-CN" b="1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𝜽</m:t>
                          </m:r>
                        </m:sub>
                      </m:sSub>
                      <m:r>
                        <a:rPr lang="en-US" altLang="zh-CN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𝑅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𝜽</m:t>
                          </m:r>
                        </m:e>
                      </m:d>
                      <m:r>
                        <a:rPr lang="en-US" altLang="zh-CN" b="0" i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f>
                        <m:fPr>
                          <m:ctrlPr>
                            <a:rPr lang="bg-BG" altLang="zh-CN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𝑛</m:t>
                          </m:r>
                        </m:den>
                      </m:f>
                      <m:sSup>
                        <m:sSupPr>
                          <m:ctrlPr>
                            <a:rPr lang="en-US" altLang="zh-CN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𝕏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𝑇</m:t>
                          </m:r>
                        </m:sup>
                      </m:sSup>
                      <m:d>
                        <m:dPr>
                          <m:ctrlPr>
                            <a:rPr lang="en-US" altLang="zh-CN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𝕏</m:t>
                          </m:r>
                          <m:r>
                            <a:rPr lang="en-US" altLang="zh-CN" b="1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𝜽</m:t>
                          </m:r>
                          <m:r>
                            <a:rPr lang="en-US" altLang="zh-CN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−</m:t>
                          </m:r>
                          <m:r>
                            <a:rPr lang="en-US" altLang="zh-CN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𝕐</m:t>
                          </m:r>
                        </m:e>
                      </m:d>
                      <m:r>
                        <a:rPr lang="en-US" altLang="zh-CN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f>
                        <m:fPr>
                          <m:ctrlPr>
                            <a:rPr lang="bg-BG" altLang="zh-CN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is-IS" altLang="zh-CN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𝑖</m:t>
                          </m:r>
                          <m:r>
                            <a:rPr lang="en-US" altLang="zh-CN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𝑛</m:t>
                          </m:r>
                        </m:sup>
                        <m:e>
                          <m:r>
                            <a:rPr lang="en-US" altLang="zh-CN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(</m:t>
                          </m:r>
                          <m:sSubSup>
                            <m:sSubSupPr>
                              <m:ctrlPr>
                                <a:rPr lang="en-US" altLang="zh-CN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1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𝑇</m:t>
                              </m:r>
                            </m:sup>
                          </m:sSubSup>
                          <m:r>
                            <a:rPr lang="en-US" altLang="zh-CN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𝜃</m:t>
                          </m:r>
                          <m:r>
                            <a:rPr lang="en-US" altLang="zh-CN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)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uk-UA" altLang="zh-CN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</m:ctrlPr>
                            </m:dPr>
                            <m:e>
                              <m:eqArr>
                                <m:eqArrPr>
                                  <m:ctrlPr>
                                    <a:rPr lang="uk-UA" altLang="zh-CN" b="0" i="1" smtClean="0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</m:ctrlPr>
                                </m:eqArrPr>
                                <m:e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charset="0"/>
                                          <a:ea typeface="Cambria Math" charset="0"/>
                                          <a:cs typeface="Cambria Math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charset="0"/>
                                          <a:ea typeface="Cambria Math" charset="0"/>
                                          <a:cs typeface="Cambria Math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charset="0"/>
                                          <a:ea typeface="Cambria Math" charset="0"/>
                                          <a:cs typeface="Cambria Math" charset="0"/>
                                        </a:rPr>
                                        <m:t>𝑖</m:t>
                                      </m:r>
                                      <m:r>
                                        <a:rPr lang="en-US" altLang="zh-CN" b="0" i="1" smtClean="0">
                                          <a:latin typeface="Cambria Math" charset="0"/>
                                          <a:ea typeface="Cambria Math" charset="0"/>
                                          <a:cs typeface="Cambria Math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charset="0"/>
                                        </a:rPr>
                                        <m:t>𝑖</m:t>
                                      </m:r>
                                      <m:r>
                                        <a:rPr lang="en-US" altLang="zh-CN" b="0" i="1" smtClean="0">
                                          <a:latin typeface="Cambria Math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  <m:e>
                                  <m:r>
                                    <a:rPr lang="en-US" i="1" smtClean="0">
                                      <a:latin typeface="Cambria Math" charset="0"/>
                                    </a:rPr>
                                    <m:t>⋮</m:t>
                                  </m:r>
                                </m:e>
                                <m:e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charset="0"/>
                                        </a:rPr>
                                        <m:t>𝑖𝑑</m:t>
                                      </m:r>
                                    </m:sub>
                                  </m:sSub>
                                </m:e>
                              </m:eqArr>
                            </m:e>
                          </m:d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4026" y="2514003"/>
                <a:ext cx="4827604" cy="1020472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53871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600" dirty="0"/>
              <a:t>随机梯度下降（</a:t>
            </a:r>
            <a:r>
              <a:rPr lang="en-US" altLang="zh-CN" sz="2600" dirty="0">
                <a:latin typeface="Calibri" charset="0"/>
                <a:ea typeface="Calibri" charset="0"/>
                <a:cs typeface="Calibri" charset="0"/>
              </a:rPr>
              <a:t>Stochastic</a:t>
            </a:r>
            <a:r>
              <a:rPr lang="zh-CN" altLang="en-US" sz="2600" dirty="0"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altLang="zh-CN" sz="2600" dirty="0">
                <a:latin typeface="Calibri" charset="0"/>
                <a:ea typeface="Calibri" charset="0"/>
                <a:cs typeface="Calibri" charset="0"/>
              </a:rPr>
              <a:t>Gradient</a:t>
            </a:r>
            <a:r>
              <a:rPr lang="zh-CN" altLang="en-US" sz="2600" dirty="0"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altLang="zh-CN" sz="2600" dirty="0">
                <a:latin typeface="Calibri" charset="0"/>
                <a:ea typeface="Calibri" charset="0"/>
                <a:cs typeface="Calibri" charset="0"/>
              </a:rPr>
              <a:t>Descent,</a:t>
            </a:r>
            <a:r>
              <a:rPr lang="zh-CN" altLang="en-US" sz="2600" dirty="0"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altLang="zh-CN" sz="2600" dirty="0">
                <a:latin typeface="Calibri" charset="0"/>
                <a:ea typeface="Calibri" charset="0"/>
                <a:cs typeface="Calibri" charset="0"/>
              </a:rPr>
              <a:t>SGD</a:t>
            </a:r>
            <a:r>
              <a:rPr lang="zh-CN" altLang="en-US" sz="2600" dirty="0"/>
              <a:t>）</a:t>
            </a:r>
            <a:endParaRPr lang="en-US" sz="2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主流机器学习（深度学习）的参数优化方法</a:t>
                </a:r>
                <a:endParaRPr lang="en-US" altLang="zh-CN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pPr lvl="1"/>
                <a:r>
                  <a:rPr lang="en-US" altLang="zh-CN" dirty="0"/>
                  <a:t>Shuffle:</a:t>
                </a:r>
                <a:r>
                  <a:rPr lang="zh-CN" altLang="en-US" dirty="0"/>
                  <a:t> 将数据做一次随机化排序</a:t>
                </a:r>
                <a:endParaRPr lang="en-US" altLang="zh-CN" dirty="0"/>
              </a:p>
              <a:p>
                <a:pPr lvl="1"/>
                <a:r>
                  <a:rPr lang="en-US" altLang="zh-CN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charset="0"/>
                          </a:rPr>
                          <m:t>𝕏</m:t>
                        </m:r>
                      </m:e>
                      <m:sub>
                        <m:r>
                          <a:rPr lang="en-US" altLang="zh-CN" i="1">
                            <a:latin typeface="Cambria Math" charset="0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en-US" altLang="zh-CN" dirty="0"/>
                  <a:t>,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charset="0"/>
                          </a:rPr>
                          <m:t>𝕐</m:t>
                        </m:r>
                      </m:e>
                      <m:sub>
                        <m:r>
                          <a:rPr lang="en-US" altLang="zh-CN" i="1">
                            <a:latin typeface="Cambria Math" charset="0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en-US" altLang="zh-CN" dirty="0"/>
                  <a:t>):</a:t>
                </a:r>
                <a:r>
                  <a:rPr lang="zh-CN" altLang="en-US" dirty="0"/>
                  <a:t> 大小为</a:t>
                </a:r>
                <a:r>
                  <a:rPr lang="en-US" altLang="zh-CN" dirty="0"/>
                  <a:t>B</a:t>
                </a:r>
                <a:r>
                  <a:rPr lang="zh-CN" altLang="en-US" dirty="0"/>
                  <a:t>的一个</a:t>
                </a:r>
                <a:r>
                  <a:rPr lang="en-US" altLang="zh-CN" dirty="0"/>
                  <a:t>mini-batch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667" t="-7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26</a:t>
            </a:fld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702860" y="1415930"/>
                <a:ext cx="5472267" cy="227241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marL="342900" indent="-342900">
                  <a:buFont typeface="+mj-lt"/>
                  <a:buAutoNum type="arabicPeriod"/>
                </a:pPr>
                <a:r>
                  <a:rPr lang="en-US" altLang="zh-CN" sz="2000" b="0" dirty="0"/>
                  <a:t>In</a:t>
                </a:r>
                <a:r>
                  <a:rPr lang="en-US" altLang="zh-CN" sz="2000" dirty="0"/>
                  <a:t>itialize</a:t>
                </a:r>
                <a:r>
                  <a:rPr lang="zh-CN" altLang="en-US" sz="2000" b="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b="0" i="1" smtClean="0"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altLang="zh-CN" sz="2000" b="1" i="1" smtClean="0">
                            <a:latin typeface="Cambria Math" charset="0"/>
                          </a:rPr>
                          <m:t>𝜽</m:t>
                        </m:r>
                      </m:e>
                      <m:sup>
                        <m:r>
                          <a:rPr lang="en-US" altLang="zh-CN" sz="2000" b="0" i="1" smtClean="0">
                            <a:latin typeface="Cambria Math" charset="0"/>
                          </a:rPr>
                          <m:t>(0)</m:t>
                        </m:r>
                      </m:sup>
                    </m:sSup>
                    <m:r>
                      <a:rPr lang="en-US" altLang="zh-CN" sz="2000" b="0" i="0" smtClean="0">
                        <a:latin typeface="Cambria Math" charset="0"/>
                      </a:rPr>
                      <m:t>←</m:t>
                    </m:r>
                  </m:oMath>
                </a14:m>
                <a:r>
                  <a:rPr lang="zh-CN" altLang="en-US" sz="2000" dirty="0"/>
                  <a:t> </a:t>
                </a:r>
                <a:r>
                  <a:rPr lang="en-US" altLang="zh-CN" sz="2000" dirty="0"/>
                  <a:t>Zero,</a:t>
                </a:r>
                <a:r>
                  <a:rPr lang="zh-CN" altLang="en-US" sz="2000" dirty="0"/>
                  <a:t> </a:t>
                </a:r>
                <a:r>
                  <a:rPr lang="en-US" altLang="zh-CN" sz="2000" dirty="0"/>
                  <a:t>Random,</a:t>
                </a:r>
                <a:r>
                  <a:rPr lang="zh-CN" altLang="en-US" sz="2000" dirty="0"/>
                  <a:t> </a:t>
                </a:r>
                <a:r>
                  <a:rPr lang="en-US" altLang="zh-CN" sz="2000" dirty="0"/>
                  <a:t>etc.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altLang="zh-CN" sz="2000" dirty="0"/>
                  <a:t>For</a:t>
                </a:r>
                <a:r>
                  <a:rPr lang="zh-CN" altLang="en-US" sz="2000" dirty="0"/>
                  <a:t> </a:t>
                </a:r>
                <a:r>
                  <a:rPr lang="en-US" altLang="zh-CN" sz="2000" dirty="0"/>
                  <a:t>t</a:t>
                </a:r>
                <a:r>
                  <a:rPr lang="zh-CN" altLang="en-US" sz="2000" dirty="0"/>
                  <a:t> </a:t>
                </a:r>
                <a:r>
                  <a:rPr lang="en-US" altLang="zh-CN" sz="2000" dirty="0"/>
                  <a:t>from</a:t>
                </a:r>
                <a:r>
                  <a:rPr lang="zh-CN" altLang="en-US" sz="2000" dirty="0"/>
                  <a:t> </a:t>
                </a:r>
                <a:r>
                  <a:rPr lang="en-US" altLang="zh-CN" sz="2000" dirty="0"/>
                  <a:t>0</a:t>
                </a:r>
                <a:r>
                  <a:rPr lang="zh-CN" altLang="en-US" sz="2000" dirty="0"/>
                  <a:t> </a:t>
                </a:r>
                <a:r>
                  <a:rPr lang="en-US" altLang="zh-CN" sz="2000" dirty="0"/>
                  <a:t>to</a:t>
                </a:r>
                <a:r>
                  <a:rPr lang="zh-CN" altLang="en-US" sz="2000" dirty="0"/>
                  <a:t> </a:t>
                </a:r>
                <a:r>
                  <a:rPr lang="en-US" altLang="zh-CN" sz="2000" dirty="0"/>
                  <a:t>convergence:</a:t>
                </a:r>
                <a:r>
                  <a:rPr lang="zh-CN" altLang="en-US" sz="2000" dirty="0"/>
                  <a:t> </a:t>
                </a:r>
                <a:endParaRPr lang="en-US" altLang="zh-CN" sz="2000" dirty="0"/>
              </a:p>
              <a:p>
                <a:pPr marL="342900" indent="-342900">
                  <a:buFont typeface="+mj-lt"/>
                  <a:buAutoNum type="arabicPeriod"/>
                </a:pPr>
                <a:r>
                  <a:rPr lang="zh-CN" altLang="en-US" sz="2000" dirty="0"/>
                  <a:t>    </a:t>
                </a:r>
                <a:r>
                  <a:rPr lang="en-US" altLang="zh-CN" sz="2000" dirty="0"/>
                  <a:t>Shuffle</a:t>
                </a:r>
                <a:r>
                  <a:rPr lang="zh-CN" altLang="en-US" sz="2000" dirty="0"/>
                  <a:t> </a:t>
                </a:r>
                <a:r>
                  <a:rPr lang="en-US" altLang="zh-CN" sz="2000" dirty="0"/>
                  <a:t>(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charset="0"/>
                      </a:rPr>
                      <m:t>𝕏</m:t>
                    </m:r>
                  </m:oMath>
                </a14:m>
                <a:r>
                  <a:rPr lang="en-US" altLang="zh-CN" sz="2000" dirty="0"/>
                  <a:t>,</a:t>
                </a:r>
                <a:r>
                  <a:rPr lang="zh-CN" altLang="en-US" sz="20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charset="0"/>
                      </a:rPr>
                      <m:t>𝕐</m:t>
                    </m:r>
                  </m:oMath>
                </a14:m>
                <a:r>
                  <a:rPr lang="en-US" altLang="zh-CN" sz="2000" dirty="0"/>
                  <a:t>)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zh-CN" altLang="en-US" sz="2000" dirty="0"/>
                  <a:t>    </a:t>
                </a:r>
                <a:r>
                  <a:rPr lang="en-US" altLang="zh-CN" sz="2000" dirty="0"/>
                  <a:t>For</a:t>
                </a:r>
                <a:r>
                  <a:rPr lang="zh-CN" altLang="en-US" sz="2000" dirty="0"/>
                  <a:t> </a:t>
                </a:r>
                <a:r>
                  <a:rPr lang="en-US" altLang="zh-CN" sz="2000" dirty="0"/>
                  <a:t>each</a:t>
                </a:r>
                <a:r>
                  <a:rPr lang="zh-CN" altLang="en-US" sz="2000" dirty="0"/>
                  <a:t> </a:t>
                </a:r>
                <a:r>
                  <a:rPr lang="en-US" altLang="zh-CN" sz="2000" dirty="0"/>
                  <a:t>B-sized</a:t>
                </a:r>
                <a:r>
                  <a:rPr lang="zh-CN" altLang="en-US" sz="2000" dirty="0"/>
                  <a:t> </a:t>
                </a:r>
                <a:r>
                  <a:rPr lang="en-US" altLang="zh-CN" sz="2000" dirty="0" err="1"/>
                  <a:t>minibatch</a:t>
                </a:r>
                <a:r>
                  <a:rPr lang="zh-CN" altLang="en-US" sz="2000" dirty="0"/>
                  <a:t> </a:t>
                </a:r>
                <a:r>
                  <a:rPr lang="en-US" altLang="zh-CN" sz="2000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charset="0"/>
                          </a:rPr>
                          <m:t>𝕏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charset="0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en-US" altLang="zh-CN" sz="2000" dirty="0"/>
                  <a:t>,</a:t>
                </a:r>
                <a:r>
                  <a:rPr lang="zh-CN" altLang="en-US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charset="0"/>
                          </a:rPr>
                          <m:t>𝕐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charset="0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en-US" altLang="zh-CN" sz="2000" dirty="0"/>
                  <a:t>) </a:t>
                </a:r>
                <a:r>
                  <a:rPr lang="zh-CN" altLang="en-US" sz="2000" dirty="0"/>
                  <a:t> </a:t>
                </a:r>
                <a:r>
                  <a:rPr lang="en-US" altLang="zh-CN" sz="2000" dirty="0"/>
                  <a:t>in</a:t>
                </a:r>
                <a:r>
                  <a:rPr lang="zh-CN" altLang="en-US" sz="2000" dirty="0"/>
                  <a:t> </a:t>
                </a:r>
                <a:r>
                  <a:rPr lang="en-US" altLang="zh-CN" sz="2000" dirty="0"/>
                  <a:t>(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charset="0"/>
                      </a:rPr>
                      <m:t>𝕏</m:t>
                    </m:r>
                  </m:oMath>
                </a14:m>
                <a:r>
                  <a:rPr lang="en-US" altLang="zh-CN" sz="2000" dirty="0"/>
                  <a:t>,</a:t>
                </a:r>
                <a:r>
                  <a:rPr lang="zh-CN" altLang="en-US" sz="20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charset="0"/>
                      </a:rPr>
                      <m:t>𝕐</m:t>
                    </m:r>
                  </m:oMath>
                </a14:m>
                <a:r>
                  <a:rPr lang="en-US" altLang="zh-CN" sz="2000" dirty="0"/>
                  <a:t>)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zh-CN" altLang="en-US" sz="2000" dirty="0"/>
                  <a:t>   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i="1"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altLang="zh-CN" sz="2000" b="1" i="1">
                            <a:latin typeface="Cambria Math" charset="0"/>
                          </a:rPr>
                          <m:t>𝜽</m:t>
                        </m:r>
                      </m:e>
                      <m:sup>
                        <m:r>
                          <a:rPr lang="en-US" altLang="zh-CN" sz="2000" i="1">
                            <a:latin typeface="Cambria Math" charset="0"/>
                          </a:rPr>
                          <m:t>(</m:t>
                        </m:r>
                        <m:r>
                          <a:rPr lang="en-US" altLang="zh-CN" sz="2000" b="0" i="1" smtClean="0">
                            <a:latin typeface="Cambria Math" charset="0"/>
                          </a:rPr>
                          <m:t>𝑡</m:t>
                        </m:r>
                        <m:r>
                          <a:rPr lang="en-US" altLang="zh-CN" sz="2000" b="0" i="1" smtClean="0">
                            <a:latin typeface="Cambria Math" charset="0"/>
                          </a:rPr>
                          <m:t>+1)</m:t>
                        </m:r>
                      </m:sup>
                    </m:sSup>
                    <m:r>
                      <a:rPr lang="en-US" altLang="zh-CN" sz="2000" b="0" i="1" smtClean="0">
                        <a:latin typeface="Cambria Math" charset="0"/>
                      </a:rPr>
                      <m:t>←</m:t>
                    </m:r>
                  </m:oMath>
                </a14:m>
                <a:r>
                  <a:rPr lang="zh-CN" altLang="en-US" sz="20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i="1"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altLang="zh-CN" sz="2000" b="1" i="1">
                            <a:latin typeface="Cambria Math" charset="0"/>
                          </a:rPr>
                          <m:t>𝜽</m:t>
                        </m:r>
                      </m:e>
                      <m:sup>
                        <m:r>
                          <a:rPr lang="en-US" altLang="zh-CN" sz="2000" i="1">
                            <a:latin typeface="Cambria Math" charset="0"/>
                          </a:rPr>
                          <m:t>(</m:t>
                        </m:r>
                        <m:r>
                          <a:rPr lang="en-US" altLang="zh-CN" sz="2000" i="1">
                            <a:latin typeface="Cambria Math" charset="0"/>
                          </a:rPr>
                          <m:t>𝑡</m:t>
                        </m:r>
                        <m:r>
                          <a:rPr lang="en-US" altLang="zh-CN" sz="2000" i="1">
                            <a:latin typeface="Cambria Math" charset="0"/>
                          </a:rPr>
                          <m:t>)</m:t>
                        </m:r>
                      </m:sup>
                    </m:sSup>
                    <m:r>
                      <a:rPr lang="en-US" altLang="zh-CN" sz="2000" b="0" i="1" smtClean="0">
                        <a:latin typeface="Cambria Math" charset="0"/>
                      </a:rPr>
                      <m:t>−</m:t>
                    </m:r>
                    <m:r>
                      <a:rPr lang="en-US" altLang="zh-CN" sz="2000" b="0" i="1" smtClean="0">
                        <a:latin typeface="Cambria Math" charset="0"/>
                      </a:rPr>
                      <m:t>𝛼</m:t>
                    </m:r>
                  </m:oMath>
                </a14:m>
                <a:r>
                  <a:rPr lang="zh-CN" altLang="en-US" sz="2000" dirty="0"/>
                  <a:t> </a:t>
                </a:r>
                <a:r>
                  <a:rPr lang="en-US" altLang="zh-CN" sz="2000" dirty="0"/>
                  <a:t>Gradient</a:t>
                </a:r>
                <a:r>
                  <a:rPr lang="zh-CN" altLang="en-US" sz="2000" dirty="0"/>
                  <a:t> </a:t>
                </a:r>
                <a:r>
                  <a:rPr lang="en-US" altLang="zh-CN" sz="2000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charset="0"/>
                          </a:rPr>
                          <m:t>𝕏</m:t>
                        </m:r>
                      </m:e>
                      <m:sub>
                        <m:r>
                          <a:rPr lang="en-US" altLang="zh-CN" sz="2000" i="1">
                            <a:latin typeface="Cambria Math" charset="0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en-US" altLang="zh-CN" sz="2000" dirty="0"/>
                  <a:t>,</a:t>
                </a:r>
                <a:r>
                  <a:rPr lang="zh-CN" altLang="en-US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charset="0"/>
                          </a:rPr>
                          <m:t>𝕐</m:t>
                        </m:r>
                      </m:e>
                      <m:sub>
                        <m:r>
                          <a:rPr lang="en-US" altLang="zh-CN" sz="2000" i="1">
                            <a:latin typeface="Cambria Math" charset="0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en-US" altLang="zh-CN" sz="2000" dirty="0"/>
                  <a:t>,</a:t>
                </a:r>
                <a:r>
                  <a:rPr lang="zh-CN" altLang="en-US" sz="20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i="1"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altLang="zh-CN" sz="2000" b="1" i="1">
                            <a:latin typeface="Cambria Math" charset="0"/>
                          </a:rPr>
                          <m:t>𝜽</m:t>
                        </m:r>
                      </m:e>
                      <m:sup>
                        <m:r>
                          <a:rPr lang="en-US" altLang="zh-CN" sz="2000" i="1">
                            <a:latin typeface="Cambria Math" charset="0"/>
                          </a:rPr>
                          <m:t>(</m:t>
                        </m:r>
                        <m:r>
                          <a:rPr lang="en-US" altLang="zh-CN" sz="2000" i="1">
                            <a:latin typeface="Cambria Math" charset="0"/>
                          </a:rPr>
                          <m:t>𝑡</m:t>
                        </m:r>
                        <m:r>
                          <a:rPr lang="en-US" altLang="zh-CN" sz="2000" i="1">
                            <a:latin typeface="Cambria Math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en-US" altLang="zh-CN" sz="2000" dirty="0"/>
                  <a:t>)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zh-CN" altLang="en-US" sz="2000" dirty="0"/>
                  <a:t>    </a:t>
                </a:r>
                <a:r>
                  <a:rPr lang="en-US" altLang="zh-CN" sz="2000" dirty="0"/>
                  <a:t>End</a:t>
                </a:r>
                <a:r>
                  <a:rPr lang="zh-CN" altLang="en-US" sz="2000" dirty="0"/>
                  <a:t> </a:t>
                </a:r>
                <a:r>
                  <a:rPr lang="en-US" altLang="zh-CN" sz="2000" dirty="0"/>
                  <a:t>For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altLang="zh-CN" sz="2000" dirty="0"/>
                  <a:t>End</a:t>
                </a:r>
                <a:r>
                  <a:rPr lang="zh-CN" altLang="en-US" sz="2000" dirty="0"/>
                  <a:t> </a:t>
                </a:r>
                <a:r>
                  <a:rPr lang="en-US" altLang="zh-CN" sz="2000" dirty="0"/>
                  <a:t>For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2860" y="1415930"/>
                <a:ext cx="5472267" cy="2272417"/>
              </a:xfrm>
              <a:prstGeom prst="rect">
                <a:avLst/>
              </a:prstGeom>
              <a:blipFill rotWithShape="0">
                <a:blip r:embed="rId3"/>
                <a:stretch>
                  <a:fillRect l="-1111" t="-800" b="-373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ight Brace 6"/>
          <p:cNvSpPr/>
          <p:nvPr/>
        </p:nvSpPr>
        <p:spPr>
          <a:xfrm rot="10800000">
            <a:off x="2265268" y="1795427"/>
            <a:ext cx="389965" cy="1445314"/>
          </a:xfrm>
          <a:prstGeom prst="rightBrace">
            <a:avLst>
              <a:gd name="adj1" fmla="val 65476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670804" y="2352083"/>
            <a:ext cx="13388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/>
              <a:t>一个</a:t>
            </a:r>
            <a:r>
              <a:rPr lang="en-US" altLang="zh-CN" sz="2000" dirty="0">
                <a:solidFill>
                  <a:srgbClr val="C00000"/>
                </a:solidFill>
              </a:rPr>
              <a:t>epoch</a:t>
            </a:r>
            <a:endParaRPr lang="en-US" sz="20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0127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决策树 </a:t>
            </a:r>
            <a:r>
              <a:rPr lang="mr-IN" altLang="zh-CN" dirty="0"/>
              <a:t>–</a:t>
            </a:r>
            <a:r>
              <a:rPr lang="zh-CN" altLang="en-US" dirty="0"/>
              <a:t> </a:t>
            </a:r>
            <a:r>
              <a:rPr lang="en-US" altLang="zh-CN" dirty="0"/>
              <a:t>Decision</a:t>
            </a:r>
            <a:r>
              <a:rPr lang="zh-CN" altLang="en-US" dirty="0"/>
              <a:t> </a:t>
            </a:r>
            <a:r>
              <a:rPr lang="en-US" altLang="zh-CN" dirty="0"/>
              <a:t>Tree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决策树是分类问题中最常用的模型之一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能够接受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类别型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的特征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分类效果与其它分类算法相当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训练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测试效率高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分类函数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为一棵树，称为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决策树</a:t>
            </a:r>
            <a:endParaRPr lang="en-US" altLang="zh-CN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1373" y="1285687"/>
            <a:ext cx="4532627" cy="3195779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8796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决策</a:t>
            </a:r>
            <a:r>
              <a:rPr lang="zh-CN" altLang="en-US" dirty="0" smtClean="0"/>
              <a:t>树构建算法</a:t>
            </a:r>
            <a:endParaRPr lang="zh-CN" altLang="en-US" dirty="0"/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860437" y="958551"/>
            <a:ext cx="5140564" cy="4151481"/>
          </a:xfrm>
          <a:noFill/>
        </p:spPr>
      </p:pic>
      <p:sp>
        <p:nvSpPr>
          <p:cNvPr id="8" name="文本框 7"/>
          <p:cNvSpPr txBox="1"/>
          <p:nvPr/>
        </p:nvSpPr>
        <p:spPr>
          <a:xfrm>
            <a:off x="207818" y="1035832"/>
            <a:ext cx="247397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递归出口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: 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数据属于一个类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/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没有更多的特征供选择，生成叶子节点</a:t>
            </a:r>
          </a:p>
        </p:txBody>
      </p:sp>
      <p:sp>
        <p:nvSpPr>
          <p:cNvPr id="11" name="左大括号 10"/>
          <p:cNvSpPr/>
          <p:nvPr/>
        </p:nvSpPr>
        <p:spPr>
          <a:xfrm>
            <a:off x="2681791" y="1167594"/>
            <a:ext cx="178646" cy="54006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4" name="文本框 13"/>
          <p:cNvSpPr txBox="1"/>
          <p:nvPr/>
        </p:nvSpPr>
        <p:spPr>
          <a:xfrm>
            <a:off x="207818" y="2097982"/>
            <a:ext cx="247397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选择最优划分特征</a:t>
            </a:r>
            <a:r>
              <a:rPr lang="zh-CN" altLang="en-US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：</a:t>
            </a:r>
            <a:endParaRPr lang="en-US" altLang="zh-CN" sz="14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p</a:t>
            </a:r>
            <a:r>
              <a:rPr lang="en-US" altLang="zh-CN" sz="1400" baseline="-250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lang="en-US" altLang="zh-CN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: </a:t>
            </a:r>
            <a:r>
              <a:rPr lang="zh-CN" altLang="en-US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划分前的混杂度</a:t>
            </a:r>
            <a:endParaRPr lang="en-US" altLang="zh-CN" sz="14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p</a:t>
            </a:r>
            <a:r>
              <a:rPr lang="en-US" altLang="zh-CN" sz="1400" baseline="-250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: </a:t>
            </a:r>
            <a:r>
              <a:rPr lang="zh-CN" altLang="en-US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以特征</a:t>
            </a:r>
            <a:r>
              <a:rPr lang="en-US" altLang="zh-CN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sz="1400" baseline="-250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lang="zh-CN" altLang="en-US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划分后的混杂度</a:t>
            </a:r>
          </a:p>
        </p:txBody>
      </p:sp>
      <p:sp>
        <p:nvSpPr>
          <p:cNvPr id="15" name="左大括号 14"/>
          <p:cNvSpPr/>
          <p:nvPr/>
        </p:nvSpPr>
        <p:spPr>
          <a:xfrm>
            <a:off x="2681791" y="2105156"/>
            <a:ext cx="178646" cy="81009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6" name="文本框 15"/>
          <p:cNvSpPr txBox="1"/>
          <p:nvPr/>
        </p:nvSpPr>
        <p:spPr>
          <a:xfrm>
            <a:off x="185524" y="3005975"/>
            <a:ext cx="24962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递归出口</a:t>
            </a:r>
            <a:r>
              <a:rPr lang="en-US" altLang="zh-CN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: </a:t>
            </a:r>
            <a:r>
              <a:rPr lang="zh-CN" altLang="en-US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数据划分收益太低</a:t>
            </a:r>
            <a:endParaRPr lang="en-US" altLang="zh-CN" sz="14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7" name="左大括号 16"/>
          <p:cNvSpPr/>
          <p:nvPr/>
        </p:nvSpPr>
        <p:spPr>
          <a:xfrm>
            <a:off x="2668006" y="3003798"/>
            <a:ext cx="192431" cy="308949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8" name="文本框 17"/>
          <p:cNvSpPr txBox="1"/>
          <p:nvPr/>
        </p:nvSpPr>
        <p:spPr>
          <a:xfrm>
            <a:off x="1343272" y="3521713"/>
            <a:ext cx="13385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划分数据</a:t>
            </a:r>
            <a:endParaRPr lang="en-US" altLang="zh-CN" sz="1400" b="1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9" name="左大括号 18"/>
          <p:cNvSpPr/>
          <p:nvPr/>
        </p:nvSpPr>
        <p:spPr>
          <a:xfrm>
            <a:off x="2681791" y="3483310"/>
            <a:ext cx="178646" cy="384584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0" name="文本框 19"/>
          <p:cNvSpPr txBox="1"/>
          <p:nvPr/>
        </p:nvSpPr>
        <p:spPr>
          <a:xfrm>
            <a:off x="209567" y="4170273"/>
            <a:ext cx="24739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向下递归</a:t>
            </a:r>
            <a:r>
              <a:rPr lang="zh-CN" altLang="en-US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：逐个递归生成每一棵子树</a:t>
            </a:r>
            <a:endParaRPr lang="en-US" altLang="zh-CN" sz="14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1" name="左大括号 20"/>
          <p:cNvSpPr/>
          <p:nvPr/>
        </p:nvSpPr>
        <p:spPr>
          <a:xfrm>
            <a:off x="2681791" y="3987805"/>
            <a:ext cx="178646" cy="779458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2" name="椭圆 21"/>
          <p:cNvSpPr/>
          <p:nvPr/>
        </p:nvSpPr>
        <p:spPr>
          <a:xfrm>
            <a:off x="3383868" y="1977684"/>
            <a:ext cx="1836204" cy="259116"/>
          </a:xfrm>
          <a:prstGeom prst="ellipse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3" name="椭圆 22"/>
          <p:cNvSpPr/>
          <p:nvPr/>
        </p:nvSpPr>
        <p:spPr>
          <a:xfrm>
            <a:off x="3653898" y="2320407"/>
            <a:ext cx="1836204" cy="251344"/>
          </a:xfrm>
          <a:prstGeom prst="ellipse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54594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 animBg="1"/>
      <p:bldP spid="14" grpId="0"/>
      <p:bldP spid="15" grpId="0" animBg="1"/>
      <p:bldP spid="16" grpId="0"/>
      <p:bldP spid="17" grpId="0" animBg="1"/>
      <p:bldP spid="18" grpId="0"/>
      <p:bldP spid="19" grpId="0" animBg="1"/>
      <p:bldP spid="20" grpId="0"/>
      <p:bldP spid="21" grpId="0" animBg="1"/>
      <p:bldP spid="22" grpId="0" animBg="1"/>
      <p:bldP spid="23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信息熵 </a:t>
            </a:r>
            <a:r>
              <a:rPr lang="en-US" altLang="zh-CN" dirty="0"/>
              <a:t>-</a:t>
            </a:r>
            <a:r>
              <a:rPr lang="zh-CN" altLang="en-US" dirty="0"/>
              <a:t> </a:t>
            </a:r>
            <a:r>
              <a:rPr lang="en-US" altLang="zh-CN" dirty="0"/>
              <a:t>Entropy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342900" lvl="1" indent="0">
                  <a:buNone/>
                </a:pP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给定一个随机变量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的熵为</a:t>
                </a:r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altLang="zh-CN" i="1">
                              <a:latin typeface="Cambria Math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i="1">
                              <a:latin typeface="Cambria Math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𝑐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i="1">
                                  <a:latin typeface="Cambria Math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𝐶</m:t>
                              </m:r>
                            </m:e>
                          </m:d>
                        </m:sup>
                        <m:e>
                          <m:r>
                            <a:rPr lang="en-US" altLang="zh-CN" b="0" i="1" smtClean="0">
                              <a:latin typeface="Cambria Math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altLang="zh-CN" b="0" i="1" smtClean="0">
                                  <a:latin typeface="Cambria Math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b="0" i="1" smtClean="0">
                              <a:latin typeface="Cambria Math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h</m:t>
                          </m:r>
                          <m:r>
                            <a:rPr lang="en-US" altLang="zh-CN" b="0" i="1" smtClean="0">
                              <a:latin typeface="Cambria Math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nary>
                        <m:naryPr>
                          <m:chr m:val="∑"/>
                          <m:ctrlPr>
                            <a:rPr lang="en-US" altLang="zh-CN" i="1">
                              <a:latin typeface="Cambria Math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𝑐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i="1">
                                  <a:latin typeface="Cambria Math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𝐶</m:t>
                              </m:r>
                            </m:e>
                          </m:d>
                        </m:sup>
                        <m:e>
                          <m:r>
                            <a:rPr lang="en-US" altLang="zh-CN" i="1">
                              <a:latin typeface="Cambria Math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altLang="zh-CN" i="1">
                                  <a:latin typeface="Cambria Math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</m:e>
                          </m:d>
                          <m:func>
                            <m:funcPr>
                              <m:ctrlPr>
                                <a:rPr lang="zh-CN" altLang="en-US" b="0" i="1" smtClean="0">
                                  <a:latin typeface="Cambria Math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b="0" i="0" smtClean="0">
                                      <a:latin typeface="Cambria Math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altLang="zh-CN" b="0" i="1" smtClean="0">
                                  <a:latin typeface="Cambria Math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𝑝</m:t>
                              </m:r>
                              <m:r>
                                <a:rPr lang="en-US" altLang="zh-CN" b="0" i="1" smtClean="0">
                                  <a:latin typeface="Cambria Math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latin typeface="Cambria Math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e>
                          </m:func>
                        </m:e>
                      </m:nary>
                    </m:oMath>
                  </m:oMathPara>
                </a14:m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t="-7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4090" y="2337955"/>
            <a:ext cx="2753246" cy="2418195"/>
          </a:xfrm>
          <a:prstGeom prst="rect">
            <a:avLst/>
          </a:prstGeom>
        </p:spPr>
      </p:pic>
      <p:sp>
        <p:nvSpPr>
          <p:cNvPr id="5" name="Content Placeholder 2"/>
          <p:cNvSpPr txBox="1">
            <a:spLocks/>
          </p:cNvSpPr>
          <p:nvPr/>
        </p:nvSpPr>
        <p:spPr>
          <a:xfrm>
            <a:off x="609600" y="2337954"/>
            <a:ext cx="5323954" cy="25705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熵的直观解释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28650" lvl="1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描述数据的不确定性（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Uncertainty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）：熵越高，表述数据越难预测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28650" lvl="1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描述信息内容（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）：熵越高，表示信息量越多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112391" y="3985219"/>
            <a:ext cx="331767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Helvetica Neue" charset="0"/>
              </a:rPr>
              <a:t>请计算右图变量</a:t>
            </a:r>
            <a:r>
              <a:rPr lang="en-US" altLang="zh-CN" b="1" dirty="0">
                <a:solidFill>
                  <a:srgbClr val="C00000"/>
                </a:solidFill>
                <a:latin typeface="Helvetica Neue" charset="0"/>
              </a:rPr>
              <a:t>X</a:t>
            </a:r>
            <a:r>
              <a:rPr lang="zh-CN" altLang="en-US" b="1" dirty="0">
                <a:solidFill>
                  <a:srgbClr val="C00000"/>
                </a:solidFill>
                <a:latin typeface="Helvetica Neue" charset="0"/>
              </a:rPr>
              <a:t>的熵</a:t>
            </a:r>
            <a:endParaRPr lang="en-US" altLang="zh-CN" b="1" dirty="0">
              <a:solidFill>
                <a:srgbClr val="C00000"/>
              </a:solidFill>
              <a:latin typeface="Helvetica Neue" charset="0"/>
            </a:endParaRPr>
          </a:p>
          <a:p>
            <a:r>
              <a:rPr lang="en-US" altLang="zh-CN" dirty="0">
                <a:solidFill>
                  <a:srgbClr val="C00000"/>
                </a:solidFill>
                <a:latin typeface="Helvetica Neue" charset="0"/>
              </a:rPr>
              <a:t>A.</a:t>
            </a:r>
            <a:r>
              <a:rPr lang="zh-CN" altLang="en-US" dirty="0">
                <a:solidFill>
                  <a:srgbClr val="C00000"/>
                </a:solidFill>
                <a:latin typeface="Helvetica Neue" charset="0"/>
              </a:rPr>
              <a:t> </a:t>
            </a:r>
            <a:r>
              <a:rPr lang="en-US" altLang="zh-CN" dirty="0">
                <a:solidFill>
                  <a:srgbClr val="C00000"/>
                </a:solidFill>
                <a:latin typeface="Helvetica Neue" charset="0"/>
              </a:rPr>
              <a:t>1.75</a:t>
            </a:r>
            <a:r>
              <a:rPr lang="zh-CN" altLang="en-US" dirty="0">
                <a:solidFill>
                  <a:srgbClr val="C00000"/>
                </a:solidFill>
                <a:latin typeface="Helvetica Neue" charset="0"/>
              </a:rPr>
              <a:t>   </a:t>
            </a:r>
            <a:r>
              <a:rPr lang="en-US" altLang="zh-CN" dirty="0">
                <a:solidFill>
                  <a:srgbClr val="C00000"/>
                </a:solidFill>
                <a:latin typeface="Helvetica Neue" charset="0"/>
              </a:rPr>
              <a:t>B.</a:t>
            </a:r>
            <a:r>
              <a:rPr lang="zh-CN" altLang="en-US" dirty="0">
                <a:solidFill>
                  <a:srgbClr val="C00000"/>
                </a:solidFill>
                <a:latin typeface="Helvetica Neue" charset="0"/>
              </a:rPr>
              <a:t> </a:t>
            </a:r>
            <a:r>
              <a:rPr lang="en-US" altLang="zh-CN" dirty="0">
                <a:solidFill>
                  <a:srgbClr val="C00000"/>
                </a:solidFill>
                <a:latin typeface="Helvetica Neue" charset="0"/>
              </a:rPr>
              <a:t>9</a:t>
            </a:r>
            <a:endParaRPr lang="zh-CN" altLang="en-US" dirty="0">
              <a:solidFill>
                <a:srgbClr val="C00000"/>
              </a:solidFill>
              <a:latin typeface="Helvetica Neue" charset="0"/>
            </a:endParaRPr>
          </a:p>
          <a:p>
            <a:endParaRPr lang="en-US" altLang="zh-CN" b="1" dirty="0">
              <a:solidFill>
                <a:srgbClr val="C00000"/>
              </a:solidFill>
              <a:latin typeface="Helvetica Neue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496463" y="4045663"/>
            <a:ext cx="64312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000000"/>
                </a:solidFill>
                <a:latin typeface="Helvetica Neue" charset="0"/>
              </a:rPr>
              <a:t>🔔</a:t>
            </a:r>
            <a:r>
              <a:rPr lang="zh-CN" altLang="en-US" sz="2800" dirty="0">
                <a:solidFill>
                  <a:srgbClr val="000000"/>
                </a:solidFill>
                <a:latin typeface="Helvetica Neue" charset="0"/>
              </a:rPr>
              <a:t> </a:t>
            </a:r>
            <a:endParaRPr lang="en-US" sz="2800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0254" y="16744"/>
            <a:ext cx="1103746" cy="1555278"/>
          </a:xfrm>
          <a:prstGeom prst="rect">
            <a:avLst/>
          </a:prstGeom>
        </p:spPr>
      </p:pic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43823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条件熵 </a:t>
            </a:r>
            <a:r>
              <a:rPr lang="mr-IN" altLang="zh-CN" dirty="0"/>
              <a:t>–</a:t>
            </a:r>
            <a:r>
              <a:rPr lang="zh-CN" altLang="en-US" dirty="0"/>
              <a:t> </a:t>
            </a:r>
            <a:r>
              <a:rPr lang="en-US" altLang="zh-CN" dirty="0"/>
              <a:t>Conditional</a:t>
            </a:r>
            <a:r>
              <a:rPr lang="zh-CN" altLang="en-US" dirty="0"/>
              <a:t> </a:t>
            </a:r>
            <a:r>
              <a:rPr lang="en-US" altLang="zh-CN" dirty="0"/>
              <a:t>Entropy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直观含义</a:t>
            </a:r>
            <a:endParaRPr lang="en-US" altLang="zh-CN" dirty="0"/>
          </a:p>
          <a:p>
            <a:pPr lvl="1"/>
            <a:r>
              <a:rPr lang="zh-CN" altLang="en-US" dirty="0"/>
              <a:t>给定随机变量</a:t>
            </a:r>
            <a:r>
              <a:rPr lang="en-US" altLang="zh-CN" dirty="0"/>
              <a:t>X</a:t>
            </a:r>
            <a:r>
              <a:rPr lang="zh-CN" altLang="en-US" dirty="0"/>
              <a:t>和</a:t>
            </a:r>
            <a:r>
              <a:rPr lang="en-US" altLang="zh-CN" dirty="0"/>
              <a:t>Y</a:t>
            </a:r>
            <a:r>
              <a:rPr lang="zh-CN" altLang="en-US" dirty="0"/>
              <a:t>的联合概率分布，假设</a:t>
            </a:r>
            <a:r>
              <a:rPr lang="en-US" altLang="zh-CN" dirty="0"/>
              <a:t>Y</a:t>
            </a:r>
            <a:r>
              <a:rPr lang="zh-CN" altLang="en-US" dirty="0"/>
              <a:t>是已知的，我们能从</a:t>
            </a:r>
            <a:r>
              <a:rPr lang="en-US" altLang="zh-CN" dirty="0"/>
              <a:t>X</a:t>
            </a:r>
            <a:r>
              <a:rPr lang="zh-CN" altLang="en-US" dirty="0"/>
              <a:t>中获得多少信息量？</a:t>
            </a:r>
            <a:endParaRPr lang="en-US" altLang="zh-CN" dirty="0"/>
          </a:p>
          <a:p>
            <a:r>
              <a:rPr lang="zh-CN" altLang="en-US" dirty="0"/>
              <a:t>符号定义</a:t>
            </a:r>
            <a:endParaRPr lang="en-US" altLang="zh-CN" dirty="0"/>
          </a:p>
          <a:p>
            <a:pPr lvl="1"/>
            <a:r>
              <a:rPr lang="mr-IN" dirty="0" err="1"/>
              <a:t>h</a:t>
            </a:r>
            <a:r>
              <a:rPr lang="mr-IN" dirty="0"/>
              <a:t>(</a:t>
            </a:r>
            <a:r>
              <a:rPr lang="mr-IN" dirty="0" err="1"/>
              <a:t>x|y</a:t>
            </a:r>
            <a:r>
              <a:rPr lang="mr-IN" dirty="0"/>
              <a:t>) = log</a:t>
            </a:r>
            <a:r>
              <a:rPr lang="mr-IN" baseline="-25000" dirty="0"/>
              <a:t>2</a:t>
            </a:r>
            <a:r>
              <a:rPr lang="mr-IN" dirty="0"/>
              <a:t>(1/</a:t>
            </a:r>
            <a:r>
              <a:rPr lang="mr-IN" dirty="0" err="1"/>
              <a:t>p</a:t>
            </a:r>
            <a:r>
              <a:rPr lang="mr-IN" dirty="0"/>
              <a:t>(</a:t>
            </a:r>
            <a:r>
              <a:rPr lang="mr-IN" dirty="0" err="1"/>
              <a:t>x|y</a:t>
            </a:r>
            <a:r>
              <a:rPr lang="mr-IN" dirty="0"/>
              <a:t>)) </a:t>
            </a:r>
          </a:p>
          <a:p>
            <a:r>
              <a:rPr lang="zh-CN" altLang="en-US" dirty="0"/>
              <a:t>条件熵</a:t>
            </a:r>
            <a:endParaRPr lang="en-US" altLang="zh-CN" dirty="0"/>
          </a:p>
          <a:p>
            <a:pPr lvl="1"/>
            <a:r>
              <a:rPr lang="mr-IN" dirty="0" err="1"/>
              <a:t>H</a:t>
            </a:r>
            <a:r>
              <a:rPr lang="mr-IN" dirty="0"/>
              <a:t>(X|Y) = </a:t>
            </a:r>
            <a:r>
              <a:rPr lang="mr-IN" dirty="0" err="1"/>
              <a:t>E</a:t>
            </a:r>
            <a:r>
              <a:rPr lang="mr-IN" baseline="-25000" dirty="0" err="1"/>
              <a:t>x,y</a:t>
            </a:r>
            <a:r>
              <a:rPr lang="mr-IN" dirty="0"/>
              <a:t>[</a:t>
            </a:r>
            <a:r>
              <a:rPr lang="mr-IN" dirty="0" err="1"/>
              <a:t>h</a:t>
            </a:r>
            <a:r>
              <a:rPr lang="mr-IN" dirty="0"/>
              <a:t>(</a:t>
            </a:r>
            <a:r>
              <a:rPr lang="mr-IN" dirty="0" err="1"/>
              <a:t>x|y</a:t>
            </a:r>
            <a:r>
              <a:rPr lang="mr-IN" dirty="0"/>
              <a:t>)] </a:t>
            </a:r>
            <a:endParaRPr lang="en-US" dirty="0"/>
          </a:p>
          <a:p>
            <a:pPr lvl="1"/>
            <a:r>
              <a:rPr lang="mr-IN" dirty="0" err="1" smtClean="0"/>
              <a:t>Σ</a:t>
            </a:r>
            <a:r>
              <a:rPr lang="mr-IN" baseline="-25000" dirty="0" err="1" smtClean="0"/>
              <a:t>x</a:t>
            </a:r>
            <a:r>
              <a:rPr lang="mr-IN" dirty="0" smtClean="0"/>
              <a:t> </a:t>
            </a:r>
            <a:r>
              <a:rPr lang="mr-IN" dirty="0" err="1"/>
              <a:t>Σ</a:t>
            </a:r>
            <a:r>
              <a:rPr lang="mr-IN" baseline="-25000" dirty="0" err="1"/>
              <a:t>y</a:t>
            </a:r>
            <a:r>
              <a:rPr lang="mr-IN" dirty="0"/>
              <a:t> </a:t>
            </a:r>
            <a:r>
              <a:rPr lang="mr-IN" dirty="0" err="1"/>
              <a:t>p</a:t>
            </a:r>
            <a:r>
              <a:rPr lang="mr-IN" dirty="0"/>
              <a:t>(</a:t>
            </a:r>
            <a:r>
              <a:rPr lang="mr-IN" dirty="0" err="1"/>
              <a:t>x,y</a:t>
            </a:r>
            <a:r>
              <a:rPr lang="mr-IN" dirty="0"/>
              <a:t>) log</a:t>
            </a:r>
            <a:r>
              <a:rPr lang="mr-IN" baseline="-25000" dirty="0"/>
              <a:t>2</a:t>
            </a:r>
            <a:r>
              <a:rPr lang="mr-IN" dirty="0"/>
              <a:t>(1/</a:t>
            </a:r>
            <a:r>
              <a:rPr lang="mr-IN" dirty="0" err="1"/>
              <a:t>p</a:t>
            </a:r>
            <a:r>
              <a:rPr lang="mr-IN" dirty="0"/>
              <a:t>(</a:t>
            </a:r>
            <a:r>
              <a:rPr lang="mr-IN" dirty="0" err="1"/>
              <a:t>x|y</a:t>
            </a:r>
            <a:r>
              <a:rPr lang="mr-IN" dirty="0"/>
              <a:t>))</a:t>
            </a:r>
          </a:p>
          <a:p>
            <a:pPr lvl="1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0719" y="1592118"/>
            <a:ext cx="4648200" cy="26035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304372" y="3832820"/>
            <a:ext cx="331767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Helvetica Neue" charset="0"/>
              </a:rPr>
              <a:t>请计算右图条件熵</a:t>
            </a:r>
            <a:r>
              <a:rPr lang="en-US" altLang="zh-CN" b="1" dirty="0">
                <a:solidFill>
                  <a:srgbClr val="C00000"/>
                </a:solidFill>
                <a:latin typeface="Helvetica Neue" charset="0"/>
              </a:rPr>
              <a:t>H(X|Y)</a:t>
            </a:r>
          </a:p>
          <a:p>
            <a:r>
              <a:rPr lang="en-US" altLang="zh-CN" dirty="0">
                <a:solidFill>
                  <a:srgbClr val="C00000"/>
                </a:solidFill>
                <a:latin typeface="Helvetica Neue" charset="0"/>
              </a:rPr>
              <a:t>A.</a:t>
            </a:r>
            <a:r>
              <a:rPr lang="zh-CN" altLang="en-US" dirty="0">
                <a:solidFill>
                  <a:srgbClr val="C00000"/>
                </a:solidFill>
                <a:latin typeface="Helvetica Neue" charset="0"/>
              </a:rPr>
              <a:t> </a:t>
            </a:r>
            <a:r>
              <a:rPr lang="en-US" altLang="zh-CN" dirty="0">
                <a:solidFill>
                  <a:srgbClr val="C00000"/>
                </a:solidFill>
                <a:latin typeface="Helvetica Neue" charset="0"/>
              </a:rPr>
              <a:t>1.75</a:t>
            </a:r>
            <a:r>
              <a:rPr lang="zh-CN" altLang="en-US" dirty="0">
                <a:solidFill>
                  <a:srgbClr val="C00000"/>
                </a:solidFill>
                <a:latin typeface="Helvetica Neue" charset="0"/>
              </a:rPr>
              <a:t>   </a:t>
            </a:r>
            <a:r>
              <a:rPr lang="en-US" altLang="zh-CN" dirty="0">
                <a:solidFill>
                  <a:srgbClr val="C00000"/>
                </a:solidFill>
                <a:latin typeface="Helvetica Neue" charset="0"/>
              </a:rPr>
              <a:t>B.</a:t>
            </a:r>
            <a:r>
              <a:rPr lang="zh-CN" altLang="en-US" dirty="0">
                <a:solidFill>
                  <a:srgbClr val="C00000"/>
                </a:solidFill>
                <a:latin typeface="Helvetica Neue" charset="0"/>
              </a:rPr>
              <a:t> </a:t>
            </a:r>
            <a:r>
              <a:rPr lang="en-US" altLang="zh-CN" dirty="0">
                <a:solidFill>
                  <a:srgbClr val="C00000"/>
                </a:solidFill>
                <a:latin typeface="Helvetica Neue" charset="0"/>
              </a:rPr>
              <a:t>0.75</a:t>
            </a:r>
            <a:endParaRPr lang="zh-CN" altLang="en-US" dirty="0">
              <a:solidFill>
                <a:srgbClr val="C00000"/>
              </a:solidFill>
              <a:latin typeface="Helvetica Neue" charset="0"/>
            </a:endParaRPr>
          </a:p>
          <a:p>
            <a:endParaRPr lang="en-US" altLang="zh-CN" b="1" dirty="0">
              <a:solidFill>
                <a:srgbClr val="C00000"/>
              </a:solidFill>
              <a:latin typeface="Helvetica Neue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88444" y="3893264"/>
            <a:ext cx="64312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000000"/>
                </a:solidFill>
                <a:latin typeface="Helvetica Neue" charset="0"/>
              </a:rPr>
              <a:t>🔔</a:t>
            </a:r>
            <a:r>
              <a:rPr lang="zh-CN" altLang="en-US" sz="2800" dirty="0">
                <a:solidFill>
                  <a:srgbClr val="000000"/>
                </a:solidFill>
                <a:latin typeface="Helvetica Neue" charset="0"/>
              </a:rPr>
              <a:t> </a:t>
            </a:r>
            <a:endParaRPr lang="en-US" sz="280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6305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61184" y="16744"/>
            <a:ext cx="6172200" cy="857250"/>
          </a:xfrm>
        </p:spPr>
        <p:txBody>
          <a:bodyPr/>
          <a:lstStyle/>
          <a:p>
            <a:r>
              <a:rPr lang="zh-CN" altLang="en-US" dirty="0"/>
              <a:t>选择决策特征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1485900" y="951570"/>
                <a:ext cx="6172200" cy="3996444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数据集合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D</m:t>
                    </m:r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的熵定义为</a:t>
                </a:r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𝐻</m:t>
                      </m:r>
                      <m:r>
                        <a:rPr lang="en-US" altLang="zh-CN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CN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𝑋</m:t>
                      </m:r>
                      <m:r>
                        <a:rPr lang="en-US" altLang="zh-CN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)=−</m:t>
                      </m:r>
                      <m:nary>
                        <m:naryPr>
                          <m:chr m:val="∑"/>
                          <m:ctrlPr>
                            <a:rPr lang="en-US" altLang="zh-CN" sz="1800" i="1">
                              <a:latin typeface="Cambria Math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𝑐</m:t>
                          </m:r>
                          <m:r>
                            <a:rPr lang="en-US" altLang="zh-CN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|</m:t>
                          </m:r>
                          <m:r>
                            <a:rPr lang="en-US" altLang="zh-CN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𝐶</m:t>
                          </m:r>
                          <m:r>
                            <a:rPr lang="en-US" altLang="zh-CN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|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1800" i="1">
                                  <a:latin typeface="Cambria Math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𝑐</m:t>
                              </m:r>
                            </m:sub>
                          </m:sSub>
                          <m:func>
                            <m:funcPr>
                              <m:ctrlPr>
                                <a:rPr lang="en-US" altLang="zh-CN" sz="1800" i="1">
                                  <a:latin typeface="Cambria Math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sz="18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l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altLang="zh-CN" sz="1800" i="1">
                                      <a:latin typeface="Cambria Math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</m:e>
                          </m:func>
                        </m:e>
                      </m:nary>
                    </m:oMath>
                  </m:oMathPara>
                </a14:m>
                <a:endPara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其中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500" i="1">
                            <a:latin typeface="Cambria Math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5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sz="15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sub>
                    </m:sSub>
                    <m:r>
                      <a:rPr lang="en-US" altLang="zh-CN" sz="15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1500" i="1">
                            <a:latin typeface="Cambria Math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zh-CN" altLang="en-US" sz="15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属于类别</m:t>
                        </m:r>
                        <m:r>
                          <a:rPr lang="en-US" altLang="zh-CN" sz="15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𝐶</m:t>
                        </m:r>
                        <m:r>
                          <a:rPr lang="en-US" altLang="zh-CN" sz="15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的样本数</m:t>
                        </m:r>
                      </m:num>
                      <m:den>
                        <m:r>
                          <a:rPr lang="en-US" altLang="zh-CN" sz="15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𝐷</m:t>
                        </m:r>
                        <m:r>
                          <a:rPr lang="zh-CN" altLang="en-US" sz="15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中的样本数</m:t>
                        </m:r>
                      </m:den>
                    </m:f>
                    <m:r>
                      <a:rPr lang="en-US" altLang="zh-CN" sz="15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sz="15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𝑋</m:t>
                    </m:r>
                  </m:oMath>
                </a14:m>
                <a:r>
                  <a:rPr lang="zh-CN" alt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对应类别标签</a:t>
                </a:r>
                <a:endPara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CN" dirty="0">
                  <a:cs typeface="Times New Roman" panose="02020603050405020304" pitchFamily="18" charset="0"/>
                </a:endParaRPr>
              </a:p>
              <a:p>
                <a:r>
                  <a:rPr lang="zh-CN" altLang="en-US" dirty="0">
                    <a:cs typeface="Times New Roman" panose="02020603050405020304" pitchFamily="18" charset="0"/>
                  </a:rPr>
                  <a:t>选择特征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zh-CN" altLang="en-US" dirty="0">
                    <a:cs typeface="Times New Roman" panose="02020603050405020304" pitchFamily="18" charset="0"/>
                  </a:rPr>
                  <a:t>所带来的信息增益</a:t>
                </a:r>
                <a:endParaRPr lang="en-US" altLang="zh-CN" dirty="0">
                  <a:cs typeface="Times New Roman" panose="02020603050405020304" pitchFamily="18" charset="0"/>
                </a:endParaRPr>
              </a:p>
              <a:p>
                <a:pPr marL="342900" lvl="1" indent="0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50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IG</m:t>
                    </m:r>
                    <m:d>
                      <m:dPr>
                        <m:ctrlPr>
                          <a:rPr lang="en-US" altLang="zh-CN" sz="1500" i="1">
                            <a:latin typeface="Cambria Math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15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  <m:r>
                          <a:rPr lang="en-US" altLang="zh-CN" sz="15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|</m:t>
                        </m:r>
                        <m:r>
                          <a:rPr lang="en-US" altLang="zh-CN" sz="15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</m:d>
                    <m:r>
                      <a:rPr lang="en-US" altLang="zh-CN" sz="15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15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𝐻</m:t>
                    </m:r>
                    <m:r>
                      <a:rPr lang="en-US" altLang="zh-CN" sz="15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15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altLang="zh-CN" sz="15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)−</m:t>
                    </m:r>
                    <m:d>
                      <m:dPr>
                        <m:ctrlPr>
                          <a:rPr lang="en-US" altLang="zh-CN" sz="1500" i="1">
                            <a:latin typeface="Cambria Math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1500" i="1">
                                <a:latin typeface="Cambria Math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CN" sz="1500" i="1">
                                    <a:latin typeface="Cambria Math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sz="1500" i="1">
                                        <a:latin typeface="Cambria Math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5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𝐷</m:t>
                                    </m:r>
                                  </m:e>
                                  <m:sub>
                                    <m:r>
                                      <a:rPr lang="en-US" altLang="zh-CN" sz="15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d>
                          </m:num>
                          <m:den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CN" sz="1500" i="1">
                                    <a:latin typeface="Cambria Math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15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𝐷</m:t>
                                </m:r>
                              </m:e>
                            </m:d>
                          </m:den>
                        </m:f>
                        <m:r>
                          <a:rPr lang="en-US" altLang="zh-CN" sz="15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𝐻</m:t>
                        </m:r>
                        <m:r>
                          <a:rPr lang="en-US" altLang="zh-CN" sz="15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altLang="zh-CN" sz="15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  <m:r>
                          <a:rPr lang="en-US" altLang="zh-CN" sz="15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|</m:t>
                        </m:r>
                        <m:r>
                          <a:rPr lang="en-US" altLang="zh-CN" sz="15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  <m:r>
                          <a:rPr lang="en-US" altLang="zh-CN" sz="15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altLang="zh-CN" sz="15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𝑌</m:t>
                        </m:r>
                        <m:r>
                          <m:rPr>
                            <m:sty m:val="p"/>
                          </m:rPr>
                          <a:rPr lang="en-US" altLang="zh-CN" sz="15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es</m:t>
                        </m:r>
                        <m:r>
                          <a:rPr lang="en-US" altLang="zh-CN" sz="15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)+</m:t>
                        </m:r>
                        <m:f>
                          <m:fPr>
                            <m:ctrlPr>
                              <a:rPr lang="en-US" altLang="zh-CN" sz="1500" i="1">
                                <a:latin typeface="Cambria Math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CN" sz="1500" i="1">
                                    <a:latin typeface="Cambria Math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sz="1500" i="1">
                                        <a:latin typeface="Cambria Math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5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𝐷</m:t>
                                    </m:r>
                                  </m:e>
                                  <m:sub>
                                    <m:r>
                                      <a:rPr lang="en-US" altLang="zh-CN" sz="15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d>
                          </m:num>
                          <m:den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CN" sz="1500" i="1">
                                    <a:latin typeface="Cambria Math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15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𝐷</m:t>
                                </m:r>
                              </m:e>
                            </m:d>
                          </m:den>
                        </m:f>
                        <m:r>
                          <a:rPr lang="en-US" altLang="zh-CN" sz="15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𝐻</m:t>
                        </m:r>
                        <m:d>
                          <m:dPr>
                            <m:ctrlPr>
                              <a:rPr lang="en-US" altLang="zh-CN" sz="1500" i="1">
                                <a:latin typeface="Cambria Math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5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𝑋</m:t>
                            </m:r>
                            <m:r>
                              <a:rPr lang="en-US" altLang="zh-CN" sz="15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|</m:t>
                            </m:r>
                            <m:r>
                              <a:rPr lang="en-US" altLang="zh-CN" sz="15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𝐴</m:t>
                            </m:r>
                            <m:r>
                              <a:rPr lang="en-US" altLang="zh-CN" sz="15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=</m:t>
                            </m:r>
                            <m:r>
                              <m:rPr>
                                <m:sty m:val="p"/>
                              </m:rPr>
                              <a:rPr lang="en-US" altLang="zh-CN" sz="15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No</m:t>
                            </m:r>
                          </m:e>
                        </m:d>
                      </m:e>
                    </m:d>
                  </m:oMath>
                </a14:m>
                <a:r>
                  <a:rPr lang="en-US" altLang="zh-CN" sz="1500" dirty="0">
                    <a:cs typeface="Times New Roman" panose="02020603050405020304" pitchFamily="18" charset="0"/>
                  </a:rPr>
                  <a:t> </a:t>
                </a:r>
              </a:p>
              <a:p>
                <a:r>
                  <a:rPr lang="zh-CN" altLang="en-US" dirty="0">
                    <a:cs typeface="Times New Roman" panose="02020603050405020304" pitchFamily="18" charset="0"/>
                  </a:rPr>
                  <a:t>注意：特征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zh-CN" altLang="en-US" dirty="0">
                    <a:cs typeface="Times New Roman" panose="02020603050405020304" pitchFamily="18" charset="0"/>
                  </a:rPr>
                  <a:t>可以有多个取值</a:t>
                </a:r>
                <a:endParaRPr lang="en-US" altLang="zh-CN" dirty="0">
                  <a:cs typeface="Times New Roman" panose="02020603050405020304" pitchFamily="18" charset="0"/>
                </a:endParaRPr>
              </a:p>
              <a:p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68760"/>
                <a:ext cx="8229600" cy="5328592"/>
              </a:xfrm>
              <a:blipFill rotWithShape="0">
                <a:blip r:embed="rId2"/>
                <a:stretch>
                  <a:fillRect l="-1704" t="-19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矩形 33"/>
          <p:cNvSpPr/>
          <p:nvPr/>
        </p:nvSpPr>
        <p:spPr>
          <a:xfrm>
            <a:off x="6553264" y="1923679"/>
            <a:ext cx="486054" cy="3240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46</a:t>
            </a:r>
            <a:endParaRPr lang="zh-CN" alt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7039318" y="1923679"/>
            <a:ext cx="594066" cy="32243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54</a:t>
            </a:r>
            <a:endParaRPr lang="zh-CN" alt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6" name="直接连接符 35"/>
          <p:cNvCxnSpPr/>
          <p:nvPr/>
        </p:nvCxnSpPr>
        <p:spPr>
          <a:xfrm flipH="1">
            <a:off x="6445252" y="2246115"/>
            <a:ext cx="594066" cy="486055"/>
          </a:xfrm>
          <a:prstGeom prst="line">
            <a:avLst/>
          </a:prstGeom>
          <a:ln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7" name="矩形 36"/>
          <p:cNvSpPr/>
          <p:nvPr/>
        </p:nvSpPr>
        <p:spPr>
          <a:xfrm>
            <a:off x="6094240" y="2826302"/>
            <a:ext cx="486000" cy="3219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46</a:t>
            </a:r>
            <a:endParaRPr lang="zh-CN" alt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6593086" y="2825812"/>
            <a:ext cx="54000" cy="32243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9" name="直接连接符 38"/>
          <p:cNvCxnSpPr/>
          <p:nvPr/>
        </p:nvCxnSpPr>
        <p:spPr>
          <a:xfrm>
            <a:off x="7066321" y="2246115"/>
            <a:ext cx="594066" cy="486055"/>
          </a:xfrm>
          <a:prstGeom prst="line">
            <a:avLst/>
          </a:prstGeom>
          <a:ln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0" name="矩形 39"/>
          <p:cNvSpPr/>
          <p:nvPr/>
        </p:nvSpPr>
        <p:spPr>
          <a:xfrm>
            <a:off x="7390387" y="2825812"/>
            <a:ext cx="540000" cy="32243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50</a:t>
            </a:r>
            <a:endParaRPr lang="zh-CN" alt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6028333" y="2351442"/>
            <a:ext cx="659476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A=Yes</a:t>
            </a:r>
            <a:endParaRPr lang="zh-CN" alt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7397026" y="2317471"/>
            <a:ext cx="619080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A=No</a:t>
            </a:r>
            <a:endParaRPr lang="zh-CN" alt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文本框 42"/>
              <p:cNvSpPr txBox="1"/>
              <p:nvPr/>
            </p:nvSpPr>
            <p:spPr>
              <a:xfrm>
                <a:off x="6956844" y="1645998"/>
                <a:ext cx="163763" cy="20774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350" i="1">
                          <a:latin typeface="Cambria Math" panose="02040503050406030204" pitchFamily="18" charset="0"/>
                        </a:rPr>
                        <m:t>𝐷</m:t>
                      </m:r>
                    </m:oMath>
                  </m:oMathPara>
                </a14:m>
                <a:endParaRPr lang="zh-CN" altLang="en-US" sz="1350" dirty="0"/>
              </a:p>
            </p:txBody>
          </p:sp>
        </mc:Choice>
        <mc:Fallback xmlns="">
          <p:sp>
            <p:nvSpPr>
              <p:cNvPr id="43" name="文本框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51791" y="2194664"/>
                <a:ext cx="219932" cy="276999"/>
              </a:xfrm>
              <a:prstGeom prst="rect">
                <a:avLst/>
              </a:prstGeom>
              <a:blipFill rotWithShape="0">
                <a:blip r:embed="rId3"/>
                <a:stretch>
                  <a:fillRect l="-27778" r="-19444" b="-8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文本框 43"/>
              <p:cNvSpPr txBox="1"/>
              <p:nvPr/>
            </p:nvSpPr>
            <p:spPr>
              <a:xfrm>
                <a:off x="6280542" y="3242234"/>
                <a:ext cx="225446" cy="20774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350" i="1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sz="1350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altLang="zh-CN" sz="135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sz="1350" dirty="0"/>
              </a:p>
            </p:txBody>
          </p:sp>
        </mc:Choice>
        <mc:Fallback xmlns="">
          <p:sp>
            <p:nvSpPr>
              <p:cNvPr id="44" name="文本框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0056" y="4322978"/>
                <a:ext cx="301686" cy="276999"/>
              </a:xfrm>
              <a:prstGeom prst="rect">
                <a:avLst/>
              </a:prstGeom>
              <a:blipFill rotWithShape="0">
                <a:blip r:embed="rId4"/>
                <a:stretch>
                  <a:fillRect l="-18367" r="-8163" b="-152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文本框 44"/>
              <p:cNvSpPr txBox="1"/>
              <p:nvPr/>
            </p:nvSpPr>
            <p:spPr>
              <a:xfrm>
                <a:off x="7547255" y="3259225"/>
                <a:ext cx="229486" cy="20774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350" i="1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sz="1350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altLang="zh-CN" sz="135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sz="1350" dirty="0"/>
              </a:p>
            </p:txBody>
          </p:sp>
        </mc:Choice>
        <mc:Fallback xmlns="">
          <p:sp>
            <p:nvSpPr>
              <p:cNvPr id="45" name="文本框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39006" y="4345633"/>
                <a:ext cx="307007" cy="276999"/>
              </a:xfrm>
              <a:prstGeom prst="rect">
                <a:avLst/>
              </a:prstGeom>
              <a:blipFill rotWithShape="0">
                <a:blip r:embed="rId5"/>
                <a:stretch>
                  <a:fillRect l="-20000" r="-6000" b="-15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984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   选择决策特征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047162" y="4069729"/>
            <a:ext cx="1600200" cy="273844"/>
          </a:xfrm>
        </p:spPr>
        <p:txBody>
          <a:bodyPr/>
          <a:lstStyle/>
          <a:p>
            <a:fld id="{2F264DDB-364C-410E-A66B-B19CEFA5EF0F}" type="slidenum">
              <a:rPr lang="zh-CN" altLang="en-US" smtClean="0"/>
              <a:pPr/>
              <a:t>32</a:t>
            </a:fld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2518627" y="2107370"/>
            <a:ext cx="486054" cy="3240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46</a:t>
            </a:r>
            <a:endParaRPr lang="zh-CN" alt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004681" y="2107370"/>
            <a:ext cx="594066" cy="32243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54</a:t>
            </a:r>
            <a:endParaRPr lang="zh-CN" alt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" name="直接连接符 6"/>
          <p:cNvCxnSpPr/>
          <p:nvPr/>
        </p:nvCxnSpPr>
        <p:spPr>
          <a:xfrm flipH="1">
            <a:off x="2410615" y="2429806"/>
            <a:ext cx="594066" cy="486055"/>
          </a:xfrm>
          <a:prstGeom prst="line">
            <a:avLst/>
          </a:prstGeom>
          <a:ln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2059603" y="3009993"/>
            <a:ext cx="243000" cy="3219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23</a:t>
            </a:r>
            <a:endParaRPr lang="zh-CN" altLang="en-US" sz="82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2302603" y="3009994"/>
            <a:ext cx="297000" cy="32243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27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3031684" y="2429806"/>
            <a:ext cx="594066" cy="486055"/>
          </a:xfrm>
          <a:prstGeom prst="line">
            <a:avLst/>
          </a:prstGeom>
          <a:ln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1" name="矩形 10"/>
          <p:cNvSpPr/>
          <p:nvPr/>
        </p:nvSpPr>
        <p:spPr>
          <a:xfrm>
            <a:off x="3382750" y="3009993"/>
            <a:ext cx="243000" cy="3219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23</a:t>
            </a:r>
            <a:endParaRPr lang="zh-CN" altLang="en-US" sz="82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3625750" y="3009994"/>
            <a:ext cx="297000" cy="32194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27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993696" y="2535133"/>
            <a:ext cx="746038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A1=Yes</a:t>
            </a:r>
            <a:endParaRPr lang="zh-CN" alt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3362389" y="2501162"/>
            <a:ext cx="705642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A1=No</a:t>
            </a:r>
            <a:endParaRPr lang="zh-CN" alt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5685329" y="2107370"/>
            <a:ext cx="486054" cy="3240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46</a:t>
            </a:r>
            <a:endParaRPr lang="zh-CN" alt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171383" y="2107370"/>
            <a:ext cx="594066" cy="32243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54</a:t>
            </a:r>
            <a:endParaRPr lang="zh-CN" alt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7" name="直接连接符 16"/>
          <p:cNvCxnSpPr/>
          <p:nvPr/>
        </p:nvCxnSpPr>
        <p:spPr>
          <a:xfrm flipH="1">
            <a:off x="5577317" y="2429806"/>
            <a:ext cx="594066" cy="486055"/>
          </a:xfrm>
          <a:prstGeom prst="line">
            <a:avLst/>
          </a:prstGeom>
          <a:ln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8" name="矩形 17"/>
          <p:cNvSpPr/>
          <p:nvPr/>
        </p:nvSpPr>
        <p:spPr>
          <a:xfrm>
            <a:off x="5226305" y="3009993"/>
            <a:ext cx="486000" cy="3219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46</a:t>
            </a:r>
            <a:endParaRPr lang="zh-CN" alt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5725151" y="3009503"/>
            <a:ext cx="54000" cy="32243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0" name="直接连接符 19"/>
          <p:cNvCxnSpPr/>
          <p:nvPr/>
        </p:nvCxnSpPr>
        <p:spPr>
          <a:xfrm>
            <a:off x="6198386" y="2429806"/>
            <a:ext cx="594066" cy="486055"/>
          </a:xfrm>
          <a:prstGeom prst="line">
            <a:avLst/>
          </a:prstGeom>
          <a:ln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1" name="矩形 20"/>
          <p:cNvSpPr/>
          <p:nvPr/>
        </p:nvSpPr>
        <p:spPr>
          <a:xfrm>
            <a:off x="6522452" y="3009503"/>
            <a:ext cx="540000" cy="32243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50</a:t>
            </a:r>
            <a:endParaRPr lang="zh-CN" alt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5160398" y="2535133"/>
            <a:ext cx="746038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A2=Yes</a:t>
            </a:r>
            <a:endParaRPr lang="zh-CN" alt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6529091" y="2501162"/>
            <a:ext cx="705642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A2=No</a:t>
            </a:r>
            <a:endParaRPr lang="zh-CN" alt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本框 24"/>
              <p:cNvSpPr txBox="1"/>
              <p:nvPr/>
            </p:nvSpPr>
            <p:spPr>
              <a:xfrm>
                <a:off x="1166320" y="1660883"/>
                <a:ext cx="3913251" cy="3989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350" i="1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altLang="zh-CN" sz="1350" i="1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en-US" altLang="zh-CN" sz="135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altLang="zh-CN" sz="1350" i="1">
                          <a:latin typeface="Cambria Math" panose="02040503050406030204" pitchFamily="18" charset="0"/>
                        </a:rPr>
                        <m:t>=−</m:t>
                      </m:r>
                      <m:d>
                        <m:dPr>
                          <m:ctrlPr>
                            <a:rPr lang="en-US" altLang="zh-CN" sz="1350" i="1">
                              <a:latin typeface="Cambria Math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1350" i="1">
                                  <a:latin typeface="Cambria Math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1350" i="1">
                                  <a:latin typeface="Cambria Math" panose="02040503050406030204" pitchFamily="18" charset="0"/>
                                </a:rPr>
                                <m:t>46</m:t>
                              </m:r>
                            </m:num>
                            <m:den>
                              <m:r>
                                <a:rPr lang="en-US" altLang="zh-CN" sz="1350" i="1">
                                  <a:latin typeface="Cambria Math" panose="02040503050406030204" pitchFamily="18" charset="0"/>
                                </a:rPr>
                                <m:t>100</m:t>
                              </m:r>
                            </m:den>
                          </m:f>
                          <m:r>
                            <a:rPr lang="en-US" altLang="zh-CN" sz="1350" i="1">
                              <a:latin typeface="Cambria Math" panose="02040503050406030204" pitchFamily="18" charset="0"/>
                            </a:rPr>
                            <m:t>∗</m:t>
                          </m:r>
                          <m:func>
                            <m:funcPr>
                              <m:ctrlPr>
                                <a:rPr lang="en-US" altLang="zh-CN" sz="1350" i="1">
                                  <a:latin typeface="Cambria Math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sz="1350">
                                  <a:latin typeface="Cambria Math" panose="02040503050406030204" pitchFamily="18" charset="0"/>
                                </a:rPr>
                                <m:t>l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1350" i="1">
                                  <a:latin typeface="Cambria Math" panose="02040503050406030204" pitchFamily="18" charset="0"/>
                                </a:rPr>
                                <m:t>og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en-US" altLang="zh-CN" sz="1350" i="1">
                                      <a:latin typeface="Cambria Math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1350" i="1">
                                      <a:latin typeface="Cambria Math" panose="02040503050406030204" pitchFamily="18" charset="0"/>
                                    </a:rPr>
                                    <m:t>46</m:t>
                                  </m:r>
                                </m:num>
                                <m:den>
                                  <m:r>
                                    <a:rPr lang="en-US" altLang="zh-CN" sz="1350" i="1">
                                      <a:latin typeface="Cambria Math" panose="02040503050406030204" pitchFamily="18" charset="0"/>
                                    </a:rPr>
                                    <m:t>100</m:t>
                                  </m:r>
                                </m:den>
                              </m:f>
                            </m:e>
                          </m:func>
                          <m:r>
                            <a:rPr lang="en-US" altLang="zh-CN" sz="1350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altLang="zh-CN" sz="1350" i="1">
                                  <a:latin typeface="Cambria Math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1350" i="1">
                                  <a:latin typeface="Cambria Math" panose="02040503050406030204" pitchFamily="18" charset="0"/>
                                </a:rPr>
                                <m:t>54</m:t>
                              </m:r>
                            </m:num>
                            <m:den>
                              <m:r>
                                <a:rPr lang="en-US" altLang="zh-CN" sz="1350" i="1">
                                  <a:latin typeface="Cambria Math" panose="02040503050406030204" pitchFamily="18" charset="0"/>
                                </a:rPr>
                                <m:t>100</m:t>
                              </m:r>
                            </m:den>
                          </m:f>
                          <m:r>
                            <a:rPr lang="en-US" altLang="zh-CN" sz="1350" i="1">
                              <a:latin typeface="Cambria Math" panose="02040503050406030204" pitchFamily="18" charset="0"/>
                            </a:rPr>
                            <m:t>∗</m:t>
                          </m:r>
                          <m:func>
                            <m:funcPr>
                              <m:ctrlPr>
                                <a:rPr lang="en-US" altLang="zh-CN" sz="1350" i="1">
                                  <a:latin typeface="Cambria Math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sz="1350">
                                  <a:latin typeface="Cambria Math" panose="02040503050406030204" pitchFamily="18" charset="0"/>
                                </a:rPr>
                                <m:t>l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1350" i="1">
                                  <a:latin typeface="Cambria Math" panose="02040503050406030204" pitchFamily="18" charset="0"/>
                                </a:rPr>
                                <m:t>og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en-US" altLang="zh-CN" sz="1350" i="1">
                                      <a:latin typeface="Cambria Math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1350" i="1">
                                      <a:latin typeface="Cambria Math" panose="02040503050406030204" pitchFamily="18" charset="0"/>
                                    </a:rPr>
                                    <m:t>54</m:t>
                                  </m:r>
                                </m:num>
                                <m:den>
                                  <m:r>
                                    <a:rPr lang="en-US" altLang="zh-CN" sz="1350" i="1">
                                      <a:latin typeface="Cambria Math" panose="02040503050406030204" pitchFamily="18" charset="0"/>
                                    </a:rPr>
                                    <m:t>100</m:t>
                                  </m:r>
                                </m:den>
                              </m:f>
                            </m:e>
                          </m:func>
                        </m:e>
                      </m:d>
                      <m:r>
                        <a:rPr lang="en-US" altLang="zh-CN" sz="1350" i="1">
                          <a:latin typeface="Cambria Math" panose="02040503050406030204" pitchFamily="18" charset="0"/>
                        </a:rPr>
                        <m:t>=0.9954</m:t>
                      </m:r>
                    </m:oMath>
                  </m:oMathPara>
                </a14:m>
                <a:endParaRPr sz="1350"/>
              </a:p>
            </p:txBody>
          </p:sp>
        </mc:Choice>
        <mc:Fallback xmlns="">
          <p:sp>
            <p:nvSpPr>
              <p:cNvPr id="25" name="文本框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6320" y="1660883"/>
                <a:ext cx="3913251" cy="398955"/>
              </a:xfrm>
              <a:prstGeom prst="rect">
                <a:avLst/>
              </a:prstGeom>
              <a:blipFill rotWithShape="0">
                <a:blip r:embed="rId2"/>
                <a:stretch>
                  <a:fillRect l="-623" t="-1515" r="-935" b="-121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矩形 26"/>
              <p:cNvSpPr/>
              <p:nvPr/>
            </p:nvSpPr>
            <p:spPr>
              <a:xfrm>
                <a:off x="1947751" y="3430159"/>
                <a:ext cx="739305" cy="30008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350" i="1">
                          <a:latin typeface="Cambria Math" panose="02040503050406030204" pitchFamily="18" charset="0"/>
                        </a:rPr>
                        <m:t>0.9954</m:t>
                      </m:r>
                    </m:oMath>
                  </m:oMathPara>
                </a14:m>
                <a:endParaRPr lang="zh-CN" altLang="en-US" sz="1350" dirty="0"/>
              </a:p>
            </p:txBody>
          </p:sp>
        </mc:Choice>
        <mc:Fallback xmlns="">
          <p:sp>
            <p:nvSpPr>
              <p:cNvPr id="27" name="矩形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7751" y="3430159"/>
                <a:ext cx="739305" cy="300082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矩形 27"/>
              <p:cNvSpPr/>
              <p:nvPr/>
            </p:nvSpPr>
            <p:spPr>
              <a:xfrm>
                <a:off x="3343557" y="3430159"/>
                <a:ext cx="739305" cy="30008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350" i="1">
                          <a:latin typeface="Cambria Math" panose="02040503050406030204" pitchFamily="18" charset="0"/>
                        </a:rPr>
                        <m:t>0.9954</m:t>
                      </m:r>
                    </m:oMath>
                  </m:oMathPara>
                </a14:m>
                <a:endParaRPr lang="zh-CN" altLang="en-US" sz="1350" dirty="0"/>
              </a:p>
            </p:txBody>
          </p:sp>
        </mc:Choice>
        <mc:Fallback xmlns="">
          <p:sp>
            <p:nvSpPr>
              <p:cNvPr id="28" name="矩形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3557" y="3430159"/>
                <a:ext cx="739305" cy="300082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矩形 28"/>
          <p:cNvSpPr/>
          <p:nvPr/>
        </p:nvSpPr>
        <p:spPr>
          <a:xfrm>
            <a:off x="5176804" y="3430159"/>
            <a:ext cx="742511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350" dirty="0">
                <a:solidFill>
                  <a:srgbClr val="000000"/>
                </a:solidFill>
                <a:latin typeface="宋体" panose="02010600030101010101" pitchFamily="2" charset="-122"/>
              </a:rPr>
              <a:t>0.4022</a:t>
            </a:r>
            <a:r>
              <a:rPr lang="zh-CN" altLang="en-US" sz="1350" dirty="0"/>
              <a:t> </a:t>
            </a:r>
          </a:p>
        </p:txBody>
      </p:sp>
      <p:sp>
        <p:nvSpPr>
          <p:cNvPr id="30" name="矩形 29"/>
          <p:cNvSpPr/>
          <p:nvPr/>
        </p:nvSpPr>
        <p:spPr>
          <a:xfrm>
            <a:off x="6734255" y="3425580"/>
            <a:ext cx="271228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350" dirty="0">
                <a:solidFill>
                  <a:srgbClr val="000000"/>
                </a:solidFill>
                <a:latin typeface="宋体" panose="02010600030101010101" pitchFamily="2" charset="-122"/>
              </a:rPr>
              <a:t>0</a:t>
            </a:r>
            <a:endParaRPr lang="zh-CN" altLang="en-US" sz="135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矩形 30"/>
              <p:cNvSpPr/>
              <p:nvPr/>
            </p:nvSpPr>
            <p:spPr>
              <a:xfrm>
                <a:off x="5495070" y="1803021"/>
                <a:ext cx="1357231" cy="30008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350" i="1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altLang="zh-CN" sz="1350" i="1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en-US" altLang="zh-CN" sz="135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altLang="zh-CN" sz="1350" i="1">
                          <a:latin typeface="Cambria Math" panose="02040503050406030204" pitchFamily="18" charset="0"/>
                        </a:rPr>
                        <m:t>=0.9954</m:t>
                      </m:r>
                    </m:oMath>
                  </m:oMathPara>
                </a14:m>
                <a:endParaRPr lang="zh-CN" altLang="en-US" sz="1350" dirty="0"/>
              </a:p>
            </p:txBody>
          </p:sp>
        </mc:Choice>
        <mc:Fallback xmlns="">
          <p:sp>
            <p:nvSpPr>
              <p:cNvPr id="31" name="矩形 3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5070" y="1803021"/>
                <a:ext cx="1357231" cy="300082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矩形 31"/>
              <p:cNvSpPr/>
              <p:nvPr/>
            </p:nvSpPr>
            <p:spPr>
              <a:xfrm>
                <a:off x="1122204" y="3804887"/>
                <a:ext cx="3284554" cy="69903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350" i="1">
                          <a:latin typeface="Cambria Math" panose="02040503050406030204" pitchFamily="18" charset="0"/>
                        </a:rPr>
                        <m:t>𝐼𝐺</m:t>
                      </m:r>
                      <m:d>
                        <m:dPr>
                          <m:ctrlPr>
                            <a:rPr lang="en-US" altLang="zh-CN" sz="1350" i="1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en-US" altLang="zh-CN" sz="1350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zh-CN" sz="135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CN" sz="1350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altLang="zh-CN" sz="1350" i="1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altLang="zh-CN" sz="1350" i="1">
                          <a:latin typeface="Cambria Math" panose="02040503050406030204" pitchFamily="18" charset="0"/>
                        </a:rPr>
                        <m:t>=0.9954−</m:t>
                      </m:r>
                      <m:d>
                        <m:dPr>
                          <m:ctrlPr>
                            <a:rPr lang="en-US" altLang="zh-CN" sz="1350" i="1">
                              <a:latin typeface="Cambria Math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1350" i="1">
                                  <a:latin typeface="Cambria Math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1350" i="1">
                                  <a:latin typeface="Cambria Math" panose="02040503050406030204" pitchFamily="18" charset="0"/>
                                </a:rPr>
                                <m:t>0.9954</m:t>
                              </m:r>
                            </m:num>
                            <m:den>
                              <m:r>
                                <a:rPr lang="en-US" altLang="zh-CN" sz="135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altLang="zh-CN" sz="1350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altLang="zh-CN" sz="1350" i="1">
                                  <a:latin typeface="Cambria Math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1350" i="1">
                                  <a:latin typeface="Cambria Math" panose="02040503050406030204" pitchFamily="18" charset="0"/>
                                </a:rPr>
                                <m:t>0.9954</m:t>
                              </m:r>
                            </m:num>
                            <m:den>
                              <m:r>
                                <a:rPr lang="en-US" altLang="zh-CN" sz="135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r>
                  <a:rPr lang="en-US" altLang="zh-CN" sz="1350" i="1" dirty="0">
                    <a:latin typeface="Cambria Math" panose="02040503050406030204" pitchFamily="18" charset="0"/>
                  </a:rPr>
                  <a:t/>
                </a:r>
                <a:br>
                  <a:rPr lang="en-US" altLang="zh-CN" sz="1350" i="1" dirty="0">
                    <a:latin typeface="Cambria Math" panose="02040503050406030204" pitchFamily="18" charset="0"/>
                  </a:rPr>
                </a:br>
                <a:r>
                  <a:rPr lang="en-US" altLang="zh-CN" sz="1350" i="1" dirty="0">
                    <a:latin typeface="Cambria Math" panose="02040503050406030204" pitchFamily="18" charset="0"/>
                  </a:rPr>
                  <a:t>                     </a:t>
                </a:r>
                <a14:m>
                  <m:oMath xmlns:m="http://schemas.openxmlformats.org/officeDocument/2006/math">
                    <m:r>
                      <a:rPr lang="en-US" altLang="zh-CN" sz="135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35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zh-CN" altLang="en-US" sz="1350" dirty="0"/>
              </a:p>
            </p:txBody>
          </p:sp>
        </mc:Choice>
        <mc:Fallback xmlns="">
          <p:sp>
            <p:nvSpPr>
              <p:cNvPr id="32" name="矩形 3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2204" y="3804887"/>
                <a:ext cx="3284554" cy="699038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矩形 32"/>
              <p:cNvSpPr/>
              <p:nvPr/>
            </p:nvSpPr>
            <p:spPr>
              <a:xfrm>
                <a:off x="4928207" y="3750916"/>
                <a:ext cx="2867773" cy="69775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350" i="1">
                          <a:latin typeface="Cambria Math" panose="02040503050406030204" pitchFamily="18" charset="0"/>
                        </a:rPr>
                        <m:t>𝐼𝐺</m:t>
                      </m:r>
                      <m:d>
                        <m:dPr>
                          <m:ctrlPr>
                            <a:rPr lang="en-US" altLang="zh-CN" sz="1350" i="1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en-US" altLang="zh-CN" sz="1350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zh-CN" sz="135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CN" sz="1350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altLang="zh-CN" sz="1350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altLang="zh-CN" sz="1350" i="1">
                          <a:latin typeface="Cambria Math" panose="02040503050406030204" pitchFamily="18" charset="0"/>
                        </a:rPr>
                        <m:t>=0.9954−</m:t>
                      </m:r>
                      <m:d>
                        <m:dPr>
                          <m:ctrlPr>
                            <a:rPr lang="en-US" altLang="zh-CN" sz="1350" i="1">
                              <a:latin typeface="Cambria Math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1350" i="1">
                                  <a:latin typeface="Cambria Math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nor/>
                                </m:rPr>
                                <a:rPr lang="en-US" altLang="zh-CN" sz="1350" dirty="0">
                                  <a:solidFill>
                                    <a:srgbClr val="000000"/>
                                  </a:solidFill>
                                  <a:latin typeface="宋体" panose="02010600030101010101" pitchFamily="2" charset="-122"/>
                                </a:rPr>
                                <m:t>0.4022</m:t>
                              </m:r>
                            </m:num>
                            <m:den>
                              <m:r>
                                <a:rPr lang="en-US" altLang="zh-CN" sz="135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altLang="zh-CN" sz="1350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altLang="zh-CN" sz="1350" i="1">
                                  <a:latin typeface="Cambria Math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135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num>
                            <m:den>
                              <m:r>
                                <a:rPr lang="en-US" altLang="zh-CN" sz="135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r>
                  <a:rPr lang="en-US" altLang="zh-CN" sz="1350" i="1" dirty="0">
                    <a:latin typeface="Cambria Math" panose="02040503050406030204" pitchFamily="18" charset="0"/>
                  </a:rPr>
                  <a:t/>
                </a:r>
                <a:br>
                  <a:rPr lang="en-US" altLang="zh-CN" sz="1350" i="1" dirty="0">
                    <a:latin typeface="Cambria Math" panose="02040503050406030204" pitchFamily="18" charset="0"/>
                  </a:rPr>
                </a:br>
                <a:r>
                  <a:rPr lang="en-US" altLang="zh-CN" sz="1350" i="1" dirty="0">
                    <a:latin typeface="Cambria Math" panose="02040503050406030204" pitchFamily="18" charset="0"/>
                  </a:rPr>
                  <a:t>                      </a:t>
                </a:r>
                <a14:m>
                  <m:oMath xmlns:m="http://schemas.openxmlformats.org/officeDocument/2006/math">
                    <m:r>
                      <a:rPr lang="en-US" altLang="zh-CN" sz="135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35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0.7943</m:t>
                    </m:r>
                  </m:oMath>
                </a14:m>
                <a:endParaRPr lang="zh-CN" altLang="en-US" sz="1350" dirty="0"/>
              </a:p>
            </p:txBody>
          </p:sp>
        </mc:Choice>
        <mc:Fallback xmlns="">
          <p:sp>
            <p:nvSpPr>
              <p:cNvPr id="33" name="矩形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8207" y="3750916"/>
                <a:ext cx="2867773" cy="697755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矩形 34"/>
              <p:cNvSpPr/>
              <p:nvPr/>
            </p:nvSpPr>
            <p:spPr>
              <a:xfrm>
                <a:off x="1305873" y="872681"/>
                <a:ext cx="4670283" cy="629339"/>
              </a:xfrm>
              <a:prstGeom prst="rect">
                <a:avLst/>
              </a:prstGeom>
              <a:ln>
                <a:solidFill>
                  <a:srgbClr val="C0000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135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IG</m:t>
                      </m:r>
                      <m:d>
                        <m:dPr>
                          <m:ctrlPr>
                            <a:rPr lang="en-US" altLang="zh-CN" sz="1350" i="1">
                              <a:latin typeface="Cambria Math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135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𝑋</m:t>
                          </m:r>
                          <m:r>
                            <a:rPr lang="en-US" altLang="zh-CN" sz="135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|</m:t>
                          </m:r>
                          <m:r>
                            <a:rPr lang="en-US" altLang="zh-CN" sz="135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altLang="zh-CN" sz="135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135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𝐻</m:t>
                      </m:r>
                      <m:r>
                        <a:rPr lang="en-US" altLang="zh-CN" sz="135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CN" sz="135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𝑋</m:t>
                      </m:r>
                      <m:r>
                        <a:rPr lang="en-US" altLang="zh-CN" sz="135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)−</m:t>
                      </m:r>
                      <m:d>
                        <m:dPr>
                          <m:ctrlPr>
                            <a:rPr lang="en-US" altLang="zh-CN" sz="1350" i="1">
                              <a:latin typeface="Cambria Math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1350" i="1">
                                  <a:latin typeface="Cambria Math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CN" sz="1350" i="1">
                                      <a:latin typeface="Cambria Math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1350" i="1">
                                          <a:latin typeface="Cambria Math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35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𝐷</m:t>
                                      </m:r>
                                    </m:e>
                                    <m:sub>
                                      <m:r>
                                        <a:rPr lang="en-US" altLang="zh-CN" sz="135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</m:num>
                            <m:den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CN" sz="1350" i="1">
                                      <a:latin typeface="Cambria Math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35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𝐷</m:t>
                                  </m:r>
                                </m:e>
                              </m:d>
                            </m:den>
                          </m:f>
                          <m:r>
                            <a:rPr lang="en-US" altLang="zh-CN" sz="135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𝐻</m:t>
                          </m:r>
                          <m:r>
                            <a:rPr lang="en-US" altLang="zh-CN" sz="135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altLang="zh-CN" sz="135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𝑋</m:t>
                          </m:r>
                          <m:r>
                            <a:rPr lang="en-US" altLang="zh-CN" sz="135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|</m:t>
                          </m:r>
                          <m:r>
                            <a:rPr lang="en-US" altLang="zh-CN" sz="135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𝐴</m:t>
                          </m:r>
                          <m:r>
                            <a:rPr lang="en-US" altLang="zh-CN" sz="135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m:rPr>
                              <m:sty m:val="p"/>
                            </m:rPr>
                            <a:rPr lang="en-US" altLang="zh-CN" sz="135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Yes</m:t>
                          </m:r>
                          <m:r>
                            <a:rPr lang="en-US" altLang="zh-CN" sz="135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)+</m:t>
                          </m:r>
                          <m:f>
                            <m:fPr>
                              <m:ctrlPr>
                                <a:rPr lang="en-US" altLang="zh-CN" sz="1350" i="1">
                                  <a:latin typeface="Cambria Math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CN" sz="1350" i="1">
                                      <a:latin typeface="Cambria Math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1350" i="1">
                                          <a:latin typeface="Cambria Math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35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𝐷</m:t>
                                      </m:r>
                                    </m:e>
                                    <m:sub>
                                      <m:r>
                                        <a:rPr lang="en-US" altLang="zh-CN" sz="135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num>
                            <m:den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CN" sz="1350" i="1">
                                      <a:latin typeface="Cambria Math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35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𝐷</m:t>
                                  </m:r>
                                </m:e>
                              </m:d>
                            </m:den>
                          </m:f>
                          <m:r>
                            <a:rPr lang="en-US" altLang="zh-CN" sz="135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𝐻</m:t>
                          </m:r>
                          <m:d>
                            <m:dPr>
                              <m:ctrlPr>
                                <a:rPr lang="en-US" altLang="zh-CN" sz="1350" i="1">
                                  <a:latin typeface="Cambria Math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35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𝑋</m:t>
                              </m:r>
                              <m:r>
                                <a:rPr lang="en-US" altLang="zh-CN" sz="135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|</m:t>
                              </m:r>
                              <m:r>
                                <a:rPr lang="en-US" altLang="zh-CN" sz="135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𝐴</m:t>
                              </m:r>
                              <m:r>
                                <a:rPr lang="en-US" altLang="zh-CN" sz="135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135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No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zh-CN" altLang="en-US" sz="1350" dirty="0"/>
              </a:p>
            </p:txBody>
          </p:sp>
        </mc:Choice>
        <mc:Fallback xmlns="">
          <p:sp>
            <p:nvSpPr>
              <p:cNvPr id="35" name="矩形 3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5873" y="872681"/>
                <a:ext cx="4670283" cy="629339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  <a:ln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矩形 35"/>
              <p:cNvSpPr/>
              <p:nvPr/>
            </p:nvSpPr>
            <p:spPr>
              <a:xfrm>
                <a:off x="1305873" y="146525"/>
                <a:ext cx="1810688" cy="684803"/>
              </a:xfrm>
              <a:prstGeom prst="rect">
                <a:avLst/>
              </a:prstGeom>
              <a:ln>
                <a:solidFill>
                  <a:srgbClr val="C00000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135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H</m:t>
                      </m:r>
                      <m:r>
                        <a:rPr lang="en-US" altLang="zh-CN" sz="135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altLang="zh-CN" sz="135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X</m:t>
                      </m:r>
                      <m:r>
                        <a:rPr lang="en-US" altLang="zh-CN" sz="135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  <m:r>
                        <a:rPr lang="en-US" altLang="zh-CN" sz="135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=−</m:t>
                      </m:r>
                      <m:nary>
                        <m:naryPr>
                          <m:chr m:val="∑"/>
                          <m:ctrlPr>
                            <a:rPr lang="en-US" altLang="zh-CN" sz="1350" i="1">
                              <a:latin typeface="Cambria Math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135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𝑐</m:t>
                          </m:r>
                          <m:r>
                            <a:rPr lang="en-US" altLang="zh-CN" sz="135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135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|</m:t>
                          </m:r>
                          <m:r>
                            <a:rPr lang="en-US" altLang="zh-CN" sz="135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𝐶</m:t>
                          </m:r>
                          <m:r>
                            <a:rPr lang="en-US" altLang="zh-CN" sz="135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|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1350" i="1">
                                  <a:latin typeface="Cambria Math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35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zh-CN" sz="135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𝑐</m:t>
                              </m:r>
                            </m:sub>
                          </m:sSub>
                          <m:func>
                            <m:funcPr>
                              <m:ctrlPr>
                                <a:rPr lang="en-US" altLang="zh-CN" sz="1350" i="1">
                                  <a:latin typeface="Cambria Math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sz="135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altLang="zh-CN" sz="1350" i="1">
                                      <a:latin typeface="Cambria Math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35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altLang="zh-CN" sz="135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</m:e>
                          </m:func>
                        </m:e>
                      </m:nary>
                    </m:oMath>
                  </m:oMathPara>
                </a14:m>
                <a:endParaRPr lang="zh-CN" altLang="en-US" sz="1350" dirty="0"/>
              </a:p>
            </p:txBody>
          </p:sp>
        </mc:Choice>
        <mc:Fallback xmlns="">
          <p:sp>
            <p:nvSpPr>
              <p:cNvPr id="36" name="矩形 3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5873" y="146525"/>
                <a:ext cx="1810688" cy="684803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  <a:ln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文本框 36"/>
          <p:cNvSpPr txBox="1"/>
          <p:nvPr/>
        </p:nvSpPr>
        <p:spPr>
          <a:xfrm>
            <a:off x="6367019" y="4243936"/>
            <a:ext cx="622286" cy="7155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50" dirty="0">
                <a:sym typeface="Wingdings" panose="05000000000000000000" pitchFamily="2" charset="2"/>
              </a:rPr>
              <a:t></a:t>
            </a:r>
            <a:endParaRPr lang="zh-CN" altLang="en-US" sz="4050" dirty="0"/>
          </a:p>
        </p:txBody>
      </p:sp>
      <p:sp>
        <p:nvSpPr>
          <p:cNvPr id="38" name="文本框 37"/>
          <p:cNvSpPr txBox="1"/>
          <p:nvPr/>
        </p:nvSpPr>
        <p:spPr>
          <a:xfrm>
            <a:off x="2742184" y="4243936"/>
            <a:ext cx="622286" cy="7155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50" dirty="0">
                <a:sym typeface="Wingdings" panose="05000000000000000000" pitchFamily="2" charset="2"/>
              </a:rPr>
              <a:t></a:t>
            </a:r>
            <a:endParaRPr lang="zh-CN" altLang="en-US" sz="4050" dirty="0"/>
          </a:p>
        </p:txBody>
      </p:sp>
    </p:spTree>
    <p:extLst>
      <p:ext uri="{BB962C8B-B14F-4D97-AF65-F5344CB8AC3E}">
        <p14:creationId xmlns:p14="http://schemas.microsoft.com/office/powerpoint/2010/main" val="826369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逻辑回归</a:t>
            </a:r>
            <a:r>
              <a:rPr lang="zh-CN" altLang="en-US" dirty="0"/>
              <a:t>模型 </a:t>
            </a:r>
            <a:r>
              <a:rPr lang="en-US" altLang="zh-CN" dirty="0"/>
              <a:t>–</a:t>
            </a:r>
            <a:r>
              <a:rPr lang="zh-CN" altLang="en-US" dirty="0"/>
              <a:t> </a:t>
            </a:r>
            <a:r>
              <a:rPr lang="en-US" altLang="zh-CN" dirty="0" smtClean="0"/>
              <a:t>Logistic</a:t>
            </a:r>
            <a:r>
              <a:rPr lang="zh-CN" altLang="en-US" dirty="0" smtClean="0"/>
              <a:t> </a:t>
            </a:r>
            <a:r>
              <a:rPr lang="en-US" altLang="zh-CN" dirty="0"/>
              <a:t>Regression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 smtClean="0"/>
                  <a:t>逻辑回归模型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将回归问题</a:t>
                </a:r>
                <a:r>
                  <a:rPr lang="zh-CN" altLang="en-US" dirty="0" smtClean="0"/>
                  <a:t>进行转化</a:t>
                </a:r>
                <a:r>
                  <a:rPr lang="en-US" altLang="zh-CN" dirty="0" smtClean="0"/>
                  <a:t>——</a:t>
                </a:r>
                <a:r>
                  <a:rPr lang="zh-CN" altLang="en-US" dirty="0" smtClean="0"/>
                  <a:t>估计条件概率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charset="0"/>
                      </a:rPr>
                      <m:t>𝑃</m:t>
                    </m:r>
                    <m:r>
                      <a:rPr lang="en-US" altLang="zh-CN" b="0" i="1" smtClean="0">
                        <a:latin typeface="Cambria Math" charset="0"/>
                      </a:rPr>
                      <m:t>(</m:t>
                    </m:r>
                    <m:r>
                      <a:rPr lang="en-US" altLang="zh-CN" b="0" i="1" smtClean="0">
                        <a:latin typeface="Cambria Math" charset="0"/>
                      </a:rPr>
                      <m:t>𝑌</m:t>
                    </m:r>
                    <m:r>
                      <a:rPr lang="en-US" altLang="zh-CN" b="0" i="1" smtClean="0">
                        <a:latin typeface="Cambria Math" charset="0"/>
                      </a:rPr>
                      <m:t>=1|</m:t>
                    </m:r>
                    <m:r>
                      <a:rPr lang="en-US" altLang="zh-CN" b="0" i="1" smtClean="0">
                        <a:latin typeface="Cambria Math" charset="0"/>
                      </a:rPr>
                      <m:t>𝑋</m:t>
                    </m:r>
                    <m:r>
                      <a:rPr lang="en-US" altLang="zh-CN" b="0" i="1" smtClean="0">
                        <a:latin typeface="Cambria Math" charset="0"/>
                      </a:rPr>
                      <m:t>)</m:t>
                    </m:r>
                  </m:oMath>
                </a14:m>
                <a:endParaRPr lang="en-US" altLang="zh-CN" dirty="0"/>
              </a:p>
              <a:p>
                <a:r>
                  <a:rPr lang="zh-CN" altLang="en-US" dirty="0"/>
                  <a:t>在线性回归输出的结果上加一个非线性函数𝜎</a:t>
                </a: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i="1">
                              <a:latin typeface="Cambria Math" charset="0"/>
                            </a:rPr>
                          </m:ctrlPr>
                        </m:accPr>
                        <m:e>
                          <m:r>
                            <a:rPr lang="en-US" altLang="zh-CN" i="1">
                              <a:latin typeface="Cambria Math" charset="0"/>
                            </a:rPr>
                            <m:t>𝑃</m:t>
                          </m:r>
                        </m:e>
                      </m:acc>
                      <m:d>
                        <m:dPr>
                          <m:ctrlPr>
                            <a:rPr lang="en-US" altLang="zh-CN" i="1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charset="0"/>
                            </a:rPr>
                            <m:t>𝑌</m:t>
                          </m:r>
                          <m:r>
                            <a:rPr lang="en-US" altLang="zh-CN" i="1">
                              <a:latin typeface="Cambria Math" charset="0"/>
                            </a:rPr>
                            <m:t>=1</m:t>
                          </m:r>
                        </m:e>
                        <m:e>
                          <m:r>
                            <a:rPr lang="en-US" altLang="zh-CN" i="1">
                              <a:latin typeface="Cambria Math" charset="0"/>
                            </a:rPr>
                            <m:t>𝑥</m:t>
                          </m:r>
                        </m:e>
                      </m:d>
                      <m:r>
                        <a:rPr lang="en-US" altLang="zh-CN" i="1">
                          <a:latin typeface="Cambria Math" charset="0"/>
                        </a:rPr>
                        <m:t>=</m:t>
                      </m:r>
                      <m:r>
                        <a:rPr lang="en-US" altLang="zh-CN" i="1">
                          <a:latin typeface="Cambria Math" charset="0"/>
                        </a:rPr>
                        <m:t>𝜎</m:t>
                      </m:r>
                      <m:d>
                        <m:dPr>
                          <m:ctrlPr>
                            <a:rPr lang="en-US" altLang="zh-CN" i="1">
                              <a:latin typeface="Cambria Math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i="1">
                                  <a:latin typeface="Cambria Math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altLang="zh-CN" i="1">
                              <a:latin typeface="Cambria Math" charset="0"/>
                            </a:rPr>
                            <m:t>𝜃</m:t>
                          </m:r>
                        </m:e>
                      </m:d>
                      <m:r>
                        <a:rPr lang="en-US" altLang="zh-CN" b="0" i="1" smtClean="0">
                          <a:latin typeface="Cambria Math" charset="0"/>
                        </a:rPr>
                        <m:t>=</m:t>
                      </m:r>
                      <m:f>
                        <m:fPr>
                          <m:ctrlPr>
                            <a:rPr lang="bg-BG" altLang="zh-CN" b="0" i="1" smtClean="0">
                              <a:latin typeface="Cambria Math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n-US" altLang="zh-CN" b="0" i="1" smtClean="0">
                                  <a:latin typeface="Cambria Math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altLang="zh-CN" i="1">
                                      <a:latin typeface="Cambria Math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latin typeface="Cambria Math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CN" i="1">
                                      <a:latin typeface="Cambria Math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altLang="zh-CN" i="1">
                                  <a:latin typeface="Cambria Math" charset="0"/>
                                </a:rPr>
                                <m:t>𝜃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altLang="zh-CN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 l="-667" t="-7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33</a:t>
            </a:fld>
            <a:endParaRPr lang="zh-CN" altLang="en-US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457200" y="2846733"/>
            <a:ext cx="8229600" cy="14842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mtClean="0"/>
              <a:t>请推导以下公式：</a:t>
            </a:r>
            <a:endParaRPr lang="en-US" dirty="0"/>
          </a:p>
        </p:txBody>
      </p:sp>
      <p:pic>
        <p:nvPicPr>
          <p:cNvPr id="8" name="Google Shape;153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65047" y="3381821"/>
            <a:ext cx="3879193" cy="847911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Rectangle 8"/>
          <p:cNvSpPr/>
          <p:nvPr/>
        </p:nvSpPr>
        <p:spPr>
          <a:xfrm>
            <a:off x="5191885" y="3504834"/>
            <a:ext cx="752355" cy="60188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800" dirty="0" smtClean="0">
                <a:solidFill>
                  <a:srgbClr val="C00000"/>
                </a:solidFill>
              </a:rPr>
              <a:t> ？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10" name="Google Shape;117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19457" y="3149508"/>
            <a:ext cx="2076450" cy="371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41;p26"/>
          <p:cNvPicPr preferRelativeResize="0"/>
          <p:nvPr/>
        </p:nvPicPr>
        <p:blipFill rotWithShape="1">
          <a:blip r:embed="rId6">
            <a:alphaModFix/>
          </a:blip>
          <a:srcRect l="24651" t="7939"/>
          <a:stretch/>
        </p:blipFill>
        <p:spPr>
          <a:xfrm>
            <a:off x="6314065" y="3577165"/>
            <a:ext cx="2476043" cy="6751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39341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交叉熵（</a:t>
            </a:r>
            <a:r>
              <a:rPr lang="en-US" altLang="zh-CN" dirty="0" smtClean="0"/>
              <a:t>Cross</a:t>
            </a:r>
            <a:r>
              <a:rPr lang="zh-CN" altLang="en-US" dirty="0" smtClean="0"/>
              <a:t> </a:t>
            </a:r>
            <a:r>
              <a:rPr lang="en-US" altLang="zh-CN" dirty="0" smtClean="0"/>
              <a:t>Entropy</a:t>
            </a:r>
            <a:r>
              <a:rPr lang="zh-CN" altLang="en-US" dirty="0" smtClean="0"/>
              <a:t>）损失函数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2465408"/>
                <a:ext cx="8229600" cy="2290742"/>
              </a:xfrm>
            </p:spPr>
            <p:txBody>
              <a:bodyPr>
                <a:normAutofit/>
              </a:bodyPr>
              <a:lstStyle/>
              <a:p>
                <a:pPr marL="0" lvl="0" indent="0">
                  <a:spcBef>
                    <a:spcPts val="600"/>
                  </a:spcBef>
                  <a:buNone/>
                </a:pPr>
                <a:r>
                  <a:rPr lang="zh-CN" altLang="en-US" dirty="0" smtClean="0"/>
                  <a:t>假设我们只有一维特征（且不考虑常数项）</a:t>
                </a:r>
                <a:endParaRPr lang="en" dirty="0"/>
              </a:p>
              <a:p>
                <a:pPr marL="0" lvl="0" indent="0">
                  <a:spcBef>
                    <a:spcPts val="600"/>
                  </a:spcBef>
                  <a:buNone/>
                </a:pPr>
                <a:r>
                  <a:rPr lang="zh-CN" altLang="en-US" dirty="0" smtClean="0"/>
                  <a:t>如果</a:t>
                </a:r>
                <a14:m>
                  <m:oMath xmlns:m="http://schemas.openxmlformats.org/officeDocument/2006/math">
                    <m:r>
                      <a:rPr lang="en" i="1" dirty="0" smtClean="0">
                        <a:latin typeface="Cambria Math" charset="0"/>
                      </a:rPr>
                      <m:t>𝜃</m:t>
                    </m:r>
                    <m:r>
                      <a:rPr lang="en" i="1" dirty="0" smtClean="0">
                        <a:latin typeface="Cambria Math" charset="0"/>
                      </a:rPr>
                      <m:t> = 2</m:t>
                    </m:r>
                  </m:oMath>
                </a14:m>
                <a:r>
                  <a:rPr lang="zh-CN" altLang="en-US" dirty="0" smtClean="0"/>
                  <a:t>，计算下面数据点的交叉熵损失</a:t>
                </a:r>
                <a:endParaRPr lang="en" dirty="0"/>
              </a:p>
              <a:p>
                <a:pPr marL="457200" lvl="0" indent="-381000">
                  <a:spcBef>
                    <a:spcPts val="600"/>
                  </a:spcBef>
                  <a:buSzPts val="2400"/>
                  <a:buChar char="●"/>
                </a:pPr>
                <a:r>
                  <a:rPr lang="en" dirty="0"/>
                  <a:t>(x, y) = (5, 1)?</a:t>
                </a:r>
              </a:p>
              <a:p>
                <a:pPr marL="457200" lvl="0" indent="-381000">
                  <a:spcBef>
                    <a:spcPts val="0"/>
                  </a:spcBef>
                  <a:buSzPts val="2400"/>
                  <a:buChar char="●"/>
                </a:pPr>
                <a:r>
                  <a:rPr lang="en" dirty="0"/>
                  <a:t>(0, 1)? (0, 0)?</a:t>
                </a:r>
              </a:p>
              <a:p>
                <a:pPr marL="457200" lvl="0" indent="-381000">
                  <a:spcBef>
                    <a:spcPts val="0"/>
                  </a:spcBef>
                  <a:buSzPts val="2400"/>
                  <a:buChar char="●"/>
                </a:pPr>
                <a:r>
                  <a:rPr lang="en" dirty="0"/>
                  <a:t>(-1, 1)?</a:t>
                </a:r>
              </a:p>
              <a:p>
                <a:pPr marL="457200" lvl="0" indent="-381000">
                  <a:spcBef>
                    <a:spcPts val="0"/>
                  </a:spcBef>
                  <a:buSzPts val="2400"/>
                  <a:buChar char="●"/>
                </a:pPr>
                <a:r>
                  <a:rPr lang="zh-CN" altLang="en-US" dirty="0" smtClean="0"/>
                  <a:t>如果运行</a:t>
                </a:r>
                <a:r>
                  <a:rPr lang="en" dirty="0" smtClean="0"/>
                  <a:t>SGD</a:t>
                </a:r>
                <a:r>
                  <a:rPr lang="en" dirty="0"/>
                  <a:t>, </a:t>
                </a:r>
                <a14:m>
                  <m:oMath xmlns:m="http://schemas.openxmlformats.org/officeDocument/2006/math">
                    <m:r>
                      <a:rPr lang="en" i="1" dirty="0" smtClean="0">
                        <a:latin typeface="Cambria Math" charset="0"/>
                      </a:rPr>
                      <m:t>𝜃</m:t>
                    </m:r>
                  </m:oMath>
                </a14:m>
                <a:r>
                  <a:rPr lang="zh-CN" altLang="en-US" dirty="0" smtClean="0"/>
                  <a:t>应该向增大还是减小的方向更新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2465408"/>
                <a:ext cx="8229600" cy="2290742"/>
              </a:xfrm>
              <a:blipFill rotWithShape="0">
                <a:blip r:embed="rId2"/>
                <a:stretch>
                  <a:fillRect l="-741" t="-13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Google Shape;178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98944" y="895394"/>
            <a:ext cx="6429375" cy="87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79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13344" y="1849844"/>
            <a:ext cx="5419725" cy="371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143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04244" y="2446027"/>
            <a:ext cx="2124075" cy="371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17;p2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516226" y="3061591"/>
            <a:ext cx="2076450" cy="37147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</p:pic>
      <p:pic>
        <p:nvPicPr>
          <p:cNvPr id="11" name="Google Shape;141;p26"/>
          <p:cNvPicPr preferRelativeResize="0"/>
          <p:nvPr/>
        </p:nvPicPr>
        <p:blipFill rotWithShape="1">
          <a:blip r:embed="rId7">
            <a:alphaModFix/>
          </a:blip>
          <a:srcRect l="24651" t="7939"/>
          <a:stretch/>
        </p:blipFill>
        <p:spPr>
          <a:xfrm>
            <a:off x="6510834" y="3489248"/>
            <a:ext cx="2476043" cy="67519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126083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交叉熵（</a:t>
            </a:r>
            <a:r>
              <a:rPr lang="en-US" altLang="zh-CN" dirty="0"/>
              <a:t>Cross</a:t>
            </a:r>
            <a:r>
              <a:rPr lang="zh-CN" altLang="en-US" dirty="0"/>
              <a:t> </a:t>
            </a:r>
            <a:r>
              <a:rPr lang="en-US" altLang="zh-CN" dirty="0"/>
              <a:t>Entropy</a:t>
            </a:r>
            <a:r>
              <a:rPr lang="zh-CN" altLang="en-US" dirty="0"/>
              <a:t>）损失函数</a:t>
            </a:r>
            <a:endParaRPr lang="en-US" dirty="0"/>
          </a:p>
        </p:txBody>
      </p:sp>
      <p:pic>
        <p:nvPicPr>
          <p:cNvPr id="4" name="Google Shape;185;p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1272" y="837520"/>
            <a:ext cx="5419725" cy="371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86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29147" y="875620"/>
            <a:ext cx="72390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87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9122" y="1821332"/>
            <a:ext cx="3371850" cy="371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88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31097" y="1830857"/>
            <a:ext cx="2714625" cy="352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189;p3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99122" y="2392832"/>
            <a:ext cx="3419475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190;p3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331097" y="2392832"/>
            <a:ext cx="3286125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92;p3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99122" y="3308887"/>
            <a:ext cx="4324350" cy="371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94;p3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331097" y="3318412"/>
            <a:ext cx="3495675" cy="3524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98998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感知机线性分类器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64DDB-364C-410E-A66B-B19CEFA5EF0F}" type="slidenum">
              <a:rPr lang="zh-CN" altLang="en-US" smtClean="0"/>
              <a:pPr/>
              <a:t>36</a:t>
            </a:fld>
            <a:endParaRPr lang="zh-CN" altLang="en-US"/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0550" y="1484668"/>
            <a:ext cx="3278764" cy="2815274"/>
          </a:xfrm>
          <a:prstGeom prst="rect">
            <a:avLst/>
          </a:prstGeom>
        </p:spPr>
      </p:pic>
      <p:cxnSp>
        <p:nvCxnSpPr>
          <p:cNvPr id="27" name="直接连接符 26"/>
          <p:cNvCxnSpPr/>
          <p:nvPr/>
        </p:nvCxnSpPr>
        <p:spPr>
          <a:xfrm flipH="1">
            <a:off x="5495274" y="1221600"/>
            <a:ext cx="1362726" cy="34023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/>
        </p:nvCxnSpPr>
        <p:spPr>
          <a:xfrm flipH="1">
            <a:off x="4403380" y="2031690"/>
            <a:ext cx="3597620" cy="158309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直接连接符 46"/>
          <p:cNvCxnSpPr/>
          <p:nvPr/>
        </p:nvCxnSpPr>
        <p:spPr>
          <a:xfrm flipH="1">
            <a:off x="5064737" y="1221600"/>
            <a:ext cx="2593364" cy="307834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直接连接符 49"/>
          <p:cNvCxnSpPr/>
          <p:nvPr/>
        </p:nvCxnSpPr>
        <p:spPr>
          <a:xfrm flipH="1">
            <a:off x="4403380" y="1221600"/>
            <a:ext cx="3597621" cy="313234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2" name="文本框 51"/>
          <p:cNvSpPr txBox="1"/>
          <p:nvPr/>
        </p:nvSpPr>
        <p:spPr>
          <a:xfrm>
            <a:off x="1155974" y="2760771"/>
            <a:ext cx="3416320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100" dirty="0">
                <a:latin typeface="楷体" panose="02010609060101010101" pitchFamily="49" charset="-122"/>
                <a:ea typeface="楷体" panose="02010609060101010101" pitchFamily="49" charset="-122"/>
              </a:rPr>
              <a:t>所有的模型</a:t>
            </a:r>
            <a:r>
              <a:rPr lang="en-US" altLang="zh-CN" sz="2100" dirty="0">
                <a:latin typeface="楷体" panose="02010609060101010101" pitchFamily="49" charset="-122"/>
                <a:ea typeface="楷体" panose="02010609060101010101" pitchFamily="49" charset="-122"/>
              </a:rPr>
              <a:t>(</a:t>
            </a:r>
            <a:r>
              <a:rPr lang="zh-CN" altLang="en-US" sz="2100" dirty="0">
                <a:latin typeface="楷体" panose="02010609060101010101" pitchFamily="49" charset="-122"/>
                <a:ea typeface="楷体" panose="02010609060101010101" pitchFamily="49" charset="-122"/>
              </a:rPr>
              <a:t>分类面</a:t>
            </a:r>
            <a:r>
              <a:rPr lang="en-US" altLang="zh-CN" sz="2100" dirty="0"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r>
              <a:rPr lang="zh-CN" altLang="en-US" sz="2100" dirty="0">
                <a:latin typeface="楷体" panose="02010609060101010101" pitchFamily="49" charset="-122"/>
                <a:ea typeface="楷体" panose="02010609060101010101" pitchFamily="49" charset="-122"/>
              </a:rPr>
              <a:t>错误率</a:t>
            </a:r>
            <a:r>
              <a:rPr lang="en-US" altLang="zh-CN" sz="2100" dirty="0">
                <a:latin typeface="楷体" panose="02010609060101010101" pitchFamily="49" charset="-122"/>
                <a:ea typeface="楷体" panose="02010609060101010101" pitchFamily="49" charset="-122"/>
              </a:rPr>
              <a:t/>
            </a:r>
            <a:br>
              <a:rPr lang="en-US" altLang="zh-CN" sz="2100" dirty="0">
                <a:latin typeface="楷体" panose="02010609060101010101" pitchFamily="49" charset="-122"/>
                <a:ea typeface="楷体" panose="02010609060101010101" pitchFamily="49" charset="-122"/>
              </a:rPr>
            </a:br>
            <a:r>
              <a:rPr lang="zh-CN" altLang="en-US" sz="2100" dirty="0">
                <a:latin typeface="楷体" panose="02010609060101010101" pitchFamily="49" charset="-122"/>
                <a:ea typeface="楷体" panose="02010609060101010101" pitchFamily="49" charset="-122"/>
              </a:rPr>
              <a:t>为</a:t>
            </a:r>
            <a:r>
              <a:rPr lang="en-US" altLang="zh-CN" sz="2100" dirty="0">
                <a:latin typeface="楷体" panose="02010609060101010101" pitchFamily="49" charset="-122"/>
                <a:ea typeface="楷体" panose="02010609060101010101" pitchFamily="49" charset="-122"/>
              </a:rPr>
              <a:t>0,</a:t>
            </a:r>
            <a:r>
              <a:rPr lang="zh-CN" altLang="en-US" sz="2100" dirty="0">
                <a:latin typeface="楷体" panose="02010609060101010101" pitchFamily="49" charset="-122"/>
                <a:ea typeface="楷体" panose="02010609060101010101" pitchFamily="49" charset="-122"/>
              </a:rPr>
              <a:t>哪个最好？</a:t>
            </a:r>
          </a:p>
        </p:txBody>
      </p:sp>
      <p:sp>
        <p:nvSpPr>
          <p:cNvPr id="54" name="矩形 53"/>
          <p:cNvSpPr/>
          <p:nvPr/>
        </p:nvSpPr>
        <p:spPr>
          <a:xfrm>
            <a:off x="2042925" y="1063229"/>
            <a:ext cx="1134126" cy="6480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lang="zh-CN" altLang="en-US" sz="3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矩形 54"/>
          <p:cNvSpPr/>
          <p:nvPr/>
        </p:nvSpPr>
        <p:spPr>
          <a:xfrm>
            <a:off x="1253313" y="1167974"/>
            <a:ext cx="33855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zh-CN" altLang="en-US" sz="13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6" name="直接箭头连接符 55"/>
          <p:cNvCxnSpPr>
            <a:stCxn id="55" idx="3"/>
            <a:endCxn id="54" idx="1"/>
          </p:cNvCxnSpPr>
          <p:nvPr/>
        </p:nvCxnSpPr>
        <p:spPr>
          <a:xfrm flipV="1">
            <a:off x="1591867" y="1387265"/>
            <a:ext cx="451058" cy="1154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7" name="矩形 56"/>
          <p:cNvSpPr/>
          <p:nvPr/>
        </p:nvSpPr>
        <p:spPr>
          <a:xfrm>
            <a:off x="2254142" y="269865"/>
            <a:ext cx="69833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w,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CN" altLang="en-US" sz="135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8" name="直接箭头连接符 57"/>
          <p:cNvCxnSpPr>
            <a:stCxn id="57" idx="2"/>
            <a:endCxn id="54" idx="0"/>
          </p:cNvCxnSpPr>
          <p:nvPr/>
        </p:nvCxnSpPr>
        <p:spPr>
          <a:xfrm>
            <a:off x="2603309" y="731530"/>
            <a:ext cx="6679" cy="33169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9" name="直接箭头连接符 58"/>
          <p:cNvCxnSpPr>
            <a:stCxn id="54" idx="3"/>
            <a:endCxn id="60" idx="1"/>
          </p:cNvCxnSpPr>
          <p:nvPr/>
        </p:nvCxnSpPr>
        <p:spPr>
          <a:xfrm>
            <a:off x="3177051" y="1387265"/>
            <a:ext cx="401026" cy="1154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60" name="矩形 59"/>
          <p:cNvSpPr/>
          <p:nvPr/>
        </p:nvSpPr>
        <p:spPr>
          <a:xfrm>
            <a:off x="3578077" y="1167973"/>
            <a:ext cx="56778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400" baseline="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est</a:t>
            </a:r>
            <a:endParaRPr lang="zh-CN" altLang="en-US" sz="135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文本框 60"/>
              <p:cNvSpPr txBox="1"/>
              <p:nvPr/>
            </p:nvSpPr>
            <p:spPr>
              <a:xfrm>
                <a:off x="1176402" y="1879878"/>
                <a:ext cx="3265125" cy="3231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10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sz="2100" i="1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en-US" altLang="zh-CN" sz="2100" b="1">
                              <a:latin typeface="Cambria Math" panose="02040503050406030204" pitchFamily="18" charset="0"/>
                            </a:rPr>
                            <m:t>𝐱</m:t>
                          </m:r>
                          <m:r>
                            <a:rPr lang="en-US" altLang="zh-CN" sz="2100" i="1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US" altLang="zh-CN" sz="2100" b="1">
                              <a:latin typeface="Cambria Math" panose="02040503050406030204" pitchFamily="18" charset="0"/>
                            </a:rPr>
                            <m:t>𝐰</m:t>
                          </m:r>
                          <m:r>
                            <a:rPr lang="en-US" altLang="zh-CN" sz="21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1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altLang="zh-CN" sz="21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 sz="2100">
                          <a:latin typeface="Cambria Math" panose="02040503050406030204" pitchFamily="18" charset="0"/>
                        </a:rPr>
                        <m:t>sgn</m:t>
                      </m:r>
                      <m:d>
                        <m:dPr>
                          <m:ctrlPr>
                            <a:rPr lang="en-US" altLang="zh-CN" sz="2100" i="1">
                              <a:latin typeface="Cambria Math" charset="0"/>
                            </a:rPr>
                          </m:ctrlPr>
                        </m:dPr>
                        <m:e>
                          <m:d>
                            <m:dPr>
                              <m:begChr m:val="⟨"/>
                              <m:endChr m:val="⟩"/>
                              <m:ctrlPr>
                                <a:rPr lang="en-US" altLang="zh-CN" sz="2100" i="1">
                                  <a:latin typeface="Cambria Math" charset="0"/>
                                </a:rPr>
                              </m:ctrlPr>
                            </m:dPr>
                            <m:e>
                              <m:r>
                                <a:rPr lang="en-US" altLang="zh-CN" sz="2100" b="1">
                                  <a:latin typeface="Cambria Math" panose="02040503050406030204" pitchFamily="18" charset="0"/>
                                </a:rPr>
                                <m:t>𝐰</m:t>
                              </m:r>
                              <m:r>
                                <a:rPr lang="en-US" altLang="zh-CN" sz="2100" b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sz="2100" b="1"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</m:d>
                          <m:r>
                            <a:rPr lang="en-US" altLang="zh-CN" sz="21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1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lang="zh-CN" altLang="en-US" sz="2100" dirty="0"/>
              </a:p>
            </p:txBody>
          </p:sp>
        </mc:Choice>
        <mc:Fallback xmlns="">
          <p:sp>
            <p:nvSpPr>
              <p:cNvPr id="61" name="文本框 6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6402" y="1879878"/>
                <a:ext cx="3265125" cy="323165"/>
              </a:xfrm>
              <a:prstGeom prst="rect">
                <a:avLst/>
              </a:prstGeom>
              <a:blipFill rotWithShape="0">
                <a:blip r:embed="rId3"/>
                <a:stretch>
                  <a:fillRect l="-2612" b="-339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/>
          <p:cNvSpPr/>
          <p:nvPr/>
        </p:nvSpPr>
        <p:spPr>
          <a:xfrm>
            <a:off x="181133" y="3607899"/>
            <a:ext cx="4167736" cy="8744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latin typeface="Microsoft YaHei" charset="-122"/>
                <a:ea typeface="Microsoft YaHei" charset="-122"/>
                <a:cs typeface="Microsoft YaHei" charset="-122"/>
              </a:rPr>
              <a:t>问题建模</a:t>
            </a:r>
            <a:r>
              <a:rPr lang="zh-CN" altLang="en-US" b="1" dirty="0" smtClean="0">
                <a:latin typeface="Microsoft YaHei" charset="-122"/>
                <a:ea typeface="Microsoft YaHei" charset="-122"/>
                <a:cs typeface="Microsoft YaHei" charset="-122"/>
              </a:rPr>
              <a:t>：</a:t>
            </a:r>
            <a:r>
              <a:rPr lang="zh-CN" altLang="en-US" dirty="0" smtClean="0">
                <a:latin typeface="Microsoft YaHei" charset="-122"/>
                <a:ea typeface="Microsoft YaHei" charset="-122"/>
                <a:cs typeface="Microsoft YaHei" charset="-122"/>
              </a:rPr>
              <a:t>通过</a:t>
            </a:r>
            <a:r>
              <a:rPr lang="zh-CN" altLang="en-US" dirty="0" smtClean="0">
                <a:solidFill>
                  <a:srgbClr val="C00000"/>
                </a:solidFill>
                <a:latin typeface="Microsoft YaHei" charset="-122"/>
                <a:ea typeface="Microsoft YaHei" charset="-122"/>
                <a:cs typeface="Microsoft YaHei" charset="-122"/>
              </a:rPr>
              <a:t>线性函数的符号（</a:t>
            </a:r>
            <a:r>
              <a:rPr lang="en-US" altLang="zh-CN" dirty="0" err="1" smtClean="0">
                <a:solidFill>
                  <a:srgbClr val="C00000"/>
                </a:solidFill>
                <a:latin typeface="Microsoft YaHei" charset="-122"/>
                <a:ea typeface="Microsoft YaHei" charset="-122"/>
                <a:cs typeface="Microsoft YaHei" charset="-122"/>
              </a:rPr>
              <a:t>sgn</a:t>
            </a:r>
            <a:r>
              <a:rPr lang="zh-CN" altLang="en-US" dirty="0" smtClean="0">
                <a:solidFill>
                  <a:srgbClr val="C00000"/>
                </a:solidFill>
                <a:latin typeface="Microsoft YaHei" charset="-122"/>
                <a:ea typeface="Microsoft YaHei" charset="-122"/>
                <a:cs typeface="Microsoft YaHei" charset="-122"/>
              </a:rPr>
              <a:t>）</a:t>
            </a:r>
            <a:r>
              <a:rPr lang="zh-CN" altLang="en-US" dirty="0" smtClean="0">
                <a:latin typeface="Microsoft YaHei" charset="-122"/>
                <a:ea typeface="Microsoft YaHei" charset="-122"/>
                <a:cs typeface="Microsoft YaHei" charset="-122"/>
              </a:rPr>
              <a:t>估计条件概率</a:t>
            </a:r>
            <a:endParaRPr lang="en-US" dirty="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pic>
        <p:nvPicPr>
          <p:cNvPr id="19" name="Google Shape;127;p24"/>
          <p:cNvPicPr preferRelativeResize="0"/>
          <p:nvPr/>
        </p:nvPicPr>
        <p:blipFill rotWithShape="1">
          <a:blip r:embed="rId4">
            <a:alphaModFix/>
          </a:blip>
          <a:srcRect l="12604" t="6403"/>
          <a:stretch/>
        </p:blipFill>
        <p:spPr>
          <a:xfrm>
            <a:off x="1625320" y="4134618"/>
            <a:ext cx="1631588" cy="34768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55635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分析案例</a:t>
            </a:r>
            <a:endParaRPr lang="en-US" dirty="0"/>
          </a:p>
        </p:txBody>
      </p:sp>
      <p:grpSp>
        <p:nvGrpSpPr>
          <p:cNvPr id="87" name="Group 86"/>
          <p:cNvGrpSpPr/>
          <p:nvPr/>
        </p:nvGrpSpPr>
        <p:grpSpPr>
          <a:xfrm>
            <a:off x="240339" y="1159934"/>
            <a:ext cx="4619528" cy="3347307"/>
            <a:chOff x="45605" y="1261534"/>
            <a:chExt cx="4619528" cy="3347307"/>
          </a:xfrm>
        </p:grpSpPr>
        <p:cxnSp>
          <p:nvCxnSpPr>
            <p:cNvPr id="5" name="Straight Arrow Connector 4"/>
            <p:cNvCxnSpPr/>
            <p:nvPr/>
          </p:nvCxnSpPr>
          <p:spPr>
            <a:xfrm flipV="1">
              <a:off x="641995" y="4343560"/>
              <a:ext cx="4023138" cy="904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" name="Straight Arrow Connector 6"/>
            <p:cNvCxnSpPr/>
            <p:nvPr/>
          </p:nvCxnSpPr>
          <p:spPr>
            <a:xfrm flipV="1">
              <a:off x="641995" y="1261534"/>
              <a:ext cx="0" cy="309106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grpSp>
          <p:nvGrpSpPr>
            <p:cNvPr id="24" name="Group 23"/>
            <p:cNvGrpSpPr/>
            <p:nvPr/>
          </p:nvGrpSpPr>
          <p:grpSpPr>
            <a:xfrm>
              <a:off x="1402033" y="4259168"/>
              <a:ext cx="806824" cy="87408"/>
              <a:chOff x="2655099" y="4293034"/>
              <a:chExt cx="806824" cy="87408"/>
            </a:xfrm>
          </p:grpSpPr>
          <p:cxnSp>
            <p:nvCxnSpPr>
              <p:cNvPr id="17" name="Straight Connector 16"/>
              <p:cNvCxnSpPr/>
              <p:nvPr/>
            </p:nvCxnSpPr>
            <p:spPr>
              <a:xfrm>
                <a:off x="2655099" y="4380441"/>
                <a:ext cx="806824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/>
              <p:cNvCxnSpPr/>
              <p:nvPr/>
            </p:nvCxnSpPr>
            <p:spPr>
              <a:xfrm flipV="1">
                <a:off x="2655099" y="4293035"/>
                <a:ext cx="0" cy="87407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/>
              <p:cNvCxnSpPr/>
              <p:nvPr/>
            </p:nvCxnSpPr>
            <p:spPr>
              <a:xfrm flipV="1">
                <a:off x="3461923" y="4293034"/>
                <a:ext cx="0" cy="87407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26" name="Group 25"/>
            <p:cNvGrpSpPr/>
            <p:nvPr/>
          </p:nvGrpSpPr>
          <p:grpSpPr>
            <a:xfrm>
              <a:off x="2208856" y="4256153"/>
              <a:ext cx="806824" cy="87408"/>
              <a:chOff x="2655099" y="4293034"/>
              <a:chExt cx="806824" cy="87408"/>
            </a:xfrm>
          </p:grpSpPr>
          <p:cxnSp>
            <p:nvCxnSpPr>
              <p:cNvPr id="27" name="Straight Connector 26"/>
              <p:cNvCxnSpPr/>
              <p:nvPr/>
            </p:nvCxnSpPr>
            <p:spPr>
              <a:xfrm>
                <a:off x="2655099" y="4380441"/>
                <a:ext cx="806824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>
              <a:xfrm flipV="1">
                <a:off x="2655099" y="4293035"/>
                <a:ext cx="0" cy="87407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>
              <a:xfrm flipV="1">
                <a:off x="3461923" y="4293034"/>
                <a:ext cx="0" cy="87407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30" name="Group 29"/>
            <p:cNvGrpSpPr/>
            <p:nvPr/>
          </p:nvGrpSpPr>
          <p:grpSpPr>
            <a:xfrm>
              <a:off x="3015678" y="4256153"/>
              <a:ext cx="806824" cy="87408"/>
              <a:chOff x="2655099" y="4293034"/>
              <a:chExt cx="806824" cy="87408"/>
            </a:xfrm>
          </p:grpSpPr>
          <p:cxnSp>
            <p:nvCxnSpPr>
              <p:cNvPr id="31" name="Straight Connector 30"/>
              <p:cNvCxnSpPr/>
              <p:nvPr/>
            </p:nvCxnSpPr>
            <p:spPr>
              <a:xfrm>
                <a:off x="2655099" y="4380441"/>
                <a:ext cx="806824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>
              <a:xfrm flipV="1">
                <a:off x="2655099" y="4293035"/>
                <a:ext cx="0" cy="87407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>
              <a:xfrm flipV="1">
                <a:off x="3461923" y="4293034"/>
                <a:ext cx="0" cy="87407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38" name="Group 37"/>
            <p:cNvGrpSpPr/>
            <p:nvPr/>
          </p:nvGrpSpPr>
          <p:grpSpPr>
            <a:xfrm rot="5400000">
              <a:off x="332561" y="3209133"/>
              <a:ext cx="706276" cy="87408"/>
              <a:chOff x="2755647" y="4293034"/>
              <a:chExt cx="706276" cy="87408"/>
            </a:xfrm>
          </p:grpSpPr>
          <p:cxnSp>
            <p:nvCxnSpPr>
              <p:cNvPr id="39" name="Straight Connector 38"/>
              <p:cNvCxnSpPr/>
              <p:nvPr/>
            </p:nvCxnSpPr>
            <p:spPr>
              <a:xfrm rot="16200000">
                <a:off x="3114139" y="4032657"/>
                <a:ext cx="0" cy="695569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/>
              <p:cNvCxnSpPr/>
              <p:nvPr/>
            </p:nvCxnSpPr>
            <p:spPr>
              <a:xfrm flipV="1">
                <a:off x="2755647" y="4293035"/>
                <a:ext cx="0" cy="87407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/>
              <p:cNvCxnSpPr/>
              <p:nvPr/>
            </p:nvCxnSpPr>
            <p:spPr>
              <a:xfrm flipV="1">
                <a:off x="3461923" y="4293034"/>
                <a:ext cx="0" cy="87407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51" name="Group 50"/>
            <p:cNvGrpSpPr/>
            <p:nvPr/>
          </p:nvGrpSpPr>
          <p:grpSpPr>
            <a:xfrm rot="5400000">
              <a:off x="332561" y="2502857"/>
              <a:ext cx="706276" cy="87408"/>
              <a:chOff x="2755647" y="4293034"/>
              <a:chExt cx="706276" cy="87408"/>
            </a:xfrm>
          </p:grpSpPr>
          <p:cxnSp>
            <p:nvCxnSpPr>
              <p:cNvPr id="52" name="Straight Connector 51"/>
              <p:cNvCxnSpPr/>
              <p:nvPr/>
            </p:nvCxnSpPr>
            <p:spPr>
              <a:xfrm rot="16200000">
                <a:off x="3114139" y="4032657"/>
                <a:ext cx="0" cy="695569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>
              <a:xfrm flipV="1">
                <a:off x="2755647" y="4293035"/>
                <a:ext cx="0" cy="87407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/>
              <p:cNvCxnSpPr/>
              <p:nvPr/>
            </p:nvCxnSpPr>
            <p:spPr>
              <a:xfrm flipV="1">
                <a:off x="3461923" y="4293034"/>
                <a:ext cx="0" cy="87407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60" name="Oval 59"/>
            <p:cNvSpPr/>
            <p:nvPr/>
          </p:nvSpPr>
          <p:spPr>
            <a:xfrm>
              <a:off x="2111489" y="4242534"/>
              <a:ext cx="194733" cy="194733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Oval 60"/>
            <p:cNvSpPr/>
            <p:nvPr/>
          </p:nvSpPr>
          <p:spPr>
            <a:xfrm>
              <a:off x="2909060" y="4242535"/>
              <a:ext cx="194733" cy="194733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Rectangle 62"/>
            <p:cNvSpPr/>
            <p:nvPr/>
          </p:nvSpPr>
          <p:spPr>
            <a:xfrm>
              <a:off x="564214" y="4250226"/>
              <a:ext cx="169333" cy="16933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TextBox 66"/>
                <p:cNvSpPr txBox="1"/>
                <p:nvPr/>
              </p:nvSpPr>
              <p:spPr>
                <a:xfrm>
                  <a:off x="45605" y="3900041"/>
                  <a:ext cx="125906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charset="0"/>
                          </a:rPr>
                          <m:t>=(0,0)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7" name="TextBox 6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605" y="3900041"/>
                  <a:ext cx="1259063" cy="369332"/>
                </a:xfrm>
                <a:prstGeom prst="rect">
                  <a:avLst/>
                </a:prstGeom>
                <a:blipFill rotWithShape="0">
                  <a:blip r:embed="rId3"/>
                  <a:stretch>
                    <a:fillRect b="-1311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TextBox 67"/>
                <p:cNvSpPr txBox="1"/>
                <p:nvPr/>
              </p:nvSpPr>
              <p:spPr>
                <a:xfrm>
                  <a:off x="1839408" y="2238513"/>
                  <a:ext cx="126438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charset="0"/>
                          </a:rPr>
                          <m:t>=(2,2)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8" name="TextBox 6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39408" y="2238513"/>
                  <a:ext cx="1264385" cy="369332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TextBox 68"/>
                <p:cNvSpPr txBox="1"/>
                <p:nvPr/>
              </p:nvSpPr>
              <p:spPr>
                <a:xfrm>
                  <a:off x="1674029" y="3745859"/>
                  <a:ext cx="126438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charset="0"/>
                              </a:rPr>
                              <m:t>3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charset="0"/>
                          </a:rPr>
                          <m:t>=(2,0)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9" name="TextBox 6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74029" y="3745859"/>
                  <a:ext cx="1264385" cy="369332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1" name="Straight Connector 70"/>
            <p:cNvCxnSpPr/>
            <p:nvPr/>
          </p:nvCxnSpPr>
          <p:spPr>
            <a:xfrm flipV="1">
              <a:off x="806667" y="1744133"/>
              <a:ext cx="3072699" cy="286470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Rectangle 75"/>
            <p:cNvSpPr/>
            <p:nvPr/>
          </p:nvSpPr>
          <p:spPr>
            <a:xfrm>
              <a:off x="2125566" y="2815032"/>
              <a:ext cx="169333" cy="16933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TextBox 76"/>
                <p:cNvSpPr txBox="1"/>
                <p:nvPr/>
              </p:nvSpPr>
              <p:spPr>
                <a:xfrm>
                  <a:off x="3015678" y="3709120"/>
                  <a:ext cx="126438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charset="0"/>
                              </a:rPr>
                              <m:t>4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charset="0"/>
                          </a:rPr>
                          <m:t>=(3,0)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7" name="TextBox 7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15678" y="3709120"/>
                  <a:ext cx="1264385" cy="369332"/>
                </a:xfrm>
                <a:prstGeom prst="rect">
                  <a:avLst/>
                </a:prstGeom>
                <a:blipFill rotWithShape="0">
                  <a:blip r:embed="rId6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Box 84"/>
              <p:cNvSpPr txBox="1"/>
              <p:nvPr/>
            </p:nvSpPr>
            <p:spPr>
              <a:xfrm>
                <a:off x="5841871" y="1466861"/>
                <a:ext cx="1190839" cy="10204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charset="0"/>
                        </a:rPr>
                        <m:t>𝑋</m:t>
                      </m:r>
                      <m:r>
                        <a:rPr lang="en-US" altLang="zh-CN" b="0" i="1" smtClean="0">
                          <a:latin typeface="Cambria Math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mr-IN" i="1" smtClean="0">
                              <a:latin typeface="Cambria Math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mr-IN" altLang="zh-CN" b="0" i="1" smtClean="0">
                                  <a:latin typeface="Cambria Math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b="0" i="1" smtClean="0">
                                    <a:latin typeface="Cambria Math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b="0" i="1" smtClean="0">
                                    <a:latin typeface="Cambria Math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b="0" i="1" smtClean="0">
                                    <a:latin typeface="Cambria Math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altLang="zh-CN" b="0" i="1" smtClean="0">
                                    <a:latin typeface="Cambria Math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b="0" i="1" smtClean="0">
                                    <a:latin typeface="Cambria Math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altLang="zh-CN" b="0" i="1" smtClean="0">
                                    <a:latin typeface="Cambria Math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b="0" i="1" smtClean="0">
                                    <a:latin typeface="Cambria Math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altLang="zh-CN" b="0" i="1" smtClean="0">
                                    <a:latin typeface="Cambria Math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5" name="TextBox 8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1871" y="1466861"/>
                <a:ext cx="1190839" cy="1020472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Box 85"/>
              <p:cNvSpPr txBox="1"/>
              <p:nvPr/>
            </p:nvSpPr>
            <p:spPr>
              <a:xfrm>
                <a:off x="7475938" y="1466861"/>
                <a:ext cx="995272" cy="10204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charset="0"/>
                        </a:rPr>
                        <m:t>𝑌</m:t>
                      </m:r>
                      <m:r>
                        <a:rPr lang="en-US" altLang="zh-CN" b="0" i="1" smtClean="0">
                          <a:latin typeface="Cambria Math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mr-IN" i="1" smtClean="0">
                              <a:latin typeface="Cambria Math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mr-IN" altLang="zh-CN" b="0" i="1" smtClean="0">
                                  <a:latin typeface="Cambria Math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b="0" i="1" smtClean="0">
                                    <a:latin typeface="Cambria Math" charset="0"/>
                                  </a:rPr>
                                  <m:t>−</m:t>
                                </m:r>
                                <m:r>
                                  <a:rPr lang="en-US" altLang="zh-CN" b="0" i="1" smtClean="0">
                                    <a:latin typeface="Cambria Math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b="0" i="1" smtClean="0">
                                    <a:latin typeface="Cambria Math" charset="0"/>
                                  </a:rPr>
                                  <m:t>−1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b="0" i="1" smtClean="0">
                                    <a:latin typeface="Cambria Math" charset="0"/>
                                  </a:rPr>
                                  <m:t>+1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b="0" i="1" smtClean="0">
                                    <a:latin typeface="Cambria Math" charset="0"/>
                                  </a:rPr>
                                  <m:t>+1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6" name="TextBox 8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5938" y="1466861"/>
                <a:ext cx="995272" cy="1020472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8" name="Content Placeholder 2"/>
          <p:cNvSpPr>
            <a:spLocks noGrp="1"/>
          </p:cNvSpPr>
          <p:nvPr>
            <p:ph idx="1"/>
          </p:nvPr>
        </p:nvSpPr>
        <p:spPr>
          <a:xfrm>
            <a:off x="5106840" y="819150"/>
            <a:ext cx="3579959" cy="3937000"/>
          </a:xfrm>
        </p:spPr>
        <p:txBody>
          <a:bodyPr/>
          <a:lstStyle/>
          <a:p>
            <a:r>
              <a:rPr lang="zh-CN" altLang="en-US" dirty="0" smtClean="0"/>
              <a:t>训练样本</a:t>
            </a:r>
            <a:endParaRPr lang="en-US" altLang="zh-CN" dirty="0" smtClean="0"/>
          </a:p>
          <a:p>
            <a:pPr lvl="1"/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r>
              <a:rPr lang="zh-CN" altLang="en-US" dirty="0" smtClean="0"/>
              <a:t>训练目标</a:t>
            </a:r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9" name="Rectangle 88"/>
              <p:cNvSpPr/>
              <p:nvPr/>
            </p:nvSpPr>
            <p:spPr>
              <a:xfrm>
                <a:off x="5841871" y="3088947"/>
                <a:ext cx="298684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i="1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en-US" altLang="zh-CN" b="1">
                              <a:latin typeface="Cambria Math" panose="02040503050406030204" pitchFamily="18" charset="0"/>
                            </a:rPr>
                            <m:t>𝐱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US" altLang="zh-CN" b="1">
                              <a:latin typeface="Cambria Math" panose="02040503050406030204" pitchFamily="18" charset="0"/>
                            </a:rPr>
                            <m:t>𝐰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>
                          <a:latin typeface="Cambria Math" panose="02040503050406030204" pitchFamily="18" charset="0"/>
                        </a:rPr>
                        <m:t>sgn</m:t>
                      </m:r>
                      <m:d>
                        <m:dPr>
                          <m:ctrlPr>
                            <a:rPr lang="en-US" altLang="zh-CN" i="1">
                              <a:latin typeface="Cambria Math" charset="0"/>
                            </a:rPr>
                          </m:ctrlPr>
                        </m:dPr>
                        <m:e>
                          <m:d>
                            <m:dPr>
                              <m:begChr m:val="⟨"/>
                              <m:endChr m:val="⟩"/>
                              <m:ctrlPr>
                                <a:rPr lang="en-US" altLang="zh-CN" i="1">
                                  <a:latin typeface="Cambria Math" charset="0"/>
                                </a:rPr>
                              </m:ctrlPr>
                            </m:dPr>
                            <m:e>
                              <m:r>
                                <a:rPr lang="en-US" altLang="zh-CN" b="1">
                                  <a:latin typeface="Cambria Math" panose="02040503050406030204" pitchFamily="18" charset="0"/>
                                </a:rPr>
                                <m:t>𝐰</m:t>
                              </m:r>
                              <m:r>
                                <a:rPr lang="en-US" altLang="zh-CN" b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b="1"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</m:d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9" name="Rectangle 8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1871" y="3088947"/>
                <a:ext cx="2986843" cy="369332"/>
              </a:xfrm>
              <a:prstGeom prst="rect">
                <a:avLst/>
              </a:prstGeom>
              <a:blipFill rotWithShape="0">
                <a:blip r:embed="rId9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7" name="Picture 9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27217" y="3461439"/>
            <a:ext cx="2216150" cy="1196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413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学习模型的损失函数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 smtClean="0"/>
                  <a:t>学习目标</a:t>
                </a:r>
                <a:endParaRPr lang="en-US" altLang="zh-CN" dirty="0" smtClean="0"/>
              </a:p>
              <a:p>
                <a:pPr lvl="1"/>
                <a:r>
                  <a:rPr lang="zh-CN" altLang="en-US" dirty="0" smtClean="0"/>
                  <a:t>在训练集上，减少错误的分类，最终实现所有分类正确（线性可分）</a:t>
                </a:r>
                <a:endParaRPr lang="en-US" altLang="zh-CN" dirty="0" smtClean="0"/>
              </a:p>
              <a:p>
                <a:endParaRPr lang="en-US" dirty="0"/>
              </a:p>
              <a:p>
                <a:r>
                  <a:rPr lang="zh-CN" altLang="en-US" dirty="0" smtClean="0"/>
                  <a:t>针对任一训练样本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charset="0"/>
                      </a:rPr>
                      <m:t>(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en-US" altLang="zh-CN" b="0" i="1" smtClean="0">
                            <a:latin typeface="Cambria Math" charset="0"/>
                          </a:rPr>
                          <m:t>𝑖</m:t>
                        </m:r>
                      </m:sub>
                    </m:sSub>
                    <m:r>
                      <a:rPr lang="en-US" altLang="zh-CN" b="0" i="1" smtClean="0">
                        <a:latin typeface="Cambria Math" charset="0"/>
                      </a:rPr>
                      <m:t>,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charset="0"/>
                          </a:rPr>
                          <m:t>𝑦</m:t>
                        </m:r>
                      </m:e>
                      <m:sub>
                        <m:r>
                          <a:rPr lang="en-US" altLang="zh-CN" b="0" i="1" smtClean="0">
                            <a:latin typeface="Cambria Math" charset="0"/>
                          </a:rPr>
                          <m:t>𝑖</m:t>
                        </m:r>
                      </m:sub>
                    </m:sSub>
                    <m:r>
                      <a:rPr lang="en-US" altLang="zh-CN" b="0" i="1" smtClean="0">
                        <a:latin typeface="Cambria Math" charset="0"/>
                      </a:rPr>
                      <m:t>)</m:t>
                    </m:r>
                  </m:oMath>
                </a14:m>
                <a:r>
                  <a:rPr lang="zh-CN" altLang="en-US" dirty="0" smtClean="0"/>
                  <a:t>，分类错误表示为</a:t>
                </a:r>
                <a:endParaRPr lang="en-US" altLang="zh-CN" dirty="0" smtClean="0"/>
              </a:p>
              <a:p>
                <a:pPr lvl="1">
                  <a:lnSpc>
                    <a:spcPct val="200000"/>
                  </a:lnSpc>
                  <a:spcBef>
                    <a:spcPts val="0"/>
                  </a:spcBef>
                  <a:buFont typeface="Arial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C00000"/>
                        </a:solidFill>
                        <a:latin typeface="Cambria Math" charset="0"/>
                      </a:rPr>
                      <m:t>−</m:t>
                    </m:r>
                    <m:sSub>
                      <m:sSubPr>
                        <m:ctrlPr>
                          <a:rPr lang="en-US" altLang="zh-CN" i="1">
                            <a:solidFill>
                              <a:srgbClr val="C00000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𝑦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zh-CN" i="1">
                            <a:solidFill>
                              <a:srgbClr val="C00000"/>
                            </a:solidFill>
                            <a:latin typeface="Cambria Math" charset="0"/>
                          </a:rPr>
                        </m:ctrlPr>
                      </m:dPr>
                      <m:e>
                        <m:d>
                          <m:dPr>
                            <m:begChr m:val="⟨"/>
                            <m:endChr m:val="⟩"/>
                            <m:ctrlPr>
                              <a:rPr lang="en-US" altLang="zh-CN" i="1">
                                <a:solidFill>
                                  <a:srgbClr val="C00000"/>
                                </a:solidFill>
                                <a:latin typeface="Cambria Math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solidFill>
                                  <a:srgbClr val="C00000"/>
                                </a:solidFill>
                                <a:latin typeface="Cambria Math" charset="0"/>
                              </a:rPr>
                              <m:t>𝐰</m:t>
                            </m:r>
                            <m:r>
                              <a:rPr lang="en-US" altLang="zh-CN" i="1">
                                <a:solidFill>
                                  <a:srgbClr val="C00000"/>
                                </a:solidFill>
                                <a:latin typeface="Cambria Math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CN" i="1">
                                    <a:solidFill>
                                      <a:srgbClr val="C00000"/>
                                    </a:solidFill>
                                    <a:latin typeface="Cambria Math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solidFill>
                                      <a:srgbClr val="C00000"/>
                                    </a:solidFill>
                                    <a:latin typeface="Cambria Math" charset="0"/>
                                  </a:rPr>
                                  <m:t>𝐱</m:t>
                                </m:r>
                              </m:e>
                              <m:sub>
                                <m:r>
                                  <a:rPr lang="en-US" altLang="zh-CN" i="1">
                                    <a:solidFill>
                                      <a:srgbClr val="C00000"/>
                                    </a:solidFill>
                                    <a:latin typeface="Cambria Math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US" altLang="zh-CN" i="1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+</m:t>
                        </m:r>
                        <m:r>
                          <a:rPr lang="en-US" altLang="zh-CN" i="1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𝑏</m:t>
                        </m:r>
                      </m:e>
                    </m:d>
                    <m:r>
                      <a:rPr lang="en-US" altLang="zh-CN" i="1">
                        <a:solidFill>
                          <a:srgbClr val="C00000"/>
                        </a:solidFill>
                        <a:latin typeface="Cambria Math" charset="0"/>
                      </a:rPr>
                      <m:t>&gt;0</m:t>
                    </m:r>
                  </m:oMath>
                </a14:m>
                <a:endParaRPr lang="en-US" altLang="zh-CN" i="1" dirty="0">
                  <a:solidFill>
                    <a:srgbClr val="C00000"/>
                  </a:solidFill>
                  <a:latin typeface="Cambria Math" charset="0"/>
                </a:endParaRPr>
              </a:p>
              <a:p>
                <a:endParaRPr lang="en-US" altLang="zh-CN" dirty="0"/>
              </a:p>
              <a:p>
                <a:r>
                  <a:rPr lang="zh-CN" altLang="en-US" dirty="0" smtClean="0"/>
                  <a:t>针对整个训练集，损失函数</a:t>
                </a:r>
                <a:r>
                  <a:rPr lang="en-US" altLang="zh-CN" dirty="0" smtClean="0"/>
                  <a:t>Loss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Function</a:t>
                </a:r>
                <a:r>
                  <a:rPr lang="zh-CN" altLang="en-US" dirty="0" smtClean="0"/>
                  <a:t>可以定义为</a:t>
                </a:r>
                <a:endParaRPr lang="en-US" altLang="zh-CN" dirty="0" smtClean="0"/>
              </a:p>
              <a:p>
                <a:pPr lvl="1">
                  <a:lnSpc>
                    <a:spcPct val="200000"/>
                  </a:lnSpc>
                  <a:spcBef>
                    <a:spcPts val="0"/>
                  </a:spcBef>
                  <a:buFont typeface="Arial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b="0" i="1" dirty="0" smtClean="0">
                        <a:solidFill>
                          <a:srgbClr val="C00000"/>
                        </a:solidFill>
                        <a:latin typeface="Cambria Math" charset="0"/>
                      </a:rPr>
                      <m:t>𝐿</m:t>
                    </m:r>
                    <m:d>
                      <m:dPr>
                        <m:ctrlPr>
                          <a:rPr lang="en-US" altLang="zh-CN" b="0" i="1" dirty="0" smtClean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altLang="zh-CN" b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𝐰</m:t>
                        </m:r>
                        <m:r>
                          <a:rPr lang="en-US" altLang="zh-CN" b="0" i="1" smtClean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,</m:t>
                        </m:r>
                        <m:r>
                          <a:rPr lang="en-US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altLang="zh-CN" b="0" i="1" dirty="0" smtClean="0">
                        <a:solidFill>
                          <a:srgbClr val="C00000"/>
                        </a:solidFill>
                        <a:latin typeface="Cambria Math" charset="0"/>
                      </a:rPr>
                      <m:t>=−</m:t>
                    </m:r>
                    <m:nary>
                      <m:naryPr>
                        <m:chr m:val="∑"/>
                        <m:supHide m:val="on"/>
                        <m:ctrlPr>
                          <a:rPr lang="en-US" altLang="zh-CN" b="0" i="1" dirty="0" smtClean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altLang="zh-CN" i="1">
                                <a:solidFill>
                                  <a:srgbClr val="C00000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b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C00000"/>
                                </a:solidFill>
                                <a:latin typeface="Cambria Math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b="0" i="1" dirty="0" smtClean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∈</m:t>
                        </m:r>
                        <m:r>
                          <a:rPr lang="en-US" altLang="zh-CN" b="0" i="1" dirty="0" smtClean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𝑀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zh-CN" i="1">
                                <a:solidFill>
                                  <a:srgbClr val="C00000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rgbClr val="C00000"/>
                                </a:solidFill>
                                <a:latin typeface="Cambria Math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C00000"/>
                                </a:solidFill>
                                <a:latin typeface="Cambria Math" charset="0"/>
                              </a:rPr>
                              <m:t>𝑖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i="1">
                                <a:solidFill>
                                  <a:srgbClr val="C00000"/>
                                </a:solidFill>
                                <a:latin typeface="Cambria Math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⟨"/>
                                <m:endChr m:val="⟩"/>
                                <m:ctrlPr>
                                  <a:rPr lang="en-US" altLang="zh-CN" i="1">
                                    <a:solidFill>
                                      <a:srgbClr val="C00000"/>
                                    </a:solidFill>
                                    <a:latin typeface="Cambria Math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b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𝐰</m:t>
                                </m:r>
                                <m:r>
                                  <a:rPr lang="en-US" altLang="zh-CN" b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zh-CN" b="1" i="1">
                                        <a:solidFill>
                                          <a:srgbClr val="C00000"/>
                                        </a:solidFill>
                                        <a:latin typeface="Cambria Math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𝐱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solidFill>
                                          <a:srgbClr val="C00000"/>
                                        </a:solidFill>
                                        <a:latin typeface="Cambria Math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altLang="zh-CN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</m:e>
                    </m:nary>
                  </m:oMath>
                </a14:m>
                <a:endParaRPr lang="en-US" altLang="zh-CN" dirty="0" smtClean="0">
                  <a:solidFill>
                    <a:srgbClr val="C00000"/>
                  </a:solidFill>
                </a:endParaRPr>
              </a:p>
              <a:p>
                <a:pPr lvl="1">
                  <a:buFont typeface="Arial" charset="0"/>
                  <a:buChar char="•"/>
                </a:pPr>
                <a:r>
                  <a:rPr lang="zh-CN" altLang="en-US" dirty="0" smtClean="0"/>
                  <a:t>其中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charset="0"/>
                      </a:rPr>
                      <m:t>𝑀</m:t>
                    </m:r>
                  </m:oMath>
                </a14:m>
                <a:r>
                  <a:rPr lang="zh-CN" altLang="en-US" dirty="0" smtClean="0"/>
                  <a:t>为所有错误分类实例的集合</a:t>
                </a:r>
                <a:endParaRPr lang="en-US" altLang="zh-CN" dirty="0" smtClean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667" t="-7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5191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随机梯度下降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819149"/>
                <a:ext cx="4140200" cy="1787551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dirty="0" smtClean="0"/>
                  <a:t>随机梯度下降（</a:t>
                </a:r>
                <a:r>
                  <a:rPr lang="en-US" altLang="zh-CN" dirty="0" smtClean="0"/>
                  <a:t>Stochastic Gradient Descent</a:t>
                </a:r>
                <a:r>
                  <a:rPr lang="zh-CN" altLang="en-US" dirty="0" smtClean="0"/>
                  <a:t>）</a:t>
                </a:r>
                <a:endParaRPr lang="en-US" altLang="zh-CN" dirty="0" smtClean="0"/>
              </a:p>
              <a:p>
                <a:pPr lvl="1"/>
                <a:r>
                  <a:rPr lang="zh-CN" altLang="en-US" dirty="0" smtClean="0"/>
                  <a:t>选择任意分类错误实例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charset="0"/>
                      </a:rPr>
                      <m:t>(</m:t>
                    </m:r>
                    <m:sSub>
                      <m:sSubPr>
                        <m:ctrlPr>
                          <a:rPr lang="en-US" altLang="zh-CN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en-US" altLang="zh-CN" i="1">
                            <a:latin typeface="Cambria Math" charset="0"/>
                          </a:rPr>
                          <m:t>𝑖</m:t>
                        </m:r>
                      </m:sub>
                    </m:sSub>
                    <m:r>
                      <a:rPr lang="en-US" altLang="zh-CN" i="1">
                        <a:latin typeface="Cambria Math" charset="0"/>
                      </a:rPr>
                      <m:t>,</m:t>
                    </m:r>
                    <m:sSub>
                      <m:sSubPr>
                        <m:ctrlPr>
                          <a:rPr lang="en-US" altLang="zh-CN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charset="0"/>
                          </a:rPr>
                          <m:t>𝑦</m:t>
                        </m:r>
                      </m:e>
                      <m:sub>
                        <m:r>
                          <a:rPr lang="en-US" altLang="zh-CN" i="1">
                            <a:latin typeface="Cambria Math" charset="0"/>
                          </a:rPr>
                          <m:t>𝑖</m:t>
                        </m:r>
                      </m:sub>
                    </m:sSub>
                    <m:r>
                      <a:rPr lang="en-US" altLang="zh-CN" i="1">
                        <a:latin typeface="Cambria Math" charset="0"/>
                      </a:rPr>
                      <m:t>)</m:t>
                    </m:r>
                  </m:oMath>
                </a14:m>
                <a:endParaRPr lang="en-US" altLang="zh-CN" dirty="0" smtClean="0"/>
              </a:p>
              <a:p>
                <a:pPr lvl="1"/>
                <a:r>
                  <a:rPr lang="zh-CN" altLang="en-US" dirty="0" smtClean="0"/>
                  <a:t>按照梯度的负方向更新参数</a:t>
                </a:r>
                <a:endParaRPr lang="en-US" altLang="zh-CN" dirty="0" smtClean="0"/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charset="0"/>
                      </a:rPr>
                      <m:t>𝜂</m:t>
                    </m:r>
                  </m:oMath>
                </a14:m>
                <a:r>
                  <a:rPr lang="zh-CN" altLang="en-US" dirty="0" smtClean="0"/>
                  <a:t>：学习率</a:t>
                </a:r>
                <a:r>
                  <a:rPr lang="en-US" altLang="zh-CN" dirty="0" smtClean="0">
                    <a:latin typeface="Calibri" charset="0"/>
                    <a:ea typeface="Calibri" charset="0"/>
                    <a:cs typeface="Calibri" charset="0"/>
                  </a:rPr>
                  <a:t>Learning</a:t>
                </a:r>
                <a:r>
                  <a:rPr lang="zh-CN" altLang="en-US" dirty="0" smtClean="0">
                    <a:latin typeface="Calibri" charset="0"/>
                    <a:ea typeface="Calibri" charset="0"/>
                    <a:cs typeface="Calibri" charset="0"/>
                  </a:rPr>
                  <a:t> </a:t>
                </a:r>
                <a:r>
                  <a:rPr lang="en-US" altLang="zh-CN" dirty="0" smtClean="0">
                    <a:latin typeface="Calibri" charset="0"/>
                    <a:ea typeface="Calibri" charset="0"/>
                    <a:cs typeface="Calibri" charset="0"/>
                  </a:rPr>
                  <a:t>Rate</a:t>
                </a:r>
                <a:r>
                  <a:rPr lang="zh-CN" altLang="en-US" dirty="0" smtClean="0">
                    <a:latin typeface="Calibri" charset="0"/>
                    <a:ea typeface="Calibri" charset="0"/>
                    <a:cs typeface="Calibri" charset="0"/>
                  </a:rPr>
                  <a:t> </a:t>
                </a:r>
                <a:endParaRPr lang="en-US" altLang="zh-CN" dirty="0" smtClean="0">
                  <a:latin typeface="Calibri" charset="0"/>
                  <a:ea typeface="Calibri" charset="0"/>
                  <a:cs typeface="Calibri" charset="0"/>
                </a:endParaRP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819149"/>
                <a:ext cx="4140200" cy="1787551"/>
              </a:xfrm>
              <a:blipFill rotWithShape="0">
                <a:blip r:embed="rId3"/>
                <a:stretch>
                  <a:fillRect l="-1325" t="-17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330200" y="2434166"/>
                <a:ext cx="4035144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1">
                  <a:lnSpc>
                    <a:spcPct val="20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𝐰</m:t>
                      </m:r>
                      <m:r>
                        <a:rPr lang="en-US" altLang="zh-CN" b="0" i="1" smtClean="0">
                          <a:solidFill>
                            <a:srgbClr val="C00000"/>
                          </a:solidFill>
                          <a:latin typeface="Cambria Math" charset="0"/>
                        </a:rPr>
                        <m:t>=</m:t>
                      </m:r>
                      <m:r>
                        <a:rPr lang="en-US" altLang="zh-CN" b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𝐰</m:t>
                      </m:r>
                      <m:r>
                        <a:rPr lang="en-US" altLang="zh-CN" b="0" i="1" smtClean="0">
                          <a:solidFill>
                            <a:srgbClr val="C00000"/>
                          </a:solidFill>
                          <a:latin typeface="Cambria Math" charset="0"/>
                        </a:rPr>
                        <m:t>−</m:t>
                      </m:r>
                      <m:r>
                        <a:rPr lang="en-US" altLang="zh-CN" b="0" i="1" smtClean="0">
                          <a:solidFill>
                            <a:srgbClr val="C00000"/>
                          </a:solidFill>
                          <a:latin typeface="Cambria Math" charset="0"/>
                        </a:rPr>
                        <m:t>𝜂</m:t>
                      </m:r>
                      <m:sSub>
                        <m:sSubPr>
                          <m:ctrlPr>
                            <a:rPr lang="en-US" altLang="zh-CN" i="1">
                              <a:solidFill>
                                <a:srgbClr val="C00000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C00000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𝛻</m:t>
                          </m:r>
                        </m:e>
                        <m:sub>
                          <m:r>
                            <a:rPr lang="en-US" altLang="zh-CN" b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𝐰</m:t>
                          </m:r>
                        </m:sub>
                      </m:sSub>
                      <m:r>
                        <a:rPr lang="en-US" altLang="zh-CN" i="1" dirty="0">
                          <a:solidFill>
                            <a:srgbClr val="C00000"/>
                          </a:solidFill>
                          <a:latin typeface="Cambria Math" charset="0"/>
                        </a:rPr>
                        <m:t>𝐿</m:t>
                      </m:r>
                      <m:d>
                        <m:dPr>
                          <m:ctrlPr>
                            <a:rPr lang="en-US" altLang="zh-CN" i="1" dirty="0">
                              <a:solidFill>
                                <a:srgbClr val="C00000"/>
                              </a:solidFill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en-US" altLang="zh-CN" b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𝐰</m:t>
                          </m:r>
                          <m:r>
                            <a:rPr lang="en-US" altLang="zh-CN" i="1">
                              <a:solidFill>
                                <a:srgbClr val="C00000"/>
                              </a:solidFill>
                              <a:latin typeface="Cambria Math" charset="0"/>
                            </a:rPr>
                            <m:t>,</m:t>
                          </m:r>
                          <m:r>
                            <a:rPr lang="en-US" altLang="zh-CN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altLang="zh-CN" i="1">
                          <a:solidFill>
                            <a:srgbClr val="C00000"/>
                          </a:solidFill>
                          <a:latin typeface="Cambria Math" charset="0"/>
                        </a:rPr>
                        <m:t>=</m:t>
                      </m:r>
                      <m:r>
                        <a:rPr lang="en-US" altLang="zh-CN" b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𝐰</m:t>
                      </m:r>
                      <m:r>
                        <a:rPr lang="en-US" altLang="zh-CN" b="0" i="1" smtClean="0">
                          <a:solidFill>
                            <a:srgbClr val="C00000"/>
                          </a:solidFill>
                          <a:latin typeface="Cambria Math" charset="0"/>
                        </a:rPr>
                        <m:t>+</m:t>
                      </m:r>
                      <m:r>
                        <a:rPr lang="en-US" altLang="zh-CN" b="0" i="1" smtClean="0">
                          <a:solidFill>
                            <a:srgbClr val="C00000"/>
                          </a:solidFill>
                          <a:latin typeface="Cambria Math" charset="0"/>
                        </a:rPr>
                        <m:t>𝜂</m:t>
                      </m:r>
                      <m:sSub>
                        <m:sSubPr>
                          <m:ctrlPr>
                            <a:rPr lang="en-US" altLang="zh-CN" i="1">
                              <a:solidFill>
                                <a:srgbClr val="C00000"/>
                              </a:solidFill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solidFill>
                                <a:srgbClr val="C00000"/>
                              </a:solidFill>
                              <a:latin typeface="Cambria Math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rgbClr val="C00000"/>
                              </a:solidFill>
                              <a:latin typeface="Cambria Math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US" altLang="zh-CN" b="1" i="1">
                              <a:solidFill>
                                <a:srgbClr val="C00000"/>
                              </a:solidFill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b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rgbClr val="C00000"/>
                              </a:solidFill>
                              <a:latin typeface="Cambria Math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200" y="2434166"/>
                <a:ext cx="4035144" cy="646331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330200" y="3540151"/>
                <a:ext cx="3655616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1">
                  <a:lnSpc>
                    <a:spcPct val="20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altLang="zh-CN" b="0" i="1" smtClean="0">
                          <a:solidFill>
                            <a:srgbClr val="C00000"/>
                          </a:solidFill>
                          <a:latin typeface="Cambria Math" charset="0"/>
                        </a:rPr>
                        <m:t>=</m:t>
                      </m:r>
                      <m:r>
                        <a:rPr lang="en-US" altLang="zh-CN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altLang="zh-CN" b="0" i="1" smtClean="0">
                          <a:solidFill>
                            <a:srgbClr val="C00000"/>
                          </a:solidFill>
                          <a:latin typeface="Cambria Math" charset="0"/>
                        </a:rPr>
                        <m:t>−</m:t>
                      </m:r>
                      <m:r>
                        <a:rPr lang="en-US" altLang="zh-CN" b="0" i="1" smtClean="0">
                          <a:solidFill>
                            <a:srgbClr val="C00000"/>
                          </a:solidFill>
                          <a:latin typeface="Cambria Math" charset="0"/>
                        </a:rPr>
                        <m:t>𝜂</m:t>
                      </m:r>
                      <m:sSub>
                        <m:sSubPr>
                          <m:ctrlPr>
                            <a:rPr lang="en-US" altLang="zh-CN" i="1">
                              <a:solidFill>
                                <a:srgbClr val="C00000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C00000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𝛻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a:rPr lang="en-US" altLang="zh-CN" i="1" dirty="0">
                          <a:solidFill>
                            <a:srgbClr val="C00000"/>
                          </a:solidFill>
                          <a:latin typeface="Cambria Math" charset="0"/>
                        </a:rPr>
                        <m:t>𝐿</m:t>
                      </m:r>
                      <m:d>
                        <m:dPr>
                          <m:ctrlPr>
                            <a:rPr lang="en-US" altLang="zh-CN" i="1" dirty="0">
                              <a:solidFill>
                                <a:srgbClr val="C00000"/>
                              </a:solidFill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en-US" altLang="zh-CN" b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𝐰</m:t>
                          </m:r>
                          <m:r>
                            <a:rPr lang="en-US" altLang="zh-CN" i="1">
                              <a:solidFill>
                                <a:srgbClr val="C00000"/>
                              </a:solidFill>
                              <a:latin typeface="Cambria Math" charset="0"/>
                            </a:rPr>
                            <m:t>,</m:t>
                          </m:r>
                          <m:r>
                            <a:rPr lang="en-US" altLang="zh-CN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altLang="zh-CN" i="1">
                          <a:solidFill>
                            <a:srgbClr val="C00000"/>
                          </a:solidFill>
                          <a:latin typeface="Cambria Math" charset="0"/>
                        </a:rPr>
                        <m:t>=</m:t>
                      </m:r>
                      <m:r>
                        <a:rPr lang="en-US" altLang="zh-CN" b="0" i="1" smtClean="0">
                          <a:solidFill>
                            <a:srgbClr val="C00000"/>
                          </a:solidFill>
                          <a:latin typeface="Cambria Math" charset="0"/>
                        </a:rPr>
                        <m:t>𝑏</m:t>
                      </m:r>
                      <m:r>
                        <a:rPr lang="en-US" altLang="zh-CN" b="0" i="1" smtClean="0">
                          <a:solidFill>
                            <a:srgbClr val="C00000"/>
                          </a:solidFill>
                          <a:latin typeface="Cambria Math" charset="0"/>
                        </a:rPr>
                        <m:t>+</m:t>
                      </m:r>
                      <m:r>
                        <a:rPr lang="en-US" altLang="zh-CN" b="0" i="1" smtClean="0">
                          <a:solidFill>
                            <a:srgbClr val="C00000"/>
                          </a:solidFill>
                          <a:latin typeface="Cambria Math" charset="0"/>
                        </a:rPr>
                        <m:t>𝜂</m:t>
                      </m:r>
                      <m:sSub>
                        <m:sSubPr>
                          <m:ctrlPr>
                            <a:rPr lang="en-US" altLang="zh-CN" i="1">
                              <a:solidFill>
                                <a:srgbClr val="C00000"/>
                              </a:solidFill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solidFill>
                                <a:srgbClr val="C00000"/>
                              </a:solidFill>
                              <a:latin typeface="Cambria Math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rgbClr val="C00000"/>
                              </a:solidFill>
                              <a:latin typeface="Cambria Math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200" y="3540151"/>
                <a:ext cx="3655616" cy="646331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5545" y="819150"/>
            <a:ext cx="3810000" cy="4152900"/>
          </a:xfrm>
          <a:prstGeom prst="rect">
            <a:avLst/>
          </a:prstGeom>
        </p:spPr>
      </p:pic>
      <p:cxnSp>
        <p:nvCxnSpPr>
          <p:cNvPr id="9" name="Straight Arrow Connector 8"/>
          <p:cNvCxnSpPr/>
          <p:nvPr/>
        </p:nvCxnSpPr>
        <p:spPr>
          <a:xfrm>
            <a:off x="4365344" y="3080497"/>
            <a:ext cx="2374123" cy="6109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>
            <a:off x="3985816" y="3976594"/>
            <a:ext cx="2753651" cy="620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29377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B9CF256-6FE7-AC4A-B410-96D1EFFF12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43774"/>
            <a:ext cx="8229600" cy="675376"/>
          </a:xfrm>
        </p:spPr>
        <p:txBody>
          <a:bodyPr/>
          <a:lstStyle/>
          <a:p>
            <a:r>
              <a:rPr lang="en-US" dirty="0"/>
              <a:t>EM</a:t>
            </a:r>
            <a:r>
              <a:rPr lang="zh-CN" altLang="en-US" dirty="0"/>
              <a:t>算法深入 </a:t>
            </a:r>
            <a:r>
              <a:rPr lang="en-US" altLang="zh-CN" dirty="0"/>
              <a:t>–</a:t>
            </a:r>
            <a:r>
              <a:rPr lang="zh-CN" altLang="en-US" dirty="0"/>
              <a:t> 混合高斯模型</a:t>
            </a:r>
            <a:r>
              <a:rPr lang="en-US" altLang="zh-CN" dirty="0"/>
              <a:t/>
            </a:r>
            <a:br>
              <a:rPr lang="en-US" altLang="zh-CN" dirty="0"/>
            </a:br>
            <a:r>
              <a:rPr lang="zh-CN" altLang="en-US" sz="1400" dirty="0">
                <a:solidFill>
                  <a:srgbClr val="0070C0"/>
                </a:solidFill>
              </a:rPr>
              <a:t>注：这部分属于了解内容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AE6D5C20-D1B1-9F49-B795-BDE4C7E8B3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19150"/>
            <a:ext cx="8229600" cy="561076"/>
          </a:xfrm>
        </p:spPr>
        <p:txBody>
          <a:bodyPr/>
          <a:lstStyle/>
          <a:p>
            <a:r>
              <a:rPr lang="zh-CN" altLang="en-US" dirty="0"/>
              <a:t>将简单的模型混合起来成为复杂的模型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59EB81D2-BA81-7543-959C-E25F68987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40</a:t>
            </a:fld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="" xmlns:a16="http://schemas.microsoft.com/office/drawing/2014/main" id="{B841081F-E511-1F4F-8A4F-F0B880728290}"/>
                  </a:ext>
                </a:extLst>
              </p:cNvPr>
              <p:cNvSpPr txBox="1"/>
              <p:nvPr/>
            </p:nvSpPr>
            <p:spPr>
              <a:xfrm>
                <a:off x="1171433" y="1494526"/>
                <a:ext cx="2762295" cy="6721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b="1" i="1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b="1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b="0" i="1" smtClean="0">
                              <a:latin typeface="Cambria Math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b="1" i="1">
                                  <a:latin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𝝁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l-GR" altLang="zh-CN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𝜮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841081F-E511-1F4F-8A4F-F0B8807282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1433" y="1494526"/>
                <a:ext cx="2762295" cy="672172"/>
              </a:xfrm>
              <a:prstGeom prst="rect">
                <a:avLst/>
              </a:prstGeom>
              <a:blipFill>
                <a:blip r:embed="rId2"/>
                <a:stretch>
                  <a:fillRect l="-913" t="-144444" r="-1826" b="-1962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="" xmlns:a16="http://schemas.microsoft.com/office/drawing/2014/main" id="{1D729F4E-F166-464C-A272-984E8BA22578}"/>
                  </a:ext>
                </a:extLst>
              </p:cNvPr>
              <p:cNvSpPr txBox="1"/>
              <p:nvPr/>
            </p:nvSpPr>
            <p:spPr>
              <a:xfrm>
                <a:off x="6798526" y="1461789"/>
                <a:ext cx="1888274" cy="6721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US" i="1" smtClean="0">
                              <a:latin typeface="Cambria Math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nary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D729F4E-F166-464C-A272-984E8BA225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8526" y="1461789"/>
                <a:ext cx="1888274" cy="672172"/>
              </a:xfrm>
              <a:prstGeom prst="rect">
                <a:avLst/>
              </a:prstGeom>
              <a:blipFill>
                <a:blip r:embed="rId3"/>
                <a:stretch>
                  <a:fillRect l="-44295" t="-149057" r="-2685" b="-203774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5F339C3C-C6D4-034A-B15A-981B34E1CE2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709" y="2396122"/>
            <a:ext cx="3313019" cy="216034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849E0DD0-37A5-5745-91BD-D9BD60D0139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4966" y="2371878"/>
            <a:ext cx="4227662" cy="220883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="" xmlns:a16="http://schemas.microsoft.com/office/drawing/2014/main" id="{63622C44-BF0B-4614-AEDA-AC8A24C1F060}"/>
                  </a:ext>
                </a:extLst>
              </p:cNvPr>
              <p:cNvSpPr txBox="1"/>
              <p:nvPr/>
            </p:nvSpPr>
            <p:spPr>
              <a:xfrm>
                <a:off x="4492978" y="1487630"/>
                <a:ext cx="2378095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x-none" dirty="0"/>
                  <a:t>其中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x-none" dirty="0"/>
                  <a:t>表示数据属于第k个子模型的概率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3622C44-BF0B-4614-AEDA-AC8A24C1F0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2978" y="1487630"/>
                <a:ext cx="2378095" cy="646331"/>
              </a:xfrm>
              <a:prstGeom prst="rect">
                <a:avLst/>
              </a:prstGeom>
              <a:blipFill>
                <a:blip r:embed="rId6"/>
                <a:stretch>
                  <a:fillRect l="-2128" t="-3922" b="-1764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034149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B9CF256-6FE7-AC4A-B410-96D1EFFF1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混合高斯模型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="" xmlns:a16="http://schemas.microsoft.com/office/drawing/2014/main" id="{AE6D5C20-D1B1-9F49-B795-BDE4C7E8B38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819150"/>
                <a:ext cx="8229600" cy="1749880"/>
              </a:xfrm>
            </p:spPr>
            <p:txBody>
              <a:bodyPr/>
              <a:lstStyle/>
              <a:p>
                <a:r>
                  <a:rPr lang="zh-CN" altLang="en-US" dirty="0"/>
                  <a:t>将简单的模型混合起来成为复杂的模型</a:t>
                </a:r>
                <a:endParaRPr lang="en-US" altLang="zh-CN" dirty="0"/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zh-CN" altLang="en-US" dirty="0"/>
                  <a:t>如何基于一组观测数据</a:t>
                </a:r>
                <a14:m>
                  <m:oMath xmlns:m="http://schemas.openxmlformats.org/officeDocument/2006/math">
                    <m:r>
                      <a:rPr lang="en-US" altLang="zh-CN" b="1" i="0" dirty="0">
                        <a:latin typeface="Cambria Math" panose="02040503050406030204" pitchFamily="18" charset="0"/>
                      </a:rPr>
                      <m:t>𝐗</m:t>
                    </m:r>
                  </m:oMath>
                </a14:m>
                <a:r>
                  <a:rPr lang="zh-CN" altLang="en-US" dirty="0"/>
                  <a:t>，“还原”出背后的模型？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E6D5C20-D1B1-9F49-B795-BDE4C7E8B3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819150"/>
                <a:ext cx="8229600" cy="1749880"/>
              </a:xfrm>
              <a:blipFill>
                <a:blip r:embed="rId2"/>
                <a:stretch>
                  <a:fillRect l="-617" t="-2158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59EB81D2-BA81-7543-959C-E25F68987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41</a:t>
            </a:fld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="" xmlns:a16="http://schemas.microsoft.com/office/drawing/2014/main" id="{B841081F-E511-1F4F-8A4F-F0B880728290}"/>
                  </a:ext>
                </a:extLst>
              </p:cNvPr>
              <p:cNvSpPr txBox="1"/>
              <p:nvPr/>
            </p:nvSpPr>
            <p:spPr>
              <a:xfrm>
                <a:off x="1335336" y="1247940"/>
                <a:ext cx="2762295" cy="6721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b="1" i="1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b="1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b="0" i="1" smtClean="0">
                              <a:latin typeface="Cambria Math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b="1" i="1">
                                  <a:latin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𝝁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l-GR" altLang="zh-CN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𝜮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841081F-E511-1F4F-8A4F-F0B8807282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5336" y="1247940"/>
                <a:ext cx="2762295" cy="672172"/>
              </a:xfrm>
              <a:prstGeom prst="rect">
                <a:avLst/>
              </a:prstGeom>
              <a:blipFill>
                <a:blip r:embed="rId3"/>
                <a:stretch>
                  <a:fillRect l="-913" t="-142593" r="-1826" b="-1981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="" xmlns:a16="http://schemas.microsoft.com/office/drawing/2014/main" id="{1D729F4E-F166-464C-A272-984E8BA22578}"/>
                  </a:ext>
                </a:extLst>
              </p:cNvPr>
              <p:cNvSpPr txBox="1"/>
              <p:nvPr/>
            </p:nvSpPr>
            <p:spPr>
              <a:xfrm>
                <a:off x="5130959" y="1247940"/>
                <a:ext cx="1888274" cy="6721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US" i="1" smtClean="0">
                              <a:latin typeface="Cambria Math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nary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D729F4E-F166-464C-A272-984E8BA225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0959" y="1247940"/>
                <a:ext cx="1888274" cy="672172"/>
              </a:xfrm>
              <a:prstGeom prst="rect">
                <a:avLst/>
              </a:prstGeom>
              <a:blipFill>
                <a:blip r:embed="rId4"/>
                <a:stretch>
                  <a:fillRect l="-43333" t="-142593" r="-2000" b="-1981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12">
            <a:extLst>
              <a:ext uri="{FF2B5EF4-FFF2-40B4-BE49-F238E27FC236}">
                <a16:creationId xmlns="" xmlns:a16="http://schemas.microsoft.com/office/drawing/2014/main" id="{354ADCDD-5240-4643-9F99-CDC0321BFD2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8586" y="2458879"/>
            <a:ext cx="3313019" cy="216034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="" xmlns:a16="http://schemas.microsoft.com/office/drawing/2014/main" id="{4F2DF8BF-5FC6-204D-ACFA-20C1574F7A77}"/>
                  </a:ext>
                </a:extLst>
              </p:cNvPr>
              <p:cNvSpPr/>
              <p:nvPr/>
            </p:nvSpPr>
            <p:spPr>
              <a:xfrm>
                <a:off x="952160" y="2683330"/>
                <a:ext cx="2274597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1" dirty="0" smtClean="0">
                          <a:latin typeface="Cambria Math" panose="02040503050406030204" pitchFamily="18" charset="0"/>
                        </a:rPr>
                        <m:t>𝐗</m:t>
                      </m:r>
                      <m:r>
                        <a:rPr lang="en-US" altLang="zh-CN" sz="2000" b="1" i="0" dirty="0" smtClean="0">
                          <a:latin typeface="Cambria Math" panose="02040503050406030204" pitchFamily="18" charset="0"/>
                        </a:rPr>
                        <m:t>={</m:t>
                      </m:r>
                      <m:sSub>
                        <m:sSubPr>
                          <m:ctrlPr>
                            <a:rPr lang="en-US" altLang="zh-CN" sz="2000" b="1" i="1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sz="2000" b="1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000" b="1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2000" b="1" i="1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sz="2000" b="1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000" b="1" i="1" smtClean="0">
                          <a:latin typeface="Cambria Math" panose="02040503050406030204" pitchFamily="18" charset="0"/>
                        </a:rPr>
                        <m:t>,…,</m:t>
                      </m:r>
                      <m:sSub>
                        <m:sSubPr>
                          <m:ctrlPr>
                            <a:rPr lang="en-US" altLang="zh-CN" sz="2000" b="1" i="1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sz="2000" b="1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  <m:r>
                        <a:rPr lang="en-US" altLang="zh-CN" sz="2000" b="1" i="0" dirty="0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4F2DF8BF-5FC6-204D-ACFA-20C1574F7A7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2160" y="2683330"/>
                <a:ext cx="2274597" cy="400110"/>
              </a:xfrm>
              <a:prstGeom prst="rect">
                <a:avLst/>
              </a:prstGeom>
              <a:blipFill>
                <a:blip r:embed="rId6"/>
                <a:stretch>
                  <a:fillRect b="-121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AutoShape 11">
            <a:extLst>
              <a:ext uri="{FF2B5EF4-FFF2-40B4-BE49-F238E27FC236}">
                <a16:creationId xmlns="" xmlns:a16="http://schemas.microsoft.com/office/drawing/2014/main" id="{F73DFC8F-18A5-2C47-9C8C-5125DBE07D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0431" y="2825599"/>
            <a:ext cx="457200" cy="228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9999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="" xmlns:a16="http://schemas.microsoft.com/office/drawing/2014/main" id="{79D1D571-FC90-544F-A849-7713A850795F}"/>
              </a:ext>
            </a:extLst>
          </p:cNvPr>
          <p:cNvSpPr/>
          <p:nvPr/>
        </p:nvSpPr>
        <p:spPr>
          <a:xfrm>
            <a:off x="747389" y="3310768"/>
            <a:ext cx="332351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问题抽象：如果已知数据服从某个特定的分布，并有一组观测到的数据样本，对分布的参数进行估计</a:t>
            </a:r>
            <a:endParaRPr lang="en-US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85697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28B5E0A-8BCD-7146-9533-3175C940D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极大似然估计 </a:t>
            </a:r>
            <a:r>
              <a:rPr lang="en-US" altLang="zh-CN" dirty="0"/>
              <a:t>-</a:t>
            </a:r>
            <a:r>
              <a:rPr lang="zh-CN" altLang="en-US" dirty="0"/>
              <a:t>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Maximum Likelihood Estimate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E319331E-BCC0-9E4B-88AF-BDF66ACE0B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举例：已知数据服从高斯分布，且我们观测到以下数据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DB20F0FD-555F-8247-8A86-F5982FCAA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42</a:t>
            </a:fld>
            <a:endParaRPr lang="zh-CN" altLang="en-US"/>
          </a:p>
        </p:txBody>
      </p:sp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2EC0E8A0-E3F8-0B4D-AD50-E99C0F7A232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201"/>
          <a:stretch/>
        </p:blipFill>
        <p:spPr>
          <a:xfrm>
            <a:off x="831668" y="1303221"/>
            <a:ext cx="4811486" cy="3384842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35921D6C-AC17-E14A-9478-AC63DF70FFC7}"/>
              </a:ext>
            </a:extLst>
          </p:cNvPr>
          <p:cNvSpPr/>
          <p:nvPr/>
        </p:nvSpPr>
        <p:spPr>
          <a:xfrm>
            <a:off x="6344698" y="1541937"/>
            <a:ext cx="2674400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rgbClr val="C00000"/>
                </a:solidFill>
                <a:latin typeface="Helvetica Neue" charset="0"/>
              </a:rPr>
              <a:t>根据左侧给出的观测数据，你觉得哪个高斯分布函数比较合适呢？</a:t>
            </a:r>
            <a:endParaRPr lang="en-US" altLang="zh-CN" sz="1600" b="1" dirty="0">
              <a:solidFill>
                <a:srgbClr val="C00000"/>
              </a:solidFill>
              <a:latin typeface="Helvetica Neue" charset="0"/>
            </a:endParaRPr>
          </a:p>
          <a:p>
            <a:endParaRPr lang="en-US" altLang="zh-CN" sz="1600" b="1" dirty="0">
              <a:solidFill>
                <a:srgbClr val="C00000"/>
              </a:solidFill>
              <a:latin typeface="Helvetica Neue" charset="0"/>
            </a:endParaRPr>
          </a:p>
          <a:p>
            <a:pPr marL="342900" indent="-342900">
              <a:buAutoNum type="alphaUcPeriod"/>
            </a:pPr>
            <a:r>
              <a:rPr lang="zh-CN" altLang="en-US" sz="1600" b="1" dirty="0">
                <a:solidFill>
                  <a:srgbClr val="C00000"/>
                </a:solidFill>
                <a:latin typeface="Helvetica Neue" charset="0"/>
              </a:rPr>
              <a:t>分布</a:t>
            </a:r>
            <a:r>
              <a:rPr lang="en-US" altLang="zh-CN" sz="1600" b="1" dirty="0">
                <a:solidFill>
                  <a:srgbClr val="C00000"/>
                </a:solidFill>
                <a:latin typeface="Helvetica Neue" charset="0"/>
              </a:rPr>
              <a:t>1</a:t>
            </a:r>
          </a:p>
          <a:p>
            <a:pPr marL="342900" indent="-342900">
              <a:buAutoNum type="alphaUcPeriod"/>
            </a:pPr>
            <a:r>
              <a:rPr lang="zh-CN" altLang="en-US" sz="1600" b="1" dirty="0">
                <a:solidFill>
                  <a:srgbClr val="C00000"/>
                </a:solidFill>
                <a:latin typeface="Helvetica Neue" charset="0"/>
              </a:rPr>
              <a:t>分布</a:t>
            </a:r>
            <a:r>
              <a:rPr lang="en-US" altLang="zh-CN" sz="1600" b="1" dirty="0">
                <a:solidFill>
                  <a:srgbClr val="C00000"/>
                </a:solidFill>
                <a:latin typeface="Helvetica Neue" charset="0"/>
              </a:rPr>
              <a:t>2</a:t>
            </a:r>
          </a:p>
          <a:p>
            <a:pPr marL="342900" indent="-342900">
              <a:buAutoNum type="alphaUcPeriod"/>
            </a:pPr>
            <a:r>
              <a:rPr lang="zh-CN" altLang="en-US" sz="1600" b="1" dirty="0">
                <a:solidFill>
                  <a:srgbClr val="C00000"/>
                </a:solidFill>
                <a:latin typeface="Helvetica Neue" charset="0"/>
              </a:rPr>
              <a:t>分布</a:t>
            </a:r>
            <a:r>
              <a:rPr lang="en-US" altLang="zh-CN" sz="1600" b="1" dirty="0">
                <a:solidFill>
                  <a:srgbClr val="C00000"/>
                </a:solidFill>
                <a:latin typeface="Helvetica Neue" charset="0"/>
              </a:rPr>
              <a:t>3</a:t>
            </a:r>
          </a:p>
          <a:p>
            <a:pPr marL="342900" indent="-342900">
              <a:buAutoNum type="alphaUcPeriod"/>
            </a:pPr>
            <a:r>
              <a:rPr lang="zh-CN" altLang="en-US" sz="1600" b="1" dirty="0">
                <a:solidFill>
                  <a:srgbClr val="C00000"/>
                </a:solidFill>
                <a:latin typeface="Helvetica Neue" charset="0"/>
              </a:rPr>
              <a:t>分布</a:t>
            </a:r>
            <a:r>
              <a:rPr lang="en-US" altLang="zh-CN" sz="1600" b="1" dirty="0">
                <a:solidFill>
                  <a:srgbClr val="C00000"/>
                </a:solidFill>
                <a:latin typeface="Helvetica Neue" charset="0"/>
              </a:rPr>
              <a:t>4</a:t>
            </a:r>
            <a:endParaRPr lang="zh-CN" altLang="en-US" sz="1600" b="1" dirty="0">
              <a:solidFill>
                <a:srgbClr val="C00000"/>
              </a:solidFill>
              <a:latin typeface="Helvetica Neue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9421FD63-8A3E-D449-8BCF-27241D067186}"/>
              </a:ext>
            </a:extLst>
          </p:cNvPr>
          <p:cNvSpPr/>
          <p:nvPr/>
        </p:nvSpPr>
        <p:spPr>
          <a:xfrm>
            <a:off x="7681898" y="1018717"/>
            <a:ext cx="64312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000000"/>
                </a:solidFill>
                <a:latin typeface="Helvetica Neue" charset="0"/>
              </a:rPr>
              <a:t>🔔</a:t>
            </a:r>
            <a:r>
              <a:rPr lang="zh-CN" altLang="en-US" sz="2800" dirty="0">
                <a:solidFill>
                  <a:srgbClr val="000000"/>
                </a:solidFill>
                <a:latin typeface="Helvetica Neue" charset="0"/>
              </a:rPr>
              <a:t> 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9234328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FAAB3C0-2A09-F54C-A8F5-B462C17B9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极大似然估计 </a:t>
            </a:r>
            <a:r>
              <a:rPr lang="en-US" altLang="zh-CN" dirty="0"/>
              <a:t>-</a:t>
            </a:r>
            <a:r>
              <a:rPr lang="zh-CN" altLang="en-US" dirty="0"/>
              <a:t>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Maximum Likelihood Estimate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="" xmlns:a16="http://schemas.microsoft.com/office/drawing/2014/main" id="{CDAD539A-C2A6-2443-9AD3-8A92F7C9286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zh-CN" altLang="en-US" dirty="0"/>
                  <a:t>基本思想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找到一组参数，使得已观测到样本集的联合概率最大化</a:t>
                </a:r>
                <a:endParaRPr lang="en-US" altLang="zh-CN" dirty="0"/>
              </a:p>
              <a:p>
                <a:r>
                  <a:rPr lang="zh-CN" altLang="en-US" dirty="0"/>
                  <a:t>似然函数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假设有样本集</a:t>
                </a:r>
                <a14:m>
                  <m:oMath xmlns:m="http://schemas.openxmlformats.org/officeDocument/2006/math">
                    <m:r>
                      <a:rPr lang="en-US" altLang="zh-CN" b="1" dirty="0">
                        <a:latin typeface="Cambria Math" panose="02040503050406030204" pitchFamily="18" charset="0"/>
                      </a:rPr>
                      <m:t>𝐗</m:t>
                    </m:r>
                    <m:r>
                      <a:rPr lang="en-US" altLang="zh-CN" b="1" dirty="0">
                        <a:latin typeface="Cambria Math" panose="02040503050406030204" pitchFamily="18" charset="0"/>
                      </a:rPr>
                      <m:t>={</m:t>
                    </m:r>
                    <m:sSub>
                      <m:sSubPr>
                        <m:ctrlPr>
                          <a:rPr lang="en-US" altLang="zh-CN" b="1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1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b="1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b="1" i="1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b="1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  <m:r>
                      <a:rPr lang="en-US" altLang="zh-CN" b="1" dirty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dirty="0"/>
                  <a:t>服从高斯分布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b="1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𝝁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l-GR" altLang="zh-CN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𝜮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r>
                  <a:rPr lang="zh-CN" altLang="en-US" dirty="0"/>
                  <a:t>假设样本抽样是独立的，那么我们同时抽到这</a:t>
                </a:r>
                <a:r>
                  <a:rPr lang="en-US" dirty="0"/>
                  <a:t>N</a:t>
                </a:r>
                <a:r>
                  <a:rPr lang="zh-CN" altLang="en-US" dirty="0"/>
                  <a:t>个样本的概率是抽到每个样本概率的乘积，也就是样本集</a:t>
                </a:r>
                <a:r>
                  <a:rPr lang="en-US" dirty="0"/>
                  <a:t>Y</a:t>
                </a:r>
                <a:r>
                  <a:rPr lang="zh-CN" altLang="en-US" dirty="0"/>
                  <a:t>的联合概率。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此联合概率即为似然函数</a:t>
                </a:r>
              </a:p>
              <a:p>
                <a:pPr lvl="1"/>
                <a:endParaRPr lang="zh-CN" alt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AD539A-C2A6-2443-9AD3-8A92F7C9286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17" t="-965" r="-1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C0EB7C96-070B-8247-800E-9D9672B7B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43</a:t>
            </a:fld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="" xmlns:a16="http://schemas.microsoft.com/office/drawing/2014/main" id="{E45A78BC-1CE6-BB47-A75F-652C4518468F}"/>
                  </a:ext>
                </a:extLst>
              </p:cNvPr>
              <p:cNvSpPr txBox="1"/>
              <p:nvPr/>
            </p:nvSpPr>
            <p:spPr>
              <a:xfrm>
                <a:off x="1393371" y="3222171"/>
                <a:ext cx="2467663" cy="77886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𝝁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l-GR" altLang="zh-CN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𝜮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ctrlPr>
                            <a:rPr lang="en-US" altLang="zh-CN" b="0" i="1" smtClean="0">
                              <a:latin typeface="Cambria Math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b="1" i="1">
                                  <a:latin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𝝁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l-GR" altLang="zh-CN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𝜮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45A78BC-1CE6-BB47-A75F-652C451846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3371" y="3222171"/>
                <a:ext cx="2467663" cy="778868"/>
              </a:xfrm>
              <a:prstGeom prst="rect">
                <a:avLst/>
              </a:prstGeom>
              <a:blipFill>
                <a:blip r:embed="rId3"/>
                <a:stretch>
                  <a:fillRect l="-513" t="-111290" r="-2051" b="-172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="" xmlns:a16="http://schemas.microsoft.com/office/drawing/2014/main" id="{9419C8BA-412E-DC46-9C70-2433594566D9}"/>
                  </a:ext>
                </a:extLst>
              </p:cNvPr>
              <p:cNvSpPr txBox="1"/>
              <p:nvPr/>
            </p:nvSpPr>
            <p:spPr>
              <a:xfrm>
                <a:off x="5194662" y="3222171"/>
                <a:ext cx="2840906" cy="7789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zh-CN" altLang="en-US" b="0" i="1" smtClean="0">
                              <a:latin typeface="Cambria Math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𝐿</m:t>
                          </m:r>
                          <m:d>
                            <m:dPr>
                              <m:ctrlPr>
                                <a:rPr lang="en-US" altLang="zh-CN" i="1">
                                  <a:latin typeface="Cambria Math" charset="0"/>
                                </a:rPr>
                              </m:ctrlPr>
                            </m:d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𝝁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l-GR" altLang="zh-CN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𝜮</m:t>
                              </m:r>
                            </m:e>
                          </m:d>
                        </m:e>
                      </m:func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b="0" i="1" smtClean="0">
                              <a:latin typeface="Cambria Math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func>
                            <m:funcPr>
                              <m:ctrlPr>
                                <a:rPr lang="zh-CN" altLang="en-US" b="0" i="1" smtClean="0">
                                  <a:latin typeface="Cambria Math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b="0" i="0" smtClean="0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zh-CN" b="1" i="1">
                                      <a:latin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𝝁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l-GR" altLang="zh-CN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𝜮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419C8BA-412E-DC46-9C70-2433594566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4662" y="3222171"/>
                <a:ext cx="2840906" cy="778931"/>
              </a:xfrm>
              <a:prstGeom prst="rect">
                <a:avLst/>
              </a:prstGeom>
              <a:blipFill>
                <a:blip r:embed="rId4"/>
                <a:stretch>
                  <a:fillRect l="-1333" t="-111290" r="-2222" b="-172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AutoShape 11">
            <a:extLst>
              <a:ext uri="{FF2B5EF4-FFF2-40B4-BE49-F238E27FC236}">
                <a16:creationId xmlns="" xmlns:a16="http://schemas.microsoft.com/office/drawing/2014/main" id="{5E2C9D5A-40A2-E44A-ABDA-5A76C48DD5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2109" y="3497305"/>
            <a:ext cx="457200" cy="228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9999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13CDE579-BD42-8B45-8609-CE0F8E745DF4}"/>
              </a:ext>
            </a:extLst>
          </p:cNvPr>
          <p:cNvSpPr txBox="1"/>
          <p:nvPr/>
        </p:nvSpPr>
        <p:spPr>
          <a:xfrm>
            <a:off x="4021746" y="3840205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0099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对数形式</a:t>
            </a:r>
            <a:endParaRPr lang="en-US" dirty="0">
              <a:solidFill>
                <a:srgbClr val="00999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0937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FAAB3C0-2A09-F54C-A8F5-B462C17B9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极大似然估计 </a:t>
            </a:r>
            <a:r>
              <a:rPr lang="en-US" altLang="zh-CN" dirty="0"/>
              <a:t>-</a:t>
            </a:r>
            <a:r>
              <a:rPr lang="zh-CN" altLang="en-US" dirty="0"/>
              <a:t>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Maximum Likelihood Estimate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="" xmlns:a16="http://schemas.microsoft.com/office/drawing/2014/main" id="{CDAD539A-C2A6-2443-9AD3-8A92F7C9286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819150"/>
                <a:ext cx="8229600" cy="3256461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dirty="0"/>
                  <a:t>基本思想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找到一组参数，使得已观测到样本集的联合概率最大化</a:t>
                </a:r>
                <a:endParaRPr lang="en-US" altLang="zh-CN" dirty="0"/>
              </a:p>
              <a:p>
                <a:r>
                  <a:rPr lang="zh-CN" altLang="en-US" dirty="0"/>
                  <a:t>最大化似然函数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假设有样本集</a:t>
                </a:r>
                <a14:m>
                  <m:oMath xmlns:m="http://schemas.openxmlformats.org/officeDocument/2006/math">
                    <m:r>
                      <a:rPr lang="en-US" altLang="zh-CN" b="1" dirty="0">
                        <a:latin typeface="Cambria Math" panose="02040503050406030204" pitchFamily="18" charset="0"/>
                      </a:rPr>
                      <m:t>𝐗</m:t>
                    </m:r>
                    <m:r>
                      <a:rPr lang="en-US" altLang="zh-CN" b="1" dirty="0">
                        <a:latin typeface="Cambria Math" panose="02040503050406030204" pitchFamily="18" charset="0"/>
                      </a:rPr>
                      <m:t>={</m:t>
                    </m:r>
                    <m:sSub>
                      <m:sSubPr>
                        <m:ctrlPr>
                          <a:rPr lang="en-US" altLang="zh-CN" b="1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1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b="1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b="1" i="1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b="1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  <m:r>
                      <a:rPr lang="en-US" altLang="zh-CN" b="1" dirty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dirty="0"/>
                  <a:t>服从高斯分布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b="1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𝝁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l-GR" altLang="zh-CN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𝜮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r>
                  <a:rPr lang="zh-CN" altLang="en-US" dirty="0"/>
                  <a:t>请写出</a:t>
                </a:r>
                <a:r>
                  <a:rPr lang="en-US" altLang="zh-CN" dirty="0"/>
                  <a:t>1-D</a:t>
                </a:r>
                <a:r>
                  <a:rPr lang="zh-CN" altLang="en-US" dirty="0"/>
                  <a:t>高斯分布的例子</a:t>
                </a:r>
                <a:endParaRPr lang="en-US" dirty="0"/>
              </a:p>
              <a:p>
                <a:pPr lvl="2"/>
                <a14:m>
                  <m:oMath xmlns:m="http://schemas.openxmlformats.org/officeDocument/2006/math">
                    <m:func>
                      <m:funcPr>
                        <m:ctrlPr>
                          <a:rPr lang="zh-CN" altLang="en-US" b="0" i="1" smtClean="0">
                            <a:latin typeface="Cambria Math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altLang="zh-CN" b="0" i="1" smtClean="0">
                                <a:latin typeface="Cambria Math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charset="0"/>
                      </a:rPr>
                      <m:t>−</m:t>
                    </m:r>
                    <m:f>
                      <m:fPr>
                        <m:ctrlPr>
                          <a:rPr lang="en-US" altLang="zh-CN" b="0" i="1" smtClean="0"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sSupPr>
                            <m:ctrlPr>
                              <a:rPr lang="en-US" altLang="zh-CN" b="0" i="1" smtClean="0">
                                <a:latin typeface="Cambria Math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nary>
                      <m:naryPr>
                        <m:chr m:val="∑"/>
                        <m:ctrlPr>
                          <a:rPr lang="en-US" altLang="zh-CN" b="0" i="1" smtClean="0">
                            <a:latin typeface="Cambria Math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sSup>
                          <m:sSupPr>
                            <m:ctrlPr>
                              <a:rPr lang="en-US" altLang="zh-CN" b="0" i="1" smtClean="0">
                                <a:latin typeface="Cambria Math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CN" b="0" i="1" smtClean="0">
                                    <a:latin typeface="Cambria Math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</m:d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zh-CN" b="0" i="1" smtClean="0"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func>
                      <m:funcPr>
                        <m:ctrlPr>
                          <a:rPr lang="zh-CN" altLang="en-US" b="0" i="1" smtClean="0">
                            <a:latin typeface="Cambria Math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sSup>
                          <m:sSupPr>
                            <m:ctrlPr>
                              <a:rPr lang="en-US" altLang="zh-CN" b="0" i="1" smtClean="0">
                                <a:latin typeface="Cambria Math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func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zh-CN" b="0" i="1" smtClean="0"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func>
                      <m:funcPr>
                        <m:ctrlPr>
                          <a:rPr lang="zh-CN" altLang="en-US" b="0" i="1" smtClean="0">
                            <a:latin typeface="Cambria Math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</m:func>
                  </m:oMath>
                </a14:m>
                <a:endParaRPr lang="zh-CN" altLang="en-US" dirty="0"/>
              </a:p>
              <a:p>
                <a:pPr lvl="1"/>
                <a:endParaRPr lang="zh-CN" alt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CDAD539A-C2A6-2443-9AD3-8A92F7C9286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819150"/>
                <a:ext cx="8229600" cy="3256461"/>
              </a:xfrm>
              <a:blipFill rotWithShape="0">
                <a:blip r:embed="rId2"/>
                <a:stretch>
                  <a:fillRect l="-667" t="-935" b="-128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C0EB7C96-070B-8247-800E-9D9672B7B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44</a:t>
            </a:fld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="" xmlns:a16="http://schemas.microsoft.com/office/drawing/2014/main" id="{9419C8BA-412E-DC46-9C70-2433594566D9}"/>
                  </a:ext>
                </a:extLst>
              </p:cNvPr>
              <p:cNvSpPr txBox="1"/>
              <p:nvPr/>
            </p:nvSpPr>
            <p:spPr>
              <a:xfrm>
                <a:off x="2207622" y="2398184"/>
                <a:ext cx="3751412" cy="7789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zh-CN" altLang="en-US" b="0" i="1" smtClean="0">
                              <a:latin typeface="Cambria Math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func>
                            <m:funcPr>
                              <m:ctrlPr>
                                <a:rPr lang="zh-CN" altLang="en-US" i="1">
                                  <a:latin typeface="Cambria Math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d>
                                <m:dPr>
                                  <m:ctrlPr>
                                    <a:rPr lang="en-US" altLang="zh-CN" i="1">
                                      <a:latin typeface="Cambria Math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𝝁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l-GR" altLang="zh-CN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𝜮</m:t>
                                  </m:r>
                                </m:e>
                              </m:d>
                            </m:e>
                          </m:func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=</m:t>
                          </m:r>
                          <m:func>
                            <m:funcPr>
                              <m:ctrlPr>
                                <a:rPr lang="zh-CN" altLang="en-US" b="0" i="1" smtClean="0">
                                  <a:latin typeface="Cambria Math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b="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fName>
                            <m:e>
                              <m:nary>
                                <m:naryPr>
                                  <m:chr m:val="∑"/>
                                  <m:ctrlPr>
                                    <a:rPr lang="en-US" altLang="zh-CN" i="1">
                                      <a:latin typeface="Cambria Math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sup>
                                <m:e>
                                  <m:func>
                                    <m:funcPr>
                                      <m:ctrlPr>
                                        <a:rPr lang="zh-CN" altLang="en-US" i="1">
                                          <a:latin typeface="Cambria Math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altLang="zh-CN">
                                          <a:latin typeface="Cambria Math" panose="02040503050406030204" pitchFamily="18" charset="0"/>
                                        </a:rPr>
                                        <m:t>ln</m:t>
                                      </m:r>
                                    </m:fName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b="1" i="1">
                                              <a:latin typeface="Cambria Math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b="1">
                                              <a:latin typeface="Cambria Math" panose="02040503050406030204" pitchFamily="18" charset="0"/>
                                            </a:rPr>
                                            <m:t>𝐱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|</m:t>
                                      </m:r>
                                      <m:r>
                                        <a:rPr lang="en-US" altLang="zh-CN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𝝁</m:t>
                                      </m:r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l-GR" altLang="zh-CN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𝜮</m:t>
                                      </m:r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</m:func>
                                </m:e>
                              </m:nary>
                            </m:e>
                          </m:func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419C8BA-412E-DC46-9C70-2433594566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7622" y="2398184"/>
                <a:ext cx="3751412" cy="778931"/>
              </a:xfrm>
              <a:prstGeom prst="rect">
                <a:avLst/>
              </a:prstGeom>
              <a:blipFill>
                <a:blip r:embed="rId3"/>
                <a:stretch>
                  <a:fillRect l="-338" t="-111290" r="-1689" b="-1741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="" xmlns:a16="http://schemas.microsoft.com/office/drawing/2014/main" id="{39B5D506-1E9D-AC44-9981-874D14CE008C}"/>
                  </a:ext>
                </a:extLst>
              </p:cNvPr>
              <p:cNvSpPr txBox="1"/>
              <p:nvPr/>
            </p:nvSpPr>
            <p:spPr>
              <a:xfrm>
                <a:off x="1617537" y="4106294"/>
                <a:ext cx="2664768" cy="54014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sz="1600" b="0" i="1" smtClean="0">
                              <a:solidFill>
                                <a:srgbClr val="C00000"/>
                              </a:solidFill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en-US" altLang="zh-CN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sz="16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600" b="0" i="1" smtClean="0">
                              <a:solidFill>
                                <a:srgbClr val="C00000"/>
                              </a:solidFill>
                              <a:latin typeface="Cambria Math" charset="0"/>
                            </a:rPr>
                          </m:ctrlPr>
                        </m:fPr>
                        <m:num>
                          <m:r>
                            <a:rPr lang="en-US" altLang="zh-CN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CN" sz="1600" b="0" i="1" smtClean="0">
                                  <a:solidFill>
                                    <a:srgbClr val="C00000"/>
                                  </a:solidFill>
                                  <a:latin typeface="Cambria Math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16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altLang="zh-CN" sz="16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</m:rad>
                          <m:r>
                            <a:rPr lang="en-US" altLang="zh-CN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den>
                      </m:f>
                      <m:func>
                        <m:funcPr>
                          <m:ctrlPr>
                            <a:rPr lang="zh-CN" altLang="en-US" sz="1600" b="0" i="1" smtClean="0">
                              <a:solidFill>
                                <a:srgbClr val="C00000"/>
                              </a:solidFill>
                              <a:latin typeface="Cambria Math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1600" b="0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r>
                            <a:rPr lang="en-US" altLang="zh-CN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(−</m:t>
                          </m:r>
                          <m:f>
                            <m:fPr>
                              <m:ctrlPr>
                                <a:rPr lang="en-US" altLang="zh-CN" sz="1600" b="0" i="1" smtClean="0">
                                  <a:solidFill>
                                    <a:srgbClr val="C00000"/>
                                  </a:solidFill>
                                  <a:latin typeface="Cambria Math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zh-CN" sz="1600" b="0" i="1" smtClean="0">
                                      <a:solidFill>
                                        <a:srgbClr val="C00000"/>
                                      </a:solidFill>
                                      <a:latin typeface="Cambria Math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zh-CN" sz="1600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1600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altLang="zh-CN" sz="1600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altLang="zh-CN" sz="1600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altLang="zh-CN" sz="16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zh-CN" sz="16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US" altLang="zh-CN" sz="1600" b="0" i="1" smtClean="0">
                                      <a:solidFill>
                                        <a:srgbClr val="C00000"/>
                                      </a:solidFill>
                                      <a:latin typeface="Cambria Math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6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altLang="zh-CN" sz="16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r>
                            <a:rPr lang="en-US" altLang="zh-CN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sz="16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9B5D506-1E9D-AC44-9981-874D14CE00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7537" y="4106294"/>
                <a:ext cx="2664768" cy="540148"/>
              </a:xfrm>
              <a:prstGeom prst="rect">
                <a:avLst/>
              </a:prstGeom>
              <a:blipFill>
                <a:blip r:embed="rId4"/>
                <a:stretch>
                  <a:fillRect l="-1896" r="-2370" b="-9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="" xmlns:a16="http://schemas.microsoft.com/office/drawing/2014/main" id="{04E3EFD0-7336-974E-8C20-239A71410AFC}"/>
                  </a:ext>
                </a:extLst>
              </p:cNvPr>
              <p:cNvSpPr/>
              <p:nvPr/>
            </p:nvSpPr>
            <p:spPr>
              <a:xfrm>
                <a:off x="6657568" y="3596672"/>
                <a:ext cx="2076858" cy="83946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en-US" sz="1600" b="1" dirty="0">
                    <a:solidFill>
                      <a:srgbClr val="C00000"/>
                    </a:solidFill>
                    <a:latin typeface="Helvetica Neue" charset="0"/>
                  </a:rPr>
                  <a:t>课后练习：</a:t>
                </a:r>
                <a:endParaRPr lang="en-US" altLang="zh-CN" sz="1600" b="1" dirty="0">
                  <a:solidFill>
                    <a:srgbClr val="C00000"/>
                  </a:solidFill>
                  <a:latin typeface="Helvetica Neue" charset="0"/>
                </a:endParaRPr>
              </a:p>
              <a:p>
                <a:r>
                  <a:rPr lang="zh-CN" altLang="en-US" sz="1600" b="1" dirty="0">
                    <a:solidFill>
                      <a:srgbClr val="C00000"/>
                    </a:solidFill>
                    <a:latin typeface="Helvetica Neue" charset="0"/>
                  </a:rPr>
                  <a:t>请推导极大似然估计的参数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0" i="1" smtClean="0">
                            <a:solidFill>
                              <a:srgbClr val="C00000"/>
                            </a:solidFill>
                            <a:latin typeface="Cambria Math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1600" b="0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ML</m:t>
                        </m:r>
                      </m:sub>
                    </m:sSub>
                  </m:oMath>
                </a14:m>
                <a:r>
                  <a:rPr lang="zh-CN" altLang="en-US" sz="1600" b="1" dirty="0">
                    <a:solidFill>
                      <a:srgbClr val="C00000"/>
                    </a:solidFill>
                    <a:latin typeface="Helvetica Neue" charset="0"/>
                  </a:rPr>
                  <a:t>和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1600" b="0" i="1" smtClean="0">
                            <a:solidFill>
                              <a:srgbClr val="C00000"/>
                            </a:solidFill>
                            <a:latin typeface="Cambria Math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16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1600" i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ML</m:t>
                        </m:r>
                      </m:sub>
                      <m:sup>
                        <m:r>
                          <a:rPr lang="en-US" altLang="zh-CN" sz="16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zh-CN" altLang="en-US" sz="1600" b="1" dirty="0">
                  <a:solidFill>
                    <a:srgbClr val="C00000"/>
                  </a:solidFill>
                  <a:latin typeface="Helvetica Neue" charset="0"/>
                </a:endParaRP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04E3EFD0-7336-974E-8C20-239A71410AF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7568" y="3596672"/>
                <a:ext cx="2076858" cy="839461"/>
              </a:xfrm>
              <a:prstGeom prst="rect">
                <a:avLst/>
              </a:prstGeom>
              <a:blipFill>
                <a:blip r:embed="rId5"/>
                <a:stretch>
                  <a:fillRect l="-1829" t="-4478" b="-746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830460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5767E41-5E88-274D-8F5A-F0E750526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混合高斯分布的极大似然估计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="" xmlns:a16="http://schemas.microsoft.com/office/drawing/2014/main" id="{F0CBAC0F-E9CF-C548-B54F-2419EAA0B09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89463"/>
                <a:ext cx="8229600" cy="610536"/>
              </a:xfrm>
            </p:spPr>
            <p:txBody>
              <a:bodyPr/>
              <a:lstStyle/>
              <a:p>
                <a:r>
                  <a:rPr lang="zh-CN" altLang="en-US" dirty="0"/>
                  <a:t>针对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rgbClr val="C00000"/>
                            </a:solidFill>
                            <a:latin typeface="Cambria Math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zh-CN" altLang="en-US" dirty="0"/>
                  <a:t>求导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0CBAC0F-E9CF-C548-B54F-2419EAA0B0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89463"/>
                <a:ext cx="8229600" cy="610536"/>
              </a:xfrm>
              <a:blipFill>
                <a:blip r:embed="rId2"/>
                <a:stretch>
                  <a:fillRect l="-617" t="-40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1D98F974-C62D-EB41-A964-A9C3F393F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45</a:t>
            </a:fld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="" xmlns:a16="http://schemas.microsoft.com/office/drawing/2014/main" id="{44270042-83A0-CE45-BD20-4C55FF29F9FE}"/>
                  </a:ext>
                </a:extLst>
              </p:cNvPr>
              <p:cNvSpPr txBox="1"/>
              <p:nvPr/>
            </p:nvSpPr>
            <p:spPr>
              <a:xfrm>
                <a:off x="795404" y="861070"/>
                <a:ext cx="4863447" cy="6721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zh-CN" altLang="en-US" b="0" i="1" smtClean="0">
                              <a:latin typeface="Cambria Math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altLang="zh-CN" b="0" i="1" smtClean="0">
                                  <a:latin typeface="Cambria Math" charset="0"/>
                                </a:rPr>
                              </m:ctrlPr>
                            </m:dPr>
                            <m:e>
                              <m:r>
                                <a:rPr lang="en-US" altLang="zh-CN" b="1" i="0" smtClean="0">
                                  <a:latin typeface="Cambria Math" panose="02040503050406030204" pitchFamily="18" charset="0"/>
                                </a:rPr>
                                <m:t>𝐗</m:t>
                              </m:r>
                            </m:e>
                            <m:e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𝝅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𝝁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l-GR" altLang="zh-CN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𝜮</m:t>
                              </m:r>
                            </m:e>
                          </m:d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</m:e>
                      </m:func>
                      <m:nary>
                        <m:naryPr>
                          <m:chr m:val="∑"/>
                          <m:limLoc m:val="subSup"/>
                          <m:ctrlPr>
                            <a:rPr lang="zh-CN" altLang="en-US" b="0" i="1" smtClean="0">
                              <a:latin typeface="Cambria Math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func>
                            <m:funcPr>
                              <m:ctrlPr>
                                <a:rPr lang="zh-CN" altLang="en-US" i="1">
                                  <a:latin typeface="Cambria Math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altLang="zh-CN" i="1">
                                      <a:latin typeface="Cambria Math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  <m:sup/>
                                <m:e>
                                  <m:sSub>
                                    <m:sSubPr>
                                      <m:ctrlPr>
                                        <a:rPr lang="en-US" altLang="zh-CN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altLang="zh-CN" b="1" i="1">
                                          <a:latin typeface="Cambria Math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1">
                                          <a:latin typeface="Cambria Math" panose="02040503050406030204" pitchFamily="18" charset="0"/>
                                        </a:rPr>
                                        <m:t>𝐱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sSub>
                                    <m:sSubPr>
                                      <m:ctrlPr>
                                        <a:rPr lang="en-US" altLang="zh-CN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1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𝝁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altLang="zh-CN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l-GR" altLang="zh-CN" b="1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𝜮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nary>
                            </m:e>
                          </m:func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4270042-83A0-CE45-BD20-4C55FF29F9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404" y="861070"/>
                <a:ext cx="4863447" cy="672172"/>
              </a:xfrm>
              <a:prstGeom prst="rect">
                <a:avLst/>
              </a:prstGeom>
              <a:blipFill>
                <a:blip r:embed="rId3"/>
                <a:stretch>
                  <a:fillRect l="-521" t="-142593" r="-1042" b="-1981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="" xmlns:a16="http://schemas.microsoft.com/office/drawing/2014/main" id="{B2C9ADCC-2629-4540-8625-9AEE6D587252}"/>
                  </a:ext>
                </a:extLst>
              </p:cNvPr>
              <p:cNvSpPr/>
              <p:nvPr/>
            </p:nvSpPr>
            <p:spPr>
              <a:xfrm>
                <a:off x="1532718" y="2299998"/>
                <a:ext cx="5149423" cy="74667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</m:ctrlPr>
                        </m:fPr>
                        <m:num>
                          <m:r>
                            <a:rPr lang="en-US" altLang="zh-CN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en-US" altLang="zh-CN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𝝁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den>
                      </m:f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f>
                            <m:fPr>
                              <m:ctrlP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CN" i="1">
                                      <a:solidFill>
                                        <a:schemeClr val="tx1"/>
                                      </a:solidFill>
                                      <a:latin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d>
                                <m:dPr>
                                  <m:ctrlPr>
                                    <a:rPr lang="en-US" altLang="zh-CN" i="1">
                                      <a:solidFill>
                                        <a:schemeClr val="tx1"/>
                                      </a:solidFill>
                                      <a:latin typeface="Cambria Math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b="1" i="1">
                                          <a:solidFill>
                                            <a:schemeClr val="tx1"/>
                                          </a:solidFill>
                                          <a:latin typeface="Cambria Math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𝐱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n-US" altLang="zh-CN" i="1">
                                          <a:solidFill>
                                            <a:schemeClr val="tx1"/>
                                          </a:solidFill>
                                          <a:latin typeface="Cambria Math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𝝁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  <m:r>
                                    <a:rPr lang="en-US" altLang="zh-CN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altLang="zh-CN" i="1">
                                          <a:solidFill>
                                            <a:schemeClr val="tx1"/>
                                          </a:solidFill>
                                          <a:latin typeface="Cambria Math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l-GR" altLang="zh-CN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𝜮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e>
                              </m:d>
                            </m:num>
                            <m:den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altLang="zh-CN" i="1" smtClean="0">
                                      <a:solidFill>
                                        <a:schemeClr val="tx1"/>
                                      </a:solidFill>
                                      <a:latin typeface="Cambria Math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altLang="zh-CN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/>
                                <m:e>
                                  <m:sSub>
                                    <m:sSubPr>
                                      <m:ctrlPr>
                                        <a:rPr lang="en-US" altLang="zh-CN" i="1">
                                          <a:solidFill>
                                            <a:schemeClr val="tx1"/>
                                          </a:solidFill>
                                          <a:latin typeface="Cambria Math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r>
                                    <a:rPr lang="en-US" altLang="zh-CN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  <m:d>
                                    <m:dPr>
                                      <m:ctrlPr>
                                        <a:rPr lang="en-US" altLang="zh-CN" i="1">
                                          <a:solidFill>
                                            <a:schemeClr val="tx1"/>
                                          </a:solidFill>
                                          <a:latin typeface="Cambria Math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b="1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b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𝐱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altLang="zh-CN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b="1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𝝁</m:t>
                                          </m:r>
                                        </m:e>
                                        <m:sub>
                                          <m:r>
                                            <a:rPr lang="en-US" altLang="zh-CN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  <m:r>
                                        <a:rPr lang="en-US" altLang="zh-CN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l-GR" altLang="zh-CN" b="1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𝜮</m:t>
                                          </m:r>
                                        </m:e>
                                        <m:sub>
                                          <m:r>
                                            <a:rPr lang="en-US" altLang="zh-CN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nary>
                            </m:den>
                          </m:f>
                          <m:sSub>
                            <m:sSubPr>
                              <m:ctrlPr>
                                <a:rPr lang="en-US" altLang="zh-CN" i="1">
                                  <a:latin typeface="Cambria Math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l-GR" altLang="zh-CN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𝜮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b="0" i="1" smtClean="0">
                                  <a:latin typeface="Cambria Math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b="1" i="1">
                                      <a:latin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𝝁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=0</m:t>
                          </m:r>
                        </m:e>
                      </m:nary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B2C9ADCC-2629-4540-8625-9AEE6D58725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2718" y="2299998"/>
                <a:ext cx="5149423" cy="746679"/>
              </a:xfrm>
              <a:prstGeom prst="rect">
                <a:avLst/>
              </a:prstGeom>
              <a:blipFill>
                <a:blip r:embed="rId4"/>
                <a:stretch>
                  <a:fillRect t="-121667" b="-17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="" xmlns:a16="http://schemas.microsoft.com/office/drawing/2014/main" id="{F6F5BF49-7B90-9941-A2C4-CD3A56FB8CBF}"/>
                  </a:ext>
                </a:extLst>
              </p:cNvPr>
              <p:cNvSpPr/>
              <p:nvPr/>
            </p:nvSpPr>
            <p:spPr>
              <a:xfrm>
                <a:off x="1891247" y="3685207"/>
                <a:ext cx="2044791" cy="52007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b="0" i="1" smtClean="0">
                            <a:latin typeface="Cambria Math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altLang="zh-CN" b="0" i="1" smtClean="0">
                                <a:latin typeface="Cambria Math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den>
                    </m:f>
                    <m:nary>
                      <m:naryPr>
                        <m:chr m:val="∑"/>
                        <m:limLoc m:val="subSup"/>
                        <m:ctrlPr>
                          <a:rPr lang="en-US" altLang="zh-CN" b="0" i="1" smtClean="0">
                            <a:latin typeface="Cambria Math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𝛾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𝑖𝑘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altLang="zh-CN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F6F5BF49-7B90-9941-A2C4-CD3A56FB8CB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1247" y="3685207"/>
                <a:ext cx="2044791" cy="520079"/>
              </a:xfrm>
              <a:prstGeom prst="rect">
                <a:avLst/>
              </a:prstGeom>
              <a:blipFill>
                <a:blip r:embed="rId5"/>
                <a:stretch>
                  <a:fillRect t="-69048" b="-10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3622C4D4-579A-314B-9DD8-E76C90E69B99}"/>
              </a:ext>
            </a:extLst>
          </p:cNvPr>
          <p:cNvSpPr/>
          <p:nvPr/>
        </p:nvSpPr>
        <p:spPr>
          <a:xfrm>
            <a:off x="3161211" y="2299998"/>
            <a:ext cx="1724298" cy="746679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="" xmlns:a16="http://schemas.microsoft.com/office/drawing/2014/main" id="{155AD510-47D1-024C-905D-4C9AD5516840}"/>
              </a:ext>
            </a:extLst>
          </p:cNvPr>
          <p:cNvCxnSpPr/>
          <p:nvPr/>
        </p:nvCxnSpPr>
        <p:spPr>
          <a:xfrm flipH="1">
            <a:off x="3431177" y="3117669"/>
            <a:ext cx="313509" cy="6792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="" xmlns:a16="http://schemas.microsoft.com/office/drawing/2014/main" id="{67E17ED3-AB7B-7149-A3F1-35080BFB3E0A}"/>
                  </a:ext>
                </a:extLst>
              </p:cNvPr>
              <p:cNvSpPr/>
              <p:nvPr/>
            </p:nvSpPr>
            <p:spPr>
              <a:xfrm>
                <a:off x="4294436" y="3796937"/>
                <a:ext cx="2217402" cy="38446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Where</a:t>
                </a:r>
                <a:r>
                  <a:rPr lang="zh-CN" altLang="en-US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ctrlPr>
                          <a:rPr lang="en-US" altLang="zh-CN" b="0" i="1" smtClean="0">
                            <a:latin typeface="Cambria Math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sSub>
                          <m:sSubPr>
                            <m:ctrlPr>
                              <a:rPr lang="en-US" altLang="zh-CN" i="1">
                                <a:latin typeface="Cambria Math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𝛾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nary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67E17ED3-AB7B-7149-A3F1-35080BFB3E0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4436" y="3796937"/>
                <a:ext cx="2217402" cy="384464"/>
              </a:xfrm>
              <a:prstGeom prst="rect">
                <a:avLst/>
              </a:prstGeom>
              <a:blipFill>
                <a:blip r:embed="rId6"/>
                <a:stretch>
                  <a:fillRect l="-1705" t="-103226" b="-1612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48872E2F-42B6-17D0-15EF-F65C7258B7A6}"/>
              </a:ext>
            </a:extLst>
          </p:cNvPr>
          <p:cNvSpPr/>
          <p:nvPr/>
        </p:nvSpPr>
        <p:spPr>
          <a:xfrm>
            <a:off x="3268778" y="3867929"/>
            <a:ext cx="313509" cy="269549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694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5767E41-5E88-274D-8F5A-F0E750526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混合高斯分布的极大似然估计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="" xmlns:a16="http://schemas.microsoft.com/office/drawing/2014/main" id="{F0CBAC0F-E9CF-C548-B54F-2419EAA0B09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89463"/>
                <a:ext cx="8229600" cy="610536"/>
              </a:xfrm>
            </p:spPr>
            <p:txBody>
              <a:bodyPr/>
              <a:lstStyle/>
              <a:p>
                <a:r>
                  <a:rPr lang="zh-CN" altLang="en-US" dirty="0">
                    <a:solidFill>
                      <a:schemeClr val="tx1"/>
                    </a:solidFill>
                  </a:rPr>
                  <a:t>类似的方式求解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chemeClr val="tx1"/>
                            </a:solidFill>
                            <a:latin typeface="Cambria Math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altLang="zh-CN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𝜮</m:t>
                        </m:r>
                      </m:e>
                      <m:sub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与</a:t>
                </a:r>
                <a:r>
                  <a:rPr lang="en-US" altLang="zh-CN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0CBAC0F-E9CF-C548-B54F-2419EAA0B0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89463"/>
                <a:ext cx="8229600" cy="610536"/>
              </a:xfrm>
              <a:blipFill>
                <a:blip r:embed="rId2"/>
                <a:stretch>
                  <a:fillRect l="-617" t="-40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1D98F974-C62D-EB41-A964-A9C3F393F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46</a:t>
            </a:fld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="" xmlns:a16="http://schemas.microsoft.com/office/drawing/2014/main" id="{44270042-83A0-CE45-BD20-4C55FF29F9FE}"/>
                  </a:ext>
                </a:extLst>
              </p:cNvPr>
              <p:cNvSpPr txBox="1"/>
              <p:nvPr/>
            </p:nvSpPr>
            <p:spPr>
              <a:xfrm>
                <a:off x="795404" y="861070"/>
                <a:ext cx="4863447" cy="6721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zh-CN" altLang="en-US" b="0" i="1" smtClean="0">
                              <a:latin typeface="Cambria Math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altLang="zh-CN" b="0" i="1" smtClean="0">
                                  <a:latin typeface="Cambria Math" charset="0"/>
                                </a:rPr>
                              </m:ctrlPr>
                            </m:dPr>
                            <m:e>
                              <m:r>
                                <a:rPr lang="en-US" altLang="zh-CN" b="1" i="0" smtClean="0">
                                  <a:latin typeface="Cambria Math" panose="02040503050406030204" pitchFamily="18" charset="0"/>
                                </a:rPr>
                                <m:t>𝐗</m:t>
                              </m:r>
                            </m:e>
                            <m:e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𝝅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𝝁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l-GR" altLang="zh-CN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𝜮</m:t>
                              </m:r>
                            </m:e>
                          </m:d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</m:e>
                      </m:func>
                      <m:nary>
                        <m:naryPr>
                          <m:chr m:val="∑"/>
                          <m:limLoc m:val="subSup"/>
                          <m:ctrlPr>
                            <a:rPr lang="zh-CN" altLang="en-US" b="0" i="1" smtClean="0">
                              <a:latin typeface="Cambria Math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func>
                            <m:funcPr>
                              <m:ctrlPr>
                                <a:rPr lang="zh-CN" altLang="en-US" i="1">
                                  <a:latin typeface="Cambria Math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altLang="zh-CN" i="1">
                                      <a:latin typeface="Cambria Math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  <m:sup/>
                                <m:e>
                                  <m:sSub>
                                    <m:sSubPr>
                                      <m:ctrlPr>
                                        <a:rPr lang="en-US" altLang="zh-CN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altLang="zh-CN" b="1" i="1">
                                          <a:latin typeface="Cambria Math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1">
                                          <a:latin typeface="Cambria Math" panose="02040503050406030204" pitchFamily="18" charset="0"/>
                                        </a:rPr>
                                        <m:t>𝐱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sSub>
                                    <m:sSubPr>
                                      <m:ctrlPr>
                                        <a:rPr lang="en-US" altLang="zh-CN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1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𝝁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altLang="zh-CN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l-GR" altLang="zh-CN" b="1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𝜮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nary>
                            </m:e>
                          </m:func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4270042-83A0-CE45-BD20-4C55FF29F9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404" y="861070"/>
                <a:ext cx="4863447" cy="672172"/>
              </a:xfrm>
              <a:prstGeom prst="rect">
                <a:avLst/>
              </a:prstGeom>
              <a:blipFill>
                <a:blip r:embed="rId3"/>
                <a:stretch>
                  <a:fillRect l="-521" t="-142593" r="-1042" b="-1981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="" xmlns:a16="http://schemas.microsoft.com/office/drawing/2014/main" id="{B2C9ADCC-2629-4540-8625-9AEE6D587252}"/>
                  </a:ext>
                </a:extLst>
              </p:cNvPr>
              <p:cNvSpPr/>
              <p:nvPr/>
            </p:nvSpPr>
            <p:spPr>
              <a:xfrm>
                <a:off x="795404" y="2300935"/>
                <a:ext cx="4040145" cy="67018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solidFill>
                                <a:schemeClr val="tx1"/>
                              </a:solidFill>
                              <a:latin typeface="Cambria Math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altLang="zh-CN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𝜮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den>
                      </m:f>
                      <m:nary>
                        <m:naryPr>
                          <m:chr m:val="∑"/>
                          <m:limLoc m:val="subSup"/>
                          <m:ctrlP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𝑖𝑘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b="1" i="1">
                                      <a:solidFill>
                                        <a:schemeClr val="tx1"/>
                                      </a:solidFill>
                                      <a:latin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solidFill>
                                        <a:schemeClr val="tx1"/>
                                      </a:solidFill>
                                      <a:latin typeface="Cambria Math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𝝁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  <m:sSup>
                            <m:sSupPr>
                              <m:ctrlP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b="0" i="1" smtClean="0">
                                      <a:solidFill>
                                        <a:schemeClr val="tx1"/>
                                      </a:solidFill>
                                      <a:latin typeface="Cambria Math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b="1" i="1">
                                          <a:solidFill>
                                            <a:schemeClr val="tx1"/>
                                          </a:solidFill>
                                          <a:latin typeface="Cambria Math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𝐱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zh-CN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zh-CN" i="1">
                                          <a:solidFill>
                                            <a:schemeClr val="tx1"/>
                                          </a:solidFill>
                                          <a:latin typeface="Cambria Math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𝝁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altLang="zh-CN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B2C9ADCC-2629-4540-8625-9AEE6D58725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404" y="2300935"/>
                <a:ext cx="4040145" cy="670183"/>
              </a:xfrm>
              <a:prstGeom prst="rect">
                <a:avLst/>
              </a:prstGeom>
              <a:blipFill>
                <a:blip r:embed="rId4"/>
                <a:stretch>
                  <a:fillRect t="-137037" b="-20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="" xmlns:a16="http://schemas.microsoft.com/office/drawing/2014/main" id="{F6F5BF49-7B90-9941-A2C4-CD3A56FB8CBF}"/>
                  </a:ext>
                </a:extLst>
              </p:cNvPr>
              <p:cNvSpPr/>
              <p:nvPr/>
            </p:nvSpPr>
            <p:spPr>
              <a:xfrm>
                <a:off x="795404" y="3686144"/>
                <a:ext cx="2044791" cy="52007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b="0" i="1" smtClean="0">
                            <a:latin typeface="Cambria Math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altLang="zh-CN" b="0" i="1" smtClean="0">
                                <a:latin typeface="Cambria Math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den>
                    </m:f>
                    <m:nary>
                      <m:naryPr>
                        <m:chr m:val="∑"/>
                        <m:limLoc m:val="subSup"/>
                        <m:ctrlPr>
                          <a:rPr lang="en-US" altLang="zh-CN" b="0" i="1" smtClean="0">
                            <a:latin typeface="Cambria Math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𝛾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𝑖𝑘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altLang="zh-CN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F6F5BF49-7B90-9941-A2C4-CD3A56FB8CB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404" y="3686144"/>
                <a:ext cx="2044791" cy="520079"/>
              </a:xfrm>
              <a:prstGeom prst="rect">
                <a:avLst/>
              </a:prstGeom>
              <a:blipFill>
                <a:blip r:embed="rId5"/>
                <a:stretch>
                  <a:fillRect t="-69048" b="-10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="" xmlns:a16="http://schemas.microsoft.com/office/drawing/2014/main" id="{155AD510-47D1-024C-905D-4C9AD5516840}"/>
              </a:ext>
            </a:extLst>
          </p:cNvPr>
          <p:cNvCxnSpPr/>
          <p:nvPr/>
        </p:nvCxnSpPr>
        <p:spPr>
          <a:xfrm flipH="1">
            <a:off x="2335334" y="3044862"/>
            <a:ext cx="313509" cy="6792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="" xmlns:a16="http://schemas.microsoft.com/office/drawing/2014/main" id="{67E17ED3-AB7B-7149-A3F1-35080BFB3E0A}"/>
                  </a:ext>
                </a:extLst>
              </p:cNvPr>
              <p:cNvSpPr/>
              <p:nvPr/>
            </p:nvSpPr>
            <p:spPr>
              <a:xfrm>
                <a:off x="3198593" y="3797874"/>
                <a:ext cx="2217402" cy="38446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Where</a:t>
                </a:r>
                <a:r>
                  <a:rPr lang="zh-CN" altLang="en-US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ctrlPr>
                          <a:rPr lang="en-US" altLang="zh-CN" b="0" i="1" smtClean="0">
                            <a:latin typeface="Cambria Math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sSub>
                          <m:sSubPr>
                            <m:ctrlPr>
                              <a:rPr lang="en-US" altLang="zh-CN" i="1">
                                <a:latin typeface="Cambria Math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𝛾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nary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67E17ED3-AB7B-7149-A3F1-35080BFB3E0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8593" y="3797874"/>
                <a:ext cx="2217402" cy="384464"/>
              </a:xfrm>
              <a:prstGeom prst="rect">
                <a:avLst/>
              </a:prstGeom>
              <a:blipFill>
                <a:blip r:embed="rId6"/>
                <a:stretch>
                  <a:fillRect l="-2874" t="-103226" b="-1612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="" xmlns:a16="http://schemas.microsoft.com/office/drawing/2014/main" id="{89EB69B2-0A73-3E49-A50B-C643793E0D06}"/>
              </a:ext>
            </a:extLst>
          </p:cNvPr>
          <p:cNvCxnSpPr>
            <a:cxnSpLocks/>
          </p:cNvCxnSpPr>
          <p:nvPr/>
        </p:nvCxnSpPr>
        <p:spPr>
          <a:xfrm>
            <a:off x="3198593" y="3044862"/>
            <a:ext cx="582364" cy="6792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="" xmlns:a16="http://schemas.microsoft.com/office/drawing/2014/main" id="{048D4793-DDF6-8346-A1FA-0709B66BE42A}"/>
                  </a:ext>
                </a:extLst>
              </p:cNvPr>
              <p:cNvSpPr/>
              <p:nvPr/>
            </p:nvSpPr>
            <p:spPr>
              <a:xfrm>
                <a:off x="6547333" y="2636026"/>
                <a:ext cx="1058495" cy="6090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num>
                        <m:den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048D4793-DDF6-8346-A1FA-0709B66BE42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7333" y="2636026"/>
                <a:ext cx="1058495" cy="609077"/>
              </a:xfrm>
              <a:prstGeom prst="rect">
                <a:avLst/>
              </a:prstGeom>
              <a:blipFill>
                <a:blip r:embed="rId7"/>
                <a:stretch>
                  <a:fillRect b="-20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618433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82E958C-4A13-3044-A241-1242DBF7C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使用</a:t>
            </a:r>
            <a:r>
              <a:rPr lang="en-US" altLang="zh-CN" dirty="0"/>
              <a:t>EM</a:t>
            </a:r>
            <a:r>
              <a:rPr lang="zh-CN" altLang="en-US" dirty="0"/>
              <a:t>算法进行交替优化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9956598E-51BE-FF49-A20F-D22851BCF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47</a:t>
            </a:fld>
            <a:endParaRPr lang="zh-CN" altLang="en-US"/>
          </a:p>
        </p:txBody>
      </p:sp>
      <p:sp>
        <p:nvSpPr>
          <p:cNvPr id="11" name="Content Placeholder 2">
            <a:extLst>
              <a:ext uri="{FF2B5EF4-FFF2-40B4-BE49-F238E27FC236}">
                <a16:creationId xmlns="" xmlns:a16="http://schemas.microsoft.com/office/drawing/2014/main" id="{7A0A63B0-DD09-8C43-B1B2-1ABE995447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19150"/>
            <a:ext cx="5612704" cy="3937000"/>
          </a:xfrm>
        </p:spPr>
        <p:txBody>
          <a:bodyPr/>
          <a:lstStyle/>
          <a:p>
            <a:r>
              <a:rPr lang="en-US" altLang="en-US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Boot Step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/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Initialize </a:t>
            </a:r>
            <a:r>
              <a:rPr lang="en-US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clusters: C</a:t>
            </a:r>
            <a:r>
              <a:rPr lang="en-US" altLang="en-US" sz="20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…, C</a:t>
            </a:r>
            <a:r>
              <a:rPr lang="en-US" altLang="en-US" sz="20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endParaRPr lang="en-US" altLang="en-US" sz="2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n-US" altLang="en-US" sz="2400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Iteration Step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/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Estimate the cluster of each data point</a:t>
            </a:r>
          </a:p>
          <a:p>
            <a:pPr lvl="1"/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Bef>
                <a:spcPts val="480"/>
              </a:spcBef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Bef>
                <a:spcPts val="480"/>
              </a:spcBef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Re-estimate the cluster parameters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44BA17C8-FEFB-EF48-B857-B8E97B91906B}"/>
              </a:ext>
            </a:extLst>
          </p:cNvPr>
          <p:cNvSpPr/>
          <p:nvPr/>
        </p:nvSpPr>
        <p:spPr>
          <a:xfrm>
            <a:off x="1578777" y="1619333"/>
            <a:ext cx="390363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hlink"/>
              </a:buClr>
              <a:buSzPct val="55000"/>
            </a:pPr>
            <a:r>
              <a:rPr lang="en-US" altLang="en-US" sz="2000" dirty="0">
                <a:latin typeface="Times New Roman" panose="02020603050405020304" pitchFamily="18" charset="0"/>
              </a:rPr>
              <a:t>(</a:t>
            </a:r>
            <a:r>
              <a:rPr lang="en-US" altLang="en-US" sz="2000" i="1" dirty="0">
                <a:latin typeface="Times New Roman" panose="02020603050405020304" pitchFamily="18" charset="0"/>
                <a:sym typeface="Symbol" pitchFamily="2" charset="2"/>
              </a:rPr>
              <a:t></a:t>
            </a:r>
            <a:r>
              <a:rPr lang="en-US" altLang="en-US" sz="2000" i="1" baseline="-25000" dirty="0">
                <a:latin typeface="Times New Roman" panose="02020603050405020304" pitchFamily="18" charset="0"/>
                <a:sym typeface="Symbol" pitchFamily="2" charset="2"/>
              </a:rPr>
              <a:t>j</a:t>
            </a:r>
            <a:r>
              <a:rPr lang="en-US" altLang="en-US" sz="2000" baseline="-25000" dirty="0">
                <a:latin typeface="Times New Roman" panose="02020603050405020304" pitchFamily="18" charset="0"/>
                <a:sym typeface="Symbol" pitchFamily="2" charset="2"/>
              </a:rPr>
              <a:t>,</a:t>
            </a:r>
            <a:r>
              <a:rPr lang="en-US" altLang="en-US" sz="2000" dirty="0">
                <a:latin typeface="Tahoma" panose="020B0604030504040204" pitchFamily="34" charset="0"/>
                <a:sym typeface="Symbol" pitchFamily="2" charset="2"/>
              </a:rPr>
              <a:t> </a:t>
            </a:r>
            <a:r>
              <a:rPr lang="en-US" altLang="en-US" sz="2000" dirty="0">
                <a:latin typeface="Times New Roman" panose="02020603050405020304" pitchFamily="18" charset="0"/>
                <a:sym typeface="Symbol" pitchFamily="2" charset="2"/>
              </a:rPr>
              <a:t></a:t>
            </a:r>
            <a:r>
              <a:rPr lang="en-US" altLang="en-US" sz="2000" i="1" baseline="-25000" dirty="0">
                <a:latin typeface="Times" pitchFamily="2" charset="0"/>
                <a:sym typeface="Symbol" pitchFamily="2" charset="2"/>
              </a:rPr>
              <a:t>j</a:t>
            </a:r>
            <a:r>
              <a:rPr lang="en-US" altLang="en-US" sz="2000" dirty="0">
                <a:latin typeface="Times" pitchFamily="2" charset="0"/>
                <a:sym typeface="Symbol" pitchFamily="2" charset="2"/>
              </a:rPr>
              <a:t>) and </a:t>
            </a:r>
            <a:r>
              <a:rPr lang="en-US" altLang="en-US" sz="2000" i="1" dirty="0">
                <a:latin typeface="Times" pitchFamily="2" charset="0"/>
              </a:rPr>
              <a:t>P</a:t>
            </a:r>
            <a:r>
              <a:rPr lang="en-US" altLang="en-US" sz="2000" dirty="0">
                <a:latin typeface="Times" pitchFamily="2" charset="0"/>
              </a:rPr>
              <a:t>(</a:t>
            </a:r>
            <a:r>
              <a:rPr lang="en-US" altLang="en-US" sz="2000" i="1" dirty="0" err="1">
                <a:latin typeface="Times" pitchFamily="2" charset="0"/>
              </a:rPr>
              <a:t>C</a:t>
            </a:r>
            <a:r>
              <a:rPr lang="en-US" altLang="en-US" sz="2000" i="1" baseline="-25000" dirty="0" err="1">
                <a:latin typeface="Times" pitchFamily="2" charset="0"/>
              </a:rPr>
              <a:t>j</a:t>
            </a:r>
            <a:r>
              <a:rPr lang="en-US" altLang="en-US" sz="2000" dirty="0">
                <a:latin typeface="Times" pitchFamily="2" charset="0"/>
              </a:rPr>
              <a:t>)</a:t>
            </a:r>
            <a:r>
              <a:rPr lang="en-US" altLang="en-US" sz="2000" dirty="0">
                <a:latin typeface="Tahoma" panose="020B0604030504040204" pitchFamily="34" charset="0"/>
                <a:sym typeface="Symbol" pitchFamily="2" charset="2"/>
              </a:rPr>
              <a:t> </a:t>
            </a:r>
            <a:r>
              <a:rPr lang="en-US" altLang="en-US" sz="2000" dirty="0">
                <a:latin typeface="Times" pitchFamily="2" charset="0"/>
              </a:rPr>
              <a:t>for each cluster </a:t>
            </a:r>
            <a:r>
              <a:rPr lang="en-US" altLang="en-US" sz="2000" i="1" dirty="0">
                <a:latin typeface="Times" pitchFamily="2" charset="0"/>
              </a:rPr>
              <a:t>j.  </a:t>
            </a:r>
          </a:p>
        </p:txBody>
      </p:sp>
      <p:sp>
        <p:nvSpPr>
          <p:cNvPr id="17" name="Text Box 9">
            <a:extLst>
              <a:ext uri="{FF2B5EF4-FFF2-40B4-BE49-F238E27FC236}">
                <a16:creationId xmlns="" xmlns:a16="http://schemas.microsoft.com/office/drawing/2014/main" id="{B79C10FF-4BD4-0646-A4F0-EEDE9FAF0A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86534" y="1841784"/>
            <a:ext cx="227979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solidFill>
                  <a:srgbClr val="009999"/>
                </a:solidFill>
                <a:latin typeface="Tahoma" panose="020B0604030504040204" pitchFamily="34" charset="0"/>
              </a:rPr>
              <a:t>E</a:t>
            </a:r>
            <a:r>
              <a:rPr lang="en-US" altLang="zh-CN" sz="2000" dirty="0">
                <a:solidFill>
                  <a:srgbClr val="009999"/>
                </a:solidFill>
                <a:latin typeface="Tahoma" panose="020B0604030504040204" pitchFamily="34" charset="0"/>
              </a:rPr>
              <a:t>(</a:t>
            </a:r>
            <a:r>
              <a:rPr lang="en-US" altLang="en-US" sz="2000" dirty="0" err="1">
                <a:solidFill>
                  <a:srgbClr val="009999"/>
                </a:solidFill>
                <a:latin typeface="Tahoma" panose="020B0604030504040204" pitchFamily="34" charset="0"/>
              </a:rPr>
              <a:t>xpectation</a:t>
            </a:r>
            <a:r>
              <a:rPr lang="en-US" altLang="zh-CN" sz="2000" dirty="0">
                <a:solidFill>
                  <a:srgbClr val="009999"/>
                </a:solidFill>
                <a:latin typeface="Tahoma" panose="020B0604030504040204" pitchFamily="34" charset="0"/>
              </a:rPr>
              <a:t>)</a:t>
            </a:r>
            <a:r>
              <a:rPr lang="zh-CN" altLang="en-US" sz="2000" dirty="0">
                <a:solidFill>
                  <a:srgbClr val="009999"/>
                </a:solidFill>
                <a:latin typeface="Tahoma" panose="020B0604030504040204" pitchFamily="34" charset="0"/>
              </a:rPr>
              <a:t> </a:t>
            </a:r>
            <a:r>
              <a:rPr lang="en-US" altLang="zh-CN" sz="2000" dirty="0">
                <a:solidFill>
                  <a:srgbClr val="009999"/>
                </a:solidFill>
                <a:latin typeface="Tahoma" panose="020B0604030504040204" pitchFamily="34" charset="0"/>
              </a:rPr>
              <a:t>Step</a:t>
            </a:r>
            <a:endParaRPr lang="en-US" altLang="en-US" sz="2000" dirty="0">
              <a:solidFill>
                <a:srgbClr val="009999"/>
              </a:solidFill>
              <a:latin typeface="Tahoma" panose="020B0604030504040204" pitchFamily="34" charset="0"/>
            </a:endParaRPr>
          </a:p>
        </p:txBody>
      </p:sp>
      <p:sp>
        <p:nvSpPr>
          <p:cNvPr id="18" name="Text Box 10">
            <a:extLst>
              <a:ext uri="{FF2B5EF4-FFF2-40B4-BE49-F238E27FC236}">
                <a16:creationId xmlns="" xmlns:a16="http://schemas.microsoft.com/office/drawing/2014/main" id="{6F870880-B303-3A4F-AD71-68B46B23BE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29537" y="2999322"/>
            <a:ext cx="243368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solidFill>
                  <a:srgbClr val="009999"/>
                </a:solidFill>
                <a:latin typeface="Tahoma" panose="020B0604030504040204" pitchFamily="34" charset="0"/>
              </a:rPr>
              <a:t>M</a:t>
            </a:r>
            <a:r>
              <a:rPr lang="en-US" altLang="zh-CN" sz="2000" dirty="0">
                <a:solidFill>
                  <a:srgbClr val="009999"/>
                </a:solidFill>
                <a:latin typeface="Tahoma" panose="020B0604030504040204" pitchFamily="34" charset="0"/>
              </a:rPr>
              <a:t>(</a:t>
            </a:r>
            <a:r>
              <a:rPr lang="en-US" altLang="en-US" sz="2000" dirty="0" err="1">
                <a:solidFill>
                  <a:srgbClr val="009999"/>
                </a:solidFill>
                <a:latin typeface="Tahoma" panose="020B0604030504040204" pitchFamily="34" charset="0"/>
              </a:rPr>
              <a:t>aximization</a:t>
            </a:r>
            <a:r>
              <a:rPr lang="en-US" altLang="zh-CN" sz="2000" dirty="0">
                <a:solidFill>
                  <a:srgbClr val="009999"/>
                </a:solidFill>
                <a:latin typeface="Tahoma" panose="020B0604030504040204" pitchFamily="34" charset="0"/>
              </a:rPr>
              <a:t>)</a:t>
            </a:r>
            <a:r>
              <a:rPr lang="zh-CN" altLang="en-US" sz="2000" dirty="0">
                <a:solidFill>
                  <a:srgbClr val="009999"/>
                </a:solidFill>
                <a:latin typeface="Tahoma" panose="020B0604030504040204" pitchFamily="34" charset="0"/>
              </a:rPr>
              <a:t> </a:t>
            </a:r>
            <a:r>
              <a:rPr lang="en-US" altLang="zh-CN" sz="2000" dirty="0">
                <a:solidFill>
                  <a:srgbClr val="009999"/>
                </a:solidFill>
                <a:latin typeface="Tahoma" panose="020B0604030504040204" pitchFamily="34" charset="0"/>
              </a:rPr>
              <a:t>Step</a:t>
            </a:r>
            <a:endParaRPr lang="en-US" altLang="en-US" sz="2000" dirty="0">
              <a:solidFill>
                <a:srgbClr val="009999"/>
              </a:solidFill>
              <a:latin typeface="Tahoma" panose="020B0604030504040204" pitchFamily="34" charset="0"/>
            </a:endParaRPr>
          </a:p>
        </p:txBody>
      </p:sp>
      <p:sp>
        <p:nvSpPr>
          <p:cNvPr id="19" name="AutoShape 11">
            <a:extLst>
              <a:ext uri="{FF2B5EF4-FFF2-40B4-BE49-F238E27FC236}">
                <a16:creationId xmlns="" xmlns:a16="http://schemas.microsoft.com/office/drawing/2014/main" id="{92BD6C9E-C270-CF45-B045-A3775C9726B1}"/>
              </a:ext>
            </a:extLst>
          </p:cNvPr>
          <p:cNvSpPr>
            <a:spLocks noChangeArrowheads="1"/>
          </p:cNvSpPr>
          <p:nvPr/>
        </p:nvSpPr>
        <p:spPr bwMode="auto">
          <a:xfrm rot="19805028">
            <a:off x="5463043" y="2728461"/>
            <a:ext cx="457200" cy="228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9999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  <p:sp>
        <p:nvSpPr>
          <p:cNvPr id="20" name="AutoShape 12">
            <a:extLst>
              <a:ext uri="{FF2B5EF4-FFF2-40B4-BE49-F238E27FC236}">
                <a16:creationId xmlns="" xmlns:a16="http://schemas.microsoft.com/office/drawing/2014/main" id="{707C21F8-37BB-1846-AF32-08E110A0BE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9588" y="3690275"/>
            <a:ext cx="457200" cy="228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9999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  <p:sp>
        <p:nvSpPr>
          <p:cNvPr id="21" name="AutoShape 11">
            <a:extLst>
              <a:ext uri="{FF2B5EF4-FFF2-40B4-BE49-F238E27FC236}">
                <a16:creationId xmlns="" xmlns:a16="http://schemas.microsoft.com/office/drawing/2014/main" id="{BD111BA7-1AAB-3E47-94C9-9F3BFBBBB6DA}"/>
              </a:ext>
            </a:extLst>
          </p:cNvPr>
          <p:cNvSpPr>
            <a:spLocks noChangeArrowheads="1"/>
          </p:cNvSpPr>
          <p:nvPr/>
        </p:nvSpPr>
        <p:spPr bwMode="auto">
          <a:xfrm rot="20829598">
            <a:off x="5511313" y="1515862"/>
            <a:ext cx="457200" cy="228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9999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 Box 9">
                <a:extLst>
                  <a:ext uri="{FF2B5EF4-FFF2-40B4-BE49-F238E27FC236}">
                    <a16:creationId xmlns="" xmlns:a16="http://schemas.microsoft.com/office/drawing/2014/main" id="{EE486211-6F6F-314B-AFDD-109B3853555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140171" y="1014157"/>
                <a:ext cx="2300613" cy="7078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zh-CN" altLang="en-US" sz="2000" dirty="0">
                    <a:solidFill>
                      <a:srgbClr val="009999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初始化参数</a:t>
                </a:r>
                <a:endParaRPr lang="en-US" altLang="zh-CN" sz="2000" dirty="0">
                  <a:solidFill>
                    <a:srgbClr val="009999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{</m:t>
                      </m:r>
                      <m:sSub>
                        <m:sSubPr>
                          <m:ctrlPr>
                            <a:rPr lang="en-US" altLang="zh-CN" sz="2000" b="1" i="1" smtClean="0">
                              <a:solidFill>
                                <a:srgbClr val="C00000"/>
                              </a:solidFill>
                              <a:latin typeface="Cambria Math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𝝁</m:t>
                          </m:r>
                        </m:e>
                        <m:sub>
                          <m:r>
                            <a:rPr lang="en-US" altLang="zh-CN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sz="20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2000" b="1" i="1" smtClean="0">
                              <a:solidFill>
                                <a:srgbClr val="C00000"/>
                              </a:solidFill>
                              <a:latin typeface="Cambria Math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altLang="zh-CN" sz="20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𝜮</m:t>
                          </m:r>
                        </m:e>
                        <m:sub>
                          <m:r>
                            <a:rPr lang="en-US" altLang="zh-CN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2000" b="0" i="1" smtClean="0">
                              <a:solidFill>
                                <a:srgbClr val="C00000"/>
                              </a:solidFill>
                              <a:latin typeface="Cambria Math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altLang="zh-CN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altLang="en-US" sz="2000" dirty="0">
                  <a:solidFill>
                    <a:srgbClr val="C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2" name="Text Box 9">
                <a:extLst>
                  <a:ext uri="{FF2B5EF4-FFF2-40B4-BE49-F238E27FC236}">
                    <a16:creationId xmlns:a16="http://schemas.microsoft.com/office/drawing/2014/main" id="{EE486211-6F6F-314B-AFDD-109B385355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40171" y="1014157"/>
                <a:ext cx="2300613" cy="707886"/>
              </a:xfrm>
              <a:prstGeom prst="rect">
                <a:avLst/>
              </a:prstGeom>
              <a:blipFill>
                <a:blip r:embed="rId3"/>
                <a:stretch>
                  <a:fillRect l="-2186" t="-3509" b="-5263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3" name="Object 5">
            <a:extLst>
              <a:ext uri="{FF2B5EF4-FFF2-40B4-BE49-F238E27FC236}">
                <a16:creationId xmlns="" xmlns:a16="http://schemas.microsoft.com/office/drawing/2014/main" id="{807B03FC-FC00-344C-A5E2-92B4486C10E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73375" y="2920271"/>
          <a:ext cx="3665486" cy="6986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7" name="Equation" r:id="rId4" imgW="73431400" imgH="13462000" progId="Equation.3">
                  <p:embed/>
                </p:oleObj>
              </mc:Choice>
              <mc:Fallback>
                <p:oleObj name="Equation" r:id="rId4" imgW="73431400" imgH="13462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3375" y="2920271"/>
                        <a:ext cx="3665486" cy="6986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6">
            <a:extLst>
              <a:ext uri="{FF2B5EF4-FFF2-40B4-BE49-F238E27FC236}">
                <a16:creationId xmlns="" xmlns:a16="http://schemas.microsoft.com/office/drawing/2014/main" id="{BC5D3EC3-A2E8-4549-9F1A-F9F6DD8D6B42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834265" y="4054717"/>
          <a:ext cx="2439172" cy="671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8" name="Equation" r:id="rId6" imgW="55295800" imgH="15214600" progId="Equation.3">
                  <p:embed/>
                </p:oleObj>
              </mc:Choice>
              <mc:Fallback>
                <p:oleObj name="Equation" r:id="rId6" imgW="55295800" imgH="15214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4265" y="4054717"/>
                        <a:ext cx="2439172" cy="671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7">
            <a:extLst>
              <a:ext uri="{FF2B5EF4-FFF2-40B4-BE49-F238E27FC236}">
                <a16:creationId xmlns="" xmlns:a16="http://schemas.microsoft.com/office/drawing/2014/main" id="{CE868841-324E-7346-B044-778F3D669F34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315027" y="4054717"/>
          <a:ext cx="1355813" cy="671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9" name="Equation" r:id="rId8" imgW="30721300" imgH="15214600" progId="Equation.3">
                  <p:embed/>
                </p:oleObj>
              </mc:Choice>
              <mc:Fallback>
                <p:oleObj name="Equation" r:id="rId8" imgW="30721300" imgH="15214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5027" y="4054717"/>
                        <a:ext cx="1355813" cy="671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8">
            <a:extLst>
              <a:ext uri="{FF2B5EF4-FFF2-40B4-BE49-F238E27FC236}">
                <a16:creationId xmlns="" xmlns:a16="http://schemas.microsoft.com/office/drawing/2014/main" id="{E9679A05-2FD1-074C-BCE9-8EBD5A2FE1FD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4388150" y="4123233"/>
          <a:ext cx="1368725" cy="529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50" name="Equation" r:id="rId10" imgW="31013400" imgH="12001500" progId="Equation.3">
                  <p:embed/>
                </p:oleObj>
              </mc:Choice>
              <mc:Fallback>
                <p:oleObj name="Equation" r:id="rId10" imgW="31013400" imgH="12001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88150" y="4123233"/>
                        <a:ext cx="1368725" cy="529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="" xmlns:a16="http://schemas.microsoft.com/office/drawing/2014/main" id="{81E8304E-5495-5745-A0E5-774D1FFA844D}"/>
                  </a:ext>
                </a:extLst>
              </p:cNvPr>
              <p:cNvSpPr/>
              <p:nvPr/>
            </p:nvSpPr>
            <p:spPr>
              <a:xfrm>
                <a:off x="6140171" y="2204940"/>
                <a:ext cx="2277739" cy="65678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solidFill>
                              <a:srgbClr val="C00000"/>
                            </a:solidFill>
                            <a:latin typeface="Cambria Math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𝑖𝑘</m:t>
                        </m:r>
                      </m:sub>
                    </m:sSub>
                    <m:r>
                      <a:rPr lang="en-US" altLang="zh-CN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dirty="0">
                    <a:solidFill>
                      <a:srgbClr val="C00000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>
                            <a:solidFill>
                              <a:srgbClr val="C00000"/>
                            </a:solidFill>
                            <a:latin typeface="Cambria Math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i="1">
                                <a:solidFill>
                                  <a:srgbClr val="C00000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d>
                          <m:dPr>
                            <m:ctrlPr>
                              <a:rPr lang="en-US" altLang="zh-CN" i="1">
                                <a:solidFill>
                                  <a:srgbClr val="C00000"/>
                                </a:solidFill>
                                <a:latin typeface="Cambria Math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b="1" i="1">
                                    <a:solidFill>
                                      <a:srgbClr val="C00000"/>
                                    </a:solidFill>
                                    <a:latin typeface="Cambria Math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</m:e>
                              <m:sub>
                                <m:r>
                                  <a:rPr lang="en-US" altLang="zh-CN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US" altLang="zh-CN" i="1">
                                    <a:solidFill>
                                      <a:srgbClr val="C00000"/>
                                    </a:solidFill>
                                    <a:latin typeface="Cambria Math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𝝁</m:t>
                                </m:r>
                              </m:e>
                              <m:sub>
                                <m:r>
                                  <a:rPr lang="en-US" altLang="zh-CN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 lang="en-US" altLang="zh-CN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CN" i="1">
                                    <a:solidFill>
                                      <a:srgbClr val="C00000"/>
                                    </a:solidFill>
                                    <a:latin typeface="Cambria Math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l-GR" altLang="zh-CN" b="1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𝜮</m:t>
                                </m:r>
                              </m:e>
                              <m:sub>
                                <m:r>
                                  <a:rPr lang="en-US" altLang="zh-CN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</m:num>
                      <m:den>
                        <m:nary>
                          <m:naryPr>
                            <m:chr m:val="∑"/>
                            <m:supHide m:val="on"/>
                            <m:ctrlPr>
                              <a:rPr lang="en-US" altLang="zh-CN" i="1">
                                <a:solidFill>
                                  <a:srgbClr val="C00000"/>
                                </a:solidFill>
                                <a:latin typeface="Cambria Math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7"/>
                              </m:rPr>
                              <a:rPr lang="en-US" altLang="zh-CN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lang="en-US" altLang="zh-CN" i="1">
                                    <a:solidFill>
                                      <a:srgbClr val="C00000"/>
                                    </a:solidFill>
                                    <a:latin typeface="Cambria Math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  <m:sub>
                                <m:r>
                                  <a:rPr lang="en-US" altLang="zh-CN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en-US" altLang="zh-CN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  <m:d>
                              <m:dPr>
                                <m:ctrlPr>
                                  <a:rPr lang="en-US" altLang="zh-CN" i="1">
                                    <a:solidFill>
                                      <a:srgbClr val="C00000"/>
                                    </a:solidFill>
                                    <a:latin typeface="Cambria Math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b="1" i="1">
                                        <a:solidFill>
                                          <a:srgbClr val="C00000"/>
                                        </a:solidFill>
                                        <a:latin typeface="Cambria Math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𝐱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i="1">
                                        <a:solidFill>
                                          <a:srgbClr val="C00000"/>
                                        </a:solidFill>
                                        <a:latin typeface="Cambria Math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1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𝝁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US" altLang="zh-CN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zh-CN" i="1">
                                        <a:solidFill>
                                          <a:srgbClr val="C00000"/>
                                        </a:solidFill>
                                        <a:latin typeface="Cambria Math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l-GR" altLang="zh-CN" b="1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𝜮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e>
                            </m:d>
                          </m:e>
                        </m:nary>
                      </m:den>
                    </m:f>
                  </m:oMath>
                </a14:m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81E8304E-5495-5745-A0E5-774D1FFA844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0171" y="2204940"/>
                <a:ext cx="2277739" cy="656783"/>
              </a:xfrm>
              <a:prstGeom prst="rect">
                <a:avLst/>
              </a:prstGeom>
              <a:blipFill>
                <a:blip r:embed="rId12"/>
                <a:stretch>
                  <a:fillRect b="-65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="" xmlns:a16="http://schemas.microsoft.com/office/drawing/2014/main" id="{20377A41-E607-234C-859C-B62074E176B5}"/>
                  </a:ext>
                </a:extLst>
              </p:cNvPr>
              <p:cNvSpPr/>
              <p:nvPr/>
            </p:nvSpPr>
            <p:spPr>
              <a:xfrm>
                <a:off x="6135551" y="3399432"/>
                <a:ext cx="1837298" cy="47250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solidFill>
                              <a:srgbClr val="C00000"/>
                            </a:solidFill>
                            <a:latin typeface="Cambria Math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en-US" altLang="zh-CN" sz="1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sz="16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1600" i="1">
                            <a:solidFill>
                              <a:srgbClr val="C00000"/>
                            </a:solidFill>
                            <a:latin typeface="Cambria Math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altLang="zh-CN" sz="1600" i="1">
                                <a:solidFill>
                                  <a:srgbClr val="C00000"/>
                                </a:solidFill>
                                <a:latin typeface="Cambria Math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altLang="zh-CN" sz="16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den>
                    </m:f>
                    <m:nary>
                      <m:naryPr>
                        <m:chr m:val="∑"/>
                        <m:limLoc m:val="subSup"/>
                        <m:ctrlPr>
                          <a:rPr lang="en-US" altLang="zh-CN" sz="1600" i="1">
                            <a:solidFill>
                              <a:srgbClr val="C00000"/>
                            </a:solidFill>
                            <a:latin typeface="Cambria Math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altLang="zh-CN" sz="1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1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sz="1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sSub>
                          <m:sSubPr>
                            <m:ctrlPr>
                              <a:rPr lang="en-US" altLang="zh-CN" sz="1600" i="1">
                                <a:solidFill>
                                  <a:srgbClr val="C00000"/>
                                </a:solidFill>
                                <a:latin typeface="Cambria Math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𝛾</m:t>
                            </m:r>
                          </m:e>
                          <m:sub>
                            <m:r>
                              <a:rPr lang="en-US" altLang="zh-CN" sz="16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𝑖𝑘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altLang="zh-CN" sz="1600" b="1" dirty="0">
                    <a:solidFill>
                      <a:srgbClr val="C0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>
                            <a:solidFill>
                              <a:srgbClr val="C00000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b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en-US" altLang="zh-CN" sz="1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sz="16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20377A41-E607-234C-859C-B62074E176B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5551" y="3399432"/>
                <a:ext cx="1837298" cy="472502"/>
              </a:xfrm>
              <a:prstGeom prst="rect">
                <a:avLst/>
              </a:prstGeom>
              <a:blipFill>
                <a:blip r:embed="rId13"/>
                <a:stretch>
                  <a:fillRect t="-68421" b="-1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>
                <a:extLst>
                  <a:ext uri="{FF2B5EF4-FFF2-40B4-BE49-F238E27FC236}">
                    <a16:creationId xmlns="" xmlns:a16="http://schemas.microsoft.com/office/drawing/2014/main" id="{447DD5C5-1D83-C048-A838-FB1C8515BB0B}"/>
                  </a:ext>
                </a:extLst>
              </p:cNvPr>
              <p:cNvSpPr/>
              <p:nvPr/>
            </p:nvSpPr>
            <p:spPr>
              <a:xfrm>
                <a:off x="6063418" y="3814942"/>
                <a:ext cx="3126945" cy="54181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i="1" smtClean="0">
                              <a:solidFill>
                                <a:srgbClr val="C00000"/>
                              </a:solidFill>
                              <a:latin typeface="Cambria Math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altLang="zh-CN" sz="1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𝜮</m:t>
                          </m:r>
                        </m:e>
                        <m:sub>
                          <m:r>
                            <a:rPr lang="en-US" altLang="zh-CN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sz="1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400" b="0" i="1" smtClean="0">
                              <a:solidFill>
                                <a:srgbClr val="C00000"/>
                              </a:solidFill>
                              <a:latin typeface="Cambria Math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CN" sz="1400" b="0" i="1" smtClean="0">
                                  <a:solidFill>
                                    <a:srgbClr val="C00000"/>
                                  </a:solidFill>
                                  <a:latin typeface="Cambria Math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altLang="zh-CN" sz="1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den>
                      </m:f>
                      <m:nary>
                        <m:naryPr>
                          <m:chr m:val="∑"/>
                          <m:limLoc m:val="subSup"/>
                          <m:ctrlPr>
                            <a:rPr lang="en-US" altLang="zh-CN" sz="1400" b="0" i="1" smtClean="0">
                              <a:solidFill>
                                <a:srgbClr val="C00000"/>
                              </a:solidFill>
                              <a:latin typeface="Cambria Math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altLang="zh-CN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1400" b="0" i="1" smtClean="0">
                                  <a:solidFill>
                                    <a:srgbClr val="C00000"/>
                                  </a:solidFill>
                                  <a:latin typeface="Cambria Math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b>
                              <m:r>
                                <a:rPr lang="en-US" altLang="zh-CN" sz="1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𝑖𝑘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1400" b="0" i="1" smtClean="0">
                                  <a:solidFill>
                                    <a:srgbClr val="C00000"/>
                                  </a:solidFill>
                                  <a:latin typeface="Cambria Math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400" b="1" i="1">
                                      <a:solidFill>
                                        <a:srgbClr val="C00000"/>
                                      </a:solidFill>
                                      <a:latin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sz="1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sz="1400" i="1">
                                      <a:solidFill>
                                        <a:srgbClr val="C00000"/>
                                      </a:solidFill>
                                      <a:latin typeface="Cambria Math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𝝁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  <m:sSup>
                            <m:sSupPr>
                              <m:ctrlPr>
                                <a:rPr lang="en-US" altLang="zh-CN" sz="1400" b="0" i="1" smtClean="0">
                                  <a:solidFill>
                                    <a:srgbClr val="C00000"/>
                                  </a:solidFill>
                                  <a:latin typeface="Cambria Math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sz="1400" b="0" i="1" smtClean="0">
                                      <a:solidFill>
                                        <a:srgbClr val="C00000"/>
                                      </a:solidFill>
                                      <a:latin typeface="Cambria Math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1400" b="1" i="1">
                                          <a:solidFill>
                                            <a:srgbClr val="C00000"/>
                                          </a:solidFill>
                                          <a:latin typeface="Cambria Math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𝐱</m:t>
                                      </m:r>
                                    </m:e>
                                    <m:sub>
                                      <m:r>
                                        <a:rPr lang="en-US" altLang="zh-CN" sz="14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zh-CN" sz="1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zh-CN" sz="1400" i="1">
                                          <a:solidFill>
                                            <a:srgbClr val="C00000"/>
                                          </a:solidFill>
                                          <a:latin typeface="Cambria Math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𝝁</m:t>
                                      </m:r>
                                    </m:e>
                                    <m:sub>
                                      <m:r>
                                        <a:rPr lang="en-US" altLang="zh-CN" sz="14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altLang="zh-CN" sz="1400" b="0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1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447DD5C5-1D83-C048-A838-FB1C8515BB0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3418" y="3814942"/>
                <a:ext cx="3126945" cy="541815"/>
              </a:xfrm>
              <a:prstGeom prst="rect">
                <a:avLst/>
              </a:prstGeom>
              <a:blipFill>
                <a:blip r:embed="rId14"/>
                <a:stretch>
                  <a:fillRect t="-134884" b="-2069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>
                <a:extLst>
                  <a:ext uri="{FF2B5EF4-FFF2-40B4-BE49-F238E27FC236}">
                    <a16:creationId xmlns="" xmlns:a16="http://schemas.microsoft.com/office/drawing/2014/main" id="{C3C869B7-BEB4-3C4D-A527-A5584C037352}"/>
                  </a:ext>
                </a:extLst>
              </p:cNvPr>
              <p:cNvSpPr/>
              <p:nvPr/>
            </p:nvSpPr>
            <p:spPr>
              <a:xfrm>
                <a:off x="6124527" y="4343351"/>
                <a:ext cx="963021" cy="5517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i="1" smtClean="0">
                              <a:solidFill>
                                <a:srgbClr val="C00000"/>
                              </a:solidFill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altLang="zh-CN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sz="16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600" b="0" i="1" smtClean="0">
                              <a:solidFill>
                                <a:srgbClr val="C00000"/>
                              </a:solidFill>
                              <a:latin typeface="Cambria Math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1600" b="0" i="1" smtClean="0">
                                  <a:solidFill>
                                    <a:srgbClr val="C00000"/>
                                  </a:solidFill>
                                  <a:latin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num>
                        <m:den>
                          <m:r>
                            <a:rPr lang="en-US" altLang="zh-CN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</m:oMath>
                  </m:oMathPara>
                </a14:m>
                <a:endParaRPr lang="en-US" sz="16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C3C869B7-BEB4-3C4D-A527-A5584C03735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4527" y="4343351"/>
                <a:ext cx="963021" cy="551754"/>
              </a:xfrm>
              <a:prstGeom prst="rect">
                <a:avLst/>
              </a:prstGeom>
              <a:blipFill>
                <a:blip r:embed="rId15"/>
                <a:stretch>
                  <a:fillRect b="-2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00639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D02F430-7C57-3B46-8820-15831EF640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使用</a:t>
            </a:r>
            <a:r>
              <a:rPr lang="en-US" altLang="zh-CN" dirty="0"/>
              <a:t>EM</a:t>
            </a:r>
            <a:r>
              <a:rPr lang="zh-CN" altLang="en-US" dirty="0"/>
              <a:t>算法进行交替优化</a:t>
            </a:r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="" xmlns:a16="http://schemas.microsoft.com/office/drawing/2014/main" id="{11F486DE-79EF-434A-95A4-1CED3764B6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8956" y="819150"/>
            <a:ext cx="5666087" cy="3937000"/>
          </a:xfrm>
        </p:spPr>
      </p:pic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CA80D56-FD56-A646-B025-9B0A75F37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48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68974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0286005-A8A5-7848-B41B-7F4C4C860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K-Means</a:t>
            </a:r>
            <a:r>
              <a:rPr lang="zh-CN" altLang="en-US" dirty="0"/>
              <a:t>与</a:t>
            </a:r>
            <a:r>
              <a:rPr lang="en-US" altLang="zh-CN" dirty="0"/>
              <a:t>EM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4E0CE7A4-2A62-E548-B5E3-20ADA22E96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19149"/>
            <a:ext cx="8229600" cy="1045537"/>
          </a:xfrm>
        </p:spPr>
        <p:txBody>
          <a:bodyPr>
            <a:normAutofit lnSpcReduction="10000"/>
          </a:bodyPr>
          <a:lstStyle/>
          <a:p>
            <a:r>
              <a:rPr lang="en-US" dirty="0"/>
              <a:t>K</a:t>
            </a:r>
            <a:r>
              <a:rPr lang="en-US" altLang="zh-CN" dirty="0"/>
              <a:t>-Means</a:t>
            </a:r>
            <a:r>
              <a:rPr lang="zh-CN" altLang="en-US" dirty="0"/>
              <a:t>是</a:t>
            </a:r>
            <a:r>
              <a:rPr lang="en-US" altLang="zh-CN" dirty="0"/>
              <a:t>EM</a:t>
            </a:r>
            <a:r>
              <a:rPr lang="zh-CN" altLang="en-US" dirty="0"/>
              <a:t>的特殊情况</a:t>
            </a:r>
            <a:endParaRPr lang="en-US" altLang="zh-CN" dirty="0"/>
          </a:p>
          <a:p>
            <a:pPr lvl="1"/>
            <a:r>
              <a:rPr lang="zh-CN" altLang="en-US" dirty="0"/>
              <a:t>只考虑类簇的均值，而不考虑类簇方差</a:t>
            </a:r>
            <a:endParaRPr lang="en-US" altLang="zh-CN" dirty="0"/>
          </a:p>
          <a:p>
            <a:pPr lvl="1"/>
            <a:r>
              <a:rPr lang="zh-CN" altLang="en-US" dirty="0"/>
              <a:t>优化目标等价于极大似然估计</a:t>
            </a:r>
            <a:endParaRPr lang="en-US" altLang="zh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D62A60AA-C3FB-A449-8DFF-9CFFC4011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49</a:t>
            </a:fld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="" xmlns:a16="http://schemas.microsoft.com/office/drawing/2014/main" id="{04EF79FC-A913-4243-9562-49DBF20DD8A1}"/>
                  </a:ext>
                </a:extLst>
              </p:cNvPr>
              <p:cNvSpPr/>
              <p:nvPr/>
            </p:nvSpPr>
            <p:spPr>
              <a:xfrm>
                <a:off x="1302413" y="1921859"/>
                <a:ext cx="100636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altLang="zh-CN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𝜮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𝜖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𝑰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04EF79FC-A913-4243-9562-49DBF20DD8A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2413" y="1921859"/>
                <a:ext cx="1006366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="" xmlns:a16="http://schemas.microsoft.com/office/drawing/2014/main" id="{DA6B6813-740F-BF44-999C-497D07929A2B}"/>
                  </a:ext>
                </a:extLst>
              </p:cNvPr>
              <p:cNvSpPr/>
              <p:nvPr/>
            </p:nvSpPr>
            <p:spPr>
              <a:xfrm>
                <a:off x="1185852" y="2241950"/>
                <a:ext cx="5500928" cy="81964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𝑖𝑘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i="1">
                                  <a:latin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𝑁</m:t>
                          </m:r>
                          <m:d>
                            <m:dPr>
                              <m:ctrlPr>
                                <a:rPr lang="en-US" altLang="zh-CN" i="1">
                                  <a:latin typeface="Cambria Math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b="1" i="1">
                                      <a:latin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𝝁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l-GR" altLang="zh-CN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𝜮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zh-CN" i="1">
                                  <a:latin typeface="Cambria Math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d>
                                <m:dPr>
                                  <m:ctrlPr>
                                    <a:rPr lang="en-US" altLang="zh-CN" i="1">
                                      <a:latin typeface="Cambria Math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b="1" i="1">
                                          <a:latin typeface="Cambria Math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1">
                                          <a:latin typeface="Cambria Math" panose="02040503050406030204" pitchFamily="18" charset="0"/>
                                        </a:rPr>
                                        <m:t>𝐱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𝝁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l-GR" altLang="zh-CN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𝜮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i="1">
                                  <a:latin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func>
                            <m:funcPr>
                              <m:ctrlPr>
                                <a:rPr lang="zh-CN" altLang="en-US" b="0" i="1" smtClean="0">
                                  <a:latin typeface="Cambria Math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b="0" i="0" smtClean="0"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</m:fNam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{−</m:t>
                              </m:r>
                              <m:sSup>
                                <m:sSupPr>
                                  <m:ctrlPr>
                                    <a:rPr lang="en-US" altLang="zh-CN" b="0" i="1" smtClean="0">
                                      <a:latin typeface="Cambria Math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‖"/>
                                      <m:endChr m:val="‖"/>
                                      <m:ctrlPr>
                                        <a:rPr lang="en-US" altLang="zh-CN" b="0" i="1" smtClean="0">
                                          <a:latin typeface="Cambria Math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b="1" i="1">
                                              <a:latin typeface="Cambria Math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b="1">
                                              <a:latin typeface="Cambria Math" panose="02040503050406030204" pitchFamily="18" charset="0"/>
                                            </a:rPr>
                                            <m:t>𝐱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i="1">
                                              <a:latin typeface="Cambria Math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b="1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𝝁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/2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𝜖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}</m:t>
                              </m:r>
                            </m:e>
                          </m:func>
                        </m:num>
                        <m:den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zh-CN" i="1">
                                  <a:latin typeface="Cambria Math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func>
                                <m:funcPr>
                                  <m:ctrlPr>
                                    <a:rPr lang="zh-CN" altLang="en-US" i="1">
                                      <a:latin typeface="Cambria Math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CN">
                                      <a:latin typeface="Cambria Math" panose="02040503050406030204" pitchFamily="18" charset="0"/>
                                    </a:rPr>
                                    <m:t>exp</m:t>
                                  </m:r>
                                </m:fName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{−</m:t>
                                  </m:r>
                                  <m:sSup>
                                    <m:sSupPr>
                                      <m:ctrlPr>
                                        <a:rPr lang="en-US" altLang="zh-CN" i="1">
                                          <a:latin typeface="Cambria Math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begChr m:val="‖"/>
                                          <m:endChr m:val="‖"/>
                                          <m:ctrlPr>
                                            <a:rPr lang="en-US" altLang="zh-CN" i="1">
                                              <a:latin typeface="Cambria Math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b="1" i="1">
                                                  <a:latin typeface="Cambria Math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b="1">
                                                  <a:latin typeface="Cambria Math" panose="02040503050406030204" pitchFamily="18" charset="0"/>
                                                </a:rPr>
                                                <m:t>𝐱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altLang="zh-CN" i="1">
                                                  <a:latin typeface="Cambria Math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b="1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𝝁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/2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𝜖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}</m:t>
                                  </m:r>
                                </m:e>
                              </m:func>
                            </m:e>
                          </m:nary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DA6B6813-740F-BF44-999C-497D07929A2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5852" y="2241950"/>
                <a:ext cx="5500928" cy="819648"/>
              </a:xfrm>
              <a:prstGeom prst="rect">
                <a:avLst/>
              </a:prstGeom>
              <a:blipFill>
                <a:blip r:embed="rId3"/>
                <a:stretch>
                  <a:fillRect t="-9231" b="-70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="" xmlns:a16="http://schemas.microsoft.com/office/drawing/2014/main" id="{3625B73C-5922-D042-83C3-A5A9DF4EFE10}"/>
                  </a:ext>
                </a:extLst>
              </p:cNvPr>
              <p:cNvSpPr/>
              <p:nvPr/>
            </p:nvSpPr>
            <p:spPr>
              <a:xfrm>
                <a:off x="2649721" y="3061599"/>
                <a:ext cx="4439869" cy="81176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𝑖𝑘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US" altLang="zh-CN" i="1">
                              <a:latin typeface="Cambria Math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i="1">
                              <a:latin typeface="Cambria Math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i="1">
                          <a:latin typeface="Cambria Math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mr-IN" altLang="zh-CN" i="1">
                              <a:latin typeface="Cambria Math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mr-IN" altLang="zh-CN" i="1">
                                  <a:latin typeface="Cambria Math" charset="0"/>
                                </a:rPr>
                              </m:ctrlPr>
                            </m:eqArr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mr-IN" altLang="zh-CN" i="1">
                                      <a:latin typeface="Cambria Math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CN" i="1">
                                        <a:latin typeface="Cambria Math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>
                                        <a:latin typeface="Cambria Math" charset="0"/>
                                      </a:rPr>
                                      <m:t>if</m:t>
                                    </m:r>
                                    <m:r>
                                      <a:rPr lang="zh-CN" altLang="en-US" i="1">
                                        <a:latin typeface="Cambria Math" charset="0"/>
                                      </a:rPr>
                                      <m:t> </m:t>
                                    </m:r>
                                    <m:r>
                                      <a:rPr lang="en-US" altLang="zh-CN" i="1">
                                        <a:latin typeface="Cambria Math" charset="0"/>
                                      </a:rPr>
                                      <m:t>𝑘</m:t>
                                    </m:r>
                                    <m:r>
                                      <a:rPr lang="en-US" altLang="zh-CN" i="1">
                                        <a:latin typeface="Cambria Math" charset="0"/>
                                      </a:rPr>
                                      <m:t>=</m:t>
                                    </m:r>
                                    <m:func>
                                      <m:funcPr>
                                        <m:ctrlPr>
                                          <a:rPr lang="zh-CN" altLang="en-US" i="1">
                                            <a:latin typeface="Cambria Math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CN">
                                            <a:latin typeface="Cambria Math" charset="0"/>
                                          </a:rPr>
                                          <m:t>arg</m:t>
                                        </m:r>
                                      </m:fName>
                                      <m:e>
                                        <m:func>
                                          <m:funcPr>
                                            <m:ctrlPr>
                                              <a:rPr lang="zh-CN" altLang="en-US" i="1">
                                                <a:latin typeface="Cambria Math" charset="0"/>
                                              </a:rPr>
                                            </m:ctrlPr>
                                          </m:funcPr>
                                          <m:fName>
                                            <m:limLow>
                                              <m:limLowPr>
                                                <m:ctrlPr>
                                                  <a:rPr lang="en-US" altLang="zh-CN" i="1">
                                                    <a:latin typeface="Cambria Math" charset="0"/>
                                                  </a:rPr>
                                                </m:ctrlPr>
                                              </m:limLowPr>
                                              <m:e>
                                                <m:r>
                                                  <m:rPr>
                                                    <m:sty m:val="p"/>
                                                  </m:rPr>
                                                  <a:rPr lang="en-US" altLang="zh-CN">
                                                    <a:latin typeface="Cambria Math" charset="0"/>
                                                  </a:rPr>
                                                  <m:t>min</m:t>
                                                </m:r>
                                              </m:e>
                                              <m:lim>
                                                <m:r>
                                                  <a:rPr lang="en-US" altLang="zh-CN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𝑘</m:t>
                                                </m:r>
                                              </m:lim>
                                            </m:limLow>
                                          </m:fName>
                                          <m:e>
                                            <m:sSup>
                                              <m:sSupPr>
                                                <m:ctrlPr>
                                                  <a:rPr lang="en-US" altLang="zh-CN" i="1">
                                                    <a:latin typeface="Cambria Math" charset="0"/>
                                                  </a:rPr>
                                                </m:ctrlPr>
                                              </m:sSupPr>
                                              <m:e>
                                                <m:d>
                                                  <m:dPr>
                                                    <m:begChr m:val="‖"/>
                                                    <m:endChr m:val="‖"/>
                                                    <m:ctrlPr>
                                                      <a:rPr lang="mr-IN" altLang="zh-CN" i="1">
                                                        <a:latin typeface="Cambria Math" charset="0"/>
                                                      </a:rPr>
                                                    </m:ctrlPr>
                                                  </m:dPr>
                                                  <m:e>
                                                    <m:sSub>
                                                      <m:sSubPr>
                                                        <m:ctrlPr>
                                                          <a:rPr lang="en-US" altLang="zh-CN" b="1" i="1">
                                                            <a:latin typeface="Cambria Math" charset="0"/>
                                                          </a:rPr>
                                                        </m:ctrlPr>
                                                      </m:sSubPr>
                                                      <m:e>
                                                        <m:r>
                                                          <a:rPr lang="en-US" altLang="zh-CN" b="1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𝐱</m:t>
                                                        </m:r>
                                                      </m:e>
                                                      <m:sub>
                                                        <m:r>
                                                          <a:rPr lang="en-US" altLang="zh-CN" b="0" i="1" smtClean="0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𝑖</m:t>
                                                        </m:r>
                                                      </m:sub>
                                                    </m:sSub>
                                                    <m:r>
                                                      <a:rPr lang="en-US" altLang="zh-CN" i="1">
                                                        <a:latin typeface="Cambria Math" charset="0"/>
                                                      </a:rPr>
                                                      <m:t>−</m:t>
                                                    </m:r>
                                                    <m:sSub>
                                                      <m:sSubPr>
                                                        <m:ctrlPr>
                                                          <a:rPr lang="en-US" altLang="zh-CN" i="1">
                                                            <a:latin typeface="Cambria Math" charset="0"/>
                                                            <a:ea typeface="Cambria Math" charset="0"/>
                                                            <a:cs typeface="Cambria Math" charset="0"/>
                                                          </a:rPr>
                                                        </m:ctrlPr>
                                                      </m:sSubPr>
                                                      <m:e>
                                                        <m:r>
                                                          <a:rPr lang="en-US" altLang="zh-CN" b="1" i="1">
                                                            <a:latin typeface="Cambria Math" charset="0"/>
                                                            <a:ea typeface="Cambria Math" charset="0"/>
                                                            <a:cs typeface="Cambria Math" charset="0"/>
                                                          </a:rPr>
                                                          <m:t>𝝁</m:t>
                                                        </m:r>
                                                      </m:e>
                                                      <m:sub>
                                                        <m:r>
                                                          <a:rPr lang="en-US" altLang="zh-CN" i="1">
                                                            <a:latin typeface="Cambria Math" charset="0"/>
                                                            <a:ea typeface="Cambria Math" charset="0"/>
                                                            <a:cs typeface="Cambria Math" charset="0"/>
                                                          </a:rPr>
                                                          <m:t>𝑘</m:t>
                                                        </m:r>
                                                      </m:sub>
                                                    </m:sSub>
                                                  </m:e>
                                                </m:d>
                                              </m:e>
                                              <m:sup>
                                                <m:r>
                                                  <a:rPr lang="en-US" altLang="zh-CN" i="1">
                                                    <a:latin typeface="Cambria Math" charset="0"/>
                                                  </a:rPr>
                                                  <m:t>2</m:t>
                                                </m:r>
                                              </m:sup>
                                            </m:sSup>
                                          </m:e>
                                        </m:func>
                                      </m:e>
                                    </m:func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mr-IN" altLang="zh-CN" i="1">
                                      <a:latin typeface="Cambria Math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CN" i="1">
                                        <a:latin typeface="Cambria Math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>
                                        <a:latin typeface="Cambria Math" charset="0"/>
                                      </a:rPr>
                                      <m:t>otherwise</m:t>
                                    </m:r>
                                    <m:r>
                                      <a:rPr lang="zh-CN" altLang="en-US">
                                        <a:latin typeface="Cambria Math" charset="0"/>
                                      </a:rPr>
                                      <m:t>                              </m:t>
                                    </m:r>
                                  </m:e>
                                </m:mr>
                              </m:m>
                            </m:e>
                          </m:eqAr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3625B73C-5922-D042-83C3-A5A9DF4EFE1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9721" y="3061599"/>
                <a:ext cx="4439869" cy="811761"/>
              </a:xfrm>
              <a:prstGeom prst="rect">
                <a:avLst/>
              </a:prstGeom>
              <a:blipFill>
                <a:blip r:embed="rId4"/>
                <a:stretch>
                  <a:fillRect l="-571" t="-192308" b="-278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="" xmlns:a16="http://schemas.microsoft.com/office/drawing/2014/main" id="{953288BA-8998-8F47-9CBA-2AB743CB65FD}"/>
                  </a:ext>
                </a:extLst>
              </p:cNvPr>
              <p:cNvSpPr/>
              <p:nvPr/>
            </p:nvSpPr>
            <p:spPr>
              <a:xfrm>
                <a:off x="1302413" y="3282813"/>
                <a:ext cx="80272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𝜖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953288BA-8998-8F47-9CBA-2AB743CB65F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2413" y="3282813"/>
                <a:ext cx="802720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AutoShape 11">
            <a:extLst>
              <a:ext uri="{FF2B5EF4-FFF2-40B4-BE49-F238E27FC236}">
                <a16:creationId xmlns="" xmlns:a16="http://schemas.microsoft.com/office/drawing/2014/main" id="{5CBDD783-9B2D-2E40-8E7C-392F6DB0F8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2521" y="3353179"/>
            <a:ext cx="457200" cy="228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9999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="" xmlns:a16="http://schemas.microsoft.com/office/drawing/2014/main" id="{D6D6FE98-82CA-B349-AF86-5BAC6E1F1F82}"/>
                  </a:ext>
                </a:extLst>
              </p:cNvPr>
              <p:cNvSpPr/>
              <p:nvPr/>
            </p:nvSpPr>
            <p:spPr>
              <a:xfrm>
                <a:off x="2702869" y="4066278"/>
                <a:ext cx="4537717" cy="48346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i="1" smtClean="0">
                        <a:latin typeface="Cambria Math" panose="02040503050406030204" pitchFamily="18" charset="0"/>
                      </a:rPr>
                      <m:t>E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]→</m:t>
                    </m:r>
                  </m:oMath>
                </a14:m>
                <a:r>
                  <a:rPr lang="is-IS" altLang="zh-CN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nary>
                      <m:naryPr>
                        <m:chr m:val="∑"/>
                        <m:limLoc m:val="subSup"/>
                        <m:ctrlPr>
                          <a:rPr lang="is-IS" altLang="zh-CN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naryPr>
                      <m:sub>
                        <m:r>
                          <m:rPr>
                            <m:brk m:alnAt="1"/>
                          </m:rP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=1</m:t>
                        </m:r>
                      </m:sub>
                      <m:sup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𝑁</m:t>
                        </m:r>
                      </m:sup>
                      <m:e>
                        <m:nary>
                          <m:naryPr>
                            <m:chr m:val="∑"/>
                            <m:limLoc m:val="subSup"/>
                            <m:ctrlPr>
                              <a:rPr lang="is-IS" altLang="zh-CN" i="1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5"/>
                              </m:rP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  <m:t>𝑘</m:t>
                            </m:r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  <m:t>𝐾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altLang="zh-CN" i="1">
                                    <a:solidFill>
                                      <a:schemeClr val="tx1"/>
                                    </a:solidFill>
                                    <a:latin typeface="Cambria Math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solidFill>
                                      <a:schemeClr val="tx1"/>
                                    </a:solidFill>
                                    <a:latin typeface="Cambria Math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zh-CN" i="1">
                                    <a:solidFill>
                                      <a:schemeClr val="tx1"/>
                                    </a:solidFill>
                                    <a:latin typeface="Cambria Math" charset="0"/>
                                  </a:rPr>
                                  <m:t>𝑛𝑘</m:t>
                                </m:r>
                              </m:sub>
                            </m:sSub>
                            <m:sSup>
                              <m:sSupPr>
                                <m:ctrlPr>
                                  <a:rPr lang="en-US" altLang="zh-CN" i="1">
                                    <a:solidFill>
                                      <a:schemeClr val="tx1"/>
                                    </a:solidFill>
                                    <a:latin typeface="Cambria Math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begChr m:val="‖"/>
                                    <m:endChr m:val="‖"/>
                                    <m:ctrlPr>
                                      <a:rPr lang="mr-IN" altLang="zh-CN" i="1">
                                        <a:solidFill>
                                          <a:schemeClr val="tx1"/>
                                        </a:solidFill>
                                        <a:latin typeface="Cambria Math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CN" b="1" i="1">
                                            <a:solidFill>
                                              <a:schemeClr val="tx1"/>
                                            </a:solidFill>
                                            <a:latin typeface="Cambria Math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b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𝐱</m:t>
                                        </m:r>
                                      </m:e>
                                      <m:sub>
                                        <m:r>
                                          <a:rPr lang="en-US" altLang="zh-CN" i="1">
                                            <a:solidFill>
                                              <a:schemeClr val="tx1"/>
                                            </a:solidFill>
                                            <a:latin typeface="Cambria Math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  <m:r>
                                      <a:rPr lang="en-US" altLang="zh-CN" i="1">
                                        <a:solidFill>
                                          <a:schemeClr val="tx1"/>
                                        </a:solidFill>
                                        <a:latin typeface="Cambria Math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altLang="zh-CN" i="1">
                                            <a:solidFill>
                                              <a:schemeClr val="tx1"/>
                                            </a:solidFill>
                                            <a:latin typeface="Cambria Math" charset="0"/>
                                            <a:ea typeface="Cambria Math" charset="0"/>
                                            <a:cs typeface="Cambria Math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b="1" i="1">
                                            <a:solidFill>
                                              <a:schemeClr val="tx1"/>
                                            </a:solidFill>
                                            <a:latin typeface="Cambria Math" charset="0"/>
                                            <a:ea typeface="Cambria Math" charset="0"/>
                                            <a:cs typeface="Cambria Math" charset="0"/>
                                          </a:rPr>
                                          <m:t>𝝁</m:t>
                                        </m:r>
                                      </m:e>
                                      <m:sub>
                                        <m:r>
                                          <a:rPr lang="en-US" altLang="zh-CN" i="1">
                                            <a:solidFill>
                                              <a:schemeClr val="tx1"/>
                                            </a:solidFill>
                                            <a:latin typeface="Cambria Math" charset="0"/>
                                            <a:ea typeface="Cambria Math" charset="0"/>
                                            <a:cs typeface="Cambria Math" charset="0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en-US" altLang="zh-CN" i="1">
                                    <a:solidFill>
                                      <a:schemeClr val="tx1"/>
                                    </a:solidFill>
                                    <a:latin typeface="Cambria Math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US" altLang="zh-CN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const</m:t>
                            </m:r>
                          </m:e>
                        </m:nary>
                      </m:e>
                    </m:nary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D6D6FE98-82CA-B349-AF86-5BAC6E1F1F8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2869" y="4066278"/>
                <a:ext cx="4537717" cy="483466"/>
              </a:xfrm>
              <a:prstGeom prst="rect">
                <a:avLst/>
              </a:prstGeom>
              <a:blipFill>
                <a:blip r:embed="rId6"/>
                <a:stretch>
                  <a:fillRect t="-74359" b="-115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="" xmlns:a16="http://schemas.microsoft.com/office/drawing/2014/main" id="{9BBA03FB-3509-BC47-BF65-EC117540002C}"/>
                  </a:ext>
                </a:extLst>
              </p:cNvPr>
              <p:cNvSpPr/>
              <p:nvPr/>
            </p:nvSpPr>
            <p:spPr>
              <a:xfrm>
                <a:off x="1302413" y="4073844"/>
                <a:ext cx="80272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𝜖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9BBA03FB-3509-BC47-BF65-EC117540002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2413" y="4073844"/>
                <a:ext cx="802720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AutoShape 11">
            <a:extLst>
              <a:ext uri="{FF2B5EF4-FFF2-40B4-BE49-F238E27FC236}">
                <a16:creationId xmlns="" xmlns:a16="http://schemas.microsoft.com/office/drawing/2014/main" id="{8C84B18A-3CA0-8243-82A6-D78F18E3F5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3842" y="4144210"/>
            <a:ext cx="457200" cy="228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9999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2355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分类问题的基本步骤</a:t>
            </a:r>
            <a:endParaRPr lang="en-US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943812" y="918323"/>
            <a:ext cx="6020525" cy="5890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1913" indent="0" algn="ctr">
              <a:buFont typeface="Arial" pitchFamily="34" charset="0"/>
              <a:buNone/>
            </a:pPr>
            <a:r>
              <a:rPr lang="en-US" altLang="zh-CN" sz="1800" dirty="0"/>
              <a:t>Question</a:t>
            </a:r>
            <a:r>
              <a:rPr lang="zh-CN" altLang="en-US" sz="1800" dirty="0">
                <a:sym typeface="Wingdings"/>
              </a:rPr>
              <a:t></a:t>
            </a:r>
            <a:r>
              <a:rPr lang="en-US" altLang="zh-CN" sz="1800" dirty="0">
                <a:sym typeface="Wingdings"/>
              </a:rPr>
              <a:t>Data</a:t>
            </a:r>
            <a:r>
              <a:rPr lang="zh-CN" altLang="en-US" sz="1800" dirty="0">
                <a:sym typeface="Wingdings"/>
              </a:rPr>
              <a:t></a:t>
            </a:r>
            <a:r>
              <a:rPr lang="en-US" altLang="zh-CN" sz="1800" dirty="0">
                <a:sym typeface="Wingdings"/>
              </a:rPr>
              <a:t>Features</a:t>
            </a:r>
            <a:r>
              <a:rPr lang="zh-CN" altLang="en-US" sz="1800" dirty="0">
                <a:sym typeface="Wingdings"/>
              </a:rPr>
              <a:t></a:t>
            </a:r>
            <a:r>
              <a:rPr lang="en-US" altLang="zh-CN" sz="1800" dirty="0">
                <a:sym typeface="Wingdings"/>
              </a:rPr>
              <a:t>Algorithm</a:t>
            </a:r>
            <a:r>
              <a:rPr lang="zh-CN" altLang="en-US" sz="1800" dirty="0">
                <a:sym typeface="Wingdings"/>
              </a:rPr>
              <a:t></a:t>
            </a:r>
            <a:r>
              <a:rPr lang="en-US" altLang="zh-CN" sz="1800" b="1" dirty="0">
                <a:solidFill>
                  <a:srgbClr val="0000CC"/>
                </a:solidFill>
                <a:sym typeface="Wingdings"/>
              </a:rPr>
              <a:t>Evaluation</a:t>
            </a:r>
            <a:endParaRPr lang="en-US" sz="1800" b="1" dirty="0">
              <a:solidFill>
                <a:srgbClr val="0000CC"/>
              </a:solidFill>
            </a:endParaRPr>
          </a:p>
        </p:txBody>
      </p:sp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457200" y="1322364"/>
            <a:ext cx="8229600" cy="1171121"/>
          </a:xfrm>
        </p:spPr>
        <p:txBody>
          <a:bodyPr/>
          <a:lstStyle/>
          <a:p>
            <a:r>
              <a:rPr lang="zh-CN" altLang="en-US" dirty="0"/>
              <a:t>如何评价你分类器的优劣？</a:t>
            </a:r>
          </a:p>
          <a:p>
            <a:pPr lvl="1"/>
            <a:r>
              <a:rPr lang="zh-CN" altLang="en-US" dirty="0"/>
              <a:t>能否直接在训练集评测？</a:t>
            </a:r>
            <a:endParaRPr lang="en-US" altLang="zh-CN" dirty="0"/>
          </a:p>
          <a:p>
            <a:pPr lvl="1"/>
            <a:r>
              <a:rPr lang="en-US" altLang="zh-CN" dirty="0">
                <a:solidFill>
                  <a:srgbClr val="C00000"/>
                </a:solidFill>
              </a:rPr>
              <a:t>NO</a:t>
            </a:r>
            <a:r>
              <a:rPr lang="zh-CN" altLang="en-US" dirty="0">
                <a:solidFill>
                  <a:srgbClr val="C00000"/>
                </a:solidFill>
              </a:rPr>
              <a:t>！</a:t>
            </a:r>
            <a:endParaRPr lang="en-US" altLang="zh-CN" dirty="0">
              <a:solidFill>
                <a:srgbClr val="C00000"/>
              </a:solidFill>
            </a:endParaRPr>
          </a:p>
          <a:p>
            <a:pPr lvl="1"/>
            <a:endParaRPr lang="en-US" altLang="zh-CN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6714" y="2768292"/>
            <a:ext cx="3241415" cy="1913336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4285186" y="4458005"/>
            <a:ext cx="569388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STZhongsong" charset="-122"/>
                <a:ea typeface="STZhongsong" charset="-122"/>
                <a:cs typeface="STZhongsong" charset="-122"/>
              </a:rPr>
              <a:t>频率</a:t>
            </a:r>
            <a:endParaRPr lang="en-US" altLang="zh-CN" sz="1500" dirty="0">
              <a:solidFill>
                <a:schemeClr val="tx1">
                  <a:lumMod val="75000"/>
                  <a:lumOff val="25000"/>
                </a:schemeClr>
              </a:solidFill>
              <a:latin typeface="STZhongsong" charset="-122"/>
              <a:ea typeface="STZhongsong" charset="-122"/>
              <a:cs typeface="STZhongsong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1295726" y="2493485"/>
            <a:ext cx="569388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STZhongsong" charset="-122"/>
                <a:ea typeface="STZhongsong" charset="-122"/>
                <a:cs typeface="STZhongsong" charset="-122"/>
              </a:rPr>
              <a:t>数量</a:t>
            </a:r>
            <a:endParaRPr lang="en-US" altLang="zh-CN" sz="1500" dirty="0">
              <a:solidFill>
                <a:schemeClr val="tx1">
                  <a:lumMod val="75000"/>
                  <a:lumOff val="25000"/>
                </a:schemeClr>
              </a:solidFill>
              <a:latin typeface="STZhongsong" charset="-122"/>
              <a:ea typeface="STZhongsong" charset="-122"/>
              <a:cs typeface="STZhongsong" charset="-122"/>
            </a:endParaRPr>
          </a:p>
        </p:txBody>
      </p:sp>
      <p:cxnSp>
        <p:nvCxnSpPr>
          <p:cNvPr id="16" name="Straight Connector 15"/>
          <p:cNvCxnSpPr/>
          <p:nvPr/>
        </p:nvCxnSpPr>
        <p:spPr>
          <a:xfrm>
            <a:off x="3077626" y="2706905"/>
            <a:ext cx="0" cy="1806152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7" name="Table 16"/>
          <p:cNvGraphicFramePr>
            <a:graphicFrameLocks noGrp="1"/>
          </p:cNvGraphicFramePr>
          <p:nvPr>
            <p:extLst/>
          </p:nvPr>
        </p:nvGraphicFramePr>
        <p:xfrm>
          <a:off x="5346732" y="2902930"/>
          <a:ext cx="1836204" cy="9602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2068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612068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612068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320081"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 dirty="0"/>
                        <a:t>正例</a:t>
                      </a:r>
                      <a:endParaRPr lang="en-US" sz="15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 dirty="0"/>
                        <a:t>负例</a:t>
                      </a:r>
                      <a:endParaRPr lang="en-US" sz="15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20081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 dirty="0">
                          <a:solidFill>
                            <a:schemeClr val="bg1"/>
                          </a:solidFill>
                        </a:rPr>
                        <a:t>正例</a:t>
                      </a:r>
                      <a:endParaRPr 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dirty="0"/>
                        <a:t>12</a:t>
                      </a:r>
                      <a:endParaRPr lang="en-US" sz="1500" dirty="0"/>
                    </a:p>
                  </a:txBody>
                  <a:tcPr marL="68580" marR="68580" marT="34290" marB="3429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dirty="0"/>
                        <a:t>3</a:t>
                      </a:r>
                      <a:endParaRPr lang="en-US" sz="1500" dirty="0"/>
                    </a:p>
                  </a:txBody>
                  <a:tcPr marL="68580" marR="68580" marT="34290" marB="3429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20081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 dirty="0">
                          <a:solidFill>
                            <a:schemeClr val="bg1"/>
                          </a:solidFill>
                        </a:rPr>
                        <a:t>负例</a:t>
                      </a:r>
                      <a:endParaRPr 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dirty="0"/>
                        <a:t>3</a:t>
                      </a:r>
                      <a:endParaRPr lang="en-US" sz="1500" dirty="0"/>
                    </a:p>
                  </a:txBody>
                  <a:tcPr marL="68580" marR="68580" marT="34290" marB="3429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dirty="0"/>
                        <a:t>12</a:t>
                      </a:r>
                      <a:endParaRPr lang="en-US" sz="1500" dirty="0"/>
                    </a:p>
                  </a:txBody>
                  <a:tcPr marL="68580" marR="68580" marT="34290" marB="3429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8" name="Rectangle 17"/>
          <p:cNvSpPr/>
          <p:nvPr/>
        </p:nvSpPr>
        <p:spPr>
          <a:xfrm>
            <a:off x="5787780" y="2557935"/>
            <a:ext cx="954107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1500" dirty="0">
                <a:solidFill>
                  <a:srgbClr val="C00000"/>
                </a:solidFill>
                <a:latin typeface="STZhongsong" charset="-122"/>
                <a:ea typeface="STZhongsong" charset="-122"/>
                <a:cs typeface="STZhongsong" charset="-122"/>
              </a:rPr>
              <a:t>预测结果</a:t>
            </a:r>
            <a:endParaRPr lang="en-US" altLang="zh-CN" sz="1500" dirty="0">
              <a:solidFill>
                <a:srgbClr val="C00000"/>
              </a:solidFill>
              <a:latin typeface="STZhongsong" charset="-122"/>
              <a:ea typeface="STZhongsong" charset="-122"/>
              <a:cs typeface="STZhongsong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903917" y="2926692"/>
            <a:ext cx="377027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1500" dirty="0">
                <a:solidFill>
                  <a:srgbClr val="0000CC"/>
                </a:solidFill>
                <a:latin typeface="STZhongsong" charset="-122"/>
                <a:ea typeface="STZhongsong" charset="-122"/>
                <a:cs typeface="STZhongsong" charset="-122"/>
              </a:rPr>
              <a:t>标</a:t>
            </a:r>
            <a:endParaRPr lang="en-US" altLang="zh-CN" sz="1500" dirty="0">
              <a:solidFill>
                <a:srgbClr val="0000CC"/>
              </a:solidFill>
              <a:latin typeface="STZhongsong" charset="-122"/>
              <a:ea typeface="STZhongsong" charset="-122"/>
              <a:cs typeface="STZhongsong" charset="-122"/>
            </a:endParaRPr>
          </a:p>
          <a:p>
            <a:pPr algn="ctr"/>
            <a:r>
              <a:rPr lang="zh-CN" altLang="en-US" sz="1500" dirty="0">
                <a:solidFill>
                  <a:srgbClr val="0000CC"/>
                </a:solidFill>
                <a:latin typeface="STZhongsong" charset="-122"/>
                <a:ea typeface="STZhongsong" charset="-122"/>
                <a:cs typeface="STZhongsong" charset="-122"/>
              </a:rPr>
              <a:t>准</a:t>
            </a:r>
            <a:endParaRPr lang="en-US" altLang="zh-CN" sz="1500" dirty="0">
              <a:solidFill>
                <a:srgbClr val="0000CC"/>
              </a:solidFill>
              <a:latin typeface="STZhongsong" charset="-122"/>
              <a:ea typeface="STZhongsong" charset="-122"/>
              <a:cs typeface="STZhongsong" charset="-122"/>
            </a:endParaRPr>
          </a:p>
          <a:p>
            <a:pPr algn="ctr"/>
            <a:r>
              <a:rPr lang="zh-CN" altLang="en-US" sz="1500" dirty="0">
                <a:solidFill>
                  <a:srgbClr val="0000CC"/>
                </a:solidFill>
                <a:latin typeface="STZhongsong" charset="-122"/>
                <a:ea typeface="STZhongsong" charset="-122"/>
                <a:cs typeface="STZhongsong" charset="-122"/>
              </a:rPr>
              <a:t>答</a:t>
            </a:r>
            <a:endParaRPr lang="en-US" altLang="zh-CN" sz="1500" dirty="0">
              <a:solidFill>
                <a:srgbClr val="0000CC"/>
              </a:solidFill>
              <a:latin typeface="STZhongsong" charset="-122"/>
              <a:ea typeface="STZhongsong" charset="-122"/>
              <a:cs typeface="STZhongsong" charset="-122"/>
            </a:endParaRPr>
          </a:p>
          <a:p>
            <a:pPr algn="ctr"/>
            <a:r>
              <a:rPr lang="zh-CN" altLang="en-US" sz="1500" dirty="0">
                <a:solidFill>
                  <a:srgbClr val="0000CC"/>
                </a:solidFill>
                <a:latin typeface="STZhongsong" charset="-122"/>
                <a:ea typeface="STZhongsong" charset="-122"/>
                <a:cs typeface="STZhongsong" charset="-122"/>
              </a:rPr>
              <a:t>案</a:t>
            </a:r>
            <a:endParaRPr lang="en-US" altLang="zh-CN" sz="1500" dirty="0">
              <a:solidFill>
                <a:srgbClr val="0000CC"/>
              </a:solidFill>
              <a:latin typeface="STZhongsong" charset="-122"/>
              <a:ea typeface="STZhongsong" charset="-122"/>
              <a:cs typeface="STZhongsong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/>
              <p:cNvSpPr/>
              <p:nvPr/>
            </p:nvSpPr>
            <p:spPr>
              <a:xfrm>
                <a:off x="5079119" y="4027283"/>
                <a:ext cx="2097241" cy="48577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zh-CN" dirty="0">
                    <a:latin typeface="Calibri" charset="0"/>
                    <a:ea typeface="Calibri" charset="0"/>
                    <a:cs typeface="Calibri" charset="0"/>
                  </a:rPr>
                  <a:t>Accuracy=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mr-IN" altLang="zh-CN" i="1">
                            <a:latin typeface="Cambria Math" charset="0"/>
                            <a:ea typeface="Calibri" charset="0"/>
                            <a:cs typeface="Calibri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24</m:t>
                        </m:r>
                      </m:num>
                      <m:den>
                        <m:r>
                          <a:rPr lang="en-US" altLang="zh-CN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30</m:t>
                        </m:r>
                      </m:den>
                    </m:f>
                    <m:r>
                      <a:rPr lang="en-US" altLang="zh-CN" i="1">
                        <a:latin typeface="Cambria Math" charset="0"/>
                        <a:ea typeface="Calibri" charset="0"/>
                        <a:cs typeface="Calibri" charset="0"/>
                      </a:rPr>
                      <m:t>=80%</m:t>
                    </m:r>
                  </m:oMath>
                </a14:m>
                <a:endParaRPr lang="en-US" altLang="zh-CN" dirty="0">
                  <a:latin typeface="Calibri" charset="0"/>
                  <a:ea typeface="Calibri" charset="0"/>
                  <a:cs typeface="Calibri" charset="0"/>
                </a:endParaRPr>
              </a:p>
            </p:txBody>
          </p:sp>
        </mc:Choice>
        <mc:Fallback xmlns="">
          <p:sp>
            <p:nvSpPr>
              <p:cNvPr id="20" name="Rectangl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9119" y="4027283"/>
                <a:ext cx="2097241" cy="485774"/>
              </a:xfrm>
              <a:prstGeom prst="rect">
                <a:avLst/>
              </a:prstGeom>
              <a:blipFill rotWithShape="0">
                <a:blip r:embed="rId4"/>
                <a:stretch>
                  <a:fillRect l="-2035" b="-88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1236868" y="287197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10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264453" y="398260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solidFill>
                  <a:srgbClr val="FF0000"/>
                </a:solidFill>
              </a:rPr>
              <a:t>1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261553" y="3540294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solidFill>
                  <a:srgbClr val="FF0000"/>
                </a:solidFill>
              </a:rPr>
              <a:t>2</a:t>
            </a:r>
            <a:r>
              <a:rPr lang="zh-CN" altLang="en-US" dirty="0">
                <a:solidFill>
                  <a:srgbClr val="FF0000"/>
                </a:solidFill>
              </a:rPr>
              <a:t>   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125848" y="3232652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6</a:t>
            </a:r>
            <a:r>
              <a:rPr lang="zh-CN" altLang="en-US" dirty="0">
                <a:solidFill>
                  <a:srgbClr val="FF0000"/>
                </a:solidFill>
              </a:rPr>
              <a:t>   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103547" y="3772474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1</a:t>
            </a:r>
            <a:r>
              <a:rPr lang="zh-CN" altLang="en-US" dirty="0">
                <a:solidFill>
                  <a:srgbClr val="FF0000"/>
                </a:solidFill>
              </a:rPr>
              <a:t>   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751797" y="3355628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solidFill>
                  <a:srgbClr val="FF0000"/>
                </a:solidFill>
              </a:rPr>
              <a:t>5</a:t>
            </a:r>
            <a:r>
              <a:rPr lang="zh-CN" altLang="en-US" dirty="0">
                <a:solidFill>
                  <a:srgbClr val="FF0000"/>
                </a:solidFill>
              </a:rPr>
              <a:t>   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583028" y="3773794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1</a:t>
            </a:r>
            <a:r>
              <a:rPr lang="zh-CN" altLang="en-US" dirty="0">
                <a:solidFill>
                  <a:srgbClr val="FF0000"/>
                </a:solidFill>
              </a:rPr>
              <a:t>   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434490" y="3912270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solidFill>
                  <a:srgbClr val="FF0000"/>
                </a:solidFill>
              </a:rPr>
              <a:t>1</a:t>
            </a:r>
            <a:r>
              <a:rPr lang="zh-CN" altLang="en-US">
                <a:solidFill>
                  <a:srgbClr val="FF0000"/>
                </a:solidFill>
              </a:rPr>
              <a:t>   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50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6777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分类问题的基本步骤</a:t>
            </a:r>
            <a:endParaRPr lang="en-US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943812" y="918323"/>
            <a:ext cx="6020525" cy="5890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1913" indent="0" algn="ctr">
              <a:buFont typeface="Arial" pitchFamily="34" charset="0"/>
              <a:buNone/>
            </a:pPr>
            <a:r>
              <a:rPr lang="en-US" altLang="zh-CN" sz="1800" dirty="0"/>
              <a:t>Question</a:t>
            </a:r>
            <a:r>
              <a:rPr lang="zh-CN" altLang="en-US" sz="1800" dirty="0">
                <a:sym typeface="Wingdings"/>
              </a:rPr>
              <a:t></a:t>
            </a:r>
            <a:r>
              <a:rPr lang="en-US" altLang="zh-CN" sz="1800" dirty="0">
                <a:sym typeface="Wingdings"/>
              </a:rPr>
              <a:t>Data</a:t>
            </a:r>
            <a:r>
              <a:rPr lang="zh-CN" altLang="en-US" sz="1800" dirty="0">
                <a:sym typeface="Wingdings"/>
              </a:rPr>
              <a:t></a:t>
            </a:r>
            <a:r>
              <a:rPr lang="en-US" altLang="zh-CN" sz="1800" dirty="0">
                <a:sym typeface="Wingdings"/>
              </a:rPr>
              <a:t>Features</a:t>
            </a:r>
            <a:r>
              <a:rPr lang="zh-CN" altLang="en-US" sz="1800" dirty="0">
                <a:sym typeface="Wingdings"/>
              </a:rPr>
              <a:t></a:t>
            </a:r>
            <a:r>
              <a:rPr lang="en-US" altLang="zh-CN" sz="1800" dirty="0">
                <a:sym typeface="Wingdings"/>
              </a:rPr>
              <a:t>Algorithm</a:t>
            </a:r>
            <a:r>
              <a:rPr lang="zh-CN" altLang="en-US" sz="1800" dirty="0">
                <a:sym typeface="Wingdings"/>
              </a:rPr>
              <a:t></a:t>
            </a:r>
            <a:r>
              <a:rPr lang="en-US" altLang="zh-CN" sz="1800" b="1" dirty="0">
                <a:solidFill>
                  <a:srgbClr val="0000CC"/>
                </a:solidFill>
                <a:sym typeface="Wingdings"/>
              </a:rPr>
              <a:t>Evaluation</a:t>
            </a:r>
            <a:endParaRPr lang="en-US" sz="1800" b="1" dirty="0">
              <a:solidFill>
                <a:srgbClr val="0000CC"/>
              </a:solidFill>
            </a:endParaRPr>
          </a:p>
        </p:txBody>
      </p:sp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457200" y="1322364"/>
            <a:ext cx="8229600" cy="1171121"/>
          </a:xfrm>
        </p:spPr>
        <p:txBody>
          <a:bodyPr/>
          <a:lstStyle/>
          <a:p>
            <a:r>
              <a:rPr lang="zh-CN" altLang="en-US" dirty="0"/>
              <a:t>如何评价你分类器的优劣？</a:t>
            </a:r>
          </a:p>
          <a:p>
            <a:pPr lvl="1"/>
            <a:r>
              <a:rPr lang="zh-CN" altLang="en-US" dirty="0"/>
              <a:t>划分为训练集和测试集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rgbClr val="C00000"/>
                </a:solidFill>
              </a:rPr>
              <a:t>交叉验证：</a:t>
            </a:r>
            <a:r>
              <a:rPr lang="en-US" altLang="zh-CN" dirty="0">
                <a:solidFill>
                  <a:srgbClr val="C00000"/>
                </a:solidFill>
                <a:latin typeface="Calibri" charset="0"/>
                <a:ea typeface="Calibri" charset="0"/>
                <a:cs typeface="Calibri" charset="0"/>
              </a:rPr>
              <a:t>K-fold</a:t>
            </a:r>
            <a:r>
              <a:rPr lang="zh-CN" altLang="en-US" dirty="0">
                <a:solidFill>
                  <a:srgbClr val="C00000"/>
                </a:solidFill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altLang="zh-CN" dirty="0">
                <a:solidFill>
                  <a:srgbClr val="C00000"/>
                </a:solidFill>
                <a:latin typeface="Calibri" charset="0"/>
                <a:ea typeface="Calibri" charset="0"/>
                <a:cs typeface="Calibri" charset="0"/>
              </a:rPr>
              <a:t>cross</a:t>
            </a:r>
            <a:r>
              <a:rPr lang="zh-CN" altLang="en-US" dirty="0">
                <a:solidFill>
                  <a:srgbClr val="C00000"/>
                </a:solidFill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altLang="zh-CN" dirty="0">
                <a:solidFill>
                  <a:srgbClr val="C00000"/>
                </a:solidFill>
                <a:latin typeface="Calibri" charset="0"/>
                <a:ea typeface="Calibri" charset="0"/>
                <a:cs typeface="Calibri" charset="0"/>
              </a:rPr>
              <a:t>validation</a:t>
            </a:r>
          </a:p>
          <a:p>
            <a:pPr lvl="1"/>
            <a:endParaRPr lang="en-US" altLang="zh-CN" dirty="0"/>
          </a:p>
        </p:txBody>
      </p:sp>
      <p:sp>
        <p:nvSpPr>
          <p:cNvPr id="22" name="Can 21"/>
          <p:cNvSpPr/>
          <p:nvPr/>
        </p:nvSpPr>
        <p:spPr>
          <a:xfrm>
            <a:off x="6345233" y="1939355"/>
            <a:ext cx="1019268" cy="702078"/>
          </a:xfrm>
          <a:prstGeom prst="ca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3" name="Rectangle 22"/>
          <p:cNvSpPr/>
          <p:nvPr/>
        </p:nvSpPr>
        <p:spPr>
          <a:xfrm>
            <a:off x="4703467" y="3803956"/>
            <a:ext cx="1915910" cy="6001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dirty="0">
                <a:solidFill>
                  <a:srgbClr val="0000CC"/>
                </a:solidFill>
                <a:latin typeface="STZhongsong" charset="-122"/>
                <a:ea typeface="STZhongsong" charset="-122"/>
                <a:cs typeface="STZhongsong" charset="-122"/>
              </a:rPr>
              <a:t>训练集</a:t>
            </a:r>
            <a:endParaRPr lang="en-US" altLang="zh-CN" dirty="0">
              <a:solidFill>
                <a:srgbClr val="0000CC"/>
              </a:solidFill>
              <a:latin typeface="STZhongsong" charset="-122"/>
              <a:ea typeface="STZhongsong" charset="-122"/>
              <a:cs typeface="STZhongsong" charset="-122"/>
            </a:endParaRPr>
          </a:p>
          <a:p>
            <a:pPr algn="ctr"/>
            <a:r>
              <a:rPr lang="zh-CN" altLang="en-US" sz="1500" dirty="0">
                <a:solidFill>
                  <a:srgbClr val="0000CC"/>
                </a:solidFill>
                <a:latin typeface="STZhongsong" charset="-122"/>
                <a:ea typeface="STZhongsong" charset="-122"/>
                <a:cs typeface="STZhongsong" charset="-122"/>
              </a:rPr>
              <a:t>使用训练集训练模型</a:t>
            </a:r>
            <a:endParaRPr lang="en-US" altLang="zh-CN" sz="1500" dirty="0">
              <a:solidFill>
                <a:srgbClr val="0000CC"/>
              </a:solidFill>
              <a:latin typeface="STZhongsong" charset="-122"/>
              <a:ea typeface="STZhongsong" charset="-122"/>
              <a:cs typeface="STZhongsong" charset="-122"/>
            </a:endParaRPr>
          </a:p>
        </p:txBody>
      </p:sp>
      <p:sp>
        <p:nvSpPr>
          <p:cNvPr id="24" name="Can 23"/>
          <p:cNvSpPr/>
          <p:nvPr/>
        </p:nvSpPr>
        <p:spPr>
          <a:xfrm>
            <a:off x="5147187" y="3056337"/>
            <a:ext cx="1019268" cy="702078"/>
          </a:xfrm>
          <a:prstGeom prst="can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5" name="Can 24"/>
          <p:cNvSpPr/>
          <p:nvPr/>
        </p:nvSpPr>
        <p:spPr>
          <a:xfrm>
            <a:off x="7594795" y="3056337"/>
            <a:ext cx="1019268" cy="702078"/>
          </a:xfrm>
          <a:prstGeom prst="can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6" name="Down Arrow 25"/>
          <p:cNvSpPr/>
          <p:nvPr/>
        </p:nvSpPr>
        <p:spPr>
          <a:xfrm rot="2262854">
            <a:off x="5928638" y="2580630"/>
            <a:ext cx="270030" cy="44794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7" name="Rectangle 26"/>
          <p:cNvSpPr/>
          <p:nvPr/>
        </p:nvSpPr>
        <p:spPr>
          <a:xfrm>
            <a:off x="7418820" y="2115643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STZhongsong" charset="-122"/>
                <a:ea typeface="STZhongsong" charset="-122"/>
                <a:cs typeface="STZhongsong" charset="-122"/>
              </a:rPr>
              <a:t>数据集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STZhongsong" charset="-122"/>
              <a:ea typeface="STZhongsong" charset="-122"/>
              <a:cs typeface="STZhongsong" charset="-122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7146476" y="3790208"/>
            <a:ext cx="1915910" cy="6001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dirty="0">
                <a:solidFill>
                  <a:schemeClr val="accent2"/>
                </a:solidFill>
                <a:latin typeface="STZhongsong" charset="-122"/>
                <a:ea typeface="STZhongsong" charset="-122"/>
                <a:cs typeface="STZhongsong" charset="-122"/>
              </a:rPr>
              <a:t>测试集</a:t>
            </a:r>
            <a:endParaRPr lang="en-US" altLang="zh-CN" dirty="0">
              <a:solidFill>
                <a:schemeClr val="accent2"/>
              </a:solidFill>
              <a:latin typeface="STZhongsong" charset="-122"/>
              <a:ea typeface="STZhongsong" charset="-122"/>
              <a:cs typeface="STZhongsong" charset="-122"/>
            </a:endParaRPr>
          </a:p>
          <a:p>
            <a:pPr algn="ctr"/>
            <a:r>
              <a:rPr lang="zh-CN" altLang="en-US" sz="1500" dirty="0">
                <a:solidFill>
                  <a:schemeClr val="accent2"/>
                </a:solidFill>
                <a:latin typeface="STZhongsong" charset="-122"/>
                <a:ea typeface="STZhongsong" charset="-122"/>
                <a:cs typeface="STZhongsong" charset="-122"/>
              </a:rPr>
              <a:t>使用测试集评测模型</a:t>
            </a:r>
            <a:endParaRPr lang="en-US" altLang="zh-CN" sz="1500" dirty="0">
              <a:solidFill>
                <a:schemeClr val="accent2"/>
              </a:solidFill>
              <a:latin typeface="STZhongsong" charset="-122"/>
              <a:ea typeface="STZhongsong" charset="-122"/>
              <a:cs typeface="STZhongsong" charset="-122"/>
            </a:endParaRPr>
          </a:p>
        </p:txBody>
      </p:sp>
      <p:sp>
        <p:nvSpPr>
          <p:cNvPr id="29" name="Down Arrow 28"/>
          <p:cNvSpPr/>
          <p:nvPr/>
        </p:nvSpPr>
        <p:spPr>
          <a:xfrm rot="19584083">
            <a:off x="7520186" y="2594164"/>
            <a:ext cx="270030" cy="44794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26" y="2641433"/>
            <a:ext cx="4880686" cy="1347158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51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87839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精度（误差）的评测效果总是好吗？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19150"/>
            <a:ext cx="8229600" cy="431140"/>
          </a:xfrm>
        </p:spPr>
        <p:txBody>
          <a:bodyPr/>
          <a:lstStyle/>
          <a:p>
            <a:r>
              <a:rPr lang="zh-CN" altLang="en-US" dirty="0"/>
              <a:t>使用测试集评测分类算法，结果如下：</a:t>
            </a:r>
            <a:endParaRPr lang="en-US" altLang="zh-CN" dirty="0"/>
          </a:p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288302" y="1850955"/>
          <a:ext cx="1836204" cy="9602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2068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612068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612068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320081"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 dirty="0"/>
                        <a:t>正例</a:t>
                      </a:r>
                      <a:endParaRPr lang="en-US" sz="15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 dirty="0"/>
                        <a:t>负例</a:t>
                      </a:r>
                      <a:endParaRPr lang="en-US" sz="15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20081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 dirty="0">
                          <a:solidFill>
                            <a:schemeClr val="bg1"/>
                          </a:solidFill>
                        </a:rPr>
                        <a:t>正例</a:t>
                      </a:r>
                      <a:endParaRPr 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dirty="0"/>
                        <a:t>8</a:t>
                      </a:r>
                      <a:endParaRPr lang="en-US" sz="1500" dirty="0"/>
                    </a:p>
                  </a:txBody>
                  <a:tcPr marL="68580" marR="68580" marT="34290" marB="3429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dirty="0"/>
                        <a:t>12</a:t>
                      </a:r>
                      <a:endParaRPr lang="en-US" sz="1500" dirty="0"/>
                    </a:p>
                  </a:txBody>
                  <a:tcPr marL="68580" marR="68580" marT="34290" marB="3429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20081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 dirty="0">
                          <a:solidFill>
                            <a:schemeClr val="bg1"/>
                          </a:solidFill>
                        </a:rPr>
                        <a:t>负例</a:t>
                      </a:r>
                      <a:endParaRPr 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dirty="0"/>
                        <a:t>8</a:t>
                      </a:r>
                      <a:endParaRPr lang="en-US" sz="1500" dirty="0"/>
                    </a:p>
                  </a:txBody>
                  <a:tcPr marL="68580" marR="68580" marT="34290" marB="3429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dirty="0"/>
                        <a:t>72</a:t>
                      </a:r>
                      <a:endParaRPr lang="en-US" sz="1500" dirty="0"/>
                    </a:p>
                  </a:txBody>
                  <a:tcPr marL="68580" marR="68580" marT="34290" marB="3429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1729350" y="1505960"/>
            <a:ext cx="954107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1500" dirty="0">
                <a:solidFill>
                  <a:srgbClr val="C00000"/>
                </a:solidFill>
                <a:latin typeface="STZhongsong" charset="-122"/>
                <a:ea typeface="STZhongsong" charset="-122"/>
                <a:cs typeface="STZhongsong" charset="-122"/>
              </a:rPr>
              <a:t>预测结果</a:t>
            </a:r>
            <a:endParaRPr lang="en-US" altLang="zh-CN" sz="1500" dirty="0">
              <a:solidFill>
                <a:srgbClr val="C00000"/>
              </a:solidFill>
              <a:latin typeface="STZhongsong" charset="-122"/>
              <a:ea typeface="STZhongsong" charset="-122"/>
              <a:cs typeface="STZhongsong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45487" y="1874718"/>
            <a:ext cx="377027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1500" dirty="0">
                <a:solidFill>
                  <a:srgbClr val="0000CC"/>
                </a:solidFill>
                <a:latin typeface="STZhongsong" charset="-122"/>
                <a:ea typeface="STZhongsong" charset="-122"/>
                <a:cs typeface="STZhongsong" charset="-122"/>
              </a:rPr>
              <a:t>标</a:t>
            </a:r>
            <a:endParaRPr lang="en-US" altLang="zh-CN" sz="1500" dirty="0">
              <a:solidFill>
                <a:srgbClr val="0000CC"/>
              </a:solidFill>
              <a:latin typeface="STZhongsong" charset="-122"/>
              <a:ea typeface="STZhongsong" charset="-122"/>
              <a:cs typeface="STZhongsong" charset="-122"/>
            </a:endParaRPr>
          </a:p>
          <a:p>
            <a:pPr algn="ctr"/>
            <a:r>
              <a:rPr lang="zh-CN" altLang="en-US" sz="1500" dirty="0">
                <a:solidFill>
                  <a:srgbClr val="0000CC"/>
                </a:solidFill>
                <a:latin typeface="STZhongsong" charset="-122"/>
                <a:ea typeface="STZhongsong" charset="-122"/>
                <a:cs typeface="STZhongsong" charset="-122"/>
              </a:rPr>
              <a:t>准</a:t>
            </a:r>
            <a:endParaRPr lang="en-US" altLang="zh-CN" sz="1500" dirty="0">
              <a:solidFill>
                <a:srgbClr val="0000CC"/>
              </a:solidFill>
              <a:latin typeface="STZhongsong" charset="-122"/>
              <a:ea typeface="STZhongsong" charset="-122"/>
              <a:cs typeface="STZhongsong" charset="-122"/>
            </a:endParaRPr>
          </a:p>
          <a:p>
            <a:pPr algn="ctr"/>
            <a:r>
              <a:rPr lang="zh-CN" altLang="en-US" sz="1500" dirty="0">
                <a:solidFill>
                  <a:srgbClr val="0000CC"/>
                </a:solidFill>
                <a:latin typeface="STZhongsong" charset="-122"/>
                <a:ea typeface="STZhongsong" charset="-122"/>
                <a:cs typeface="STZhongsong" charset="-122"/>
              </a:rPr>
              <a:t>答</a:t>
            </a:r>
            <a:endParaRPr lang="en-US" altLang="zh-CN" sz="1500" dirty="0">
              <a:solidFill>
                <a:srgbClr val="0000CC"/>
              </a:solidFill>
              <a:latin typeface="STZhongsong" charset="-122"/>
              <a:ea typeface="STZhongsong" charset="-122"/>
              <a:cs typeface="STZhongsong" charset="-122"/>
            </a:endParaRPr>
          </a:p>
          <a:p>
            <a:pPr algn="ctr"/>
            <a:r>
              <a:rPr lang="zh-CN" altLang="en-US" sz="1500" dirty="0">
                <a:solidFill>
                  <a:srgbClr val="0000CC"/>
                </a:solidFill>
                <a:latin typeface="STZhongsong" charset="-122"/>
                <a:ea typeface="STZhongsong" charset="-122"/>
                <a:cs typeface="STZhongsong" charset="-122"/>
              </a:rPr>
              <a:t>案</a:t>
            </a:r>
            <a:endParaRPr lang="en-US" altLang="zh-CN" sz="1500" dirty="0">
              <a:solidFill>
                <a:srgbClr val="0000CC"/>
              </a:solidFill>
              <a:latin typeface="STZhongsong" charset="-122"/>
              <a:ea typeface="STZhongsong" charset="-122"/>
              <a:cs typeface="STZhongsong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1008897" y="2972685"/>
                <a:ext cx="2195024" cy="48577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zh-CN" dirty="0">
                    <a:latin typeface="Calibri" charset="0"/>
                    <a:ea typeface="Calibri" charset="0"/>
                    <a:cs typeface="Calibri" charset="0"/>
                  </a:rPr>
                  <a:t>Accuracy=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mr-IN" altLang="zh-CN" i="1">
                            <a:latin typeface="Cambria Math" charset="0"/>
                            <a:ea typeface="Calibri" charset="0"/>
                            <a:cs typeface="Calibri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80</m:t>
                        </m:r>
                      </m:num>
                      <m:den>
                        <m:r>
                          <a:rPr lang="en-US" altLang="zh-CN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100</m:t>
                        </m:r>
                      </m:den>
                    </m:f>
                    <m:r>
                      <a:rPr lang="en-US" altLang="zh-CN" i="1">
                        <a:latin typeface="Cambria Math" charset="0"/>
                        <a:ea typeface="Calibri" charset="0"/>
                        <a:cs typeface="Calibri" charset="0"/>
                      </a:rPr>
                      <m:t>=80%</m:t>
                    </m:r>
                  </m:oMath>
                </a14:m>
                <a:endParaRPr lang="en-US" altLang="zh-CN" dirty="0">
                  <a:latin typeface="Calibri" charset="0"/>
                  <a:ea typeface="Calibri" charset="0"/>
                  <a:cs typeface="Calibri" charset="0"/>
                </a:endParaRP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8897" y="2972685"/>
                <a:ext cx="2195024" cy="485774"/>
              </a:xfrm>
              <a:prstGeom prst="rect">
                <a:avLst/>
              </a:prstGeom>
              <a:blipFill rotWithShape="0">
                <a:blip r:embed="rId3"/>
                <a:stretch>
                  <a:fillRect l="-2222" b="-88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图片 6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90488" y="3558188"/>
            <a:ext cx="524822" cy="5291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518122" y="3558188"/>
            <a:ext cx="1723550" cy="7848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lnSpc>
                <a:spcPct val="150000"/>
              </a:lnSpc>
            </a:pPr>
            <a:r>
              <a:rPr lang="zh-CN" altLang="en-US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STZhongsong" charset="-122"/>
                <a:ea typeface="STZhongsong" charset="-122"/>
                <a:cs typeface="STZhongsong" charset="-122"/>
              </a:rPr>
              <a:t>看指标很不错</a:t>
            </a:r>
            <a:endParaRPr lang="en-US" altLang="zh-CN" sz="1500" dirty="0">
              <a:solidFill>
                <a:schemeClr val="tx1">
                  <a:lumMod val="75000"/>
                  <a:lumOff val="25000"/>
                </a:schemeClr>
              </a:solidFill>
              <a:latin typeface="STZhongsong" charset="-122"/>
              <a:ea typeface="STZhongsong" charset="-122"/>
              <a:cs typeface="STZhongsong" charset="-122"/>
            </a:endParaRPr>
          </a:p>
          <a:p>
            <a:pPr algn="r">
              <a:lnSpc>
                <a:spcPct val="150000"/>
              </a:lnSpc>
            </a:pPr>
            <a:r>
              <a:rPr lang="zh-CN" altLang="en-US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STZhongsong" charset="-122"/>
                <a:ea typeface="STZhongsong" charset="-122"/>
                <a:cs typeface="STZhongsong" charset="-122"/>
              </a:rPr>
              <a:t>但总感觉哪里不对</a:t>
            </a:r>
            <a:endParaRPr lang="en-US" altLang="zh-CN" sz="1500" dirty="0">
              <a:solidFill>
                <a:schemeClr val="tx1">
                  <a:lumMod val="75000"/>
                  <a:lumOff val="25000"/>
                </a:schemeClr>
              </a:solidFill>
              <a:latin typeface="STZhongsong" charset="-122"/>
              <a:ea typeface="STZhongsong" charset="-122"/>
              <a:cs typeface="STZhongsong" charset="-122"/>
            </a:endParaRPr>
          </a:p>
        </p:txBody>
      </p:sp>
      <p:sp>
        <p:nvSpPr>
          <p:cNvPr id="10" name="Content Placeholder 2"/>
          <p:cNvSpPr txBox="1">
            <a:spLocks/>
          </p:cNvSpPr>
          <p:nvPr/>
        </p:nvSpPr>
        <p:spPr bwMode="auto">
          <a:xfrm>
            <a:off x="4035023" y="1374895"/>
            <a:ext cx="3320919" cy="18892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365125" indent="-282575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charset="2"/>
              <a:buChar char=""/>
              <a:defRPr sz="2800" kern="1200">
                <a:solidFill>
                  <a:schemeClr val="tx1"/>
                </a:solidFill>
                <a:latin typeface="+mn-lt"/>
                <a:ea typeface="+mn-ea"/>
                <a:cs typeface="华文中宋" charset="-122"/>
              </a:defRPr>
            </a:lvl1pPr>
            <a:lvl2pPr marL="639763" indent="-236538" algn="l" rtl="0" eaLnBrk="0" fontAlgn="base" hangingPunct="0">
              <a:spcBef>
                <a:spcPts val="550"/>
              </a:spcBef>
              <a:spcAft>
                <a:spcPct val="0"/>
              </a:spcAft>
              <a:buClr>
                <a:schemeClr val="accent1"/>
              </a:buClr>
              <a:buFont typeface="Verdana" charset="0"/>
              <a:buChar char="◦"/>
              <a:defRPr sz="2400" kern="1200">
                <a:solidFill>
                  <a:srgbClr val="0000CC"/>
                </a:solidFill>
                <a:latin typeface="+mn-lt"/>
                <a:ea typeface="+mn-ea"/>
                <a:cs typeface="华文中宋" charset="-122"/>
              </a:defRPr>
            </a:lvl2pPr>
            <a:lvl3pPr marL="88582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 2" charset="2"/>
              <a:buChar char=""/>
              <a:defRPr sz="2400" kern="1200">
                <a:solidFill>
                  <a:schemeClr val="tx1"/>
                </a:solidFill>
                <a:latin typeface="+mn-lt"/>
                <a:ea typeface="+mn-ea"/>
                <a:cs typeface="华文中宋" charset="-122"/>
              </a:defRPr>
            </a:lvl3pPr>
            <a:lvl4pPr marL="1096963" indent="-1730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BBB59"/>
              </a:buClr>
              <a:buFont typeface="Wingdings 2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华文中宋" charset="-122"/>
              </a:defRPr>
            </a:lvl4pPr>
            <a:lvl5pPr marL="1296988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Font typeface="Wingdings 2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华文中宋" charset="-122"/>
              </a:defRPr>
            </a:lvl5pPr>
            <a:lvl6pPr marL="150876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19072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024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30552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r>
              <a:rPr lang="zh-CN" altLang="en-US" sz="1800" dirty="0"/>
              <a:t>几个关键概念</a:t>
            </a:r>
            <a:endParaRPr lang="en-US" altLang="zh-CN" sz="1800" dirty="0"/>
          </a:p>
          <a:p>
            <a:pPr lvl="1"/>
            <a:r>
              <a:rPr lang="en-US" altLang="zh-CN" sz="1350" dirty="0"/>
              <a:t>True</a:t>
            </a:r>
            <a:r>
              <a:rPr lang="zh-CN" altLang="en-US" sz="1350" dirty="0"/>
              <a:t> </a:t>
            </a:r>
            <a:r>
              <a:rPr lang="en-US" altLang="zh-CN" sz="1350" dirty="0"/>
              <a:t>Positive</a:t>
            </a:r>
            <a:r>
              <a:rPr lang="zh-CN" altLang="en-US" sz="1350" dirty="0"/>
              <a:t> </a:t>
            </a:r>
            <a:r>
              <a:rPr lang="en-US" altLang="zh-CN" sz="1350" dirty="0"/>
              <a:t>(TP):</a:t>
            </a:r>
            <a:r>
              <a:rPr lang="zh-CN" altLang="en-US" sz="1350" dirty="0"/>
              <a:t> 正确识别</a:t>
            </a:r>
            <a:endParaRPr lang="en-US" altLang="zh-CN" sz="1350" dirty="0"/>
          </a:p>
          <a:p>
            <a:pPr lvl="1"/>
            <a:r>
              <a:rPr lang="en-US" altLang="zh-CN" sz="1350" dirty="0"/>
              <a:t>False</a:t>
            </a:r>
            <a:r>
              <a:rPr lang="zh-CN" altLang="en-US" sz="1350" dirty="0"/>
              <a:t> </a:t>
            </a:r>
            <a:r>
              <a:rPr lang="en-US" altLang="zh-CN" sz="1350" dirty="0"/>
              <a:t>Positive</a:t>
            </a:r>
            <a:r>
              <a:rPr lang="zh-CN" altLang="en-US" sz="1350" dirty="0"/>
              <a:t> </a:t>
            </a:r>
            <a:r>
              <a:rPr lang="en-US" altLang="zh-CN" sz="1350" dirty="0"/>
              <a:t>(FP):</a:t>
            </a:r>
            <a:r>
              <a:rPr lang="zh-CN" altLang="en-US" sz="1350" dirty="0"/>
              <a:t> 错误识别</a:t>
            </a:r>
            <a:endParaRPr lang="en-US" altLang="zh-CN" sz="1350" dirty="0"/>
          </a:p>
          <a:p>
            <a:pPr lvl="1"/>
            <a:r>
              <a:rPr lang="en-US" altLang="zh-CN" sz="1350" dirty="0"/>
              <a:t>True</a:t>
            </a:r>
            <a:r>
              <a:rPr lang="zh-CN" altLang="en-US" sz="1350" dirty="0"/>
              <a:t> </a:t>
            </a:r>
            <a:r>
              <a:rPr lang="en-US" altLang="zh-CN" sz="1350" dirty="0"/>
              <a:t>Negative</a:t>
            </a:r>
            <a:r>
              <a:rPr lang="zh-CN" altLang="en-US" sz="1350" dirty="0"/>
              <a:t> </a:t>
            </a:r>
            <a:r>
              <a:rPr lang="en-US" altLang="zh-CN" sz="1350" dirty="0"/>
              <a:t>(TN):</a:t>
            </a:r>
            <a:r>
              <a:rPr lang="zh-CN" altLang="en-US" sz="1350" dirty="0"/>
              <a:t> 正确拒绝</a:t>
            </a:r>
            <a:endParaRPr lang="en-US" altLang="zh-CN" sz="1350" dirty="0"/>
          </a:p>
          <a:p>
            <a:pPr lvl="1"/>
            <a:r>
              <a:rPr lang="en-US" altLang="zh-CN" sz="1350" dirty="0"/>
              <a:t>False</a:t>
            </a:r>
            <a:r>
              <a:rPr lang="zh-CN" altLang="en-US" sz="1350" dirty="0"/>
              <a:t> </a:t>
            </a:r>
            <a:r>
              <a:rPr lang="en-US" altLang="zh-CN" sz="1350" dirty="0"/>
              <a:t>Negative</a:t>
            </a:r>
            <a:r>
              <a:rPr lang="zh-CN" altLang="en-US" sz="1350" dirty="0"/>
              <a:t> </a:t>
            </a:r>
            <a:r>
              <a:rPr lang="en-US" altLang="zh-CN" sz="1350" dirty="0"/>
              <a:t>(FN):</a:t>
            </a:r>
            <a:r>
              <a:rPr lang="zh-CN" altLang="en-US" sz="1350" dirty="0"/>
              <a:t> 错误拒绝</a:t>
            </a:r>
            <a:endParaRPr lang="en-US" altLang="zh-CN" sz="1350" dirty="0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076941" y="3558188"/>
          <a:ext cx="1836204" cy="8945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2068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612068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612068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298182"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 dirty="0"/>
                        <a:t>正例</a:t>
                      </a:r>
                      <a:endParaRPr lang="en-US" sz="15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 dirty="0"/>
                        <a:t>负例</a:t>
                      </a:r>
                      <a:endParaRPr lang="en-US" sz="15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9818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 dirty="0">
                          <a:solidFill>
                            <a:schemeClr val="bg1"/>
                          </a:solidFill>
                        </a:rPr>
                        <a:t>正例</a:t>
                      </a:r>
                      <a:endParaRPr 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68580" marR="68580" marT="34290" marB="3429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68580" marR="68580" marT="34290" marB="3429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9818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 dirty="0">
                          <a:solidFill>
                            <a:schemeClr val="bg1"/>
                          </a:solidFill>
                        </a:rPr>
                        <a:t>负例</a:t>
                      </a:r>
                      <a:endParaRPr 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68580" marR="68580" marT="34290" marB="3429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68580" marR="68580" marT="34290" marB="3429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4680637" y="3501401"/>
            <a:ext cx="377027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1500" dirty="0">
                <a:solidFill>
                  <a:srgbClr val="0000CC"/>
                </a:solidFill>
                <a:latin typeface="STZhongsong" charset="-122"/>
                <a:ea typeface="STZhongsong" charset="-122"/>
                <a:cs typeface="STZhongsong" charset="-122"/>
              </a:rPr>
              <a:t>标</a:t>
            </a:r>
            <a:endParaRPr lang="en-US" altLang="zh-CN" sz="1500" dirty="0">
              <a:solidFill>
                <a:srgbClr val="0000CC"/>
              </a:solidFill>
              <a:latin typeface="STZhongsong" charset="-122"/>
              <a:ea typeface="STZhongsong" charset="-122"/>
              <a:cs typeface="STZhongsong" charset="-122"/>
            </a:endParaRPr>
          </a:p>
          <a:p>
            <a:pPr algn="ctr"/>
            <a:r>
              <a:rPr lang="zh-CN" altLang="en-US" sz="1500" dirty="0">
                <a:solidFill>
                  <a:srgbClr val="0000CC"/>
                </a:solidFill>
                <a:latin typeface="STZhongsong" charset="-122"/>
                <a:ea typeface="STZhongsong" charset="-122"/>
                <a:cs typeface="STZhongsong" charset="-122"/>
              </a:rPr>
              <a:t>准</a:t>
            </a:r>
            <a:endParaRPr lang="en-US" altLang="zh-CN" sz="1500" dirty="0">
              <a:solidFill>
                <a:srgbClr val="0000CC"/>
              </a:solidFill>
              <a:latin typeface="STZhongsong" charset="-122"/>
              <a:ea typeface="STZhongsong" charset="-122"/>
              <a:cs typeface="STZhongsong" charset="-122"/>
            </a:endParaRPr>
          </a:p>
          <a:p>
            <a:pPr algn="ctr"/>
            <a:r>
              <a:rPr lang="zh-CN" altLang="en-US" sz="1500" dirty="0">
                <a:solidFill>
                  <a:srgbClr val="0000CC"/>
                </a:solidFill>
                <a:latin typeface="STZhongsong" charset="-122"/>
                <a:ea typeface="STZhongsong" charset="-122"/>
                <a:cs typeface="STZhongsong" charset="-122"/>
              </a:rPr>
              <a:t>答</a:t>
            </a:r>
            <a:endParaRPr lang="en-US" altLang="zh-CN" sz="1500" dirty="0">
              <a:solidFill>
                <a:srgbClr val="0000CC"/>
              </a:solidFill>
              <a:latin typeface="STZhongsong" charset="-122"/>
              <a:ea typeface="STZhongsong" charset="-122"/>
              <a:cs typeface="STZhongsong" charset="-122"/>
            </a:endParaRPr>
          </a:p>
          <a:p>
            <a:pPr algn="ctr"/>
            <a:r>
              <a:rPr lang="zh-CN" altLang="en-US" sz="1500" dirty="0">
                <a:solidFill>
                  <a:srgbClr val="0000CC"/>
                </a:solidFill>
                <a:latin typeface="STZhongsong" charset="-122"/>
                <a:ea typeface="STZhongsong" charset="-122"/>
                <a:cs typeface="STZhongsong" charset="-122"/>
              </a:rPr>
              <a:t>案</a:t>
            </a:r>
            <a:endParaRPr lang="en-US" altLang="zh-CN" sz="1500" dirty="0">
              <a:solidFill>
                <a:srgbClr val="0000CC"/>
              </a:solidFill>
              <a:latin typeface="STZhongsong" charset="-122"/>
              <a:ea typeface="STZhongsong" charset="-122"/>
              <a:cs typeface="STZhongsong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993082" y="3421370"/>
            <a:ext cx="954107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1500" dirty="0">
                <a:solidFill>
                  <a:srgbClr val="C00000"/>
                </a:solidFill>
                <a:latin typeface="STZhongsong" charset="-122"/>
                <a:ea typeface="STZhongsong" charset="-122"/>
                <a:cs typeface="STZhongsong" charset="-122"/>
              </a:rPr>
              <a:t>预测结果</a:t>
            </a:r>
            <a:endParaRPr lang="en-US" altLang="zh-CN" sz="1500" dirty="0">
              <a:solidFill>
                <a:srgbClr val="C00000"/>
              </a:solidFill>
              <a:latin typeface="STZhongsong" charset="-122"/>
              <a:ea typeface="STZhongsong" charset="-122"/>
              <a:cs typeface="STZhongsong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039190" y="2942858"/>
            <a:ext cx="331767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Helvetica Neue" charset="0"/>
              </a:rPr>
              <a:t>将</a:t>
            </a:r>
            <a:r>
              <a:rPr lang="en-US" altLang="zh-CN" b="1" dirty="0">
                <a:solidFill>
                  <a:srgbClr val="C00000"/>
                </a:solidFill>
                <a:latin typeface="Helvetica Neue" charset="0"/>
              </a:rPr>
              <a:t>TP/FP/TN/FN</a:t>
            </a:r>
            <a:r>
              <a:rPr lang="zh-CN" altLang="en-US" b="1" dirty="0">
                <a:solidFill>
                  <a:srgbClr val="C00000"/>
                </a:solidFill>
                <a:latin typeface="Helvetica Neue" charset="0"/>
              </a:rPr>
              <a:t>填到下表</a:t>
            </a:r>
          </a:p>
          <a:p>
            <a:endParaRPr lang="en-US" altLang="zh-CN" b="1" dirty="0">
              <a:solidFill>
                <a:srgbClr val="C00000"/>
              </a:solidFill>
              <a:latin typeface="Helvetica Neue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250437" y="2901760"/>
            <a:ext cx="64312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000000"/>
                </a:solidFill>
                <a:latin typeface="Helvetica Neue" charset="0"/>
              </a:rPr>
              <a:t>🔔</a:t>
            </a:r>
            <a:r>
              <a:rPr lang="zh-CN" altLang="en-US" sz="2800" dirty="0">
                <a:solidFill>
                  <a:srgbClr val="000000"/>
                </a:solidFill>
                <a:latin typeface="Helvetica Neue" charset="0"/>
              </a:rPr>
              <a:t> </a:t>
            </a:r>
            <a:endParaRPr lang="en-US" sz="2800" dirty="0"/>
          </a:p>
        </p:txBody>
      </p:sp>
      <p:sp>
        <p:nvSpPr>
          <p:cNvPr id="14" name="TextBox 13"/>
          <p:cNvSpPr txBox="1"/>
          <p:nvPr/>
        </p:nvSpPr>
        <p:spPr>
          <a:xfrm>
            <a:off x="7316146" y="3908788"/>
            <a:ext cx="16729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混淆矩阵</a:t>
            </a:r>
            <a:endParaRPr lang="en-US" altLang="zh-CN" dirty="0">
              <a:solidFill>
                <a:srgbClr val="C00000"/>
              </a:solidFill>
            </a:endParaRPr>
          </a:p>
          <a:p>
            <a:r>
              <a:rPr lang="en-US" altLang="zh-CN" dirty="0">
                <a:solidFill>
                  <a:srgbClr val="C00000"/>
                </a:solidFill>
              </a:rPr>
              <a:t>Confusion</a:t>
            </a:r>
            <a:r>
              <a:rPr lang="zh-CN" altLang="en-US" dirty="0">
                <a:solidFill>
                  <a:srgbClr val="C00000"/>
                </a:solidFill>
              </a:rPr>
              <a:t> </a:t>
            </a:r>
            <a:r>
              <a:rPr lang="en-US" altLang="zh-CN" dirty="0">
                <a:solidFill>
                  <a:srgbClr val="C00000"/>
                </a:solidFill>
              </a:rPr>
              <a:t>Matrix</a:t>
            </a:r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16" name="Straight Arrow Connector 15"/>
          <p:cNvCxnSpPr/>
          <p:nvPr/>
        </p:nvCxnSpPr>
        <p:spPr>
          <a:xfrm flipH="1" flipV="1">
            <a:off x="6785264" y="4087348"/>
            <a:ext cx="415636" cy="2556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52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2742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精度（误差）的评测效果总是好吗？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19150"/>
            <a:ext cx="8229600" cy="431140"/>
          </a:xfrm>
        </p:spPr>
        <p:txBody>
          <a:bodyPr/>
          <a:lstStyle/>
          <a:p>
            <a:r>
              <a:rPr lang="zh-CN" altLang="en-US" dirty="0"/>
              <a:t>使用测试集评测分类算法，结果如下：</a:t>
            </a:r>
            <a:endParaRPr lang="en-US" altLang="zh-CN" dirty="0"/>
          </a:p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288302" y="1850955"/>
          <a:ext cx="1836204" cy="9602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2068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612068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612068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320081"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 dirty="0"/>
                        <a:t>正例</a:t>
                      </a:r>
                      <a:endParaRPr lang="en-US" sz="15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 dirty="0"/>
                        <a:t>负例</a:t>
                      </a:r>
                      <a:endParaRPr lang="en-US" sz="15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20081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 dirty="0">
                          <a:solidFill>
                            <a:schemeClr val="bg1"/>
                          </a:solidFill>
                        </a:rPr>
                        <a:t>正例</a:t>
                      </a:r>
                      <a:endParaRPr 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dirty="0"/>
                        <a:t>8</a:t>
                      </a:r>
                      <a:endParaRPr lang="en-US" sz="1500" dirty="0"/>
                    </a:p>
                  </a:txBody>
                  <a:tcPr marL="68580" marR="68580" marT="34290" marB="3429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dirty="0"/>
                        <a:t>12</a:t>
                      </a:r>
                      <a:endParaRPr lang="en-US" sz="1500" dirty="0"/>
                    </a:p>
                  </a:txBody>
                  <a:tcPr marL="68580" marR="68580" marT="34290" marB="3429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20081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 dirty="0">
                          <a:solidFill>
                            <a:schemeClr val="bg1"/>
                          </a:solidFill>
                        </a:rPr>
                        <a:t>负例</a:t>
                      </a:r>
                      <a:endParaRPr 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dirty="0"/>
                        <a:t>8</a:t>
                      </a:r>
                      <a:endParaRPr lang="en-US" sz="1500" dirty="0"/>
                    </a:p>
                  </a:txBody>
                  <a:tcPr marL="68580" marR="68580" marT="34290" marB="3429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dirty="0"/>
                        <a:t>72</a:t>
                      </a:r>
                      <a:endParaRPr lang="en-US" sz="1500" dirty="0"/>
                    </a:p>
                  </a:txBody>
                  <a:tcPr marL="68580" marR="68580" marT="34290" marB="3429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1729350" y="1505960"/>
            <a:ext cx="954107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1500" dirty="0">
                <a:solidFill>
                  <a:srgbClr val="C00000"/>
                </a:solidFill>
                <a:latin typeface="STZhongsong" charset="-122"/>
                <a:ea typeface="STZhongsong" charset="-122"/>
                <a:cs typeface="STZhongsong" charset="-122"/>
              </a:rPr>
              <a:t>预测结果</a:t>
            </a:r>
            <a:endParaRPr lang="en-US" altLang="zh-CN" sz="1500" dirty="0">
              <a:solidFill>
                <a:srgbClr val="C00000"/>
              </a:solidFill>
              <a:latin typeface="STZhongsong" charset="-122"/>
              <a:ea typeface="STZhongsong" charset="-122"/>
              <a:cs typeface="STZhongsong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45487" y="1874718"/>
            <a:ext cx="377027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1500" dirty="0">
                <a:solidFill>
                  <a:srgbClr val="0000CC"/>
                </a:solidFill>
                <a:latin typeface="STZhongsong" charset="-122"/>
                <a:ea typeface="STZhongsong" charset="-122"/>
                <a:cs typeface="STZhongsong" charset="-122"/>
              </a:rPr>
              <a:t>标</a:t>
            </a:r>
            <a:endParaRPr lang="en-US" altLang="zh-CN" sz="1500" dirty="0">
              <a:solidFill>
                <a:srgbClr val="0000CC"/>
              </a:solidFill>
              <a:latin typeface="STZhongsong" charset="-122"/>
              <a:ea typeface="STZhongsong" charset="-122"/>
              <a:cs typeface="STZhongsong" charset="-122"/>
            </a:endParaRPr>
          </a:p>
          <a:p>
            <a:pPr algn="ctr"/>
            <a:r>
              <a:rPr lang="zh-CN" altLang="en-US" sz="1500" dirty="0">
                <a:solidFill>
                  <a:srgbClr val="0000CC"/>
                </a:solidFill>
                <a:latin typeface="STZhongsong" charset="-122"/>
                <a:ea typeface="STZhongsong" charset="-122"/>
                <a:cs typeface="STZhongsong" charset="-122"/>
              </a:rPr>
              <a:t>准</a:t>
            </a:r>
            <a:endParaRPr lang="en-US" altLang="zh-CN" sz="1500" dirty="0">
              <a:solidFill>
                <a:srgbClr val="0000CC"/>
              </a:solidFill>
              <a:latin typeface="STZhongsong" charset="-122"/>
              <a:ea typeface="STZhongsong" charset="-122"/>
              <a:cs typeface="STZhongsong" charset="-122"/>
            </a:endParaRPr>
          </a:p>
          <a:p>
            <a:pPr algn="ctr"/>
            <a:r>
              <a:rPr lang="zh-CN" altLang="en-US" sz="1500" dirty="0">
                <a:solidFill>
                  <a:srgbClr val="0000CC"/>
                </a:solidFill>
                <a:latin typeface="STZhongsong" charset="-122"/>
                <a:ea typeface="STZhongsong" charset="-122"/>
                <a:cs typeface="STZhongsong" charset="-122"/>
              </a:rPr>
              <a:t>答</a:t>
            </a:r>
            <a:endParaRPr lang="en-US" altLang="zh-CN" sz="1500" dirty="0">
              <a:solidFill>
                <a:srgbClr val="0000CC"/>
              </a:solidFill>
              <a:latin typeface="STZhongsong" charset="-122"/>
              <a:ea typeface="STZhongsong" charset="-122"/>
              <a:cs typeface="STZhongsong" charset="-122"/>
            </a:endParaRPr>
          </a:p>
          <a:p>
            <a:pPr algn="ctr"/>
            <a:r>
              <a:rPr lang="zh-CN" altLang="en-US" sz="1500" dirty="0">
                <a:solidFill>
                  <a:srgbClr val="0000CC"/>
                </a:solidFill>
                <a:latin typeface="STZhongsong" charset="-122"/>
                <a:ea typeface="STZhongsong" charset="-122"/>
                <a:cs typeface="STZhongsong" charset="-122"/>
              </a:rPr>
              <a:t>案</a:t>
            </a:r>
            <a:endParaRPr lang="en-US" altLang="zh-CN" sz="1500" dirty="0">
              <a:solidFill>
                <a:srgbClr val="0000CC"/>
              </a:solidFill>
              <a:latin typeface="STZhongsong" charset="-122"/>
              <a:ea typeface="STZhongsong" charset="-122"/>
              <a:cs typeface="STZhongsong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1008897" y="2972685"/>
                <a:ext cx="2195024" cy="48577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zh-CN" dirty="0">
                    <a:latin typeface="Calibri" charset="0"/>
                    <a:ea typeface="Calibri" charset="0"/>
                    <a:cs typeface="Calibri" charset="0"/>
                  </a:rPr>
                  <a:t>Accuracy=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mr-IN" altLang="zh-CN" i="1">
                            <a:latin typeface="Cambria Math" charset="0"/>
                            <a:ea typeface="Calibri" charset="0"/>
                            <a:cs typeface="Calibri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80</m:t>
                        </m:r>
                      </m:num>
                      <m:den>
                        <m:r>
                          <a:rPr lang="en-US" altLang="zh-CN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100</m:t>
                        </m:r>
                      </m:den>
                    </m:f>
                    <m:r>
                      <a:rPr lang="en-US" altLang="zh-CN" i="1">
                        <a:latin typeface="Cambria Math" charset="0"/>
                        <a:ea typeface="Calibri" charset="0"/>
                        <a:cs typeface="Calibri" charset="0"/>
                      </a:rPr>
                      <m:t>=80%</m:t>
                    </m:r>
                  </m:oMath>
                </a14:m>
                <a:endParaRPr lang="en-US" altLang="zh-CN" dirty="0">
                  <a:latin typeface="Calibri" charset="0"/>
                  <a:ea typeface="Calibri" charset="0"/>
                  <a:cs typeface="Calibri" charset="0"/>
                </a:endParaRP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8897" y="2972685"/>
                <a:ext cx="2195024" cy="485774"/>
              </a:xfrm>
              <a:prstGeom prst="rect">
                <a:avLst/>
              </a:prstGeom>
              <a:blipFill rotWithShape="0">
                <a:blip r:embed="rId3"/>
                <a:stretch>
                  <a:fillRect l="-2222" b="-88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图片 6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90488" y="3558188"/>
            <a:ext cx="524822" cy="5291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518122" y="3558188"/>
            <a:ext cx="1723550" cy="7848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lnSpc>
                <a:spcPct val="150000"/>
              </a:lnSpc>
            </a:pPr>
            <a:r>
              <a:rPr lang="zh-CN" altLang="en-US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STZhongsong" charset="-122"/>
                <a:ea typeface="STZhongsong" charset="-122"/>
                <a:cs typeface="STZhongsong" charset="-122"/>
              </a:rPr>
              <a:t>看指标很不错</a:t>
            </a:r>
            <a:endParaRPr lang="en-US" altLang="zh-CN" sz="1500" dirty="0">
              <a:solidFill>
                <a:schemeClr val="tx1">
                  <a:lumMod val="75000"/>
                  <a:lumOff val="25000"/>
                </a:schemeClr>
              </a:solidFill>
              <a:latin typeface="STZhongsong" charset="-122"/>
              <a:ea typeface="STZhongsong" charset="-122"/>
              <a:cs typeface="STZhongsong" charset="-122"/>
            </a:endParaRPr>
          </a:p>
          <a:p>
            <a:pPr algn="r">
              <a:lnSpc>
                <a:spcPct val="150000"/>
              </a:lnSpc>
            </a:pPr>
            <a:r>
              <a:rPr lang="zh-CN" altLang="en-US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STZhongsong" charset="-122"/>
                <a:ea typeface="STZhongsong" charset="-122"/>
                <a:cs typeface="STZhongsong" charset="-122"/>
              </a:rPr>
              <a:t>但总感觉哪里不对</a:t>
            </a:r>
            <a:endParaRPr lang="en-US" altLang="zh-CN" sz="1500" dirty="0">
              <a:solidFill>
                <a:schemeClr val="tx1">
                  <a:lumMod val="75000"/>
                  <a:lumOff val="25000"/>
                </a:schemeClr>
              </a:solidFill>
              <a:latin typeface="STZhongsong" charset="-122"/>
              <a:ea typeface="STZhongsong" charset="-122"/>
              <a:cs typeface="STZhongsong" charset="-122"/>
            </a:endParaRPr>
          </a:p>
        </p:txBody>
      </p:sp>
      <p:sp>
        <p:nvSpPr>
          <p:cNvPr id="10" name="Content Placeholder 2"/>
          <p:cNvSpPr txBox="1">
            <a:spLocks/>
          </p:cNvSpPr>
          <p:nvPr/>
        </p:nvSpPr>
        <p:spPr bwMode="auto">
          <a:xfrm>
            <a:off x="4035023" y="1374895"/>
            <a:ext cx="3320919" cy="18892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365125" indent="-282575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charset="2"/>
              <a:buChar char=""/>
              <a:defRPr sz="2800" kern="1200">
                <a:solidFill>
                  <a:schemeClr val="tx1"/>
                </a:solidFill>
                <a:latin typeface="+mn-lt"/>
                <a:ea typeface="+mn-ea"/>
                <a:cs typeface="华文中宋" charset="-122"/>
              </a:defRPr>
            </a:lvl1pPr>
            <a:lvl2pPr marL="639763" indent="-236538" algn="l" rtl="0" eaLnBrk="0" fontAlgn="base" hangingPunct="0">
              <a:spcBef>
                <a:spcPts val="550"/>
              </a:spcBef>
              <a:spcAft>
                <a:spcPct val="0"/>
              </a:spcAft>
              <a:buClr>
                <a:schemeClr val="accent1"/>
              </a:buClr>
              <a:buFont typeface="Verdana" charset="0"/>
              <a:buChar char="◦"/>
              <a:defRPr sz="2400" kern="1200">
                <a:solidFill>
                  <a:srgbClr val="0000CC"/>
                </a:solidFill>
                <a:latin typeface="+mn-lt"/>
                <a:ea typeface="+mn-ea"/>
                <a:cs typeface="华文中宋" charset="-122"/>
              </a:defRPr>
            </a:lvl2pPr>
            <a:lvl3pPr marL="88582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 2" charset="2"/>
              <a:buChar char=""/>
              <a:defRPr sz="2400" kern="1200">
                <a:solidFill>
                  <a:schemeClr val="tx1"/>
                </a:solidFill>
                <a:latin typeface="+mn-lt"/>
                <a:ea typeface="+mn-ea"/>
                <a:cs typeface="华文中宋" charset="-122"/>
              </a:defRPr>
            </a:lvl3pPr>
            <a:lvl4pPr marL="1096963" indent="-1730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BBB59"/>
              </a:buClr>
              <a:buFont typeface="Wingdings 2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华文中宋" charset="-122"/>
              </a:defRPr>
            </a:lvl4pPr>
            <a:lvl5pPr marL="1296988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Font typeface="Wingdings 2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华文中宋" charset="-122"/>
              </a:defRPr>
            </a:lvl5pPr>
            <a:lvl6pPr marL="150876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19072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024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30552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r>
              <a:rPr lang="zh-CN" altLang="en-US" sz="1800" dirty="0"/>
              <a:t>几个关键概念</a:t>
            </a:r>
            <a:endParaRPr lang="en-US" altLang="zh-CN" sz="1800" dirty="0"/>
          </a:p>
          <a:p>
            <a:pPr lvl="1"/>
            <a:r>
              <a:rPr lang="en-US" altLang="zh-CN" sz="1350" dirty="0"/>
              <a:t>True</a:t>
            </a:r>
            <a:r>
              <a:rPr lang="zh-CN" altLang="en-US" sz="1350" dirty="0"/>
              <a:t> </a:t>
            </a:r>
            <a:r>
              <a:rPr lang="en-US" altLang="zh-CN" sz="1350" dirty="0"/>
              <a:t>Positive</a:t>
            </a:r>
            <a:r>
              <a:rPr lang="zh-CN" altLang="en-US" sz="1350" dirty="0"/>
              <a:t> </a:t>
            </a:r>
            <a:r>
              <a:rPr lang="en-US" altLang="zh-CN" sz="1350" dirty="0"/>
              <a:t>(TP):</a:t>
            </a:r>
            <a:r>
              <a:rPr lang="zh-CN" altLang="en-US" sz="1350" dirty="0"/>
              <a:t> 正确识别</a:t>
            </a:r>
            <a:endParaRPr lang="en-US" altLang="zh-CN" sz="1350" dirty="0"/>
          </a:p>
          <a:p>
            <a:pPr lvl="1"/>
            <a:r>
              <a:rPr lang="en-US" altLang="zh-CN" sz="1350" dirty="0"/>
              <a:t>False</a:t>
            </a:r>
            <a:r>
              <a:rPr lang="zh-CN" altLang="en-US" sz="1350" dirty="0"/>
              <a:t> </a:t>
            </a:r>
            <a:r>
              <a:rPr lang="en-US" altLang="zh-CN" sz="1350" dirty="0"/>
              <a:t>Positive</a:t>
            </a:r>
            <a:r>
              <a:rPr lang="zh-CN" altLang="en-US" sz="1350" dirty="0"/>
              <a:t> </a:t>
            </a:r>
            <a:r>
              <a:rPr lang="en-US" altLang="zh-CN" sz="1350" dirty="0"/>
              <a:t>(FP):</a:t>
            </a:r>
            <a:r>
              <a:rPr lang="zh-CN" altLang="en-US" sz="1350" dirty="0"/>
              <a:t> 错误识别</a:t>
            </a:r>
            <a:endParaRPr lang="en-US" altLang="zh-CN" sz="1350" dirty="0"/>
          </a:p>
          <a:p>
            <a:pPr lvl="1"/>
            <a:r>
              <a:rPr lang="en-US" altLang="zh-CN" sz="1350" dirty="0"/>
              <a:t>True</a:t>
            </a:r>
            <a:r>
              <a:rPr lang="zh-CN" altLang="en-US" sz="1350" dirty="0"/>
              <a:t> </a:t>
            </a:r>
            <a:r>
              <a:rPr lang="en-US" altLang="zh-CN" sz="1350" dirty="0"/>
              <a:t>Negative</a:t>
            </a:r>
            <a:r>
              <a:rPr lang="zh-CN" altLang="en-US" sz="1350" dirty="0"/>
              <a:t> </a:t>
            </a:r>
            <a:r>
              <a:rPr lang="en-US" altLang="zh-CN" sz="1350" dirty="0"/>
              <a:t>(TN):</a:t>
            </a:r>
            <a:r>
              <a:rPr lang="zh-CN" altLang="en-US" sz="1350" dirty="0"/>
              <a:t> 正确拒绝</a:t>
            </a:r>
            <a:endParaRPr lang="en-US" altLang="zh-CN" sz="1350" dirty="0"/>
          </a:p>
          <a:p>
            <a:pPr lvl="1"/>
            <a:r>
              <a:rPr lang="en-US" altLang="zh-CN" sz="1350" dirty="0"/>
              <a:t>False</a:t>
            </a:r>
            <a:r>
              <a:rPr lang="zh-CN" altLang="en-US" sz="1350" dirty="0"/>
              <a:t> </a:t>
            </a:r>
            <a:r>
              <a:rPr lang="en-US" altLang="zh-CN" sz="1350" dirty="0"/>
              <a:t>Negative</a:t>
            </a:r>
            <a:r>
              <a:rPr lang="zh-CN" altLang="en-US" sz="1350" dirty="0"/>
              <a:t> </a:t>
            </a:r>
            <a:r>
              <a:rPr lang="en-US" altLang="zh-CN" sz="1350" dirty="0"/>
              <a:t>(FN):</a:t>
            </a:r>
            <a:r>
              <a:rPr lang="zh-CN" altLang="en-US" sz="1350" dirty="0"/>
              <a:t> 错误拒绝</a:t>
            </a:r>
            <a:endParaRPr lang="en-US" altLang="zh-CN" sz="1350" dirty="0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076941" y="3558188"/>
          <a:ext cx="1836204" cy="8945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2068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612068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612068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298182"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 dirty="0"/>
                        <a:t>正例</a:t>
                      </a:r>
                      <a:endParaRPr lang="en-US" sz="15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 dirty="0"/>
                        <a:t>负例</a:t>
                      </a:r>
                      <a:endParaRPr lang="en-US" sz="15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9818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 dirty="0">
                          <a:solidFill>
                            <a:schemeClr val="bg1"/>
                          </a:solidFill>
                        </a:rPr>
                        <a:t>正例</a:t>
                      </a:r>
                      <a:endParaRPr 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68580" marR="68580" marT="34290" marB="3429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68580" marR="68580" marT="34290" marB="3429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9818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 dirty="0">
                          <a:solidFill>
                            <a:schemeClr val="bg1"/>
                          </a:solidFill>
                        </a:rPr>
                        <a:t>负例</a:t>
                      </a:r>
                      <a:endParaRPr 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68580" marR="68580" marT="34290" marB="3429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68580" marR="68580" marT="34290" marB="3429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4680637" y="3501401"/>
            <a:ext cx="377027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1500" dirty="0">
                <a:solidFill>
                  <a:srgbClr val="0000CC"/>
                </a:solidFill>
                <a:latin typeface="STZhongsong" charset="-122"/>
                <a:ea typeface="STZhongsong" charset="-122"/>
                <a:cs typeface="STZhongsong" charset="-122"/>
              </a:rPr>
              <a:t>标</a:t>
            </a:r>
            <a:endParaRPr lang="en-US" altLang="zh-CN" sz="1500" dirty="0">
              <a:solidFill>
                <a:srgbClr val="0000CC"/>
              </a:solidFill>
              <a:latin typeface="STZhongsong" charset="-122"/>
              <a:ea typeface="STZhongsong" charset="-122"/>
              <a:cs typeface="STZhongsong" charset="-122"/>
            </a:endParaRPr>
          </a:p>
          <a:p>
            <a:pPr algn="ctr"/>
            <a:r>
              <a:rPr lang="zh-CN" altLang="en-US" sz="1500" dirty="0">
                <a:solidFill>
                  <a:srgbClr val="0000CC"/>
                </a:solidFill>
                <a:latin typeface="STZhongsong" charset="-122"/>
                <a:ea typeface="STZhongsong" charset="-122"/>
                <a:cs typeface="STZhongsong" charset="-122"/>
              </a:rPr>
              <a:t>准</a:t>
            </a:r>
            <a:endParaRPr lang="en-US" altLang="zh-CN" sz="1500" dirty="0">
              <a:solidFill>
                <a:srgbClr val="0000CC"/>
              </a:solidFill>
              <a:latin typeface="STZhongsong" charset="-122"/>
              <a:ea typeface="STZhongsong" charset="-122"/>
              <a:cs typeface="STZhongsong" charset="-122"/>
            </a:endParaRPr>
          </a:p>
          <a:p>
            <a:pPr algn="ctr"/>
            <a:r>
              <a:rPr lang="zh-CN" altLang="en-US" sz="1500" dirty="0">
                <a:solidFill>
                  <a:srgbClr val="0000CC"/>
                </a:solidFill>
                <a:latin typeface="STZhongsong" charset="-122"/>
                <a:ea typeface="STZhongsong" charset="-122"/>
                <a:cs typeface="STZhongsong" charset="-122"/>
              </a:rPr>
              <a:t>答</a:t>
            </a:r>
            <a:endParaRPr lang="en-US" altLang="zh-CN" sz="1500" dirty="0">
              <a:solidFill>
                <a:srgbClr val="0000CC"/>
              </a:solidFill>
              <a:latin typeface="STZhongsong" charset="-122"/>
              <a:ea typeface="STZhongsong" charset="-122"/>
              <a:cs typeface="STZhongsong" charset="-122"/>
            </a:endParaRPr>
          </a:p>
          <a:p>
            <a:pPr algn="ctr"/>
            <a:r>
              <a:rPr lang="zh-CN" altLang="en-US" sz="1500" dirty="0">
                <a:solidFill>
                  <a:srgbClr val="0000CC"/>
                </a:solidFill>
                <a:latin typeface="STZhongsong" charset="-122"/>
                <a:ea typeface="STZhongsong" charset="-122"/>
                <a:cs typeface="STZhongsong" charset="-122"/>
              </a:rPr>
              <a:t>案</a:t>
            </a:r>
            <a:endParaRPr lang="en-US" altLang="zh-CN" sz="1500" dirty="0">
              <a:solidFill>
                <a:srgbClr val="0000CC"/>
              </a:solidFill>
              <a:latin typeface="STZhongsong" charset="-122"/>
              <a:ea typeface="STZhongsong" charset="-122"/>
              <a:cs typeface="STZhongsong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100615" y="3519710"/>
            <a:ext cx="954107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1500" dirty="0">
                <a:solidFill>
                  <a:srgbClr val="C00000"/>
                </a:solidFill>
                <a:latin typeface="STZhongsong" charset="-122"/>
                <a:ea typeface="STZhongsong" charset="-122"/>
                <a:cs typeface="STZhongsong" charset="-122"/>
              </a:rPr>
              <a:t>预测结果</a:t>
            </a:r>
            <a:endParaRPr lang="en-US" altLang="zh-CN" sz="1500" dirty="0">
              <a:solidFill>
                <a:srgbClr val="C00000"/>
              </a:solidFill>
              <a:latin typeface="STZhongsong" charset="-122"/>
              <a:ea typeface="STZhongsong" charset="-122"/>
              <a:cs typeface="STZhongsong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815820" y="3855802"/>
            <a:ext cx="377026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500"/>
              <a:t>TP</a:t>
            </a:r>
            <a:endParaRPr lang="en-US" sz="1500"/>
          </a:p>
        </p:txBody>
      </p:sp>
      <p:sp>
        <p:nvSpPr>
          <p:cNvPr id="15" name="Rectangle 14"/>
          <p:cNvSpPr/>
          <p:nvPr/>
        </p:nvSpPr>
        <p:spPr>
          <a:xfrm>
            <a:off x="6419676" y="3846436"/>
            <a:ext cx="396262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500" dirty="0"/>
              <a:t>FN</a:t>
            </a:r>
            <a:endParaRPr lang="en-US" sz="1500" dirty="0"/>
          </a:p>
        </p:txBody>
      </p:sp>
      <p:sp>
        <p:nvSpPr>
          <p:cNvPr id="16" name="Rectangle 15"/>
          <p:cNvSpPr/>
          <p:nvPr/>
        </p:nvSpPr>
        <p:spPr>
          <a:xfrm>
            <a:off x="5811218" y="4135199"/>
            <a:ext cx="372218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500" dirty="0"/>
              <a:t>FP</a:t>
            </a:r>
            <a:endParaRPr lang="en-US" sz="1500" dirty="0"/>
          </a:p>
        </p:txBody>
      </p:sp>
      <p:sp>
        <p:nvSpPr>
          <p:cNvPr id="17" name="Rectangle 16"/>
          <p:cNvSpPr/>
          <p:nvPr/>
        </p:nvSpPr>
        <p:spPr>
          <a:xfrm>
            <a:off x="6415074" y="4125832"/>
            <a:ext cx="401072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500" dirty="0"/>
              <a:t>TN</a:t>
            </a:r>
            <a:endParaRPr lang="en-US" sz="1500" dirty="0"/>
          </a:p>
        </p:txBody>
      </p:sp>
      <p:sp>
        <p:nvSpPr>
          <p:cNvPr id="18" name="Rectangle 17"/>
          <p:cNvSpPr/>
          <p:nvPr/>
        </p:nvSpPr>
        <p:spPr>
          <a:xfrm>
            <a:off x="5039190" y="2942858"/>
            <a:ext cx="331767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Helvetica Neue" charset="0"/>
              </a:rPr>
              <a:t>将</a:t>
            </a:r>
            <a:r>
              <a:rPr lang="en-US" altLang="zh-CN" b="1" dirty="0">
                <a:solidFill>
                  <a:srgbClr val="C00000"/>
                </a:solidFill>
                <a:latin typeface="Helvetica Neue" charset="0"/>
              </a:rPr>
              <a:t>TP/FP/TN/FN</a:t>
            </a:r>
            <a:r>
              <a:rPr lang="zh-CN" altLang="en-US" b="1" dirty="0">
                <a:solidFill>
                  <a:srgbClr val="C00000"/>
                </a:solidFill>
                <a:latin typeface="Helvetica Neue" charset="0"/>
              </a:rPr>
              <a:t>填到下表</a:t>
            </a:r>
          </a:p>
          <a:p>
            <a:endParaRPr lang="en-US" altLang="zh-CN" b="1" dirty="0">
              <a:solidFill>
                <a:srgbClr val="C00000"/>
              </a:solidFill>
              <a:latin typeface="Helvetica Neue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250437" y="2901760"/>
            <a:ext cx="64312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000000"/>
                </a:solidFill>
                <a:latin typeface="Helvetica Neue" charset="0"/>
              </a:rPr>
              <a:t>🔔</a:t>
            </a:r>
            <a:r>
              <a:rPr lang="zh-CN" altLang="en-US" sz="2800" dirty="0">
                <a:solidFill>
                  <a:srgbClr val="000000"/>
                </a:solidFill>
                <a:latin typeface="Helvetica Neue" charset="0"/>
              </a:rPr>
              <a:t> </a:t>
            </a:r>
            <a:endParaRPr lang="en-US" sz="2800" dirty="0"/>
          </a:p>
        </p:txBody>
      </p:sp>
      <p:sp>
        <p:nvSpPr>
          <p:cNvPr id="20" name="Slide Number Placeholder 1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53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29085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/>
      <p:bldP spid="17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精度（误差）的评测效果总是好吗？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19150"/>
            <a:ext cx="8229600" cy="431140"/>
          </a:xfrm>
        </p:spPr>
        <p:txBody>
          <a:bodyPr/>
          <a:lstStyle/>
          <a:p>
            <a:r>
              <a:rPr lang="zh-CN" altLang="en-US" dirty="0"/>
              <a:t>使用测试集评测分类算法，结果如下：</a:t>
            </a:r>
            <a:endParaRPr lang="en-US" altLang="zh-CN" dirty="0"/>
          </a:p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288302" y="1850955"/>
          <a:ext cx="1836204" cy="9602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2068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612068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612068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320081"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 dirty="0"/>
                        <a:t>正例</a:t>
                      </a:r>
                      <a:endParaRPr lang="en-US" sz="15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 dirty="0"/>
                        <a:t>负例</a:t>
                      </a:r>
                      <a:endParaRPr lang="en-US" sz="15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20081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 dirty="0">
                          <a:solidFill>
                            <a:schemeClr val="bg1"/>
                          </a:solidFill>
                        </a:rPr>
                        <a:t>正例</a:t>
                      </a:r>
                      <a:endParaRPr 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dirty="0"/>
                        <a:t>8</a:t>
                      </a:r>
                      <a:endParaRPr lang="en-US" sz="1500" dirty="0"/>
                    </a:p>
                  </a:txBody>
                  <a:tcPr marL="68580" marR="68580" marT="34290" marB="3429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dirty="0"/>
                        <a:t>12</a:t>
                      </a:r>
                      <a:endParaRPr lang="en-US" sz="1500" dirty="0"/>
                    </a:p>
                  </a:txBody>
                  <a:tcPr marL="68580" marR="68580" marT="34290" marB="3429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20081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 dirty="0">
                          <a:solidFill>
                            <a:schemeClr val="bg1"/>
                          </a:solidFill>
                        </a:rPr>
                        <a:t>负例</a:t>
                      </a:r>
                      <a:endParaRPr 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dirty="0"/>
                        <a:t>8</a:t>
                      </a:r>
                      <a:endParaRPr lang="en-US" sz="1500" dirty="0"/>
                    </a:p>
                  </a:txBody>
                  <a:tcPr marL="68580" marR="68580" marT="34290" marB="3429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dirty="0"/>
                        <a:t>72</a:t>
                      </a:r>
                      <a:endParaRPr lang="en-US" sz="1500" dirty="0"/>
                    </a:p>
                  </a:txBody>
                  <a:tcPr marL="68580" marR="68580" marT="34290" marB="3429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1729350" y="1505960"/>
            <a:ext cx="954107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1500" dirty="0">
                <a:solidFill>
                  <a:srgbClr val="C00000"/>
                </a:solidFill>
                <a:latin typeface="STZhongsong" charset="-122"/>
                <a:ea typeface="STZhongsong" charset="-122"/>
                <a:cs typeface="STZhongsong" charset="-122"/>
              </a:rPr>
              <a:t>预测结果</a:t>
            </a:r>
            <a:endParaRPr lang="en-US" altLang="zh-CN" sz="1500" dirty="0">
              <a:solidFill>
                <a:srgbClr val="C00000"/>
              </a:solidFill>
              <a:latin typeface="STZhongsong" charset="-122"/>
              <a:ea typeface="STZhongsong" charset="-122"/>
              <a:cs typeface="STZhongsong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45487" y="1874718"/>
            <a:ext cx="377027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1500" dirty="0">
                <a:solidFill>
                  <a:srgbClr val="0000CC"/>
                </a:solidFill>
                <a:latin typeface="STZhongsong" charset="-122"/>
                <a:ea typeface="STZhongsong" charset="-122"/>
                <a:cs typeface="STZhongsong" charset="-122"/>
              </a:rPr>
              <a:t>标</a:t>
            </a:r>
            <a:endParaRPr lang="en-US" altLang="zh-CN" sz="1500" dirty="0">
              <a:solidFill>
                <a:srgbClr val="0000CC"/>
              </a:solidFill>
              <a:latin typeface="STZhongsong" charset="-122"/>
              <a:ea typeface="STZhongsong" charset="-122"/>
              <a:cs typeface="STZhongsong" charset="-122"/>
            </a:endParaRPr>
          </a:p>
          <a:p>
            <a:pPr algn="ctr"/>
            <a:r>
              <a:rPr lang="zh-CN" altLang="en-US" sz="1500" dirty="0">
                <a:solidFill>
                  <a:srgbClr val="0000CC"/>
                </a:solidFill>
                <a:latin typeface="STZhongsong" charset="-122"/>
                <a:ea typeface="STZhongsong" charset="-122"/>
                <a:cs typeface="STZhongsong" charset="-122"/>
              </a:rPr>
              <a:t>准</a:t>
            </a:r>
            <a:endParaRPr lang="en-US" altLang="zh-CN" sz="1500" dirty="0">
              <a:solidFill>
                <a:srgbClr val="0000CC"/>
              </a:solidFill>
              <a:latin typeface="STZhongsong" charset="-122"/>
              <a:ea typeface="STZhongsong" charset="-122"/>
              <a:cs typeface="STZhongsong" charset="-122"/>
            </a:endParaRPr>
          </a:p>
          <a:p>
            <a:pPr algn="ctr"/>
            <a:r>
              <a:rPr lang="zh-CN" altLang="en-US" sz="1500" dirty="0">
                <a:solidFill>
                  <a:srgbClr val="0000CC"/>
                </a:solidFill>
                <a:latin typeface="STZhongsong" charset="-122"/>
                <a:ea typeface="STZhongsong" charset="-122"/>
                <a:cs typeface="STZhongsong" charset="-122"/>
              </a:rPr>
              <a:t>答</a:t>
            </a:r>
            <a:endParaRPr lang="en-US" altLang="zh-CN" sz="1500" dirty="0">
              <a:solidFill>
                <a:srgbClr val="0000CC"/>
              </a:solidFill>
              <a:latin typeface="STZhongsong" charset="-122"/>
              <a:ea typeface="STZhongsong" charset="-122"/>
              <a:cs typeface="STZhongsong" charset="-122"/>
            </a:endParaRPr>
          </a:p>
          <a:p>
            <a:pPr algn="ctr"/>
            <a:r>
              <a:rPr lang="zh-CN" altLang="en-US" sz="1500" dirty="0">
                <a:solidFill>
                  <a:srgbClr val="0000CC"/>
                </a:solidFill>
                <a:latin typeface="STZhongsong" charset="-122"/>
                <a:ea typeface="STZhongsong" charset="-122"/>
                <a:cs typeface="STZhongsong" charset="-122"/>
              </a:rPr>
              <a:t>案</a:t>
            </a:r>
            <a:endParaRPr lang="en-US" altLang="zh-CN" sz="1500" dirty="0">
              <a:solidFill>
                <a:srgbClr val="0000CC"/>
              </a:solidFill>
              <a:latin typeface="STZhongsong" charset="-122"/>
              <a:ea typeface="STZhongsong" charset="-122"/>
              <a:cs typeface="STZhongsong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1008897" y="2972685"/>
                <a:ext cx="2195024" cy="48577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zh-CN" dirty="0">
                    <a:latin typeface="Calibri" charset="0"/>
                    <a:ea typeface="Calibri" charset="0"/>
                    <a:cs typeface="Calibri" charset="0"/>
                  </a:rPr>
                  <a:t>Accuracy=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mr-IN" altLang="zh-CN" i="1">
                            <a:latin typeface="Cambria Math" charset="0"/>
                            <a:ea typeface="Calibri" charset="0"/>
                            <a:cs typeface="Calibri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80</m:t>
                        </m:r>
                      </m:num>
                      <m:den>
                        <m:r>
                          <a:rPr lang="en-US" altLang="zh-CN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100</m:t>
                        </m:r>
                      </m:den>
                    </m:f>
                    <m:r>
                      <a:rPr lang="en-US" altLang="zh-CN" i="1">
                        <a:latin typeface="Cambria Math" charset="0"/>
                        <a:ea typeface="Calibri" charset="0"/>
                        <a:cs typeface="Calibri" charset="0"/>
                      </a:rPr>
                      <m:t>=80%</m:t>
                    </m:r>
                  </m:oMath>
                </a14:m>
                <a:endParaRPr lang="en-US" altLang="zh-CN" dirty="0">
                  <a:latin typeface="Calibri" charset="0"/>
                  <a:ea typeface="Calibri" charset="0"/>
                  <a:cs typeface="Calibri" charset="0"/>
                </a:endParaRP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8897" y="2972685"/>
                <a:ext cx="2195024" cy="485774"/>
              </a:xfrm>
              <a:prstGeom prst="rect">
                <a:avLst/>
              </a:prstGeom>
              <a:blipFill rotWithShape="0">
                <a:blip r:embed="rId3"/>
                <a:stretch>
                  <a:fillRect l="-2222" b="-88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图片 6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90488" y="3558188"/>
            <a:ext cx="524822" cy="5291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518122" y="3558188"/>
            <a:ext cx="1723550" cy="7848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lnSpc>
                <a:spcPct val="150000"/>
              </a:lnSpc>
            </a:pPr>
            <a:r>
              <a:rPr lang="zh-CN" altLang="en-US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STZhongsong" charset="-122"/>
                <a:ea typeface="STZhongsong" charset="-122"/>
                <a:cs typeface="STZhongsong" charset="-122"/>
              </a:rPr>
              <a:t>看指标很不错</a:t>
            </a:r>
            <a:endParaRPr lang="en-US" altLang="zh-CN" sz="1500" dirty="0">
              <a:solidFill>
                <a:schemeClr val="tx1">
                  <a:lumMod val="75000"/>
                  <a:lumOff val="25000"/>
                </a:schemeClr>
              </a:solidFill>
              <a:latin typeface="STZhongsong" charset="-122"/>
              <a:ea typeface="STZhongsong" charset="-122"/>
              <a:cs typeface="STZhongsong" charset="-122"/>
            </a:endParaRPr>
          </a:p>
          <a:p>
            <a:pPr algn="r">
              <a:lnSpc>
                <a:spcPct val="150000"/>
              </a:lnSpc>
            </a:pPr>
            <a:r>
              <a:rPr lang="zh-CN" altLang="en-US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STZhongsong" charset="-122"/>
                <a:ea typeface="STZhongsong" charset="-122"/>
                <a:cs typeface="STZhongsong" charset="-122"/>
              </a:rPr>
              <a:t>但总感觉哪里不对</a:t>
            </a:r>
            <a:endParaRPr lang="en-US" altLang="zh-CN" sz="1500" dirty="0">
              <a:solidFill>
                <a:schemeClr val="tx1">
                  <a:lumMod val="75000"/>
                  <a:lumOff val="25000"/>
                </a:schemeClr>
              </a:solidFill>
              <a:latin typeface="STZhongsong" charset="-122"/>
              <a:ea typeface="STZhongsong" charset="-122"/>
              <a:cs typeface="STZhongsong" charset="-122"/>
            </a:endParaRPr>
          </a:p>
        </p:txBody>
      </p:sp>
      <p:sp>
        <p:nvSpPr>
          <p:cNvPr id="25" name="Content Placeholder 2"/>
          <p:cNvSpPr txBox="1">
            <a:spLocks/>
          </p:cNvSpPr>
          <p:nvPr/>
        </p:nvSpPr>
        <p:spPr bwMode="auto">
          <a:xfrm>
            <a:off x="3875303" y="1364590"/>
            <a:ext cx="4110608" cy="28045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65125" indent="-282575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charset="2"/>
              <a:buChar char=""/>
              <a:defRPr sz="2800" kern="1200">
                <a:solidFill>
                  <a:schemeClr val="tx1"/>
                </a:solidFill>
                <a:latin typeface="+mn-lt"/>
                <a:ea typeface="+mn-ea"/>
                <a:cs typeface="华文中宋" charset="-122"/>
              </a:defRPr>
            </a:lvl1pPr>
            <a:lvl2pPr marL="639763" indent="-236538" algn="l" rtl="0" eaLnBrk="0" fontAlgn="base" hangingPunct="0">
              <a:spcBef>
                <a:spcPts val="550"/>
              </a:spcBef>
              <a:spcAft>
                <a:spcPct val="0"/>
              </a:spcAft>
              <a:buClr>
                <a:schemeClr val="accent1"/>
              </a:buClr>
              <a:buFont typeface="Verdana" charset="0"/>
              <a:buChar char="◦"/>
              <a:defRPr sz="2400" kern="1200">
                <a:solidFill>
                  <a:srgbClr val="0000CC"/>
                </a:solidFill>
                <a:latin typeface="+mn-lt"/>
                <a:ea typeface="+mn-ea"/>
                <a:cs typeface="华文中宋" charset="-122"/>
              </a:defRPr>
            </a:lvl2pPr>
            <a:lvl3pPr marL="88582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 2" charset="2"/>
              <a:buChar char=""/>
              <a:defRPr sz="2400" kern="1200">
                <a:solidFill>
                  <a:schemeClr val="tx1"/>
                </a:solidFill>
                <a:latin typeface="+mn-lt"/>
                <a:ea typeface="+mn-ea"/>
                <a:cs typeface="华文中宋" charset="-122"/>
              </a:defRPr>
            </a:lvl3pPr>
            <a:lvl4pPr marL="1096963" indent="-1730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BBB59"/>
              </a:buClr>
              <a:buFont typeface="Wingdings 2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华文中宋" charset="-122"/>
              </a:defRPr>
            </a:lvl4pPr>
            <a:lvl5pPr marL="1296988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Font typeface="Wingdings 2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华文中宋" charset="-122"/>
              </a:defRPr>
            </a:lvl5pPr>
            <a:lvl6pPr marL="150876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19072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024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30552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r>
              <a:rPr lang="zh-CN" altLang="en-US" sz="1800" dirty="0">
                <a:latin typeface="Microsoft YaHei" charset="-122"/>
                <a:ea typeface="Microsoft YaHei" charset="-122"/>
                <a:cs typeface="Microsoft YaHei" charset="-122"/>
              </a:rPr>
              <a:t>引入新的指标</a:t>
            </a:r>
            <a:endParaRPr lang="en-US" altLang="zh-CN" sz="1800" dirty="0">
              <a:latin typeface="Microsoft YaHei" charset="-122"/>
              <a:ea typeface="Microsoft YaHei" charset="-122"/>
              <a:cs typeface="Microsoft YaHei" charset="-122"/>
            </a:endParaRPr>
          </a:p>
          <a:p>
            <a:pPr lvl="1"/>
            <a:r>
              <a:rPr lang="en-US" altLang="zh-CN" sz="1800" dirty="0"/>
              <a:t>Precision</a:t>
            </a:r>
            <a:r>
              <a:rPr lang="zh-CN" altLang="en-US" sz="1800" dirty="0"/>
              <a:t> </a:t>
            </a:r>
            <a:r>
              <a:rPr lang="mr-IN" altLang="zh-CN" sz="1800" dirty="0"/>
              <a:t>–</a:t>
            </a:r>
            <a:r>
              <a:rPr lang="zh-CN" altLang="en-US" sz="1800" dirty="0"/>
              <a:t> 准确率</a:t>
            </a:r>
            <a:endParaRPr lang="en-US" altLang="zh-CN" sz="1800" dirty="0"/>
          </a:p>
          <a:p>
            <a:pPr lvl="1"/>
            <a:endParaRPr lang="en-US" altLang="zh-CN" sz="1800" dirty="0"/>
          </a:p>
          <a:p>
            <a:pPr lvl="1"/>
            <a:r>
              <a:rPr lang="en-US" altLang="zh-CN" sz="1800" dirty="0"/>
              <a:t>Recall</a:t>
            </a:r>
            <a:r>
              <a:rPr lang="zh-CN" altLang="en-US" sz="1800" dirty="0"/>
              <a:t> </a:t>
            </a:r>
            <a:r>
              <a:rPr lang="mr-IN" altLang="zh-CN" sz="1800" dirty="0"/>
              <a:t>–</a:t>
            </a:r>
            <a:r>
              <a:rPr lang="zh-CN" altLang="en-US" sz="1800" dirty="0"/>
              <a:t> 召回率</a:t>
            </a:r>
            <a:endParaRPr lang="en-US" altLang="zh-CN" sz="1800" dirty="0"/>
          </a:p>
          <a:p>
            <a:pPr lvl="1"/>
            <a:endParaRPr lang="en-US" altLang="zh-CN" sz="1800" dirty="0"/>
          </a:p>
          <a:p>
            <a:pPr lvl="1"/>
            <a:r>
              <a:rPr lang="en-US" altLang="zh-CN" sz="1800" dirty="0"/>
              <a:t>F1</a:t>
            </a:r>
            <a:r>
              <a:rPr lang="zh-CN" altLang="en-US" sz="1800" dirty="0"/>
              <a:t> </a:t>
            </a:r>
            <a:r>
              <a:rPr lang="en-US" altLang="zh-CN" sz="1800" dirty="0"/>
              <a:t>Score</a:t>
            </a:r>
            <a:r>
              <a:rPr lang="zh-CN" altLang="en-US" sz="1800" dirty="0"/>
              <a:t> </a:t>
            </a:r>
            <a:r>
              <a:rPr lang="en-US" altLang="zh-CN" sz="1800" dirty="0"/>
              <a:t>-</a:t>
            </a:r>
            <a:r>
              <a:rPr lang="zh-CN" altLang="en-US" sz="1800" dirty="0"/>
              <a:t> </a:t>
            </a:r>
            <a:r>
              <a:rPr lang="en-US" altLang="zh-CN" sz="1800" dirty="0"/>
              <a:t>F</a:t>
            </a:r>
            <a:r>
              <a:rPr lang="zh-CN" altLang="en-US" sz="1800" dirty="0"/>
              <a:t>值</a:t>
            </a:r>
            <a:endParaRPr lang="en-US" altLang="zh-CN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5930607" y="1976342"/>
                <a:ext cx="2203360" cy="52315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charset="0"/>
                        </a:rPr>
                        <m:t>𝑃𝑟𝑒𝑐𝑖𝑠𝑖𝑜𝑛</m:t>
                      </m:r>
                      <m:r>
                        <a:rPr lang="en-US" altLang="zh-CN" b="0" i="1" smtClean="0">
                          <a:latin typeface="Cambria Math" charset="0"/>
                        </a:rPr>
                        <m:t>=</m:t>
                      </m:r>
                      <m:f>
                        <m:fPr>
                          <m:ctrlPr>
                            <a:rPr lang="mr-IN" altLang="zh-CN" b="0" i="1" smtClean="0">
                              <a:latin typeface="Cambria Math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charset="0"/>
                            </a:rPr>
                            <m:t>𝑇𝑃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charset="0"/>
                            </a:rPr>
                            <m:t>𝑇𝑃</m:t>
                          </m:r>
                          <m:r>
                            <a:rPr lang="en-US" altLang="zh-CN" b="0" i="1" smtClean="0">
                              <a:latin typeface="Cambria Math" charset="0"/>
                            </a:rPr>
                            <m:t>+</m:t>
                          </m:r>
                          <m:r>
                            <a:rPr lang="en-US" altLang="zh-CN" b="0" i="1" smtClean="0">
                              <a:latin typeface="Cambria Math" charset="0"/>
                            </a:rPr>
                            <m:t>𝐹𝑃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0607" y="1976342"/>
                <a:ext cx="2203360" cy="523157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5930607" y="2811158"/>
                <a:ext cx="1889300" cy="52315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charset="0"/>
                        </a:rPr>
                        <m:t>𝑅𝑒𝑐𝑎𝑙𝑙</m:t>
                      </m:r>
                      <m:r>
                        <a:rPr lang="en-US" altLang="zh-CN" b="0" i="1" smtClean="0">
                          <a:latin typeface="Cambria Math" charset="0"/>
                        </a:rPr>
                        <m:t>=</m:t>
                      </m:r>
                      <m:f>
                        <m:fPr>
                          <m:ctrlPr>
                            <a:rPr lang="mr-IN" altLang="zh-CN" b="0" i="1" smtClean="0">
                              <a:latin typeface="Cambria Math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charset="0"/>
                            </a:rPr>
                            <m:t>𝑇𝑃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charset="0"/>
                            </a:rPr>
                            <m:t>𝑇𝑃</m:t>
                          </m:r>
                          <m:r>
                            <a:rPr lang="en-US" altLang="zh-CN" b="0" i="1" smtClean="0">
                              <a:latin typeface="Cambria Math" charset="0"/>
                            </a:rPr>
                            <m:t>+</m:t>
                          </m:r>
                          <m:r>
                            <a:rPr lang="en-US" altLang="zh-CN" b="0" i="1" smtClean="0">
                              <a:latin typeface="Cambria Math" charset="0"/>
                            </a:rPr>
                            <m:t>𝐹𝑁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0607" y="2811158"/>
                <a:ext cx="1889300" cy="523157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5589937" y="3645974"/>
                <a:ext cx="2544030" cy="7456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charset="0"/>
                        </a:rPr>
                        <m:t>𝐹</m:t>
                      </m:r>
                      <m:r>
                        <a:rPr lang="en-US" altLang="zh-CN" b="0" i="1" smtClean="0">
                          <a:latin typeface="Cambria Math" charset="0"/>
                        </a:rPr>
                        <m:t>1=</m:t>
                      </m:r>
                      <m:f>
                        <m:fPr>
                          <m:ctrlPr>
                            <a:rPr lang="mr-IN" altLang="zh-CN" b="0" i="1" smtClean="0">
                              <a:latin typeface="Cambria Math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charset="0"/>
                            </a:rPr>
                            <m:t>2</m:t>
                          </m:r>
                        </m:num>
                        <m:den>
                          <m:f>
                            <m:fPr>
                              <m:ctrlPr>
                                <a:rPr lang="mr-IN" altLang="zh-CN" b="0" i="1" smtClean="0">
                                  <a:latin typeface="Cambria Math" charset="0"/>
                                </a:rPr>
                              </m:ctrlPr>
                            </m:fPr>
                            <m:num>
                              <m:r>
                                <a:rPr lang="en-US" altLang="zh-CN" b="0" i="1" smtClean="0">
                                  <a:latin typeface="Cambria Math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b="0" i="1" smtClean="0">
                                  <a:latin typeface="Cambria Math" charset="0"/>
                                </a:rPr>
                                <m:t>𝑃𝑟𝑒𝑐𝑖𝑠𝑖𝑜𝑛</m:t>
                              </m:r>
                            </m:den>
                          </m:f>
                          <m:r>
                            <a:rPr lang="en-US" altLang="zh-CN" b="0" i="1" smtClean="0">
                              <a:latin typeface="Cambria Math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mr-IN" altLang="zh-CN" b="0" i="1" smtClean="0">
                                  <a:latin typeface="Cambria Math" charset="0"/>
                                </a:rPr>
                              </m:ctrlPr>
                            </m:fPr>
                            <m:num>
                              <m:r>
                                <a:rPr lang="en-US" altLang="zh-CN" b="0" i="1" smtClean="0">
                                  <a:latin typeface="Cambria Math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b="0" i="1" smtClean="0">
                                  <a:latin typeface="Cambria Math" charset="0"/>
                                </a:rPr>
                                <m:t>𝑅𝑒𝑐𝑎𝑙𝑙</m:t>
                              </m:r>
                            </m:den>
                          </m:f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9937" y="3645974"/>
                <a:ext cx="2544030" cy="745653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Rectangle 28"/>
          <p:cNvSpPr/>
          <p:nvPr/>
        </p:nvSpPr>
        <p:spPr>
          <a:xfrm>
            <a:off x="4222772" y="4200588"/>
            <a:ext cx="1467068" cy="51244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lnSpc>
                <a:spcPct val="150000"/>
              </a:lnSpc>
            </a:pPr>
            <a:r>
              <a:rPr lang="zh-CN" altLang="en-US" sz="2000" dirty="0">
                <a:solidFill>
                  <a:schemeClr val="accent2"/>
                </a:solidFill>
                <a:latin typeface="STZhongsong" charset="-122"/>
                <a:ea typeface="STZhongsong" charset="-122"/>
                <a:cs typeface="STZhongsong" charset="-122"/>
              </a:rPr>
              <a:t>请</a:t>
            </a:r>
            <a:r>
              <a:rPr lang="zh-CN" altLang="en-US" sz="2000">
                <a:solidFill>
                  <a:schemeClr val="accent2"/>
                </a:solidFill>
                <a:latin typeface="STZhongsong" charset="-122"/>
                <a:ea typeface="STZhongsong" charset="-122"/>
                <a:cs typeface="STZhongsong" charset="-122"/>
              </a:rPr>
              <a:t>计算左表</a:t>
            </a:r>
            <a:endParaRPr lang="en-US" altLang="zh-CN" sz="2000" dirty="0">
              <a:solidFill>
                <a:schemeClr val="accent2"/>
              </a:solidFill>
              <a:latin typeface="STZhongsong" charset="-122"/>
              <a:ea typeface="STZhongsong" charset="-122"/>
              <a:cs typeface="STZhongsong" charset="-122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54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99116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精度（误差）的评测效果总是好吗？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19150"/>
            <a:ext cx="8229600" cy="431140"/>
          </a:xfrm>
        </p:spPr>
        <p:txBody>
          <a:bodyPr/>
          <a:lstStyle/>
          <a:p>
            <a:r>
              <a:rPr lang="zh-CN" altLang="en-US" dirty="0"/>
              <a:t>使用测试集评测分类算法，结果如下：</a:t>
            </a:r>
            <a:endParaRPr lang="en-US" altLang="zh-CN" dirty="0"/>
          </a:p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288302" y="1850955"/>
          <a:ext cx="1836204" cy="9602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2068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612068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612068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320081"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 dirty="0"/>
                        <a:t>正例</a:t>
                      </a:r>
                      <a:endParaRPr lang="en-US" sz="15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 dirty="0"/>
                        <a:t>负例</a:t>
                      </a:r>
                      <a:endParaRPr lang="en-US" sz="15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20081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 dirty="0">
                          <a:solidFill>
                            <a:schemeClr val="bg1"/>
                          </a:solidFill>
                        </a:rPr>
                        <a:t>正例</a:t>
                      </a:r>
                      <a:endParaRPr 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dirty="0"/>
                        <a:t>8</a:t>
                      </a:r>
                      <a:endParaRPr lang="en-US" sz="1500" dirty="0"/>
                    </a:p>
                  </a:txBody>
                  <a:tcPr marL="68580" marR="68580" marT="34290" marB="3429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dirty="0"/>
                        <a:t>12</a:t>
                      </a:r>
                      <a:endParaRPr lang="en-US" sz="1500" dirty="0"/>
                    </a:p>
                  </a:txBody>
                  <a:tcPr marL="68580" marR="68580" marT="34290" marB="3429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20081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 dirty="0">
                          <a:solidFill>
                            <a:schemeClr val="bg1"/>
                          </a:solidFill>
                        </a:rPr>
                        <a:t>负例</a:t>
                      </a:r>
                      <a:endParaRPr 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dirty="0"/>
                        <a:t>8</a:t>
                      </a:r>
                      <a:endParaRPr lang="en-US" sz="1500" dirty="0"/>
                    </a:p>
                  </a:txBody>
                  <a:tcPr marL="68580" marR="68580" marT="34290" marB="3429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dirty="0"/>
                        <a:t>72</a:t>
                      </a:r>
                      <a:endParaRPr lang="en-US" sz="1500" dirty="0"/>
                    </a:p>
                  </a:txBody>
                  <a:tcPr marL="68580" marR="68580" marT="34290" marB="3429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1729350" y="1505960"/>
            <a:ext cx="954107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1500" dirty="0">
                <a:solidFill>
                  <a:srgbClr val="C00000"/>
                </a:solidFill>
                <a:latin typeface="STZhongsong" charset="-122"/>
                <a:ea typeface="STZhongsong" charset="-122"/>
                <a:cs typeface="STZhongsong" charset="-122"/>
              </a:rPr>
              <a:t>预测结果</a:t>
            </a:r>
            <a:endParaRPr lang="en-US" altLang="zh-CN" sz="1500" dirty="0">
              <a:solidFill>
                <a:srgbClr val="C00000"/>
              </a:solidFill>
              <a:latin typeface="STZhongsong" charset="-122"/>
              <a:ea typeface="STZhongsong" charset="-122"/>
              <a:cs typeface="STZhongsong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45487" y="1874718"/>
            <a:ext cx="377027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1500" dirty="0">
                <a:solidFill>
                  <a:srgbClr val="0000CC"/>
                </a:solidFill>
                <a:latin typeface="STZhongsong" charset="-122"/>
                <a:ea typeface="STZhongsong" charset="-122"/>
                <a:cs typeface="STZhongsong" charset="-122"/>
              </a:rPr>
              <a:t>标</a:t>
            </a:r>
            <a:endParaRPr lang="en-US" altLang="zh-CN" sz="1500" dirty="0">
              <a:solidFill>
                <a:srgbClr val="0000CC"/>
              </a:solidFill>
              <a:latin typeface="STZhongsong" charset="-122"/>
              <a:ea typeface="STZhongsong" charset="-122"/>
              <a:cs typeface="STZhongsong" charset="-122"/>
            </a:endParaRPr>
          </a:p>
          <a:p>
            <a:pPr algn="ctr"/>
            <a:r>
              <a:rPr lang="zh-CN" altLang="en-US" sz="1500" dirty="0">
                <a:solidFill>
                  <a:srgbClr val="0000CC"/>
                </a:solidFill>
                <a:latin typeface="STZhongsong" charset="-122"/>
                <a:ea typeface="STZhongsong" charset="-122"/>
                <a:cs typeface="STZhongsong" charset="-122"/>
              </a:rPr>
              <a:t>准</a:t>
            </a:r>
            <a:endParaRPr lang="en-US" altLang="zh-CN" sz="1500" dirty="0">
              <a:solidFill>
                <a:srgbClr val="0000CC"/>
              </a:solidFill>
              <a:latin typeface="STZhongsong" charset="-122"/>
              <a:ea typeface="STZhongsong" charset="-122"/>
              <a:cs typeface="STZhongsong" charset="-122"/>
            </a:endParaRPr>
          </a:p>
          <a:p>
            <a:pPr algn="ctr"/>
            <a:r>
              <a:rPr lang="zh-CN" altLang="en-US" sz="1500" dirty="0">
                <a:solidFill>
                  <a:srgbClr val="0000CC"/>
                </a:solidFill>
                <a:latin typeface="STZhongsong" charset="-122"/>
                <a:ea typeface="STZhongsong" charset="-122"/>
                <a:cs typeface="STZhongsong" charset="-122"/>
              </a:rPr>
              <a:t>答</a:t>
            </a:r>
            <a:endParaRPr lang="en-US" altLang="zh-CN" sz="1500" dirty="0">
              <a:solidFill>
                <a:srgbClr val="0000CC"/>
              </a:solidFill>
              <a:latin typeface="STZhongsong" charset="-122"/>
              <a:ea typeface="STZhongsong" charset="-122"/>
              <a:cs typeface="STZhongsong" charset="-122"/>
            </a:endParaRPr>
          </a:p>
          <a:p>
            <a:pPr algn="ctr"/>
            <a:r>
              <a:rPr lang="zh-CN" altLang="en-US" sz="1500" dirty="0">
                <a:solidFill>
                  <a:srgbClr val="0000CC"/>
                </a:solidFill>
                <a:latin typeface="STZhongsong" charset="-122"/>
                <a:ea typeface="STZhongsong" charset="-122"/>
                <a:cs typeface="STZhongsong" charset="-122"/>
              </a:rPr>
              <a:t>案</a:t>
            </a:r>
            <a:endParaRPr lang="en-US" altLang="zh-CN" sz="1500" dirty="0">
              <a:solidFill>
                <a:srgbClr val="0000CC"/>
              </a:solidFill>
              <a:latin typeface="STZhongsong" charset="-122"/>
              <a:ea typeface="STZhongsong" charset="-122"/>
              <a:cs typeface="STZhongsong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1008897" y="2972685"/>
                <a:ext cx="2195024" cy="48577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zh-CN" dirty="0">
                    <a:latin typeface="Calibri" charset="0"/>
                    <a:ea typeface="Calibri" charset="0"/>
                    <a:cs typeface="Calibri" charset="0"/>
                  </a:rPr>
                  <a:t>Accuracy=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mr-IN" altLang="zh-CN" i="1">
                            <a:latin typeface="Cambria Math" charset="0"/>
                            <a:ea typeface="Calibri" charset="0"/>
                            <a:cs typeface="Calibri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80</m:t>
                        </m:r>
                      </m:num>
                      <m:den>
                        <m:r>
                          <a:rPr lang="en-US" altLang="zh-CN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100</m:t>
                        </m:r>
                      </m:den>
                    </m:f>
                    <m:r>
                      <a:rPr lang="en-US" altLang="zh-CN" i="1">
                        <a:latin typeface="Cambria Math" charset="0"/>
                        <a:ea typeface="Calibri" charset="0"/>
                        <a:cs typeface="Calibri" charset="0"/>
                      </a:rPr>
                      <m:t>=80%</m:t>
                    </m:r>
                  </m:oMath>
                </a14:m>
                <a:endParaRPr lang="en-US" altLang="zh-CN" dirty="0">
                  <a:latin typeface="Calibri" charset="0"/>
                  <a:ea typeface="Calibri" charset="0"/>
                  <a:cs typeface="Calibri" charset="0"/>
                </a:endParaRP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8897" y="2972685"/>
                <a:ext cx="2195024" cy="485774"/>
              </a:xfrm>
              <a:prstGeom prst="rect">
                <a:avLst/>
              </a:prstGeom>
              <a:blipFill rotWithShape="0">
                <a:blip r:embed="rId3"/>
                <a:stretch>
                  <a:fillRect l="-2222" b="-88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图片 6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90488" y="3558188"/>
            <a:ext cx="524822" cy="5291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518122" y="3558188"/>
            <a:ext cx="1723550" cy="7848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lnSpc>
                <a:spcPct val="150000"/>
              </a:lnSpc>
            </a:pPr>
            <a:r>
              <a:rPr lang="zh-CN" altLang="en-US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STZhongsong" charset="-122"/>
                <a:ea typeface="STZhongsong" charset="-122"/>
                <a:cs typeface="STZhongsong" charset="-122"/>
              </a:rPr>
              <a:t>看指标很不错</a:t>
            </a:r>
            <a:endParaRPr lang="en-US" altLang="zh-CN" sz="1500" dirty="0">
              <a:solidFill>
                <a:schemeClr val="tx1">
                  <a:lumMod val="75000"/>
                  <a:lumOff val="25000"/>
                </a:schemeClr>
              </a:solidFill>
              <a:latin typeface="STZhongsong" charset="-122"/>
              <a:ea typeface="STZhongsong" charset="-122"/>
              <a:cs typeface="STZhongsong" charset="-122"/>
            </a:endParaRPr>
          </a:p>
          <a:p>
            <a:pPr algn="r">
              <a:lnSpc>
                <a:spcPct val="150000"/>
              </a:lnSpc>
            </a:pPr>
            <a:r>
              <a:rPr lang="zh-CN" altLang="en-US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STZhongsong" charset="-122"/>
                <a:ea typeface="STZhongsong" charset="-122"/>
                <a:cs typeface="STZhongsong" charset="-122"/>
              </a:rPr>
              <a:t>但总感觉哪里不对</a:t>
            </a:r>
            <a:endParaRPr lang="en-US" altLang="zh-CN" sz="1500" dirty="0">
              <a:solidFill>
                <a:schemeClr val="tx1">
                  <a:lumMod val="75000"/>
                  <a:lumOff val="25000"/>
                </a:schemeClr>
              </a:solidFill>
              <a:latin typeface="STZhongsong" charset="-122"/>
              <a:ea typeface="STZhongsong" charset="-122"/>
              <a:cs typeface="STZhongsong" charset="-122"/>
            </a:endParaRPr>
          </a:p>
        </p:txBody>
      </p:sp>
      <p:sp>
        <p:nvSpPr>
          <p:cNvPr id="15" name="Content Placeholder 2"/>
          <p:cNvSpPr txBox="1">
            <a:spLocks/>
          </p:cNvSpPr>
          <p:nvPr/>
        </p:nvSpPr>
        <p:spPr bwMode="auto">
          <a:xfrm>
            <a:off x="4074374" y="1505960"/>
            <a:ext cx="3082956" cy="21034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365125" indent="-282575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charset="2"/>
              <a:buChar char=""/>
              <a:defRPr sz="2800" kern="1200">
                <a:solidFill>
                  <a:schemeClr val="tx1"/>
                </a:solidFill>
                <a:latin typeface="+mn-lt"/>
                <a:ea typeface="+mn-ea"/>
                <a:cs typeface="华文中宋" charset="-122"/>
              </a:defRPr>
            </a:lvl1pPr>
            <a:lvl2pPr marL="639763" indent="-236538" algn="l" rtl="0" eaLnBrk="0" fontAlgn="base" hangingPunct="0">
              <a:spcBef>
                <a:spcPts val="550"/>
              </a:spcBef>
              <a:spcAft>
                <a:spcPct val="0"/>
              </a:spcAft>
              <a:buClr>
                <a:schemeClr val="accent1"/>
              </a:buClr>
              <a:buFont typeface="Verdana" charset="0"/>
              <a:buChar char="◦"/>
              <a:defRPr sz="2400" kern="1200">
                <a:solidFill>
                  <a:srgbClr val="0000CC"/>
                </a:solidFill>
                <a:latin typeface="+mn-lt"/>
                <a:ea typeface="+mn-ea"/>
                <a:cs typeface="华文中宋" charset="-122"/>
              </a:defRPr>
            </a:lvl2pPr>
            <a:lvl3pPr marL="88582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 2" charset="2"/>
              <a:buChar char=""/>
              <a:defRPr sz="2400" kern="1200">
                <a:solidFill>
                  <a:schemeClr val="tx1"/>
                </a:solidFill>
                <a:latin typeface="+mn-lt"/>
                <a:ea typeface="+mn-ea"/>
                <a:cs typeface="华文中宋" charset="-122"/>
              </a:defRPr>
            </a:lvl3pPr>
            <a:lvl4pPr marL="1096963" indent="-1730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BBB59"/>
              </a:buClr>
              <a:buFont typeface="Wingdings 2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华文中宋" charset="-122"/>
              </a:defRPr>
            </a:lvl4pPr>
            <a:lvl5pPr marL="1296988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Font typeface="Wingdings 2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华文中宋" charset="-122"/>
              </a:defRPr>
            </a:lvl5pPr>
            <a:lvl6pPr marL="150876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19072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024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30552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r>
              <a:rPr lang="zh-CN" altLang="en-US" sz="1800" dirty="0"/>
              <a:t>引入新的指标</a:t>
            </a:r>
            <a:endParaRPr lang="en-US" altLang="zh-CN" sz="1800" dirty="0"/>
          </a:p>
          <a:p>
            <a:pPr lvl="1"/>
            <a:r>
              <a:rPr lang="en-US" altLang="zh-CN" sz="1800" dirty="0"/>
              <a:t>Precision</a:t>
            </a:r>
            <a:r>
              <a:rPr lang="zh-CN" altLang="en-US" sz="1800" dirty="0"/>
              <a:t> </a:t>
            </a:r>
            <a:r>
              <a:rPr lang="en-US" altLang="zh-CN" sz="1800" dirty="0"/>
              <a:t>=</a:t>
            </a:r>
            <a:r>
              <a:rPr lang="zh-CN" altLang="en-US" sz="1800" dirty="0"/>
              <a:t> </a:t>
            </a:r>
            <a:r>
              <a:rPr lang="en-US" altLang="zh-CN" sz="1800" dirty="0"/>
              <a:t>50%</a:t>
            </a:r>
          </a:p>
          <a:p>
            <a:pPr lvl="1"/>
            <a:r>
              <a:rPr lang="en-US" altLang="zh-CN" sz="1800" dirty="0"/>
              <a:t>Recall</a:t>
            </a:r>
            <a:r>
              <a:rPr lang="zh-CN" altLang="en-US" sz="1800" dirty="0"/>
              <a:t> </a:t>
            </a:r>
            <a:r>
              <a:rPr lang="en-US" altLang="zh-CN" sz="1800" dirty="0"/>
              <a:t>=</a:t>
            </a:r>
            <a:r>
              <a:rPr lang="zh-CN" altLang="en-US" sz="1800" dirty="0"/>
              <a:t> </a:t>
            </a:r>
            <a:r>
              <a:rPr lang="en-US" altLang="zh-CN" sz="1800" dirty="0"/>
              <a:t>40%</a:t>
            </a:r>
          </a:p>
          <a:p>
            <a:pPr lvl="1"/>
            <a:r>
              <a:rPr lang="en-US" altLang="zh-CN" sz="1800" dirty="0"/>
              <a:t>F1</a:t>
            </a:r>
            <a:r>
              <a:rPr lang="zh-CN" altLang="en-US" sz="1800" dirty="0"/>
              <a:t> </a:t>
            </a:r>
            <a:r>
              <a:rPr lang="en-US" altLang="zh-CN" sz="1800" dirty="0"/>
              <a:t>Score</a:t>
            </a:r>
            <a:r>
              <a:rPr lang="zh-CN" altLang="en-US" sz="1800" dirty="0"/>
              <a:t> </a:t>
            </a:r>
            <a:r>
              <a:rPr lang="en-US" altLang="zh-CN" sz="1800" dirty="0"/>
              <a:t>=</a:t>
            </a:r>
            <a:r>
              <a:rPr lang="zh-CN" altLang="en-US" sz="1800" dirty="0"/>
              <a:t> </a:t>
            </a:r>
            <a:r>
              <a:rPr lang="en-US" altLang="zh-CN" sz="1800" dirty="0"/>
              <a:t>44%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35677" y="3598094"/>
            <a:ext cx="1915909" cy="4385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lnSpc>
                <a:spcPct val="150000"/>
              </a:lnSpc>
            </a:pPr>
            <a:r>
              <a:rPr lang="zh-CN" altLang="en-US" sz="1500">
                <a:solidFill>
                  <a:schemeClr val="accent2"/>
                </a:solidFill>
                <a:latin typeface="STZhongsong" charset="-122"/>
                <a:ea typeface="STZhongsong" charset="-122"/>
                <a:cs typeface="STZhongsong" charset="-122"/>
              </a:rPr>
              <a:t>实际分类效果</a:t>
            </a:r>
            <a:r>
              <a:rPr lang="zh-CN" altLang="en-US" sz="1500" dirty="0">
                <a:solidFill>
                  <a:schemeClr val="accent2"/>
                </a:solidFill>
                <a:latin typeface="STZhongsong" charset="-122"/>
                <a:ea typeface="STZhongsong" charset="-122"/>
                <a:cs typeface="STZhongsong" charset="-122"/>
              </a:rPr>
              <a:t>很差！</a:t>
            </a:r>
            <a:endParaRPr lang="en-US" altLang="zh-CN" sz="1500" dirty="0">
              <a:solidFill>
                <a:schemeClr val="accent2"/>
              </a:solidFill>
              <a:latin typeface="STZhongsong" charset="-122"/>
              <a:ea typeface="STZhongsong" charset="-122"/>
              <a:cs typeface="STZhongsong" charset="-122"/>
            </a:endParaRPr>
          </a:p>
        </p:txBody>
      </p:sp>
      <p:pic>
        <p:nvPicPr>
          <p:cNvPr id="19" name="图片 13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04405" y="3558188"/>
            <a:ext cx="525529" cy="525529"/>
          </a:xfrm>
          <a:prstGeom prst="rect">
            <a:avLst/>
          </a:prstGeom>
        </p:spPr>
      </p:pic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55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58424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总结：数据建模的四个</a:t>
            </a:r>
            <a:r>
              <a:rPr lang="zh-CN" altLang="en-US" dirty="0"/>
              <a:t>步骤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dirty="0" smtClean="0"/>
              <a:t>选择</a:t>
            </a:r>
            <a:r>
              <a:rPr lang="zh-CN" altLang="en-US" b="1" dirty="0"/>
              <a:t>某种</a:t>
            </a:r>
            <a:r>
              <a:rPr lang="zh-CN" altLang="en-US" b="1" dirty="0" smtClean="0"/>
              <a:t>模型</a:t>
            </a:r>
            <a:r>
              <a:rPr lang="zh-CN" altLang="en-US" b="1" dirty="0"/>
              <a:t> </a:t>
            </a:r>
            <a:r>
              <a:rPr lang="en-US" altLang="zh-CN" dirty="0"/>
              <a:t>–</a:t>
            </a:r>
            <a:r>
              <a:rPr lang="zh-CN" altLang="en-US" b="1" dirty="0" smtClean="0"/>
              <a:t> </a:t>
            </a:r>
            <a:r>
              <a:rPr lang="en-US" altLang="zh-CN" b="1" dirty="0" smtClean="0"/>
              <a:t>Model</a:t>
            </a:r>
            <a:endParaRPr lang="en-US" altLang="zh-CN" b="1" dirty="0"/>
          </a:p>
          <a:p>
            <a:pPr lvl="1"/>
            <a:r>
              <a:rPr lang="zh-CN" altLang="en-US" dirty="0" smtClean="0"/>
              <a:t>回归模型 </a:t>
            </a:r>
            <a:r>
              <a:rPr lang="en-US" altLang="zh-CN" dirty="0"/>
              <a:t>–</a:t>
            </a:r>
            <a:r>
              <a:rPr lang="zh-CN" altLang="en-US" dirty="0"/>
              <a:t> </a:t>
            </a:r>
            <a:r>
              <a:rPr lang="en-US" altLang="zh-CN" dirty="0" smtClean="0"/>
              <a:t>Linear</a:t>
            </a:r>
            <a:r>
              <a:rPr lang="zh-CN" altLang="en-US" dirty="0" smtClean="0"/>
              <a:t> </a:t>
            </a:r>
            <a:r>
              <a:rPr lang="en-US" altLang="zh-CN" dirty="0" smtClean="0"/>
              <a:t>Regression</a:t>
            </a:r>
            <a:endParaRPr lang="en-US" altLang="zh-CN" dirty="0"/>
          </a:p>
          <a:p>
            <a:pPr lvl="1"/>
            <a:r>
              <a:rPr lang="zh-CN" altLang="en-US" dirty="0" smtClean="0"/>
              <a:t>分类模型 </a:t>
            </a:r>
            <a:r>
              <a:rPr lang="en-US" altLang="zh-CN" dirty="0"/>
              <a:t>–</a:t>
            </a:r>
            <a:r>
              <a:rPr lang="zh-CN" altLang="en-US" dirty="0"/>
              <a:t> </a:t>
            </a:r>
            <a:r>
              <a:rPr lang="en-US" altLang="zh-CN" dirty="0" smtClean="0"/>
              <a:t>Logistic</a:t>
            </a:r>
            <a:r>
              <a:rPr lang="zh-CN" altLang="en-US" dirty="0" smtClean="0"/>
              <a:t> </a:t>
            </a:r>
            <a:r>
              <a:rPr lang="en-US" altLang="zh-CN" dirty="0" smtClean="0"/>
              <a:t>Regression,</a:t>
            </a:r>
            <a:r>
              <a:rPr lang="zh-CN" altLang="en-US" dirty="0" smtClean="0"/>
              <a:t> </a:t>
            </a:r>
            <a:r>
              <a:rPr lang="en-US" altLang="zh-CN" dirty="0" smtClean="0"/>
              <a:t>Perceptron,</a:t>
            </a:r>
            <a:r>
              <a:rPr lang="zh-CN" altLang="en-US" dirty="0" smtClean="0"/>
              <a:t> </a:t>
            </a:r>
            <a:r>
              <a:rPr lang="en-US" altLang="zh-CN" dirty="0" smtClean="0"/>
              <a:t>SVM,</a:t>
            </a:r>
            <a:r>
              <a:rPr lang="zh-CN" altLang="en-US" dirty="0" smtClean="0"/>
              <a:t> </a:t>
            </a:r>
            <a:r>
              <a:rPr lang="en-US" altLang="zh-CN" dirty="0" smtClean="0"/>
              <a:t>Decision</a:t>
            </a:r>
            <a:r>
              <a:rPr lang="zh-CN" altLang="en-US" dirty="0" smtClean="0"/>
              <a:t> </a:t>
            </a:r>
            <a:r>
              <a:rPr lang="en-US" altLang="zh-CN" dirty="0" smtClean="0"/>
              <a:t>Tree</a:t>
            </a:r>
            <a:endParaRPr lang="en-US" altLang="zh-CN" dirty="0"/>
          </a:p>
          <a:p>
            <a:pPr lvl="1"/>
            <a:r>
              <a:rPr lang="zh-CN" altLang="en-US" dirty="0" smtClean="0"/>
              <a:t>聚类模型 </a:t>
            </a:r>
            <a:r>
              <a:rPr lang="en-US" altLang="zh-CN" dirty="0" smtClean="0"/>
              <a:t>–</a:t>
            </a:r>
            <a:r>
              <a:rPr lang="zh-CN" altLang="en-US" dirty="0" smtClean="0"/>
              <a:t> </a:t>
            </a:r>
            <a:r>
              <a:rPr lang="en-US" altLang="zh-CN" dirty="0" smtClean="0"/>
              <a:t>K-Means,</a:t>
            </a:r>
            <a:r>
              <a:rPr lang="zh-CN" altLang="en-US" dirty="0" smtClean="0"/>
              <a:t> </a:t>
            </a:r>
            <a:r>
              <a:rPr lang="en-US" altLang="zh-CN" dirty="0" smtClean="0"/>
              <a:t>GMM</a:t>
            </a:r>
            <a:endParaRPr lang="en-US" altLang="zh-CN" dirty="0"/>
          </a:p>
          <a:p>
            <a:r>
              <a:rPr lang="zh-CN" altLang="en-US" b="1" dirty="0" smtClean="0"/>
              <a:t>选择</a:t>
            </a:r>
            <a:r>
              <a:rPr lang="zh-CN" altLang="en-US" b="1" dirty="0"/>
              <a:t>目标</a:t>
            </a:r>
            <a:r>
              <a:rPr lang="zh-CN" altLang="en-US" b="1" dirty="0" smtClean="0"/>
              <a:t>函数 </a:t>
            </a:r>
            <a:r>
              <a:rPr lang="en-US" altLang="zh-CN" dirty="0"/>
              <a:t>–</a:t>
            </a:r>
            <a:r>
              <a:rPr lang="zh-CN" altLang="en-US" b="1" dirty="0" smtClean="0"/>
              <a:t> </a:t>
            </a:r>
            <a:r>
              <a:rPr lang="en-US" altLang="zh-CN" b="1" dirty="0" smtClean="0"/>
              <a:t>Objective</a:t>
            </a:r>
            <a:endParaRPr lang="en-US" altLang="zh-CN" b="1" dirty="0"/>
          </a:p>
          <a:p>
            <a:pPr lvl="1"/>
            <a:r>
              <a:rPr lang="zh-CN" altLang="en-US" dirty="0" smtClean="0"/>
              <a:t>经验分享最小 </a:t>
            </a:r>
            <a:r>
              <a:rPr lang="en-US" altLang="zh-CN" dirty="0"/>
              <a:t>–</a:t>
            </a:r>
            <a:r>
              <a:rPr lang="zh-CN" altLang="en-US" dirty="0" smtClean="0"/>
              <a:t> </a:t>
            </a:r>
            <a:r>
              <a:rPr lang="en-US" altLang="zh-CN" dirty="0" smtClean="0"/>
              <a:t>Empirical</a:t>
            </a:r>
            <a:r>
              <a:rPr lang="zh-CN" altLang="en-US" dirty="0" smtClean="0"/>
              <a:t> </a:t>
            </a:r>
            <a:r>
              <a:rPr lang="en-US" altLang="zh-CN" dirty="0" smtClean="0"/>
              <a:t>Risk</a:t>
            </a:r>
            <a:r>
              <a:rPr lang="zh-CN" altLang="en-US" dirty="0" smtClean="0"/>
              <a:t> </a:t>
            </a:r>
            <a:r>
              <a:rPr lang="en-US" altLang="zh-CN" dirty="0" smtClean="0"/>
              <a:t>Minimization</a:t>
            </a:r>
            <a:endParaRPr lang="en-US" altLang="zh-CN" dirty="0"/>
          </a:p>
          <a:p>
            <a:pPr lvl="1"/>
            <a:r>
              <a:rPr lang="zh-CN" altLang="en-US" dirty="0" smtClean="0"/>
              <a:t>极大似然估计 </a:t>
            </a:r>
            <a:r>
              <a:rPr lang="en-US" altLang="zh-CN" dirty="0" smtClean="0"/>
              <a:t>–</a:t>
            </a:r>
            <a:r>
              <a:rPr lang="zh-CN" altLang="en-US" dirty="0" smtClean="0"/>
              <a:t> </a:t>
            </a:r>
            <a:r>
              <a:rPr lang="en-US" altLang="zh-CN" dirty="0" smtClean="0"/>
              <a:t>Maximum Likelihood Estimation</a:t>
            </a:r>
            <a:endParaRPr lang="en-US" altLang="zh-CN" dirty="0"/>
          </a:p>
          <a:p>
            <a:r>
              <a:rPr lang="zh-CN" altLang="en-US" b="1" dirty="0" smtClean="0"/>
              <a:t>优化</a:t>
            </a:r>
            <a:r>
              <a:rPr lang="zh-CN" altLang="en-US" b="1" dirty="0"/>
              <a:t>目标</a:t>
            </a:r>
            <a:r>
              <a:rPr lang="zh-CN" altLang="en-US" b="1" dirty="0" smtClean="0"/>
              <a:t>函数 </a:t>
            </a:r>
            <a:r>
              <a:rPr lang="en-US" altLang="zh-CN" dirty="0"/>
              <a:t>–</a:t>
            </a:r>
            <a:r>
              <a:rPr lang="zh-CN" altLang="en-US" b="1" dirty="0" smtClean="0"/>
              <a:t> </a:t>
            </a:r>
            <a:r>
              <a:rPr lang="en-US" altLang="zh-CN" b="1" dirty="0" smtClean="0"/>
              <a:t>Optimization</a:t>
            </a:r>
            <a:endParaRPr lang="en-US" altLang="zh-CN" b="1" dirty="0"/>
          </a:p>
          <a:p>
            <a:pPr lvl="1"/>
            <a:r>
              <a:rPr lang="zh-CN" altLang="en-US" dirty="0"/>
              <a:t>最小化</a:t>
            </a:r>
            <a:r>
              <a:rPr lang="en-US" altLang="zh-CN" dirty="0"/>
              <a:t>/</a:t>
            </a:r>
            <a:r>
              <a:rPr lang="zh-CN" altLang="en-US" dirty="0"/>
              <a:t>最大化目标</a:t>
            </a:r>
            <a:r>
              <a:rPr lang="zh-CN" altLang="en-US" dirty="0" smtClean="0"/>
              <a:t>函数</a:t>
            </a:r>
            <a:endParaRPr lang="en-US" altLang="zh-CN" dirty="0" smtClean="0"/>
          </a:p>
          <a:p>
            <a:r>
              <a:rPr lang="zh-CN" altLang="en-US" b="1" dirty="0" smtClean="0"/>
              <a:t>评测模型效果 </a:t>
            </a:r>
            <a:r>
              <a:rPr lang="en-US" altLang="zh-CN" b="1" dirty="0" smtClean="0"/>
              <a:t>–</a:t>
            </a:r>
            <a:r>
              <a:rPr lang="zh-CN" altLang="en-US" b="1" dirty="0" smtClean="0"/>
              <a:t> </a:t>
            </a:r>
            <a:r>
              <a:rPr lang="en-US" altLang="zh-CN" b="1" dirty="0" smtClean="0"/>
              <a:t>Evaluation</a:t>
            </a:r>
          </a:p>
          <a:p>
            <a:pPr lvl="1"/>
            <a:r>
              <a:rPr lang="zh-CN" altLang="en-US" dirty="0" smtClean="0"/>
              <a:t>评测指标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56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16663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DS04 – </a:t>
            </a:r>
            <a:r>
              <a:rPr lang="zh-CN" altLang="en-US" dirty="0"/>
              <a:t>文本数据分析</a:t>
            </a:r>
          </a:p>
        </p:txBody>
      </p:sp>
      <p:graphicFrame>
        <p:nvGraphicFramePr>
          <p:cNvPr id="4" name="内容占位符 3">
            <a:extLst>
              <a:ext uri="{FF2B5EF4-FFF2-40B4-BE49-F238E27FC236}">
                <a16:creationId xmlns="" xmlns:a16="http://schemas.microsoft.com/office/drawing/2014/main" id="{9D900ED1-B1D8-564B-B520-5E99E9691F3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13910864"/>
              </p:ext>
            </p:extLst>
          </p:nvPr>
        </p:nvGraphicFramePr>
        <p:xfrm>
          <a:off x="457200" y="819150"/>
          <a:ext cx="8229600" cy="3937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87439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7F81980C-217C-2840-A85E-C9D1AB0C3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LSI:</a:t>
            </a:r>
            <a:r>
              <a:rPr kumimoji="1" lang="zh-CN" altLang="en-US" dirty="0"/>
              <a:t> 从单词</a:t>
            </a:r>
            <a:r>
              <a:rPr kumimoji="1" lang="en-US" altLang="zh-CN" dirty="0"/>
              <a:t>-</a:t>
            </a:r>
            <a:r>
              <a:rPr kumimoji="1" lang="zh-CN" altLang="en-US" dirty="0"/>
              <a:t>文档的共现矩阵开始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="" xmlns:a16="http://schemas.microsoft.com/office/drawing/2014/main" id="{6750F4E8-D917-C147-AEA9-7C8FCFBD9B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14" y="959039"/>
            <a:ext cx="2416930" cy="1435219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="" xmlns:a16="http://schemas.microsoft.com/office/drawing/2014/main" id="{528048F6-FB62-BD4E-A039-7E2CBAEAF4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1096" y="873911"/>
            <a:ext cx="2179599" cy="164498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="" xmlns:a16="http://schemas.microsoft.com/office/drawing/2014/main" id="{A888B7CB-394C-4D46-930C-EB684BE96C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5570" y="959024"/>
            <a:ext cx="2320968" cy="1334679"/>
          </a:xfrm>
          <a:prstGeom prst="rect">
            <a:avLst/>
          </a:prstGeom>
        </p:spPr>
      </p:pic>
      <p:sp>
        <p:nvSpPr>
          <p:cNvPr id="12" name="右箭头 11">
            <a:extLst>
              <a:ext uri="{FF2B5EF4-FFF2-40B4-BE49-F238E27FC236}">
                <a16:creationId xmlns="" xmlns:a16="http://schemas.microsoft.com/office/drawing/2014/main" id="{CAC7C04D-2915-D644-9EC0-140E0405546A}"/>
              </a:ext>
            </a:extLst>
          </p:cNvPr>
          <p:cNvSpPr/>
          <p:nvPr/>
        </p:nvSpPr>
        <p:spPr>
          <a:xfrm>
            <a:off x="2719449" y="1461507"/>
            <a:ext cx="415637" cy="43293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右箭头 12">
            <a:extLst>
              <a:ext uri="{FF2B5EF4-FFF2-40B4-BE49-F238E27FC236}">
                <a16:creationId xmlns="" xmlns:a16="http://schemas.microsoft.com/office/drawing/2014/main" id="{D7F36AB3-74DB-9E4B-98D4-61EAC0F14010}"/>
              </a:ext>
            </a:extLst>
          </p:cNvPr>
          <p:cNvSpPr/>
          <p:nvPr/>
        </p:nvSpPr>
        <p:spPr>
          <a:xfrm>
            <a:off x="5875459" y="1467319"/>
            <a:ext cx="415637" cy="43293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15" name="图片 14">
            <a:extLst>
              <a:ext uri="{FF2B5EF4-FFF2-40B4-BE49-F238E27FC236}">
                <a16:creationId xmlns="" xmlns:a16="http://schemas.microsoft.com/office/drawing/2014/main" id="{D56380C7-207F-B649-A278-EEE0C8B537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514" y="3258444"/>
            <a:ext cx="3619257" cy="1491657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="" xmlns:a16="http://schemas.microsoft.com/office/drawing/2014/main" id="{4263EE71-79A8-F341-8AD4-8D8D873426D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40338" y="3259853"/>
            <a:ext cx="3673413" cy="1490248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="" xmlns:a16="http://schemas.microsoft.com/office/drawing/2014/main" id="{3EFD7245-B7B3-DA46-8B7B-A80753077E46}"/>
              </a:ext>
            </a:extLst>
          </p:cNvPr>
          <p:cNvSpPr txBox="1"/>
          <p:nvPr/>
        </p:nvSpPr>
        <p:spPr>
          <a:xfrm>
            <a:off x="1779600" y="4774168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词频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="" xmlns:a16="http://schemas.microsoft.com/office/drawing/2014/main" id="{392B208B-BC83-CF4F-88F3-C600CFEC30C3}"/>
              </a:ext>
            </a:extLst>
          </p:cNvPr>
          <p:cNvSpPr txBox="1"/>
          <p:nvPr/>
        </p:nvSpPr>
        <p:spPr>
          <a:xfrm>
            <a:off x="6487353" y="4750532"/>
            <a:ext cx="7793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TF-IDF</a:t>
            </a:r>
            <a:endParaRPr kumimoji="1"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="" xmlns:a16="http://schemas.microsoft.com/office/drawing/2014/main" id="{4B93DA9F-3DC7-7244-96D6-2F767557C560}"/>
              </a:ext>
            </a:extLst>
          </p:cNvPr>
          <p:cNvSpPr txBox="1"/>
          <p:nvPr/>
        </p:nvSpPr>
        <p:spPr>
          <a:xfrm>
            <a:off x="4062889" y="3912644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或者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="" xmlns:a16="http://schemas.microsoft.com/office/drawing/2014/main" id="{9B1D42F0-C81A-5A47-B5CA-68E52FFF7B03}"/>
              </a:ext>
            </a:extLst>
          </p:cNvPr>
          <p:cNvSpPr txBox="1"/>
          <p:nvPr/>
        </p:nvSpPr>
        <p:spPr>
          <a:xfrm>
            <a:off x="25170" y="2706927"/>
            <a:ext cx="30251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单词</a:t>
            </a:r>
            <a:r>
              <a:rPr kumimoji="1" lang="en-US" altLang="zh-CN" dirty="0"/>
              <a:t>-</a:t>
            </a:r>
            <a:r>
              <a:rPr kumimoji="1" lang="zh-CN" altLang="en-US" dirty="0"/>
              <a:t>文档共现矩阵可以为：</a:t>
            </a:r>
          </a:p>
        </p:txBody>
      </p:sp>
    </p:spTree>
    <p:extLst>
      <p:ext uri="{BB962C8B-B14F-4D97-AF65-F5344CB8AC3E}">
        <p14:creationId xmlns:p14="http://schemas.microsoft.com/office/powerpoint/2010/main" val="1079658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56B9FE15-BF2E-3A49-8188-3032B8A63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LSI</a:t>
            </a:r>
            <a:r>
              <a:rPr kumimoji="1" lang="zh-CN" altLang="en-US" dirty="0"/>
              <a:t>第一步：对单词</a:t>
            </a:r>
            <a:r>
              <a:rPr kumimoji="1" lang="en-US" altLang="zh-CN" dirty="0"/>
              <a:t>-</a:t>
            </a:r>
            <a:r>
              <a:rPr kumimoji="1" lang="zh-CN" altLang="en-US" dirty="0"/>
              <a:t>文档共现矩阵进行分解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>
                <a:extLst>
                  <a:ext uri="{FF2B5EF4-FFF2-40B4-BE49-F238E27FC236}">
                    <a16:creationId xmlns="" xmlns:a16="http://schemas.microsoft.com/office/drawing/2014/main" id="{2280A3FD-E6C1-A847-B028-A7973805D384}"/>
                  </a:ext>
                </a:extLst>
              </p:cNvPr>
              <p:cNvSpPr/>
              <p:nvPr/>
            </p:nvSpPr>
            <p:spPr>
              <a:xfrm>
                <a:off x="890982" y="2654648"/>
                <a:ext cx="7290778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800" dirty="0"/>
                  <a:t>SVD (singular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value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decomposition)</a:t>
                </a:r>
                <a:r>
                  <a:rPr lang="zh-CN" altLang="en-US" sz="2800" dirty="0"/>
                  <a:t>：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altLang="zh-CN" sz="2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8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𝑈</m:t>
                    </m:r>
                    <m:r>
                      <m:rPr>
                        <m:sty m:val="p"/>
                      </m:rPr>
                      <a:rPr lang="en-US" altLang="zh-CN" sz="2800">
                        <a:latin typeface="Cambria Math" panose="02040503050406030204" pitchFamily="18" charset="0"/>
                      </a:rPr>
                      <m:t>Σ</m:t>
                    </m:r>
                    <m:sSup>
                      <m:sSupPr>
                        <m:ctrlPr>
                          <a:rPr lang="en-US" altLang="zh-CN" sz="2800" i="1"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2280A3FD-E6C1-A847-B028-A7973805D38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0982" y="2654648"/>
                <a:ext cx="7290778" cy="523220"/>
              </a:xfrm>
              <a:prstGeom prst="rect">
                <a:avLst/>
              </a:prstGeom>
              <a:blipFill>
                <a:blip r:embed="rId2"/>
                <a:stretch>
                  <a:fillRect l="-1565" t="-14286" b="-3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" name="组合 11">
            <a:extLst>
              <a:ext uri="{FF2B5EF4-FFF2-40B4-BE49-F238E27FC236}">
                <a16:creationId xmlns="" xmlns:a16="http://schemas.microsoft.com/office/drawing/2014/main" id="{575F241C-218D-0A46-A284-6AA08FEE4640}"/>
              </a:ext>
            </a:extLst>
          </p:cNvPr>
          <p:cNvGrpSpPr/>
          <p:nvPr/>
        </p:nvGrpSpPr>
        <p:grpSpPr>
          <a:xfrm>
            <a:off x="2053460" y="1003633"/>
            <a:ext cx="4568115" cy="1490248"/>
            <a:chOff x="1840591" y="884812"/>
            <a:chExt cx="4568115" cy="1490248"/>
          </a:xfrm>
        </p:grpSpPr>
        <p:pic>
          <p:nvPicPr>
            <p:cNvPr id="10" name="图片 9">
              <a:extLst>
                <a:ext uri="{FF2B5EF4-FFF2-40B4-BE49-F238E27FC236}">
                  <a16:creationId xmlns="" xmlns:a16="http://schemas.microsoft.com/office/drawing/2014/main" id="{3EF2106A-9BA5-614A-929C-D9103224E32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735293" y="884812"/>
              <a:ext cx="3673413" cy="1490248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矩形 10">
                  <a:extLst>
                    <a:ext uri="{FF2B5EF4-FFF2-40B4-BE49-F238E27FC236}">
                      <a16:creationId xmlns="" xmlns:a16="http://schemas.microsoft.com/office/drawing/2014/main" id="{38493B6E-13FA-D44F-B865-14918571FA49}"/>
                    </a:ext>
                  </a:extLst>
                </p:cNvPr>
                <p:cNvSpPr/>
                <p:nvPr/>
              </p:nvSpPr>
              <p:spPr>
                <a:xfrm>
                  <a:off x="1840591" y="1282077"/>
                  <a:ext cx="892873" cy="52322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i="1" smtClean="0"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1" name="矩形 10">
                  <a:extLst>
                    <a:ext uri="{FF2B5EF4-FFF2-40B4-BE49-F238E27FC236}">
                      <a16:creationId xmlns:a16="http://schemas.microsoft.com/office/drawing/2014/main" id="{38493B6E-13FA-D44F-B865-14918571FA4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40591" y="1282077"/>
                  <a:ext cx="892873" cy="52322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895299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标题 1">
                <a:extLst>
                  <a:ext uri="{FF2B5EF4-FFF2-40B4-BE49-F238E27FC236}">
                    <a16:creationId xmlns="" xmlns:a16="http://schemas.microsoft.com/office/drawing/2014/main" id="{96C050E8-2FE5-A640-8A8F-34449B8E662F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kumimoji="1" lang="en-US" altLang="zh-CN" dirty="0"/>
                  <a:t>SVD</a:t>
                </a:r>
                <a:r>
                  <a:rPr kumimoji="1" lang="zh-CN" altLang="en-US" dirty="0"/>
                  <a:t>得到的</a:t>
                </a:r>
                <a:r>
                  <a:rPr kumimoji="1" lang="en-US" altLang="zh-CN" b="1" dirty="0">
                    <a:latin typeface="Times" pitchFamily="2" charset="0"/>
                  </a:rPr>
                  <a:t>U</a:t>
                </a:r>
                <a:r>
                  <a:rPr kumimoji="1" lang="zh-CN" altLang="en-US" b="1" dirty="0">
                    <a:latin typeface="Times" pitchFamily="2" charset="0"/>
                  </a:rPr>
                  <a:t>、</a:t>
                </a:r>
                <a14:m>
                  <m:oMath xmlns:m="http://schemas.openxmlformats.org/officeDocument/2006/math">
                    <m:r>
                      <a:rPr kumimoji="1" lang="en-US" altLang="zh-CN" sz="3200" b="1" i="0" smtClean="0">
                        <a:latin typeface="Cambria Math" panose="02040503050406030204" pitchFamily="18" charset="0"/>
                      </a:rPr>
                      <m:t>𝚺</m:t>
                    </m:r>
                  </m:oMath>
                </a14:m>
                <a:r>
                  <a:rPr kumimoji="1" lang="zh-CN" altLang="en-US" b="1" dirty="0">
                    <a:latin typeface="Times" pitchFamily="2" charset="0"/>
                  </a:rPr>
                  <a:t>、</a:t>
                </a:r>
                <a:r>
                  <a:rPr kumimoji="1" lang="en-US" altLang="zh-CN" b="1" dirty="0">
                    <a:latin typeface="Times" pitchFamily="2" charset="0"/>
                  </a:rPr>
                  <a:t>V</a:t>
                </a:r>
                <a:endParaRPr kumimoji="1" lang="zh-CN" altLang="en-US" b="1" dirty="0">
                  <a:latin typeface="Times" pitchFamily="2" charset="0"/>
                </a:endParaRPr>
              </a:p>
            </p:txBody>
          </p:sp>
        </mc:Choice>
        <mc:Fallback xmlns="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96C050E8-2FE5-A640-8A8F-34449B8E662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t="-12195" b="-365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="" xmlns:a16="http://schemas.microsoft.com/office/drawing/2014/main" id="{61EFDC3E-1BB1-3A45-B432-7041C872B01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2640570"/>
                <a:ext cx="8229600" cy="2115579"/>
              </a:xfrm>
            </p:spPr>
            <p:txBody>
              <a:bodyPr>
                <a:normAutofit fontScale="92500" lnSpcReduction="20000"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zh-CN" smtClean="0">
                        <a:latin typeface="Cambria Math" panose="02040503050406030204" pitchFamily="18" charset="0"/>
                      </a:rPr>
                      <m:t>Σ</m:t>
                    </m:r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kumimoji="1" lang="en-US" altLang="zh-CN" i="1">
                            <a:latin typeface="Cambria Math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kumimoji="1" lang="en-US" altLang="zh-CN" i="1">
                                <a:latin typeface="Cambria Math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kumimoji="1" lang="en-US" altLang="zh-CN" b="0" i="1" smtClean="0">
                                      <a:latin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b="0" i="1" smtClean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kumimoji="1" lang="en-US" altLang="zh-CN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⋱</m:t>
                              </m:r>
                            </m:e>
                            <m:e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</m:mr>
                          <m:mr>
                            <m:e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kumimoji="1" lang="en-US" altLang="zh-CN" b="0" i="1" smtClean="0">
                                      <a:latin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b="0" i="1" smtClean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kumimoji="1" lang="en-US" altLang="zh-CN" b="0" i="1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r>
                  <a:rPr kumimoji="1" lang="zh-CN" altLang="en-US" dirty="0"/>
                  <a:t>是对角方阵，</a:t>
                </a:r>
                <a:r>
                  <a:rPr kumimoji="1" lang="en-US" altLang="zh-C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⋯</m:t>
                    </m:r>
                    <m:sSub>
                      <m:sSubPr>
                        <m:ctrlPr>
                          <a:rPr kumimoji="1" lang="en-US" altLang="zh-CN" b="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kumimoji="1" lang="zh-CN" altLang="en-US" dirty="0"/>
                  <a:t>是</a:t>
                </a:r>
                <a:r>
                  <a:rPr kumimoji="1" lang="en-US" altLang="zh-CN" dirty="0"/>
                  <a:t>D</a:t>
                </a:r>
                <a:r>
                  <a:rPr kumimoji="1" lang="zh-CN" altLang="en-US" dirty="0"/>
                  <a:t>的</a:t>
                </a:r>
                <a:r>
                  <a:rPr kumimoji="1" lang="en-US" altLang="zh-CN" dirty="0"/>
                  <a:t>R</a:t>
                </a:r>
                <a:r>
                  <a:rPr kumimoji="1" lang="zh-CN" altLang="en-US" dirty="0"/>
                  <a:t>个非</a:t>
                </a:r>
                <a:r>
                  <a:rPr kumimoji="1" lang="en-US" altLang="zh-CN" dirty="0"/>
                  <a:t>0</a:t>
                </a:r>
                <a:r>
                  <a:rPr kumimoji="1" lang="zh-CN" altLang="en-US" dirty="0">
                    <a:solidFill>
                      <a:srgbClr val="C00000"/>
                    </a:solidFill>
                  </a:rPr>
                  <a:t>特征根</a:t>
                </a:r>
              </a:p>
              <a:p>
                <a:r>
                  <a:rPr kumimoji="1" lang="en-US" altLang="zh-CN" b="1" dirty="0">
                    <a:latin typeface="Times" pitchFamily="2" charset="0"/>
                  </a:rPr>
                  <a:t>U</a:t>
                </a:r>
                <a:r>
                  <a:rPr kumimoji="1" lang="zh-CN" altLang="en-US" dirty="0">
                    <a:latin typeface="Times" pitchFamily="2" charset="0"/>
                  </a:rPr>
                  <a:t>所</a:t>
                </a:r>
                <a:r>
                  <a:rPr kumimoji="1" lang="zh-CN" altLang="en-US" dirty="0"/>
                  <a:t>有的列都正交</a:t>
                </a:r>
                <a:r>
                  <a:rPr kumimoji="1" lang="en-US" altLang="zh-CN" dirty="0"/>
                  <a:t>:</a:t>
                </a:r>
                <a:r>
                  <a:rPr kumimoji="1" lang="zh-CN" altLang="en-US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kumimoji="1" lang="en-US" altLang="zh-CN" i="1">
                            <a:latin typeface="Cambria Math" charset="0"/>
                          </a:rPr>
                        </m:ctrlPr>
                      </m:sSubSupPr>
                      <m:e>
                        <m:r>
                          <a:rPr kumimoji="1" lang="en-US" altLang="zh-CN" b="1"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  <m:sub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sSubSup>
                      <m:sSubSupPr>
                        <m:ctrlPr>
                          <a:rPr kumimoji="1" lang="en-US" altLang="zh-CN" i="1">
                            <a:latin typeface="Cambria Math" charset="0"/>
                          </a:rPr>
                        </m:ctrlPr>
                      </m:sSubSupPr>
                      <m:e>
                        <m:r>
                          <a:rPr kumimoji="1" lang="en-US" altLang="zh-CN" b="1"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  <m:sub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kumimoji="1" lang="zh-CN" alt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bSup>
                    <m:r>
                      <a:rPr kumimoji="1" lang="en-US" altLang="zh-CN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kumimoji="1" lang="en-US" altLang="zh-CN" i="1">
                            <a:latin typeface="Cambria Math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kumimoji="1" lang="en-US" altLang="zh-CN" i="1">
                                <a:latin typeface="Cambria Math" charset="0"/>
                              </a:rPr>
                            </m:ctrlPr>
                          </m:eqArrPr>
                          <m:e>
                            <m:r>
                              <a:rPr kumimoji="1" lang="en-US" altLang="zh-CN" i="1">
                                <a:latin typeface="Cambria Math" panose="02040503050406030204" pitchFamily="18" charset="0"/>
                              </a:rPr>
                              <m:t>1,  </m:t>
                            </m:r>
                            <m:r>
                              <a:rPr kumimoji="1" lang="en-US" altLang="zh-CN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kumimoji="1" lang="en-US" altLang="zh-CN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kumimoji="1" lang="en-US" altLang="zh-CN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  <m:e>
                            <m:r>
                              <a:rPr kumimoji="1" lang="en-US" altLang="zh-CN" i="1"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kumimoji="1" lang="en-US" altLang="zh-CN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kumimoji="1" lang="en-US" altLang="zh-CN" i="1">
                                <a:latin typeface="Cambria Math" panose="02040503050406030204" pitchFamily="18" charset="0"/>
                              </a:rPr>
                              <m:t>,  </m:t>
                            </m:r>
                            <m:r>
                              <a:rPr kumimoji="1" lang="en-US" altLang="zh-CN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kumimoji="1" lang="en-US" altLang="zh-CN" i="1">
                                <a:latin typeface="Cambria Math" panose="02040503050406030204" pitchFamily="18" charset="0"/>
                              </a:rPr>
                              <m:t>≠</m:t>
                            </m:r>
                            <m:r>
                              <a:rPr kumimoji="1" lang="en-US" altLang="zh-CN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</m:eqArr>
                      </m:e>
                    </m:d>
                  </m:oMath>
                </a14:m>
                <a:r>
                  <a:rPr kumimoji="1" lang="zh-CN" altLang="en-US" dirty="0"/>
                  <a:t>，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kumimoji="1" lang="en-US" altLang="zh-CN" i="1">
                            <a:latin typeface="Cambria Math" charset="0"/>
                          </a:rPr>
                        </m:ctrlPr>
                      </m:sSubSupPr>
                      <m:e>
                        <m:r>
                          <a:rPr kumimoji="1" lang="en-US" altLang="zh-CN" b="1"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  <m:sub>
                        <m:r>
                          <a:rPr kumimoji="1" lang="en-US" altLang="zh-CN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  <m:sup>
                        <m:r>
                          <a:rPr kumimoji="1" lang="zh-CN" altLang="en-US" i="1"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bSup>
                  </m:oMath>
                </a14:m>
                <a:r>
                  <a:rPr kumimoji="1" lang="zh-CN" altLang="en-US" dirty="0"/>
                  <a:t>是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kumimoji="1" lang="zh-CN" altLang="en-US" dirty="0"/>
                  <a:t>对应</a:t>
                </a:r>
                <a:r>
                  <a:rPr kumimoji="1" lang="zh-CN" altLang="en-US" dirty="0">
                    <a:solidFill>
                      <a:srgbClr val="C00000"/>
                    </a:solidFill>
                  </a:rPr>
                  <a:t>左特征向量</a:t>
                </a:r>
                <a:endParaRPr kumimoji="1" lang="en-US" altLang="zh-CN" dirty="0">
                  <a:solidFill>
                    <a:srgbClr val="C00000"/>
                  </a:solidFill>
                </a:endParaRPr>
              </a:p>
              <a:p>
                <a:r>
                  <a:rPr kumimoji="1" lang="en-US" altLang="zh-CN" b="1" dirty="0">
                    <a:latin typeface="Times" pitchFamily="2" charset="0"/>
                  </a:rPr>
                  <a:t>V</a:t>
                </a:r>
                <a:r>
                  <a:rPr kumimoji="1" lang="zh-CN" altLang="en-US" dirty="0">
                    <a:latin typeface="Times" pitchFamily="2" charset="0"/>
                  </a:rPr>
                  <a:t>所</a:t>
                </a:r>
                <a:r>
                  <a:rPr kumimoji="1" lang="zh-CN" altLang="en-US" dirty="0"/>
                  <a:t>有的列都正交</a:t>
                </a:r>
                <a:r>
                  <a:rPr kumimoji="1" lang="en-US" altLang="zh-CN" dirty="0"/>
                  <a:t>:</a:t>
                </a:r>
                <a:r>
                  <a:rPr kumimoji="1" lang="zh-CN" altLang="en-US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kumimoji="1" lang="en-US" altLang="zh-CN" i="1">
                            <a:latin typeface="Cambria Math" charset="0"/>
                          </a:rPr>
                        </m:ctrlPr>
                      </m:sSubSupPr>
                      <m:e>
                        <m:r>
                          <a:rPr kumimoji="1" lang="en-US" altLang="zh-CN" b="1" i="0" smtClean="0">
                            <a:latin typeface="Cambria Math" panose="02040503050406030204" pitchFamily="18" charset="0"/>
                          </a:rPr>
                          <m:t>𝐯</m:t>
                        </m:r>
                      </m:e>
                      <m:sub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sSubSup>
                      <m:sSubSupPr>
                        <m:ctrlPr>
                          <a:rPr kumimoji="1" lang="en-US" altLang="zh-CN" i="1">
                            <a:latin typeface="Cambria Math" charset="0"/>
                          </a:rPr>
                        </m:ctrlPr>
                      </m:sSubSupPr>
                      <m:e>
                        <m:r>
                          <a:rPr kumimoji="1" lang="en-US" altLang="zh-CN" b="1" i="0" smtClean="0">
                            <a:latin typeface="Cambria Math" panose="02040503050406030204" pitchFamily="18" charset="0"/>
                          </a:rPr>
                          <m:t>𝐯</m:t>
                        </m:r>
                      </m:e>
                      <m:sub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kumimoji="1" lang="zh-CN" alt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bSup>
                    <m:r>
                      <a:rPr kumimoji="1" lang="en-US" altLang="zh-CN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kumimoji="1" lang="en-US" altLang="zh-CN" i="1">
                            <a:latin typeface="Cambria Math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kumimoji="1" lang="en-US" altLang="zh-CN" i="1">
                                <a:latin typeface="Cambria Math" charset="0"/>
                              </a:rPr>
                            </m:ctrlPr>
                          </m:eqArrPr>
                          <m:e>
                            <m:r>
                              <a:rPr kumimoji="1" lang="en-US" altLang="zh-CN" i="1">
                                <a:latin typeface="Cambria Math" panose="02040503050406030204" pitchFamily="18" charset="0"/>
                              </a:rPr>
                              <m:t>1,  </m:t>
                            </m:r>
                            <m:r>
                              <a:rPr kumimoji="1" lang="en-US" altLang="zh-CN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kumimoji="1" lang="en-US" altLang="zh-CN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kumimoji="1" lang="en-US" altLang="zh-CN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  <m:e>
                            <m:r>
                              <a:rPr kumimoji="1" lang="en-US" altLang="zh-CN" i="1"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kumimoji="1" lang="en-US" altLang="zh-CN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kumimoji="1" lang="en-US" altLang="zh-CN" i="1">
                                <a:latin typeface="Cambria Math" panose="02040503050406030204" pitchFamily="18" charset="0"/>
                              </a:rPr>
                              <m:t>,  </m:t>
                            </m:r>
                            <m:r>
                              <a:rPr kumimoji="1" lang="en-US" altLang="zh-CN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kumimoji="1" lang="en-US" altLang="zh-CN" i="1">
                                <a:latin typeface="Cambria Math" panose="02040503050406030204" pitchFamily="18" charset="0"/>
                              </a:rPr>
                              <m:t>≠</m:t>
                            </m:r>
                            <m:r>
                              <a:rPr kumimoji="1" lang="en-US" altLang="zh-CN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</m:eqArr>
                      </m:e>
                    </m:d>
                  </m:oMath>
                </a14:m>
                <a:r>
                  <a:rPr kumimoji="1" lang="zh-CN" altLang="en-US" dirty="0"/>
                  <a:t>，</a:t>
                </a:r>
                <a:r>
                  <a:rPr kumimoji="1" lang="en-US" altLang="zh-CN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kumimoji="1" lang="en-US" altLang="zh-CN" i="1">
                            <a:latin typeface="Cambria Math" charset="0"/>
                          </a:rPr>
                        </m:ctrlPr>
                      </m:sSubSupPr>
                      <m:e>
                        <m:r>
                          <a:rPr kumimoji="1" lang="en-US" altLang="zh-CN" b="1" i="0" smtClean="0">
                            <a:latin typeface="Cambria Math" panose="02040503050406030204" pitchFamily="18" charset="0"/>
                          </a:rPr>
                          <m:t>𝐯</m:t>
                        </m:r>
                      </m:e>
                      <m:sub>
                        <m:r>
                          <a:rPr kumimoji="1" lang="en-US" altLang="zh-CN" b="1" i="1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  <m:sup>
                        <m:r>
                          <a:rPr kumimoji="1" lang="zh-CN" altLang="en-US" i="1"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bSup>
                  </m:oMath>
                </a14:m>
                <a:r>
                  <a:rPr kumimoji="1" lang="zh-CN" altLang="en-US" dirty="0"/>
                  <a:t>是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kumimoji="1" lang="zh-CN" altLang="en-US" dirty="0"/>
                  <a:t>对应</a:t>
                </a:r>
                <a:r>
                  <a:rPr kumimoji="1" lang="zh-CN" altLang="en-US" dirty="0">
                    <a:solidFill>
                      <a:srgbClr val="C00000"/>
                    </a:solidFill>
                  </a:rPr>
                  <a:t>右特征向量</a:t>
                </a:r>
                <a:endParaRPr kumimoji="1" lang="en-US" altLang="zh-CN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1EFDC3E-1BB1-3A45-B432-7041C872B01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2640570"/>
                <a:ext cx="8229600" cy="2115579"/>
              </a:xfrm>
              <a:blipFill>
                <a:blip r:embed="rId3"/>
                <a:stretch>
                  <a:fillRect l="-617" t="-35329" b="-964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组合 3">
            <a:extLst>
              <a:ext uri="{FF2B5EF4-FFF2-40B4-BE49-F238E27FC236}">
                <a16:creationId xmlns="" xmlns:a16="http://schemas.microsoft.com/office/drawing/2014/main" id="{71F6CC1C-083B-2649-B5A9-4672DF9CF542}"/>
              </a:ext>
            </a:extLst>
          </p:cNvPr>
          <p:cNvGrpSpPr/>
          <p:nvPr/>
        </p:nvGrpSpPr>
        <p:grpSpPr>
          <a:xfrm>
            <a:off x="367571" y="794484"/>
            <a:ext cx="8621032" cy="1592449"/>
            <a:chOff x="165694" y="3110178"/>
            <a:chExt cx="8621032" cy="1592449"/>
          </a:xfrm>
        </p:grpSpPr>
        <p:grpSp>
          <p:nvGrpSpPr>
            <p:cNvPr id="5" name="组合 4">
              <a:extLst>
                <a:ext uri="{FF2B5EF4-FFF2-40B4-BE49-F238E27FC236}">
                  <a16:creationId xmlns="" xmlns:a16="http://schemas.microsoft.com/office/drawing/2014/main" id="{79C75C0A-D00D-954C-8C00-0D8DA01A4945}"/>
                </a:ext>
              </a:extLst>
            </p:cNvPr>
            <p:cNvGrpSpPr/>
            <p:nvPr/>
          </p:nvGrpSpPr>
          <p:grpSpPr>
            <a:xfrm>
              <a:off x="165694" y="3110178"/>
              <a:ext cx="8621032" cy="1592449"/>
              <a:chOff x="165694" y="3110178"/>
              <a:chExt cx="8621032" cy="1592449"/>
            </a:xfrm>
          </p:grpSpPr>
          <p:pic>
            <p:nvPicPr>
              <p:cNvPr id="11" name="图片 10">
                <a:extLst>
                  <a:ext uri="{FF2B5EF4-FFF2-40B4-BE49-F238E27FC236}">
                    <a16:creationId xmlns="" xmlns:a16="http://schemas.microsoft.com/office/drawing/2014/main" id="{B88E7BA1-C893-6440-825B-21C0AB21DB6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/>
              <a:srcRect r="36618"/>
              <a:stretch/>
            </p:blipFill>
            <p:spPr>
              <a:xfrm>
                <a:off x="165694" y="3111389"/>
                <a:ext cx="4668404" cy="1591238"/>
              </a:xfrm>
              <a:prstGeom prst="rect">
                <a:avLst/>
              </a:prstGeom>
            </p:spPr>
          </p:pic>
          <p:sp>
            <p:nvSpPr>
              <p:cNvPr id="12" name="文本框 11">
                <a:extLst>
                  <a:ext uri="{FF2B5EF4-FFF2-40B4-BE49-F238E27FC236}">
                    <a16:creationId xmlns="" xmlns:a16="http://schemas.microsoft.com/office/drawing/2014/main" id="{0F1B7AB3-8330-8244-8715-A8C91C36F3AD}"/>
                  </a:ext>
                </a:extLst>
              </p:cNvPr>
              <p:cNvSpPr txBox="1"/>
              <p:nvPr/>
            </p:nvSpPr>
            <p:spPr>
              <a:xfrm>
                <a:off x="2946333" y="3365027"/>
                <a:ext cx="486888" cy="64633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3600" dirty="0"/>
                  <a:t>=</a:t>
                </a:r>
                <a:endParaRPr kumimoji="1" lang="zh-CN" altLang="en-US" dirty="0"/>
              </a:p>
            </p:txBody>
          </p:sp>
          <p:pic>
            <p:nvPicPr>
              <p:cNvPr id="13" name="图片 12">
                <a:extLst>
                  <a:ext uri="{FF2B5EF4-FFF2-40B4-BE49-F238E27FC236}">
                    <a16:creationId xmlns="" xmlns:a16="http://schemas.microsoft.com/office/drawing/2014/main" id="{AFA7C138-BD05-CE47-B3A7-AE962575BE0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/>
              <a:srcRect l="56092" r="19"/>
              <a:stretch/>
            </p:blipFill>
            <p:spPr>
              <a:xfrm>
                <a:off x="5554098" y="3111389"/>
                <a:ext cx="3232628" cy="1591238"/>
              </a:xfrm>
              <a:prstGeom prst="rect">
                <a:avLst/>
              </a:prstGeom>
            </p:spPr>
          </p:pic>
          <p:sp>
            <p:nvSpPr>
              <p:cNvPr id="14" name="矩形 13">
                <a:extLst>
                  <a:ext uri="{FF2B5EF4-FFF2-40B4-BE49-F238E27FC236}">
                    <a16:creationId xmlns="" xmlns:a16="http://schemas.microsoft.com/office/drawing/2014/main" id="{1E35FFE4-BBD3-AE47-8351-3825A52C7216}"/>
                  </a:ext>
                </a:extLst>
              </p:cNvPr>
              <p:cNvSpPr/>
              <p:nvPr/>
            </p:nvSpPr>
            <p:spPr>
              <a:xfrm>
                <a:off x="4834098" y="3110178"/>
                <a:ext cx="1459336" cy="25484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5" name="矩形 14">
                <a:extLst>
                  <a:ext uri="{FF2B5EF4-FFF2-40B4-BE49-F238E27FC236}">
                    <a16:creationId xmlns="" xmlns:a16="http://schemas.microsoft.com/office/drawing/2014/main" id="{1D285966-6795-8041-BD76-8180A9ACA22C}"/>
                  </a:ext>
                </a:extLst>
              </p:cNvPr>
              <p:cNvSpPr/>
              <p:nvPr/>
            </p:nvSpPr>
            <p:spPr>
              <a:xfrm>
                <a:off x="4429496" y="4119257"/>
                <a:ext cx="1268192" cy="58336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6" name="矩形 15">
                <a:extLst>
                  <a:ext uri="{FF2B5EF4-FFF2-40B4-BE49-F238E27FC236}">
                    <a16:creationId xmlns="" xmlns:a16="http://schemas.microsoft.com/office/drawing/2014/main" id="{2DB5EAD1-99DF-6A47-9F3E-5DBC63544A8B}"/>
                  </a:ext>
                </a:extLst>
              </p:cNvPr>
              <p:cNvSpPr/>
              <p:nvPr/>
            </p:nvSpPr>
            <p:spPr>
              <a:xfrm>
                <a:off x="4869723" y="3365027"/>
                <a:ext cx="720000" cy="720000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p:cxnSp>
          <p:nvCxnSpPr>
            <p:cNvPr id="6" name="直线连接符 5">
              <a:extLst>
                <a:ext uri="{FF2B5EF4-FFF2-40B4-BE49-F238E27FC236}">
                  <a16:creationId xmlns="" xmlns:a16="http://schemas.microsoft.com/office/drawing/2014/main" id="{0517E093-4037-D041-BBEE-53FF3CABFBD1}"/>
                </a:ext>
              </a:extLst>
            </p:cNvPr>
            <p:cNvCxnSpPr/>
            <p:nvPr/>
          </p:nvCxnSpPr>
          <p:spPr>
            <a:xfrm>
              <a:off x="4869723" y="3365027"/>
              <a:ext cx="720000" cy="720000"/>
            </a:xfrm>
            <a:prstGeom prst="line">
              <a:avLst/>
            </a:prstGeom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7" name="文本框 6">
              <a:extLst>
                <a:ext uri="{FF2B5EF4-FFF2-40B4-BE49-F238E27FC236}">
                  <a16:creationId xmlns="" xmlns:a16="http://schemas.microsoft.com/office/drawing/2014/main" id="{CCB18FA7-28A6-3548-BAA3-1C08874FFF12}"/>
                </a:ext>
              </a:extLst>
            </p:cNvPr>
            <p:cNvSpPr txBox="1"/>
            <p:nvPr/>
          </p:nvSpPr>
          <p:spPr>
            <a:xfrm>
              <a:off x="5216787" y="3399257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kumimoji="1" lang="zh-CN" altLang="en-US" dirty="0"/>
            </a:p>
          </p:txBody>
        </p:sp>
        <p:pic>
          <p:nvPicPr>
            <p:cNvPr id="9" name="图片 8">
              <a:extLst>
                <a:ext uri="{FF2B5EF4-FFF2-40B4-BE49-F238E27FC236}">
                  <a16:creationId xmlns="" xmlns:a16="http://schemas.microsoft.com/office/drawing/2014/main" id="{CE084DAF-8F12-1E4E-B556-6A5FB13E9ED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654987" y="4117060"/>
              <a:ext cx="503486" cy="456650"/>
            </a:xfrm>
            <a:prstGeom prst="rect">
              <a:avLst/>
            </a:prstGeom>
          </p:spPr>
        </p:pic>
        <p:pic>
          <p:nvPicPr>
            <p:cNvPr id="10" name="图片 9">
              <a:extLst>
                <a:ext uri="{FF2B5EF4-FFF2-40B4-BE49-F238E27FC236}">
                  <a16:creationId xmlns="" xmlns:a16="http://schemas.microsoft.com/office/drawing/2014/main" id="{2EE080FC-4A97-FE42-B4C6-A2EFBBDE2B5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618280" y="3139170"/>
              <a:ext cx="461978" cy="375357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矩形 16">
                <a:extLst>
                  <a:ext uri="{FF2B5EF4-FFF2-40B4-BE49-F238E27FC236}">
                    <a16:creationId xmlns="" xmlns:a16="http://schemas.microsoft.com/office/drawing/2014/main" id="{5846A2C8-C9A1-844B-8D0A-B6F051FAC62E}"/>
                  </a:ext>
                </a:extLst>
              </p:cNvPr>
              <p:cNvSpPr/>
              <p:nvPr/>
            </p:nvSpPr>
            <p:spPr>
              <a:xfrm>
                <a:off x="5249958" y="1239577"/>
                <a:ext cx="43152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1">
                          <a:latin typeface="Cambria Math" panose="02040503050406030204" pitchFamily="18" charset="0"/>
                        </a:rPr>
                        <m:t>𝚺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5846A2C8-C9A1-844B-8D0A-B6F051FAC62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9958" y="1239577"/>
                <a:ext cx="431528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154169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27DF0A94-8890-AC49-9FD9-FA1562D78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SVD</a:t>
            </a:r>
            <a:r>
              <a:rPr kumimoji="1" lang="zh-CN" altLang="en-US" dirty="0"/>
              <a:t>计算示例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="" xmlns:a16="http://schemas.microsoft.com/office/drawing/2014/main" id="{69C6A9F0-F6FD-184A-BBBE-E6B93D2A769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819150"/>
                <a:ext cx="8229600" cy="4324350"/>
              </a:xfrm>
            </p:spPr>
            <p:txBody>
              <a:bodyPr>
                <a:normAutofit fontScale="77500" lnSpcReduction="2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kumimoji="1" lang="en-US" altLang="zh-CN" sz="3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sz="3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𝑈</m:t>
                      </m:r>
                      <m:r>
                        <m:rPr>
                          <m:sty m:val="p"/>
                        </m:rPr>
                        <a:rPr kumimoji="1" lang="en-US" altLang="zh-CN" sz="3800" b="0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Σ</m:t>
                      </m:r>
                      <m:sSup>
                        <m:sSupPr>
                          <m:ctrlPr>
                            <a:rPr kumimoji="1" lang="en-US" altLang="zh-CN" sz="3800" b="0" i="1" smtClean="0">
                              <a:solidFill>
                                <a:srgbClr val="C00000"/>
                              </a:solidFill>
                              <a:latin typeface="Cambria Math" charset="0"/>
                            </a:rPr>
                          </m:ctrlPr>
                        </m:sSupPr>
                        <m:e>
                          <m:r>
                            <a:rPr kumimoji="1" lang="en-US" altLang="zh-CN" sz="3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 kumimoji="1" lang="en-US" altLang="zh-CN" sz="3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kumimoji="1" lang="en-US" altLang="zh-CN" sz="3800" b="0" dirty="0">
                  <a:solidFill>
                    <a:srgbClr val="C00000"/>
                  </a:solidFill>
                </a:endParaRPr>
              </a:p>
              <a:p>
                <a:r>
                  <a:rPr kumimoji="1" lang="zh-CN" altLang="en-US" dirty="0"/>
                  <a:t>待分解矩阵：</a:t>
                </a:r>
                <a14:m>
                  <m:oMath xmlns:m="http://schemas.openxmlformats.org/officeDocument/2006/math">
                    <m:r>
                      <a:rPr kumimoji="1" lang="en-US" altLang="zh-CN" b="0" i="1" dirty="0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kumimoji="1" lang="en-US" altLang="zh-CN" b="0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kumimoji="1" lang="en-US" altLang="zh-CN" b="0" i="1" dirty="0" smtClean="0">
                            <a:latin typeface="Cambria Math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kumimoji="1" lang="en-US" altLang="zh-CN" i="1">
                                <a:latin typeface="Cambria Math" charset="0"/>
                              </a:rPr>
                            </m:ctrlPr>
                          </m:mPr>
                          <m:mr>
                            <m:e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kumimoji="1" lang="en-US" altLang="zh-CN" dirty="0"/>
              </a:p>
              <a:p>
                <a:endParaRPr kumimoji="1" lang="en-US" altLang="zh-CN" dirty="0"/>
              </a:p>
              <a:p>
                <a:r>
                  <a:rPr kumimoji="1" lang="zh-CN" altLang="en-US" dirty="0"/>
                  <a:t>第一步：计算特征值和左特征向量</a:t>
                </a:r>
                <a:r>
                  <a:rPr kumimoji="1" lang="en-US" altLang="zh-CN" b="1" dirty="0">
                    <a:latin typeface="Times" pitchFamily="2" charset="0"/>
                  </a:rPr>
                  <a:t>U</a:t>
                </a:r>
              </a:p>
              <a:p>
                <a:pPr marL="800100" lvl="1" indent="-342900">
                  <a:buFont typeface="+mj-lt"/>
                  <a:buAutoNum type="arabicPeriod"/>
                </a:pPr>
                <a:r>
                  <a:rPr kumimoji="1" lang="zh-CN" altLang="en-US" b="0" dirty="0"/>
                  <a:t> </a:t>
                </a:r>
                <a14:m>
                  <m:oMath xmlns:m="http://schemas.openxmlformats.org/officeDocument/2006/math">
                    <m:r>
                      <a:rPr kumimoji="1" lang="en-US" altLang="zh-CN" b="0" i="1" dirty="0" smtClean="0">
                        <a:latin typeface="Cambria Math" panose="02040503050406030204" pitchFamily="18" charset="0"/>
                      </a:rPr>
                      <m:t>𝐷</m:t>
                    </m:r>
                    <m:sSup>
                      <m:sSupPr>
                        <m:ctrlPr>
                          <a:rPr kumimoji="1" lang="en-US" altLang="zh-CN" b="0" i="1" dirty="0" smtClean="0">
                            <a:latin typeface="Cambria Math" charset="0"/>
                          </a:rPr>
                        </m:ctrlPr>
                      </m:sSupPr>
                      <m:e>
                        <m:r>
                          <a:rPr kumimoji="1" lang="en-US" altLang="zh-CN" b="0" i="1" dirty="0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a:rPr kumimoji="1" lang="en-US" altLang="zh-CN" b="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kumimoji="1" lang="en-US" altLang="zh-CN" i="1" dirty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kumimoji="1" lang="en-US" altLang="zh-CN" i="1" dirty="0">
                            <a:latin typeface="Cambria Math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kumimoji="1" lang="en-US" altLang="zh-CN" i="1" dirty="0" smtClean="0">
                                <a:latin typeface="Cambria Math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kumimoji="1" lang="en-US" altLang="zh-CN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kumimoji="1" lang="en-US" altLang="zh-CN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kumimoji="1" lang="en-US" altLang="zh-CN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kumimoji="1" lang="en-US" altLang="zh-CN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kumimoji="1" lang="en-US" altLang="zh-CN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kumimoji="1" lang="en-US" altLang="zh-CN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kumimoji="1" lang="en-US" altLang="zh-CN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kumimoji="1" lang="en-US" altLang="zh-CN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kumimoji="1" lang="en-US" altLang="zh-CN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kumimoji="1" lang="en-US" altLang="zh-CN" b="1" dirty="0">
                  <a:latin typeface="Times" pitchFamily="2" charset="0"/>
                </a:endParaRPr>
              </a:p>
              <a:p>
                <a:pPr marL="800100" lvl="1" indent="-342900">
                  <a:buFont typeface="+mj-lt"/>
                  <a:buAutoNum type="arabicPeriod"/>
                </a:pPr>
                <a:endParaRPr kumimoji="1" lang="en-US" altLang="zh-CN" b="1" dirty="0">
                  <a:latin typeface="Times" pitchFamily="2" charset="0"/>
                </a:endParaRPr>
              </a:p>
              <a:p>
                <a:pPr marL="800100" lvl="1" indent="-342900">
                  <a:buFont typeface="+mj-lt"/>
                  <a:buAutoNum type="arabicPeriod"/>
                </a:pPr>
                <a:r>
                  <a:rPr kumimoji="1" lang="zh-CN" altLang="en-US" dirty="0">
                    <a:latin typeface="Times" pitchFamily="2" charset="0"/>
                  </a:rPr>
                  <a:t>进行特征分解</a:t>
                </a:r>
                <a14:m>
                  <m:oMath xmlns:m="http://schemas.openxmlformats.org/officeDocument/2006/math">
                    <m:d>
                      <m:dPr>
                        <m:ctrlPr>
                          <a:rPr kumimoji="1" lang="en-US" altLang="zh-CN" b="0" i="1" dirty="0" smtClean="0">
                            <a:latin typeface="Cambria Math" charset="0"/>
                          </a:rPr>
                        </m:ctrlPr>
                      </m:dPr>
                      <m:e>
                        <m:r>
                          <a:rPr kumimoji="1" lang="en-US" altLang="zh-CN" i="1" dirty="0">
                            <a:latin typeface="Cambria Math" panose="02040503050406030204" pitchFamily="18" charset="0"/>
                          </a:rPr>
                          <m:t>𝐷</m:t>
                        </m:r>
                        <m:sSup>
                          <m:sSupPr>
                            <m:ctrlPr>
                              <a:rPr kumimoji="1" lang="en-US" altLang="zh-CN" i="1" dirty="0">
                                <a:latin typeface="Cambria Math" charset="0"/>
                              </a:rPr>
                            </m:ctrlPr>
                          </m:sSupPr>
                          <m:e>
                            <m:r>
                              <a:rPr kumimoji="1" lang="en-US" altLang="zh-CN" i="1" dirty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p>
                            <m:r>
                              <a:rPr kumimoji="1" lang="en-US" altLang="zh-CN" i="1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a:rPr kumimoji="1" lang="en-US" altLang="zh-CN" i="1" dirty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sSub>
                      <m:sSubPr>
                        <m:ctrlPr>
                          <a:rPr kumimoji="1" lang="en-US" altLang="zh-CN" b="0" i="1" dirty="0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kumimoji="1" lang="en-US" altLang="zh-CN" b="1" i="0" dirty="0" smtClean="0"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  <m:sub>
                        <m:r>
                          <a:rPr kumimoji="1" lang="en-US" altLang="zh-CN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kumimoji="1" lang="en-US" altLang="zh-CN" b="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kumimoji="1" lang="en-US" altLang="zh-CN" b="0" i="1" dirty="0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kumimoji="1" lang="en-US" altLang="zh-CN" b="0" i="1" dirty="0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kumimoji="1" lang="en-US" altLang="zh-CN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kumimoji="1" lang="en-US" altLang="zh-CN" i="1" dirty="0">
                            <a:latin typeface="Cambria Math" charset="0"/>
                          </a:rPr>
                        </m:ctrlPr>
                      </m:sSubPr>
                      <m:e>
                        <m:r>
                          <a:rPr kumimoji="1" lang="en-US" altLang="zh-CN" b="1" dirty="0"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  <m:sub>
                        <m:r>
                          <a:rPr kumimoji="1" lang="en-US" altLang="zh-CN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kumimoji="1" lang="zh-CN" altLang="en-US" dirty="0">
                    <a:latin typeface="Times" pitchFamily="2" charset="0"/>
                  </a:rPr>
                  <a:t>，得到特征值为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b="0" i="1" dirty="0" smtClean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kumimoji="1" lang="en-US" altLang="zh-CN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kumimoji="1" lang="en-US" altLang="zh-CN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kumimoji="1" lang="en-US" altLang="zh-CN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zh-CN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3,</m:t>
                    </m:r>
                    <m:r>
                      <a:rPr kumimoji="1" lang="zh-CN" altLang="en-US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kumimoji="1" lang="en-US" altLang="zh-CN" b="0" i="1" dirty="0" smtClean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kumimoji="1" lang="en-US" altLang="zh-CN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kumimoji="1" lang="en-US" altLang="zh-CN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kumimoji="1" lang="en-US" altLang="zh-CN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zh-CN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kumimoji="1" lang="en-US" altLang="zh-CN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kumimoji="1" lang="zh-CN" altLang="en-US" i="1" dirty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kumimoji="1" lang="en-US" altLang="zh-CN" b="0" i="1" dirty="0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kumimoji="1" lang="en-US" altLang="zh-CN" b="0" i="1" dirty="0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kumimoji="1" lang="en-US" altLang="zh-CN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kumimoji="1" lang="en-US" altLang="zh-CN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zh-CN" i="1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kumimoji="1" lang="zh-CN" altLang="en-US" dirty="0">
                    <a:latin typeface="Times" pitchFamily="2" charset="0"/>
                  </a:rPr>
                  <a:t>和对应的特征向量</a:t>
                </a:r>
                <a:r>
                  <a:rPr kumimoji="1" lang="en-US" altLang="zh-CN" dirty="0">
                    <a:latin typeface="Times" pitchFamily="2" charset="0"/>
                  </a:rPr>
                  <a:t/>
                </a:r>
                <a:br>
                  <a:rPr kumimoji="1" lang="en-US" altLang="zh-CN" dirty="0">
                    <a:latin typeface="Times" pitchFamily="2" charset="0"/>
                  </a:rPr>
                </a:br>
                <a:r>
                  <a:rPr kumimoji="1" lang="en-US" altLang="zh-CN" dirty="0">
                    <a:latin typeface="Times" pitchFamily="2" charset="0"/>
                  </a:rPr>
                  <a:t/>
                </a:r>
                <a:br>
                  <a:rPr kumimoji="1" lang="en-US" altLang="zh-CN" dirty="0">
                    <a:latin typeface="Times" pitchFamily="2" charset="0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b="0" i="1" smtClean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n-US" altLang="zh-CN" b="0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kumimoji="1" lang="en-US" altLang="zh-CN" b="0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kumimoji="1" lang="en-US" altLang="zh-CN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kumimoji="1" lang="en-US" altLang="zh-CN" i="1" smtClean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kumimoji="1" lang="en-US" altLang="zh-CN" i="1">
                                <a:solidFill>
                                  <a:srgbClr val="C00000"/>
                                </a:solidFill>
                                <a:latin typeface="Cambria Math" charset="0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type m:val="skw"/>
                                  <m:ctrlPr>
                                    <a:rPr kumimoji="1" lang="en-US" altLang="zh-CN" i="1">
                                      <a:solidFill>
                                        <a:srgbClr val="C00000"/>
                                      </a:solidFill>
                                      <a:latin typeface="Cambria Math" charset="0"/>
                                    </a:rPr>
                                  </m:ctrlPr>
                                </m:fPr>
                                <m:num>
                                  <m:r>
                                    <a:rPr kumimoji="1" lang="en-US" altLang="zh-CN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kumimoji="1" lang="en-US" altLang="zh-CN" i="1">
                                          <a:solidFill>
                                            <a:srgbClr val="C00000"/>
                                          </a:solidFill>
                                          <a:latin typeface="Cambria Math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kumimoji="1" lang="en-US" altLang="zh-CN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6</m:t>
                                      </m:r>
                                    </m:e>
                                  </m:rad>
                                </m:den>
                              </m:f>
                            </m:e>
                          </m:mr>
                          <m:mr>
                            <m:e>
                              <m:f>
                                <m:fPr>
                                  <m:type m:val="skw"/>
                                  <m:ctrlPr>
                                    <a:rPr kumimoji="1" lang="en-US" altLang="zh-CN" i="1">
                                      <a:solidFill>
                                        <a:srgbClr val="C00000"/>
                                      </a:solidFill>
                                      <a:latin typeface="Cambria Math" charset="0"/>
                                    </a:rPr>
                                  </m:ctrlPr>
                                </m:fPr>
                                <m:num>
                                  <m:r>
                                    <a:rPr kumimoji="1" lang="en-US" altLang="zh-CN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kumimoji="1" lang="en-US" altLang="zh-CN" i="1">
                                          <a:solidFill>
                                            <a:srgbClr val="C00000"/>
                                          </a:solidFill>
                                          <a:latin typeface="Cambria Math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kumimoji="1" lang="en-US" altLang="zh-CN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6</m:t>
                                      </m:r>
                                    </m:e>
                                  </m:rad>
                                </m:den>
                              </m:f>
                            </m:e>
                          </m:mr>
                          <m:mr>
                            <m:e>
                              <m:f>
                                <m:fPr>
                                  <m:type m:val="skw"/>
                                  <m:ctrlPr>
                                    <a:rPr kumimoji="1" lang="en-US" altLang="zh-CN" i="1">
                                      <a:solidFill>
                                        <a:srgbClr val="C00000"/>
                                      </a:solidFill>
                                      <a:latin typeface="Cambria Math" charset="0"/>
                                    </a:rPr>
                                  </m:ctrlPr>
                                </m:fPr>
                                <m:num>
                                  <m:r>
                                    <a:rPr kumimoji="1" lang="en-US" altLang="zh-CN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kumimoji="1" lang="en-US" altLang="zh-CN" i="1">
                                          <a:solidFill>
                                            <a:srgbClr val="C00000"/>
                                          </a:solidFill>
                                          <a:latin typeface="Cambria Math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kumimoji="1" lang="en-US" altLang="zh-CN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6</m:t>
                                      </m:r>
                                    </m:e>
                                  </m:rad>
                                </m:den>
                              </m:f>
                            </m:e>
                          </m:mr>
                        </m:m>
                      </m:e>
                    </m:d>
                  </m:oMath>
                </a14:m>
                <a:r>
                  <a:rPr kumimoji="1" lang="en-US" altLang="zh-CN" dirty="0">
                    <a:solidFill>
                      <a:srgbClr val="C00000"/>
                    </a:solidFill>
                  </a:rPr>
                  <a:t> ,</a:t>
                </a:r>
                <a:r>
                  <a:rPr kumimoji="1" lang="zh-CN" altLang="en-US" dirty="0">
                    <a:solidFill>
                      <a:srgbClr val="C0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b="0" i="1" smtClean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n-US" altLang="zh-CN" b="0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kumimoji="1" lang="en-US" altLang="zh-CN" b="0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kumimoji="1" lang="en-US" altLang="zh-CN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kumimoji="1" lang="en-US" altLang="zh-CN" i="1">
                            <a:solidFill>
                              <a:srgbClr val="C00000"/>
                            </a:solidFill>
                            <a:latin typeface="Cambria Math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kumimoji="1" lang="en-US" altLang="zh-CN" i="1">
                                <a:solidFill>
                                  <a:srgbClr val="C00000"/>
                                </a:solidFill>
                                <a:latin typeface="Cambria Math" charset="0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type m:val="skw"/>
                                  <m:ctrlPr>
                                    <a:rPr kumimoji="1" lang="en-US" altLang="zh-CN" i="1">
                                      <a:solidFill>
                                        <a:srgbClr val="C00000"/>
                                      </a:solidFill>
                                      <a:latin typeface="Cambria Math" charset="0"/>
                                    </a:rPr>
                                  </m:ctrlPr>
                                </m:fPr>
                                <m:num>
                                  <m:r>
                                    <a:rPr kumimoji="1" lang="en-US" altLang="zh-CN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kumimoji="1" lang="en-US" altLang="zh-CN" i="1">
                                          <a:solidFill>
                                            <a:srgbClr val="C00000"/>
                                          </a:solidFill>
                                          <a:latin typeface="Cambria Math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kumimoji="1" lang="en-US" altLang="zh-CN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</m:rad>
                                </m:den>
                              </m:f>
                            </m:e>
                          </m:mr>
                          <m:mr>
                            <m:e>
                              <m:r>
                                <a:rPr kumimoji="1" lang="en-US" altLang="zh-CN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f>
                                <m:fPr>
                                  <m:type m:val="skw"/>
                                  <m:ctrlPr>
                                    <a:rPr kumimoji="1" lang="en-US" altLang="zh-CN" i="1">
                                      <a:solidFill>
                                        <a:srgbClr val="C00000"/>
                                      </a:solidFill>
                                      <a:latin typeface="Cambria Math" charset="0"/>
                                    </a:rPr>
                                  </m:ctrlPr>
                                </m:fPr>
                                <m:num>
                                  <m:r>
                                    <a:rPr kumimoji="1" lang="en-US" altLang="zh-CN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kumimoji="1" lang="en-US" altLang="zh-CN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kumimoji="1" lang="en-US" altLang="zh-CN" i="1">
                                          <a:solidFill>
                                            <a:srgbClr val="C00000"/>
                                          </a:solidFill>
                                          <a:latin typeface="Cambria Math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kumimoji="1" lang="en-US" altLang="zh-CN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</m:rad>
                                </m:den>
                              </m:f>
                            </m:e>
                          </m:mr>
                        </m:m>
                      </m:e>
                    </m:d>
                  </m:oMath>
                </a14:m>
                <a:r>
                  <a:rPr kumimoji="1" lang="en-US" altLang="zh-C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b="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n-US" altLang="zh-CN" b="0" i="0" smtClean="0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kumimoji="1" lang="en-US" altLang="zh-CN" b="0" i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kumimoji="1" lang="en-US" altLang="zh-CN" b="0" i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kumimoji="1" lang="en-US" altLang="zh-CN" i="1">
                            <a:latin typeface="Cambria Math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kumimoji="1" lang="en-US" altLang="zh-CN" i="1">
                                <a:latin typeface="Cambria Math" charset="0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type m:val="skw"/>
                                  <m:ctrlPr>
                                    <a:rPr kumimoji="1" lang="en-US" altLang="zh-CN" i="1">
                                      <a:latin typeface="Cambria Math" charset="0"/>
                                    </a:rPr>
                                  </m:ctrlPr>
                                </m:fPr>
                                <m:num>
                                  <m:r>
                                    <a:rPr kumimoji="1" lang="en-US" altLang="zh-CN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kumimoji="1" lang="en-US" altLang="zh-CN" i="1">
                                          <a:latin typeface="Cambria Math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kumimoji="1"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e>
                                  </m:rad>
                                </m:den>
                              </m:f>
                            </m:e>
                          </m:mr>
                          <m:mr>
                            <m:e>
                              <m:f>
                                <m:fPr>
                                  <m:type m:val="skw"/>
                                  <m:ctrlPr>
                                    <a:rPr kumimoji="1" lang="en-US" altLang="zh-CN" i="1">
                                      <a:latin typeface="Cambria Math" charset="0"/>
                                    </a:rPr>
                                  </m:ctrlPr>
                                </m:fPr>
                                <m:num>
                                  <m:r>
                                    <a:rPr kumimoji="1" lang="en-US" altLang="zh-CN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kumimoji="1" lang="en-US" altLang="zh-CN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kumimoji="1" lang="en-US" altLang="zh-CN" i="1">
                                          <a:latin typeface="Cambria Math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kumimoji="1" lang="en-US" altLang="zh-CN" i="1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e>
                                  </m:rad>
                                </m:den>
                              </m:f>
                            </m:e>
                          </m:mr>
                          <m:mr>
                            <m:e>
                              <m:f>
                                <m:fPr>
                                  <m:type m:val="skw"/>
                                  <m:ctrlPr>
                                    <a:rPr kumimoji="1" lang="en-US" altLang="zh-CN" i="1">
                                      <a:latin typeface="Cambria Math" charset="0"/>
                                    </a:rPr>
                                  </m:ctrlPr>
                                </m:fPr>
                                <m:num>
                                  <m:r>
                                    <a:rPr kumimoji="1" lang="en-US" altLang="zh-CN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kumimoji="1" lang="en-US" altLang="zh-CN" i="1">
                                          <a:latin typeface="Cambria Math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kumimoji="1" lang="en-US" altLang="zh-CN" i="1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e>
                                  </m:rad>
                                </m:den>
                              </m:f>
                            </m:e>
                          </m:mr>
                        </m:m>
                      </m:e>
                    </m:d>
                  </m:oMath>
                </a14:m>
                <a:endParaRPr kumimoji="1" lang="en-US" altLang="zh-CN" dirty="0">
                  <a:latin typeface="Times" pitchFamily="2" charset="0"/>
                </a:endParaRPr>
              </a:p>
              <a:p>
                <a:pPr marL="800100" lvl="1" indent="-342900">
                  <a:buFont typeface="+mj-lt"/>
                  <a:buAutoNum type="arabicPeriod"/>
                </a:pPr>
                <a:r>
                  <a:rPr kumimoji="1" lang="zh-CN" altLang="en-US" dirty="0">
                    <a:latin typeface="Times" pitchFamily="2" charset="0"/>
                  </a:rPr>
                  <a:t>舍弃特征值为</a:t>
                </a:r>
                <a:r>
                  <a:rPr kumimoji="1" lang="en-US" altLang="zh-CN" dirty="0">
                    <a:latin typeface="Times" pitchFamily="2" charset="0"/>
                  </a:rPr>
                  <a:t>0</a:t>
                </a:r>
                <a:r>
                  <a:rPr kumimoji="1" lang="zh-CN" altLang="en-US" dirty="0">
                    <a:latin typeface="Times" pitchFamily="2" charset="0"/>
                  </a:rPr>
                  <a:t>的向量，</a:t>
                </a:r>
                <a14:m>
                  <m:oMath xmlns:m="http://schemas.openxmlformats.org/officeDocument/2006/math">
                    <m:r>
                      <a:rPr kumimoji="1" lang="en-US" altLang="zh-CN" i="1" dirty="0">
                        <a:latin typeface="Cambria Math" panose="02040503050406030204" pitchFamily="18" charset="0"/>
                      </a:rPr>
                      <m:t>𝑈</m:t>
                    </m:r>
                    <m:r>
                      <a:rPr kumimoji="1" lang="en-US" altLang="zh-CN" i="1" dirty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kumimoji="1" lang="en-US" altLang="zh-CN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kumimoji="1" lang="en-US" altLang="zh-CN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type m:val="skw"/>
                                  <m:ctrlPr>
                                    <a:rPr kumimoji="1" lang="en-US" altLang="zh-CN" i="1">
                                      <a:solidFill>
                                        <a:schemeClr val="tx1"/>
                                      </a:solidFill>
                                      <a:latin typeface="Cambria Math" charset="0"/>
                                    </a:rPr>
                                  </m:ctrlPr>
                                </m:fPr>
                                <m:num>
                                  <m:r>
                                    <a:rPr kumimoji="1" lang="en-US" altLang="zh-CN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kumimoji="1" lang="en-US" altLang="zh-CN" i="1">
                                          <a:solidFill>
                                            <a:schemeClr val="tx1"/>
                                          </a:solidFill>
                                          <a:latin typeface="Cambria Math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kumimoji="1" lang="en-US" altLang="zh-CN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6</m:t>
                                      </m:r>
                                    </m:e>
                                  </m:rad>
                                </m:den>
                              </m:f>
                            </m:e>
                            <m:e>
                              <m:f>
                                <m:fPr>
                                  <m:type m:val="skw"/>
                                  <m:ctrlPr>
                                    <a:rPr kumimoji="1" lang="en-US" altLang="zh-CN" i="1">
                                      <a:solidFill>
                                        <a:schemeClr val="tx1"/>
                                      </a:solidFill>
                                      <a:latin typeface="Cambria Math" charset="0"/>
                                    </a:rPr>
                                  </m:ctrlPr>
                                </m:fPr>
                                <m:num>
                                  <m:r>
                                    <a:rPr kumimoji="1" lang="en-US" altLang="zh-CN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kumimoji="1" lang="en-US" altLang="zh-CN" i="1">
                                          <a:solidFill>
                                            <a:schemeClr val="tx1"/>
                                          </a:solidFill>
                                          <a:latin typeface="Cambria Math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kumimoji="1" lang="en-US" altLang="zh-CN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</m:rad>
                                </m:den>
                              </m:f>
                            </m:e>
                          </m:mr>
                          <m:mr>
                            <m:e>
                              <m:f>
                                <m:fPr>
                                  <m:type m:val="skw"/>
                                  <m:ctrlPr>
                                    <a:rPr kumimoji="1" lang="en-US" altLang="zh-CN" i="1">
                                      <a:solidFill>
                                        <a:schemeClr val="tx1"/>
                                      </a:solidFill>
                                      <a:latin typeface="Cambria Math" charset="0"/>
                                    </a:rPr>
                                  </m:ctrlPr>
                                </m:fPr>
                                <m:num>
                                  <m:r>
                                    <a:rPr kumimoji="1" lang="en-US" altLang="zh-CN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kumimoji="1" lang="en-US" altLang="zh-CN" i="1">
                                          <a:solidFill>
                                            <a:schemeClr val="tx1"/>
                                          </a:solidFill>
                                          <a:latin typeface="Cambria Math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kumimoji="1" lang="en-US" altLang="zh-CN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6</m:t>
                                      </m:r>
                                    </m:e>
                                  </m:rad>
                                </m:den>
                              </m:f>
                            </m:e>
                            <m:e>
                              <m:r>
                                <a:rPr kumimoji="1"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f>
                                <m:fPr>
                                  <m:type m:val="skw"/>
                                  <m:ctrlPr>
                                    <a:rPr kumimoji="1" lang="en-US" altLang="zh-CN" i="1">
                                      <a:solidFill>
                                        <a:schemeClr val="tx1"/>
                                      </a:solidFill>
                                      <a:latin typeface="Cambria Math" charset="0"/>
                                    </a:rPr>
                                  </m:ctrlPr>
                                </m:fPr>
                                <m:num>
                                  <m:r>
                                    <a:rPr kumimoji="1" lang="en-US" altLang="zh-CN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kumimoji="1" lang="en-US" altLang="zh-CN" i="1">
                                          <a:solidFill>
                                            <a:schemeClr val="tx1"/>
                                          </a:solidFill>
                                          <a:latin typeface="Cambria Math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kumimoji="1" lang="en-US" altLang="zh-CN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6</m:t>
                                      </m:r>
                                    </m:e>
                                  </m:rad>
                                </m:den>
                              </m:f>
                            </m:e>
                            <m:e>
                              <m:f>
                                <m:fPr>
                                  <m:type m:val="skw"/>
                                  <m:ctrlPr>
                                    <a:rPr kumimoji="1" lang="en-US" altLang="zh-CN" i="1">
                                      <a:solidFill>
                                        <a:schemeClr val="tx1"/>
                                      </a:solidFill>
                                      <a:latin typeface="Cambria Math" charset="0"/>
                                    </a:rPr>
                                  </m:ctrlPr>
                                </m:fPr>
                                <m:num>
                                  <m:r>
                                    <a:rPr kumimoji="1" lang="en-US" altLang="zh-CN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kumimoji="1" lang="en-US" altLang="zh-CN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kumimoji="1" lang="en-US" altLang="zh-CN" i="1">
                                          <a:solidFill>
                                            <a:schemeClr val="tx1"/>
                                          </a:solidFill>
                                          <a:latin typeface="Cambria Math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kumimoji="1" lang="en-US" altLang="zh-CN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</m:rad>
                                </m:den>
                              </m:f>
                            </m:e>
                          </m:mr>
                        </m:m>
                      </m:e>
                    </m:d>
                  </m:oMath>
                </a14:m>
                <a:endParaRPr kumimoji="1" lang="en-US" altLang="zh-CN" b="1" dirty="0">
                  <a:latin typeface="Times" pitchFamily="2" charset="0"/>
                </a:endParaRPr>
              </a:p>
              <a:p>
                <a:pPr marL="457200" lvl="1" indent="0">
                  <a:buNone/>
                </a:pPr>
                <a:endParaRPr kumimoji="1" lang="en-US" altLang="zh-CN" dirty="0">
                  <a:latin typeface="Times" pitchFamily="2" charset="0"/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69C6A9F0-F6FD-184A-BBBE-E6B93D2A769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819150"/>
                <a:ext cx="8229600" cy="4324350"/>
              </a:xfrm>
              <a:blipFill rotWithShape="0">
                <a:blip r:embed="rId2"/>
                <a:stretch>
                  <a:fillRect l="-2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505991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27DF0A94-8890-AC49-9FD9-FA1562D78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SVD</a:t>
            </a:r>
            <a:r>
              <a:rPr kumimoji="1" lang="zh-CN" altLang="en-US" dirty="0"/>
              <a:t>计算示例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="" xmlns:a16="http://schemas.microsoft.com/office/drawing/2014/main" id="{69C6A9F0-F6FD-184A-BBBE-E6B93D2A769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804223"/>
                <a:ext cx="8787740" cy="3937000"/>
              </a:xfrm>
            </p:spPr>
            <p:txBody>
              <a:bodyPr>
                <a:normAutofit fontScale="70000" lnSpcReduction="2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kumimoji="1" lang="en-US" altLang="zh-CN" sz="3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sz="3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𝑈</m:t>
                      </m:r>
                      <m:r>
                        <m:rPr>
                          <m:sty m:val="p"/>
                        </m:rPr>
                        <a:rPr kumimoji="1" lang="en-US" altLang="zh-CN" sz="3800" b="0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Σ</m:t>
                      </m:r>
                      <m:sSup>
                        <m:sSupPr>
                          <m:ctrlPr>
                            <a:rPr kumimoji="1" lang="en-US" altLang="zh-CN" sz="3800" b="0" i="1" smtClean="0">
                              <a:solidFill>
                                <a:srgbClr val="C00000"/>
                              </a:solidFill>
                              <a:latin typeface="Cambria Math" charset="0"/>
                            </a:rPr>
                          </m:ctrlPr>
                        </m:sSupPr>
                        <m:e>
                          <m:r>
                            <a:rPr kumimoji="1" lang="en-US" altLang="zh-CN" sz="3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 kumimoji="1" lang="en-US" altLang="zh-CN" sz="3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kumimoji="1" lang="en-US" altLang="zh-CN" sz="3800" b="0" dirty="0">
                  <a:solidFill>
                    <a:srgbClr val="C00000"/>
                  </a:solidFill>
                </a:endParaRPr>
              </a:p>
              <a:p>
                <a:r>
                  <a:rPr kumimoji="1" lang="zh-CN" altLang="en-US" dirty="0"/>
                  <a:t>第二步：计算右特征向量</a:t>
                </a:r>
                <a:r>
                  <a:rPr kumimoji="1" lang="en-US" altLang="zh-CN" b="1" dirty="0">
                    <a:latin typeface="Times" pitchFamily="2" charset="0"/>
                  </a:rPr>
                  <a:t>V</a:t>
                </a:r>
              </a:p>
              <a:p>
                <a:pPr marL="800100" lvl="1" indent="-342900">
                  <a:buFont typeface="+mj-lt"/>
                  <a:buAutoNum type="arabicPeriod"/>
                </a:pPr>
                <a:r>
                  <a:rPr kumimoji="1" lang="zh-CN" altLang="en-US" b="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zh-CN" b="0" i="1" dirty="0" smtClean="0">
                            <a:latin typeface="Cambria Math" charset="0"/>
                          </a:rPr>
                        </m:ctrlPr>
                      </m:sSupPr>
                      <m:e>
                        <m:r>
                          <a:rPr kumimoji="1" lang="en-US" altLang="zh-CN" b="0" i="1" dirty="0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a:rPr kumimoji="1" lang="en-US" altLang="zh-CN" b="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kumimoji="1" lang="en-US" altLang="zh-CN" b="0" i="1" dirty="0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kumimoji="1" lang="en-US" altLang="zh-CN" i="1" dirty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kumimoji="1" lang="en-US" altLang="zh-CN" i="1" dirty="0">
                            <a:latin typeface="Cambria Math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kumimoji="1" lang="en-US" altLang="zh-CN" i="1" dirty="0" smtClean="0">
                                <a:latin typeface="Cambria Math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kumimoji="1" lang="en-US" altLang="zh-CN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kumimoji="1" lang="en-US" altLang="zh-CN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kumimoji="1" lang="en-US" altLang="zh-CN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kumimoji="1" lang="en-US" altLang="zh-CN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kumimoji="1" lang="en-US" altLang="zh-CN" b="1" dirty="0">
                  <a:latin typeface="Times" pitchFamily="2" charset="0"/>
                </a:endParaRPr>
              </a:p>
              <a:p>
                <a:pPr marL="800100" lvl="1" indent="-342900">
                  <a:buFont typeface="+mj-lt"/>
                  <a:buAutoNum type="arabicPeriod"/>
                </a:pPr>
                <a:r>
                  <a:rPr kumimoji="1" lang="zh-CN" altLang="en-US" dirty="0">
                    <a:latin typeface="Times" pitchFamily="2" charset="0"/>
                  </a:rPr>
                  <a:t>基于非</a:t>
                </a:r>
                <a:r>
                  <a:rPr kumimoji="1" lang="en-US" altLang="zh-CN" dirty="0">
                    <a:latin typeface="Times" pitchFamily="2" charset="0"/>
                  </a:rPr>
                  <a:t>0</a:t>
                </a:r>
                <a:r>
                  <a:rPr kumimoji="1" lang="zh-CN" altLang="en-US" dirty="0">
                    <a:latin typeface="Times" pitchFamily="2" charset="0"/>
                  </a:rPr>
                  <a:t>特征值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i="1" dirty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kumimoji="1" lang="en-US" altLang="zh-CN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kumimoji="1" lang="en-US" altLang="zh-CN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kumimoji="1" lang="en-US" altLang="zh-CN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=3,</m:t>
                    </m:r>
                    <m:r>
                      <a:rPr kumimoji="1" lang="zh-CN" altLang="en-US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kumimoji="1" lang="en-US" altLang="zh-CN" i="1" dirty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kumimoji="1" lang="en-US" altLang="zh-CN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kumimoji="1" lang="en-US" altLang="zh-CN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kumimoji="1" lang="en-US" altLang="zh-CN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=1 </m:t>
                    </m:r>
                  </m:oMath>
                </a14:m>
                <a:r>
                  <a:rPr kumimoji="1" lang="zh-CN" altLang="en-US" b="1" dirty="0">
                    <a:solidFill>
                      <a:srgbClr val="C00000"/>
                    </a:solidFill>
                    <a:latin typeface="Times" pitchFamily="2" charset="0"/>
                  </a:rPr>
                  <a:t>，</a:t>
                </a:r>
                <a:r>
                  <a:rPr kumimoji="1" lang="zh-CN" altLang="en-US" dirty="0">
                    <a:latin typeface="Times" pitchFamily="2" charset="0"/>
                  </a:rPr>
                  <a:t>进行特征分解</a:t>
                </a:r>
                <a14:m>
                  <m:oMath xmlns:m="http://schemas.openxmlformats.org/officeDocument/2006/math">
                    <m:d>
                      <m:dPr>
                        <m:ctrlPr>
                          <a:rPr kumimoji="1" lang="en-US" altLang="zh-CN" b="0" i="1" dirty="0" smtClean="0">
                            <a:latin typeface="Cambria Math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kumimoji="1" lang="en-US" altLang="zh-CN" i="1" dirty="0">
                                <a:latin typeface="Cambria Math" charset="0"/>
                              </a:rPr>
                            </m:ctrlPr>
                          </m:sSupPr>
                          <m:e>
                            <m:r>
                              <a:rPr kumimoji="1" lang="en-US" altLang="zh-CN" i="1" dirty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p>
                            <m:r>
                              <a:rPr kumimoji="1" lang="en-US" altLang="zh-CN" i="1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a:rPr kumimoji="1" lang="en-US" altLang="zh-CN" i="1" dirty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  <m:sSub>
                      <m:sSubPr>
                        <m:ctrlPr>
                          <a:rPr kumimoji="1" lang="en-US" altLang="zh-CN" b="0" i="1" dirty="0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kumimoji="1" lang="en-US" altLang="zh-CN" b="1" i="0" dirty="0" smtClean="0">
                            <a:latin typeface="Cambria Math" panose="02040503050406030204" pitchFamily="18" charset="0"/>
                          </a:rPr>
                          <m:t>𝐯</m:t>
                        </m:r>
                      </m:e>
                      <m:sub>
                        <m:r>
                          <a:rPr kumimoji="1" lang="en-US" altLang="zh-CN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kumimoji="1" lang="en-US" altLang="zh-CN" b="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kumimoji="1" lang="en-US" altLang="zh-CN" b="0" i="1" dirty="0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kumimoji="1" lang="en-US" altLang="zh-CN" b="0" i="1" dirty="0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kumimoji="1" lang="en-US" altLang="zh-CN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kumimoji="1" lang="en-US" altLang="zh-CN" i="1" dirty="0">
                            <a:latin typeface="Cambria Math" charset="0"/>
                          </a:rPr>
                        </m:ctrlPr>
                      </m:sSubPr>
                      <m:e>
                        <m:r>
                          <a:rPr kumimoji="1" lang="en-US" altLang="zh-CN" b="1" dirty="0">
                            <a:latin typeface="Cambria Math" panose="02040503050406030204" pitchFamily="18" charset="0"/>
                          </a:rPr>
                          <m:t>𝐯</m:t>
                        </m:r>
                      </m:e>
                      <m:sub>
                        <m:r>
                          <a:rPr kumimoji="1" lang="en-US" altLang="zh-CN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kumimoji="1" lang="en-US" altLang="zh-CN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zh-CN" altLang="en-US" dirty="0">
                    <a:latin typeface="Times" pitchFamily="2" charset="0"/>
                  </a:rPr>
                  <a:t>，得到对应的特征向量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b="0" i="1" dirty="0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n-US" altLang="zh-CN" i="1" dirty="0"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a:rPr kumimoji="1" lang="en-US" altLang="zh-CN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kumimoji="1" lang="en-US" altLang="zh-CN" b="0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kumimoji="1" lang="en-US" altLang="zh-CN" i="1">
                            <a:latin typeface="Cambria Math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kumimoji="1" lang="en-US" altLang="zh-CN" i="1">
                                <a:latin typeface="Cambria Math" charset="0"/>
                              </a:rPr>
                            </m:ctrlPr>
                          </m:mPr>
                          <m:mr>
                            <m:e>
                              <m:box>
                                <m:boxPr>
                                  <m:ctrlPr>
                                    <a:rPr kumimoji="1" lang="en-US" altLang="zh-CN" i="1">
                                      <a:latin typeface="Cambria Math" charset="0"/>
                                    </a:rPr>
                                  </m:ctrlPr>
                                </m:boxPr>
                                <m:e>
                                  <m:argPr>
                                    <m:argSz m:val="-1"/>
                                  </m:argPr>
                                  <m:f>
                                    <m:fPr>
                                      <m:ctrlPr>
                                        <a:rPr kumimoji="1" lang="en-US" altLang="zh-CN" i="1">
                                          <a:latin typeface="Cambria Math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kumimoji="1" lang="en-US" altLang="zh-CN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ad>
                                        <m:radPr>
                                          <m:degHide m:val="on"/>
                                          <m:ctrlPr>
                                            <a:rPr kumimoji="1" lang="en-US" altLang="zh-CN" i="1">
                                              <a:latin typeface="Cambria Math" charset="0"/>
                                            </a:rPr>
                                          </m:ctrlPr>
                                        </m:radPr>
                                        <m:deg/>
                                        <m:e>
                                          <m:r>
                                            <a:rPr kumimoji="1" lang="en-US" altLang="zh-CN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e>
                                      </m:rad>
                                    </m:den>
                                  </m:f>
                                </m:e>
                              </m:box>
                            </m:e>
                          </m:mr>
                          <m:mr>
                            <m:e>
                              <m:f>
                                <m:fPr>
                                  <m:ctrlPr>
                                    <a:rPr kumimoji="1" lang="en-US" altLang="zh-CN" i="1">
                                      <a:latin typeface="Cambria Math" charset="0"/>
                                    </a:rPr>
                                  </m:ctrlPr>
                                </m:fPr>
                                <m:num>
                                  <m:r>
                                    <a:rPr kumimoji="1" lang="en-US" altLang="zh-CN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kumimoji="1" lang="en-US" altLang="zh-CN" i="1">
                                          <a:latin typeface="Cambria Math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kumimoji="1" lang="en-US" altLang="zh-CN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</m:rad>
                                </m:den>
                              </m:f>
                            </m:e>
                          </m:mr>
                        </m:m>
                      </m:e>
                    </m:d>
                  </m:oMath>
                </a14:m>
                <a:r>
                  <a:rPr kumimoji="1" lang="en-US" altLang="zh-C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b="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n-US" altLang="zh-CN" b="0" i="0" smtClean="0"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a:rPr kumimoji="1" lang="en-US" altLang="zh-CN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kumimoji="1" lang="en-US" altLang="zh-CN" b="0" i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kumimoji="1" lang="en-US" altLang="zh-CN" i="1">
                            <a:latin typeface="Cambria Math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kumimoji="1" lang="en-US" altLang="zh-CN" i="1">
                                <a:latin typeface="Cambria Math" charset="0"/>
                              </a:rPr>
                            </m:ctrlPr>
                          </m:mPr>
                          <m:mr>
                            <m:e>
                              <m:box>
                                <m:boxPr>
                                  <m:ctrlPr>
                                    <a:rPr kumimoji="1" lang="en-US" altLang="zh-CN" i="1">
                                      <a:latin typeface="Cambria Math" charset="0"/>
                                    </a:rPr>
                                  </m:ctrlPr>
                                </m:boxPr>
                                <m:e>
                                  <m:argPr>
                                    <m:argSz m:val="-1"/>
                                  </m:argPr>
                                  <m:r>
                                    <m:rPr>
                                      <m:brk m:alnAt="63"/>
                                    </m:rPr>
                                    <a:rPr kumimoji="1" lang="en-US" altLang="zh-CN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kumimoji="1" lang="en-US" altLang="zh-CN" i="1">
                                          <a:latin typeface="Cambria Math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kumimoji="1" lang="en-US" altLang="zh-CN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ad>
                                        <m:radPr>
                                          <m:degHide m:val="on"/>
                                          <m:ctrlPr>
                                            <a:rPr kumimoji="1" lang="en-US" altLang="zh-CN" i="1">
                                              <a:latin typeface="Cambria Math" charset="0"/>
                                            </a:rPr>
                                          </m:ctrlPr>
                                        </m:radPr>
                                        <m:deg/>
                                        <m:e>
                                          <m:r>
                                            <a:rPr kumimoji="1" lang="en-US" altLang="zh-CN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e>
                                      </m:rad>
                                    </m:den>
                                  </m:f>
                                </m:e>
                              </m:box>
                            </m:e>
                          </m:mr>
                          <m:mr>
                            <m:e>
                              <m:f>
                                <m:fPr>
                                  <m:ctrlPr>
                                    <a:rPr kumimoji="1" lang="en-US" altLang="zh-CN" i="1">
                                      <a:latin typeface="Cambria Math" charset="0"/>
                                    </a:rPr>
                                  </m:ctrlPr>
                                </m:fPr>
                                <m:num>
                                  <m:r>
                                    <a:rPr kumimoji="1" lang="en-US" altLang="zh-CN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kumimoji="1" lang="en-US" altLang="zh-CN" i="1">
                                          <a:latin typeface="Cambria Math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kumimoji="1" lang="en-US" altLang="zh-CN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</m:rad>
                                </m:den>
                              </m:f>
                            </m:e>
                          </m:mr>
                        </m:m>
                      </m:e>
                    </m:d>
                  </m:oMath>
                </a14:m>
                <a:endParaRPr kumimoji="1" lang="en-US" altLang="zh-CN" dirty="0">
                  <a:latin typeface="Times" pitchFamily="2" charset="0"/>
                </a:endParaRPr>
              </a:p>
              <a:p>
                <a:pPr marL="857250" lvl="2" indent="0">
                  <a:buNone/>
                </a:pPr>
                <a:endParaRPr kumimoji="1" lang="en-US" altLang="zh-CN" dirty="0">
                  <a:latin typeface="Times" pitchFamily="2" charset="0"/>
                </a:endParaRPr>
              </a:p>
              <a:p>
                <a:pPr marL="800100" lvl="1" indent="-342900">
                  <a:buFont typeface="+mj-lt"/>
                  <a:buAutoNum type="arabicPeriod"/>
                </a:pPr>
                <a:r>
                  <a:rPr kumimoji="1" lang="zh-CN" altLang="en-US" b="0" dirty="0"/>
                  <a:t> </a:t>
                </a:r>
                <a14:m>
                  <m:oMath xmlns:m="http://schemas.openxmlformats.org/officeDocument/2006/math">
                    <m:r>
                      <a:rPr kumimoji="1" lang="en-US" altLang="zh-CN" b="0" i="1" dirty="0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kumimoji="1" lang="en-US" altLang="zh-CN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kumimoji="1" lang="en-US" altLang="zh-CN" i="1" smtClean="0">
                            <a:latin typeface="Cambria Math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kumimoji="1" lang="en-US" altLang="zh-CN" i="1" smtClean="0">
                                <a:latin typeface="Cambria Math" charset="0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ctrlPr>
                                    <a:rPr kumimoji="1" lang="en-US" altLang="zh-CN" i="1">
                                      <a:latin typeface="Cambria Math" charset="0"/>
                                    </a:rPr>
                                  </m:ctrlPr>
                                </m:fPr>
                                <m:num>
                                  <m:r>
                                    <a:rPr kumimoji="1" lang="en-US" altLang="zh-CN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kumimoji="1" lang="en-US" altLang="zh-CN" i="1">
                                          <a:latin typeface="Cambria Math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kumimoji="1" lang="en-US" altLang="zh-CN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</m:rad>
                                </m:den>
                              </m:f>
                            </m:e>
                            <m:e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kumimoji="1" lang="en-US" altLang="zh-CN" i="1">
                                      <a:latin typeface="Cambria Math" charset="0"/>
                                    </a:rPr>
                                  </m:ctrlPr>
                                </m:fPr>
                                <m:num>
                                  <m:r>
                                    <a:rPr kumimoji="1" lang="en-US" altLang="zh-CN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kumimoji="1" lang="en-US" altLang="zh-CN" i="1">
                                          <a:latin typeface="Cambria Math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kumimoji="1" lang="en-US" altLang="zh-CN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</m:rad>
                                </m:den>
                              </m:f>
                            </m:e>
                          </m:mr>
                          <m:mr>
                            <m:e>
                              <m:f>
                                <m:fPr>
                                  <m:ctrlPr>
                                    <a:rPr kumimoji="1" lang="en-US" altLang="zh-CN" i="1">
                                      <a:latin typeface="Cambria Math" charset="0"/>
                                    </a:rPr>
                                  </m:ctrlPr>
                                </m:fPr>
                                <m:num>
                                  <m:r>
                                    <a:rPr kumimoji="1" lang="en-US" altLang="zh-CN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kumimoji="1" lang="en-US" altLang="zh-CN" i="1">
                                          <a:latin typeface="Cambria Math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kumimoji="1" lang="en-US" altLang="zh-CN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</m:rad>
                                </m:den>
                              </m:f>
                            </m:e>
                            <m:e>
                              <m:f>
                                <m:fPr>
                                  <m:ctrlPr>
                                    <a:rPr kumimoji="1" lang="en-US" altLang="zh-CN" i="1">
                                      <a:latin typeface="Cambria Math" charset="0"/>
                                    </a:rPr>
                                  </m:ctrlPr>
                                </m:fPr>
                                <m:num>
                                  <m:r>
                                    <a:rPr kumimoji="1" lang="en-US" altLang="zh-CN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kumimoji="1" lang="en-US" altLang="zh-CN" i="1">
                                          <a:latin typeface="Cambria Math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kumimoji="1" lang="en-US" altLang="zh-CN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</m:rad>
                                </m:den>
                              </m:f>
                            </m:e>
                          </m:mr>
                        </m:m>
                      </m:e>
                    </m:d>
                  </m:oMath>
                </a14:m>
                <a:endParaRPr kumimoji="1" lang="en-US" altLang="zh-CN" dirty="0">
                  <a:latin typeface="Times" pitchFamily="2" charset="0"/>
                </a:endParaRPr>
              </a:p>
              <a:p>
                <a:pPr marL="400050"/>
                <a:endParaRPr kumimoji="1" lang="en-US" altLang="zh-CN" dirty="0">
                  <a:latin typeface="Times" pitchFamily="2" charset="0"/>
                </a:endParaRPr>
              </a:p>
              <a:p>
                <a:pPr marL="400050"/>
                <a:r>
                  <a:rPr kumimoji="1" lang="zh-CN" altLang="en-US" dirty="0">
                    <a:latin typeface="Times" pitchFamily="2" charset="0"/>
                  </a:rPr>
                  <a:t>第三步：得到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zh-CN">
                        <a:latin typeface="Cambria Math" panose="02040503050406030204" pitchFamily="18" charset="0"/>
                      </a:rPr>
                      <m:t>Σ</m:t>
                    </m:r>
                  </m:oMath>
                </a14:m>
                <a:endParaRPr kumimoji="1" lang="en-US" altLang="zh-CN" dirty="0">
                  <a:latin typeface="Times" pitchFamily="2" charset="0"/>
                </a:endParaRPr>
              </a:p>
              <a:p>
                <a:pPr marL="914400" lvl="1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zh-CN">
                        <a:latin typeface="Cambria Math" panose="02040503050406030204" pitchFamily="18" charset="0"/>
                      </a:rPr>
                      <m:t>Σ</m:t>
                    </m:r>
                    <m:r>
                      <a:rPr kumimoji="1" lang="en-US" altLang="zh-CN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kumimoji="1" lang="en-US" altLang="zh-CN" b="0" i="0" smtClean="0">
                        <a:latin typeface="Cambria Math" panose="02040503050406030204" pitchFamily="18" charset="0"/>
                      </a:rPr>
                      <m:t>diag</m:t>
                    </m:r>
                    <m:d>
                      <m:dPr>
                        <m:ctrlPr>
                          <a:rPr kumimoji="1" lang="en-US" altLang="zh-CN" b="0" i="1" smtClean="0">
                            <a:latin typeface="Cambria Math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kumimoji="1" lang="en-US" altLang="zh-CN" b="0" i="1" smtClean="0">
                                <a:latin typeface="Cambria Math" charset="0"/>
                              </a:rPr>
                            </m:ctrlPr>
                          </m:radPr>
                          <m:deg/>
                          <m:e>
                            <m:sSub>
                              <m:sSubPr>
                                <m:ctrlPr>
                                  <a:rPr kumimoji="1" lang="en-US" altLang="zh-CN" b="0" i="1" smtClean="0">
                                    <a:latin typeface="Cambria Math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b="0" i="1" smtClean="0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kumimoji="1" lang="en-US" altLang="zh-CN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rad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kumimoji="1" lang="zh-CN" alt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⋯,</m:t>
                        </m:r>
                        <m:rad>
                          <m:radPr>
                            <m:degHide m:val="on"/>
                            <m:ctrlPr>
                              <a:rPr kumimoji="1" lang="en-US" altLang="zh-CN" i="1">
                                <a:latin typeface="Cambria Math" charset="0"/>
                              </a:rPr>
                            </m:ctrlPr>
                          </m:radPr>
                          <m:deg/>
                          <m:e>
                            <m:sSub>
                              <m:sSubPr>
                                <m:ctrlPr>
                                  <a:rPr kumimoji="1" lang="en-US" altLang="zh-CN" i="1" smtClean="0">
                                    <a:latin typeface="Cambria Math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i="1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kumimoji="1" lang="en-US" altLang="zh-CN" b="0" i="1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sub>
                            </m:sSub>
                          </m:e>
                        </m:rad>
                      </m:e>
                    </m:d>
                  </m:oMath>
                </a14:m>
                <a:r>
                  <a:rPr kumimoji="1" lang="en-US" altLang="zh-CN" dirty="0">
                    <a:latin typeface="Times" pitchFamily="2" charset="0"/>
                  </a:rPr>
                  <a:t>,</a:t>
                </a:r>
                <a:r>
                  <a:rPr kumimoji="1" lang="zh-CN" altLang="en-US" dirty="0">
                    <a:latin typeface="Times" pitchFamily="2" charset="0"/>
                  </a:rPr>
                  <a:t> 特征值开平方后组成对角阵</a:t>
                </a:r>
                <a:endParaRPr kumimoji="1" lang="en-US" altLang="zh-CN" dirty="0">
                  <a:latin typeface="Times" pitchFamily="2" charset="0"/>
                </a:endParaRPr>
              </a:p>
              <a:p>
                <a:pPr marL="914400" lvl="1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zh-CN" b="0" i="0" dirty="0" smtClean="0">
                        <a:latin typeface="Cambria Math" panose="02040503050406030204" pitchFamily="18" charset="0"/>
                      </a:rPr>
                      <m:t>D</m:t>
                    </m:r>
                    <m:r>
                      <a:rPr kumimoji="1" lang="en-US" altLang="zh-CN" dirty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kumimoji="1" lang="en-US" altLang="zh-CN" i="1" dirty="0">
                            <a:latin typeface="Cambria Math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kumimoji="1" lang="en-US" altLang="zh-CN" i="1">
                                <a:latin typeface="Cambria Math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kumimoji="1" lang="en-US" altLang="zh-CN" b="0" i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kumimoji="1" lang="en-US" altLang="zh-CN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kumimoji="1" lang="en-US" altLang="zh-CN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kumimoji="1" lang="en-US" altLang="zh-CN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kumimoji="1" lang="en-US" altLang="zh-CN" b="0" i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kumimoji="1" lang="en-US" altLang="zh-CN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r>
                      <a:rPr kumimoji="1" lang="en-US" altLang="zh-CN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kumimoji="1" lang="en-US" altLang="zh-CN">
                        <a:latin typeface="Cambria Math" panose="02040503050406030204" pitchFamily="18" charset="0"/>
                      </a:rPr>
                      <m:t>UΣ</m:t>
                    </m:r>
                    <m:sSup>
                      <m:sSupPr>
                        <m:ctrlPr>
                          <a:rPr kumimoji="1" lang="en-US" altLang="zh-CN" i="1">
                            <a:latin typeface="Cambria Math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kumimoji="1" lang="en-US" altLang="zh-CN"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p>
                        <m:r>
                          <m:rPr>
                            <m:sty m:val="p"/>
                          </m:rPr>
                          <a:rPr kumimoji="1" lang="en-US" altLang="zh-CN">
                            <a:latin typeface="Cambria Math" panose="02040503050406030204" pitchFamily="18" charset="0"/>
                          </a:rPr>
                          <m:t>T</m:t>
                        </m:r>
                      </m:sup>
                    </m:sSup>
                    <m:r>
                      <a:rPr kumimoji="1" lang="en-US" altLang="zh-CN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kumimoji="1" lang="en-US" altLang="zh-CN" i="1">
                            <a:latin typeface="Cambria Math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kumimoji="1" lang="en-US" altLang="zh-CN" i="1">
                                <a:latin typeface="Cambria Math" charset="0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type m:val="skw"/>
                                  <m:ctrlPr>
                                    <a:rPr kumimoji="1" lang="en-US" altLang="zh-CN" i="1">
                                      <a:latin typeface="Cambria Math" charset="0"/>
                                    </a:rPr>
                                  </m:ctrlPr>
                                </m:fPr>
                                <m:num>
                                  <m:r>
                                    <a:rPr kumimoji="1" lang="en-US" altLang="zh-CN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kumimoji="1" lang="en-US" altLang="zh-CN" i="1">
                                          <a:latin typeface="Cambria Math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kumimoji="1" lang="en-US" altLang="zh-CN" i="1">
                                          <a:latin typeface="Cambria Math" panose="02040503050406030204" pitchFamily="18" charset="0"/>
                                        </a:rPr>
                                        <m:t>6</m:t>
                                      </m:r>
                                    </m:e>
                                  </m:rad>
                                </m:den>
                              </m:f>
                            </m:e>
                            <m:e>
                              <m:f>
                                <m:fPr>
                                  <m:type m:val="skw"/>
                                  <m:ctrlPr>
                                    <a:rPr kumimoji="1" lang="en-US" altLang="zh-CN" i="1">
                                      <a:latin typeface="Cambria Math" charset="0"/>
                                    </a:rPr>
                                  </m:ctrlPr>
                                </m:fPr>
                                <m:num>
                                  <m:r>
                                    <a:rPr kumimoji="1" lang="en-US" altLang="zh-CN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kumimoji="1" lang="en-US" altLang="zh-CN" i="1">
                                          <a:latin typeface="Cambria Math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kumimoji="1" lang="en-US" altLang="zh-CN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</m:rad>
                                </m:den>
                              </m:f>
                            </m:e>
                          </m:mr>
                          <m:mr>
                            <m:e>
                              <m:f>
                                <m:fPr>
                                  <m:type m:val="skw"/>
                                  <m:ctrlPr>
                                    <a:rPr kumimoji="1" lang="en-US" altLang="zh-CN" i="1">
                                      <a:latin typeface="Cambria Math" charset="0"/>
                                    </a:rPr>
                                  </m:ctrlPr>
                                </m:fPr>
                                <m:num>
                                  <m:r>
                                    <a:rPr kumimoji="1" lang="en-US" altLang="zh-CN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kumimoji="1" lang="en-US" altLang="zh-CN" i="1">
                                          <a:latin typeface="Cambria Math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kumimoji="1" lang="en-US" altLang="zh-CN" i="1">
                                          <a:latin typeface="Cambria Math" panose="02040503050406030204" pitchFamily="18" charset="0"/>
                                        </a:rPr>
                                        <m:t>6</m:t>
                                      </m:r>
                                    </m:e>
                                  </m:rad>
                                </m:den>
                              </m:f>
                            </m:e>
                            <m:e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f>
                                <m:fPr>
                                  <m:type m:val="skw"/>
                                  <m:ctrlPr>
                                    <a:rPr kumimoji="1" lang="en-US" altLang="zh-CN" i="1">
                                      <a:latin typeface="Cambria Math" charset="0"/>
                                    </a:rPr>
                                  </m:ctrlPr>
                                </m:fPr>
                                <m:num>
                                  <m:r>
                                    <a:rPr kumimoji="1" lang="en-US" altLang="zh-CN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kumimoji="1" lang="en-US" altLang="zh-CN" i="1">
                                          <a:latin typeface="Cambria Math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kumimoji="1" lang="en-US" altLang="zh-CN" i="1">
                                          <a:latin typeface="Cambria Math" panose="02040503050406030204" pitchFamily="18" charset="0"/>
                                        </a:rPr>
                                        <m:t>6</m:t>
                                      </m:r>
                                    </m:e>
                                  </m:rad>
                                </m:den>
                              </m:f>
                            </m:e>
                            <m:e>
                              <m:f>
                                <m:fPr>
                                  <m:type m:val="skw"/>
                                  <m:ctrlPr>
                                    <a:rPr kumimoji="1" lang="en-US" altLang="zh-CN" i="1">
                                      <a:latin typeface="Cambria Math" charset="0"/>
                                    </a:rPr>
                                  </m:ctrlPr>
                                </m:fPr>
                                <m:num>
                                  <m:r>
                                    <a:rPr kumimoji="1" lang="en-US" altLang="zh-CN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kumimoji="1" lang="en-US" altLang="zh-CN" i="1">
                                          <a:latin typeface="Cambria Math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kumimoji="1" lang="en-US" altLang="zh-CN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</m:rad>
                                </m:den>
                              </m:f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kumimoji="1" lang="en-US" altLang="zh-CN" i="1">
                            <a:latin typeface="Cambria Math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kumimoji="1" lang="en-US" altLang="zh-CN" i="1" smtClean="0">
                                <a:latin typeface="Cambria Math" charset="0"/>
                              </a:rPr>
                            </m:ctrlPr>
                          </m:mPr>
                          <m:mr>
                            <m:e>
                              <m:rad>
                                <m:radPr>
                                  <m:degHide m:val="on"/>
                                  <m:ctrlPr>
                                    <a:rPr kumimoji="1" lang="en-US" altLang="zh-CN" i="1" smtClean="0">
                                      <a:latin typeface="Cambria Math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kumimoji="1" lang="en-US" altLang="zh-CN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</m:rad>
                            </m:e>
                            <m:e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ad>
                                <m:radPr>
                                  <m:degHide m:val="on"/>
                                  <m:ctrlPr>
                                    <a:rPr kumimoji="1" lang="en-US" altLang="zh-CN" i="1" smtClean="0">
                                      <a:latin typeface="Cambria Math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kumimoji="1" lang="en-US" altLang="zh-CN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rad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kumimoji="1" lang="en-US" altLang="zh-CN" i="1">
                            <a:latin typeface="Cambria Math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kumimoji="1" lang="en-US" altLang="zh-CN" i="1">
                                <a:latin typeface="Cambria Math" charset="0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ctrlPr>
                                    <a:rPr kumimoji="1" lang="en-US" altLang="zh-CN" i="1">
                                      <a:latin typeface="Cambria Math" charset="0"/>
                                    </a:rPr>
                                  </m:ctrlPr>
                                </m:fPr>
                                <m:num>
                                  <m:r>
                                    <a:rPr kumimoji="1" lang="en-US" altLang="zh-CN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kumimoji="1" lang="en-US" altLang="zh-CN" i="1">
                                          <a:latin typeface="Cambria Math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kumimoji="1" lang="en-US" altLang="zh-CN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</m:rad>
                                </m:den>
                              </m:f>
                            </m:e>
                            <m:e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kumimoji="1" lang="en-US" altLang="zh-CN" i="1">
                                      <a:latin typeface="Cambria Math" charset="0"/>
                                    </a:rPr>
                                  </m:ctrlPr>
                                </m:fPr>
                                <m:num>
                                  <m:r>
                                    <a:rPr kumimoji="1" lang="en-US" altLang="zh-CN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kumimoji="1" lang="en-US" altLang="zh-CN" i="1">
                                          <a:latin typeface="Cambria Math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kumimoji="1" lang="en-US" altLang="zh-CN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</m:rad>
                                </m:den>
                              </m:f>
                            </m:e>
                          </m:mr>
                          <m:mr>
                            <m:e>
                              <m:f>
                                <m:fPr>
                                  <m:ctrlPr>
                                    <a:rPr kumimoji="1" lang="en-US" altLang="zh-CN" i="1">
                                      <a:latin typeface="Cambria Math" charset="0"/>
                                    </a:rPr>
                                  </m:ctrlPr>
                                </m:fPr>
                                <m:num>
                                  <m:r>
                                    <a:rPr kumimoji="1" lang="en-US" altLang="zh-CN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kumimoji="1" lang="en-US" altLang="zh-CN" i="1">
                                          <a:latin typeface="Cambria Math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kumimoji="1" lang="en-US" altLang="zh-CN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</m:rad>
                                </m:den>
                              </m:f>
                            </m:e>
                            <m:e>
                              <m:f>
                                <m:fPr>
                                  <m:ctrlPr>
                                    <a:rPr kumimoji="1" lang="en-US" altLang="zh-CN" i="1">
                                      <a:latin typeface="Cambria Math" charset="0"/>
                                    </a:rPr>
                                  </m:ctrlPr>
                                </m:fPr>
                                <m:num>
                                  <m:r>
                                    <a:rPr kumimoji="1" lang="en-US" altLang="zh-CN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kumimoji="1" lang="en-US" altLang="zh-CN" i="1">
                                          <a:latin typeface="Cambria Math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kumimoji="1" lang="en-US" altLang="zh-CN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</m:rad>
                                </m:den>
                              </m:f>
                            </m:e>
                          </m:mr>
                        </m:m>
                      </m:e>
                    </m:d>
                  </m:oMath>
                </a14:m>
                <a:endParaRPr kumimoji="1" lang="en-US" altLang="zh-CN" dirty="0">
                  <a:latin typeface="Times" pitchFamily="2" charset="0"/>
                </a:endParaRPr>
              </a:p>
              <a:p>
                <a:endParaRPr kumimoji="1" lang="en-US" altLang="zh-CN" b="1" dirty="0">
                  <a:latin typeface="Times" pitchFamily="2" charset="0"/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9C6A9F0-F6FD-184A-BBBE-E6B93D2A769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804223"/>
                <a:ext cx="8787740" cy="3937000"/>
              </a:xfrm>
              <a:blipFill>
                <a:blip r:embed="rId2"/>
                <a:stretch>
                  <a:fillRect b="-131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="" xmlns:a16="http://schemas.microsoft.com/office/drawing/2014/main" id="{5A4A92EA-866B-E649-95D1-2137BB447E14}"/>
                  </a:ext>
                </a:extLst>
              </p:cNvPr>
              <p:cNvSpPr txBox="1"/>
              <p:nvPr/>
            </p:nvSpPr>
            <p:spPr>
              <a:xfrm>
                <a:off x="5327374" y="2950853"/>
                <a:ext cx="3733499" cy="18158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zh-CN" altLang="en-US" sz="1600" dirty="0">
                    <a:solidFill>
                      <a:srgbClr val="C00000"/>
                    </a:solidFill>
                  </a:rPr>
                  <a:t>提问：为什么在第二步可以利用第一步特征分解得到的特征值</a:t>
                </a:r>
                <a:r>
                  <a:rPr kumimoji="1" lang="en-US" altLang="zh-CN" sz="1600" dirty="0">
                    <a:solidFill>
                      <a:srgbClr val="C00000"/>
                    </a:solidFill>
                  </a:rPr>
                  <a:t>3</a:t>
                </a:r>
                <a:r>
                  <a:rPr kumimoji="1" lang="zh-CN" altLang="en-US" sz="1600" dirty="0">
                    <a:solidFill>
                      <a:srgbClr val="C00000"/>
                    </a:solidFill>
                  </a:rPr>
                  <a:t>和</a:t>
                </a:r>
                <a:r>
                  <a:rPr kumimoji="1" lang="en-US" altLang="zh-CN" sz="1600" dirty="0">
                    <a:solidFill>
                      <a:srgbClr val="C00000"/>
                    </a:solidFill>
                  </a:rPr>
                  <a:t>1</a:t>
                </a:r>
                <a:r>
                  <a:rPr kumimoji="1" lang="zh-CN" altLang="en-US" sz="1600" dirty="0">
                    <a:solidFill>
                      <a:srgbClr val="C00000"/>
                    </a:solidFill>
                  </a:rPr>
                  <a:t>？</a:t>
                </a:r>
                <a:endParaRPr kumimoji="1" lang="en-US" altLang="zh-CN" sz="1600" dirty="0">
                  <a:solidFill>
                    <a:srgbClr val="C00000"/>
                  </a:solidFill>
                </a:endParaRPr>
              </a:p>
              <a:p>
                <a:endParaRPr kumimoji="1" lang="en-US" altLang="zh-CN" sz="1600" dirty="0">
                  <a:solidFill>
                    <a:srgbClr val="C00000"/>
                  </a:solidFill>
                </a:endParaRPr>
              </a:p>
              <a:p>
                <a:r>
                  <a:rPr kumimoji="1" lang="en-US" altLang="zh-CN" sz="1600" b="1" dirty="0">
                    <a:solidFill>
                      <a:srgbClr val="C00000"/>
                    </a:solidFill>
                  </a:rPr>
                  <a:t>A:</a:t>
                </a:r>
                <a:r>
                  <a:rPr kumimoji="1" lang="zh-CN" altLang="en-US" sz="1600" b="1" dirty="0">
                    <a:solidFill>
                      <a:srgbClr val="C00000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zh-CN" sz="1600" i="1" dirty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</m:ctrlPr>
                      </m:sSupPr>
                      <m:e>
                        <m:r>
                          <a:rPr kumimoji="1" lang="en-US" altLang="zh-CN" sz="1600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a:rPr kumimoji="1" lang="en-US" altLang="zh-CN" sz="1600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kumimoji="1" lang="en-US" altLang="zh-CN" sz="1600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kumimoji="1" lang="zh-CN" altLang="en-US" sz="1600" dirty="0">
                    <a:solidFill>
                      <a:srgbClr val="C00000"/>
                    </a:solidFill>
                  </a:rPr>
                  <a:t>的非</a:t>
                </a:r>
                <a:r>
                  <a:rPr kumimoji="1" lang="en-US" altLang="zh-CN" sz="1600" dirty="0">
                    <a:solidFill>
                      <a:srgbClr val="C00000"/>
                    </a:solidFill>
                  </a:rPr>
                  <a:t>0</a:t>
                </a:r>
                <a:r>
                  <a:rPr kumimoji="1" lang="zh-CN" altLang="en-US" sz="1600" dirty="0">
                    <a:solidFill>
                      <a:srgbClr val="C00000"/>
                    </a:solidFill>
                  </a:rPr>
                  <a:t>特征值与</a:t>
                </a:r>
                <a14:m>
                  <m:oMath xmlns:m="http://schemas.openxmlformats.org/officeDocument/2006/math">
                    <m:r>
                      <a:rPr kumimoji="1" lang="en-US" altLang="zh-CN" sz="1600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sSup>
                      <m:sSupPr>
                        <m:ctrlPr>
                          <a:rPr kumimoji="1" lang="en-US" altLang="zh-CN" sz="1600" i="1" dirty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</m:ctrlPr>
                      </m:sSupPr>
                      <m:e>
                        <m:r>
                          <a:rPr kumimoji="1" lang="en-US" altLang="zh-CN" sz="1600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a:rPr kumimoji="1" lang="en-US" altLang="zh-CN" sz="1600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kumimoji="1" lang="zh-CN" altLang="en-US" sz="1600" dirty="0">
                    <a:solidFill>
                      <a:srgbClr val="C00000"/>
                    </a:solidFill>
                  </a:rPr>
                  <a:t>的非</a:t>
                </a:r>
                <a:r>
                  <a:rPr kumimoji="1" lang="en-US" altLang="zh-CN" sz="1600" dirty="0">
                    <a:solidFill>
                      <a:srgbClr val="C00000"/>
                    </a:solidFill>
                  </a:rPr>
                  <a:t>0</a:t>
                </a:r>
                <a:r>
                  <a:rPr kumimoji="1" lang="zh-CN" altLang="en-US" sz="1600" dirty="0">
                    <a:solidFill>
                      <a:srgbClr val="C00000"/>
                    </a:solidFill>
                  </a:rPr>
                  <a:t>特征值一一对应，全部相等</a:t>
                </a:r>
                <a:endParaRPr kumimoji="1" lang="en-US" altLang="zh-CN" sz="1600" dirty="0">
                  <a:solidFill>
                    <a:srgbClr val="C00000"/>
                  </a:solidFill>
                </a:endParaRPr>
              </a:p>
              <a:p>
                <a:r>
                  <a:rPr kumimoji="1" lang="en-US" altLang="zh-CN" sz="1600" b="1" dirty="0">
                    <a:solidFill>
                      <a:srgbClr val="C00000"/>
                    </a:solidFill>
                  </a:rPr>
                  <a:t>B:</a:t>
                </a:r>
                <a:r>
                  <a:rPr kumimoji="1" lang="zh-CN" altLang="en-US" sz="1600" b="1" dirty="0">
                    <a:solidFill>
                      <a:srgbClr val="C00000"/>
                    </a:solidFill>
                  </a:rPr>
                  <a:t> </a:t>
                </a:r>
                <a:r>
                  <a:rPr kumimoji="1" lang="zh-CN" altLang="en-US" sz="1600" dirty="0">
                    <a:solidFill>
                      <a:srgbClr val="C00000"/>
                    </a:solidFill>
                  </a:rPr>
                  <a:t>虽然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zh-CN" sz="1600" i="1" dirty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</m:ctrlPr>
                      </m:sSupPr>
                      <m:e>
                        <m:r>
                          <a:rPr kumimoji="1" lang="en-US" altLang="zh-CN" sz="1600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a:rPr kumimoji="1" lang="en-US" altLang="zh-CN" sz="1600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kumimoji="1" lang="en-US" altLang="zh-CN" sz="1600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kumimoji="1" lang="zh-CN" altLang="en-US" sz="1600" dirty="0">
                    <a:solidFill>
                      <a:srgbClr val="C00000"/>
                    </a:solidFill>
                  </a:rPr>
                  <a:t>的特征值与</a:t>
                </a:r>
                <a14:m>
                  <m:oMath xmlns:m="http://schemas.openxmlformats.org/officeDocument/2006/math">
                    <m:r>
                      <a:rPr kumimoji="1" lang="en-US" altLang="zh-CN" sz="1600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sSup>
                      <m:sSupPr>
                        <m:ctrlPr>
                          <a:rPr kumimoji="1" lang="en-US" altLang="zh-CN" sz="1600" i="1" dirty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</m:ctrlPr>
                      </m:sSupPr>
                      <m:e>
                        <m:r>
                          <a:rPr kumimoji="1" lang="en-US" altLang="zh-CN" sz="1600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a:rPr kumimoji="1" lang="en-US" altLang="zh-CN" sz="1600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kumimoji="1" lang="zh-CN" altLang="en-US" sz="1600" dirty="0">
                    <a:solidFill>
                      <a:srgbClr val="C00000"/>
                    </a:solidFill>
                  </a:rPr>
                  <a:t>并不相等，但为了计算简便，没有必要再算一次</a:t>
                </a: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5A4A92EA-866B-E649-95D1-2137BB447E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7374" y="2950853"/>
                <a:ext cx="3733499" cy="1815882"/>
              </a:xfrm>
              <a:prstGeom prst="rect">
                <a:avLst/>
              </a:prstGeom>
              <a:blipFill rotWithShape="0">
                <a:blip r:embed="rId3"/>
                <a:stretch>
                  <a:fillRect l="-980" t="-1007" b="-26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209067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4489AF57-A441-A44D-9776-16FA4B70F2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LSI</a:t>
            </a:r>
            <a:r>
              <a:rPr kumimoji="1" lang="zh-CN" altLang="en-US" dirty="0"/>
              <a:t>第二步：对特征根进行排序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="" xmlns:a16="http://schemas.microsoft.com/office/drawing/2014/main" id="{E292C1DB-17B0-104A-9EA0-539E96BAACE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2411598"/>
                <a:ext cx="8229600" cy="2955468"/>
              </a:xfrm>
            </p:spPr>
            <p:txBody>
              <a:bodyPr>
                <a:normAutofit/>
              </a:bodyPr>
              <a:lstStyle/>
              <a:p>
                <a:r>
                  <a:rPr kumimoji="1" lang="zh-CN" altLang="en-US" sz="1600" dirty="0"/>
                  <a:t>原</a:t>
                </a:r>
                <a14:m>
                  <m:oMath xmlns:m="http://schemas.openxmlformats.org/officeDocument/2006/math">
                    <m:r>
                      <a:rPr kumimoji="1" lang="zh-CN" altLang="en-US" sz="1600" i="1" smtClean="0">
                        <a:latin typeface="Cambria Math" panose="02040503050406030204" pitchFamily="18" charset="0"/>
                      </a:rPr>
                      <m:t>特征</m:t>
                    </m:r>
                    <m:r>
                      <a:rPr kumimoji="1" lang="zh-CN" altLang="en-US" sz="1600" i="1">
                        <a:latin typeface="Cambria Math" panose="02040503050406030204" pitchFamily="18" charset="0"/>
                      </a:rPr>
                      <m:t>根</m:t>
                    </m:r>
                    <m:r>
                      <a:rPr kumimoji="1" lang="zh-CN" altLang="en-US" sz="1600" i="1" smtClean="0">
                        <a:latin typeface="Cambria Math" panose="02040503050406030204" pitchFamily="18" charset="0"/>
                      </a:rPr>
                      <m:t>矩阵</m:t>
                    </m:r>
                    <m:r>
                      <m:rPr>
                        <m:sty m:val="p"/>
                      </m:rPr>
                      <a:rPr kumimoji="1" lang="en-US" altLang="zh-CN" sz="1600" smtClean="0">
                        <a:latin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lang="en-US" altLang="zh-CN" sz="1600" dirty="0">
                    <a:sym typeface="Wingdings" pitchFamily="2" charset="2"/>
                  </a:rPr>
                  <a:t></a:t>
                </a:r>
                <a:r>
                  <a:rPr lang="zh-CN" altLang="en-US" sz="1600" dirty="0">
                    <a:sym typeface="Wingdings" pitchFamily="2" charset="2"/>
                  </a:rPr>
                  <a:t>排序后的特征根矩阵</a:t>
                </a:r>
                <a:r>
                  <a:rPr kumimoji="1" lang="en-US" altLang="zh-CN" sz="16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zh-CN" sz="1600" b="0" i="1" smtClean="0">
                            <a:latin typeface="Cambria Math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kumimoji="1" lang="en-US" altLang="zh-CN" sz="160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kumimoji="1" lang="en-US" altLang="zh-CN" sz="1600" b="0" i="0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endParaRPr lang="en-US" altLang="zh-CN" sz="1600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zh-CN" sz="1600" b="0" i="1" smtClean="0">
                            <a:latin typeface="Cambria Math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kumimoji="1" lang="en-US" altLang="zh-CN" sz="160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kumimoji="1" lang="en-US" altLang="zh-CN" sz="1600" b="0" i="0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kumimoji="1" lang="en-US" altLang="zh-CN" sz="16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kumimoji="1" lang="en-US" altLang="zh-CN" sz="1600" i="1">
                            <a:latin typeface="Cambria Math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kumimoji="1" lang="en-US" altLang="zh-CN" sz="1600" i="1">
                                <a:latin typeface="Cambria Math" charset="0"/>
                              </a:rPr>
                            </m:ctrlPr>
                          </m:mPr>
                          <m:mr>
                            <m:e>
                              <m:sSubSup>
                                <m:sSubSupPr>
                                  <m:ctrlPr>
                                    <a:rPr kumimoji="1" lang="en-US" altLang="zh-CN" sz="1600" b="0" i="1" smtClean="0">
                                      <a:latin typeface="Cambria Math" charset="0"/>
                                    </a:rPr>
                                  </m:ctrlPr>
                                </m:sSubSupPr>
                                <m:e>
                                  <m:r>
                                    <a:rPr kumimoji="1" lang="en-US" altLang="zh-CN" sz="1600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kumimoji="1" lang="en-US" altLang="zh-CN" sz="16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kumimoji="1" lang="en-US" altLang="zh-CN" sz="1600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</m:e>
                            <m:e>
                              <m:r>
                                <a:rPr kumimoji="1" lang="en-US" altLang="zh-CN" sz="1600" i="1"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r>
                                <a:rPr kumimoji="1" lang="en-US" altLang="zh-CN" sz="16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kumimoji="1" lang="en-US" altLang="zh-CN" sz="1600" i="1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kumimoji="1" lang="en-US" altLang="zh-CN" sz="1600" i="1">
                                  <a:latin typeface="Cambria Math" panose="02040503050406030204" pitchFamily="18" charset="0"/>
                                </a:rPr>
                                <m:t>⋱</m:t>
                              </m:r>
                            </m:e>
                            <m:e>
                              <m:r>
                                <a:rPr kumimoji="1" lang="en-US" altLang="zh-CN" sz="1600" i="1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</m:mr>
                          <m:mr>
                            <m:e>
                              <m:r>
                                <a:rPr kumimoji="1" lang="en-US" altLang="zh-CN" sz="16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kumimoji="1" lang="en-US" altLang="zh-CN" sz="1600" i="1"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sSubSup>
                                <m:sSubSupPr>
                                  <m:ctrlPr>
                                    <a:rPr kumimoji="1" lang="en-US" altLang="zh-CN" sz="1600" b="0" i="1" smtClean="0">
                                      <a:latin typeface="Cambria Math" charset="0"/>
                                    </a:rPr>
                                  </m:ctrlPr>
                                </m:sSubSupPr>
                                <m:e>
                                  <m:r>
                                    <a:rPr kumimoji="1" lang="en-US" altLang="zh-CN" sz="1600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kumimoji="1" lang="en-US" altLang="zh-CN" sz="1600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sub>
                                <m:sup>
                                  <m:r>
                                    <a:rPr kumimoji="1" lang="en-US" altLang="zh-CN" sz="1600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</m:e>
                          </m:mr>
                        </m:m>
                      </m:e>
                    </m:d>
                  </m:oMath>
                </a14:m>
                <a:r>
                  <a:rPr lang="zh-CN" altLang="en-US" sz="1600" dirty="0"/>
                  <a:t>，其中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kumimoji="1" lang="en-US" altLang="zh-CN" sz="1600" i="1">
                            <a:latin typeface="Cambria Math" charset="0"/>
                          </a:rPr>
                        </m:ctrlPr>
                      </m:sSubSupPr>
                      <m:e>
                        <m:r>
                          <a:rPr kumimoji="1" lang="en-US" altLang="zh-CN" sz="160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kumimoji="1" lang="en-US" altLang="zh-CN" sz="1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kumimoji="1" lang="en-US" altLang="zh-CN" sz="16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kumimoji="1" lang="en-US" altLang="zh-CN" sz="1600" b="0" i="1" smtClean="0">
                        <a:latin typeface="Cambria Math" panose="02040503050406030204" pitchFamily="18" charset="0"/>
                      </a:rPr>
                      <m:t>≥</m:t>
                    </m:r>
                    <m:sSubSup>
                      <m:sSubSupPr>
                        <m:ctrlPr>
                          <a:rPr kumimoji="1" lang="en-US" altLang="zh-CN" sz="1600" i="1">
                            <a:latin typeface="Cambria Math" charset="0"/>
                          </a:rPr>
                        </m:ctrlPr>
                      </m:sSubSupPr>
                      <m:e>
                        <m:r>
                          <a:rPr kumimoji="1" lang="en-US" altLang="zh-CN" sz="160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kumimoji="1" lang="en-US" altLang="zh-CN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kumimoji="1" lang="en-US" altLang="zh-CN" sz="16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kumimoji="1" lang="en-US" altLang="zh-CN" sz="1600" b="0" i="1" smtClean="0">
                        <a:latin typeface="Cambria Math" panose="02040503050406030204" pitchFamily="18" charset="0"/>
                      </a:rPr>
                      <m:t>≥⋯≥</m:t>
                    </m:r>
                    <m:sSubSup>
                      <m:sSubSupPr>
                        <m:ctrlPr>
                          <a:rPr kumimoji="1" lang="en-US" altLang="zh-CN" sz="1600" i="1">
                            <a:latin typeface="Cambria Math" charset="0"/>
                          </a:rPr>
                        </m:ctrlPr>
                      </m:sSubSupPr>
                      <m:e>
                        <m:r>
                          <a:rPr kumimoji="1" lang="en-US" altLang="zh-CN" sz="160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kumimoji="1" lang="en-US" altLang="zh-CN" sz="16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  <m:sup>
                        <m:r>
                          <a:rPr kumimoji="1" lang="en-US" altLang="zh-CN" sz="16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endParaRPr lang="en-US" altLang="zh-CN" sz="1600" dirty="0"/>
              </a:p>
              <a:p>
                <a:r>
                  <a:rPr lang="zh-CN" altLang="en-US" sz="1600" dirty="0"/>
                  <a:t>左特征向量</a:t>
                </a:r>
                <a:r>
                  <a:rPr lang="zh-CN" altLang="en-US" sz="1600" dirty="0">
                    <a:latin typeface="Times" pitchFamily="2" charset="0"/>
                  </a:rPr>
                  <a:t>矩阵也按照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zh-CN" sz="1600" i="1">
                            <a:latin typeface="Cambria Math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kumimoji="1" lang="en-US" altLang="zh-CN" sz="160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kumimoji="1" lang="en-US" altLang="zh-CN" sz="160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zh-CN" altLang="en-US" sz="1600" dirty="0">
                    <a:latin typeface="Times" pitchFamily="2" charset="0"/>
                  </a:rPr>
                  <a:t>进行相应的调整</a:t>
                </a:r>
                <a:endParaRPr lang="en-US" altLang="zh-CN" sz="1600" dirty="0">
                  <a:latin typeface="Times" pitchFamily="2" charset="0"/>
                </a:endParaRPr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kumimoji="1" lang="en-US" altLang="zh-CN" sz="1400" i="1">
                            <a:latin typeface="Cambria Math" charset="0"/>
                          </a:rPr>
                        </m:ctrlPr>
                      </m:sSubSupPr>
                      <m:e>
                        <m:r>
                          <a:rPr kumimoji="1" lang="en-US" altLang="zh-CN" sz="140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kumimoji="1" lang="en-US" altLang="zh-CN" sz="1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kumimoji="1" lang="en-US" altLang="zh-CN" sz="14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zh-CN" altLang="en-US" sz="1400" dirty="0">
                    <a:latin typeface="Times" pitchFamily="2" charset="0"/>
                  </a:rPr>
                  <a:t>所对应的</a:t>
                </a:r>
                <a:r>
                  <a:rPr lang="zh-CN" altLang="en-US" sz="1400" dirty="0">
                    <a:solidFill>
                      <a:srgbClr val="00B050"/>
                    </a:solidFill>
                    <a:latin typeface="Times" pitchFamily="2" charset="0"/>
                  </a:rPr>
                  <a:t>左</a:t>
                </a:r>
                <a:r>
                  <a:rPr lang="zh-CN" altLang="en-US" sz="1400" dirty="0">
                    <a:latin typeface="Times" pitchFamily="2" charset="0"/>
                  </a:rPr>
                  <a:t>特征向量调整到</a:t>
                </a:r>
                <a:r>
                  <a:rPr lang="en-US" altLang="zh-CN" sz="1400" b="1" dirty="0">
                    <a:solidFill>
                      <a:srgbClr val="00B050"/>
                    </a:solidFill>
                    <a:latin typeface="Times" pitchFamily="2" charset="0"/>
                  </a:rPr>
                  <a:t>U</a:t>
                </a:r>
                <a:r>
                  <a:rPr lang="zh-CN" altLang="en-US" sz="1400" dirty="0">
                    <a:latin typeface="Times" pitchFamily="2" charset="0"/>
                  </a:rPr>
                  <a:t>的第</a:t>
                </a:r>
                <a:r>
                  <a:rPr lang="en-US" altLang="zh-CN" sz="1400" i="1" dirty="0" err="1">
                    <a:solidFill>
                      <a:srgbClr val="C00000"/>
                    </a:solidFill>
                    <a:latin typeface="Times" pitchFamily="2" charset="0"/>
                  </a:rPr>
                  <a:t>i</a:t>
                </a:r>
                <a:r>
                  <a:rPr lang="zh-CN" altLang="en-US" sz="1400" dirty="0">
                    <a:latin typeface="Times" pitchFamily="2" charset="0"/>
                  </a:rPr>
                  <a:t>列</a:t>
                </a:r>
                <a:endParaRPr lang="en-US" altLang="zh-CN" sz="1400" dirty="0">
                  <a:latin typeface="Times" pitchFamily="2" charset="0"/>
                </a:endParaRPr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kumimoji="1" lang="en-US" altLang="zh-CN" sz="1400" i="1">
                            <a:latin typeface="Cambria Math" charset="0"/>
                          </a:rPr>
                        </m:ctrlPr>
                      </m:sSubSupPr>
                      <m:e>
                        <m:r>
                          <a:rPr kumimoji="1" lang="en-US" altLang="zh-CN" sz="140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kumimoji="1" lang="en-US" altLang="zh-CN" sz="14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kumimoji="1" lang="en-US" altLang="zh-CN" sz="14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zh-CN" altLang="en-US" sz="1400" dirty="0">
                    <a:latin typeface="Times" pitchFamily="2" charset="0"/>
                  </a:rPr>
                  <a:t>所对应的</a:t>
                </a:r>
                <a:r>
                  <a:rPr lang="zh-CN" altLang="en-US" sz="1400" dirty="0">
                    <a:solidFill>
                      <a:srgbClr val="00B050"/>
                    </a:solidFill>
                    <a:latin typeface="Times" pitchFamily="2" charset="0"/>
                  </a:rPr>
                  <a:t>右</a:t>
                </a:r>
                <a:r>
                  <a:rPr lang="zh-CN" altLang="en-US" sz="1400" dirty="0">
                    <a:latin typeface="Times" pitchFamily="2" charset="0"/>
                  </a:rPr>
                  <a:t>特征向量调整到</a:t>
                </a:r>
                <a:r>
                  <a:rPr lang="en-US" altLang="zh-CN" sz="1400" b="1" dirty="0">
                    <a:solidFill>
                      <a:srgbClr val="00B050"/>
                    </a:solidFill>
                    <a:latin typeface="Times" pitchFamily="2" charset="0"/>
                  </a:rPr>
                  <a:t>V</a:t>
                </a:r>
                <a:r>
                  <a:rPr lang="zh-CN" altLang="en-US" sz="1400" dirty="0">
                    <a:latin typeface="Times" pitchFamily="2" charset="0"/>
                  </a:rPr>
                  <a:t>的第</a:t>
                </a:r>
                <a:r>
                  <a:rPr lang="en-US" altLang="zh-CN" sz="1400" i="1" dirty="0" err="1">
                    <a:solidFill>
                      <a:srgbClr val="C00000"/>
                    </a:solidFill>
                    <a:latin typeface="Times" pitchFamily="2" charset="0"/>
                  </a:rPr>
                  <a:t>i</a:t>
                </a:r>
                <a:r>
                  <a:rPr lang="zh-CN" altLang="en-US" sz="1400" dirty="0">
                    <a:latin typeface="Times" pitchFamily="2" charset="0"/>
                  </a:rPr>
                  <a:t>列</a:t>
                </a:r>
                <a:endParaRPr lang="en-US" altLang="zh-CN" sz="1400" dirty="0">
                  <a:latin typeface="Times" pitchFamily="2" charset="0"/>
                </a:endParaRPr>
              </a:p>
              <a:p>
                <a:r>
                  <a:rPr lang="zh-CN" altLang="en-US" sz="1600" dirty="0" smtClean="0"/>
                  <a:t>为</a:t>
                </a:r>
                <a:r>
                  <a:rPr lang="zh-CN" altLang="en-US" sz="1600" dirty="0"/>
                  <a:t>表述简单：以下</a:t>
                </a:r>
                <a:r>
                  <a:rPr lang="en-US" altLang="zh-CN" sz="1600" dirty="0"/>
                  <a:t>PPT</a:t>
                </a:r>
                <a:r>
                  <a:rPr lang="zh-CN" altLang="en-US" sz="1600" dirty="0"/>
                  <a:t>中，依然用符号</a:t>
                </a:r>
                <a:r>
                  <a:rPr lang="en-US" altLang="zh-CN" sz="1600" b="1" dirty="0">
                    <a:latin typeface="Times" pitchFamily="2" charset="0"/>
                  </a:rPr>
                  <a:t>U</a:t>
                </a:r>
                <a:r>
                  <a:rPr lang="zh-CN" altLang="en-US" sz="1600" b="1" dirty="0">
                    <a:latin typeface="Times" pitchFamily="2" charset="0"/>
                  </a:rPr>
                  <a:t>、</a:t>
                </a:r>
                <a14:m>
                  <m:oMath xmlns:m="http://schemas.openxmlformats.org/officeDocument/2006/math">
                    <m:r>
                      <a:rPr kumimoji="1" lang="en-US" altLang="zh-CN" b="1" i="1">
                        <a:latin typeface="Cambria Math" panose="02040503050406030204" pitchFamily="18" charset="0"/>
                      </a:rPr>
                      <m:t>𝚺</m:t>
                    </m:r>
                  </m:oMath>
                </a14:m>
                <a:r>
                  <a:rPr lang="zh-CN" altLang="en-US" sz="1600" b="1" dirty="0">
                    <a:latin typeface="Times" pitchFamily="2" charset="0"/>
                  </a:rPr>
                  <a:t>、</a:t>
                </a:r>
                <a:r>
                  <a:rPr lang="en-US" altLang="zh-CN" sz="1600" b="1" dirty="0">
                    <a:latin typeface="Times" pitchFamily="2" charset="0"/>
                  </a:rPr>
                  <a:t>V</a:t>
                </a:r>
                <a:r>
                  <a:rPr lang="zh-CN" altLang="en-US" sz="1600" dirty="0"/>
                  <a:t>表示调整后的矩阵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E292C1DB-17B0-104A-9EA0-539E96BAACE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2411598"/>
                <a:ext cx="8229600" cy="2955468"/>
              </a:xfrm>
              <a:blipFill rotWithShape="0">
                <a:blip r:embed="rId2"/>
                <a:stretch>
                  <a:fillRect l="-296" t="-6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组合 3">
            <a:extLst>
              <a:ext uri="{FF2B5EF4-FFF2-40B4-BE49-F238E27FC236}">
                <a16:creationId xmlns="" xmlns:a16="http://schemas.microsoft.com/office/drawing/2014/main" id="{2C707B83-BAE7-6246-A78B-42211925B1DB}"/>
              </a:ext>
            </a:extLst>
          </p:cNvPr>
          <p:cNvGrpSpPr/>
          <p:nvPr/>
        </p:nvGrpSpPr>
        <p:grpSpPr>
          <a:xfrm>
            <a:off x="367571" y="819150"/>
            <a:ext cx="8621032" cy="1592449"/>
            <a:chOff x="165694" y="3110178"/>
            <a:chExt cx="8621032" cy="1592449"/>
          </a:xfrm>
        </p:grpSpPr>
        <p:grpSp>
          <p:nvGrpSpPr>
            <p:cNvPr id="5" name="组合 4">
              <a:extLst>
                <a:ext uri="{FF2B5EF4-FFF2-40B4-BE49-F238E27FC236}">
                  <a16:creationId xmlns="" xmlns:a16="http://schemas.microsoft.com/office/drawing/2014/main" id="{DC6FD584-160A-BC4F-9E30-8FB16EE1C15C}"/>
                </a:ext>
              </a:extLst>
            </p:cNvPr>
            <p:cNvGrpSpPr/>
            <p:nvPr/>
          </p:nvGrpSpPr>
          <p:grpSpPr>
            <a:xfrm>
              <a:off x="165694" y="3110178"/>
              <a:ext cx="8621032" cy="1592449"/>
              <a:chOff x="165694" y="3110178"/>
              <a:chExt cx="8621032" cy="1592449"/>
            </a:xfrm>
          </p:grpSpPr>
          <p:pic>
            <p:nvPicPr>
              <p:cNvPr id="11" name="图片 10">
                <a:extLst>
                  <a:ext uri="{FF2B5EF4-FFF2-40B4-BE49-F238E27FC236}">
                    <a16:creationId xmlns="" xmlns:a16="http://schemas.microsoft.com/office/drawing/2014/main" id="{BE813B98-BA62-3143-911B-FA49E809616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r="36618"/>
              <a:stretch/>
            </p:blipFill>
            <p:spPr>
              <a:xfrm>
                <a:off x="165694" y="3111389"/>
                <a:ext cx="4668404" cy="1591238"/>
              </a:xfrm>
              <a:prstGeom prst="rect">
                <a:avLst/>
              </a:prstGeom>
            </p:spPr>
          </p:pic>
          <p:sp>
            <p:nvSpPr>
              <p:cNvPr id="12" name="文本框 11">
                <a:extLst>
                  <a:ext uri="{FF2B5EF4-FFF2-40B4-BE49-F238E27FC236}">
                    <a16:creationId xmlns="" xmlns:a16="http://schemas.microsoft.com/office/drawing/2014/main" id="{50AD6D0C-E9F4-6247-9F8D-52528968BF86}"/>
                  </a:ext>
                </a:extLst>
              </p:cNvPr>
              <p:cNvSpPr txBox="1"/>
              <p:nvPr/>
            </p:nvSpPr>
            <p:spPr>
              <a:xfrm>
                <a:off x="2946333" y="3365027"/>
                <a:ext cx="486888" cy="64633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3600" dirty="0"/>
                  <a:t>=</a:t>
                </a:r>
                <a:endParaRPr kumimoji="1" lang="zh-CN" altLang="en-US" dirty="0"/>
              </a:p>
            </p:txBody>
          </p:sp>
          <p:pic>
            <p:nvPicPr>
              <p:cNvPr id="13" name="图片 12">
                <a:extLst>
                  <a:ext uri="{FF2B5EF4-FFF2-40B4-BE49-F238E27FC236}">
                    <a16:creationId xmlns="" xmlns:a16="http://schemas.microsoft.com/office/drawing/2014/main" id="{570B246F-A9DE-CD4C-8395-B4F18B5C326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56092" r="19"/>
              <a:stretch/>
            </p:blipFill>
            <p:spPr>
              <a:xfrm>
                <a:off x="5554098" y="3111389"/>
                <a:ext cx="3232628" cy="1591238"/>
              </a:xfrm>
              <a:prstGeom prst="rect">
                <a:avLst/>
              </a:prstGeom>
            </p:spPr>
          </p:pic>
          <p:sp>
            <p:nvSpPr>
              <p:cNvPr id="14" name="矩形 13">
                <a:extLst>
                  <a:ext uri="{FF2B5EF4-FFF2-40B4-BE49-F238E27FC236}">
                    <a16:creationId xmlns="" xmlns:a16="http://schemas.microsoft.com/office/drawing/2014/main" id="{B0F92698-A6C4-6346-AD4B-9FF1214CB025}"/>
                  </a:ext>
                </a:extLst>
              </p:cNvPr>
              <p:cNvSpPr/>
              <p:nvPr/>
            </p:nvSpPr>
            <p:spPr>
              <a:xfrm>
                <a:off x="4834098" y="3110178"/>
                <a:ext cx="1459336" cy="25484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5" name="矩形 14">
                <a:extLst>
                  <a:ext uri="{FF2B5EF4-FFF2-40B4-BE49-F238E27FC236}">
                    <a16:creationId xmlns="" xmlns:a16="http://schemas.microsoft.com/office/drawing/2014/main" id="{05B2EBE0-E912-7841-9D2F-33A79A03F04B}"/>
                  </a:ext>
                </a:extLst>
              </p:cNvPr>
              <p:cNvSpPr/>
              <p:nvPr/>
            </p:nvSpPr>
            <p:spPr>
              <a:xfrm>
                <a:off x="4429496" y="4119257"/>
                <a:ext cx="1268192" cy="58336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6" name="矩形 15">
                <a:extLst>
                  <a:ext uri="{FF2B5EF4-FFF2-40B4-BE49-F238E27FC236}">
                    <a16:creationId xmlns="" xmlns:a16="http://schemas.microsoft.com/office/drawing/2014/main" id="{2337A4C6-C1AA-FF4A-AF07-85A6635D8E80}"/>
                  </a:ext>
                </a:extLst>
              </p:cNvPr>
              <p:cNvSpPr/>
              <p:nvPr/>
            </p:nvSpPr>
            <p:spPr>
              <a:xfrm>
                <a:off x="4869723" y="3365027"/>
                <a:ext cx="720000" cy="720000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p:cxnSp>
          <p:nvCxnSpPr>
            <p:cNvPr id="6" name="直线连接符 5">
              <a:extLst>
                <a:ext uri="{FF2B5EF4-FFF2-40B4-BE49-F238E27FC236}">
                  <a16:creationId xmlns="" xmlns:a16="http://schemas.microsoft.com/office/drawing/2014/main" id="{24F14839-DE3A-C94A-BF76-95532D0CC4E0}"/>
                </a:ext>
              </a:extLst>
            </p:cNvPr>
            <p:cNvCxnSpPr/>
            <p:nvPr/>
          </p:nvCxnSpPr>
          <p:spPr>
            <a:xfrm>
              <a:off x="4869723" y="3365027"/>
              <a:ext cx="720000" cy="720000"/>
            </a:xfrm>
            <a:prstGeom prst="line">
              <a:avLst/>
            </a:prstGeom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7" name="文本框 6">
              <a:extLst>
                <a:ext uri="{FF2B5EF4-FFF2-40B4-BE49-F238E27FC236}">
                  <a16:creationId xmlns="" xmlns:a16="http://schemas.microsoft.com/office/drawing/2014/main" id="{7613F622-97C1-0C48-A361-3AB99E876A4A}"/>
                </a:ext>
              </a:extLst>
            </p:cNvPr>
            <p:cNvSpPr txBox="1"/>
            <p:nvPr/>
          </p:nvSpPr>
          <p:spPr>
            <a:xfrm>
              <a:off x="5216787" y="3399257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kumimoji="1" lang="zh-CN" altLang="en-US" dirty="0"/>
            </a:p>
          </p:txBody>
        </p:sp>
        <p:sp>
          <p:nvSpPr>
            <p:cNvPr id="8" name="文本框 7">
              <a:extLst>
                <a:ext uri="{FF2B5EF4-FFF2-40B4-BE49-F238E27FC236}">
                  <a16:creationId xmlns="" xmlns:a16="http://schemas.microsoft.com/office/drawing/2014/main" id="{7E75B7A4-AC3A-F546-8527-AEB474B19773}"/>
                </a:ext>
              </a:extLst>
            </p:cNvPr>
            <p:cNvSpPr txBox="1"/>
            <p:nvPr/>
          </p:nvSpPr>
          <p:spPr>
            <a:xfrm>
              <a:off x="4928037" y="3713498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kumimoji="1" lang="zh-CN" altLang="en-US" dirty="0"/>
            </a:p>
          </p:txBody>
        </p:sp>
        <p:pic>
          <p:nvPicPr>
            <p:cNvPr id="9" name="图片 8">
              <a:extLst>
                <a:ext uri="{FF2B5EF4-FFF2-40B4-BE49-F238E27FC236}">
                  <a16:creationId xmlns="" xmlns:a16="http://schemas.microsoft.com/office/drawing/2014/main" id="{21AEA4AE-04E8-044C-BF08-120D734487C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654987" y="4117060"/>
              <a:ext cx="503486" cy="456650"/>
            </a:xfrm>
            <a:prstGeom prst="rect">
              <a:avLst/>
            </a:prstGeom>
          </p:spPr>
        </p:pic>
        <p:pic>
          <p:nvPicPr>
            <p:cNvPr id="10" name="图片 9">
              <a:extLst>
                <a:ext uri="{FF2B5EF4-FFF2-40B4-BE49-F238E27FC236}">
                  <a16:creationId xmlns="" xmlns:a16="http://schemas.microsoft.com/office/drawing/2014/main" id="{683F5CD2-7B33-2F4A-AFD3-ABD70746E6E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618280" y="3139170"/>
              <a:ext cx="461978" cy="375357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矩形 16">
                <a:extLst>
                  <a:ext uri="{FF2B5EF4-FFF2-40B4-BE49-F238E27FC236}">
                    <a16:creationId xmlns="" xmlns:a16="http://schemas.microsoft.com/office/drawing/2014/main" id="{85325142-951E-1647-8102-0E9E34672116}"/>
                  </a:ext>
                </a:extLst>
              </p:cNvPr>
              <p:cNvSpPr/>
              <p:nvPr/>
            </p:nvSpPr>
            <p:spPr>
              <a:xfrm>
                <a:off x="5199806" y="1187301"/>
                <a:ext cx="463588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zh-CN" sz="2800" smtClean="0">
                          <a:latin typeface="Cambria Math" panose="02040503050406030204" pitchFamily="18" charset="0"/>
                        </a:rPr>
                        <m:t>Σ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85325142-951E-1647-8102-0E9E3467211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9806" y="1187301"/>
                <a:ext cx="463588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5900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56B9FE15-BF2E-3A49-8188-3032B8A63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LSI</a:t>
            </a:r>
            <a:r>
              <a:rPr kumimoji="1" lang="zh-CN" altLang="en-US" dirty="0"/>
              <a:t>第三步：只保留前</a:t>
            </a:r>
            <a:r>
              <a:rPr kumimoji="1" lang="en-US" altLang="zh-CN" dirty="0"/>
              <a:t>K</a:t>
            </a:r>
            <a:r>
              <a:rPr kumimoji="1" lang="zh-CN" altLang="en-US" dirty="0"/>
              <a:t>个特征值，其余置零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="" xmlns:a16="http://schemas.microsoft.com/office/drawing/2014/main" id="{2FEFDE02-C034-DF46-96C1-4F32C5B6B7F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3236164"/>
                <a:ext cx="8229600" cy="1701932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kumimoji="1" lang="zh-CN" altLang="en-US" dirty="0"/>
                  <a:t>等号不再成立</a:t>
                </a:r>
                <a:endParaRPr kumimoji="1" lang="en-US" altLang="zh-CN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i="1">
                            <a:latin typeface="Cambria Math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n-US" altLang="zh-CN" i="1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</m:oMath>
                </a14:m>
                <a:r>
                  <a:rPr kumimoji="1" lang="zh-CN" altLang="en-US" dirty="0"/>
                  <a:t>：只保留了前</a:t>
                </a:r>
                <a:r>
                  <a:rPr kumimoji="1" lang="en-US" altLang="zh-CN" dirty="0"/>
                  <a:t>K</a:t>
                </a:r>
                <a:r>
                  <a:rPr kumimoji="1" lang="zh-CN" altLang="en-US" dirty="0"/>
                  <a:t>个特征值的对角阵</a:t>
                </a:r>
                <a:endParaRPr kumimoji="1" lang="en-US" altLang="zh-CN" dirty="0"/>
              </a:p>
              <a:p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rank(</a:t>
                </a:r>
                <a:r>
                  <a:rPr lang="en-US" altLang="zh-C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b="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n-US" altLang="zh-CN" b="0" i="1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</m:oMath>
                </a14:m>
                <a:r>
                  <a:rPr lang="en-US" altLang="zh-C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altLang="zh-CN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func>
                      <m:funcPr>
                        <m:ctrlPr>
                          <a:rPr lang="en-US" altLang="zh-CN" i="1">
                            <a:latin typeface="Cambria Math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min</m:t>
                        </m:r>
                      </m:fName>
                      <m:e>
                        <m:d>
                          <m:dPr>
                            <m:ctrlPr>
                              <a:rPr lang="en-US" altLang="zh-CN" i="1">
                                <a:latin typeface="Cambria Math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altLang="zh-CN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rank</m:t>
                            </m:r>
                            <m:d>
                              <m:dPr>
                                <m:ctrlPr>
                                  <a:rPr lang="en-US" altLang="zh-CN" i="1">
                                    <a:latin typeface="Cambria Math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𝑈</m:t>
                                </m:r>
                              </m:e>
                            </m:d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 </m:t>
                            </m:r>
                            <m:r>
                              <m:rPr>
                                <m:sty m:val="p"/>
                              </m:rPr>
                              <a:rPr lang="en-US" altLang="zh-CN" b="0" i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rank</m:t>
                            </m:r>
                            <m:d>
                              <m:dPr>
                                <m:ctrlPr>
                                  <a:rPr lang="en-US" altLang="zh-CN" b="0" i="1" smtClean="0">
                                    <a:latin typeface="Cambria Math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kumimoji="1" lang="en-US" altLang="zh-CN" b="1" i="1" smtClean="0">
                                        <a:latin typeface="Cambria Math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zh-CN" b="1">
                                        <a:latin typeface="Cambria Math" panose="02040503050406030204" pitchFamily="18" charset="0"/>
                                      </a:rPr>
                                      <m:t>𝚺</m:t>
                                    </m:r>
                                  </m:e>
                                  <m:sub>
                                    <m:r>
                                      <a:rPr kumimoji="1"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altLang="zh-CN" b="0" i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r>
                              <a:rPr lang="zh-CN" altLang="en-US" b="0" i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altLang="zh-CN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rank</m:t>
                            </m:r>
                            <m:d>
                              <m:dPr>
                                <m:ctrlPr>
                                  <a:rPr lang="en-US" altLang="zh-CN" i="1">
                                    <a:latin typeface="Cambria Math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𝑉</m:t>
                                </m:r>
                              </m:e>
                            </m:d>
                          </m:e>
                        </m:d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≤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𝐾</m:t>
                        </m:r>
                      </m:e>
                    </m:func>
                  </m:oMath>
                </a14:m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与文档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/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单词的数目而言，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比较小，如：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K=50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、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100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、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200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、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500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等</a:t>
                </a:r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C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b="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n-US" altLang="zh-CN" i="1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</m:oMath>
                </a14:m>
                <a:r>
                  <a:rPr lang="en-US" altLang="zh-C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altLang="zh-CN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是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的</a:t>
                </a:r>
                <a:r>
                  <a:rPr lang="zh-CN" alt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低秩近似</a:t>
                </a:r>
                <a:endParaRPr lang="en-US" altLang="zh-CN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kumimoji="1"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2FEFDE02-C034-DF46-96C1-4F32C5B6B7F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3236164"/>
                <a:ext cx="8229600" cy="1701932"/>
              </a:xfrm>
              <a:blipFill>
                <a:blip r:embed="rId2"/>
                <a:stretch>
                  <a:fillRect l="-617" t="-2963" b="-44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>
            <a:extLst>
              <a:ext uri="{FF2B5EF4-FFF2-40B4-BE49-F238E27FC236}">
                <a16:creationId xmlns="" xmlns:a16="http://schemas.microsoft.com/office/drawing/2014/main" id="{DB71ABB2-1520-0C47-920C-8A0C767B03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9192" y="1034885"/>
            <a:ext cx="5725616" cy="2076648"/>
          </a:xfrm>
          <a:prstGeom prst="rect">
            <a:avLst/>
          </a:prstGeom>
        </p:spPr>
      </p:pic>
      <p:sp>
        <p:nvSpPr>
          <p:cNvPr id="5" name="Rectangle 5">
            <a:extLst>
              <a:ext uri="{FF2B5EF4-FFF2-40B4-BE49-F238E27FC236}">
                <a16:creationId xmlns="" xmlns:a16="http://schemas.microsoft.com/office/drawing/2014/main" id="{3C76BF3F-F486-D441-AAB0-A98213BA0812}"/>
              </a:ext>
            </a:extLst>
          </p:cNvPr>
          <p:cNvSpPr/>
          <p:nvPr/>
        </p:nvSpPr>
        <p:spPr>
          <a:xfrm>
            <a:off x="1157845" y="1191731"/>
            <a:ext cx="538570" cy="23214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word</a:t>
            </a:r>
            <a:endParaRPr lang="en-US" dirty="0"/>
          </a:p>
        </p:txBody>
      </p:sp>
      <p:sp>
        <p:nvSpPr>
          <p:cNvPr id="6" name="Line 9">
            <a:extLst>
              <a:ext uri="{FF2B5EF4-FFF2-40B4-BE49-F238E27FC236}">
                <a16:creationId xmlns="" xmlns:a16="http://schemas.microsoft.com/office/drawing/2014/main" id="{E4ACF93E-0C24-274F-A497-2DBFAF09E240}"/>
              </a:ext>
            </a:extLst>
          </p:cNvPr>
          <p:cNvSpPr>
            <a:spLocks noChangeShapeType="1"/>
          </p:cNvSpPr>
          <p:nvPr/>
        </p:nvSpPr>
        <p:spPr bwMode="auto">
          <a:xfrm>
            <a:off x="1371508" y="1515161"/>
            <a:ext cx="469083" cy="0"/>
          </a:xfrm>
          <a:prstGeom prst="line">
            <a:avLst/>
          </a:prstGeom>
          <a:noFill/>
          <a:ln w="38100" cmpd="dbl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" name="Rectangle 7">
            <a:extLst>
              <a:ext uri="{FF2B5EF4-FFF2-40B4-BE49-F238E27FC236}">
                <a16:creationId xmlns="" xmlns:a16="http://schemas.microsoft.com/office/drawing/2014/main" id="{FAD6282E-BB7D-0147-B879-0FF49071E6E8}"/>
              </a:ext>
            </a:extLst>
          </p:cNvPr>
          <p:cNvSpPr/>
          <p:nvPr/>
        </p:nvSpPr>
        <p:spPr>
          <a:xfrm>
            <a:off x="1606049" y="704850"/>
            <a:ext cx="894823" cy="23214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document</a:t>
            </a:r>
            <a:endParaRPr lang="en-US" dirty="0"/>
          </a:p>
        </p:txBody>
      </p:sp>
      <p:sp>
        <p:nvSpPr>
          <p:cNvPr id="8" name="Line 15">
            <a:extLst>
              <a:ext uri="{FF2B5EF4-FFF2-40B4-BE49-F238E27FC236}">
                <a16:creationId xmlns="" xmlns:a16="http://schemas.microsoft.com/office/drawing/2014/main" id="{FCCC3B35-2786-FC40-B48C-FF26E212F53E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1991969" y="1160812"/>
            <a:ext cx="343253" cy="0"/>
          </a:xfrm>
          <a:prstGeom prst="line">
            <a:avLst/>
          </a:prstGeom>
          <a:noFill/>
          <a:ln w="38100" cmpd="dbl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72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回到之前的例子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339849"/>
            <a:ext cx="3850631" cy="2268589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3671" y="1764007"/>
            <a:ext cx="4161503" cy="142027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1201" y="3931265"/>
            <a:ext cx="2626442" cy="856694"/>
          </a:xfrm>
          <a:prstGeom prst="rect">
            <a:avLst/>
          </a:prstGeom>
        </p:spPr>
      </p:pic>
      <p:sp>
        <p:nvSpPr>
          <p:cNvPr id="7" name="Down Arrow 6"/>
          <p:cNvSpPr/>
          <p:nvPr/>
        </p:nvSpPr>
        <p:spPr>
          <a:xfrm>
            <a:off x="6813755" y="3342968"/>
            <a:ext cx="678426" cy="39329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290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回到之前的例子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9050" y="1092200"/>
            <a:ext cx="6565900" cy="3390900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4083726" y="2133600"/>
                <a:ext cx="528734" cy="4001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0" i="1" smtClean="0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charset="0"/>
                            </a:rPr>
                            <m:t>𝑈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3726" y="2133600"/>
                <a:ext cx="528734" cy="400110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532255" y="3829664"/>
                <a:ext cx="548547" cy="40440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2000" b="0" i="1" smtClean="0">
                              <a:latin typeface="Cambria Math" charset="0"/>
                            </a:rPr>
                          </m:ctrlPr>
                        </m:sSubSupPr>
                        <m:e>
                          <m:r>
                            <a:rPr lang="en-US" altLang="zh-CN" sz="2000" b="0" i="1" smtClean="0">
                              <a:latin typeface="Cambria Math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CN" sz="2000" b="0" i="1" smtClean="0">
                              <a:latin typeface="Cambria Math" charset="0"/>
                            </a:rPr>
                            <m:t>𝑇</m:t>
                          </m:r>
                        </m:sup>
                      </m:sSubSup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2255" y="3829664"/>
                <a:ext cx="548547" cy="404406"/>
              </a:xfrm>
              <a:prstGeom prst="rect">
                <a:avLst/>
              </a:prstGeom>
              <a:blipFill rotWithShape="0">
                <a:blip r:embed="rId4"/>
                <a:stretch>
                  <a:fillRect b="-14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263357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回到之前的例子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176517"/>
            <a:ext cx="8229600" cy="1767092"/>
          </a:xfr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3309374"/>
            <a:ext cx="8180439" cy="731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80679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回到之前的例子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6805" y="1064957"/>
            <a:ext cx="4876254" cy="3657191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26" y="1064957"/>
            <a:ext cx="3529781" cy="74311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-221225" y="1877889"/>
            <a:ext cx="3819832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US" dirty="0"/>
              <a:t>d1 : Romeo and Juliet. </a:t>
            </a:r>
          </a:p>
          <a:p>
            <a:pPr lvl="1"/>
            <a:r>
              <a:rPr lang="en-US" dirty="0"/>
              <a:t>d2 : Juliet: O happy dagger! </a:t>
            </a:r>
          </a:p>
          <a:p>
            <a:pPr lvl="1"/>
            <a:r>
              <a:rPr lang="en-US" dirty="0"/>
              <a:t>d3 : Romeo died by dagger. </a:t>
            </a:r>
          </a:p>
          <a:p>
            <a:pPr lvl="1"/>
            <a:r>
              <a:rPr lang="en-US" dirty="0"/>
              <a:t>d4 : “Live free or die”, that’s the New-Hampshire’s motto. </a:t>
            </a:r>
          </a:p>
          <a:p>
            <a:pPr lvl="1"/>
            <a:r>
              <a:rPr lang="en-US" dirty="0"/>
              <a:t>d5 : Did you know, New-Hampshire is in New-England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xmlns="" id="{6D380C88-83F5-3145-B685-886838884200}"/>
              </a:ext>
            </a:extLst>
          </p:cNvPr>
          <p:cNvSpPr txBox="1"/>
          <p:nvPr/>
        </p:nvSpPr>
        <p:spPr>
          <a:xfrm>
            <a:off x="1100325" y="3979034"/>
            <a:ext cx="353744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 smtClean="0">
                <a:solidFill>
                  <a:srgbClr val="C00000"/>
                </a:solidFill>
              </a:rPr>
              <a:t>将文档按照与</a:t>
            </a:r>
            <a:r>
              <a:rPr kumimoji="1" lang="en-US" altLang="zh-CN" dirty="0" smtClean="0">
                <a:solidFill>
                  <a:srgbClr val="C00000"/>
                </a:solidFill>
              </a:rPr>
              <a:t>q</a:t>
            </a:r>
            <a:r>
              <a:rPr kumimoji="1" lang="zh-CN" altLang="en-US" dirty="0" smtClean="0">
                <a:solidFill>
                  <a:srgbClr val="C00000"/>
                </a:solidFill>
              </a:rPr>
              <a:t>的</a:t>
            </a:r>
            <a:r>
              <a:rPr kumimoji="1" lang="en-US" altLang="zh-CN" dirty="0" smtClean="0">
                <a:solidFill>
                  <a:srgbClr val="C00000"/>
                </a:solidFill>
              </a:rPr>
              <a:t>cosine</a:t>
            </a:r>
            <a:r>
              <a:rPr kumimoji="1" lang="zh-CN" altLang="en-US" dirty="0" smtClean="0">
                <a:solidFill>
                  <a:srgbClr val="C00000"/>
                </a:solidFill>
              </a:rPr>
              <a:t>距离排序</a:t>
            </a:r>
            <a:endParaRPr kumimoji="1" lang="en-US" altLang="zh-CN" dirty="0" smtClean="0">
              <a:solidFill>
                <a:srgbClr val="C00000"/>
              </a:solidFill>
            </a:endParaRPr>
          </a:p>
          <a:p>
            <a:r>
              <a:rPr kumimoji="1" lang="en-US" altLang="zh-CN" dirty="0" smtClean="0">
                <a:solidFill>
                  <a:srgbClr val="C00000"/>
                </a:solidFill>
              </a:rPr>
              <a:t>A</a:t>
            </a:r>
            <a:r>
              <a:rPr kumimoji="1" lang="zh-CN" altLang="en-US" dirty="0" smtClean="0">
                <a:solidFill>
                  <a:srgbClr val="C00000"/>
                </a:solidFill>
              </a:rPr>
              <a:t>：</a:t>
            </a:r>
            <a:r>
              <a:rPr kumimoji="1" lang="en-US" altLang="zh-CN" dirty="0" smtClean="0">
                <a:solidFill>
                  <a:srgbClr val="C00000"/>
                </a:solidFill>
              </a:rPr>
              <a:t>d3</a:t>
            </a:r>
            <a:r>
              <a:rPr kumimoji="1" lang="zh-CN" altLang="en-US" dirty="0" smtClean="0">
                <a:solidFill>
                  <a:srgbClr val="C00000"/>
                </a:solidFill>
              </a:rPr>
              <a:t> </a:t>
            </a:r>
            <a:r>
              <a:rPr kumimoji="1" lang="en-US" altLang="zh-CN" dirty="0" smtClean="0">
                <a:solidFill>
                  <a:srgbClr val="C00000"/>
                </a:solidFill>
              </a:rPr>
              <a:t>&gt;</a:t>
            </a:r>
            <a:r>
              <a:rPr kumimoji="1" lang="zh-CN" altLang="en-US" dirty="0" smtClean="0">
                <a:solidFill>
                  <a:srgbClr val="C00000"/>
                </a:solidFill>
              </a:rPr>
              <a:t> </a:t>
            </a:r>
            <a:r>
              <a:rPr kumimoji="1" lang="en-US" altLang="zh-CN" dirty="0" smtClean="0">
                <a:solidFill>
                  <a:srgbClr val="C00000"/>
                </a:solidFill>
              </a:rPr>
              <a:t>d2</a:t>
            </a:r>
            <a:r>
              <a:rPr kumimoji="1" lang="zh-CN" altLang="en-US" dirty="0" smtClean="0">
                <a:solidFill>
                  <a:srgbClr val="C00000"/>
                </a:solidFill>
              </a:rPr>
              <a:t> </a:t>
            </a:r>
            <a:r>
              <a:rPr kumimoji="1" lang="en-US" altLang="zh-CN" dirty="0" smtClean="0">
                <a:solidFill>
                  <a:srgbClr val="C00000"/>
                </a:solidFill>
              </a:rPr>
              <a:t>&gt;</a:t>
            </a:r>
            <a:r>
              <a:rPr kumimoji="1" lang="zh-CN" altLang="en-US" dirty="0" smtClean="0">
                <a:solidFill>
                  <a:srgbClr val="C00000"/>
                </a:solidFill>
              </a:rPr>
              <a:t> </a:t>
            </a:r>
            <a:r>
              <a:rPr kumimoji="1" lang="en-US" altLang="zh-CN" dirty="0" smtClean="0">
                <a:solidFill>
                  <a:srgbClr val="C00000"/>
                </a:solidFill>
              </a:rPr>
              <a:t>d4</a:t>
            </a:r>
            <a:r>
              <a:rPr kumimoji="1" lang="zh-CN" altLang="en-US" dirty="0" smtClean="0">
                <a:solidFill>
                  <a:srgbClr val="C00000"/>
                </a:solidFill>
              </a:rPr>
              <a:t> </a:t>
            </a:r>
            <a:r>
              <a:rPr kumimoji="1" lang="en-US" altLang="zh-CN" dirty="0" smtClean="0">
                <a:solidFill>
                  <a:srgbClr val="C00000"/>
                </a:solidFill>
              </a:rPr>
              <a:t>&gt;</a:t>
            </a:r>
            <a:r>
              <a:rPr kumimoji="1" lang="zh-CN" altLang="en-US" dirty="0" smtClean="0">
                <a:solidFill>
                  <a:srgbClr val="C00000"/>
                </a:solidFill>
              </a:rPr>
              <a:t> </a:t>
            </a:r>
            <a:r>
              <a:rPr kumimoji="1" lang="en-US" altLang="zh-CN" dirty="0" smtClean="0">
                <a:solidFill>
                  <a:srgbClr val="C00000"/>
                </a:solidFill>
              </a:rPr>
              <a:t>d1</a:t>
            </a:r>
            <a:r>
              <a:rPr kumimoji="1" lang="zh-CN" altLang="en-US" dirty="0" smtClean="0">
                <a:solidFill>
                  <a:srgbClr val="C00000"/>
                </a:solidFill>
              </a:rPr>
              <a:t> </a:t>
            </a:r>
            <a:r>
              <a:rPr kumimoji="1" lang="en-US" altLang="zh-CN" dirty="0" smtClean="0">
                <a:solidFill>
                  <a:srgbClr val="C00000"/>
                </a:solidFill>
              </a:rPr>
              <a:t>&gt;</a:t>
            </a:r>
            <a:r>
              <a:rPr kumimoji="1" lang="zh-CN" altLang="en-US" dirty="0" smtClean="0">
                <a:solidFill>
                  <a:srgbClr val="C00000"/>
                </a:solidFill>
              </a:rPr>
              <a:t> </a:t>
            </a:r>
            <a:r>
              <a:rPr kumimoji="1" lang="en-US" altLang="zh-CN" dirty="0" smtClean="0">
                <a:solidFill>
                  <a:srgbClr val="C00000"/>
                </a:solidFill>
              </a:rPr>
              <a:t>d5</a:t>
            </a:r>
            <a:endParaRPr kumimoji="1" lang="en-US" altLang="zh-CN" dirty="0">
              <a:solidFill>
                <a:srgbClr val="C00000"/>
              </a:solidFill>
            </a:endParaRPr>
          </a:p>
          <a:p>
            <a:r>
              <a:rPr kumimoji="1" lang="en-US" altLang="zh-CN" dirty="0">
                <a:solidFill>
                  <a:srgbClr val="C00000"/>
                </a:solidFill>
              </a:rPr>
              <a:t>B</a:t>
            </a:r>
            <a:r>
              <a:rPr kumimoji="1" lang="zh-CN" altLang="en-US" dirty="0" smtClean="0">
                <a:solidFill>
                  <a:srgbClr val="C00000"/>
                </a:solidFill>
              </a:rPr>
              <a:t>：</a:t>
            </a:r>
            <a:r>
              <a:rPr kumimoji="1" lang="en-US" altLang="zh-CN" dirty="0" smtClean="0">
                <a:solidFill>
                  <a:srgbClr val="C00000"/>
                </a:solidFill>
              </a:rPr>
              <a:t>d3</a:t>
            </a:r>
            <a:r>
              <a:rPr kumimoji="1" lang="zh-CN" altLang="en-US" dirty="0" smtClean="0">
                <a:solidFill>
                  <a:srgbClr val="C00000"/>
                </a:solidFill>
              </a:rPr>
              <a:t> </a:t>
            </a:r>
            <a:r>
              <a:rPr kumimoji="1" lang="en-US" altLang="zh-CN" dirty="0" smtClean="0">
                <a:solidFill>
                  <a:srgbClr val="C00000"/>
                </a:solidFill>
              </a:rPr>
              <a:t>&gt;</a:t>
            </a:r>
            <a:r>
              <a:rPr kumimoji="1" lang="zh-CN" altLang="en-US" dirty="0" smtClean="0">
                <a:solidFill>
                  <a:srgbClr val="C00000"/>
                </a:solidFill>
              </a:rPr>
              <a:t> </a:t>
            </a:r>
            <a:r>
              <a:rPr kumimoji="1" lang="en-US" altLang="zh-CN" dirty="0" smtClean="0">
                <a:solidFill>
                  <a:srgbClr val="C00000"/>
                </a:solidFill>
              </a:rPr>
              <a:t>d1</a:t>
            </a:r>
            <a:r>
              <a:rPr kumimoji="1" lang="zh-CN" altLang="en-US" dirty="0" smtClean="0">
                <a:solidFill>
                  <a:srgbClr val="C00000"/>
                </a:solidFill>
              </a:rPr>
              <a:t> </a:t>
            </a:r>
            <a:r>
              <a:rPr kumimoji="1" lang="en-US" altLang="zh-CN" dirty="0" smtClean="0">
                <a:solidFill>
                  <a:srgbClr val="C00000"/>
                </a:solidFill>
              </a:rPr>
              <a:t>&gt;</a:t>
            </a:r>
            <a:r>
              <a:rPr kumimoji="1" lang="zh-CN" altLang="en-US" dirty="0" smtClean="0">
                <a:solidFill>
                  <a:srgbClr val="C00000"/>
                </a:solidFill>
              </a:rPr>
              <a:t> </a:t>
            </a:r>
            <a:r>
              <a:rPr kumimoji="1" lang="en-US" altLang="zh-CN" dirty="0" smtClean="0">
                <a:solidFill>
                  <a:srgbClr val="C00000"/>
                </a:solidFill>
              </a:rPr>
              <a:t>d2</a:t>
            </a:r>
            <a:r>
              <a:rPr kumimoji="1" lang="zh-CN" altLang="en-US" dirty="0" smtClean="0">
                <a:solidFill>
                  <a:srgbClr val="C00000"/>
                </a:solidFill>
              </a:rPr>
              <a:t> </a:t>
            </a:r>
            <a:r>
              <a:rPr kumimoji="1" lang="en-US" altLang="zh-CN" dirty="0" smtClean="0">
                <a:solidFill>
                  <a:srgbClr val="C00000"/>
                </a:solidFill>
              </a:rPr>
              <a:t>&gt;</a:t>
            </a:r>
            <a:r>
              <a:rPr kumimoji="1" lang="zh-CN" altLang="en-US" dirty="0" smtClean="0">
                <a:solidFill>
                  <a:srgbClr val="C00000"/>
                </a:solidFill>
              </a:rPr>
              <a:t> </a:t>
            </a:r>
            <a:r>
              <a:rPr kumimoji="1" lang="en-US" altLang="zh-CN" dirty="0" smtClean="0">
                <a:solidFill>
                  <a:srgbClr val="C00000"/>
                </a:solidFill>
              </a:rPr>
              <a:t>d4</a:t>
            </a:r>
            <a:r>
              <a:rPr kumimoji="1" lang="zh-CN" altLang="en-US" dirty="0" smtClean="0">
                <a:solidFill>
                  <a:srgbClr val="C00000"/>
                </a:solidFill>
              </a:rPr>
              <a:t> </a:t>
            </a:r>
            <a:r>
              <a:rPr kumimoji="1" lang="en-US" altLang="zh-CN" dirty="0" smtClean="0">
                <a:solidFill>
                  <a:srgbClr val="C00000"/>
                </a:solidFill>
              </a:rPr>
              <a:t>&gt;</a:t>
            </a:r>
            <a:r>
              <a:rPr kumimoji="1" lang="zh-CN" altLang="en-US" dirty="0" smtClean="0">
                <a:solidFill>
                  <a:srgbClr val="C00000"/>
                </a:solidFill>
              </a:rPr>
              <a:t> </a:t>
            </a:r>
            <a:r>
              <a:rPr kumimoji="1" lang="en-US" altLang="zh-CN" dirty="0" smtClean="0">
                <a:solidFill>
                  <a:srgbClr val="C00000"/>
                </a:solidFill>
              </a:rPr>
              <a:t>d5</a:t>
            </a:r>
            <a:endParaRPr kumimoji="1" lang="en-US" altLang="zh-CN" dirty="0">
              <a:solidFill>
                <a:srgbClr val="C0000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88101" y="4179089"/>
            <a:ext cx="64312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000000"/>
                </a:solidFill>
                <a:latin typeface="Helvetica Neue" charset="0"/>
              </a:rPr>
              <a:t>🔔</a:t>
            </a:r>
            <a:r>
              <a:rPr lang="zh-CN" altLang="en-US" sz="2800" dirty="0">
                <a:solidFill>
                  <a:srgbClr val="000000"/>
                </a:solidFill>
                <a:latin typeface="Helvetica Neue" charset="0"/>
              </a:rPr>
              <a:t> 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8190934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6910469F-5C84-2D47-B7AB-557AC13BE8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朴素贝叶斯（</a:t>
            </a:r>
            <a:r>
              <a:rPr kumimoji="1" lang="en-US" altLang="zh-CN"/>
              <a:t>Naïve</a:t>
            </a:r>
            <a:r>
              <a:rPr kumimoji="1" lang="zh-CN" altLang="en-US"/>
              <a:t> </a:t>
            </a:r>
            <a:r>
              <a:rPr kumimoji="1" lang="en-US" altLang="zh-CN"/>
              <a:t>Bayes</a:t>
            </a:r>
            <a:r>
              <a:rPr kumimoji="1" lang="zh-CN" altLang="en-US"/>
              <a:t>）</a:t>
            </a:r>
            <a:endParaRPr kumimoji="1"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xmlns="" id="{F2A7F762-AAED-3442-81E7-75450F75399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zh-CN" altLang="en-US" dirty="0"/>
                  <a:t>朴素贝叶斯属于概率分类器，给定一个文档</a:t>
                </a:r>
                <a:r>
                  <a:rPr kumimoji="1" lang="en-US" altLang="zh-CN" dirty="0"/>
                  <a:t>d</a:t>
                </a:r>
                <a:r>
                  <a:rPr kumimoji="1" lang="zh-CN" altLang="en-US" dirty="0"/>
                  <a:t>，其属于类别</a:t>
                </a:r>
                <a:r>
                  <a:rPr kumimoji="1" lang="en-US" altLang="zh-CN" dirty="0"/>
                  <a:t>c</a:t>
                </a:r>
                <a:r>
                  <a:rPr kumimoji="1" lang="zh-CN" altLang="en-US" dirty="0"/>
                  <a:t>的概率为</a:t>
                </a:r>
                <a:endParaRPr kumimoji="1" lang="en-US" altLang="zh-CN" dirty="0"/>
              </a:p>
              <a:p>
                <a:endParaRPr kumimoji="1" lang="en-US" altLang="zh-CN" dirty="0"/>
              </a:p>
              <a:p>
                <a:endParaRPr kumimoji="1" lang="en-US" altLang="zh-CN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b="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kumimoji="1" lang="zh-CN" altLang="en-US" dirty="0"/>
                  <a:t>：文档长度</a:t>
                </a:r>
                <a:endParaRPr kumimoji="1" lang="en-US" altLang="zh-CN" dirty="0"/>
              </a:p>
              <a:p>
                <a:pPr lvl="1"/>
                <a14:m>
                  <m:oMath xmlns:m="http://schemas.openxmlformats.org/officeDocument/2006/math"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kumimoji="1" lang="en-US" altLang="zh-CN" b="0" i="1" smtClean="0">
                            <a:latin typeface="Cambria Math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1" lang="en-US" altLang="zh-CN" b="0" i="1" smtClean="0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kumimoji="1" lang="en-US" altLang="zh-CN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kumimoji="1" lang="en-US" altLang="zh-CN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</m:oMath>
                </a14:m>
                <a:r>
                  <a:rPr kumimoji="1" lang="zh-CN" altLang="en-US" dirty="0"/>
                  <a:t>：给定类别</a:t>
                </a:r>
                <a:r>
                  <a:rPr kumimoji="1" lang="en-US" altLang="zh-CN" i="1" dirty="0">
                    <a:latin typeface="Times" pitchFamily="2" charset="0"/>
                  </a:rPr>
                  <a:t>c</a:t>
                </a:r>
                <a:r>
                  <a:rPr kumimoji="1" lang="zh-CN" altLang="en-US" dirty="0"/>
                  <a:t>，出现单词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kumimoji="1" lang="zh-CN" altLang="en-US" dirty="0"/>
                  <a:t>的概率</a:t>
                </a:r>
                <a:endParaRPr kumimoji="1" lang="en-US" altLang="zh-CN" dirty="0"/>
              </a:p>
              <a:p>
                <a:pPr lvl="2"/>
                <a:r>
                  <a:rPr kumimoji="1" lang="zh-CN" altLang="en-US" dirty="0"/>
                  <a:t>通过单词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kumimoji="1" lang="zh-CN" altLang="en-US" dirty="0"/>
                  <a:t>来度量类别</a:t>
                </a:r>
                <a:r>
                  <a:rPr kumimoji="1" lang="en-US" altLang="zh-CN" i="1" dirty="0">
                    <a:latin typeface="Times" pitchFamily="2" charset="0"/>
                  </a:rPr>
                  <a:t>c</a:t>
                </a:r>
                <a:r>
                  <a:rPr kumimoji="1" lang="zh-CN" altLang="en-US" dirty="0"/>
                  <a:t>是否是文档</a:t>
                </a:r>
                <a:r>
                  <a:rPr kumimoji="1" lang="en-US" altLang="zh-CN" b="1" dirty="0">
                    <a:latin typeface="Times" pitchFamily="2" charset="0"/>
                  </a:rPr>
                  <a:t>d</a:t>
                </a:r>
                <a:r>
                  <a:rPr kumimoji="1" lang="zh-CN" altLang="en-US" dirty="0"/>
                  <a:t>的正确类别</a:t>
                </a:r>
                <a:endParaRPr kumimoji="1" lang="en-US" altLang="zh-CN" dirty="0"/>
              </a:p>
              <a:p>
                <a:pPr lvl="1"/>
                <a14:m>
                  <m:oMath xmlns:m="http://schemas.openxmlformats.org/officeDocument/2006/math">
                    <m:r>
                      <a:rPr kumimoji="1" lang="en-US" altLang="zh-CN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kumimoji="1" lang="en-US" altLang="zh-CN" i="1">
                            <a:latin typeface="Cambria Math" charset="0"/>
                          </a:rPr>
                        </m:ctrlPr>
                      </m:dPr>
                      <m:e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</m:oMath>
                </a14:m>
                <a:r>
                  <a:rPr kumimoji="1" lang="zh-CN" altLang="en-US" dirty="0"/>
                  <a:t>：类别</a:t>
                </a:r>
                <a:r>
                  <a:rPr kumimoji="1" lang="en-US" altLang="zh-CN" i="1" dirty="0">
                    <a:latin typeface="Times" pitchFamily="2" charset="0"/>
                  </a:rPr>
                  <a:t>c</a:t>
                </a:r>
                <a:r>
                  <a:rPr kumimoji="1" lang="zh-CN" altLang="en-US" dirty="0"/>
                  <a:t>的先验概率</a:t>
                </a:r>
                <a:endParaRPr kumimoji="1" lang="en-US" altLang="zh-CN" dirty="0"/>
              </a:p>
              <a:p>
                <a:pPr lvl="2"/>
                <a:r>
                  <a:rPr kumimoji="1" lang="zh-CN" altLang="en-US" dirty="0"/>
                  <a:t>如果一个文档没有任何的迹象（单词）表明它属于类别</a:t>
                </a:r>
                <a:r>
                  <a:rPr kumimoji="1" lang="en-US" altLang="zh-CN" i="1" dirty="0">
                    <a:latin typeface="Times" pitchFamily="2" charset="0"/>
                  </a:rPr>
                  <a:t>c</a:t>
                </a:r>
                <a:r>
                  <a:rPr kumimoji="1" lang="zh-CN" altLang="en-US" dirty="0"/>
                  <a:t>的概率要大于属于</a:t>
                </a:r>
                <a:r>
                  <a:rPr kumimoji="1" lang="en-US" altLang="zh-CN" i="1" dirty="0">
                    <a:latin typeface="Times" pitchFamily="2" charset="0"/>
                  </a:rPr>
                  <a:t>c’</a:t>
                </a:r>
                <a:r>
                  <a:rPr kumimoji="1" lang="zh-CN" altLang="en-US" dirty="0"/>
                  <a:t>的概率，那么则选择先验概率较大的类别</a:t>
                </a:r>
                <a:endParaRPr kumimoji="1" lang="en-US" altLang="zh-CN" dirty="0"/>
              </a:p>
              <a:p>
                <a:pPr lvl="1"/>
                <a:endParaRPr kumimoji="1"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2A7F762-AAED-3442-81E7-75450F7539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17" t="-9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>
            <a:extLst>
              <a:ext uri="{FF2B5EF4-FFF2-40B4-BE49-F238E27FC236}">
                <a16:creationId xmlns:a16="http://schemas.microsoft.com/office/drawing/2014/main" xmlns="" id="{678196B4-78CA-B644-82B1-8039A98D25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7561" y="1324065"/>
            <a:ext cx="3019954" cy="560752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69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08223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7392604B-2AF3-6545-8D21-273B10D86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最大化后验概率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xmlns="" id="{6AD34CE0-CEF4-1D47-B631-18F27E37DB8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zh-CN" altLang="en-US" dirty="0"/>
                  <a:t>朴素贝叶斯的</a:t>
                </a:r>
                <a:r>
                  <a:rPr kumimoji="1" lang="zh-CN" altLang="en-US" dirty="0" smtClean="0"/>
                  <a:t>目标</a:t>
                </a:r>
                <a:endParaRPr kumimoji="1" lang="en-US" altLang="zh-CN" dirty="0" smtClean="0"/>
              </a:p>
              <a:p>
                <a:pPr lvl="1"/>
                <a:r>
                  <a:rPr kumimoji="1" lang="zh-CN" altLang="en-US" dirty="0" smtClean="0">
                    <a:solidFill>
                      <a:srgbClr val="C00000"/>
                    </a:solidFill>
                  </a:rPr>
                  <a:t>为</a:t>
                </a:r>
                <a:r>
                  <a:rPr kumimoji="1" lang="zh-CN" altLang="en-US" dirty="0">
                    <a:solidFill>
                      <a:srgbClr val="C00000"/>
                    </a:solidFill>
                  </a:rPr>
                  <a:t>文档找到“最好”的类</a:t>
                </a:r>
                <a:endParaRPr kumimoji="1" lang="en-US" altLang="zh-CN" dirty="0">
                  <a:solidFill>
                    <a:srgbClr val="C00000"/>
                  </a:solidFill>
                </a:endParaRPr>
              </a:p>
              <a:p>
                <a:endParaRPr kumimoji="1" lang="en-US" altLang="zh-CN" dirty="0" smtClean="0"/>
              </a:p>
              <a:p>
                <a:r>
                  <a:rPr kumimoji="1" lang="zh-CN" altLang="en-US" dirty="0" smtClean="0"/>
                  <a:t>什么</a:t>
                </a:r>
                <a:r>
                  <a:rPr kumimoji="1" lang="zh-CN" altLang="en-US" dirty="0"/>
                  <a:t>是最好的类？</a:t>
                </a:r>
                <a:endParaRPr kumimoji="1" lang="en-US" altLang="zh-CN" dirty="0"/>
              </a:p>
              <a:p>
                <a:pPr lvl="1"/>
                <a:r>
                  <a:rPr kumimoji="1" lang="zh-CN" altLang="en-US" dirty="0"/>
                  <a:t>能够最大化后验概率的类别 </a:t>
                </a:r>
                <a:r>
                  <a:rPr kumimoji="1" lang="en-US" altLang="zh-CN" dirty="0"/>
                  <a:t>(maximum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a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posteriori</a:t>
                </a:r>
                <a:r>
                  <a:rPr kumimoji="1" lang="zh-CN" altLang="en-US" dirty="0"/>
                  <a:t>  </a:t>
                </a:r>
                <a:r>
                  <a:rPr kumimoji="1" lang="en-US" altLang="zh-CN" dirty="0"/>
                  <a:t>(MAP)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class)</a:t>
                </a:r>
                <a:r>
                  <a:rPr kumimoji="1" lang="zh-CN" altLang="en-US" dirty="0"/>
                  <a:t>，记为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b="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zh-CN" b="0" i="0" smtClean="0">
                            <a:latin typeface="Cambria Math" panose="02040503050406030204" pitchFamily="18" charset="0"/>
                          </a:rPr>
                          <m:t>map</m:t>
                        </m:r>
                      </m:sub>
                    </m:sSub>
                  </m:oMath>
                </a14:m>
                <a:endParaRPr kumimoji="1" lang="en-US" altLang="zh-CN" dirty="0"/>
              </a:p>
              <a:p>
                <a:endParaRPr kumimoji="1"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6AD34CE0-CEF4-1D47-B631-18F27E37DB8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667" t="-7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>
            <a:extLst>
              <a:ext uri="{FF2B5EF4-FFF2-40B4-BE49-F238E27FC236}">
                <a16:creationId xmlns:a16="http://schemas.microsoft.com/office/drawing/2014/main" xmlns="" id="{CC708951-B485-6145-BFF8-7E7DFF9116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7966" y="3099825"/>
            <a:ext cx="6968067" cy="70188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70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96289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4788A67C-60C8-5B41-8869-2000A227EA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朴素贝叶斯训练算法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xmlns="" id="{29AE75B6-35C0-6747-AE35-DBFBCB160B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693" y="952565"/>
            <a:ext cx="6663690" cy="3514479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71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0558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38018A7B-0830-A744-9C3C-B69477B9D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朴素贝叶斯应用</a:t>
            </a:r>
            <a:r>
              <a:rPr kumimoji="1" lang="en-US" altLang="zh-CN" dirty="0"/>
              <a:t>/</a:t>
            </a:r>
            <a:r>
              <a:rPr kumimoji="1" lang="zh-CN" altLang="en-US" dirty="0"/>
              <a:t>测试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950B1E7E-E894-1B47-BD9A-40DB328824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xmlns="" id="{6F231EA2-6786-EA49-A38C-67DF43BEC0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938" y="819150"/>
            <a:ext cx="6553200" cy="2768600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72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9636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图数据分析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基本内容：</a:t>
            </a:r>
            <a:r>
              <a:rPr lang="en-US" altLang="zh-CN" b="1" dirty="0" smtClean="0">
                <a:solidFill>
                  <a:srgbClr val="C00000"/>
                </a:solidFill>
              </a:rPr>
              <a:t>CCI</a:t>
            </a:r>
            <a:endParaRPr lang="en-US" altLang="zh-CN" b="1" dirty="0">
              <a:solidFill>
                <a:srgbClr val="C00000"/>
              </a:solidFill>
            </a:endParaRPr>
          </a:p>
          <a:p>
            <a:pPr lvl="1"/>
            <a:r>
              <a:rPr lang="en-US" altLang="zh-CN" b="1" dirty="0"/>
              <a:t>C</a:t>
            </a:r>
            <a:r>
              <a:rPr lang="en-US" altLang="zh-CN" dirty="0"/>
              <a:t>entrality</a:t>
            </a:r>
            <a:r>
              <a:rPr lang="zh-CN" altLang="en-US" dirty="0"/>
              <a:t>：图里的哪些节点更重要？</a:t>
            </a:r>
            <a:endParaRPr lang="en-US" altLang="zh-CN" b="1" dirty="0"/>
          </a:p>
          <a:p>
            <a:pPr lvl="1"/>
            <a:r>
              <a:rPr lang="en-US" altLang="zh-CN" b="1" dirty="0"/>
              <a:t>C</a:t>
            </a:r>
            <a:r>
              <a:rPr lang="en-US" altLang="zh-CN" dirty="0"/>
              <a:t>ommunity</a:t>
            </a:r>
            <a:r>
              <a:rPr lang="zh-CN" altLang="en-US" dirty="0"/>
              <a:t>：图是否能够划分为不同的社区？</a:t>
            </a:r>
            <a:endParaRPr lang="en-US" altLang="zh-CN" dirty="0"/>
          </a:p>
          <a:p>
            <a:pPr lvl="1"/>
            <a:r>
              <a:rPr lang="en-US" altLang="zh-CN" b="1" dirty="0" smtClean="0"/>
              <a:t>I</a:t>
            </a:r>
            <a:r>
              <a:rPr lang="en-US" altLang="zh-CN" dirty="0" smtClean="0"/>
              <a:t>nfluence</a:t>
            </a:r>
            <a:r>
              <a:rPr lang="zh-CN" altLang="en-US" dirty="0" smtClean="0"/>
              <a:t>：图中的信息是如何传播的，谁是传播关键节点？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6838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三种</a:t>
            </a:r>
            <a:r>
              <a:rPr lang="en-US" altLang="zh-CN" dirty="0">
                <a:latin typeface="Calibri" charset="0"/>
                <a:ea typeface="Calibri" charset="0"/>
                <a:cs typeface="Calibri" charset="0"/>
              </a:rPr>
              <a:t>Centrality</a:t>
            </a:r>
            <a:r>
              <a:rPr lang="zh-CN" altLang="en-US" dirty="0"/>
              <a:t>度量的比较</a:t>
            </a:r>
            <a:endParaRPr lang="en-US" dirty="0"/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457200" y="819150"/>
            <a:ext cx="8229600" cy="3937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请分别指出</a:t>
            </a:r>
            <a:r>
              <a:rPr lang="en-US" altLang="zh-CN" dirty="0">
                <a:solidFill>
                  <a:srgbClr val="C00000"/>
                </a:solidFill>
                <a:latin typeface="Calibri" charset="0"/>
                <a:ea typeface="Calibri" charset="0"/>
                <a:cs typeface="Calibri" charset="0"/>
              </a:rPr>
              <a:t>Degree</a:t>
            </a:r>
            <a:r>
              <a:rPr lang="en-US" altLang="zh-CN" dirty="0">
                <a:latin typeface="Calibri" charset="0"/>
                <a:ea typeface="Calibri" charset="0"/>
                <a:cs typeface="Calibri" charset="0"/>
              </a:rPr>
              <a:t>,</a:t>
            </a:r>
            <a:r>
              <a:rPr lang="zh-CN" altLang="en-US" dirty="0"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altLang="zh-CN" dirty="0">
                <a:solidFill>
                  <a:srgbClr val="00B050"/>
                </a:solidFill>
                <a:latin typeface="Calibri" charset="0"/>
                <a:ea typeface="Calibri" charset="0"/>
                <a:cs typeface="Calibri" charset="0"/>
              </a:rPr>
              <a:t>Closeness</a:t>
            </a:r>
            <a:r>
              <a:rPr lang="zh-CN" altLang="en-US" dirty="0"/>
              <a:t>和</a:t>
            </a:r>
            <a:r>
              <a:rPr lang="en-US" altLang="zh-CN" dirty="0" err="1">
                <a:solidFill>
                  <a:srgbClr val="00B0F0"/>
                </a:solidFill>
                <a:latin typeface="Calibri" charset="0"/>
                <a:ea typeface="Calibri" charset="0"/>
                <a:cs typeface="Calibri" charset="0"/>
              </a:rPr>
              <a:t>Betweenness</a:t>
            </a:r>
            <a:r>
              <a:rPr lang="zh-CN" altLang="en-US" dirty="0">
                <a:solidFill>
                  <a:srgbClr val="00B0F0"/>
                </a:solidFill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altLang="zh-CN" dirty="0">
                <a:latin typeface="Calibri" charset="0"/>
                <a:ea typeface="Calibri" charset="0"/>
                <a:cs typeface="Calibri" charset="0"/>
              </a:rPr>
              <a:t>Central</a:t>
            </a:r>
            <a:r>
              <a:rPr lang="en-US" altLang="zh-CN" dirty="0"/>
              <a:t>ity</a:t>
            </a:r>
            <a:r>
              <a:rPr lang="zh-CN" altLang="en-US" dirty="0"/>
              <a:t>最大的节点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扩展学习：</a:t>
            </a:r>
            <a:r>
              <a:rPr lang="en-US" altLang="zh-CN" dirty="0">
                <a:latin typeface="Calibri" charset="0"/>
                <a:ea typeface="Calibri" charset="0"/>
                <a:cs typeface="Calibri" charset="0"/>
              </a:rPr>
              <a:t>Eigenvector</a:t>
            </a:r>
            <a:r>
              <a:rPr lang="zh-CN" altLang="en-US" dirty="0"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altLang="zh-CN" dirty="0">
                <a:latin typeface="Calibri" charset="0"/>
                <a:ea typeface="Calibri" charset="0"/>
                <a:cs typeface="Calibri" charset="0"/>
              </a:rPr>
              <a:t>Centrality</a:t>
            </a:r>
            <a:r>
              <a:rPr lang="zh-CN" altLang="en-US" dirty="0">
                <a:latin typeface="Calibri" charset="0"/>
                <a:ea typeface="Calibri" charset="0"/>
                <a:cs typeface="Calibri" charset="0"/>
              </a:rPr>
              <a:t> （</a:t>
            </a:r>
            <a:r>
              <a:rPr lang="zh-CN" altLang="en-US" dirty="0">
                <a:latin typeface="Microsoft YaHei" charset="-122"/>
                <a:ea typeface="Microsoft YaHei" charset="-122"/>
                <a:cs typeface="Microsoft YaHei" charset="-122"/>
              </a:rPr>
              <a:t>与</a:t>
            </a:r>
            <a:r>
              <a:rPr lang="en-US" altLang="zh-CN" dirty="0">
                <a:latin typeface="Calibri" charset="0"/>
                <a:ea typeface="Calibri" charset="0"/>
                <a:cs typeface="Calibri" charset="0"/>
              </a:rPr>
              <a:t>PageRank</a:t>
            </a:r>
            <a:r>
              <a:rPr lang="zh-CN" altLang="en-US" dirty="0">
                <a:latin typeface="Microsoft YaHei" charset="-122"/>
                <a:ea typeface="Microsoft YaHei" charset="-122"/>
                <a:cs typeface="Microsoft YaHei" charset="-122"/>
              </a:rPr>
              <a:t>算法很相关）</a:t>
            </a:r>
            <a:r>
              <a:rPr lang="en-US" sz="1600" dirty="0">
                <a:hlinkClick r:id="rId3"/>
              </a:rPr>
              <a:t>https://www.geeksforgeeks.org/eigenvector-centrality-centrality-measure/</a:t>
            </a:r>
            <a:endParaRPr lang="en-US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10" name="图片 3">
            <a:extLst>
              <a:ext uri="{FF2B5EF4-FFF2-40B4-BE49-F238E27FC236}">
                <a16:creationId xmlns:a16="http://schemas.microsoft.com/office/drawing/2014/main" xmlns="" id="{3EBA37BE-EEE3-4075-A59E-28D05DF6F7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374871"/>
            <a:ext cx="3750339" cy="1958729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1" name="图片 4">
            <a:extLst>
              <a:ext uri="{FF2B5EF4-FFF2-40B4-BE49-F238E27FC236}">
                <a16:creationId xmlns:a16="http://schemas.microsoft.com/office/drawing/2014/main" xmlns="" id="{FA184433-0099-4DBC-B775-F64EFD63A6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45131" y="2059319"/>
            <a:ext cx="4860769" cy="185943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2" name="Rectangle 11"/>
          <p:cNvSpPr/>
          <p:nvPr/>
        </p:nvSpPr>
        <p:spPr>
          <a:xfrm>
            <a:off x="1260000" y="2051835"/>
            <a:ext cx="432000" cy="345600"/>
          </a:xfrm>
          <a:prstGeom prst="rect">
            <a:avLst/>
          </a:prstGeom>
          <a:noFill/>
          <a:ln w="127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709501" y="1692285"/>
            <a:ext cx="396000" cy="316800"/>
          </a:xfrm>
          <a:prstGeom prst="rect">
            <a:avLst/>
          </a:prstGeom>
          <a:noFill/>
          <a:ln w="127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2296800" y="2059319"/>
            <a:ext cx="396000" cy="338115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333EBAEB-8904-2B4E-8AF7-AE2A470C5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74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8142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latin typeface="Calibri" charset="0"/>
                <a:ea typeface="Calibri" charset="0"/>
                <a:cs typeface="Calibri" charset="0"/>
              </a:rPr>
              <a:t>PageRank</a:t>
            </a:r>
            <a:r>
              <a:rPr lang="zh-CN" altLang="en-US" dirty="0"/>
              <a:t>算法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19150"/>
            <a:ext cx="8229600" cy="514350"/>
          </a:xfrm>
        </p:spPr>
        <p:txBody>
          <a:bodyPr/>
          <a:lstStyle/>
          <a:p>
            <a:r>
              <a:rPr lang="zh-CN" altLang="en-US" dirty="0" smtClean="0"/>
              <a:t>迭代公式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1412534" y="1447800"/>
                <a:ext cx="4799775" cy="8751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0" i="1" smtClean="0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charset="0"/>
                        </a:rPr>
                        <m:t>=</m:t>
                      </m:r>
                      <m:f>
                        <m:fPr>
                          <m:ctrlPr>
                            <a:rPr lang="mr-IN" altLang="zh-CN" sz="2000" b="0" i="1" smtClean="0">
                              <a:latin typeface="Cambria Math" charset="0"/>
                            </a:rPr>
                          </m:ctrlPr>
                        </m:fPr>
                        <m:num>
                          <m:r>
                            <a:rPr lang="en-US" altLang="zh-CN" sz="2000" b="0" i="1" smtClean="0">
                              <a:latin typeface="Cambria Math" charset="0"/>
                            </a:rPr>
                            <m:t>1−</m:t>
                          </m:r>
                          <m:r>
                            <a:rPr lang="en-US" altLang="zh-CN" sz="2000" b="0" i="1" smtClean="0">
                              <a:latin typeface="Cambria Math" charset="0"/>
                            </a:rPr>
                            <m:t>𝛼</m:t>
                          </m:r>
                        </m:num>
                        <m:den>
                          <m:r>
                            <a:rPr lang="en-US" altLang="zh-CN" sz="2000" b="0" i="1" smtClean="0">
                              <a:latin typeface="Cambria Math" charset="0"/>
                            </a:rPr>
                            <m:t>𝑛</m:t>
                          </m:r>
                        </m:den>
                      </m:f>
                      <m:r>
                        <a:rPr lang="en-US" altLang="zh-CN" sz="2000" b="0" i="1" smtClean="0">
                          <a:latin typeface="Cambria Math" charset="0"/>
                        </a:rPr>
                        <m:t>+</m:t>
                      </m:r>
                      <m:r>
                        <a:rPr lang="en-US" altLang="zh-CN" sz="2000" b="0" i="1" smtClean="0">
                          <a:latin typeface="Cambria Math" charset="0"/>
                        </a:rPr>
                        <m:t>𝛼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sz="2000" b="0" i="1" smtClean="0">
                              <a:latin typeface="Cambria Math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CN" sz="2000" b="0" i="1" smtClean="0">
                              <a:latin typeface="Cambria Math" charset="0"/>
                            </a:rPr>
                            <m:t>𝑗</m:t>
                          </m:r>
                          <m:r>
                            <a:rPr lang="en-US" altLang="zh-CN" sz="2000" b="0" i="1" smtClean="0">
                              <a:latin typeface="Cambria Math" charset="0"/>
                            </a:rPr>
                            <m:t>→</m:t>
                          </m:r>
                          <m:r>
                            <a:rPr lang="en-US" altLang="zh-CN" sz="2000" b="0" i="1" smtClean="0">
                              <a:latin typeface="Cambria Math" charset="0"/>
                            </a:rPr>
                            <m:t>𝑖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lang="mr-IN" altLang="zh-CN" sz="2000" b="0" i="1" smtClean="0">
                                  <a:latin typeface="Cambria Math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CN" sz="2000" b="0" i="1" smtClean="0">
                                      <a:latin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0" i="1" smtClean="0">
                                      <a:latin typeface="Cambria Math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latin typeface="Cambria Math" charset="0"/>
                                    </a:rPr>
                                    <m:t>𝑗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altLang="zh-CN" sz="2000" b="0" i="1" smtClean="0">
                                      <a:latin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0" i="1" smtClean="0">
                                      <a:latin typeface="Cambria Math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latin typeface="Cambria Math" charset="0"/>
                                    </a:rPr>
                                    <m:t>𝑗</m:t>
                                  </m:r>
                                </m:sub>
                              </m:sSub>
                            </m:den>
                          </m:f>
                          <m:r>
                            <a:rPr lang="en-US" altLang="zh-CN" sz="2000" b="0" i="1" smtClean="0">
                              <a:latin typeface="Cambria Math" charset="0"/>
                            </a:rPr>
                            <m:t>=</m:t>
                          </m:r>
                        </m:e>
                      </m:nary>
                      <m:f>
                        <m:fPr>
                          <m:ctrlPr>
                            <a:rPr lang="mr-IN" altLang="zh-CN" sz="2000" i="1">
                              <a:latin typeface="Cambria Math" charset="0"/>
                            </a:rPr>
                          </m:ctrlPr>
                        </m:fPr>
                        <m:num>
                          <m:r>
                            <a:rPr lang="en-US" altLang="zh-CN" sz="2000" i="1">
                              <a:latin typeface="Cambria Math" charset="0"/>
                            </a:rPr>
                            <m:t>1−</m:t>
                          </m:r>
                          <m:r>
                            <a:rPr lang="en-US" altLang="zh-CN" sz="2000" i="1">
                              <a:latin typeface="Cambria Math" charset="0"/>
                            </a:rPr>
                            <m:t>𝛼</m:t>
                          </m:r>
                        </m:num>
                        <m:den>
                          <m:r>
                            <a:rPr lang="en-US" altLang="zh-CN" sz="2000" i="1">
                              <a:latin typeface="Cambria Math" charset="0"/>
                            </a:rPr>
                            <m:t>𝑛</m:t>
                          </m:r>
                        </m:den>
                      </m:f>
                      <m:r>
                        <a:rPr lang="en-US" altLang="zh-CN" sz="2000" i="1">
                          <a:latin typeface="Cambria Math" charset="0"/>
                        </a:rPr>
                        <m:t>+</m:t>
                      </m:r>
                      <m:r>
                        <a:rPr lang="en-US" altLang="zh-CN" sz="2000" i="1">
                          <a:latin typeface="Cambria Math" charset="0"/>
                        </a:rPr>
                        <m:t>𝛼</m:t>
                      </m:r>
                      <m:nary>
                        <m:naryPr>
                          <m:chr m:val="∑"/>
                          <m:ctrlPr>
                            <a:rPr lang="is-IS" altLang="zh-CN" sz="2000" b="0" i="1" smtClean="0">
                              <a:latin typeface="Cambria Math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000" b="0" i="1" smtClean="0">
                              <a:latin typeface="Cambria Math" charset="0"/>
                            </a:rPr>
                            <m:t>𝑗</m:t>
                          </m:r>
                          <m:r>
                            <a:rPr lang="en-US" altLang="zh-CN" sz="2000" b="0" i="1" smtClean="0">
                              <a:latin typeface="Cambria Math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000" b="0" i="1" smtClean="0">
                              <a:latin typeface="Cambria Math" charset="0"/>
                            </a:rPr>
                            <m:t>𝑛</m:t>
                          </m:r>
                        </m:sup>
                        <m:e>
                          <m:f>
                            <m:fPr>
                              <m:ctrlPr>
                                <a:rPr lang="mr-IN" altLang="zh-CN" sz="2000" b="0" i="1" smtClean="0">
                                  <a:latin typeface="Cambria Math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CN" sz="2000" b="0" i="1" smtClean="0">
                                      <a:latin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0" i="1" smtClean="0">
                                      <a:latin typeface="Cambria Math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latin typeface="Cambria Math" charset="0"/>
                                    </a:rPr>
                                    <m:t>𝑗𝑖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altLang="zh-CN" sz="2000" b="0" i="1" smtClean="0">
                                      <a:latin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0" i="1" smtClean="0">
                                      <a:latin typeface="Cambria Math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latin typeface="Cambria Math" charset="0"/>
                                    </a:rPr>
                                    <m:t>𝑗</m:t>
                                  </m:r>
                                </m:sub>
                              </m:sSub>
                            </m:den>
                          </m:f>
                          <m:sSub>
                            <m:sSubPr>
                              <m:ctrlPr>
                                <a:rPr lang="en-US" altLang="zh-CN" sz="2000" b="0" i="1" smtClean="0">
                                  <a:latin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latin typeface="Cambria Math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2534" y="1447800"/>
                <a:ext cx="4799775" cy="875111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412534" y="2641600"/>
                <a:ext cx="4948149" cy="4362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charset="0"/>
                      </a:rPr>
                      <m:t>𝑝</m:t>
                    </m:r>
                    <m:r>
                      <a:rPr lang="en-US" altLang="zh-CN" sz="2000" b="0" i="1" smtClean="0">
                        <a:latin typeface="Cambria Math" charset="0"/>
                      </a:rPr>
                      <m:t>=</m:t>
                    </m:r>
                    <m:r>
                      <a:rPr lang="en-US" altLang="zh-CN" sz="2000" b="0" i="1" smtClean="0">
                        <a:latin typeface="Cambria Math" charset="0"/>
                      </a:rPr>
                      <m:t>𝛼</m:t>
                    </m:r>
                    <m:r>
                      <a:rPr lang="zh-CN" altLang="en-US" sz="2000" b="1" i="1" smtClean="0">
                        <a:latin typeface="Cambria Math" charset="0"/>
                      </a:rPr>
                      <m:t> </m:t>
                    </m:r>
                    <m:r>
                      <a:rPr lang="en-US" altLang="zh-CN" sz="2000" b="1" i="1" smtClean="0">
                        <a:latin typeface="Cambria Math" charset="0"/>
                      </a:rPr>
                      <m:t>𝒑𝑳</m:t>
                    </m:r>
                    <m:r>
                      <a:rPr lang="en-US" altLang="zh-CN" sz="2000" b="0" i="1" smtClean="0">
                        <a:latin typeface="Cambria Math" charset="0"/>
                      </a:rPr>
                      <m:t>+</m:t>
                    </m:r>
                    <m:f>
                      <m:fPr>
                        <m:ctrlPr>
                          <a:rPr lang="mr-IN" altLang="zh-CN" sz="2000" b="0" i="1" smtClean="0"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altLang="zh-CN" sz="2000" b="0" i="1" smtClean="0">
                            <a:latin typeface="Cambria Math" charset="0"/>
                          </a:rPr>
                          <m:t>1−</m:t>
                        </m:r>
                        <m:r>
                          <a:rPr lang="en-US" altLang="zh-CN" sz="2000" b="0" i="1" smtClean="0">
                            <a:latin typeface="Cambria Math" charset="0"/>
                          </a:rPr>
                          <m:t>𝛼</m:t>
                        </m:r>
                      </m:num>
                      <m:den>
                        <m:r>
                          <a:rPr lang="en-US" altLang="zh-CN" sz="2000" b="0" i="1" smtClean="0">
                            <a:latin typeface="Cambria Math" charset="0"/>
                          </a:rPr>
                          <m:t>𝑛</m:t>
                        </m:r>
                      </m:den>
                    </m:f>
                    <m:r>
                      <a:rPr lang="zh-CN" altLang="en-US" sz="2000" b="1" i="1" smtClean="0">
                        <a:latin typeface="Cambria Math" charset="0"/>
                      </a:rPr>
                      <m:t> </m:t>
                    </m:r>
                    <m:r>
                      <a:rPr lang="en-US" altLang="zh-CN" sz="2000" b="1" i="1" smtClean="0">
                        <a:latin typeface="Cambria Math" charset="0"/>
                      </a:rPr>
                      <m:t>𝒑𝑬</m:t>
                    </m:r>
                  </m:oMath>
                </a14:m>
                <a:r>
                  <a:rPr lang="en-US" altLang="zh-CN" sz="2000" b="1" dirty="0"/>
                  <a:t>,</a:t>
                </a:r>
                <a:r>
                  <a:rPr lang="zh-CN" altLang="en-US" sz="2000" b="1" dirty="0"/>
                  <a:t>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charset="0"/>
                      </a:rPr>
                      <m:t>𝐸</m:t>
                    </m:r>
                  </m:oMath>
                </a14:m>
                <a:r>
                  <a:rPr lang="en-US" sz="2000" dirty="0"/>
                  <a:t> is the n × n matrix of 1s 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2534" y="2641600"/>
                <a:ext cx="4948149" cy="436210"/>
              </a:xfrm>
              <a:prstGeom prst="rect">
                <a:avLst/>
              </a:prstGeom>
              <a:blipFill rotWithShape="0">
                <a:blip r:embed="rId4"/>
                <a:stretch>
                  <a:fillRect l="-1850" t="-84722" r="-2219" b="-1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ontent Placeholder 2"/>
          <p:cNvSpPr txBox="1">
            <a:spLocks/>
          </p:cNvSpPr>
          <p:nvPr/>
        </p:nvSpPr>
        <p:spPr>
          <a:xfrm>
            <a:off x="457198" y="4030133"/>
            <a:ext cx="8229601" cy="7069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PageRank</a:t>
            </a:r>
            <a:r>
              <a:rPr lang="zh-CN" altLang="en-US" dirty="0"/>
              <a:t>计算的过程也称</a:t>
            </a:r>
            <a:r>
              <a:rPr lang="zh-CN" altLang="en-US" dirty="0">
                <a:solidFill>
                  <a:srgbClr val="FF0000"/>
                </a:solidFill>
              </a:rPr>
              <a:t>随机游走（</a:t>
            </a:r>
            <a:r>
              <a:rPr lang="en-US" altLang="zh-CN" dirty="0">
                <a:solidFill>
                  <a:srgbClr val="FF0000"/>
                </a:solidFill>
                <a:latin typeface="Calibri" charset="0"/>
                <a:ea typeface="Calibri" charset="0"/>
                <a:cs typeface="Calibri" charset="0"/>
              </a:rPr>
              <a:t>Random</a:t>
            </a:r>
            <a:r>
              <a:rPr lang="zh-CN" altLang="en-US" dirty="0">
                <a:solidFill>
                  <a:srgbClr val="FF0000"/>
                </a:solidFill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altLang="zh-CN" dirty="0">
                <a:solidFill>
                  <a:srgbClr val="FF0000"/>
                </a:solidFill>
                <a:latin typeface="Calibri" charset="0"/>
                <a:ea typeface="Calibri" charset="0"/>
                <a:cs typeface="Calibri" charset="0"/>
              </a:rPr>
              <a:t>Walk</a:t>
            </a:r>
            <a:r>
              <a:rPr lang="zh-CN" altLang="en-US" dirty="0">
                <a:solidFill>
                  <a:srgbClr val="FF0000"/>
                </a:solidFill>
              </a:rPr>
              <a:t>）</a:t>
            </a:r>
            <a:endParaRPr lang="en-US" altLang="zh-CN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2589666" y="3307776"/>
                <a:ext cx="492917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rgbClr val="FF0000"/>
                        </a:solidFill>
                        <a:latin typeface="Cambria Math" charset="0"/>
                      </a:rPr>
                      <m:t>𝛼</m:t>
                    </m:r>
                  </m:oMath>
                </a14:m>
                <a:r>
                  <a:rPr lang="en-US" altLang="zh-CN" sz="2400" dirty="0">
                    <a:solidFill>
                      <a:srgbClr val="FF0000"/>
                    </a:solidFill>
                  </a:rPr>
                  <a:t>:</a:t>
                </a:r>
                <a:r>
                  <a:rPr lang="zh-CN" altLang="en-US" sz="2400" dirty="0">
                    <a:solidFill>
                      <a:srgbClr val="FF0000"/>
                    </a:solidFill>
                  </a:rPr>
                  <a:t> </a:t>
                </a:r>
                <a:r>
                  <a:rPr lang="en-US" sz="2400" dirty="0">
                    <a:solidFill>
                      <a:srgbClr val="FF0000"/>
                    </a:solidFill>
                  </a:rPr>
                  <a:t>Damping parameter</a:t>
                </a:r>
                <a:r>
                  <a:rPr lang="en-US" altLang="zh-CN" sz="2400" dirty="0">
                    <a:solidFill>
                      <a:srgbClr val="FF0000"/>
                    </a:solidFill>
                  </a:rPr>
                  <a:t>,</a:t>
                </a:r>
                <a:r>
                  <a:rPr lang="zh-CN" altLang="en-US" sz="2400" dirty="0">
                    <a:solidFill>
                      <a:srgbClr val="FF0000"/>
                    </a:solidFill>
                  </a:rPr>
                  <a:t> 经验上取</a:t>
                </a:r>
                <a:r>
                  <a:rPr lang="en-US" altLang="zh-CN" sz="2400" dirty="0">
                    <a:solidFill>
                      <a:srgbClr val="FF0000"/>
                    </a:solidFill>
                  </a:rPr>
                  <a:t>0.85</a:t>
                </a:r>
                <a:endParaRPr 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9666" y="3307776"/>
                <a:ext cx="4929170" cy="461665"/>
              </a:xfrm>
              <a:prstGeom prst="rect">
                <a:avLst/>
              </a:prstGeom>
              <a:blipFill rotWithShape="0">
                <a:blip r:embed="rId5"/>
                <a:stretch>
                  <a:fillRect t="-16000" r="-866" b="-3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/>
          <p:cNvCxnSpPr/>
          <p:nvPr/>
        </p:nvCxnSpPr>
        <p:spPr>
          <a:xfrm flipH="1" flipV="1">
            <a:off x="1998133" y="3077810"/>
            <a:ext cx="355600" cy="19742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xmlns="" id="{641EC6B0-80DA-0F4D-8591-DCD16C751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75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1564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Personalized PageRank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19150"/>
            <a:ext cx="8229600" cy="514350"/>
          </a:xfrm>
        </p:spPr>
        <p:txBody>
          <a:bodyPr/>
          <a:lstStyle/>
          <a:p>
            <a:r>
              <a:rPr lang="zh-CN" altLang="en-US" dirty="0"/>
              <a:t>在前面计算的公式的基础上做了“微小”改动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1412534" y="1447800"/>
                <a:ext cx="6122766" cy="8751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0" i="1" smtClean="0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charset="0"/>
                        </a:rPr>
                        <m:t>=</m:t>
                      </m:r>
                      <m:r>
                        <a:rPr lang="mr-IN" altLang="zh-CN" sz="2000" b="0" i="1" smtClean="0">
                          <a:latin typeface="Cambria Math" charset="0"/>
                        </a:rPr>
                        <m:t> </m:t>
                      </m:r>
                      <m:r>
                        <a:rPr lang="en-US" altLang="zh-CN" sz="2000" b="0" i="1" smtClean="0">
                          <a:latin typeface="Cambria Math" charset="0"/>
                        </a:rPr>
                        <m:t>(</m:t>
                      </m:r>
                      <m:r>
                        <a:rPr lang="en-US" altLang="zh-CN" sz="2000" i="1">
                          <a:latin typeface="Cambria Math" charset="0"/>
                        </a:rPr>
                        <m:t>1−</m:t>
                      </m:r>
                      <m:r>
                        <a:rPr lang="en-US" altLang="zh-CN" sz="2000" i="1">
                          <a:latin typeface="Cambria Math" charset="0"/>
                        </a:rPr>
                        <m:t>𝛼</m:t>
                      </m:r>
                      <m:r>
                        <a:rPr lang="en-US" altLang="zh-CN" sz="2000" b="0" i="1" smtClean="0">
                          <a:latin typeface="Cambria Math" charset="0"/>
                        </a:rPr>
                        <m:t>)</m:t>
                      </m:r>
                      <m:sSubSup>
                        <m:sSubSupPr>
                          <m:ctrlPr>
                            <a:rPr lang="en-US" altLang="zh-CN" sz="2000" b="0" i="1" smtClean="0">
                              <a:latin typeface="Cambria Math" charset="0"/>
                            </a:rPr>
                          </m:ctrlPr>
                        </m:sSubSupPr>
                        <m:e>
                          <m:r>
                            <a:rPr lang="en-US" altLang="zh-CN" sz="2000" b="0" i="1" smtClean="0">
                              <a:latin typeface="Cambria Math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charset="0"/>
                            </a:rPr>
                            <m:t>𝑖</m:t>
                          </m:r>
                        </m:sub>
                        <m:sup>
                          <m:r>
                            <a:rPr lang="en-US" altLang="zh-CN" sz="2000" b="0" i="1" smtClean="0">
                              <a:latin typeface="Cambria Math" charset="0"/>
                            </a:rPr>
                            <m:t>(0)</m:t>
                          </m:r>
                        </m:sup>
                      </m:sSubSup>
                      <m:r>
                        <a:rPr lang="en-US" altLang="zh-CN" sz="2000" b="0" i="1" smtClean="0">
                          <a:latin typeface="Cambria Math" charset="0"/>
                        </a:rPr>
                        <m:t>+</m:t>
                      </m:r>
                      <m:r>
                        <a:rPr lang="en-US" altLang="zh-CN" sz="2000" b="0" i="1" smtClean="0">
                          <a:latin typeface="Cambria Math" charset="0"/>
                        </a:rPr>
                        <m:t>𝛼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sz="2000" b="0" i="1" smtClean="0">
                              <a:latin typeface="Cambria Math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CN" sz="2000" b="0" i="1" smtClean="0">
                              <a:latin typeface="Cambria Math" charset="0"/>
                            </a:rPr>
                            <m:t>𝑗</m:t>
                          </m:r>
                          <m:r>
                            <a:rPr lang="en-US" altLang="zh-CN" sz="2000" b="0" i="1" smtClean="0">
                              <a:latin typeface="Cambria Math" charset="0"/>
                            </a:rPr>
                            <m:t>→</m:t>
                          </m:r>
                          <m:r>
                            <a:rPr lang="en-US" altLang="zh-CN" sz="2000" b="0" i="1" smtClean="0">
                              <a:latin typeface="Cambria Math" charset="0"/>
                            </a:rPr>
                            <m:t>𝑖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lang="mr-IN" altLang="zh-CN" sz="2000" b="0" i="1" smtClean="0">
                                  <a:latin typeface="Cambria Math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CN" sz="2000" b="0" i="1" smtClean="0">
                                      <a:latin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0" i="1" smtClean="0">
                                      <a:latin typeface="Cambria Math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latin typeface="Cambria Math" charset="0"/>
                                    </a:rPr>
                                    <m:t>𝑗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altLang="zh-CN" sz="2000" b="0" i="1" smtClean="0">
                                      <a:latin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0" i="1" smtClean="0">
                                      <a:latin typeface="Cambria Math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latin typeface="Cambria Math" charset="0"/>
                                    </a:rPr>
                                    <m:t>𝑗</m:t>
                                  </m:r>
                                </m:sub>
                              </m:sSub>
                            </m:den>
                          </m:f>
                          <m:r>
                            <a:rPr lang="en-US" altLang="zh-CN" sz="2000" b="0" i="1" smtClean="0">
                              <a:latin typeface="Cambria Math" charset="0"/>
                            </a:rPr>
                            <m:t>=</m:t>
                          </m:r>
                        </m:e>
                      </m:nary>
                      <m:r>
                        <a:rPr lang="en-US" altLang="zh-CN" sz="2000" i="1">
                          <a:latin typeface="Cambria Math" charset="0"/>
                        </a:rPr>
                        <m:t>(1−</m:t>
                      </m:r>
                      <m:r>
                        <a:rPr lang="en-US" altLang="zh-CN" sz="2000" i="1">
                          <a:latin typeface="Cambria Math" charset="0"/>
                        </a:rPr>
                        <m:t>𝛼</m:t>
                      </m:r>
                      <m:r>
                        <a:rPr lang="en-US" altLang="zh-CN" sz="2000" i="1">
                          <a:latin typeface="Cambria Math" charset="0"/>
                        </a:rPr>
                        <m:t>)</m:t>
                      </m:r>
                      <m:sSubSup>
                        <m:sSubSupPr>
                          <m:ctrlPr>
                            <a:rPr lang="en-US" altLang="zh-CN" sz="2000" i="1">
                              <a:latin typeface="Cambria Math" charset="0"/>
                            </a:rPr>
                          </m:ctrlPr>
                        </m:sSubSupPr>
                        <m:e>
                          <m:r>
                            <a:rPr lang="en-US" altLang="zh-CN" sz="2000" i="1">
                              <a:latin typeface="Cambria Math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sz="2000" i="1">
                              <a:latin typeface="Cambria Math" charset="0"/>
                            </a:rPr>
                            <m:t>𝑖</m:t>
                          </m:r>
                        </m:sub>
                        <m:sup>
                          <m:r>
                            <a:rPr lang="en-US" altLang="zh-CN" sz="2000" i="1">
                              <a:latin typeface="Cambria Math" charset="0"/>
                            </a:rPr>
                            <m:t>(0)</m:t>
                          </m:r>
                        </m:sup>
                      </m:sSubSup>
                      <m:r>
                        <a:rPr lang="en-US" altLang="zh-CN" sz="2000" i="1">
                          <a:latin typeface="Cambria Math" charset="0"/>
                        </a:rPr>
                        <m:t>+</m:t>
                      </m:r>
                      <m:r>
                        <a:rPr lang="en-US" altLang="zh-CN" sz="2000" i="1">
                          <a:latin typeface="Cambria Math" charset="0"/>
                        </a:rPr>
                        <m:t>𝛼</m:t>
                      </m:r>
                      <m:nary>
                        <m:naryPr>
                          <m:chr m:val="∑"/>
                          <m:ctrlPr>
                            <a:rPr lang="is-IS" altLang="zh-CN" sz="2000" b="0" i="1" smtClean="0">
                              <a:latin typeface="Cambria Math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000" b="0" i="1" smtClean="0">
                              <a:latin typeface="Cambria Math" charset="0"/>
                            </a:rPr>
                            <m:t>𝑗</m:t>
                          </m:r>
                          <m:r>
                            <a:rPr lang="en-US" altLang="zh-CN" sz="2000" b="0" i="1" smtClean="0">
                              <a:latin typeface="Cambria Math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000" b="0" i="1" smtClean="0">
                              <a:latin typeface="Cambria Math" charset="0"/>
                            </a:rPr>
                            <m:t>𝑛</m:t>
                          </m:r>
                        </m:sup>
                        <m:e>
                          <m:f>
                            <m:fPr>
                              <m:ctrlPr>
                                <a:rPr lang="mr-IN" altLang="zh-CN" sz="2000" b="0" i="1" smtClean="0">
                                  <a:latin typeface="Cambria Math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CN" sz="2000" b="0" i="1" smtClean="0">
                                      <a:latin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0" i="1" smtClean="0">
                                      <a:latin typeface="Cambria Math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latin typeface="Cambria Math" charset="0"/>
                                    </a:rPr>
                                    <m:t>𝑗𝑖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altLang="zh-CN" sz="2000" b="0" i="1" smtClean="0">
                                      <a:latin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0" i="1" smtClean="0">
                                      <a:latin typeface="Cambria Math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latin typeface="Cambria Math" charset="0"/>
                                    </a:rPr>
                                    <m:t>𝑗</m:t>
                                  </m:r>
                                </m:sub>
                              </m:sSub>
                            </m:den>
                          </m:f>
                          <m:sSub>
                            <m:sSubPr>
                              <m:ctrlPr>
                                <a:rPr lang="en-US" altLang="zh-CN" sz="2000" b="0" i="1" smtClean="0">
                                  <a:latin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latin typeface="Cambria Math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2534" y="1447800"/>
                <a:ext cx="6122766" cy="875111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412534" y="2641600"/>
                <a:ext cx="2746586" cy="32060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charset="0"/>
                        </a:rPr>
                        <m:t>𝑝</m:t>
                      </m:r>
                      <m:r>
                        <a:rPr lang="en-US" altLang="zh-CN" sz="2000" b="0" i="1" smtClean="0">
                          <a:latin typeface="Cambria Math" charset="0"/>
                        </a:rPr>
                        <m:t>=</m:t>
                      </m:r>
                      <m:r>
                        <a:rPr lang="en-US" altLang="zh-CN" sz="2000" b="0" i="1" smtClean="0">
                          <a:latin typeface="Cambria Math" charset="0"/>
                        </a:rPr>
                        <m:t>𝛼</m:t>
                      </m:r>
                      <m:r>
                        <a:rPr lang="zh-CN" altLang="en-US" sz="2000" b="1" i="1" smtClean="0">
                          <a:latin typeface="Cambria Math" charset="0"/>
                        </a:rPr>
                        <m:t> </m:t>
                      </m:r>
                      <m:r>
                        <a:rPr lang="en-US" altLang="zh-CN" sz="2000" b="1" i="1" smtClean="0">
                          <a:latin typeface="Cambria Math" charset="0"/>
                        </a:rPr>
                        <m:t>𝒑𝑳</m:t>
                      </m:r>
                      <m:r>
                        <a:rPr lang="en-US" altLang="zh-CN" sz="2000" b="0" i="1" smtClean="0">
                          <a:latin typeface="Cambria Math" charset="0"/>
                        </a:rPr>
                        <m:t>+(1−</m:t>
                      </m:r>
                      <m:r>
                        <a:rPr lang="en-US" altLang="zh-CN" sz="2000" b="0" i="1" smtClean="0">
                          <a:latin typeface="Cambria Math" charset="0"/>
                        </a:rPr>
                        <m:t>𝛼</m:t>
                      </m:r>
                      <m:r>
                        <a:rPr lang="en-US" altLang="zh-CN" sz="2000" b="0" i="1" smtClean="0">
                          <a:latin typeface="Cambria Math" charset="0"/>
                        </a:rPr>
                        <m:t>)</m:t>
                      </m:r>
                      <m:r>
                        <a:rPr lang="zh-CN" altLang="en-US" sz="2000" b="1" i="1" smtClean="0">
                          <a:latin typeface="Cambria Math" charset="0"/>
                        </a:rPr>
                        <m:t> </m:t>
                      </m:r>
                      <m:sSup>
                        <m:sSupPr>
                          <m:ctrlPr>
                            <a:rPr lang="en-US" altLang="zh-CN" sz="2000" b="1" i="1" smtClean="0">
                              <a:latin typeface="Cambria Math" charset="0"/>
                            </a:rPr>
                          </m:ctrlPr>
                        </m:sSupPr>
                        <m:e>
                          <m:r>
                            <a:rPr lang="en-US" altLang="zh-CN" sz="2000" b="1" i="1" smtClean="0">
                              <a:latin typeface="Cambria Math" charset="0"/>
                            </a:rPr>
                            <m:t>𝒑</m:t>
                          </m:r>
                        </m:e>
                        <m:sup>
                          <m:r>
                            <a:rPr lang="en-US" altLang="zh-CN" sz="2000" b="1" i="1" smtClean="0">
                              <a:latin typeface="Cambria Math" charset="0"/>
                            </a:rPr>
                            <m:t>(</m:t>
                          </m:r>
                          <m:r>
                            <a:rPr lang="en-US" altLang="zh-CN" sz="2000" b="1" i="1" smtClean="0">
                              <a:latin typeface="Cambria Math" charset="0"/>
                            </a:rPr>
                            <m:t>𝟎</m:t>
                          </m:r>
                          <m:r>
                            <a:rPr lang="en-US" altLang="zh-CN" sz="2000" b="1" i="1" smtClean="0">
                              <a:latin typeface="Cambria Math" charset="0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2534" y="2641600"/>
                <a:ext cx="2746586" cy="320601"/>
              </a:xfrm>
              <a:prstGeom prst="rect">
                <a:avLst/>
              </a:prstGeom>
              <a:blipFill rotWithShape="0">
                <a:blip r:embed="rId4"/>
                <a:stretch>
                  <a:fillRect l="-667" t="-132075" r="-667" b="-1698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ontent Placeholder 2"/>
          <p:cNvSpPr txBox="1">
            <a:spLocks/>
          </p:cNvSpPr>
          <p:nvPr/>
        </p:nvSpPr>
        <p:spPr>
          <a:xfrm>
            <a:off x="457198" y="4030133"/>
            <a:ext cx="8229601" cy="7069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计算的过程也称</a:t>
            </a:r>
            <a:r>
              <a:rPr lang="en-US" altLang="zh-CN" dirty="0">
                <a:solidFill>
                  <a:srgbClr val="FF0000"/>
                </a:solidFill>
                <a:latin typeface="Calibri" charset="0"/>
                <a:ea typeface="Calibri" charset="0"/>
                <a:cs typeface="Calibri" charset="0"/>
              </a:rPr>
              <a:t>Random</a:t>
            </a:r>
            <a:r>
              <a:rPr lang="zh-CN" altLang="en-US" dirty="0">
                <a:solidFill>
                  <a:srgbClr val="FF0000"/>
                </a:solidFill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altLang="zh-CN" dirty="0">
                <a:solidFill>
                  <a:srgbClr val="FF0000"/>
                </a:solidFill>
                <a:latin typeface="Calibri" charset="0"/>
                <a:ea typeface="Calibri" charset="0"/>
                <a:cs typeface="Calibri" charset="0"/>
              </a:rPr>
              <a:t>Walk</a:t>
            </a:r>
            <a:r>
              <a:rPr lang="zh-CN" altLang="en-US" dirty="0">
                <a:solidFill>
                  <a:srgbClr val="FF0000"/>
                </a:solidFill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altLang="zh-CN" dirty="0">
                <a:solidFill>
                  <a:srgbClr val="FF0000"/>
                </a:solidFill>
                <a:latin typeface="Calibri" charset="0"/>
                <a:ea typeface="Calibri" charset="0"/>
                <a:cs typeface="Calibri" charset="0"/>
              </a:rPr>
              <a:t>with</a:t>
            </a:r>
            <a:r>
              <a:rPr lang="zh-CN" altLang="en-US" dirty="0">
                <a:solidFill>
                  <a:srgbClr val="FF0000"/>
                </a:solidFill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altLang="zh-CN" dirty="0">
                <a:solidFill>
                  <a:srgbClr val="FF0000"/>
                </a:solidFill>
                <a:latin typeface="Calibri" charset="0"/>
                <a:ea typeface="Calibri" charset="0"/>
                <a:cs typeface="Calibri" charset="0"/>
              </a:rPr>
              <a:t>Restart</a:t>
            </a:r>
            <a:endParaRPr lang="en-US" altLang="zh-CN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2589666" y="3307776"/>
                <a:ext cx="492917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rgbClr val="FF0000"/>
                        </a:solidFill>
                        <a:latin typeface="Cambria Math" charset="0"/>
                      </a:rPr>
                      <m:t>𝛼</m:t>
                    </m:r>
                  </m:oMath>
                </a14:m>
                <a:r>
                  <a:rPr lang="en-US" altLang="zh-CN" sz="2400" dirty="0">
                    <a:solidFill>
                      <a:srgbClr val="FF0000"/>
                    </a:solidFill>
                  </a:rPr>
                  <a:t>:</a:t>
                </a:r>
                <a:r>
                  <a:rPr lang="zh-CN" altLang="en-US" sz="2400" dirty="0">
                    <a:solidFill>
                      <a:srgbClr val="FF0000"/>
                    </a:solidFill>
                  </a:rPr>
                  <a:t> </a:t>
                </a:r>
                <a:r>
                  <a:rPr lang="en-US" sz="2400" dirty="0">
                    <a:solidFill>
                      <a:srgbClr val="FF0000"/>
                    </a:solidFill>
                  </a:rPr>
                  <a:t>Damping parameter</a:t>
                </a:r>
                <a:r>
                  <a:rPr lang="en-US" altLang="zh-CN" sz="2400" dirty="0">
                    <a:solidFill>
                      <a:srgbClr val="FF0000"/>
                    </a:solidFill>
                  </a:rPr>
                  <a:t>,</a:t>
                </a:r>
                <a:r>
                  <a:rPr lang="zh-CN" altLang="en-US" sz="2400" dirty="0">
                    <a:solidFill>
                      <a:srgbClr val="FF0000"/>
                    </a:solidFill>
                  </a:rPr>
                  <a:t> 经验上取</a:t>
                </a:r>
                <a:r>
                  <a:rPr lang="en-US" altLang="zh-CN" sz="2400" dirty="0">
                    <a:solidFill>
                      <a:srgbClr val="FF0000"/>
                    </a:solidFill>
                  </a:rPr>
                  <a:t>0.85</a:t>
                </a:r>
                <a:endParaRPr 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9666" y="3307776"/>
                <a:ext cx="4929170" cy="461665"/>
              </a:xfrm>
              <a:prstGeom prst="rect">
                <a:avLst/>
              </a:prstGeom>
              <a:blipFill rotWithShape="0">
                <a:blip r:embed="rId5"/>
                <a:stretch>
                  <a:fillRect t="-16000" r="-866" b="-3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/>
          <p:cNvCxnSpPr/>
          <p:nvPr/>
        </p:nvCxnSpPr>
        <p:spPr>
          <a:xfrm flipH="1" flipV="1">
            <a:off x="1998133" y="3077810"/>
            <a:ext cx="355600" cy="19742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xmlns="" id="{06C5AAE0-2227-134A-A7ED-6BDB88E84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76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03192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社区检测优化</a:t>
            </a:r>
            <a:r>
              <a:rPr lang="zh-CN" altLang="en-US" dirty="0"/>
              <a:t>目标：</a:t>
            </a:r>
            <a:r>
              <a:rPr lang="en-US" altLang="zh-CN" dirty="0">
                <a:latin typeface="Calibri" charset="0"/>
                <a:ea typeface="Calibri" charset="0"/>
                <a:cs typeface="Calibri" charset="0"/>
              </a:rPr>
              <a:t>Modularity</a:t>
            </a:r>
            <a:r>
              <a:rPr lang="zh-CN" altLang="en-US" dirty="0"/>
              <a:t> </a:t>
            </a:r>
            <a:r>
              <a:rPr lang="en-US" altLang="zh-CN" i="1" dirty="0">
                <a:latin typeface="Times New Roman" charset="0"/>
                <a:ea typeface="Times New Roman" charset="0"/>
                <a:cs typeface="Times New Roman" charset="0"/>
              </a:rPr>
              <a:t>Q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定义</a:t>
            </a:r>
            <a:r>
              <a:rPr lang="en-US" altLang="zh-CN" dirty="0"/>
              <a:t>Modularity</a:t>
            </a:r>
            <a:r>
              <a:rPr lang="zh-CN" altLang="en-US" dirty="0"/>
              <a:t>函数</a:t>
            </a:r>
            <a:endParaRPr lang="en-US" altLang="zh-CN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altLang="zh-CN" dirty="0"/>
          </a:p>
          <a:p>
            <a:endParaRPr lang="en-US" altLang="zh-CN" dirty="0"/>
          </a:p>
          <a:p>
            <a:pPr lvl="1"/>
            <a:r>
              <a:rPr lang="en-US" altLang="zh-CN" dirty="0"/>
              <a:t>Modularity</a:t>
            </a:r>
            <a:r>
              <a:rPr lang="zh-CN" altLang="en-US" dirty="0"/>
              <a:t>函数的范围是</a:t>
            </a:r>
            <a:r>
              <a:rPr lang="en-US" altLang="zh-CN" dirty="0"/>
              <a:t>[-1,1]</a:t>
            </a:r>
          </a:p>
          <a:p>
            <a:pPr lvl="1"/>
            <a:r>
              <a:rPr lang="en-US" altLang="zh-CN" dirty="0"/>
              <a:t>Modularity</a:t>
            </a:r>
            <a:r>
              <a:rPr lang="zh-CN" altLang="en-US" dirty="0"/>
              <a:t>函数大于</a:t>
            </a:r>
            <a:r>
              <a:rPr lang="en-US" altLang="zh-CN" dirty="0"/>
              <a:t>0.3-0.7</a:t>
            </a:r>
            <a:r>
              <a:rPr lang="zh-CN" altLang="en-US" dirty="0"/>
              <a:t>，成为“显著社区结构”（</a:t>
            </a:r>
            <a:r>
              <a:rPr lang="en-US" altLang="zh-CN" dirty="0"/>
              <a:t>significant</a:t>
            </a:r>
            <a:r>
              <a:rPr lang="zh-CN" altLang="en-US" dirty="0"/>
              <a:t> </a:t>
            </a:r>
            <a:r>
              <a:rPr lang="en-US" altLang="zh-CN" dirty="0"/>
              <a:t>community structure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endParaRPr lang="en-US" altLang="zh-CN" dirty="0"/>
          </a:p>
          <a:p>
            <a:r>
              <a:rPr lang="zh-CN" altLang="en-US" sz="2400" dirty="0"/>
              <a:t>社区发现的思路之一：</a:t>
            </a:r>
            <a:r>
              <a:rPr lang="zh-CN" altLang="en-US" sz="2400" dirty="0">
                <a:solidFill>
                  <a:srgbClr val="C00000"/>
                </a:solidFill>
              </a:rPr>
              <a:t>优化</a:t>
            </a:r>
            <a:r>
              <a:rPr lang="en-US" altLang="zh-CN" sz="2400" dirty="0">
                <a:solidFill>
                  <a:srgbClr val="C00000"/>
                </a:solidFill>
              </a:rPr>
              <a:t>modularity</a:t>
            </a:r>
            <a:r>
              <a:rPr lang="zh-CN" altLang="en-US" sz="2400" dirty="0">
                <a:solidFill>
                  <a:srgbClr val="C00000"/>
                </a:solidFill>
              </a:rPr>
              <a:t>函数</a:t>
            </a:r>
            <a:endParaRPr lang="en-US" altLang="zh-CN" dirty="0">
              <a:solidFill>
                <a:srgbClr val="C0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0237" y="1346238"/>
            <a:ext cx="5677729" cy="1289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56998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2B31FA8-1094-2B4D-BCD6-8718A9E0E6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Calibri" charset="0"/>
                <a:ea typeface="Calibri" charset="0"/>
                <a:cs typeface="Calibri" charset="0"/>
              </a:rPr>
              <a:t>Modularity</a:t>
            </a:r>
            <a:r>
              <a:rPr lang="zh-CN" altLang="en-US" dirty="0"/>
              <a:t> </a:t>
            </a:r>
            <a:r>
              <a:rPr lang="en-US" altLang="zh-CN" i="1" dirty="0">
                <a:latin typeface="Times New Roman" charset="0"/>
                <a:ea typeface="Times New Roman" charset="0"/>
                <a:cs typeface="Times New Roman" charset="0"/>
              </a:rPr>
              <a:t>Q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="" id="{0A91332F-1F34-9B42-8D13-D6CDD732405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819150"/>
                <a:ext cx="8229600" cy="500286"/>
              </a:xfrm>
            </p:spPr>
            <p:txBody>
              <a:bodyPr/>
              <a:lstStyle/>
              <a:p>
                <a:r>
                  <a:rPr lang="zh-CN" altLang="en-US" dirty="0"/>
                  <a:t>计算下面划分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zh-CN" altLang="en-US" dirty="0"/>
                  <a:t>的</a:t>
                </a:r>
                <a:r>
                  <a:rPr lang="en-US" altLang="zh-CN" dirty="0"/>
                  <a:t>Modularity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A91332F-1F34-9B42-8D13-D6CDD732405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819150"/>
                <a:ext cx="8229600" cy="500286"/>
              </a:xfrm>
              <a:blipFill>
                <a:blip r:embed="rId2"/>
                <a:stretch>
                  <a:fillRect l="-617" t="-7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6567260B-1E68-414D-98FB-9519972658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3447059"/>
            <a:ext cx="3419546" cy="776710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xmlns="" id="{833C11FF-6A55-6745-8980-04B573E2C5B6}"/>
              </a:ext>
            </a:extLst>
          </p:cNvPr>
          <p:cNvSpPr>
            <a:spLocks noChangeAspect="1"/>
          </p:cNvSpPr>
          <p:nvPr/>
        </p:nvSpPr>
        <p:spPr>
          <a:xfrm>
            <a:off x="1184425" y="1663104"/>
            <a:ext cx="360000" cy="360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</a:t>
            </a:r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xmlns="" id="{4B0A59F8-E205-F64D-A28A-0379B727B442}"/>
              </a:ext>
            </a:extLst>
          </p:cNvPr>
          <p:cNvSpPr>
            <a:spLocks noChangeAspect="1"/>
          </p:cNvSpPr>
          <p:nvPr/>
        </p:nvSpPr>
        <p:spPr>
          <a:xfrm>
            <a:off x="2601681" y="1663104"/>
            <a:ext cx="360000" cy="360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2</a:t>
            </a:r>
            <a:endParaRPr lang="en-US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xmlns="" id="{C5DBA4E6-3905-124E-8790-EC5CD8271D09}"/>
              </a:ext>
            </a:extLst>
          </p:cNvPr>
          <p:cNvSpPr>
            <a:spLocks noChangeAspect="1"/>
          </p:cNvSpPr>
          <p:nvPr/>
        </p:nvSpPr>
        <p:spPr>
          <a:xfrm>
            <a:off x="1919460" y="2576481"/>
            <a:ext cx="360000" cy="360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3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xmlns="" id="{89D3F9E3-3705-E049-A08F-F31C803AE843}"/>
              </a:ext>
            </a:extLst>
          </p:cNvPr>
          <p:cNvCxnSpPr>
            <a:endCxn id="6" idx="2"/>
          </p:cNvCxnSpPr>
          <p:nvPr/>
        </p:nvCxnSpPr>
        <p:spPr>
          <a:xfrm>
            <a:off x="1544425" y="1843104"/>
            <a:ext cx="1057256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xmlns="" id="{07DE390D-11DF-584C-BD4D-F6DCC8B6147F}"/>
              </a:ext>
            </a:extLst>
          </p:cNvPr>
          <p:cNvCxnSpPr>
            <a:cxnSpLocks/>
            <a:stCxn id="6" idx="4"/>
            <a:endCxn id="7" idx="7"/>
          </p:cNvCxnSpPr>
          <p:nvPr/>
        </p:nvCxnSpPr>
        <p:spPr>
          <a:xfrm flipH="1">
            <a:off x="2226739" y="2023104"/>
            <a:ext cx="554942" cy="606098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xmlns="" id="{D9FC272D-178F-8447-9DFA-FAAB0639A90A}"/>
              </a:ext>
            </a:extLst>
          </p:cNvPr>
          <p:cNvCxnSpPr>
            <a:cxnSpLocks/>
            <a:stCxn id="5" idx="4"/>
            <a:endCxn id="7" idx="1"/>
          </p:cNvCxnSpPr>
          <p:nvPr/>
        </p:nvCxnSpPr>
        <p:spPr>
          <a:xfrm>
            <a:off x="1364425" y="2023104"/>
            <a:ext cx="607756" cy="606098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xmlns="" id="{E11D3C7F-2A3F-E645-BD03-BDA20C332BF6}"/>
              </a:ext>
            </a:extLst>
          </p:cNvPr>
          <p:cNvCxnSpPr>
            <a:cxnSpLocks/>
            <a:stCxn id="5" idx="2"/>
          </p:cNvCxnSpPr>
          <p:nvPr/>
        </p:nvCxnSpPr>
        <p:spPr>
          <a:xfrm flipH="1" flipV="1">
            <a:off x="742566" y="1715825"/>
            <a:ext cx="441859" cy="12727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xmlns="" id="{930F0D22-9444-1549-A04A-0252DE6677B4}"/>
              </a:ext>
            </a:extLst>
          </p:cNvPr>
          <p:cNvCxnSpPr>
            <a:cxnSpLocks/>
            <a:endCxn id="6" idx="5"/>
          </p:cNvCxnSpPr>
          <p:nvPr/>
        </p:nvCxnSpPr>
        <p:spPr>
          <a:xfrm flipH="1" flipV="1">
            <a:off x="2908960" y="1970383"/>
            <a:ext cx="427663" cy="1468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xmlns="" id="{DFD6EE55-672B-5847-871D-8AB3EC7A671E}"/>
              </a:ext>
            </a:extLst>
          </p:cNvPr>
          <p:cNvCxnSpPr>
            <a:cxnSpLocks/>
            <a:endCxn id="6" idx="7"/>
          </p:cNvCxnSpPr>
          <p:nvPr/>
        </p:nvCxnSpPr>
        <p:spPr>
          <a:xfrm flipH="1">
            <a:off x="2908960" y="1509248"/>
            <a:ext cx="498821" cy="20657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xmlns="" id="{5FC16663-D385-DD4D-9528-19FCB53217C2}"/>
                  </a:ext>
                </a:extLst>
              </p:cNvPr>
              <p:cNvSpPr/>
              <p:nvPr/>
            </p:nvSpPr>
            <p:spPr>
              <a:xfrm>
                <a:off x="5582428" y="1118447"/>
                <a:ext cx="3333433" cy="50853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en-US" dirty="0">
                    <a:solidFill>
                      <a:srgbClr val="C00000"/>
                    </a:solidFill>
                    <a:effectLst/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altLang="zh-CN" dirty="0">
                    <a:solidFill>
                      <a:srgbClr val="C00000"/>
                    </a:solidFill>
                    <a:effectLst/>
                    <a:latin typeface="Calibri" panose="020F0502020204030204" pitchFamily="34" charset="0"/>
                    <a:cs typeface="Calibri" panose="020F0502020204030204" pitchFamily="34" charset="0"/>
                  </a:rPr>
                  <a:t>A</a:t>
                </a:r>
                <a:r>
                  <a:rPr lang="en-US" altLang="zh-CN" dirty="0">
                    <a:solidFill>
                      <a:srgbClr val="C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  <a:r>
                  <a:rPr lang="zh-CN" altLang="en-US" dirty="0">
                    <a:solidFill>
                      <a:srgbClr val="C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−</m:t>
                    </m:r>
                    <m:f>
                      <m:fPr>
                        <m:ctrlPr>
                          <a:rPr lang="en-US" altLang="zh-CN" i="1" smtClean="0">
                            <a:solidFill>
                              <a:srgbClr val="C00000"/>
                            </a:solidFill>
                            <a:latin typeface="Cambria Math" charset="0"/>
                            <a:cs typeface="Calibri" panose="020F0502020204030204" pitchFamily="34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1</m:t>
                        </m:r>
                      </m:num>
                      <m:den>
                        <m:r>
                          <a:rPr lang="en-US" altLang="zh-CN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16</m:t>
                        </m:r>
                      </m:den>
                    </m:f>
                  </m:oMath>
                </a14:m>
                <a:r>
                  <a:rPr lang="zh-CN" altLang="en-US" dirty="0">
                    <a:solidFill>
                      <a:srgbClr val="C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 </a:t>
                </a:r>
                <a:r>
                  <a:rPr lang="en-US" altLang="zh-CN" dirty="0">
                    <a:solidFill>
                      <a:srgbClr val="C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B.</a:t>
                </a:r>
                <a:r>
                  <a:rPr lang="zh-CN" altLang="en-US" dirty="0">
                    <a:solidFill>
                      <a:srgbClr val="C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 dirty="0" smtClean="0">
                            <a:solidFill>
                              <a:srgbClr val="C00000"/>
                            </a:solidFill>
                            <a:latin typeface="Cambria Math" charset="0"/>
                            <a:cs typeface="Calibri" panose="020F0502020204030204" pitchFamily="34" charset="0"/>
                          </a:rPr>
                        </m:ctrlPr>
                      </m:fPr>
                      <m:num>
                        <m:r>
                          <a:rPr lang="en-US" altLang="zh-CN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5</m:t>
                        </m:r>
                      </m:num>
                      <m:den>
                        <m:r>
                          <a:rPr lang="en-US" altLang="zh-CN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36</m:t>
                        </m:r>
                      </m:den>
                    </m:f>
                  </m:oMath>
                </a14:m>
                <a:r>
                  <a:rPr lang="zh-CN" altLang="en-US" dirty="0">
                    <a:solidFill>
                      <a:srgbClr val="C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  </a:t>
                </a:r>
                <a:r>
                  <a:rPr lang="en-US" altLang="zh-CN" dirty="0">
                    <a:solidFill>
                      <a:srgbClr val="C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C.</a:t>
                </a:r>
                <a:r>
                  <a:rPr lang="zh-CN" altLang="en-US" dirty="0">
                    <a:solidFill>
                      <a:srgbClr val="C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 dirty="0" smtClean="0">
                            <a:solidFill>
                              <a:srgbClr val="C00000"/>
                            </a:solidFill>
                            <a:latin typeface="Cambria Math" charset="0"/>
                            <a:cs typeface="Calibri" panose="020F0502020204030204" pitchFamily="34" charset="0"/>
                          </a:rPr>
                        </m:ctrlPr>
                      </m:fPr>
                      <m:num>
                        <m:r>
                          <a:rPr lang="en-US" altLang="zh-CN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1</m:t>
                        </m:r>
                      </m:num>
                      <m:den>
                        <m:r>
                          <a:rPr lang="en-US" altLang="zh-CN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6</m:t>
                        </m:r>
                      </m:den>
                    </m:f>
                  </m:oMath>
                </a14:m>
                <a:endParaRPr lang="en-US" altLang="zh-CN" dirty="0">
                  <a:solidFill>
                    <a:srgbClr val="C0000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5FC16663-D385-DD4D-9528-19FCB53217C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2428" y="1118447"/>
                <a:ext cx="3333433" cy="508537"/>
              </a:xfrm>
              <a:prstGeom prst="rect">
                <a:avLst/>
              </a:prstGeom>
              <a:blipFill>
                <a:blip r:embed="rId4"/>
                <a:stretch>
                  <a:fillRect b="-48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Rectangle 33">
            <a:extLst>
              <a:ext uri="{FF2B5EF4-FFF2-40B4-BE49-F238E27FC236}">
                <a16:creationId xmlns:a16="http://schemas.microsoft.com/office/drawing/2014/main" xmlns="" id="{3D75A86C-E4AA-9846-98EA-B35FC18BB083}"/>
              </a:ext>
            </a:extLst>
          </p:cNvPr>
          <p:cNvSpPr/>
          <p:nvPr/>
        </p:nvSpPr>
        <p:spPr>
          <a:xfrm>
            <a:off x="4958625" y="1060897"/>
            <a:ext cx="64312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000000"/>
                </a:solidFill>
                <a:latin typeface="Helvetica Neue" charset="0"/>
              </a:rPr>
              <a:t>🔔</a:t>
            </a:r>
            <a:r>
              <a:rPr lang="zh-CN" altLang="en-US" sz="2800" dirty="0">
                <a:solidFill>
                  <a:srgbClr val="000000"/>
                </a:solidFill>
                <a:latin typeface="Helvetica Neue" charset="0"/>
              </a:rPr>
              <a:t> </a:t>
            </a:r>
            <a:endParaRPr 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xmlns="" id="{AA8DAA29-7842-2948-87CB-A49E9B25A5E3}"/>
                  </a:ext>
                </a:extLst>
              </p:cNvPr>
              <p:cNvSpPr/>
              <p:nvPr/>
            </p:nvSpPr>
            <p:spPr>
              <a:xfrm>
                <a:off x="707321" y="2525648"/>
                <a:ext cx="402546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dirty="0">
                          <a:latin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AA8DAA29-7842-2948-87CB-A49E9B25A5E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321" y="2525648"/>
                <a:ext cx="402546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xmlns="" id="{4BCB024E-F3A4-A849-B71B-0D1A92B09037}"/>
              </a:ext>
            </a:extLst>
          </p:cNvPr>
          <p:cNvCxnSpPr>
            <a:cxnSpLocks/>
          </p:cNvCxnSpPr>
          <p:nvPr/>
        </p:nvCxnSpPr>
        <p:spPr>
          <a:xfrm flipV="1">
            <a:off x="1018728" y="2430218"/>
            <a:ext cx="380008" cy="2531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xmlns="" id="{FF35B34E-1408-5847-A0F9-31F11E8F279D}"/>
                  </a:ext>
                </a:extLst>
              </p:cNvPr>
              <p:cNvSpPr txBox="1"/>
              <p:nvPr/>
            </p:nvSpPr>
            <p:spPr>
              <a:xfrm>
                <a:off x="3541241" y="1986783"/>
                <a:ext cx="3582840" cy="100053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𝑄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b="0" i="1" smtClean="0">
                              <a:latin typeface="Cambria Math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lang="en-US" altLang="zh-CN" b="0" i="1" smtClean="0">
                                  <a:latin typeface="Cambria Math" charset="0"/>
                                </a:rPr>
                              </m:ctrlPr>
                            </m:fPr>
                            <m:num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altLang="zh-CN" b="0" i="1" smtClean="0">
                                      <a:latin typeface="Cambria Math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/>
                                <m:e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𝑖𝑗</m:t>
                                      </m:r>
                                    </m:sub>
                                  </m:sSub>
                                </m:e>
                              </m:nary>
                            </m:num>
                            <m:den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den>
                          </m:f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zh-CN" b="0" i="1" smtClean="0">
                                  <a:latin typeface="Cambria Math" charset="0"/>
                                </a:rPr>
                              </m:ctrlPr>
                            </m:fPr>
                            <m:num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den>
                          </m:f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zh-CN" b="0" i="1" smtClean="0">
                                  <a:latin typeface="Cambria Math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/>
                            <m:e>
                              <m:f>
                                <m:fPr>
                                  <m:ctrlPr>
                                    <a:rPr lang="en-US" altLang="zh-CN" b="0" i="1" smtClean="0">
                                      <a:latin typeface="Cambria Math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den>
                              </m:f>
                            </m:e>
                          </m:nary>
                        </m:e>
                      </m:nary>
                    </m:oMath>
                  </m:oMathPara>
                </a14:m>
                <a:endParaRPr lang="en-US" altLang="zh-CN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FF35B34E-1408-5847-A0F9-31F11E8F27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1241" y="1986783"/>
                <a:ext cx="3582840" cy="1000530"/>
              </a:xfrm>
              <a:prstGeom prst="rect">
                <a:avLst/>
              </a:prstGeom>
              <a:blipFill>
                <a:blip r:embed="rId6"/>
                <a:stretch>
                  <a:fillRect l="-353" t="-96203" r="-1060" b="-1050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xmlns="" id="{89BCF09C-B95A-674F-9299-753C2A494746}"/>
                  </a:ext>
                </a:extLst>
              </p:cNvPr>
              <p:cNvSpPr txBox="1"/>
              <p:nvPr/>
            </p:nvSpPr>
            <p:spPr>
              <a:xfrm>
                <a:off x="4381998" y="2813871"/>
                <a:ext cx="2771913" cy="104618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b="0" i="1" smtClean="0">
                              <a:latin typeface="Cambria Math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lang="en-US" altLang="zh-CN" b="0" i="1" smtClean="0">
                                  <a:latin typeface="Cambria Math" charset="0"/>
                                </a:rPr>
                              </m:ctrlPr>
                            </m:fPr>
                            <m:num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altLang="zh-CN" b="0" i="1" smtClean="0">
                                      <a:solidFill>
                                        <a:schemeClr val="accent6"/>
                                      </a:solidFill>
                                      <a:latin typeface="Cambria Math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altLang="zh-CN" b="0" i="1" smtClean="0">
                                      <a:solidFill>
                                        <a:schemeClr val="accent6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CN" b="0" i="1" smtClean="0">
                                      <a:solidFill>
                                        <a:schemeClr val="accent6"/>
                                      </a:solidFill>
                                      <a:latin typeface="Cambria Math" panose="02040503050406030204" pitchFamily="18" charset="0"/>
                                    </a:rPr>
                                    <m:t>&lt;</m:t>
                                  </m:r>
                                  <m:r>
                                    <a:rPr lang="en-US" altLang="zh-CN" b="0" i="1" smtClean="0">
                                      <a:solidFill>
                                        <a:schemeClr val="accent6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/>
                                <m:e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solidFill>
                                            <a:schemeClr val="accent6"/>
                                          </a:solidFill>
                                          <a:latin typeface="Cambria Math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solidFill>
                                            <a:schemeClr val="accent6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solidFill>
                                            <a:schemeClr val="accent6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𝑖𝑗</m:t>
                                      </m:r>
                                    </m:sub>
                                  </m:sSub>
                                </m:e>
                              </m:nary>
                            </m:num>
                            <m:den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den>
                          </m:f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altLang="zh-CN" b="0" i="1" smtClean="0">
                                  <a:latin typeface="Cambria Math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b="0" i="1" smtClean="0">
                                      <a:latin typeface="Cambria Math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altLang="zh-CN" b="0" i="1" smtClean="0">
                                          <a:latin typeface="Cambria Math" charset="0"/>
                                        </a:rPr>
                                      </m:ctrlPr>
                                    </m:fPr>
                                    <m:num>
                                      <m:nary>
                                        <m:naryPr>
                                          <m:chr m:val="∑"/>
                                          <m:supHide m:val="on"/>
                                          <m:ctrlPr>
                                            <a:rPr lang="en-US" altLang="zh-CN" b="0" i="1" smtClean="0">
                                              <a:solidFill>
                                                <a:schemeClr val="accent1"/>
                                              </a:solidFill>
                                              <a:latin typeface="Cambria Math" charset="0"/>
                                            </a:rPr>
                                          </m:ctrlPr>
                                        </m:naryPr>
                                        <m:sub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altLang="zh-CN" b="0" i="1" smtClean="0">
                                              <a:solidFill>
                                                <a:schemeClr val="accent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US" altLang="zh-CN" b="0" i="1" smtClean="0">
                                              <a:solidFill>
                                                <a:schemeClr val="accent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∈</m:t>
                                          </m:r>
                                          <m:r>
                                            <a:rPr lang="en-US" altLang="zh-CN" b="0" i="1" smtClean="0">
                                              <a:solidFill>
                                                <a:schemeClr val="accent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</m:sub>
                                        <m:sup/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b="0" i="1" smtClean="0">
                                                  <a:solidFill>
                                                    <a:schemeClr val="accent1"/>
                                                  </a:solidFill>
                                                  <a:latin typeface="Cambria Math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b="0" i="1" smtClean="0">
                                                  <a:solidFill>
                                                    <a:schemeClr val="accent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𝑘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b="0" i="1" smtClean="0">
                                                  <a:solidFill>
                                                    <a:schemeClr val="accent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nary>
                                    </m:num>
                                    <m:den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altLang="zh-CN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89BCF09C-B95A-674F-9299-753C2A4947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1998" y="2813871"/>
                <a:ext cx="2771913" cy="1046184"/>
              </a:xfrm>
              <a:prstGeom prst="rect">
                <a:avLst/>
              </a:prstGeom>
              <a:blipFill>
                <a:blip r:embed="rId7"/>
                <a:stretch>
                  <a:fillRect l="-20091" t="-86747" b="-10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xmlns="" id="{A96A2CAB-3332-4145-94B9-AEBABE703F06}"/>
                  </a:ext>
                </a:extLst>
              </p:cNvPr>
              <p:cNvSpPr txBox="1"/>
              <p:nvPr/>
            </p:nvSpPr>
            <p:spPr>
              <a:xfrm>
                <a:off x="4337474" y="3621296"/>
                <a:ext cx="2063385" cy="99007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b="0" i="1" smtClean="0">
                              <a:latin typeface="Cambria Math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lang="en-US" altLang="zh-CN" b="0" i="1" smtClean="0">
                                  <a:latin typeface="Cambria Math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CN" b="0" i="1" smtClean="0">
                                      <a:solidFill>
                                        <a:schemeClr val="accent6"/>
                                      </a:solidFill>
                                      <a:latin typeface="Cambria Math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l-GR" altLang="zh-CN" b="0" i="1" smtClean="0">
                                      <a:solidFill>
                                        <a:schemeClr val="accent6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Σ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solidFill>
                                        <a:schemeClr val="accent6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𝑖𝑛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den>
                          </m:f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altLang="zh-CN" b="0" i="1" smtClean="0">
                                  <a:latin typeface="Cambria Math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b="0" i="1" smtClean="0">
                                      <a:latin typeface="Cambria Math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altLang="zh-CN" b="0" i="1" smtClean="0">
                                          <a:latin typeface="Cambria Math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en-US" altLang="zh-CN" b="0" i="1" smtClean="0">
                                              <a:solidFill>
                                                <a:schemeClr val="accent1"/>
                                              </a:solidFill>
                                              <a:latin typeface="Cambria Math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l-GR" altLang="zh-CN" b="0" i="1" smtClean="0">
                                              <a:solidFill>
                                                <a:schemeClr val="accent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Σ</m:t>
                                          </m:r>
                                        </m:e>
                                        <m:sub>
                                          <m:r>
                                            <a:rPr lang="en-US" altLang="zh-CN" b="0" i="1" smtClean="0">
                                              <a:solidFill>
                                                <a:schemeClr val="accent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𝑡𝑜𝑡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altLang="zh-CN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A96A2CAB-3332-4145-94B9-AEBABE703F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7474" y="3621296"/>
                <a:ext cx="2063385" cy="990079"/>
              </a:xfrm>
              <a:prstGeom prst="rect">
                <a:avLst/>
              </a:prstGeom>
              <a:blipFill>
                <a:blip r:embed="rId8"/>
                <a:stretch>
                  <a:fillRect l="-25767" t="-93671" b="-1088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xmlns="" id="{6864EAB5-1380-A741-B799-86E2867131E8}"/>
                  </a:ext>
                </a:extLst>
              </p:cNvPr>
              <p:cNvSpPr txBox="1"/>
              <p:nvPr/>
            </p:nvSpPr>
            <p:spPr>
              <a:xfrm>
                <a:off x="6615613" y="3726285"/>
                <a:ext cx="178474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简便起见，引入符号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chemeClr val="tx1"/>
                            </a:solidFill>
                            <a:latin typeface="Cambria Math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𝑖𝑛</m:t>
                        </m:r>
                      </m:sub>
                    </m:sSub>
                  </m:oMath>
                </a14:m>
                <a:r>
                  <a:rPr lang="zh-CN" altLang="en-US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chemeClr val="tx1"/>
                            </a:solidFill>
                            <a:latin typeface="Cambria Math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𝑡𝑜𝑡</m:t>
                        </m:r>
                      </m:sub>
                    </m:sSub>
                  </m:oMath>
                </a14:m>
                <a:endParaRPr lang="en-US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6864EAB5-1380-A741-B799-86E2867131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5613" y="3726285"/>
                <a:ext cx="1784744" cy="646331"/>
              </a:xfrm>
              <a:prstGeom prst="rect">
                <a:avLst/>
              </a:prstGeom>
              <a:blipFill>
                <a:blip r:embed="rId9"/>
                <a:stretch>
                  <a:fillRect l="-2837" t="-1923" r="-2837" b="-13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Line Callout 1 43">
            <a:extLst>
              <a:ext uri="{FF2B5EF4-FFF2-40B4-BE49-F238E27FC236}">
                <a16:creationId xmlns:a16="http://schemas.microsoft.com/office/drawing/2014/main" xmlns="" id="{7D85C1F9-D019-9D4C-A648-F016707C260D}"/>
              </a:ext>
            </a:extLst>
          </p:cNvPr>
          <p:cNvSpPr/>
          <p:nvPr/>
        </p:nvSpPr>
        <p:spPr>
          <a:xfrm>
            <a:off x="7328699" y="2196102"/>
            <a:ext cx="1761950" cy="659092"/>
          </a:xfrm>
          <a:prstGeom prst="borderCallout1">
            <a:avLst>
              <a:gd name="adj1" fmla="val 48478"/>
              <a:gd name="adj2" fmla="val -4354"/>
              <a:gd name="adj3" fmla="val 107615"/>
              <a:gd name="adj4" fmla="val -81096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简便起见，不考虑自环边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55443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0" grpId="0"/>
      <p:bldP spid="41" grpId="0"/>
      <p:bldP spid="42" grpId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Louvain</a:t>
            </a:r>
            <a:r>
              <a:rPr lang="zh-CN" altLang="en-US" dirty="0"/>
              <a:t>算法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819150"/>
                <a:ext cx="8229600" cy="1142172"/>
              </a:xfrm>
            </p:spPr>
            <p:txBody>
              <a:bodyPr/>
              <a:lstStyle/>
              <a:p>
                <a:r>
                  <a:rPr lang="en-US" altLang="zh-CN" dirty="0"/>
                  <a:t>Phase 1</a:t>
                </a:r>
                <a:r>
                  <a:rPr lang="zh-CN" altLang="zh-CN" dirty="0"/>
                  <a:t>：以局部方式，优化模块度函数，将每个顶点归到</a:t>
                </a:r>
                <a:r>
                  <a:rPr lang="en-US" altLang="zh-CN" dirty="0"/>
                  <a:t>“</a:t>
                </a:r>
                <a:r>
                  <a:rPr lang="zh-CN" altLang="zh-CN" dirty="0"/>
                  <a:t>最好</a:t>
                </a:r>
                <a:r>
                  <a:rPr lang="en-US" altLang="zh-CN" dirty="0"/>
                  <a:t>”</a:t>
                </a:r>
                <a:r>
                  <a:rPr lang="zh-CN" altLang="zh-CN" dirty="0"/>
                  <a:t>的类簇中，直到所有的顶点所属的类簇不再变化为止</a:t>
                </a:r>
                <a:r>
                  <a:rPr lang="zh-CN" altLang="en-US" dirty="0"/>
                  <a:t> </a:t>
                </a:r>
                <a:r>
                  <a:rPr lang="mr-IN" altLang="zh-CN" dirty="0"/>
                  <a:t>–</a:t>
                </a:r>
                <a:r>
                  <a:rPr lang="zh-CN" altLang="en-US" dirty="0"/>
                  <a:t> </a:t>
                </a:r>
                <a:r>
                  <a:rPr lang="en-US" altLang="zh-CN" b="1" dirty="0" err="1">
                    <a:solidFill>
                      <a:srgbClr val="C00000"/>
                    </a:solidFill>
                    <a:latin typeface="Courier New" charset="0"/>
                    <a:ea typeface="Courier New" charset="0"/>
                    <a:cs typeface="Courier New" charset="0"/>
                  </a:rPr>
                  <a:t>one_level</a:t>
                </a:r>
                <a:endParaRPr lang="en-US" dirty="0"/>
              </a:p>
              <a:p>
                <a:r>
                  <a:rPr lang="zh-CN" altLang="en-US" dirty="0">
                    <a:latin typeface="Microsoft YaHei" charset="-122"/>
                    <a:ea typeface="Microsoft YaHei" charset="-122"/>
                    <a:cs typeface="Microsoft YaHei" charset="-122"/>
                  </a:rPr>
                  <a:t>如何计算将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charset="0"/>
                        <a:ea typeface="Microsoft YaHei" charset="-122"/>
                        <a:cs typeface="Microsoft YaHei" charset="-122"/>
                      </a:rPr>
                      <m:t>𝑖</m:t>
                    </m:r>
                  </m:oMath>
                </a14:m>
                <a:r>
                  <a:rPr lang="zh-CN" altLang="en-US" dirty="0">
                    <a:latin typeface="Microsoft YaHei" charset="-122"/>
                    <a:ea typeface="Microsoft YaHei" charset="-122"/>
                    <a:cs typeface="Microsoft YaHei" charset="-122"/>
                  </a:rPr>
                  <a:t>合并到社区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charset="0"/>
                        <a:ea typeface="Microsoft YaHei" charset="-122"/>
                        <a:cs typeface="Microsoft YaHei" charset="-122"/>
                      </a:rPr>
                      <m:t>𝐶</m:t>
                    </m:r>
                  </m:oMath>
                </a14:m>
                <a:r>
                  <a:rPr lang="zh-CN" altLang="en-US" dirty="0">
                    <a:latin typeface="Microsoft YaHei" charset="-122"/>
                    <a:ea typeface="Microsoft YaHei" charset="-122"/>
                    <a:cs typeface="Microsoft YaHei" charset="-122"/>
                  </a:rPr>
                  <a:t>中的</a:t>
                </a:r>
                <a:r>
                  <a:rPr lang="en-US" altLang="zh-CN" dirty="0">
                    <a:latin typeface="Microsoft YaHei" charset="-122"/>
                    <a:ea typeface="Microsoft YaHei" charset="-122"/>
                    <a:cs typeface="Microsoft YaHei" charset="-122"/>
                  </a:rPr>
                  <a:t>modularity</a:t>
                </a:r>
                <a:r>
                  <a:rPr lang="zh-CN" altLang="en-US" dirty="0">
                    <a:latin typeface="Microsoft YaHei" charset="-122"/>
                    <a:ea typeface="Microsoft YaHei" charset="-122"/>
                    <a:cs typeface="Microsoft YaHei" charset="-122"/>
                  </a:rPr>
                  <a:t>增益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>
                        <a:latin typeface="Cambria Math" charset="0"/>
                        <a:ea typeface="Microsoft YaHei" charset="-122"/>
                        <a:cs typeface="Microsoft YaHei" charset="-122"/>
                      </a:rPr>
                      <m:t>Δ</m:t>
                    </m:r>
                    <m:r>
                      <a:rPr lang="en-US" altLang="zh-CN" i="1">
                        <a:latin typeface="Cambria Math" charset="0"/>
                        <a:ea typeface="Microsoft YaHei" charset="-122"/>
                        <a:cs typeface="Microsoft YaHei" charset="-122"/>
                      </a:rPr>
                      <m:t>𝑄</m:t>
                    </m:r>
                  </m:oMath>
                </a14:m>
                <a:r>
                  <a:rPr lang="zh-CN" altLang="en-US" dirty="0">
                    <a:latin typeface="Microsoft YaHei" charset="-122"/>
                    <a:ea typeface="Microsoft YaHei" charset="-122"/>
                    <a:cs typeface="Microsoft YaHei" charset="-122"/>
                  </a:rPr>
                  <a:t>？</a:t>
                </a:r>
                <a:endParaRPr lang="en-US" dirty="0">
                  <a:latin typeface="Microsoft YaHei" charset="-122"/>
                  <a:ea typeface="Microsoft YaHei" charset="-122"/>
                  <a:cs typeface="Microsoft YaHei" charset="-122"/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819150"/>
                <a:ext cx="8229600" cy="1142172"/>
              </a:xfrm>
              <a:blipFill>
                <a:blip r:embed="rId3"/>
                <a:stretch>
                  <a:fillRect l="-617" t="-3333" b="-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xmlns="" id="{63E34350-1640-614E-8C39-2EF232864567}"/>
                  </a:ext>
                </a:extLst>
              </p:cNvPr>
              <p:cNvSpPr txBox="1"/>
              <p:nvPr/>
            </p:nvSpPr>
            <p:spPr>
              <a:xfrm>
                <a:off x="883715" y="3358938"/>
                <a:ext cx="6842835" cy="65056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𝑄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b="0" i="1" smtClean="0">
                              <a:latin typeface="Cambria Math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b="0" i="1" smtClean="0">
                                  <a:latin typeface="Cambria Math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l-GR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Σ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𝑖𝑛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𝑖𝑛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den>
                          </m:f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altLang="zh-CN" b="0" i="1" smtClean="0">
                                  <a:latin typeface="Cambria Math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b="0" i="1" smtClean="0">
                                      <a:latin typeface="Cambria Math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altLang="zh-CN" b="0" i="1" smtClean="0">
                                          <a:latin typeface="Cambria Math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en-US" altLang="zh-CN" b="0" i="1" smtClean="0">
                                              <a:latin typeface="Cambria Math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l-GR" altLang="zh-CN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Σ</m:t>
                                          </m:r>
                                        </m:e>
                                        <m:sub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𝑡𝑜𝑡</m:t>
                                          </m:r>
                                        </m:sub>
                                      </m:s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b="0" i="1" smtClean="0">
                                              <a:latin typeface="Cambria Math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  <m:sub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i="1">
                              <a:latin typeface="Cambria Math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i="1">
                                  <a:latin typeface="Cambria Math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CN" i="1">
                                      <a:latin typeface="Cambria Math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l-GR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Σ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𝑖𝑛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den>
                          </m:f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altLang="zh-CN" i="1">
                                  <a:latin typeface="Cambria Math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i="1">
                                      <a:latin typeface="Cambria Math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altLang="zh-CN" i="1">
                                          <a:latin typeface="Cambria Math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en-US" altLang="zh-CN" i="1">
                                              <a:latin typeface="Cambria Math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l-GR" altLang="zh-CN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Σ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𝑡𝑜𝑡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altLang="zh-CN" b="0" i="1" smtClean="0">
                                  <a:latin typeface="Cambria Math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b="0" i="1" smtClean="0">
                                      <a:latin typeface="Cambria Math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altLang="zh-CN" b="0" i="1" smtClean="0">
                                          <a:latin typeface="Cambria Math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en-US" altLang="zh-CN" b="0" i="1" smtClean="0">
                                              <a:latin typeface="Cambria Math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  <m:sub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3E34350-1640-614E-8C39-2EF2328645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3715" y="3358938"/>
                <a:ext cx="6842835" cy="650563"/>
              </a:xfrm>
              <a:prstGeom prst="rect">
                <a:avLst/>
              </a:prstGeom>
              <a:blipFill>
                <a:blip r:embed="rId4"/>
                <a:stretch>
                  <a:fillRect l="-1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Line Callout 1 6">
            <a:extLst>
              <a:ext uri="{FF2B5EF4-FFF2-40B4-BE49-F238E27FC236}">
                <a16:creationId xmlns:a16="http://schemas.microsoft.com/office/drawing/2014/main" xmlns="" id="{8CD47F22-E13A-B543-B9A1-D0EB112CF9EE}"/>
              </a:ext>
            </a:extLst>
          </p:cNvPr>
          <p:cNvSpPr/>
          <p:nvPr/>
        </p:nvSpPr>
        <p:spPr>
          <a:xfrm>
            <a:off x="3627002" y="2949948"/>
            <a:ext cx="2313529" cy="330302"/>
          </a:xfrm>
          <a:prstGeom prst="borderCallout1">
            <a:avLst>
              <a:gd name="adj1" fmla="val 48478"/>
              <a:gd name="adj2" fmla="val -4354"/>
              <a:gd name="adj3" fmla="val 134796"/>
              <a:gd name="adj4" fmla="val -25335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节点</a:t>
            </a:r>
            <a:r>
              <a:rPr lang="en-US" altLang="zh-CN" dirty="0" err="1"/>
              <a:t>i</a:t>
            </a:r>
            <a:r>
              <a:rPr lang="zh-CN" altLang="en-US" dirty="0"/>
              <a:t>连接到</a:t>
            </a:r>
            <a:r>
              <a:rPr lang="en-US" altLang="zh-CN" dirty="0"/>
              <a:t>C</a:t>
            </a:r>
            <a:r>
              <a:rPr lang="zh-CN" altLang="en-US" dirty="0"/>
              <a:t>的边数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Line Callout 1 7">
                <a:extLst>
                  <a:ext uri="{FF2B5EF4-FFF2-40B4-BE49-F238E27FC236}">
                    <a16:creationId xmlns:a16="http://schemas.microsoft.com/office/drawing/2014/main" xmlns="" id="{2E2F308E-5805-E647-995A-942498CB6C2C}"/>
                  </a:ext>
                </a:extLst>
              </p:cNvPr>
              <p:cNvSpPr/>
              <p:nvPr/>
            </p:nvSpPr>
            <p:spPr>
              <a:xfrm>
                <a:off x="7299108" y="4233016"/>
                <a:ext cx="1509504" cy="330302"/>
              </a:xfrm>
              <a:prstGeom prst="borderCallout1">
                <a:avLst>
                  <a:gd name="adj1" fmla="val -31415"/>
                  <a:gd name="adj2" fmla="val 41993"/>
                  <a:gd name="adj3" fmla="val -179201"/>
                  <a:gd name="adj4" fmla="val -2162"/>
                </a:avLst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dirty="0"/>
                  <a:t>节点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zh-CN" altLang="en-US" dirty="0"/>
                  <a:t>的度数</a:t>
                </a:r>
                <a:endParaRPr lang="en-US" dirty="0"/>
              </a:p>
            </p:txBody>
          </p:sp>
        </mc:Choice>
        <mc:Fallback xmlns="">
          <p:sp>
            <p:nvSpPr>
              <p:cNvPr id="8" name="Line Callout 1 7">
                <a:extLst>
                  <a:ext uri="{FF2B5EF4-FFF2-40B4-BE49-F238E27FC236}">
                    <a16:creationId xmlns:a16="http://schemas.microsoft.com/office/drawing/2014/main" id="{2E2F308E-5805-E647-995A-942498CB6C2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9108" y="4233016"/>
                <a:ext cx="1509504" cy="330302"/>
              </a:xfrm>
              <a:prstGeom prst="borderCallout1">
                <a:avLst>
                  <a:gd name="adj1" fmla="val -31415"/>
                  <a:gd name="adj2" fmla="val 41993"/>
                  <a:gd name="adj3" fmla="val -179201"/>
                  <a:gd name="adj4" fmla="val -2162"/>
                </a:avLst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xmlns="" id="{19F98B37-091E-3143-BBAE-F0D441626BE0}"/>
                  </a:ext>
                </a:extLst>
              </p:cNvPr>
              <p:cNvSpPr txBox="1"/>
              <p:nvPr/>
            </p:nvSpPr>
            <p:spPr>
              <a:xfrm>
                <a:off x="2006826" y="4151559"/>
                <a:ext cx="2145908" cy="5338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d>
                        <m:dPr>
                          <m:begChr m:val="{"/>
                          <m:endChr m:val="}"/>
                          <m:ctrlPr>
                            <a:rPr lang="en-US" altLang="zh-CN" b="0" i="1" smtClean="0">
                              <a:latin typeface="Cambria Math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 smtClean="0">
                                  <a:solidFill>
                                    <a:srgbClr val="C00000"/>
                                  </a:solidFill>
                                  <a:latin typeface="Cambria Math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𝑖𝑛</m:t>
                              </m:r>
                            </m:sub>
                          </m:sSub>
                          <m:r>
                            <a:rPr lang="en-US" altLang="zh-CN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zh-CN" i="1">
                                  <a:solidFill>
                                    <a:srgbClr val="C00000"/>
                                  </a:solidFill>
                                  <a:latin typeface="Cambria Math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CN" i="1">
                                      <a:solidFill>
                                        <a:srgbClr val="C00000"/>
                                      </a:solidFill>
                                      <a:latin typeface="Cambria Math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sSub>
                                    <m:sSubPr>
                                      <m:ctrlPr>
                                        <a:rPr lang="en-US" altLang="zh-CN" i="1">
                                          <a:solidFill>
                                            <a:srgbClr val="C00000"/>
                                          </a:solidFill>
                                          <a:latin typeface="Cambria Math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𝑘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zh-CN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l-GR" altLang="zh-CN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Σ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𝑡𝑜𝑡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altLang="zh-CN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altLang="zh-CN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9F98B37-091E-3143-BBAE-F0D441626B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6826" y="4151559"/>
                <a:ext cx="2145908" cy="533864"/>
              </a:xfrm>
              <a:prstGeom prst="rect">
                <a:avLst/>
              </a:prstGeom>
              <a:blipFill>
                <a:blip r:embed="rId6"/>
                <a:stretch>
                  <a:fillRect l="-588" t="-2326" b="-116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Oval 9">
            <a:extLst>
              <a:ext uri="{FF2B5EF4-FFF2-40B4-BE49-F238E27FC236}">
                <a16:creationId xmlns:a16="http://schemas.microsoft.com/office/drawing/2014/main" xmlns="" id="{3A965764-7C45-DD40-BC97-9632DBC8F309}"/>
              </a:ext>
            </a:extLst>
          </p:cNvPr>
          <p:cNvSpPr>
            <a:spLocks noChangeAspect="1"/>
          </p:cNvSpPr>
          <p:nvPr/>
        </p:nvSpPr>
        <p:spPr>
          <a:xfrm>
            <a:off x="934360" y="2115178"/>
            <a:ext cx="360000" cy="360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</a:t>
            </a:r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xmlns="" id="{60E38220-AA76-8C42-9F76-787A0E34DEF7}"/>
              </a:ext>
            </a:extLst>
          </p:cNvPr>
          <p:cNvSpPr>
            <a:spLocks noChangeAspect="1"/>
          </p:cNvSpPr>
          <p:nvPr/>
        </p:nvSpPr>
        <p:spPr>
          <a:xfrm>
            <a:off x="2351616" y="2115178"/>
            <a:ext cx="360000" cy="360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2</a:t>
            </a:r>
            <a:endParaRPr lang="en-U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xmlns="" id="{D2BCC35A-8BBF-7243-9F88-C46A0260ABC2}"/>
              </a:ext>
            </a:extLst>
          </p:cNvPr>
          <p:cNvSpPr>
            <a:spLocks noChangeAspect="1"/>
          </p:cNvSpPr>
          <p:nvPr/>
        </p:nvSpPr>
        <p:spPr>
          <a:xfrm>
            <a:off x="1669395" y="3028555"/>
            <a:ext cx="360000" cy="360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3</a:t>
            </a:r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xmlns="" id="{53664800-9967-8D42-A4D6-C4D3F696F364}"/>
              </a:ext>
            </a:extLst>
          </p:cNvPr>
          <p:cNvCxnSpPr>
            <a:endCxn id="11" idx="2"/>
          </p:cNvCxnSpPr>
          <p:nvPr/>
        </p:nvCxnSpPr>
        <p:spPr>
          <a:xfrm>
            <a:off x="1294360" y="2295178"/>
            <a:ext cx="1057256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xmlns="" id="{37D16395-1BFB-0E42-ADFC-A80F67FD1415}"/>
              </a:ext>
            </a:extLst>
          </p:cNvPr>
          <p:cNvCxnSpPr>
            <a:cxnSpLocks/>
            <a:stCxn id="11" idx="4"/>
            <a:endCxn id="12" idx="7"/>
          </p:cNvCxnSpPr>
          <p:nvPr/>
        </p:nvCxnSpPr>
        <p:spPr>
          <a:xfrm flipH="1">
            <a:off x="1976674" y="2475178"/>
            <a:ext cx="554942" cy="606098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xmlns="" id="{9F7914A8-356C-F74C-AC43-0102B45DE342}"/>
              </a:ext>
            </a:extLst>
          </p:cNvPr>
          <p:cNvCxnSpPr>
            <a:cxnSpLocks/>
            <a:stCxn id="10" idx="4"/>
            <a:endCxn id="12" idx="1"/>
          </p:cNvCxnSpPr>
          <p:nvPr/>
        </p:nvCxnSpPr>
        <p:spPr>
          <a:xfrm>
            <a:off x="1114360" y="2475178"/>
            <a:ext cx="607756" cy="606098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xmlns="" id="{2B21ABE3-FB4E-A247-A706-E2386847741B}"/>
              </a:ext>
            </a:extLst>
          </p:cNvPr>
          <p:cNvCxnSpPr>
            <a:cxnSpLocks/>
            <a:stCxn id="10" idx="2"/>
          </p:cNvCxnSpPr>
          <p:nvPr/>
        </p:nvCxnSpPr>
        <p:spPr>
          <a:xfrm flipH="1" flipV="1">
            <a:off x="492501" y="2167899"/>
            <a:ext cx="441859" cy="12727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xmlns="" id="{974B7EF2-F5DA-4140-8818-F850290C1229}"/>
              </a:ext>
            </a:extLst>
          </p:cNvPr>
          <p:cNvCxnSpPr>
            <a:cxnSpLocks/>
            <a:endCxn id="11" idx="5"/>
          </p:cNvCxnSpPr>
          <p:nvPr/>
        </p:nvCxnSpPr>
        <p:spPr>
          <a:xfrm flipH="1" flipV="1">
            <a:off x="2658895" y="2422457"/>
            <a:ext cx="427663" cy="1468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xmlns="" id="{EC70B21C-D39E-4F4E-83E1-8F3A5EA9AA46}"/>
              </a:ext>
            </a:extLst>
          </p:cNvPr>
          <p:cNvCxnSpPr>
            <a:cxnSpLocks/>
            <a:endCxn id="11" idx="7"/>
          </p:cNvCxnSpPr>
          <p:nvPr/>
        </p:nvCxnSpPr>
        <p:spPr>
          <a:xfrm flipH="1">
            <a:off x="2658895" y="1961322"/>
            <a:ext cx="498821" cy="20657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xmlns="" id="{B1DEE48F-61D2-6F42-8C3C-CCF4C6A36A0C}"/>
                  </a:ext>
                </a:extLst>
              </p:cNvPr>
              <p:cNvSpPr/>
              <p:nvPr/>
            </p:nvSpPr>
            <p:spPr>
              <a:xfrm>
                <a:off x="402529" y="3008857"/>
                <a:ext cx="451469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dirty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US" sz="2400" i="1" dirty="0"/>
              </a:p>
            </p:txBody>
          </p:sp>
        </mc:Choice>
        <mc:Fallback xmlns="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B1DEE48F-61D2-6F42-8C3C-CCF4C6A36A0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529" y="3008857"/>
                <a:ext cx="451469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xmlns="" id="{94C80B5C-DD4C-2D4C-ACB9-264B9F10C7FC}"/>
              </a:ext>
            </a:extLst>
          </p:cNvPr>
          <p:cNvCxnSpPr>
            <a:cxnSpLocks/>
          </p:cNvCxnSpPr>
          <p:nvPr/>
        </p:nvCxnSpPr>
        <p:spPr>
          <a:xfrm flipV="1">
            <a:off x="768663" y="2882292"/>
            <a:ext cx="380008" cy="2531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xmlns="" id="{D7D25B68-8F9F-7741-85E1-40C75D29699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086558" y="2422457"/>
                <a:ext cx="360000" cy="360000"/>
              </a:xfrm>
              <a:prstGeom prst="ellipse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dirty="0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D7D25B68-8F9F-7741-85E1-40C75D29699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6558" y="2422457"/>
                <a:ext cx="360000" cy="360000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xmlns="" id="{8A87BD7F-747E-8C4F-8EDA-C77D4690D692}"/>
                  </a:ext>
                </a:extLst>
              </p:cNvPr>
              <p:cNvSpPr/>
              <p:nvPr/>
            </p:nvSpPr>
            <p:spPr>
              <a:xfrm>
                <a:off x="5387975" y="1984715"/>
                <a:ext cx="3333433" cy="78726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en-US" dirty="0">
                    <a:solidFill>
                      <a:srgbClr val="C00000"/>
                    </a:solidFill>
                    <a:effectLst/>
                    <a:latin typeface="Calibri" panose="020F0502020204030204" pitchFamily="34" charset="0"/>
                    <a:cs typeface="Calibri" panose="020F0502020204030204" pitchFamily="34" charset="0"/>
                  </a:rPr>
                  <a:t>请计算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b="0" i="0" smtClean="0">
                        <a:solidFill>
                          <a:srgbClr val="C00000"/>
                        </a:solidFill>
                        <a:effectLst/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Δ</m:t>
                    </m:r>
                    <m:r>
                      <a:rPr lang="en-US" altLang="zh-CN" b="0" i="1" smtClean="0">
                        <a:solidFill>
                          <a:srgbClr val="C00000"/>
                        </a:solidFill>
                        <a:effectLst/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𝑄</m:t>
                    </m:r>
                    <m:r>
                      <a:rPr lang="en-US" altLang="zh-CN" b="0" i="1" smtClean="0">
                        <a:solidFill>
                          <a:srgbClr val="C00000"/>
                        </a:solidFill>
                        <a:effectLst/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(</m:t>
                    </m:r>
                    <m:r>
                      <a:rPr lang="en-US" altLang="zh-CN" b="0" i="1" smtClean="0">
                        <a:solidFill>
                          <a:srgbClr val="C00000"/>
                        </a:solidFill>
                        <a:effectLst/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𝑖</m:t>
                    </m:r>
                    <m:r>
                      <a:rPr lang="en-US" altLang="zh-CN" b="0" i="1" smtClean="0">
                        <a:solidFill>
                          <a:srgbClr val="C00000"/>
                        </a:solidFill>
                        <a:effectLst/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→</m:t>
                    </m:r>
                    <m:r>
                      <a:rPr lang="en-US" altLang="zh-CN" b="0" i="1" smtClean="0">
                        <a:solidFill>
                          <a:srgbClr val="C00000"/>
                        </a:solidFill>
                        <a:effectLst/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𝐶</m:t>
                    </m:r>
                    <m:r>
                      <a:rPr lang="en-US" altLang="zh-CN" b="0" i="1" smtClean="0">
                        <a:solidFill>
                          <a:srgbClr val="C00000"/>
                        </a:solidFill>
                        <a:effectLst/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zh-CN" altLang="en-US" dirty="0">
                    <a:solidFill>
                      <a:srgbClr val="C00000"/>
                    </a:solidFill>
                    <a:effectLst/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endParaRPr lang="en-US" altLang="zh-CN" dirty="0">
                  <a:solidFill>
                    <a:srgbClr val="C00000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en-US" altLang="zh-CN" dirty="0">
                    <a:solidFill>
                      <a:srgbClr val="C00000"/>
                    </a:solidFill>
                    <a:effectLst/>
                    <a:latin typeface="Calibri" panose="020F0502020204030204" pitchFamily="34" charset="0"/>
                    <a:cs typeface="Calibri" panose="020F0502020204030204" pitchFamily="34" charset="0"/>
                  </a:rPr>
                  <a:t>A</a:t>
                </a:r>
                <a:r>
                  <a:rPr lang="en-US" altLang="zh-CN" dirty="0">
                    <a:solidFill>
                      <a:srgbClr val="C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  <a:r>
                  <a:rPr lang="zh-CN" altLang="en-US" dirty="0">
                    <a:solidFill>
                      <a:srgbClr val="C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 smtClean="0">
                            <a:solidFill>
                              <a:srgbClr val="C00000"/>
                            </a:solidFill>
                            <a:latin typeface="Cambria Math" charset="0"/>
                            <a:cs typeface="Calibri" panose="020F0502020204030204" pitchFamily="34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1</m:t>
                        </m:r>
                      </m:num>
                      <m:den>
                        <m:r>
                          <a:rPr lang="en-US" altLang="zh-CN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16</m:t>
                        </m:r>
                      </m:den>
                    </m:f>
                  </m:oMath>
                </a14:m>
                <a:r>
                  <a:rPr lang="zh-CN" altLang="en-US" dirty="0">
                    <a:solidFill>
                      <a:srgbClr val="C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 </a:t>
                </a:r>
                <a:r>
                  <a:rPr lang="en-US" altLang="zh-CN" dirty="0">
                    <a:solidFill>
                      <a:srgbClr val="C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B.</a:t>
                </a:r>
                <a:r>
                  <a:rPr lang="zh-CN" altLang="en-US" dirty="0">
                    <a:solidFill>
                      <a:srgbClr val="C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 dirty="0" smtClean="0">
                            <a:solidFill>
                              <a:srgbClr val="C00000"/>
                            </a:solidFill>
                            <a:latin typeface="Cambria Math" charset="0"/>
                            <a:cs typeface="Calibri" panose="020F0502020204030204" pitchFamily="34" charset="0"/>
                          </a:rPr>
                        </m:ctrlPr>
                      </m:fPr>
                      <m:num>
                        <m:r>
                          <a:rPr lang="en-US" altLang="zh-CN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1</m:t>
                        </m:r>
                      </m:num>
                      <m:den>
                        <m:r>
                          <a:rPr lang="en-US" altLang="zh-CN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24</m:t>
                        </m:r>
                      </m:den>
                    </m:f>
                  </m:oMath>
                </a14:m>
                <a:r>
                  <a:rPr lang="zh-CN" altLang="en-US" dirty="0">
                    <a:solidFill>
                      <a:srgbClr val="C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  </a:t>
                </a:r>
                <a:r>
                  <a:rPr lang="en-US" altLang="zh-CN" dirty="0">
                    <a:solidFill>
                      <a:srgbClr val="C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C.</a:t>
                </a:r>
                <a:r>
                  <a:rPr lang="zh-CN" altLang="en-US" dirty="0">
                    <a:solidFill>
                      <a:srgbClr val="C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 dirty="0" smtClean="0">
                            <a:solidFill>
                              <a:srgbClr val="C00000"/>
                            </a:solidFill>
                            <a:latin typeface="Cambria Math" charset="0"/>
                            <a:cs typeface="Calibri" panose="020F0502020204030204" pitchFamily="34" charset="0"/>
                          </a:rPr>
                        </m:ctrlPr>
                      </m:fPr>
                      <m:num>
                        <m:r>
                          <a:rPr lang="en-US" altLang="zh-CN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1</m:t>
                        </m:r>
                      </m:num>
                      <m:den>
                        <m:r>
                          <a:rPr lang="en-US" altLang="zh-CN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6</m:t>
                        </m:r>
                      </m:den>
                    </m:f>
                  </m:oMath>
                </a14:m>
                <a:endParaRPr lang="en-US" altLang="zh-CN" dirty="0">
                  <a:solidFill>
                    <a:srgbClr val="C0000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8A87BD7F-747E-8C4F-8EDA-C77D4690D69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7975" y="1984715"/>
                <a:ext cx="3333433" cy="787267"/>
              </a:xfrm>
              <a:prstGeom prst="rect">
                <a:avLst/>
              </a:prstGeom>
              <a:blipFill>
                <a:blip r:embed="rId9"/>
                <a:stretch>
                  <a:fillRect l="-1136" t="-64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Rectangle 22">
            <a:extLst>
              <a:ext uri="{FF2B5EF4-FFF2-40B4-BE49-F238E27FC236}">
                <a16:creationId xmlns:a16="http://schemas.microsoft.com/office/drawing/2014/main" xmlns="" id="{A1BD88AA-8A29-8143-892A-382BB9A236B6}"/>
              </a:ext>
            </a:extLst>
          </p:cNvPr>
          <p:cNvSpPr/>
          <p:nvPr/>
        </p:nvSpPr>
        <p:spPr>
          <a:xfrm>
            <a:off x="4764172" y="1927165"/>
            <a:ext cx="64312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000000"/>
                </a:solidFill>
                <a:latin typeface="Helvetica Neue" charset="0"/>
              </a:rPr>
              <a:t>🔔</a:t>
            </a:r>
            <a:r>
              <a:rPr lang="zh-CN" altLang="en-US" sz="2800" dirty="0">
                <a:solidFill>
                  <a:srgbClr val="000000"/>
                </a:solidFill>
                <a:latin typeface="Helvetica Neue" charset="0"/>
              </a:rPr>
              <a:t> 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9313682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  <p:bldP spid="8" grpId="0" animBg="1"/>
      <p:bldP spid="9" grpId="0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Louvain</a:t>
            </a:r>
            <a:r>
              <a:rPr lang="zh-CN" altLang="en-US" dirty="0"/>
              <a:t>算法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819148"/>
                <a:ext cx="8229600" cy="3065517"/>
              </a:xfrm>
            </p:spPr>
            <p:txBody>
              <a:bodyPr>
                <a:normAutofit/>
              </a:bodyPr>
              <a:lstStyle/>
              <a:p>
                <a:r>
                  <a:rPr lang="en-US" altLang="zh-CN" dirty="0" smtClean="0"/>
                  <a:t>Phase 1</a:t>
                </a:r>
                <a:r>
                  <a:rPr lang="zh-CN" altLang="zh-CN" dirty="0"/>
                  <a:t>：以局部方式，优化模块度函数，将每个顶点归到</a:t>
                </a:r>
                <a:r>
                  <a:rPr lang="en-US" altLang="zh-CN" dirty="0"/>
                  <a:t>“</a:t>
                </a:r>
                <a:r>
                  <a:rPr lang="zh-CN" altLang="zh-CN" dirty="0"/>
                  <a:t>最好</a:t>
                </a:r>
                <a:r>
                  <a:rPr lang="en-US" altLang="zh-CN" dirty="0"/>
                  <a:t>”</a:t>
                </a:r>
                <a:r>
                  <a:rPr lang="zh-CN" altLang="zh-CN" dirty="0"/>
                  <a:t>的类簇中，直到所有的顶点所属的类簇不再变化为止</a:t>
                </a:r>
                <a:r>
                  <a:rPr lang="zh-CN" altLang="en-US" dirty="0"/>
                  <a:t> </a:t>
                </a:r>
                <a:r>
                  <a:rPr lang="mr-IN" altLang="zh-CN" dirty="0"/>
                  <a:t>–</a:t>
                </a:r>
                <a:r>
                  <a:rPr lang="zh-CN" altLang="en-US" dirty="0"/>
                  <a:t> </a:t>
                </a:r>
                <a:r>
                  <a:rPr lang="en-US" altLang="zh-CN" b="1" dirty="0" err="1">
                    <a:solidFill>
                      <a:srgbClr val="C00000"/>
                    </a:solidFill>
                    <a:latin typeface="Courier New" charset="0"/>
                    <a:ea typeface="Courier New" charset="0"/>
                    <a:cs typeface="Courier New" charset="0"/>
                  </a:rPr>
                  <a:t>one_level</a:t>
                </a:r>
                <a:endParaRPr lang="en-US" dirty="0"/>
              </a:p>
              <a:p>
                <a:r>
                  <a:rPr lang="zh-CN" altLang="en-US" dirty="0">
                    <a:latin typeface="Microsoft YaHei" charset="-122"/>
                    <a:ea typeface="Microsoft YaHei" charset="-122"/>
                    <a:cs typeface="Microsoft YaHei" charset="-122"/>
                  </a:rPr>
                  <a:t>如何计算将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charset="0"/>
                        <a:ea typeface="Microsoft YaHei" charset="-122"/>
                        <a:cs typeface="Microsoft YaHei" charset="-122"/>
                      </a:rPr>
                      <m:t>𝑖</m:t>
                    </m:r>
                  </m:oMath>
                </a14:m>
                <a:r>
                  <a:rPr lang="zh-CN" altLang="en-US" dirty="0">
                    <a:latin typeface="Microsoft YaHei" charset="-122"/>
                    <a:ea typeface="Microsoft YaHei" charset="-122"/>
                    <a:cs typeface="Microsoft YaHei" charset="-122"/>
                  </a:rPr>
                  <a:t>合并到社区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charset="0"/>
                        <a:ea typeface="Microsoft YaHei" charset="-122"/>
                        <a:cs typeface="Microsoft YaHei" charset="-122"/>
                      </a:rPr>
                      <m:t>𝐶</m:t>
                    </m:r>
                  </m:oMath>
                </a14:m>
                <a:r>
                  <a:rPr lang="zh-CN" altLang="en-US" dirty="0">
                    <a:latin typeface="Microsoft YaHei" charset="-122"/>
                    <a:ea typeface="Microsoft YaHei" charset="-122"/>
                    <a:cs typeface="Microsoft YaHei" charset="-122"/>
                  </a:rPr>
                  <a:t>中的</a:t>
                </a:r>
                <a:r>
                  <a:rPr lang="en-US" altLang="zh-CN" dirty="0">
                    <a:latin typeface="Microsoft YaHei" charset="-122"/>
                    <a:ea typeface="Microsoft YaHei" charset="-122"/>
                    <a:cs typeface="Microsoft YaHei" charset="-122"/>
                  </a:rPr>
                  <a:t>modularity</a:t>
                </a:r>
                <a:r>
                  <a:rPr lang="zh-CN" altLang="en-US" dirty="0">
                    <a:latin typeface="Microsoft YaHei" charset="-122"/>
                    <a:ea typeface="Microsoft YaHei" charset="-122"/>
                    <a:cs typeface="Microsoft YaHei" charset="-122"/>
                  </a:rPr>
                  <a:t>增益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>
                        <a:latin typeface="Cambria Math" charset="0"/>
                        <a:ea typeface="Microsoft YaHei" charset="-122"/>
                        <a:cs typeface="Microsoft YaHei" charset="-122"/>
                      </a:rPr>
                      <m:t>Δ</m:t>
                    </m:r>
                    <m:r>
                      <a:rPr lang="en-US" altLang="zh-CN" i="1">
                        <a:latin typeface="Cambria Math" charset="0"/>
                        <a:ea typeface="Microsoft YaHei" charset="-122"/>
                        <a:cs typeface="Microsoft YaHei" charset="-122"/>
                      </a:rPr>
                      <m:t>𝑄</m:t>
                    </m:r>
                  </m:oMath>
                </a14:m>
                <a:r>
                  <a:rPr lang="zh-CN" altLang="en-US" dirty="0">
                    <a:latin typeface="Microsoft YaHei" charset="-122"/>
                    <a:ea typeface="Microsoft YaHei" charset="-122"/>
                    <a:cs typeface="Microsoft YaHei" charset="-122"/>
                  </a:rPr>
                  <a:t>？</a:t>
                </a:r>
                <a:endParaRPr lang="en-US" altLang="zh-CN" dirty="0">
                  <a:latin typeface="Microsoft YaHei" charset="-122"/>
                  <a:ea typeface="Microsoft YaHei" charset="-122"/>
                  <a:cs typeface="Microsoft YaHei" charset="-122"/>
                </a:endParaRPr>
              </a:p>
              <a:p>
                <a:pPr lvl="1"/>
                <a:r>
                  <a:rPr lang="zh-CN" altLang="en-US" dirty="0">
                    <a:latin typeface="Microsoft YaHei" charset="-122"/>
                    <a:ea typeface="Microsoft YaHei" charset="-122"/>
                    <a:cs typeface="Microsoft YaHei" charset="-122"/>
                  </a:rPr>
                  <a:t>计算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b="0" i="0" smtClean="0">
                        <a:latin typeface="Cambria Math" panose="02040503050406030204" pitchFamily="18" charset="0"/>
                        <a:ea typeface="Microsoft YaHei" charset="-122"/>
                        <a:cs typeface="Microsoft YaHei" charset="-122"/>
                      </a:rPr>
                      <m:t>Δ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Microsoft YaHei" charset="-122"/>
                        <a:cs typeface="Microsoft YaHei" charset="-122"/>
                      </a:rPr>
                      <m:t>𝑄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Microsoft YaHei" charset="-122"/>
                        <a:cs typeface="Microsoft YaHei" charset="-122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Microsoft YaHei" charset="-122"/>
                        <a:cs typeface="Microsoft YaHei" charset="-122"/>
                      </a:rPr>
                      <m:t>𝑖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Microsoft YaHei" charset="-122"/>
                        <a:cs typeface="Microsoft YaHei" charset="-122"/>
                      </a:rPr>
                      <m:t>→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Microsoft YaHei" charset="-122"/>
                        <a:cs typeface="Microsoft YaHei" charset="-122"/>
                      </a:rPr>
                      <m:t>𝐶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Microsoft YaHei" charset="-122"/>
                        <a:cs typeface="Microsoft YaHei" charset="-122"/>
                      </a:rPr>
                      <m:t>)</m:t>
                    </m:r>
                  </m:oMath>
                </a14:m>
                <a:endParaRPr lang="en-US" dirty="0">
                  <a:latin typeface="Microsoft YaHei" charset="-122"/>
                  <a:ea typeface="Microsoft YaHei" charset="-122"/>
                  <a:cs typeface="Microsoft YaHei" charset="-122"/>
                </a:endParaRPr>
              </a:p>
              <a:p>
                <a:pPr lvl="1"/>
                <a:r>
                  <a:rPr lang="zh-CN" altLang="en-US" dirty="0">
                    <a:latin typeface="Microsoft YaHei" charset="-122"/>
                    <a:ea typeface="Microsoft YaHei" charset="-122"/>
                    <a:cs typeface="Microsoft YaHei" charset="-122"/>
                  </a:rPr>
                  <a:t>计算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  <a:ea typeface="Microsoft YaHei" charset="-122"/>
                        <a:cs typeface="Microsoft YaHei" charset="-122"/>
                      </a:rPr>
                      <m:t>Δ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Microsoft YaHei" charset="-122"/>
                        <a:cs typeface="Microsoft YaHei" charset="-122"/>
                      </a:rPr>
                      <m:t>𝑄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Microsoft YaHei" charset="-122"/>
                        <a:cs typeface="Microsoft YaHei" charset="-122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Microsoft YaHei" charset="-122"/>
                        <a:cs typeface="Microsoft YaHei" charset="-122"/>
                      </a:rPr>
                      <m:t>𝐷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Microsoft YaHei" charset="-122"/>
                        <a:cs typeface="Microsoft YaHei" charset="-122"/>
                      </a:rPr>
                      <m:t>→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Microsoft YaHei" charset="-122"/>
                        <a:cs typeface="Microsoft YaHei" charset="-122"/>
                      </a:rPr>
                      <m:t>𝑖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Microsoft YaHei" charset="-122"/>
                        <a:cs typeface="Microsoft YaHei" charset="-122"/>
                      </a:rPr>
                      <m:t>)</m:t>
                    </m:r>
                  </m:oMath>
                </a14:m>
                <a:r>
                  <a:rPr lang="zh-CN" altLang="en-US" dirty="0">
                    <a:latin typeface="Microsoft YaHei" charset="-122"/>
                    <a:ea typeface="Microsoft YaHei" charset="-122"/>
                    <a:cs typeface="Microsoft YaHei" charset="-122"/>
                  </a:rPr>
                  <a:t>，即将节点</a:t>
                </a:r>
                <a14:m>
                  <m:oMath xmlns:m="http://schemas.openxmlformats.org/officeDocument/2006/math">
                    <m:r>
                      <a:rPr lang="zh-CN" altLang="en-US" b="0" i="0" dirty="0" smtClean="0">
                        <a:latin typeface="Cambria Math" charset="0"/>
                        <a:ea typeface="Microsoft YaHei" charset="-122"/>
                        <a:cs typeface="Microsoft YaHei" charset="-122"/>
                      </a:rPr>
                      <m:t> 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Microsoft YaHei" charset="-122"/>
                        <a:cs typeface="Microsoft YaHei" charset="-122"/>
                      </a:rPr>
                      <m:t>𝑖</m:t>
                    </m:r>
                  </m:oMath>
                </a14:m>
                <a:r>
                  <a:rPr lang="zh-CN" altLang="en-US" dirty="0">
                    <a:latin typeface="Microsoft YaHei" charset="-122"/>
                    <a:ea typeface="Microsoft YaHei" charset="-122"/>
                    <a:cs typeface="Microsoft YaHei" charset="-122"/>
                  </a:rPr>
                  <a:t>移除原本的社区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Microsoft YaHei" charset="-122"/>
                        <a:cs typeface="Microsoft YaHei" charset="-122"/>
                      </a:rPr>
                      <m:t>𝐷</m:t>
                    </m:r>
                  </m:oMath>
                </a14:m>
                <a:endParaRPr lang="en-US" dirty="0">
                  <a:latin typeface="Microsoft YaHei" charset="-122"/>
                  <a:ea typeface="Microsoft YaHei" charset="-122"/>
                  <a:cs typeface="Microsoft YaHei" charset="-122"/>
                </a:endParaRPr>
              </a:p>
              <a:p>
                <a:pPr lvl="2"/>
                <a:r>
                  <a:rPr lang="zh-CN" altLang="en-US" dirty="0">
                    <a:latin typeface="Microsoft YaHei" charset="-122"/>
                    <a:ea typeface="Microsoft YaHei" charset="-122"/>
                    <a:cs typeface="Microsoft YaHei" charset="-122"/>
                  </a:rPr>
                  <a:t>请你推导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  <a:ea typeface="Microsoft YaHei" charset="-122"/>
                        <a:cs typeface="Microsoft YaHei" charset="-122"/>
                      </a:rPr>
                      <m:t>Δ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Microsoft YaHei" charset="-122"/>
                        <a:cs typeface="Microsoft YaHei" charset="-122"/>
                      </a:rPr>
                      <m:t>𝑄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Microsoft YaHei" charset="-122"/>
                        <a:cs typeface="Microsoft YaHei" charset="-122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Microsoft YaHei" charset="-122"/>
                        <a:cs typeface="Microsoft YaHei" charset="-122"/>
                      </a:rPr>
                      <m:t>𝐷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Microsoft YaHei" charset="-122"/>
                        <a:cs typeface="Microsoft YaHei" charset="-122"/>
                      </a:rPr>
                      <m:t>→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Microsoft YaHei" charset="-122"/>
                        <a:cs typeface="Microsoft YaHei" charset="-122"/>
                      </a:rPr>
                      <m:t>𝑖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Microsoft YaHei" charset="-122"/>
                        <a:cs typeface="Microsoft YaHei" charset="-122"/>
                      </a:rPr>
                      <m:t>)</m:t>
                    </m:r>
                  </m:oMath>
                </a14:m>
                <a:endParaRPr lang="en-US" dirty="0">
                  <a:latin typeface="Microsoft YaHei" charset="-122"/>
                  <a:ea typeface="Microsoft YaHei" charset="-122"/>
                  <a:cs typeface="Microsoft YaHei" charset="-122"/>
                </a:endParaRPr>
              </a:p>
              <a:p>
                <a:pPr lvl="1"/>
                <a:endParaRPr lang="en-US" altLang="zh-CN" b="0" i="0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altLang="zh-CN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altLang="zh-CN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altLang="zh-CN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en-US" altLang="zh-CN" b="0" i="1" smtClean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US" altLang="zh-CN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a:rPr lang="en-US" altLang="zh-CN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zh-CN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altLang="zh-CN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altLang="zh-CN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altLang="zh-CN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altLang="zh-CN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819148"/>
                <a:ext cx="8229600" cy="3065517"/>
              </a:xfrm>
              <a:blipFill rotWithShape="0">
                <a:blip r:embed="rId2"/>
                <a:stretch>
                  <a:fillRect l="-667" t="-9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90071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Louvain</a:t>
            </a:r>
            <a:r>
              <a:rPr lang="zh-CN" altLang="en-US" dirty="0"/>
              <a:t>算法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19150"/>
            <a:ext cx="8229600" cy="731353"/>
          </a:xfrm>
        </p:spPr>
        <p:txBody>
          <a:bodyPr/>
          <a:lstStyle/>
          <a:p>
            <a:r>
              <a:rPr lang="en-US" altLang="zh-CN" dirty="0"/>
              <a:t>Phase 2</a:t>
            </a:r>
            <a:r>
              <a:rPr lang="zh-CN" altLang="zh-CN" dirty="0"/>
              <a:t>：把一个类簇中的所有顶点聚集抽象为一</a:t>
            </a:r>
            <a:r>
              <a:rPr lang="zh-CN" altLang="zh-CN" dirty="0" smtClean="0"/>
              <a:t>个</a:t>
            </a:r>
            <a:r>
              <a:rPr lang="zh-CN" altLang="en-US" dirty="0" smtClean="0">
                <a:solidFill>
                  <a:srgbClr val="FF0000"/>
                </a:solidFill>
              </a:rPr>
              <a:t>超级</a:t>
            </a:r>
            <a:r>
              <a:rPr lang="zh-CN" altLang="zh-CN" dirty="0" smtClean="0">
                <a:solidFill>
                  <a:srgbClr val="FF0000"/>
                </a:solidFill>
              </a:rPr>
              <a:t>顶点</a:t>
            </a:r>
            <a:r>
              <a:rPr lang="zh-CN" altLang="zh-CN" dirty="0"/>
              <a:t>，重建一个网络，其中的每个顶点对应一个社区</a:t>
            </a:r>
            <a:r>
              <a:rPr lang="zh-CN" altLang="en-US" dirty="0"/>
              <a:t> </a:t>
            </a:r>
            <a:r>
              <a:rPr lang="mr-IN" altLang="zh-CN" dirty="0"/>
              <a:t>–</a:t>
            </a:r>
            <a:r>
              <a:rPr lang="zh-CN" altLang="en-US" dirty="0"/>
              <a:t> </a:t>
            </a:r>
            <a:r>
              <a:rPr lang="en-US" altLang="zh-CN" b="1" dirty="0" err="1">
                <a:solidFill>
                  <a:srgbClr val="C00000"/>
                </a:solidFill>
                <a:latin typeface="Courier New" charset="0"/>
                <a:ea typeface="Courier New" charset="0"/>
                <a:cs typeface="Courier New" charset="0"/>
              </a:rPr>
              <a:t>induced_graph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4746" y="1550503"/>
            <a:ext cx="5534507" cy="3193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0411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Independent</a:t>
            </a:r>
            <a:r>
              <a:rPr lang="zh-CN" altLang="en-US" dirty="0"/>
              <a:t> </a:t>
            </a:r>
            <a:r>
              <a:rPr lang="en-US" altLang="zh-CN" dirty="0"/>
              <a:t>Cascades</a:t>
            </a:r>
            <a:r>
              <a:rPr lang="zh-CN" altLang="en-US" dirty="0"/>
              <a:t>模型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19150"/>
            <a:ext cx="8229600" cy="1094056"/>
          </a:xfrm>
        </p:spPr>
        <p:txBody>
          <a:bodyPr/>
          <a:lstStyle/>
          <a:p>
            <a:r>
              <a:rPr lang="zh-CN" altLang="en-US" dirty="0"/>
              <a:t>影响力最大化</a:t>
            </a:r>
            <a:r>
              <a:rPr lang="en-US" altLang="zh-CN" dirty="0"/>
              <a:t>Influence Maximization</a:t>
            </a:r>
          </a:p>
          <a:p>
            <a:pPr lvl="1"/>
            <a:r>
              <a:rPr lang="zh-CN" altLang="en-US" dirty="0"/>
              <a:t>找到信息传播中的“关键种子节点”</a:t>
            </a:r>
            <a:endParaRPr lang="en-US" dirty="0"/>
          </a:p>
        </p:txBody>
      </p:sp>
      <p:grpSp>
        <p:nvGrpSpPr>
          <p:cNvPr id="40" name="Group 39"/>
          <p:cNvGrpSpPr/>
          <p:nvPr/>
        </p:nvGrpSpPr>
        <p:grpSpPr>
          <a:xfrm>
            <a:off x="1196715" y="1706163"/>
            <a:ext cx="3567057" cy="2876576"/>
            <a:chOff x="961274" y="1581124"/>
            <a:chExt cx="3994183" cy="3221023"/>
          </a:xfrm>
        </p:grpSpPr>
        <p:grpSp>
          <p:nvGrpSpPr>
            <p:cNvPr id="4" name="Group 3"/>
            <p:cNvGrpSpPr/>
            <p:nvPr/>
          </p:nvGrpSpPr>
          <p:grpSpPr>
            <a:xfrm>
              <a:off x="1346695" y="1581124"/>
              <a:ext cx="3608762" cy="3221023"/>
              <a:chOff x="3405180" y="3720708"/>
              <a:chExt cx="3608762" cy="3221023"/>
            </a:xfrm>
          </p:grpSpPr>
          <p:sp>
            <p:nvSpPr>
              <p:cNvPr id="5" name="Oval 4"/>
              <p:cNvSpPr/>
              <p:nvPr/>
            </p:nvSpPr>
            <p:spPr>
              <a:xfrm>
                <a:off x="3405181" y="4676964"/>
                <a:ext cx="381837" cy="381837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dirty="0"/>
                  <a:t>2</a:t>
                </a:r>
              </a:p>
            </p:txBody>
          </p:sp>
          <p:sp>
            <p:nvSpPr>
              <p:cNvPr id="6" name="Oval 5"/>
              <p:cNvSpPr/>
              <p:nvPr/>
            </p:nvSpPr>
            <p:spPr>
              <a:xfrm>
                <a:off x="4490400" y="4673057"/>
                <a:ext cx="381837" cy="381837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dirty="0"/>
                  <a:t>1</a:t>
                </a:r>
              </a:p>
            </p:txBody>
          </p:sp>
          <p:sp>
            <p:nvSpPr>
              <p:cNvPr id="7" name="Oval 6"/>
              <p:cNvSpPr/>
              <p:nvPr/>
            </p:nvSpPr>
            <p:spPr>
              <a:xfrm>
                <a:off x="4492075" y="5625405"/>
                <a:ext cx="381837" cy="381837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dirty="0"/>
                  <a:t>3</a:t>
                </a:r>
              </a:p>
            </p:txBody>
          </p:sp>
          <p:sp>
            <p:nvSpPr>
              <p:cNvPr id="8" name="Oval 7"/>
              <p:cNvSpPr/>
              <p:nvPr/>
            </p:nvSpPr>
            <p:spPr>
              <a:xfrm>
                <a:off x="5562091" y="6559894"/>
                <a:ext cx="381837" cy="381837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dirty="0"/>
                  <a:t>6</a:t>
                </a:r>
              </a:p>
            </p:txBody>
          </p:sp>
          <p:sp>
            <p:nvSpPr>
              <p:cNvPr id="9" name="Oval 8"/>
              <p:cNvSpPr/>
              <p:nvPr/>
            </p:nvSpPr>
            <p:spPr>
              <a:xfrm>
                <a:off x="3405180" y="5625401"/>
                <a:ext cx="381837" cy="381837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dirty="0"/>
                  <a:t>5</a:t>
                </a:r>
              </a:p>
            </p:txBody>
          </p:sp>
          <p:sp>
            <p:nvSpPr>
              <p:cNvPr id="10" name="Oval 9"/>
              <p:cNvSpPr/>
              <p:nvPr/>
            </p:nvSpPr>
            <p:spPr>
              <a:xfrm>
                <a:off x="5562090" y="5625399"/>
                <a:ext cx="381837" cy="381837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dirty="0"/>
                  <a:t>7</a:t>
                </a:r>
              </a:p>
            </p:txBody>
          </p:sp>
          <p:sp>
            <p:nvSpPr>
              <p:cNvPr id="11" name="Oval 10"/>
              <p:cNvSpPr/>
              <p:nvPr/>
            </p:nvSpPr>
            <p:spPr>
              <a:xfrm>
                <a:off x="6632105" y="5625399"/>
                <a:ext cx="381837" cy="381837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dirty="0"/>
                  <a:t>8</a:t>
                </a:r>
              </a:p>
            </p:txBody>
          </p:sp>
          <p:sp>
            <p:nvSpPr>
              <p:cNvPr id="12" name="Oval 11"/>
              <p:cNvSpPr/>
              <p:nvPr/>
            </p:nvSpPr>
            <p:spPr>
              <a:xfrm>
                <a:off x="4490401" y="3720709"/>
                <a:ext cx="381837" cy="381837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dirty="0"/>
                  <a:t>9</a:t>
                </a:r>
              </a:p>
            </p:txBody>
          </p:sp>
          <p:sp>
            <p:nvSpPr>
              <p:cNvPr id="13" name="Oval 12"/>
              <p:cNvSpPr/>
              <p:nvPr/>
            </p:nvSpPr>
            <p:spPr>
              <a:xfrm>
                <a:off x="3405180" y="3720708"/>
                <a:ext cx="381837" cy="381837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dirty="0"/>
                  <a:t>4</a:t>
                </a:r>
              </a:p>
            </p:txBody>
          </p:sp>
          <p:cxnSp>
            <p:nvCxnSpPr>
              <p:cNvPr id="14" name="Straight Arrow Connector 13"/>
              <p:cNvCxnSpPr>
                <a:stCxn id="17" idx="2"/>
                <a:endCxn id="16" idx="6"/>
              </p:cNvCxnSpPr>
              <p:nvPr/>
            </p:nvCxnSpPr>
            <p:spPr>
              <a:xfrm flipH="1">
                <a:off x="3787018" y="4863976"/>
                <a:ext cx="703382" cy="3907"/>
              </a:xfrm>
              <a:prstGeom prst="straightConnector1">
                <a:avLst/>
              </a:prstGeom>
              <a:ln w="19050">
                <a:tailEnd type="triangle" w="lg" len="lg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" name="Straight Arrow Connector 14"/>
              <p:cNvCxnSpPr>
                <a:stCxn id="17" idx="1"/>
                <a:endCxn id="25" idx="5"/>
              </p:cNvCxnSpPr>
              <p:nvPr/>
            </p:nvCxnSpPr>
            <p:spPr>
              <a:xfrm flipH="1" flipV="1">
                <a:off x="3731098" y="4046626"/>
                <a:ext cx="815221" cy="682350"/>
              </a:xfrm>
              <a:prstGeom prst="straightConnector1">
                <a:avLst/>
              </a:prstGeom>
              <a:ln w="19050">
                <a:tailEnd type="triangle" w="lg" len="lg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" name="Straight Arrow Connector 15"/>
              <p:cNvCxnSpPr>
                <a:stCxn id="24" idx="4"/>
                <a:endCxn id="17" idx="0"/>
              </p:cNvCxnSpPr>
              <p:nvPr/>
            </p:nvCxnSpPr>
            <p:spPr>
              <a:xfrm flipH="1">
                <a:off x="4681319" y="4102546"/>
                <a:ext cx="1" cy="570511"/>
              </a:xfrm>
              <a:prstGeom prst="straightConnector1">
                <a:avLst/>
              </a:prstGeom>
              <a:ln w="19050">
                <a:tailEnd type="triangle" w="lg" len="lg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" name="Straight Arrow Connector 16"/>
              <p:cNvCxnSpPr>
                <a:stCxn id="16" idx="0"/>
                <a:endCxn id="25" idx="4"/>
              </p:cNvCxnSpPr>
              <p:nvPr/>
            </p:nvCxnSpPr>
            <p:spPr>
              <a:xfrm flipH="1" flipV="1">
                <a:off x="3596099" y="4102545"/>
                <a:ext cx="1" cy="574419"/>
              </a:xfrm>
              <a:prstGeom prst="straightConnector1">
                <a:avLst/>
              </a:prstGeom>
              <a:ln w="19050">
                <a:tailEnd type="triangle" w="lg" len="lg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" name="Straight Arrow Connector 17"/>
              <p:cNvCxnSpPr>
                <a:stCxn id="16" idx="4"/>
                <a:endCxn id="20" idx="0"/>
              </p:cNvCxnSpPr>
              <p:nvPr/>
            </p:nvCxnSpPr>
            <p:spPr>
              <a:xfrm flipH="1">
                <a:off x="3596099" y="5058801"/>
                <a:ext cx="1" cy="566600"/>
              </a:xfrm>
              <a:prstGeom prst="straightConnector1">
                <a:avLst/>
              </a:prstGeom>
              <a:ln w="19050">
                <a:tailEnd type="triangle" w="lg" len="lg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9" name="Straight Arrow Connector 18"/>
              <p:cNvCxnSpPr>
                <a:stCxn id="18" idx="0"/>
                <a:endCxn id="17" idx="4"/>
              </p:cNvCxnSpPr>
              <p:nvPr/>
            </p:nvCxnSpPr>
            <p:spPr>
              <a:xfrm flipH="1" flipV="1">
                <a:off x="4681319" y="5054894"/>
                <a:ext cx="1675" cy="570511"/>
              </a:xfrm>
              <a:prstGeom prst="straightConnector1">
                <a:avLst/>
              </a:prstGeom>
              <a:ln w="19050">
                <a:tailEnd type="triangle" w="lg" len="lg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" name="Straight Arrow Connector 19"/>
              <p:cNvCxnSpPr>
                <a:stCxn id="19" idx="1"/>
                <a:endCxn id="18" idx="5"/>
              </p:cNvCxnSpPr>
              <p:nvPr/>
            </p:nvCxnSpPr>
            <p:spPr>
              <a:xfrm flipH="1" flipV="1">
                <a:off x="4817993" y="5951323"/>
                <a:ext cx="800017" cy="664490"/>
              </a:xfrm>
              <a:prstGeom prst="straightConnector1">
                <a:avLst/>
              </a:prstGeom>
              <a:ln w="19050">
                <a:tailEnd type="triangle" w="lg" len="lg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" name="Straight Arrow Connector 20"/>
              <p:cNvCxnSpPr>
                <a:stCxn id="21" idx="4"/>
                <a:endCxn id="19" idx="0"/>
              </p:cNvCxnSpPr>
              <p:nvPr/>
            </p:nvCxnSpPr>
            <p:spPr>
              <a:xfrm>
                <a:off x="5753009" y="6007236"/>
                <a:ext cx="1" cy="552658"/>
              </a:xfrm>
              <a:prstGeom prst="straightConnector1">
                <a:avLst/>
              </a:prstGeom>
              <a:ln w="19050">
                <a:tailEnd type="triangle" w="lg" len="lg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" name="Straight Arrow Connector 21"/>
              <p:cNvCxnSpPr>
                <a:stCxn id="18" idx="6"/>
                <a:endCxn id="21" idx="2"/>
              </p:cNvCxnSpPr>
              <p:nvPr/>
            </p:nvCxnSpPr>
            <p:spPr>
              <a:xfrm flipV="1">
                <a:off x="4873912" y="5816318"/>
                <a:ext cx="688178" cy="6"/>
              </a:xfrm>
              <a:prstGeom prst="straightConnector1">
                <a:avLst/>
              </a:prstGeom>
              <a:ln w="19050">
                <a:tailEnd type="triangle" w="lg" len="lg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3" name="Straight Arrow Connector 22"/>
              <p:cNvCxnSpPr>
                <a:stCxn id="21" idx="6"/>
                <a:endCxn id="22" idx="2"/>
              </p:cNvCxnSpPr>
              <p:nvPr/>
            </p:nvCxnSpPr>
            <p:spPr>
              <a:xfrm>
                <a:off x="5943927" y="5816318"/>
                <a:ext cx="688178" cy="0"/>
              </a:xfrm>
              <a:prstGeom prst="straightConnector1">
                <a:avLst/>
              </a:prstGeom>
              <a:ln w="19050">
                <a:tailEnd type="triangle" w="lg" len="lg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4" name="Straight Arrow Connector 23"/>
              <p:cNvCxnSpPr>
                <a:stCxn id="16" idx="5"/>
                <a:endCxn id="18" idx="1"/>
              </p:cNvCxnSpPr>
              <p:nvPr/>
            </p:nvCxnSpPr>
            <p:spPr>
              <a:xfrm>
                <a:off x="3731099" y="5002882"/>
                <a:ext cx="816895" cy="678442"/>
              </a:xfrm>
              <a:prstGeom prst="straightConnector1">
                <a:avLst/>
              </a:prstGeom>
              <a:ln w="19050">
                <a:tailEnd type="triangle" w="lg" len="lg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5" name="Straight Arrow Connector 24"/>
              <p:cNvCxnSpPr>
                <a:stCxn id="20" idx="6"/>
                <a:endCxn id="18" idx="2"/>
              </p:cNvCxnSpPr>
              <p:nvPr/>
            </p:nvCxnSpPr>
            <p:spPr>
              <a:xfrm>
                <a:off x="3787017" y="5816320"/>
                <a:ext cx="705058" cy="4"/>
              </a:xfrm>
              <a:prstGeom prst="straightConnector1">
                <a:avLst/>
              </a:prstGeom>
              <a:ln w="19050">
                <a:tailEnd type="triangle" w="lg" len="lg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6" name="TextBox 25"/>
            <p:cNvSpPr txBox="1"/>
            <p:nvPr/>
          </p:nvSpPr>
          <p:spPr>
            <a:xfrm>
              <a:off x="1980084" y="2831833"/>
              <a:ext cx="4764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mtClean="0">
                  <a:latin typeface="Calibri" charset="0"/>
                  <a:ea typeface="Calibri" charset="0"/>
                  <a:cs typeface="Calibri" charset="0"/>
                </a:rPr>
                <a:t>0.9</a:t>
              </a:r>
              <a:endParaRPr lang="en-US">
                <a:latin typeface="Calibri" charset="0"/>
                <a:ea typeface="Calibri" charset="0"/>
                <a:cs typeface="Calibri" charset="0"/>
              </a:endParaRP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965743" y="2069414"/>
              <a:ext cx="4764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latin typeface="Calibri" charset="0"/>
                  <a:ea typeface="Calibri" charset="0"/>
                  <a:cs typeface="Calibri" charset="0"/>
                </a:rPr>
                <a:t>0.3</a:t>
              </a:r>
              <a:endParaRPr lang="en-US" dirty="0">
                <a:latin typeface="Calibri" charset="0"/>
                <a:ea typeface="Calibri" charset="0"/>
                <a:cs typeface="Calibri" charset="0"/>
              </a:endParaRP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961274" y="2949276"/>
              <a:ext cx="4764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mtClean="0">
                  <a:latin typeface="Calibri" charset="0"/>
                  <a:ea typeface="Calibri" charset="0"/>
                  <a:cs typeface="Calibri" charset="0"/>
                </a:rPr>
                <a:t>0.7</a:t>
              </a:r>
              <a:endParaRPr lang="en-US" dirty="0">
                <a:latin typeface="Calibri" charset="0"/>
                <a:ea typeface="Calibri" charset="0"/>
                <a:cs typeface="Calibri" charset="0"/>
              </a:endParaRP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1842017" y="3774649"/>
              <a:ext cx="4764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latin typeface="Calibri" charset="0"/>
                  <a:ea typeface="Calibri" charset="0"/>
                  <a:cs typeface="Calibri" charset="0"/>
                </a:rPr>
                <a:t>0.5</a:t>
              </a:r>
              <a:endParaRPr lang="en-US" dirty="0">
                <a:latin typeface="Calibri" charset="0"/>
                <a:ea typeface="Calibri" charset="0"/>
                <a:cs typeface="Calibri" charset="0"/>
              </a:endParaRP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1878395" y="2363920"/>
              <a:ext cx="4764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latin typeface="Calibri" charset="0"/>
                  <a:ea typeface="Calibri" charset="0"/>
                  <a:cs typeface="Calibri" charset="0"/>
                </a:rPr>
                <a:t>0.1</a:t>
              </a:r>
              <a:endParaRPr lang="en-US" dirty="0">
                <a:latin typeface="Calibri" charset="0"/>
                <a:ea typeface="Calibri" charset="0"/>
                <a:cs typeface="Calibri" charset="0"/>
              </a:endParaRP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2642839" y="2003880"/>
              <a:ext cx="4764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latin typeface="Calibri" charset="0"/>
                  <a:ea typeface="Calibri" charset="0"/>
                  <a:cs typeface="Calibri" charset="0"/>
                </a:rPr>
                <a:t>0.8</a:t>
              </a:r>
              <a:endParaRPr lang="en-US" dirty="0">
                <a:latin typeface="Calibri" charset="0"/>
                <a:ea typeface="Calibri" charset="0"/>
                <a:cs typeface="Calibri" charset="0"/>
              </a:endParaRP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2066775" y="1941164"/>
              <a:ext cx="4764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latin typeface="Calibri" charset="0"/>
                  <a:ea typeface="Calibri" charset="0"/>
                  <a:cs typeface="Calibri" charset="0"/>
                </a:rPr>
                <a:t>0.2</a:t>
              </a:r>
              <a:endParaRPr lang="en-US" dirty="0">
                <a:latin typeface="Calibri" charset="0"/>
                <a:ea typeface="Calibri" charset="0"/>
                <a:cs typeface="Calibri" charset="0"/>
              </a:endParaRP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2642839" y="2949276"/>
              <a:ext cx="4764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latin typeface="Calibri" charset="0"/>
                  <a:ea typeface="Calibri" charset="0"/>
                  <a:cs typeface="Calibri" charset="0"/>
                </a:rPr>
                <a:t>0.9</a:t>
              </a:r>
              <a:endParaRPr lang="en-US" dirty="0">
                <a:latin typeface="Calibri" charset="0"/>
                <a:ea typeface="Calibri" charset="0"/>
                <a:cs typeface="Calibri" charset="0"/>
              </a:endParaRP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2930871" y="3300024"/>
              <a:ext cx="4764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latin typeface="Calibri" charset="0"/>
                  <a:ea typeface="Calibri" charset="0"/>
                  <a:cs typeface="Calibri" charset="0"/>
                </a:rPr>
                <a:t>0.8</a:t>
              </a:r>
              <a:endParaRPr lang="en-US" dirty="0">
                <a:latin typeface="Calibri" charset="0"/>
                <a:ea typeface="Calibri" charset="0"/>
                <a:cs typeface="Calibri" charset="0"/>
              </a:endParaRP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2814499" y="4101404"/>
              <a:ext cx="4764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mtClean="0">
                  <a:latin typeface="Calibri" charset="0"/>
                  <a:ea typeface="Calibri" charset="0"/>
                  <a:cs typeface="Calibri" charset="0"/>
                </a:rPr>
                <a:t>0.3</a:t>
              </a:r>
              <a:endParaRPr lang="en-US" dirty="0">
                <a:latin typeface="Calibri" charset="0"/>
                <a:ea typeface="Calibri" charset="0"/>
                <a:cs typeface="Calibri" charset="0"/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3966627" y="3669356"/>
              <a:ext cx="4764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latin typeface="Calibri" charset="0"/>
                  <a:ea typeface="Calibri" charset="0"/>
                  <a:cs typeface="Calibri" charset="0"/>
                </a:rPr>
                <a:t>0.7</a:t>
              </a:r>
              <a:endParaRPr lang="en-US" dirty="0">
                <a:latin typeface="Calibri" charset="0"/>
                <a:ea typeface="Calibri" charset="0"/>
                <a:cs typeface="Calibri" charset="0"/>
              </a:endParaRP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3722959" y="3957388"/>
              <a:ext cx="4764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latin typeface="Calibri" charset="0"/>
                  <a:ea typeface="Calibri" charset="0"/>
                  <a:cs typeface="Calibri" charset="0"/>
                </a:rPr>
                <a:t>0.8</a:t>
              </a:r>
              <a:endParaRPr lang="en-US" dirty="0">
                <a:latin typeface="Calibri" charset="0"/>
                <a:ea typeface="Calibri" charset="0"/>
                <a:cs typeface="Calibri" charset="0"/>
              </a:endParaRPr>
            </a:p>
          </p:txBody>
        </p:sp>
      </p:grpSp>
      <p:sp>
        <p:nvSpPr>
          <p:cNvPr id="38" name="Right Brace 37"/>
          <p:cNvSpPr/>
          <p:nvPr/>
        </p:nvSpPr>
        <p:spPr>
          <a:xfrm>
            <a:off x="5356954" y="2003673"/>
            <a:ext cx="423686" cy="2579066"/>
          </a:xfrm>
          <a:prstGeom prst="rightBrace">
            <a:avLst>
              <a:gd name="adj1" fmla="val 53586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Content Placeholder 2"/>
          <p:cNvSpPr txBox="1">
            <a:spLocks/>
          </p:cNvSpPr>
          <p:nvPr/>
        </p:nvSpPr>
        <p:spPr bwMode="auto">
          <a:xfrm>
            <a:off x="5780640" y="2703006"/>
            <a:ext cx="2961996" cy="12943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65125" indent="-282575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charset="2"/>
              <a:buChar char="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39763" indent="-236538" algn="l" rtl="0" eaLnBrk="0" fontAlgn="base" hangingPunct="0">
              <a:spcBef>
                <a:spcPts val="550"/>
              </a:spcBef>
              <a:spcAft>
                <a:spcPct val="0"/>
              </a:spcAft>
              <a:buClr>
                <a:schemeClr val="accent1"/>
              </a:buClr>
              <a:buFont typeface="Verdana" charset="0"/>
              <a:buChar char="◦"/>
              <a:defRPr sz="2800" kern="1200">
                <a:solidFill>
                  <a:srgbClr val="0000CC"/>
                </a:solidFill>
                <a:latin typeface="+mn-lt"/>
                <a:ea typeface="+mn-ea"/>
                <a:cs typeface="+mn-cs"/>
              </a:defRPr>
            </a:lvl2pPr>
            <a:lvl3pPr marL="88582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 2" charset="2"/>
              <a:buChar char="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6963" indent="-1730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BBB59"/>
              </a:buClr>
              <a:buFont typeface="Wingdings 2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6988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Font typeface="Wingdings 2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0876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19072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024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30552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82550" indent="0">
              <a:buNone/>
            </a:pPr>
            <a:r>
              <a:rPr lang="zh-CN" altLang="en-US" sz="2000" dirty="0" smtClean="0">
                <a:latin typeface="Microsoft YaHei" charset="-122"/>
                <a:ea typeface="Microsoft YaHei" charset="-122"/>
                <a:cs typeface="Microsoft YaHei" charset="-122"/>
              </a:rPr>
              <a:t>思考：</a:t>
            </a:r>
            <a:endParaRPr lang="en-US" altLang="zh-CN" sz="2000" dirty="0" smtClean="0"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82550" indent="0">
              <a:buNone/>
            </a:pPr>
            <a:r>
              <a:rPr lang="zh-CN" altLang="en-US" sz="2000" dirty="0" smtClean="0">
                <a:latin typeface="Microsoft YaHei" charset="-122"/>
                <a:ea typeface="Microsoft YaHei" charset="-122"/>
                <a:cs typeface="Microsoft YaHei" charset="-122"/>
              </a:rPr>
              <a:t>如果只让你选择</a:t>
            </a:r>
            <a:r>
              <a:rPr lang="en-US" altLang="zh-CN" sz="2000" dirty="0" smtClean="0">
                <a:latin typeface="Microsoft YaHei" charset="-122"/>
                <a:ea typeface="Microsoft YaHei" charset="-122"/>
                <a:cs typeface="Microsoft YaHei" charset="-122"/>
              </a:rPr>
              <a:t>2</a:t>
            </a:r>
            <a:r>
              <a:rPr lang="zh-CN" altLang="en-US" sz="2000" dirty="0" smtClean="0">
                <a:latin typeface="Microsoft YaHei" charset="-122"/>
                <a:ea typeface="Microsoft YaHei" charset="-122"/>
                <a:cs typeface="Microsoft YaHei" charset="-122"/>
              </a:rPr>
              <a:t>个种子节点，你会怎么选？</a:t>
            </a:r>
            <a:endParaRPr lang="en-US" sz="2000" dirty="0" smtClean="0">
              <a:solidFill>
                <a:srgbClr val="0000CC"/>
              </a:solidFill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18885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影响力最大化（</a:t>
            </a:r>
            <a:r>
              <a:rPr lang="en-US" altLang="zh-CN" dirty="0" smtClean="0">
                <a:latin typeface="Calibri" charset="0"/>
                <a:ea typeface="Calibri" charset="0"/>
                <a:cs typeface="Calibri" charset="0"/>
              </a:rPr>
              <a:t>Influence</a:t>
            </a:r>
            <a:r>
              <a:rPr lang="zh-CN" altLang="en-US" dirty="0" smtClean="0"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altLang="zh-CN" dirty="0" smtClean="0">
                <a:latin typeface="Calibri" charset="0"/>
                <a:ea typeface="Calibri" charset="0"/>
                <a:cs typeface="Calibri" charset="0"/>
              </a:rPr>
              <a:t>Maximization</a:t>
            </a:r>
            <a:r>
              <a:rPr lang="zh-CN" altLang="en-US" dirty="0" smtClean="0"/>
              <a:t>）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819150"/>
                <a:ext cx="4604674" cy="3937000"/>
              </a:xfrm>
            </p:spPr>
            <p:txBody>
              <a:bodyPr/>
              <a:lstStyle/>
              <a:p>
                <a:r>
                  <a:rPr lang="zh-CN" altLang="en-US" dirty="0" smtClean="0"/>
                  <a:t>影响力最大化</a:t>
                </a:r>
                <a:r>
                  <a:rPr lang="en-US" altLang="zh-CN" dirty="0">
                    <a:latin typeface="Calibri" charset="0"/>
                    <a:ea typeface="Calibri" charset="0"/>
                    <a:cs typeface="Calibri" charset="0"/>
                  </a:rPr>
                  <a:t>Influence </a:t>
                </a:r>
                <a:r>
                  <a:rPr lang="en-US" altLang="zh-CN" dirty="0" smtClean="0">
                    <a:latin typeface="Calibri" charset="0"/>
                    <a:ea typeface="Calibri" charset="0"/>
                    <a:cs typeface="Calibri" charset="0"/>
                  </a:rPr>
                  <a:t>Maximization</a:t>
                </a:r>
                <a:endParaRPr lang="en-US" altLang="zh-CN" dirty="0">
                  <a:latin typeface="Calibri" charset="0"/>
                  <a:ea typeface="Calibri" charset="0"/>
                  <a:cs typeface="Calibri" charset="0"/>
                </a:endParaRPr>
              </a:p>
              <a:p>
                <a:pPr lvl="1"/>
                <a:r>
                  <a:rPr lang="zh-CN" altLang="en-US" dirty="0" smtClean="0"/>
                  <a:t>找到</a:t>
                </a:r>
                <a:r>
                  <a:rPr lang="zh-CN" altLang="en-US" dirty="0"/>
                  <a:t>信息传播中的“关键种子节点</a:t>
                </a:r>
                <a:r>
                  <a:rPr lang="zh-CN" altLang="en-US" dirty="0" smtClean="0"/>
                  <a:t>”</a:t>
                </a:r>
                <a:endParaRPr lang="en-US" altLang="zh-CN" dirty="0" smtClean="0"/>
              </a:p>
              <a:p>
                <a:endParaRPr lang="en-US" dirty="0"/>
              </a:p>
              <a:p>
                <a:r>
                  <a:rPr lang="zh-CN" altLang="en-US" dirty="0" smtClean="0"/>
                  <a:t>这个问题有多复杂？</a:t>
                </a:r>
                <a:endParaRPr lang="en-US" altLang="zh-CN" dirty="0" smtClean="0"/>
              </a:p>
              <a:p>
                <a:pPr lvl="1"/>
                <a:r>
                  <a:rPr lang="en-US" altLang="zh-CN" dirty="0" smtClean="0"/>
                  <a:t>NP</a:t>
                </a:r>
                <a:r>
                  <a:rPr lang="zh-CN" altLang="en-US" dirty="0" smtClean="0"/>
                  <a:t>难问题：不存在一个时间复杂度与节点个数呈多项式关系的算法</a:t>
                </a:r>
                <a:endParaRPr lang="en-US" altLang="zh-CN" dirty="0" smtClean="0"/>
              </a:p>
              <a:p>
                <a:endParaRPr lang="en-US" altLang="zh-CN" dirty="0" smtClean="0"/>
              </a:p>
              <a:p>
                <a:r>
                  <a:rPr lang="zh-CN" altLang="en-US" dirty="0" smtClean="0"/>
                  <a:t>计算任意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charset="0"/>
                      </a:rPr>
                      <m:t>𝑘</m:t>
                    </m:r>
                  </m:oMath>
                </a14:m>
                <a:r>
                  <a:rPr lang="zh-CN" altLang="en-US" dirty="0" smtClean="0"/>
                  <a:t>个点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charset="0"/>
                      </a:rPr>
                      <m:t>𝑆</m:t>
                    </m:r>
                  </m:oMath>
                </a14:m>
                <a:r>
                  <a:rPr lang="zh-CN" altLang="en-US" dirty="0" smtClean="0"/>
                  <a:t>的影响力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charset="0"/>
                      </a:rPr>
                      <m:t>𝜎</m:t>
                    </m:r>
                    <m:r>
                      <a:rPr lang="en-US" altLang="zh-CN" b="0" i="1" smtClean="0">
                        <a:latin typeface="Cambria Math" charset="0"/>
                      </a:rPr>
                      <m:t>(</m:t>
                    </m:r>
                    <m:r>
                      <a:rPr lang="en-US" altLang="zh-CN" b="0" i="1" smtClean="0">
                        <a:latin typeface="Cambria Math" charset="0"/>
                      </a:rPr>
                      <m:t>𝑆</m:t>
                    </m:r>
                    <m:r>
                      <a:rPr lang="en-US" altLang="zh-CN" b="0" i="1" smtClean="0">
                        <a:latin typeface="Cambria Math" charset="0"/>
                      </a:rPr>
                      <m:t>)</m:t>
                    </m:r>
                  </m:oMath>
                </a14:m>
                <a:endParaRPr lang="en-US" altLang="zh-CN" dirty="0" smtClean="0"/>
              </a:p>
              <a:p>
                <a:pPr lvl="1"/>
                <a:r>
                  <a:rPr lang="zh-CN" altLang="en-US" dirty="0" smtClean="0"/>
                  <a:t>需要模拟多次之前的</a:t>
                </a:r>
                <a:r>
                  <a:rPr lang="en-US" altLang="zh-CN" dirty="0" smtClean="0"/>
                  <a:t>IC</a:t>
                </a:r>
                <a:r>
                  <a:rPr lang="zh-CN" altLang="en-US" dirty="0" smtClean="0"/>
                  <a:t>模型</a:t>
                </a:r>
                <a:endParaRPr lang="en-US" altLang="zh-CN" dirty="0" smtClean="0"/>
              </a:p>
              <a:p>
                <a:pPr lvl="1"/>
                <a:r>
                  <a:rPr lang="zh-CN" altLang="en-US" dirty="0" smtClean="0"/>
                  <a:t>时间复杂度高（</a:t>
                </a:r>
                <a:r>
                  <a:rPr lang="en-US" altLang="zh-CN" dirty="0" smtClean="0"/>
                  <a:t>#P</a:t>
                </a:r>
                <a:r>
                  <a:rPr lang="zh-CN" altLang="en-US" dirty="0" smtClean="0"/>
                  <a:t>难问题）</a:t>
                </a:r>
                <a:endParaRPr lang="en-US" altLang="zh-CN" dirty="0" smtClean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819150"/>
                <a:ext cx="4604674" cy="3937000"/>
              </a:xfrm>
              <a:blipFill rotWithShape="0">
                <a:blip r:embed="rId2"/>
                <a:stretch>
                  <a:fillRect l="-1192" t="-929" r="-10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/>
          <p:cNvGrpSpPr/>
          <p:nvPr/>
        </p:nvGrpSpPr>
        <p:grpSpPr>
          <a:xfrm>
            <a:off x="5365131" y="1284936"/>
            <a:ext cx="3572424" cy="3188589"/>
            <a:chOff x="3405180" y="3720708"/>
            <a:chExt cx="3608762" cy="3221023"/>
          </a:xfrm>
        </p:grpSpPr>
        <p:sp>
          <p:nvSpPr>
            <p:cNvPr id="5" name="Oval 4"/>
            <p:cNvSpPr/>
            <p:nvPr/>
          </p:nvSpPr>
          <p:spPr>
            <a:xfrm>
              <a:off x="3405181" y="4676964"/>
              <a:ext cx="381837" cy="38183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/>
                <a:t>2</a:t>
              </a:r>
            </a:p>
          </p:txBody>
        </p:sp>
        <p:sp>
          <p:nvSpPr>
            <p:cNvPr id="6" name="Oval 5"/>
            <p:cNvSpPr/>
            <p:nvPr/>
          </p:nvSpPr>
          <p:spPr>
            <a:xfrm>
              <a:off x="4490400" y="4673057"/>
              <a:ext cx="381837" cy="38183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/>
                <a:t>1</a:t>
              </a:r>
            </a:p>
          </p:txBody>
        </p:sp>
        <p:sp>
          <p:nvSpPr>
            <p:cNvPr id="7" name="Oval 6"/>
            <p:cNvSpPr/>
            <p:nvPr/>
          </p:nvSpPr>
          <p:spPr>
            <a:xfrm>
              <a:off x="4492075" y="5625405"/>
              <a:ext cx="381837" cy="38183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/>
                <a:t>3</a:t>
              </a:r>
            </a:p>
          </p:txBody>
        </p:sp>
        <p:sp>
          <p:nvSpPr>
            <p:cNvPr id="8" name="Oval 7"/>
            <p:cNvSpPr/>
            <p:nvPr/>
          </p:nvSpPr>
          <p:spPr>
            <a:xfrm>
              <a:off x="5562091" y="6559894"/>
              <a:ext cx="381837" cy="381837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dirty="0"/>
                <a:t>6</a:t>
              </a:r>
            </a:p>
          </p:txBody>
        </p:sp>
        <p:sp>
          <p:nvSpPr>
            <p:cNvPr id="9" name="Oval 8"/>
            <p:cNvSpPr/>
            <p:nvPr/>
          </p:nvSpPr>
          <p:spPr>
            <a:xfrm>
              <a:off x="3405180" y="5625401"/>
              <a:ext cx="381837" cy="381837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dirty="0"/>
                <a:t>5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5562090" y="5625399"/>
              <a:ext cx="381837" cy="381837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dirty="0"/>
                <a:t>7</a:t>
              </a:r>
            </a:p>
          </p:txBody>
        </p:sp>
        <p:sp>
          <p:nvSpPr>
            <p:cNvPr id="11" name="Oval 10"/>
            <p:cNvSpPr/>
            <p:nvPr/>
          </p:nvSpPr>
          <p:spPr>
            <a:xfrm>
              <a:off x="6632105" y="5625399"/>
              <a:ext cx="381837" cy="381837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dirty="0"/>
                <a:t>8</a:t>
              </a:r>
            </a:p>
          </p:txBody>
        </p:sp>
        <p:sp>
          <p:nvSpPr>
            <p:cNvPr id="12" name="Oval 11"/>
            <p:cNvSpPr/>
            <p:nvPr/>
          </p:nvSpPr>
          <p:spPr>
            <a:xfrm>
              <a:off x="4490401" y="3720709"/>
              <a:ext cx="381837" cy="381837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dirty="0"/>
                <a:t>9</a:t>
              </a:r>
            </a:p>
          </p:txBody>
        </p:sp>
        <p:sp>
          <p:nvSpPr>
            <p:cNvPr id="13" name="Oval 12"/>
            <p:cNvSpPr/>
            <p:nvPr/>
          </p:nvSpPr>
          <p:spPr>
            <a:xfrm>
              <a:off x="3405180" y="3720708"/>
              <a:ext cx="381837" cy="381837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dirty="0"/>
                <a:t>4</a:t>
              </a:r>
            </a:p>
          </p:txBody>
        </p:sp>
        <p:cxnSp>
          <p:nvCxnSpPr>
            <p:cNvPr id="14" name="Straight Arrow Connector 13"/>
            <p:cNvCxnSpPr/>
            <p:nvPr/>
          </p:nvCxnSpPr>
          <p:spPr>
            <a:xfrm flipH="1">
              <a:off x="3787018" y="4863976"/>
              <a:ext cx="703382" cy="3907"/>
            </a:xfrm>
            <a:prstGeom prst="straightConnector1">
              <a:avLst/>
            </a:prstGeom>
            <a:ln w="19050">
              <a:tailEnd type="triangl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/>
            <p:nvPr/>
          </p:nvCxnSpPr>
          <p:spPr>
            <a:xfrm flipH="1" flipV="1">
              <a:off x="3731098" y="4046626"/>
              <a:ext cx="815221" cy="682350"/>
            </a:xfrm>
            <a:prstGeom prst="straightConnector1">
              <a:avLst/>
            </a:prstGeom>
            <a:ln w="19050">
              <a:tailEnd type="triangl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Straight Arrow Connector 15"/>
            <p:cNvCxnSpPr/>
            <p:nvPr/>
          </p:nvCxnSpPr>
          <p:spPr>
            <a:xfrm flipH="1">
              <a:off x="4681319" y="4102546"/>
              <a:ext cx="1" cy="570511"/>
            </a:xfrm>
            <a:prstGeom prst="straightConnector1">
              <a:avLst/>
            </a:prstGeom>
            <a:ln w="19050">
              <a:tailEnd type="triangl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Straight Arrow Connector 16"/>
            <p:cNvCxnSpPr/>
            <p:nvPr/>
          </p:nvCxnSpPr>
          <p:spPr>
            <a:xfrm flipH="1" flipV="1">
              <a:off x="3596099" y="4102545"/>
              <a:ext cx="1" cy="574419"/>
            </a:xfrm>
            <a:prstGeom prst="straightConnector1">
              <a:avLst/>
            </a:prstGeom>
            <a:ln w="19050">
              <a:tailEnd type="triangl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/>
            <p:nvPr/>
          </p:nvCxnSpPr>
          <p:spPr>
            <a:xfrm flipH="1">
              <a:off x="3596099" y="5058801"/>
              <a:ext cx="1" cy="566600"/>
            </a:xfrm>
            <a:prstGeom prst="straightConnector1">
              <a:avLst/>
            </a:prstGeom>
            <a:ln w="19050">
              <a:tailEnd type="triangl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/>
            <p:nvPr/>
          </p:nvCxnSpPr>
          <p:spPr>
            <a:xfrm flipH="1" flipV="1">
              <a:off x="4681319" y="5054894"/>
              <a:ext cx="1675" cy="570511"/>
            </a:xfrm>
            <a:prstGeom prst="straightConnector1">
              <a:avLst/>
            </a:prstGeom>
            <a:ln w="19050">
              <a:tailEnd type="triangl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/>
            <p:nvPr/>
          </p:nvCxnSpPr>
          <p:spPr>
            <a:xfrm flipH="1" flipV="1">
              <a:off x="4817993" y="5951323"/>
              <a:ext cx="800017" cy="664490"/>
            </a:xfrm>
            <a:prstGeom prst="straightConnector1">
              <a:avLst/>
            </a:prstGeom>
            <a:ln w="19050">
              <a:tailEnd type="triangl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Straight Arrow Connector 20"/>
            <p:cNvCxnSpPr/>
            <p:nvPr/>
          </p:nvCxnSpPr>
          <p:spPr>
            <a:xfrm>
              <a:off x="5753009" y="6007236"/>
              <a:ext cx="1" cy="552658"/>
            </a:xfrm>
            <a:prstGeom prst="straightConnector1">
              <a:avLst/>
            </a:prstGeom>
            <a:ln w="19050">
              <a:tailEnd type="triangl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/>
            <p:nvPr/>
          </p:nvCxnSpPr>
          <p:spPr>
            <a:xfrm flipV="1">
              <a:off x="4873912" y="5816318"/>
              <a:ext cx="688178" cy="6"/>
            </a:xfrm>
            <a:prstGeom prst="straightConnector1">
              <a:avLst/>
            </a:prstGeom>
            <a:ln w="19050">
              <a:tailEnd type="triangl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/>
            <p:nvPr/>
          </p:nvCxnSpPr>
          <p:spPr>
            <a:xfrm>
              <a:off x="5943927" y="5816318"/>
              <a:ext cx="688178" cy="0"/>
            </a:xfrm>
            <a:prstGeom prst="straightConnector1">
              <a:avLst/>
            </a:prstGeom>
            <a:ln w="19050">
              <a:tailEnd type="triangl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/>
            <p:nvPr/>
          </p:nvCxnSpPr>
          <p:spPr>
            <a:xfrm>
              <a:off x="3731099" y="5002882"/>
              <a:ext cx="816895" cy="678442"/>
            </a:xfrm>
            <a:prstGeom prst="straightConnector1">
              <a:avLst/>
            </a:prstGeom>
            <a:ln w="19050">
              <a:tailEnd type="triangl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Straight Arrow Connector 24"/>
            <p:cNvCxnSpPr/>
            <p:nvPr/>
          </p:nvCxnSpPr>
          <p:spPr>
            <a:xfrm>
              <a:off x="3787017" y="5816320"/>
              <a:ext cx="705058" cy="4"/>
            </a:xfrm>
            <a:prstGeom prst="straightConnector1">
              <a:avLst/>
            </a:prstGeom>
            <a:ln w="19050">
              <a:tailEnd type="triangl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6" name="Oval 25"/>
          <p:cNvSpPr/>
          <p:nvPr/>
        </p:nvSpPr>
        <p:spPr>
          <a:xfrm rot="1993131">
            <a:off x="5060701" y="2047798"/>
            <a:ext cx="2612057" cy="1499820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256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 charset="0"/>
                <a:ea typeface="Calibri" charset="0"/>
                <a:cs typeface="Calibri" charset="0"/>
              </a:rPr>
              <a:t>Degree Discount</a:t>
            </a:r>
            <a:r>
              <a:rPr lang="zh-CN" altLang="en-US" dirty="0"/>
              <a:t>算法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805083"/>
            <a:ext cx="5333188" cy="3937000"/>
          </a:xfrm>
        </p:spPr>
      </p:pic>
      <p:sp>
        <p:nvSpPr>
          <p:cNvPr id="6" name="Rectangle 5"/>
          <p:cNvSpPr/>
          <p:nvPr/>
        </p:nvSpPr>
        <p:spPr>
          <a:xfrm>
            <a:off x="1434905" y="942537"/>
            <a:ext cx="144000" cy="2250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6000965" y="2773583"/>
                <a:ext cx="2685835" cy="7078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>
                  <a:spcBef>
                    <a:spcPct val="20000"/>
                  </a:spcBef>
                </a:pPr>
                <a:r>
                  <a:rPr lang="zh-CN" altLang="en-US" sz="2000" dirty="0" smtClean="0">
                    <a:solidFill>
                      <a:srgbClr val="AE0627"/>
                    </a:solidFill>
                    <a:latin typeface="Microsoft YaHei" charset="-122"/>
                    <a:ea typeface="Microsoft YaHei" charset="-122"/>
                    <a:cs typeface="Microsoft YaHei" charset="-122"/>
                  </a:rPr>
                  <a:t>思考：如果边上的概率不都等于</a:t>
                </a:r>
                <a14:m>
                  <m:oMath xmlns:m="http://schemas.openxmlformats.org/officeDocument/2006/math">
                    <m:r>
                      <a:rPr lang="en-US" altLang="zh-CN" sz="2000" i="1" dirty="0" smtClean="0">
                        <a:solidFill>
                          <a:srgbClr val="AE0627"/>
                        </a:solidFill>
                        <a:latin typeface="Cambria Math" charset="0"/>
                        <a:ea typeface="Microsoft YaHei" charset="-122"/>
                        <a:cs typeface="Microsoft YaHei" charset="-122"/>
                      </a:rPr>
                      <m:t>𝑝</m:t>
                    </m:r>
                  </m:oMath>
                </a14:m>
                <a:r>
                  <a:rPr lang="zh-CN" altLang="en-US" sz="2000" dirty="0" smtClean="0">
                    <a:solidFill>
                      <a:srgbClr val="AE0627"/>
                    </a:solidFill>
                    <a:latin typeface="Microsoft YaHei" charset="-122"/>
                    <a:ea typeface="Microsoft YaHei" charset="-122"/>
                    <a:cs typeface="Microsoft YaHei" charset="-122"/>
                  </a:rPr>
                  <a:t>呢？</a:t>
                </a:r>
                <a:endParaRPr lang="en-US" altLang="zh-CN" sz="2000" dirty="0" smtClean="0">
                  <a:solidFill>
                    <a:srgbClr val="AE0627"/>
                  </a:solidFill>
                  <a:latin typeface="Microsoft YaHei" charset="-122"/>
                  <a:ea typeface="Microsoft YaHei" charset="-122"/>
                  <a:cs typeface="Microsoft YaHei" charset="-122"/>
                </a:endParaRP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0965" y="2773583"/>
                <a:ext cx="2685835" cy="707886"/>
              </a:xfrm>
              <a:prstGeom prst="rect">
                <a:avLst/>
              </a:prstGeom>
              <a:blipFill rotWithShape="0">
                <a:blip r:embed="rId4"/>
                <a:stretch>
                  <a:fillRect t="-5172" b="-146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/>
          <p:cNvSpPr/>
          <p:nvPr/>
        </p:nvSpPr>
        <p:spPr>
          <a:xfrm>
            <a:off x="5790388" y="942537"/>
            <a:ext cx="335361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原论文扩展阅读：</a:t>
            </a:r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https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://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www.microsoft.com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/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en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-us/research/uploads/prod/2016/06/kdd09_influence-1.pdf</a:t>
            </a:r>
          </a:p>
        </p:txBody>
      </p:sp>
    </p:spTree>
    <p:extLst>
      <p:ext uri="{BB962C8B-B14F-4D97-AF65-F5344CB8AC3E}">
        <p14:creationId xmlns:p14="http://schemas.microsoft.com/office/powerpoint/2010/main" val="21010930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 charset="0"/>
                <a:ea typeface="Calibri" charset="0"/>
                <a:cs typeface="Calibri" charset="0"/>
              </a:rPr>
              <a:t>Degree Discount</a:t>
            </a:r>
            <a:r>
              <a:rPr lang="zh-CN" altLang="en-US" dirty="0"/>
              <a:t>算法的扩展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 smtClean="0"/>
                  <a:t>如何支持增量计算：为每个节点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charset="0"/>
                      </a:rPr>
                      <m:t>𝑣</m:t>
                    </m:r>
                  </m:oMath>
                </a14:m>
                <a:r>
                  <a:rPr lang="zh-CN" altLang="en-US" dirty="0" smtClean="0"/>
                  <a:t>维护两个变量</a:t>
                </a:r>
                <a:endParaRPr lang="en-US" altLang="zh-CN" dirty="0" smtClean="0"/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charset="0"/>
                      </a:rPr>
                      <m:t>𝑝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charset="0"/>
                          </a:rPr>
                          <m:t>𝑝</m:t>
                        </m:r>
                      </m:e>
                      <m:sub>
                        <m:r>
                          <a:rPr lang="en-US" altLang="zh-CN" b="0" i="1" smtClean="0">
                            <a:latin typeface="Cambria Math" charset="0"/>
                          </a:rPr>
                          <m:t>𝑣</m:t>
                        </m:r>
                      </m:sub>
                    </m:sSub>
                  </m:oMath>
                </a14:m>
                <a:r>
                  <a:rPr lang="zh-CN" altLang="en-US" dirty="0" smtClean="0"/>
                  <a:t>：用来表示节点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charset="0"/>
                      </a:rPr>
                      <m:t>𝑣</m:t>
                    </m:r>
                  </m:oMath>
                </a14:m>
                <a:r>
                  <a:rPr lang="zh-CN" altLang="en-US" dirty="0" smtClean="0"/>
                  <a:t>没有被感染的概率，即公式中左侧的方框</a:t>
                </a:r>
                <a:endParaRPr lang="en-US" altLang="zh-CN" dirty="0" smtClean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charset="0"/>
                          </a:rPr>
                          <m:t>𝑑</m:t>
                        </m:r>
                      </m:e>
                      <m:sub>
                        <m:r>
                          <a:rPr lang="en-US" altLang="zh-CN" b="0" i="1" smtClean="0">
                            <a:latin typeface="Cambria Math" charset="0"/>
                          </a:rPr>
                          <m:t>𝑣</m:t>
                        </m:r>
                      </m:sub>
                    </m:sSub>
                  </m:oMath>
                </a14:m>
                <a:r>
                  <a:rPr lang="zh-CN" altLang="en-US" dirty="0" smtClean="0"/>
                  <a:t>：用来表示节点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charset="0"/>
                      </a:rPr>
                      <m:t>𝑣</m:t>
                    </m:r>
                  </m:oMath>
                </a14:m>
                <a:r>
                  <a:rPr lang="zh-CN" altLang="en-US" dirty="0" smtClean="0"/>
                  <a:t>可以影响的邻居的期望个数</a:t>
                </a:r>
                <a:r>
                  <a:rPr lang="zh-CN" altLang="en-US" dirty="0"/>
                  <a:t>，即公式中左侧的</a:t>
                </a:r>
                <a:r>
                  <a:rPr lang="zh-CN" altLang="en-US" dirty="0" smtClean="0"/>
                  <a:t>方框</a:t>
                </a:r>
                <a:endParaRPr lang="en-US" altLang="zh-CN" dirty="0" smtClean="0"/>
              </a:p>
              <a:p>
                <a:r>
                  <a:rPr lang="zh-CN" altLang="en-US" dirty="0" smtClean="0"/>
                  <a:t>初始化：</a:t>
                </a:r>
                <a:endParaRPr lang="en-US" altLang="zh-CN" dirty="0" smtClean="0"/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i="1">
                        <a:latin typeface="Cambria Math" charset="0"/>
                      </a:rPr>
                      <m:t>𝑝</m:t>
                    </m:r>
                    <m:sSub>
                      <m:sSubPr>
                        <m:ctrlPr>
                          <a:rPr lang="en-US" altLang="zh-CN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charset="0"/>
                          </a:rPr>
                          <m:t>𝑝</m:t>
                        </m:r>
                      </m:e>
                      <m:sub>
                        <m:r>
                          <a:rPr lang="en-US" altLang="zh-CN" i="1">
                            <a:latin typeface="Cambria Math" charset="0"/>
                          </a:rPr>
                          <m:t>𝑣</m:t>
                        </m:r>
                      </m:sub>
                    </m:sSub>
                    <m:r>
                      <a:rPr lang="en-US" altLang="zh-CN" b="0" i="1" smtClean="0">
                        <a:latin typeface="Cambria Math" charset="0"/>
                      </a:rPr>
                      <m:t>←1</m:t>
                    </m:r>
                  </m:oMath>
                </a14:m>
                <a:r>
                  <a:rPr lang="zh-CN" altLang="en-US" dirty="0"/>
                  <a:t>：表示目前节点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charset="0"/>
                      </a:rPr>
                      <m:t>𝑣</m:t>
                    </m:r>
                  </m:oMath>
                </a14:m>
                <a:r>
                  <a:rPr lang="zh-CN" altLang="en-US" dirty="0"/>
                  <a:t>没有被</a:t>
                </a:r>
                <a:r>
                  <a:rPr lang="zh-CN" altLang="en-US" dirty="0" smtClean="0"/>
                  <a:t>感染</a:t>
                </a:r>
                <a:endParaRPr lang="en-US" altLang="zh-CN" dirty="0" smtClean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dirty="0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charset="0"/>
                          </a:rPr>
                          <m:t>𝑑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charset="0"/>
                          </a:rPr>
                          <m:t>𝑣</m:t>
                        </m:r>
                      </m:sub>
                    </m:sSub>
                    <m:r>
                      <a:rPr lang="en-US" altLang="zh-CN" b="0" i="1" dirty="0" smtClean="0">
                        <a:latin typeface="Cambria Math" charset="0"/>
                      </a:rPr>
                      <m:t>←1+</m:t>
                    </m:r>
                    <m:nary>
                      <m:naryPr>
                        <m:chr m:val="∑"/>
                        <m:supHide m:val="on"/>
                        <m:ctrlPr>
                          <a:rPr lang="en-US" altLang="zh-CN" i="1">
                            <a:solidFill>
                              <a:srgbClr val="C00000"/>
                            </a:solidFill>
                            <a:latin typeface="Cambria Math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zh-CN" i="1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𝑤</m:t>
                        </m:r>
                        <m:r>
                          <a:rPr lang="en-US" altLang="zh-CN" i="1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∈</m:t>
                        </m:r>
                        <m:r>
                          <a:rPr lang="en-US" altLang="zh-CN" b="0" i="1" smtClean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𝑁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zh-CN" i="1">
                                <a:solidFill>
                                  <a:srgbClr val="C00000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rgbClr val="C00000"/>
                                </a:solidFill>
                                <a:latin typeface="Cambria Math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C00000"/>
                                </a:solidFill>
                                <a:latin typeface="Cambria Math" charset="0"/>
                              </a:rPr>
                              <m:t>𝑣</m:t>
                            </m:r>
                            <m:r>
                              <a:rPr lang="en-US" altLang="zh-CN" i="1">
                                <a:solidFill>
                                  <a:srgbClr val="C00000"/>
                                </a:solidFill>
                                <a:latin typeface="Cambria Math" charset="0"/>
                              </a:rPr>
                              <m:t>→</m:t>
                            </m:r>
                            <m:r>
                              <a:rPr lang="en-US" altLang="zh-CN" i="1">
                                <a:solidFill>
                                  <a:srgbClr val="C00000"/>
                                </a:solidFill>
                                <a:latin typeface="Cambria Math" charset="0"/>
                              </a:rPr>
                              <m:t>𝑤</m:t>
                            </m:r>
                          </m:sub>
                        </m:sSub>
                      </m:e>
                    </m:nary>
                  </m:oMath>
                </a14:m>
                <a:r>
                  <a:rPr lang="zh-CN" altLang="en-US" dirty="0" smtClean="0"/>
                  <a:t>，其中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charset="0"/>
                      </a:rPr>
                      <m:t>𝑁</m:t>
                    </m:r>
                  </m:oMath>
                </a14:m>
                <a:r>
                  <a:rPr lang="zh-CN" altLang="en-US" dirty="0" smtClean="0"/>
                  <a:t>是节点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charset="0"/>
                      </a:rPr>
                      <m:t>𝑣</m:t>
                    </m:r>
                  </m:oMath>
                </a14:m>
                <a:r>
                  <a:rPr lang="zh-CN" altLang="en-US" dirty="0" smtClean="0"/>
                  <a:t>所有的</a:t>
                </a:r>
                <a:r>
                  <a:rPr lang="en-US" altLang="zh-CN" dirty="0" smtClean="0"/>
                  <a:t>Out-neighbors</a:t>
                </a:r>
              </a:p>
              <a:p>
                <a:r>
                  <a:rPr lang="zh-CN" altLang="en-US" dirty="0" smtClean="0"/>
                  <a:t>更新：如果</a:t>
                </a:r>
                <a:r>
                  <a:rPr lang="zh-CN" altLang="en-US" dirty="0"/>
                  <a:t>节点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charset="0"/>
                      </a:rPr>
                      <m:t>𝑣</m:t>
                    </m:r>
                  </m:oMath>
                </a14:m>
                <a:r>
                  <a:rPr lang="zh-CN" altLang="en-US" dirty="0" smtClean="0"/>
                  <a:t>的某个邻居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charset="0"/>
                      </a:rPr>
                      <m:t>𝑤</m:t>
                    </m:r>
                  </m:oMath>
                </a14:m>
                <a:r>
                  <a:rPr lang="zh-CN" altLang="en-US" dirty="0" smtClean="0"/>
                  <a:t>加入到了种子集合，则做更新操作：</a:t>
                </a:r>
                <a:endParaRPr lang="en-US" altLang="zh-CN" dirty="0" smtClean="0"/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i="1">
                        <a:latin typeface="Cambria Math" charset="0"/>
                      </a:rPr>
                      <m:t>𝑝</m:t>
                    </m:r>
                    <m:sSub>
                      <m:sSubPr>
                        <m:ctrlPr>
                          <a:rPr lang="en-US" altLang="zh-CN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charset="0"/>
                          </a:rPr>
                          <m:t>𝑝</m:t>
                        </m:r>
                      </m:e>
                      <m:sub>
                        <m:r>
                          <a:rPr lang="en-US" altLang="zh-CN" i="1">
                            <a:latin typeface="Cambria Math" charset="0"/>
                          </a:rPr>
                          <m:t>𝑣</m:t>
                        </m:r>
                      </m:sub>
                    </m:sSub>
                    <m:r>
                      <a:rPr lang="en-US" altLang="zh-CN" b="0" i="1" smtClean="0">
                        <a:latin typeface="Cambria Math" charset="0"/>
                      </a:rPr>
                      <m:t>←</m:t>
                    </m:r>
                    <m:r>
                      <a:rPr lang="en-US" altLang="zh-CN" b="0" i="1" smtClean="0">
                        <a:latin typeface="Cambria Math" charset="0"/>
                      </a:rPr>
                      <m:t>𝑝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charset="0"/>
                          </a:rPr>
                          <m:t>𝑝</m:t>
                        </m:r>
                      </m:e>
                      <m:sub>
                        <m:r>
                          <a:rPr lang="en-US" altLang="zh-CN" b="0" i="1" smtClean="0">
                            <a:latin typeface="Cambria Math" charset="0"/>
                          </a:rPr>
                          <m:t>𝑣</m:t>
                        </m:r>
                      </m:sub>
                    </m:sSub>
                    <m:r>
                      <a:rPr lang="en-US" altLang="zh-CN" b="0" i="1" smtClean="0">
                        <a:latin typeface="Cambria Math" charset="0"/>
                      </a:rPr>
                      <m:t>⋅</m:t>
                    </m:r>
                    <m:d>
                      <m:dPr>
                        <m:ctrlPr>
                          <a:rPr lang="en-US" altLang="zh-CN" b="0" i="1" smtClean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1−</m:t>
                        </m:r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rgbClr val="C00000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rgbClr val="C00000"/>
                                </a:solidFill>
                                <a:latin typeface="Cambria Math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rgbClr val="C00000"/>
                                </a:solidFill>
                                <a:latin typeface="Cambria Math" charset="0"/>
                              </a:rPr>
                              <m:t>𝑤</m:t>
                            </m:r>
                            <m:r>
                              <a:rPr lang="en-US" altLang="zh-CN" b="0" i="1" smtClean="0">
                                <a:solidFill>
                                  <a:srgbClr val="C00000"/>
                                </a:solidFill>
                                <a:latin typeface="Cambria Math" charset="0"/>
                              </a:rPr>
                              <m:t>→</m:t>
                            </m:r>
                            <m:r>
                              <a:rPr lang="en-US" altLang="zh-CN" b="0" i="1" smtClean="0">
                                <a:solidFill>
                                  <a:srgbClr val="C00000"/>
                                </a:solidFill>
                                <a:latin typeface="Cambria Math" charset="0"/>
                              </a:rPr>
                              <m:t>𝑣</m:t>
                            </m:r>
                          </m:sub>
                        </m:sSub>
                      </m:e>
                    </m:d>
                  </m:oMath>
                </a14:m>
                <a:endParaRPr lang="en-US" altLang="zh-CN" b="0" dirty="0" smtClean="0">
                  <a:solidFill>
                    <a:srgbClr val="C00000"/>
                  </a:solidFill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charset="0"/>
                          </a:rPr>
                          <m:t>𝑑</m:t>
                        </m:r>
                      </m:e>
                      <m:sub>
                        <m:r>
                          <a:rPr lang="en-US" altLang="zh-CN" i="1" dirty="0">
                            <a:latin typeface="Cambria Math" charset="0"/>
                          </a:rPr>
                          <m:t>𝑣</m:t>
                        </m:r>
                      </m:sub>
                    </m:sSub>
                    <m:r>
                      <a:rPr lang="en-US" altLang="zh-CN" b="0" i="1" dirty="0" smtClean="0">
                        <a:latin typeface="Cambria Math" charset="0"/>
                      </a:rPr>
                      <m:t>←</m:t>
                    </m:r>
                    <m:sSub>
                      <m:sSubPr>
                        <m:ctrlPr>
                          <a:rPr lang="en-US" altLang="zh-CN" b="0" i="1" dirty="0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charset="0"/>
                          </a:rPr>
                          <m:t>𝑑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charset="0"/>
                          </a:rPr>
                          <m:t>𝑣</m:t>
                        </m:r>
                      </m:sub>
                    </m:sSub>
                    <m:r>
                      <a:rPr lang="en-US" altLang="zh-CN" b="0" i="1" dirty="0" smtClean="0">
                        <a:latin typeface="Cambria Math" charset="0"/>
                      </a:rPr>
                      <m:t>−</m:t>
                    </m:r>
                    <m:sSub>
                      <m:sSubPr>
                        <m:ctrlPr>
                          <a:rPr lang="en-US" altLang="zh-CN" b="0" i="1" dirty="0" smtClean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𝑝</m:t>
                        </m:r>
                      </m:e>
                      <m:sub>
                        <m:r>
                          <a:rPr lang="en-US" altLang="zh-CN" b="0" i="1" dirty="0" smtClean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𝑣</m:t>
                        </m:r>
                        <m:r>
                          <a:rPr lang="en-US" altLang="zh-CN" b="0" i="1" dirty="0" smtClean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→</m:t>
                        </m:r>
                        <m:r>
                          <a:rPr lang="en-US" altLang="zh-CN" b="0" i="1" dirty="0" smtClean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𝑤</m:t>
                        </m:r>
                      </m:sub>
                    </m:sSub>
                  </m:oMath>
                </a14:m>
                <a:endParaRPr lang="en-US" dirty="0" smtClean="0"/>
              </a:p>
              <a:p>
                <a:pPr lvl="1"/>
                <a:r>
                  <a:rPr lang="zh-CN" altLang="en-US" dirty="0" smtClean="0"/>
                  <a:t>根据以上两项更新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>
                        <a:solidFill>
                          <a:srgbClr val="C00000"/>
                        </a:solidFill>
                        <a:latin typeface="Cambria Math" charset="0"/>
                      </a:rPr>
                      <m:t>Δ</m:t>
                    </m:r>
                    <m:r>
                      <a:rPr lang="en-US" altLang="zh-CN" b="0" i="1" smtClean="0">
                        <a:solidFill>
                          <a:srgbClr val="C00000"/>
                        </a:solidFill>
                        <a:latin typeface="Cambria Math" charset="0"/>
                      </a:rPr>
                      <m:t>𝜎</m:t>
                    </m:r>
                    <m:r>
                      <a:rPr lang="en-US" altLang="zh-CN" b="0" i="1" smtClean="0">
                        <a:solidFill>
                          <a:srgbClr val="C00000"/>
                        </a:solidFill>
                        <a:latin typeface="Cambria Math" charset="0"/>
                      </a:rPr>
                      <m:t>(</m:t>
                    </m:r>
                    <m:r>
                      <a:rPr lang="en-US" altLang="zh-CN" i="1">
                        <a:solidFill>
                          <a:srgbClr val="C00000"/>
                        </a:solidFill>
                        <a:latin typeface="Cambria Math" charset="0"/>
                      </a:rPr>
                      <m:t>𝑆</m:t>
                    </m:r>
                    <m:r>
                      <a:rPr lang="en-US" altLang="zh-CN" b="0" i="1" smtClean="0">
                        <a:solidFill>
                          <a:srgbClr val="C00000"/>
                        </a:solidFill>
                        <a:latin typeface="Cambria Math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667" t="-7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4073293" y="3477703"/>
                <a:ext cx="4896340" cy="117718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000" b="0" i="0" smtClean="0">
                          <a:solidFill>
                            <a:srgbClr val="C00000"/>
                          </a:solidFill>
                          <a:latin typeface="Cambria Math" charset="0"/>
                        </a:rPr>
                        <m:t>Δ</m:t>
                      </m:r>
                      <m:r>
                        <a:rPr lang="en-US" altLang="zh-CN" sz="2000" b="0" i="1" smtClean="0">
                          <a:solidFill>
                            <a:srgbClr val="C00000"/>
                          </a:solidFill>
                          <a:latin typeface="Cambria Math" charset="0"/>
                        </a:rPr>
                        <m:t>𝜎</m:t>
                      </m:r>
                      <m:r>
                        <a:rPr lang="en-US" altLang="zh-CN" sz="2000" b="0" i="1" smtClean="0">
                          <a:solidFill>
                            <a:srgbClr val="C00000"/>
                          </a:solidFill>
                          <a:latin typeface="Cambria Math" charset="0"/>
                        </a:rPr>
                        <m:t>(</m:t>
                      </m:r>
                      <m:r>
                        <a:rPr lang="en-US" altLang="zh-CN" sz="2000" b="0" i="1" smtClean="0">
                          <a:solidFill>
                            <a:srgbClr val="C00000"/>
                          </a:solidFill>
                          <a:latin typeface="Cambria Math" charset="0"/>
                        </a:rPr>
                        <m:t>𝑆</m:t>
                      </m:r>
                      <m:r>
                        <a:rPr lang="en-US" altLang="zh-CN" sz="2000" b="0" i="1" smtClean="0">
                          <a:solidFill>
                            <a:srgbClr val="C00000"/>
                          </a:solidFill>
                          <a:latin typeface="Cambria Math" charset="0"/>
                        </a:rPr>
                        <m:t>)= </m:t>
                      </m:r>
                      <m:nary>
                        <m:naryPr>
                          <m:chr m:val="∏"/>
                          <m:supHide m:val="on"/>
                          <m:ctrlPr>
                            <a:rPr lang="en-US" altLang="zh-CN" sz="2000" i="1">
                              <a:solidFill>
                                <a:srgbClr val="C00000"/>
                              </a:solidFill>
                              <a:latin typeface="Cambria Math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CN" sz="2000" i="1">
                              <a:solidFill>
                                <a:srgbClr val="C00000"/>
                              </a:solidFill>
                              <a:latin typeface="Cambria Math" charset="0"/>
                            </a:rPr>
                            <m:t>𝑢</m:t>
                          </m:r>
                          <m:r>
                            <a:rPr lang="en-US" altLang="zh-CN" sz="2000" i="1">
                              <a:solidFill>
                                <a:srgbClr val="C00000"/>
                              </a:solidFill>
                              <a:latin typeface="Cambria Math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en-US" altLang="zh-CN" sz="2000" i="1">
                                  <a:solidFill>
                                    <a:srgbClr val="C00000"/>
                                  </a:solidFill>
                                  <a:latin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solidFill>
                                    <a:srgbClr val="C00000"/>
                                  </a:solidFill>
                                  <a:latin typeface="Cambria Math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zh-CN" sz="2000" i="1">
                                  <a:solidFill>
                                    <a:srgbClr val="C00000"/>
                                  </a:solidFill>
                                  <a:latin typeface="Cambria Math" charset="0"/>
                                </a:rPr>
                                <m:t>𝑣</m:t>
                              </m:r>
                            </m:sub>
                          </m:sSub>
                        </m:sub>
                        <m:sup/>
                        <m:e>
                          <m:r>
                            <a:rPr lang="en-US" altLang="zh-CN" sz="2000" i="1">
                              <a:solidFill>
                                <a:srgbClr val="C00000"/>
                              </a:solidFill>
                              <a:latin typeface="Cambria Math" charset="0"/>
                            </a:rPr>
                            <m:t>(1−</m:t>
                          </m:r>
                          <m:sSub>
                            <m:sSubPr>
                              <m:ctrlPr>
                                <a:rPr lang="en-US" altLang="zh-CN" sz="2000" i="1">
                                  <a:solidFill>
                                    <a:srgbClr val="C00000"/>
                                  </a:solidFill>
                                  <a:latin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solidFill>
                                    <a:srgbClr val="C00000"/>
                                  </a:solidFill>
                                  <a:latin typeface="Cambria Math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sz="2000" i="1">
                                  <a:solidFill>
                                    <a:srgbClr val="C00000"/>
                                  </a:solidFill>
                                  <a:latin typeface="Cambria Math" charset="0"/>
                                </a:rPr>
                                <m:t>𝑢</m:t>
                              </m:r>
                              <m:r>
                                <a:rPr lang="en-US" altLang="zh-CN" sz="2000" b="0" i="1" smtClean="0">
                                  <a:solidFill>
                                    <a:srgbClr val="C00000"/>
                                  </a:solidFill>
                                  <a:latin typeface="Cambria Math" charset="0"/>
                                </a:rPr>
                                <m:t>→</m:t>
                              </m:r>
                              <m:r>
                                <a:rPr lang="en-US" altLang="zh-CN" sz="2000" i="1">
                                  <a:solidFill>
                                    <a:srgbClr val="C00000"/>
                                  </a:solidFill>
                                  <a:latin typeface="Cambria Math" charset="0"/>
                                </a:rPr>
                                <m:t>𝑣</m:t>
                              </m:r>
                            </m:sub>
                          </m:sSub>
                          <m:r>
                            <a:rPr lang="en-US" altLang="zh-CN" sz="2000" i="1">
                              <a:solidFill>
                                <a:srgbClr val="C00000"/>
                              </a:solidFill>
                              <a:latin typeface="Cambria Math" charset="0"/>
                            </a:rPr>
                            <m:t>)</m:t>
                          </m:r>
                        </m:e>
                      </m:nary>
                      <m:r>
                        <a:rPr lang="zh-CN" altLang="en-US" sz="2000" b="0" i="1" smtClean="0">
                          <a:solidFill>
                            <a:srgbClr val="C00000"/>
                          </a:solidFill>
                          <a:latin typeface="Cambria Math" charset="0"/>
                        </a:rPr>
                        <m:t> </m:t>
                      </m:r>
                      <m:r>
                        <a:rPr lang="en-US" altLang="zh-CN" sz="2000" b="0" i="1" smtClean="0">
                          <a:solidFill>
                            <a:srgbClr val="C00000"/>
                          </a:solidFill>
                          <a:latin typeface="Cambria Math" charset="0"/>
                        </a:rPr>
                        <m:t>⋅</m:t>
                      </m:r>
                      <m:r>
                        <a:rPr lang="zh-CN" altLang="en-US" sz="2000" b="0" i="1" smtClean="0">
                          <a:solidFill>
                            <a:srgbClr val="C00000"/>
                          </a:solidFill>
                          <a:latin typeface="Cambria Math" charset="0"/>
                        </a:rPr>
                        <m:t> </m:t>
                      </m:r>
                      <m:d>
                        <m:dPr>
                          <m:ctrlPr>
                            <a:rPr lang="en-US" altLang="zh-CN" sz="2000" b="0" i="1" smtClean="0">
                              <a:solidFill>
                                <a:srgbClr val="C00000"/>
                              </a:solidFill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solidFill>
                                <a:srgbClr val="C00000"/>
                              </a:solidFill>
                              <a:latin typeface="Cambria Math" charset="0"/>
                            </a:rPr>
                            <m:t>1+</m:t>
                          </m:r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zh-CN" sz="2000" b="0" i="1" smtClean="0">
                                  <a:solidFill>
                                    <a:srgbClr val="C00000"/>
                                  </a:solidFill>
                                  <a:latin typeface="Cambria Math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altLang="zh-CN" sz="2000" b="0" i="1" smtClean="0">
                                  <a:solidFill>
                                    <a:srgbClr val="C00000"/>
                                  </a:solidFill>
                                  <a:latin typeface="Cambria Math" charset="0"/>
                                </a:rPr>
                                <m:t>𝑤</m:t>
                              </m:r>
                              <m:r>
                                <a:rPr lang="en-US" altLang="zh-CN" sz="2000" b="0" i="1" smtClean="0">
                                  <a:solidFill>
                                    <a:srgbClr val="C00000"/>
                                  </a:solidFill>
                                  <a:latin typeface="Cambria Math" charset="0"/>
                                </a:rPr>
                                <m:t>∈</m:t>
                              </m:r>
                              <m:sSub>
                                <m:sSubPr>
                                  <m:ctrlPr>
                                    <a:rPr lang="en-US" altLang="zh-CN" sz="2000" b="0" i="1" smtClean="0">
                                      <a:solidFill>
                                        <a:srgbClr val="C00000"/>
                                      </a:solidFill>
                                      <a:latin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0" i="1" smtClean="0">
                                      <a:solidFill>
                                        <a:srgbClr val="C00000"/>
                                      </a:solidFill>
                                      <a:latin typeface="Cambria Math" charset="0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solidFill>
                                        <a:srgbClr val="C00000"/>
                                      </a:solidFill>
                                      <a:latin typeface="Cambria Math" charset="0"/>
                                    </a:rPr>
                                    <m:t>𝑣</m:t>
                                  </m:r>
                                </m:sub>
                              </m:sSub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altLang="zh-CN" sz="2000" b="0" i="1" smtClean="0">
                                      <a:solidFill>
                                        <a:srgbClr val="C00000"/>
                                      </a:solidFill>
                                      <a:latin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0" i="1" smtClean="0">
                                      <a:solidFill>
                                        <a:srgbClr val="C00000"/>
                                      </a:solidFill>
                                      <a:latin typeface="Cambria Math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solidFill>
                                        <a:srgbClr val="C00000"/>
                                      </a:solidFill>
                                      <a:latin typeface="Cambria Math" charset="0"/>
                                    </a:rPr>
                                    <m:t>𝑣</m:t>
                                  </m:r>
                                  <m:r>
                                    <a:rPr lang="en-US" altLang="zh-CN" sz="2000" b="0" i="1" smtClean="0">
                                      <a:solidFill>
                                        <a:srgbClr val="C00000"/>
                                      </a:solidFill>
                                      <a:latin typeface="Cambria Math" charset="0"/>
                                    </a:rPr>
                                    <m:t>→</m:t>
                                  </m:r>
                                  <m:r>
                                    <a:rPr lang="en-US" altLang="zh-CN" sz="2000" b="0" i="1" smtClean="0">
                                      <a:solidFill>
                                        <a:srgbClr val="C00000"/>
                                      </a:solidFill>
                                      <a:latin typeface="Cambria Math" charset="0"/>
                                    </a:rPr>
                                    <m:t>𝑤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</m:oMath>
                  </m:oMathPara>
                </a14:m>
                <a:endParaRPr lang="en-US" altLang="zh-CN" sz="2000" b="0" i="1" dirty="0" smtClean="0">
                  <a:solidFill>
                    <a:srgbClr val="C00000"/>
                  </a:solidFill>
                  <a:latin typeface="Cambria Math" charset="0"/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3293" y="3477703"/>
                <a:ext cx="4896340" cy="1177182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/>
          <p:cNvSpPr/>
          <p:nvPr/>
        </p:nvSpPr>
        <p:spPr>
          <a:xfrm>
            <a:off x="5062635" y="3834840"/>
            <a:ext cx="1722477" cy="92131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6970643" y="3834840"/>
            <a:ext cx="2001488" cy="92131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3816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数据科学家应具备什么能力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zh-CN" altLang="en-US" dirty="0" smtClean="0"/>
              <a:t>管理和处理各种类型的数据</a:t>
            </a:r>
            <a:endParaRPr lang="en-US" altLang="zh-CN" dirty="0" smtClean="0"/>
          </a:p>
          <a:p>
            <a:pPr>
              <a:spcAft>
                <a:spcPts val="600"/>
              </a:spcAft>
            </a:pPr>
            <a:r>
              <a:rPr lang="zh-CN" altLang="en-US" dirty="0" smtClean="0"/>
              <a:t>解决数据科学的两个核心任务</a:t>
            </a:r>
            <a:endParaRPr lang="en-US" altLang="zh-CN" dirty="0" smtClean="0"/>
          </a:p>
          <a:p>
            <a:pPr lvl="1">
              <a:spcAft>
                <a:spcPts val="600"/>
              </a:spcAft>
            </a:pPr>
            <a:r>
              <a:rPr lang="zh-CN" altLang="en-US" dirty="0"/>
              <a:t>从数据中洞见</a:t>
            </a:r>
            <a:r>
              <a:rPr lang="zh-CN" altLang="en-US" dirty="0" smtClean="0"/>
              <a:t>真知</a:t>
            </a:r>
            <a:endParaRPr lang="en-US" altLang="zh-CN" dirty="0" smtClean="0"/>
          </a:p>
          <a:p>
            <a:pPr lvl="1">
              <a:spcAft>
                <a:spcPts val="600"/>
              </a:spcAft>
            </a:pPr>
            <a:r>
              <a:rPr lang="zh-CN" altLang="en-US" dirty="0"/>
              <a:t>基于数据驱动进行决策</a:t>
            </a:r>
            <a:r>
              <a:rPr lang="zh-CN" altLang="en-US" dirty="0" smtClean="0"/>
              <a:t>支持</a:t>
            </a:r>
            <a:endParaRPr lang="en-US" altLang="zh-CN" dirty="0" smtClean="0"/>
          </a:p>
          <a:p>
            <a:pPr>
              <a:spcAft>
                <a:spcPts val="600"/>
              </a:spcAft>
            </a:pPr>
            <a:r>
              <a:rPr lang="zh-CN" altLang="en-US" dirty="0" smtClean="0"/>
              <a:t>掌握</a:t>
            </a:r>
            <a:r>
              <a:rPr lang="zh-CN" altLang="en-US" dirty="0"/>
              <a:t>数据分析的技能与</a:t>
            </a:r>
            <a:r>
              <a:rPr lang="zh-CN" altLang="en-US" dirty="0" smtClean="0"/>
              <a:t>工具</a:t>
            </a:r>
            <a:endParaRPr lang="en-US" altLang="zh-CN" dirty="0" smtClean="0"/>
          </a:p>
          <a:p>
            <a:pPr>
              <a:spcAft>
                <a:spcPts val="600"/>
              </a:spcAft>
            </a:pPr>
            <a:r>
              <a:rPr lang="zh-CN" altLang="en-US" dirty="0" smtClean="0"/>
              <a:t>能够</a:t>
            </a:r>
            <a:r>
              <a:rPr lang="zh-CN" altLang="en-US" dirty="0"/>
              <a:t>处理大规模的</a:t>
            </a:r>
            <a:r>
              <a:rPr lang="zh-CN" altLang="en-US" dirty="0" smtClean="0"/>
              <a:t>数据</a:t>
            </a:r>
            <a:endParaRPr lang="en-US" altLang="zh-CN" dirty="0" smtClean="0"/>
          </a:p>
          <a:p>
            <a:pPr>
              <a:spcAft>
                <a:spcPts val="600"/>
              </a:spcAft>
            </a:pPr>
            <a:r>
              <a:rPr lang="zh-CN" altLang="en-US" dirty="0" smtClean="0"/>
              <a:t>了解</a:t>
            </a:r>
            <a:r>
              <a:rPr lang="zh-CN" altLang="en-US" dirty="0"/>
              <a:t>数据伦理问题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96935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1111111111"/>
</p:tagLst>
</file>

<file path=ppt/theme/theme1.xml><?xml version="1.0" encoding="utf-8"?>
<a:theme xmlns:a="http://schemas.openxmlformats.org/drawingml/2006/main" name="清风素材 https://12sc.taobao.com/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11392</TotalTime>
  <Words>7556</Words>
  <Application>Microsoft Macintosh PowerPoint</Application>
  <PresentationFormat>On-screen Show (16:9)</PresentationFormat>
  <Paragraphs>962</Paragraphs>
  <Slides>86</Slides>
  <Notes>24</Notes>
  <HiddenSlides>0</HiddenSlides>
  <MMClips>0</MMClips>
  <ScaleCrop>false</ScaleCrop>
  <HeadingPairs>
    <vt:vector size="8" baseType="variant">
      <vt:variant>
        <vt:lpstr>Fonts Used</vt:lpstr>
      </vt:variant>
      <vt:variant>
        <vt:i4>21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86</vt:i4>
      </vt:variant>
    </vt:vector>
  </HeadingPairs>
  <TitlesOfParts>
    <vt:vector size="109" baseType="lpstr">
      <vt:lpstr>Calibri</vt:lpstr>
      <vt:lpstr>Cambria Math</vt:lpstr>
      <vt:lpstr>Courier New</vt:lpstr>
      <vt:lpstr>Helvetica Neue</vt:lpstr>
      <vt:lpstr>kaiti</vt:lpstr>
      <vt:lpstr>Mangal</vt:lpstr>
      <vt:lpstr>Microsoft YaHei</vt:lpstr>
      <vt:lpstr>STZhongsong</vt:lpstr>
      <vt:lpstr>Symbol</vt:lpstr>
      <vt:lpstr>Tahoma</vt:lpstr>
      <vt:lpstr>Times</vt:lpstr>
      <vt:lpstr>Times New Roman</vt:lpstr>
      <vt:lpstr>Verdana</vt:lpstr>
      <vt:lpstr>Wingdings</vt:lpstr>
      <vt:lpstr>Wingdings 2</vt:lpstr>
      <vt:lpstr>华文中宋</vt:lpstr>
      <vt:lpstr>宋体</vt:lpstr>
      <vt:lpstr>微软雅黑</vt:lpstr>
      <vt:lpstr>方正超粗黑简体</vt:lpstr>
      <vt:lpstr>楷体</vt:lpstr>
      <vt:lpstr>Arial</vt:lpstr>
      <vt:lpstr>清风素材 https://12sc.taobao.com/</vt:lpstr>
      <vt:lpstr>Equation</vt:lpstr>
      <vt:lpstr>PowerPoint Presentation</vt:lpstr>
      <vt:lpstr>期末考试</vt:lpstr>
      <vt:lpstr>课程主要内容</vt:lpstr>
      <vt:lpstr>课程主要内容</vt:lpstr>
      <vt:lpstr>课程主要内容</vt:lpstr>
      <vt:lpstr>课程主要内容</vt:lpstr>
      <vt:lpstr>数据值的类型</vt:lpstr>
      <vt:lpstr>数据缺失</vt:lpstr>
      <vt:lpstr>缺失值处理</vt:lpstr>
      <vt:lpstr>数值间的转换</vt:lpstr>
      <vt:lpstr>数据离散化处理</vt:lpstr>
      <vt:lpstr>数据离散化处理</vt:lpstr>
      <vt:lpstr>发现异常值（outlier）</vt:lpstr>
      <vt:lpstr>发现异常值（outlier）</vt:lpstr>
      <vt:lpstr>发现异常值（outlier）</vt:lpstr>
      <vt:lpstr>数据归一化(normalization)处理</vt:lpstr>
      <vt:lpstr>PowerPoint Presentation</vt:lpstr>
      <vt:lpstr>数据建模的四个步骤</vt:lpstr>
      <vt:lpstr>线性回归模型 – Linear Regression</vt:lpstr>
      <vt:lpstr>将线性回归表示为矩阵相乘</vt:lpstr>
      <vt:lpstr>设计矩阵（Design Matrix）</vt:lpstr>
      <vt:lpstr>将线性回归表示为矩阵相乘</vt:lpstr>
      <vt:lpstr>设计矩阵（Design Matrix）</vt:lpstr>
      <vt:lpstr>MSE目标函数的矩阵形式</vt:lpstr>
      <vt:lpstr>使用梯度下降求解多元线性回归模型</vt:lpstr>
      <vt:lpstr>随机梯度下降（Stochastic Gradient Descent, SGD）</vt:lpstr>
      <vt:lpstr>决策树 – Decision Tree</vt:lpstr>
      <vt:lpstr>决策树构建算法</vt:lpstr>
      <vt:lpstr>信息熵 - Entropy</vt:lpstr>
      <vt:lpstr>条件熵 – Conditional Entropy</vt:lpstr>
      <vt:lpstr>选择决策特征</vt:lpstr>
      <vt:lpstr>   选择决策特征</vt:lpstr>
      <vt:lpstr>逻辑回归模型 – Logistic Regression</vt:lpstr>
      <vt:lpstr>交叉熵（Cross Entropy）损失函数</vt:lpstr>
      <vt:lpstr>交叉熵（Cross Entropy）损失函数</vt:lpstr>
      <vt:lpstr>感知机线性分类器</vt:lpstr>
      <vt:lpstr>分析案例</vt:lpstr>
      <vt:lpstr>学习模型的损失函数</vt:lpstr>
      <vt:lpstr>随机梯度下降</vt:lpstr>
      <vt:lpstr>EM算法深入 – 混合高斯模型 注：这部分属于了解内容</vt:lpstr>
      <vt:lpstr>混合高斯模型</vt:lpstr>
      <vt:lpstr>极大似然估计 - Maximum Likelihood Estimate</vt:lpstr>
      <vt:lpstr>极大似然估计 - Maximum Likelihood Estimate</vt:lpstr>
      <vt:lpstr>极大似然估计 - Maximum Likelihood Estimate</vt:lpstr>
      <vt:lpstr>混合高斯分布的极大似然估计</vt:lpstr>
      <vt:lpstr>混合高斯分布的极大似然估计</vt:lpstr>
      <vt:lpstr>使用EM算法进行交替优化</vt:lpstr>
      <vt:lpstr>使用EM算法进行交替优化</vt:lpstr>
      <vt:lpstr>K-Means与EM</vt:lpstr>
      <vt:lpstr>分类问题的基本步骤</vt:lpstr>
      <vt:lpstr>分类问题的基本步骤</vt:lpstr>
      <vt:lpstr>精度（误差）的评测效果总是好吗？</vt:lpstr>
      <vt:lpstr>精度（误差）的评测效果总是好吗？</vt:lpstr>
      <vt:lpstr>精度（误差）的评测效果总是好吗？</vt:lpstr>
      <vt:lpstr>精度（误差）的评测效果总是好吗？</vt:lpstr>
      <vt:lpstr>总结：数据建模的四个步骤</vt:lpstr>
      <vt:lpstr>DS04 – 文本数据分析</vt:lpstr>
      <vt:lpstr>LSI: 从单词-文档的共现矩阵开始</vt:lpstr>
      <vt:lpstr>LSI第一步：对单词-文档共现矩阵进行分解</vt:lpstr>
      <vt:lpstr>SVD得到的U、Σ、V</vt:lpstr>
      <vt:lpstr>SVD计算示例</vt:lpstr>
      <vt:lpstr>SVD计算示例</vt:lpstr>
      <vt:lpstr>LSI第二步：对特征根进行排序</vt:lpstr>
      <vt:lpstr>LSI第三步：只保留前K个特征值，其余置零</vt:lpstr>
      <vt:lpstr>回到之前的例子</vt:lpstr>
      <vt:lpstr>回到之前的例子</vt:lpstr>
      <vt:lpstr>回到之前的例子</vt:lpstr>
      <vt:lpstr>回到之前的例子</vt:lpstr>
      <vt:lpstr>朴素贝叶斯（Naïve Bayes）</vt:lpstr>
      <vt:lpstr>最大化后验概率</vt:lpstr>
      <vt:lpstr>朴素贝叶斯训练算法</vt:lpstr>
      <vt:lpstr>朴素贝叶斯应用/测试</vt:lpstr>
      <vt:lpstr>图数据分析</vt:lpstr>
      <vt:lpstr>三种Centrality度量的比较</vt:lpstr>
      <vt:lpstr>PageRank算法</vt:lpstr>
      <vt:lpstr>Personalized PageRank</vt:lpstr>
      <vt:lpstr>社区检测优化目标：Modularity Q</vt:lpstr>
      <vt:lpstr>Modularity Q</vt:lpstr>
      <vt:lpstr>Louvain算法</vt:lpstr>
      <vt:lpstr>Louvain算法</vt:lpstr>
      <vt:lpstr>Louvain算法</vt:lpstr>
      <vt:lpstr>Independent Cascades模型</vt:lpstr>
      <vt:lpstr>影响力最大化（Influence Maximization）</vt:lpstr>
      <vt:lpstr>Degree Discount算法</vt:lpstr>
      <vt:lpstr>Degree Discount算法的扩展</vt:lpstr>
      <vt:lpstr>数据科学家应具备什么能力</vt:lpstr>
    </vt:vector>
  </TitlesOfParts>
  <Company/>
  <LinksUpToDate>false</LinksUpToDate>
  <SharedDoc>false</SharedDoc>
  <HyperlinksChanged>false</HyperlinksChanged>
  <AppVersion>15.0033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>Administrator</dc:creator>
  <cp:keywords/>
  <dc:description/>
  <cp:lastModifiedBy>范 举</cp:lastModifiedBy>
  <cp:revision>702</cp:revision>
  <cp:lastPrinted>2019-05-17T07:43:51Z</cp:lastPrinted>
  <dcterms:created xsi:type="dcterms:W3CDTF">2015-01-23T04:02:45Z</dcterms:created>
  <dcterms:modified xsi:type="dcterms:W3CDTF">2025-12-25T14:58:28Z</dcterms:modified>
  <cp:category/>
  <cp:contentStatus>12sc.taobao.com</cp:contentStatus>
</cp:coreProperties>
</file>