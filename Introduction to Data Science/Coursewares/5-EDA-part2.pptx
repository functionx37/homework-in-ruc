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wdp" ContentType="image/vnd.ms-photo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22.jpg" ContentType="image/pn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0" r:id="rId2"/>
  </p:sldMasterIdLst>
  <p:notesMasterIdLst>
    <p:notesMasterId r:id="rId65"/>
  </p:notesMasterIdLst>
  <p:sldIdLst>
    <p:sldId id="1885" r:id="rId3"/>
    <p:sldId id="1889" r:id="rId4"/>
    <p:sldId id="1782" r:id="rId5"/>
    <p:sldId id="1783" r:id="rId6"/>
    <p:sldId id="1784" r:id="rId7"/>
    <p:sldId id="1786" r:id="rId8"/>
    <p:sldId id="1788" r:id="rId9"/>
    <p:sldId id="1789" r:id="rId10"/>
    <p:sldId id="1790" r:id="rId11"/>
    <p:sldId id="1791" r:id="rId12"/>
    <p:sldId id="1792" r:id="rId13"/>
    <p:sldId id="1793" r:id="rId14"/>
    <p:sldId id="1800" r:id="rId15"/>
    <p:sldId id="1801" r:id="rId16"/>
    <p:sldId id="1886" r:id="rId17"/>
    <p:sldId id="1803" r:id="rId18"/>
    <p:sldId id="1804" r:id="rId19"/>
    <p:sldId id="1805" r:id="rId20"/>
    <p:sldId id="1806" r:id="rId21"/>
    <p:sldId id="1807" r:id="rId22"/>
    <p:sldId id="1808" r:id="rId23"/>
    <p:sldId id="1809" r:id="rId24"/>
    <p:sldId id="1810" r:id="rId25"/>
    <p:sldId id="1811" r:id="rId26"/>
    <p:sldId id="1812" r:id="rId27"/>
    <p:sldId id="1813" r:id="rId28"/>
    <p:sldId id="1814" r:id="rId29"/>
    <p:sldId id="1815" r:id="rId30"/>
    <p:sldId id="1816" r:id="rId31"/>
    <p:sldId id="1817" r:id="rId32"/>
    <p:sldId id="1887" r:id="rId33"/>
    <p:sldId id="1834" r:id="rId34"/>
    <p:sldId id="1835" r:id="rId35"/>
    <p:sldId id="1836" r:id="rId36"/>
    <p:sldId id="1837" r:id="rId37"/>
    <p:sldId id="1838" r:id="rId38"/>
    <p:sldId id="1839" r:id="rId39"/>
    <p:sldId id="1840" r:id="rId40"/>
    <p:sldId id="1841" r:id="rId41"/>
    <p:sldId id="1842" r:id="rId42"/>
    <p:sldId id="1843" r:id="rId43"/>
    <p:sldId id="1844" r:id="rId44"/>
    <p:sldId id="1845" r:id="rId45"/>
    <p:sldId id="1846" r:id="rId46"/>
    <p:sldId id="1847" r:id="rId47"/>
    <p:sldId id="1848" r:id="rId48"/>
    <p:sldId id="1849" r:id="rId49"/>
    <p:sldId id="1850" r:id="rId50"/>
    <p:sldId id="1851" r:id="rId51"/>
    <p:sldId id="1852" r:id="rId52"/>
    <p:sldId id="1853" r:id="rId53"/>
    <p:sldId id="1854" r:id="rId54"/>
    <p:sldId id="1888" r:id="rId55"/>
    <p:sldId id="1856" r:id="rId56"/>
    <p:sldId id="1857" r:id="rId57"/>
    <p:sldId id="1858" r:id="rId58"/>
    <p:sldId id="1859" r:id="rId59"/>
    <p:sldId id="1860" r:id="rId60"/>
    <p:sldId id="1861" r:id="rId61"/>
    <p:sldId id="1862" r:id="rId62"/>
    <p:sldId id="1863" r:id="rId63"/>
    <p:sldId id="1880" r:id="rId64"/>
  </p:sldIdLst>
  <p:sldSz cx="9144000" cy="5143500" type="screen16x9"/>
  <p:notesSz cx="6858000" cy="9144000"/>
  <p:custDataLst>
    <p:tags r:id="rId6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8E9A7"/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66" autoAdjust="0"/>
    <p:restoredTop sz="70085" autoAdjust="0"/>
  </p:normalViewPr>
  <p:slideViewPr>
    <p:cSldViewPr snapToGrid="0">
      <p:cViewPr>
        <p:scale>
          <a:sx n="105" d="100"/>
          <a:sy n="105" d="100"/>
        </p:scale>
        <p:origin x="2128" y="6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notesMaster" Target="notesMasters/notesMaster1.xml"/><Relationship Id="rId66" Type="http://schemas.openxmlformats.org/officeDocument/2006/relationships/tags" Target="tags/tag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70" Type="http://schemas.openxmlformats.org/officeDocument/2006/relationships/tableStyles" Target="tableStyles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2024/10/16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457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537CBA-0E44-4282-A4F0-C3BCC1A4C2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6181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56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1FC198-2D83-4DFC-8CDD-7D23AF44D4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729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4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</a:t>
            </a:r>
            <a:r>
              <a:rPr lang="en-US" dirty="0" err="1" smtClean="0"/>
              <a:t>pandas.pydata.org</a:t>
            </a:r>
            <a:r>
              <a:rPr lang="en-US" dirty="0" smtClean="0"/>
              <a:t>/pandas-docs/stable/reference/</a:t>
            </a:r>
            <a:r>
              <a:rPr lang="en-US" dirty="0" err="1" smtClean="0"/>
              <a:t>api</a:t>
            </a:r>
            <a:r>
              <a:rPr lang="en-US" dirty="0" smtClean="0"/>
              <a:t>/</a:t>
            </a:r>
            <a:r>
              <a:rPr lang="en-US" dirty="0" err="1" smtClean="0"/>
              <a:t>pandas.read_json.html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40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597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1FC198-2D83-4DFC-8CDD-7D23AF44D4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180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02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4271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39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1FC198-2D83-4DFC-8CDD-7D23AF44D4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3389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7386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7803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577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等宽简单，但对不均衡分布效果不好</a:t>
            </a:r>
            <a:endParaRPr kumimoji="1" lang="en-US" altLang="zh-CN" dirty="0"/>
          </a:p>
          <a:p>
            <a:r>
              <a:rPr kumimoji="1" lang="zh-CN" altLang="en-US" dirty="0"/>
              <a:t>决策树方法自己做离散化处理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5798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Mean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37;</a:t>
            </a:r>
            <a:r>
              <a:rPr lang="zh-CN" altLang="en-US" baseline="0" dirty="0"/>
              <a:t> </a:t>
            </a:r>
            <a:r>
              <a:rPr lang="en-US" altLang="zh-CN" baseline="0" dirty="0" err="1"/>
              <a:t>Stddev</a:t>
            </a:r>
            <a:r>
              <a:rPr lang="zh-CN" altLang="en-US" baseline="0" dirty="0"/>
              <a:t> </a:t>
            </a:r>
            <a:r>
              <a:rPr lang="en-US" altLang="zh-CN" baseline="0" dirty="0"/>
              <a:t>=</a:t>
            </a:r>
            <a:r>
              <a:rPr lang="zh-CN" altLang="en-US" baseline="0" dirty="0"/>
              <a:t> </a:t>
            </a:r>
            <a:r>
              <a:rPr lang="en-US" altLang="zh-CN" baseline="0" dirty="0"/>
              <a:t>16</a:t>
            </a:r>
          </a:p>
          <a:p>
            <a:r>
              <a:rPr lang="en-US" altLang="zh-CN" baseline="0" dirty="0"/>
              <a:t>K</a:t>
            </a:r>
            <a:r>
              <a:rPr lang="zh-CN" altLang="en-US" baseline="0" dirty="0"/>
              <a:t> </a:t>
            </a:r>
            <a:r>
              <a:rPr lang="en-US" altLang="zh-CN" baseline="0" dirty="0"/>
              <a:t>=</a:t>
            </a:r>
            <a:r>
              <a:rPr lang="zh-CN" altLang="en-US" baseline="0" dirty="0"/>
              <a:t> </a:t>
            </a:r>
            <a:r>
              <a:rPr lang="en-US" altLang="zh-CN" baseline="0" dirty="0"/>
              <a:t>2</a:t>
            </a:r>
            <a:r>
              <a:rPr lang="zh-CN" altLang="en-US" baseline="0" dirty="0"/>
              <a:t> </a:t>
            </a:r>
            <a:r>
              <a:rPr lang="zh-CN" altLang="en-US" baseline="0" dirty="0">
                <a:sym typeface="Wingdings"/>
              </a:rPr>
              <a:t> </a:t>
            </a:r>
            <a:r>
              <a:rPr lang="en-US" altLang="zh-CN" baseline="0" dirty="0"/>
              <a:t>[4,</a:t>
            </a:r>
            <a:r>
              <a:rPr lang="zh-CN" altLang="en-US" baseline="0" dirty="0"/>
              <a:t> </a:t>
            </a:r>
            <a:r>
              <a:rPr lang="en-US" altLang="zh-CN" baseline="0" dirty="0"/>
              <a:t>70]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9756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1FC198-2D83-4DFC-8CDD-7D23AF44D4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89254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5726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武汉的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封城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进一步增加了这些求助者就医的难度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，财新曾经报道过步履蹒跚的老人相互搀扶走向医院的场景。无法及时得到诊断和救治使他们面临病情恶化的风险，也增加了交叉感染的可能。</a:t>
            </a:r>
            <a:r>
              <a:rPr lang="zh-CN" alt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所在行政区定点收治医院较少、与医院之间距离较远、公共交通停摆等原因使这些求助者每日辗转于小区与医院之间，在等待确诊与收治的过程中艰难求生。</a:t>
            </a:r>
            <a:r>
              <a:rPr lang="en-GB" dirty="0" smtClean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50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这些求助者所居住的房屋，无论是价格还是年份，都与武汉住宅的整体分布相当：</a:t>
            </a:r>
            <a:r>
              <a:rPr lang="zh-CN" alt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也就是说，他们并不是传统意义上的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弱势群体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，他们可能就是你我。</a:t>
            </a:r>
            <a:r>
              <a:rPr lang="en-GB" dirty="0" smtClean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5373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537CBA-0E44-4282-A4F0-C3BCC1A4C2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915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2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7429"/>
      </p:ext>
    </p:extLst>
  </p:cSld>
  <p:clrMapOvr>
    <a:masterClrMapping/>
  </p:clrMapOvr>
  <p:transition spd="slow">
    <p:cover dir="r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429399"/>
      </p:ext>
    </p:extLst>
  </p:cSld>
  <p:clrMapOvr>
    <a:masterClrMapping/>
  </p:clrMapOvr>
  <p:transition spd="slow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059749"/>
      </p:ext>
    </p:extLst>
  </p:cSld>
  <p:clrMapOvr>
    <a:masterClrMapping/>
  </p:clrMapOvr>
  <p:transition spd="slow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460346"/>
      </p:ext>
    </p:extLst>
  </p:cSld>
  <p:clrMapOvr>
    <a:masterClrMapping/>
  </p:clrMapOvr>
  <p:transition spd="slow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867452"/>
      </p:ext>
    </p:extLst>
  </p:cSld>
  <p:clrMapOvr>
    <a:masterClrMapping/>
  </p:clrMapOvr>
  <p:transition spd="slow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596384"/>
      </p:ext>
    </p:extLst>
  </p:cSld>
  <p:clrMapOvr>
    <a:masterClrMapping/>
  </p:clrMapOvr>
  <p:transition spd="slow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60766"/>
      </p:ext>
    </p:extLst>
  </p:cSld>
  <p:clrMapOvr>
    <a:masterClrMapping/>
  </p:clrMapOvr>
  <p:transition spd="slow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825772"/>
      </p:ext>
    </p:extLst>
  </p:cSld>
  <p:clrMapOvr>
    <a:masterClrMapping/>
  </p:clrMapOvr>
  <p:transition spd="slow"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816997"/>
      </p:ext>
    </p:extLst>
  </p:cSld>
  <p:clrMapOvr>
    <a:masterClrMapping/>
  </p:clrMapOvr>
  <p:transition spd="slow"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873669"/>
      </p:ext>
    </p:extLst>
  </p:cSld>
  <p:clrMapOvr>
    <a:masterClrMapping/>
  </p:clrMapOvr>
  <p:transition spd="slow">
    <p:pull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495262"/>
      </p:ext>
    </p:extLst>
  </p:cSld>
  <p:clrMapOvr>
    <a:masterClrMapping/>
  </p:clrMapOvr>
  <p:transition spd="slow">
    <p:pull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235163"/>
      </p:ext>
    </p:extLst>
  </p:cSld>
  <p:clrMapOvr>
    <a:masterClrMapping/>
  </p:clrMapOvr>
  <p:transition spd="slow">
    <p:pull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854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91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30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5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jpg"/><Relationship Id="rId18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theme" Target="../theme/theme2.xml"/><Relationship Id="rId17" Type="http://schemas.openxmlformats.org/officeDocument/2006/relationships/image" Target="../media/image1.jpg"/><Relationship Id="rId18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=""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9" r:id="rId15"/>
  </p:sldLayoutIdLst>
  <p:transition spd="slow">
    <p:pull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=""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13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</p:sldLayoutIdLst>
  <p:transition spd="slow">
    <p:pull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microsoft.com/office/2007/relationships/hdphoto" Target="../media/hdphoto1.wdp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1" Type="http://schemas.openxmlformats.org/officeDocument/2006/relationships/tags" Target="../tags/tag2.xml"/><Relationship Id="rId2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hyperlink" Target="https://pythonspot.com/pandas-read-csv/" TargetMode="External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pandas.pydata.org/pandas-docs/stable/reference/api/pandas.read_json.html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hyperlink" Target="https://www.selenium.dev/" TargetMode="External"/><Relationship Id="rId5" Type="http://schemas.openxmlformats.org/officeDocument/2006/relationships/hyperlink" Target="https://scrapy.org/" TargetMode="External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cc.com/firm/d1b84f508d958bdd374cba6f903686b3.html" TargetMode="External"/><Relationship Id="rId4" Type="http://schemas.openxmlformats.org/officeDocument/2006/relationships/image" Target="../media/image20.png"/><Relationship Id="rId5" Type="http://schemas.openxmlformats.org/officeDocument/2006/relationships/hyperlink" Target="https://baike.baidu.com/item/&#19975;&#24471;&#20449;&#24687;&#25216;&#26415;&#32929;&#20221;&#26377;&#38480;&#20844;&#21496;/20101094" TargetMode="External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4" Type="http://schemas.openxmlformats.org/officeDocument/2006/relationships/hyperlink" Target="http://www.stats.gov.cn/tjsj/sjjd/202303/t20230309_1936941.html" TargetMode="External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3.jpeg"/><Relationship Id="rId3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hyperlink" Target="https://dev.mysql.com/doc/connector-python/en/connector-python-examples.html" TargetMode="External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9.jpg"/><Relationship Id="rId5" Type="http://schemas.openxmlformats.org/officeDocument/2006/relationships/image" Target="../media/image11.png"/><Relationship Id="rId6" Type="http://schemas.openxmlformats.org/officeDocument/2006/relationships/image" Target="../media/image27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9.jpg"/><Relationship Id="rId5" Type="http://schemas.openxmlformats.org/officeDocument/2006/relationships/image" Target="../media/image11.png"/><Relationship Id="rId6" Type="http://schemas.openxmlformats.org/officeDocument/2006/relationships/image" Target="../media/image28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653564309@qq.com" TargetMode="External"/><Relationship Id="rId4" Type="http://schemas.openxmlformats.org/officeDocument/2006/relationships/hyperlink" Target="mailto:hehehe@gmail.com" TargetMode="External"/><Relationship Id="rId5" Type="http://schemas.openxmlformats.org/officeDocument/2006/relationships/hyperlink" Target="mailto:chigua@sina.cn" TargetMode="External"/><Relationship Id="rId6" Type="http://schemas.openxmlformats.org/officeDocument/2006/relationships/hyperlink" Target="mailto:34gdggfdgrtyhyr@163.com" TargetMode="External"/><Relationship Id="rId7" Type="http://schemas.openxmlformats.org/officeDocument/2006/relationships/image" Target="../media/image30.jpeg"/><Relationship Id="rId1" Type="http://schemas.openxmlformats.org/officeDocument/2006/relationships/slideLayout" Target="../slideLayouts/slideLayout17.xml"/><Relationship Id="rId2" Type="http://schemas.openxmlformats.org/officeDocument/2006/relationships/hyperlink" Target="mailto:34sdg4gfwr4@ruc.edu.cn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hyperlink" Target="mailto:34sdg4gfwr4@ruc.edu.cn" TargetMode="External"/><Relationship Id="rId3" Type="http://schemas.openxmlformats.org/officeDocument/2006/relationships/hyperlink" Target="mailto:hehehe@.gmail.com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hyperlink" Target="mailto:34sdg4gfwr4@ruc.edu.cn" TargetMode="External"/><Relationship Id="rId3" Type="http://schemas.openxmlformats.org/officeDocument/2006/relationships/hyperlink" Target="mailto:hehehe@.gmail.com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1.png"/><Relationship Id="rId3" Type="http://schemas.openxmlformats.org/officeDocument/2006/relationships/image" Target="../media/image42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3.png"/><Relationship Id="rId3" Type="http://schemas.openxmlformats.org/officeDocument/2006/relationships/image" Target="../media/image4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4" Type="http://schemas.openxmlformats.org/officeDocument/2006/relationships/image" Target="../media/image46.jpeg"/><Relationship Id="rId5" Type="http://schemas.openxmlformats.org/officeDocument/2006/relationships/image" Target="../media/image47.jpe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4.emf"/><Relationship Id="rId3" Type="http://schemas.openxmlformats.org/officeDocument/2006/relationships/image" Target="../media/image55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7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8.emf"/><Relationship Id="rId3" Type="http://schemas.openxmlformats.org/officeDocument/2006/relationships/image" Target="../media/image59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4" Type="http://schemas.openxmlformats.org/officeDocument/2006/relationships/image" Target="../media/image62.emf"/><Relationship Id="rId5" Type="http://schemas.openxmlformats.org/officeDocument/2006/relationships/image" Target="../media/image63.emf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0.e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4" Type="http://schemas.openxmlformats.org/officeDocument/2006/relationships/image" Target="../media/image67.emf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5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8.e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4" Type="http://schemas.openxmlformats.org/officeDocument/2006/relationships/image" Target="../media/image70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0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1.png"/><Relationship Id="rId3" Type="http://schemas.openxmlformats.org/officeDocument/2006/relationships/image" Target="../media/image72.jpe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3.jpeg"/><Relationship Id="rId3" Type="http://schemas.openxmlformats.org/officeDocument/2006/relationships/image" Target="../media/image7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4" Type="http://schemas.openxmlformats.org/officeDocument/2006/relationships/image" Target="../media/image76.jpe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7.jpe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22.xml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1" Type="http://schemas.openxmlformats.org/officeDocument/2006/relationships/tags" Target="../tags/tag4.xml"/><Relationship Id="rId2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68379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571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-74527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85940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85940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prstClr val="white"/>
                  </a:solidFill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78371"/>
            <a:ext cx="8945065" cy="584747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zh-CN" altLang="en-US" sz="3200" b="1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b="1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</a:t>
            </a:r>
            <a:r>
              <a:rPr lang="zh-CN" altLang="en-US" sz="32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：探索数据分析</a:t>
            </a:r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32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数据获取与准备</a:t>
            </a:r>
            <a:endParaRPr lang="zh-CN" altLang="en-US" sz="3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="" xmlns:a16="http://schemas.microsoft.com/office/drawing/2014/main" id="{B11913AF-7BDC-6A43-974D-C041DD8A3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908859"/>
            <a:ext cx="5256213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100000"/>
              <a:defRPr/>
            </a:pPr>
            <a:r>
              <a:rPr kumimoji="1" lang="zh-CN" altLang="mr-IN" b="1" kern="0" dirty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范</a:t>
            </a:r>
            <a:r>
              <a:rPr kumimoji="1" lang="zh-CN" altLang="mr-IN" b="1" kern="0" dirty="0" smtClean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举</a:t>
            </a:r>
            <a:r>
              <a:rPr kumimoji="1" lang="zh-CN" altLang="en-US" b="1" kern="0" dirty="0" smtClean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  </a:t>
            </a:r>
            <a:r>
              <a:rPr kumimoji="1" lang="zh-CN" altLang="mr-IN" b="1" kern="0" dirty="0" smtClean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教授         </a:t>
            </a:r>
            <a:r>
              <a:rPr kumimoji="1" lang="mr-IN" altLang="zh-CN" b="1" kern="0" dirty="0" err="1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fanj@ruc.edu.cn</a:t>
            </a:r>
            <a:endParaRPr kumimoji="1" lang="mr-IN" altLang="zh-CN" b="1" kern="0" dirty="0">
              <a:solidFill>
                <a:prstClr val="white"/>
              </a:solidFill>
              <a:latin typeface="Times-Roman" charset="0"/>
              <a:ea typeface="隶书" pitchFamily="49" charset="-122"/>
            </a:endParaRPr>
          </a:p>
        </p:txBody>
      </p:sp>
      <p:sp>
        <p:nvSpPr>
          <p:cNvPr id="18" name="Title 7">
            <a:extLst>
              <a:ext uri="{FF2B5EF4-FFF2-40B4-BE49-F238E27FC236}">
                <a16:creationId xmlns="" xmlns:a16="http://schemas.microsoft.com/office/drawing/2014/main" id="{9951EC0A-19E6-B749-9332-D3931CB533BE}"/>
              </a:ext>
            </a:extLst>
          </p:cNvPr>
          <p:cNvSpPr txBox="1">
            <a:spLocks/>
          </p:cNvSpPr>
          <p:nvPr/>
        </p:nvSpPr>
        <p:spPr>
          <a:xfrm>
            <a:off x="0" y="2996097"/>
            <a:ext cx="9144000" cy="4988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“数据科学导论”专业核心课</a:t>
            </a:r>
            <a:endParaRPr lang="en-US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31116" y="53164"/>
            <a:ext cx="4306772" cy="15696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本周五（</a:t>
            </a:r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日）有</a:t>
            </a:r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上机考试</a:t>
            </a:r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  <a:defRPr/>
            </a:pP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18:00-20:15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理工配楼二层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机房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39146" y="778979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77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探索数据分析</a:t>
            </a:r>
            <a:r>
              <a:rPr lang="zh-CN" altLang="en-US" dirty="0" smtClean="0"/>
              <a:t>：</a:t>
            </a:r>
            <a:r>
              <a:rPr lang="zh-CN" altLang="en-US" dirty="0" smtClean="0">
                <a:solidFill>
                  <a:srgbClr val="C00000"/>
                </a:solidFill>
              </a:rPr>
              <a:t>迭代</a:t>
            </a:r>
            <a:r>
              <a:rPr lang="zh-CN" altLang="en-US" dirty="0">
                <a:solidFill>
                  <a:srgbClr val="C00000"/>
                </a:solidFill>
              </a:rPr>
              <a:t>工作流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BEBC7A-FD02-486B-81B5-A845787C689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" name="Picture 4" descr="See the source image">
            <a:extLst>
              <a:ext uri="{FF2B5EF4-FFF2-40B4-BE49-F238E27FC236}">
                <a16:creationId xmlns:a16="http://schemas.microsoft.com/office/drawing/2014/main" xmlns="" id="{AF9411DD-B67E-E047-8674-4D5270E1D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66" y="1493056"/>
            <a:ext cx="995540" cy="99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Educational Theory and Practice: Teaching to Learn">
            <a:extLst>
              <a:ext uri="{FF2B5EF4-FFF2-40B4-BE49-F238E27FC236}">
                <a16:creationId xmlns:a16="http://schemas.microsoft.com/office/drawing/2014/main" xmlns="" id="{E1242FAE-5D34-4342-8BD3-051EF8D24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252" y="1427288"/>
            <a:ext cx="987892" cy="98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xmlns="" id="{77312953-4F0C-8147-8AA3-5EF1A5AE829F}"/>
              </a:ext>
            </a:extLst>
          </p:cNvPr>
          <p:cNvGrpSpPr/>
          <p:nvPr/>
        </p:nvGrpSpPr>
        <p:grpSpPr>
          <a:xfrm>
            <a:off x="2028098" y="1410601"/>
            <a:ext cx="5038962" cy="1651307"/>
            <a:chOff x="2242867" y="1109557"/>
            <a:chExt cx="5038962" cy="1651307"/>
          </a:xfrm>
        </p:grpSpPr>
        <p:sp>
          <p:nvSpPr>
            <p:cNvPr id="23" name="Rectangle 22" descr="再生纸">
              <a:extLst>
                <a:ext uri="{FF2B5EF4-FFF2-40B4-BE49-F238E27FC236}">
                  <a16:creationId xmlns:a16="http://schemas.microsoft.com/office/drawing/2014/main" xmlns="" id="{432DA395-D40C-2144-A047-97DE0FAC5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2867" y="1112618"/>
              <a:ext cx="798470" cy="1644632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/>
              <a:tailEnd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ts val="3040"/>
                </a:lnSpc>
                <a:buFontTx/>
                <a:buNone/>
                <a:defRPr/>
              </a:pPr>
              <a:r>
                <a:rPr lang="zh-CN" altLang="en-US" sz="2000" dirty="0">
                  <a:solidFill>
                    <a:srgbClr val="3D79B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</a:t>
              </a:r>
              <a:r>
                <a:rPr lang="zh-CN" altLang="en-US" sz="2000" dirty="0" smtClean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获取</a:t>
              </a:r>
              <a:endPara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Rectangle 23" descr="再生纸">
              <a:extLst>
                <a:ext uri="{FF2B5EF4-FFF2-40B4-BE49-F238E27FC236}">
                  <a16:creationId xmlns:a16="http://schemas.microsoft.com/office/drawing/2014/main" xmlns="" id="{BE01A64B-E92F-1A45-A4C6-01DB7E3F7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2990" y="1112618"/>
              <a:ext cx="798470" cy="1644632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/>
              <a:tailEnd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ts val="3040"/>
                </a:lnSpc>
                <a:buFontTx/>
                <a:buNone/>
                <a:defRPr/>
              </a:pPr>
              <a:r>
                <a:rPr lang="zh-CN" altLang="en-US" sz="2000" dirty="0" smtClean="0">
                  <a:solidFill>
                    <a:srgbClr val="3D79B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</a:t>
              </a:r>
              <a:r>
                <a:rPr lang="zh-CN" altLang="en-US" sz="2000" dirty="0" smtClean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准备</a:t>
              </a:r>
              <a:endPara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" name="Rectangle 24" descr="再生纸">
              <a:extLst>
                <a:ext uri="{FF2B5EF4-FFF2-40B4-BE49-F238E27FC236}">
                  <a16:creationId xmlns:a16="http://schemas.microsoft.com/office/drawing/2014/main" xmlns="" id="{8134BFE4-C3B1-1B4A-AB66-6AA633904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3113" y="1110602"/>
              <a:ext cx="798470" cy="1644632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/>
              <a:tailEnd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ts val="3040"/>
                </a:lnSpc>
                <a:buFontTx/>
                <a:buNone/>
                <a:defRPr/>
              </a:pPr>
              <a:r>
                <a:rPr lang="zh-CN" altLang="en-US" sz="2000" dirty="0" smtClean="0">
                  <a:solidFill>
                    <a:srgbClr val="3D79B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</a:t>
              </a:r>
              <a:r>
                <a:rPr lang="zh-CN" altLang="en-US" sz="2000" dirty="0" smtClean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探索</a:t>
              </a:r>
              <a:endPara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xmlns="" id="{4B5A9933-E2D1-2C4C-A7B1-0987FDFA97DF}"/>
                </a:ext>
              </a:extLst>
            </p:cNvPr>
            <p:cNvCxnSpPr>
              <a:stCxn id="23" idx="3"/>
              <a:endCxn id="24" idx="1"/>
            </p:cNvCxnSpPr>
            <p:nvPr/>
          </p:nvCxnSpPr>
          <p:spPr>
            <a:xfrm>
              <a:off x="3041337" y="1934934"/>
              <a:ext cx="261653" cy="0"/>
            </a:xfrm>
            <a:prstGeom prst="straightConnector1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 type="none" w="med" len="med"/>
              <a:tailEnd type="triangle" w="med" len="med"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xmlns="" id="{74039D2F-BE54-1146-AF8A-55D6BDC434D8}"/>
                </a:ext>
              </a:extLst>
            </p:cNvPr>
            <p:cNvCxnSpPr>
              <a:cxnSpLocks/>
              <a:stCxn id="24" idx="3"/>
              <a:endCxn id="25" idx="1"/>
            </p:cNvCxnSpPr>
            <p:nvPr/>
          </p:nvCxnSpPr>
          <p:spPr>
            <a:xfrm flipV="1">
              <a:off x="4101460" y="1932918"/>
              <a:ext cx="261653" cy="2016"/>
            </a:xfrm>
            <a:prstGeom prst="straightConnector1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 type="none" w="med" len="med"/>
              <a:tailEnd type="triangle" w="med" len="med"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</p:cxnSp>
        <p:sp>
          <p:nvSpPr>
            <p:cNvPr id="32" name="Rectangle 31" descr="再生纸">
              <a:extLst>
                <a:ext uri="{FF2B5EF4-FFF2-40B4-BE49-F238E27FC236}">
                  <a16:creationId xmlns:a16="http://schemas.microsoft.com/office/drawing/2014/main" xmlns="" id="{BBD36A06-EC22-B04F-ABFE-8D7CDD40B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3236" y="1116232"/>
              <a:ext cx="798470" cy="1644632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/>
              <a:tailEnd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ts val="3040"/>
                </a:lnSpc>
                <a:buFontTx/>
                <a:buNone/>
                <a:defRPr/>
              </a:pPr>
              <a:r>
                <a:rPr lang="zh-CN" altLang="en-US" sz="2000" dirty="0" smtClean="0">
                  <a:solidFill>
                    <a:schemeClr val="bg1">
                      <a:lumMod val="8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数据建模</a:t>
              </a:r>
              <a:endParaRPr lang="zh-CN" altLang="en-US" sz="2000" dirty="0">
                <a:solidFill>
                  <a:schemeClr val="bg1">
                    <a:lumMod val="8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3" name="Rectangle 32" descr="再生纸">
              <a:extLst>
                <a:ext uri="{FF2B5EF4-FFF2-40B4-BE49-F238E27FC236}">
                  <a16:creationId xmlns:a16="http://schemas.microsoft.com/office/drawing/2014/main" xmlns="" id="{A1583949-3D3E-464A-A707-8904EDA31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3359" y="1109557"/>
              <a:ext cx="798470" cy="1644632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/>
              <a:tailEnd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ts val="3040"/>
                </a:lnSpc>
                <a:buFontTx/>
                <a:buNone/>
                <a:defRPr/>
              </a:pPr>
              <a:r>
                <a:rPr lang="zh-CN" altLang="en-US" sz="2000" dirty="0">
                  <a:solidFill>
                    <a:srgbClr val="3D79B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</a:t>
              </a:r>
              <a:r>
                <a:rPr lang="zh-CN" altLang="en-US" sz="2000" dirty="0" smtClean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展示</a:t>
              </a:r>
              <a:endPara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xmlns="" id="{2F1D232F-E60D-4D43-8E54-862304AC51B3}"/>
                </a:ext>
              </a:extLst>
            </p:cNvPr>
            <p:cNvCxnSpPr>
              <a:cxnSpLocks/>
              <a:stCxn id="25" idx="3"/>
              <a:endCxn id="32" idx="1"/>
            </p:cNvCxnSpPr>
            <p:nvPr/>
          </p:nvCxnSpPr>
          <p:spPr>
            <a:xfrm>
              <a:off x="5161583" y="1932918"/>
              <a:ext cx="261653" cy="5630"/>
            </a:xfrm>
            <a:prstGeom prst="straightConnector1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 type="none" w="med" len="med"/>
              <a:tailEnd type="triangle" w="med" len="med"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xmlns="" id="{4F2625BE-45DB-1948-BD98-51755AD3FF5A}"/>
                </a:ext>
              </a:extLst>
            </p:cNvPr>
            <p:cNvCxnSpPr>
              <a:cxnSpLocks/>
              <a:stCxn id="32" idx="3"/>
              <a:endCxn id="33" idx="1"/>
            </p:cNvCxnSpPr>
            <p:nvPr/>
          </p:nvCxnSpPr>
          <p:spPr>
            <a:xfrm flipV="1">
              <a:off x="6221706" y="1931873"/>
              <a:ext cx="261653" cy="6675"/>
            </a:xfrm>
            <a:prstGeom prst="straightConnector1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 type="none" w="med" len="med"/>
              <a:tailEnd type="triangle" w="med" len="med"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</p:cxnSp>
      </p:grpSp>
      <p:sp>
        <p:nvSpPr>
          <p:cNvPr id="43" name="PA-A000320150529F30PPSH-3574">
            <a:extLst>
              <a:ext uri="{FF2B5EF4-FFF2-40B4-BE49-F238E27FC236}">
                <a16:creationId xmlns:a16="http://schemas.microsoft.com/office/drawing/2014/main" xmlns="" id="{C78E604D-4F74-5B4A-9572-AD7AF3DC1E65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534025" y="2033907"/>
            <a:ext cx="353236" cy="400110"/>
          </a:xfrm>
          <a:custGeom>
            <a:avLst/>
            <a:gdLst>
              <a:gd name="T0" fmla="*/ 195102655 w 13050"/>
              <a:gd name="T1" fmla="*/ 195059630 h 10203"/>
              <a:gd name="T2" fmla="*/ 195102655 w 13050"/>
              <a:gd name="T3" fmla="*/ 195059630 h 10203"/>
              <a:gd name="T4" fmla="*/ 195102655 w 13050"/>
              <a:gd name="T5" fmla="*/ 195059630 h 10203"/>
              <a:gd name="T6" fmla="*/ 195102655 w 13050"/>
              <a:gd name="T7" fmla="*/ 195059630 h 10203"/>
              <a:gd name="T8" fmla="*/ 195102655 w 13050"/>
              <a:gd name="T9" fmla="*/ 195059630 h 10203"/>
              <a:gd name="T10" fmla="*/ 195102655 w 13050"/>
              <a:gd name="T11" fmla="*/ 195059630 h 10203"/>
              <a:gd name="T12" fmla="*/ 195102655 w 13050"/>
              <a:gd name="T13" fmla="*/ 195059630 h 10203"/>
              <a:gd name="T14" fmla="*/ 195102655 w 13050"/>
              <a:gd name="T15" fmla="*/ 195059630 h 10203"/>
              <a:gd name="T16" fmla="*/ 195102655 w 13050"/>
              <a:gd name="T17" fmla="*/ 195059630 h 10203"/>
              <a:gd name="T18" fmla="*/ 195102655 w 13050"/>
              <a:gd name="T19" fmla="*/ 195059630 h 10203"/>
              <a:gd name="T20" fmla="*/ 195102655 w 13050"/>
              <a:gd name="T21" fmla="*/ 195059630 h 10203"/>
              <a:gd name="T22" fmla="*/ 195102655 w 13050"/>
              <a:gd name="T23" fmla="*/ 195059630 h 10203"/>
              <a:gd name="T24" fmla="*/ 195102655 w 13050"/>
              <a:gd name="T25" fmla="*/ 195059630 h 10203"/>
              <a:gd name="T26" fmla="*/ 195102655 w 13050"/>
              <a:gd name="T27" fmla="*/ 195059630 h 10203"/>
              <a:gd name="T28" fmla="*/ 195102655 w 13050"/>
              <a:gd name="T29" fmla="*/ 195059630 h 10203"/>
              <a:gd name="T30" fmla="*/ 195102655 w 13050"/>
              <a:gd name="T31" fmla="*/ 195059630 h 10203"/>
              <a:gd name="T32" fmla="*/ 195102655 w 13050"/>
              <a:gd name="T33" fmla="*/ 195059630 h 10203"/>
              <a:gd name="T34" fmla="*/ 195102655 w 13050"/>
              <a:gd name="T35" fmla="*/ 195059630 h 10203"/>
              <a:gd name="T36" fmla="*/ 195102655 w 13050"/>
              <a:gd name="T37" fmla="*/ 195059630 h 10203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3050" h="10203">
                <a:moveTo>
                  <a:pt x="555" y="7026"/>
                </a:moveTo>
                <a:lnTo>
                  <a:pt x="6858" y="7026"/>
                </a:lnTo>
                <a:lnTo>
                  <a:pt x="6858" y="9812"/>
                </a:lnTo>
                <a:lnTo>
                  <a:pt x="10878" y="5102"/>
                </a:lnTo>
                <a:lnTo>
                  <a:pt x="6858" y="391"/>
                </a:lnTo>
                <a:lnTo>
                  <a:pt x="6858" y="3177"/>
                </a:lnTo>
                <a:lnTo>
                  <a:pt x="555" y="3177"/>
                </a:lnTo>
                <a:lnTo>
                  <a:pt x="555" y="7026"/>
                </a:lnTo>
                <a:close/>
                <a:moveTo>
                  <a:pt x="0" y="7580"/>
                </a:moveTo>
                <a:lnTo>
                  <a:pt x="0" y="2622"/>
                </a:lnTo>
                <a:lnTo>
                  <a:pt x="6303" y="2622"/>
                </a:lnTo>
                <a:lnTo>
                  <a:pt x="6303" y="0"/>
                </a:lnTo>
                <a:lnTo>
                  <a:pt x="8698" y="0"/>
                </a:lnTo>
                <a:lnTo>
                  <a:pt x="13050" y="5102"/>
                </a:lnTo>
                <a:lnTo>
                  <a:pt x="8698" y="10203"/>
                </a:lnTo>
                <a:lnTo>
                  <a:pt x="6303" y="10203"/>
                </a:lnTo>
                <a:lnTo>
                  <a:pt x="6303" y="7580"/>
                </a:lnTo>
                <a:lnTo>
                  <a:pt x="0" y="758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600"/>
          </a:p>
        </p:txBody>
      </p:sp>
      <p:sp>
        <p:nvSpPr>
          <p:cNvPr id="44" name="PA-A000320150529F30PPSH-3574">
            <a:extLst>
              <a:ext uri="{FF2B5EF4-FFF2-40B4-BE49-F238E27FC236}">
                <a16:creationId xmlns:a16="http://schemas.microsoft.com/office/drawing/2014/main" xmlns="" id="{FF15215D-37D9-E04C-9191-B6E539285870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7277832" y="2033907"/>
            <a:ext cx="353236" cy="400110"/>
          </a:xfrm>
          <a:custGeom>
            <a:avLst/>
            <a:gdLst>
              <a:gd name="T0" fmla="*/ 195102655 w 13050"/>
              <a:gd name="T1" fmla="*/ 195059630 h 10203"/>
              <a:gd name="T2" fmla="*/ 195102655 w 13050"/>
              <a:gd name="T3" fmla="*/ 195059630 h 10203"/>
              <a:gd name="T4" fmla="*/ 195102655 w 13050"/>
              <a:gd name="T5" fmla="*/ 195059630 h 10203"/>
              <a:gd name="T6" fmla="*/ 195102655 w 13050"/>
              <a:gd name="T7" fmla="*/ 195059630 h 10203"/>
              <a:gd name="T8" fmla="*/ 195102655 w 13050"/>
              <a:gd name="T9" fmla="*/ 195059630 h 10203"/>
              <a:gd name="T10" fmla="*/ 195102655 w 13050"/>
              <a:gd name="T11" fmla="*/ 195059630 h 10203"/>
              <a:gd name="T12" fmla="*/ 195102655 w 13050"/>
              <a:gd name="T13" fmla="*/ 195059630 h 10203"/>
              <a:gd name="T14" fmla="*/ 195102655 w 13050"/>
              <a:gd name="T15" fmla="*/ 195059630 h 10203"/>
              <a:gd name="T16" fmla="*/ 195102655 w 13050"/>
              <a:gd name="T17" fmla="*/ 195059630 h 10203"/>
              <a:gd name="T18" fmla="*/ 195102655 w 13050"/>
              <a:gd name="T19" fmla="*/ 195059630 h 10203"/>
              <a:gd name="T20" fmla="*/ 195102655 w 13050"/>
              <a:gd name="T21" fmla="*/ 195059630 h 10203"/>
              <a:gd name="T22" fmla="*/ 195102655 w 13050"/>
              <a:gd name="T23" fmla="*/ 195059630 h 10203"/>
              <a:gd name="T24" fmla="*/ 195102655 w 13050"/>
              <a:gd name="T25" fmla="*/ 195059630 h 10203"/>
              <a:gd name="T26" fmla="*/ 195102655 w 13050"/>
              <a:gd name="T27" fmla="*/ 195059630 h 10203"/>
              <a:gd name="T28" fmla="*/ 195102655 w 13050"/>
              <a:gd name="T29" fmla="*/ 195059630 h 10203"/>
              <a:gd name="T30" fmla="*/ 195102655 w 13050"/>
              <a:gd name="T31" fmla="*/ 195059630 h 10203"/>
              <a:gd name="T32" fmla="*/ 195102655 w 13050"/>
              <a:gd name="T33" fmla="*/ 195059630 h 10203"/>
              <a:gd name="T34" fmla="*/ 195102655 w 13050"/>
              <a:gd name="T35" fmla="*/ 195059630 h 10203"/>
              <a:gd name="T36" fmla="*/ 195102655 w 13050"/>
              <a:gd name="T37" fmla="*/ 195059630 h 10203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3050" h="10203">
                <a:moveTo>
                  <a:pt x="555" y="7026"/>
                </a:moveTo>
                <a:lnTo>
                  <a:pt x="6858" y="7026"/>
                </a:lnTo>
                <a:lnTo>
                  <a:pt x="6858" y="9812"/>
                </a:lnTo>
                <a:lnTo>
                  <a:pt x="10878" y="5102"/>
                </a:lnTo>
                <a:lnTo>
                  <a:pt x="6858" y="391"/>
                </a:lnTo>
                <a:lnTo>
                  <a:pt x="6858" y="3177"/>
                </a:lnTo>
                <a:lnTo>
                  <a:pt x="555" y="3177"/>
                </a:lnTo>
                <a:lnTo>
                  <a:pt x="555" y="7026"/>
                </a:lnTo>
                <a:close/>
                <a:moveTo>
                  <a:pt x="0" y="7580"/>
                </a:moveTo>
                <a:lnTo>
                  <a:pt x="0" y="2622"/>
                </a:lnTo>
                <a:lnTo>
                  <a:pt x="6303" y="2622"/>
                </a:lnTo>
                <a:lnTo>
                  <a:pt x="6303" y="0"/>
                </a:lnTo>
                <a:lnTo>
                  <a:pt x="8698" y="0"/>
                </a:lnTo>
                <a:lnTo>
                  <a:pt x="13050" y="5102"/>
                </a:lnTo>
                <a:lnTo>
                  <a:pt x="8698" y="10203"/>
                </a:lnTo>
                <a:lnTo>
                  <a:pt x="6303" y="10203"/>
                </a:lnTo>
                <a:lnTo>
                  <a:pt x="6303" y="7580"/>
                </a:lnTo>
                <a:lnTo>
                  <a:pt x="0" y="758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600"/>
          </a:p>
        </p:txBody>
      </p: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xmlns="" id="{34EA2F09-CDF7-5747-ACCD-7BD2322E7CE1}"/>
              </a:ext>
            </a:extLst>
          </p:cNvPr>
          <p:cNvCxnSpPr>
            <a:cxnSpLocks/>
            <a:stCxn id="21" idx="0"/>
            <a:endCxn id="19" idx="0"/>
          </p:cNvCxnSpPr>
          <p:nvPr/>
        </p:nvCxnSpPr>
        <p:spPr>
          <a:xfrm rot="16200000" flipH="1" flipV="1">
            <a:off x="4573233" y="-2186909"/>
            <a:ext cx="65768" cy="7294162"/>
          </a:xfrm>
          <a:prstGeom prst="bentConnector3">
            <a:avLst>
              <a:gd name="adj1" fmla="val -743377"/>
            </a:avLst>
          </a:prstGeom>
          <a:solidFill>
            <a:schemeClr val="bg1"/>
          </a:solidFill>
          <a:ln w="38100" algn="ctr">
            <a:solidFill>
              <a:srgbClr val="3E79BD"/>
            </a:solidFill>
            <a:miter lim="800000"/>
            <a:headEnd type="none" w="med" len="med"/>
            <a:tailEnd type="triangle" w="med" len="med"/>
          </a:ln>
          <a:effectLst>
            <a:outerShdw dist="57150" dir="2700000" algn="ctr" rotWithShape="0">
              <a:srgbClr val="888888">
                <a:alpha val="50000"/>
              </a:srgbClr>
            </a:outerShdw>
          </a:effectLst>
        </p:spPr>
      </p:cxnSp>
      <p:pic>
        <p:nvPicPr>
          <p:cNvPr id="53" name="Picture 6" descr="查看源图像">
            <a:extLst>
              <a:ext uri="{FF2B5EF4-FFF2-40B4-BE49-F238E27FC236}">
                <a16:creationId xmlns:a16="http://schemas.microsoft.com/office/drawing/2014/main" xmlns="" id="{CAEC491B-3E81-3748-B578-6A313F7B7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595" y="991742"/>
            <a:ext cx="385200" cy="38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6" descr="查看源图像">
            <a:extLst>
              <a:ext uri="{FF2B5EF4-FFF2-40B4-BE49-F238E27FC236}">
                <a16:creationId xmlns:a16="http://schemas.microsoft.com/office/drawing/2014/main" xmlns="" id="{B11C0C8B-974D-6344-84F0-B50A49939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718" y="991742"/>
            <a:ext cx="387476" cy="38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6" descr="查看源图像">
            <a:extLst>
              <a:ext uri="{FF2B5EF4-FFF2-40B4-BE49-F238E27FC236}">
                <a16:creationId xmlns:a16="http://schemas.microsoft.com/office/drawing/2014/main" xmlns="" id="{E3B2EBE1-3535-7F46-9BBB-A9BCED257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262" y="996882"/>
            <a:ext cx="387476" cy="38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" descr="查看源图像">
            <a:extLst>
              <a:ext uri="{FF2B5EF4-FFF2-40B4-BE49-F238E27FC236}">
                <a16:creationId xmlns:a16="http://schemas.microsoft.com/office/drawing/2014/main" xmlns="" id="{3CCA8C50-7C33-DC43-904B-16AEB4FA4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964" y="988849"/>
            <a:ext cx="387476" cy="38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6" descr="查看源图像">
            <a:extLst>
              <a:ext uri="{FF2B5EF4-FFF2-40B4-BE49-F238E27FC236}">
                <a16:creationId xmlns:a16="http://schemas.microsoft.com/office/drawing/2014/main" xmlns="" id="{30161B49-62FD-7A4B-B1F6-7785C3B1C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087" y="1000673"/>
            <a:ext cx="387476" cy="38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Left Brace 62">
            <a:extLst>
              <a:ext uri="{FF2B5EF4-FFF2-40B4-BE49-F238E27FC236}">
                <a16:creationId xmlns:a16="http://schemas.microsoft.com/office/drawing/2014/main" xmlns="" id="{74EC68A6-117D-2C4A-A07A-1E249EC32FFA}"/>
              </a:ext>
            </a:extLst>
          </p:cNvPr>
          <p:cNvSpPr/>
          <p:nvPr/>
        </p:nvSpPr>
        <p:spPr>
          <a:xfrm rot="16200000">
            <a:off x="4420111" y="538745"/>
            <a:ext cx="303779" cy="5469056"/>
          </a:xfrm>
          <a:prstGeom prst="leftBrace">
            <a:avLst>
              <a:gd name="adj1" fmla="val 56750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9B5B45BB-3C3A-6543-9DE0-5A4BEA990956}"/>
              </a:ext>
            </a:extLst>
          </p:cNvPr>
          <p:cNvSpPr txBox="1"/>
          <p:nvPr/>
        </p:nvSpPr>
        <p:spPr>
          <a:xfrm>
            <a:off x="579200" y="2482872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x-none" sz="2200" dirty="0">
                <a:latin typeface="Microsoft YaHei" charset="-122"/>
                <a:ea typeface="Microsoft YaHei" charset="-122"/>
                <a:cs typeface="Microsoft YaHei" charset="-122"/>
              </a:rPr>
              <a:t>问题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BA0924BA-7468-8547-8E30-95CBFE47FCEE}"/>
              </a:ext>
            </a:extLst>
          </p:cNvPr>
          <p:cNvSpPr txBox="1"/>
          <p:nvPr/>
        </p:nvSpPr>
        <p:spPr>
          <a:xfrm>
            <a:off x="7878736" y="2482884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200" dirty="0">
                <a:latin typeface="Microsoft YaHei" charset="-122"/>
                <a:ea typeface="Microsoft YaHei" charset="-122"/>
                <a:cs typeface="Microsoft YaHei" charset="-122"/>
              </a:rPr>
              <a:t>答案</a:t>
            </a:r>
          </a:p>
        </p:txBody>
      </p:sp>
      <p:sp>
        <p:nvSpPr>
          <p:cNvPr id="66" name="文本框 49">
            <a:extLst>
              <a:ext uri="{FF2B5EF4-FFF2-40B4-BE49-F238E27FC236}">
                <a16:creationId xmlns:a16="http://schemas.microsoft.com/office/drawing/2014/main" xmlns="" id="{B793BEF9-0C01-CC45-A139-0906FD4CB9C6}"/>
              </a:ext>
            </a:extLst>
          </p:cNvPr>
          <p:cNvSpPr txBox="1"/>
          <p:nvPr/>
        </p:nvSpPr>
        <p:spPr>
          <a:xfrm>
            <a:off x="1830796" y="3614991"/>
            <a:ext cx="1377578" cy="894705"/>
          </a:xfrm>
          <a:prstGeom prst="rect">
            <a:avLst/>
          </a:prstGeom>
          <a:solidFill>
            <a:srgbClr val="6CC9EE">
              <a:alpha val="16000"/>
            </a:srgbClr>
          </a:solidFill>
          <a:ln w="6350" cap="flat" cmpd="sng" algn="ctr">
            <a:solidFill>
              <a:srgbClr val="00009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>
              <a:defRPr kumimoji="1"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x-none" b="0" kern="0" dirty="0">
                <a:solidFill>
                  <a:srgbClr val="014B88"/>
                </a:solidFill>
              </a:rPr>
              <a:t>数据</a:t>
            </a:r>
            <a:r>
              <a:rPr lang="zh-CN" altLang="en-US" b="0" kern="0" dirty="0">
                <a:solidFill>
                  <a:srgbClr val="014B88"/>
                </a:solidFill>
              </a:rPr>
              <a:t>的</a:t>
            </a:r>
            <a:endParaRPr lang="en-US" altLang="zh-CN" b="0" kern="0" dirty="0">
              <a:solidFill>
                <a:srgbClr val="014B88"/>
              </a:solidFill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多样性</a:t>
            </a:r>
          </a:p>
        </p:txBody>
      </p:sp>
      <p:sp>
        <p:nvSpPr>
          <p:cNvPr id="67" name="文本框 49">
            <a:extLst>
              <a:ext uri="{FF2B5EF4-FFF2-40B4-BE49-F238E27FC236}">
                <a16:creationId xmlns:a16="http://schemas.microsoft.com/office/drawing/2014/main" xmlns="" id="{7CFC82EE-7785-E048-986D-89B6A1212E52}"/>
              </a:ext>
            </a:extLst>
          </p:cNvPr>
          <p:cNvSpPr txBox="1"/>
          <p:nvPr/>
        </p:nvSpPr>
        <p:spPr>
          <a:xfrm>
            <a:off x="3420981" y="3614990"/>
            <a:ext cx="1377578" cy="894705"/>
          </a:xfrm>
          <a:prstGeom prst="rect">
            <a:avLst/>
          </a:prstGeom>
          <a:solidFill>
            <a:srgbClr val="6CC9EE">
              <a:alpha val="16000"/>
            </a:srgbClr>
          </a:solidFill>
          <a:ln w="6350" cap="flat" cmpd="sng" algn="ctr">
            <a:solidFill>
              <a:srgbClr val="00009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>
              <a:defRPr kumimoji="1"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x-none" b="0" kern="0" dirty="0">
                <a:solidFill>
                  <a:srgbClr val="014B88"/>
                </a:solidFill>
              </a:rPr>
              <a:t>数据</a:t>
            </a:r>
            <a:r>
              <a:rPr lang="zh-CN" altLang="en-US" b="0" kern="0" dirty="0">
                <a:solidFill>
                  <a:srgbClr val="014B88"/>
                </a:solidFill>
              </a:rPr>
              <a:t>的</a:t>
            </a:r>
            <a:endParaRPr lang="en-US" altLang="zh-CN" b="0" kern="0" dirty="0">
              <a:solidFill>
                <a:srgbClr val="014B88"/>
              </a:solidFill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海量性</a:t>
            </a:r>
          </a:p>
        </p:txBody>
      </p:sp>
      <p:sp>
        <p:nvSpPr>
          <p:cNvPr id="68" name="文本框 49">
            <a:extLst>
              <a:ext uri="{FF2B5EF4-FFF2-40B4-BE49-F238E27FC236}">
                <a16:creationId xmlns:a16="http://schemas.microsoft.com/office/drawing/2014/main" xmlns="" id="{2EA96626-46AA-EE46-8BED-87D62C593A9B}"/>
              </a:ext>
            </a:extLst>
          </p:cNvPr>
          <p:cNvSpPr txBox="1"/>
          <p:nvPr/>
        </p:nvSpPr>
        <p:spPr>
          <a:xfrm>
            <a:off x="5011166" y="3614990"/>
            <a:ext cx="1377578" cy="894705"/>
          </a:xfrm>
          <a:prstGeom prst="rect">
            <a:avLst/>
          </a:prstGeom>
          <a:solidFill>
            <a:srgbClr val="6CC9EE">
              <a:alpha val="16000"/>
            </a:srgbClr>
          </a:solidFill>
          <a:ln w="6350" cap="flat" cmpd="sng" algn="ctr">
            <a:solidFill>
              <a:srgbClr val="00009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>
              <a:defRPr kumimoji="1"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</a:rPr>
              <a:t>结果的</a:t>
            </a:r>
            <a:endParaRPr lang="en-US" altLang="zh-CN" b="0" kern="0" dirty="0">
              <a:solidFill>
                <a:srgbClr val="014B88"/>
              </a:solidFill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及时性</a:t>
            </a:r>
          </a:p>
        </p:txBody>
      </p:sp>
      <p:sp>
        <p:nvSpPr>
          <p:cNvPr id="69" name="文本框 49">
            <a:extLst>
              <a:ext uri="{FF2B5EF4-FFF2-40B4-BE49-F238E27FC236}">
                <a16:creationId xmlns:a16="http://schemas.microsoft.com/office/drawing/2014/main" xmlns="" id="{E69D8E4F-D7D4-8D40-98D2-4606B459B125}"/>
              </a:ext>
            </a:extLst>
          </p:cNvPr>
          <p:cNvSpPr txBox="1"/>
          <p:nvPr/>
        </p:nvSpPr>
        <p:spPr>
          <a:xfrm>
            <a:off x="6601351" y="3614990"/>
            <a:ext cx="1377578" cy="894705"/>
          </a:xfrm>
          <a:prstGeom prst="rect">
            <a:avLst/>
          </a:prstGeom>
          <a:solidFill>
            <a:srgbClr val="6CC9EE">
              <a:alpha val="16000"/>
            </a:srgbClr>
          </a:solidFill>
          <a:ln w="6350" cap="flat" cmpd="sng" algn="ctr">
            <a:solidFill>
              <a:srgbClr val="00009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>
              <a:defRPr kumimoji="1"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</a:rPr>
              <a:t>数据的</a:t>
            </a:r>
            <a:endParaRPr lang="en-US" altLang="zh-CN" b="0" kern="0" dirty="0">
              <a:solidFill>
                <a:srgbClr val="014B88"/>
              </a:solidFill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隐私保护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FFEBAC01-D8CE-1A44-BA27-4D0B97579E2E}"/>
              </a:ext>
            </a:extLst>
          </p:cNvPr>
          <p:cNvSpPr txBox="1"/>
          <p:nvPr/>
        </p:nvSpPr>
        <p:spPr>
          <a:xfrm>
            <a:off x="297071" y="3846898"/>
            <a:ext cx="13131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200" dirty="0">
                <a:latin typeface="Microsoft YaHei" charset="-122"/>
                <a:ea typeface="Microsoft YaHei" charset="-122"/>
                <a:cs typeface="Microsoft YaHei" charset="-122"/>
              </a:rPr>
              <a:t>技术挑战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1AAFADD0-3541-9C47-8993-C3B647D53215}"/>
              </a:ext>
            </a:extLst>
          </p:cNvPr>
          <p:cNvSpPr txBox="1"/>
          <p:nvPr/>
        </p:nvSpPr>
        <p:spPr>
          <a:xfrm>
            <a:off x="8068778" y="3776765"/>
            <a:ext cx="5757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200" dirty="0"/>
              <a:t>……</a:t>
            </a:r>
            <a:endParaRPr lang="x-none" sz="2200" dirty="0"/>
          </a:p>
        </p:txBody>
      </p:sp>
      <p:sp>
        <p:nvSpPr>
          <p:cNvPr id="37" name="Rectangle 36"/>
          <p:cNvSpPr/>
          <p:nvPr/>
        </p:nvSpPr>
        <p:spPr>
          <a:xfrm>
            <a:off x="2244778" y="2789169"/>
            <a:ext cx="1465030" cy="635994"/>
          </a:xfrm>
          <a:prstGeom prst="rect">
            <a:avLst/>
          </a:prstGeom>
          <a:solidFill>
            <a:srgbClr val="F8E9A7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本讲重点</a:t>
            </a:r>
            <a:endParaRPr lang="en-US" altLang="zh-CN" sz="1600" dirty="0" smtClean="0">
              <a:solidFill>
                <a:schemeClr val="tx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/>
            <a:r>
              <a:rPr lang="zh-CN" altLang="en-US" dirty="0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获取与准备</a:t>
            </a:r>
            <a:endParaRPr lang="en-US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1514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提出问题：</a:t>
            </a:r>
            <a:r>
              <a:rPr lang="zh-CN" altLang="en-US" dirty="0"/>
              <a:t>新冠肺炎求助患者数据画像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4659" y="1876407"/>
            <a:ext cx="4019341" cy="501544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dirty="0" smtClean="0"/>
              <a:t>肺炎患者求助超话</a:t>
            </a:r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38" b="27490"/>
          <a:stretch/>
        </p:blipFill>
        <p:spPr>
          <a:xfrm>
            <a:off x="5466582" y="1176605"/>
            <a:ext cx="2121241" cy="647841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457200" y="961356"/>
            <a:ext cx="4496078" cy="3671508"/>
            <a:chOff x="457200" y="1124834"/>
            <a:chExt cx="4496078" cy="367150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1124834"/>
              <a:ext cx="4496078" cy="3671508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2210637" y="1547447"/>
              <a:ext cx="41165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200" dirty="0" smtClean="0"/>
                <a:t>XYZ</a:t>
              </a:r>
              <a:endParaRPr lang="en-US" sz="12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814455" y="2152023"/>
              <a:ext cx="886781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000" dirty="0" smtClean="0"/>
                <a:t>X</a:t>
              </a:r>
              <a:r>
                <a:rPr lang="zh-CN" altLang="en-US" sz="1000" dirty="0" smtClean="0"/>
                <a:t>栋</a:t>
              </a:r>
              <a:r>
                <a:rPr lang="en-US" altLang="zh-CN" sz="1000" dirty="0" smtClean="0"/>
                <a:t>Y</a:t>
              </a:r>
              <a:r>
                <a:rPr lang="zh-CN" altLang="en-US" sz="1000" dirty="0" smtClean="0"/>
                <a:t>单元</a:t>
              </a:r>
              <a:r>
                <a:rPr lang="en-US" altLang="zh-CN" sz="1000" dirty="0" smtClean="0"/>
                <a:t>Z</a:t>
              </a:r>
              <a:r>
                <a:rPr lang="zh-CN" altLang="en-US" sz="1000" dirty="0" smtClean="0"/>
                <a:t>楼</a:t>
              </a:r>
              <a:endParaRPr lang="en-US" sz="10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37385" y="2541429"/>
              <a:ext cx="910827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000" smtClean="0"/>
                <a:t>1397xxx6027</a:t>
              </a:r>
              <a:endParaRPr lang="en-US" sz="10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03126" y="2757506"/>
              <a:ext cx="910827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000" smtClean="0"/>
                <a:t>1341xxx1935</a:t>
              </a:r>
              <a:endParaRPr lang="en-US" sz="1000" dirty="0"/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920" y="2387788"/>
            <a:ext cx="3048818" cy="157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6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提出问题：</a:t>
            </a:r>
            <a:r>
              <a:rPr lang="zh-CN" altLang="en-US" dirty="0"/>
              <a:t>肺炎患者求助超</a:t>
            </a:r>
            <a:r>
              <a:rPr lang="zh-CN" altLang="en-US" dirty="0" smtClean="0"/>
              <a:t>话的整体分析</a:t>
            </a:r>
            <a:endParaRPr lang="en-US" dirty="0"/>
          </a:p>
        </p:txBody>
      </p:sp>
      <p:pic>
        <p:nvPicPr>
          <p:cNvPr id="4" name="Content Placeholder 3" descr="A close up of a map&#10;&#10;Description automatically generated"/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5"/>
          <a:stretch/>
        </p:blipFill>
        <p:spPr bwMode="auto">
          <a:xfrm>
            <a:off x="457200" y="819150"/>
            <a:ext cx="5068352" cy="3937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5675086" y="819150"/>
            <a:ext cx="3011713" cy="3937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黄色柱状图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肺炎患者求助超话每天的发帖量</a:t>
            </a:r>
            <a:endParaRPr lang="en-US" altLang="zh-CN" dirty="0" smtClean="0"/>
          </a:p>
          <a:p>
            <a:r>
              <a:rPr lang="zh-CN" altLang="en-US" dirty="0" smtClean="0"/>
              <a:t>蓝色线条图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武汉市卫健委汇报的每日新增新冠确诊数</a:t>
            </a:r>
            <a:endParaRPr lang="en-US" altLang="zh-CN" dirty="0" smtClean="0"/>
          </a:p>
          <a:p>
            <a:r>
              <a:rPr lang="zh-CN" altLang="en-US" dirty="0" smtClean="0"/>
              <a:t>时间区间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1</a:t>
            </a:r>
            <a:r>
              <a:rPr lang="zh-CN" altLang="en-US" dirty="0" smtClean="0"/>
              <a:t>月</a:t>
            </a:r>
            <a:r>
              <a:rPr lang="en-US" altLang="zh-CN" dirty="0" smtClean="0"/>
              <a:t>29</a:t>
            </a:r>
            <a:r>
              <a:rPr lang="zh-CN" altLang="en-US" dirty="0" smtClean="0"/>
              <a:t>日 </a:t>
            </a:r>
            <a:r>
              <a:rPr lang="mr-IN" altLang="zh-CN" dirty="0" smtClean="0"/>
              <a:t>–</a:t>
            </a:r>
            <a:r>
              <a:rPr lang="zh-CN" altLang="en-US" dirty="0" smtClean="0"/>
              <a:t> </a:t>
            </a:r>
            <a:r>
              <a:rPr lang="en-US" altLang="zh-CN" dirty="0" smtClean="0"/>
              <a:t>2</a:t>
            </a:r>
            <a:r>
              <a:rPr lang="zh-CN" altLang="en-US" dirty="0" smtClean="0"/>
              <a:t>月</a:t>
            </a:r>
            <a:r>
              <a:rPr lang="en-US" altLang="zh-CN" dirty="0" smtClean="0"/>
              <a:t>17</a:t>
            </a:r>
            <a:r>
              <a:rPr lang="zh-CN" altLang="en-US" dirty="0" smtClean="0"/>
              <a:t>日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你能发现什么？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58132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提出问题</a:t>
            </a:r>
            <a:r>
              <a:rPr lang="zh-CN" altLang="en-US" b="1" dirty="0" smtClean="0"/>
              <a:t>：</a:t>
            </a:r>
            <a:r>
              <a:rPr lang="zh-CN" altLang="en-US" dirty="0"/>
              <a:t>新冠肺炎求助患者数据画像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我们试图用数据解码数字背后的个体，看清那些宏大叙事之下的具体的人，尤其是那些在社交网络上以个体的身份发出求助的人</a:t>
            </a:r>
            <a:r>
              <a:rPr lang="en-US" altLang="zh-CN" dirty="0" smtClean="0"/>
              <a:t>——</a:t>
            </a:r>
          </a:p>
          <a:p>
            <a:pPr marL="0" indent="0">
              <a:buNone/>
            </a:pPr>
            <a:r>
              <a:rPr lang="en-US" altLang="zh-CN" dirty="0" smtClean="0"/>
              <a:t> </a:t>
            </a:r>
            <a:endParaRPr lang="en-US" altLang="zh-CN" sz="2400" dirty="0"/>
          </a:p>
          <a:p>
            <a:r>
              <a:rPr lang="zh-CN" altLang="en-US" sz="2400" dirty="0"/>
              <a:t>他们是谁</a:t>
            </a:r>
            <a:r>
              <a:rPr lang="zh-CN" altLang="en-US" sz="2400" dirty="0" smtClean="0"/>
              <a:t>？</a:t>
            </a:r>
            <a:endParaRPr lang="en-US" altLang="zh-CN" sz="2400" dirty="0" smtClean="0"/>
          </a:p>
          <a:p>
            <a:r>
              <a:rPr lang="zh-CN" altLang="en-US" sz="2800" dirty="0" smtClean="0"/>
              <a:t>他们</a:t>
            </a:r>
            <a:r>
              <a:rPr lang="zh-CN" altLang="en-US" sz="2800" dirty="0"/>
              <a:t>为什么而发声</a:t>
            </a:r>
            <a:r>
              <a:rPr lang="zh-CN" altLang="en-US" sz="2800" dirty="0" smtClean="0"/>
              <a:t>？</a:t>
            </a:r>
            <a:endParaRPr lang="en-US" altLang="zh-CN" sz="2400" dirty="0" smtClean="0"/>
          </a:p>
          <a:p>
            <a:r>
              <a:rPr lang="zh-CN" altLang="en-US" sz="3200" dirty="0" smtClean="0"/>
              <a:t>他们</a:t>
            </a:r>
            <a:r>
              <a:rPr lang="zh-CN" altLang="en-US" sz="3200" dirty="0"/>
              <a:t>的处境有何共同点</a:t>
            </a:r>
            <a:r>
              <a:rPr lang="zh-CN" altLang="en-US" sz="3200" dirty="0" smtClean="0"/>
              <a:t>？</a:t>
            </a:r>
            <a:endParaRPr lang="en-US" altLang="zh-CN" sz="3200" dirty="0" smtClean="0"/>
          </a:p>
        </p:txBody>
      </p:sp>
    </p:spTree>
    <p:extLst>
      <p:ext uri="{BB962C8B-B14F-4D97-AF65-F5344CB8AC3E}">
        <p14:creationId xmlns:p14="http://schemas.microsoft.com/office/powerpoint/2010/main" val="135814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兰亭细黑_GBK" pitchFamily="2" charset="-122"/>
                <a:ea typeface="方正兰亭细黑_GBK" pitchFamily="2" charset="-122"/>
                <a:cs typeface="+mn-cs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041" y="2827018"/>
            <a:ext cx="2697829" cy="8689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探索数据分析</a:t>
            </a:r>
            <a:endParaRPr lang="en-US" altLang="zh-CN" sz="200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zh-CN" altLang="en-US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数据获取与准备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514104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lnSpc>
                <a:spcPct val="160000"/>
              </a:lnSpc>
              <a:buFontTx/>
              <a:buAutoNum type="arabicPeriod"/>
              <a:defRPr/>
            </a:pP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数据获取</a:t>
            </a:r>
            <a:endParaRPr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lvl="0" indent="-342900">
              <a:lnSpc>
                <a:spcPct val="160000"/>
              </a:lnSpc>
              <a:buFontTx/>
              <a:buAutoNum type="arabicPeriod"/>
              <a:defRPr/>
            </a:pP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数据准备 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数据抽取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lvl="0" indent="-342900">
              <a:lnSpc>
                <a:spcPct val="160000"/>
              </a:lnSpc>
              <a:buFontTx/>
              <a:buAutoNum type="arabicPeriod"/>
              <a:defRPr/>
            </a:pP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数据准备 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数据清洗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lvl="0" indent="-342900">
              <a:lnSpc>
                <a:spcPct val="160000"/>
              </a:lnSpc>
              <a:buFontTx/>
              <a:buAutoNum type="arabicPeriod"/>
              <a:defRPr/>
            </a:pP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案例分析：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wuhan2020-sos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15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从</a:t>
            </a:r>
            <a:r>
              <a:rPr lang="en-US" altLang="zh-CN" dirty="0" smtClean="0"/>
              <a:t>CSV</a:t>
            </a:r>
            <a:r>
              <a:rPr lang="zh-CN" altLang="en-US" dirty="0" smtClean="0"/>
              <a:t>文件读取数据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855538"/>
          </a:xfrm>
        </p:spPr>
        <p:txBody>
          <a:bodyPr/>
          <a:lstStyle/>
          <a:p>
            <a:r>
              <a:rPr lang="en-US" altLang="zh-CN" dirty="0" smtClean="0"/>
              <a:t>CSV</a:t>
            </a:r>
            <a:r>
              <a:rPr lang="zh-CN" altLang="en-US" dirty="0" smtClean="0"/>
              <a:t>的全称是</a:t>
            </a:r>
            <a:r>
              <a:rPr lang="en-US" altLang="zh-CN" dirty="0" smtClean="0"/>
              <a:t>Comma-separated values</a:t>
            </a:r>
            <a:r>
              <a:rPr lang="zh-CN" altLang="en-US" dirty="0" smtClean="0"/>
              <a:t>，是一种用逗号分隔的方式来表示与存储表格数据的文件格式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61" y="1788988"/>
            <a:ext cx="3935739" cy="23206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9165" y="4318626"/>
            <a:ext cx="54392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扩展阅读：</a:t>
            </a:r>
            <a:r>
              <a:rPr lang="en-US" dirty="0" smtClean="0">
                <a:hlinkClick r:id="rId4"/>
              </a:rPr>
              <a:t>https</a:t>
            </a:r>
            <a:r>
              <a:rPr lang="en-US" dirty="0">
                <a:hlinkClick r:id="rId4"/>
              </a:rPr>
              <a:t>://pythonspot.com/pandas-read-csv/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292" y="2543309"/>
            <a:ext cx="3957011" cy="125601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868185" y="1694420"/>
            <a:ext cx="3851504" cy="6647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技能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latin typeface="Calibri" charset="0"/>
                <a:ea typeface="Calibri" charset="0"/>
                <a:cs typeface="Calibri" charset="0"/>
              </a:rPr>
              <a:t>Python</a:t>
            </a:r>
            <a:r>
              <a:rPr lang="zh-CN" altLang="en-US" sz="16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Pandas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读取</a:t>
            </a:r>
            <a:r>
              <a:rPr lang="en-US" altLang="zh-CN" sz="1600" dirty="0">
                <a:latin typeface="Calibri" charset="0"/>
                <a:ea typeface="Calibri" charset="0"/>
                <a:cs typeface="Calibri" charset="0"/>
              </a:rPr>
              <a:t>CSV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04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从</a:t>
            </a:r>
            <a:r>
              <a:rPr lang="en-US" altLang="zh-CN" dirty="0" smtClean="0"/>
              <a:t>JSON</a:t>
            </a:r>
            <a:r>
              <a:rPr lang="zh-CN" altLang="en-US" dirty="0" smtClean="0"/>
              <a:t>文件读取数据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855538"/>
          </a:xfrm>
        </p:spPr>
        <p:txBody>
          <a:bodyPr/>
          <a:lstStyle/>
          <a:p>
            <a:r>
              <a:rPr lang="en-US" altLang="zh-CN" dirty="0" smtClean="0"/>
              <a:t>JSON</a:t>
            </a:r>
            <a:r>
              <a:rPr lang="zh-CN" altLang="en-US" dirty="0" smtClean="0"/>
              <a:t>是一种存储嵌套数据的文件格式（类似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中的</a:t>
            </a:r>
            <a:r>
              <a:rPr lang="en-US" altLang="zh-CN" dirty="0" smtClean="0"/>
              <a:t>List,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Dict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4364010"/>
            <a:ext cx="88530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阅读：</a:t>
            </a:r>
            <a:r>
              <a:rPr lang="en-US" dirty="0">
                <a:hlinkClick r:id="rId3"/>
              </a:rPr>
              <a:t>http://pandas.pydata.org/pandas-docs/stable/reference/api/pandas.read_json.html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868185" y="1694420"/>
            <a:ext cx="3885166" cy="6647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技能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latin typeface="Calibri" charset="0"/>
                <a:ea typeface="Calibri" charset="0"/>
                <a:cs typeface="Calibri" charset="0"/>
              </a:rPr>
              <a:t>Python</a:t>
            </a:r>
            <a:r>
              <a:rPr lang="zh-CN" altLang="en-US" sz="16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Pandas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读取</a:t>
            </a:r>
            <a:r>
              <a:rPr lang="en-US" altLang="zh-CN" sz="1600" dirty="0" smtClean="0">
                <a:latin typeface="Calibri" charset="0"/>
                <a:ea typeface="Calibri" charset="0"/>
                <a:cs typeface="Calibri" charset="0"/>
              </a:rPr>
              <a:t>JSON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4688"/>
            <a:ext cx="4127564" cy="209986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894" y="2709643"/>
            <a:ext cx="3762107" cy="6718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2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0D2DCAA-1F47-894E-9041-712DD44C0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从网页获取数据：“</a:t>
            </a:r>
            <a:r>
              <a:rPr kumimoji="1" lang="zh-CN" altLang="en-US" dirty="0" smtClean="0">
                <a:solidFill>
                  <a:srgbClr val="C00000"/>
                </a:solidFill>
              </a:rPr>
              <a:t>爬虫</a:t>
            </a:r>
            <a:r>
              <a:rPr kumimoji="1" lang="zh-CN" altLang="en-US" dirty="0" smtClean="0"/>
              <a:t>”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6E2631FA-41CF-D049-93D5-908D9B990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27929"/>
            <a:ext cx="8229600" cy="2162105"/>
          </a:xfrm>
        </p:spPr>
        <p:txBody>
          <a:bodyPr>
            <a:normAutofit/>
          </a:bodyPr>
          <a:lstStyle/>
          <a:p>
            <a:r>
              <a:rPr lang="zh-CN" altLang="en-US" b="1" i="0" dirty="0">
                <a:effectLst/>
                <a:latin typeface="Helvetica Neue" panose="02000503000000020004" pitchFamily="2" charset="0"/>
              </a:rPr>
              <a:t>爬虫</a:t>
            </a:r>
            <a:r>
              <a:rPr lang="zh-CN" altLang="en-US" b="0" i="0" dirty="0">
                <a:effectLst/>
                <a:latin typeface="Helvetica Neue" panose="02000503000000020004" pitchFamily="2" charset="0"/>
              </a:rPr>
              <a:t>：一段自动抓取互联网信息的程序，从互联网上抓取对于我们有价值的信息</a:t>
            </a:r>
            <a:endParaRPr lang="en-US" altLang="zh-CN" b="0" i="0" dirty="0">
              <a:effectLst/>
              <a:latin typeface="Helvetica Neue" panose="02000503000000020004" pitchFamily="2" charset="0"/>
            </a:endParaRPr>
          </a:p>
          <a:p>
            <a:pPr lvl="1"/>
            <a:r>
              <a:rPr lang="zh-CN" altLang="en-US" b="0" i="0" dirty="0">
                <a:effectLst/>
                <a:latin typeface="Helvetica Neue" panose="02000503000000020004" pitchFamily="2" charset="0"/>
              </a:rPr>
              <a:t>每个搜索引擎都拥有自己的爬虫程序，比如 </a:t>
            </a:r>
            <a:r>
              <a:rPr lang="en-US" altLang="zh-CN" b="0" i="0" dirty="0">
                <a:effectLst/>
                <a:latin typeface="Helvetica Neue" panose="02000503000000020004" pitchFamily="2" charset="0"/>
              </a:rPr>
              <a:t>360 </a:t>
            </a:r>
            <a:r>
              <a:rPr lang="zh-CN" altLang="en-US" b="0" i="0" dirty="0">
                <a:effectLst/>
                <a:latin typeface="Helvetica Neue" panose="02000503000000020004" pitchFamily="2" charset="0"/>
              </a:rPr>
              <a:t>浏览器的爬虫称作 </a:t>
            </a:r>
            <a:r>
              <a:rPr lang="en-US" altLang="zh-CN" b="0" i="0" dirty="0">
                <a:effectLst/>
                <a:latin typeface="Helvetica Neue" panose="02000503000000020004" pitchFamily="2" charset="0"/>
              </a:rPr>
              <a:t>360Spider</a:t>
            </a:r>
            <a:r>
              <a:rPr lang="zh-CN" altLang="en-US" b="0" i="0" dirty="0">
                <a:effectLst/>
                <a:latin typeface="Helvetica Neue" panose="02000503000000020004" pitchFamily="2" charset="0"/>
              </a:rPr>
              <a:t>，搜狗的爬虫叫做 </a:t>
            </a:r>
            <a:r>
              <a:rPr lang="en-US" altLang="zh-CN" b="0" i="0" dirty="0" err="1">
                <a:effectLst/>
                <a:latin typeface="Helvetica Neue" panose="02000503000000020004" pitchFamily="2" charset="0"/>
              </a:rPr>
              <a:t>Sogouspider</a:t>
            </a:r>
            <a:endParaRPr lang="en-US" altLang="zh-CN" b="0" i="0" dirty="0">
              <a:effectLst/>
              <a:latin typeface="Helvetica Neue" panose="02000503000000020004" pitchFamily="2" charset="0"/>
            </a:endParaRPr>
          </a:p>
          <a:p>
            <a:pPr lvl="1"/>
            <a:r>
              <a:rPr kumimoji="1" lang="zh-CN" altLang="en-US" dirty="0">
                <a:latin typeface="Helvetica Neue" panose="02000503000000020004" pitchFamily="2" charset="0"/>
              </a:rPr>
              <a:t>爬虫可以用</a:t>
            </a:r>
            <a:r>
              <a:rPr kumimoji="1" lang="en" altLang="zh-CN" dirty="0">
                <a:latin typeface="Helvetica Neue" panose="02000503000000020004" pitchFamily="2" charset="0"/>
              </a:rPr>
              <a:t>Java</a:t>
            </a:r>
            <a:r>
              <a:rPr kumimoji="1" lang="zh-CN" altLang="en-US" dirty="0">
                <a:latin typeface="Helvetica Neue" panose="02000503000000020004" pitchFamily="2" charset="0"/>
              </a:rPr>
              <a:t>、</a:t>
            </a:r>
            <a:r>
              <a:rPr kumimoji="1" lang="en-US" altLang="zh-CN" dirty="0">
                <a:latin typeface="Helvetica Neue" panose="02000503000000020004" pitchFamily="2" charset="0"/>
              </a:rPr>
              <a:t>PHP</a:t>
            </a:r>
            <a:r>
              <a:rPr kumimoji="1" lang="zh-CN" altLang="en-US" dirty="0">
                <a:latin typeface="Helvetica Neue" panose="02000503000000020004" pitchFamily="2" charset="0"/>
              </a:rPr>
              <a:t>、</a:t>
            </a:r>
            <a:r>
              <a:rPr kumimoji="1" lang="en-US" altLang="zh-CN" dirty="0">
                <a:latin typeface="Helvetica Neue" panose="02000503000000020004" pitchFamily="2" charset="0"/>
              </a:rPr>
              <a:t>Python</a:t>
            </a:r>
            <a:r>
              <a:rPr kumimoji="1" lang="zh-CN" altLang="en-US" dirty="0">
                <a:latin typeface="Helvetica Neue" panose="02000503000000020004" pitchFamily="2" charset="0"/>
              </a:rPr>
              <a:t>等语言写，</a:t>
            </a:r>
            <a:r>
              <a:rPr kumimoji="1" lang="en" altLang="zh-CN" dirty="0">
                <a:latin typeface="Helvetica Neue" panose="02000503000000020004" pitchFamily="2" charset="0"/>
              </a:rPr>
              <a:t>Python </a:t>
            </a:r>
            <a:r>
              <a:rPr kumimoji="1" lang="zh-CN" altLang="en-US" dirty="0">
                <a:latin typeface="Helvetica Neue" panose="02000503000000020004" pitchFamily="2" charset="0"/>
              </a:rPr>
              <a:t>更为简单和实用</a:t>
            </a:r>
            <a:endParaRPr kumimoji="1" lang="en-US" altLang="zh-CN" dirty="0">
              <a:latin typeface="Helvetica Neue" panose="02000503000000020004" pitchFamily="2" charset="0"/>
            </a:endParaRPr>
          </a:p>
          <a:p>
            <a:pPr lvl="1"/>
            <a:r>
              <a:rPr kumimoji="1" lang="zh-CN" altLang="en-US" dirty="0">
                <a:latin typeface="Helvetica Neue" panose="02000503000000020004" pitchFamily="2" charset="0"/>
              </a:rPr>
              <a:t>常用的爬虫框架：</a:t>
            </a:r>
            <a:r>
              <a:rPr kumimoji="1" lang="en" altLang="zh-CN" dirty="0">
                <a:latin typeface="Helvetica Neue" panose="02000503000000020004" pitchFamily="2" charset="0"/>
              </a:rPr>
              <a:t>Selenium</a:t>
            </a:r>
            <a:r>
              <a:rPr kumimoji="1" lang="zh-CN" altLang="en-US" dirty="0">
                <a:latin typeface="Helvetica Neue" panose="02000503000000020004" pitchFamily="2" charset="0"/>
              </a:rPr>
              <a:t>、</a:t>
            </a:r>
            <a:r>
              <a:rPr kumimoji="1" lang="en" altLang="zh-CN" dirty="0" err="1" smtClean="0">
                <a:latin typeface="Helvetica Neue" panose="02000503000000020004" pitchFamily="2" charset="0"/>
              </a:rPr>
              <a:t>Scrapy</a:t>
            </a:r>
            <a:endParaRPr kumimoji="1" lang="en" altLang="zh-CN" dirty="0">
              <a:latin typeface="Helvetica Neue" panose="02000503000000020004" pitchFamily="2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D8F53B72-D9FE-C04C-A6A6-2A344673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D1DC-EB24-2D46-9C9F-DBDF840474EE}" type="slidenum">
              <a:rPr kumimoji="1" lang="zh-CN" altLang="en-US" smtClean="0"/>
              <a:t>9</a:t>
            </a:fld>
            <a:endParaRPr kumimoji="1" lang="zh-CN" altLang="en-US"/>
          </a:p>
        </p:txBody>
      </p:sp>
      <p:pic>
        <p:nvPicPr>
          <p:cNvPr id="1028" name="Picture 4" descr="Scrapy教程™">
            <a:extLst>
              <a:ext uri="{FF2B5EF4-FFF2-40B4-BE49-F238E27FC236}">
                <a16:creationId xmlns:a16="http://schemas.microsoft.com/office/drawing/2014/main" xmlns="" id="{02851BBB-89AC-444D-BFD2-6DED953E3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247" y="3058358"/>
            <a:ext cx="2756394" cy="1334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enkins Integration: Selenium Grid - Knoldus Blogs">
            <a:extLst>
              <a:ext uri="{FF2B5EF4-FFF2-40B4-BE49-F238E27FC236}">
                <a16:creationId xmlns:a16="http://schemas.microsoft.com/office/drawing/2014/main" xmlns="" id="{BECB3160-7D4C-2C4D-8B6B-0F01BE648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710" y="3058358"/>
            <a:ext cx="3516950" cy="1336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49A368AB-7446-444C-AF55-85002F107CC4}"/>
              </a:ext>
            </a:extLst>
          </p:cNvPr>
          <p:cNvSpPr txBox="1"/>
          <p:nvPr/>
        </p:nvSpPr>
        <p:spPr>
          <a:xfrm>
            <a:off x="4724710" y="4418366"/>
            <a:ext cx="3516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CN" dirty="0">
                <a:hlinkClick r:id="rId4"/>
              </a:rPr>
              <a:t>https://www.selenium.dev/</a:t>
            </a:r>
            <a:r>
              <a:rPr lang="en" altLang="zh-CN" dirty="0"/>
              <a:t>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325D6141-F981-8646-AEB5-1F853BD8D02B}"/>
              </a:ext>
            </a:extLst>
          </p:cNvPr>
          <p:cNvSpPr txBox="1"/>
          <p:nvPr/>
        </p:nvSpPr>
        <p:spPr>
          <a:xfrm>
            <a:off x="1694247" y="4380513"/>
            <a:ext cx="2756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hlinkClick r:id="rId5"/>
              </a:rPr>
              <a:t>https://scrapy.org/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9801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67EEFAC-0C03-A24B-9823-2ACD41E4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基于爬虫的数据分析与决策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411CD94D-5059-C747-9E69-5CB87EA00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27930"/>
            <a:ext cx="4036797" cy="2089916"/>
          </a:xfrm>
        </p:spPr>
        <p:txBody>
          <a:bodyPr>
            <a:normAutofit/>
          </a:bodyPr>
          <a:lstStyle/>
          <a:p>
            <a:r>
              <a:rPr kumimoji="1" lang="zh-CN" altLang="en-US" sz="1800" dirty="0"/>
              <a:t>金融领域需求：获取各大政府、行业网站发布的关键数据、公告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实现方法：使用爬虫提高获取数据的效率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举例：万得软件是我国领先的金融数据服务商之一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F0AC06D4-2AD8-6143-95BA-986FAF5A7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D1DC-EB24-2D46-9C9F-DBDF840474EE}" type="slidenum">
              <a:rPr kumimoji="1" lang="zh-CN" altLang="en-US" smtClean="0"/>
              <a:t>10</a:t>
            </a:fld>
            <a:endParaRPr kumimoji="1" lang="zh-CN" altLang="en-US"/>
          </a:p>
        </p:txBody>
      </p:sp>
      <p:pic>
        <p:nvPicPr>
          <p:cNvPr id="6" name="图片 5" descr="图形用户界面, 文本, 电子邮件&#10;&#10;描述已自动生成">
            <a:extLst>
              <a:ext uri="{FF2B5EF4-FFF2-40B4-BE49-F238E27FC236}">
                <a16:creationId xmlns:a16="http://schemas.microsoft.com/office/drawing/2014/main" xmlns="" id="{B98D72F9-420F-8046-BF0F-3FF82E917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471" y="2926975"/>
            <a:ext cx="6117052" cy="158006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047F6015-C73F-1B4C-9BC3-19A97206BAB4}"/>
              </a:ext>
            </a:extLst>
          </p:cNvPr>
          <p:cNvSpPr txBox="1"/>
          <p:nvPr/>
        </p:nvSpPr>
        <p:spPr>
          <a:xfrm>
            <a:off x="1435471" y="4526637"/>
            <a:ext cx="6117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hlinkClick r:id="rId3"/>
              </a:rPr>
              <a:t>https://www.qcc.com/firm/d1b84f508d958bdd374cba6f903686b3.html</a:t>
            </a:r>
            <a:r>
              <a:rPr lang="zh-CN" altLang="en-US" sz="1200" dirty="0"/>
              <a:t> </a:t>
            </a:r>
          </a:p>
        </p:txBody>
      </p:sp>
      <p:pic>
        <p:nvPicPr>
          <p:cNvPr id="10" name="图片 9" descr="文本&#10;&#10;描述已自动生成">
            <a:extLst>
              <a:ext uri="{FF2B5EF4-FFF2-40B4-BE49-F238E27FC236}">
                <a16:creationId xmlns:a16="http://schemas.microsoft.com/office/drawing/2014/main" xmlns="" id="{F50F7B61-4408-9C4D-BF47-13BA5066E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756" y="1024703"/>
            <a:ext cx="3805226" cy="152302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137F184E-F7B9-5C4B-BF18-4413CFB36614}"/>
              </a:ext>
            </a:extLst>
          </p:cNvPr>
          <p:cNvSpPr txBox="1"/>
          <p:nvPr/>
        </p:nvSpPr>
        <p:spPr>
          <a:xfrm>
            <a:off x="4275117" y="2564968"/>
            <a:ext cx="4668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hlinkClick r:id="rId5"/>
              </a:rPr>
              <a:t>https://baike.baidu.com/item/万得信息技术股份有限公司/20101094</a:t>
            </a:r>
            <a:r>
              <a:rPr lang="zh-CN" alt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8537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E97A1C2-4B87-A94D-AA30-3FD0E1518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基于爬虫的数据分析与决策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65D9ED23-17CA-0F4A-8360-54E469DD0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D1DC-EB24-2D46-9C9F-DBDF840474EE}" type="slidenum">
              <a:rPr kumimoji="1" lang="zh-CN" altLang="en-US" smtClean="0"/>
              <a:t>11</a:t>
            </a:fld>
            <a:endParaRPr kumimoji="1" lang="zh-CN" altLang="en-US"/>
          </a:p>
        </p:txBody>
      </p:sp>
      <p:pic>
        <p:nvPicPr>
          <p:cNvPr id="15" name="内容占位符 14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xmlns="" id="{AE17D0B3-0F93-1646-9DA5-E7D43557E9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388" y="1083697"/>
            <a:ext cx="3471791" cy="2660042"/>
          </a:xfrm>
        </p:spPr>
      </p:pic>
      <p:pic>
        <p:nvPicPr>
          <p:cNvPr id="13" name="内容占位符 9">
            <a:extLst>
              <a:ext uri="{FF2B5EF4-FFF2-40B4-BE49-F238E27FC236}">
                <a16:creationId xmlns:a16="http://schemas.microsoft.com/office/drawing/2014/main" xmlns="" id="{36CF4CF5-0FFD-EC49-AD4A-D91F56628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796" y="1083698"/>
            <a:ext cx="4728963" cy="241366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53B375DE-C03E-0E44-B839-C2BE6DE5C6FC}"/>
              </a:ext>
            </a:extLst>
          </p:cNvPr>
          <p:cNvSpPr txBox="1"/>
          <p:nvPr/>
        </p:nvSpPr>
        <p:spPr>
          <a:xfrm>
            <a:off x="393081" y="3859842"/>
            <a:ext cx="33724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50" dirty="0">
                <a:hlinkClick r:id="rId4"/>
              </a:rPr>
              <a:t>http://www.stats.gov.cn/tjsj/sjjd/202303/t20230309_1936941.html</a:t>
            </a:r>
            <a:r>
              <a:rPr lang="zh-CN" altLang="en-US" sz="1350" dirty="0"/>
              <a:t>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xmlns="" id="{AC8FCCEF-2103-134E-872A-E0756988A2AA}"/>
              </a:ext>
            </a:extLst>
          </p:cNvPr>
          <p:cNvSpPr txBox="1"/>
          <p:nvPr/>
        </p:nvSpPr>
        <p:spPr>
          <a:xfrm>
            <a:off x="3834471" y="3588729"/>
            <a:ext cx="5011613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Tx/>
              <a:buChar char="-"/>
            </a:pPr>
            <a:r>
              <a:rPr kumimoji="1" lang="zh-CN" altLang="en-US" sz="1350" dirty="0">
                <a:solidFill>
                  <a:srgbClr val="C00000"/>
                </a:solidFill>
              </a:rPr>
              <a:t>万得实时爬取国家统计局、证券交易所等网站数据、公告，并做初步的处理发送给投资者</a:t>
            </a:r>
            <a:endParaRPr kumimoji="1" lang="en-US" altLang="zh-CN" sz="1350" dirty="0">
              <a:solidFill>
                <a:srgbClr val="C00000"/>
              </a:solidFill>
            </a:endParaRPr>
          </a:p>
          <a:p>
            <a:pPr marL="214313" indent="-214313">
              <a:buFontTx/>
              <a:buChar char="-"/>
            </a:pPr>
            <a:r>
              <a:rPr kumimoji="1" lang="zh-CN" altLang="en-US" sz="1350" dirty="0">
                <a:solidFill>
                  <a:srgbClr val="C00000"/>
                </a:solidFill>
              </a:rPr>
              <a:t>金融领域对数据时效性要求极高，数据获取效率对证券市场的决策意义重大，因此以</a:t>
            </a:r>
            <a:r>
              <a:rPr kumimoji="1" lang="zh-CN" altLang="en-US" sz="1350" b="1" dirty="0">
                <a:solidFill>
                  <a:srgbClr val="C00000"/>
                </a:solidFill>
              </a:rPr>
              <a:t>更高效的爬虫算法</a:t>
            </a:r>
            <a:r>
              <a:rPr kumimoji="1" lang="zh-CN" altLang="en-US" sz="1350" dirty="0">
                <a:solidFill>
                  <a:srgbClr val="C00000"/>
                </a:solidFill>
              </a:rPr>
              <a:t>获取数据就成为了数据服务商战胜行业竞争对手的关键竞争优势</a:t>
            </a:r>
            <a:endParaRPr kumimoji="1" lang="en-US" altLang="zh-CN" sz="135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40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9C680E6-AD8D-E745-85B2-6B4BD63F6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爬虫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A4BE422-85F7-AB4F-A032-320F14DD6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D1DC-EB24-2D46-9C9F-DBDF840474EE}" type="slidenum">
              <a:rPr kumimoji="1" lang="zh-CN" altLang="en-US" smtClean="0"/>
              <a:t>12</a:t>
            </a:fld>
            <a:endParaRPr kumimoji="1"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xmlns="" id="{E1CA10AC-8742-924E-8B3F-1EE692798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Step </a:t>
            </a:r>
            <a:r>
              <a:rPr lang="en-US" altLang="zh-CN" dirty="0"/>
              <a:t>1: </a:t>
            </a:r>
            <a:r>
              <a:rPr lang="zh-CN" altLang="en-US" dirty="0"/>
              <a:t>获取目标</a:t>
            </a:r>
            <a:r>
              <a:rPr lang="en-US" altLang="zh-CN" dirty="0"/>
              <a:t>html</a:t>
            </a:r>
            <a:r>
              <a:rPr lang="zh-CN" altLang="en-US" dirty="0"/>
              <a:t>文件</a:t>
            </a:r>
            <a:endParaRPr lang="en-US" altLang="zh-CN" dirty="0"/>
          </a:p>
          <a:p>
            <a:r>
              <a:rPr lang="en-US" altLang="zh-CN" dirty="0" smtClean="0"/>
              <a:t>Step </a:t>
            </a:r>
            <a:r>
              <a:rPr lang="en-US" altLang="zh-CN" dirty="0"/>
              <a:t>2: </a:t>
            </a:r>
            <a:r>
              <a:rPr lang="zh-CN" altLang="en-US" dirty="0"/>
              <a:t>解析目标</a:t>
            </a:r>
            <a:r>
              <a:rPr lang="en-US" altLang="zh-CN" dirty="0"/>
              <a:t>html</a:t>
            </a:r>
            <a:r>
              <a:rPr lang="zh-CN" altLang="en-US" dirty="0"/>
              <a:t>文件得到结构化数据</a:t>
            </a:r>
            <a:endParaRPr lang="en-US" altLang="zh-CN" dirty="0"/>
          </a:p>
          <a:p>
            <a:r>
              <a:rPr lang="en-US" altLang="zh-CN" dirty="0" smtClean="0"/>
              <a:t>Step </a:t>
            </a:r>
            <a:r>
              <a:rPr lang="en-US" altLang="zh-CN" dirty="0"/>
              <a:t>3: </a:t>
            </a:r>
            <a:r>
              <a:rPr lang="zh-CN" altLang="en-US" dirty="0"/>
              <a:t>将结构化数据存储成制定格式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xmlns="" id="{0FDF5C5C-3EEE-C340-8181-F9A5E6EF3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58" y="2300193"/>
            <a:ext cx="2378675" cy="1622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20">
            <a:extLst>
              <a:ext uri="{FF2B5EF4-FFF2-40B4-BE49-F238E27FC236}">
                <a16:creationId xmlns:a16="http://schemas.microsoft.com/office/drawing/2014/main" xmlns="" id="{9DB83E81-82D8-004B-9E00-7A9C4A5B7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943" y="2300826"/>
            <a:ext cx="2092318" cy="16221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022C57C6-91DC-FB4F-A4D7-5FD6FAB7B254}"/>
              </a:ext>
            </a:extLst>
          </p:cNvPr>
          <p:cNvSpPr txBox="1"/>
          <p:nvPr/>
        </p:nvSpPr>
        <p:spPr>
          <a:xfrm>
            <a:off x="6165711" y="2349524"/>
            <a:ext cx="2743200" cy="15465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350" dirty="0"/>
              <a:t>标题：万达电影</a:t>
            </a:r>
            <a:r>
              <a:rPr kumimoji="1" lang="en-US" altLang="zh-CN" sz="1350" dirty="0"/>
              <a:t>2020</a:t>
            </a:r>
            <a:r>
              <a:rPr kumimoji="1" lang="zh-CN" altLang="en-US" sz="1350" dirty="0"/>
              <a:t>年半年度业绩预告</a:t>
            </a:r>
            <a:endParaRPr kumimoji="1" lang="en-US" altLang="zh-CN" sz="1350" dirty="0"/>
          </a:p>
          <a:p>
            <a:r>
              <a:rPr kumimoji="1" lang="zh-CN" altLang="en-US" sz="1350" dirty="0"/>
              <a:t>日期：</a:t>
            </a:r>
            <a:r>
              <a:rPr kumimoji="1" lang="en-US" altLang="zh-CN" sz="1350" dirty="0"/>
              <a:t>2020</a:t>
            </a:r>
            <a:r>
              <a:rPr kumimoji="1" lang="zh-CN" altLang="en-US" sz="1350" dirty="0"/>
              <a:t>年</a:t>
            </a:r>
            <a:r>
              <a:rPr kumimoji="1" lang="en-US" altLang="zh-CN" sz="1350" dirty="0"/>
              <a:t>7</a:t>
            </a:r>
            <a:r>
              <a:rPr kumimoji="1" lang="zh-CN" altLang="en-US" sz="1350" dirty="0"/>
              <a:t>月</a:t>
            </a:r>
            <a:r>
              <a:rPr kumimoji="1" lang="en-US" altLang="zh-CN" sz="1350" dirty="0"/>
              <a:t>15</a:t>
            </a:r>
            <a:r>
              <a:rPr kumimoji="1" lang="zh-CN" altLang="en-US" sz="1350" dirty="0"/>
              <a:t>日</a:t>
            </a:r>
            <a:endParaRPr kumimoji="1" lang="en-US" altLang="zh-CN" sz="1350" dirty="0"/>
          </a:p>
          <a:p>
            <a:r>
              <a:rPr kumimoji="1" lang="zh-CN" altLang="en-US" sz="1350" dirty="0"/>
              <a:t>正文：</a:t>
            </a:r>
            <a:r>
              <a:rPr kumimoji="1" lang="en-US" altLang="zh-CN" sz="1350" dirty="0"/>
              <a:t>...</a:t>
            </a:r>
          </a:p>
          <a:p>
            <a:endParaRPr kumimoji="1" lang="en-US" altLang="zh-CN" sz="1350" dirty="0"/>
          </a:p>
          <a:p>
            <a:endParaRPr kumimoji="1" lang="en-US" altLang="zh-CN" sz="1350" dirty="0"/>
          </a:p>
          <a:p>
            <a:endParaRPr kumimoji="1" lang="en-US" altLang="zh-CN" sz="1350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xmlns="" id="{887DC0FD-B361-E94E-B0BF-8FE143BF576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2529033" y="3111587"/>
            <a:ext cx="790910" cy="3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xmlns="" id="{2011F9EF-DED5-EA42-BE5A-A60AE3B05259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5412261" y="3111905"/>
            <a:ext cx="753450" cy="109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AC224420-34F7-804C-B64D-B9C79AFEB912}"/>
              </a:ext>
            </a:extLst>
          </p:cNvPr>
          <p:cNvSpPr txBox="1"/>
          <p:nvPr/>
        </p:nvSpPr>
        <p:spPr>
          <a:xfrm>
            <a:off x="896540" y="3998953"/>
            <a:ext cx="967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</a:rPr>
              <a:t>原网页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F70FD706-D4D8-9840-BCFF-09273010CAEE}"/>
              </a:ext>
            </a:extLst>
          </p:cNvPr>
          <p:cNvSpPr txBox="1"/>
          <p:nvPr/>
        </p:nvSpPr>
        <p:spPr>
          <a:xfrm>
            <a:off x="3319943" y="3998953"/>
            <a:ext cx="16241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</a:rPr>
              <a:t>获取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html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文件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xmlns="" id="{D0B91394-5FDF-4148-98F6-3AD66558B808}"/>
              </a:ext>
            </a:extLst>
          </p:cNvPr>
          <p:cNvSpPr txBox="1"/>
          <p:nvPr/>
        </p:nvSpPr>
        <p:spPr>
          <a:xfrm>
            <a:off x="6682330" y="3977657"/>
            <a:ext cx="2052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</a:rPr>
              <a:t>解析得到结构化数据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xmlns="" id="{BE3ABF01-D52B-494D-A2A7-E17F7180FC6C}"/>
              </a:ext>
            </a:extLst>
          </p:cNvPr>
          <p:cNvSpPr txBox="1"/>
          <p:nvPr/>
        </p:nvSpPr>
        <p:spPr>
          <a:xfrm>
            <a:off x="2301628" y="3233846"/>
            <a:ext cx="1208262" cy="507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350" dirty="0"/>
              <a:t>request</a:t>
            </a:r>
          </a:p>
          <a:p>
            <a:r>
              <a:rPr kumimoji="1" lang="en-US" altLang="zh-CN" sz="1350" dirty="0"/>
              <a:t>response</a:t>
            </a:r>
            <a:endParaRPr kumimoji="1" lang="zh-CN" altLang="en-US" sz="135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xmlns="" id="{B608E396-8DA9-4E44-A1DE-A874A6827343}"/>
              </a:ext>
            </a:extLst>
          </p:cNvPr>
          <p:cNvSpPr txBox="1"/>
          <p:nvPr/>
        </p:nvSpPr>
        <p:spPr>
          <a:xfrm>
            <a:off x="5196895" y="3233846"/>
            <a:ext cx="1473544" cy="11310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350" dirty="0"/>
              <a:t>解析</a:t>
            </a:r>
            <a:r>
              <a:rPr kumimoji="1" lang="en-US" altLang="zh-CN" sz="1350" dirty="0"/>
              <a:t>html</a:t>
            </a:r>
          </a:p>
          <a:p>
            <a:pPr marL="214313" indent="-214313">
              <a:buFontTx/>
              <a:buChar char="-"/>
            </a:pPr>
            <a:r>
              <a:rPr kumimoji="1" lang="zh-CN" altLang="en" sz="1350" dirty="0"/>
              <a:t>正则</a:t>
            </a:r>
            <a:r>
              <a:rPr kumimoji="1" lang="zh-CN" altLang="en-US" sz="1350" dirty="0"/>
              <a:t>表达式</a:t>
            </a:r>
            <a:endParaRPr kumimoji="1" lang="en-US" altLang="zh-CN" sz="1350" dirty="0"/>
          </a:p>
          <a:p>
            <a:pPr marL="214313" indent="-214313">
              <a:buFontTx/>
              <a:buChar char="-"/>
            </a:pPr>
            <a:r>
              <a:rPr kumimoji="1" lang="en" altLang="zh-CN" sz="1350" b="1" dirty="0"/>
              <a:t>Beautiful Soup</a:t>
            </a:r>
            <a:endParaRPr kumimoji="1" lang="en-US" altLang="zh-CN" sz="1350" b="1" dirty="0"/>
          </a:p>
          <a:p>
            <a:pPr marL="214313" indent="-214313">
              <a:buFontTx/>
              <a:buChar char="-"/>
            </a:pPr>
            <a:r>
              <a:rPr kumimoji="1" lang="en-US" altLang="zh-CN" sz="1350" dirty="0" err="1"/>
              <a:t>Xpath</a:t>
            </a:r>
            <a:endParaRPr kumimoji="1" lang="en-US" altLang="zh-CN" sz="1350" dirty="0"/>
          </a:p>
          <a:p>
            <a:pPr marL="214313" indent="-214313">
              <a:buFontTx/>
              <a:buChar char="-"/>
            </a:pPr>
            <a:r>
              <a:rPr kumimoji="1" lang="en-US" altLang="zh-CN" sz="1350" dirty="0" err="1"/>
              <a:t>HTMLParser</a:t>
            </a:r>
            <a:endParaRPr kumimoji="1" lang="en-US" altLang="zh-CN" sz="1350" dirty="0"/>
          </a:p>
        </p:txBody>
      </p:sp>
    </p:spTree>
    <p:extLst>
      <p:ext uri="{BB962C8B-B14F-4D97-AF65-F5344CB8AC3E}">
        <p14:creationId xmlns:p14="http://schemas.microsoft.com/office/powerpoint/2010/main" val="202858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从开放</a:t>
            </a:r>
            <a:r>
              <a:rPr lang="en-US" altLang="zh-CN" dirty="0" smtClean="0"/>
              <a:t>API</a:t>
            </a:r>
            <a:r>
              <a:rPr lang="zh-CN" altLang="en-US" dirty="0" smtClean="0"/>
              <a:t>获取</a:t>
            </a:r>
            <a:r>
              <a:rPr lang="zh-CN" altLang="en-US" dirty="0"/>
              <a:t>数据</a:t>
            </a:r>
            <a:endParaRPr kumimoji="1" lang="zh-CN" alt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API</a:t>
            </a:r>
            <a:r>
              <a:rPr lang="zh-CN" altLang="en-US" dirty="0"/>
              <a:t>接口开放平台是指一种提供给开发者使用的平台，开发者可以通过该平台获取到特定服务或功能的</a:t>
            </a:r>
            <a:r>
              <a:rPr lang="en-US" altLang="zh-CN" dirty="0"/>
              <a:t>API</a:t>
            </a:r>
            <a:r>
              <a:rPr lang="zh-CN" altLang="en-US" dirty="0"/>
              <a:t>接口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74"/>
          <a:stretch/>
        </p:blipFill>
        <p:spPr bwMode="auto">
          <a:xfrm>
            <a:off x="717625" y="1652194"/>
            <a:ext cx="5139478" cy="30385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6109516" y="2571309"/>
            <a:ext cx="282969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Microsoft YaHei" charset="-122"/>
                <a:ea typeface="Microsoft YaHei" charset="-122"/>
                <a:cs typeface="Microsoft YaHei" charset="-122"/>
              </a:rPr>
              <a:t>扩展阅读：</a:t>
            </a:r>
            <a:endParaRPr lang="en-US" altLang="zh-CN" b="1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endParaRPr lang="en-US" altLang="zh-CN" dirty="0" smtClean="0"/>
          </a:p>
          <a:p>
            <a:r>
              <a:rPr lang="zh-CN" altLang="en-US" b="1" dirty="0"/>
              <a:t>使用微博</a:t>
            </a:r>
            <a:r>
              <a:rPr lang="en-US" altLang="zh-CN" b="1" dirty="0"/>
              <a:t>API</a:t>
            </a:r>
            <a:r>
              <a:rPr lang="zh-CN" altLang="en-US" b="1" dirty="0"/>
              <a:t>接口获取</a:t>
            </a:r>
            <a:r>
              <a:rPr lang="zh-CN" altLang="en-US" b="1" dirty="0" smtClean="0"/>
              <a:t>数据</a:t>
            </a:r>
            <a:endParaRPr lang="en-US" dirty="0" smtClean="0"/>
          </a:p>
          <a:p>
            <a:r>
              <a:rPr lang="en-US" dirty="0" smtClean="0"/>
              <a:t>https</a:t>
            </a:r>
            <a:r>
              <a:rPr lang="en-US" dirty="0"/>
              <a:t>://</a:t>
            </a:r>
            <a:r>
              <a:rPr lang="en-US" dirty="0" err="1"/>
              <a:t>www.jianshu.com</a:t>
            </a:r>
            <a:r>
              <a:rPr lang="en-US" dirty="0"/>
              <a:t>/p/2d7fd22462b3</a:t>
            </a:r>
          </a:p>
        </p:txBody>
      </p:sp>
    </p:spTree>
    <p:extLst>
      <p:ext uri="{BB962C8B-B14F-4D97-AF65-F5344CB8AC3E}">
        <p14:creationId xmlns:p14="http://schemas.microsoft.com/office/powerpoint/2010/main" val="122835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从关系数据库获取数据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以</a:t>
            </a:r>
            <a:r>
              <a:rPr lang="en-US" altLang="zh-CN" dirty="0" smtClean="0"/>
              <a:t>MySQL</a:t>
            </a:r>
            <a:r>
              <a:rPr lang="zh-CN" altLang="en-US" dirty="0" smtClean="0"/>
              <a:t>数据库为例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创建连接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写</a:t>
            </a:r>
            <a:r>
              <a:rPr lang="en-US" altLang="zh-CN" dirty="0" smtClean="0"/>
              <a:t>SQL</a:t>
            </a:r>
            <a:r>
              <a:rPr lang="zh-CN" altLang="en-US" dirty="0" smtClean="0"/>
              <a:t>语句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执行</a:t>
            </a:r>
            <a:r>
              <a:rPr lang="en-US" altLang="zh-CN" dirty="0" smtClean="0"/>
              <a:t>SQL</a:t>
            </a:r>
            <a:r>
              <a:rPr lang="zh-CN" altLang="en-US" dirty="0" smtClean="0"/>
              <a:t>语句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r>
              <a:rPr lang="zh-CN" altLang="en-US" dirty="0" smtClean="0"/>
              <a:t>解析结果</a:t>
            </a:r>
            <a:endParaRPr lang="en-US" altLang="zh-CN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310" y="928438"/>
            <a:ext cx="5389836" cy="37184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7" name="Curved Connector 6"/>
          <p:cNvCxnSpPr/>
          <p:nvPr/>
        </p:nvCxnSpPr>
        <p:spPr>
          <a:xfrm flipV="1">
            <a:off x="2321960" y="1613043"/>
            <a:ext cx="1119883" cy="154113"/>
          </a:xfrm>
          <a:prstGeom prst="curvedConnector3">
            <a:avLst>
              <a:gd name="adj1" fmla="val 48165"/>
            </a:avLst>
          </a:prstGeom>
          <a:ln w="19050"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Curved Connector 10"/>
          <p:cNvCxnSpPr/>
          <p:nvPr/>
        </p:nvCxnSpPr>
        <p:spPr>
          <a:xfrm flipV="1">
            <a:off x="2517169" y="2147299"/>
            <a:ext cx="1089060" cy="256855"/>
          </a:xfrm>
          <a:prstGeom prst="curvedConnector3">
            <a:avLst>
              <a:gd name="adj1" fmla="val 50000"/>
            </a:avLst>
          </a:prstGeom>
          <a:ln w="19050"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Curved Connector 13"/>
          <p:cNvCxnSpPr/>
          <p:nvPr/>
        </p:nvCxnSpPr>
        <p:spPr>
          <a:xfrm>
            <a:off x="2712378" y="2986017"/>
            <a:ext cx="893851" cy="196332"/>
          </a:xfrm>
          <a:prstGeom prst="curvedConnector3">
            <a:avLst>
              <a:gd name="adj1" fmla="val 50000"/>
            </a:avLst>
          </a:prstGeom>
          <a:ln w="19050"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Curved Connector 17"/>
          <p:cNvCxnSpPr/>
          <p:nvPr/>
        </p:nvCxnSpPr>
        <p:spPr>
          <a:xfrm>
            <a:off x="2321960" y="3623015"/>
            <a:ext cx="1284269" cy="202101"/>
          </a:xfrm>
          <a:prstGeom prst="curvedConnector3">
            <a:avLst>
              <a:gd name="adj1" fmla="val 50000"/>
            </a:avLst>
          </a:prstGeom>
          <a:ln w="19050"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5960" y="4190601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hlinkClick r:id="rId4"/>
              </a:rPr>
              <a:t>https://dev.mysql.com/doc/connector-python/en/connector-python-examples.html</a:t>
            </a: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42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兰亭细黑_GBK" pitchFamily="2" charset="-122"/>
                <a:ea typeface="方正兰亭细黑_GBK" pitchFamily="2" charset="-122"/>
                <a:cs typeface="+mn-cs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041" y="2827018"/>
            <a:ext cx="2697829" cy="8689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探索数据分析</a:t>
            </a:r>
            <a:endParaRPr lang="en-US" altLang="zh-CN" sz="200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zh-CN" altLang="en-US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数据获取与准备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514104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lnSpc>
                <a:spcPct val="160000"/>
              </a:lnSpc>
              <a:buFontTx/>
              <a:buAutoNum type="arabicPeriod"/>
              <a:defRPr/>
            </a:pP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数据获取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lvl="0" indent="-342900">
              <a:lnSpc>
                <a:spcPct val="160000"/>
              </a:lnSpc>
              <a:buFontTx/>
              <a:buAutoNum type="arabicPeriod"/>
              <a:defRPr/>
            </a:pP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数据准备 </a:t>
            </a:r>
            <a:r>
              <a:rPr lang="en-US" altLang="zh-CN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数据抽取</a:t>
            </a:r>
            <a:endParaRPr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lvl="0" indent="-342900">
              <a:lnSpc>
                <a:spcPct val="160000"/>
              </a:lnSpc>
              <a:buFontTx/>
              <a:buAutoNum type="arabicPeriod"/>
              <a:defRPr/>
            </a:pP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数据准备 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数据清洗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lvl="0" indent="-342900">
              <a:lnSpc>
                <a:spcPct val="160000"/>
              </a:lnSpc>
              <a:buFontTx/>
              <a:buAutoNum type="arabicPeriod"/>
              <a:defRPr/>
            </a:pP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案例分析：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wuhan2020-sos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671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从文本数据中抽取结构化信息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3933" y="2398245"/>
            <a:ext cx="4019341" cy="1249308"/>
          </a:xfrm>
        </p:spPr>
        <p:txBody>
          <a:bodyPr/>
          <a:lstStyle/>
          <a:p>
            <a:r>
              <a:rPr lang="zh-CN" altLang="en-US" dirty="0" smtClean="0"/>
              <a:t>示例：肺炎患者求助超话</a:t>
            </a:r>
            <a:endParaRPr lang="en-US" altLang="zh-CN" dirty="0" smtClean="0"/>
          </a:p>
        </p:txBody>
      </p:sp>
      <p:grpSp>
        <p:nvGrpSpPr>
          <p:cNvPr id="11" name="Group 10"/>
          <p:cNvGrpSpPr/>
          <p:nvPr/>
        </p:nvGrpSpPr>
        <p:grpSpPr>
          <a:xfrm>
            <a:off x="457200" y="615493"/>
            <a:ext cx="4496078" cy="4180849"/>
            <a:chOff x="457200" y="615493"/>
            <a:chExt cx="4496078" cy="418084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1124834"/>
              <a:ext cx="4496078" cy="3671508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438" b="27490"/>
            <a:stretch/>
          </p:blipFill>
          <p:spPr>
            <a:xfrm>
              <a:off x="457200" y="615493"/>
              <a:ext cx="1667747" cy="509341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2210637" y="1547447"/>
              <a:ext cx="41165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200" dirty="0" smtClean="0"/>
                <a:t>XYZ</a:t>
              </a:r>
              <a:endParaRPr lang="en-US" sz="12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814455" y="2152023"/>
              <a:ext cx="886781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000" dirty="0" smtClean="0"/>
                <a:t>X</a:t>
              </a:r>
              <a:r>
                <a:rPr lang="zh-CN" altLang="en-US" sz="1000" dirty="0" smtClean="0"/>
                <a:t>栋</a:t>
              </a:r>
              <a:r>
                <a:rPr lang="en-US" altLang="zh-CN" sz="1000" dirty="0" smtClean="0"/>
                <a:t>Y</a:t>
              </a:r>
              <a:r>
                <a:rPr lang="zh-CN" altLang="en-US" sz="1000" dirty="0" smtClean="0"/>
                <a:t>单元</a:t>
              </a:r>
              <a:r>
                <a:rPr lang="en-US" altLang="zh-CN" sz="1000" dirty="0" smtClean="0"/>
                <a:t>Z</a:t>
              </a:r>
              <a:r>
                <a:rPr lang="zh-CN" altLang="en-US" sz="1000" dirty="0" smtClean="0"/>
                <a:t>楼</a:t>
              </a:r>
              <a:endParaRPr lang="en-US" sz="10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37385" y="2541429"/>
              <a:ext cx="910827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000" smtClean="0"/>
                <a:t>1397xxx6027</a:t>
              </a:r>
              <a:endParaRPr lang="en-US" sz="10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03126" y="2757506"/>
              <a:ext cx="910827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000" smtClean="0"/>
                <a:t>1341xxx1935</a:t>
              </a:r>
              <a:endParaRPr lang="en-US" sz="1000" dirty="0"/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691" y="704849"/>
            <a:ext cx="3048818" cy="15797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308042" y="2916740"/>
            <a:ext cx="3526116" cy="584775"/>
          </a:xfrm>
          <a:prstGeom prst="rect">
            <a:avLst/>
          </a:prstGeom>
          <a:ln w="19050"/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转发！！！【</a:t>
            </a:r>
            <a:r>
              <a:rPr lang="en-US" sz="1600" dirty="0">
                <a:solidFill>
                  <a:srgbClr val="FF0000"/>
                </a:solidFill>
              </a:rPr>
              <a:t>所在小区、社区</a:t>
            </a:r>
            <a:r>
              <a:rPr lang="en-US" sz="1600" dirty="0"/>
              <a:t>】</a:t>
            </a:r>
            <a:r>
              <a:rPr lang="en-US" sz="1600" dirty="0">
                <a:solidFill>
                  <a:srgbClr val="FF0000"/>
                </a:solidFill>
              </a:rPr>
              <a:t>汉阳区麒麟路麒麟社区</a:t>
            </a:r>
            <a:r>
              <a:rPr lang="en-US" sz="1600" dirty="0"/>
              <a:t>\n 求助！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75690" y="3874683"/>
            <a:ext cx="582730" cy="58273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09838" y="3704383"/>
            <a:ext cx="24769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  <a:latin typeface="Helvetica Neue" charset="0"/>
              </a:rPr>
              <a:t>请使用</a:t>
            </a:r>
            <a:r>
              <a:rPr lang="en-US" altLang="zh-CN" b="1" dirty="0" smtClean="0">
                <a:solidFill>
                  <a:srgbClr val="C00000"/>
                </a:solidFill>
                <a:latin typeface="Helvetica Neue" charset="0"/>
              </a:rPr>
              <a:t>Python</a:t>
            </a:r>
            <a:r>
              <a:rPr lang="zh-CN" altLang="en-US" b="1" dirty="0" smtClean="0">
                <a:solidFill>
                  <a:srgbClr val="C00000"/>
                </a:solidFill>
                <a:latin typeface="Helvetica Neue" charset="0"/>
              </a:rPr>
              <a:t>的</a:t>
            </a:r>
            <a:r>
              <a:rPr lang="en-US" altLang="zh-CN" b="1" dirty="0" smtClean="0">
                <a:solidFill>
                  <a:srgbClr val="C00000"/>
                </a:solidFill>
                <a:latin typeface="Helvetica Neue" charset="0"/>
              </a:rPr>
              <a:t>re</a:t>
            </a:r>
            <a:r>
              <a:rPr lang="zh-CN" altLang="en-US" b="1" dirty="0" smtClean="0">
                <a:solidFill>
                  <a:srgbClr val="C00000"/>
                </a:solidFill>
                <a:latin typeface="Helvetica Neue" charset="0"/>
              </a:rPr>
              <a:t>库抽取属性名和取值，粘贴到讨论对话框中</a:t>
            </a:r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8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从文本中抽取信息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3933" y="2398245"/>
            <a:ext cx="4019341" cy="1249308"/>
          </a:xfrm>
        </p:spPr>
        <p:txBody>
          <a:bodyPr/>
          <a:lstStyle/>
          <a:p>
            <a:r>
              <a:rPr lang="zh-CN" altLang="en-US" dirty="0" smtClean="0"/>
              <a:t>示例：肺炎患者求助超话</a:t>
            </a:r>
            <a:endParaRPr lang="en-US" altLang="zh-CN" dirty="0" smtClean="0"/>
          </a:p>
        </p:txBody>
      </p:sp>
      <p:grpSp>
        <p:nvGrpSpPr>
          <p:cNvPr id="11" name="Group 10"/>
          <p:cNvGrpSpPr/>
          <p:nvPr/>
        </p:nvGrpSpPr>
        <p:grpSpPr>
          <a:xfrm>
            <a:off x="457200" y="615493"/>
            <a:ext cx="4496078" cy="4180849"/>
            <a:chOff x="457200" y="615493"/>
            <a:chExt cx="4496078" cy="418084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1124834"/>
              <a:ext cx="4496078" cy="3671508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438" b="27490"/>
            <a:stretch/>
          </p:blipFill>
          <p:spPr>
            <a:xfrm>
              <a:off x="457200" y="615493"/>
              <a:ext cx="1667747" cy="509341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2210637" y="1547447"/>
              <a:ext cx="41165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200" dirty="0" smtClean="0"/>
                <a:t>XYZ</a:t>
              </a:r>
              <a:endParaRPr lang="en-US" sz="12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814455" y="2152023"/>
              <a:ext cx="886781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000" dirty="0" smtClean="0"/>
                <a:t>X</a:t>
              </a:r>
              <a:r>
                <a:rPr lang="zh-CN" altLang="en-US" sz="1000" dirty="0" smtClean="0"/>
                <a:t>栋</a:t>
              </a:r>
              <a:r>
                <a:rPr lang="en-US" altLang="zh-CN" sz="1000" dirty="0" smtClean="0"/>
                <a:t>Y</a:t>
              </a:r>
              <a:r>
                <a:rPr lang="zh-CN" altLang="en-US" sz="1000" dirty="0" smtClean="0"/>
                <a:t>单元</a:t>
              </a:r>
              <a:r>
                <a:rPr lang="en-US" altLang="zh-CN" sz="1000" dirty="0" smtClean="0"/>
                <a:t>Z</a:t>
              </a:r>
              <a:r>
                <a:rPr lang="zh-CN" altLang="en-US" sz="1000" dirty="0" smtClean="0"/>
                <a:t>楼</a:t>
              </a:r>
              <a:endParaRPr lang="en-US" sz="10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37385" y="2541429"/>
              <a:ext cx="910827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000" smtClean="0"/>
                <a:t>1397xxx6027</a:t>
              </a:r>
              <a:endParaRPr lang="en-US" sz="10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03126" y="2757506"/>
              <a:ext cx="910827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000" smtClean="0"/>
                <a:t>1341xxx1935</a:t>
              </a:r>
              <a:endParaRPr lang="en-US" sz="1000" dirty="0"/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691" y="704849"/>
            <a:ext cx="3048818" cy="15797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933" y="3003727"/>
            <a:ext cx="4104486" cy="1376117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5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AFB87E3-4A68-CCD9-A14E-D834F6627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什么是正则表达式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82DE289C-FF8B-D265-1072-94FE89489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latinLnBrk="1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正则表达式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(Regular Expression)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是一种文本模式，包括普通字符（例如，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a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到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z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之间的字母）和特殊字符（称为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"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元字符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"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）。</a:t>
            </a:r>
          </a:p>
          <a:p>
            <a:pPr algn="l" latinLnBrk="1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正则表达式使用单个字符串来描述、匹配一系列匹配某个句法规则的字符串。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/>
            <a:r>
              <a:rPr lang="zh-CN" altLang="en-US" b="0" i="0" dirty="0" smtClean="0">
                <a:effectLst/>
                <a:latin typeface="Helvetica Neue"/>
              </a:rPr>
              <a:t>举例：</a:t>
            </a:r>
            <a:endParaRPr lang="en-US" altLang="zh-CN" b="0" i="0" dirty="0" smtClean="0">
              <a:effectLst/>
              <a:latin typeface="Helvetica Neue"/>
            </a:endParaRPr>
          </a:p>
          <a:p>
            <a:pPr lvl="1" latinLnBrk="1"/>
            <a:r>
              <a:rPr lang="en-US" altLang="zh-CN" dirty="0">
                <a:latin typeface="Helvetica Neue"/>
              </a:rPr>
              <a:t>11</a:t>
            </a:r>
            <a:r>
              <a:rPr lang="zh-CN" altLang="en-US" dirty="0">
                <a:latin typeface="Helvetica Neue"/>
              </a:rPr>
              <a:t>位手机号 ： </a:t>
            </a:r>
            <a:r>
              <a:rPr lang="en-US" altLang="zh-CN" dirty="0">
                <a:latin typeface="Helvetica Neue"/>
              </a:rPr>
              <a:t>1[0-9]{10}</a:t>
            </a:r>
          </a:p>
          <a:p>
            <a:pPr lvl="1" latinLnBrk="1"/>
            <a:r>
              <a:rPr lang="en-US" altLang="zh-CN" dirty="0">
                <a:latin typeface="Helvetica Neue"/>
              </a:rPr>
              <a:t>moon, </a:t>
            </a:r>
            <a:r>
              <a:rPr lang="en-US" altLang="zh-CN" dirty="0" err="1">
                <a:latin typeface="Helvetica Neue"/>
              </a:rPr>
              <a:t>moooon</a:t>
            </a:r>
            <a:r>
              <a:rPr lang="en-US" altLang="zh-CN" dirty="0">
                <a:latin typeface="Helvetica Neue"/>
              </a:rPr>
              <a:t>, </a:t>
            </a:r>
            <a:r>
              <a:rPr lang="en-US" altLang="zh-CN" dirty="0" err="1">
                <a:latin typeface="Helvetica Neue"/>
              </a:rPr>
              <a:t>moooooon</a:t>
            </a:r>
            <a:r>
              <a:rPr lang="en-US" altLang="zh-CN" dirty="0">
                <a:latin typeface="Helvetica Neue"/>
              </a:rPr>
              <a:t>… :   m(</a:t>
            </a:r>
            <a:r>
              <a:rPr lang="en-US" altLang="zh-CN" dirty="0" err="1">
                <a:latin typeface="Helvetica Neue"/>
              </a:rPr>
              <a:t>oo</a:t>
            </a:r>
            <a:r>
              <a:rPr lang="en-US" altLang="zh-CN" dirty="0">
                <a:latin typeface="Helvetica Neue"/>
              </a:rPr>
              <a:t>)+n</a:t>
            </a:r>
          </a:p>
          <a:p>
            <a:pPr lvl="1" latinLnBrk="1"/>
            <a:r>
              <a:rPr lang="en-US" altLang="zh-CN" dirty="0">
                <a:latin typeface="Helvetica Neue"/>
              </a:rPr>
              <a:t>moon, </a:t>
            </a:r>
            <a:r>
              <a:rPr lang="en-US" altLang="zh-CN" dirty="0" err="1">
                <a:latin typeface="Helvetica Neue"/>
              </a:rPr>
              <a:t>muun</a:t>
            </a:r>
            <a:r>
              <a:rPr lang="en-US" altLang="zh-CN" dirty="0">
                <a:latin typeface="Helvetica Neue"/>
              </a:rPr>
              <a:t>, </a:t>
            </a:r>
            <a:r>
              <a:rPr lang="en-US" altLang="zh-CN" dirty="0" err="1">
                <a:latin typeface="Helvetica Neue"/>
              </a:rPr>
              <a:t>moooon</a:t>
            </a:r>
            <a:r>
              <a:rPr lang="en-US" altLang="zh-CN" dirty="0">
                <a:latin typeface="Helvetica Neue"/>
              </a:rPr>
              <a:t>, </a:t>
            </a:r>
            <a:r>
              <a:rPr lang="en-US" altLang="zh-CN" dirty="0" err="1">
                <a:latin typeface="Helvetica Neue"/>
              </a:rPr>
              <a:t>muuuun</a:t>
            </a:r>
            <a:r>
              <a:rPr lang="en-US" altLang="zh-CN" dirty="0">
                <a:latin typeface="Helvetica Neue"/>
              </a:rPr>
              <a:t>:  m((</a:t>
            </a:r>
            <a:r>
              <a:rPr lang="en-US" altLang="zh-CN" dirty="0" err="1">
                <a:latin typeface="Helvetica Neue"/>
              </a:rPr>
              <a:t>oo</a:t>
            </a:r>
            <a:r>
              <a:rPr lang="en-US" altLang="zh-CN" dirty="0">
                <a:latin typeface="Helvetica Neue"/>
              </a:rPr>
              <a:t>)+|(</a:t>
            </a:r>
            <a:r>
              <a:rPr lang="en-US" altLang="zh-CN" dirty="0" err="1">
                <a:latin typeface="Helvetica Neue"/>
              </a:rPr>
              <a:t>uu</a:t>
            </a:r>
            <a:r>
              <a:rPr lang="en-US" altLang="zh-CN" dirty="0">
                <a:latin typeface="Helvetica Neue"/>
              </a:rPr>
              <a:t>)+)n</a:t>
            </a:r>
            <a:endParaRPr lang="zh-CN" altLang="en-US" b="0" i="0" dirty="0">
              <a:effectLst/>
              <a:latin typeface="Helvetica Neue"/>
            </a:endParaRPr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B194026B-29ED-E18C-33F0-3F669379F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D1DC-EB24-2D46-9C9F-DBDF840474EE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610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10803B6-531F-9020-2484-56595FD21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为什么要用正则表达式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571D19B-E81B-9C24-4B56-346958CA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D1DC-EB24-2D46-9C9F-DBDF840474EE}" type="slidenum">
              <a:rPr kumimoji="1" lang="zh-CN" altLang="en-US" smtClean="0"/>
              <a:t>19</a:t>
            </a:fld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9E6ADE0E-C245-F0D5-CEE9-FB71BA10F3D0}"/>
              </a:ext>
            </a:extLst>
          </p:cNvPr>
          <p:cNvSpPr txBox="1"/>
          <p:nvPr/>
        </p:nvSpPr>
        <p:spPr>
          <a:xfrm>
            <a:off x="4701767" y="1522710"/>
            <a:ext cx="4570821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50" dirty="0">
                <a:solidFill>
                  <a:srgbClr val="000000"/>
                </a:solidFill>
                <a:latin typeface="Consolas" panose="020B0609020204030204" pitchFamily="49" charset="0"/>
              </a:rPr>
              <a:t>169.237.46.168 - - [</a:t>
            </a:r>
            <a:r>
              <a:rPr lang="en-US" altLang="zh-CN" sz="1350" dirty="0">
                <a:solidFill>
                  <a:srgbClr val="FF0000"/>
                </a:solidFill>
                <a:latin typeface="Consolas" panose="020B0609020204030204" pitchFamily="49" charset="0"/>
              </a:rPr>
              <a:t>26/Jan/2014:10:47:58 </a:t>
            </a:r>
            <a:endParaRPr lang="en-US" altLang="zh-CN" sz="1350" dirty="0"/>
          </a:p>
          <a:p>
            <a:r>
              <a:rPr lang="en-US" altLang="zh-CN" sz="1350" dirty="0">
                <a:solidFill>
                  <a:srgbClr val="FF0000"/>
                </a:solidFill>
                <a:latin typeface="Consolas" panose="020B0609020204030204" pitchFamily="49" charset="0"/>
              </a:rPr>
              <a:t>-0800</a:t>
            </a:r>
            <a:r>
              <a:rPr lang="en-US" altLang="zh-CN" sz="1350" dirty="0">
                <a:solidFill>
                  <a:srgbClr val="000000"/>
                </a:solidFill>
                <a:latin typeface="Consolas" panose="020B0609020204030204" pitchFamily="49" charset="0"/>
              </a:rPr>
              <a:t>] "GET /stat141/Winter04/ HTTP/1.1" 200 </a:t>
            </a:r>
            <a:endParaRPr lang="en-US" altLang="zh-CN" sz="1350" dirty="0"/>
          </a:p>
          <a:p>
            <a:r>
              <a:rPr lang="en-US" altLang="zh-CN" sz="1350" dirty="0">
                <a:solidFill>
                  <a:srgbClr val="000000"/>
                </a:solidFill>
                <a:latin typeface="Consolas" panose="020B0609020204030204" pitchFamily="49" charset="0"/>
              </a:rPr>
              <a:t>2585 "http://anson.ucdavis.edu/courses/" </a:t>
            </a:r>
            <a:endParaRPr lang="zh-CN" altLang="en-US" sz="1350" dirty="0"/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xmlns="" id="{1E78CC43-6C32-4072-092C-7921430DF26C}"/>
              </a:ext>
            </a:extLst>
          </p:cNvPr>
          <p:cNvSpPr txBox="1"/>
          <p:nvPr/>
        </p:nvSpPr>
        <p:spPr>
          <a:xfrm>
            <a:off x="5233999" y="2238291"/>
            <a:ext cx="3506356" cy="761735"/>
          </a:xfrm>
          <a:prstGeom prst="rect">
            <a:avLst/>
          </a:prstGeom>
          <a:noFill/>
        </p:spPr>
        <p:txBody>
          <a:bodyPr wrap="square" lIns="68567" tIns="34284" rIns="68567" bIns="34284" rtlCol="0">
            <a:spAutoFit/>
          </a:bodyPr>
          <a:lstStyle/>
          <a:p>
            <a:pPr defTabSz="913448">
              <a:lnSpc>
                <a:spcPct val="150000"/>
              </a:lnSpc>
              <a:defRPr/>
            </a:pPr>
            <a:r>
              <a:rPr lang="zh-CN" altLang="en-US" sz="1500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要求从这个日志数据中提取出年、月、日、时、分、秒，该如何操作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26BC9DBF-8758-4234-052E-313CAD99132C}"/>
              </a:ext>
            </a:extLst>
          </p:cNvPr>
          <p:cNvSpPr txBox="1"/>
          <p:nvPr/>
        </p:nvSpPr>
        <p:spPr>
          <a:xfrm>
            <a:off x="186489" y="1614589"/>
            <a:ext cx="41027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1350" dirty="0"/>
              <a:t>replace(old, new[, max])</a:t>
            </a:r>
          </a:p>
          <a:p>
            <a:r>
              <a:rPr lang="zh-CN" altLang="en-US" sz="1350" dirty="0">
                <a:solidFill>
                  <a:srgbClr val="333333"/>
                </a:solidFill>
                <a:latin typeface="Helvetica Neue"/>
              </a:rPr>
              <a:t>字符串中的 </a:t>
            </a:r>
            <a:r>
              <a:rPr lang="en-US" altLang="zh-CN" sz="1350" dirty="0">
                <a:solidFill>
                  <a:srgbClr val="333333"/>
                </a:solidFill>
                <a:latin typeface="Helvetica Neue"/>
              </a:rPr>
              <a:t>old</a:t>
            </a:r>
            <a:r>
              <a:rPr lang="zh-CN" altLang="en-US" sz="1350" dirty="0">
                <a:solidFill>
                  <a:srgbClr val="333333"/>
                </a:solidFill>
                <a:latin typeface="Helvetica Neue"/>
              </a:rPr>
              <a:t>（旧字符串） 替换成 </a:t>
            </a:r>
            <a:r>
              <a:rPr lang="en-US" altLang="zh-CN" sz="1350" dirty="0">
                <a:solidFill>
                  <a:srgbClr val="333333"/>
                </a:solidFill>
                <a:latin typeface="Helvetica Neue"/>
              </a:rPr>
              <a:t>new(</a:t>
            </a:r>
            <a:r>
              <a:rPr lang="zh-CN" altLang="en-US" sz="1350" dirty="0">
                <a:solidFill>
                  <a:srgbClr val="333333"/>
                </a:solidFill>
                <a:latin typeface="Helvetica Neue"/>
              </a:rPr>
              <a:t>新字符串</a:t>
            </a:r>
            <a:r>
              <a:rPr lang="en-US" altLang="zh-CN" sz="1350" dirty="0">
                <a:solidFill>
                  <a:srgbClr val="333333"/>
                </a:solidFill>
                <a:latin typeface="Helvetica Neue"/>
              </a:rPr>
              <a:t>)</a:t>
            </a:r>
            <a:r>
              <a:rPr lang="zh-CN" altLang="en-US" sz="1350" dirty="0">
                <a:solidFill>
                  <a:srgbClr val="333333"/>
                </a:solidFill>
                <a:latin typeface="Helvetica Neue"/>
              </a:rPr>
              <a:t>，如果指定第三个参数</a:t>
            </a:r>
            <a:r>
              <a:rPr lang="en-US" altLang="zh-CN" sz="1350" dirty="0">
                <a:solidFill>
                  <a:srgbClr val="333333"/>
                </a:solidFill>
                <a:latin typeface="Helvetica Neue"/>
              </a:rPr>
              <a:t>max</a:t>
            </a:r>
            <a:r>
              <a:rPr lang="zh-CN" altLang="en-US" sz="1350" dirty="0">
                <a:solidFill>
                  <a:srgbClr val="333333"/>
                </a:solidFill>
                <a:latin typeface="Helvetica Neue"/>
              </a:rPr>
              <a:t>，则替换不超过 </a:t>
            </a:r>
            <a:r>
              <a:rPr lang="en-US" altLang="zh-CN" sz="1350" dirty="0">
                <a:solidFill>
                  <a:srgbClr val="333333"/>
                </a:solidFill>
                <a:latin typeface="Helvetica Neue"/>
              </a:rPr>
              <a:t>max </a:t>
            </a:r>
            <a:r>
              <a:rPr lang="zh-CN" altLang="en-US" sz="1350" dirty="0">
                <a:solidFill>
                  <a:srgbClr val="333333"/>
                </a:solidFill>
                <a:latin typeface="Helvetica Neue"/>
              </a:rPr>
              <a:t>次</a:t>
            </a:r>
            <a:endParaRPr lang="en-US" altLang="zh-CN" sz="1350" dirty="0">
              <a:solidFill>
                <a:srgbClr val="333333"/>
              </a:solidFill>
              <a:latin typeface="Helvetica Neue"/>
            </a:endParaRPr>
          </a:p>
          <a:p>
            <a:endParaRPr lang="en-US" altLang="zh-CN" sz="1350" dirty="0">
              <a:solidFill>
                <a:srgbClr val="333333"/>
              </a:solidFill>
              <a:latin typeface="Helvetica Neue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1350" dirty="0"/>
              <a:t>split(</a:t>
            </a:r>
            <a:r>
              <a:rPr lang="en-US" altLang="zh-CN" sz="1350" dirty="0" err="1"/>
              <a:t>str,num</a:t>
            </a:r>
            <a:r>
              <a:rPr lang="en-US" altLang="zh-CN" sz="1350" dirty="0"/>
              <a:t>)</a:t>
            </a:r>
          </a:p>
          <a:p>
            <a:r>
              <a:rPr lang="en-US" altLang="zh-CN" sz="1350" dirty="0">
                <a:solidFill>
                  <a:srgbClr val="333333"/>
                </a:solidFill>
                <a:latin typeface="Helvetica Neue"/>
              </a:rPr>
              <a:t>split() </a:t>
            </a:r>
            <a:r>
              <a:rPr lang="zh-CN" altLang="en-US" sz="1350" dirty="0">
                <a:solidFill>
                  <a:srgbClr val="333333"/>
                </a:solidFill>
                <a:latin typeface="Helvetica Neue"/>
              </a:rPr>
              <a:t>通过指定分隔符对字符串进行切片，如果参数 </a:t>
            </a:r>
            <a:r>
              <a:rPr lang="en-US" altLang="zh-CN" sz="1350" dirty="0">
                <a:solidFill>
                  <a:srgbClr val="333333"/>
                </a:solidFill>
                <a:latin typeface="Helvetica Neue"/>
              </a:rPr>
              <a:t>num </a:t>
            </a:r>
            <a:r>
              <a:rPr lang="zh-CN" altLang="en-US" sz="1350" dirty="0">
                <a:solidFill>
                  <a:srgbClr val="333333"/>
                </a:solidFill>
                <a:latin typeface="Helvetica Neue"/>
              </a:rPr>
              <a:t>有指定值，则分隔 </a:t>
            </a:r>
            <a:r>
              <a:rPr lang="en-US" altLang="zh-CN" sz="1350" dirty="0">
                <a:solidFill>
                  <a:srgbClr val="333333"/>
                </a:solidFill>
                <a:latin typeface="Helvetica Neue"/>
              </a:rPr>
              <a:t>num+1 </a:t>
            </a:r>
            <a:r>
              <a:rPr lang="zh-CN" altLang="en-US" sz="1350" dirty="0">
                <a:solidFill>
                  <a:srgbClr val="333333"/>
                </a:solidFill>
                <a:latin typeface="Helvetica Neue"/>
              </a:rPr>
              <a:t>个子字符串</a:t>
            </a:r>
            <a:endParaRPr lang="en-US" altLang="zh-CN" sz="1350" dirty="0">
              <a:solidFill>
                <a:srgbClr val="333333"/>
              </a:solidFill>
              <a:latin typeface="Helvetica Neue"/>
            </a:endParaRPr>
          </a:p>
          <a:p>
            <a:endParaRPr lang="en-US" altLang="zh-CN" sz="1350" dirty="0">
              <a:solidFill>
                <a:srgbClr val="333333"/>
              </a:solidFill>
              <a:latin typeface="Helvetica Neue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1350" dirty="0"/>
              <a:t>strip([chars])</a:t>
            </a:r>
          </a:p>
          <a:p>
            <a:r>
              <a:rPr lang="zh-CN" altLang="en-US" sz="1350" dirty="0">
                <a:solidFill>
                  <a:srgbClr val="333333"/>
                </a:solidFill>
                <a:latin typeface="Helvetica Neue"/>
              </a:rPr>
              <a:t>用于移除字符串头尾指定的字符（默认为空格或换行符）或字符序列。</a:t>
            </a:r>
            <a:endParaRPr lang="en-US" altLang="zh-CN" sz="1350" dirty="0">
              <a:solidFill>
                <a:srgbClr val="333333"/>
              </a:solidFill>
              <a:latin typeface="Helvetica Neue"/>
            </a:endParaRPr>
          </a:p>
          <a:p>
            <a:endParaRPr lang="zh-CN" altLang="en-US" sz="1350" dirty="0"/>
          </a:p>
        </p:txBody>
      </p:sp>
      <p:pic>
        <p:nvPicPr>
          <p:cNvPr id="10" name="内容占位符 4">
            <a:extLst>
              <a:ext uri="{FF2B5EF4-FFF2-40B4-BE49-F238E27FC236}">
                <a16:creationId xmlns:a16="http://schemas.microsoft.com/office/drawing/2014/main" xmlns="" id="{4520DCBB-15C2-2E19-140E-23B07B8FC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1987" y="3198559"/>
            <a:ext cx="4277226" cy="84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45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B80CD59-2978-C42A-E1B1-365F8A2D2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为什么要用正则表达式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461A83E6-A7E9-7949-8415-9400C785F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D1DC-EB24-2D46-9C9F-DBDF840474EE}" type="slidenum">
              <a:rPr kumimoji="1" lang="zh-CN" altLang="en-US" smtClean="0"/>
              <a:t>20</a:t>
            </a:fld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045E4512-3F8E-5B92-D8A0-CFBF5B05B725}"/>
              </a:ext>
            </a:extLst>
          </p:cNvPr>
          <p:cNvSpPr txBox="1"/>
          <p:nvPr/>
        </p:nvSpPr>
        <p:spPr>
          <a:xfrm>
            <a:off x="706103" y="1429130"/>
            <a:ext cx="457082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hlinkClick r:id="rId2"/>
              </a:rPr>
              <a:t>34sdg4gfwr4@ruc.edu.cn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hlinkClick r:id="rId3"/>
              </a:rPr>
              <a:t>653564309@qq.com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hlinkClick r:id="rId4"/>
              </a:rPr>
              <a:t>hehehe@gmail.com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hlinkClick r:id="rId5"/>
              </a:rPr>
              <a:t>chigua@sina.cn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hlinkClick r:id="rId6"/>
              </a:rPr>
              <a:t>34gdggfdgrtyhyr@163.com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... ...</a:t>
            </a:r>
          </a:p>
          <a:p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24">
            <a:extLst>
              <a:ext uri="{FF2B5EF4-FFF2-40B4-BE49-F238E27FC236}">
                <a16:creationId xmlns:a16="http://schemas.microsoft.com/office/drawing/2014/main" xmlns="" id="{4A07F5FC-E0E1-5EA8-EE83-D7907CB4C9A7}"/>
              </a:ext>
            </a:extLst>
          </p:cNvPr>
          <p:cNvSpPr txBox="1"/>
          <p:nvPr/>
        </p:nvSpPr>
        <p:spPr>
          <a:xfrm>
            <a:off x="5276925" y="1384012"/>
            <a:ext cx="3506356" cy="761735"/>
          </a:xfrm>
          <a:prstGeom prst="rect">
            <a:avLst/>
          </a:prstGeom>
          <a:noFill/>
        </p:spPr>
        <p:txBody>
          <a:bodyPr wrap="square" lIns="68567" tIns="34284" rIns="68567" bIns="34284" rtlCol="0">
            <a:spAutoFit/>
          </a:bodyPr>
          <a:lstStyle/>
          <a:p>
            <a:pPr defTabSz="913448">
              <a:lnSpc>
                <a:spcPct val="150000"/>
              </a:lnSpc>
              <a:defRPr/>
            </a:pPr>
            <a:r>
              <a:rPr lang="zh-CN" altLang="en-US" sz="1500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如果验证一个字符串是否是电子邮箱呢？</a:t>
            </a:r>
            <a:endParaRPr lang="en-US" altLang="zh-CN" sz="1500" dirty="0"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  <a:p>
            <a:pPr defTabSz="913448">
              <a:lnSpc>
                <a:spcPct val="150000"/>
              </a:lnSpc>
              <a:defRPr/>
            </a:pPr>
            <a:r>
              <a:rPr lang="zh-CN" altLang="en-US" sz="1500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依然自己写规则判断吗？</a:t>
            </a:r>
          </a:p>
        </p:txBody>
      </p:sp>
      <p:pic>
        <p:nvPicPr>
          <p:cNvPr id="7" name="Picture 2" descr="地铁老人看手机 的图像结果">
            <a:extLst>
              <a:ext uri="{FF2B5EF4-FFF2-40B4-BE49-F238E27FC236}">
                <a16:creationId xmlns:a16="http://schemas.microsoft.com/office/drawing/2014/main" xmlns="" id="{AF985D3A-E6FF-DF19-463A-DD33FD760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392" y="2204360"/>
            <a:ext cx="2435419" cy="278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80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F0FF4E7-1739-7DFB-C94A-882809BAB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83D6A49C-89A2-28A1-DD40-DA01E38C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D1DC-EB24-2D46-9C9F-DBDF840474EE}" type="slidenum">
              <a:rPr kumimoji="1" lang="zh-CN" altLang="en-US" smtClean="0"/>
              <a:t>21</a:t>
            </a:fld>
            <a:endParaRPr kumimoji="1"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xmlns="" id="{4221AF08-12EC-CE2C-4E50-FE284C27990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1" y="1027510"/>
            <a:ext cx="3681663" cy="347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：判断是否是合法邮箱</a:t>
            </a:r>
            <a:endParaRPr lang="en-US" altLang="zh-CN" sz="1500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>
              <a:buNone/>
            </a:pPr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	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邮箱的规则为，输入的只能是字母、数字、</a:t>
            </a:r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@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以及</a:t>
            </a:r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.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五种， </a:t>
            </a:r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@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和</a:t>
            </a:r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.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前后只能是字母或者数字</a:t>
            </a:r>
            <a:endParaRPr lang="en-US" altLang="zh-CN" sz="1500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2"/>
              </a:rPr>
              <a:t>liyiyan@ruc.edu.cn  </a:t>
            </a:r>
            <a:r>
              <a:rPr lang="en-US" altLang="zh-CN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</a:t>
            </a:r>
            <a:r>
              <a:rPr lang="zh-CN" altLang="en-US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√</a:t>
            </a:r>
            <a:endParaRPr lang="en-US" altLang="zh-CN" sz="1800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hlinkClick r:id="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"/>
              </a:rPr>
              <a:t>pavlo@cs.cmu.edu </a:t>
            </a:r>
            <a:r>
              <a:rPr lang="en-US" altLang="zh-CN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</a:t>
            </a:r>
            <a:r>
              <a:rPr lang="zh-CN" altLang="en-US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√</a:t>
            </a:r>
            <a:endParaRPr lang="en-US" altLang="zh-CN" sz="1800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hlinkClick r:id="rId2"/>
            </a:endParaRPr>
          </a:p>
          <a:p>
            <a:pPr marL="0" indent="0">
              <a:buNone/>
            </a:pPr>
            <a:r>
              <a:rPr lang="en-US" altLang="zh-CN" sz="1800" dirty="0" err="1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2"/>
              </a:rPr>
              <a:t>datascience</a:t>
            </a:r>
            <a:r>
              <a:rPr lang="en-US" altLang="zh-CN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2"/>
              </a:rPr>
              <a:t>@@ruc.edu.com </a:t>
            </a:r>
            <a:r>
              <a:rPr lang="en-US" altLang="zh-CN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×</a:t>
            </a:r>
            <a:endParaRPr lang="en-US" altLang="zh-CN" sz="1800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hlinkClick r:id="rId2"/>
            </a:endParaRPr>
          </a:p>
          <a:p>
            <a:pPr marL="0" indent="0">
              <a:buNone/>
            </a:pPr>
            <a:r>
              <a:rPr lang="en-US" altLang="zh-CN" sz="1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hlinkClick r:id="rId3"/>
              </a:rPr>
              <a:t>hehehe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hlinkClick r:id="rId3"/>
              </a:rPr>
              <a:t>@.gmail.com</a:t>
            </a:r>
            <a:r>
              <a:rPr lang="en-US" altLang="zh-CN" sz="1800" dirty="0">
                <a:solidFill>
                  <a:srgbClr val="4D4D4D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charset="-122"/>
              </a:rPr>
              <a:t>  </a:t>
            </a:r>
            <a:r>
              <a:rPr lang="en-US" altLang="zh-CN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×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zh-CN" sz="1800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hlinkClick r:id="rId2"/>
            </a:endParaRPr>
          </a:p>
          <a:p>
            <a:pPr marL="0" indent="0">
              <a:buNone/>
            </a:pPr>
            <a:endParaRPr lang="en-US" altLang="zh-CN" sz="900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hlinkClick r:id="rId2"/>
            </a:endParaRPr>
          </a:p>
          <a:p>
            <a:endParaRPr lang="en-US" altLang="zh-CN" sz="1350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xmlns="" id="{87E8D6DE-2E7C-E27D-9E2A-4CEFEAF900B6}"/>
              </a:ext>
            </a:extLst>
          </p:cNvPr>
          <p:cNvSpPr txBox="1">
            <a:spLocks/>
          </p:cNvSpPr>
          <p:nvPr/>
        </p:nvSpPr>
        <p:spPr>
          <a:xfrm>
            <a:off x="4572000" y="1027510"/>
            <a:ext cx="3681663" cy="1611210"/>
          </a:xfrm>
          <a:prstGeom prst="rect">
            <a:avLst/>
          </a:prstGeom>
          <a:noFill/>
        </p:spPr>
        <p:txBody>
          <a:bodyPr vert="horz" wrap="square" lIns="68580" tIns="34290" rIns="68580" bIns="34290" rtlCol="0">
            <a:spAutoFit/>
          </a:bodyPr>
          <a:lstStyle>
            <a:lvl1pPr marL="411480" indent="-411480" algn="l" defTabSz="54864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1540" indent="-342900" algn="l" defTabSz="54864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274320" algn="l" defTabSz="54864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54864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54864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54864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54864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54864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54864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：使用正则表达式，提取下列字符串中的年</a:t>
            </a:r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月</a:t>
            </a:r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日</a:t>
            </a:r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时</a:t>
            </a:r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分</a:t>
            </a:r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秒</a:t>
            </a:r>
            <a:endParaRPr lang="en-US" altLang="zh-CN" sz="1500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>
              <a:buNone/>
            </a:pP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zh-CN" sz="1800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hlinkClick r:id="rId2"/>
            </a:endParaRPr>
          </a:p>
          <a:p>
            <a:pPr marL="0" indent="0">
              <a:buNone/>
            </a:pPr>
            <a:endParaRPr lang="en-US" altLang="zh-CN" sz="900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hlinkClick r:id="rId2"/>
            </a:endParaRPr>
          </a:p>
          <a:p>
            <a:endParaRPr lang="en-US" altLang="zh-CN" sz="1350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CFD0B657-8667-B1A8-123F-781035DFDEB3}"/>
              </a:ext>
            </a:extLst>
          </p:cNvPr>
          <p:cNvSpPr txBox="1"/>
          <p:nvPr/>
        </p:nvSpPr>
        <p:spPr>
          <a:xfrm>
            <a:off x="4617545" y="2100059"/>
            <a:ext cx="4570821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50" dirty="0">
                <a:solidFill>
                  <a:srgbClr val="000000"/>
                </a:solidFill>
                <a:latin typeface="Consolas" panose="020B0609020204030204" pitchFamily="49" charset="0"/>
              </a:rPr>
              <a:t>169.237.46.168 - - [</a:t>
            </a:r>
            <a:r>
              <a:rPr lang="en-US" altLang="zh-CN" sz="1350" dirty="0">
                <a:solidFill>
                  <a:srgbClr val="FF0000"/>
                </a:solidFill>
                <a:latin typeface="Consolas" panose="020B0609020204030204" pitchFamily="49" charset="0"/>
              </a:rPr>
              <a:t>26/Jan/2014:10:47:58 </a:t>
            </a:r>
            <a:endParaRPr lang="en-US" altLang="zh-CN" sz="1350" dirty="0"/>
          </a:p>
          <a:p>
            <a:r>
              <a:rPr lang="en-US" altLang="zh-CN" sz="1350" dirty="0">
                <a:solidFill>
                  <a:srgbClr val="FF0000"/>
                </a:solidFill>
                <a:latin typeface="Consolas" panose="020B0609020204030204" pitchFamily="49" charset="0"/>
              </a:rPr>
              <a:t>-0800</a:t>
            </a:r>
            <a:r>
              <a:rPr lang="en-US" altLang="zh-CN" sz="1350" dirty="0">
                <a:solidFill>
                  <a:srgbClr val="000000"/>
                </a:solidFill>
                <a:latin typeface="Consolas" panose="020B0609020204030204" pitchFamily="49" charset="0"/>
              </a:rPr>
              <a:t>] "GET /stat141/Winter04/ HTTP/1.1" 200 </a:t>
            </a:r>
            <a:endParaRPr lang="en-US" altLang="zh-CN" sz="1350" dirty="0"/>
          </a:p>
          <a:p>
            <a:r>
              <a:rPr lang="en-US" altLang="zh-CN" sz="1350" dirty="0">
                <a:solidFill>
                  <a:srgbClr val="000000"/>
                </a:solidFill>
                <a:latin typeface="Consolas" panose="020B0609020204030204" pitchFamily="49" charset="0"/>
              </a:rPr>
              <a:t>2585 "http://anson.ucdavis.edu/courses/" </a:t>
            </a:r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659868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A287A41-8263-0EE3-E033-4E9693FF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正则表达式写法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E27A3F4E-1F90-C439-9F09-1B56EAAC3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D1DC-EB24-2D46-9C9F-DBDF840474EE}" type="slidenum">
              <a:rPr kumimoji="1" lang="zh-CN" altLang="en-US" smtClean="0"/>
              <a:t>22</a:t>
            </a:fld>
            <a:endParaRPr kumimoji="1"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xmlns="" id="{34D6A338-1787-7506-CAB9-7BE7110FCF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613" y="1097161"/>
            <a:ext cx="7493794" cy="349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649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A287A41-8263-0EE3-E033-4E9693FF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正则表达式写法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E27A3F4E-1F90-C439-9F09-1B56EAAC3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D1DC-EB24-2D46-9C9F-DBDF840474EE}" type="slidenum">
              <a:rPr kumimoji="1" lang="zh-CN" altLang="en-US" smtClean="0"/>
              <a:t>23</a:t>
            </a:fld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4A7EC5E8-8E25-F8D1-C75C-AE0D394DF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1" y="1244398"/>
            <a:ext cx="7500938" cy="301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55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8BE2C4F-AAF7-4393-1A22-6404D8106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正则表达式写法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BD4360C7-1BF2-7EBF-0584-F16A6E119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D1DC-EB24-2D46-9C9F-DBDF840474EE}" type="slidenum">
              <a:rPr kumimoji="1" lang="zh-CN" altLang="en-US" smtClean="0"/>
              <a:t>24</a:t>
            </a:fld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DC322816-2ECF-4FB4-C292-AA4714355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1" y="1389460"/>
            <a:ext cx="7500938" cy="236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7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8BE2C4F-AAF7-4393-1A22-6404D8106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正则表达式写法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BD4360C7-1BF2-7EBF-0584-F16A6E119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D1DC-EB24-2D46-9C9F-DBDF840474EE}" type="slidenum">
              <a:rPr kumimoji="1" lang="zh-CN" altLang="en-US" smtClean="0"/>
              <a:t>25</a:t>
            </a:fld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15A741F5-B375-E739-C585-74CF3176F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29" y="1129003"/>
            <a:ext cx="7515225" cy="339328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56D8FAFE-0C5D-15B0-C243-96205CF9D0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367"/>
          <a:stretch>
            <a:fillRect/>
          </a:stretch>
        </p:blipFill>
        <p:spPr>
          <a:xfrm>
            <a:off x="4434734" y="1129003"/>
            <a:ext cx="4236932" cy="339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5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407286E-02D7-EE8E-B070-68C0B8682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正则表达式在</a:t>
            </a:r>
            <a:r>
              <a:rPr lang="en-US" altLang="zh-CN" dirty="0"/>
              <a:t>python</a:t>
            </a:r>
            <a:r>
              <a:rPr lang="zh-CN" altLang="en-US" dirty="0"/>
              <a:t>里的用法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1A702616-C80F-EAE0-AF1F-BF1E29081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D1DC-EB24-2D46-9C9F-DBDF840474EE}" type="slidenum">
              <a:rPr kumimoji="1" lang="zh-CN" altLang="en-US" smtClean="0"/>
              <a:t>26</a:t>
            </a:fld>
            <a:endParaRPr kumimoji="1" lang="zh-CN" altLang="en-US"/>
          </a:p>
        </p:txBody>
      </p:sp>
      <p:sp>
        <p:nvSpPr>
          <p:cNvPr id="5" name="Rounded Rectangle 40">
            <a:extLst>
              <a:ext uri="{FF2B5EF4-FFF2-40B4-BE49-F238E27FC236}">
                <a16:creationId xmlns:a16="http://schemas.microsoft.com/office/drawing/2014/main" xmlns="" id="{4073C52C-A80B-B221-E46D-A2E9D9298BB0}"/>
              </a:ext>
            </a:extLst>
          </p:cNvPr>
          <p:cNvSpPr/>
          <p:nvPr/>
        </p:nvSpPr>
        <p:spPr>
          <a:xfrm>
            <a:off x="3019884" y="1620037"/>
            <a:ext cx="1265562" cy="114204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28575">
            <a:noFill/>
          </a:ln>
          <a:effectLst>
            <a:outerShdw blurRad="241300" dist="38100" dir="5400000" algn="t" rotWithShape="0">
              <a:schemeClr val="bg1">
                <a:lumMod val="50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+mj-lt"/>
            </a:endParaRPr>
          </a:p>
        </p:txBody>
      </p:sp>
      <p:sp>
        <p:nvSpPr>
          <p:cNvPr id="6" name="Rounded Rectangle 37">
            <a:extLst>
              <a:ext uri="{FF2B5EF4-FFF2-40B4-BE49-F238E27FC236}">
                <a16:creationId xmlns:a16="http://schemas.microsoft.com/office/drawing/2014/main" xmlns="" id="{583AEFD8-0A4A-6E1A-ED28-530479789AC5}"/>
              </a:ext>
            </a:extLst>
          </p:cNvPr>
          <p:cNvSpPr/>
          <p:nvPr/>
        </p:nvSpPr>
        <p:spPr>
          <a:xfrm>
            <a:off x="1277492" y="1620037"/>
            <a:ext cx="1265562" cy="11420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</a:ln>
          <a:effectLst>
            <a:outerShdw blurRad="241300" dist="38100" dir="5400000" algn="t" rotWithShape="0">
              <a:schemeClr val="bg1">
                <a:lumMod val="50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+mj-lt"/>
            </a:endParaRP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xmlns="" id="{4AA6777E-E466-9C03-8D9C-2F4759D62430}"/>
              </a:ext>
            </a:extLst>
          </p:cNvPr>
          <p:cNvGrpSpPr/>
          <p:nvPr/>
        </p:nvGrpSpPr>
        <p:grpSpPr>
          <a:xfrm>
            <a:off x="1277492" y="1815136"/>
            <a:ext cx="1207201" cy="763428"/>
            <a:chOff x="1303308" y="2623111"/>
            <a:chExt cx="1609601" cy="1017903"/>
          </a:xfrm>
        </p:grpSpPr>
        <p:sp>
          <p:nvSpPr>
            <p:cNvPr id="8" name="TextBox 4">
              <a:extLst>
                <a:ext uri="{FF2B5EF4-FFF2-40B4-BE49-F238E27FC236}">
                  <a16:creationId xmlns:a16="http://schemas.microsoft.com/office/drawing/2014/main" xmlns="" id="{F34004B0-C22A-C4E8-63CF-3F3E7435221E}"/>
                </a:ext>
              </a:extLst>
            </p:cNvPr>
            <p:cNvSpPr txBox="1"/>
            <p:nvPr/>
          </p:nvSpPr>
          <p:spPr>
            <a:xfrm>
              <a:off x="1303308" y="2623111"/>
              <a:ext cx="1609601" cy="8004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201" dirty="0">
                  <a:latin typeface="Source Han Sans HC" panose="020B0500000000000000" pitchFamily="34" charset="-128"/>
                  <a:ea typeface="Source Han Sans HC" panose="020B0500000000000000" pitchFamily="34" charset="-128"/>
                  <a:cs typeface="Roboto Black" panose="02000000000000000000" pitchFamily="2" charset="0"/>
                </a:rPr>
                <a:t>match</a:t>
              </a: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xmlns="" id="{35708049-D648-BA85-9EFA-18EFB2869273}"/>
                </a:ext>
              </a:extLst>
            </p:cNvPr>
            <p:cNvSpPr/>
            <p:nvPr/>
          </p:nvSpPr>
          <p:spPr>
            <a:xfrm>
              <a:off x="1367493" y="3364015"/>
              <a:ext cx="153178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949"/>
                </a:lnSpc>
              </a:pPr>
              <a:r>
                <a:rPr lang="zh-CN" altLang="en-US" dirty="0">
                  <a:latin typeface="Source Han Sans HC" panose="020B0500000000000000" pitchFamily="34" charset="-128"/>
                  <a:ea typeface="Source Han Sans HC" panose="020B0500000000000000" pitchFamily="34" charset="-128"/>
                  <a:cs typeface="Roboto Medium" panose="02000000000000000000" pitchFamily="2" charset="0"/>
                </a:rPr>
                <a:t>检查格式</a:t>
              </a:r>
              <a:endParaRPr lang="en-US" dirty="0">
                <a:latin typeface="Source Han Sans HC" panose="020B0500000000000000" pitchFamily="34" charset="-128"/>
                <a:ea typeface="Source Han Sans HC" panose="020B0500000000000000" pitchFamily="34" charset="-128"/>
                <a:cs typeface="Roboto Medium" panose="02000000000000000000" pitchFamily="2" charset="0"/>
              </a:endParaRPr>
            </a:p>
          </p:txBody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xmlns="" id="{8D42BAF2-C6A7-A710-A4BA-AF2F76E011EA}"/>
              </a:ext>
            </a:extLst>
          </p:cNvPr>
          <p:cNvGrpSpPr/>
          <p:nvPr/>
        </p:nvGrpSpPr>
        <p:grpSpPr>
          <a:xfrm>
            <a:off x="3009837" y="1815136"/>
            <a:ext cx="1275609" cy="763428"/>
            <a:chOff x="3302206" y="2623111"/>
            <a:chExt cx="1700812" cy="1017903"/>
          </a:xfrm>
        </p:grpSpPr>
        <p:sp>
          <p:nvSpPr>
            <p:cNvPr id="11" name="TextBox 7">
              <a:extLst>
                <a:ext uri="{FF2B5EF4-FFF2-40B4-BE49-F238E27FC236}">
                  <a16:creationId xmlns:a16="http://schemas.microsoft.com/office/drawing/2014/main" xmlns="" id="{5986EAEA-B9D3-A8CA-9C3D-50AF501142CA}"/>
                </a:ext>
              </a:extLst>
            </p:cNvPr>
            <p:cNvSpPr txBox="1"/>
            <p:nvPr/>
          </p:nvSpPr>
          <p:spPr>
            <a:xfrm>
              <a:off x="3611190" y="2623111"/>
              <a:ext cx="1096241" cy="8004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201" dirty="0">
                  <a:solidFill>
                    <a:schemeClr val="bg1"/>
                  </a:solidFill>
                  <a:latin typeface="Source Han Sans HC" panose="020B0500000000000000" pitchFamily="34" charset="-128"/>
                  <a:ea typeface="Source Han Sans HC" panose="020B0500000000000000" pitchFamily="34" charset="-128"/>
                  <a:cs typeface="Roboto Black" panose="02000000000000000000" pitchFamily="2" charset="0"/>
                </a:rPr>
                <a:t>sub</a:t>
              </a: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xmlns="" id="{58C2301F-C3B7-3486-2750-89D9A25BFAEF}"/>
                </a:ext>
              </a:extLst>
            </p:cNvPr>
            <p:cNvSpPr/>
            <p:nvPr/>
          </p:nvSpPr>
          <p:spPr>
            <a:xfrm>
              <a:off x="3302206" y="3364015"/>
              <a:ext cx="1700812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949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Source Han Sans HC" panose="020B0500000000000000" pitchFamily="34" charset="-128"/>
                  <a:ea typeface="Source Han Sans HC" panose="020B0500000000000000" pitchFamily="34" charset="-128"/>
                  <a:cs typeface="Roboto Medium" panose="02000000000000000000" pitchFamily="2" charset="0"/>
                </a:rPr>
                <a:t>替换子串</a:t>
              </a:r>
              <a:endParaRPr lang="en-US" dirty="0">
                <a:solidFill>
                  <a:schemeClr val="bg1"/>
                </a:solidFill>
                <a:latin typeface="Source Han Sans HC" panose="020B0500000000000000" pitchFamily="34" charset="-128"/>
                <a:ea typeface="Source Han Sans HC" panose="020B0500000000000000" pitchFamily="34" charset="-128"/>
                <a:cs typeface="Roboto Medium" panose="02000000000000000000" pitchFamily="2" charset="0"/>
              </a:endParaRPr>
            </a:p>
          </p:txBody>
        </p:sp>
      </p:grpSp>
      <p:sp>
        <p:nvSpPr>
          <p:cNvPr id="13" name="Rounded Rectangle 40">
            <a:extLst>
              <a:ext uri="{FF2B5EF4-FFF2-40B4-BE49-F238E27FC236}">
                <a16:creationId xmlns:a16="http://schemas.microsoft.com/office/drawing/2014/main" xmlns="" id="{D44ECE31-31DA-D568-A97E-F6E0A533D4EA}"/>
              </a:ext>
            </a:extLst>
          </p:cNvPr>
          <p:cNvSpPr/>
          <p:nvPr/>
        </p:nvSpPr>
        <p:spPr>
          <a:xfrm>
            <a:off x="6504669" y="1620037"/>
            <a:ext cx="1265562" cy="1142042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28575">
            <a:noFill/>
          </a:ln>
          <a:effectLst>
            <a:outerShdw blurRad="241300" dist="38100" dir="5400000" algn="t" rotWithShape="0">
              <a:schemeClr val="bg1">
                <a:lumMod val="50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+mj-lt"/>
            </a:endParaRPr>
          </a:p>
        </p:txBody>
      </p:sp>
      <p:sp>
        <p:nvSpPr>
          <p:cNvPr id="14" name="Rounded Rectangle 37">
            <a:extLst>
              <a:ext uri="{FF2B5EF4-FFF2-40B4-BE49-F238E27FC236}">
                <a16:creationId xmlns:a16="http://schemas.microsoft.com/office/drawing/2014/main" xmlns="" id="{8ED39175-4FCD-788C-837B-D6A68C021C43}"/>
              </a:ext>
            </a:extLst>
          </p:cNvPr>
          <p:cNvSpPr/>
          <p:nvPr/>
        </p:nvSpPr>
        <p:spPr>
          <a:xfrm>
            <a:off x="4762277" y="1620037"/>
            <a:ext cx="1265562" cy="11420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</a:ln>
          <a:effectLst>
            <a:outerShdw blurRad="241300" dist="38100" dir="5400000" algn="t" rotWithShape="0">
              <a:schemeClr val="bg1">
                <a:lumMod val="50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+mj-lt"/>
            </a:endParaRPr>
          </a:p>
        </p:txBody>
      </p:sp>
      <p:grpSp>
        <p:nvGrpSpPr>
          <p:cNvPr id="15" name="Group 11">
            <a:extLst>
              <a:ext uri="{FF2B5EF4-FFF2-40B4-BE49-F238E27FC236}">
                <a16:creationId xmlns:a16="http://schemas.microsoft.com/office/drawing/2014/main" xmlns="" id="{78E8F3CD-2341-0852-D6B3-FCD52B34D5FA}"/>
              </a:ext>
            </a:extLst>
          </p:cNvPr>
          <p:cNvGrpSpPr/>
          <p:nvPr/>
        </p:nvGrpSpPr>
        <p:grpSpPr>
          <a:xfrm>
            <a:off x="4632270" y="1815136"/>
            <a:ext cx="1500538" cy="763428"/>
            <a:chOff x="1129965" y="2623111"/>
            <a:chExt cx="2000717" cy="1017903"/>
          </a:xfrm>
        </p:grpSpPr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xmlns="" id="{47ADEC63-E62F-4049-BE10-12D2ACA7DE9B}"/>
                </a:ext>
              </a:extLst>
            </p:cNvPr>
            <p:cNvSpPr txBox="1"/>
            <p:nvPr/>
          </p:nvSpPr>
          <p:spPr>
            <a:xfrm>
              <a:off x="1129965" y="2623111"/>
              <a:ext cx="2000717" cy="8004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201" dirty="0">
                  <a:latin typeface="Source Han Sans HC" panose="020B0500000000000000" pitchFamily="34" charset="-128"/>
                  <a:ea typeface="Source Han Sans HC" panose="020B0500000000000000" pitchFamily="34" charset="-128"/>
                  <a:cs typeface="Roboto Black" panose="02000000000000000000" pitchFamily="2" charset="0"/>
                </a:rPr>
                <a:t>search</a:t>
              </a:r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xmlns="" id="{0171912C-7AF7-5F30-258C-40C516EF1D8E}"/>
                </a:ext>
              </a:extLst>
            </p:cNvPr>
            <p:cNvSpPr/>
            <p:nvPr/>
          </p:nvSpPr>
          <p:spPr>
            <a:xfrm>
              <a:off x="1381124" y="3364015"/>
              <a:ext cx="153178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949"/>
                </a:lnSpc>
              </a:pPr>
              <a:r>
                <a:rPr lang="zh-CN" altLang="en-US" dirty="0">
                  <a:latin typeface="Source Han Sans HC" panose="020B0500000000000000" pitchFamily="34" charset="-128"/>
                  <a:ea typeface="Source Han Sans HC" panose="020B0500000000000000" pitchFamily="34" charset="-128"/>
                  <a:cs typeface="Roboto Medium" panose="02000000000000000000" pitchFamily="2" charset="0"/>
                </a:rPr>
                <a:t>查找位置</a:t>
              </a:r>
              <a:endParaRPr lang="en-US" dirty="0">
                <a:latin typeface="Source Han Sans HC" panose="020B0500000000000000" pitchFamily="34" charset="-128"/>
                <a:ea typeface="Source Han Sans HC" panose="020B0500000000000000" pitchFamily="34" charset="-128"/>
                <a:cs typeface="Roboto Medium" panose="02000000000000000000" pitchFamily="2" charset="0"/>
              </a:endParaRPr>
            </a:p>
          </p:txBody>
        </p:sp>
      </p:grpSp>
      <p:grpSp>
        <p:nvGrpSpPr>
          <p:cNvPr id="18" name="Group 14">
            <a:extLst>
              <a:ext uri="{FF2B5EF4-FFF2-40B4-BE49-F238E27FC236}">
                <a16:creationId xmlns:a16="http://schemas.microsoft.com/office/drawing/2014/main" xmlns="" id="{7BF5E9A7-3A38-4307-8A67-40E7D65CDDEC}"/>
              </a:ext>
            </a:extLst>
          </p:cNvPr>
          <p:cNvGrpSpPr/>
          <p:nvPr/>
        </p:nvGrpSpPr>
        <p:grpSpPr>
          <a:xfrm>
            <a:off x="6479631" y="1815136"/>
            <a:ext cx="1290601" cy="763428"/>
            <a:chOff x="3282217" y="2623111"/>
            <a:chExt cx="1720801" cy="1017903"/>
          </a:xfrm>
        </p:grpSpPr>
        <p:sp>
          <p:nvSpPr>
            <p:cNvPr id="19" name="TextBox 15">
              <a:extLst>
                <a:ext uri="{FF2B5EF4-FFF2-40B4-BE49-F238E27FC236}">
                  <a16:creationId xmlns:a16="http://schemas.microsoft.com/office/drawing/2014/main" xmlns="" id="{1A8A38E0-FAF0-1C77-EDBA-697F70F601B2}"/>
                </a:ext>
              </a:extLst>
            </p:cNvPr>
            <p:cNvSpPr txBox="1"/>
            <p:nvPr/>
          </p:nvSpPr>
          <p:spPr>
            <a:xfrm>
              <a:off x="3282217" y="2623111"/>
              <a:ext cx="1720801" cy="8004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201" dirty="0" err="1">
                  <a:solidFill>
                    <a:schemeClr val="bg1"/>
                  </a:solidFill>
                  <a:latin typeface="Source Han Sans HC" panose="020B0500000000000000" pitchFamily="34" charset="-128"/>
                  <a:ea typeface="Source Han Sans HC" panose="020B0500000000000000" pitchFamily="34" charset="-128"/>
                  <a:cs typeface="Roboto Black" panose="02000000000000000000" pitchFamily="2" charset="0"/>
                </a:rPr>
                <a:t>findall</a:t>
              </a:r>
              <a:endParaRPr lang="en-US" sz="2201" dirty="0">
                <a:solidFill>
                  <a:schemeClr val="bg1"/>
                </a:solidFill>
                <a:latin typeface="Source Han Sans HC" panose="020B0500000000000000" pitchFamily="34" charset="-128"/>
                <a:ea typeface="Source Han Sans HC" panose="020B0500000000000000" pitchFamily="34" charset="-128"/>
                <a:cs typeface="Roboto Black" panose="02000000000000000000" pitchFamily="2" charset="0"/>
              </a:endParaRPr>
            </a:p>
          </p:txBody>
        </p:sp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xmlns="" id="{7C244BA7-ED61-2FB7-734A-FA57700FB8F6}"/>
                </a:ext>
              </a:extLst>
            </p:cNvPr>
            <p:cNvSpPr/>
            <p:nvPr/>
          </p:nvSpPr>
          <p:spPr>
            <a:xfrm>
              <a:off x="3407048" y="3364015"/>
              <a:ext cx="153178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949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Source Han Sans HC" panose="020B0500000000000000" pitchFamily="34" charset="-128"/>
                  <a:ea typeface="Source Han Sans HC" panose="020B0500000000000000" pitchFamily="34" charset="-128"/>
                  <a:cs typeface="Roboto Medium" panose="02000000000000000000" pitchFamily="2" charset="0"/>
                </a:rPr>
                <a:t>找到全部</a:t>
              </a:r>
              <a:endParaRPr lang="en-US" dirty="0">
                <a:solidFill>
                  <a:schemeClr val="bg1"/>
                </a:solidFill>
                <a:latin typeface="Source Han Sans HC" panose="020B0500000000000000" pitchFamily="34" charset="-128"/>
                <a:ea typeface="Source Han Sans HC" panose="020B0500000000000000" pitchFamily="34" charset="-128"/>
                <a:cs typeface="Roboto Medium" panose="02000000000000000000" pitchFamily="2" charset="0"/>
              </a:endParaRPr>
            </a:p>
          </p:txBody>
        </p:sp>
      </p:grpSp>
      <p:sp>
        <p:nvSpPr>
          <p:cNvPr id="21" name="TextBox 7">
            <a:extLst>
              <a:ext uri="{FF2B5EF4-FFF2-40B4-BE49-F238E27FC236}">
                <a16:creationId xmlns:a16="http://schemas.microsoft.com/office/drawing/2014/main" xmlns="" id="{D2ACB647-E394-C771-8A23-D70CB8325EF7}"/>
              </a:ext>
            </a:extLst>
          </p:cNvPr>
          <p:cNvSpPr txBox="1"/>
          <p:nvPr/>
        </p:nvSpPr>
        <p:spPr>
          <a:xfrm>
            <a:off x="1815434" y="1030664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此处只讲解最常用的函数、参数和功能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xmlns="" id="{8D6A9ADE-560B-D08B-E425-294FFD27CF0E}"/>
              </a:ext>
            </a:extLst>
          </p:cNvPr>
          <p:cNvSpPr txBox="1"/>
          <p:nvPr/>
        </p:nvSpPr>
        <p:spPr>
          <a:xfrm>
            <a:off x="1264680" y="2957177"/>
            <a:ext cx="6561712" cy="1731231"/>
          </a:xfrm>
          <a:prstGeom prst="rect">
            <a:avLst/>
          </a:prstGeom>
          <a:noFill/>
        </p:spPr>
        <p:txBody>
          <a:bodyPr wrap="square" lIns="68567" tIns="34284" rIns="68567" bIns="34284" rtlCol="0">
            <a:spAutoFit/>
          </a:bodyPr>
          <a:lstStyle/>
          <a:p>
            <a:pPr defTabSz="913448">
              <a:defRPr/>
            </a:pP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  <a:sym typeface="FZHei-B01S" panose="02010601030101010101" pitchFamily="2" charset="-122"/>
              </a:rPr>
              <a:t>用法：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  <a:sym typeface="FZHei-B01S" panose="02010601030101010101" pitchFamily="2" charset="-122"/>
            </a:endParaRPr>
          </a:p>
          <a:p>
            <a:pPr marL="257175" indent="-257175" defTabSz="913448">
              <a:buFont typeface="Arial" panose="020B0604020202020204" pitchFamily="34" charset="0"/>
              <a:buChar char="•"/>
              <a:defRPr/>
            </a:pPr>
            <a:r>
              <a:rPr lang="en-US" altLang="zh-CN" dirty="0" err="1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re.match</a:t>
            </a:r>
            <a:r>
              <a:rPr lang="en-US" altLang="zh-CN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(pattern, string)</a:t>
            </a:r>
            <a:r>
              <a:rPr lang="zh-CN" altLang="en-US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，从字符串开头进行匹配</a:t>
            </a:r>
            <a:endParaRPr lang="en-US" altLang="zh-CN" dirty="0"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  <a:p>
            <a:pPr marL="257175" indent="-257175" defTabSz="913448">
              <a:buFont typeface="Arial" panose="020B0604020202020204" pitchFamily="34" charset="0"/>
              <a:buChar char="•"/>
              <a:defRPr/>
            </a:pPr>
            <a:r>
              <a:rPr lang="en-US" altLang="zh-CN" dirty="0" err="1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re.sub</a:t>
            </a:r>
            <a:r>
              <a:rPr lang="en-US" altLang="zh-CN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(pattern, </a:t>
            </a:r>
            <a:r>
              <a:rPr lang="en-US" altLang="zh-CN" dirty="0" err="1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repl</a:t>
            </a:r>
            <a:r>
              <a:rPr lang="en-US" altLang="zh-CN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, string)</a:t>
            </a:r>
            <a:r>
              <a:rPr lang="zh-CN" altLang="en-US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，</a:t>
            </a:r>
            <a:r>
              <a:rPr lang="en-US" altLang="zh-CN" dirty="0" err="1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repl</a:t>
            </a:r>
            <a:r>
              <a:rPr lang="zh-CN" altLang="en-US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为替换的字符串，也可为一个函数</a:t>
            </a:r>
            <a:endParaRPr lang="en-US" altLang="zh-CN" dirty="0"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  <a:p>
            <a:pPr marL="257175" indent="-257175" defTabSz="913448">
              <a:buFont typeface="Arial" panose="020B0604020202020204" pitchFamily="34" charset="0"/>
              <a:buChar char="•"/>
              <a:defRPr/>
            </a:pPr>
            <a:r>
              <a:rPr lang="en-US" altLang="zh-CN" dirty="0" err="1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re.search</a:t>
            </a:r>
            <a:r>
              <a:rPr lang="en-US" altLang="zh-CN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(pattern, string) </a:t>
            </a:r>
            <a:r>
              <a:rPr lang="zh-CN" altLang="en-US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，可以在字符串任何位置匹配</a:t>
            </a:r>
            <a:endParaRPr lang="en-US" altLang="zh-CN" dirty="0"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  <a:p>
            <a:pPr marL="257175" indent="-257175" defTabSz="913448">
              <a:buFont typeface="Arial" panose="020B0604020202020204" pitchFamily="34" charset="0"/>
              <a:buChar char="•"/>
              <a:defRPr/>
            </a:pPr>
            <a:r>
              <a:rPr lang="en-US" altLang="zh-CN" dirty="0" err="1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re.findall</a:t>
            </a:r>
            <a:r>
              <a:rPr lang="en-US" altLang="zh-CN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(pattern, string)</a:t>
            </a:r>
            <a:r>
              <a:rPr lang="zh-CN" altLang="en-US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，找到所有满足匹配条件的子串</a:t>
            </a:r>
            <a:endParaRPr lang="en-US" altLang="zh-CN" dirty="0"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6128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407286E-02D7-EE8E-B070-68C0B8682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正则表达式在</a:t>
            </a:r>
            <a:r>
              <a:rPr lang="en-US" altLang="zh-CN" dirty="0"/>
              <a:t>python</a:t>
            </a:r>
            <a:r>
              <a:rPr lang="zh-CN" altLang="en-US" dirty="0"/>
              <a:t>里的用法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1A702616-C80F-EAE0-AF1F-BF1E29081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D1DC-EB24-2D46-9C9F-DBDF840474EE}" type="slidenum">
              <a:rPr kumimoji="1" lang="zh-CN" altLang="en-US" smtClean="0"/>
              <a:t>27</a:t>
            </a:fld>
            <a:endParaRPr kumimoji="1" lang="zh-CN" altLang="en-US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xmlns="" id="{02B370B5-592C-6B5B-CD69-12617702B6F2}"/>
              </a:ext>
            </a:extLst>
          </p:cNvPr>
          <p:cNvSpPr txBox="1"/>
          <p:nvPr/>
        </p:nvSpPr>
        <p:spPr>
          <a:xfrm>
            <a:off x="834945" y="1211361"/>
            <a:ext cx="3429656" cy="3162392"/>
          </a:xfrm>
          <a:prstGeom prst="rect">
            <a:avLst/>
          </a:prstGeom>
          <a:noFill/>
        </p:spPr>
        <p:txBody>
          <a:bodyPr wrap="square" lIns="68567" tIns="34284" rIns="68567" bIns="34284" rtlCol="0">
            <a:spAutoFit/>
          </a:bodyPr>
          <a:lstStyle/>
          <a:p>
            <a:pPr defTabSz="913448">
              <a:defRPr/>
            </a:pPr>
            <a:r>
              <a:rPr lang="zh-CN" altLang="en-US" sz="2100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匹配对象方法：</a:t>
            </a:r>
            <a:endParaRPr lang="en-US" altLang="zh-CN" sz="2100" dirty="0"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  <a:p>
            <a:pPr marL="257175" indent="-257175" defTabSz="913448">
              <a:buFont typeface="Arial" panose="020B0604020202020204" pitchFamily="34" charset="0"/>
              <a:buChar char="•"/>
              <a:defRPr/>
            </a:pPr>
            <a:r>
              <a:rPr lang="en-US" altLang="zh-CN" b="1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span(): </a:t>
            </a:r>
            <a:r>
              <a:rPr lang="zh-CN" altLang="en-US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返回匹配的范围 </a:t>
            </a:r>
            <a:r>
              <a:rPr lang="en-US" altLang="zh-CN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(start, end)</a:t>
            </a:r>
          </a:p>
          <a:p>
            <a:pPr marL="257175" indent="-257175" defTabSz="913448">
              <a:buFont typeface="Arial" panose="020B0604020202020204" pitchFamily="34" charset="0"/>
              <a:buChar char="•"/>
              <a:defRPr/>
            </a:pPr>
            <a:r>
              <a:rPr lang="en-US" altLang="zh-CN" b="1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group(num):</a:t>
            </a:r>
            <a:r>
              <a:rPr lang="zh-CN" altLang="en-US" b="1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 </a:t>
            </a:r>
            <a:r>
              <a:rPr lang="zh-CN" altLang="en-US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在正则表达式中用</a:t>
            </a:r>
            <a:r>
              <a:rPr lang="en-US" altLang="zh-CN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()</a:t>
            </a:r>
            <a:r>
              <a:rPr lang="zh-CN" altLang="en-US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可以分组，</a:t>
            </a:r>
            <a:r>
              <a:rPr lang="en-US" altLang="zh-CN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group() </a:t>
            </a:r>
            <a:r>
              <a:rPr lang="zh-CN" altLang="en-US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可以一次输入多个组号，在这种情况下它将返回一个包含那些组所对应值的元组。</a:t>
            </a:r>
            <a:endParaRPr lang="en-US" altLang="zh-CN" dirty="0"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  <a:p>
            <a:pPr marL="257175" indent="-257175" defTabSz="913448">
              <a:buFont typeface="Arial" panose="020B0604020202020204" pitchFamily="34" charset="0"/>
              <a:buChar char="•"/>
              <a:defRPr/>
            </a:pPr>
            <a:r>
              <a:rPr lang="en-US" altLang="zh-CN" b="1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groups(): </a:t>
            </a:r>
            <a:r>
              <a:rPr lang="zh-CN" altLang="en-US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返回一个包含所有小组字符串的元组，从 </a:t>
            </a:r>
            <a:r>
              <a:rPr lang="en-US" altLang="zh-CN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1 </a:t>
            </a:r>
            <a:r>
              <a:rPr lang="zh-CN" altLang="en-US" dirty="0">
                <a:latin typeface="Comic Sans MS" panose="030F0702030302020204" charset="0"/>
                <a:ea typeface="Comic Sans MS" panose="030F0702030302020204" charset="0"/>
                <a:sym typeface="FZHei-B01S" panose="02010601030101010101" pitchFamily="2" charset="-122"/>
              </a:rPr>
              <a:t>到 所含的小组号</a:t>
            </a:r>
            <a:endParaRPr lang="en-US" altLang="zh-CN" dirty="0">
              <a:latin typeface="Comic Sans MS" panose="030F0702030302020204" charset="0"/>
              <a:ea typeface="Comic Sans MS" panose="030F0702030302020204" charset="0"/>
              <a:sym typeface="FZHei-B01S" panose="02010601030101010101" pitchFamily="2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xmlns="" id="{5B6ED9A4-2997-A661-80C2-ECBF3F3A9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76204"/>
            <a:ext cx="4214813" cy="359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253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F0FF4E7-1739-7DFB-C94A-882809BAB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课堂练习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83D6A49C-89A2-28A1-DD40-DA01E38C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D1DC-EB24-2D46-9C9F-DBDF840474EE}" type="slidenum">
              <a:rPr kumimoji="1" lang="zh-CN" altLang="en-US" smtClean="0"/>
              <a:t>28</a:t>
            </a:fld>
            <a:endParaRPr kumimoji="1"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xmlns="" id="{4221AF08-12EC-CE2C-4E50-FE284C27990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1" y="1027510"/>
            <a:ext cx="3681663" cy="280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5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checkpoint1</a:t>
            </a:r>
            <a:r>
              <a:rPr lang="zh-CN" altLang="en-US" sz="135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判断是否是合法邮箱</a:t>
            </a:r>
            <a:endParaRPr lang="en-US" altLang="zh-CN" sz="1500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>
              <a:buNone/>
            </a:pPr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	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邮箱的规则为，输入的只能是字母、数字、</a:t>
            </a:r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@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以及</a:t>
            </a:r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.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五种， </a:t>
            </a:r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@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和</a:t>
            </a:r>
            <a:r>
              <a:rPr lang="en-US" altLang="zh-CN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.</a:t>
            </a:r>
            <a:r>
              <a:rPr lang="zh-CN" altLang="en-US" sz="15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前后只能是字母或者数字</a:t>
            </a:r>
            <a:endParaRPr lang="en-US" altLang="zh-CN" sz="1500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2"/>
              </a:rPr>
              <a:t>liyiyan@ruc.edu.cn  </a:t>
            </a:r>
            <a:r>
              <a:rPr lang="en-US" altLang="zh-CN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</a:t>
            </a:r>
            <a:r>
              <a:rPr lang="zh-CN" altLang="en-US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√</a:t>
            </a:r>
            <a:endParaRPr lang="en-US" altLang="zh-CN" sz="1800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hlinkClick r:id="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"/>
              </a:rPr>
              <a:t>pavlo@cs.cmu.edu </a:t>
            </a:r>
            <a:r>
              <a:rPr lang="en-US" altLang="zh-CN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</a:t>
            </a:r>
            <a:r>
              <a:rPr lang="zh-CN" altLang="en-US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√</a:t>
            </a:r>
            <a:endParaRPr lang="en-US" altLang="zh-CN" sz="1800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hlinkClick r:id="rId2"/>
            </a:endParaRPr>
          </a:p>
          <a:p>
            <a:pPr marL="0" indent="0">
              <a:buNone/>
            </a:pPr>
            <a:r>
              <a:rPr lang="en-US" altLang="zh-CN" sz="1800" dirty="0" err="1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2"/>
              </a:rPr>
              <a:t>datascience</a:t>
            </a:r>
            <a:r>
              <a:rPr lang="en-US" altLang="zh-CN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2"/>
              </a:rPr>
              <a:t>@@ruc.edu.com </a:t>
            </a:r>
            <a:r>
              <a:rPr lang="en-US" altLang="zh-CN" sz="1800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×</a:t>
            </a:r>
            <a:endParaRPr lang="en-US" altLang="zh-CN" sz="1800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hlinkClick r:id="rId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hlinkClick r:id="rId3"/>
              </a:rPr>
              <a:t>hehehe@.gmail.com</a:t>
            </a:r>
            <a:r>
              <a:rPr lang="en-US" altLang="zh-CN" sz="1800" dirty="0">
                <a:solidFill>
                  <a:srgbClr val="4D4D4D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charset="-122"/>
              </a:rPr>
              <a:t>  </a:t>
            </a:r>
            <a:r>
              <a:rPr lang="en-US" altLang="zh-CN" sz="1800" dirty="0" smtClean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×</a:t>
            </a:r>
            <a:endParaRPr lang="en-US" altLang="zh-CN" sz="1800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hlinkClick r:id="rId2"/>
            </a:endParaRPr>
          </a:p>
          <a:p>
            <a:pPr marL="0" indent="0">
              <a:buNone/>
            </a:pPr>
            <a:endParaRPr lang="en-US" altLang="zh-CN" sz="900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hlinkClick r:id="rId2"/>
            </a:endParaRPr>
          </a:p>
          <a:p>
            <a:endParaRPr lang="en-US" altLang="zh-CN" sz="1350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xmlns="" id="{87E8D6DE-2E7C-E27D-9E2A-4CEFEAF900B6}"/>
              </a:ext>
            </a:extLst>
          </p:cNvPr>
          <p:cNvSpPr txBox="1">
            <a:spLocks/>
          </p:cNvSpPr>
          <p:nvPr/>
        </p:nvSpPr>
        <p:spPr>
          <a:xfrm>
            <a:off x="4572000" y="1027510"/>
            <a:ext cx="3681663" cy="1565044"/>
          </a:xfrm>
          <a:prstGeom prst="rect">
            <a:avLst/>
          </a:prstGeom>
          <a:noFill/>
        </p:spPr>
        <p:txBody>
          <a:bodyPr vert="horz" wrap="square" lIns="68580" tIns="34290" rIns="68580" bIns="34290" rtlCol="0">
            <a:spAutoFit/>
          </a:bodyPr>
          <a:lstStyle>
            <a:lvl1pPr marL="411480" indent="-411480" algn="l" defTabSz="54864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1540" indent="-342900" algn="l" defTabSz="54864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274320" algn="l" defTabSz="54864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54864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54864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54864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54864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54864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54864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checkpoint2</a:t>
            </a:r>
            <a:r>
              <a:rPr lang="zh-CN" altLang="en-US" sz="135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：使用正则表达式提取，下列字符串中的年</a:t>
            </a:r>
            <a:r>
              <a:rPr lang="en-US" altLang="zh-CN" sz="135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135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月</a:t>
            </a:r>
            <a:r>
              <a:rPr lang="en-US" altLang="zh-CN" sz="135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135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日</a:t>
            </a:r>
            <a:r>
              <a:rPr lang="en-US" altLang="zh-CN" sz="135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135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时</a:t>
            </a:r>
            <a:r>
              <a:rPr lang="en-US" altLang="zh-CN" sz="135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135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分</a:t>
            </a:r>
            <a:r>
              <a:rPr lang="en-US" altLang="zh-CN" sz="135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1350" b="1" dirty="0">
                <a:solidFill>
                  <a:srgbClr val="4D4D4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秒</a:t>
            </a:r>
            <a:endParaRPr lang="en-US" altLang="zh-CN" sz="1800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>
              <a:buNone/>
            </a:pP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zh-CN" sz="1800" dirty="0">
              <a:solidFill>
                <a:srgbClr val="4D4D4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hlinkClick r:id="rId2"/>
            </a:endParaRPr>
          </a:p>
          <a:p>
            <a:pPr marL="0" indent="0">
              <a:buNone/>
            </a:pPr>
            <a:endParaRPr lang="en-US" altLang="zh-CN" sz="900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hlinkClick r:id="rId2"/>
            </a:endParaRPr>
          </a:p>
          <a:p>
            <a:endParaRPr lang="en-US" altLang="zh-CN" sz="1350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CFD0B657-8667-B1A8-123F-781035DFDEB3}"/>
              </a:ext>
            </a:extLst>
          </p:cNvPr>
          <p:cNvSpPr txBox="1"/>
          <p:nvPr/>
        </p:nvSpPr>
        <p:spPr>
          <a:xfrm>
            <a:off x="4617545" y="2100059"/>
            <a:ext cx="4570821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50" dirty="0">
                <a:solidFill>
                  <a:srgbClr val="000000"/>
                </a:solidFill>
                <a:latin typeface="Consolas" panose="020B0609020204030204" pitchFamily="49" charset="0"/>
              </a:rPr>
              <a:t>169.237.46.168 - - [</a:t>
            </a:r>
            <a:r>
              <a:rPr lang="en-US" altLang="zh-CN" sz="1350" dirty="0">
                <a:solidFill>
                  <a:srgbClr val="FF0000"/>
                </a:solidFill>
                <a:latin typeface="Consolas" panose="020B0609020204030204" pitchFamily="49" charset="0"/>
              </a:rPr>
              <a:t>26/Jan/2014:10:47:58 </a:t>
            </a:r>
            <a:endParaRPr lang="en-US" altLang="zh-CN" sz="1350" dirty="0"/>
          </a:p>
          <a:p>
            <a:r>
              <a:rPr lang="en-US" altLang="zh-CN" sz="1350" dirty="0">
                <a:solidFill>
                  <a:srgbClr val="FF0000"/>
                </a:solidFill>
                <a:latin typeface="Consolas" panose="020B0609020204030204" pitchFamily="49" charset="0"/>
              </a:rPr>
              <a:t>-0800</a:t>
            </a:r>
            <a:r>
              <a:rPr lang="en-US" altLang="zh-CN" sz="1350" dirty="0">
                <a:solidFill>
                  <a:srgbClr val="000000"/>
                </a:solidFill>
                <a:latin typeface="Consolas" panose="020B0609020204030204" pitchFamily="49" charset="0"/>
              </a:rPr>
              <a:t>] "GET /stat141/Winter04/ HTTP/1.1" 200 </a:t>
            </a:r>
            <a:endParaRPr lang="en-US" altLang="zh-CN" sz="1350" dirty="0"/>
          </a:p>
          <a:p>
            <a:r>
              <a:rPr lang="en-US" altLang="zh-CN" sz="1350" dirty="0">
                <a:solidFill>
                  <a:srgbClr val="000000"/>
                </a:solidFill>
                <a:latin typeface="Consolas" panose="020B0609020204030204" pitchFamily="49" charset="0"/>
              </a:rPr>
              <a:t>2585 "http://anson.ucdavis.edu/courses/" </a:t>
            </a:r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840511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从文本属性中抽取结构化信息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从文本数据中抽取结构化信息，进行丰富的可视化</a:t>
            </a:r>
            <a:endParaRPr lang="en-US" altLang="zh-CN" dirty="0"/>
          </a:p>
          <a:p>
            <a:pPr lvl="1"/>
            <a:r>
              <a:rPr lang="zh-CN" altLang="en-US" dirty="0"/>
              <a:t>举例：从文本中提取位置信息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618"/>
          <a:stretch/>
        </p:blipFill>
        <p:spPr>
          <a:xfrm>
            <a:off x="457200" y="1646596"/>
            <a:ext cx="4524375" cy="29164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651" y="1646596"/>
            <a:ext cx="3411426" cy="291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8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请使用三种方法抽取以下日志文件中的日期时间信息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完成后示意老师</a:t>
            </a:r>
            <a:endParaRPr lang="en-US" altLang="zh-CN" dirty="0"/>
          </a:p>
          <a:p>
            <a:pPr lvl="1"/>
            <a:r>
              <a:rPr lang="zh-CN" altLang="en-US" dirty="0"/>
              <a:t>提示：可使用字符串操作、正则表达式、</a:t>
            </a:r>
            <a:r>
              <a:rPr lang="en-US" altLang="zh-CN" dirty="0" err="1"/>
              <a:t>datatime</a:t>
            </a:r>
            <a:r>
              <a:rPr lang="zh-CN" altLang="en-US" dirty="0"/>
              <a:t>模块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12" y="1393717"/>
            <a:ext cx="3405342" cy="21524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994" y="1475645"/>
            <a:ext cx="3340806" cy="1988575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4396177" y="2278206"/>
            <a:ext cx="668594" cy="3834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60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兰亭细黑_GBK" pitchFamily="2" charset="-122"/>
                <a:ea typeface="方正兰亭细黑_GBK" pitchFamily="2" charset="-122"/>
                <a:cs typeface="+mn-cs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041" y="2827018"/>
            <a:ext cx="2697829" cy="8689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探索数据分析</a:t>
            </a:r>
            <a:endParaRPr lang="en-US" altLang="zh-CN" sz="200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zh-CN" altLang="en-US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数据获取与准备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514104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lnSpc>
                <a:spcPct val="160000"/>
              </a:lnSpc>
              <a:buFontTx/>
              <a:buAutoNum type="arabicPeriod"/>
              <a:defRPr/>
            </a:pP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数据获取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lvl="0" indent="-342900">
              <a:lnSpc>
                <a:spcPct val="160000"/>
              </a:lnSpc>
              <a:buFontTx/>
              <a:buAutoNum type="arabicPeriod"/>
              <a:defRPr/>
            </a:pP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数据准备 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数据抽取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lvl="0" indent="-342900">
              <a:lnSpc>
                <a:spcPct val="160000"/>
              </a:lnSpc>
              <a:buFontTx/>
              <a:buAutoNum type="arabicPeriod"/>
              <a:defRPr/>
            </a:pP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数据准备 </a:t>
            </a:r>
            <a:r>
              <a:rPr lang="en-US" altLang="zh-CN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数据清洗</a:t>
            </a:r>
            <a:endParaRPr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lvl="0" indent="-342900">
              <a:lnSpc>
                <a:spcPct val="160000"/>
              </a:lnSpc>
              <a:buFontTx/>
              <a:buAutoNum type="arabicPeriod"/>
              <a:defRPr/>
            </a:pP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案例分析：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wuhan2020-sos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2891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数据清洗</a:t>
            </a:r>
            <a:r>
              <a:rPr lang="zh-CN" altLang="en-US" dirty="0"/>
              <a:t>有哪些挑战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现实世界中，数据通常是脏的 </a:t>
            </a:r>
            <a:r>
              <a:rPr lang="zh-CN" altLang="en-US" dirty="0">
                <a:sym typeface="Wingdings"/>
              </a:rPr>
              <a:t> </a:t>
            </a:r>
            <a:r>
              <a:rPr lang="en-US" altLang="zh-CN" dirty="0">
                <a:solidFill>
                  <a:srgbClr val="FF0000"/>
                </a:solidFill>
                <a:sym typeface="Wingdings"/>
              </a:rPr>
              <a:t>Garbage</a:t>
            </a:r>
            <a:r>
              <a:rPr lang="zh-CN" altLang="en-US" dirty="0">
                <a:solidFill>
                  <a:srgbClr val="FF0000"/>
                </a:solidFill>
                <a:sym typeface="Wingdings"/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Wingdings"/>
              </a:rPr>
              <a:t>In,</a:t>
            </a:r>
            <a:r>
              <a:rPr lang="zh-CN" altLang="en-US" dirty="0">
                <a:solidFill>
                  <a:srgbClr val="FF0000"/>
                </a:solidFill>
                <a:sym typeface="Wingdings"/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Wingdings"/>
              </a:rPr>
              <a:t>Garbage</a:t>
            </a:r>
            <a:r>
              <a:rPr lang="zh-CN" altLang="en-US" dirty="0">
                <a:solidFill>
                  <a:srgbClr val="FF0000"/>
                </a:solidFill>
                <a:sym typeface="Wingdings"/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Wingdings"/>
              </a:rPr>
              <a:t>Out</a:t>
            </a:r>
          </a:p>
          <a:p>
            <a:pPr lvl="1"/>
            <a:r>
              <a:rPr lang="zh-CN" altLang="en-US" dirty="0"/>
              <a:t>数据存在错误和不一致</a:t>
            </a:r>
          </a:p>
        </p:txBody>
      </p:sp>
      <p:pic>
        <p:nvPicPr>
          <p:cNvPr id="4" name="Picture 4" descr="http://www.cartoonstock.com/newscartoons/cartoonists/mfl/lowres/mfln4356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110" y="1913675"/>
            <a:ext cx="3327306" cy="27699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https://cdn2.content.compendiumblog.com/uploads/user/458939f4-fe08-4dbc-b271-efca0f5a2682/ba6a552e-3bc0-4eed-9c9a-eae3ade49498/Image/f5d7fa9b401788538b73e6669268d389/typ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11047" y="1651744"/>
            <a:ext cx="3857947" cy="30319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2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数据清洗</a:t>
            </a:r>
            <a:r>
              <a:rPr lang="zh-CN" altLang="en-US" dirty="0"/>
              <a:t>有哪些挑战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现实世界中，数据通常是脏的 </a:t>
            </a:r>
            <a:r>
              <a:rPr lang="zh-CN" altLang="en-US" dirty="0">
                <a:sym typeface="Wingdings"/>
              </a:rPr>
              <a:t> </a:t>
            </a:r>
            <a:r>
              <a:rPr lang="en-US" altLang="zh-CN" dirty="0">
                <a:solidFill>
                  <a:srgbClr val="FF0000"/>
                </a:solidFill>
                <a:sym typeface="Wingdings"/>
              </a:rPr>
              <a:t>Garbage</a:t>
            </a:r>
            <a:r>
              <a:rPr lang="zh-CN" altLang="en-US" dirty="0">
                <a:solidFill>
                  <a:srgbClr val="FF0000"/>
                </a:solidFill>
                <a:sym typeface="Wingdings"/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Wingdings"/>
              </a:rPr>
              <a:t>In,</a:t>
            </a:r>
            <a:r>
              <a:rPr lang="zh-CN" altLang="en-US" dirty="0">
                <a:solidFill>
                  <a:srgbClr val="FF0000"/>
                </a:solidFill>
                <a:sym typeface="Wingdings"/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Wingdings"/>
              </a:rPr>
              <a:t>Garbage</a:t>
            </a:r>
            <a:r>
              <a:rPr lang="zh-CN" altLang="en-US" dirty="0">
                <a:solidFill>
                  <a:srgbClr val="FF0000"/>
                </a:solidFill>
                <a:sym typeface="Wingdings"/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Wingdings"/>
              </a:rPr>
              <a:t>Out</a:t>
            </a:r>
          </a:p>
          <a:p>
            <a:pPr lvl="1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数据存在错误和不一致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zh-CN" altLang="en-US" dirty="0"/>
              <a:t>数据存在缺失（</a:t>
            </a:r>
            <a:r>
              <a:rPr lang="en-US" altLang="zh-CN" dirty="0"/>
              <a:t>Missing</a:t>
            </a:r>
            <a:r>
              <a:rPr lang="zh-CN" altLang="en-US" dirty="0"/>
              <a:t>）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69692"/>
            <a:ext cx="5440166" cy="27589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5897367" y="1969692"/>
            <a:ext cx="30719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[Gill et al; </a:t>
            </a:r>
            <a:r>
              <a:rPr lang="en-US" dirty="0" err="1">
                <a:solidFill>
                  <a:prstClr val="black"/>
                </a:solidFill>
              </a:rPr>
              <a:t>Univ</a:t>
            </a:r>
            <a:r>
              <a:rPr lang="en-US" dirty="0">
                <a:solidFill>
                  <a:prstClr val="black"/>
                </a:solidFill>
              </a:rPr>
              <a:t> of Oxford 2003]</a:t>
            </a:r>
            <a:endParaRPr lang="en-US" sz="1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463" y="2541711"/>
            <a:ext cx="2422418" cy="16149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87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数据清洗</a:t>
            </a:r>
            <a:r>
              <a:rPr lang="zh-CN" altLang="en-US" dirty="0"/>
              <a:t>有哪些挑战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现实世界中，数据通常是脏的 </a:t>
            </a:r>
            <a:r>
              <a:rPr lang="zh-CN" altLang="en-US" dirty="0">
                <a:sym typeface="Wingdings"/>
              </a:rPr>
              <a:t></a:t>
            </a:r>
            <a:r>
              <a:rPr lang="zh-CN" altLang="en-US" dirty="0">
                <a:solidFill>
                  <a:srgbClr val="FF0000"/>
                </a:solidFill>
                <a:sym typeface="Wingdings"/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Wingdings"/>
              </a:rPr>
              <a:t>Garbage</a:t>
            </a:r>
            <a:r>
              <a:rPr lang="zh-CN" altLang="en-US" dirty="0">
                <a:solidFill>
                  <a:srgbClr val="FF0000"/>
                </a:solidFill>
                <a:sym typeface="Wingdings"/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Wingdings"/>
              </a:rPr>
              <a:t>In,</a:t>
            </a:r>
            <a:r>
              <a:rPr lang="zh-CN" altLang="en-US" dirty="0">
                <a:solidFill>
                  <a:srgbClr val="FF0000"/>
                </a:solidFill>
                <a:sym typeface="Wingdings"/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Wingdings"/>
              </a:rPr>
              <a:t>Garbage</a:t>
            </a:r>
            <a:r>
              <a:rPr lang="zh-CN" altLang="en-US" dirty="0">
                <a:solidFill>
                  <a:srgbClr val="FF0000"/>
                </a:solidFill>
                <a:sym typeface="Wingdings"/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Wingdings"/>
              </a:rPr>
              <a:t>Out</a:t>
            </a:r>
          </a:p>
          <a:p>
            <a:pPr lvl="1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数据存在错误和不一致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数据存在缺失（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Missing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）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zh-CN" altLang="en-US" dirty="0"/>
              <a:t>名称</a:t>
            </a:r>
            <a:r>
              <a:rPr lang="en-US" altLang="zh-CN" dirty="0"/>
              <a:t>/</a:t>
            </a:r>
            <a:r>
              <a:rPr lang="zh-CN" altLang="en-US" dirty="0"/>
              <a:t>属性的二义性</a:t>
            </a:r>
          </a:p>
        </p:txBody>
      </p:sp>
      <p:pic>
        <p:nvPicPr>
          <p:cNvPr id="9" name="Picture 6" descr="File:Jordan Lipofsky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23751" y="2604058"/>
            <a:ext cx="1495349" cy="1676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149578" y="3009355"/>
            <a:ext cx="1042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Michael Jordan</a:t>
            </a:r>
          </a:p>
        </p:txBody>
      </p:sp>
      <p:pic>
        <p:nvPicPr>
          <p:cNvPr id="11" name="Picture 8" descr="pictur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11105" y="2585008"/>
            <a:ext cx="1143000" cy="1714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498" y="1377696"/>
            <a:ext cx="2996924" cy="326331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28853" y="2609244"/>
            <a:ext cx="1168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STZhongsong" charset="-122"/>
                <a:ea typeface="STZhongsong" charset="-122"/>
                <a:cs typeface="STZhongsong" charset="-122"/>
              </a:rPr>
              <a:t>人大</a:t>
            </a:r>
            <a:endParaRPr lang="en-US" sz="2000" b="1" dirty="0">
              <a:latin typeface="STZhongsong" charset="-122"/>
              <a:ea typeface="STZhongsong" charset="-122"/>
              <a:cs typeface="STZhongsong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213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数据清洗的基本任务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将文本</a:t>
            </a:r>
            <a:r>
              <a:rPr lang="zh-CN" altLang="en-US" dirty="0">
                <a:solidFill>
                  <a:srgbClr val="C00000"/>
                </a:solidFill>
              </a:rPr>
              <a:t>拆分</a:t>
            </a:r>
            <a:r>
              <a:rPr lang="zh-CN" altLang="en-US" dirty="0"/>
              <a:t>成不同的属性（</a:t>
            </a:r>
            <a:r>
              <a:rPr lang="en-US" altLang="zh-CN" dirty="0"/>
              <a:t>Fields</a:t>
            </a:r>
            <a:r>
              <a:rPr lang="zh-CN" altLang="en-US" dirty="0"/>
              <a:t>） </a:t>
            </a:r>
            <a:r>
              <a:rPr lang="zh-CN" altLang="en-US" dirty="0">
                <a:sym typeface="Wingdings"/>
              </a:rPr>
              <a:t> 解决分隔符问题</a:t>
            </a:r>
            <a:endParaRPr lang="en-US" altLang="zh-CN" dirty="0">
              <a:sym typeface="Wingdings"/>
            </a:endParaRPr>
          </a:p>
          <a:p>
            <a:pPr lvl="1"/>
            <a:r>
              <a:rPr lang="zh-CN" altLang="en-US" dirty="0">
                <a:sym typeface="Wingdings"/>
              </a:rPr>
              <a:t>例：教师列表 </a:t>
            </a:r>
            <a:r>
              <a:rPr lang="en-US" altLang="zh-CN" dirty="0">
                <a:sym typeface="Wingdings"/>
              </a:rPr>
              <a:t>Ju</a:t>
            </a:r>
            <a:r>
              <a:rPr lang="zh-CN" altLang="en-US" dirty="0">
                <a:sym typeface="Wingdings"/>
              </a:rPr>
              <a:t> </a:t>
            </a:r>
            <a:r>
              <a:rPr lang="en-US" altLang="zh-CN" dirty="0">
                <a:sym typeface="Wingdings"/>
              </a:rPr>
              <a:t>Fan:</a:t>
            </a:r>
            <a:r>
              <a:rPr lang="zh-CN" altLang="en-US" dirty="0">
                <a:sym typeface="Wingdings"/>
              </a:rPr>
              <a:t> </a:t>
            </a:r>
            <a:r>
              <a:rPr lang="en-US" altLang="zh-CN" dirty="0">
                <a:sym typeface="Wingdings"/>
              </a:rPr>
              <a:t>Associate</a:t>
            </a:r>
            <a:r>
              <a:rPr lang="zh-CN" altLang="en-US" dirty="0">
                <a:sym typeface="Wingdings"/>
              </a:rPr>
              <a:t> </a:t>
            </a:r>
            <a:r>
              <a:rPr lang="en-US" altLang="zh-CN" dirty="0">
                <a:sym typeface="Wingdings"/>
              </a:rPr>
              <a:t>Prof.,</a:t>
            </a:r>
            <a:r>
              <a:rPr lang="zh-CN" altLang="en-US" dirty="0">
                <a:sym typeface="Wingdings"/>
              </a:rPr>
              <a:t> </a:t>
            </a:r>
            <a:r>
              <a:rPr lang="en-US" altLang="zh-CN" dirty="0">
                <a:sym typeface="Wingdings"/>
              </a:rPr>
              <a:t>Computer</a:t>
            </a:r>
            <a:r>
              <a:rPr lang="zh-CN" altLang="en-US" dirty="0">
                <a:sym typeface="Wingdings"/>
              </a:rPr>
              <a:t> </a:t>
            </a:r>
            <a:r>
              <a:rPr lang="en-US" altLang="zh-CN" dirty="0">
                <a:sym typeface="Wingdings"/>
              </a:rPr>
              <a:t>Science</a:t>
            </a:r>
            <a:r>
              <a:rPr lang="zh-CN" altLang="en-US" dirty="0">
                <a:sym typeface="Wingdings"/>
              </a:rPr>
              <a:t> </a:t>
            </a:r>
            <a:r>
              <a:rPr lang="en-US" altLang="zh-CN" dirty="0">
                <a:sym typeface="Wingdings"/>
              </a:rPr>
              <a:t>|</a:t>
            </a:r>
            <a:r>
              <a:rPr lang="zh-CN" altLang="en-US" dirty="0">
                <a:sym typeface="Wingdings"/>
              </a:rPr>
              <a:t> </a:t>
            </a:r>
            <a:r>
              <a:rPr lang="en-US" altLang="zh-CN" dirty="0">
                <a:sym typeface="Wingdings"/>
              </a:rPr>
              <a:t>35</a:t>
            </a:r>
          </a:p>
          <a:p>
            <a:r>
              <a:rPr lang="zh-CN" altLang="en-US" dirty="0">
                <a:sym typeface="Wingdings"/>
              </a:rPr>
              <a:t>补充</a:t>
            </a:r>
            <a:r>
              <a:rPr lang="zh-CN" altLang="en-US" dirty="0">
                <a:solidFill>
                  <a:srgbClr val="C00000"/>
                </a:solidFill>
                <a:sym typeface="Wingdings"/>
              </a:rPr>
              <a:t>缺失</a:t>
            </a:r>
            <a:r>
              <a:rPr lang="zh-CN" altLang="en-US" dirty="0">
                <a:sym typeface="Wingdings"/>
              </a:rPr>
              <a:t>的数据</a:t>
            </a:r>
            <a:endParaRPr lang="en-US" altLang="zh-CN" dirty="0">
              <a:sym typeface="Wingdings"/>
            </a:endParaRPr>
          </a:p>
          <a:p>
            <a:pPr lvl="1"/>
            <a:r>
              <a:rPr lang="zh-CN" altLang="en-US" dirty="0">
                <a:sym typeface="Wingdings"/>
              </a:rPr>
              <a:t>例：如果</a:t>
            </a:r>
            <a:r>
              <a:rPr lang="en-US" altLang="zh-CN" dirty="0">
                <a:sym typeface="Wingdings"/>
              </a:rPr>
              <a:t>Ju</a:t>
            </a:r>
            <a:r>
              <a:rPr lang="zh-CN" altLang="en-US" dirty="0">
                <a:sym typeface="Wingdings"/>
              </a:rPr>
              <a:t> </a:t>
            </a:r>
            <a:r>
              <a:rPr lang="en-US" altLang="zh-CN" dirty="0">
                <a:sym typeface="Wingdings"/>
              </a:rPr>
              <a:t>Fan</a:t>
            </a:r>
            <a:r>
              <a:rPr lang="zh-CN" altLang="en-US" dirty="0">
                <a:sym typeface="Wingdings"/>
              </a:rPr>
              <a:t>的年龄信息缺失，应该如何填充呢？</a:t>
            </a:r>
            <a:endParaRPr lang="en-US" altLang="zh-CN" dirty="0">
              <a:sym typeface="Wingdings"/>
            </a:endParaRPr>
          </a:p>
          <a:p>
            <a:pPr lvl="2"/>
            <a:r>
              <a:rPr lang="zh-CN" altLang="en-US" dirty="0">
                <a:sym typeface="Wingdings"/>
              </a:rPr>
              <a:t>平均值填充、用最近似教师年龄、贝叶斯估计</a:t>
            </a:r>
            <a:endParaRPr lang="en-US" altLang="zh-CN" dirty="0">
              <a:sym typeface="Wingdings"/>
            </a:endParaRPr>
          </a:p>
          <a:p>
            <a:endParaRPr lang="en-US" altLang="zh-CN" dirty="0"/>
          </a:p>
          <a:p>
            <a:r>
              <a:rPr lang="zh-CN" altLang="en-US" dirty="0"/>
              <a:t>格式</a:t>
            </a:r>
            <a:r>
              <a:rPr lang="zh-CN" altLang="en-US" dirty="0">
                <a:solidFill>
                  <a:srgbClr val="C00000"/>
                </a:solidFill>
              </a:rPr>
              <a:t>转换</a:t>
            </a:r>
            <a:r>
              <a:rPr lang="zh-CN" altLang="en-US" dirty="0"/>
              <a:t>问题</a:t>
            </a:r>
            <a:endParaRPr lang="en-US" altLang="zh-CN" dirty="0"/>
          </a:p>
          <a:p>
            <a:pPr lvl="1"/>
            <a:r>
              <a:rPr lang="zh-CN" altLang="en-US" dirty="0"/>
              <a:t>日期的表示：</a:t>
            </a:r>
            <a:r>
              <a:rPr lang="en-US" altLang="zh-CN" dirty="0"/>
              <a:t>20190329,</a:t>
            </a:r>
            <a:r>
              <a:rPr lang="zh-CN" altLang="en-US" dirty="0"/>
              <a:t> </a:t>
            </a:r>
            <a:r>
              <a:rPr lang="en-US" altLang="zh-CN" dirty="0"/>
              <a:t>03/29/2019,</a:t>
            </a:r>
            <a:r>
              <a:rPr lang="zh-CN" altLang="en-US" dirty="0"/>
              <a:t> </a:t>
            </a:r>
            <a:r>
              <a:rPr lang="en-US" altLang="zh-CN" dirty="0"/>
              <a:t>29/03/2019</a:t>
            </a:r>
          </a:p>
          <a:p>
            <a:r>
              <a:rPr lang="zh-CN" altLang="en-US" dirty="0"/>
              <a:t>异常值</a:t>
            </a:r>
            <a:r>
              <a:rPr lang="zh-CN" altLang="en-US" dirty="0">
                <a:solidFill>
                  <a:srgbClr val="C00000"/>
                </a:solidFill>
              </a:rPr>
              <a:t>检测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例： </a:t>
            </a:r>
            <a:r>
              <a:rPr lang="mr-IN" altLang="zh-CN" dirty="0" err="1"/>
              <a:t>Salary</a:t>
            </a:r>
            <a:r>
              <a:rPr lang="zh-CN" altLang="en-US" dirty="0"/>
              <a:t> </a:t>
            </a:r>
            <a:r>
              <a:rPr lang="mr-IN" altLang="zh-CN" dirty="0"/>
              <a:t>=</a:t>
            </a:r>
            <a:r>
              <a:rPr lang="zh-CN" altLang="en-US" dirty="0"/>
              <a:t> </a:t>
            </a:r>
            <a:r>
              <a:rPr lang="mr-IN" altLang="zh-CN" dirty="0"/>
              <a:t>-10</a:t>
            </a:r>
            <a:r>
              <a:rPr lang="zh-CN" altLang="en-US" dirty="0"/>
              <a:t>； </a:t>
            </a:r>
            <a:r>
              <a:rPr lang="mr-IN" altLang="zh-CN" dirty="0"/>
              <a:t>Age</a:t>
            </a:r>
            <a:r>
              <a:rPr lang="zh-CN" altLang="en-US" dirty="0"/>
              <a:t> </a:t>
            </a:r>
            <a:r>
              <a:rPr lang="mr-IN" altLang="zh-CN" dirty="0"/>
              <a:t>=</a:t>
            </a:r>
            <a:r>
              <a:rPr lang="zh-CN" altLang="en-US" dirty="0"/>
              <a:t> </a:t>
            </a:r>
            <a:r>
              <a:rPr lang="mr-IN" altLang="zh-CN" dirty="0"/>
              <a:t>222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80276" y="1570439"/>
            <a:ext cx="582730" cy="58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91192" y="2267469"/>
            <a:ext cx="24769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请写</a:t>
            </a:r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Python</a:t>
            </a: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代码帮助范老师进行文本拆分，输出一个字符串数组</a:t>
            </a:r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6762541" y="1647930"/>
            <a:ext cx="616996" cy="6195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593E8D0D-57DA-7241-B9A7-5E5B5D63991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"/>
          <a:stretch/>
        </p:blipFill>
        <p:spPr>
          <a:xfrm>
            <a:off x="2684166" y="3190799"/>
            <a:ext cx="6143311" cy="179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3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如何做</a:t>
            </a:r>
            <a:r>
              <a:rPr lang="zh-CN" altLang="en-US" dirty="0"/>
              <a:t>数据清洗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49"/>
            <a:ext cx="5863213" cy="432435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查看数据描述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检查数据量和数据属性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属性的类型、值域区间、关联，数据的可获得性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从业务角度理解数据属性和属性值的含义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计算每个属性的统计信息（如最大值、最小值、均值、方差等）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检测数据质量问题并修复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检查数据值是否有异常值和错误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值和属性本身的含义是否符合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有无缺失值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有无重复属性</a:t>
            </a:r>
            <a:endParaRPr kumimoji="1"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26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pandas</a:t>
            </a:r>
            <a:r>
              <a:rPr kumimoji="1" lang="zh-CN" altLang="en-US" dirty="0"/>
              <a:t>描述数据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en-US" altLang="zh-CN" dirty="0"/>
              <a:t>Titanic</a:t>
            </a:r>
            <a:r>
              <a:rPr lang="zh-CN" altLang="en-US" dirty="0"/>
              <a:t>数据集为例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48"/>
          <a:stretch/>
        </p:blipFill>
        <p:spPr>
          <a:xfrm>
            <a:off x="457200" y="1382470"/>
            <a:ext cx="3312745" cy="31283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"/>
          <a:stretch/>
        </p:blipFill>
        <p:spPr>
          <a:xfrm>
            <a:off x="3891454" y="819150"/>
            <a:ext cx="5101820" cy="23661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067" y="3299627"/>
            <a:ext cx="5018593" cy="1623201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268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数据值的类型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Nominal</a:t>
            </a:r>
            <a:r>
              <a:rPr kumimoji="1" lang="zh-CN" altLang="en-US" dirty="0"/>
              <a:t> 标记值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ID</a:t>
            </a:r>
            <a:r>
              <a:rPr kumimoji="1" lang="zh-CN" altLang="en-US" dirty="0"/>
              <a:t>、姓名、电话等，和数据项个数相当</a:t>
            </a:r>
            <a:endParaRPr kumimoji="1" lang="en-US" altLang="zh-CN" dirty="0"/>
          </a:p>
          <a:p>
            <a:r>
              <a:rPr kumimoji="1" lang="en-US" altLang="zh-CN" dirty="0"/>
              <a:t>Categorical</a:t>
            </a:r>
            <a:r>
              <a:rPr kumimoji="1" lang="zh-CN" altLang="en-US" dirty="0"/>
              <a:t> 离散值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邮编、性别、型号等</a:t>
            </a:r>
            <a:endParaRPr kumimoji="1" lang="en-US" altLang="zh-CN" dirty="0"/>
          </a:p>
          <a:p>
            <a:r>
              <a:rPr kumimoji="1" lang="en-US" altLang="zh-CN" dirty="0"/>
              <a:t>Ordinal</a:t>
            </a:r>
            <a:r>
              <a:rPr kumimoji="1" lang="zh-CN" altLang="en-US" dirty="0"/>
              <a:t> 排序型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分数分级</a:t>
            </a:r>
            <a:r>
              <a:rPr kumimoji="1" lang="en-US" altLang="zh-CN" dirty="0"/>
              <a:t>A</a:t>
            </a:r>
            <a:r>
              <a:rPr kumimoji="1" lang="zh-CN" altLang="en-US" dirty="0"/>
              <a:t>、</a:t>
            </a:r>
            <a:r>
              <a:rPr kumimoji="1" lang="en-US" altLang="zh-CN" dirty="0"/>
              <a:t>B</a:t>
            </a:r>
            <a:r>
              <a:rPr kumimoji="1" lang="zh-CN" altLang="en-US" dirty="0"/>
              <a:t>、</a:t>
            </a:r>
            <a:r>
              <a:rPr kumimoji="1" lang="en-US" altLang="zh-CN" dirty="0"/>
              <a:t>C</a:t>
            </a:r>
            <a:r>
              <a:rPr kumimoji="1" lang="zh-CN" altLang="en-US" dirty="0"/>
              <a:t>等</a:t>
            </a:r>
            <a:endParaRPr kumimoji="1" lang="en-US" altLang="zh-CN" dirty="0"/>
          </a:p>
          <a:p>
            <a:r>
              <a:rPr kumimoji="1" lang="en-US" altLang="zh-CN" dirty="0"/>
              <a:t>Numerical</a:t>
            </a:r>
            <a:r>
              <a:rPr kumimoji="1" lang="zh-CN" altLang="en-US" dirty="0"/>
              <a:t> 数值型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度量值，薪水、高度等</a:t>
            </a:r>
            <a:endParaRPr kumimoji="1" lang="en-US" altLang="zh-CN" dirty="0"/>
          </a:p>
          <a:p>
            <a:r>
              <a:rPr kumimoji="1" lang="en-US" altLang="zh-CN" dirty="0"/>
              <a:t>Interval</a:t>
            </a:r>
            <a:r>
              <a:rPr kumimoji="1" lang="zh-CN" altLang="en-US" dirty="0"/>
              <a:t> 区间型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数据值范围</a:t>
            </a:r>
            <a:endParaRPr kumimoji="1" lang="en-US" altLang="zh-CN" dirty="0"/>
          </a:p>
          <a:p>
            <a:r>
              <a:rPr kumimoji="1" lang="en-US" altLang="zh-CN" dirty="0"/>
              <a:t>Ratio</a:t>
            </a:r>
            <a:r>
              <a:rPr kumimoji="1" lang="zh-CN" altLang="en-US" dirty="0"/>
              <a:t> 比例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5436158" y="944544"/>
            <a:ext cx="317024" cy="1874227"/>
          </a:xfrm>
          <a:prstGeom prst="rightBrace">
            <a:avLst>
              <a:gd name="adj1" fmla="val 4014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右大括号 4"/>
          <p:cNvSpPr/>
          <p:nvPr/>
        </p:nvSpPr>
        <p:spPr>
          <a:xfrm>
            <a:off x="5421586" y="2933595"/>
            <a:ext cx="317024" cy="1728839"/>
          </a:xfrm>
          <a:prstGeom prst="rightBrace">
            <a:avLst>
              <a:gd name="adj1" fmla="val 3378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848141" y="1696991"/>
            <a:ext cx="79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定性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48140" y="3613348"/>
            <a:ext cx="79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定量</a:t>
            </a:r>
          </a:p>
        </p:txBody>
      </p:sp>
      <p:cxnSp>
        <p:nvCxnSpPr>
          <p:cNvPr id="9" name="直线箭头连接符 8"/>
          <p:cNvCxnSpPr/>
          <p:nvPr/>
        </p:nvCxnSpPr>
        <p:spPr>
          <a:xfrm flipH="1">
            <a:off x="7546312" y="1306286"/>
            <a:ext cx="10048" cy="2833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556360" y="2303688"/>
            <a:ext cx="461665" cy="159507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zh-CN" altLang="en-US" dirty="0"/>
              <a:t>信息量增加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437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数据缺失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有数据的地方，通常也就有缺失的数据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我们没有上帝视角</a:t>
            </a:r>
            <a:endParaRPr kumimoji="1" lang="en-US" altLang="zh-CN" dirty="0"/>
          </a:p>
          <a:p>
            <a:r>
              <a:rPr kumimoji="1" lang="zh-CN" altLang="en-US" dirty="0"/>
              <a:t>数据科学，必须面对数据缺失的问题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仪器故障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因为与以它记录冲突被删除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人为因数没有输入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当初录入数据时数据项没有被重视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数据变化没有被记录</a:t>
            </a:r>
            <a:endParaRPr kumimoji="1" lang="en-US" altLang="zh-CN" dirty="0"/>
          </a:p>
          <a:p>
            <a:r>
              <a:rPr kumimoji="1" lang="zh-CN" altLang="en-US" dirty="0"/>
              <a:t>缺失数据对分析建模有很大影响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忽略还是弥补，这是个问题</a:t>
            </a:r>
            <a:endParaRPr kumimoji="1"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56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缺失值处理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忽略记录：保留全的记录</a:t>
            </a:r>
            <a:endParaRPr kumimoji="1" lang="en-US" altLang="zh-CN" dirty="0"/>
          </a:p>
          <a:p>
            <a:r>
              <a:rPr kumimoji="1" lang="zh-CN" altLang="en-US" dirty="0"/>
              <a:t>忽略属性：保留全的属性</a:t>
            </a:r>
            <a:endParaRPr kumimoji="1" lang="en-US" altLang="zh-CN" dirty="0"/>
          </a:p>
          <a:p>
            <a:r>
              <a:rPr kumimoji="1" lang="zh-CN" altLang="en-US" dirty="0"/>
              <a:t>手动填充：可行吗？</a:t>
            </a:r>
            <a:endParaRPr kumimoji="1" lang="en-US" altLang="zh-CN" dirty="0"/>
          </a:p>
          <a:p>
            <a:r>
              <a:rPr kumimoji="1" lang="zh-CN" altLang="en-US" dirty="0"/>
              <a:t>用一个全局值代替，例如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unknown</a:t>
            </a:r>
          </a:p>
          <a:p>
            <a:r>
              <a:rPr kumimoji="1" lang="zh-CN" altLang="en-US" dirty="0"/>
              <a:t>使用对应属性的平均值</a:t>
            </a:r>
            <a:endParaRPr kumimoji="1" lang="en-US" altLang="zh-CN" dirty="0"/>
          </a:p>
          <a:p>
            <a:r>
              <a:rPr kumimoji="1" lang="zh-CN" altLang="en-US" dirty="0"/>
              <a:t>使用相同类标签样本对应属性上的平均值</a:t>
            </a:r>
            <a:endParaRPr kumimoji="1" lang="en-US" altLang="zh-CN" dirty="0"/>
          </a:p>
          <a:p>
            <a:r>
              <a:rPr kumimoji="1" lang="zh-CN" altLang="en-US" dirty="0"/>
              <a:t>用最大可能的值推理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如找最相似的点推理缺失值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使用贝叶斯或决策树推理</a:t>
            </a:r>
            <a:endParaRPr kumimoji="1" lang="en-US" altLang="zh-CN" dirty="0"/>
          </a:p>
          <a:p>
            <a:r>
              <a:rPr kumimoji="1" lang="zh-CN" altLang="en-US" dirty="0"/>
              <a:t>缺失值填充：猜的越多，离真实数据越远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42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pandas</a:t>
            </a:r>
            <a:r>
              <a:rPr kumimoji="1" lang="zh-CN" altLang="en-US" dirty="0"/>
              <a:t>处理缺失值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615"/>
          <a:stretch/>
        </p:blipFill>
        <p:spPr>
          <a:xfrm>
            <a:off x="828171" y="819150"/>
            <a:ext cx="7487658" cy="2613598"/>
          </a:xfrm>
        </p:spPr>
      </p:pic>
      <p:sp>
        <p:nvSpPr>
          <p:cNvPr id="4" name="Rectangle 3"/>
          <p:cNvSpPr/>
          <p:nvPr/>
        </p:nvSpPr>
        <p:spPr>
          <a:xfrm>
            <a:off x="1742982" y="3712410"/>
            <a:ext cx="23083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请问你会如何处理</a:t>
            </a:r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Age</a:t>
            </a: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缺失的记录？</a:t>
            </a:r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36689" y="3804743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4713532" y="3573910"/>
            <a:ext cx="29014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lphaUcPeriod"/>
            </a:pP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将这些记录删除</a:t>
            </a:r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  <a:p>
            <a:pPr marL="342900" indent="-342900">
              <a:buAutoNum type="alphaUcPeriod"/>
            </a:pP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使用平均年龄填充</a:t>
            </a:r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  <a:p>
            <a:pPr marL="342900" indent="-342900">
              <a:buAutoNum type="alphaUcPeriod"/>
            </a:pP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使用年龄的中位数填充</a:t>
            </a:r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65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pandas</a:t>
            </a:r>
            <a:r>
              <a:rPr kumimoji="1" lang="zh-CN" altLang="en-US" dirty="0"/>
              <a:t>处理缺失值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71" y="819150"/>
            <a:ext cx="7487658" cy="39370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52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数值间的转换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排序型转换成数值型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4.0</a:t>
            </a:r>
            <a:r>
              <a:rPr kumimoji="1" lang="zh-CN" altLang="en-US" dirty="0"/>
              <a:t>   </a:t>
            </a:r>
            <a:r>
              <a:rPr kumimoji="1" lang="en-US" altLang="zh-CN" dirty="0"/>
              <a:t>A-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-&gt;3.7</a:t>
            </a:r>
          </a:p>
          <a:p>
            <a:pPr lvl="1"/>
            <a:r>
              <a:rPr kumimoji="1" lang="en-US" altLang="zh-CN" dirty="0"/>
              <a:t>B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3.3</a:t>
            </a:r>
            <a:r>
              <a:rPr kumimoji="1" lang="zh-CN" altLang="en-US" dirty="0"/>
              <a:t>   </a:t>
            </a:r>
            <a:r>
              <a:rPr kumimoji="1" lang="en-US" altLang="zh-CN" dirty="0"/>
              <a:t>B-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-&gt;3.0</a:t>
            </a:r>
          </a:p>
          <a:p>
            <a:r>
              <a:rPr kumimoji="1" lang="zh-CN" altLang="en-US" dirty="0"/>
              <a:t>多值属性处理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颜色、国家、省</a:t>
            </a:r>
            <a:r>
              <a:rPr kumimoji="1" lang="en-US" altLang="zh-CN" dirty="0"/>
              <a:t>/</a:t>
            </a:r>
            <a:r>
              <a:rPr kumimoji="1" lang="zh-CN" altLang="en-US" dirty="0"/>
              <a:t>州等有限数值，可以用数值编号字典化处理数据</a:t>
            </a:r>
            <a:endParaRPr kumimoji="1" lang="en-US" altLang="zh-CN" dirty="0"/>
          </a:p>
          <a:p>
            <a:r>
              <a:rPr kumimoji="1" lang="en-US" altLang="zh-CN" dirty="0"/>
              <a:t>ID</a:t>
            </a:r>
            <a:r>
              <a:rPr kumimoji="1" lang="zh-CN" altLang="en-US" dirty="0"/>
              <a:t>属性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一般保持不变。过长且带冗余信息的属性值，可以做压缩，注意在不同数据集上压缩</a:t>
            </a:r>
            <a:r>
              <a:rPr kumimoji="1" lang="en-US" altLang="zh-CN" dirty="0"/>
              <a:t>ID</a:t>
            </a:r>
            <a:r>
              <a:rPr kumimoji="1" lang="zh-CN" altLang="en-US" dirty="0"/>
              <a:t>解释的一致性</a:t>
            </a:r>
            <a:endParaRPr kumimoji="1" lang="en-US" altLang="zh-CN" dirty="0"/>
          </a:p>
          <a:p>
            <a:r>
              <a:rPr kumimoji="1" lang="zh-CN" altLang="en-US" dirty="0"/>
              <a:t>属性值分组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省份按区域换分成</a:t>
            </a:r>
            <a:r>
              <a:rPr kumimoji="1" lang="en-US" altLang="zh-CN" dirty="0"/>
              <a:t>5-6</a:t>
            </a:r>
            <a:r>
              <a:rPr kumimoji="1" lang="zh-CN" altLang="en-US" dirty="0"/>
              <a:t>组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73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pandas</a:t>
            </a:r>
            <a:r>
              <a:rPr kumimoji="1" lang="zh-CN" altLang="en-US" dirty="0"/>
              <a:t>处理数值转换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" r="1"/>
          <a:stretch/>
        </p:blipFill>
        <p:spPr>
          <a:xfrm>
            <a:off x="627344" y="809102"/>
            <a:ext cx="7889311" cy="39370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37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数据离散化处理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把连续型的数值数据分成区间型数据</a:t>
            </a:r>
            <a:r>
              <a:rPr kumimoji="1" lang="en-US" altLang="zh-CN" dirty="0"/>
              <a:t>Binning</a:t>
            </a:r>
          </a:p>
          <a:p>
            <a:pPr lvl="1"/>
            <a:r>
              <a:rPr kumimoji="1" lang="zh-CN" altLang="en-US" dirty="0"/>
              <a:t>如</a:t>
            </a:r>
            <a:r>
              <a:rPr kumimoji="1" lang="en-US" altLang="zh-CN" dirty="0"/>
              <a:t>4</a:t>
            </a:r>
            <a:r>
              <a:rPr kumimoji="1" lang="zh-CN" altLang="en-US" dirty="0"/>
              <a:t>分制到</a:t>
            </a:r>
            <a:r>
              <a:rPr kumimoji="1" lang="en-US" altLang="zh-CN" dirty="0"/>
              <a:t>A/B/C</a:t>
            </a:r>
            <a:r>
              <a:rPr kumimoji="1" lang="zh-CN" altLang="en-US" dirty="0"/>
              <a:t>转换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可以减少数据量、压缩数据</a:t>
            </a:r>
            <a:endParaRPr kumimoji="1" lang="en-US" altLang="zh-CN" dirty="0"/>
          </a:p>
          <a:p>
            <a:r>
              <a:rPr kumimoji="1" lang="zh-CN" altLang="en-US" dirty="0"/>
              <a:t>等宽度划分离散化</a:t>
            </a:r>
            <a:r>
              <a:rPr kumimoji="1" lang="en-US" altLang="zh-CN" dirty="0"/>
              <a:t>Equal-Width</a:t>
            </a:r>
            <a:r>
              <a:rPr kumimoji="1" lang="zh-CN" altLang="en-US" dirty="0"/>
              <a:t> </a:t>
            </a:r>
            <a:r>
              <a:rPr kumimoji="1" lang="en-US" altLang="zh-CN" dirty="0"/>
              <a:t>Binning</a:t>
            </a:r>
          </a:p>
          <a:p>
            <a:pPr lvl="1"/>
            <a:r>
              <a:rPr kumimoji="1" lang="zh-CN" altLang="en-US" dirty="0"/>
              <a:t>优点：简单、易懂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缺点：分成多少个桶？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受</a:t>
            </a:r>
            <a:r>
              <a:rPr kumimoji="1" lang="zh-CN" altLang="en-US"/>
              <a:t>噪音影响大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80091" y="951569"/>
            <a:ext cx="2092626" cy="505432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04559" y="2468113"/>
            <a:ext cx="1809781" cy="330449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670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pandas</a:t>
            </a:r>
            <a:r>
              <a:rPr kumimoji="1" lang="zh-CN" altLang="en-US" dirty="0"/>
              <a:t>进行数据离散化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41730"/>
            <a:ext cx="8229600" cy="329184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24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数据离散化处理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等高划分离散化 </a:t>
            </a:r>
            <a:r>
              <a:rPr kumimoji="1" lang="en-US" altLang="zh-CN" dirty="0"/>
              <a:t>Equal-Depth</a:t>
            </a:r>
            <a:r>
              <a:rPr kumimoji="1" lang="zh-CN" altLang="en-US" dirty="0"/>
              <a:t> </a:t>
            </a:r>
            <a:r>
              <a:rPr kumimoji="1" lang="en-US" altLang="zh-CN" dirty="0"/>
              <a:t>Binning</a:t>
            </a:r>
          </a:p>
          <a:p>
            <a:pPr lvl="1"/>
            <a:r>
              <a:rPr kumimoji="1" lang="zh-CN" altLang="en-US" dirty="0"/>
              <a:t>对比一下与</a:t>
            </a:r>
            <a:r>
              <a:rPr kumimoji="1" lang="en-US" altLang="zh-CN" dirty="0"/>
              <a:t>EW</a:t>
            </a:r>
            <a:r>
              <a:rPr kumimoji="1" lang="zh-CN" altLang="en-US" dirty="0"/>
              <a:t>的优缺点？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请将下面数据用</a:t>
            </a:r>
            <a:r>
              <a:rPr kumimoji="1" lang="en-US" altLang="zh-CN" dirty="0"/>
              <a:t>EW</a:t>
            </a:r>
            <a:r>
              <a:rPr kumimoji="1" lang="zh-CN" altLang="en-US" dirty="0"/>
              <a:t>和</a:t>
            </a:r>
            <a:r>
              <a:rPr kumimoji="1" lang="en-US" altLang="zh-CN" dirty="0"/>
              <a:t>ED</a:t>
            </a:r>
            <a:r>
              <a:rPr kumimoji="1" lang="zh-CN" altLang="en-US" dirty="0"/>
              <a:t>离散化处理</a:t>
            </a:r>
            <a:endParaRPr kumimoji="1" lang="en-US" altLang="zh-CN" dirty="0"/>
          </a:p>
          <a:p>
            <a:pPr lvl="1"/>
            <a:r>
              <a:rPr lang="cs-CZ" altLang="zh-CN" dirty="0"/>
              <a:t>13,15,16,16,19,20,21,22,22,25,30,33,35,35,36,40,45 </a:t>
            </a:r>
          </a:p>
          <a:p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602472" y="-458319"/>
            <a:ext cx="1496932" cy="585756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474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发现异常值（</a:t>
            </a:r>
            <a:r>
              <a:rPr kumimoji="1" lang="en-US" altLang="zh-CN" dirty="0"/>
              <a:t>outlier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单变量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统计方法，</a:t>
            </a:r>
            <a:r>
              <a:rPr kumimoji="1" lang="en-US" altLang="zh-CN" dirty="0"/>
              <a:t>k=2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21121" y="1212620"/>
            <a:ext cx="3006488" cy="389314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126770" y="1101181"/>
            <a:ext cx="3006490" cy="411602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39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发现异常值（</a:t>
            </a:r>
            <a:r>
              <a:rPr kumimoji="1" lang="en-US" altLang="zh-CN" dirty="0"/>
              <a:t>outlier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单变量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超级异常值：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r>
              <a:rPr kumimoji="1" lang="zh-CN" altLang="en-US" dirty="0"/>
              <a:t>普通异常值</a:t>
            </a:r>
            <a:endParaRPr kumimoji="1"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730796" y="2032292"/>
            <a:ext cx="2797819" cy="26902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516308" y="-839129"/>
            <a:ext cx="307428" cy="5143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14990" y="1360139"/>
            <a:ext cx="317500" cy="33274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262372" y="2109059"/>
            <a:ext cx="3130426" cy="2070121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60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发现异常值（</a:t>
            </a:r>
            <a:r>
              <a:rPr kumimoji="1" lang="en-US" altLang="zh-CN" dirty="0"/>
              <a:t>outlier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单变量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统计方法：</a:t>
            </a:r>
            <a:r>
              <a:rPr kumimoji="1" lang="en-US" altLang="zh-CN" dirty="0"/>
              <a:t>k</a:t>
            </a:r>
            <a:r>
              <a:rPr kumimoji="1" lang="zh-CN" altLang="en-US" dirty="0"/>
              <a:t>倍标准差之外（</a:t>
            </a:r>
            <a:r>
              <a:rPr kumimoji="1" lang="en-US" altLang="zh-CN" dirty="0"/>
              <a:t>k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2,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思考：这种方法存在什么问题？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考虑一组年龄数据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r>
              <a:rPr kumimoji="1" lang="zh-CN" altLang="en-US" dirty="0"/>
              <a:t>计算出：均值为</a:t>
            </a:r>
            <a:r>
              <a:rPr kumimoji="1" lang="en-US" altLang="zh-CN" dirty="0"/>
              <a:t>56</a:t>
            </a:r>
            <a:r>
              <a:rPr kumimoji="1" lang="zh-CN" altLang="en-US" dirty="0"/>
              <a:t>；标准差为</a:t>
            </a:r>
            <a:r>
              <a:rPr kumimoji="1" lang="en-US" altLang="zh-CN" dirty="0"/>
              <a:t>83</a:t>
            </a:r>
            <a:r>
              <a:rPr kumimoji="1" lang="zh-CN" altLang="en-US" dirty="0"/>
              <a:t> </a:t>
            </a:r>
            <a:r>
              <a:rPr kumimoji="1" lang="zh-CN" altLang="en-US" dirty="0">
                <a:sym typeface="Wingdings"/>
              </a:rPr>
              <a:t> 两倍标准差区间</a:t>
            </a:r>
            <a:r>
              <a:rPr kumimoji="1" lang="en-US" altLang="zh-CN" dirty="0">
                <a:sym typeface="Wingdings"/>
              </a:rPr>
              <a:t>[-109,</a:t>
            </a:r>
            <a:r>
              <a:rPr kumimoji="1" lang="zh-CN" altLang="en-US" dirty="0">
                <a:sym typeface="Wingdings"/>
              </a:rPr>
              <a:t> </a:t>
            </a:r>
            <a:r>
              <a:rPr kumimoji="1" lang="en-US" altLang="zh-CN" dirty="0">
                <a:sym typeface="Wingdings"/>
              </a:rPr>
              <a:t>221]</a:t>
            </a:r>
          </a:p>
          <a:p>
            <a:pPr lvl="1"/>
            <a:r>
              <a:rPr kumimoji="1" lang="zh-CN" altLang="en-US" dirty="0">
                <a:sym typeface="Wingdings"/>
              </a:rPr>
              <a:t>为什么会出现这种情况？</a:t>
            </a:r>
            <a:endParaRPr kumimoji="1" lang="en-US" altLang="zh-CN" dirty="0">
              <a:sym typeface="Wingdings"/>
            </a:endParaRPr>
          </a:p>
          <a:p>
            <a:pPr lvl="1"/>
            <a:r>
              <a:rPr kumimoji="1" lang="zh-CN" altLang="en-US" dirty="0">
                <a:sym typeface="Wingdings"/>
              </a:rPr>
              <a:t>均值</a:t>
            </a:r>
            <a:r>
              <a:rPr kumimoji="1" lang="en-US" altLang="zh-CN" dirty="0">
                <a:sym typeface="Wingdings"/>
              </a:rPr>
              <a:t>Mean</a:t>
            </a:r>
            <a:r>
              <a:rPr kumimoji="1" lang="zh-CN" altLang="en-US" dirty="0">
                <a:sym typeface="Wingdings"/>
              </a:rPr>
              <a:t>对异常值很敏感！</a:t>
            </a:r>
            <a:endParaRPr kumimoji="1" lang="en-US" altLang="zh-CN" dirty="0">
              <a:sym typeface="Wingdings"/>
            </a:endParaRPr>
          </a:p>
          <a:p>
            <a:pPr lvl="1"/>
            <a:r>
              <a:rPr kumimoji="1" lang="zh-CN" altLang="en-US" dirty="0">
                <a:sym typeface="Wingdings"/>
              </a:rPr>
              <a:t>怎么解决？中位数</a:t>
            </a:r>
            <a:r>
              <a:rPr kumimoji="1" lang="en-US" altLang="zh-CN" dirty="0">
                <a:sym typeface="Wingdings"/>
              </a:rPr>
              <a:t>Median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946" y="2362628"/>
            <a:ext cx="5753528" cy="59899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56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数据归一化</a:t>
            </a:r>
            <a:r>
              <a:rPr kumimoji="1" lang="en-US" altLang="zh-CN" dirty="0"/>
              <a:t>(normalization)</a:t>
            </a:r>
            <a:r>
              <a:rPr kumimoji="1" lang="zh-CN" altLang="en-US" dirty="0"/>
              <a:t>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Min-max</a:t>
            </a:r>
            <a:r>
              <a:rPr kumimoji="1" lang="zh-CN" altLang="en-US" dirty="0"/>
              <a:t>归一化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Z-score</a:t>
            </a:r>
            <a:r>
              <a:rPr kumimoji="1" lang="zh-CN" altLang="en-US" dirty="0"/>
              <a:t>归一化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基于统计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十位数归一化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j</a:t>
            </a:r>
            <a:r>
              <a:rPr kumimoji="1" lang="zh-CN" altLang="en-US" dirty="0"/>
              <a:t>取值刚好让最大的数小于等于</a:t>
            </a:r>
            <a:r>
              <a:rPr kumimoji="1" lang="en-US" altLang="zh-CN" dirty="0"/>
              <a:t>1</a:t>
            </a:r>
          </a:p>
          <a:p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948004" y="-1014884"/>
            <a:ext cx="544606" cy="5143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082541" y="2415582"/>
            <a:ext cx="647700" cy="965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847073" y="3724659"/>
            <a:ext cx="736600" cy="10033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3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037306" y="-881118"/>
            <a:ext cx="5150402" cy="691263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926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兰亭细黑_GBK" pitchFamily="2" charset="-122"/>
                <a:ea typeface="方正兰亭细黑_GBK" pitchFamily="2" charset="-122"/>
                <a:cs typeface="+mn-cs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041" y="2827018"/>
            <a:ext cx="2697829" cy="8689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探索数据分析</a:t>
            </a:r>
            <a:endParaRPr lang="en-US" altLang="zh-CN" sz="200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zh-CN" altLang="en-US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数据获取与准备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514104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lnSpc>
                <a:spcPct val="160000"/>
              </a:lnSpc>
              <a:buFontTx/>
              <a:buAutoNum type="arabicPeriod"/>
              <a:defRPr/>
            </a:pP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数据获取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lvl="0" indent="-342900">
              <a:lnSpc>
                <a:spcPct val="160000"/>
              </a:lnSpc>
              <a:buFontTx/>
              <a:buAutoNum type="arabicPeriod"/>
              <a:defRPr/>
            </a:pP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数据准备 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数据抽取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lvl="0" indent="-342900">
              <a:lnSpc>
                <a:spcPct val="160000"/>
              </a:lnSpc>
              <a:buFontTx/>
              <a:buAutoNum type="arabicPeriod"/>
              <a:defRPr/>
            </a:pP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数据准备 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数据清洗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lvl="0" indent="-342900">
              <a:lnSpc>
                <a:spcPct val="160000"/>
              </a:lnSpc>
              <a:buFontTx/>
              <a:buAutoNum type="arabicPeriod"/>
              <a:defRPr/>
            </a:pP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案例分析：</a:t>
            </a:r>
            <a:r>
              <a:rPr lang="en-US" altLang="zh-CN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wuhan2020-sos</a:t>
            </a:r>
            <a:endParaRPr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A3F6C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7326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数据准备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信息抽取：从文本数据中抽取出结构化信息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58" y="1613110"/>
            <a:ext cx="3592285" cy="29326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87" y="1476828"/>
            <a:ext cx="3509412" cy="28650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485" y="1330081"/>
            <a:ext cx="5017475" cy="255814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14045" y="4002524"/>
            <a:ext cx="4288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你能观察到真实数据有多“</a:t>
            </a:r>
            <a:r>
              <a:rPr lang="zh-CN" altLang="en-US" sz="2000" dirty="0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脏</a:t>
            </a:r>
            <a:r>
              <a:rPr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”吗？</a:t>
            </a:r>
            <a:endParaRPr lang="en-US" sz="20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6037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数据清洗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0" y="923244"/>
            <a:ext cx="3483428" cy="3832905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数据缺失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属性</a:t>
            </a:r>
            <a:r>
              <a:rPr lang="en-US" altLang="zh-CN" dirty="0" smtClean="0"/>
              <a:t>age</a:t>
            </a:r>
          </a:p>
          <a:p>
            <a:r>
              <a:rPr lang="zh-CN" altLang="en-US" dirty="0" smtClean="0"/>
              <a:t>数据重复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同一个名字的人出现在多条微博中，是一个人吗？</a:t>
            </a:r>
            <a:endParaRPr lang="en-US" altLang="zh-CN" dirty="0" smtClean="0"/>
          </a:p>
          <a:p>
            <a:r>
              <a:rPr lang="zh-CN" altLang="en-US" dirty="0" smtClean="0"/>
              <a:t>属性值冲突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RC</a:t>
            </a:r>
            <a:r>
              <a:rPr lang="zh-CN" altLang="en-US" dirty="0" smtClean="0"/>
              <a:t>的年龄是</a:t>
            </a:r>
            <a:r>
              <a:rPr lang="en-US" altLang="zh-CN" dirty="0" smtClean="0"/>
              <a:t>35</a:t>
            </a:r>
            <a:r>
              <a:rPr lang="zh-CN" altLang="en-US" dirty="0" smtClean="0"/>
              <a:t>还是</a:t>
            </a:r>
            <a:r>
              <a:rPr lang="en-US" altLang="zh-CN" dirty="0" smtClean="0"/>
              <a:t>36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zh-CN" altLang="en-US" dirty="0" smtClean="0"/>
              <a:t>属性值粒度粗细不一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洪山区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保利时代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洪山区关山大道新竹路保利时代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41"/>
          <a:stretch/>
        </p:blipFill>
        <p:spPr>
          <a:xfrm>
            <a:off x="188600" y="1264896"/>
            <a:ext cx="52978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0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数据扩充（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 </a:t>
            </a:r>
            <a:r>
              <a:rPr lang="en-US" altLang="zh-CN" dirty="0" smtClean="0"/>
              <a:t>Enrichment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1677307"/>
          </a:xfrm>
        </p:spPr>
        <p:txBody>
          <a:bodyPr/>
          <a:lstStyle/>
          <a:p>
            <a:r>
              <a:rPr lang="zh-CN" altLang="en-US" dirty="0" smtClean="0"/>
              <a:t>能否在地图上定位每位求助者所在的小区</a:t>
            </a:r>
            <a:endParaRPr lang="en-US" altLang="zh-CN" dirty="0" smtClean="0"/>
          </a:p>
          <a:p>
            <a:r>
              <a:rPr lang="zh-CN" altLang="en-US" dirty="0" smtClean="0"/>
              <a:t>能否找到每位求助者所在小区的平均房价和建造年份</a:t>
            </a:r>
            <a:endParaRPr lang="en-US" altLang="zh-CN" dirty="0" smtClean="0"/>
          </a:p>
          <a:p>
            <a:r>
              <a:rPr lang="zh-CN" altLang="en-US" dirty="0" smtClean="0"/>
              <a:t>数据扩充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将求助者自己填写的小区名称</a:t>
            </a:r>
            <a:r>
              <a:rPr lang="zh-CN" altLang="en-US" dirty="0" smtClean="0">
                <a:solidFill>
                  <a:srgbClr val="C00000"/>
                </a:solidFill>
              </a:rPr>
              <a:t>对齐</a:t>
            </a:r>
            <a:r>
              <a:rPr lang="zh-CN" altLang="en-US" dirty="0" smtClean="0"/>
              <a:t>到</a:t>
            </a:r>
            <a:r>
              <a:rPr lang="zh-CN" altLang="en-US" dirty="0" smtClean="0">
                <a:solidFill>
                  <a:srgbClr val="00B050"/>
                </a:solidFill>
              </a:rPr>
              <a:t>链家</a:t>
            </a:r>
            <a:r>
              <a:rPr lang="zh-CN" altLang="en-US" dirty="0" smtClean="0"/>
              <a:t>小区名录中</a:t>
            </a:r>
            <a:endParaRPr lang="en-US" altLang="zh-CN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41"/>
          <a:stretch/>
        </p:blipFill>
        <p:spPr>
          <a:xfrm>
            <a:off x="159658" y="2392228"/>
            <a:ext cx="3831770" cy="22780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00" y="2719349"/>
            <a:ext cx="3557814" cy="13947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89977" y="416802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</a:rPr>
              <a:t>链家</a:t>
            </a:r>
            <a:r>
              <a:rPr lang="zh-CN" altLang="en-US"/>
              <a:t>小区名录</a:t>
            </a:r>
            <a:endParaRPr lang="en-US" dirty="0"/>
          </a:p>
        </p:txBody>
      </p:sp>
      <p:sp>
        <p:nvSpPr>
          <p:cNvPr id="7" name="Left-Right Arrow 6"/>
          <p:cNvSpPr/>
          <p:nvPr/>
        </p:nvSpPr>
        <p:spPr>
          <a:xfrm>
            <a:off x="4313464" y="3186086"/>
            <a:ext cx="660400" cy="4612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089666" y="271934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</a:rPr>
              <a:t>实体链接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50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数据扩充（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 </a:t>
            </a:r>
            <a:r>
              <a:rPr lang="en-US" altLang="zh-CN" dirty="0" smtClean="0"/>
              <a:t>Enrichment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1677307"/>
          </a:xfrm>
        </p:spPr>
        <p:txBody>
          <a:bodyPr/>
          <a:lstStyle/>
          <a:p>
            <a:r>
              <a:rPr lang="zh-CN" altLang="en-US" dirty="0" smtClean="0"/>
              <a:t>能否在地图上定位每位求助者所在的小区</a:t>
            </a:r>
            <a:endParaRPr lang="en-US" altLang="zh-CN" dirty="0" smtClean="0"/>
          </a:p>
          <a:p>
            <a:r>
              <a:rPr lang="zh-CN" altLang="en-US" dirty="0" smtClean="0"/>
              <a:t>能否找到每位求助者所在小区的平均房价和建造年份</a:t>
            </a:r>
            <a:endParaRPr lang="en-US" altLang="zh-CN" dirty="0" smtClean="0"/>
          </a:p>
          <a:p>
            <a:r>
              <a:rPr lang="zh-CN" altLang="en-US" dirty="0" smtClean="0"/>
              <a:t>数据扩充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通过百度地图获取求助者对应到</a:t>
            </a:r>
            <a:r>
              <a:rPr lang="zh-CN" altLang="en-US" dirty="0" smtClean="0">
                <a:solidFill>
                  <a:srgbClr val="00B050"/>
                </a:solidFill>
              </a:rPr>
              <a:t>链家</a:t>
            </a:r>
            <a:r>
              <a:rPr lang="zh-CN" altLang="en-US" dirty="0" smtClean="0"/>
              <a:t>小区的经纬度坐标</a:t>
            </a:r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10757"/>
            <a:ext cx="3557814" cy="13947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51277" y="405943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</a:rPr>
              <a:t>链家</a:t>
            </a:r>
            <a:r>
              <a:rPr lang="zh-CN" altLang="en-US"/>
              <a:t>小区名录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543"/>
          <a:stretch/>
        </p:blipFill>
        <p:spPr>
          <a:xfrm>
            <a:off x="6115579" y="2311185"/>
            <a:ext cx="2571221" cy="2507129"/>
          </a:xfrm>
          <a:prstGeom prst="rect">
            <a:avLst/>
          </a:prstGeom>
        </p:spPr>
      </p:pic>
      <p:sp>
        <p:nvSpPr>
          <p:cNvPr id="10" name="Left-Right Arrow 9"/>
          <p:cNvSpPr/>
          <p:nvPr/>
        </p:nvSpPr>
        <p:spPr>
          <a:xfrm>
            <a:off x="4735096" y="3374772"/>
            <a:ext cx="660400" cy="4612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349395" y="2938804"/>
            <a:ext cx="1431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</a:rPr>
              <a:t>调用百度</a:t>
            </a:r>
            <a:r>
              <a:rPr lang="en-US" altLang="zh-CN" b="1" dirty="0" smtClean="0">
                <a:solidFill>
                  <a:srgbClr val="C00000"/>
                </a:solidFill>
              </a:rPr>
              <a:t>API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36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数据分析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围城</a:t>
            </a:r>
            <a:r>
              <a:rPr lang="zh-CN" altLang="en-US" b="1" dirty="0"/>
              <a:t>之中，越老越无助</a:t>
            </a:r>
            <a:endParaRPr lang="en-US" b="1" dirty="0"/>
          </a:p>
        </p:txBody>
      </p:sp>
      <p:pic>
        <p:nvPicPr>
          <p:cNvPr id="5" name="图片 10" descr="https://uploader.shimo.im/f/wH0EvL8zYisF9tHo.jpg!thumbnail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72" b="22237"/>
          <a:stretch/>
        </p:blipFill>
        <p:spPr>
          <a:xfrm>
            <a:off x="457200" y="1349829"/>
            <a:ext cx="5023944" cy="3290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9" descr="https://uploader.shimo.im/f/N6u2KXIxlzgZxNTe.png!thumbnail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6" r="15852" b="16211"/>
          <a:stretch/>
        </p:blipFill>
        <p:spPr>
          <a:xfrm>
            <a:off x="5660572" y="288106"/>
            <a:ext cx="3352800" cy="44680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2220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数据分析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求助者离医院有多远？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4" name="图片 7" descr="https://uploader.shimo.im/f/UJ9RS7PRWssVQQ6j.jpg!thumbnail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3" t="30068" r="28469" b="29156"/>
          <a:stretch/>
        </p:blipFill>
        <p:spPr>
          <a:xfrm>
            <a:off x="174170" y="1291771"/>
            <a:ext cx="5245830" cy="3578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6" descr="https://uploader.shimo.im/f/37P3iXdiqac6HZ8b.jpg!thumbnail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4" b="11880"/>
          <a:stretch/>
        </p:blipFill>
        <p:spPr>
          <a:xfrm>
            <a:off x="5420000" y="431800"/>
            <a:ext cx="3724000" cy="4438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6672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数据分析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求助者所居住的房屋，无论是价格还是年份，都与武汉住宅的整体分布相当</a:t>
            </a:r>
            <a:r>
              <a:rPr lang="en-GB" b="1" dirty="0"/>
              <a:t> </a:t>
            </a:r>
            <a:endParaRPr lang="en-US" b="1" dirty="0"/>
          </a:p>
        </p:txBody>
      </p:sp>
      <p:pic>
        <p:nvPicPr>
          <p:cNvPr id="4" name="图片 4" descr="https://uploader.shimo.im/f/gQmfjbXA6Ac4OLVN.jpg!thumbnail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0" b="18622"/>
          <a:stretch/>
        </p:blipFill>
        <p:spPr>
          <a:xfrm>
            <a:off x="1814286" y="1320801"/>
            <a:ext cx="6589485" cy="3435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2995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数据分析结论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时代</a:t>
            </a:r>
            <a:r>
              <a:rPr lang="zh-CN" altLang="en-US" dirty="0"/>
              <a:t>的雨滴打在每一个人头上，数字背后甚至被排除在数字之外的，是一个个鲜活的人，用文字、图片、视频、转发、点赞</a:t>
            </a:r>
            <a:r>
              <a:rPr lang="en-US" altLang="zh-CN" dirty="0"/>
              <a:t>……</a:t>
            </a:r>
            <a:r>
              <a:rPr lang="zh-CN" altLang="en-US" dirty="0"/>
              <a:t>拼凑聚合成历史本身，而不甘愿沦为其注脚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dirty="0"/>
          </a:p>
          <a:p>
            <a:r>
              <a:rPr lang="zh-CN" altLang="en-US" dirty="0"/>
              <a:t>正如作家李静睿所言，</a:t>
            </a:r>
            <a:r>
              <a:rPr lang="en-US" dirty="0"/>
              <a:t>“</a:t>
            </a:r>
            <a:r>
              <a:rPr lang="zh-CN" altLang="en-US" dirty="0"/>
              <a:t>灾难面前，我们不是旁观，只是幸存。</a:t>
            </a:r>
            <a:r>
              <a:rPr lang="en-US" dirty="0"/>
              <a:t>”</a:t>
            </a:r>
            <a:r>
              <a:rPr lang="zh-CN" altLang="en-US" dirty="0"/>
              <a:t>这些陷入窘境的人、苦苦挣扎的人、奋力求生的人，不是弱者也不是他者，正是另一种处境下的你我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dirty="0"/>
          </a:p>
          <a:p>
            <a:r>
              <a:rPr lang="zh-CN" altLang="en-US" dirty="0"/>
              <a:t>照见他们，也是看到我们自己</a:t>
            </a:r>
            <a:r>
              <a:rPr lang="zh-CN" altLang="en-US" dirty="0" smtClean="0"/>
              <a:t>。</a:t>
            </a:r>
            <a:r>
              <a:rPr lang="en-GB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05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总结：数据</a:t>
            </a:r>
            <a:r>
              <a:rPr lang="zh-CN" altLang="en-US" dirty="0"/>
              <a:t>探索分析与可视化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BEBC7A-FD02-486B-81B5-A845787C689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" name="Picture 4" descr="See the source image">
            <a:extLst>
              <a:ext uri="{FF2B5EF4-FFF2-40B4-BE49-F238E27FC236}">
                <a16:creationId xmlns="" xmlns:a16="http://schemas.microsoft.com/office/drawing/2014/main" id="{AF9411DD-B67E-E047-8674-4D5270E1D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66" y="1493056"/>
            <a:ext cx="995540" cy="99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Educational Theory and Practice: Teaching to Learn">
            <a:extLst>
              <a:ext uri="{FF2B5EF4-FFF2-40B4-BE49-F238E27FC236}">
                <a16:creationId xmlns="" xmlns:a16="http://schemas.microsoft.com/office/drawing/2014/main" id="{E1242FAE-5D34-4342-8BD3-051EF8D24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252" y="1427288"/>
            <a:ext cx="987892" cy="98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77312953-4F0C-8147-8AA3-5EF1A5AE829F}"/>
              </a:ext>
            </a:extLst>
          </p:cNvPr>
          <p:cNvGrpSpPr/>
          <p:nvPr/>
        </p:nvGrpSpPr>
        <p:grpSpPr>
          <a:xfrm>
            <a:off x="2028098" y="1410601"/>
            <a:ext cx="5038962" cy="1651307"/>
            <a:chOff x="2242867" y="1109557"/>
            <a:chExt cx="5038962" cy="1651307"/>
          </a:xfrm>
        </p:grpSpPr>
        <p:sp>
          <p:nvSpPr>
            <p:cNvPr id="23" name="Rectangle 22" descr="再生纸">
              <a:extLst>
                <a:ext uri="{FF2B5EF4-FFF2-40B4-BE49-F238E27FC236}">
                  <a16:creationId xmlns="" xmlns:a16="http://schemas.microsoft.com/office/drawing/2014/main" id="{432DA395-D40C-2144-A047-97DE0FAC5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2867" y="1112618"/>
              <a:ext cx="798470" cy="1644632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/>
              <a:tailEnd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ts val="3040"/>
                </a:lnSpc>
                <a:buFontTx/>
                <a:buNone/>
                <a:defRPr/>
              </a:pPr>
              <a:r>
                <a:rPr lang="zh-CN" altLang="en-US" sz="2000" dirty="0" smtClean="0">
                  <a:solidFill>
                    <a:srgbClr val="3D79B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</a:t>
              </a:r>
              <a:r>
                <a:rPr lang="zh-CN" altLang="en-US" sz="2000" dirty="0" smtClean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采集</a:t>
              </a:r>
              <a:endPara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Rectangle 23" descr="再生纸">
              <a:extLst>
                <a:ext uri="{FF2B5EF4-FFF2-40B4-BE49-F238E27FC236}">
                  <a16:creationId xmlns="" xmlns:a16="http://schemas.microsoft.com/office/drawing/2014/main" id="{BE01A64B-E92F-1A45-A4C6-01DB7E3F7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2990" y="1112618"/>
              <a:ext cx="798470" cy="1644632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/>
              <a:tailEnd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ts val="3040"/>
                </a:lnSpc>
                <a:buFontTx/>
                <a:buNone/>
                <a:defRPr/>
              </a:pPr>
              <a:r>
                <a:rPr lang="zh-CN" altLang="en-US" sz="2000" dirty="0" smtClean="0">
                  <a:solidFill>
                    <a:srgbClr val="3D79B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</a:t>
              </a:r>
              <a:r>
                <a:rPr lang="zh-CN" altLang="en-US" sz="2000" dirty="0" smtClean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准备</a:t>
              </a:r>
              <a:endPara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" name="Rectangle 24" descr="再生纸">
              <a:extLst>
                <a:ext uri="{FF2B5EF4-FFF2-40B4-BE49-F238E27FC236}">
                  <a16:creationId xmlns="" xmlns:a16="http://schemas.microsoft.com/office/drawing/2014/main" id="{8134BFE4-C3B1-1B4A-AB66-6AA633904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3113" y="1110602"/>
              <a:ext cx="798470" cy="1644632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/>
              <a:tailEnd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ts val="3040"/>
                </a:lnSpc>
                <a:buFontTx/>
                <a:buNone/>
                <a:defRPr/>
              </a:pPr>
              <a:r>
                <a:rPr lang="zh-CN" altLang="en-US" sz="2000" dirty="0" smtClean="0">
                  <a:solidFill>
                    <a:srgbClr val="3D79B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</a:t>
              </a:r>
              <a:r>
                <a:rPr lang="zh-CN" altLang="en-US" sz="2000" dirty="0" smtClean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探索</a:t>
              </a:r>
              <a:endPara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4B5A9933-E2D1-2C4C-A7B1-0987FDFA97DF}"/>
                </a:ext>
              </a:extLst>
            </p:cNvPr>
            <p:cNvCxnSpPr>
              <a:stCxn id="23" idx="3"/>
              <a:endCxn id="24" idx="1"/>
            </p:cNvCxnSpPr>
            <p:nvPr/>
          </p:nvCxnSpPr>
          <p:spPr>
            <a:xfrm>
              <a:off x="3041337" y="1934934"/>
              <a:ext cx="261653" cy="0"/>
            </a:xfrm>
            <a:prstGeom prst="straightConnector1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 type="none" w="med" len="med"/>
              <a:tailEnd type="triangle" w="med" len="med"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</p:cxn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74039D2F-BE54-1146-AF8A-55D6BDC434D8}"/>
                </a:ext>
              </a:extLst>
            </p:cNvPr>
            <p:cNvCxnSpPr>
              <a:cxnSpLocks/>
              <a:stCxn id="24" idx="3"/>
              <a:endCxn id="25" idx="1"/>
            </p:cNvCxnSpPr>
            <p:nvPr/>
          </p:nvCxnSpPr>
          <p:spPr>
            <a:xfrm flipV="1">
              <a:off x="4101460" y="1932918"/>
              <a:ext cx="261653" cy="2016"/>
            </a:xfrm>
            <a:prstGeom prst="straightConnector1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 type="none" w="med" len="med"/>
              <a:tailEnd type="triangle" w="med" len="med"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</p:cxnSp>
        <p:sp>
          <p:nvSpPr>
            <p:cNvPr id="32" name="Rectangle 31" descr="再生纸">
              <a:extLst>
                <a:ext uri="{FF2B5EF4-FFF2-40B4-BE49-F238E27FC236}">
                  <a16:creationId xmlns="" xmlns:a16="http://schemas.microsoft.com/office/drawing/2014/main" id="{BBD36A06-EC22-B04F-ABFE-8D7CDD40B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3236" y="1116232"/>
              <a:ext cx="798470" cy="1644632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/>
              <a:tailEnd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ts val="3040"/>
                </a:lnSpc>
                <a:buFontTx/>
                <a:buNone/>
                <a:defRPr/>
              </a:pPr>
              <a:r>
                <a:rPr lang="zh-CN" altLang="en-US" sz="2000" dirty="0" smtClean="0">
                  <a:solidFill>
                    <a:srgbClr val="3D79B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</a:t>
              </a:r>
              <a:r>
                <a:rPr lang="zh-CN" altLang="en-US" sz="2000" dirty="0" smtClean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建模</a:t>
              </a:r>
              <a:endPara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3" name="Rectangle 32" descr="再生纸">
              <a:extLst>
                <a:ext uri="{FF2B5EF4-FFF2-40B4-BE49-F238E27FC236}">
                  <a16:creationId xmlns="" xmlns:a16="http://schemas.microsoft.com/office/drawing/2014/main" id="{A1583949-3D3E-464A-A707-8904EDA31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3359" y="1109557"/>
              <a:ext cx="798470" cy="1644632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/>
              <a:tailEnd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ts val="3040"/>
                </a:lnSpc>
                <a:buFontTx/>
                <a:buNone/>
                <a:defRPr/>
              </a:pPr>
              <a:r>
                <a:rPr lang="zh-CN" altLang="en-US" sz="2000" dirty="0">
                  <a:solidFill>
                    <a:srgbClr val="3D79B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</a:t>
              </a:r>
              <a:r>
                <a:rPr lang="zh-CN" altLang="en-US" sz="2000" dirty="0" smtClean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展示</a:t>
              </a:r>
              <a:endPara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="" xmlns:a16="http://schemas.microsoft.com/office/drawing/2014/main" id="{2F1D232F-E60D-4D43-8E54-862304AC51B3}"/>
                </a:ext>
              </a:extLst>
            </p:cNvPr>
            <p:cNvCxnSpPr>
              <a:cxnSpLocks/>
              <a:stCxn id="25" idx="3"/>
              <a:endCxn id="32" idx="1"/>
            </p:cNvCxnSpPr>
            <p:nvPr/>
          </p:nvCxnSpPr>
          <p:spPr>
            <a:xfrm>
              <a:off x="5161583" y="1932918"/>
              <a:ext cx="261653" cy="5630"/>
            </a:xfrm>
            <a:prstGeom prst="straightConnector1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 type="none" w="med" len="med"/>
              <a:tailEnd type="triangle" w="med" len="med"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</p:cxnSp>
        <p:cxnSp>
          <p:nvCxnSpPr>
            <p:cNvPr id="35" name="Straight Arrow Connector 34">
              <a:extLst>
                <a:ext uri="{FF2B5EF4-FFF2-40B4-BE49-F238E27FC236}">
                  <a16:creationId xmlns="" xmlns:a16="http://schemas.microsoft.com/office/drawing/2014/main" id="{4F2625BE-45DB-1948-BD98-51755AD3FF5A}"/>
                </a:ext>
              </a:extLst>
            </p:cNvPr>
            <p:cNvCxnSpPr>
              <a:cxnSpLocks/>
              <a:stCxn id="32" idx="3"/>
              <a:endCxn id="33" idx="1"/>
            </p:cNvCxnSpPr>
            <p:nvPr/>
          </p:nvCxnSpPr>
          <p:spPr>
            <a:xfrm flipV="1">
              <a:off x="6221706" y="1931873"/>
              <a:ext cx="261653" cy="6675"/>
            </a:xfrm>
            <a:prstGeom prst="straightConnector1">
              <a:avLst/>
            </a:prstGeom>
            <a:solidFill>
              <a:schemeClr val="bg1"/>
            </a:solidFill>
            <a:ln w="38100" algn="ctr">
              <a:solidFill>
                <a:srgbClr val="3E79BD"/>
              </a:solidFill>
              <a:miter lim="800000"/>
              <a:headEnd type="none" w="med" len="med"/>
              <a:tailEnd type="triangle" w="med" len="med"/>
            </a:ln>
            <a:effectLst>
              <a:outerShdw dist="57150" dir="2700000" algn="ctr" rotWithShape="0">
                <a:srgbClr val="888888">
                  <a:alpha val="50000"/>
                </a:srgbClr>
              </a:outerShdw>
            </a:effectLst>
          </p:spPr>
        </p:cxnSp>
      </p:grpSp>
      <p:sp>
        <p:nvSpPr>
          <p:cNvPr id="43" name="PA-A000320150529F30PPSH-3574">
            <a:extLst>
              <a:ext uri="{FF2B5EF4-FFF2-40B4-BE49-F238E27FC236}">
                <a16:creationId xmlns="" xmlns:a16="http://schemas.microsoft.com/office/drawing/2014/main" id="{C78E604D-4F74-5B4A-9572-AD7AF3DC1E65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534025" y="2033907"/>
            <a:ext cx="353236" cy="400110"/>
          </a:xfrm>
          <a:custGeom>
            <a:avLst/>
            <a:gdLst>
              <a:gd name="T0" fmla="*/ 195102655 w 13050"/>
              <a:gd name="T1" fmla="*/ 195059630 h 10203"/>
              <a:gd name="T2" fmla="*/ 195102655 w 13050"/>
              <a:gd name="T3" fmla="*/ 195059630 h 10203"/>
              <a:gd name="T4" fmla="*/ 195102655 w 13050"/>
              <a:gd name="T5" fmla="*/ 195059630 h 10203"/>
              <a:gd name="T6" fmla="*/ 195102655 w 13050"/>
              <a:gd name="T7" fmla="*/ 195059630 h 10203"/>
              <a:gd name="T8" fmla="*/ 195102655 w 13050"/>
              <a:gd name="T9" fmla="*/ 195059630 h 10203"/>
              <a:gd name="T10" fmla="*/ 195102655 w 13050"/>
              <a:gd name="T11" fmla="*/ 195059630 h 10203"/>
              <a:gd name="T12" fmla="*/ 195102655 w 13050"/>
              <a:gd name="T13" fmla="*/ 195059630 h 10203"/>
              <a:gd name="T14" fmla="*/ 195102655 w 13050"/>
              <a:gd name="T15" fmla="*/ 195059630 h 10203"/>
              <a:gd name="T16" fmla="*/ 195102655 w 13050"/>
              <a:gd name="T17" fmla="*/ 195059630 h 10203"/>
              <a:gd name="T18" fmla="*/ 195102655 w 13050"/>
              <a:gd name="T19" fmla="*/ 195059630 h 10203"/>
              <a:gd name="T20" fmla="*/ 195102655 w 13050"/>
              <a:gd name="T21" fmla="*/ 195059630 h 10203"/>
              <a:gd name="T22" fmla="*/ 195102655 w 13050"/>
              <a:gd name="T23" fmla="*/ 195059630 h 10203"/>
              <a:gd name="T24" fmla="*/ 195102655 w 13050"/>
              <a:gd name="T25" fmla="*/ 195059630 h 10203"/>
              <a:gd name="T26" fmla="*/ 195102655 w 13050"/>
              <a:gd name="T27" fmla="*/ 195059630 h 10203"/>
              <a:gd name="T28" fmla="*/ 195102655 w 13050"/>
              <a:gd name="T29" fmla="*/ 195059630 h 10203"/>
              <a:gd name="T30" fmla="*/ 195102655 w 13050"/>
              <a:gd name="T31" fmla="*/ 195059630 h 10203"/>
              <a:gd name="T32" fmla="*/ 195102655 w 13050"/>
              <a:gd name="T33" fmla="*/ 195059630 h 10203"/>
              <a:gd name="T34" fmla="*/ 195102655 w 13050"/>
              <a:gd name="T35" fmla="*/ 195059630 h 10203"/>
              <a:gd name="T36" fmla="*/ 195102655 w 13050"/>
              <a:gd name="T37" fmla="*/ 195059630 h 10203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3050" h="10203">
                <a:moveTo>
                  <a:pt x="555" y="7026"/>
                </a:moveTo>
                <a:lnTo>
                  <a:pt x="6858" y="7026"/>
                </a:lnTo>
                <a:lnTo>
                  <a:pt x="6858" y="9812"/>
                </a:lnTo>
                <a:lnTo>
                  <a:pt x="10878" y="5102"/>
                </a:lnTo>
                <a:lnTo>
                  <a:pt x="6858" y="391"/>
                </a:lnTo>
                <a:lnTo>
                  <a:pt x="6858" y="3177"/>
                </a:lnTo>
                <a:lnTo>
                  <a:pt x="555" y="3177"/>
                </a:lnTo>
                <a:lnTo>
                  <a:pt x="555" y="7026"/>
                </a:lnTo>
                <a:close/>
                <a:moveTo>
                  <a:pt x="0" y="7580"/>
                </a:moveTo>
                <a:lnTo>
                  <a:pt x="0" y="2622"/>
                </a:lnTo>
                <a:lnTo>
                  <a:pt x="6303" y="2622"/>
                </a:lnTo>
                <a:lnTo>
                  <a:pt x="6303" y="0"/>
                </a:lnTo>
                <a:lnTo>
                  <a:pt x="8698" y="0"/>
                </a:lnTo>
                <a:lnTo>
                  <a:pt x="13050" y="5102"/>
                </a:lnTo>
                <a:lnTo>
                  <a:pt x="8698" y="10203"/>
                </a:lnTo>
                <a:lnTo>
                  <a:pt x="6303" y="10203"/>
                </a:lnTo>
                <a:lnTo>
                  <a:pt x="6303" y="7580"/>
                </a:lnTo>
                <a:lnTo>
                  <a:pt x="0" y="758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600"/>
          </a:p>
        </p:txBody>
      </p:sp>
      <p:sp>
        <p:nvSpPr>
          <p:cNvPr id="44" name="PA-A000320150529F30PPSH-3574">
            <a:extLst>
              <a:ext uri="{FF2B5EF4-FFF2-40B4-BE49-F238E27FC236}">
                <a16:creationId xmlns="" xmlns:a16="http://schemas.microsoft.com/office/drawing/2014/main" id="{FF15215D-37D9-E04C-9191-B6E539285870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7277832" y="2033907"/>
            <a:ext cx="353236" cy="400110"/>
          </a:xfrm>
          <a:custGeom>
            <a:avLst/>
            <a:gdLst>
              <a:gd name="T0" fmla="*/ 195102655 w 13050"/>
              <a:gd name="T1" fmla="*/ 195059630 h 10203"/>
              <a:gd name="T2" fmla="*/ 195102655 w 13050"/>
              <a:gd name="T3" fmla="*/ 195059630 h 10203"/>
              <a:gd name="T4" fmla="*/ 195102655 w 13050"/>
              <a:gd name="T5" fmla="*/ 195059630 h 10203"/>
              <a:gd name="T6" fmla="*/ 195102655 w 13050"/>
              <a:gd name="T7" fmla="*/ 195059630 h 10203"/>
              <a:gd name="T8" fmla="*/ 195102655 w 13050"/>
              <a:gd name="T9" fmla="*/ 195059630 h 10203"/>
              <a:gd name="T10" fmla="*/ 195102655 w 13050"/>
              <a:gd name="T11" fmla="*/ 195059630 h 10203"/>
              <a:gd name="T12" fmla="*/ 195102655 w 13050"/>
              <a:gd name="T13" fmla="*/ 195059630 h 10203"/>
              <a:gd name="T14" fmla="*/ 195102655 w 13050"/>
              <a:gd name="T15" fmla="*/ 195059630 h 10203"/>
              <a:gd name="T16" fmla="*/ 195102655 w 13050"/>
              <a:gd name="T17" fmla="*/ 195059630 h 10203"/>
              <a:gd name="T18" fmla="*/ 195102655 w 13050"/>
              <a:gd name="T19" fmla="*/ 195059630 h 10203"/>
              <a:gd name="T20" fmla="*/ 195102655 w 13050"/>
              <a:gd name="T21" fmla="*/ 195059630 h 10203"/>
              <a:gd name="T22" fmla="*/ 195102655 w 13050"/>
              <a:gd name="T23" fmla="*/ 195059630 h 10203"/>
              <a:gd name="T24" fmla="*/ 195102655 w 13050"/>
              <a:gd name="T25" fmla="*/ 195059630 h 10203"/>
              <a:gd name="T26" fmla="*/ 195102655 w 13050"/>
              <a:gd name="T27" fmla="*/ 195059630 h 10203"/>
              <a:gd name="T28" fmla="*/ 195102655 w 13050"/>
              <a:gd name="T29" fmla="*/ 195059630 h 10203"/>
              <a:gd name="T30" fmla="*/ 195102655 w 13050"/>
              <a:gd name="T31" fmla="*/ 195059630 h 10203"/>
              <a:gd name="T32" fmla="*/ 195102655 w 13050"/>
              <a:gd name="T33" fmla="*/ 195059630 h 10203"/>
              <a:gd name="T34" fmla="*/ 195102655 w 13050"/>
              <a:gd name="T35" fmla="*/ 195059630 h 10203"/>
              <a:gd name="T36" fmla="*/ 195102655 w 13050"/>
              <a:gd name="T37" fmla="*/ 195059630 h 10203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3050" h="10203">
                <a:moveTo>
                  <a:pt x="555" y="7026"/>
                </a:moveTo>
                <a:lnTo>
                  <a:pt x="6858" y="7026"/>
                </a:lnTo>
                <a:lnTo>
                  <a:pt x="6858" y="9812"/>
                </a:lnTo>
                <a:lnTo>
                  <a:pt x="10878" y="5102"/>
                </a:lnTo>
                <a:lnTo>
                  <a:pt x="6858" y="391"/>
                </a:lnTo>
                <a:lnTo>
                  <a:pt x="6858" y="3177"/>
                </a:lnTo>
                <a:lnTo>
                  <a:pt x="555" y="3177"/>
                </a:lnTo>
                <a:lnTo>
                  <a:pt x="555" y="7026"/>
                </a:lnTo>
                <a:close/>
                <a:moveTo>
                  <a:pt x="0" y="7580"/>
                </a:moveTo>
                <a:lnTo>
                  <a:pt x="0" y="2622"/>
                </a:lnTo>
                <a:lnTo>
                  <a:pt x="6303" y="2622"/>
                </a:lnTo>
                <a:lnTo>
                  <a:pt x="6303" y="0"/>
                </a:lnTo>
                <a:lnTo>
                  <a:pt x="8698" y="0"/>
                </a:lnTo>
                <a:lnTo>
                  <a:pt x="13050" y="5102"/>
                </a:lnTo>
                <a:lnTo>
                  <a:pt x="8698" y="10203"/>
                </a:lnTo>
                <a:lnTo>
                  <a:pt x="6303" y="10203"/>
                </a:lnTo>
                <a:lnTo>
                  <a:pt x="6303" y="7580"/>
                </a:lnTo>
                <a:lnTo>
                  <a:pt x="0" y="758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600"/>
          </a:p>
        </p:txBody>
      </p:sp>
      <p:cxnSp>
        <p:nvCxnSpPr>
          <p:cNvPr id="51" name="Elbow Connector 50">
            <a:extLst>
              <a:ext uri="{FF2B5EF4-FFF2-40B4-BE49-F238E27FC236}">
                <a16:creationId xmlns="" xmlns:a16="http://schemas.microsoft.com/office/drawing/2014/main" id="{34EA2F09-CDF7-5747-ACCD-7BD2322E7CE1}"/>
              </a:ext>
            </a:extLst>
          </p:cNvPr>
          <p:cNvCxnSpPr>
            <a:cxnSpLocks/>
            <a:stCxn id="21" idx="0"/>
            <a:endCxn id="19" idx="0"/>
          </p:cNvCxnSpPr>
          <p:nvPr/>
        </p:nvCxnSpPr>
        <p:spPr>
          <a:xfrm rot="16200000" flipH="1" flipV="1">
            <a:off x="4573233" y="-2186909"/>
            <a:ext cx="65768" cy="7294162"/>
          </a:xfrm>
          <a:prstGeom prst="bentConnector3">
            <a:avLst>
              <a:gd name="adj1" fmla="val -743377"/>
            </a:avLst>
          </a:prstGeom>
          <a:solidFill>
            <a:schemeClr val="bg1"/>
          </a:solidFill>
          <a:ln w="38100" algn="ctr">
            <a:solidFill>
              <a:srgbClr val="3E79BD"/>
            </a:solidFill>
            <a:miter lim="800000"/>
            <a:headEnd type="none" w="med" len="med"/>
            <a:tailEnd type="triangle" w="med" len="med"/>
          </a:ln>
          <a:effectLst>
            <a:outerShdw dist="57150" dir="2700000" algn="ctr" rotWithShape="0">
              <a:srgbClr val="888888">
                <a:alpha val="50000"/>
              </a:srgbClr>
            </a:outerShdw>
          </a:effectLst>
        </p:spPr>
      </p:cxnSp>
      <p:pic>
        <p:nvPicPr>
          <p:cNvPr id="53" name="Picture 6" descr="查看源图像">
            <a:extLst>
              <a:ext uri="{FF2B5EF4-FFF2-40B4-BE49-F238E27FC236}">
                <a16:creationId xmlns="" xmlns:a16="http://schemas.microsoft.com/office/drawing/2014/main" id="{CAEC491B-3E81-3748-B578-6A313F7B7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595" y="991742"/>
            <a:ext cx="385200" cy="38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6" descr="查看源图像">
            <a:extLst>
              <a:ext uri="{FF2B5EF4-FFF2-40B4-BE49-F238E27FC236}">
                <a16:creationId xmlns="" xmlns:a16="http://schemas.microsoft.com/office/drawing/2014/main" id="{B11C0C8B-974D-6344-84F0-B50A49939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718" y="991742"/>
            <a:ext cx="387476" cy="38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6" descr="查看源图像">
            <a:extLst>
              <a:ext uri="{FF2B5EF4-FFF2-40B4-BE49-F238E27FC236}">
                <a16:creationId xmlns="" xmlns:a16="http://schemas.microsoft.com/office/drawing/2014/main" id="{E3B2EBE1-3535-7F46-9BBB-A9BCED257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262" y="996882"/>
            <a:ext cx="387476" cy="38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" descr="查看源图像">
            <a:extLst>
              <a:ext uri="{FF2B5EF4-FFF2-40B4-BE49-F238E27FC236}">
                <a16:creationId xmlns="" xmlns:a16="http://schemas.microsoft.com/office/drawing/2014/main" id="{3CCA8C50-7C33-DC43-904B-16AEB4FA4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964" y="988849"/>
            <a:ext cx="387476" cy="38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6" descr="查看源图像">
            <a:extLst>
              <a:ext uri="{FF2B5EF4-FFF2-40B4-BE49-F238E27FC236}">
                <a16:creationId xmlns="" xmlns:a16="http://schemas.microsoft.com/office/drawing/2014/main" id="{30161B49-62FD-7A4B-B1F6-7785C3B1C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087" y="1000673"/>
            <a:ext cx="387476" cy="38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Left Brace 62">
            <a:extLst>
              <a:ext uri="{FF2B5EF4-FFF2-40B4-BE49-F238E27FC236}">
                <a16:creationId xmlns="" xmlns:a16="http://schemas.microsoft.com/office/drawing/2014/main" id="{74EC68A6-117D-2C4A-A07A-1E249EC32FFA}"/>
              </a:ext>
            </a:extLst>
          </p:cNvPr>
          <p:cNvSpPr/>
          <p:nvPr/>
        </p:nvSpPr>
        <p:spPr>
          <a:xfrm rot="16200000">
            <a:off x="4420111" y="538745"/>
            <a:ext cx="303779" cy="5469056"/>
          </a:xfrm>
          <a:prstGeom prst="leftBrace">
            <a:avLst>
              <a:gd name="adj1" fmla="val 56750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64" name="TextBox 63">
            <a:extLst>
              <a:ext uri="{FF2B5EF4-FFF2-40B4-BE49-F238E27FC236}">
                <a16:creationId xmlns="" xmlns:a16="http://schemas.microsoft.com/office/drawing/2014/main" id="{9B5B45BB-3C3A-6543-9DE0-5A4BEA990956}"/>
              </a:ext>
            </a:extLst>
          </p:cNvPr>
          <p:cNvSpPr txBox="1"/>
          <p:nvPr/>
        </p:nvSpPr>
        <p:spPr>
          <a:xfrm>
            <a:off x="579200" y="2482872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x-none" sz="2200" dirty="0">
                <a:latin typeface="Microsoft YaHei" charset="-122"/>
                <a:ea typeface="Microsoft YaHei" charset="-122"/>
                <a:cs typeface="Microsoft YaHei" charset="-122"/>
              </a:rPr>
              <a:t>问题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="" xmlns:a16="http://schemas.microsoft.com/office/drawing/2014/main" id="{BA0924BA-7468-8547-8E30-95CBFE47FCEE}"/>
              </a:ext>
            </a:extLst>
          </p:cNvPr>
          <p:cNvSpPr txBox="1"/>
          <p:nvPr/>
        </p:nvSpPr>
        <p:spPr>
          <a:xfrm>
            <a:off x="7878736" y="2482884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200" dirty="0">
                <a:latin typeface="Microsoft YaHei" charset="-122"/>
                <a:ea typeface="Microsoft YaHei" charset="-122"/>
                <a:cs typeface="Microsoft YaHei" charset="-122"/>
              </a:rPr>
              <a:t>答案</a:t>
            </a:r>
          </a:p>
        </p:txBody>
      </p:sp>
      <p:sp>
        <p:nvSpPr>
          <p:cNvPr id="66" name="文本框 49">
            <a:extLst>
              <a:ext uri="{FF2B5EF4-FFF2-40B4-BE49-F238E27FC236}">
                <a16:creationId xmlns="" xmlns:a16="http://schemas.microsoft.com/office/drawing/2014/main" id="{B793BEF9-0C01-CC45-A139-0906FD4CB9C6}"/>
              </a:ext>
            </a:extLst>
          </p:cNvPr>
          <p:cNvSpPr txBox="1"/>
          <p:nvPr/>
        </p:nvSpPr>
        <p:spPr>
          <a:xfrm>
            <a:off x="1830796" y="3614991"/>
            <a:ext cx="1377578" cy="894705"/>
          </a:xfrm>
          <a:prstGeom prst="rect">
            <a:avLst/>
          </a:prstGeom>
          <a:solidFill>
            <a:srgbClr val="6CC9EE">
              <a:alpha val="16000"/>
            </a:srgbClr>
          </a:solidFill>
          <a:ln w="6350" cap="flat" cmpd="sng" algn="ctr">
            <a:solidFill>
              <a:srgbClr val="00009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>
              <a:defRPr kumimoji="1"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x-none" b="0" kern="0" dirty="0">
                <a:solidFill>
                  <a:srgbClr val="014B88"/>
                </a:solidFill>
              </a:rPr>
              <a:t>数据</a:t>
            </a:r>
            <a:r>
              <a:rPr lang="zh-CN" altLang="en-US" b="0" kern="0" dirty="0">
                <a:solidFill>
                  <a:srgbClr val="014B88"/>
                </a:solidFill>
              </a:rPr>
              <a:t>的</a:t>
            </a:r>
            <a:endParaRPr lang="en-US" altLang="zh-CN" b="0" kern="0" dirty="0">
              <a:solidFill>
                <a:srgbClr val="014B88"/>
              </a:solidFill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多样性</a:t>
            </a:r>
          </a:p>
        </p:txBody>
      </p:sp>
      <p:sp>
        <p:nvSpPr>
          <p:cNvPr id="67" name="文本框 49">
            <a:extLst>
              <a:ext uri="{FF2B5EF4-FFF2-40B4-BE49-F238E27FC236}">
                <a16:creationId xmlns="" xmlns:a16="http://schemas.microsoft.com/office/drawing/2014/main" id="{7CFC82EE-7785-E048-986D-89B6A1212E52}"/>
              </a:ext>
            </a:extLst>
          </p:cNvPr>
          <p:cNvSpPr txBox="1"/>
          <p:nvPr/>
        </p:nvSpPr>
        <p:spPr>
          <a:xfrm>
            <a:off x="3420981" y="3614990"/>
            <a:ext cx="1377578" cy="894705"/>
          </a:xfrm>
          <a:prstGeom prst="rect">
            <a:avLst/>
          </a:prstGeom>
          <a:solidFill>
            <a:srgbClr val="6CC9EE">
              <a:alpha val="16000"/>
            </a:srgbClr>
          </a:solidFill>
          <a:ln w="6350" cap="flat" cmpd="sng" algn="ctr">
            <a:solidFill>
              <a:srgbClr val="00009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>
              <a:defRPr kumimoji="1"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x-none" b="0" kern="0" dirty="0">
                <a:solidFill>
                  <a:srgbClr val="014B88"/>
                </a:solidFill>
              </a:rPr>
              <a:t>数据</a:t>
            </a:r>
            <a:r>
              <a:rPr lang="zh-CN" altLang="en-US" b="0" kern="0" dirty="0">
                <a:solidFill>
                  <a:srgbClr val="014B88"/>
                </a:solidFill>
              </a:rPr>
              <a:t>的</a:t>
            </a:r>
            <a:endParaRPr lang="en-US" altLang="zh-CN" b="0" kern="0" dirty="0">
              <a:solidFill>
                <a:srgbClr val="014B88"/>
              </a:solidFill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海量性</a:t>
            </a:r>
          </a:p>
        </p:txBody>
      </p:sp>
      <p:sp>
        <p:nvSpPr>
          <p:cNvPr id="68" name="文本框 49">
            <a:extLst>
              <a:ext uri="{FF2B5EF4-FFF2-40B4-BE49-F238E27FC236}">
                <a16:creationId xmlns="" xmlns:a16="http://schemas.microsoft.com/office/drawing/2014/main" id="{2EA96626-46AA-EE46-8BED-87D62C593A9B}"/>
              </a:ext>
            </a:extLst>
          </p:cNvPr>
          <p:cNvSpPr txBox="1"/>
          <p:nvPr/>
        </p:nvSpPr>
        <p:spPr>
          <a:xfrm>
            <a:off x="5011166" y="3614990"/>
            <a:ext cx="1377578" cy="894705"/>
          </a:xfrm>
          <a:prstGeom prst="rect">
            <a:avLst/>
          </a:prstGeom>
          <a:solidFill>
            <a:srgbClr val="6CC9EE">
              <a:alpha val="16000"/>
            </a:srgbClr>
          </a:solidFill>
          <a:ln w="6350" cap="flat" cmpd="sng" algn="ctr">
            <a:solidFill>
              <a:srgbClr val="00009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>
              <a:defRPr kumimoji="1"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</a:rPr>
              <a:t>结果的</a:t>
            </a:r>
            <a:endParaRPr lang="en-US" altLang="zh-CN" b="0" kern="0" dirty="0">
              <a:solidFill>
                <a:srgbClr val="014B88"/>
              </a:solidFill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及时性</a:t>
            </a:r>
          </a:p>
        </p:txBody>
      </p:sp>
      <p:sp>
        <p:nvSpPr>
          <p:cNvPr id="69" name="文本框 49">
            <a:extLst>
              <a:ext uri="{FF2B5EF4-FFF2-40B4-BE49-F238E27FC236}">
                <a16:creationId xmlns="" xmlns:a16="http://schemas.microsoft.com/office/drawing/2014/main" id="{E69D8E4F-D7D4-8D40-98D2-4606B459B125}"/>
              </a:ext>
            </a:extLst>
          </p:cNvPr>
          <p:cNvSpPr txBox="1"/>
          <p:nvPr/>
        </p:nvSpPr>
        <p:spPr>
          <a:xfrm>
            <a:off x="6601351" y="3614990"/>
            <a:ext cx="1377578" cy="894705"/>
          </a:xfrm>
          <a:prstGeom prst="rect">
            <a:avLst/>
          </a:prstGeom>
          <a:solidFill>
            <a:srgbClr val="6CC9EE">
              <a:alpha val="16000"/>
            </a:srgbClr>
          </a:solidFill>
          <a:ln w="6350" cap="flat" cmpd="sng" algn="ctr">
            <a:solidFill>
              <a:srgbClr val="00009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>
              <a:defRPr kumimoji="1"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</a:rPr>
              <a:t>数据的</a:t>
            </a:r>
            <a:endParaRPr lang="en-US" altLang="zh-CN" b="0" kern="0" dirty="0">
              <a:solidFill>
                <a:srgbClr val="014B88"/>
              </a:solidFill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zh-CN" altLang="en-US" b="0" kern="0" dirty="0">
                <a:solidFill>
                  <a:srgbClr val="014B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隐私保护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="" xmlns:a16="http://schemas.microsoft.com/office/drawing/2014/main" id="{FFEBAC01-D8CE-1A44-BA27-4D0B97579E2E}"/>
              </a:ext>
            </a:extLst>
          </p:cNvPr>
          <p:cNvSpPr txBox="1"/>
          <p:nvPr/>
        </p:nvSpPr>
        <p:spPr>
          <a:xfrm>
            <a:off x="297071" y="3846898"/>
            <a:ext cx="13131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200" dirty="0">
                <a:latin typeface="Microsoft YaHei" charset="-122"/>
                <a:ea typeface="Microsoft YaHei" charset="-122"/>
                <a:cs typeface="Microsoft YaHei" charset="-122"/>
              </a:rPr>
              <a:t>技术挑战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="" xmlns:a16="http://schemas.microsoft.com/office/drawing/2014/main" id="{1AAFADD0-3541-9C47-8993-C3B647D53215}"/>
              </a:ext>
            </a:extLst>
          </p:cNvPr>
          <p:cNvSpPr txBox="1"/>
          <p:nvPr/>
        </p:nvSpPr>
        <p:spPr>
          <a:xfrm>
            <a:off x="8068778" y="3776765"/>
            <a:ext cx="5757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200" dirty="0"/>
              <a:t>……</a:t>
            </a:r>
            <a:endParaRPr lang="x-none" sz="2200" dirty="0"/>
          </a:p>
        </p:txBody>
      </p:sp>
    </p:spTree>
    <p:extLst>
      <p:ext uri="{BB962C8B-B14F-4D97-AF65-F5344CB8AC3E}">
        <p14:creationId xmlns:p14="http://schemas.microsoft.com/office/powerpoint/2010/main" val="4768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  <p:tag name="PAMAINTYPE" val="4"/>
  <p:tag name="PATYPE" val="140"/>
  <p:tag name="PASUBTYPE" val="141"/>
  <p:tag name="RESOURCELIBID_SHAPE" val="3571"/>
  <p:tag name="RESOURCELIB_SHAPETYPE" val="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  <p:tag name="PAMAINTYPE" val="4"/>
  <p:tag name="PATYPE" val="140"/>
  <p:tag name="PASUBTYPE" val="141"/>
  <p:tag name="RESOURCELIBID_SHAPE" val="3571"/>
  <p:tag name="RESOURCELIB_SHAPETYPE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  <p:tag name="PAMAINTYPE" val="4"/>
  <p:tag name="PATYPE" val="140"/>
  <p:tag name="PASUBTYPE" val="141"/>
  <p:tag name="RESOURCELIBID_SHAPE" val="3571"/>
  <p:tag name="RESOURCELIB_SHAPETYPE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0"/>
  <p:tag name="PAMAINTYPE" val="4"/>
  <p:tag name="PATYPE" val="140"/>
  <p:tag name="PASUBTYPE" val="141"/>
  <p:tag name="RESOURCELIBID_SHAPE" val="3571"/>
  <p:tag name="RESOURCELIB_SHAPETYPE" val="4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14057</TotalTime>
  <Words>2997</Words>
  <Application>Microsoft Macintosh PowerPoint</Application>
  <PresentationFormat>On-screen Show (16:9)</PresentationFormat>
  <Paragraphs>535</Paragraphs>
  <Slides>62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84" baseType="lpstr">
      <vt:lpstr>Arial</vt:lpstr>
      <vt:lpstr>Calibri</vt:lpstr>
      <vt:lpstr>Comic Sans MS</vt:lpstr>
      <vt:lpstr>Consolas</vt:lpstr>
      <vt:lpstr>FZHei-B01S</vt:lpstr>
      <vt:lpstr>Helvetica Neue</vt:lpstr>
      <vt:lpstr>Mangal</vt:lpstr>
      <vt:lpstr>Microsoft YaHei</vt:lpstr>
      <vt:lpstr>Roboto Black</vt:lpstr>
      <vt:lpstr>Roboto Medium</vt:lpstr>
      <vt:lpstr>Source Han Sans HC</vt:lpstr>
      <vt:lpstr>STZhongsong</vt:lpstr>
      <vt:lpstr>Times-Roman</vt:lpstr>
      <vt:lpstr>Wingdings</vt:lpstr>
      <vt:lpstr>宋体</vt:lpstr>
      <vt:lpstr>微软雅黑</vt:lpstr>
      <vt:lpstr>方正兰亭细黑_GBK</vt:lpstr>
      <vt:lpstr>方正超粗黑简体</vt:lpstr>
      <vt:lpstr>等线</vt:lpstr>
      <vt:lpstr>隶书</vt:lpstr>
      <vt:lpstr>清风素材 https://12sc.taobao.com/</vt:lpstr>
      <vt:lpstr>1_清风素材 https://12sc.taobao.com/</vt:lpstr>
      <vt:lpstr>PowerPoint Presentation</vt:lpstr>
      <vt:lpstr>探索数据分析：迭代工作流</vt:lpstr>
      <vt:lpstr>提出问题：新冠肺炎求助患者数据画像</vt:lpstr>
      <vt:lpstr>提出问题：肺炎患者求助超话的整体分析</vt:lpstr>
      <vt:lpstr>提出问题：新冠肺炎求助患者数据画像</vt:lpstr>
      <vt:lpstr>PowerPoint Presentation</vt:lpstr>
      <vt:lpstr>从CSV文件读取数据</vt:lpstr>
      <vt:lpstr>从JSON文件读取数据</vt:lpstr>
      <vt:lpstr>从网页获取数据：“爬虫”</vt:lpstr>
      <vt:lpstr>基于爬虫的数据分析与决策</vt:lpstr>
      <vt:lpstr>基于爬虫的数据分析与决策</vt:lpstr>
      <vt:lpstr>爬虫</vt:lpstr>
      <vt:lpstr>从开放API获取数据</vt:lpstr>
      <vt:lpstr>从关系数据库获取数据</vt:lpstr>
      <vt:lpstr>PowerPoint Presentation</vt:lpstr>
      <vt:lpstr>从文本数据中抽取结构化信息</vt:lpstr>
      <vt:lpstr>从文本中抽取信息</vt:lpstr>
      <vt:lpstr>什么是正则表达式</vt:lpstr>
      <vt:lpstr>为什么要用正则表达式</vt:lpstr>
      <vt:lpstr>为什么要用正则表达式</vt:lpstr>
      <vt:lpstr>思考题</vt:lpstr>
      <vt:lpstr>正则表达式写法</vt:lpstr>
      <vt:lpstr>正则表达式写法</vt:lpstr>
      <vt:lpstr>正则表达式写法</vt:lpstr>
      <vt:lpstr>正则表达式写法</vt:lpstr>
      <vt:lpstr>正则表达式在python里的用法</vt:lpstr>
      <vt:lpstr>正则表达式在python里的用法</vt:lpstr>
      <vt:lpstr>课堂练习</vt:lpstr>
      <vt:lpstr>从文本属性中抽取结构化信息</vt:lpstr>
      <vt:lpstr>练习</vt:lpstr>
      <vt:lpstr>PowerPoint Presentation</vt:lpstr>
      <vt:lpstr>数据清洗有哪些挑战</vt:lpstr>
      <vt:lpstr>数据清洗有哪些挑战</vt:lpstr>
      <vt:lpstr>数据清洗有哪些挑战</vt:lpstr>
      <vt:lpstr>数据清洗的基本任务</vt:lpstr>
      <vt:lpstr>如何做数据清洗</vt:lpstr>
      <vt:lpstr>使用pandas描述数据</vt:lpstr>
      <vt:lpstr>数据值的类型</vt:lpstr>
      <vt:lpstr>数据缺失</vt:lpstr>
      <vt:lpstr>缺失值处理</vt:lpstr>
      <vt:lpstr>使用pandas处理缺失值</vt:lpstr>
      <vt:lpstr>使用pandas处理缺失值</vt:lpstr>
      <vt:lpstr>数值间的转换</vt:lpstr>
      <vt:lpstr>使用pandas处理数值转换</vt:lpstr>
      <vt:lpstr>数据离散化处理</vt:lpstr>
      <vt:lpstr>使用pandas进行数据离散化</vt:lpstr>
      <vt:lpstr>数据离散化处理</vt:lpstr>
      <vt:lpstr>发现异常值（outlier）</vt:lpstr>
      <vt:lpstr>发现异常值（outlier）</vt:lpstr>
      <vt:lpstr>发现异常值（outlier）</vt:lpstr>
      <vt:lpstr>数据归一化(normalization)处理</vt:lpstr>
      <vt:lpstr>PowerPoint Presentation</vt:lpstr>
      <vt:lpstr>PowerPoint Presentation</vt:lpstr>
      <vt:lpstr>数据准备</vt:lpstr>
      <vt:lpstr>数据清洗</vt:lpstr>
      <vt:lpstr>数据扩充（Data Enrichment）</vt:lpstr>
      <vt:lpstr>数据扩充（Data Enrichment）</vt:lpstr>
      <vt:lpstr>数据分析</vt:lpstr>
      <vt:lpstr>数据分析</vt:lpstr>
      <vt:lpstr>数据分析</vt:lpstr>
      <vt:lpstr>数据分析结论</vt:lpstr>
      <vt:lpstr>总结：数据探索分析与可视化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范 举</cp:lastModifiedBy>
  <cp:revision>388</cp:revision>
  <cp:lastPrinted>2021-03-01T06:17:34Z</cp:lastPrinted>
  <dcterms:created xsi:type="dcterms:W3CDTF">2015-01-23T04:02:45Z</dcterms:created>
  <dcterms:modified xsi:type="dcterms:W3CDTF">2024-10-16T02:28:34Z</dcterms:modified>
  <cp:category/>
  <cp:contentStatus>12sc.taobao.com</cp:contentStatus>
</cp:coreProperties>
</file>