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301" r:id="rId2"/>
    <p:sldId id="1213" r:id="rId3"/>
    <p:sldId id="504" r:id="rId4"/>
    <p:sldId id="1142" r:id="rId5"/>
    <p:sldId id="295" r:id="rId6"/>
    <p:sldId id="1074" r:id="rId7"/>
    <p:sldId id="1075" r:id="rId8"/>
    <p:sldId id="1076" r:id="rId9"/>
    <p:sldId id="1077" r:id="rId10"/>
    <p:sldId id="1078" r:id="rId11"/>
    <p:sldId id="1079" r:id="rId12"/>
    <p:sldId id="1080" r:id="rId13"/>
    <p:sldId id="1082" r:id="rId14"/>
    <p:sldId id="1083" r:id="rId15"/>
    <p:sldId id="1086" r:id="rId16"/>
    <p:sldId id="1214" r:id="rId17"/>
    <p:sldId id="1217" r:id="rId18"/>
    <p:sldId id="1218" r:id="rId19"/>
    <p:sldId id="1219" r:id="rId20"/>
    <p:sldId id="1215" r:id="rId21"/>
    <p:sldId id="1085" r:id="rId22"/>
    <p:sldId id="1088" r:id="rId23"/>
    <p:sldId id="1089" r:id="rId24"/>
    <p:sldId id="1092" r:id="rId25"/>
    <p:sldId id="1093" r:id="rId26"/>
    <p:sldId id="1094" r:id="rId27"/>
    <p:sldId id="1096" r:id="rId28"/>
    <p:sldId id="1095" r:id="rId29"/>
    <p:sldId id="1097" r:id="rId30"/>
    <p:sldId id="1098" r:id="rId31"/>
    <p:sldId id="1099" r:id="rId32"/>
    <p:sldId id="457" r:id="rId33"/>
    <p:sldId id="1133" r:id="rId34"/>
    <p:sldId id="1102" r:id="rId35"/>
    <p:sldId id="1135" r:id="rId36"/>
    <p:sldId id="1136" r:id="rId37"/>
    <p:sldId id="1101" r:id="rId38"/>
    <p:sldId id="1105" r:id="rId39"/>
    <p:sldId id="1106" r:id="rId40"/>
    <p:sldId id="1104" r:id="rId41"/>
    <p:sldId id="1107" r:id="rId42"/>
    <p:sldId id="1108" r:id="rId43"/>
    <p:sldId id="1117" r:id="rId44"/>
    <p:sldId id="1118" r:id="rId45"/>
    <p:sldId id="533" r:id="rId46"/>
    <p:sldId id="532" r:id="rId47"/>
    <p:sldId id="502" r:id="rId48"/>
    <p:sldId id="1138" r:id="rId49"/>
    <p:sldId id="1139" r:id="rId50"/>
    <p:sldId id="1140" r:id="rId51"/>
    <p:sldId id="1141" r:id="rId52"/>
    <p:sldId id="505" r:id="rId53"/>
    <p:sldId id="506" r:id="rId54"/>
    <p:sldId id="508" r:id="rId55"/>
    <p:sldId id="509" r:id="rId56"/>
    <p:sldId id="510" r:id="rId57"/>
    <p:sldId id="511" r:id="rId58"/>
    <p:sldId id="513" r:id="rId59"/>
    <p:sldId id="536" r:id="rId60"/>
    <p:sldId id="514" r:id="rId61"/>
    <p:sldId id="1216" r:id="rId62"/>
    <p:sldId id="1220" r:id="rId63"/>
    <p:sldId id="1073" r:id="rId64"/>
  </p:sldIdLst>
  <p:sldSz cx="9144000" cy="5143500" type="screen16x9"/>
  <p:notesSz cx="6858000" cy="9144000"/>
  <p:custDataLst>
    <p:tags r:id="rId6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7" userDrawn="1">
          <p15:clr>
            <a:srgbClr val="A4A3A4"/>
          </p15:clr>
        </p15:guide>
        <p15:guide id="2" pos="278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gelis hristidis" initials="vh"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5FF"/>
    <a:srgbClr val="1A3F6C"/>
    <a:srgbClr val="0E22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38" autoAdjust="0"/>
    <p:restoredTop sz="88302" autoAdjust="0"/>
  </p:normalViewPr>
  <p:slideViewPr>
    <p:cSldViewPr snapToGrid="0">
      <p:cViewPr varScale="1">
        <p:scale>
          <a:sx n="241" d="100"/>
          <a:sy n="241" d="100"/>
        </p:scale>
        <p:origin x="1200" y="184"/>
      </p:cViewPr>
      <p:guideLst>
        <p:guide orient="horz" pos="1597"/>
        <p:guide pos="278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2025/12/4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136583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DEAE63-D6C4-437F-B8DA-DA689F991AA7}" type="slidenum">
              <a:rPr lang="zh-CN" altLang="en-US" smtClean="0"/>
              <a:pPr/>
              <a:t>1</a:t>
            </a:fld>
            <a:endParaRPr lang="en-US" altLang="zh-CN"/>
          </a:p>
        </p:txBody>
      </p:sp>
    </p:spTree>
    <p:extLst>
      <p:ext uri="{BB962C8B-B14F-4D97-AF65-F5344CB8AC3E}">
        <p14:creationId xmlns:p14="http://schemas.microsoft.com/office/powerpoint/2010/main" val="1062202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F05A1-D5A7-222D-A561-993380DE76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CC629-7B2D-9A55-135E-9684E97313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85ABCF-EDA3-A895-FC15-2835A3AB12AA}"/>
              </a:ext>
            </a:extLst>
          </p:cNvPr>
          <p:cNvSpPr>
            <a:spLocks noGrp="1"/>
          </p:cNvSpPr>
          <p:nvPr>
            <p:ph type="body" idx="1"/>
          </p:nvPr>
        </p:nvSpPr>
        <p:spPr/>
        <p:txBody>
          <a:bodyPr>
            <a:normAutofit/>
          </a:bodyPr>
          <a:lstStyle/>
          <a:p>
            <a:r>
              <a:rPr lang="zh-CN" altLang="en-US" dirty="0"/>
              <a:t>图表示</a:t>
            </a:r>
          </a:p>
        </p:txBody>
      </p:sp>
      <p:sp>
        <p:nvSpPr>
          <p:cNvPr id="4" name="Slide Number Placeholder 3">
            <a:extLst>
              <a:ext uri="{FF2B5EF4-FFF2-40B4-BE49-F238E27FC236}">
                <a16:creationId xmlns:a16="http://schemas.microsoft.com/office/drawing/2014/main" id="{40FDAACE-4C54-E0E4-5A62-097DDE15DB33}"/>
              </a:ext>
            </a:extLst>
          </p:cNvPr>
          <p:cNvSpPr>
            <a:spLocks noGrp="1"/>
          </p:cNvSpPr>
          <p:nvPr>
            <p:ph type="sldNum" sz="quarter" idx="10"/>
          </p:nvPr>
        </p:nvSpPr>
        <p:spPr/>
        <p:txBody>
          <a:bodyPr/>
          <a:lstStyle/>
          <a:p>
            <a:fld id="{C95BDE52-289A-4BA3-AEEF-F064FE644575}" type="slidenum">
              <a:rPr lang="en-US" smtClean="0"/>
              <a:pPr/>
              <a:t>2</a:t>
            </a:fld>
            <a:endParaRPr lang="en-US"/>
          </a:p>
        </p:txBody>
      </p:sp>
    </p:spTree>
    <p:extLst>
      <p:ext uri="{BB962C8B-B14F-4D97-AF65-F5344CB8AC3E}">
        <p14:creationId xmlns:p14="http://schemas.microsoft.com/office/powerpoint/2010/main" val="1135572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dirty="0"/>
              <a:t>图表示</a:t>
            </a:r>
          </a:p>
        </p:txBody>
      </p:sp>
      <p:sp>
        <p:nvSpPr>
          <p:cNvPr id="4" name="Slide Number Placeholder 3"/>
          <p:cNvSpPr>
            <a:spLocks noGrp="1"/>
          </p:cNvSpPr>
          <p:nvPr>
            <p:ph type="sldNum" sz="quarter" idx="10"/>
          </p:nvPr>
        </p:nvSpPr>
        <p:spPr/>
        <p:txBody>
          <a:bodyPr/>
          <a:lstStyle/>
          <a:p>
            <a:fld id="{C95BDE52-289A-4BA3-AEEF-F064FE644575}" type="slidenum">
              <a:rPr lang="en-US" smtClean="0"/>
              <a:pPr/>
              <a:t>3</a:t>
            </a:fld>
            <a:endParaRPr lang="en-US"/>
          </a:p>
        </p:txBody>
      </p:sp>
    </p:spTree>
    <p:extLst>
      <p:ext uri="{BB962C8B-B14F-4D97-AF65-F5344CB8AC3E}">
        <p14:creationId xmlns:p14="http://schemas.microsoft.com/office/powerpoint/2010/main" val="3362280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a:t>
            </a:fld>
            <a:endParaRPr lang="zh-CN" altLang="en-US"/>
          </a:p>
        </p:txBody>
      </p:sp>
    </p:spTree>
    <p:extLst>
      <p:ext uri="{BB962C8B-B14F-4D97-AF65-F5344CB8AC3E}">
        <p14:creationId xmlns:p14="http://schemas.microsoft.com/office/powerpoint/2010/main" val="1348145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5</a:t>
            </a:fld>
            <a:endParaRPr lang="zh-CN" altLang="en-US" dirty="0"/>
          </a:p>
        </p:txBody>
      </p:sp>
    </p:spTree>
    <p:extLst>
      <p:ext uri="{BB962C8B-B14F-4D97-AF65-F5344CB8AC3E}">
        <p14:creationId xmlns:p14="http://schemas.microsoft.com/office/powerpoint/2010/main" val="2928526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A8537CBA-0E44-4282-A4F0-C3BCC1A4C2D1}" type="slidenum">
              <a:rPr lang="zh-CN" altLang="en-US" smtClean="0"/>
              <a:t>17</a:t>
            </a:fld>
            <a:endParaRPr lang="zh-CN" altLang="en-US"/>
          </a:p>
        </p:txBody>
      </p:sp>
    </p:spTree>
    <p:extLst>
      <p:ext uri="{BB962C8B-B14F-4D97-AF65-F5344CB8AC3E}">
        <p14:creationId xmlns:p14="http://schemas.microsoft.com/office/powerpoint/2010/main" val="21541322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9AC0D-0421-82E7-6959-C1AEC2DF6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AEDD0-F976-039B-C44F-058908079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802FF-9E48-9F66-7113-0293EE870888}"/>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0A476853-9F20-9EA8-A5F5-E8A2AC04F791}"/>
              </a:ext>
            </a:extLst>
          </p:cNvPr>
          <p:cNvSpPr>
            <a:spLocks noGrp="1"/>
          </p:cNvSpPr>
          <p:nvPr>
            <p:ph type="sldNum" sz="quarter" idx="5"/>
          </p:nvPr>
        </p:nvSpPr>
        <p:spPr/>
        <p:txBody>
          <a:bodyPr/>
          <a:lstStyle/>
          <a:p>
            <a:fld id="{A8537CBA-0E44-4282-A4F0-C3BCC1A4C2D1}" type="slidenum">
              <a:rPr lang="zh-CN" altLang="en-US" smtClean="0"/>
              <a:t>18</a:t>
            </a:fld>
            <a:endParaRPr lang="zh-CN" altLang="en-US"/>
          </a:p>
        </p:txBody>
      </p:sp>
    </p:spTree>
    <p:extLst>
      <p:ext uri="{BB962C8B-B14F-4D97-AF65-F5344CB8AC3E}">
        <p14:creationId xmlns:p14="http://schemas.microsoft.com/office/powerpoint/2010/main" val="979664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D0824-93D4-1351-C9AD-430B62CDEE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3CBCDE-5AFF-4D73-084D-5A4DAE792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0B329C-C619-4BEA-A6F6-2E31FA02B1FB}"/>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311D685C-8F95-3C33-6965-A8F3D693FC3F}"/>
              </a:ext>
            </a:extLst>
          </p:cNvPr>
          <p:cNvSpPr>
            <a:spLocks noGrp="1"/>
          </p:cNvSpPr>
          <p:nvPr>
            <p:ph type="sldNum" sz="quarter" idx="5"/>
          </p:nvPr>
        </p:nvSpPr>
        <p:spPr/>
        <p:txBody>
          <a:bodyPr/>
          <a:lstStyle/>
          <a:p>
            <a:fld id="{A8537CBA-0E44-4282-A4F0-C3BCC1A4C2D1}" type="slidenum">
              <a:rPr lang="zh-CN" altLang="en-US" smtClean="0"/>
              <a:t>19</a:t>
            </a:fld>
            <a:endParaRPr lang="zh-CN" altLang="en-US"/>
          </a:p>
        </p:txBody>
      </p:sp>
    </p:spTree>
    <p:extLst>
      <p:ext uri="{BB962C8B-B14F-4D97-AF65-F5344CB8AC3E}">
        <p14:creationId xmlns:p14="http://schemas.microsoft.com/office/powerpoint/2010/main" val="1496436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F03AD-EEDD-5A0E-83F7-B901685372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7EE5AA-EB60-F8E1-E1C0-A5FE897CC9A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AF67269-EE43-81E2-6B16-4D082FB3927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7859286-6F57-7B69-11EB-20C46F52C9A1}"/>
              </a:ext>
            </a:extLst>
          </p:cNvPr>
          <p:cNvSpPr>
            <a:spLocks noGrp="1"/>
          </p:cNvSpPr>
          <p:nvPr>
            <p:ph type="sldNum" sz="quarter" idx="10"/>
          </p:nvPr>
        </p:nvSpPr>
        <p:spPr/>
        <p:txBody>
          <a:bodyPr/>
          <a:lstStyle/>
          <a:p>
            <a:fld id="{A11FC198-2D83-4DFC-8CDD-7D23AF44D411}" type="slidenum">
              <a:rPr lang="zh-CN" altLang="en-US" smtClean="0"/>
              <a:pPr/>
              <a:t>20</a:t>
            </a:fld>
            <a:endParaRPr lang="zh-CN" altLang="en-US" dirty="0"/>
          </a:p>
        </p:txBody>
      </p:sp>
    </p:spTree>
    <p:extLst>
      <p:ext uri="{BB962C8B-B14F-4D97-AF65-F5344CB8AC3E}">
        <p14:creationId xmlns:p14="http://schemas.microsoft.com/office/powerpoint/2010/main" val="3232976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板书一个 </a:t>
            </a:r>
            <a:r>
              <a:rPr lang="en-US" altLang="zh-CN" sz="1200" b="0" i="0" u="none" strike="noStrike" kern="1200" dirty="0">
                <a:solidFill>
                  <a:schemeClr val="tx1"/>
                </a:solidFill>
                <a:effectLst/>
                <a:latin typeface="+mn-lt"/>
                <a:ea typeface="+mn-ea"/>
                <a:cs typeface="+mn-cs"/>
              </a:rPr>
              <a:t>5×4 </a:t>
            </a:r>
            <a:r>
              <a:rPr lang="zh-CN" altLang="en-US" sz="1200" b="0" i="0" u="none" strike="noStrike" kern="1200" dirty="0">
                <a:solidFill>
                  <a:schemeClr val="tx1"/>
                </a:solidFill>
                <a:effectLst/>
                <a:latin typeface="+mn-lt"/>
                <a:ea typeface="+mn-ea"/>
                <a:cs typeface="+mn-cs"/>
              </a:rPr>
              <a:t>的 </a:t>
            </a:r>
            <a:r>
              <a:rPr lang="en-US" sz="1200" b="0" i="0" u="none" strike="noStrike" kern="1200" dirty="0">
                <a:solidFill>
                  <a:schemeClr val="tx1"/>
                </a:solidFill>
                <a:effectLst/>
                <a:latin typeface="+mn-lt"/>
                <a:ea typeface="+mn-ea"/>
                <a:cs typeface="+mn-cs"/>
              </a:rPr>
              <a:t>toy </a:t>
            </a:r>
            <a:r>
              <a:rPr lang="zh-CN" altLang="en-US" sz="1200" b="0" i="0" u="none" strike="noStrike" kern="1200" dirty="0">
                <a:solidFill>
                  <a:schemeClr val="tx1"/>
                </a:solidFill>
                <a:effectLst/>
                <a:latin typeface="+mn-lt"/>
                <a:ea typeface="+mn-ea"/>
                <a:cs typeface="+mn-cs"/>
              </a:rPr>
              <a:t>矩阵，比如你刚才的 </a:t>
            </a:r>
            <a:r>
              <a:rPr lang="en-US" sz="1200" b="0" i="0" u="none" strike="noStrike" kern="1200" dirty="0">
                <a:solidFill>
                  <a:schemeClr val="tx1"/>
                </a:solidFill>
                <a:effectLst/>
                <a:latin typeface="+mn-lt"/>
                <a:ea typeface="+mn-ea"/>
                <a:cs typeface="+mn-cs"/>
              </a:rPr>
              <a:t>Romeo / Juliet </a:t>
            </a:r>
            <a:r>
              <a:rPr lang="zh-CN" altLang="en-US" sz="1200" b="0" i="0" u="none" strike="noStrike" kern="1200" dirty="0">
                <a:solidFill>
                  <a:schemeClr val="tx1"/>
                </a:solidFill>
                <a:effectLst/>
                <a:latin typeface="+mn-lt"/>
                <a:ea typeface="+mn-ea"/>
                <a:cs typeface="+mn-cs"/>
              </a:rPr>
              <a:t>那个例子，先复用一下学生已经熟悉的 </a:t>
            </a:r>
            <a:r>
              <a:rPr lang="en-US" sz="1200" b="0" i="0" u="none" strike="noStrike" kern="1200" dirty="0">
                <a:solidFill>
                  <a:schemeClr val="tx1"/>
                </a:solidFill>
                <a:effectLst/>
                <a:latin typeface="+mn-lt"/>
                <a:ea typeface="+mn-ea"/>
                <a:cs typeface="+mn-cs"/>
              </a:rPr>
              <a:t>TF-IDF </a:t>
            </a:r>
            <a:r>
              <a:rPr lang="zh-CN" altLang="en-US" sz="1200" b="0" i="0" u="none" strike="noStrike" kern="1200" dirty="0">
                <a:solidFill>
                  <a:schemeClr val="tx1"/>
                </a:solidFill>
                <a:effectLst/>
                <a:latin typeface="+mn-lt"/>
                <a:ea typeface="+mn-ea"/>
                <a:cs typeface="+mn-cs"/>
              </a:rPr>
              <a:t>案例。</a:t>
            </a:r>
            <a:endParaRPr lang="en-CN" dirty="0"/>
          </a:p>
        </p:txBody>
      </p:sp>
      <p:sp>
        <p:nvSpPr>
          <p:cNvPr id="4" name="Slide Number Placeholder 3"/>
          <p:cNvSpPr>
            <a:spLocks noGrp="1"/>
          </p:cNvSpPr>
          <p:nvPr>
            <p:ph type="sldNum" sz="quarter" idx="5"/>
          </p:nvPr>
        </p:nvSpPr>
        <p:spPr/>
        <p:txBody>
          <a:bodyPr/>
          <a:lstStyle/>
          <a:p>
            <a:fld id="{A8537CBA-0E44-4282-A4F0-C3BCC1A4C2D1}" type="slidenum">
              <a:rPr lang="zh-CN" altLang="en-US" smtClean="0"/>
              <a:t>34</a:t>
            </a:fld>
            <a:endParaRPr lang="zh-CN" altLang="en-US"/>
          </a:p>
        </p:txBody>
      </p:sp>
    </p:spTree>
    <p:extLst>
      <p:ext uri="{BB962C8B-B14F-4D97-AF65-F5344CB8AC3E}">
        <p14:creationId xmlns:p14="http://schemas.microsoft.com/office/powerpoint/2010/main" val="2418551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35</a:t>
            </a:fld>
            <a:endParaRPr lang="zh-CN" altLang="en-US"/>
          </a:p>
        </p:txBody>
      </p:sp>
    </p:spTree>
    <p:extLst>
      <p:ext uri="{BB962C8B-B14F-4D97-AF65-F5344CB8AC3E}">
        <p14:creationId xmlns:p14="http://schemas.microsoft.com/office/powerpoint/2010/main" val="640026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39</a:t>
            </a:fld>
            <a:endParaRPr lang="zh-CN" altLang="en-US"/>
          </a:p>
        </p:txBody>
      </p:sp>
    </p:spTree>
    <p:extLst>
      <p:ext uri="{BB962C8B-B14F-4D97-AF65-F5344CB8AC3E}">
        <p14:creationId xmlns:p14="http://schemas.microsoft.com/office/powerpoint/2010/main" val="10667049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42</a:t>
            </a:fld>
            <a:endParaRPr lang="zh-CN" altLang="en-US"/>
          </a:p>
        </p:txBody>
      </p:sp>
    </p:spTree>
    <p:extLst>
      <p:ext uri="{BB962C8B-B14F-4D97-AF65-F5344CB8AC3E}">
        <p14:creationId xmlns:p14="http://schemas.microsoft.com/office/powerpoint/2010/main" val="5406208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31EBBF-AD57-430A-8BD0-43CA7D3D9EBB}" type="slidenum">
              <a:rPr lang="en-US" altLang="zh-CN"/>
              <a:pPr/>
              <a:t>52</a:t>
            </a:fld>
            <a:endParaRPr lang="en-US" altLang="zh-CN"/>
          </a:p>
        </p:txBody>
      </p:sp>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p:txBody>
          <a:bodyPr lIns="91861" tIns="45931" rIns="91861" bIns="45931"/>
          <a:lstStyle/>
          <a:p>
            <a:endParaRPr lang="zh-CN" altLang="zh-CN"/>
          </a:p>
        </p:txBody>
      </p:sp>
    </p:spTree>
    <p:extLst>
      <p:ext uri="{BB962C8B-B14F-4D97-AF65-F5344CB8AC3E}">
        <p14:creationId xmlns:p14="http://schemas.microsoft.com/office/powerpoint/2010/main" val="18346646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15C644-21FF-415E-9C73-E978911A74E6}" type="slidenum">
              <a:rPr lang="en-US" altLang="zh-CN"/>
              <a:pPr/>
              <a:t>53</a:t>
            </a:fld>
            <a:endParaRPr lang="en-US" altLang="zh-CN"/>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p:txBody>
          <a:bodyPr lIns="91861" tIns="45931" rIns="91861" bIns="45931"/>
          <a:lstStyle/>
          <a:p>
            <a:endParaRPr lang="zh-CN" altLang="zh-CN"/>
          </a:p>
        </p:txBody>
      </p:sp>
    </p:spTree>
    <p:extLst>
      <p:ext uri="{BB962C8B-B14F-4D97-AF65-F5344CB8AC3E}">
        <p14:creationId xmlns:p14="http://schemas.microsoft.com/office/powerpoint/2010/main" val="19755883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1A78BE-C5B5-4A6A-9864-2E23FFD53CB0}" type="slidenum">
              <a:rPr lang="en-US" altLang="zh-CN"/>
              <a:pPr/>
              <a:t>54</a:t>
            </a:fld>
            <a:endParaRPr lang="en-US" altLang="zh-CN"/>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p:txBody>
          <a:bodyPr lIns="91861" tIns="45931" rIns="91861" bIns="45931"/>
          <a:lstStyle/>
          <a:p>
            <a:endParaRPr lang="zh-CN" altLang="zh-CN"/>
          </a:p>
        </p:txBody>
      </p:sp>
    </p:spTree>
    <p:extLst>
      <p:ext uri="{BB962C8B-B14F-4D97-AF65-F5344CB8AC3E}">
        <p14:creationId xmlns:p14="http://schemas.microsoft.com/office/powerpoint/2010/main" val="4566762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1A6954-93E8-4815-8261-B299BB726F51}" type="slidenum">
              <a:rPr lang="en-US" altLang="zh-CN"/>
              <a:pPr/>
              <a:t>55</a:t>
            </a:fld>
            <a:endParaRPr lang="en-US" altLang="zh-CN"/>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p:txBody>
          <a:bodyPr lIns="91861" tIns="45931" rIns="91861" bIns="45931"/>
          <a:lstStyle/>
          <a:p>
            <a:endParaRPr lang="zh-CN" altLang="zh-CN"/>
          </a:p>
        </p:txBody>
      </p:sp>
    </p:spTree>
    <p:extLst>
      <p:ext uri="{BB962C8B-B14F-4D97-AF65-F5344CB8AC3E}">
        <p14:creationId xmlns:p14="http://schemas.microsoft.com/office/powerpoint/2010/main" val="22609707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F39158-F5AF-48B4-9F61-BBE0DC3E5D20}" type="slidenum">
              <a:rPr lang="en-US" altLang="zh-CN"/>
              <a:pPr/>
              <a:t>56</a:t>
            </a:fld>
            <a:endParaRPr lang="en-US" altLang="zh-CN"/>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p:txBody>
          <a:bodyPr lIns="91861" tIns="45931" rIns="91861" bIns="45931"/>
          <a:lstStyle/>
          <a:p>
            <a:endParaRPr lang="zh-CN" altLang="zh-CN"/>
          </a:p>
        </p:txBody>
      </p:sp>
    </p:spTree>
    <p:extLst>
      <p:ext uri="{BB962C8B-B14F-4D97-AF65-F5344CB8AC3E}">
        <p14:creationId xmlns:p14="http://schemas.microsoft.com/office/powerpoint/2010/main" val="751133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7EF589-C953-404A-8FDD-F1DF3D9C76B7}" type="slidenum">
              <a:rPr lang="en-US" altLang="zh-CN"/>
              <a:pPr/>
              <a:t>57</a:t>
            </a:fld>
            <a:endParaRPr lang="en-US" altLang="zh-CN"/>
          </a:p>
        </p:txBody>
      </p:sp>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p:txBody>
          <a:bodyPr lIns="91861" tIns="45931" rIns="91861" bIns="45931"/>
          <a:lstStyle/>
          <a:p>
            <a:endParaRPr lang="zh-CN" altLang="zh-CN"/>
          </a:p>
        </p:txBody>
      </p:sp>
    </p:spTree>
    <p:extLst>
      <p:ext uri="{BB962C8B-B14F-4D97-AF65-F5344CB8AC3E}">
        <p14:creationId xmlns:p14="http://schemas.microsoft.com/office/powerpoint/2010/main" val="31453821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58</a:t>
            </a:fld>
            <a:endParaRPr lang="zh-CN" altLang="en-US"/>
          </a:p>
        </p:txBody>
      </p:sp>
    </p:spTree>
    <p:extLst>
      <p:ext uri="{BB962C8B-B14F-4D97-AF65-F5344CB8AC3E}">
        <p14:creationId xmlns:p14="http://schemas.microsoft.com/office/powerpoint/2010/main" val="20659007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EC58C-CE64-4266-135E-BD6E936AD7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BEA96FB-819D-7188-E58E-1C7FA40E47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7871C1A-DEB4-8DA0-5CA0-37FC92AFEC4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F8EE407-2049-6281-4CDB-CDBCB209156D}"/>
              </a:ext>
            </a:extLst>
          </p:cNvPr>
          <p:cNvSpPr>
            <a:spLocks noGrp="1"/>
          </p:cNvSpPr>
          <p:nvPr>
            <p:ph type="sldNum" sz="quarter" idx="10"/>
          </p:nvPr>
        </p:nvSpPr>
        <p:spPr/>
        <p:txBody>
          <a:bodyPr/>
          <a:lstStyle/>
          <a:p>
            <a:fld id="{A11FC198-2D83-4DFC-8CDD-7D23AF44D411}" type="slidenum">
              <a:rPr lang="zh-CN" altLang="en-US" smtClean="0"/>
              <a:pPr/>
              <a:t>61</a:t>
            </a:fld>
            <a:endParaRPr lang="zh-CN" altLang="en-US" dirty="0"/>
          </a:p>
        </p:txBody>
      </p:sp>
    </p:spTree>
    <p:extLst>
      <p:ext uri="{BB962C8B-B14F-4D97-AF65-F5344CB8AC3E}">
        <p14:creationId xmlns:p14="http://schemas.microsoft.com/office/powerpoint/2010/main" val="13601936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32CC4-D50E-9D55-75BF-6606B844FA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ED4EB5-DF6F-230F-AABC-F352BA7437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01E243-24CE-471E-B065-7BCF0B3915FE}"/>
              </a:ext>
            </a:extLst>
          </p:cNvPr>
          <p:cNvSpPr>
            <a:spLocks noGrp="1"/>
          </p:cNvSpPr>
          <p:nvPr>
            <p:ph type="body" idx="1"/>
          </p:nvPr>
        </p:nvSpPr>
        <p:spPr/>
        <p:txBody>
          <a:bodyPr>
            <a:normAutofit/>
          </a:bodyPr>
          <a:lstStyle/>
          <a:p>
            <a:r>
              <a:rPr lang="zh-CN" altLang="en-US" dirty="0"/>
              <a:t>图表示</a:t>
            </a:r>
          </a:p>
        </p:txBody>
      </p:sp>
      <p:sp>
        <p:nvSpPr>
          <p:cNvPr id="4" name="Slide Number Placeholder 3">
            <a:extLst>
              <a:ext uri="{FF2B5EF4-FFF2-40B4-BE49-F238E27FC236}">
                <a16:creationId xmlns:a16="http://schemas.microsoft.com/office/drawing/2014/main" id="{D13BDB8F-3507-774F-F304-56692DE71C30}"/>
              </a:ext>
            </a:extLst>
          </p:cNvPr>
          <p:cNvSpPr>
            <a:spLocks noGrp="1"/>
          </p:cNvSpPr>
          <p:nvPr>
            <p:ph type="sldNum" sz="quarter" idx="10"/>
          </p:nvPr>
        </p:nvSpPr>
        <p:spPr/>
        <p:txBody>
          <a:bodyPr/>
          <a:lstStyle/>
          <a:p>
            <a:fld id="{C95BDE52-289A-4BA3-AEEF-F064FE644575}" type="slidenum">
              <a:rPr lang="en-US" smtClean="0"/>
              <a:pPr/>
              <a:t>62</a:t>
            </a:fld>
            <a:endParaRPr lang="en-US"/>
          </a:p>
        </p:txBody>
      </p:sp>
    </p:spTree>
    <p:extLst>
      <p:ext uri="{BB962C8B-B14F-4D97-AF65-F5344CB8AC3E}">
        <p14:creationId xmlns:p14="http://schemas.microsoft.com/office/powerpoint/2010/main" val="2666947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2025/12/4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
        <p:nvSpPr>
          <p:cNvPr id="10" name="矩形 9">
            <a:extLst>
              <a:ext uri="{FF2B5EF4-FFF2-40B4-BE49-F238E27FC236}">
                <a16:creationId xmlns:a16="http://schemas.microsoft.com/office/drawing/2014/main" id="{1AB5419B-BD18-9943-B2FA-F86BB8A677BF}"/>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
        <p:nvSpPr>
          <p:cNvPr id="9" name="TextBox 4">
            <a:extLst>
              <a:ext uri="{FF2B5EF4-FFF2-40B4-BE49-F238E27FC236}">
                <a16:creationId xmlns:a16="http://schemas.microsoft.com/office/drawing/2014/main" id="{BDB6BC3B-4E32-BF49-9D91-F1931FBC69C4}"/>
              </a:ext>
            </a:extLst>
          </p:cNvPr>
          <p:cNvSpPr txBox="1"/>
          <p:nvPr userDrawn="1"/>
        </p:nvSpPr>
        <p:spPr>
          <a:xfrm>
            <a:off x="4366084" y="4835723"/>
            <a:ext cx="4785481" cy="307777"/>
          </a:xfrm>
          <a:prstGeom prst="rect">
            <a:avLst/>
          </a:prstGeom>
          <a:noFill/>
        </p:spPr>
        <p:txBody>
          <a:bodyPr wrap="square" rtlCol="0">
            <a:spAutoFit/>
          </a:bodyPr>
          <a:lstStyle/>
          <a:p>
            <a:pPr algn="r"/>
            <a:r>
              <a:rPr lang="en-US" altLang="zh-CN" sz="1400" dirty="0">
                <a:solidFill>
                  <a:schemeClr val="bg1"/>
                </a:solidFill>
                <a:latin typeface="微软雅黑" pitchFamily="34" charset="-122"/>
                <a:ea typeface="微软雅黑" pitchFamily="34" charset="-122"/>
              </a:rPr>
              <a:t>《</a:t>
            </a:r>
            <a:r>
              <a:rPr lang="zh-CN" altLang="en-US" sz="1400" dirty="0">
                <a:solidFill>
                  <a:schemeClr val="bg1"/>
                </a:solidFill>
                <a:latin typeface="微软雅黑" pitchFamily="34" charset="-122"/>
                <a:ea typeface="微软雅黑" pitchFamily="34" charset="-122"/>
              </a:rPr>
              <a:t>数据科学导论</a:t>
            </a:r>
            <a:r>
              <a:rPr lang="en-US" altLang="zh-CN" sz="1400" dirty="0">
                <a:solidFill>
                  <a:schemeClr val="bg1"/>
                </a:solidFill>
                <a:latin typeface="微软雅黑" pitchFamily="34" charset="-122"/>
                <a:ea typeface="微软雅黑" pitchFamily="34" charset="-122"/>
              </a:rPr>
              <a:t>》</a:t>
            </a:r>
            <a:r>
              <a:rPr lang="zh-CN" altLang="en-US" sz="1400" dirty="0">
                <a:solidFill>
                  <a:schemeClr val="bg1"/>
                </a:solidFill>
                <a:latin typeface="微软雅黑" pitchFamily="34" charset="-122"/>
                <a:ea typeface="微软雅黑" pitchFamily="34" charset="-122"/>
              </a:rPr>
              <a:t>中国人民大学信息学院</a:t>
            </a:r>
          </a:p>
        </p:txBody>
      </p:sp>
    </p:spTree>
    <p:extLst>
      <p:ext uri="{BB962C8B-B14F-4D97-AF65-F5344CB8AC3E}">
        <p14:creationId xmlns:p14="http://schemas.microsoft.com/office/powerpoint/2010/main" val="815011272"/>
      </p:ext>
    </p:extLst>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t>‹#›</a:t>
            </a:fld>
            <a:endParaRPr lang="zh-CN" altLang="en-US"/>
          </a:p>
        </p:txBody>
      </p:sp>
      <p:sp>
        <p:nvSpPr>
          <p:cNvPr id="7" name="椭圆 6">
            <a:extLst>
              <a:ext uri="{FF2B5EF4-FFF2-40B4-BE49-F238E27FC236}">
                <a16:creationId xmlns:a16="http://schemas.microsoft.com/office/drawing/2014/main"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0677444"/>
      </p:ext>
    </p:extLst>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2025/12/4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72218166"/>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2025/12/4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051850969"/>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21E9E4D-0BE1-4AAA-A57B-DA425863F4AF}" type="datetimeFigureOut">
              <a:rPr lang="zh-CN" altLang="en-US" smtClean="0"/>
              <a:t>2025/12/4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2101343882"/>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0957390"/>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6B1EA47-AA99-4F55-AEF3-3DA66267A0C2}"/>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
        <p:nvSpPr>
          <p:cNvPr id="3" name="TextBox 4">
            <a:extLst>
              <a:ext uri="{FF2B5EF4-FFF2-40B4-BE49-F238E27FC236}">
                <a16:creationId xmlns:a16="http://schemas.microsoft.com/office/drawing/2014/main" id="{5F7FC5D6-12C6-4838-8F59-CADA2CC0F644}"/>
              </a:ext>
            </a:extLst>
          </p:cNvPr>
          <p:cNvSpPr txBox="1"/>
          <p:nvPr userDrawn="1"/>
        </p:nvSpPr>
        <p:spPr>
          <a:xfrm>
            <a:off x="4366084" y="4835723"/>
            <a:ext cx="4785481" cy="307777"/>
          </a:xfrm>
          <a:prstGeom prst="rect">
            <a:avLst/>
          </a:prstGeom>
          <a:noFill/>
        </p:spPr>
        <p:txBody>
          <a:bodyPr wrap="square" rtlCol="0">
            <a:spAutoFit/>
          </a:bodyPr>
          <a:lstStyle/>
          <a:p>
            <a:pPr algn="r"/>
            <a:r>
              <a:rPr lang="en-US" altLang="zh-CN" sz="1400" dirty="0">
                <a:solidFill>
                  <a:schemeClr val="bg1"/>
                </a:solidFill>
                <a:latin typeface="微软雅黑" pitchFamily="34" charset="-122"/>
                <a:ea typeface="微软雅黑" pitchFamily="34" charset="-122"/>
              </a:rPr>
              <a:t>《</a:t>
            </a:r>
            <a:r>
              <a:rPr lang="zh-CN" altLang="en-US" sz="1400" dirty="0">
                <a:solidFill>
                  <a:schemeClr val="bg1"/>
                </a:solidFill>
                <a:latin typeface="微软雅黑" pitchFamily="34" charset="-122"/>
                <a:ea typeface="微软雅黑" pitchFamily="34" charset="-122"/>
              </a:rPr>
              <a:t>数据科学导论</a:t>
            </a:r>
            <a:r>
              <a:rPr lang="en-US" altLang="zh-CN" sz="1400" dirty="0">
                <a:solidFill>
                  <a:schemeClr val="bg1"/>
                </a:solidFill>
                <a:latin typeface="微软雅黑" pitchFamily="34" charset="-122"/>
                <a:ea typeface="微软雅黑" pitchFamily="34" charset="-122"/>
              </a:rPr>
              <a:t>》</a:t>
            </a:r>
            <a:r>
              <a:rPr lang="zh-CN" altLang="en-US" sz="1400" dirty="0">
                <a:solidFill>
                  <a:schemeClr val="bg1"/>
                </a:solidFill>
                <a:latin typeface="微软雅黑" pitchFamily="34" charset="-122"/>
                <a:ea typeface="微软雅黑" pitchFamily="34" charset="-122"/>
              </a:rPr>
              <a:t>中国人民大学信息学院</a:t>
            </a:r>
          </a:p>
        </p:txBody>
      </p:sp>
      <p:pic>
        <p:nvPicPr>
          <p:cNvPr id="4" name="图片 3">
            <a:extLst>
              <a:ext uri="{FF2B5EF4-FFF2-40B4-BE49-F238E27FC236}">
                <a16:creationId xmlns:a16="http://schemas.microsoft.com/office/drawing/2014/main" id="{B9470B42-93C0-4049-B9CB-A8EBAAC780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Tree>
    <p:extLst>
      <p:ext uri="{BB962C8B-B14F-4D97-AF65-F5344CB8AC3E}">
        <p14:creationId xmlns:p14="http://schemas.microsoft.com/office/powerpoint/2010/main" val="63937429"/>
      </p:ext>
    </p:extLst>
  </p:cSld>
  <p:clrMapOvr>
    <a:masterClrMapping/>
  </p:clrMapOvr>
  <p:transition spd="slow">
    <p:cover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1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57150"/>
            <a:ext cx="8001000" cy="685800"/>
          </a:xfrm>
        </p:spPr>
        <p:txBody>
          <a:bodyPr/>
          <a:lstStyle/>
          <a:p>
            <a:r>
              <a:rPr lang="zh-CN" altLang="en-US"/>
              <a:t>单击此处编辑母版标题样式</a:t>
            </a:r>
          </a:p>
        </p:txBody>
      </p:sp>
    </p:spTree>
    <p:extLst>
      <p:ext uri="{BB962C8B-B14F-4D97-AF65-F5344CB8AC3E}">
        <p14:creationId xmlns:p14="http://schemas.microsoft.com/office/powerpoint/2010/main" val="1720895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3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57150"/>
            <a:ext cx="8001000" cy="685800"/>
          </a:xfrm>
        </p:spPr>
        <p:txBody>
          <a:bodyPr/>
          <a:lstStyle/>
          <a:p>
            <a:r>
              <a:rPr lang="zh-CN" altLang="en-US"/>
              <a:t>单击此处编辑母版标题样式</a:t>
            </a:r>
          </a:p>
        </p:txBody>
      </p:sp>
    </p:spTree>
    <p:extLst>
      <p:ext uri="{BB962C8B-B14F-4D97-AF65-F5344CB8AC3E}">
        <p14:creationId xmlns:p14="http://schemas.microsoft.com/office/powerpoint/2010/main" val="2106595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4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57150"/>
            <a:ext cx="8001000" cy="685800"/>
          </a:xfrm>
        </p:spPr>
        <p:txBody>
          <a:bodyPr/>
          <a:lstStyle/>
          <a:p>
            <a:r>
              <a:rPr lang="zh-CN" altLang="en-US"/>
              <a:t>单击此处编辑母版标题样式</a:t>
            </a:r>
          </a:p>
        </p:txBody>
      </p:sp>
    </p:spTree>
    <p:extLst>
      <p:ext uri="{BB962C8B-B14F-4D97-AF65-F5344CB8AC3E}">
        <p14:creationId xmlns:p14="http://schemas.microsoft.com/office/powerpoint/2010/main" val="1072717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5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57150"/>
            <a:ext cx="8001000" cy="685800"/>
          </a:xfrm>
        </p:spPr>
        <p:txBody>
          <a:bodyPr/>
          <a:lstStyle/>
          <a:p>
            <a:r>
              <a:rPr lang="zh-CN" altLang="en-US"/>
              <a:t>单击此处编辑母版标题样式</a:t>
            </a:r>
          </a:p>
        </p:txBody>
      </p:sp>
    </p:spTree>
    <p:extLst>
      <p:ext uri="{BB962C8B-B14F-4D97-AF65-F5344CB8AC3E}">
        <p14:creationId xmlns:p14="http://schemas.microsoft.com/office/powerpoint/2010/main" val="22595410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6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57150"/>
            <a:ext cx="8001000" cy="685800"/>
          </a:xfrm>
        </p:spPr>
        <p:txBody>
          <a:bodyPr/>
          <a:lstStyle/>
          <a:p>
            <a:r>
              <a:rPr lang="zh-CN" altLang="en-US"/>
              <a:t>单击此处编辑母版标题样式</a:t>
            </a:r>
          </a:p>
        </p:txBody>
      </p:sp>
    </p:spTree>
    <p:extLst>
      <p:ext uri="{BB962C8B-B14F-4D97-AF65-F5344CB8AC3E}">
        <p14:creationId xmlns:p14="http://schemas.microsoft.com/office/powerpoint/2010/main" val="3175089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7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57150"/>
            <a:ext cx="8001000" cy="685800"/>
          </a:xfrm>
        </p:spPr>
        <p:txBody>
          <a:bodyPr/>
          <a:lstStyle/>
          <a:p>
            <a:r>
              <a:rPr lang="zh-CN" altLang="en-US"/>
              <a:t>单击此处编辑母版标题样式</a:t>
            </a:r>
          </a:p>
        </p:txBody>
      </p:sp>
    </p:spTree>
    <p:extLst>
      <p:ext uri="{BB962C8B-B14F-4D97-AF65-F5344CB8AC3E}">
        <p14:creationId xmlns:p14="http://schemas.microsoft.com/office/powerpoint/2010/main" val="26548201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8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57150"/>
            <a:ext cx="8001000" cy="685800"/>
          </a:xfrm>
        </p:spPr>
        <p:txBody>
          <a:bodyPr/>
          <a:lstStyle/>
          <a:p>
            <a:r>
              <a:rPr lang="zh-CN" altLang="en-US"/>
              <a:t>单击此处编辑母版标题样式</a:t>
            </a:r>
          </a:p>
        </p:txBody>
      </p:sp>
    </p:spTree>
    <p:extLst>
      <p:ext uri="{BB962C8B-B14F-4D97-AF65-F5344CB8AC3E}">
        <p14:creationId xmlns:p14="http://schemas.microsoft.com/office/powerpoint/2010/main" val="15447666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9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57150"/>
            <a:ext cx="8001000" cy="685800"/>
          </a:xfrm>
        </p:spPr>
        <p:txBody>
          <a:bodyPr/>
          <a:lstStyle/>
          <a:p>
            <a:r>
              <a:rPr lang="zh-CN" altLang="en-US"/>
              <a:t>单击此处编辑母版标题样式</a:t>
            </a:r>
          </a:p>
        </p:txBody>
      </p:sp>
    </p:spTree>
    <p:extLst>
      <p:ext uri="{BB962C8B-B14F-4D97-AF65-F5344CB8AC3E}">
        <p14:creationId xmlns:p14="http://schemas.microsoft.com/office/powerpoint/2010/main" val="19749574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0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57150"/>
            <a:ext cx="8001000" cy="685800"/>
          </a:xfrm>
        </p:spPr>
        <p:txBody>
          <a:bodyPr/>
          <a:lstStyle/>
          <a:p>
            <a:r>
              <a:rPr lang="zh-CN" altLang="en-US"/>
              <a:t>单击此处编辑母版标题样式</a:t>
            </a:r>
          </a:p>
        </p:txBody>
      </p:sp>
    </p:spTree>
    <p:extLst>
      <p:ext uri="{BB962C8B-B14F-4D97-AF65-F5344CB8AC3E}">
        <p14:creationId xmlns:p14="http://schemas.microsoft.com/office/powerpoint/2010/main" val="24529183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1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57150"/>
            <a:ext cx="8001000" cy="685800"/>
          </a:xfrm>
        </p:spPr>
        <p:txBody>
          <a:bodyPr/>
          <a:lstStyle/>
          <a:p>
            <a:r>
              <a:rPr lang="zh-CN" altLang="en-US"/>
              <a:t>单击此处编辑母版标题样式</a:t>
            </a:r>
          </a:p>
        </p:txBody>
      </p:sp>
    </p:spTree>
    <p:extLst>
      <p:ext uri="{BB962C8B-B14F-4D97-AF65-F5344CB8AC3E}">
        <p14:creationId xmlns:p14="http://schemas.microsoft.com/office/powerpoint/2010/main" val="8360413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2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57150"/>
            <a:ext cx="8001000" cy="685800"/>
          </a:xfrm>
        </p:spPr>
        <p:txBody>
          <a:bodyPr/>
          <a:lstStyle/>
          <a:p>
            <a:r>
              <a:rPr lang="zh-CN" altLang="en-US"/>
              <a:t>单击此处编辑母版标题样式</a:t>
            </a:r>
          </a:p>
        </p:txBody>
      </p:sp>
    </p:spTree>
    <p:extLst>
      <p:ext uri="{BB962C8B-B14F-4D97-AF65-F5344CB8AC3E}">
        <p14:creationId xmlns:p14="http://schemas.microsoft.com/office/powerpoint/2010/main" val="6725265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3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57150"/>
            <a:ext cx="8001000" cy="685800"/>
          </a:xfrm>
        </p:spPr>
        <p:txBody>
          <a:bodyPr/>
          <a:lstStyle/>
          <a:p>
            <a:r>
              <a:rPr lang="zh-CN" altLang="en-US"/>
              <a:t>单击此处编辑母版标题样式</a:t>
            </a:r>
          </a:p>
        </p:txBody>
      </p:sp>
    </p:spTree>
    <p:extLst>
      <p:ext uri="{BB962C8B-B14F-4D97-AF65-F5344CB8AC3E}">
        <p14:creationId xmlns:p14="http://schemas.microsoft.com/office/powerpoint/2010/main" val="9952737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4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57150"/>
            <a:ext cx="8001000" cy="685800"/>
          </a:xfrm>
        </p:spPr>
        <p:txBody>
          <a:bodyPr/>
          <a:lstStyle/>
          <a:p>
            <a:r>
              <a:rPr lang="zh-CN" altLang="en-US"/>
              <a:t>单击此处编辑母版标题样式</a:t>
            </a:r>
          </a:p>
        </p:txBody>
      </p:sp>
    </p:spTree>
    <p:extLst>
      <p:ext uri="{BB962C8B-B14F-4D97-AF65-F5344CB8AC3E}">
        <p14:creationId xmlns:p14="http://schemas.microsoft.com/office/powerpoint/2010/main" val="31278380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7_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57150"/>
            <a:ext cx="8001000" cy="685800"/>
          </a:xfrm>
        </p:spPr>
        <p:txBody>
          <a:bodyPr/>
          <a:lstStyle/>
          <a:p>
            <a:r>
              <a:rPr lang="zh-CN" altLang="en-US"/>
              <a:t>单击此处编辑母版标题样式</a:t>
            </a:r>
          </a:p>
        </p:txBody>
      </p:sp>
    </p:spTree>
    <p:extLst>
      <p:ext uri="{BB962C8B-B14F-4D97-AF65-F5344CB8AC3E}">
        <p14:creationId xmlns:p14="http://schemas.microsoft.com/office/powerpoint/2010/main" val="24534048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57150"/>
            <a:ext cx="8001000" cy="685800"/>
          </a:xfrm>
        </p:spPr>
        <p:txBody>
          <a:bodyPr/>
          <a:lstStyle/>
          <a:p>
            <a:r>
              <a:rPr lang="zh-CN" altLang="en-US"/>
              <a:t>单击此处编辑母版标题样式</a:t>
            </a:r>
          </a:p>
        </p:txBody>
      </p:sp>
    </p:spTree>
    <p:extLst>
      <p:ext uri="{BB962C8B-B14F-4D97-AF65-F5344CB8AC3E}">
        <p14:creationId xmlns:p14="http://schemas.microsoft.com/office/powerpoint/2010/main" val="18445937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lvl1pPr>
              <a:defRPr>
                <a:latin typeface="楷体" panose="02010609060101010101" pitchFamily="49" charset="-122"/>
                <a:ea typeface="楷体" panose="02010609060101010101" pitchFamily="49" charset="-122"/>
              </a:defRPr>
            </a:lvl1pPr>
          </a:lstStyle>
          <a:p>
            <a:fld id="{2F264DDB-364C-410E-A66B-B19CEFA5EF0F}" type="slidenum">
              <a:rPr lang="zh-CN" altLang="en-US" smtClean="0"/>
              <a:pPr/>
              <a:t>‹#›</a:t>
            </a:fld>
            <a:endParaRPr lang="zh-CN" altLang="en-US"/>
          </a:p>
        </p:txBody>
      </p:sp>
    </p:spTree>
    <p:extLst>
      <p:ext uri="{BB962C8B-B14F-4D97-AF65-F5344CB8AC3E}">
        <p14:creationId xmlns:p14="http://schemas.microsoft.com/office/powerpoint/2010/main" val="35537655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73163" y="342900"/>
            <a:ext cx="7772400" cy="857250"/>
          </a:xfrm>
        </p:spPr>
        <p:txBody>
          <a:bodyPr/>
          <a:lstStyle/>
          <a:p>
            <a:r>
              <a:rPr lang="zh-CN" altLang="en-US"/>
              <a:t>单击此处编辑母版标题样式</a:t>
            </a:r>
          </a:p>
        </p:txBody>
      </p:sp>
      <p:sp>
        <p:nvSpPr>
          <p:cNvPr id="3" name="表格占位符 2"/>
          <p:cNvSpPr>
            <a:spLocks noGrp="1"/>
          </p:cNvSpPr>
          <p:nvPr>
            <p:ph type="tbl" idx="1"/>
          </p:nvPr>
        </p:nvSpPr>
        <p:spPr>
          <a:xfrm>
            <a:off x="1173163" y="1485900"/>
            <a:ext cx="7772400" cy="3086100"/>
          </a:xfrm>
        </p:spPr>
        <p:txBody>
          <a:bodyPr/>
          <a:lstStyle/>
          <a:p>
            <a:endParaRPr lang="zh-CN" altLang="en-US"/>
          </a:p>
        </p:txBody>
      </p:sp>
      <p:sp>
        <p:nvSpPr>
          <p:cNvPr id="4" name="日期占位符 3"/>
          <p:cNvSpPr>
            <a:spLocks noGrp="1"/>
          </p:cNvSpPr>
          <p:nvPr>
            <p:ph type="dt" sz="half" idx="10"/>
          </p:nvPr>
        </p:nvSpPr>
        <p:spPr>
          <a:xfrm>
            <a:off x="1173163" y="4699397"/>
            <a:ext cx="1905000" cy="3429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3581400" y="4686300"/>
            <a:ext cx="2895600" cy="342900"/>
          </a:xfrm>
          <a:prstGeom prst="rect">
            <a:avLst/>
          </a:prstGeom>
        </p:spPr>
        <p:txBody>
          <a:bodyPr/>
          <a:lstStyle>
            <a:lvl1pPr>
              <a:defRPr/>
            </a:lvl1pPr>
          </a:lstStyle>
          <a:p>
            <a:endParaRPr lang="en-US" altLang="zh-CN"/>
          </a:p>
        </p:txBody>
      </p:sp>
      <p:sp>
        <p:nvSpPr>
          <p:cNvPr id="6" name="灯片编号占位符 5"/>
          <p:cNvSpPr>
            <a:spLocks noGrp="1"/>
          </p:cNvSpPr>
          <p:nvPr>
            <p:ph type="sldNum" sz="quarter" idx="12"/>
          </p:nvPr>
        </p:nvSpPr>
        <p:spPr>
          <a:xfrm>
            <a:off x="7010400" y="4686300"/>
            <a:ext cx="1905000" cy="342900"/>
          </a:xfrm>
        </p:spPr>
        <p:txBody>
          <a:bodyPr/>
          <a:lstStyle>
            <a:lvl1pPr>
              <a:defRPr/>
            </a:lvl1pPr>
          </a:lstStyle>
          <a:p>
            <a:fld id="{29258CEF-A3D6-4AF8-9AFF-0A82E84999C5}" type="slidenum">
              <a:rPr lang="en-US" altLang="zh-CN"/>
              <a:pPr/>
              <a:t>‹#›</a:t>
            </a:fld>
            <a:endParaRPr lang="en-US" altLang="zh-CN"/>
          </a:p>
        </p:txBody>
      </p:sp>
    </p:spTree>
    <p:extLst>
      <p:ext uri="{BB962C8B-B14F-4D97-AF65-F5344CB8AC3E}">
        <p14:creationId xmlns:p14="http://schemas.microsoft.com/office/powerpoint/2010/main" val="1882305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jp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6">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21E9E4D-0BE1-4AAA-A57B-DA425863F4AF}" type="datetimeFigureOut">
              <a:rPr lang="zh-CN" altLang="en-US" smtClean="0"/>
              <a:t>2025/12/4</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pic>
        <p:nvPicPr>
          <p:cNvPr id="7" name="图片 6">
            <a:extLst>
              <a:ext uri="{FF2B5EF4-FFF2-40B4-BE49-F238E27FC236}">
                <a16:creationId xmlns:a16="http://schemas.microsoft.com/office/drawing/2014/main" id="{341F63DC-E866-4077-8215-C471E38E7305}"/>
              </a:ext>
            </a:extLst>
          </p:cNvPr>
          <p:cNvPicPr>
            <a:picLocks noChangeAspect="1"/>
          </p:cNvPicPr>
          <p:nvPr userDrawn="1"/>
        </p:nvPicPr>
        <p:blipFill>
          <a:blip r:embed="rId27"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Tree>
    <p:extLst>
      <p:ext uri="{BB962C8B-B14F-4D97-AF65-F5344CB8AC3E}">
        <p14:creationId xmlns:p14="http://schemas.microsoft.com/office/powerpoint/2010/main" val="3989787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64" r:id="rId6"/>
    <p:sldLayoutId id="2147483669" r:id="rId7"/>
    <p:sldLayoutId id="2147483708"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 id="2147483721" r:id="rId20"/>
    <p:sldLayoutId id="2147483724" r:id="rId21"/>
    <p:sldLayoutId id="2147483725" r:id="rId22"/>
    <p:sldLayoutId id="2147483726" r:id="rId23"/>
    <p:sldLayoutId id="2147483727" r:id="rId24"/>
  </p:sldLayoutIdLst>
  <p:transition spd="slow">
    <p:pull/>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lnSpc>
          <a:spcPct val="100000"/>
        </a:lnSpc>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lnSpc>
          <a:spcPct val="100000"/>
        </a:lnSpc>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00000"/>
        </a:lnSpc>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00000"/>
        </a:lnSpc>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00000"/>
        </a:lnSpc>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tiff"/><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11.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emf"/></Relationships>
</file>

<file path=ppt/slides/_rels/slide3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30.emf"/><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39.png"/><Relationship Id="rId2" Type="http://schemas.openxmlformats.org/officeDocument/2006/relationships/image" Target="../media/image400.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38.png"/><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image" Target="../media/image460.png"/><Relationship Id="rId7" Type="http://schemas.openxmlformats.org/officeDocument/2006/relationships/image" Target="../media/image47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5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40.png"/><Relationship Id="rId4" Type="http://schemas.openxmlformats.org/officeDocument/2006/relationships/image" Target="../media/image70.emf"/></Relationships>
</file>

<file path=ppt/slides/_rels/slide55.xml.rels><?xml version="1.0" encoding="UTF-8" standalone="yes"?>
<Relationships xmlns="http://schemas.openxmlformats.org/package/2006/relationships"><Relationship Id="rId7" Type="http://schemas.openxmlformats.org/officeDocument/2006/relationships/image" Target="../media/image67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1.emf"/><Relationship Id="rId5" Type="http://schemas.openxmlformats.org/officeDocument/2006/relationships/oleObject" Target="../embeddings/oleObject2.bin"/><Relationship Id="rId4" Type="http://schemas.openxmlformats.org/officeDocument/2006/relationships/image" Target="../media/image660.png"/></Relationships>
</file>

<file path=ppt/slides/_rels/slide56.xml.rels><?xml version="1.0" encoding="UTF-8" standalone="yes"?>
<Relationships xmlns="http://schemas.openxmlformats.org/package/2006/relationships"><Relationship Id="rId7" Type="http://schemas.openxmlformats.org/officeDocument/2006/relationships/image" Target="../media/image70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72.emf"/><Relationship Id="rId5" Type="http://schemas.openxmlformats.org/officeDocument/2006/relationships/oleObject" Target="../embeddings/oleObject3.bin"/><Relationship Id="rId4" Type="http://schemas.openxmlformats.org/officeDocument/2006/relationships/image" Target="../media/image690.png"/></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9.xml"/><Relationship Id="rId1" Type="http://schemas.openxmlformats.org/officeDocument/2006/relationships/slideLayout" Target="../slideLayouts/slideLayout24.xml"/><Relationship Id="rId6" Type="http://schemas.openxmlformats.org/officeDocument/2006/relationships/image" Target="../media/image720.png"/><Relationship Id="rId4" Type="http://schemas.openxmlformats.org/officeDocument/2006/relationships/image" Target="../media/image73.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4.emf"/></Relationships>
</file>

<file path=ppt/slides/_rels/slide5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0" y="2059145"/>
            <a:ext cx="9144000" cy="854123"/>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103" name="Picture 2" descr="C:\Users\Administrator\Desktop\微立体创业计划\001.png"/>
          <p:cNvPicPr>
            <a:picLocks noChangeAspect="1" noChangeArrowheads="1"/>
          </p:cNvPicPr>
          <p:nvPr/>
        </p:nvPicPr>
        <p:blipFill>
          <a:blip r:embed="rId4" cstate="print">
            <a:extLst>
              <a:ext uri="{BEBA8EAE-BF5A-486C-A8C5-ECC9F3942E4B}">
                <a14:imgProps xmlns:a14="http://schemas.microsoft.com/office/drawing/2010/main">
                  <a14:imgLayer r:embed="rId5">
                    <a14:imgEffect>
                      <a14:brightnessContrast bright="-3000"/>
                    </a14:imgEffect>
                  </a14:imgLayer>
                </a14:imgProps>
              </a:ext>
              <a:ext uri="{28A0092B-C50C-407E-A947-70E740481C1C}">
                <a14:useLocalDpi xmlns:a14="http://schemas.microsoft.com/office/drawing/2010/main" val="0"/>
              </a:ext>
            </a:extLst>
          </a:blip>
          <a:srcRect/>
          <a:stretch>
            <a:fillRect/>
          </a:stretch>
        </p:blipFill>
        <p:spPr bwMode="auto">
          <a:xfrm>
            <a:off x="2825941" y="158700"/>
            <a:ext cx="1967244" cy="196697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04" name="Picture 3" descr="C:\Users\Administrator\Desktop\微立体创业计划\002.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91057" y="27073"/>
            <a:ext cx="2230535" cy="2230233"/>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sp>
        <p:nvSpPr>
          <p:cNvPr id="23" name="圆角矩形 22"/>
          <p:cNvSpPr/>
          <p:nvPr/>
        </p:nvSpPr>
        <p:spPr>
          <a:xfrm>
            <a:off x="2612468" y="3309841"/>
            <a:ext cx="3919063" cy="409134"/>
          </a:xfrm>
          <a:prstGeom prst="roundRect">
            <a:avLst/>
          </a:prstGeom>
          <a:solidFill>
            <a:schemeClr val="tx1">
              <a:lumMod val="50000"/>
              <a:lumOff val="50000"/>
            </a:schemeClr>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r>
              <a:rPr lang="zh-CN" altLang="mr-IN" dirty="0"/>
              <a:t>范举</a:t>
            </a:r>
            <a:r>
              <a:rPr lang="zh-CN" altLang="en-US" dirty="0"/>
              <a:t> </a:t>
            </a:r>
            <a:r>
              <a:rPr lang="zh-CN" altLang="mr-IN" dirty="0"/>
              <a:t>教授         </a:t>
            </a:r>
            <a:r>
              <a:rPr lang="mr-IN" altLang="zh-CN" dirty="0" err="1"/>
              <a:t>fanj@ruc.edu.cn</a:t>
            </a:r>
            <a:endParaRPr lang="mr-IN" altLang="zh-CN" dirty="0"/>
          </a:p>
        </p:txBody>
      </p:sp>
      <p:grpSp>
        <p:nvGrpSpPr>
          <p:cNvPr id="25" name="Group 91"/>
          <p:cNvGrpSpPr>
            <a:grpSpLocks/>
          </p:cNvGrpSpPr>
          <p:nvPr/>
        </p:nvGrpSpPr>
        <p:grpSpPr bwMode="auto">
          <a:xfrm>
            <a:off x="1822357" y="3309841"/>
            <a:ext cx="390552" cy="616758"/>
            <a:chOff x="936" y="1480"/>
            <a:chExt cx="1589" cy="2510"/>
          </a:xfrm>
        </p:grpSpPr>
        <p:grpSp>
          <p:nvGrpSpPr>
            <p:cNvPr id="26" name="组合 33"/>
            <p:cNvGrpSpPr>
              <a:grpSpLocks/>
            </p:cNvGrpSpPr>
            <p:nvPr/>
          </p:nvGrpSpPr>
          <p:grpSpPr bwMode="auto">
            <a:xfrm>
              <a:off x="985" y="1583"/>
              <a:ext cx="1441" cy="2407"/>
              <a:chOff x="1754168" y="3653262"/>
              <a:chExt cx="1857599" cy="3107815"/>
            </a:xfrm>
          </p:grpSpPr>
          <p:sp>
            <p:nvSpPr>
              <p:cNvPr id="31" name="椭圆 30"/>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latin typeface="+mj-lt"/>
                  <a:ea typeface="方正超粗黑简体" panose="03000509000000000000" pitchFamily="65" charset="-122"/>
                </a:endParaRPr>
              </a:p>
            </p:txBody>
          </p:sp>
          <p:sp>
            <p:nvSpPr>
              <p:cNvPr id="32" name="椭圆 31"/>
              <p:cNvSpPr/>
              <p:nvPr/>
            </p:nvSpPr>
            <p:spPr>
              <a:xfrm>
                <a:off x="1911556" y="3810650"/>
                <a:ext cx="1542822" cy="1542820"/>
              </a:xfrm>
              <a:prstGeom prst="ellipse">
                <a:avLst/>
              </a:prstGeom>
              <a:solidFill>
                <a:srgbClr val="C20100"/>
              </a:soli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椭圆 32"/>
              <p:cNvSpPr/>
              <p:nvPr/>
            </p:nvSpPr>
            <p:spPr>
              <a:xfrm>
                <a:off x="1890879" y="3789973"/>
                <a:ext cx="1584176" cy="1584174"/>
              </a:xfrm>
              <a:prstGeom prst="ellipse">
                <a:avLst/>
              </a:prstGeom>
              <a:solidFill>
                <a:srgbClr val="1A3F6C"/>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solidFill>
                    <a:srgbClr val="0087CF"/>
                  </a:solidFill>
                  <a:latin typeface="+mj-lt"/>
                  <a:ea typeface="方正超粗黑简体" panose="03000509000000000000" pitchFamily="65" charset="-122"/>
                </a:endParaRPr>
              </a:p>
            </p:txBody>
          </p:sp>
          <p:sp>
            <p:nvSpPr>
              <p:cNvPr id="34" name="矩形 33"/>
              <p:cNvSpPr/>
              <p:nvPr/>
            </p:nvSpPr>
            <p:spPr>
              <a:xfrm>
                <a:off x="2196990" y="4093185"/>
                <a:ext cx="968886" cy="2667892"/>
              </a:xfrm>
              <a:prstGeom prst="rect">
                <a:avLst/>
              </a:prstGeom>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algn="ctr"/>
                <a:endParaRPr lang="zh-CN" altLang="zh-CN" sz="2700" b="1">
                  <a:solidFill>
                    <a:srgbClr val="CA0098"/>
                  </a:solidFill>
                  <a:latin typeface="微软雅黑" pitchFamily="34" charset="-122"/>
                  <a:ea typeface="微软雅黑" pitchFamily="34" charset="-122"/>
                </a:endParaRPr>
              </a:p>
            </p:txBody>
          </p:sp>
        </p:grpSp>
        <p:grpSp>
          <p:nvGrpSpPr>
            <p:cNvPr id="27" name="组合 4"/>
            <p:cNvGrpSpPr>
              <a:grpSpLocks/>
            </p:cNvGrpSpPr>
            <p:nvPr/>
          </p:nvGrpSpPr>
          <p:grpSpPr bwMode="auto">
            <a:xfrm>
              <a:off x="936" y="1480"/>
              <a:ext cx="1589" cy="1588"/>
              <a:chOff x="3733576" y="3930057"/>
              <a:chExt cx="1801556" cy="1800152"/>
            </a:xfrm>
          </p:grpSpPr>
          <p:sp>
            <p:nvSpPr>
              <p:cNvPr id="28" name="椭圆 2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9" name="任意多边形 6"/>
              <p:cNvSpPr/>
              <p:nvPr/>
            </p:nvSpPr>
            <p:spPr>
              <a:xfrm>
                <a:off x="3734710" y="3930057"/>
                <a:ext cx="1800422" cy="1800152"/>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30" name="椭圆 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grpSp>
      <p:sp>
        <p:nvSpPr>
          <p:cNvPr id="2" name="TextBox 1"/>
          <p:cNvSpPr txBox="1"/>
          <p:nvPr/>
        </p:nvSpPr>
        <p:spPr>
          <a:xfrm>
            <a:off x="122153" y="2169137"/>
            <a:ext cx="8945065" cy="584747"/>
          </a:xfrm>
          <a:prstGeom prst="rect">
            <a:avLst/>
          </a:prstGeom>
          <a:noFill/>
        </p:spPr>
        <p:txBody>
          <a:bodyPr wrap="square" lIns="91413" tIns="45706" rIns="91413" bIns="45706"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a:t>
            </a:r>
            <a:r>
              <a:rPr lang="en-US" altLang="zh-CN" sz="3200" b="1" dirty="0">
                <a:solidFill>
                  <a:schemeClr val="bg1"/>
                </a:solidFill>
                <a:latin typeface="微软雅黑" panose="020B0503020204020204" pitchFamily="34" charset="-122"/>
                <a:ea typeface="微软雅黑" panose="020B0503020204020204" pitchFamily="34" charset="-122"/>
              </a:rPr>
              <a:t>12</a:t>
            </a:r>
            <a:r>
              <a:rPr lang="zh-CN" altLang="en-US" sz="3200" b="1" dirty="0">
                <a:solidFill>
                  <a:schemeClr val="bg1"/>
                </a:solidFill>
                <a:latin typeface="微软雅黑" panose="020B0503020204020204" pitchFamily="34" charset="-122"/>
                <a:ea typeface="微软雅黑" panose="020B0503020204020204" pitchFamily="34" charset="-122"/>
              </a:rPr>
              <a:t>讲：文本表示</a:t>
            </a:r>
            <a:r>
              <a:rPr lang="zh-CN" altLang="en-US" sz="3200" b="1" dirty="0">
                <a:solidFill>
                  <a:prstClr val="white"/>
                </a:solidFill>
                <a:latin typeface="微软雅黑" panose="020B0503020204020204" pitchFamily="34" charset="-122"/>
                <a:ea typeface="微软雅黑" panose="020B0503020204020204" pitchFamily="34" charset="-122"/>
              </a:rPr>
              <a:t> </a:t>
            </a:r>
            <a:r>
              <a:rPr lang="en-US" altLang="zh-CN" sz="3200" b="1" dirty="0">
                <a:solidFill>
                  <a:prstClr val="white"/>
                </a:solidFill>
                <a:latin typeface="微软雅黑" panose="020B0503020204020204" pitchFamily="34" charset="-122"/>
                <a:ea typeface="微软雅黑" panose="020B0503020204020204" pitchFamily="34" charset="-122"/>
              </a:rPr>
              <a:t>–</a:t>
            </a:r>
            <a:r>
              <a:rPr lang="zh-CN" altLang="en-US" sz="3200" b="1" dirty="0">
                <a:solidFill>
                  <a:prstClr val="white"/>
                </a:solidFill>
                <a:latin typeface="微软雅黑" panose="020B0503020204020204" pitchFamily="34" charset="-122"/>
                <a:ea typeface="微软雅黑" panose="020B0503020204020204" pitchFamily="34" charset="-122"/>
              </a:rPr>
              <a:t> 独热表示与主题模型</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3" name="Rectangle 2">
            <a:extLst>
              <a:ext uri="{FF2B5EF4-FFF2-40B4-BE49-F238E27FC236}">
                <a16:creationId xmlns:a16="http://schemas.microsoft.com/office/drawing/2014/main" id="{FB1266A6-5673-647F-770C-DCB3DA872BB9}"/>
              </a:ext>
            </a:extLst>
          </p:cNvPr>
          <p:cNvSpPr/>
          <p:nvPr/>
        </p:nvSpPr>
        <p:spPr>
          <a:xfrm>
            <a:off x="131116" y="53164"/>
            <a:ext cx="4306772" cy="1515223"/>
          </a:xfrm>
          <a:prstGeom prst="rect">
            <a:avLst/>
          </a:prstGeom>
          <a:solidFill>
            <a:schemeClr val="bg1"/>
          </a:solidFill>
          <a:ln w="19050">
            <a:solidFill>
              <a:schemeClr val="tx1"/>
            </a:solidFill>
          </a:ln>
          <a:effectLst>
            <a:outerShdw blurRad="50800" dist="76200" dir="2700000" algn="tl" rotWithShape="0">
              <a:prstClr val="black">
                <a:alpha val="40000"/>
              </a:prstClr>
            </a:outerShdw>
          </a:effectLst>
        </p:spPr>
        <p:txBody>
          <a:bodyPr wrap="square">
            <a:spAutoFit/>
          </a:bodyPr>
          <a:lstStyle/>
          <a:p>
            <a:pPr algn="ctr">
              <a:lnSpc>
                <a:spcPct val="150000"/>
              </a:lnSpc>
              <a:defRPr/>
            </a:pP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本周五（</a:t>
            </a:r>
            <a:r>
              <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日）有</a:t>
            </a:r>
            <a:r>
              <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上机展示</a:t>
            </a:r>
            <a:r>
              <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p>
          <a:p>
            <a:pPr marL="342900" indent="-342900">
              <a:lnSpc>
                <a:spcPct val="150000"/>
              </a:lnSpc>
              <a:buFont typeface="Arial" charset="0"/>
              <a:buChar char="•"/>
              <a:defRPr/>
            </a:pP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18:00-20:30</a:t>
            </a:r>
          </a:p>
          <a:p>
            <a:pPr marL="342900" indent="-342900">
              <a:lnSpc>
                <a:spcPct val="150000"/>
              </a:lnSpc>
              <a:buFont typeface="Arial" charset="0"/>
              <a:buChar char="•"/>
              <a:defRPr/>
            </a:pP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理工配楼二层机房</a:t>
            </a:r>
            <a:endPar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677344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1A9AA-E1D2-5BD1-4D6F-0893F31F12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043A11-63D3-64C5-AD66-5A9085EC2F62}"/>
              </a:ext>
            </a:extLst>
          </p:cNvPr>
          <p:cNvSpPr>
            <a:spLocks noGrp="1"/>
          </p:cNvSpPr>
          <p:nvPr>
            <p:ph type="title"/>
          </p:nvPr>
        </p:nvSpPr>
        <p:spPr/>
        <p:txBody>
          <a:bodyPr/>
          <a:lstStyle/>
          <a:p>
            <a:r>
              <a:rPr lang="zh-CN" altLang="en-US" dirty="0">
                <a:latin typeface="Microsoft YaHei" charset="-122"/>
                <a:ea typeface="Microsoft YaHei" charset="-122"/>
                <a:cs typeface="Microsoft YaHei" charset="-122"/>
              </a:rPr>
              <a:t>上机展示通知</a:t>
            </a:r>
          </a:p>
        </p:txBody>
      </p:sp>
      <p:sp>
        <p:nvSpPr>
          <p:cNvPr id="3" name="Content Placeholder 2">
            <a:extLst>
              <a:ext uri="{FF2B5EF4-FFF2-40B4-BE49-F238E27FC236}">
                <a16:creationId xmlns:a16="http://schemas.microsoft.com/office/drawing/2014/main" id="{5E850A8E-5A23-BFFF-9DF2-0297D35BF6AC}"/>
              </a:ext>
            </a:extLst>
          </p:cNvPr>
          <p:cNvSpPr>
            <a:spLocks noGrp="1"/>
          </p:cNvSpPr>
          <p:nvPr>
            <p:ph idx="1"/>
          </p:nvPr>
        </p:nvSpPr>
        <p:spPr>
          <a:xfrm>
            <a:off x="457200" y="819150"/>
            <a:ext cx="8229600" cy="1267704"/>
          </a:xfrm>
        </p:spPr>
        <p:txBody>
          <a:bodyPr/>
          <a:lstStyle/>
          <a:p>
            <a:r>
              <a:rPr lang="zh-CN" altLang="en-US" sz="1800" dirty="0">
                <a:latin typeface="Microsoft YaHei" charset="-122"/>
                <a:ea typeface="Microsoft YaHei" charset="-122"/>
                <a:cs typeface="Microsoft YaHei" charset="-122"/>
              </a:rPr>
              <a:t>本次上节课为大作业小组展示，要求同学们参加上机课</a:t>
            </a:r>
            <a:endParaRPr lang="en-US" altLang="zh-CN" sz="1800" dirty="0">
              <a:latin typeface="Microsoft YaHei" charset="-122"/>
              <a:ea typeface="Microsoft YaHei" charset="-122"/>
              <a:cs typeface="Microsoft YaHei" charset="-122"/>
            </a:endParaRPr>
          </a:p>
          <a:p>
            <a:r>
              <a:rPr lang="zh-CN" altLang="en-US" sz="1800" dirty="0">
                <a:latin typeface="Microsoft YaHei" charset="-122"/>
                <a:ea typeface="Microsoft YaHei" charset="-122"/>
                <a:cs typeface="Microsoft YaHei" charset="-122"/>
              </a:rPr>
              <a:t>大作业展示的顺序如下，请同学们在中午</a:t>
            </a:r>
            <a:r>
              <a:rPr lang="en-US" altLang="zh-CN" sz="1800" dirty="0">
                <a:latin typeface="Microsoft YaHei" charset="-122"/>
                <a:ea typeface="Microsoft YaHei" charset="-122"/>
                <a:cs typeface="Microsoft YaHei" charset="-122"/>
              </a:rPr>
              <a:t>12</a:t>
            </a:r>
            <a:r>
              <a:rPr lang="zh-CN" altLang="en-US" sz="1800" dirty="0">
                <a:latin typeface="Microsoft YaHei" charset="-122"/>
                <a:ea typeface="Microsoft YaHei" charset="-122"/>
                <a:cs typeface="Microsoft YaHei" charset="-122"/>
              </a:rPr>
              <a:t>点之前将</a:t>
            </a:r>
            <a:r>
              <a:rPr lang="en-US" altLang="zh-CN" sz="1800" dirty="0">
                <a:latin typeface="Microsoft YaHei" charset="-122"/>
                <a:ea typeface="Microsoft YaHei" charset="-122"/>
                <a:cs typeface="Microsoft YaHei" charset="-122"/>
              </a:rPr>
              <a:t>PPT</a:t>
            </a:r>
            <a:r>
              <a:rPr lang="zh-CN" altLang="en-US" sz="1800" dirty="0">
                <a:latin typeface="Microsoft YaHei" charset="-122"/>
                <a:ea typeface="Microsoft YaHei" charset="-122"/>
                <a:cs typeface="Microsoft YaHei" charset="-122"/>
              </a:rPr>
              <a:t>上传至</a:t>
            </a:r>
            <a:r>
              <a:rPr lang="en-US" altLang="zh-CN" sz="1800" dirty="0">
                <a:latin typeface="Microsoft YaHei" charset="-122"/>
                <a:ea typeface="Microsoft YaHei" charset="-122"/>
                <a:cs typeface="Microsoft YaHei" charset="-122"/>
              </a:rPr>
              <a:t>OBE</a:t>
            </a:r>
          </a:p>
          <a:p>
            <a:endParaRPr lang="en-US" altLang="zh-CN" sz="1800" dirty="0">
              <a:latin typeface="Microsoft YaHei" charset="-122"/>
              <a:ea typeface="Microsoft YaHei" charset="-122"/>
              <a:cs typeface="Microsoft YaHei" charset="-122"/>
            </a:endParaRPr>
          </a:p>
        </p:txBody>
      </p:sp>
      <p:pic>
        <p:nvPicPr>
          <p:cNvPr id="5" name="Picture 4" descr="A screenshot of a computer&#10;&#10;AI-generated content may be incorrect.">
            <a:extLst>
              <a:ext uri="{FF2B5EF4-FFF2-40B4-BE49-F238E27FC236}">
                <a16:creationId xmlns:a16="http://schemas.microsoft.com/office/drawing/2014/main" id="{8228DBB0-C3A3-FD2A-D9BC-FB137CE30D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717" y="1577866"/>
            <a:ext cx="7774565" cy="3304190"/>
          </a:xfrm>
          <a:prstGeom prst="rect">
            <a:avLst/>
          </a:prstGeom>
        </p:spPr>
      </p:pic>
    </p:spTree>
    <p:extLst>
      <p:ext uri="{BB962C8B-B14F-4D97-AF65-F5344CB8AC3E}">
        <p14:creationId xmlns:p14="http://schemas.microsoft.com/office/powerpoint/2010/main" val="26145643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文本表示（</a:t>
            </a:r>
            <a:r>
              <a:rPr lang="en-US" altLang="zh-CN" dirty="0">
                <a:latin typeface="Calibri" charset="0"/>
                <a:ea typeface="Calibri" charset="0"/>
                <a:cs typeface="Calibri" charset="0"/>
              </a:rPr>
              <a:t>Representation</a:t>
            </a:r>
            <a:r>
              <a:rPr lang="zh-CN" altLang="en-US" dirty="0">
                <a:latin typeface="Microsoft YaHei" charset="-122"/>
                <a:ea typeface="Microsoft YaHei" charset="-122"/>
                <a:cs typeface="Microsoft YaHei" charset="-122"/>
              </a:rPr>
              <a:t>）</a:t>
            </a:r>
          </a:p>
        </p:txBody>
      </p:sp>
      <p:sp>
        <p:nvSpPr>
          <p:cNvPr id="3" name="Content Placeholder 2"/>
          <p:cNvSpPr>
            <a:spLocks noGrp="1"/>
          </p:cNvSpPr>
          <p:nvPr>
            <p:ph idx="1"/>
          </p:nvPr>
        </p:nvSpPr>
        <p:spPr>
          <a:xfrm>
            <a:off x="457200" y="819150"/>
            <a:ext cx="8229600" cy="1267704"/>
          </a:xfrm>
        </p:spPr>
        <p:txBody>
          <a:bodyPr/>
          <a:lstStyle/>
          <a:p>
            <a:r>
              <a:rPr lang="zh-CN" altLang="en-US" sz="1800" dirty="0">
                <a:latin typeface="Microsoft YaHei" charset="-122"/>
                <a:ea typeface="Microsoft YaHei" charset="-122"/>
                <a:cs typeface="Microsoft YaHei" charset="-122"/>
              </a:rPr>
              <a:t>文本表示旨在寻求自然语言文本在语义层面更加精练和一致的表示形态</a:t>
            </a:r>
            <a:endParaRPr lang="en-US" altLang="zh-CN" sz="1800" dirty="0">
              <a:latin typeface="Microsoft YaHei" charset="-122"/>
              <a:ea typeface="Microsoft YaHei" charset="-122"/>
              <a:cs typeface="Microsoft YaHei" charset="-122"/>
            </a:endParaRPr>
          </a:p>
          <a:p>
            <a:pPr lvl="1"/>
            <a:r>
              <a:rPr lang="zh-CN" altLang="en-US" sz="1500" dirty="0">
                <a:latin typeface="Microsoft YaHei" charset="-122"/>
                <a:ea typeface="Microsoft YaHei" charset="-122"/>
                <a:cs typeface="Microsoft YaHei" charset="-122"/>
              </a:rPr>
              <a:t>将文本表示为</a:t>
            </a:r>
            <a:r>
              <a:rPr lang="zh-CN" altLang="en-US" sz="1500" dirty="0">
                <a:solidFill>
                  <a:srgbClr val="C00000"/>
                </a:solidFill>
                <a:latin typeface="Microsoft YaHei" charset="-122"/>
                <a:ea typeface="Microsoft YaHei" charset="-122"/>
                <a:cs typeface="Microsoft YaHei" charset="-122"/>
              </a:rPr>
              <a:t>计算机能够运算的数字或向量</a:t>
            </a:r>
            <a:endParaRPr lang="en-US" altLang="zh-CN" sz="1500" dirty="0">
              <a:latin typeface="Microsoft YaHei" charset="-122"/>
              <a:ea typeface="Microsoft YaHei" charset="-122"/>
              <a:cs typeface="Microsoft YaHei" charset="-122"/>
            </a:endParaRPr>
          </a:p>
          <a:p>
            <a:pPr lvl="1"/>
            <a:r>
              <a:rPr lang="zh-CN" altLang="en-US" sz="1500" dirty="0">
                <a:latin typeface="Microsoft YaHei" charset="-122"/>
                <a:ea typeface="Microsoft YaHei" charset="-122"/>
                <a:cs typeface="Microsoft YaHei" charset="-122"/>
              </a:rPr>
              <a:t>单词层面：挖掘单词间隐含的语义关联关系</a:t>
            </a:r>
            <a:endParaRPr lang="en-US" altLang="zh-CN" sz="1500" dirty="0">
              <a:latin typeface="Microsoft YaHei" charset="-122"/>
              <a:ea typeface="Microsoft YaHei" charset="-122"/>
              <a:cs typeface="Microsoft YaHei" charset="-122"/>
            </a:endParaRPr>
          </a:p>
          <a:p>
            <a:pPr lvl="1"/>
            <a:r>
              <a:rPr lang="zh-CN" altLang="en-US" sz="1500" dirty="0">
                <a:latin typeface="Microsoft YaHei" charset="-122"/>
                <a:ea typeface="Microsoft YaHei" charset="-122"/>
                <a:cs typeface="Microsoft YaHei" charset="-122"/>
              </a:rPr>
              <a:t>查询</a:t>
            </a:r>
            <a:r>
              <a:rPr lang="en-US" altLang="zh-CN" sz="1500" dirty="0">
                <a:latin typeface="Microsoft YaHei" charset="-122"/>
                <a:ea typeface="Microsoft YaHei" charset="-122"/>
                <a:cs typeface="Microsoft YaHei" charset="-122"/>
              </a:rPr>
              <a:t>/</a:t>
            </a:r>
            <a:r>
              <a:rPr lang="zh-CN" altLang="en-US" sz="1500" dirty="0">
                <a:latin typeface="Microsoft YaHei" charset="-122"/>
                <a:ea typeface="Microsoft YaHei" charset="-122"/>
                <a:cs typeface="Microsoft YaHei" charset="-122"/>
              </a:rPr>
              <a:t>文档层：语义层面更加精准的关联表示</a:t>
            </a:r>
            <a:endParaRPr lang="en-US" altLang="zh-CN" sz="1500" dirty="0">
              <a:latin typeface="Microsoft YaHei" charset="-122"/>
              <a:ea typeface="Microsoft YaHei" charset="-122"/>
              <a:cs typeface="Microsoft YaHei" charset="-122"/>
            </a:endParaRPr>
          </a:p>
          <a:p>
            <a:endParaRPr lang="en-US" altLang="zh-CN" sz="1800" dirty="0">
              <a:latin typeface="Microsoft YaHei" charset="-122"/>
              <a:ea typeface="Microsoft YaHei" charset="-122"/>
              <a:cs typeface="Microsoft YaHei" charset="-122"/>
            </a:endParaRPr>
          </a:p>
          <a:p>
            <a:endParaRPr lang="en-US" altLang="zh-CN" sz="1800" dirty="0">
              <a:latin typeface="Microsoft YaHei" charset="-122"/>
              <a:ea typeface="Microsoft YaHei" charset="-122"/>
              <a:cs typeface="Microsoft YaHei" charset="-122"/>
            </a:endParaRPr>
          </a:p>
        </p:txBody>
      </p:sp>
      <p:sp>
        <p:nvSpPr>
          <p:cNvPr id="52" name="灯片编号占位符 2"/>
          <p:cNvSpPr txBox="1">
            <a:spLocks/>
          </p:cNvSpPr>
          <p:nvPr/>
        </p:nvSpPr>
        <p:spPr bwMode="auto">
          <a:xfrm>
            <a:off x="5461225" y="4680080"/>
            <a:ext cx="16002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pPr algn="r" defTabSz="685800" fontAlgn="base">
              <a:spcBef>
                <a:spcPct val="0"/>
              </a:spcBef>
              <a:spcAft>
                <a:spcPct val="0"/>
              </a:spcAft>
              <a:defRPr/>
            </a:pPr>
            <a:fld id="{6FAA2968-6817-4249-A386-A94E4C7AFEE2}" type="slidenum">
              <a:rPr lang="en-US" sz="1050">
                <a:latin typeface="Microsoft YaHei" charset="-122"/>
                <a:ea typeface="Microsoft YaHei" charset="-122"/>
                <a:cs typeface="Microsoft YaHei" charset="-122"/>
              </a:rPr>
              <a:pPr algn="r" defTabSz="685800" fontAlgn="base">
                <a:spcBef>
                  <a:spcPct val="0"/>
                </a:spcBef>
                <a:spcAft>
                  <a:spcPct val="0"/>
                </a:spcAft>
                <a:defRPr/>
              </a:pPr>
              <a:t>3</a:t>
            </a:fld>
            <a:endParaRPr lang="en-US" sz="1050" dirty="0">
              <a:latin typeface="Microsoft YaHei" charset="-122"/>
              <a:ea typeface="Microsoft YaHei" charset="-122"/>
              <a:cs typeface="Microsoft YaHei" charset="-122"/>
            </a:endParaRPr>
          </a:p>
        </p:txBody>
      </p:sp>
      <p:sp>
        <p:nvSpPr>
          <p:cNvPr id="57" name="Right Arrow 56"/>
          <p:cNvSpPr/>
          <p:nvPr/>
        </p:nvSpPr>
        <p:spPr>
          <a:xfrm>
            <a:off x="3149194" y="3496554"/>
            <a:ext cx="776625" cy="278969"/>
          </a:xfrm>
          <a:prstGeom prst="rightArrow">
            <a:avLst/>
          </a:prstGeom>
          <a:ln>
            <a:headEnd type="none"/>
            <a:tailEnd type="triangle"/>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sz="1350">
              <a:solidFill>
                <a:srgbClr val="FF0000"/>
              </a:solidFill>
              <a:latin typeface="Microsoft YaHei" charset="-122"/>
              <a:ea typeface="Microsoft YaHei" charset="-122"/>
              <a:cs typeface="Microsoft YaHei" charset="-122"/>
            </a:endParaRPr>
          </a:p>
        </p:txBody>
      </p:sp>
      <p:sp>
        <p:nvSpPr>
          <p:cNvPr id="58" name="Rectangle 57"/>
          <p:cNvSpPr/>
          <p:nvPr/>
        </p:nvSpPr>
        <p:spPr>
          <a:xfrm>
            <a:off x="2765982" y="3157392"/>
            <a:ext cx="1543050" cy="323165"/>
          </a:xfrm>
          <a:prstGeom prst="rect">
            <a:avLst/>
          </a:prstGeom>
        </p:spPr>
        <p:txBody>
          <a:bodyPr wrap="square">
            <a:spAutoFit/>
          </a:bodyPr>
          <a:lstStyle/>
          <a:p>
            <a:pPr algn="ctr"/>
            <a:r>
              <a:rPr lang="zh-CN" altLang="en-US" sz="1500" dirty="0">
                <a:latin typeface="Microsoft YaHei" charset="-122"/>
                <a:ea typeface="Microsoft YaHei" charset="-122"/>
                <a:cs typeface="Microsoft YaHei" charset="-122"/>
              </a:rPr>
              <a:t>文本表达</a:t>
            </a:r>
          </a:p>
        </p:txBody>
      </p:sp>
      <p:graphicFrame>
        <p:nvGraphicFramePr>
          <p:cNvPr id="64" name="Table 63"/>
          <p:cNvGraphicFramePr>
            <a:graphicFrameLocks noGrp="1"/>
          </p:cNvGraphicFramePr>
          <p:nvPr>
            <p:extLst>
              <p:ext uri="{D42A27DB-BD31-4B8C-83A1-F6EECF244321}">
                <p14:modId xmlns:p14="http://schemas.microsoft.com/office/powerpoint/2010/main" val="2050340603"/>
              </p:ext>
            </p:extLst>
          </p:nvPr>
        </p:nvGraphicFramePr>
        <p:xfrm>
          <a:off x="4086279" y="2086854"/>
          <a:ext cx="2955132" cy="1409700"/>
        </p:xfrm>
        <a:graphic>
          <a:graphicData uri="http://schemas.openxmlformats.org/drawingml/2006/table">
            <a:tbl>
              <a:tblPr firstRow="1" bandRow="1">
                <a:tableStyleId>{21E4AEA4-8DFA-4A89-87EB-49C32662AFE0}</a:tableStyleId>
              </a:tblPr>
              <a:tblGrid>
                <a:gridCol w="608648">
                  <a:extLst>
                    <a:ext uri="{9D8B030D-6E8A-4147-A177-3AD203B41FA5}">
                      <a16:colId xmlns:a16="http://schemas.microsoft.com/office/drawing/2014/main" val="20000"/>
                    </a:ext>
                  </a:extLst>
                </a:gridCol>
                <a:gridCol w="611029">
                  <a:extLst>
                    <a:ext uri="{9D8B030D-6E8A-4147-A177-3AD203B41FA5}">
                      <a16:colId xmlns:a16="http://schemas.microsoft.com/office/drawing/2014/main" val="20001"/>
                    </a:ext>
                  </a:extLst>
                </a:gridCol>
                <a:gridCol w="611029">
                  <a:extLst>
                    <a:ext uri="{9D8B030D-6E8A-4147-A177-3AD203B41FA5}">
                      <a16:colId xmlns:a16="http://schemas.microsoft.com/office/drawing/2014/main" val="20002"/>
                    </a:ext>
                  </a:extLst>
                </a:gridCol>
                <a:gridCol w="438626">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tblGrid>
              <a:tr h="278130">
                <a:tc>
                  <a:txBody>
                    <a:bodyPr/>
                    <a:lstStyle/>
                    <a:p>
                      <a:endParaRPr lang="zh-CN" altLang="en-US" sz="1400" dirty="0"/>
                    </a:p>
                  </a:txBody>
                  <a:tcPr marL="68580" marR="68580" marT="34290" marB="34290"/>
                </a:tc>
                <a:tc>
                  <a:txBody>
                    <a:bodyPr/>
                    <a:lstStyle/>
                    <a:p>
                      <a:r>
                        <a:rPr lang="zh-CN" altLang="en-US" sz="1400" dirty="0"/>
                        <a:t>维度</a:t>
                      </a:r>
                      <a:r>
                        <a:rPr lang="en-US" altLang="zh-CN" sz="1400" dirty="0"/>
                        <a:t>1</a:t>
                      </a:r>
                      <a:endParaRPr lang="zh-CN" altLang="en-US" sz="1400" dirty="0"/>
                    </a:p>
                  </a:txBody>
                  <a:tcPr marL="68580" marR="68580" marT="34290" marB="34290"/>
                </a:tc>
                <a:tc>
                  <a:txBody>
                    <a:bodyPr/>
                    <a:lstStyle/>
                    <a:p>
                      <a:r>
                        <a:rPr lang="zh-CN" altLang="en-US" sz="1400" dirty="0"/>
                        <a:t>维度</a:t>
                      </a:r>
                      <a:r>
                        <a:rPr lang="en-US" altLang="zh-CN" sz="1400" dirty="0"/>
                        <a:t>2</a:t>
                      </a:r>
                      <a:endParaRPr lang="zh-CN" altLang="en-US" sz="1400" dirty="0"/>
                    </a:p>
                  </a:txBody>
                  <a:tcPr marL="68580" marR="68580" marT="34290" marB="34290"/>
                </a:tc>
                <a:tc>
                  <a:txBody>
                    <a:bodyPr/>
                    <a:lstStyle/>
                    <a:p>
                      <a:pPr algn="ctr"/>
                      <a:r>
                        <a:rPr lang="en-US" altLang="zh-CN" sz="1400" dirty="0"/>
                        <a:t>…</a:t>
                      </a:r>
                      <a:endParaRPr lang="zh-CN" altLang="en-US" sz="1400" dirty="0"/>
                    </a:p>
                  </a:txBody>
                  <a:tcPr marL="68580" marR="68580" marT="34290" marB="34290"/>
                </a:tc>
                <a:tc>
                  <a:txBody>
                    <a:bodyPr/>
                    <a:lstStyle/>
                    <a:p>
                      <a:r>
                        <a:rPr lang="zh-CN" altLang="en-US" sz="1400" dirty="0"/>
                        <a:t>维度</a:t>
                      </a:r>
                      <a:r>
                        <a:rPr lang="en-US" altLang="zh-CN" sz="1400" dirty="0"/>
                        <a:t>K</a:t>
                      </a:r>
                      <a:endParaRPr lang="zh-CN" altLang="en-US" sz="1400" dirty="0"/>
                    </a:p>
                  </a:txBody>
                  <a:tcPr marL="68580" marR="68580" marT="34290" marB="34290"/>
                </a:tc>
                <a:extLst>
                  <a:ext uri="{0D108BD9-81ED-4DB2-BD59-A6C34878D82A}">
                    <a16:rowId xmlns:a16="http://schemas.microsoft.com/office/drawing/2014/main" val="10000"/>
                  </a:ext>
                </a:extLst>
              </a:tr>
              <a:tr h="278130">
                <a:tc>
                  <a:txBody>
                    <a:bodyPr/>
                    <a:lstStyle/>
                    <a:p>
                      <a:r>
                        <a:rPr lang="zh-CN" altLang="en-US" sz="1400" dirty="0"/>
                        <a:t>单词</a:t>
                      </a:r>
                      <a:r>
                        <a:rPr lang="en-US" altLang="zh-CN" sz="1400" dirty="0"/>
                        <a:t>1</a:t>
                      </a:r>
                      <a:endParaRPr lang="zh-CN" altLang="en-US" sz="1400" dirty="0"/>
                    </a:p>
                  </a:txBody>
                  <a:tcPr marL="68580" marR="68580" marT="34290" marB="34290"/>
                </a:tc>
                <a:tc>
                  <a:txBody>
                    <a:bodyPr/>
                    <a:lstStyle/>
                    <a:p>
                      <a:endParaRPr lang="zh-CN" altLang="en-US" sz="1400" dirty="0"/>
                    </a:p>
                  </a:txBody>
                  <a:tcPr marL="68580" marR="68580" marT="34290" marB="34290"/>
                </a:tc>
                <a:tc>
                  <a:txBody>
                    <a:bodyPr/>
                    <a:lstStyle/>
                    <a:p>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extLst>
                  <a:ext uri="{0D108BD9-81ED-4DB2-BD59-A6C34878D82A}">
                    <a16:rowId xmlns:a16="http://schemas.microsoft.com/office/drawing/2014/main" val="10001"/>
                  </a:ext>
                </a:extLst>
              </a:tr>
              <a:tr h="278130">
                <a:tc>
                  <a:txBody>
                    <a:bodyPr/>
                    <a:lstStyle/>
                    <a:p>
                      <a:r>
                        <a:rPr lang="zh-CN" altLang="en-US" sz="1400" dirty="0"/>
                        <a:t>单词</a:t>
                      </a:r>
                      <a:r>
                        <a:rPr lang="en-US" altLang="zh-CN" sz="1400" dirty="0"/>
                        <a:t>2</a:t>
                      </a:r>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extLst>
                  <a:ext uri="{0D108BD9-81ED-4DB2-BD59-A6C34878D82A}">
                    <a16:rowId xmlns:a16="http://schemas.microsoft.com/office/drawing/2014/main" val="10002"/>
                  </a:ext>
                </a:extLst>
              </a:tr>
              <a:tr h="278130">
                <a:tc>
                  <a:txBody>
                    <a:bodyPr/>
                    <a:lstStyle/>
                    <a:p>
                      <a:pPr algn="ctr"/>
                      <a:r>
                        <a:rPr lang="en-US" altLang="zh-CN" sz="1400" dirty="0"/>
                        <a:t>…</a:t>
                      </a:r>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extLst>
                  <a:ext uri="{0D108BD9-81ED-4DB2-BD59-A6C34878D82A}">
                    <a16:rowId xmlns:a16="http://schemas.microsoft.com/office/drawing/2014/main" val="10003"/>
                  </a:ext>
                </a:extLst>
              </a:tr>
              <a:tr h="278130">
                <a:tc>
                  <a:txBody>
                    <a:bodyPr/>
                    <a:lstStyle/>
                    <a:p>
                      <a:r>
                        <a:rPr lang="zh-CN" altLang="en-US" sz="1400" dirty="0"/>
                        <a:t>单词</a:t>
                      </a:r>
                      <a:r>
                        <a:rPr lang="en-US" altLang="zh-CN" sz="1400" dirty="0"/>
                        <a:t>N</a:t>
                      </a:r>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dirty="0"/>
                    </a:p>
                  </a:txBody>
                  <a:tcPr marL="68580" marR="68580" marT="34290" marB="34290"/>
                </a:tc>
                <a:tc>
                  <a:txBody>
                    <a:bodyPr/>
                    <a:lstStyle/>
                    <a:p>
                      <a:endParaRPr lang="zh-CN" altLang="en-US" sz="1400" dirty="0"/>
                    </a:p>
                  </a:txBody>
                  <a:tcPr marL="68580" marR="68580" marT="34290" marB="34290"/>
                </a:tc>
                <a:extLst>
                  <a:ext uri="{0D108BD9-81ED-4DB2-BD59-A6C34878D82A}">
                    <a16:rowId xmlns:a16="http://schemas.microsoft.com/office/drawing/2014/main" val="10004"/>
                  </a:ext>
                </a:extLst>
              </a:tr>
            </a:tbl>
          </a:graphicData>
        </a:graphic>
      </p:graphicFrame>
      <p:graphicFrame>
        <p:nvGraphicFramePr>
          <p:cNvPr id="13" name="Table 63"/>
          <p:cNvGraphicFramePr>
            <a:graphicFrameLocks noGrp="1"/>
          </p:cNvGraphicFramePr>
          <p:nvPr>
            <p:extLst>
              <p:ext uri="{D42A27DB-BD31-4B8C-83A1-F6EECF244321}">
                <p14:modId xmlns:p14="http://schemas.microsoft.com/office/powerpoint/2010/main" val="1551914859"/>
              </p:ext>
            </p:extLst>
          </p:nvPr>
        </p:nvGraphicFramePr>
        <p:xfrm>
          <a:off x="4086278" y="3631407"/>
          <a:ext cx="2955132" cy="1409700"/>
        </p:xfrm>
        <a:graphic>
          <a:graphicData uri="http://schemas.openxmlformats.org/drawingml/2006/table">
            <a:tbl>
              <a:tblPr firstRow="1" bandRow="1">
                <a:tableStyleId>{21E4AEA4-8DFA-4A89-87EB-49C32662AFE0}</a:tableStyleId>
              </a:tblPr>
              <a:tblGrid>
                <a:gridCol w="660422">
                  <a:extLst>
                    <a:ext uri="{9D8B030D-6E8A-4147-A177-3AD203B41FA5}">
                      <a16:colId xmlns:a16="http://schemas.microsoft.com/office/drawing/2014/main" val="20000"/>
                    </a:ext>
                  </a:extLst>
                </a:gridCol>
                <a:gridCol w="597547">
                  <a:extLst>
                    <a:ext uri="{9D8B030D-6E8A-4147-A177-3AD203B41FA5}">
                      <a16:colId xmlns:a16="http://schemas.microsoft.com/office/drawing/2014/main" val="20001"/>
                    </a:ext>
                  </a:extLst>
                </a:gridCol>
                <a:gridCol w="597547">
                  <a:extLst>
                    <a:ext uri="{9D8B030D-6E8A-4147-A177-3AD203B41FA5}">
                      <a16:colId xmlns:a16="http://schemas.microsoft.com/office/drawing/2014/main" val="20002"/>
                    </a:ext>
                  </a:extLst>
                </a:gridCol>
                <a:gridCol w="428948">
                  <a:extLst>
                    <a:ext uri="{9D8B030D-6E8A-4147-A177-3AD203B41FA5}">
                      <a16:colId xmlns:a16="http://schemas.microsoft.com/office/drawing/2014/main" val="20003"/>
                    </a:ext>
                  </a:extLst>
                </a:gridCol>
                <a:gridCol w="670668">
                  <a:extLst>
                    <a:ext uri="{9D8B030D-6E8A-4147-A177-3AD203B41FA5}">
                      <a16:colId xmlns:a16="http://schemas.microsoft.com/office/drawing/2014/main" val="20004"/>
                    </a:ext>
                  </a:extLst>
                </a:gridCol>
              </a:tblGrid>
              <a:tr h="278130">
                <a:tc>
                  <a:txBody>
                    <a:bodyPr/>
                    <a:lstStyle/>
                    <a:p>
                      <a:endParaRPr lang="zh-CN" altLang="en-US" sz="1400" dirty="0"/>
                    </a:p>
                  </a:txBody>
                  <a:tcPr marL="68580" marR="68580" marT="34290" marB="34290"/>
                </a:tc>
                <a:tc>
                  <a:txBody>
                    <a:bodyPr/>
                    <a:lstStyle/>
                    <a:p>
                      <a:r>
                        <a:rPr lang="zh-CN" altLang="en-US" sz="1400" dirty="0"/>
                        <a:t>维度</a:t>
                      </a:r>
                      <a:r>
                        <a:rPr lang="en-US" altLang="zh-CN" sz="1400" dirty="0"/>
                        <a:t>1</a:t>
                      </a:r>
                      <a:endParaRPr lang="zh-CN" altLang="en-US" sz="1400" dirty="0"/>
                    </a:p>
                  </a:txBody>
                  <a:tcPr marL="68580" marR="68580" marT="34290" marB="34290"/>
                </a:tc>
                <a:tc>
                  <a:txBody>
                    <a:bodyPr/>
                    <a:lstStyle/>
                    <a:p>
                      <a:r>
                        <a:rPr lang="zh-CN" altLang="en-US" sz="1400" dirty="0"/>
                        <a:t>维度</a:t>
                      </a:r>
                      <a:r>
                        <a:rPr lang="en-US" altLang="zh-CN" sz="1400" dirty="0"/>
                        <a:t>2</a:t>
                      </a:r>
                      <a:endParaRPr lang="zh-CN" altLang="en-US" sz="1400" dirty="0"/>
                    </a:p>
                  </a:txBody>
                  <a:tcPr marL="68580" marR="68580" marT="34290" marB="34290"/>
                </a:tc>
                <a:tc>
                  <a:txBody>
                    <a:bodyPr/>
                    <a:lstStyle/>
                    <a:p>
                      <a:pPr algn="ctr"/>
                      <a:r>
                        <a:rPr lang="en-US" altLang="zh-CN" sz="1400" dirty="0"/>
                        <a:t>…</a:t>
                      </a:r>
                      <a:endParaRPr lang="zh-CN" altLang="en-US" sz="1400" dirty="0"/>
                    </a:p>
                  </a:txBody>
                  <a:tcPr marL="68580" marR="68580" marT="34290" marB="34290"/>
                </a:tc>
                <a:tc>
                  <a:txBody>
                    <a:bodyPr/>
                    <a:lstStyle/>
                    <a:p>
                      <a:r>
                        <a:rPr lang="zh-CN" altLang="en-US" sz="1400" dirty="0"/>
                        <a:t>维度</a:t>
                      </a:r>
                      <a:r>
                        <a:rPr lang="en-US" altLang="zh-CN" sz="1400" dirty="0"/>
                        <a:t>K</a:t>
                      </a:r>
                      <a:endParaRPr lang="zh-CN" altLang="en-US" sz="1400" dirty="0"/>
                    </a:p>
                  </a:txBody>
                  <a:tcPr marL="68580" marR="68580" marT="34290" marB="34290"/>
                </a:tc>
                <a:extLst>
                  <a:ext uri="{0D108BD9-81ED-4DB2-BD59-A6C34878D82A}">
                    <a16:rowId xmlns:a16="http://schemas.microsoft.com/office/drawing/2014/main" val="10000"/>
                  </a:ext>
                </a:extLst>
              </a:tr>
              <a:tr h="278130">
                <a:tc>
                  <a:txBody>
                    <a:bodyPr/>
                    <a:lstStyle/>
                    <a:p>
                      <a:r>
                        <a:rPr lang="zh-CN" altLang="en-US" sz="1400" dirty="0"/>
                        <a:t>文档</a:t>
                      </a:r>
                      <a:r>
                        <a:rPr lang="en-US" altLang="zh-CN" sz="1400" dirty="0"/>
                        <a:t>1</a:t>
                      </a:r>
                      <a:endParaRPr lang="zh-CN" altLang="en-US" sz="1400" dirty="0"/>
                    </a:p>
                  </a:txBody>
                  <a:tcPr marL="68580" marR="68580" marT="34290" marB="34290"/>
                </a:tc>
                <a:tc>
                  <a:txBody>
                    <a:bodyPr/>
                    <a:lstStyle/>
                    <a:p>
                      <a:endParaRPr lang="zh-CN" altLang="en-US" sz="1400" dirty="0"/>
                    </a:p>
                  </a:txBody>
                  <a:tcPr marL="68580" marR="68580" marT="34290" marB="34290"/>
                </a:tc>
                <a:tc>
                  <a:txBody>
                    <a:bodyPr/>
                    <a:lstStyle/>
                    <a:p>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extLst>
                  <a:ext uri="{0D108BD9-81ED-4DB2-BD59-A6C34878D82A}">
                    <a16:rowId xmlns:a16="http://schemas.microsoft.com/office/drawing/2014/main" val="10001"/>
                  </a:ext>
                </a:extLst>
              </a:tr>
              <a:tr h="278130">
                <a:tc>
                  <a:txBody>
                    <a:bodyPr/>
                    <a:lstStyle/>
                    <a:p>
                      <a:r>
                        <a:rPr lang="zh-CN" altLang="en-US" sz="1400" dirty="0"/>
                        <a:t>文档</a:t>
                      </a:r>
                      <a:r>
                        <a:rPr lang="en-US" altLang="zh-CN" sz="1400" dirty="0"/>
                        <a:t>2</a:t>
                      </a:r>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dirty="0"/>
                    </a:p>
                  </a:txBody>
                  <a:tcPr marL="68580" marR="68580" marT="34290" marB="34290"/>
                </a:tc>
                <a:extLst>
                  <a:ext uri="{0D108BD9-81ED-4DB2-BD59-A6C34878D82A}">
                    <a16:rowId xmlns:a16="http://schemas.microsoft.com/office/drawing/2014/main" val="10002"/>
                  </a:ext>
                </a:extLst>
              </a:tr>
              <a:tr h="278130">
                <a:tc>
                  <a:txBody>
                    <a:bodyPr/>
                    <a:lstStyle/>
                    <a:p>
                      <a:pPr algn="ctr"/>
                      <a:r>
                        <a:rPr lang="en-US" altLang="zh-CN" sz="1400" dirty="0"/>
                        <a:t>…</a:t>
                      </a:r>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extLst>
                  <a:ext uri="{0D108BD9-81ED-4DB2-BD59-A6C34878D82A}">
                    <a16:rowId xmlns:a16="http://schemas.microsoft.com/office/drawing/2014/main" val="10003"/>
                  </a:ext>
                </a:extLst>
              </a:tr>
              <a:tr h="278130">
                <a:tc>
                  <a:txBody>
                    <a:bodyPr/>
                    <a:lstStyle/>
                    <a:p>
                      <a:r>
                        <a:rPr lang="zh-CN" altLang="en-US" sz="1400" dirty="0"/>
                        <a:t>文档</a:t>
                      </a:r>
                      <a:r>
                        <a:rPr lang="en-US" altLang="zh-CN" sz="1400" dirty="0"/>
                        <a:t>M</a:t>
                      </a:r>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dirty="0"/>
                    </a:p>
                  </a:txBody>
                  <a:tcPr marL="68580" marR="68580" marT="34290" marB="34290"/>
                </a:tc>
                <a:tc>
                  <a:txBody>
                    <a:bodyPr/>
                    <a:lstStyle/>
                    <a:p>
                      <a:endParaRPr lang="zh-CN" altLang="en-US" sz="1400" dirty="0"/>
                    </a:p>
                  </a:txBody>
                  <a:tcPr marL="68580" marR="68580" marT="34290" marB="34290"/>
                </a:tc>
                <a:extLst>
                  <a:ext uri="{0D108BD9-81ED-4DB2-BD59-A6C34878D82A}">
                    <a16:rowId xmlns:a16="http://schemas.microsoft.com/office/drawing/2014/main" val="10004"/>
                  </a:ext>
                </a:extLst>
              </a:tr>
            </a:tbl>
          </a:graphicData>
        </a:graphic>
      </p:graphicFrame>
      <p:pic>
        <p:nvPicPr>
          <p:cNvPr id="14" name="图片 13"/>
          <p:cNvPicPr>
            <a:picLocks noChangeAspect="1"/>
          </p:cNvPicPr>
          <p:nvPr/>
        </p:nvPicPr>
        <p:blipFill>
          <a:blip r:embed="rId3"/>
          <a:stretch>
            <a:fillRect/>
          </a:stretch>
        </p:blipFill>
        <p:spPr>
          <a:xfrm>
            <a:off x="1379309" y="2756472"/>
            <a:ext cx="1749870" cy="1749870"/>
          </a:xfrm>
          <a:prstGeom prst="rect">
            <a:avLst/>
          </a:prstGeom>
        </p:spPr>
      </p:pic>
    </p:spTree>
    <p:extLst>
      <p:ext uri="{BB962C8B-B14F-4D97-AF65-F5344CB8AC3E}">
        <p14:creationId xmlns:p14="http://schemas.microsoft.com/office/powerpoint/2010/main" val="1010143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以关键词搜索场景为例</a:t>
            </a:r>
            <a:endParaRPr lang="en-US" dirty="0"/>
          </a:p>
        </p:txBody>
      </p:sp>
      <p:sp>
        <p:nvSpPr>
          <p:cNvPr id="3" name="Content Placeholder 2"/>
          <p:cNvSpPr>
            <a:spLocks noGrp="1"/>
          </p:cNvSpPr>
          <p:nvPr>
            <p:ph idx="1"/>
          </p:nvPr>
        </p:nvSpPr>
        <p:spPr/>
        <p:txBody>
          <a:bodyPr/>
          <a:lstStyle/>
          <a:p>
            <a:r>
              <a:rPr lang="zh-CN" altLang="en-US" dirty="0"/>
              <a:t>考虑以下</a:t>
            </a:r>
            <a:r>
              <a:rPr lang="en-US" altLang="zh-CN" dirty="0"/>
              <a:t>5</a:t>
            </a:r>
            <a:r>
              <a:rPr lang="zh-CN" altLang="en-US" dirty="0"/>
              <a:t>篇文档，与关键词查询“</a:t>
            </a:r>
            <a:r>
              <a:rPr lang="en-US" altLang="zh-CN" dirty="0"/>
              <a:t>dies, dagger</a:t>
            </a:r>
            <a:r>
              <a:rPr lang="zh-CN" altLang="en-US" dirty="0"/>
              <a:t>”</a:t>
            </a:r>
            <a:endParaRPr lang="en-US" dirty="0"/>
          </a:p>
          <a:p>
            <a:pPr lvl="1"/>
            <a:r>
              <a:rPr lang="en-US" sz="2000" dirty="0">
                <a:latin typeface="Calibri" charset="0"/>
                <a:ea typeface="Calibri" charset="0"/>
                <a:cs typeface="Calibri" charset="0"/>
              </a:rPr>
              <a:t>d1 : Romeo and Juliet. </a:t>
            </a:r>
          </a:p>
          <a:p>
            <a:pPr lvl="1"/>
            <a:r>
              <a:rPr lang="en-US" sz="2000" dirty="0">
                <a:latin typeface="Calibri" charset="0"/>
                <a:ea typeface="Calibri" charset="0"/>
                <a:cs typeface="Calibri" charset="0"/>
              </a:rPr>
              <a:t>d2 : Juliet: O happy dagger! </a:t>
            </a:r>
          </a:p>
          <a:p>
            <a:pPr lvl="1"/>
            <a:r>
              <a:rPr lang="en-US" sz="2000" dirty="0">
                <a:latin typeface="Calibri" charset="0"/>
                <a:ea typeface="Calibri" charset="0"/>
                <a:cs typeface="Calibri" charset="0"/>
              </a:rPr>
              <a:t>d3 : Romeo died by dagger. </a:t>
            </a:r>
          </a:p>
          <a:p>
            <a:pPr lvl="1"/>
            <a:r>
              <a:rPr lang="en-US" sz="2000" dirty="0">
                <a:latin typeface="Calibri" charset="0"/>
                <a:ea typeface="Calibri" charset="0"/>
                <a:cs typeface="Calibri" charset="0"/>
              </a:rPr>
              <a:t>d4 : “Live free or die”, that’s the New-Hampshire</a:t>
            </a:r>
            <a:r>
              <a:rPr lang="zh-CN" altLang="en-US" sz="2000" dirty="0">
                <a:latin typeface="Calibri" charset="0"/>
                <a:ea typeface="Calibri" charset="0"/>
                <a:cs typeface="Calibri" charset="0"/>
              </a:rPr>
              <a:t>‘</a:t>
            </a:r>
            <a:r>
              <a:rPr lang="en-US" sz="2000" dirty="0">
                <a:latin typeface="Calibri" charset="0"/>
                <a:ea typeface="Calibri" charset="0"/>
                <a:cs typeface="Calibri" charset="0"/>
              </a:rPr>
              <a:t>s motto. </a:t>
            </a:r>
          </a:p>
          <a:p>
            <a:pPr lvl="1"/>
            <a:r>
              <a:rPr lang="en-US" sz="2000" dirty="0">
                <a:latin typeface="Calibri" charset="0"/>
                <a:ea typeface="Calibri" charset="0"/>
                <a:cs typeface="Calibri" charset="0"/>
              </a:rPr>
              <a:t>d5 : Did you know, New-Hampshire is in New-England</a:t>
            </a:r>
          </a:p>
          <a:p>
            <a:endParaRPr lang="en-US" dirty="0"/>
          </a:p>
          <a:p>
            <a:r>
              <a:rPr lang="zh-CN" altLang="en-US" dirty="0"/>
              <a:t>你觉得文档</a:t>
            </a:r>
            <a:r>
              <a:rPr lang="en-US" altLang="zh-CN" dirty="0"/>
              <a:t>d1</a:t>
            </a:r>
            <a:r>
              <a:rPr lang="zh-CN" altLang="en-US" dirty="0"/>
              <a:t>和</a:t>
            </a:r>
            <a:r>
              <a:rPr lang="en-US" altLang="zh-CN" dirty="0"/>
              <a:t>d4</a:t>
            </a:r>
            <a:r>
              <a:rPr lang="zh-CN" altLang="en-US" dirty="0"/>
              <a:t>哪个与查询更相关？</a:t>
            </a:r>
            <a:endParaRPr lang="en-US" altLang="zh-CN" dirty="0"/>
          </a:p>
          <a:p>
            <a:endParaRPr lang="en-US" dirty="0"/>
          </a:p>
          <a:p>
            <a:r>
              <a:rPr lang="zh-CN" altLang="en-US" dirty="0"/>
              <a:t>计算机能自动推理出这个吗？</a:t>
            </a:r>
            <a:endParaRPr lang="en-US" dirty="0"/>
          </a:p>
        </p:txBody>
      </p:sp>
      <p:sp>
        <p:nvSpPr>
          <p:cNvPr id="4" name="文本框 6">
            <a:extLst>
              <a:ext uri="{FF2B5EF4-FFF2-40B4-BE49-F238E27FC236}">
                <a16:creationId xmlns:a16="http://schemas.microsoft.com/office/drawing/2014/main" id="{6D380C88-83F5-3145-B685-886838884200}"/>
              </a:ext>
            </a:extLst>
          </p:cNvPr>
          <p:cNvSpPr txBox="1"/>
          <p:nvPr/>
        </p:nvSpPr>
        <p:spPr>
          <a:xfrm>
            <a:off x="6617748" y="3649200"/>
            <a:ext cx="787395" cy="646331"/>
          </a:xfrm>
          <a:prstGeom prst="rect">
            <a:avLst/>
          </a:prstGeom>
          <a:noFill/>
        </p:spPr>
        <p:txBody>
          <a:bodyPr wrap="none" rtlCol="0">
            <a:spAutoFit/>
          </a:bodyPr>
          <a:lstStyle/>
          <a:p>
            <a:r>
              <a:rPr kumimoji="1" lang="en-US" altLang="zh-CN" dirty="0">
                <a:solidFill>
                  <a:srgbClr val="C00000"/>
                </a:solidFill>
              </a:rPr>
              <a:t>A</a:t>
            </a:r>
            <a:r>
              <a:rPr kumimoji="1" lang="zh-CN" altLang="en-US" dirty="0">
                <a:solidFill>
                  <a:srgbClr val="C00000"/>
                </a:solidFill>
              </a:rPr>
              <a:t>：</a:t>
            </a:r>
            <a:r>
              <a:rPr kumimoji="1" lang="en-US" altLang="zh-CN" dirty="0">
                <a:solidFill>
                  <a:srgbClr val="C00000"/>
                </a:solidFill>
              </a:rPr>
              <a:t>d1</a:t>
            </a:r>
          </a:p>
          <a:p>
            <a:r>
              <a:rPr kumimoji="1" lang="en-US" altLang="zh-CN" dirty="0">
                <a:solidFill>
                  <a:srgbClr val="C00000"/>
                </a:solidFill>
              </a:rPr>
              <a:t>B</a:t>
            </a:r>
            <a:r>
              <a:rPr kumimoji="1" lang="zh-CN" altLang="en-US" dirty="0">
                <a:solidFill>
                  <a:srgbClr val="C00000"/>
                </a:solidFill>
              </a:rPr>
              <a:t>：</a:t>
            </a:r>
            <a:r>
              <a:rPr kumimoji="1" lang="en-US" altLang="zh-CN" dirty="0">
                <a:solidFill>
                  <a:srgbClr val="C00000"/>
                </a:solidFill>
              </a:rPr>
              <a:t>d4</a:t>
            </a:r>
          </a:p>
        </p:txBody>
      </p:sp>
      <p:sp>
        <p:nvSpPr>
          <p:cNvPr id="5" name="Rectangle 4"/>
          <p:cNvSpPr/>
          <p:nvPr/>
        </p:nvSpPr>
        <p:spPr>
          <a:xfrm>
            <a:off x="6783135" y="3125980"/>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2655000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TextBox 1"/>
          <p:cNvSpPr txBox="1"/>
          <p:nvPr/>
        </p:nvSpPr>
        <p:spPr>
          <a:xfrm>
            <a:off x="3995936" y="157881"/>
            <a:ext cx="1210588" cy="707886"/>
          </a:xfrm>
          <a:prstGeom prst="rect">
            <a:avLst/>
          </a:prstGeom>
          <a:noFill/>
        </p:spPr>
        <p:txBody>
          <a:bodyPr wrap="none" rtlCol="0">
            <a:spAutoFit/>
          </a:bodyPr>
          <a:lstStyle/>
          <a:p>
            <a:r>
              <a:rPr lang="zh-CN" altLang="en-US" sz="4000" dirty="0">
                <a:latin typeface="方正兰亭细黑_GBK" pitchFamily="2" charset="-122"/>
                <a:ea typeface="方正兰亭细黑_GBK" pitchFamily="2" charset="-122"/>
              </a:rPr>
              <a:t>提纲</a:t>
            </a:r>
          </a:p>
        </p:txBody>
      </p:sp>
      <p:sp>
        <p:nvSpPr>
          <p:cNvPr id="3" name="TextBox 2"/>
          <p:cNvSpPr txBox="1"/>
          <p:nvPr/>
        </p:nvSpPr>
        <p:spPr>
          <a:xfrm>
            <a:off x="1121124" y="3052428"/>
            <a:ext cx="1537664" cy="307777"/>
          </a:xfrm>
          <a:prstGeom prst="rect">
            <a:avLst/>
          </a:prstGeom>
          <a:noFill/>
        </p:spPr>
        <p:txBody>
          <a:bodyPr wrap="square" lIns="0" tIns="0" rIns="0" bIns="0"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文本表示</a:t>
            </a: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529959" y="1082507"/>
            <a:ext cx="4515009" cy="2250488"/>
          </a:xfrm>
          <a:prstGeom prst="rect">
            <a:avLst/>
          </a:prstGeom>
          <a:noFill/>
        </p:spPr>
        <p:txBody>
          <a:bodyPr wrap="square" rtlCol="0">
            <a:spAutoFit/>
          </a:bodyPr>
          <a:lstStyle/>
          <a:p>
            <a:pPr marL="342900" indent="-342900" algn="just">
              <a:lnSpc>
                <a:spcPct val="150000"/>
              </a:lnSpc>
              <a:buFont typeface="+mj-lt"/>
              <a:buAutoNum type="arabicPeriod"/>
            </a:pPr>
            <a:r>
              <a:rPr lang="zh-CN" altLang="en-US" sz="1600" b="1" dirty="0">
                <a:solidFill>
                  <a:schemeClr val="tx2"/>
                </a:solidFill>
                <a:latin typeface="Heiti SC Medium" pitchFamily="2" charset="-128"/>
                <a:ea typeface="Heiti SC Medium" pitchFamily="2" charset="-128"/>
                <a:cs typeface="Yuppy SC" panose="020F0603040207020204" pitchFamily="34" charset="-122"/>
              </a:rPr>
              <a:t>文本的独热表示</a:t>
            </a:r>
            <a:endParaRPr lang="en-US" altLang="zh-CN" sz="1600" b="1" dirty="0">
              <a:solidFill>
                <a:schemeClr val="tx2"/>
              </a:solidFill>
              <a:latin typeface="Heiti SC Medium" pitchFamily="2" charset="-128"/>
              <a:ea typeface="Heiti SC Medium" pitchFamily="2" charset="-128"/>
              <a:cs typeface="Yuppy SC" panose="020F0603040207020204" pitchFamily="34" charset="-122"/>
            </a:endParaRPr>
          </a:p>
          <a:p>
            <a:pPr marL="342900" indent="-342900" algn="just">
              <a:lnSpc>
                <a:spcPct val="150000"/>
              </a:lnSpc>
              <a:buFont typeface="+mj-ea"/>
              <a:buAutoNum type="arabicPeriod"/>
            </a:pPr>
            <a:r>
              <a:rPr lang="zh-CN" altLang="en-US"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rPr>
              <a:t>文本的分布式表示：主题模型</a:t>
            </a:r>
            <a:endParaRPr lang="en-US" altLang="zh-CN"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endParaRPr>
          </a:p>
          <a:p>
            <a:pPr marL="342900" indent="-342900" algn="just">
              <a:lnSpc>
                <a:spcPct val="150000"/>
              </a:lnSpc>
              <a:buFont typeface="+mj-ea"/>
              <a:buAutoNum type="arabicPeriod"/>
            </a:pPr>
            <a:r>
              <a:rPr lang="zh-CN" altLang="en-US"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rPr>
              <a:t>文本表示实践：主题模型</a:t>
            </a:r>
            <a:endParaRPr lang="en-US" altLang="zh-CN"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endParaRPr>
          </a:p>
          <a:p>
            <a:pPr marL="342900" indent="-342900" algn="just">
              <a:lnSpc>
                <a:spcPct val="150000"/>
              </a:lnSpc>
              <a:buFont typeface="+mj-ea"/>
              <a:buAutoNum type="arabicPeriod"/>
            </a:pPr>
            <a:r>
              <a:rPr lang="zh-CN" altLang="en-US"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rPr>
              <a:t>文本的分布式表示：词嵌入模型</a:t>
            </a:r>
            <a:endParaRPr lang="en-US" altLang="zh-CN"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endParaRPr>
          </a:p>
          <a:p>
            <a:pPr marL="342900" indent="-342900" algn="just">
              <a:lnSpc>
                <a:spcPct val="150000"/>
              </a:lnSpc>
              <a:buFont typeface="+mj-ea"/>
              <a:buAutoNum type="arabicPeriod"/>
            </a:pPr>
            <a:r>
              <a:rPr lang="zh-CN" altLang="en-US"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rPr>
              <a:t>从词嵌入到预训练语言模型</a:t>
            </a:r>
            <a:endParaRPr lang="en-US" altLang="zh-CN"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endParaRPr>
          </a:p>
          <a:p>
            <a:pPr marL="342900" indent="-342900" algn="just">
              <a:lnSpc>
                <a:spcPct val="150000"/>
              </a:lnSpc>
              <a:buFont typeface="+mj-ea"/>
              <a:buAutoNum type="arabicPeriod"/>
            </a:pPr>
            <a:r>
              <a:rPr lang="zh-CN" altLang="en-US"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rPr>
              <a:t>文本表示实践：词嵌入模型</a:t>
            </a:r>
            <a:endParaRPr lang="en-US" altLang="zh-CN"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endParaRPr>
          </a:p>
        </p:txBody>
      </p:sp>
      <p:sp>
        <p:nvSpPr>
          <p:cNvPr id="24" name="椭圆 23"/>
          <p:cNvSpPr/>
          <p:nvPr/>
        </p:nvSpPr>
        <p:spPr>
          <a:xfrm>
            <a:off x="4016203" y="120748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5" name="椭圆 24"/>
          <p:cNvSpPr/>
          <p:nvPr/>
        </p:nvSpPr>
        <p:spPr>
          <a:xfrm>
            <a:off x="4016203" y="189664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4016203" y="2262426"/>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4016203" y="26282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4016203" y="154919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6" name="椭圆 26">
            <a:extLst>
              <a:ext uri="{FF2B5EF4-FFF2-40B4-BE49-F238E27FC236}">
                <a16:creationId xmlns:a16="http://schemas.microsoft.com/office/drawing/2014/main" id="{8B83160E-3FF2-69B8-D865-D068DD4A58A0}"/>
              </a:ext>
            </a:extLst>
          </p:cNvPr>
          <p:cNvSpPr/>
          <p:nvPr/>
        </p:nvSpPr>
        <p:spPr>
          <a:xfrm>
            <a:off x="4016203" y="29939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15692385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F9C9A2-C847-6641-BA26-5111249B5A73}"/>
              </a:ext>
            </a:extLst>
          </p:cNvPr>
          <p:cNvSpPr>
            <a:spLocks noGrp="1"/>
          </p:cNvSpPr>
          <p:nvPr>
            <p:ph type="title"/>
          </p:nvPr>
        </p:nvSpPr>
        <p:spPr/>
        <p:txBody>
          <a:bodyPr/>
          <a:lstStyle/>
          <a:p>
            <a:r>
              <a:rPr kumimoji="1" lang="zh-CN" altLang="en-US" dirty="0"/>
              <a:t>文本表示</a:t>
            </a:r>
          </a:p>
        </p:txBody>
      </p:sp>
      <p:sp>
        <p:nvSpPr>
          <p:cNvPr id="5" name="内容占位符 4">
            <a:extLst>
              <a:ext uri="{FF2B5EF4-FFF2-40B4-BE49-F238E27FC236}">
                <a16:creationId xmlns:a16="http://schemas.microsoft.com/office/drawing/2014/main" id="{562237A3-D3D8-F142-855D-700E2A753A18}"/>
              </a:ext>
            </a:extLst>
          </p:cNvPr>
          <p:cNvSpPr>
            <a:spLocks noGrp="1"/>
          </p:cNvSpPr>
          <p:nvPr>
            <p:ph idx="1"/>
          </p:nvPr>
        </p:nvSpPr>
        <p:spPr/>
        <p:txBody>
          <a:bodyPr/>
          <a:lstStyle/>
          <a:p>
            <a:r>
              <a:rPr kumimoji="1" lang="zh-CN" altLang="en-US" dirty="0"/>
              <a:t>分词后文本的形态：由</a:t>
            </a:r>
            <a:r>
              <a:rPr kumimoji="1" lang="zh-CN" altLang="en-US" dirty="0">
                <a:solidFill>
                  <a:srgbClr val="C00000"/>
                </a:solidFill>
              </a:rPr>
              <a:t>单词</a:t>
            </a:r>
            <a:r>
              <a:rPr kumimoji="1" lang="zh-CN" altLang="en-US" dirty="0"/>
              <a:t>组成的字符串</a:t>
            </a:r>
            <a:endParaRPr kumimoji="1" lang="en-US" altLang="zh-CN" dirty="0"/>
          </a:p>
          <a:p>
            <a:endParaRPr kumimoji="1" lang="en-US" altLang="zh-CN" dirty="0"/>
          </a:p>
          <a:p>
            <a:endParaRPr kumimoji="1" lang="en-US" altLang="zh-CN" dirty="0"/>
          </a:p>
          <a:p>
            <a:r>
              <a:rPr kumimoji="1" lang="zh-CN" altLang="en-US" dirty="0"/>
              <a:t>文本表示的目的：运算</a:t>
            </a:r>
            <a:endParaRPr kumimoji="1" lang="en-US" altLang="zh-CN" dirty="0"/>
          </a:p>
          <a:p>
            <a:pPr lvl="1"/>
            <a:r>
              <a:rPr kumimoji="1" lang="zh-CN" altLang="en-US" dirty="0"/>
              <a:t>如：相似度、距离等</a:t>
            </a:r>
            <a:endParaRPr kumimoji="1" lang="en-US" altLang="zh-CN" dirty="0"/>
          </a:p>
          <a:p>
            <a:r>
              <a:rPr kumimoji="1" lang="zh-CN" altLang="en-US" dirty="0"/>
              <a:t>一段文本（如：查询、文档等）可以表示为集合或者向量</a:t>
            </a:r>
            <a:endParaRPr kumimoji="1" lang="en-US" altLang="zh-CN" dirty="0"/>
          </a:p>
          <a:p>
            <a:pPr lvl="1"/>
            <a:endParaRPr kumimoji="1" lang="en-US" altLang="zh-CN" dirty="0"/>
          </a:p>
          <a:p>
            <a:pPr lvl="1"/>
            <a:endParaRPr kumimoji="1" lang="en-US" altLang="zh-CN" dirty="0"/>
          </a:p>
          <a:p>
            <a:endParaRPr kumimoji="1" lang="zh-CN" altLang="en-US" dirty="0"/>
          </a:p>
        </p:txBody>
      </p:sp>
      <p:sp>
        <p:nvSpPr>
          <p:cNvPr id="6" name="文本框 5">
            <a:extLst>
              <a:ext uri="{FF2B5EF4-FFF2-40B4-BE49-F238E27FC236}">
                <a16:creationId xmlns:a16="http://schemas.microsoft.com/office/drawing/2014/main" id="{7DE39CA0-5398-7647-9903-AF6189BED965}"/>
              </a:ext>
            </a:extLst>
          </p:cNvPr>
          <p:cNvSpPr txBox="1"/>
          <p:nvPr/>
        </p:nvSpPr>
        <p:spPr>
          <a:xfrm>
            <a:off x="1341885" y="1364566"/>
            <a:ext cx="3230115" cy="369332"/>
          </a:xfrm>
          <a:prstGeom prst="rect">
            <a:avLst/>
          </a:prstGeom>
          <a:noFill/>
        </p:spPr>
        <p:txBody>
          <a:bodyPr wrap="none" rtlCol="0">
            <a:spAutoFit/>
          </a:bodyPr>
          <a:lstStyle/>
          <a:p>
            <a:r>
              <a:rPr kumimoji="1" lang="en-US" altLang="zh-CN" dirty="0"/>
              <a:t>A</a:t>
            </a:r>
            <a:r>
              <a:rPr kumimoji="1" lang="zh-CN" altLang="en-US" dirty="0"/>
              <a:t>     </a:t>
            </a:r>
            <a:r>
              <a:rPr kumimoji="1" lang="en-US" altLang="zh-CN" dirty="0"/>
              <a:t>cat</a:t>
            </a:r>
            <a:r>
              <a:rPr kumimoji="1" lang="zh-CN" altLang="en-US" dirty="0"/>
              <a:t>      </a:t>
            </a:r>
            <a:r>
              <a:rPr kumimoji="1" lang="en-US" altLang="zh-CN" dirty="0"/>
              <a:t>sat</a:t>
            </a:r>
            <a:r>
              <a:rPr kumimoji="1" lang="zh-CN" altLang="en-US" dirty="0"/>
              <a:t>     </a:t>
            </a:r>
            <a:r>
              <a:rPr kumimoji="1" lang="en-US" altLang="zh-CN" dirty="0"/>
              <a:t>on</a:t>
            </a:r>
            <a:r>
              <a:rPr kumimoji="1" lang="zh-CN" altLang="en-US" dirty="0"/>
              <a:t>    </a:t>
            </a:r>
            <a:r>
              <a:rPr kumimoji="1" lang="en-US" altLang="zh-CN" dirty="0"/>
              <a:t>the</a:t>
            </a:r>
            <a:r>
              <a:rPr kumimoji="1" lang="zh-CN" altLang="en-US" dirty="0"/>
              <a:t>     </a:t>
            </a:r>
            <a:r>
              <a:rPr kumimoji="1" lang="en-US" altLang="zh-CN" dirty="0"/>
              <a:t>mat</a:t>
            </a:r>
            <a:endParaRPr kumimoji="1" lang="zh-CN" altLang="en-US" dirty="0"/>
          </a:p>
        </p:txBody>
      </p:sp>
      <p:sp>
        <p:nvSpPr>
          <p:cNvPr id="8" name="矩形 7">
            <a:extLst>
              <a:ext uri="{FF2B5EF4-FFF2-40B4-BE49-F238E27FC236}">
                <a16:creationId xmlns:a16="http://schemas.microsoft.com/office/drawing/2014/main" id="{49710A96-E8FB-8E45-8A9D-27F9A8A7B92B}"/>
              </a:ext>
            </a:extLst>
          </p:cNvPr>
          <p:cNvSpPr/>
          <p:nvPr/>
        </p:nvSpPr>
        <p:spPr>
          <a:xfrm>
            <a:off x="1266094" y="1364565"/>
            <a:ext cx="407964" cy="4079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矩形 8">
            <a:extLst>
              <a:ext uri="{FF2B5EF4-FFF2-40B4-BE49-F238E27FC236}">
                <a16:creationId xmlns:a16="http://schemas.microsoft.com/office/drawing/2014/main" id="{D2364B70-92A6-FA43-8A38-386D40CF26D6}"/>
              </a:ext>
            </a:extLst>
          </p:cNvPr>
          <p:cNvSpPr/>
          <p:nvPr/>
        </p:nvSpPr>
        <p:spPr>
          <a:xfrm>
            <a:off x="1749849" y="1364560"/>
            <a:ext cx="407964" cy="4079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21D53E11-7130-844A-9996-49EBC69C57ED}"/>
              </a:ext>
            </a:extLst>
          </p:cNvPr>
          <p:cNvSpPr/>
          <p:nvPr/>
        </p:nvSpPr>
        <p:spPr>
          <a:xfrm>
            <a:off x="2361795" y="1364563"/>
            <a:ext cx="407964" cy="4079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81020BFA-DD9F-8B43-91F8-2CD0E0613E1C}"/>
              </a:ext>
            </a:extLst>
          </p:cNvPr>
          <p:cNvSpPr/>
          <p:nvPr/>
        </p:nvSpPr>
        <p:spPr>
          <a:xfrm>
            <a:off x="2845550" y="1364563"/>
            <a:ext cx="407964" cy="4079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a:extLst>
              <a:ext uri="{FF2B5EF4-FFF2-40B4-BE49-F238E27FC236}">
                <a16:creationId xmlns:a16="http://schemas.microsoft.com/office/drawing/2014/main" id="{921924E0-2721-3E40-A1FE-CEE476D99D3E}"/>
              </a:ext>
            </a:extLst>
          </p:cNvPr>
          <p:cNvSpPr/>
          <p:nvPr/>
        </p:nvSpPr>
        <p:spPr>
          <a:xfrm>
            <a:off x="3374670" y="1364562"/>
            <a:ext cx="407964" cy="4079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12">
            <a:extLst>
              <a:ext uri="{FF2B5EF4-FFF2-40B4-BE49-F238E27FC236}">
                <a16:creationId xmlns:a16="http://schemas.microsoft.com/office/drawing/2014/main" id="{47D389C9-54B2-6E43-96C1-523A37369313}"/>
              </a:ext>
            </a:extLst>
          </p:cNvPr>
          <p:cNvSpPr/>
          <p:nvPr/>
        </p:nvSpPr>
        <p:spPr>
          <a:xfrm>
            <a:off x="3922159" y="1364561"/>
            <a:ext cx="407964" cy="4079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4" name="图片 13">
            <a:extLst>
              <a:ext uri="{FF2B5EF4-FFF2-40B4-BE49-F238E27FC236}">
                <a16:creationId xmlns:a16="http://schemas.microsoft.com/office/drawing/2014/main" id="{C114496A-C150-C44A-B11B-0A1ED1EFBF0E}"/>
              </a:ext>
            </a:extLst>
          </p:cNvPr>
          <p:cNvPicPr>
            <a:picLocks noChangeAspect="1"/>
          </p:cNvPicPr>
          <p:nvPr/>
        </p:nvPicPr>
        <p:blipFill>
          <a:blip r:embed="rId2"/>
          <a:stretch>
            <a:fillRect/>
          </a:stretch>
        </p:blipFill>
        <p:spPr>
          <a:xfrm>
            <a:off x="1203935" y="3178444"/>
            <a:ext cx="2170735" cy="1302441"/>
          </a:xfrm>
          <a:prstGeom prst="rect">
            <a:avLst/>
          </a:prstGeom>
        </p:spPr>
      </p:pic>
      <p:sp>
        <p:nvSpPr>
          <p:cNvPr id="15" name="文本框 14">
            <a:extLst>
              <a:ext uri="{FF2B5EF4-FFF2-40B4-BE49-F238E27FC236}">
                <a16:creationId xmlns:a16="http://schemas.microsoft.com/office/drawing/2014/main" id="{DA96DA66-EE9E-6E47-806A-1C1F9B5FE1DB}"/>
              </a:ext>
            </a:extLst>
          </p:cNvPr>
          <p:cNvSpPr txBox="1"/>
          <p:nvPr/>
        </p:nvSpPr>
        <p:spPr>
          <a:xfrm>
            <a:off x="1939687" y="4524451"/>
            <a:ext cx="699230" cy="369332"/>
          </a:xfrm>
          <a:prstGeom prst="rect">
            <a:avLst/>
          </a:prstGeom>
          <a:noFill/>
        </p:spPr>
        <p:txBody>
          <a:bodyPr wrap="none" rtlCol="0">
            <a:spAutoFit/>
          </a:bodyPr>
          <a:lstStyle/>
          <a:p>
            <a:r>
              <a:rPr kumimoji="1" lang="zh-CN" altLang="en-US" dirty="0"/>
              <a:t>集合 </a:t>
            </a:r>
          </a:p>
        </p:txBody>
      </p:sp>
      <p:pic>
        <p:nvPicPr>
          <p:cNvPr id="18" name="图片 17">
            <a:extLst>
              <a:ext uri="{FF2B5EF4-FFF2-40B4-BE49-F238E27FC236}">
                <a16:creationId xmlns:a16="http://schemas.microsoft.com/office/drawing/2014/main" id="{0A33E089-2F9C-FF41-B202-F078A635E746}"/>
              </a:ext>
            </a:extLst>
          </p:cNvPr>
          <p:cNvPicPr>
            <a:picLocks noChangeAspect="1"/>
          </p:cNvPicPr>
          <p:nvPr/>
        </p:nvPicPr>
        <p:blipFill>
          <a:blip r:embed="rId3"/>
          <a:stretch>
            <a:fillRect/>
          </a:stretch>
        </p:blipFill>
        <p:spPr>
          <a:xfrm>
            <a:off x="4572000" y="3660571"/>
            <a:ext cx="3582257" cy="265634"/>
          </a:xfrm>
          <a:prstGeom prst="rect">
            <a:avLst/>
          </a:prstGeom>
        </p:spPr>
      </p:pic>
      <p:pic>
        <p:nvPicPr>
          <p:cNvPr id="19" name="图片 18">
            <a:extLst>
              <a:ext uri="{FF2B5EF4-FFF2-40B4-BE49-F238E27FC236}">
                <a16:creationId xmlns:a16="http://schemas.microsoft.com/office/drawing/2014/main" id="{661129E4-1FC8-344D-B3E8-D2A9C8599601}"/>
              </a:ext>
            </a:extLst>
          </p:cNvPr>
          <p:cNvPicPr>
            <a:picLocks noChangeAspect="1"/>
          </p:cNvPicPr>
          <p:nvPr/>
        </p:nvPicPr>
        <p:blipFill>
          <a:blip r:embed="rId4"/>
          <a:stretch>
            <a:fillRect/>
          </a:stretch>
        </p:blipFill>
        <p:spPr>
          <a:xfrm>
            <a:off x="5160533" y="3178444"/>
            <a:ext cx="2405189" cy="424977"/>
          </a:xfrm>
          <a:prstGeom prst="rect">
            <a:avLst/>
          </a:prstGeom>
        </p:spPr>
      </p:pic>
      <p:sp>
        <p:nvSpPr>
          <p:cNvPr id="20" name="文本框 19">
            <a:extLst>
              <a:ext uri="{FF2B5EF4-FFF2-40B4-BE49-F238E27FC236}">
                <a16:creationId xmlns:a16="http://schemas.microsoft.com/office/drawing/2014/main" id="{ACC30A98-84D5-6645-A9C8-B8878A3CE872}"/>
              </a:ext>
            </a:extLst>
          </p:cNvPr>
          <p:cNvSpPr txBox="1"/>
          <p:nvPr/>
        </p:nvSpPr>
        <p:spPr>
          <a:xfrm>
            <a:off x="6013512" y="4524451"/>
            <a:ext cx="646331" cy="369332"/>
          </a:xfrm>
          <a:prstGeom prst="rect">
            <a:avLst/>
          </a:prstGeom>
          <a:noFill/>
        </p:spPr>
        <p:txBody>
          <a:bodyPr wrap="none" rtlCol="0">
            <a:spAutoFit/>
          </a:bodyPr>
          <a:lstStyle/>
          <a:p>
            <a:r>
              <a:rPr kumimoji="1" lang="zh-CN" altLang="en-US" dirty="0"/>
              <a:t>向量</a:t>
            </a:r>
          </a:p>
        </p:txBody>
      </p:sp>
    </p:spTree>
    <p:extLst>
      <p:ext uri="{BB962C8B-B14F-4D97-AF65-F5344CB8AC3E}">
        <p14:creationId xmlns:p14="http://schemas.microsoft.com/office/powerpoint/2010/main" val="38422689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894D06-2F7B-984E-B067-322FE7F67E25}"/>
              </a:ext>
            </a:extLst>
          </p:cNvPr>
          <p:cNvSpPr>
            <a:spLocks noGrp="1"/>
          </p:cNvSpPr>
          <p:nvPr>
            <p:ph type="title"/>
          </p:nvPr>
        </p:nvSpPr>
        <p:spPr/>
        <p:txBody>
          <a:bodyPr/>
          <a:lstStyle/>
          <a:p>
            <a:r>
              <a:rPr kumimoji="1" lang="zh-CN" altLang="en-US" dirty="0"/>
              <a:t>基于集合的文本表示</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41C8FC4-15B7-A34C-BB65-F9A68ABB122A}"/>
                  </a:ext>
                </a:extLst>
              </p:cNvPr>
              <p:cNvSpPr>
                <a:spLocks noGrp="1"/>
              </p:cNvSpPr>
              <p:nvPr>
                <p:ph idx="1"/>
              </p:nvPr>
            </p:nvSpPr>
            <p:spPr/>
            <p:txBody>
              <a:bodyPr>
                <a:normAutofit/>
              </a:bodyPr>
              <a:lstStyle/>
              <a:p>
                <a:r>
                  <a:rPr kumimoji="1" lang="zh-CN" altLang="en-US" dirty="0"/>
                  <a:t>集合中的元素：出现在文本中的单词</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相似度计算：基于集合的相似度计算，如：</a:t>
                </a:r>
                <a:r>
                  <a:rPr kumimoji="1" lang="en-US" altLang="zh-CN" dirty="0"/>
                  <a:t>Jaccard</a:t>
                </a:r>
                <a:r>
                  <a:rPr kumimoji="1" lang="zh-CN" altLang="en-US" dirty="0"/>
                  <a:t>相似度</a:t>
                </a:r>
                <a:endParaRPr kumimoji="1" lang="en-US" altLang="zh-CN" dirty="0"/>
              </a:p>
              <a:p>
                <a:r>
                  <a:rPr kumimoji="1" lang="en-US" altLang="zh-CN" dirty="0"/>
                  <a:t>A</a:t>
                </a:r>
                <a:r>
                  <a:rPr kumimoji="1" lang="zh-CN" altLang="en-US" dirty="0"/>
                  <a:t>和</a:t>
                </a:r>
                <a:r>
                  <a:rPr kumimoji="1" lang="en-US" altLang="zh-CN" dirty="0"/>
                  <a:t>B</a:t>
                </a:r>
                <a:r>
                  <a:rPr kumimoji="1" lang="zh-CN" altLang="en-US" dirty="0"/>
                  <a:t>的大小可以不一致</a:t>
                </a:r>
                <a:endParaRPr kumimoji="1" lang="en-US" altLang="zh-CN" dirty="0"/>
              </a:p>
              <a:p>
                <a14:m>
                  <m:oMath xmlns:m="http://schemas.openxmlformats.org/officeDocument/2006/math">
                    <m:r>
                      <a:rPr kumimoji="1" lang="en-US" altLang="zh-CN" b="0" i="1" dirty="0" smtClean="0">
                        <a:latin typeface="Cambria Math" panose="02040503050406030204" pitchFamily="18" charset="0"/>
                      </a:rPr>
                      <m:t>0≤</m:t>
                    </m:r>
                    <m:r>
                      <m:rPr>
                        <m:sty m:val="p"/>
                      </m:rPr>
                      <a:rPr kumimoji="1" lang="en-US" altLang="zh-CN" i="0" dirty="0" smtClean="0">
                        <a:latin typeface="Cambria Math" panose="02040503050406030204" pitchFamily="18" charset="0"/>
                      </a:rPr>
                      <m:t>JACCARD</m:t>
                    </m:r>
                    <m:d>
                      <m:dPr>
                        <m:ctrlPr>
                          <a:rPr kumimoji="1" lang="en-US" altLang="zh-CN" i="1" dirty="0" smtClean="0">
                            <a:latin typeface="Cambria Math" panose="02040503050406030204" pitchFamily="18" charset="0"/>
                          </a:rPr>
                        </m:ctrlPr>
                      </m:dPr>
                      <m:e>
                        <m:r>
                          <m:rPr>
                            <m:sty m:val="p"/>
                          </m:rPr>
                          <a:rPr kumimoji="1" lang="en-US" altLang="zh-CN" i="0" dirty="0" smtClean="0">
                            <a:latin typeface="Cambria Math" panose="02040503050406030204" pitchFamily="18" charset="0"/>
                          </a:rPr>
                          <m:t>A</m:t>
                        </m:r>
                        <m:r>
                          <a:rPr kumimoji="1" lang="en-US" altLang="zh-CN" i="0" dirty="0" smtClean="0">
                            <a:latin typeface="Cambria Math" panose="02040503050406030204" pitchFamily="18" charset="0"/>
                          </a:rPr>
                          <m:t>, </m:t>
                        </m:r>
                        <m:r>
                          <m:rPr>
                            <m:sty m:val="p"/>
                          </m:rPr>
                          <a:rPr kumimoji="1" lang="en-US" altLang="zh-CN" i="0" dirty="0" smtClean="0">
                            <a:latin typeface="Cambria Math" panose="02040503050406030204" pitchFamily="18" charset="0"/>
                          </a:rPr>
                          <m:t>B</m:t>
                        </m:r>
                      </m:e>
                    </m:d>
                    <m:r>
                      <a:rPr kumimoji="1" lang="en-US" altLang="zh-CN" b="0" i="1" dirty="0" smtClean="0">
                        <a:latin typeface="Cambria Math" panose="02040503050406030204" pitchFamily="18" charset="0"/>
                      </a:rPr>
                      <m:t>≤1</m:t>
                    </m:r>
                  </m:oMath>
                </a14:m>
                <a:endParaRPr kumimoji="1" lang="en-US" altLang="zh-CN" dirty="0"/>
              </a:p>
              <a:p>
                <a:endParaRPr kumimoji="1" lang="en-US" altLang="zh-CN" dirty="0"/>
              </a:p>
              <a:p>
                <a:endParaRPr kumimoji="1" lang="en-US" altLang="zh-CN" dirty="0"/>
              </a:p>
            </p:txBody>
          </p:sp>
        </mc:Choice>
        <mc:Fallback xmlns="">
          <p:sp>
            <p:nvSpPr>
              <p:cNvPr id="3" name="内容占位符 2">
                <a:extLst>
                  <a:ext uri="{FF2B5EF4-FFF2-40B4-BE49-F238E27FC236}">
                    <a16:creationId xmlns:a16="http://schemas.microsoft.com/office/drawing/2014/main" id="{F41C8FC4-15B7-A34C-BB65-F9A68ABB122A}"/>
                  </a:ext>
                </a:extLst>
              </p:cNvPr>
              <p:cNvSpPr>
                <a:spLocks noGrp="1" noRot="1" noChangeAspect="1" noMove="1" noResize="1" noEditPoints="1" noAdjustHandles="1" noChangeArrowheads="1" noChangeShapeType="1" noTextEdit="1"/>
              </p:cNvSpPr>
              <p:nvPr>
                <p:ph idx="1"/>
              </p:nvPr>
            </p:nvSpPr>
            <p:spPr>
              <a:blipFill>
                <a:blip r:embed="rId2"/>
                <a:stretch>
                  <a:fillRect l="-617" t="-965"/>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8A4159DB-8816-5B45-923A-97A7BB460A3A}"/>
              </a:ext>
            </a:extLst>
          </p:cNvPr>
          <p:cNvPicPr>
            <a:picLocks noChangeAspect="1"/>
          </p:cNvPicPr>
          <p:nvPr/>
        </p:nvPicPr>
        <p:blipFill>
          <a:blip r:embed="rId3"/>
          <a:stretch>
            <a:fillRect/>
          </a:stretch>
        </p:blipFill>
        <p:spPr>
          <a:xfrm>
            <a:off x="3684062" y="3748774"/>
            <a:ext cx="3479978" cy="1394726"/>
          </a:xfrm>
          <a:prstGeom prst="rect">
            <a:avLst/>
          </a:prstGeom>
        </p:spPr>
      </p:pic>
      <p:pic>
        <p:nvPicPr>
          <p:cNvPr id="9" name="图片 8">
            <a:extLst>
              <a:ext uri="{FF2B5EF4-FFF2-40B4-BE49-F238E27FC236}">
                <a16:creationId xmlns:a16="http://schemas.microsoft.com/office/drawing/2014/main" id="{094A7062-A26C-AA4B-BA33-62CF88E16EE6}"/>
              </a:ext>
            </a:extLst>
          </p:cNvPr>
          <p:cNvPicPr>
            <a:picLocks noChangeAspect="1"/>
          </p:cNvPicPr>
          <p:nvPr/>
        </p:nvPicPr>
        <p:blipFill>
          <a:blip r:embed="rId4"/>
          <a:stretch>
            <a:fillRect/>
          </a:stretch>
        </p:blipFill>
        <p:spPr>
          <a:xfrm>
            <a:off x="1001948" y="1562124"/>
            <a:ext cx="4365699" cy="1799300"/>
          </a:xfrm>
          <a:prstGeom prst="rect">
            <a:avLst/>
          </a:prstGeom>
        </p:spPr>
      </p:pic>
      <p:sp>
        <p:nvSpPr>
          <p:cNvPr id="10" name="文本框 9">
            <a:extLst>
              <a:ext uri="{FF2B5EF4-FFF2-40B4-BE49-F238E27FC236}">
                <a16:creationId xmlns:a16="http://schemas.microsoft.com/office/drawing/2014/main" id="{2CF69EDA-55FA-4348-AE41-DC79CCCF0C27}"/>
              </a:ext>
            </a:extLst>
          </p:cNvPr>
          <p:cNvSpPr txBox="1"/>
          <p:nvPr/>
        </p:nvSpPr>
        <p:spPr>
          <a:xfrm>
            <a:off x="0" y="1964241"/>
            <a:ext cx="646331" cy="369332"/>
          </a:xfrm>
          <a:prstGeom prst="rect">
            <a:avLst/>
          </a:prstGeom>
          <a:noFill/>
        </p:spPr>
        <p:txBody>
          <a:bodyPr wrap="none" rtlCol="0">
            <a:spAutoFit/>
          </a:bodyPr>
          <a:lstStyle/>
          <a:p>
            <a:r>
              <a:rPr kumimoji="1" lang="zh-CN" altLang="en-US" dirty="0"/>
              <a:t>单词</a:t>
            </a:r>
          </a:p>
        </p:txBody>
      </p:sp>
      <p:cxnSp>
        <p:nvCxnSpPr>
          <p:cNvPr id="11" name="直线箭头连接符 10">
            <a:extLst>
              <a:ext uri="{FF2B5EF4-FFF2-40B4-BE49-F238E27FC236}">
                <a16:creationId xmlns:a16="http://schemas.microsoft.com/office/drawing/2014/main" id="{E9E84761-9BE3-AF49-BA2B-CFEBEB683EAE}"/>
              </a:ext>
            </a:extLst>
          </p:cNvPr>
          <p:cNvCxnSpPr>
            <a:cxnSpLocks/>
            <a:stCxn id="10" idx="3"/>
          </p:cNvCxnSpPr>
          <p:nvPr/>
        </p:nvCxnSpPr>
        <p:spPr>
          <a:xfrm>
            <a:off x="646331" y="2148907"/>
            <a:ext cx="3556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0DB3EF35-6745-474D-9988-045B5BADC06D}"/>
              </a:ext>
            </a:extLst>
          </p:cNvPr>
          <p:cNvSpPr txBox="1"/>
          <p:nvPr/>
        </p:nvSpPr>
        <p:spPr>
          <a:xfrm>
            <a:off x="3360896" y="1226774"/>
            <a:ext cx="646331" cy="369332"/>
          </a:xfrm>
          <a:prstGeom prst="rect">
            <a:avLst/>
          </a:prstGeom>
          <a:noFill/>
        </p:spPr>
        <p:txBody>
          <a:bodyPr wrap="none" rtlCol="0">
            <a:spAutoFit/>
          </a:bodyPr>
          <a:lstStyle/>
          <a:p>
            <a:r>
              <a:rPr kumimoji="1" lang="zh-CN" altLang="en-US" dirty="0"/>
              <a:t>文档</a:t>
            </a:r>
          </a:p>
        </p:txBody>
      </p:sp>
      <p:cxnSp>
        <p:nvCxnSpPr>
          <p:cNvPr id="13" name="直线箭头连接符 12">
            <a:extLst>
              <a:ext uri="{FF2B5EF4-FFF2-40B4-BE49-F238E27FC236}">
                <a16:creationId xmlns:a16="http://schemas.microsoft.com/office/drawing/2014/main" id="{B7B5125D-50F8-4945-8FE3-439F99A4C958}"/>
              </a:ext>
            </a:extLst>
          </p:cNvPr>
          <p:cNvCxnSpPr>
            <a:cxnSpLocks/>
            <a:stCxn id="12" idx="2"/>
          </p:cNvCxnSpPr>
          <p:nvPr/>
        </p:nvCxnSpPr>
        <p:spPr>
          <a:xfrm flipH="1">
            <a:off x="3684061" y="1596106"/>
            <a:ext cx="1" cy="220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6776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D2BE89-F6E6-E141-9E82-B116DAEEBB07}"/>
              </a:ext>
            </a:extLst>
          </p:cNvPr>
          <p:cNvSpPr>
            <a:spLocks noGrp="1"/>
          </p:cNvSpPr>
          <p:nvPr>
            <p:ph type="title"/>
          </p:nvPr>
        </p:nvSpPr>
        <p:spPr/>
        <p:txBody>
          <a:bodyPr/>
          <a:lstStyle/>
          <a:p>
            <a:r>
              <a:rPr kumimoji="1" lang="zh-CN" altLang="en-US" dirty="0"/>
              <a:t>基于集合的文本相似度计算</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38E472E-3273-6A4D-B430-29B22B0D8A81}"/>
                  </a:ext>
                </a:extLst>
              </p:cNvPr>
              <p:cNvSpPr>
                <a:spLocks noGrp="1"/>
              </p:cNvSpPr>
              <p:nvPr>
                <p:ph idx="1"/>
              </p:nvPr>
            </p:nvSpPr>
            <p:spPr/>
            <p:txBody>
              <a:bodyPr/>
              <a:lstStyle/>
              <a:p>
                <a:r>
                  <a:rPr kumimoji="1" lang="en-US" altLang="zh-CN" dirty="0"/>
                  <a:t>D1</a:t>
                </a:r>
                <a:r>
                  <a:rPr kumimoji="1" lang="zh-CN" altLang="en-US" dirty="0"/>
                  <a:t>：</a:t>
                </a:r>
                <a:r>
                  <a:rPr lang="en" altLang="zh-CN" dirty="0"/>
                  <a:t>“ides of March”</a:t>
                </a:r>
                <a:r>
                  <a:rPr lang="zh-CN" altLang="en-US" dirty="0"/>
                  <a:t>           </a:t>
                </a:r>
                <a:endParaRPr lang="en-US" altLang="zh-CN" dirty="0"/>
              </a:p>
              <a:p>
                <a:pPr marL="0" indent="0">
                  <a:buNone/>
                </a:pPr>
                <a:r>
                  <a:rPr lang="en-US" altLang="zh-CN" dirty="0"/>
                  <a:t>	</a:t>
                </a:r>
                <a:r>
                  <a:rPr lang="zh-CN" altLang="en-US" dirty="0"/>
                  <a:t> </a:t>
                </a:r>
                <a:r>
                  <a:rPr lang="en-US" altLang="zh-CN" dirty="0">
                    <a:sym typeface="Wingdings" pitchFamily="2" charset="2"/>
                  </a:rPr>
                  <a:t></a:t>
                </a:r>
                <a:r>
                  <a:rPr lang="zh-CN" altLang="en-US" dirty="0">
                    <a:sym typeface="Wingdings" pitchFamily="2" charset="2"/>
                  </a:rPr>
                  <a:t> </a:t>
                </a:r>
                <a:r>
                  <a:rPr lang="en-US" altLang="zh-CN" dirty="0">
                    <a:sym typeface="Wingdings" pitchFamily="2" charset="2"/>
                  </a:rPr>
                  <a:t>A</a:t>
                </a:r>
                <a:r>
                  <a:rPr lang="zh-CN" altLang="en-US" dirty="0">
                    <a:sym typeface="Wingdings" pitchFamily="2" charset="2"/>
                  </a:rPr>
                  <a:t> </a:t>
                </a:r>
                <a:r>
                  <a:rPr lang="en-US" altLang="zh-CN" dirty="0">
                    <a:sym typeface="Wingdings" pitchFamily="2" charset="2"/>
                  </a:rPr>
                  <a:t>=</a:t>
                </a:r>
                <a:r>
                  <a:rPr lang="zh-CN" altLang="en-US" dirty="0">
                    <a:sym typeface="Wingdings" pitchFamily="2" charset="2"/>
                  </a:rPr>
                  <a:t> </a:t>
                </a:r>
                <a:r>
                  <a:rPr lang="en-US" altLang="zh-CN" dirty="0">
                    <a:sym typeface="Wingdings" pitchFamily="2" charset="2"/>
                  </a:rPr>
                  <a:t>{ides,</a:t>
                </a:r>
                <a:r>
                  <a:rPr lang="zh-CN" altLang="en-US" dirty="0">
                    <a:sym typeface="Wingdings" pitchFamily="2" charset="2"/>
                  </a:rPr>
                  <a:t> </a:t>
                </a:r>
                <a:r>
                  <a:rPr lang="en-US" altLang="zh-CN" dirty="0">
                    <a:sym typeface="Wingdings" pitchFamily="2" charset="2"/>
                  </a:rPr>
                  <a:t>of,</a:t>
                </a:r>
                <a:r>
                  <a:rPr lang="zh-CN" altLang="en-US" dirty="0">
                    <a:sym typeface="Wingdings" pitchFamily="2" charset="2"/>
                  </a:rPr>
                  <a:t> </a:t>
                </a:r>
                <a:r>
                  <a:rPr lang="en-US" altLang="zh-CN" dirty="0">
                    <a:solidFill>
                      <a:srgbClr val="00B050"/>
                    </a:solidFill>
                    <a:sym typeface="Wingdings" pitchFamily="2" charset="2"/>
                  </a:rPr>
                  <a:t>March</a:t>
                </a:r>
                <a:r>
                  <a:rPr lang="en-US" altLang="zh-CN" dirty="0">
                    <a:sym typeface="Wingdings" pitchFamily="2" charset="2"/>
                  </a:rPr>
                  <a:t>}</a:t>
                </a:r>
                <a:endParaRPr lang="en" altLang="zh-CN" dirty="0"/>
              </a:p>
              <a:p>
                <a:r>
                  <a:rPr lang="en-US" altLang="zh-CN" dirty="0"/>
                  <a:t>D2</a:t>
                </a:r>
                <a:r>
                  <a:rPr lang="zh-CN" altLang="en-US" dirty="0"/>
                  <a:t>：</a:t>
                </a:r>
                <a:r>
                  <a:rPr lang="en" altLang="zh-CN" dirty="0"/>
                  <a:t>“Caesar died in March”</a:t>
                </a:r>
              </a:p>
              <a:p>
                <a:pPr marL="0" indent="0">
                  <a:buNone/>
                </a:pPr>
                <a:r>
                  <a:rPr lang="en" altLang="zh-CN" dirty="0">
                    <a:sym typeface="Wingdings" pitchFamily="2" charset="2"/>
                  </a:rPr>
                  <a:t>	</a:t>
                </a:r>
                <a:r>
                  <a:rPr lang="en-US" altLang="zh-CN" dirty="0">
                    <a:sym typeface="Wingdings" pitchFamily="2" charset="2"/>
                  </a:rPr>
                  <a:t></a:t>
                </a:r>
                <a:r>
                  <a:rPr lang="zh-CN" altLang="en-US" dirty="0">
                    <a:sym typeface="Wingdings" pitchFamily="2" charset="2"/>
                  </a:rPr>
                  <a:t> </a:t>
                </a:r>
                <a:r>
                  <a:rPr lang="en-US" altLang="zh-CN" dirty="0">
                    <a:sym typeface="Wingdings" pitchFamily="2" charset="2"/>
                  </a:rPr>
                  <a:t>B</a:t>
                </a:r>
                <a:r>
                  <a:rPr lang="zh-CN" altLang="en-US" dirty="0">
                    <a:sym typeface="Wingdings" pitchFamily="2" charset="2"/>
                  </a:rPr>
                  <a:t> </a:t>
                </a:r>
                <a:r>
                  <a:rPr lang="en-US" altLang="zh-CN" dirty="0">
                    <a:sym typeface="Wingdings" pitchFamily="2" charset="2"/>
                  </a:rPr>
                  <a:t>=</a:t>
                </a:r>
                <a:r>
                  <a:rPr lang="zh-CN" altLang="en-US" dirty="0">
                    <a:sym typeface="Wingdings" pitchFamily="2" charset="2"/>
                  </a:rPr>
                  <a:t> </a:t>
                </a:r>
                <a:r>
                  <a:rPr lang="en-US" altLang="zh-CN" dirty="0">
                    <a:sym typeface="Wingdings" pitchFamily="2" charset="2"/>
                  </a:rPr>
                  <a:t>{Caesar,</a:t>
                </a:r>
                <a:r>
                  <a:rPr lang="zh-CN" altLang="en-US" dirty="0">
                    <a:sym typeface="Wingdings" pitchFamily="2" charset="2"/>
                  </a:rPr>
                  <a:t> </a:t>
                </a:r>
                <a:r>
                  <a:rPr lang="en-US" altLang="zh-CN" dirty="0">
                    <a:sym typeface="Wingdings" pitchFamily="2" charset="2"/>
                  </a:rPr>
                  <a:t>died,</a:t>
                </a:r>
                <a:r>
                  <a:rPr lang="zh-CN" altLang="en-US" dirty="0">
                    <a:sym typeface="Wingdings" pitchFamily="2" charset="2"/>
                  </a:rPr>
                  <a:t> </a:t>
                </a:r>
                <a:r>
                  <a:rPr lang="en-US" altLang="zh-CN" dirty="0">
                    <a:sym typeface="Wingdings" pitchFamily="2" charset="2"/>
                  </a:rPr>
                  <a:t>in,</a:t>
                </a:r>
                <a:r>
                  <a:rPr lang="zh-CN" altLang="en-US" dirty="0">
                    <a:sym typeface="Wingdings" pitchFamily="2" charset="2"/>
                  </a:rPr>
                  <a:t> </a:t>
                </a:r>
                <a:r>
                  <a:rPr lang="en-US" altLang="zh-CN" dirty="0">
                    <a:solidFill>
                      <a:srgbClr val="00B050"/>
                    </a:solidFill>
                    <a:sym typeface="Wingdings" pitchFamily="2" charset="2"/>
                  </a:rPr>
                  <a:t>March</a:t>
                </a:r>
                <a:r>
                  <a:rPr lang="en-US" altLang="zh-CN" dirty="0">
                    <a:sym typeface="Wingdings" pitchFamily="2" charset="2"/>
                  </a:rPr>
                  <a:t>}</a:t>
                </a:r>
                <a:endParaRPr lang="en" altLang="zh-CN" dirty="0"/>
              </a:p>
              <a:p>
                <a:endParaRPr lang="en" altLang="zh-CN" dirty="0"/>
              </a:p>
              <a:p>
                <a:pPr marL="0" indent="0">
                  <a:buNone/>
                </a:pPr>
                <a:r>
                  <a:rPr kumimoji="1" lang="zh-CN" altLang="en-US" b="0" dirty="0"/>
                  <a:t> </a:t>
                </a:r>
                <a14:m>
                  <m:oMath xmlns:m="http://schemas.openxmlformats.org/officeDocument/2006/math">
                    <m:r>
                      <a:rPr kumimoji="1" lang="en-US" altLang="zh-CN" b="0" i="1" dirty="0" smtClean="0">
                        <a:latin typeface="Cambria Math" panose="02040503050406030204" pitchFamily="18" charset="0"/>
                      </a:rPr>
                      <m:t>𝑠𝑖𝑚</m:t>
                    </m:r>
                    <m:d>
                      <m:dPr>
                        <m:ctrlPr>
                          <a:rPr kumimoji="1" lang="en-US" altLang="zh-CN" b="0" i="1" dirty="0" smtClean="0">
                            <a:latin typeface="Cambria Math" panose="02040503050406030204" pitchFamily="18" charset="0"/>
                          </a:rPr>
                        </m:ctrlPr>
                      </m:dPr>
                      <m:e>
                        <m:r>
                          <a:rPr kumimoji="1" lang="en-US" altLang="zh-CN" b="0" i="1" dirty="0" smtClean="0">
                            <a:latin typeface="Cambria Math" panose="02040503050406030204" pitchFamily="18" charset="0"/>
                          </a:rPr>
                          <m:t>𝐷</m:t>
                        </m:r>
                        <m:r>
                          <a:rPr kumimoji="1" lang="en-US" altLang="zh-CN" b="0" i="1" dirty="0" smtClean="0">
                            <a:latin typeface="Cambria Math" panose="02040503050406030204" pitchFamily="18" charset="0"/>
                          </a:rPr>
                          <m:t>1, </m:t>
                        </m:r>
                        <m:r>
                          <a:rPr kumimoji="1" lang="en-US" altLang="zh-CN" b="0" i="1" dirty="0" smtClean="0">
                            <a:latin typeface="Cambria Math" panose="02040503050406030204" pitchFamily="18" charset="0"/>
                          </a:rPr>
                          <m:t>𝐷</m:t>
                        </m:r>
                        <m:r>
                          <a:rPr kumimoji="1" lang="en-US" altLang="zh-CN" b="0" i="1" dirty="0" smtClean="0">
                            <a:latin typeface="Cambria Math" panose="02040503050406030204" pitchFamily="18" charset="0"/>
                          </a:rPr>
                          <m:t>2</m:t>
                        </m:r>
                      </m:e>
                    </m:d>
                    <m:r>
                      <a:rPr kumimoji="1" lang="en-US" altLang="zh-CN" b="0" i="1" dirty="0" smtClean="0">
                        <a:latin typeface="Cambria Math" panose="02040503050406030204" pitchFamily="18" charset="0"/>
                      </a:rPr>
                      <m:t>=</m:t>
                    </m:r>
                    <m:r>
                      <m:rPr>
                        <m:sty m:val="p"/>
                      </m:rPr>
                      <a:rPr kumimoji="1" lang="en-US" altLang="zh-CN" i="0" dirty="0">
                        <a:latin typeface="Cambria Math" panose="02040503050406030204" pitchFamily="18" charset="0"/>
                      </a:rPr>
                      <m:t>JACCARD</m:t>
                    </m:r>
                    <m:d>
                      <m:dPr>
                        <m:ctrlPr>
                          <a:rPr kumimoji="1" lang="en-US" altLang="zh-CN" i="1" dirty="0">
                            <a:latin typeface="Cambria Math" panose="02040503050406030204" pitchFamily="18" charset="0"/>
                          </a:rPr>
                        </m:ctrlPr>
                      </m:dPr>
                      <m:e>
                        <m:r>
                          <m:rPr>
                            <m:sty m:val="p"/>
                          </m:rPr>
                          <a:rPr kumimoji="1" lang="en-US" altLang="zh-CN" i="0" dirty="0">
                            <a:latin typeface="Cambria Math" panose="02040503050406030204" pitchFamily="18" charset="0"/>
                          </a:rPr>
                          <m:t>A</m:t>
                        </m:r>
                        <m:r>
                          <a:rPr kumimoji="1" lang="en-US" altLang="zh-CN" i="0" dirty="0">
                            <a:latin typeface="Cambria Math" panose="02040503050406030204" pitchFamily="18" charset="0"/>
                          </a:rPr>
                          <m:t>, </m:t>
                        </m:r>
                        <m:r>
                          <m:rPr>
                            <m:sty m:val="p"/>
                          </m:rPr>
                          <a:rPr kumimoji="1" lang="en-US" altLang="zh-CN" i="0" dirty="0">
                            <a:latin typeface="Cambria Math" panose="02040503050406030204" pitchFamily="18" charset="0"/>
                          </a:rPr>
                          <m:t>B</m:t>
                        </m:r>
                      </m:e>
                    </m:d>
                    <m:r>
                      <a:rPr kumimoji="1" lang="en-US" altLang="zh-CN" b="0" i="1" dirty="0" smtClean="0">
                        <a:latin typeface="Cambria Math" panose="02040503050406030204" pitchFamily="18" charset="0"/>
                      </a:rPr>
                      <m:t>=</m:t>
                    </m:r>
                    <m:f>
                      <m:fPr>
                        <m:ctrlPr>
                          <a:rPr kumimoji="1" lang="en-US" altLang="zh-CN" b="0" i="1" dirty="0" smtClean="0">
                            <a:latin typeface="Cambria Math" panose="02040503050406030204" pitchFamily="18" charset="0"/>
                          </a:rPr>
                        </m:ctrlPr>
                      </m:fPr>
                      <m:num>
                        <m:d>
                          <m:dPr>
                            <m:begChr m:val="|"/>
                            <m:endChr m:val="|"/>
                            <m:ctrlPr>
                              <a:rPr kumimoji="1" lang="en-US" altLang="zh-CN" b="0" i="1" dirty="0" smtClean="0">
                                <a:latin typeface="Cambria Math" panose="02040503050406030204" pitchFamily="18" charset="0"/>
                              </a:rPr>
                            </m:ctrlPr>
                          </m:dPr>
                          <m:e>
                            <m:r>
                              <a:rPr kumimoji="1" lang="en-US" altLang="zh-CN" b="0" i="1" dirty="0" smtClean="0">
                                <a:latin typeface="Cambria Math" panose="02040503050406030204" pitchFamily="18" charset="0"/>
                              </a:rPr>
                              <m:t>𝐴</m:t>
                            </m:r>
                            <m:r>
                              <a:rPr kumimoji="1" lang="en-US" altLang="zh-CN" b="0" i="1" dirty="0" smtClean="0">
                                <a:latin typeface="Cambria Math" panose="02040503050406030204" pitchFamily="18" charset="0"/>
                                <a:ea typeface="Cambria Math" panose="02040503050406030204" pitchFamily="18" charset="0"/>
                              </a:rPr>
                              <m:t>∩</m:t>
                            </m:r>
                            <m:r>
                              <a:rPr kumimoji="1" lang="en-US" altLang="zh-CN" b="0" i="1" dirty="0" smtClean="0">
                                <a:latin typeface="Cambria Math" panose="02040503050406030204" pitchFamily="18" charset="0"/>
                                <a:ea typeface="Cambria Math" panose="02040503050406030204" pitchFamily="18" charset="0"/>
                              </a:rPr>
                              <m:t>𝐵</m:t>
                            </m:r>
                          </m:e>
                        </m:d>
                      </m:num>
                      <m:den>
                        <m:d>
                          <m:dPr>
                            <m:begChr m:val="|"/>
                            <m:endChr m:val="|"/>
                            <m:ctrlPr>
                              <a:rPr kumimoji="1" lang="en-US" altLang="zh-CN" b="0" i="1" dirty="0" smtClean="0">
                                <a:latin typeface="Cambria Math" panose="02040503050406030204" pitchFamily="18" charset="0"/>
                              </a:rPr>
                            </m:ctrlPr>
                          </m:dPr>
                          <m:e>
                            <m:r>
                              <a:rPr kumimoji="1" lang="en-US" altLang="zh-CN" b="0" i="1" dirty="0" smtClean="0">
                                <a:latin typeface="Cambria Math" panose="02040503050406030204" pitchFamily="18" charset="0"/>
                              </a:rPr>
                              <m:t>𝐴</m:t>
                            </m:r>
                            <m:r>
                              <a:rPr kumimoji="1" lang="en-US" altLang="zh-CN" b="0" i="1" dirty="0" smtClean="0">
                                <a:latin typeface="Cambria Math" panose="02040503050406030204" pitchFamily="18" charset="0"/>
                                <a:ea typeface="Cambria Math" panose="02040503050406030204" pitchFamily="18" charset="0"/>
                              </a:rPr>
                              <m:t>∪</m:t>
                            </m:r>
                            <m:r>
                              <a:rPr kumimoji="1" lang="en-US" altLang="zh-CN" b="0" i="1" dirty="0" smtClean="0">
                                <a:latin typeface="Cambria Math" panose="02040503050406030204" pitchFamily="18" charset="0"/>
                              </a:rPr>
                              <m:t>𝐵</m:t>
                            </m:r>
                          </m:e>
                        </m:d>
                      </m:den>
                    </m:f>
                    <m:r>
                      <a:rPr kumimoji="1" lang="zh-CN" altLang="en-US" b="0" i="1" dirty="0" smtClean="0">
                        <a:latin typeface="Cambria Math" panose="02040503050406030204" pitchFamily="18" charset="0"/>
                      </a:rPr>
                      <m:t> </m:t>
                    </m:r>
                  </m:oMath>
                </a14:m>
                <a:endParaRPr kumimoji="1" lang="en-US" altLang="zh-CN" b="0" i="1" dirty="0">
                  <a:latin typeface="Cambria Math" panose="02040503050406030204" pitchFamily="18" charset="0"/>
                </a:endParaRPr>
              </a:p>
              <a:p>
                <a:pPr marL="0" indent="0">
                  <a:buNone/>
                </a:pPr>
                <a:r>
                  <a:rPr kumimoji="1" lang="zh-CN" altLang="en-US" b="0" dirty="0"/>
                  <a:t> </a:t>
                </a:r>
                <a14:m>
                  <m:oMath xmlns:m="http://schemas.openxmlformats.org/officeDocument/2006/math">
                    <m:r>
                      <a:rPr kumimoji="1" lang="zh-CN" altLang="en-US" dirty="0">
                        <a:latin typeface="Cambria Math" panose="02040503050406030204" pitchFamily="18" charset="0"/>
                      </a:rPr>
                      <m:t> </m:t>
                    </m:r>
                    <m:r>
                      <a:rPr kumimoji="1" lang="zh-CN" altLang="en-US" b="0" i="0" dirty="0" smtClean="0">
                        <a:latin typeface="Cambria Math" panose="02040503050406030204" pitchFamily="18" charset="0"/>
                      </a:rPr>
                      <m:t>                         </m:t>
                    </m:r>
                    <m:r>
                      <a:rPr kumimoji="1" lang="en-US" altLang="zh-CN" b="0" i="1" dirty="0" smtClean="0">
                        <a:latin typeface="Cambria Math" panose="02040503050406030204" pitchFamily="18" charset="0"/>
                      </a:rPr>
                      <m:t>=</m:t>
                    </m:r>
                    <m:f>
                      <m:fPr>
                        <m:ctrlPr>
                          <a:rPr kumimoji="1" lang="en-US" altLang="zh-CN" i="1" dirty="0">
                            <a:latin typeface="Cambria Math" panose="02040503050406030204" pitchFamily="18" charset="0"/>
                          </a:rPr>
                        </m:ctrlPr>
                      </m:fPr>
                      <m:num>
                        <m:d>
                          <m:dPr>
                            <m:begChr m:val="|"/>
                            <m:endChr m:val="|"/>
                            <m:ctrlPr>
                              <a:rPr kumimoji="1" lang="en-US" altLang="zh-CN" i="1" dirty="0">
                                <a:latin typeface="Cambria Math" panose="02040503050406030204" pitchFamily="18" charset="0"/>
                              </a:rPr>
                            </m:ctrlPr>
                          </m:dPr>
                          <m:e>
                            <m:d>
                              <m:dPr>
                                <m:begChr m:val="{"/>
                                <m:endChr m:val="}"/>
                                <m:ctrlPr>
                                  <a:rPr kumimoji="1" lang="en-US" altLang="zh-CN" b="0" i="1" dirty="0" smtClean="0">
                                    <a:latin typeface="Cambria Math" panose="02040503050406030204" pitchFamily="18" charset="0"/>
                                  </a:rPr>
                                </m:ctrlPr>
                              </m:dPr>
                              <m:e>
                                <m:r>
                                  <m:rPr>
                                    <m:sty m:val="p"/>
                                  </m:rPr>
                                  <a:rPr kumimoji="1" lang="en-US" altLang="zh-CN" b="0" i="0" dirty="0" smtClean="0">
                                    <a:solidFill>
                                      <a:srgbClr val="00B050"/>
                                    </a:solidFill>
                                    <a:latin typeface="Cambria Math" panose="02040503050406030204" pitchFamily="18" charset="0"/>
                                  </a:rPr>
                                  <m:t>March</m:t>
                                </m:r>
                              </m:e>
                            </m:d>
                          </m:e>
                        </m:d>
                      </m:num>
                      <m:den>
                        <m:d>
                          <m:dPr>
                            <m:begChr m:val="|"/>
                            <m:endChr m:val="|"/>
                            <m:ctrlPr>
                              <a:rPr kumimoji="1" lang="en-US" altLang="zh-CN" i="1" dirty="0">
                                <a:latin typeface="Cambria Math" panose="02040503050406030204" pitchFamily="18" charset="0"/>
                              </a:rPr>
                            </m:ctrlPr>
                          </m:dPr>
                          <m:e>
                            <m:d>
                              <m:dPr>
                                <m:begChr m:val="{"/>
                                <m:endChr m:val="}"/>
                                <m:ctrlPr>
                                  <a:rPr kumimoji="1" lang="en-US" altLang="zh-CN" b="0" i="1" dirty="0" smtClean="0">
                                    <a:latin typeface="Cambria Math" panose="02040503050406030204" pitchFamily="18" charset="0"/>
                                  </a:rPr>
                                </m:ctrlPr>
                              </m:dPr>
                              <m:e>
                                <m:r>
                                  <m:rPr>
                                    <m:sty m:val="p"/>
                                  </m:rPr>
                                  <a:rPr kumimoji="1" lang="en-US" altLang="zh-CN" b="0" i="0" dirty="0" smtClean="0">
                                    <a:latin typeface="Cambria Math" panose="02040503050406030204" pitchFamily="18" charset="0"/>
                                  </a:rPr>
                                  <m:t>ides</m:t>
                                </m:r>
                                <m:r>
                                  <a:rPr kumimoji="1" lang="en-US" altLang="zh-CN" b="0" i="0" dirty="0" smtClean="0">
                                    <a:latin typeface="Cambria Math" panose="02040503050406030204" pitchFamily="18" charset="0"/>
                                  </a:rPr>
                                  <m:t>, </m:t>
                                </m:r>
                                <m:r>
                                  <m:rPr>
                                    <m:sty m:val="p"/>
                                  </m:rPr>
                                  <a:rPr kumimoji="1" lang="en-US" altLang="zh-CN" b="0" i="0" dirty="0" smtClean="0">
                                    <a:latin typeface="Cambria Math" panose="02040503050406030204" pitchFamily="18" charset="0"/>
                                  </a:rPr>
                                  <m:t>of</m:t>
                                </m:r>
                                <m:r>
                                  <a:rPr kumimoji="1" lang="en-US" altLang="zh-CN" b="0" i="0" dirty="0" smtClean="0">
                                    <a:latin typeface="Cambria Math" panose="02040503050406030204" pitchFamily="18" charset="0"/>
                                  </a:rPr>
                                  <m:t>, </m:t>
                                </m:r>
                                <m:r>
                                  <m:rPr>
                                    <m:sty m:val="p"/>
                                  </m:rPr>
                                  <a:rPr kumimoji="1" lang="en-US" altLang="zh-CN" b="0" i="0" dirty="0" smtClean="0">
                                    <a:latin typeface="Cambria Math" panose="02040503050406030204" pitchFamily="18" charset="0"/>
                                  </a:rPr>
                                  <m:t>March</m:t>
                                </m:r>
                                <m:r>
                                  <a:rPr kumimoji="1" lang="en-US" altLang="zh-CN" b="0" i="0" dirty="0" smtClean="0">
                                    <a:latin typeface="Cambria Math" panose="02040503050406030204" pitchFamily="18" charset="0"/>
                                  </a:rPr>
                                  <m:t>, </m:t>
                                </m:r>
                                <m:r>
                                  <m:rPr>
                                    <m:sty m:val="p"/>
                                  </m:rPr>
                                  <a:rPr kumimoji="1" lang="en-US" altLang="zh-CN" b="0" i="0" dirty="0" smtClean="0">
                                    <a:latin typeface="Cambria Math" panose="02040503050406030204" pitchFamily="18" charset="0"/>
                                  </a:rPr>
                                  <m:t>Caesar</m:t>
                                </m:r>
                                <m:r>
                                  <a:rPr kumimoji="1" lang="en-US" altLang="zh-CN" b="0" i="0" dirty="0" smtClean="0">
                                    <a:latin typeface="Cambria Math" panose="02040503050406030204" pitchFamily="18" charset="0"/>
                                  </a:rPr>
                                  <m:t>, </m:t>
                                </m:r>
                                <m:r>
                                  <m:rPr>
                                    <m:sty m:val="p"/>
                                  </m:rPr>
                                  <a:rPr kumimoji="1" lang="en-US" altLang="zh-CN" b="0" i="0" dirty="0" smtClean="0">
                                    <a:latin typeface="Cambria Math" panose="02040503050406030204" pitchFamily="18" charset="0"/>
                                  </a:rPr>
                                  <m:t>died</m:t>
                                </m:r>
                                <m:r>
                                  <a:rPr kumimoji="1" lang="en-US" altLang="zh-CN" b="0" i="0" dirty="0" smtClean="0">
                                    <a:latin typeface="Cambria Math" panose="02040503050406030204" pitchFamily="18" charset="0"/>
                                  </a:rPr>
                                  <m:t>, </m:t>
                                </m:r>
                                <m:r>
                                  <m:rPr>
                                    <m:sty m:val="p"/>
                                  </m:rPr>
                                  <a:rPr kumimoji="1" lang="en-US" altLang="zh-CN" b="0" i="0" dirty="0" smtClean="0">
                                    <a:latin typeface="Cambria Math" panose="02040503050406030204" pitchFamily="18" charset="0"/>
                                  </a:rPr>
                                  <m:t>in</m:t>
                                </m:r>
                              </m:e>
                            </m:d>
                          </m:e>
                        </m:d>
                      </m:den>
                    </m:f>
                  </m:oMath>
                </a14:m>
                <a:endParaRPr kumimoji="1" lang="en-US" altLang="zh-CN" i="1" dirty="0">
                  <a:latin typeface="Cambria Math" panose="02040503050406030204" pitchFamily="18" charset="0"/>
                </a:endParaRPr>
              </a:p>
              <a:p>
                <a:pPr marL="0" indent="0">
                  <a:buNone/>
                </a:pPr>
                <a:r>
                  <a:rPr kumimoji="1" lang="zh-CN" altLang="en-US" b="0" dirty="0"/>
                  <a:t> </a:t>
                </a:r>
                <a14:m>
                  <m:oMath xmlns:m="http://schemas.openxmlformats.org/officeDocument/2006/math">
                    <m:r>
                      <a:rPr kumimoji="1" lang="zh-CN" altLang="en-US" b="0" i="0" dirty="0" smtClean="0">
                        <a:latin typeface="Cambria Math" panose="02040503050406030204" pitchFamily="18" charset="0"/>
                      </a:rPr>
                      <m:t>                          </m:t>
                    </m:r>
                    <m:r>
                      <a:rPr kumimoji="1" lang="en-US" altLang="zh-CN" b="0" i="1" dirty="0" smtClean="0">
                        <a:latin typeface="Cambria Math" panose="02040503050406030204" pitchFamily="18" charset="0"/>
                      </a:rPr>
                      <m:t>=</m:t>
                    </m:r>
                    <m:f>
                      <m:fPr>
                        <m:ctrlPr>
                          <a:rPr kumimoji="1" lang="en-US" altLang="zh-CN" b="0" i="1" dirty="0" smtClean="0">
                            <a:latin typeface="Cambria Math" panose="02040503050406030204" pitchFamily="18" charset="0"/>
                          </a:rPr>
                        </m:ctrlPr>
                      </m:fPr>
                      <m:num>
                        <m:r>
                          <a:rPr kumimoji="1" lang="en-US" altLang="zh-CN" b="0" i="1" dirty="0" smtClean="0">
                            <a:latin typeface="Cambria Math" panose="02040503050406030204" pitchFamily="18" charset="0"/>
                          </a:rPr>
                          <m:t>1</m:t>
                        </m:r>
                      </m:num>
                      <m:den>
                        <m:r>
                          <a:rPr kumimoji="1" lang="en-US" altLang="zh-CN" b="0" i="1" dirty="0" smtClean="0">
                            <a:latin typeface="Cambria Math" panose="02040503050406030204" pitchFamily="18" charset="0"/>
                          </a:rPr>
                          <m:t>6</m:t>
                        </m:r>
                      </m:den>
                    </m:f>
                  </m:oMath>
                </a14:m>
                <a:endParaRPr kumimoji="1" lang="zh-CN" altLang="en-US" dirty="0"/>
              </a:p>
            </p:txBody>
          </p:sp>
        </mc:Choice>
        <mc:Fallback xmlns="">
          <p:sp>
            <p:nvSpPr>
              <p:cNvPr id="3" name="内容占位符 2">
                <a:extLst>
                  <a:ext uri="{FF2B5EF4-FFF2-40B4-BE49-F238E27FC236}">
                    <a16:creationId xmlns:a16="http://schemas.microsoft.com/office/drawing/2014/main" id="{C38E472E-3273-6A4D-B430-29B22B0D8A81}"/>
                  </a:ext>
                </a:extLst>
              </p:cNvPr>
              <p:cNvSpPr>
                <a:spLocks noGrp="1" noRot="1" noChangeAspect="1" noMove="1" noResize="1" noEditPoints="1" noAdjustHandles="1" noChangeArrowheads="1" noChangeShapeType="1" noTextEdit="1"/>
              </p:cNvSpPr>
              <p:nvPr>
                <p:ph idx="1"/>
              </p:nvPr>
            </p:nvSpPr>
            <p:spPr>
              <a:blipFill>
                <a:blip r:embed="rId2"/>
                <a:stretch>
                  <a:fillRect l="-617" t="-965"/>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8A4618D6-7A0B-A94F-A9DC-3CDC7914DE4F}"/>
              </a:ext>
            </a:extLst>
          </p:cNvPr>
          <p:cNvSpPr/>
          <p:nvPr/>
        </p:nvSpPr>
        <p:spPr>
          <a:xfrm>
            <a:off x="1757548" y="3289465"/>
            <a:ext cx="3633849" cy="12469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F4E9111-F01E-E14E-BE44-A27EB4C614EB}"/>
                  </a:ext>
                </a:extLst>
              </p:cNvPr>
              <p:cNvSpPr txBox="1"/>
              <p:nvPr/>
            </p:nvSpPr>
            <p:spPr>
              <a:xfrm>
                <a:off x="5664530" y="3451254"/>
                <a:ext cx="3222357" cy="923330"/>
              </a:xfrm>
              <a:prstGeom prst="rect">
                <a:avLst/>
              </a:prstGeom>
              <a:noFill/>
            </p:spPr>
            <p:txBody>
              <a:bodyPr wrap="none" rtlCol="0">
                <a:spAutoFit/>
              </a:bodyPr>
              <a:lstStyle/>
              <a:p>
                <a:r>
                  <a:rPr kumimoji="1" lang="en-US" altLang="zh-CN" dirty="0">
                    <a:solidFill>
                      <a:srgbClr val="C00000"/>
                    </a:solidFill>
                  </a:rPr>
                  <a:t>D1</a:t>
                </a:r>
                <a:r>
                  <a:rPr kumimoji="1" lang="zh-CN" altLang="en-US" dirty="0">
                    <a:solidFill>
                      <a:srgbClr val="C00000"/>
                    </a:solidFill>
                  </a:rPr>
                  <a:t>和</a:t>
                </a:r>
                <a:r>
                  <a:rPr kumimoji="1" lang="en-US" altLang="zh-CN" dirty="0">
                    <a:solidFill>
                      <a:srgbClr val="C00000"/>
                    </a:solidFill>
                  </a:rPr>
                  <a:t>D2</a:t>
                </a:r>
                <a:r>
                  <a:rPr kumimoji="1" lang="zh-CN" altLang="en-US" dirty="0">
                    <a:solidFill>
                      <a:srgbClr val="C00000"/>
                    </a:solidFill>
                  </a:rPr>
                  <a:t>的</a:t>
                </a:r>
                <a14:m>
                  <m:oMath xmlns:m="http://schemas.openxmlformats.org/officeDocument/2006/math">
                    <m:r>
                      <m:rPr>
                        <m:sty m:val="p"/>
                      </m:rPr>
                      <a:rPr kumimoji="1" lang="en-US" altLang="zh-CN" dirty="0" smtClean="0">
                        <a:solidFill>
                          <a:srgbClr val="C00000"/>
                        </a:solidFill>
                        <a:latin typeface="Cambria Math" panose="02040503050406030204" pitchFamily="18" charset="0"/>
                      </a:rPr>
                      <m:t>JACCARD</m:t>
                    </m:r>
                  </m:oMath>
                </a14:m>
                <a:r>
                  <a:rPr kumimoji="1" lang="zh-CN" altLang="en-US" dirty="0">
                    <a:solidFill>
                      <a:srgbClr val="C00000"/>
                    </a:solidFill>
                  </a:rPr>
                  <a:t>相似度是？</a:t>
                </a:r>
                <a:endParaRPr kumimoji="1" lang="en-US" altLang="zh-CN" dirty="0">
                  <a:solidFill>
                    <a:srgbClr val="C00000"/>
                  </a:solidFill>
                </a:endParaRPr>
              </a:p>
              <a:p>
                <a:r>
                  <a:rPr kumimoji="1" lang="en-US" altLang="zh-CN" dirty="0">
                    <a:solidFill>
                      <a:srgbClr val="C00000"/>
                    </a:solidFill>
                  </a:rPr>
                  <a:t>A:</a:t>
                </a:r>
                <a:r>
                  <a:rPr kumimoji="1" lang="zh-CN" altLang="en-US" dirty="0">
                    <a:solidFill>
                      <a:srgbClr val="C00000"/>
                    </a:solidFill>
                  </a:rPr>
                  <a:t> </a:t>
                </a:r>
                <a:r>
                  <a:rPr kumimoji="1" lang="en-US" altLang="zh-CN" dirty="0">
                    <a:solidFill>
                      <a:srgbClr val="C00000"/>
                    </a:solidFill>
                  </a:rPr>
                  <a:t>1/6</a:t>
                </a:r>
              </a:p>
              <a:p>
                <a:r>
                  <a:rPr kumimoji="1" lang="en-US" altLang="zh-CN" dirty="0">
                    <a:solidFill>
                      <a:srgbClr val="C00000"/>
                    </a:solidFill>
                  </a:rPr>
                  <a:t>B:</a:t>
                </a:r>
                <a:r>
                  <a:rPr kumimoji="1" lang="zh-CN" altLang="en-US" dirty="0">
                    <a:solidFill>
                      <a:srgbClr val="C00000"/>
                    </a:solidFill>
                  </a:rPr>
                  <a:t> </a:t>
                </a:r>
                <a:r>
                  <a:rPr kumimoji="1" lang="en-US" altLang="zh-CN" dirty="0">
                    <a:solidFill>
                      <a:srgbClr val="C00000"/>
                    </a:solidFill>
                  </a:rPr>
                  <a:t>1/7</a:t>
                </a:r>
                <a:endParaRPr kumimoji="1" lang="zh-CN" altLang="en-US" dirty="0">
                  <a:solidFill>
                    <a:srgbClr val="C00000"/>
                  </a:solidFill>
                </a:endParaRPr>
              </a:p>
            </p:txBody>
          </p:sp>
        </mc:Choice>
        <mc:Fallback xmlns="">
          <p:sp>
            <p:nvSpPr>
              <p:cNvPr id="6" name="文本框 5">
                <a:extLst>
                  <a:ext uri="{FF2B5EF4-FFF2-40B4-BE49-F238E27FC236}">
                    <a16:creationId xmlns:a16="http://schemas.microsoft.com/office/drawing/2014/main" id="{3F4E9111-F01E-E14E-BE44-A27EB4C614EB}"/>
                  </a:ext>
                </a:extLst>
              </p:cNvPr>
              <p:cNvSpPr txBox="1">
                <a:spLocks noRot="1" noChangeAspect="1" noMove="1" noResize="1" noEditPoints="1" noAdjustHandles="1" noChangeArrowheads="1" noChangeShapeType="1" noTextEdit="1"/>
              </p:cNvSpPr>
              <p:nvPr/>
            </p:nvSpPr>
            <p:spPr>
              <a:xfrm>
                <a:off x="5664530" y="3451254"/>
                <a:ext cx="3222357" cy="923330"/>
              </a:xfrm>
              <a:prstGeom prst="rect">
                <a:avLst/>
              </a:prstGeom>
              <a:blipFill>
                <a:blip r:embed="rId3"/>
                <a:stretch>
                  <a:fillRect l="-1176" t="-5479" r="-392" b="-9589"/>
                </a:stretch>
              </a:blipFill>
            </p:spPr>
            <p:txBody>
              <a:bodyPr/>
              <a:lstStyle/>
              <a:p>
                <a:r>
                  <a:rPr lang="zh-CN" altLang="en-US">
                    <a:noFill/>
                  </a:rPr>
                  <a:t> </a:t>
                </a:r>
              </a:p>
            </p:txBody>
          </p:sp>
        </mc:Fallback>
      </mc:AlternateContent>
      <p:sp>
        <p:nvSpPr>
          <p:cNvPr id="7" name="Rectangle 6"/>
          <p:cNvSpPr/>
          <p:nvPr/>
        </p:nvSpPr>
        <p:spPr>
          <a:xfrm>
            <a:off x="6954145" y="2928034"/>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19608471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0C0F8C-5A6C-6B4E-AFA5-4D9CCADA6A27}"/>
              </a:ext>
            </a:extLst>
          </p:cNvPr>
          <p:cNvSpPr>
            <a:spLocks noGrp="1"/>
          </p:cNvSpPr>
          <p:nvPr>
            <p:ph type="title"/>
          </p:nvPr>
        </p:nvSpPr>
        <p:spPr/>
        <p:txBody>
          <a:bodyPr/>
          <a:lstStyle/>
          <a:p>
            <a:r>
              <a:rPr kumimoji="1" lang="zh-CN" altLang="en-US" dirty="0"/>
              <a:t>集合表示的优缺点</a:t>
            </a:r>
          </a:p>
        </p:txBody>
      </p:sp>
      <p:sp>
        <p:nvSpPr>
          <p:cNvPr id="3" name="内容占位符 2">
            <a:extLst>
              <a:ext uri="{FF2B5EF4-FFF2-40B4-BE49-F238E27FC236}">
                <a16:creationId xmlns:a16="http://schemas.microsoft.com/office/drawing/2014/main" id="{2189EA25-D760-AD4C-B079-A757FE7D31F2}"/>
              </a:ext>
            </a:extLst>
          </p:cNvPr>
          <p:cNvSpPr>
            <a:spLocks noGrp="1"/>
          </p:cNvSpPr>
          <p:nvPr>
            <p:ph idx="1"/>
          </p:nvPr>
        </p:nvSpPr>
        <p:spPr/>
        <p:txBody>
          <a:bodyPr/>
          <a:lstStyle/>
          <a:p>
            <a:r>
              <a:rPr kumimoji="1" lang="zh-CN" altLang="en-US" dirty="0"/>
              <a:t>优点：简单、直观，运算效率高</a:t>
            </a:r>
            <a:endParaRPr kumimoji="1" lang="en-US" altLang="zh-CN" dirty="0"/>
          </a:p>
          <a:p>
            <a:r>
              <a:rPr kumimoji="1" lang="zh-CN" altLang="en-US" dirty="0"/>
              <a:t>缺点</a:t>
            </a:r>
            <a:endParaRPr kumimoji="1" lang="en-US" altLang="zh-CN" dirty="0"/>
          </a:p>
          <a:p>
            <a:pPr lvl="1"/>
            <a:r>
              <a:rPr kumimoji="1" lang="zh-CN" altLang="en-US" dirty="0"/>
              <a:t>未考虑单词在文本中出现的</a:t>
            </a:r>
            <a:r>
              <a:rPr kumimoji="1" lang="zh-CN" altLang="en-US" dirty="0">
                <a:solidFill>
                  <a:srgbClr val="C00000"/>
                </a:solidFill>
              </a:rPr>
              <a:t>词频</a:t>
            </a:r>
            <a:endParaRPr kumimoji="1" lang="en-US" altLang="zh-CN" dirty="0">
              <a:solidFill>
                <a:srgbClr val="C00000"/>
              </a:solidFill>
            </a:endParaRPr>
          </a:p>
          <a:p>
            <a:pPr lvl="2"/>
            <a:r>
              <a:rPr kumimoji="1" lang="en-US" altLang="zh-CN" dirty="0"/>
              <a:t>“The</a:t>
            </a:r>
            <a:r>
              <a:rPr kumimoji="1" lang="zh-CN" altLang="en-US" dirty="0"/>
              <a:t> </a:t>
            </a:r>
            <a:r>
              <a:rPr kumimoji="1" lang="en-US" altLang="zh-CN" dirty="0"/>
              <a:t>cat</a:t>
            </a:r>
            <a:r>
              <a:rPr kumimoji="1" lang="zh-CN" altLang="en-US" dirty="0"/>
              <a:t> </a:t>
            </a:r>
            <a:r>
              <a:rPr kumimoji="1" lang="en-US" altLang="zh-CN" dirty="0"/>
              <a:t>sat</a:t>
            </a:r>
            <a:r>
              <a:rPr kumimoji="1" lang="zh-CN" altLang="en-US" dirty="0"/>
              <a:t> </a:t>
            </a:r>
            <a:r>
              <a:rPr kumimoji="1" lang="en-US" altLang="zh-CN" dirty="0"/>
              <a:t>on</a:t>
            </a:r>
            <a:r>
              <a:rPr kumimoji="1" lang="zh-CN" altLang="en-US" dirty="0"/>
              <a:t> </a:t>
            </a:r>
            <a:r>
              <a:rPr kumimoji="1" lang="en-US" altLang="zh-CN" dirty="0"/>
              <a:t>the</a:t>
            </a:r>
            <a:r>
              <a:rPr kumimoji="1" lang="zh-CN" altLang="en-US" dirty="0"/>
              <a:t> </a:t>
            </a:r>
            <a:r>
              <a:rPr kumimoji="1" lang="en-US" altLang="zh-CN" dirty="0"/>
              <a:t>mat”</a:t>
            </a:r>
            <a:r>
              <a:rPr kumimoji="1" lang="zh-CN" altLang="en-US" dirty="0"/>
              <a:t> </a:t>
            </a:r>
            <a:r>
              <a:rPr kumimoji="1" lang="en-US" altLang="zh-CN" dirty="0" err="1"/>
              <a:t>v.s</a:t>
            </a:r>
            <a:r>
              <a:rPr kumimoji="1" lang="en-US" altLang="zh-CN" dirty="0"/>
              <a:t>.</a:t>
            </a:r>
            <a:r>
              <a:rPr kumimoji="1" lang="zh-CN" altLang="en-US" dirty="0"/>
              <a:t> </a:t>
            </a:r>
            <a:r>
              <a:rPr kumimoji="1" lang="en-US" altLang="zh-CN" dirty="0"/>
              <a:t>“the</a:t>
            </a:r>
            <a:r>
              <a:rPr kumimoji="1" lang="zh-CN" altLang="en-US" dirty="0"/>
              <a:t> </a:t>
            </a:r>
            <a:r>
              <a:rPr kumimoji="1" lang="en-US" altLang="zh-CN" dirty="0"/>
              <a:t>cat</a:t>
            </a:r>
            <a:r>
              <a:rPr kumimoji="1" lang="zh-CN" altLang="en-US" dirty="0"/>
              <a:t> </a:t>
            </a:r>
            <a:r>
              <a:rPr kumimoji="1" lang="en-US" altLang="zh-CN" dirty="0"/>
              <a:t>sat</a:t>
            </a:r>
            <a:r>
              <a:rPr kumimoji="1" lang="zh-CN" altLang="en-US" dirty="0"/>
              <a:t> </a:t>
            </a:r>
            <a:r>
              <a:rPr kumimoji="1" lang="en-US" altLang="zh-CN" dirty="0"/>
              <a:t>on</a:t>
            </a:r>
            <a:r>
              <a:rPr kumimoji="1" lang="zh-CN" altLang="en-US" dirty="0"/>
              <a:t> </a:t>
            </a:r>
            <a:r>
              <a:rPr kumimoji="1" lang="en-US" altLang="zh-CN" dirty="0"/>
              <a:t>the</a:t>
            </a:r>
            <a:r>
              <a:rPr kumimoji="1" lang="zh-CN" altLang="en-US" dirty="0"/>
              <a:t> </a:t>
            </a:r>
            <a:r>
              <a:rPr kumimoji="1" lang="en-US" altLang="zh-CN" dirty="0"/>
              <a:t>mat</a:t>
            </a:r>
            <a:r>
              <a:rPr kumimoji="1" lang="zh-CN" altLang="en-US" dirty="0"/>
              <a:t> </a:t>
            </a:r>
            <a:r>
              <a:rPr kumimoji="1" lang="en-US" altLang="zh-CN" dirty="0">
                <a:solidFill>
                  <a:srgbClr val="C00000"/>
                </a:solidFill>
              </a:rPr>
              <a:t>mat</a:t>
            </a:r>
            <a:r>
              <a:rPr kumimoji="1" lang="en-US" altLang="zh-CN" dirty="0"/>
              <a:t>”</a:t>
            </a:r>
          </a:p>
          <a:p>
            <a:pPr lvl="1"/>
            <a:r>
              <a:rPr kumimoji="1" lang="zh-CN" altLang="en-US" dirty="0"/>
              <a:t>未考虑单词在文本中出现的</a:t>
            </a:r>
            <a:r>
              <a:rPr kumimoji="1" lang="zh-CN" altLang="en-US" dirty="0">
                <a:solidFill>
                  <a:srgbClr val="C00000"/>
                </a:solidFill>
              </a:rPr>
              <a:t>位置</a:t>
            </a:r>
            <a:endParaRPr kumimoji="1" lang="en-US" altLang="zh-CN" dirty="0">
              <a:solidFill>
                <a:srgbClr val="C00000"/>
              </a:solidFill>
            </a:endParaRPr>
          </a:p>
          <a:p>
            <a:pPr lvl="2"/>
            <a:r>
              <a:rPr kumimoji="1" lang="en-US" altLang="zh-CN" dirty="0"/>
              <a:t>“The</a:t>
            </a:r>
            <a:r>
              <a:rPr kumimoji="1" lang="zh-CN" altLang="en-US" dirty="0"/>
              <a:t> </a:t>
            </a:r>
            <a:r>
              <a:rPr kumimoji="1" lang="en-US" altLang="zh-CN" dirty="0">
                <a:solidFill>
                  <a:srgbClr val="00B050"/>
                </a:solidFill>
              </a:rPr>
              <a:t>cat</a:t>
            </a:r>
            <a:r>
              <a:rPr kumimoji="1" lang="zh-CN" altLang="en-US" dirty="0"/>
              <a:t> </a:t>
            </a:r>
            <a:r>
              <a:rPr kumimoji="1" lang="en-US" altLang="zh-CN" dirty="0"/>
              <a:t>sat</a:t>
            </a:r>
            <a:r>
              <a:rPr kumimoji="1" lang="zh-CN" altLang="en-US" dirty="0"/>
              <a:t> </a:t>
            </a:r>
            <a:r>
              <a:rPr kumimoji="1" lang="en-US" altLang="zh-CN" dirty="0"/>
              <a:t>on</a:t>
            </a:r>
            <a:r>
              <a:rPr kumimoji="1" lang="zh-CN" altLang="en-US" dirty="0"/>
              <a:t> </a:t>
            </a:r>
            <a:r>
              <a:rPr kumimoji="1" lang="en-US" altLang="zh-CN" dirty="0"/>
              <a:t>the</a:t>
            </a:r>
            <a:r>
              <a:rPr kumimoji="1" lang="zh-CN" altLang="en-US" dirty="0"/>
              <a:t> </a:t>
            </a:r>
            <a:r>
              <a:rPr kumimoji="1" lang="en-US" altLang="zh-CN" dirty="0">
                <a:solidFill>
                  <a:srgbClr val="00B050"/>
                </a:solidFill>
              </a:rPr>
              <a:t>mat</a:t>
            </a:r>
            <a:r>
              <a:rPr kumimoji="1" lang="en-US" altLang="zh-CN" dirty="0"/>
              <a:t>”</a:t>
            </a:r>
            <a:r>
              <a:rPr kumimoji="1" lang="zh-CN" altLang="en-US" dirty="0"/>
              <a:t> </a:t>
            </a:r>
            <a:r>
              <a:rPr kumimoji="1" lang="en-US" altLang="zh-CN" dirty="0" err="1"/>
              <a:t>v.s</a:t>
            </a:r>
            <a:r>
              <a:rPr kumimoji="1" lang="en-US" altLang="zh-CN" dirty="0"/>
              <a:t>.</a:t>
            </a:r>
            <a:r>
              <a:rPr kumimoji="1" lang="zh-CN" altLang="en-US" dirty="0"/>
              <a:t> </a:t>
            </a:r>
            <a:r>
              <a:rPr kumimoji="1" lang="en-US" altLang="zh-CN" dirty="0"/>
              <a:t>“the</a:t>
            </a:r>
            <a:r>
              <a:rPr kumimoji="1" lang="zh-CN" altLang="en-US" dirty="0"/>
              <a:t> </a:t>
            </a:r>
            <a:r>
              <a:rPr kumimoji="1" lang="en-US" altLang="zh-CN" dirty="0">
                <a:solidFill>
                  <a:srgbClr val="00B050"/>
                </a:solidFill>
              </a:rPr>
              <a:t>mat</a:t>
            </a:r>
            <a:r>
              <a:rPr kumimoji="1" lang="zh-CN" altLang="en-US" dirty="0"/>
              <a:t> </a:t>
            </a:r>
            <a:r>
              <a:rPr kumimoji="1" lang="en-US" altLang="zh-CN" dirty="0"/>
              <a:t>sat</a:t>
            </a:r>
            <a:r>
              <a:rPr kumimoji="1" lang="zh-CN" altLang="en-US" dirty="0"/>
              <a:t> </a:t>
            </a:r>
            <a:r>
              <a:rPr kumimoji="1" lang="en-US" altLang="zh-CN" dirty="0"/>
              <a:t>on</a:t>
            </a:r>
            <a:r>
              <a:rPr kumimoji="1" lang="zh-CN" altLang="en-US" dirty="0"/>
              <a:t> </a:t>
            </a:r>
            <a:r>
              <a:rPr kumimoji="1" lang="en-US" altLang="zh-CN" dirty="0"/>
              <a:t>the</a:t>
            </a:r>
            <a:r>
              <a:rPr kumimoji="1" lang="zh-CN" altLang="en-US" dirty="0"/>
              <a:t> </a:t>
            </a:r>
            <a:r>
              <a:rPr kumimoji="1" lang="en-US" altLang="zh-CN" dirty="0">
                <a:solidFill>
                  <a:srgbClr val="00B050"/>
                </a:solidFill>
              </a:rPr>
              <a:t>cat</a:t>
            </a:r>
            <a:r>
              <a:rPr kumimoji="1" lang="en-US" altLang="zh-CN" dirty="0"/>
              <a:t>”</a:t>
            </a:r>
          </a:p>
          <a:p>
            <a:pPr lvl="2"/>
            <a:r>
              <a:rPr kumimoji="1" lang="en-US" altLang="zh-CN" dirty="0"/>
              <a:t>”hot</a:t>
            </a:r>
            <a:r>
              <a:rPr kumimoji="1" lang="zh-CN" altLang="en-US" dirty="0"/>
              <a:t> </a:t>
            </a:r>
            <a:r>
              <a:rPr kumimoji="1" lang="en-US" altLang="zh-CN" dirty="0"/>
              <a:t>dog”</a:t>
            </a:r>
            <a:r>
              <a:rPr kumimoji="1" lang="zh-CN" altLang="en-US" dirty="0"/>
              <a:t> </a:t>
            </a:r>
            <a:r>
              <a:rPr kumimoji="1" lang="en-US" altLang="zh-CN" dirty="0" err="1"/>
              <a:t>v.s</a:t>
            </a:r>
            <a:r>
              <a:rPr kumimoji="1" lang="en-US" altLang="zh-CN" dirty="0"/>
              <a:t>.</a:t>
            </a:r>
            <a:r>
              <a:rPr kumimoji="1" lang="zh-CN" altLang="en-US" dirty="0"/>
              <a:t> </a:t>
            </a:r>
            <a:r>
              <a:rPr kumimoji="1" lang="en-US" altLang="zh-CN" dirty="0"/>
              <a:t>”dog</a:t>
            </a:r>
            <a:r>
              <a:rPr kumimoji="1" lang="zh-CN" altLang="en-US" dirty="0"/>
              <a:t> </a:t>
            </a:r>
            <a:r>
              <a:rPr kumimoji="1" lang="en-US" altLang="zh-CN" dirty="0"/>
              <a:t>hot”</a:t>
            </a:r>
            <a:endParaRPr kumimoji="1" lang="en-US" altLang="zh-CN" dirty="0">
              <a:solidFill>
                <a:srgbClr val="C00000"/>
              </a:solidFill>
            </a:endParaRPr>
          </a:p>
          <a:p>
            <a:pPr lvl="1"/>
            <a:r>
              <a:rPr kumimoji="1" lang="zh-CN" altLang="en-US" dirty="0"/>
              <a:t>使用频率较低词往往带有更大的信息量</a:t>
            </a:r>
            <a:endParaRPr kumimoji="1" lang="en-US" altLang="zh-CN" dirty="0"/>
          </a:p>
          <a:p>
            <a:pPr lvl="2"/>
            <a:r>
              <a:rPr kumimoji="1" lang="en-US" altLang="zh-CN" dirty="0"/>
              <a:t>“</a:t>
            </a:r>
            <a:r>
              <a:rPr kumimoji="1" lang="zh-CN" altLang="en-US" dirty="0"/>
              <a:t>希格斯玻色子</a:t>
            </a:r>
            <a:r>
              <a:rPr kumimoji="1" lang="en-US" altLang="zh-CN" dirty="0"/>
              <a:t>”</a:t>
            </a:r>
            <a:r>
              <a:rPr kumimoji="1" lang="zh-CN" altLang="en-US" dirty="0"/>
              <a:t>  </a:t>
            </a:r>
            <a:r>
              <a:rPr kumimoji="1" lang="en-US" altLang="zh-CN" dirty="0" err="1"/>
              <a:t>v.s</a:t>
            </a:r>
            <a:r>
              <a:rPr kumimoji="1" lang="en-US" altLang="zh-CN" dirty="0"/>
              <a:t>.</a:t>
            </a:r>
            <a:r>
              <a:rPr kumimoji="1" lang="zh-CN" altLang="en-US" dirty="0"/>
              <a:t>  </a:t>
            </a:r>
            <a:r>
              <a:rPr kumimoji="1" lang="en-US" altLang="zh-CN" dirty="0"/>
              <a:t>“</a:t>
            </a:r>
            <a:r>
              <a:rPr kumimoji="1" lang="zh-CN" altLang="en-US" dirty="0"/>
              <a:t>好</a:t>
            </a:r>
            <a:r>
              <a:rPr kumimoji="1" lang="en-US" altLang="zh-CN" dirty="0"/>
              <a:t>”</a:t>
            </a:r>
          </a:p>
          <a:p>
            <a:pPr lvl="1"/>
            <a:endParaRPr kumimoji="1" lang="zh-CN" altLang="en-US" dirty="0"/>
          </a:p>
        </p:txBody>
      </p:sp>
    </p:spTree>
    <p:extLst>
      <p:ext uri="{BB962C8B-B14F-4D97-AF65-F5344CB8AC3E}">
        <p14:creationId xmlns:p14="http://schemas.microsoft.com/office/powerpoint/2010/main" val="30391638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260AA4-E8F7-894B-BEF1-4B9E5A15606C}"/>
              </a:ext>
            </a:extLst>
          </p:cNvPr>
          <p:cNvSpPr>
            <a:spLocks noGrp="1"/>
          </p:cNvSpPr>
          <p:nvPr>
            <p:ph type="title"/>
          </p:nvPr>
        </p:nvSpPr>
        <p:spPr/>
        <p:txBody>
          <a:bodyPr/>
          <a:lstStyle/>
          <a:p>
            <a:r>
              <a:rPr kumimoji="1" lang="zh-CN" altLang="en-US" dirty="0"/>
              <a:t>从集合到向量</a:t>
            </a:r>
          </a:p>
        </p:txBody>
      </p:sp>
      <p:sp>
        <p:nvSpPr>
          <p:cNvPr id="3" name="内容占位符 2">
            <a:extLst>
              <a:ext uri="{FF2B5EF4-FFF2-40B4-BE49-F238E27FC236}">
                <a16:creationId xmlns:a16="http://schemas.microsoft.com/office/drawing/2014/main" id="{2BA26F2A-ADE0-0B4D-9ABA-363C8933217B}"/>
              </a:ext>
            </a:extLst>
          </p:cNvPr>
          <p:cNvSpPr>
            <a:spLocks noGrp="1"/>
          </p:cNvSpPr>
          <p:nvPr>
            <p:ph idx="1"/>
          </p:nvPr>
        </p:nvSpPr>
        <p:spPr>
          <a:xfrm>
            <a:off x="457200" y="2145302"/>
            <a:ext cx="8229600" cy="2212942"/>
          </a:xfrm>
        </p:spPr>
        <p:txBody>
          <a:bodyPr>
            <a:normAutofit fontScale="85000" lnSpcReduction="20000"/>
          </a:bodyPr>
          <a:lstStyle/>
          <a:p>
            <a:r>
              <a:rPr kumimoji="1" lang="zh-CN" altLang="en-US" dirty="0"/>
              <a:t>将文档表示为</a:t>
            </a:r>
            <a:r>
              <a:rPr kumimoji="1" lang="en-US" altLang="zh-CN" dirty="0"/>
              <a:t>N</a:t>
            </a:r>
            <a:r>
              <a:rPr kumimoji="1" lang="zh-CN" altLang="en-US" dirty="0"/>
              <a:t>维的向量，每一个维度对应一个单词，取值与单词、文档相关</a:t>
            </a:r>
            <a:endParaRPr kumimoji="1" lang="en-US" altLang="zh-CN" dirty="0"/>
          </a:p>
          <a:p>
            <a:endParaRPr kumimoji="1" lang="en-US" altLang="zh-CN" b="1" dirty="0"/>
          </a:p>
          <a:p>
            <a:r>
              <a:rPr kumimoji="1" lang="zh-CN" altLang="en-US" b="1" dirty="0"/>
              <a:t>表示能力</a:t>
            </a:r>
            <a:r>
              <a:rPr kumimoji="1" lang="zh-CN" altLang="en-US" dirty="0"/>
              <a:t>：向量比集合能够容纳丰富信息</a:t>
            </a:r>
            <a:endParaRPr kumimoji="1" lang="en-US" altLang="zh-CN" dirty="0"/>
          </a:p>
          <a:p>
            <a:pPr lvl="1"/>
            <a:r>
              <a:rPr kumimoji="1" lang="zh-CN" altLang="en-US" dirty="0"/>
              <a:t>如：词频、文档频率、文档长度等</a:t>
            </a:r>
            <a:endParaRPr kumimoji="1" lang="en-US" altLang="zh-CN" dirty="0"/>
          </a:p>
          <a:p>
            <a:r>
              <a:rPr kumimoji="1" lang="zh-CN" altLang="en-US" b="1" dirty="0"/>
              <a:t>运算能力</a:t>
            </a:r>
            <a:r>
              <a:rPr kumimoji="1" lang="zh-CN" altLang="en-US" dirty="0"/>
              <a:t>：基于向量可以定义更强大的运算（线性代数）</a:t>
            </a:r>
            <a:endParaRPr kumimoji="1" lang="en-US" altLang="zh-CN" dirty="0"/>
          </a:p>
          <a:p>
            <a:pPr lvl="1"/>
            <a:r>
              <a:rPr kumimoji="1" lang="zh-CN" altLang="en-US" dirty="0"/>
              <a:t>如：点积、余弦</a:t>
            </a:r>
            <a:r>
              <a:rPr kumimoji="1" lang="en-US" altLang="zh-CN" dirty="0"/>
              <a:t>……</a:t>
            </a:r>
          </a:p>
          <a:p>
            <a:pPr lvl="1"/>
            <a:endParaRPr kumimoji="1" lang="en-US" altLang="zh-CN" dirty="0"/>
          </a:p>
          <a:p>
            <a:r>
              <a:rPr kumimoji="1" lang="zh-CN" altLang="en-US" dirty="0"/>
              <a:t>集合的表示也可以认为将文档表示为</a:t>
            </a:r>
            <a:r>
              <a:rPr kumimoji="1" lang="en-US" altLang="zh-CN" dirty="0"/>
              <a:t>0-1</a:t>
            </a:r>
            <a:r>
              <a:rPr kumimoji="1" lang="zh-CN" altLang="en-US" dirty="0"/>
              <a:t>向量</a:t>
            </a:r>
            <a:endParaRPr kumimoji="1" lang="en-US" altLang="zh-CN" dirty="0"/>
          </a:p>
        </p:txBody>
      </p:sp>
      <p:pic>
        <p:nvPicPr>
          <p:cNvPr id="4" name="图片 3">
            <a:extLst>
              <a:ext uri="{FF2B5EF4-FFF2-40B4-BE49-F238E27FC236}">
                <a16:creationId xmlns:a16="http://schemas.microsoft.com/office/drawing/2014/main" id="{7C29DC78-1242-AB46-95CB-FBB4B037E079}"/>
              </a:ext>
            </a:extLst>
          </p:cNvPr>
          <p:cNvPicPr>
            <a:picLocks noChangeAspect="1"/>
          </p:cNvPicPr>
          <p:nvPr/>
        </p:nvPicPr>
        <p:blipFill>
          <a:blip r:embed="rId2"/>
          <a:stretch>
            <a:fillRect/>
          </a:stretch>
        </p:blipFill>
        <p:spPr>
          <a:xfrm>
            <a:off x="1955965" y="898341"/>
            <a:ext cx="1573449" cy="944069"/>
          </a:xfrm>
          <a:prstGeom prst="rect">
            <a:avLst/>
          </a:prstGeom>
        </p:spPr>
      </p:pic>
      <p:pic>
        <p:nvPicPr>
          <p:cNvPr id="5" name="图片 4">
            <a:extLst>
              <a:ext uri="{FF2B5EF4-FFF2-40B4-BE49-F238E27FC236}">
                <a16:creationId xmlns:a16="http://schemas.microsoft.com/office/drawing/2014/main" id="{5FF465E4-CC0B-1B41-BD42-8A10947D4907}"/>
              </a:ext>
            </a:extLst>
          </p:cNvPr>
          <p:cNvPicPr>
            <a:picLocks noChangeAspect="1"/>
          </p:cNvPicPr>
          <p:nvPr/>
        </p:nvPicPr>
        <p:blipFill>
          <a:blip r:embed="rId3"/>
          <a:stretch>
            <a:fillRect/>
          </a:stretch>
        </p:blipFill>
        <p:spPr>
          <a:xfrm>
            <a:off x="5143441" y="1157886"/>
            <a:ext cx="2405189" cy="424977"/>
          </a:xfrm>
          <a:prstGeom prst="rect">
            <a:avLst/>
          </a:prstGeom>
        </p:spPr>
      </p:pic>
      <p:sp>
        <p:nvSpPr>
          <p:cNvPr id="6" name="右箭头 5">
            <a:extLst>
              <a:ext uri="{FF2B5EF4-FFF2-40B4-BE49-F238E27FC236}">
                <a16:creationId xmlns:a16="http://schemas.microsoft.com/office/drawing/2014/main" id="{37666DCB-79D3-244A-B0E9-F43EB6430054}"/>
              </a:ext>
            </a:extLst>
          </p:cNvPr>
          <p:cNvSpPr/>
          <p:nvPr/>
        </p:nvSpPr>
        <p:spPr>
          <a:xfrm>
            <a:off x="3862136" y="1267289"/>
            <a:ext cx="948583" cy="2061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8489370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C16FD8-4198-3349-86AC-E7FF163AE80C}"/>
              </a:ext>
            </a:extLst>
          </p:cNvPr>
          <p:cNvSpPr>
            <a:spLocks noGrp="1"/>
          </p:cNvSpPr>
          <p:nvPr>
            <p:ph type="title"/>
          </p:nvPr>
        </p:nvSpPr>
        <p:spPr/>
        <p:txBody>
          <a:bodyPr/>
          <a:lstStyle/>
          <a:p>
            <a:r>
              <a:rPr kumimoji="1" lang="zh-CN" altLang="en-US" dirty="0"/>
              <a:t>向量表示</a:t>
            </a:r>
          </a:p>
        </p:txBody>
      </p:sp>
      <p:sp>
        <p:nvSpPr>
          <p:cNvPr id="6" name="内容占位符 5">
            <a:extLst>
              <a:ext uri="{FF2B5EF4-FFF2-40B4-BE49-F238E27FC236}">
                <a16:creationId xmlns:a16="http://schemas.microsoft.com/office/drawing/2014/main" id="{861CE560-C108-5242-976A-D6D225147C92}"/>
              </a:ext>
            </a:extLst>
          </p:cNvPr>
          <p:cNvSpPr>
            <a:spLocks noGrp="1"/>
          </p:cNvSpPr>
          <p:nvPr>
            <p:ph idx="1"/>
          </p:nvPr>
        </p:nvSpPr>
        <p:spPr>
          <a:xfrm>
            <a:off x="457200" y="3422034"/>
            <a:ext cx="8229600" cy="1431836"/>
          </a:xfrm>
        </p:spPr>
        <p:txBody>
          <a:bodyPr>
            <a:normAutofit fontScale="85000" lnSpcReduction="10000"/>
          </a:bodyPr>
          <a:lstStyle/>
          <a:p>
            <a:r>
              <a:rPr lang="zh-CN" altLang="en-US" dirty="0"/>
              <a:t>每一个文档表示成一个</a:t>
            </a:r>
            <a:r>
              <a:rPr lang="en-US" altLang="zh-CN" dirty="0"/>
              <a:t>N</a:t>
            </a:r>
            <a:r>
              <a:rPr lang="zh-CN" altLang="en-US" dirty="0"/>
              <a:t>维向量，每一维对应一个单词</a:t>
            </a:r>
            <a:endParaRPr lang="en-US" altLang="zh-CN" dirty="0"/>
          </a:p>
          <a:p>
            <a:pPr lvl="1"/>
            <a:r>
              <a:rPr lang="zh-CN" altLang="en-US" dirty="0"/>
              <a:t>如果该单词出现在文档中，设置为这个词在文档中的出现的</a:t>
            </a:r>
            <a:r>
              <a:rPr lang="zh-CN" altLang="en-US" dirty="0">
                <a:solidFill>
                  <a:srgbClr val="C00000"/>
                </a:solidFill>
              </a:rPr>
              <a:t>次数</a:t>
            </a:r>
            <a:r>
              <a:rPr lang="en-US" altLang="zh-CN" dirty="0">
                <a:solidFill>
                  <a:srgbClr val="C00000"/>
                </a:solidFill>
              </a:rPr>
              <a:t>(count</a:t>
            </a:r>
            <a:r>
              <a:rPr lang="zh-CN" altLang="en-US" dirty="0">
                <a:solidFill>
                  <a:srgbClr val="C00000"/>
                </a:solidFill>
              </a:rPr>
              <a:t> </a:t>
            </a:r>
            <a:r>
              <a:rPr lang="en-US" altLang="zh-CN" dirty="0">
                <a:solidFill>
                  <a:srgbClr val="C00000"/>
                </a:solidFill>
              </a:rPr>
              <a:t>vector,</a:t>
            </a:r>
            <a:r>
              <a:rPr lang="zh-CN" altLang="en-US" dirty="0">
                <a:solidFill>
                  <a:srgbClr val="C00000"/>
                </a:solidFill>
              </a:rPr>
              <a:t> </a:t>
            </a:r>
            <a:r>
              <a:rPr lang="en-US" altLang="zh-CN" dirty="0" err="1">
                <a:solidFill>
                  <a:srgbClr val="C00000"/>
                </a:solidFill>
              </a:rPr>
              <a:t>tf</a:t>
            </a:r>
            <a:r>
              <a:rPr lang="zh-CN" altLang="en-US" dirty="0">
                <a:solidFill>
                  <a:srgbClr val="C00000"/>
                </a:solidFill>
              </a:rPr>
              <a:t> </a:t>
            </a:r>
            <a:r>
              <a:rPr lang="en-US" altLang="zh-CN" dirty="0">
                <a:solidFill>
                  <a:srgbClr val="C00000"/>
                </a:solidFill>
              </a:rPr>
              <a:t>(t,</a:t>
            </a:r>
            <a:r>
              <a:rPr lang="zh-CN" altLang="en-US" dirty="0">
                <a:solidFill>
                  <a:srgbClr val="C00000"/>
                </a:solidFill>
              </a:rPr>
              <a:t> </a:t>
            </a:r>
            <a:r>
              <a:rPr lang="en-US" altLang="zh-CN" dirty="0">
                <a:solidFill>
                  <a:srgbClr val="C00000"/>
                </a:solidFill>
              </a:rPr>
              <a:t>d)</a:t>
            </a:r>
            <a:endParaRPr lang="en-US" altLang="zh-CN" dirty="0"/>
          </a:p>
          <a:p>
            <a:pPr lvl="1"/>
            <a:r>
              <a:rPr lang="zh-CN" altLang="en-US" dirty="0"/>
              <a:t>如果对应的单词未出现在文档中，设置为</a:t>
            </a:r>
            <a:r>
              <a:rPr lang="en-US" altLang="zh-CN" dirty="0"/>
              <a:t>0</a:t>
            </a:r>
          </a:p>
          <a:p>
            <a:r>
              <a:rPr lang="zh-CN" altLang="en-US" b="1" dirty="0"/>
              <a:t>高维</a:t>
            </a:r>
            <a:r>
              <a:rPr lang="zh-CN" altLang="en-US" dirty="0"/>
              <a:t>：</a:t>
            </a:r>
            <a:r>
              <a:rPr lang="en-US" altLang="zh-CN" dirty="0"/>
              <a:t>N</a:t>
            </a:r>
            <a:r>
              <a:rPr lang="zh-CN" altLang="en-US" dirty="0"/>
              <a:t> </a:t>
            </a:r>
            <a:r>
              <a:rPr lang="en-US" altLang="zh-CN" dirty="0"/>
              <a:t>=</a:t>
            </a:r>
            <a:r>
              <a:rPr lang="zh-CN" altLang="en-US" dirty="0"/>
              <a:t> 字典的大小（例如：</a:t>
            </a:r>
            <a:r>
              <a:rPr lang="en-US" altLang="zh-CN" dirty="0"/>
              <a:t>N</a:t>
            </a:r>
            <a:r>
              <a:rPr lang="zh-CN" altLang="en-US" dirty="0"/>
              <a:t> </a:t>
            </a:r>
            <a:r>
              <a:rPr lang="en-US" altLang="zh-CN" dirty="0"/>
              <a:t>=</a:t>
            </a:r>
            <a:r>
              <a:rPr lang="zh-CN" altLang="en-US" dirty="0"/>
              <a:t> </a:t>
            </a:r>
            <a:r>
              <a:rPr lang="en-US" altLang="zh-CN" dirty="0"/>
              <a:t>100,000)</a:t>
            </a:r>
          </a:p>
          <a:p>
            <a:r>
              <a:rPr lang="zh-CN" altLang="en-US" b="1" dirty="0"/>
              <a:t>稀疏</a:t>
            </a:r>
            <a:r>
              <a:rPr lang="zh-CN" altLang="en-US" dirty="0"/>
              <a:t>：一个文档长度远小于字典大小，仅仅出现字典中少量词，大部分维度为</a:t>
            </a:r>
            <a:r>
              <a:rPr lang="en-US" altLang="zh-CN" dirty="0"/>
              <a:t>0</a:t>
            </a:r>
          </a:p>
          <a:p>
            <a:endParaRPr lang="zh-CN" altLang="en-US" dirty="0"/>
          </a:p>
        </p:txBody>
      </p:sp>
      <p:pic>
        <p:nvPicPr>
          <p:cNvPr id="7" name="图片 6">
            <a:extLst>
              <a:ext uri="{FF2B5EF4-FFF2-40B4-BE49-F238E27FC236}">
                <a16:creationId xmlns:a16="http://schemas.microsoft.com/office/drawing/2014/main" id="{C5193CF9-4018-1949-A232-6464382B513D}"/>
              </a:ext>
            </a:extLst>
          </p:cNvPr>
          <p:cNvPicPr>
            <a:picLocks noChangeAspect="1"/>
          </p:cNvPicPr>
          <p:nvPr/>
        </p:nvPicPr>
        <p:blipFill>
          <a:blip r:embed="rId2"/>
          <a:stretch>
            <a:fillRect/>
          </a:stretch>
        </p:blipFill>
        <p:spPr>
          <a:xfrm>
            <a:off x="1837346" y="1028177"/>
            <a:ext cx="5469308" cy="2254146"/>
          </a:xfrm>
          <a:prstGeom prst="rect">
            <a:avLst/>
          </a:prstGeom>
        </p:spPr>
      </p:pic>
    </p:spTree>
    <p:extLst>
      <p:ext uri="{BB962C8B-B14F-4D97-AF65-F5344CB8AC3E}">
        <p14:creationId xmlns:p14="http://schemas.microsoft.com/office/powerpoint/2010/main" val="18032351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C16FD8-4198-3349-86AC-E7FF163AE80C}"/>
              </a:ext>
            </a:extLst>
          </p:cNvPr>
          <p:cNvSpPr>
            <a:spLocks noGrp="1"/>
          </p:cNvSpPr>
          <p:nvPr>
            <p:ph type="title"/>
          </p:nvPr>
        </p:nvSpPr>
        <p:spPr>
          <a:xfrm>
            <a:off x="457200" y="205978"/>
            <a:ext cx="8229600" cy="498872"/>
          </a:xfrm>
        </p:spPr>
        <p:txBody>
          <a:bodyPr/>
          <a:lstStyle/>
          <a:p>
            <a:r>
              <a:rPr kumimoji="1" lang="zh-CN" altLang="en-US" dirty="0"/>
              <a:t>单词重要性计算</a:t>
            </a:r>
          </a:p>
        </p:txBody>
      </p:sp>
      <mc:AlternateContent xmlns:mc="http://schemas.openxmlformats.org/markup-compatibility/2006">
        <mc:Choice xmlns:a14="http://schemas.microsoft.com/office/drawing/2010/main" Requires="a14">
          <p:sp>
            <p:nvSpPr>
              <p:cNvPr id="6" name="内容占位符 5">
                <a:extLst>
                  <a:ext uri="{FF2B5EF4-FFF2-40B4-BE49-F238E27FC236}">
                    <a16:creationId xmlns:a16="http://schemas.microsoft.com/office/drawing/2014/main" id="{861CE560-C108-5242-976A-D6D225147C92}"/>
                  </a:ext>
                </a:extLst>
              </p:cNvPr>
              <p:cNvSpPr>
                <a:spLocks noGrp="1"/>
              </p:cNvSpPr>
              <p:nvPr>
                <p:ph idx="1"/>
              </p:nvPr>
            </p:nvSpPr>
            <p:spPr>
              <a:xfrm>
                <a:off x="457200" y="1035093"/>
                <a:ext cx="8229600" cy="3584408"/>
              </a:xfrm>
            </p:spPr>
            <p:txBody>
              <a:bodyPr>
                <a:normAutofit/>
              </a:bodyPr>
              <a:lstStyle/>
              <a:p>
                <a:r>
                  <a:rPr lang="zh-CN" altLang="en-US" dirty="0"/>
                  <a:t>单词具有不同的重要度，</a:t>
                </a:r>
                <a:r>
                  <a:rPr kumimoji="1" lang="zh-CN" altLang="en-US" dirty="0">
                    <a:solidFill>
                      <a:srgbClr val="C00000"/>
                    </a:solidFill>
                  </a:rPr>
                  <a:t>使用频率</a:t>
                </a:r>
                <a:r>
                  <a:rPr kumimoji="1" lang="zh-CN" altLang="en-US" dirty="0"/>
                  <a:t>较低的词往往带有更大的信息量</a:t>
                </a:r>
                <a:endParaRPr kumimoji="1" lang="en-US" altLang="zh-CN" dirty="0"/>
              </a:p>
              <a:p>
                <a:pPr lvl="1"/>
                <a:r>
                  <a:rPr kumimoji="1" lang="en-US" altLang="zh-CN" dirty="0"/>
                  <a:t>“</a:t>
                </a:r>
                <a:r>
                  <a:rPr kumimoji="1" lang="zh-CN" altLang="en-US" dirty="0"/>
                  <a:t>希格斯玻色子</a:t>
                </a:r>
                <a:r>
                  <a:rPr kumimoji="1" lang="en-US" altLang="zh-CN" dirty="0"/>
                  <a:t>”</a:t>
                </a:r>
                <a:r>
                  <a:rPr kumimoji="1" lang="zh-CN" altLang="en-US" dirty="0"/>
                  <a:t>  </a:t>
                </a:r>
                <a:r>
                  <a:rPr kumimoji="1" lang="en-US" altLang="zh-CN" dirty="0" err="1"/>
                  <a:t>v.s</a:t>
                </a:r>
                <a:r>
                  <a:rPr kumimoji="1" lang="en-US" altLang="zh-CN" dirty="0"/>
                  <a:t>.</a:t>
                </a:r>
                <a:r>
                  <a:rPr kumimoji="1" lang="zh-CN" altLang="en-US" dirty="0"/>
                  <a:t>  </a:t>
                </a:r>
                <a:r>
                  <a:rPr kumimoji="1" lang="en-US" altLang="zh-CN" dirty="0"/>
                  <a:t>“</a:t>
                </a:r>
                <a:r>
                  <a:rPr kumimoji="1" lang="zh-CN" altLang="en-US" dirty="0"/>
                  <a:t>好</a:t>
                </a:r>
                <a:r>
                  <a:rPr kumimoji="1" lang="en-US" altLang="zh-CN" dirty="0"/>
                  <a:t>”</a:t>
                </a:r>
                <a:endParaRPr lang="en-US" altLang="zh-CN" dirty="0"/>
              </a:p>
              <a:p>
                <a:endParaRPr lang="en-US" altLang="zh-CN" dirty="0"/>
              </a:p>
              <a:p>
                <a:r>
                  <a:rPr lang="zh-CN" altLang="en-US" dirty="0"/>
                  <a:t>单词 </a:t>
                </a:r>
                <a:r>
                  <a:rPr lang="en-US" altLang="zh-CN" i="1" dirty="0"/>
                  <a:t>t</a:t>
                </a:r>
                <a:r>
                  <a:rPr lang="zh-CN" altLang="en-US" dirty="0"/>
                  <a:t> 的使用频率：</a:t>
                </a:r>
                <a:r>
                  <a:rPr lang="en-US" altLang="zh-CN" dirty="0"/>
                  <a:t>Document</a:t>
                </a:r>
                <a:r>
                  <a:rPr lang="zh-CN" altLang="en-US" dirty="0"/>
                  <a:t> </a:t>
                </a:r>
                <a:r>
                  <a:rPr lang="en-US" altLang="zh-CN" dirty="0"/>
                  <a:t>Frequency</a:t>
                </a:r>
                <a:r>
                  <a:rPr lang="zh-CN" altLang="en-US" dirty="0"/>
                  <a:t> </a:t>
                </a:r>
                <a:r>
                  <a:rPr lang="en-US" altLang="zh-CN" dirty="0"/>
                  <a:t>(DF)</a:t>
                </a:r>
              </a:p>
              <a:p>
                <a:pPr lvl="1"/>
                <a:r>
                  <a:rPr lang="zh-CN" altLang="en-US" dirty="0"/>
                  <a:t>给定一个含有</a:t>
                </a:r>
                <a:r>
                  <a:rPr lang="en-US" altLang="zh-CN" i="1" dirty="0"/>
                  <a:t>N</a:t>
                </a:r>
                <a:r>
                  <a:rPr lang="zh-CN" altLang="en-US" dirty="0"/>
                  <a:t>个文档的集合</a:t>
                </a:r>
                <a:r>
                  <a:rPr lang="en-US" altLang="zh-CN" dirty="0"/>
                  <a:t>D</a:t>
                </a:r>
                <a:r>
                  <a:rPr lang="zh-CN" altLang="en-US" dirty="0"/>
                  <a:t>，统计这个单词被采用文档的个数</a:t>
                </a:r>
                <a:r>
                  <a:rPr lang="en-US" altLang="zh-CN" dirty="0"/>
                  <a:t>DF(</a:t>
                </a:r>
                <a:r>
                  <a:rPr lang="en-US" altLang="zh-CN" i="1" dirty="0"/>
                  <a:t>t</a:t>
                </a:r>
                <a:r>
                  <a:rPr lang="zh-CN" altLang="en-US" i="1" dirty="0"/>
                  <a:t> </a:t>
                </a:r>
                <a:r>
                  <a:rPr lang="en-US" altLang="zh-CN" dirty="0"/>
                  <a:t>)</a:t>
                </a:r>
              </a:p>
              <a:p>
                <a:r>
                  <a:rPr lang="zh-CN" altLang="en-US" dirty="0"/>
                  <a:t>单词的重要性计算：</a:t>
                </a:r>
                <a:r>
                  <a:rPr lang="en-US" altLang="zh-CN" dirty="0"/>
                  <a:t>Inverse</a:t>
                </a:r>
                <a:r>
                  <a:rPr lang="zh-CN" altLang="en-US" dirty="0"/>
                  <a:t> </a:t>
                </a:r>
                <a:r>
                  <a:rPr lang="en-US" altLang="zh-CN" dirty="0"/>
                  <a:t>Document</a:t>
                </a:r>
                <a:r>
                  <a:rPr lang="zh-CN" altLang="en-US" dirty="0"/>
                  <a:t> </a:t>
                </a:r>
                <a:r>
                  <a:rPr lang="en-US" altLang="zh-CN" dirty="0"/>
                  <a:t>Frequency</a:t>
                </a:r>
                <a:r>
                  <a:rPr lang="zh-CN" altLang="en-US" dirty="0"/>
                  <a:t> </a:t>
                </a:r>
                <a:r>
                  <a:rPr lang="en-US" altLang="zh-CN" dirty="0"/>
                  <a:t>(IDF)</a:t>
                </a:r>
              </a:p>
              <a:p>
                <a:pPr lvl="1"/>
                <a14:m>
                  <m:oMath xmlns:m="http://schemas.openxmlformats.org/officeDocument/2006/math">
                    <m:r>
                      <m:rPr>
                        <m:sty m:val="p"/>
                      </m:rPr>
                      <a:rPr lang="en-US" altLang="zh-CN" i="1" dirty="0">
                        <a:latin typeface="Cambria Math" panose="02040503050406030204" pitchFamily="18" charset="0"/>
                      </a:rPr>
                      <m:t>IDF</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𝑡</m:t>
                        </m:r>
                      </m:e>
                    </m:d>
                    <m:r>
                      <a:rPr lang="en-US" altLang="zh-CN" b="0" i="1" dirty="0" smtClean="0">
                        <a:latin typeface="Cambria Math" panose="02040503050406030204" pitchFamily="18" charset="0"/>
                      </a:rPr>
                      <m:t>=</m:t>
                    </m:r>
                    <m:func>
                      <m:funcPr>
                        <m:ctrlPr>
                          <a:rPr lang="zh-CN" altLang="en-US" b="0" i="1" dirty="0" smtClean="0">
                            <a:latin typeface="Cambria Math" panose="02040503050406030204" pitchFamily="18" charset="0"/>
                          </a:rPr>
                        </m:ctrlPr>
                      </m:funcPr>
                      <m:fName>
                        <m:r>
                          <m:rPr>
                            <m:sty m:val="p"/>
                          </m:rPr>
                          <a:rPr lang="en-US" altLang="zh-CN" i="1" dirty="0">
                            <a:latin typeface="Cambria Math" panose="02040503050406030204" pitchFamily="18" charset="0"/>
                          </a:rPr>
                          <m:t>log</m:t>
                        </m:r>
                      </m:fName>
                      <m:e>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𝑁</m:t>
                            </m:r>
                          </m:num>
                          <m:den>
                            <m:r>
                              <a:rPr lang="en-US" altLang="zh-CN" b="0" i="1" dirty="0" smtClean="0">
                                <a:latin typeface="Cambria Math" panose="02040503050406030204" pitchFamily="18" charset="0"/>
                              </a:rPr>
                              <m:t>𝐷𝐹</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𝑡</m:t>
                                </m:r>
                              </m:e>
                            </m:d>
                          </m:den>
                        </m:f>
                      </m:e>
                    </m:func>
                  </m:oMath>
                </a14:m>
                <a:endParaRPr lang="en-US" altLang="zh-CN" dirty="0"/>
              </a:p>
              <a:p>
                <a:pPr lvl="1"/>
                <a:endParaRPr lang="zh-CN" altLang="en-US" dirty="0"/>
              </a:p>
            </p:txBody>
          </p:sp>
        </mc:Choice>
        <mc:Fallback>
          <p:sp>
            <p:nvSpPr>
              <p:cNvPr id="6" name="内容占位符 5">
                <a:extLst>
                  <a:ext uri="{FF2B5EF4-FFF2-40B4-BE49-F238E27FC236}">
                    <a16:creationId xmlns:a16="http://schemas.microsoft.com/office/drawing/2014/main" id="{861CE560-C108-5242-976A-D6D225147C92}"/>
                  </a:ext>
                </a:extLst>
              </p:cNvPr>
              <p:cNvSpPr>
                <a:spLocks noGrp="1" noRot="1" noChangeAspect="1" noMove="1" noResize="1" noEditPoints="1" noAdjustHandles="1" noChangeArrowheads="1" noChangeShapeType="1" noTextEdit="1"/>
              </p:cNvSpPr>
              <p:nvPr>
                <p:ph idx="1"/>
              </p:nvPr>
            </p:nvSpPr>
            <p:spPr>
              <a:xfrm>
                <a:off x="457200" y="1035093"/>
                <a:ext cx="8229600" cy="3584408"/>
              </a:xfrm>
              <a:blipFill>
                <a:blip r:embed="rId2"/>
                <a:stretch>
                  <a:fillRect l="-617" t="-1060"/>
                </a:stretch>
              </a:blipFill>
            </p:spPr>
            <p:txBody>
              <a:bodyPr/>
              <a:lstStyle/>
              <a:p>
                <a:r>
                  <a:rPr lang="en-CN">
                    <a:noFill/>
                  </a:rPr>
                  <a:t> </a:t>
                </a:r>
              </a:p>
            </p:txBody>
          </p:sp>
        </mc:Fallback>
      </mc:AlternateContent>
    </p:spTree>
    <p:extLst>
      <p:ext uri="{BB962C8B-B14F-4D97-AF65-F5344CB8AC3E}">
        <p14:creationId xmlns:p14="http://schemas.microsoft.com/office/powerpoint/2010/main" val="34356750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707D46-5F44-6E4A-8F42-919A85AE5A0D}"/>
              </a:ext>
            </a:extLst>
          </p:cNvPr>
          <p:cNvSpPr>
            <a:spLocks noGrp="1"/>
          </p:cNvSpPr>
          <p:nvPr>
            <p:ph type="title"/>
          </p:nvPr>
        </p:nvSpPr>
        <p:spPr/>
        <p:txBody>
          <a:bodyPr/>
          <a:lstStyle/>
          <a:p>
            <a:r>
              <a:rPr kumimoji="1" lang="en-US" altLang="zh-CN" dirty="0"/>
              <a:t>IDF</a:t>
            </a:r>
            <a:r>
              <a:rPr kumimoji="1" lang="zh-CN" altLang="en-US" dirty="0"/>
              <a:t>的计算</a:t>
            </a:r>
          </a:p>
        </p:txBody>
      </p:sp>
      <p:pic>
        <p:nvPicPr>
          <p:cNvPr id="4" name="图片 3">
            <a:extLst>
              <a:ext uri="{FF2B5EF4-FFF2-40B4-BE49-F238E27FC236}">
                <a16:creationId xmlns:a16="http://schemas.microsoft.com/office/drawing/2014/main" id="{7B7A919A-4BEF-1D44-B779-E80B7ADF22EF}"/>
              </a:ext>
            </a:extLst>
          </p:cNvPr>
          <p:cNvPicPr>
            <a:picLocks noChangeAspect="1"/>
          </p:cNvPicPr>
          <p:nvPr/>
        </p:nvPicPr>
        <p:blipFill>
          <a:blip r:embed="rId2"/>
          <a:stretch>
            <a:fillRect/>
          </a:stretch>
        </p:blipFill>
        <p:spPr>
          <a:xfrm>
            <a:off x="296882" y="940667"/>
            <a:ext cx="7736089" cy="3548206"/>
          </a:xfrm>
          <a:prstGeom prst="rect">
            <a:avLst/>
          </a:prstGeom>
        </p:spPr>
      </p:pic>
      <p:sp>
        <p:nvSpPr>
          <p:cNvPr id="5" name="矩形 4">
            <a:extLst>
              <a:ext uri="{FF2B5EF4-FFF2-40B4-BE49-F238E27FC236}">
                <a16:creationId xmlns:a16="http://schemas.microsoft.com/office/drawing/2014/main" id="{39D3A9E6-3873-EB44-80FE-9DFEC2B2154E}"/>
              </a:ext>
            </a:extLst>
          </p:cNvPr>
          <p:cNvSpPr/>
          <p:nvPr/>
        </p:nvSpPr>
        <p:spPr>
          <a:xfrm>
            <a:off x="3087585" y="2505693"/>
            <a:ext cx="629392" cy="19000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9A2C6E91-B192-4148-B74A-12C5EEE21C5C}"/>
              </a:ext>
            </a:extLst>
          </p:cNvPr>
          <p:cNvSpPr txBox="1"/>
          <p:nvPr/>
        </p:nvSpPr>
        <p:spPr>
          <a:xfrm>
            <a:off x="4061361" y="2232562"/>
            <a:ext cx="4084773" cy="923330"/>
          </a:xfrm>
          <a:prstGeom prst="rect">
            <a:avLst/>
          </a:prstGeom>
          <a:noFill/>
        </p:spPr>
        <p:txBody>
          <a:bodyPr wrap="none" rtlCol="0">
            <a:spAutoFit/>
          </a:bodyPr>
          <a:lstStyle/>
          <a:p>
            <a:r>
              <a:rPr kumimoji="1" lang="zh-CN" altLang="en-US" dirty="0">
                <a:solidFill>
                  <a:srgbClr val="C00000"/>
                </a:solidFill>
              </a:rPr>
              <a:t>基于上述公式计算左表中</a:t>
            </a:r>
            <a:r>
              <a:rPr kumimoji="1" lang="en-US" altLang="zh-CN" dirty="0" err="1">
                <a:solidFill>
                  <a:srgbClr val="C00000"/>
                </a:solidFill>
              </a:rPr>
              <a:t>df</a:t>
            </a:r>
            <a:r>
              <a:rPr kumimoji="1" lang="zh-CN" altLang="en-US" dirty="0">
                <a:solidFill>
                  <a:srgbClr val="C00000"/>
                </a:solidFill>
              </a:rPr>
              <a:t>对应的</a:t>
            </a:r>
            <a:r>
              <a:rPr kumimoji="1" lang="en-US" altLang="zh-CN" dirty="0" err="1">
                <a:solidFill>
                  <a:srgbClr val="C00000"/>
                </a:solidFill>
              </a:rPr>
              <a:t>idf</a:t>
            </a:r>
            <a:r>
              <a:rPr kumimoji="1" lang="zh-CN" altLang="en-US" dirty="0">
                <a:solidFill>
                  <a:srgbClr val="C00000"/>
                </a:solidFill>
              </a:rPr>
              <a:t>值</a:t>
            </a:r>
            <a:endParaRPr kumimoji="1" lang="en-US" altLang="zh-CN" dirty="0">
              <a:solidFill>
                <a:srgbClr val="C00000"/>
              </a:solidFill>
            </a:endParaRPr>
          </a:p>
          <a:p>
            <a:r>
              <a:rPr kumimoji="1" lang="en-US" altLang="zh-CN" dirty="0">
                <a:solidFill>
                  <a:srgbClr val="C00000"/>
                </a:solidFill>
              </a:rPr>
              <a:t>A:</a:t>
            </a:r>
            <a:r>
              <a:rPr kumimoji="1" lang="zh-CN" altLang="en-US" dirty="0">
                <a:solidFill>
                  <a:srgbClr val="C00000"/>
                </a:solidFill>
              </a:rPr>
              <a:t> </a:t>
            </a:r>
            <a:r>
              <a:rPr kumimoji="1" lang="en-US" altLang="zh-CN" dirty="0">
                <a:solidFill>
                  <a:srgbClr val="C00000"/>
                </a:solidFill>
              </a:rPr>
              <a:t>6</a:t>
            </a:r>
            <a:r>
              <a:rPr kumimoji="1" lang="zh-CN" altLang="en-US" dirty="0">
                <a:solidFill>
                  <a:srgbClr val="C00000"/>
                </a:solidFill>
              </a:rPr>
              <a:t>，</a:t>
            </a:r>
            <a:r>
              <a:rPr kumimoji="1" lang="en-US" altLang="zh-CN" dirty="0">
                <a:solidFill>
                  <a:srgbClr val="C00000"/>
                </a:solidFill>
              </a:rPr>
              <a:t>4</a:t>
            </a:r>
            <a:r>
              <a:rPr kumimoji="1" lang="zh-CN" altLang="en-US" dirty="0">
                <a:solidFill>
                  <a:srgbClr val="C00000"/>
                </a:solidFill>
              </a:rPr>
              <a:t>，</a:t>
            </a:r>
            <a:r>
              <a:rPr kumimoji="1" lang="en-US" altLang="zh-CN" dirty="0">
                <a:solidFill>
                  <a:srgbClr val="C00000"/>
                </a:solidFill>
              </a:rPr>
              <a:t>3</a:t>
            </a:r>
            <a:r>
              <a:rPr kumimoji="1" lang="zh-CN" altLang="en-US" dirty="0">
                <a:solidFill>
                  <a:srgbClr val="C00000"/>
                </a:solidFill>
              </a:rPr>
              <a:t>， </a:t>
            </a:r>
            <a:r>
              <a:rPr kumimoji="1" lang="en-US" altLang="zh-CN" dirty="0">
                <a:solidFill>
                  <a:srgbClr val="C00000"/>
                </a:solidFill>
              </a:rPr>
              <a:t>2</a:t>
            </a:r>
            <a:r>
              <a:rPr kumimoji="1" lang="zh-CN" altLang="en-US" dirty="0">
                <a:solidFill>
                  <a:srgbClr val="C00000"/>
                </a:solidFill>
              </a:rPr>
              <a:t>， </a:t>
            </a:r>
            <a:r>
              <a:rPr kumimoji="1" lang="en-US" altLang="zh-CN" dirty="0">
                <a:solidFill>
                  <a:srgbClr val="C00000"/>
                </a:solidFill>
              </a:rPr>
              <a:t>1</a:t>
            </a:r>
            <a:r>
              <a:rPr kumimoji="1" lang="zh-CN" altLang="en-US" dirty="0">
                <a:solidFill>
                  <a:srgbClr val="C00000"/>
                </a:solidFill>
              </a:rPr>
              <a:t>， </a:t>
            </a:r>
            <a:r>
              <a:rPr kumimoji="1" lang="en-US" altLang="zh-CN" dirty="0">
                <a:solidFill>
                  <a:srgbClr val="C00000"/>
                </a:solidFill>
              </a:rPr>
              <a:t>0</a:t>
            </a:r>
          </a:p>
          <a:p>
            <a:r>
              <a:rPr kumimoji="1" lang="en-US" altLang="zh-CN" dirty="0">
                <a:solidFill>
                  <a:srgbClr val="C00000"/>
                </a:solidFill>
              </a:rPr>
              <a:t>B:</a:t>
            </a:r>
            <a:r>
              <a:rPr kumimoji="1" lang="zh-CN" altLang="en-US" dirty="0">
                <a:solidFill>
                  <a:srgbClr val="C00000"/>
                </a:solidFill>
              </a:rPr>
              <a:t> </a:t>
            </a:r>
            <a:r>
              <a:rPr kumimoji="1" lang="en-US" altLang="zh-CN" dirty="0">
                <a:solidFill>
                  <a:srgbClr val="C00000"/>
                </a:solidFill>
              </a:rPr>
              <a:t>0</a:t>
            </a:r>
            <a:r>
              <a:rPr kumimoji="1" lang="zh-CN" altLang="en-US" dirty="0">
                <a:solidFill>
                  <a:srgbClr val="C00000"/>
                </a:solidFill>
              </a:rPr>
              <a:t>，</a:t>
            </a:r>
            <a:r>
              <a:rPr kumimoji="1" lang="en-US" altLang="zh-CN" dirty="0">
                <a:solidFill>
                  <a:srgbClr val="C00000"/>
                </a:solidFill>
              </a:rPr>
              <a:t>1</a:t>
            </a:r>
            <a:r>
              <a:rPr kumimoji="1" lang="zh-CN" altLang="en-US" dirty="0">
                <a:solidFill>
                  <a:srgbClr val="C00000"/>
                </a:solidFill>
              </a:rPr>
              <a:t>， </a:t>
            </a:r>
            <a:r>
              <a:rPr kumimoji="1" lang="en-US" altLang="zh-CN" dirty="0">
                <a:solidFill>
                  <a:srgbClr val="C00000"/>
                </a:solidFill>
              </a:rPr>
              <a:t>2</a:t>
            </a:r>
            <a:r>
              <a:rPr kumimoji="1" lang="zh-CN" altLang="en-US" dirty="0">
                <a:solidFill>
                  <a:srgbClr val="C00000"/>
                </a:solidFill>
              </a:rPr>
              <a:t>， </a:t>
            </a:r>
            <a:r>
              <a:rPr kumimoji="1" lang="en-US" altLang="zh-CN" dirty="0">
                <a:solidFill>
                  <a:srgbClr val="C00000"/>
                </a:solidFill>
              </a:rPr>
              <a:t>3</a:t>
            </a:r>
            <a:r>
              <a:rPr kumimoji="1" lang="zh-CN" altLang="en-US" dirty="0">
                <a:solidFill>
                  <a:srgbClr val="C00000"/>
                </a:solidFill>
              </a:rPr>
              <a:t>， </a:t>
            </a:r>
            <a:r>
              <a:rPr kumimoji="1" lang="en-US" altLang="zh-CN" dirty="0">
                <a:solidFill>
                  <a:srgbClr val="C00000"/>
                </a:solidFill>
              </a:rPr>
              <a:t>4</a:t>
            </a:r>
            <a:r>
              <a:rPr kumimoji="1" lang="zh-CN" altLang="en-US" dirty="0">
                <a:solidFill>
                  <a:srgbClr val="C00000"/>
                </a:solidFill>
              </a:rPr>
              <a:t>， </a:t>
            </a:r>
            <a:r>
              <a:rPr kumimoji="1" lang="en-US" altLang="zh-CN" dirty="0">
                <a:solidFill>
                  <a:srgbClr val="C00000"/>
                </a:solidFill>
              </a:rPr>
              <a:t>6</a:t>
            </a:r>
            <a:endParaRPr kumimoji="1" lang="zh-CN" altLang="en-US" dirty="0">
              <a:solidFill>
                <a:srgbClr val="C00000"/>
              </a:solidFill>
            </a:endParaRPr>
          </a:p>
        </p:txBody>
      </p:sp>
      <p:sp>
        <p:nvSpPr>
          <p:cNvPr id="7" name="Rectangle 6"/>
          <p:cNvSpPr/>
          <p:nvPr/>
        </p:nvSpPr>
        <p:spPr>
          <a:xfrm>
            <a:off x="7186603" y="1748641"/>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3964756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F5A90E-31C5-624B-897E-8EEF9AF14EDF}"/>
              </a:ext>
            </a:extLst>
          </p:cNvPr>
          <p:cNvSpPr>
            <a:spLocks noGrp="1"/>
          </p:cNvSpPr>
          <p:nvPr>
            <p:ph type="title"/>
          </p:nvPr>
        </p:nvSpPr>
        <p:spPr/>
        <p:txBody>
          <a:bodyPr/>
          <a:lstStyle/>
          <a:p>
            <a:r>
              <a:rPr kumimoji="1" lang="en-US" altLang="zh-CN" dirty="0"/>
              <a:t>TF-IDF</a:t>
            </a:r>
            <a:endParaRPr kumimoji="1"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5C4394C-884C-8442-A372-5EF27C198524}"/>
                  </a:ext>
                </a:extLst>
              </p:cNvPr>
              <p:cNvSpPr>
                <a:spLocks noGrp="1"/>
              </p:cNvSpPr>
              <p:nvPr>
                <p:ph idx="1"/>
              </p:nvPr>
            </p:nvSpPr>
            <p:spPr>
              <a:xfrm>
                <a:off x="457200" y="704850"/>
                <a:ext cx="8229600" cy="4438650"/>
              </a:xfrm>
            </p:spPr>
            <p:txBody>
              <a:bodyPr>
                <a:normAutofit lnSpcReduction="10000"/>
              </a:bodyPr>
              <a:lstStyle/>
              <a:p>
                <a:r>
                  <a:rPr lang="zh-CN" altLang="en-US" dirty="0"/>
                  <a:t>单词重要性（</a:t>
                </a:r>
                <a:r>
                  <a:rPr lang="en-US" altLang="zh-CN" dirty="0"/>
                  <a:t>IDF</a:t>
                </a:r>
                <a:r>
                  <a:rPr lang="zh-CN" altLang="en-US" dirty="0"/>
                  <a:t>）与单词在文档中的频率结合</a:t>
                </a:r>
                <a:endParaRPr lang="en-US" altLang="zh-CN" dirty="0"/>
              </a:p>
              <a:p>
                <a:pPr marL="0" indent="0">
                  <a:buNone/>
                </a:pPr>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pitchFamily="18" charset="0"/>
                        </a:rPr>
                        <m:t>tf</m:t>
                      </m:r>
                      <m:r>
                        <m:rPr>
                          <m:nor/>
                        </m:rPr>
                        <a:rPr lang="en-US" altLang="zh-CN" sz="2400" dirty="0"/>
                        <m:t>−</m:t>
                      </m:r>
                      <m:r>
                        <m:rPr>
                          <m:sty m:val="p"/>
                        </m:rPr>
                        <a:rPr lang="en-US" altLang="zh-CN" sz="2400">
                          <a:latin typeface="Cambria Math" panose="02040503050406030204" pitchFamily="18" charset="0"/>
                        </a:rPr>
                        <m:t>idf</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r>
                            <a:rPr lang="en-US" altLang="zh-CN" sz="2400" i="1">
                              <a:latin typeface="Cambria Math" panose="02040503050406030204" pitchFamily="18" charset="0"/>
                            </a:rPr>
                            <m:t>,</m:t>
                          </m:r>
                          <m:r>
                            <a:rPr lang="en-US" altLang="zh-CN" sz="2400" i="1">
                              <a:latin typeface="Cambria Math" panose="02040503050406030204" pitchFamily="18" charset="0"/>
                            </a:rPr>
                            <m:t>𝑑</m:t>
                          </m:r>
                        </m:e>
                      </m:d>
                      <m:r>
                        <a:rPr lang="en-US" altLang="zh-CN" sz="2400" i="1">
                          <a:latin typeface="Cambria Math" panose="02040503050406030204" pitchFamily="18" charset="0"/>
                        </a:rPr>
                        <m:t>=</m:t>
                      </m:r>
                      <m:r>
                        <m:rPr>
                          <m:sty m:val="p"/>
                        </m:rPr>
                        <a:rPr lang="en-US" altLang="zh-CN" sz="2400">
                          <a:latin typeface="Cambria Math" panose="02040503050406030204" pitchFamily="18" charset="0"/>
                        </a:rPr>
                        <m:t>tf</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r>
                            <a:rPr lang="en-US" altLang="zh-CN" sz="2400" i="1">
                              <a:latin typeface="Cambria Math" panose="02040503050406030204" pitchFamily="18" charset="0"/>
                            </a:rPr>
                            <m:t>,</m:t>
                          </m:r>
                          <m:r>
                            <a:rPr lang="en-US" altLang="zh-CN" sz="2400" i="1">
                              <a:latin typeface="Cambria Math" panose="02040503050406030204" pitchFamily="18" charset="0"/>
                            </a:rPr>
                            <m:t>𝑑</m:t>
                          </m:r>
                        </m:e>
                      </m:d>
                      <m:r>
                        <a:rPr lang="zh-CN" altLang="en-US" sz="2400" i="1">
                          <a:latin typeface="Cambria Math" panose="02040503050406030204" pitchFamily="18" charset="0"/>
                        </a:rPr>
                        <m:t>∗</m:t>
                      </m:r>
                      <m:r>
                        <m:rPr>
                          <m:sty m:val="p"/>
                        </m:rPr>
                        <a:rPr lang="en-US" altLang="zh-CN" sz="2400">
                          <a:latin typeface="Cambria Math" panose="02040503050406030204" pitchFamily="18" charset="0"/>
                        </a:rPr>
                        <m:t>IDF</m:t>
                      </m:r>
                      <m:r>
                        <a:rPr lang="en-US" altLang="zh-CN" sz="2400" i="1">
                          <a:latin typeface="Cambria Math" panose="02040503050406030204" pitchFamily="18" charset="0"/>
                        </a:rPr>
                        <m:t>(</m:t>
                      </m:r>
                      <m:r>
                        <a:rPr lang="en-US" altLang="zh-CN" sz="2400" i="1">
                          <a:latin typeface="Cambria Math" panose="02040503050406030204" pitchFamily="18" charset="0"/>
                        </a:rPr>
                        <m:t>𝑡</m:t>
                      </m:r>
                      <m:r>
                        <a:rPr lang="en-US" altLang="zh-CN" sz="2400" i="1">
                          <a:latin typeface="Cambria Math" panose="02040503050406030204" pitchFamily="18" charset="0"/>
                        </a:rPr>
                        <m:t>)</m:t>
                      </m:r>
                    </m:oMath>
                  </m:oMathPara>
                </a14:m>
                <a:endParaRPr kumimoji="1" lang="en-US" altLang="zh-CN" sz="2400" dirty="0"/>
              </a:p>
              <a:p>
                <a:endParaRPr kumimoji="1" lang="en-US" altLang="zh-CN" sz="2400" dirty="0"/>
              </a:p>
              <a:p>
                <a:endParaRPr kumimoji="1" lang="en-US" altLang="zh-CN" sz="2400" dirty="0"/>
              </a:p>
              <a:p>
                <a:endParaRPr kumimoji="1" lang="en-US" altLang="zh-CN" sz="2400" dirty="0"/>
              </a:p>
              <a:p>
                <a:endParaRPr kumimoji="1" lang="en-US" altLang="zh-CN" sz="2400" dirty="0"/>
              </a:p>
              <a:p>
                <a:endParaRPr kumimoji="1" lang="en-US" altLang="zh-CN" sz="2400" dirty="0"/>
              </a:p>
              <a:p>
                <a:pPr marL="0" indent="0">
                  <a:buNone/>
                </a:pPr>
                <a:endParaRPr lang="en-US" altLang="zh-CN" dirty="0"/>
              </a:p>
              <a:p>
                <a:r>
                  <a:rPr lang="zh-CN" altLang="en-US" dirty="0"/>
                  <a:t>每一个文档表示成一个</a:t>
                </a:r>
                <a:r>
                  <a:rPr lang="en-US" altLang="zh-CN" dirty="0"/>
                  <a:t>N</a:t>
                </a:r>
                <a:r>
                  <a:rPr lang="zh-CN" altLang="en-US" dirty="0"/>
                  <a:t>维向量，每一维对应一个单词</a:t>
                </a:r>
                <a:endParaRPr lang="en-US" altLang="zh-CN" dirty="0"/>
              </a:p>
              <a:p>
                <a:pPr lvl="1"/>
                <a:r>
                  <a:rPr lang="zh-CN" altLang="en-US" dirty="0"/>
                  <a:t>如果该单词出现在文档中，设置为这个词在文档中的出现的</a:t>
                </a:r>
                <a:r>
                  <a:rPr lang="en-US" altLang="zh-CN" dirty="0" err="1">
                    <a:solidFill>
                      <a:srgbClr val="C00000"/>
                    </a:solidFill>
                  </a:rPr>
                  <a:t>tf-idf</a:t>
                </a:r>
                <a:r>
                  <a:rPr lang="zh-CN" altLang="en-US" dirty="0">
                    <a:solidFill>
                      <a:srgbClr val="C00000"/>
                    </a:solidFill>
                  </a:rPr>
                  <a:t>值（实数值向量）</a:t>
                </a:r>
                <a:endParaRPr lang="en-US" altLang="zh-CN" dirty="0"/>
              </a:p>
              <a:p>
                <a:pPr lvl="1"/>
                <a:r>
                  <a:rPr lang="zh-CN" altLang="en-US" dirty="0"/>
                  <a:t>如果对应的单词未出现在文档中，设置为</a:t>
                </a:r>
                <a:r>
                  <a:rPr lang="en-US" altLang="zh-CN" dirty="0"/>
                  <a:t>0</a:t>
                </a:r>
              </a:p>
              <a:p>
                <a:endParaRPr kumimoji="1" lang="zh-CN" altLang="en-US" sz="2400" dirty="0"/>
              </a:p>
            </p:txBody>
          </p:sp>
        </mc:Choice>
        <mc:Fallback xmlns="">
          <p:sp>
            <p:nvSpPr>
              <p:cNvPr id="3" name="内容占位符 2">
                <a:extLst>
                  <a:ext uri="{FF2B5EF4-FFF2-40B4-BE49-F238E27FC236}">
                    <a16:creationId xmlns:a16="http://schemas.microsoft.com/office/drawing/2014/main" id="{55C4394C-884C-8442-A372-5EF27C198524}"/>
                  </a:ext>
                </a:extLst>
              </p:cNvPr>
              <p:cNvSpPr>
                <a:spLocks noGrp="1" noRot="1" noChangeAspect="1" noMove="1" noResize="1" noEditPoints="1" noAdjustHandles="1" noChangeArrowheads="1" noChangeShapeType="1" noTextEdit="1"/>
              </p:cNvSpPr>
              <p:nvPr>
                <p:ph idx="1"/>
              </p:nvPr>
            </p:nvSpPr>
            <p:spPr>
              <a:xfrm>
                <a:off x="457200" y="704850"/>
                <a:ext cx="8229600" cy="4438650"/>
              </a:xfrm>
              <a:blipFill>
                <a:blip r:embed="rId2"/>
                <a:stretch>
                  <a:fillRect l="-617" t="-1429"/>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DAE3BBE4-8BE8-9B4F-8207-4E8EF948FF86}"/>
              </a:ext>
            </a:extLst>
          </p:cNvPr>
          <p:cNvPicPr>
            <a:picLocks noChangeAspect="1"/>
          </p:cNvPicPr>
          <p:nvPr/>
        </p:nvPicPr>
        <p:blipFill>
          <a:blip r:embed="rId3"/>
          <a:stretch>
            <a:fillRect/>
          </a:stretch>
        </p:blipFill>
        <p:spPr>
          <a:xfrm>
            <a:off x="866897" y="1470193"/>
            <a:ext cx="4785757" cy="1941509"/>
          </a:xfrm>
          <a:prstGeom prst="rect">
            <a:avLst/>
          </a:prstGeom>
        </p:spPr>
      </p:pic>
    </p:spTree>
    <p:extLst>
      <p:ext uri="{BB962C8B-B14F-4D97-AF65-F5344CB8AC3E}">
        <p14:creationId xmlns:p14="http://schemas.microsoft.com/office/powerpoint/2010/main" val="28854219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CA0FF-46DB-1644-8BCE-C7A91BD90A1D}"/>
              </a:ext>
            </a:extLst>
          </p:cNvPr>
          <p:cNvSpPr>
            <a:spLocks noGrp="1"/>
          </p:cNvSpPr>
          <p:nvPr>
            <p:ph type="title"/>
          </p:nvPr>
        </p:nvSpPr>
        <p:spPr/>
        <p:txBody>
          <a:bodyPr/>
          <a:lstStyle/>
          <a:p>
            <a:r>
              <a:rPr kumimoji="1" lang="zh-CN" altLang="en-US" dirty="0"/>
              <a:t>文档空间</a:t>
            </a:r>
            <a:r>
              <a:rPr kumimoji="1" lang="en-US" altLang="zh-CN" dirty="0">
                <a:sym typeface="Wingdings" pitchFamily="2" charset="2"/>
              </a:rPr>
              <a:t></a:t>
            </a:r>
            <a:r>
              <a:rPr kumimoji="1" lang="zh-CN" altLang="en-US" dirty="0"/>
              <a:t>向量空间</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0944FD81-1A31-D74C-BD6F-7F528045F51B}"/>
                  </a:ext>
                </a:extLst>
              </p:cNvPr>
              <p:cNvSpPr>
                <a:spLocks noGrp="1"/>
              </p:cNvSpPr>
              <p:nvPr>
                <p:ph idx="1"/>
              </p:nvPr>
            </p:nvSpPr>
            <p:spPr/>
            <p:txBody>
              <a:bodyPr>
                <a:normAutofit fontScale="92500" lnSpcReduction="20000"/>
              </a:bodyPr>
              <a:lstStyle/>
              <a:p>
                <a:endParaRPr kumimoji="1" lang="en-US" altLang="zh-CN" dirty="0"/>
              </a:p>
              <a:p>
                <a:r>
                  <a:rPr kumimoji="1" lang="en-US" altLang="zh-CN" dirty="0"/>
                  <a:t>TF-IDF</a:t>
                </a:r>
                <a:r>
                  <a:rPr kumimoji="1" lang="zh-CN" altLang="en-US" dirty="0"/>
                  <a:t>表示将文档表示到一个</a:t>
                </a:r>
                <a:r>
                  <a:rPr kumimoji="1" lang="zh-CN" altLang="en-US" dirty="0">
                    <a:solidFill>
                      <a:srgbClr val="C00000"/>
                    </a:solidFill>
                  </a:rPr>
                  <a:t>向量空间</a:t>
                </a:r>
                <a:endParaRPr kumimoji="1" lang="en-US" altLang="zh-CN" dirty="0">
                  <a:solidFill>
                    <a:srgbClr val="C00000"/>
                  </a:solidFill>
                </a:endParaRPr>
              </a:p>
              <a:p>
                <a:pPr lvl="1"/>
                <a:r>
                  <a:rPr kumimoji="1" lang="zh-CN" altLang="en-US" dirty="0"/>
                  <a:t>空间维度</a:t>
                </a:r>
                <a:r>
                  <a:rPr kumimoji="1" lang="en-US" altLang="zh-CN" dirty="0">
                    <a:sym typeface="Wingdings" pitchFamily="2" charset="2"/>
                  </a:rPr>
                  <a:t>:</a:t>
                </a:r>
                <a:r>
                  <a:rPr kumimoji="1" lang="zh-CN" altLang="en-US" dirty="0">
                    <a:sym typeface="Wingdings" pitchFamily="2" charset="2"/>
                  </a:rPr>
                  <a:t> </a:t>
                </a:r>
                <a:r>
                  <a:rPr kumimoji="1" lang="en-US" altLang="zh-CN" dirty="0">
                    <a:sym typeface="Wingdings" pitchFamily="2" charset="2"/>
                  </a:rPr>
                  <a:t>|V|</a:t>
                </a:r>
                <a:r>
                  <a:rPr kumimoji="1" lang="zh-CN" altLang="en-US" dirty="0">
                    <a:sym typeface="Wingdings" pitchFamily="2" charset="2"/>
                  </a:rPr>
                  <a:t>，其中</a:t>
                </a:r>
                <a:r>
                  <a:rPr kumimoji="1" lang="en-US" altLang="zh-CN" dirty="0">
                    <a:sym typeface="Wingdings" pitchFamily="2" charset="2"/>
                  </a:rPr>
                  <a:t>V</a:t>
                </a:r>
                <a:r>
                  <a:rPr kumimoji="1" lang="zh-CN" altLang="en-US" dirty="0">
                    <a:sym typeface="Wingdings" pitchFamily="2" charset="2"/>
                  </a:rPr>
                  <a:t>为字典集合</a:t>
                </a:r>
                <a:endParaRPr kumimoji="1" lang="en-US" altLang="zh-CN" dirty="0">
                  <a:sym typeface="Wingdings" pitchFamily="2" charset="2"/>
                </a:endParaRPr>
              </a:p>
              <a:p>
                <a:pPr lvl="1"/>
                <a:r>
                  <a:rPr kumimoji="1" lang="zh-CN" altLang="en-US" dirty="0"/>
                  <a:t>坐标轴：单词</a:t>
                </a:r>
                <a:endParaRPr kumimoji="1" lang="en-US" altLang="zh-CN" dirty="0">
                  <a:sym typeface="Wingdings" pitchFamily="2" charset="2"/>
                </a:endParaRPr>
              </a:p>
              <a:p>
                <a:pPr lvl="1"/>
                <a:r>
                  <a:rPr kumimoji="1" lang="zh-CN" altLang="en-US" dirty="0">
                    <a:sym typeface="Wingdings" pitchFamily="2" charset="2"/>
                  </a:rPr>
                  <a:t>每一个文档表示为空间内的一个</a:t>
                </a:r>
                <a:r>
                  <a:rPr kumimoji="1" lang="en-US" altLang="zh-CN" dirty="0">
                    <a:sym typeface="Wingdings" pitchFamily="2" charset="2"/>
                  </a:rPr>
                  <a:t>|V|</a:t>
                </a:r>
                <a:r>
                  <a:rPr kumimoji="1" lang="zh-CN" altLang="en-US" dirty="0">
                    <a:sym typeface="Wingdings" pitchFamily="2" charset="2"/>
                  </a:rPr>
                  <a:t>维实数值向量：</a:t>
                </a:r>
                <a14:m>
                  <m:oMath xmlns:m="http://schemas.openxmlformats.org/officeDocument/2006/math">
                    <m:r>
                      <a:rPr kumimoji="1" lang="en-US" altLang="zh-CN" b="1" i="0" smtClean="0">
                        <a:latin typeface="Cambria Math" panose="02040503050406030204" pitchFamily="18" charset="0"/>
                        <a:sym typeface="Wingdings" pitchFamily="2" charset="2"/>
                      </a:rPr>
                      <m:t>𝐝</m:t>
                    </m:r>
                    <m:r>
                      <a:rPr kumimoji="1" lang="en-US" altLang="zh-CN" b="1" i="1" smtClean="0">
                        <a:latin typeface="Cambria Math" panose="02040503050406030204" pitchFamily="18" charset="0"/>
                        <a:sym typeface="Wingdings" pitchFamily="2" charset="2"/>
                      </a:rPr>
                      <m:t>∈</m:t>
                    </m:r>
                    <m:sSup>
                      <m:sSupPr>
                        <m:ctrlPr>
                          <a:rPr kumimoji="1" lang="en-US" altLang="zh-CN" i="1" smtClean="0">
                            <a:latin typeface="Cambria Math" panose="02040503050406030204" pitchFamily="18" charset="0"/>
                            <a:sym typeface="Wingdings" pitchFamily="2" charset="2"/>
                          </a:rPr>
                        </m:ctrlPr>
                      </m:sSupPr>
                      <m:e>
                        <m:r>
                          <a:rPr kumimoji="1" lang="en-US" altLang="zh-CN" b="0" i="1" smtClean="0">
                            <a:latin typeface="Cambria Math" panose="02040503050406030204" pitchFamily="18" charset="0"/>
                            <a:sym typeface="Wingdings" pitchFamily="2" charset="2"/>
                          </a:rPr>
                          <m:t>𝑅</m:t>
                        </m:r>
                      </m:e>
                      <m:sup>
                        <m:r>
                          <m:rPr>
                            <m:lit/>
                          </m:rPr>
                          <a:rPr kumimoji="1" lang="en-US" altLang="zh-CN" b="0" i="1" smtClean="0">
                            <a:latin typeface="Cambria Math" panose="02040503050406030204" pitchFamily="18" charset="0"/>
                            <a:sym typeface="Wingdings" pitchFamily="2" charset="2"/>
                          </a:rPr>
                          <m:t>|</m:t>
                        </m:r>
                        <m:r>
                          <a:rPr kumimoji="1" lang="en-US" altLang="zh-CN" b="0" i="1" smtClean="0">
                            <a:latin typeface="Cambria Math" panose="02040503050406030204" pitchFamily="18" charset="0"/>
                            <a:sym typeface="Wingdings" pitchFamily="2" charset="2"/>
                          </a:rPr>
                          <m:t>𝑉</m:t>
                        </m:r>
                        <m:r>
                          <a:rPr kumimoji="1" lang="en-US" altLang="zh-CN" b="0" i="1" smtClean="0">
                            <a:latin typeface="Cambria Math" panose="02040503050406030204" pitchFamily="18" charset="0"/>
                            <a:sym typeface="Wingdings" pitchFamily="2" charset="2"/>
                          </a:rPr>
                          <m:t>|</m:t>
                        </m:r>
                      </m:sup>
                    </m:sSup>
                  </m:oMath>
                </a14:m>
                <a:endParaRPr kumimoji="1" lang="en-US" altLang="zh-CN" dirty="0"/>
              </a:p>
              <a:p>
                <a:pPr lvl="1"/>
                <a:r>
                  <a:rPr kumimoji="1" lang="zh-CN" altLang="en-US" dirty="0"/>
                  <a:t>高维</a:t>
                </a:r>
                <a:r>
                  <a:rPr kumimoji="1" lang="zh-CN" altLang="en-US" dirty="0">
                    <a:sym typeface="Wingdings" pitchFamily="2" charset="2"/>
                  </a:rPr>
                  <a:t>： </a:t>
                </a:r>
                <a:r>
                  <a:rPr kumimoji="1" lang="en-US" altLang="zh-CN" dirty="0">
                    <a:sym typeface="Wingdings" pitchFamily="2" charset="2"/>
                  </a:rPr>
                  <a:t>|V|</a:t>
                </a:r>
                <a:r>
                  <a:rPr kumimoji="1" lang="zh-CN" altLang="en-US" dirty="0">
                    <a:sym typeface="Wingdings" pitchFamily="2" charset="2"/>
                  </a:rPr>
                  <a:t>可能有上百万维（集合中不同单词的数目）</a:t>
                </a:r>
                <a:endParaRPr kumimoji="1" lang="en-US" altLang="zh-CN" dirty="0">
                  <a:sym typeface="Wingdings" pitchFamily="2" charset="2"/>
                </a:endParaRPr>
              </a:p>
              <a:p>
                <a:pPr lvl="1"/>
                <a:r>
                  <a:rPr kumimoji="1" lang="zh-CN" altLang="en-US" dirty="0">
                    <a:sym typeface="Wingdings" pitchFamily="2" charset="2"/>
                  </a:rPr>
                  <a:t>稀疏：一个文档的长度有限</a:t>
                </a:r>
                <a:endParaRPr kumimoji="1" lang="en-US" altLang="zh-CN" dirty="0">
                  <a:sym typeface="Wingdings" pitchFamily="2" charset="2"/>
                </a:endParaRPr>
              </a:p>
              <a:p>
                <a:pPr lvl="1"/>
                <a:endParaRPr kumimoji="1" lang="en-US" altLang="zh-CN" dirty="0">
                  <a:sym typeface="Wingdings" pitchFamily="2" charset="2"/>
                </a:endParaRPr>
              </a:p>
              <a:p>
                <a:r>
                  <a:rPr kumimoji="1" lang="zh-CN" altLang="en-US" dirty="0">
                    <a:sym typeface="Wingdings" pitchFamily="2" charset="2"/>
                  </a:rPr>
                  <a:t>两个文本的相似度：向量空间中可根据需要定义多种相似度</a:t>
                </a:r>
                <a:endParaRPr kumimoji="1" lang="en-US" altLang="zh-CN" dirty="0">
                  <a:sym typeface="Wingdings" pitchFamily="2" charset="2"/>
                </a:endParaRPr>
              </a:p>
              <a:p>
                <a:pPr lvl="1"/>
                <a:r>
                  <a:rPr kumimoji="1" lang="en-US" altLang="zh-CN" dirty="0">
                    <a:sym typeface="Wingdings" pitchFamily="2" charset="2"/>
                  </a:rPr>
                  <a:t>dot</a:t>
                </a:r>
                <a:r>
                  <a:rPr kumimoji="1" lang="zh-CN" altLang="en-US" dirty="0">
                    <a:sym typeface="Wingdings" pitchFamily="2" charset="2"/>
                  </a:rPr>
                  <a:t> </a:t>
                </a:r>
                <a:r>
                  <a:rPr kumimoji="1" lang="en-US" altLang="zh-CN" dirty="0">
                    <a:sym typeface="Wingdings" pitchFamily="2" charset="2"/>
                  </a:rPr>
                  <a:t>product</a:t>
                </a:r>
              </a:p>
              <a:p>
                <a:pPr lvl="1"/>
                <a:r>
                  <a:rPr kumimoji="1" lang="en-US" altLang="zh-CN" dirty="0">
                    <a:sym typeface="Wingdings" pitchFamily="2" charset="2"/>
                  </a:rPr>
                  <a:t>cosine</a:t>
                </a:r>
                <a:endParaRPr kumimoji="1" lang="en-US" altLang="zh-CN" dirty="0"/>
              </a:p>
              <a:p>
                <a:pPr lvl="1"/>
                <a:r>
                  <a:rPr kumimoji="1" lang="en-US" altLang="zh-CN" dirty="0"/>
                  <a:t>…</a:t>
                </a:r>
                <a:r>
                  <a:rPr kumimoji="1" lang="zh-CN" altLang="en-US" dirty="0"/>
                  <a:t> </a:t>
                </a:r>
                <a:r>
                  <a:rPr kumimoji="1" lang="en-US" altLang="zh-CN" dirty="0"/>
                  <a:t>…</a:t>
                </a:r>
              </a:p>
              <a:p>
                <a:endParaRPr kumimoji="1" lang="en-US" altLang="zh-CN" dirty="0"/>
              </a:p>
              <a:p>
                <a:r>
                  <a:rPr kumimoji="1" lang="en-US" altLang="zh-CN" dirty="0"/>
                  <a:t>TF-IDF</a:t>
                </a:r>
                <a:r>
                  <a:rPr kumimoji="1" lang="zh-CN" altLang="en-US" dirty="0"/>
                  <a:t>被广泛用于文档的分类、聚类、话题分析等</a:t>
                </a:r>
                <a:endParaRPr kumimoji="1" lang="en-US" altLang="zh-CN" dirty="0"/>
              </a:p>
            </p:txBody>
          </p:sp>
        </mc:Choice>
        <mc:Fallback>
          <p:sp>
            <p:nvSpPr>
              <p:cNvPr id="3" name="内容占位符 2">
                <a:extLst>
                  <a:ext uri="{FF2B5EF4-FFF2-40B4-BE49-F238E27FC236}">
                    <a16:creationId xmlns:a16="http://schemas.microsoft.com/office/drawing/2014/main" id="{0944FD81-1A31-D74C-BD6F-7F528045F51B}"/>
                  </a:ext>
                </a:extLst>
              </p:cNvPr>
              <p:cNvSpPr>
                <a:spLocks noGrp="1" noRot="1" noChangeAspect="1" noMove="1" noResize="1" noEditPoints="1" noAdjustHandles="1" noChangeArrowheads="1" noChangeShapeType="1" noTextEdit="1"/>
              </p:cNvSpPr>
              <p:nvPr>
                <p:ph idx="1"/>
              </p:nvPr>
            </p:nvSpPr>
            <p:spPr>
              <a:blipFill>
                <a:blip r:embed="rId2"/>
                <a:stretch>
                  <a:fillRect l="-617"/>
                </a:stretch>
              </a:blipFill>
            </p:spPr>
            <p:txBody>
              <a:bodyPr/>
              <a:lstStyle/>
              <a:p>
                <a:r>
                  <a:rPr lang="en-CN">
                    <a:noFill/>
                  </a:rPr>
                  <a:t> </a:t>
                </a:r>
              </a:p>
            </p:txBody>
          </p:sp>
        </mc:Fallback>
      </mc:AlternateContent>
    </p:spTree>
    <p:extLst>
      <p:ext uri="{BB962C8B-B14F-4D97-AF65-F5344CB8AC3E}">
        <p14:creationId xmlns:p14="http://schemas.microsoft.com/office/powerpoint/2010/main" val="7848602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C0275-FCA8-B1A1-C012-A5FCE993A11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24B6653-AED6-A8EF-007B-FA85D09FD750}"/>
              </a:ext>
            </a:extLst>
          </p:cNvPr>
          <p:cNvSpPr>
            <a:spLocks noGrp="1"/>
          </p:cNvSpPr>
          <p:nvPr>
            <p:ph type="title"/>
          </p:nvPr>
        </p:nvSpPr>
        <p:spPr/>
        <p:txBody>
          <a:bodyPr/>
          <a:lstStyle/>
          <a:p>
            <a:r>
              <a:rPr kumimoji="1" lang="zh-CN" altLang="en-CN" dirty="0"/>
              <a:t>课堂</a:t>
            </a:r>
            <a:r>
              <a:rPr kumimoji="1" lang="zh-CN" altLang="en-US" dirty="0"/>
              <a:t>练习</a:t>
            </a:r>
          </a:p>
        </p:txBody>
      </p:sp>
      <p:graphicFrame>
        <p:nvGraphicFramePr>
          <p:cNvPr id="4" name="Content Placeholder 3">
            <a:extLst>
              <a:ext uri="{FF2B5EF4-FFF2-40B4-BE49-F238E27FC236}">
                <a16:creationId xmlns:a16="http://schemas.microsoft.com/office/drawing/2014/main" id="{CD13B027-0128-4257-4517-A84441DCB4E5}"/>
              </a:ext>
            </a:extLst>
          </p:cNvPr>
          <p:cNvGraphicFramePr>
            <a:graphicFrameLocks noGrp="1"/>
          </p:cNvGraphicFramePr>
          <p:nvPr>
            <p:ph idx="1"/>
            <p:extLst>
              <p:ext uri="{D42A27DB-BD31-4B8C-83A1-F6EECF244321}">
                <p14:modId xmlns:p14="http://schemas.microsoft.com/office/powerpoint/2010/main" val="546646680"/>
              </p:ext>
            </p:extLst>
          </p:nvPr>
        </p:nvGraphicFramePr>
        <p:xfrm>
          <a:off x="457200" y="819150"/>
          <a:ext cx="8229600" cy="2763520"/>
        </p:xfrm>
        <a:graphic>
          <a:graphicData uri="http://schemas.openxmlformats.org/drawingml/2006/table">
            <a:tbl>
              <a:tblPr firstRow="1" bandRow="1">
                <a:tableStyleId>{5C22544A-7EE6-4342-B048-85BDC9FD1C3A}</a:tableStyleId>
              </a:tblPr>
              <a:tblGrid>
                <a:gridCol w="975184">
                  <a:extLst>
                    <a:ext uri="{9D8B030D-6E8A-4147-A177-3AD203B41FA5}">
                      <a16:colId xmlns:a16="http://schemas.microsoft.com/office/drawing/2014/main" val="864116657"/>
                    </a:ext>
                  </a:extLst>
                </a:gridCol>
                <a:gridCol w="3324610">
                  <a:extLst>
                    <a:ext uri="{9D8B030D-6E8A-4147-A177-3AD203B41FA5}">
                      <a16:colId xmlns:a16="http://schemas.microsoft.com/office/drawing/2014/main" val="2096454106"/>
                    </a:ext>
                  </a:extLst>
                </a:gridCol>
                <a:gridCol w="3929806">
                  <a:extLst>
                    <a:ext uri="{9D8B030D-6E8A-4147-A177-3AD203B41FA5}">
                      <a16:colId xmlns:a16="http://schemas.microsoft.com/office/drawing/2014/main" val="3628346647"/>
                    </a:ext>
                  </a:extLst>
                </a:gridCol>
              </a:tblGrid>
              <a:tr h="370840">
                <a:tc>
                  <a:txBody>
                    <a:bodyPr/>
                    <a:lstStyle/>
                    <a:p>
                      <a:pPr algn="ctr"/>
                      <a:r>
                        <a:rPr lang="en-US" altLang="zh-CN" dirty="0"/>
                        <a:t>ID</a:t>
                      </a:r>
                    </a:p>
                  </a:txBody>
                  <a:tcPr/>
                </a:tc>
                <a:tc>
                  <a:txBody>
                    <a:bodyPr/>
                    <a:lstStyle/>
                    <a:p>
                      <a:pPr algn="ctr"/>
                      <a:r>
                        <a:rPr lang="en-US" dirty="0" err="1"/>
                        <a:t>原始文档</a:t>
                      </a:r>
                      <a:endParaRPr lang="en-CN" dirty="0"/>
                    </a:p>
                  </a:txBody>
                  <a:tcPr/>
                </a:tc>
                <a:tc>
                  <a:txBody>
                    <a:bodyPr/>
                    <a:lstStyle/>
                    <a:p>
                      <a:pPr algn="ctr"/>
                      <a:r>
                        <a:rPr lang="en-US" dirty="0" err="1"/>
                        <a:t>预处理后的文档</a:t>
                      </a:r>
                      <a:endParaRPr lang="en-CN" dirty="0"/>
                    </a:p>
                  </a:txBody>
                  <a:tcPr/>
                </a:tc>
                <a:extLst>
                  <a:ext uri="{0D108BD9-81ED-4DB2-BD59-A6C34878D82A}">
                    <a16:rowId xmlns:a16="http://schemas.microsoft.com/office/drawing/2014/main" val="1236647041"/>
                  </a:ext>
                </a:extLst>
              </a:tr>
              <a:tr h="370840">
                <a:tc>
                  <a:txBody>
                    <a:bodyPr/>
                    <a:lstStyle/>
                    <a:p>
                      <a:pPr algn="ctr"/>
                      <a:r>
                        <a:rPr lang="en-US" altLang="zh-CN" dirty="0"/>
                        <a:t>d1</a:t>
                      </a:r>
                      <a:endParaRPr lang="en-CN" dirty="0"/>
                    </a:p>
                  </a:txBody>
                  <a:tcPr/>
                </a:tc>
                <a:tc>
                  <a:txBody>
                    <a:bodyPr/>
                    <a:lstStyle/>
                    <a:p>
                      <a:r>
                        <a:rPr lang="en-US" dirty="0"/>
                        <a:t>Romeo and Juliet.</a:t>
                      </a:r>
                      <a:endParaRPr lang="en-CN" dirty="0"/>
                    </a:p>
                  </a:txBody>
                  <a:tcPr/>
                </a:tc>
                <a:tc>
                  <a:txBody>
                    <a:bodyPr/>
                    <a:lstStyle/>
                    <a:p>
                      <a:r>
                        <a:rPr lang="en-US" dirty="0"/>
                        <a:t>['</a:t>
                      </a:r>
                      <a:r>
                        <a:rPr lang="en-US" dirty="0" err="1"/>
                        <a:t>romeo</a:t>
                      </a:r>
                      <a:r>
                        <a:rPr lang="en-US" dirty="0"/>
                        <a:t>', 'and', '</a:t>
                      </a:r>
                      <a:r>
                        <a:rPr lang="en-US" dirty="0" err="1"/>
                        <a:t>juliet</a:t>
                      </a:r>
                      <a:r>
                        <a:rPr lang="en-US" dirty="0"/>
                        <a:t>']</a:t>
                      </a:r>
                      <a:endParaRPr lang="en-CN" dirty="0"/>
                    </a:p>
                  </a:txBody>
                  <a:tcPr/>
                </a:tc>
                <a:extLst>
                  <a:ext uri="{0D108BD9-81ED-4DB2-BD59-A6C34878D82A}">
                    <a16:rowId xmlns:a16="http://schemas.microsoft.com/office/drawing/2014/main" val="3886837341"/>
                  </a:ext>
                </a:extLst>
              </a:tr>
              <a:tr h="370840">
                <a:tc>
                  <a:txBody>
                    <a:bodyPr/>
                    <a:lstStyle/>
                    <a:p>
                      <a:pPr algn="ctr"/>
                      <a:r>
                        <a:rPr lang="en-US" altLang="zh-CN" dirty="0"/>
                        <a:t>d2</a:t>
                      </a:r>
                      <a:endParaRPr lang="en-CN" dirty="0"/>
                    </a:p>
                  </a:txBody>
                  <a:tcPr/>
                </a:tc>
                <a:tc>
                  <a:txBody>
                    <a:bodyPr/>
                    <a:lstStyle/>
                    <a:p>
                      <a:r>
                        <a:rPr lang="en-US" dirty="0" err="1"/>
                        <a:t>Jullet</a:t>
                      </a:r>
                      <a:r>
                        <a:rPr lang="en-US" dirty="0"/>
                        <a:t>: O happy dagger!</a:t>
                      </a:r>
                      <a:endParaRPr lang="en-CN" dirty="0"/>
                    </a:p>
                  </a:txBody>
                  <a:tcPr/>
                </a:tc>
                <a:tc>
                  <a:txBody>
                    <a:bodyPr/>
                    <a:lstStyle/>
                    <a:p>
                      <a:r>
                        <a:rPr lang="en-US" dirty="0"/>
                        <a:t>['</a:t>
                      </a:r>
                      <a:r>
                        <a:rPr lang="en-US" dirty="0" err="1"/>
                        <a:t>juliet</a:t>
                      </a:r>
                      <a:r>
                        <a:rPr lang="en-US" dirty="0"/>
                        <a:t>', 'o', 'happy', 'dagger']</a:t>
                      </a:r>
                      <a:endParaRPr lang="en-CN" dirty="0"/>
                    </a:p>
                  </a:txBody>
                  <a:tcPr/>
                </a:tc>
                <a:extLst>
                  <a:ext uri="{0D108BD9-81ED-4DB2-BD59-A6C34878D82A}">
                    <a16:rowId xmlns:a16="http://schemas.microsoft.com/office/drawing/2014/main" val="3418352894"/>
                  </a:ext>
                </a:extLst>
              </a:tr>
              <a:tr h="370840">
                <a:tc>
                  <a:txBody>
                    <a:bodyPr/>
                    <a:lstStyle/>
                    <a:p>
                      <a:pPr algn="ctr"/>
                      <a:r>
                        <a:rPr lang="en-US" altLang="zh-CN" dirty="0"/>
                        <a:t>d3</a:t>
                      </a:r>
                      <a:endParaRPr lang="en-CN" dirty="0"/>
                    </a:p>
                  </a:txBody>
                  <a:tcPr/>
                </a:tc>
                <a:tc>
                  <a:txBody>
                    <a:bodyPr/>
                    <a:lstStyle/>
                    <a:p>
                      <a:r>
                        <a:rPr lang="en-US" dirty="0"/>
                        <a:t>Romeo died by dagger.</a:t>
                      </a:r>
                      <a:endParaRPr lang="en-CN" dirty="0"/>
                    </a:p>
                  </a:txBody>
                  <a:tcPr/>
                </a:tc>
                <a:tc>
                  <a:txBody>
                    <a:bodyPr/>
                    <a:lstStyle/>
                    <a:p>
                      <a:r>
                        <a:rPr lang="en-US" dirty="0"/>
                        <a:t>['</a:t>
                      </a:r>
                      <a:r>
                        <a:rPr lang="en-US" dirty="0" err="1"/>
                        <a:t>romeo</a:t>
                      </a:r>
                      <a:r>
                        <a:rPr lang="en-US" dirty="0"/>
                        <a:t>', 'die', 'by', 'dagger']</a:t>
                      </a:r>
                      <a:endParaRPr lang="en-CN" dirty="0"/>
                    </a:p>
                  </a:txBody>
                  <a:tcPr/>
                </a:tc>
                <a:extLst>
                  <a:ext uri="{0D108BD9-81ED-4DB2-BD59-A6C34878D82A}">
                    <a16:rowId xmlns:a16="http://schemas.microsoft.com/office/drawing/2014/main" val="2929478960"/>
                  </a:ext>
                </a:extLst>
              </a:tr>
              <a:tr h="370840">
                <a:tc>
                  <a:txBody>
                    <a:bodyPr/>
                    <a:lstStyle/>
                    <a:p>
                      <a:pPr algn="ctr"/>
                      <a:r>
                        <a:rPr lang="en-US" altLang="zh-CN" dirty="0"/>
                        <a:t>d4</a:t>
                      </a:r>
                      <a:endParaRPr lang="en-CN" dirty="0"/>
                    </a:p>
                  </a:txBody>
                  <a:tcPr/>
                </a:tc>
                <a:tc>
                  <a:txBody>
                    <a:bodyPr/>
                    <a:lstStyle/>
                    <a:p>
                      <a:r>
                        <a:rPr lang="en-US" dirty="0"/>
                        <a:t>“Live free or die”, that’s the New-Hampshire‘s motto.</a:t>
                      </a:r>
                      <a:endParaRPr lang="en-CN" dirty="0"/>
                    </a:p>
                  </a:txBody>
                  <a:tcPr/>
                </a:tc>
                <a:tc>
                  <a:txBody>
                    <a:bodyPr/>
                    <a:lstStyle/>
                    <a:p>
                      <a:r>
                        <a:rPr lang="en-US" dirty="0"/>
                        <a:t>['live', 'free', 'or', 'die', 'that', 's', 'the', 'new', '</a:t>
                      </a:r>
                      <a:r>
                        <a:rPr lang="en-US" dirty="0" err="1"/>
                        <a:t>hampshire</a:t>
                      </a:r>
                      <a:r>
                        <a:rPr lang="en-US" dirty="0"/>
                        <a:t>', 's', 'motto']</a:t>
                      </a:r>
                      <a:endParaRPr lang="en-CN" dirty="0"/>
                    </a:p>
                  </a:txBody>
                  <a:tcPr/>
                </a:tc>
                <a:extLst>
                  <a:ext uri="{0D108BD9-81ED-4DB2-BD59-A6C34878D82A}">
                    <a16:rowId xmlns:a16="http://schemas.microsoft.com/office/drawing/2014/main" val="1745351156"/>
                  </a:ext>
                </a:extLst>
              </a:tr>
              <a:tr h="370840">
                <a:tc>
                  <a:txBody>
                    <a:bodyPr/>
                    <a:lstStyle/>
                    <a:p>
                      <a:pPr algn="ctr"/>
                      <a:r>
                        <a:rPr lang="en-US" altLang="zh-CN" dirty="0"/>
                        <a:t>d5</a:t>
                      </a:r>
                      <a:endParaRPr lang="en-CN" dirty="0"/>
                    </a:p>
                  </a:txBody>
                  <a:tcPr/>
                </a:tc>
                <a:tc>
                  <a:txBody>
                    <a:bodyPr/>
                    <a:lstStyle/>
                    <a:p>
                      <a:r>
                        <a:rPr lang="en-US" dirty="0"/>
                        <a:t>Did you know, New-Hampshire is in New-England</a:t>
                      </a:r>
                      <a:endParaRPr lang="en-CN" dirty="0"/>
                    </a:p>
                  </a:txBody>
                  <a:tcPr/>
                </a:tc>
                <a:tc>
                  <a:txBody>
                    <a:bodyPr/>
                    <a:lstStyle/>
                    <a:p>
                      <a:r>
                        <a:rPr lang="en-US" dirty="0"/>
                        <a:t>['d</a:t>
                      </a:r>
                      <a:r>
                        <a:rPr lang="en-US" altLang="zh-CN" dirty="0"/>
                        <a:t>o</a:t>
                      </a:r>
                      <a:r>
                        <a:rPr lang="en-US" dirty="0"/>
                        <a:t>', 'you', 'know', 'new', '</a:t>
                      </a:r>
                      <a:r>
                        <a:rPr lang="en-US" dirty="0" err="1"/>
                        <a:t>hampshire</a:t>
                      </a:r>
                      <a:r>
                        <a:rPr lang="en-US" dirty="0"/>
                        <a:t>', 'is', 'in', 'new', '</a:t>
                      </a:r>
                      <a:r>
                        <a:rPr lang="en-US" dirty="0" err="1"/>
                        <a:t>england</a:t>
                      </a:r>
                      <a:r>
                        <a:rPr lang="en-US" dirty="0"/>
                        <a:t>']</a:t>
                      </a:r>
                      <a:endParaRPr lang="en-CN" dirty="0"/>
                    </a:p>
                  </a:txBody>
                  <a:tcPr/>
                </a:tc>
                <a:extLst>
                  <a:ext uri="{0D108BD9-81ED-4DB2-BD59-A6C34878D82A}">
                    <a16:rowId xmlns:a16="http://schemas.microsoft.com/office/drawing/2014/main" val="599744971"/>
                  </a:ext>
                </a:extLst>
              </a:tr>
            </a:tbl>
          </a:graphicData>
        </a:graphic>
      </p:graphicFrame>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353DCFB-8F2C-7D01-C59C-69698279D924}"/>
                  </a:ext>
                </a:extLst>
              </p:cNvPr>
              <p:cNvSpPr txBox="1"/>
              <p:nvPr/>
            </p:nvSpPr>
            <p:spPr>
              <a:xfrm>
                <a:off x="457200" y="3643639"/>
                <a:ext cx="8229599" cy="1041952"/>
              </a:xfrm>
              <a:prstGeom prst="rect">
                <a:avLst/>
              </a:prstGeom>
              <a:noFill/>
            </p:spPr>
            <p:txBody>
              <a:bodyPr wrap="square">
                <a:spAutoFit/>
              </a:bodyPr>
              <a:lstStyle/>
              <a:p>
                <a:r>
                  <a:rPr lang="zh-CN" altLang="en-US" dirty="0">
                    <a:latin typeface="Microsoft YaHei" panose="020B0503020204020204" pitchFamily="34" charset="-122"/>
                    <a:ea typeface="Microsoft YaHei" panose="020B0503020204020204" pitchFamily="34" charset="-122"/>
                  </a:rPr>
                  <a:t>我们只关注几个有效单词：</a:t>
                </a:r>
                <a:r>
                  <a:rPr lang="en-CN" dirty="0"/>
                  <a:t>romeo, juliet, dagger, die, new, hampshire, england</a:t>
                </a:r>
              </a:p>
              <a:p>
                <a:pPr marL="285750" indent="-285750">
                  <a:buFont typeface="Arial" panose="020B0604020202020204" pitchFamily="34" charset="0"/>
                  <a:buChar char="•"/>
                </a:pPr>
                <a:r>
                  <a:rPr lang="en-CN" dirty="0">
                    <a:latin typeface="Microsoft YaHei" panose="020B0503020204020204" pitchFamily="34" charset="-122"/>
                    <a:ea typeface="Microsoft YaHei" panose="020B0503020204020204" pitchFamily="34" charset="-122"/>
                  </a:rPr>
                  <a:t>请计算单词</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文档的</a:t>
                </a:r>
                <a:r>
                  <a:rPr lang="en-US" altLang="zh-CN" dirty="0">
                    <a:latin typeface="Microsoft YaHei" panose="020B0503020204020204" pitchFamily="34" charset="-122"/>
                    <a:ea typeface="Microsoft YaHei" panose="020B0503020204020204" pitchFamily="34" charset="-122"/>
                  </a:rPr>
                  <a:t>TFIDF</a:t>
                </a:r>
                <a:r>
                  <a:rPr lang="zh-CN" altLang="en-US" dirty="0">
                    <a:latin typeface="Microsoft YaHei" panose="020B0503020204020204" pitchFamily="34" charset="-122"/>
                    <a:ea typeface="Microsoft YaHei" panose="020B0503020204020204" pitchFamily="34" charset="-122"/>
                  </a:rPr>
                  <a:t>分值（</a:t>
                </a:r>
                <a14:m>
                  <m:oMath xmlns:m="http://schemas.openxmlformats.org/officeDocument/2006/math">
                    <m:sSub>
                      <m:sSubPr>
                        <m:ctrlPr>
                          <a:rPr lang="en-US" altLang="zh-CN" b="0" i="1" dirty="0" smtClean="0">
                            <a:latin typeface="Cambria Math" panose="02040503050406030204" pitchFamily="18" charset="0"/>
                          </a:rPr>
                        </m:ctrlPr>
                      </m:sSubPr>
                      <m:e>
                        <m:r>
                          <m:rPr>
                            <m:sty m:val="p"/>
                          </m:rPr>
                          <a:rPr lang="en-US" altLang="zh-CN" i="0" dirty="0">
                            <a:latin typeface="Cambria Math" panose="02040503050406030204" pitchFamily="18" charset="0"/>
                          </a:rPr>
                          <m:t>log</m:t>
                        </m:r>
                      </m:e>
                      <m:sub>
                        <m:r>
                          <a:rPr lang="en-US" altLang="zh-CN" b="0" i="1" dirty="0" smtClean="0">
                            <a:latin typeface="Cambria Math" panose="02040503050406030204" pitchFamily="18" charset="0"/>
                          </a:rPr>
                          <m:t>10</m:t>
                        </m:r>
                      </m:sub>
                    </m:sSub>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5</m:t>
                        </m:r>
                      </m:num>
                      <m:den>
                        <m:r>
                          <a:rPr lang="en-US" altLang="zh-CN" b="0" i="1" dirty="0" smtClean="0">
                            <a:latin typeface="Cambria Math" panose="02040503050406030204" pitchFamily="18" charset="0"/>
                          </a:rPr>
                          <m:t>2</m:t>
                        </m:r>
                      </m:den>
                    </m:f>
                    <m:r>
                      <a:rPr lang="en-US" altLang="zh-CN" i="1" dirty="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0.398</m:t>
                    </m:r>
                  </m:oMath>
                </a14:m>
                <a:r>
                  <a:rPr lang="zh-CN" altLang="en-US" dirty="0"/>
                  <a:t>；</a:t>
                </a:r>
                <a:r>
                  <a:rPr lang="en-US" altLang="zh-CN" dirty="0"/>
                  <a:t> </a:t>
                </a:r>
                <a14:m>
                  <m:oMath xmlns:m="http://schemas.openxmlformats.org/officeDocument/2006/math">
                    <m:sSub>
                      <m:sSubPr>
                        <m:ctrlPr>
                          <a:rPr lang="en-US" altLang="zh-CN" i="1" dirty="0">
                            <a:latin typeface="Cambria Math" panose="02040503050406030204" pitchFamily="18" charset="0"/>
                          </a:rPr>
                        </m:ctrlPr>
                      </m:sSubPr>
                      <m:e>
                        <m:r>
                          <m:rPr>
                            <m:sty m:val="p"/>
                          </m:rPr>
                          <a:rPr lang="en-US" altLang="zh-CN" dirty="0">
                            <a:latin typeface="Cambria Math" panose="02040503050406030204" pitchFamily="18" charset="0"/>
                          </a:rPr>
                          <m:t>log</m:t>
                        </m:r>
                      </m:e>
                      <m:sub>
                        <m:r>
                          <a:rPr lang="en-US" altLang="zh-CN" i="1" dirty="0">
                            <a:latin typeface="Cambria Math" panose="02040503050406030204" pitchFamily="18" charset="0"/>
                          </a:rPr>
                          <m:t>10</m:t>
                        </m:r>
                      </m:sub>
                    </m:sSub>
                    <m:r>
                      <a:rPr lang="en-US" altLang="zh-CN" b="0" i="1" dirty="0" smtClean="0">
                        <a:latin typeface="Cambria Math" panose="02040503050406030204" pitchFamily="18" charset="0"/>
                      </a:rPr>
                      <m:t>5</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0.</m:t>
                    </m:r>
                    <m:r>
                      <a:rPr lang="en-US" altLang="zh-CN" b="0" i="1" dirty="0" smtClean="0">
                        <a:latin typeface="Cambria Math" panose="02040503050406030204" pitchFamily="18" charset="0"/>
                        <a:ea typeface="Cambria Math" panose="02040503050406030204" pitchFamily="18" charset="0"/>
                      </a:rPr>
                      <m:t>699</m:t>
                    </m:r>
                    <m:r>
                      <a:rPr lang="zh-CN" altLang="en-US" b="0" i="1" dirty="0" smtClean="0">
                        <a:latin typeface="Cambria Math" panose="02040503050406030204" pitchFamily="18" charset="0"/>
                        <a:ea typeface="Cambria Math" panose="02040503050406030204" pitchFamily="18" charset="0"/>
                      </a:rPr>
                      <m:t>）</m:t>
                    </m:r>
                  </m:oMath>
                </a14:m>
                <a:endParaRPr lang="en-US" altLang="zh-CN"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lang="zh-CN" altLang="en-US" dirty="0">
                    <a:latin typeface="Microsoft YaHei" panose="020B0503020204020204" pitchFamily="34" charset="-122"/>
                    <a:ea typeface="Microsoft YaHei" panose="020B0503020204020204" pitchFamily="34" charset="-122"/>
                  </a:rPr>
                  <a:t>考虑查询为“</a:t>
                </a:r>
                <a:r>
                  <a:rPr lang="en-US" altLang="zh-CN" dirty="0">
                    <a:latin typeface="Microsoft YaHei" panose="020B0503020204020204" pitchFamily="34" charset="-122"/>
                    <a:ea typeface="Microsoft YaHei" panose="020B0503020204020204" pitchFamily="34" charset="-122"/>
                  </a:rPr>
                  <a:t>dies dagger</a:t>
                </a:r>
                <a:r>
                  <a:rPr lang="zh-CN" altLang="en-US" dirty="0">
                    <a:latin typeface="Microsoft YaHei" panose="020B0503020204020204" pitchFamily="34" charset="-122"/>
                    <a:ea typeface="Microsoft YaHei" panose="020B0503020204020204" pitchFamily="34" charset="-122"/>
                  </a:rPr>
                  <a:t>”，利用</a:t>
                </a:r>
                <a:r>
                  <a:rPr lang="en-US" altLang="zh-CN" dirty="0">
                    <a:latin typeface="Microsoft YaHei" panose="020B0503020204020204" pitchFamily="34" charset="-122"/>
                    <a:ea typeface="Microsoft YaHei" panose="020B0503020204020204" pitchFamily="34" charset="-122"/>
                  </a:rPr>
                  <a:t>Cosine</a:t>
                </a:r>
                <a:r>
                  <a:rPr lang="zh-CN" altLang="en-US" dirty="0">
                    <a:latin typeface="Microsoft YaHei" panose="020B0503020204020204" pitchFamily="34" charset="-122"/>
                    <a:ea typeface="Microsoft YaHei" panose="020B0503020204020204" pitchFamily="34" charset="-122"/>
                  </a:rPr>
                  <a:t>将文档按相关性进行排序</a:t>
                </a:r>
                <a:endParaRPr lang="en-US" altLang="zh-CN" dirty="0">
                  <a:latin typeface="Microsoft YaHei" panose="020B0503020204020204" pitchFamily="34" charset="-122"/>
                  <a:ea typeface="Microsoft YaHei" panose="020B0503020204020204" pitchFamily="34" charset="-122"/>
                </a:endParaRPr>
              </a:p>
            </p:txBody>
          </p:sp>
        </mc:Choice>
        <mc:Fallback>
          <p:sp>
            <p:nvSpPr>
              <p:cNvPr id="6" name="TextBox 5">
                <a:extLst>
                  <a:ext uri="{FF2B5EF4-FFF2-40B4-BE49-F238E27FC236}">
                    <a16:creationId xmlns:a16="http://schemas.microsoft.com/office/drawing/2014/main" id="{6353DCFB-8F2C-7D01-C59C-69698279D924}"/>
                  </a:ext>
                </a:extLst>
              </p:cNvPr>
              <p:cNvSpPr txBox="1">
                <a:spLocks noRot="1" noChangeAspect="1" noMove="1" noResize="1" noEditPoints="1" noAdjustHandles="1" noChangeArrowheads="1" noChangeShapeType="1" noTextEdit="1"/>
              </p:cNvSpPr>
              <p:nvPr/>
            </p:nvSpPr>
            <p:spPr>
              <a:xfrm>
                <a:off x="457200" y="3643639"/>
                <a:ext cx="8229599" cy="1041952"/>
              </a:xfrm>
              <a:prstGeom prst="rect">
                <a:avLst/>
              </a:prstGeom>
              <a:blipFill>
                <a:blip r:embed="rId2"/>
                <a:stretch>
                  <a:fillRect l="-617" t="-3614" b="-7229"/>
                </a:stretch>
              </a:blipFill>
            </p:spPr>
            <p:txBody>
              <a:bodyPr/>
              <a:lstStyle/>
              <a:p>
                <a:r>
                  <a:rPr lang="en-CN">
                    <a:noFill/>
                  </a:rPr>
                  <a:t> </a:t>
                </a:r>
              </a:p>
            </p:txBody>
          </p:sp>
        </mc:Fallback>
      </mc:AlternateContent>
      <p:sp>
        <p:nvSpPr>
          <p:cNvPr id="7" name="Rectangle 1">
            <a:extLst>
              <a:ext uri="{FF2B5EF4-FFF2-40B4-BE49-F238E27FC236}">
                <a16:creationId xmlns:a16="http://schemas.microsoft.com/office/drawing/2014/main" id="{ECBB7528-C8CE-8695-3193-8DA6651AD73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CN" altLang="en-CN" sz="1800" b="0" i="0" u="none" strike="noStrike" cap="none" normalizeH="0" baseline="0">
                <a:ln>
                  <a:noFill/>
                </a:ln>
                <a:solidFill>
                  <a:srgbClr val="000000"/>
                </a:solidFill>
                <a:effectLst/>
                <a:latin typeface="Arial" panose="020B0604020202020204" pitchFamily="34" charset="0"/>
              </a:rPr>
              <a:t>og10​25​</a:t>
            </a:r>
            <a:endParaRPr kumimoji="0" lang="en-CN" altLang="en-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262566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E5501-C715-5C87-65BC-8FAFF2BF4579}"/>
              </a:ext>
            </a:extLst>
          </p:cNvPr>
          <p:cNvSpPr>
            <a:spLocks noGrp="1"/>
          </p:cNvSpPr>
          <p:nvPr>
            <p:ph type="title"/>
          </p:nvPr>
        </p:nvSpPr>
        <p:spPr/>
        <p:txBody>
          <a:bodyPr/>
          <a:lstStyle/>
          <a:p>
            <a:r>
              <a:rPr kumimoji="1" lang="zh-CN" altLang="en-CN" dirty="0"/>
              <a:t>课堂</a:t>
            </a:r>
            <a:r>
              <a:rPr kumimoji="1" lang="zh-CN" altLang="en-US" dirty="0"/>
              <a:t>练习答案 </a:t>
            </a:r>
            <a:r>
              <a:rPr kumimoji="1" lang="en-US" altLang="zh-CN" dirty="0"/>
              <a:t>-</a:t>
            </a:r>
            <a:r>
              <a:rPr kumimoji="1" lang="zh-CN" altLang="en-US" dirty="0"/>
              <a:t> </a:t>
            </a:r>
            <a:r>
              <a:rPr kumimoji="1" lang="en-US" altLang="zh-CN" dirty="0"/>
              <a:t>1</a:t>
            </a:r>
            <a:endParaRPr lang="en-CN" dirty="0"/>
          </a:p>
        </p:txBody>
      </p:sp>
      <p:graphicFrame>
        <p:nvGraphicFramePr>
          <p:cNvPr id="11" name="Content Placeholder 10">
            <a:extLst>
              <a:ext uri="{FF2B5EF4-FFF2-40B4-BE49-F238E27FC236}">
                <a16:creationId xmlns:a16="http://schemas.microsoft.com/office/drawing/2014/main" id="{DE3793A5-7567-6FCA-F9B3-8AF1E65B7B89}"/>
              </a:ext>
            </a:extLst>
          </p:cNvPr>
          <p:cNvGraphicFramePr>
            <a:graphicFrameLocks noGrp="1"/>
          </p:cNvGraphicFramePr>
          <p:nvPr>
            <p:ph idx="1"/>
            <p:extLst>
              <p:ext uri="{D42A27DB-BD31-4B8C-83A1-F6EECF244321}">
                <p14:modId xmlns:p14="http://schemas.microsoft.com/office/powerpoint/2010/main" val="4235146232"/>
              </p:ext>
            </p:extLst>
          </p:nvPr>
        </p:nvGraphicFramePr>
        <p:xfrm>
          <a:off x="528555" y="814346"/>
          <a:ext cx="7907180" cy="2822114"/>
        </p:xfrm>
        <a:graphic>
          <a:graphicData uri="http://schemas.openxmlformats.org/drawingml/2006/table">
            <a:tbl>
              <a:tblPr/>
              <a:tblGrid>
                <a:gridCol w="2780199">
                  <a:extLst>
                    <a:ext uri="{9D8B030D-6E8A-4147-A177-3AD203B41FA5}">
                      <a16:colId xmlns:a16="http://schemas.microsoft.com/office/drawing/2014/main" val="1415224108"/>
                    </a:ext>
                  </a:extLst>
                </a:gridCol>
                <a:gridCol w="792392">
                  <a:extLst>
                    <a:ext uri="{9D8B030D-6E8A-4147-A177-3AD203B41FA5}">
                      <a16:colId xmlns:a16="http://schemas.microsoft.com/office/drawing/2014/main" val="3368642495"/>
                    </a:ext>
                  </a:extLst>
                </a:gridCol>
                <a:gridCol w="593279">
                  <a:extLst>
                    <a:ext uri="{9D8B030D-6E8A-4147-A177-3AD203B41FA5}">
                      <a16:colId xmlns:a16="http://schemas.microsoft.com/office/drawing/2014/main" val="1876102093"/>
                    </a:ext>
                  </a:extLst>
                </a:gridCol>
                <a:gridCol w="709636">
                  <a:extLst>
                    <a:ext uri="{9D8B030D-6E8A-4147-A177-3AD203B41FA5}">
                      <a16:colId xmlns:a16="http://schemas.microsoft.com/office/drawing/2014/main" val="572902541"/>
                    </a:ext>
                  </a:extLst>
                </a:gridCol>
                <a:gridCol w="593279">
                  <a:extLst>
                    <a:ext uri="{9D8B030D-6E8A-4147-A177-3AD203B41FA5}">
                      <a16:colId xmlns:a16="http://schemas.microsoft.com/office/drawing/2014/main" val="4155437988"/>
                    </a:ext>
                  </a:extLst>
                </a:gridCol>
                <a:gridCol w="593279">
                  <a:extLst>
                    <a:ext uri="{9D8B030D-6E8A-4147-A177-3AD203B41FA5}">
                      <a16:colId xmlns:a16="http://schemas.microsoft.com/office/drawing/2014/main" val="1309227757"/>
                    </a:ext>
                  </a:extLst>
                </a:gridCol>
                <a:gridCol w="1034437">
                  <a:extLst>
                    <a:ext uri="{9D8B030D-6E8A-4147-A177-3AD203B41FA5}">
                      <a16:colId xmlns:a16="http://schemas.microsoft.com/office/drawing/2014/main" val="3837645077"/>
                    </a:ext>
                  </a:extLst>
                </a:gridCol>
                <a:gridCol w="810679">
                  <a:extLst>
                    <a:ext uri="{9D8B030D-6E8A-4147-A177-3AD203B41FA5}">
                      <a16:colId xmlns:a16="http://schemas.microsoft.com/office/drawing/2014/main" val="2513434748"/>
                    </a:ext>
                  </a:extLst>
                </a:gridCol>
              </a:tblGrid>
              <a:tr h="423534">
                <a:tc>
                  <a:txBody>
                    <a:bodyPr/>
                    <a:lstStyle/>
                    <a:p>
                      <a:pPr>
                        <a:buNone/>
                      </a:pPr>
                      <a:endParaRPr lang="en-US" sz="1600" dirty="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dirty="0" err="1"/>
                        <a:t>romeo</a:t>
                      </a:r>
                      <a:endParaRPr lang="en-US" sz="1600" dirty="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dirty="0" err="1"/>
                        <a:t>juliet</a:t>
                      </a:r>
                      <a:endParaRPr lang="en-US" sz="1600" dirty="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dirty="0"/>
                        <a:t>dagger</a:t>
                      </a:r>
                      <a:endParaRPr lang="en-US" sz="1600" dirty="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a:t>die</a:t>
                      </a:r>
                      <a:endParaRPr lang="en-US" sz="160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a:t>new</a:t>
                      </a:r>
                      <a:endParaRPr lang="en-US" sz="160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a:t>hampshire</a:t>
                      </a:r>
                      <a:endParaRPr lang="en-US" sz="160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a:t>england</a:t>
                      </a:r>
                      <a:endParaRPr lang="en-US" sz="160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0707396"/>
                  </a:ext>
                </a:extLst>
              </a:tr>
              <a:tr h="423534">
                <a:tc>
                  <a:txBody>
                    <a:bodyPr/>
                    <a:lstStyle/>
                    <a:p>
                      <a:pPr>
                        <a:buNone/>
                      </a:pPr>
                      <a:r>
                        <a:rPr lang="en-US" sz="1600" b="1" dirty="0"/>
                        <a:t>D1</a:t>
                      </a:r>
                      <a:r>
                        <a:rPr lang="en-US" sz="1600" dirty="0"/>
                        <a:t> (</a:t>
                      </a:r>
                      <a:r>
                        <a:rPr lang="en-US" sz="1400" dirty="0" err="1">
                          <a:latin typeface="Courier New" panose="02070309020205020404" pitchFamily="49" charset="0"/>
                        </a:rPr>
                        <a:t>romeo</a:t>
                      </a:r>
                      <a:r>
                        <a:rPr lang="en-US" sz="1400" dirty="0">
                          <a:latin typeface="Courier New" panose="02070309020205020404" pitchFamily="49" charset="0"/>
                        </a:rPr>
                        <a:t> and </a:t>
                      </a:r>
                      <a:r>
                        <a:rPr lang="en-US" sz="1400" dirty="0" err="1">
                          <a:latin typeface="Courier New" panose="02070309020205020404" pitchFamily="49" charset="0"/>
                        </a:rPr>
                        <a:t>juliet</a:t>
                      </a:r>
                      <a:r>
                        <a:rPr lang="en-US" sz="1600" dirty="0"/>
                        <a:t>)</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0.133</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0.133</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1384636"/>
                  </a:ext>
                </a:extLst>
              </a:tr>
              <a:tr h="423534">
                <a:tc>
                  <a:txBody>
                    <a:bodyPr/>
                    <a:lstStyle/>
                    <a:p>
                      <a:pPr>
                        <a:buNone/>
                      </a:pPr>
                      <a:r>
                        <a:rPr lang="en-US" sz="1600" b="1" dirty="0"/>
                        <a:t>D2</a:t>
                      </a:r>
                      <a:r>
                        <a:rPr lang="en-US" sz="1600" dirty="0"/>
                        <a:t> (</a:t>
                      </a:r>
                      <a:r>
                        <a:rPr lang="en-US" sz="1400" dirty="0" err="1">
                          <a:latin typeface="Courier New" panose="02070309020205020404" pitchFamily="49" charset="0"/>
                        </a:rPr>
                        <a:t>juliet</a:t>
                      </a:r>
                      <a:r>
                        <a:rPr lang="en-US" sz="1400" dirty="0">
                          <a:latin typeface="Courier New" panose="02070309020205020404" pitchFamily="49" charset="0"/>
                        </a:rPr>
                        <a:t> o happy dagger</a:t>
                      </a:r>
                      <a:r>
                        <a:rPr lang="en-US" sz="1600" dirty="0"/>
                        <a:t>)</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0.099</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0.099</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9165417"/>
                  </a:ext>
                </a:extLst>
              </a:tr>
              <a:tr h="423534">
                <a:tc>
                  <a:txBody>
                    <a:bodyPr/>
                    <a:lstStyle/>
                    <a:p>
                      <a:pPr>
                        <a:buNone/>
                      </a:pPr>
                      <a:r>
                        <a:rPr lang="en-US" sz="1600" b="1" dirty="0"/>
                        <a:t>D3</a:t>
                      </a:r>
                      <a:r>
                        <a:rPr lang="en-US" sz="1600" dirty="0"/>
                        <a:t> (</a:t>
                      </a:r>
                      <a:r>
                        <a:rPr lang="en-US" sz="1400" dirty="0" err="1">
                          <a:latin typeface="Courier New" panose="02070309020205020404" pitchFamily="49" charset="0"/>
                        </a:rPr>
                        <a:t>romeo</a:t>
                      </a:r>
                      <a:r>
                        <a:rPr lang="en-US" sz="1400" dirty="0">
                          <a:latin typeface="Courier New" panose="02070309020205020404" pitchFamily="49" charset="0"/>
                        </a:rPr>
                        <a:t> die by dagger</a:t>
                      </a:r>
                      <a:r>
                        <a:rPr lang="en-US" sz="1600" dirty="0"/>
                        <a:t>)</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0.099</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0.099</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0.099</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6977960"/>
                  </a:ext>
                </a:extLst>
              </a:tr>
              <a:tr h="563989">
                <a:tc>
                  <a:txBody>
                    <a:bodyPr/>
                    <a:lstStyle/>
                    <a:p>
                      <a:pPr>
                        <a:buNone/>
                      </a:pPr>
                      <a:r>
                        <a:rPr lang="en-US" sz="1600" b="1" dirty="0"/>
                        <a:t>D4</a:t>
                      </a:r>
                      <a:r>
                        <a:rPr lang="en-US" sz="1600" dirty="0"/>
                        <a:t> (</a:t>
                      </a:r>
                      <a:r>
                        <a:rPr lang="en-US" sz="1400" dirty="0">
                          <a:latin typeface="Courier New" panose="02070309020205020404" pitchFamily="49" charset="0"/>
                        </a:rPr>
                        <a:t>live free or die...new </a:t>
                      </a:r>
                      <a:r>
                        <a:rPr lang="en-US" sz="1400" dirty="0" err="1">
                          <a:latin typeface="Courier New" panose="02070309020205020404" pitchFamily="49" charset="0"/>
                        </a:rPr>
                        <a:t>hampshire</a:t>
                      </a:r>
                      <a:r>
                        <a:rPr lang="en-US" sz="1400" dirty="0">
                          <a:latin typeface="Courier New" panose="02070309020205020404" pitchFamily="49" charset="0"/>
                        </a:rPr>
                        <a:t>...</a:t>
                      </a:r>
                      <a:r>
                        <a:rPr lang="en-US" sz="1600" dirty="0"/>
                        <a:t>)</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0.036</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0.036</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0.036</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2259008"/>
                  </a:ext>
                </a:extLst>
              </a:tr>
              <a:tr h="563989">
                <a:tc>
                  <a:txBody>
                    <a:bodyPr/>
                    <a:lstStyle/>
                    <a:p>
                      <a:pPr>
                        <a:buNone/>
                      </a:pPr>
                      <a:r>
                        <a:rPr lang="en-US" sz="1600" b="1" dirty="0"/>
                        <a:t>D5</a:t>
                      </a:r>
                      <a:r>
                        <a:rPr lang="en-US" sz="1600" dirty="0"/>
                        <a:t> (</a:t>
                      </a:r>
                      <a:r>
                        <a:rPr lang="en-US" sz="1400" dirty="0">
                          <a:latin typeface="Courier New" panose="02070309020205020404" pitchFamily="49" charset="0"/>
                        </a:rPr>
                        <a:t>did you know new </a:t>
                      </a:r>
                      <a:r>
                        <a:rPr lang="en-US" sz="1400" dirty="0" err="1">
                          <a:latin typeface="Courier New" panose="02070309020205020404" pitchFamily="49" charset="0"/>
                        </a:rPr>
                        <a:t>hampshire</a:t>
                      </a:r>
                      <a:r>
                        <a:rPr lang="en-US" sz="1400" dirty="0">
                          <a:latin typeface="Courier New" panose="02070309020205020404" pitchFamily="49" charset="0"/>
                        </a:rPr>
                        <a:t>...new </a:t>
                      </a:r>
                      <a:r>
                        <a:rPr lang="en-US" sz="1400" dirty="0" err="1">
                          <a:latin typeface="Courier New" panose="02070309020205020404" pitchFamily="49" charset="0"/>
                        </a:rPr>
                        <a:t>england</a:t>
                      </a:r>
                      <a:r>
                        <a:rPr lang="en-US" sz="1600" dirty="0"/>
                        <a:t>)</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0.088</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0.044</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0.079</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1853300"/>
                  </a:ext>
                </a:extLst>
              </a:tr>
            </a:tbl>
          </a:graphicData>
        </a:graphic>
      </p:graphicFrame>
    </p:spTree>
    <p:extLst>
      <p:ext uri="{BB962C8B-B14F-4D97-AF65-F5344CB8AC3E}">
        <p14:creationId xmlns:p14="http://schemas.microsoft.com/office/powerpoint/2010/main" val="1944335429"/>
      </p:ext>
    </p:extLst>
  </p:cSld>
  <p:clrMapOvr>
    <a:masterClrMapping/>
  </p:clrMapOvr>
  <p:transition spd="slow">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44849-3C33-1A35-2B29-28D3C9CD8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66C38-2212-B811-940C-B6C2B933697E}"/>
              </a:ext>
            </a:extLst>
          </p:cNvPr>
          <p:cNvSpPr>
            <a:spLocks noGrp="1"/>
          </p:cNvSpPr>
          <p:nvPr>
            <p:ph type="title"/>
          </p:nvPr>
        </p:nvSpPr>
        <p:spPr/>
        <p:txBody>
          <a:bodyPr/>
          <a:lstStyle/>
          <a:p>
            <a:r>
              <a:rPr kumimoji="1" lang="zh-CN" altLang="en-CN" dirty="0"/>
              <a:t>课堂</a:t>
            </a:r>
            <a:r>
              <a:rPr kumimoji="1" lang="zh-CN" altLang="en-US" dirty="0"/>
              <a:t>练习答案 </a:t>
            </a:r>
            <a:r>
              <a:rPr kumimoji="1" lang="en-US" altLang="zh-CN" dirty="0"/>
              <a:t>-</a:t>
            </a:r>
            <a:r>
              <a:rPr kumimoji="1" lang="zh-CN" altLang="en-US" dirty="0"/>
              <a:t> </a:t>
            </a:r>
            <a:r>
              <a:rPr kumimoji="1" lang="en-US" altLang="zh-CN" dirty="0"/>
              <a:t>2</a:t>
            </a:r>
            <a:endParaRPr lang="en-CN" dirty="0"/>
          </a:p>
        </p:txBody>
      </p:sp>
      <p:graphicFrame>
        <p:nvGraphicFramePr>
          <p:cNvPr id="11" name="Content Placeholder 10">
            <a:extLst>
              <a:ext uri="{FF2B5EF4-FFF2-40B4-BE49-F238E27FC236}">
                <a16:creationId xmlns:a16="http://schemas.microsoft.com/office/drawing/2014/main" id="{E1B3E863-04E2-5D89-5D6A-0C2C5733A541}"/>
              </a:ext>
            </a:extLst>
          </p:cNvPr>
          <p:cNvGraphicFramePr>
            <a:graphicFrameLocks noGrp="1"/>
          </p:cNvGraphicFramePr>
          <p:nvPr>
            <p:ph idx="1"/>
            <p:extLst>
              <p:ext uri="{D42A27DB-BD31-4B8C-83A1-F6EECF244321}">
                <p14:modId xmlns:p14="http://schemas.microsoft.com/office/powerpoint/2010/main" val="3565807313"/>
              </p:ext>
            </p:extLst>
          </p:nvPr>
        </p:nvGraphicFramePr>
        <p:xfrm>
          <a:off x="528555" y="814346"/>
          <a:ext cx="7907180" cy="2342368"/>
        </p:xfrm>
        <a:graphic>
          <a:graphicData uri="http://schemas.openxmlformats.org/drawingml/2006/table">
            <a:tbl>
              <a:tblPr/>
              <a:tblGrid>
                <a:gridCol w="2780199">
                  <a:extLst>
                    <a:ext uri="{9D8B030D-6E8A-4147-A177-3AD203B41FA5}">
                      <a16:colId xmlns:a16="http://schemas.microsoft.com/office/drawing/2014/main" val="1415224108"/>
                    </a:ext>
                  </a:extLst>
                </a:gridCol>
                <a:gridCol w="792392">
                  <a:extLst>
                    <a:ext uri="{9D8B030D-6E8A-4147-A177-3AD203B41FA5}">
                      <a16:colId xmlns:a16="http://schemas.microsoft.com/office/drawing/2014/main" val="3368642495"/>
                    </a:ext>
                  </a:extLst>
                </a:gridCol>
                <a:gridCol w="593279">
                  <a:extLst>
                    <a:ext uri="{9D8B030D-6E8A-4147-A177-3AD203B41FA5}">
                      <a16:colId xmlns:a16="http://schemas.microsoft.com/office/drawing/2014/main" val="1876102093"/>
                    </a:ext>
                  </a:extLst>
                </a:gridCol>
                <a:gridCol w="709636">
                  <a:extLst>
                    <a:ext uri="{9D8B030D-6E8A-4147-A177-3AD203B41FA5}">
                      <a16:colId xmlns:a16="http://schemas.microsoft.com/office/drawing/2014/main" val="572902541"/>
                    </a:ext>
                  </a:extLst>
                </a:gridCol>
                <a:gridCol w="593279">
                  <a:extLst>
                    <a:ext uri="{9D8B030D-6E8A-4147-A177-3AD203B41FA5}">
                      <a16:colId xmlns:a16="http://schemas.microsoft.com/office/drawing/2014/main" val="4155437988"/>
                    </a:ext>
                  </a:extLst>
                </a:gridCol>
                <a:gridCol w="593279">
                  <a:extLst>
                    <a:ext uri="{9D8B030D-6E8A-4147-A177-3AD203B41FA5}">
                      <a16:colId xmlns:a16="http://schemas.microsoft.com/office/drawing/2014/main" val="1309227757"/>
                    </a:ext>
                  </a:extLst>
                </a:gridCol>
                <a:gridCol w="1034437">
                  <a:extLst>
                    <a:ext uri="{9D8B030D-6E8A-4147-A177-3AD203B41FA5}">
                      <a16:colId xmlns:a16="http://schemas.microsoft.com/office/drawing/2014/main" val="3837645077"/>
                    </a:ext>
                  </a:extLst>
                </a:gridCol>
                <a:gridCol w="810679">
                  <a:extLst>
                    <a:ext uri="{9D8B030D-6E8A-4147-A177-3AD203B41FA5}">
                      <a16:colId xmlns:a16="http://schemas.microsoft.com/office/drawing/2014/main" val="2513434748"/>
                    </a:ext>
                  </a:extLst>
                </a:gridCol>
              </a:tblGrid>
              <a:tr h="324018">
                <a:tc>
                  <a:txBody>
                    <a:bodyPr/>
                    <a:lstStyle/>
                    <a:p>
                      <a:pPr>
                        <a:buNone/>
                      </a:pPr>
                      <a:endParaRPr lang="en-US" sz="1600" dirty="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dirty="0" err="1"/>
                        <a:t>romeo</a:t>
                      </a:r>
                      <a:endParaRPr lang="en-US" sz="1600" dirty="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dirty="0" err="1"/>
                        <a:t>juliet</a:t>
                      </a:r>
                      <a:endParaRPr lang="en-US" sz="1600" dirty="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dirty="0"/>
                        <a:t>dagger</a:t>
                      </a:r>
                      <a:endParaRPr lang="en-US" sz="1600" dirty="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a:t>die</a:t>
                      </a:r>
                      <a:endParaRPr lang="en-US" sz="160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a:t>new</a:t>
                      </a:r>
                      <a:endParaRPr lang="en-US" sz="160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a:t>hampshire</a:t>
                      </a:r>
                      <a:endParaRPr lang="en-US" sz="160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a:t>england</a:t>
                      </a:r>
                      <a:endParaRPr lang="en-US" sz="1600"/>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0707396"/>
                  </a:ext>
                </a:extLst>
              </a:tr>
              <a:tr h="324018">
                <a:tc>
                  <a:txBody>
                    <a:bodyPr/>
                    <a:lstStyle/>
                    <a:p>
                      <a:pPr>
                        <a:buNone/>
                      </a:pPr>
                      <a:r>
                        <a:rPr lang="en-US" sz="1600" b="1" dirty="0"/>
                        <a:t>D1</a:t>
                      </a:r>
                      <a:r>
                        <a:rPr lang="en-US" sz="1600" dirty="0"/>
                        <a:t> (</a:t>
                      </a:r>
                      <a:r>
                        <a:rPr lang="en-US" sz="1400" dirty="0" err="1">
                          <a:latin typeface="Courier New" panose="02070309020205020404" pitchFamily="49" charset="0"/>
                        </a:rPr>
                        <a:t>romeo</a:t>
                      </a:r>
                      <a:r>
                        <a:rPr lang="en-US" sz="1400" dirty="0">
                          <a:latin typeface="Courier New" panose="02070309020205020404" pitchFamily="49" charset="0"/>
                        </a:rPr>
                        <a:t> and </a:t>
                      </a:r>
                      <a:r>
                        <a:rPr lang="en-US" sz="1400" dirty="0" err="1">
                          <a:latin typeface="Courier New" panose="02070309020205020404" pitchFamily="49" charset="0"/>
                        </a:rPr>
                        <a:t>juliet</a:t>
                      </a:r>
                      <a:r>
                        <a:rPr lang="en-US" sz="1600" dirty="0"/>
                        <a:t>)</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0.133</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0.133</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1384636"/>
                  </a:ext>
                </a:extLst>
              </a:tr>
              <a:tr h="324018">
                <a:tc>
                  <a:txBody>
                    <a:bodyPr/>
                    <a:lstStyle/>
                    <a:p>
                      <a:pPr>
                        <a:buNone/>
                      </a:pPr>
                      <a:r>
                        <a:rPr lang="en-US" sz="1600" b="1" dirty="0"/>
                        <a:t>D2</a:t>
                      </a:r>
                      <a:r>
                        <a:rPr lang="en-US" sz="1600" dirty="0"/>
                        <a:t> (</a:t>
                      </a:r>
                      <a:r>
                        <a:rPr lang="en-US" sz="1400" dirty="0" err="1">
                          <a:latin typeface="Courier New" panose="02070309020205020404" pitchFamily="49" charset="0"/>
                        </a:rPr>
                        <a:t>juliet</a:t>
                      </a:r>
                      <a:r>
                        <a:rPr lang="en-US" sz="1400" dirty="0">
                          <a:latin typeface="Courier New" panose="02070309020205020404" pitchFamily="49" charset="0"/>
                        </a:rPr>
                        <a:t> o happy dagger</a:t>
                      </a:r>
                      <a:r>
                        <a:rPr lang="en-US" sz="1600" dirty="0"/>
                        <a:t>)</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0.099</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0.099</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9165417"/>
                  </a:ext>
                </a:extLst>
              </a:tr>
              <a:tr h="324018">
                <a:tc>
                  <a:txBody>
                    <a:bodyPr/>
                    <a:lstStyle/>
                    <a:p>
                      <a:pPr>
                        <a:buNone/>
                      </a:pPr>
                      <a:r>
                        <a:rPr lang="en-US" sz="1600" b="1" dirty="0"/>
                        <a:t>D3</a:t>
                      </a:r>
                      <a:r>
                        <a:rPr lang="en-US" sz="1600" dirty="0"/>
                        <a:t> (</a:t>
                      </a:r>
                      <a:r>
                        <a:rPr lang="en-US" sz="1400" dirty="0" err="1">
                          <a:latin typeface="Courier New" panose="02070309020205020404" pitchFamily="49" charset="0"/>
                        </a:rPr>
                        <a:t>romeo</a:t>
                      </a:r>
                      <a:r>
                        <a:rPr lang="en-US" sz="1400" dirty="0">
                          <a:latin typeface="Courier New" panose="02070309020205020404" pitchFamily="49" charset="0"/>
                        </a:rPr>
                        <a:t> die by dagger</a:t>
                      </a:r>
                      <a:r>
                        <a:rPr lang="en-US" sz="1600" dirty="0"/>
                        <a:t>)</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0.099</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0.099</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0.099</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6977960"/>
                  </a:ext>
                </a:extLst>
              </a:tr>
              <a:tr h="437958">
                <a:tc>
                  <a:txBody>
                    <a:bodyPr/>
                    <a:lstStyle/>
                    <a:p>
                      <a:pPr>
                        <a:buNone/>
                      </a:pPr>
                      <a:r>
                        <a:rPr lang="en-US" sz="1600" b="1" dirty="0"/>
                        <a:t>D4</a:t>
                      </a:r>
                      <a:r>
                        <a:rPr lang="en-US" sz="1600" dirty="0"/>
                        <a:t> (</a:t>
                      </a:r>
                      <a:r>
                        <a:rPr lang="en-US" sz="1400" dirty="0">
                          <a:latin typeface="Courier New" panose="02070309020205020404" pitchFamily="49" charset="0"/>
                        </a:rPr>
                        <a:t>live free or die...new </a:t>
                      </a:r>
                      <a:r>
                        <a:rPr lang="en-US" sz="1400" dirty="0" err="1">
                          <a:latin typeface="Courier New" panose="02070309020205020404" pitchFamily="49" charset="0"/>
                        </a:rPr>
                        <a:t>hampshire</a:t>
                      </a:r>
                      <a:r>
                        <a:rPr lang="en-US" sz="1400" dirty="0">
                          <a:latin typeface="Courier New" panose="02070309020205020404" pitchFamily="49" charset="0"/>
                        </a:rPr>
                        <a:t>...</a:t>
                      </a:r>
                      <a:r>
                        <a:rPr lang="en-US" sz="1600" dirty="0"/>
                        <a:t>)</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0.036</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0.036</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0.036</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dirty="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2259008"/>
                  </a:ext>
                </a:extLst>
              </a:tr>
              <a:tr h="437958">
                <a:tc>
                  <a:txBody>
                    <a:bodyPr/>
                    <a:lstStyle/>
                    <a:p>
                      <a:pPr>
                        <a:buNone/>
                      </a:pPr>
                      <a:r>
                        <a:rPr lang="en-US" sz="1600" b="1" dirty="0"/>
                        <a:t>D5</a:t>
                      </a:r>
                      <a:r>
                        <a:rPr lang="en-US" sz="1600" dirty="0"/>
                        <a:t> (</a:t>
                      </a:r>
                      <a:r>
                        <a:rPr lang="en-US" sz="1400" dirty="0">
                          <a:latin typeface="Courier New" panose="02070309020205020404" pitchFamily="49" charset="0"/>
                        </a:rPr>
                        <a:t>did you know new </a:t>
                      </a:r>
                      <a:r>
                        <a:rPr lang="en-US" sz="1400" dirty="0" err="1">
                          <a:latin typeface="Courier New" panose="02070309020205020404" pitchFamily="49" charset="0"/>
                        </a:rPr>
                        <a:t>hampshire</a:t>
                      </a:r>
                      <a:r>
                        <a:rPr lang="en-US" sz="1400" dirty="0">
                          <a:latin typeface="Courier New" panose="02070309020205020404" pitchFamily="49" charset="0"/>
                        </a:rPr>
                        <a:t>...new </a:t>
                      </a:r>
                      <a:r>
                        <a:rPr lang="en-US" sz="1400" dirty="0" err="1">
                          <a:latin typeface="Courier New" panose="02070309020205020404" pitchFamily="49" charset="0"/>
                        </a:rPr>
                        <a:t>england</a:t>
                      </a:r>
                      <a:r>
                        <a:rPr lang="en-US" sz="1600" dirty="0"/>
                        <a:t>)</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a:t>0.000</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0.088</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0.044</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CN" sz="1600" b="1" dirty="0"/>
                        <a:t>0.079</a:t>
                      </a:r>
                    </a:p>
                  </a:txBody>
                  <a:tcPr marL="35468" marR="35468" marT="17734" marB="177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1853300"/>
                  </a:ext>
                </a:extLst>
              </a:tr>
            </a:tbl>
          </a:graphicData>
        </a:graphic>
      </p:graphicFrame>
      <p:graphicFrame>
        <p:nvGraphicFramePr>
          <p:cNvPr id="3" name="Table 2">
            <a:extLst>
              <a:ext uri="{FF2B5EF4-FFF2-40B4-BE49-F238E27FC236}">
                <a16:creationId xmlns:a16="http://schemas.microsoft.com/office/drawing/2014/main" id="{33B405E4-6E2A-6ADC-84F7-00EA2AC869A0}"/>
              </a:ext>
            </a:extLst>
          </p:cNvPr>
          <p:cNvGraphicFramePr>
            <a:graphicFrameLocks noGrp="1"/>
          </p:cNvGraphicFramePr>
          <p:nvPr>
            <p:extLst>
              <p:ext uri="{D42A27DB-BD31-4B8C-83A1-F6EECF244321}">
                <p14:modId xmlns:p14="http://schemas.microsoft.com/office/powerpoint/2010/main" val="1046029615"/>
              </p:ext>
            </p:extLst>
          </p:nvPr>
        </p:nvGraphicFramePr>
        <p:xfrm>
          <a:off x="528555" y="3266210"/>
          <a:ext cx="8229600" cy="1097280"/>
        </p:xfrm>
        <a:graphic>
          <a:graphicData uri="http://schemas.openxmlformats.org/drawingml/2006/table">
            <a:tbl>
              <a:tblPr/>
              <a:tblGrid>
                <a:gridCol w="2057400">
                  <a:extLst>
                    <a:ext uri="{9D8B030D-6E8A-4147-A177-3AD203B41FA5}">
                      <a16:colId xmlns:a16="http://schemas.microsoft.com/office/drawing/2014/main" val="2308120746"/>
                    </a:ext>
                  </a:extLst>
                </a:gridCol>
                <a:gridCol w="2057400">
                  <a:extLst>
                    <a:ext uri="{9D8B030D-6E8A-4147-A177-3AD203B41FA5}">
                      <a16:colId xmlns:a16="http://schemas.microsoft.com/office/drawing/2014/main" val="3274895437"/>
                    </a:ext>
                  </a:extLst>
                </a:gridCol>
                <a:gridCol w="2057400">
                  <a:extLst>
                    <a:ext uri="{9D8B030D-6E8A-4147-A177-3AD203B41FA5}">
                      <a16:colId xmlns:a16="http://schemas.microsoft.com/office/drawing/2014/main" val="1085830512"/>
                    </a:ext>
                  </a:extLst>
                </a:gridCol>
                <a:gridCol w="2057400">
                  <a:extLst>
                    <a:ext uri="{9D8B030D-6E8A-4147-A177-3AD203B41FA5}">
                      <a16:colId xmlns:a16="http://schemas.microsoft.com/office/drawing/2014/main" val="3128600941"/>
                    </a:ext>
                  </a:extLst>
                </a:gridCol>
              </a:tblGrid>
              <a:tr h="293738">
                <a:tc>
                  <a:txBody>
                    <a:bodyPr/>
                    <a:lstStyle/>
                    <a:p>
                      <a:pPr>
                        <a:buNone/>
                      </a:pPr>
                      <a:r>
                        <a:rPr lang="en-US">
                          <a:solidFill>
                            <a:srgbClr val="C00000"/>
                          </a:solidFill>
                        </a:rPr>
                        <a:t>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rgbClr val="C00000"/>
                          </a:solidFill>
                        </a:rPr>
                        <a:t>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rgbClr val="C00000"/>
                          </a:solidFill>
                        </a:rPr>
                        <a:t>IDF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solidFill>
                            <a:srgbClr val="C00000"/>
                          </a:solidFill>
                        </a:rPr>
                        <a:t>TF×IDF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8815856"/>
                  </a:ext>
                </a:extLst>
              </a:tr>
              <a:tr h="293738">
                <a:tc>
                  <a:txBody>
                    <a:bodyPr/>
                    <a:lstStyle/>
                    <a:p>
                      <a:pPr>
                        <a:buNone/>
                      </a:pPr>
                      <a:r>
                        <a:rPr lang="en-US">
                          <a:solidFill>
                            <a:srgbClr val="C00000"/>
                          </a:solidFill>
                        </a:rPr>
                        <a:t>die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N">
                          <a:solidFill>
                            <a:srgbClr val="C00000"/>
                          </a:solidFill>
                        </a:rPr>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N" dirty="0">
                          <a:solidFill>
                            <a:srgbClr val="C00000"/>
                          </a:solidFill>
                        </a:rPr>
                        <a:t>0.39</a:t>
                      </a:r>
                      <a:r>
                        <a:rPr lang="en-US" altLang="zh-CN" dirty="0">
                          <a:solidFill>
                            <a:srgbClr val="C00000"/>
                          </a:solidFill>
                        </a:rPr>
                        <a:t>8</a:t>
                      </a:r>
                      <a:endParaRPr lang="en-CN" dirty="0">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N" b="1" dirty="0">
                          <a:solidFill>
                            <a:srgbClr val="C00000"/>
                          </a:solidFill>
                        </a:rPr>
                        <a:t>0.19</a:t>
                      </a:r>
                      <a:r>
                        <a:rPr lang="en-US" altLang="zh-CN" b="1" dirty="0">
                          <a:solidFill>
                            <a:srgbClr val="C00000"/>
                          </a:solidFill>
                        </a:rPr>
                        <a:t>9</a:t>
                      </a:r>
                      <a:endParaRPr lang="en-CN" dirty="0">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672017"/>
                  </a:ext>
                </a:extLst>
              </a:tr>
              <a:tr h="293738">
                <a:tc>
                  <a:txBody>
                    <a:bodyPr/>
                    <a:lstStyle/>
                    <a:p>
                      <a:pPr>
                        <a:buNone/>
                      </a:pPr>
                      <a:r>
                        <a:rPr lang="en-US">
                          <a:solidFill>
                            <a:srgbClr val="C00000"/>
                          </a:solidFill>
                        </a:rPr>
                        <a:t>dagger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N">
                          <a:solidFill>
                            <a:srgbClr val="C00000"/>
                          </a:solidFill>
                        </a:rPr>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N" dirty="0">
                          <a:solidFill>
                            <a:srgbClr val="C00000"/>
                          </a:solidFill>
                        </a:rPr>
                        <a:t>0.39</a:t>
                      </a:r>
                      <a:r>
                        <a:rPr lang="en-US" altLang="zh-CN" dirty="0">
                          <a:solidFill>
                            <a:srgbClr val="C00000"/>
                          </a:solidFill>
                        </a:rPr>
                        <a:t>8</a:t>
                      </a:r>
                      <a:endParaRPr lang="en-CN" dirty="0">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N" b="1" dirty="0">
                          <a:solidFill>
                            <a:srgbClr val="C00000"/>
                          </a:solidFill>
                        </a:rPr>
                        <a:t>0.19</a:t>
                      </a:r>
                      <a:r>
                        <a:rPr lang="en-US" altLang="zh-CN" b="1" dirty="0">
                          <a:solidFill>
                            <a:srgbClr val="C00000"/>
                          </a:solidFill>
                        </a:rPr>
                        <a:t>9</a:t>
                      </a:r>
                      <a:endParaRPr lang="en-CN" dirty="0">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2122000"/>
                  </a:ext>
                </a:extLst>
              </a:tr>
            </a:tbl>
          </a:graphicData>
        </a:graphic>
      </p:graphicFrame>
    </p:spTree>
    <p:extLst>
      <p:ext uri="{BB962C8B-B14F-4D97-AF65-F5344CB8AC3E}">
        <p14:creationId xmlns:p14="http://schemas.microsoft.com/office/powerpoint/2010/main" val="961241439"/>
      </p:ext>
    </p:extLst>
  </p:cSld>
  <p:clrMapOvr>
    <a:masterClrMapping/>
  </p:clrMapOvr>
  <p:transition spd="slow">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9455-0FDE-5EE6-7333-F37808483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1FCB9-1A93-3DA6-F90A-E2BA403300EF}"/>
              </a:ext>
            </a:extLst>
          </p:cNvPr>
          <p:cNvSpPr>
            <a:spLocks noGrp="1"/>
          </p:cNvSpPr>
          <p:nvPr>
            <p:ph type="title"/>
          </p:nvPr>
        </p:nvSpPr>
        <p:spPr/>
        <p:txBody>
          <a:bodyPr/>
          <a:lstStyle/>
          <a:p>
            <a:r>
              <a:rPr kumimoji="1" lang="zh-CN" altLang="en-CN" dirty="0"/>
              <a:t>课堂</a:t>
            </a:r>
            <a:r>
              <a:rPr kumimoji="1" lang="zh-CN" altLang="en-US" dirty="0"/>
              <a:t>练习答案 </a:t>
            </a:r>
            <a:r>
              <a:rPr kumimoji="1" lang="en-US" altLang="zh-CN" dirty="0"/>
              <a:t>-</a:t>
            </a:r>
            <a:r>
              <a:rPr kumimoji="1" lang="zh-CN" altLang="en-US" dirty="0"/>
              <a:t> </a:t>
            </a:r>
            <a:r>
              <a:rPr kumimoji="1" lang="en-US" altLang="zh-CN" dirty="0"/>
              <a:t>3</a:t>
            </a:r>
            <a:endParaRPr lang="en-CN" dirty="0"/>
          </a:p>
        </p:txBody>
      </p:sp>
      <p:graphicFrame>
        <p:nvGraphicFramePr>
          <p:cNvPr id="6" name="Content Placeholder 5">
            <a:extLst>
              <a:ext uri="{FF2B5EF4-FFF2-40B4-BE49-F238E27FC236}">
                <a16:creationId xmlns:a16="http://schemas.microsoft.com/office/drawing/2014/main" id="{CFD2D7B4-F5A4-0166-82BA-6F2AFA0C2C6C}"/>
              </a:ext>
            </a:extLst>
          </p:cNvPr>
          <p:cNvGraphicFramePr>
            <a:graphicFrameLocks noGrp="1"/>
          </p:cNvGraphicFramePr>
          <p:nvPr>
            <p:ph idx="1"/>
            <p:extLst>
              <p:ext uri="{D42A27DB-BD31-4B8C-83A1-F6EECF244321}">
                <p14:modId xmlns:p14="http://schemas.microsoft.com/office/powerpoint/2010/main" val="1366870735"/>
              </p:ext>
            </p:extLst>
          </p:nvPr>
        </p:nvGraphicFramePr>
        <p:xfrm>
          <a:off x="457199" y="1320382"/>
          <a:ext cx="8229600" cy="2194560"/>
        </p:xfrm>
        <a:graphic>
          <a:graphicData uri="http://schemas.openxmlformats.org/drawingml/2006/table">
            <a:tbl>
              <a:tblPr/>
              <a:tblGrid>
                <a:gridCol w="2743200">
                  <a:extLst>
                    <a:ext uri="{9D8B030D-6E8A-4147-A177-3AD203B41FA5}">
                      <a16:colId xmlns:a16="http://schemas.microsoft.com/office/drawing/2014/main" val="4215926461"/>
                    </a:ext>
                  </a:extLst>
                </a:gridCol>
                <a:gridCol w="2743200">
                  <a:extLst>
                    <a:ext uri="{9D8B030D-6E8A-4147-A177-3AD203B41FA5}">
                      <a16:colId xmlns:a16="http://schemas.microsoft.com/office/drawing/2014/main" val="888407709"/>
                    </a:ext>
                  </a:extLst>
                </a:gridCol>
                <a:gridCol w="2743200">
                  <a:extLst>
                    <a:ext uri="{9D8B030D-6E8A-4147-A177-3AD203B41FA5}">
                      <a16:colId xmlns:a16="http://schemas.microsoft.com/office/drawing/2014/main" val="2093134318"/>
                    </a:ext>
                  </a:extLst>
                </a:gridCol>
              </a:tblGrid>
              <a:tr h="0">
                <a:tc>
                  <a:txBody>
                    <a:bodyPr/>
                    <a:lstStyle/>
                    <a:p>
                      <a:pPr>
                        <a:buNone/>
                      </a:pPr>
                      <a:r>
                        <a:rPr lang="zh-CN" altLang="en-US" dirty="0"/>
                        <a:t>文档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Cosine </a:t>
                      </a:r>
                      <a:r>
                        <a:rPr lang="zh-CN" altLang="en-US" dirty="0"/>
                        <a:t>相似度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语义解释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8587386"/>
                  </a:ext>
                </a:extLst>
              </a:tr>
              <a:tr h="0">
                <a:tc>
                  <a:txBody>
                    <a:bodyPr/>
                    <a:lstStyle/>
                    <a:p>
                      <a:pPr>
                        <a:buNone/>
                      </a:pPr>
                      <a:r>
                        <a:rPr lang="en-US" b="1"/>
                        <a:t>D3</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b="1"/>
                        <a:t>0.814</a:t>
                      </a:r>
                      <a:r>
                        <a:rPr lang="zh-CN" altLang="en-US" b="1"/>
                        <a:t>（最高）</a:t>
                      </a:r>
                      <a:endParaRPr lang="zh-CN"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同时包含 </a:t>
                      </a:r>
                      <a:r>
                        <a:rPr lang="en-US"/>
                        <a:t>die </a:t>
                      </a:r>
                      <a:r>
                        <a:rPr lang="zh-CN" altLang="en-US"/>
                        <a:t>和 </a:t>
                      </a:r>
                      <a:r>
                        <a:rPr lang="en-US"/>
                        <a:t>dagger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0495484"/>
                  </a:ext>
                </a:extLst>
              </a:tr>
              <a:tr h="0">
                <a:tc>
                  <a:txBody>
                    <a:bodyPr/>
                    <a:lstStyle/>
                    <a:p>
                      <a:pPr>
                        <a:buNone/>
                      </a:pPr>
                      <a:r>
                        <a:rPr lang="en-US"/>
                        <a:t>D2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N"/>
                        <a:t>0.50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含 </a:t>
                      </a:r>
                      <a:r>
                        <a:rPr lang="en-US"/>
                        <a:t>dagger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915021"/>
                  </a:ext>
                </a:extLst>
              </a:tr>
              <a:tr h="0">
                <a:tc>
                  <a:txBody>
                    <a:bodyPr/>
                    <a:lstStyle/>
                    <a:p>
                      <a:pPr>
                        <a:buNone/>
                      </a:pPr>
                      <a:r>
                        <a:rPr lang="en-US" dirty="0"/>
                        <a:t>D4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N"/>
                        <a:t>0.41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含 </a:t>
                      </a:r>
                      <a:r>
                        <a:rPr lang="en-US"/>
                        <a:t>die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1993594"/>
                  </a:ext>
                </a:extLst>
              </a:tr>
              <a:tr h="0">
                <a:tc>
                  <a:txBody>
                    <a:bodyPr/>
                    <a:lstStyle/>
                    <a:p>
                      <a:pPr>
                        <a:buNone/>
                      </a:pPr>
                      <a:r>
                        <a:rPr lang="en-US" dirty="0"/>
                        <a:t>D1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N"/>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无匹配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4551594"/>
                  </a:ext>
                </a:extLst>
              </a:tr>
              <a:tr h="0">
                <a:tc>
                  <a:txBody>
                    <a:bodyPr/>
                    <a:lstStyle/>
                    <a:p>
                      <a:pPr>
                        <a:buNone/>
                      </a:pPr>
                      <a:r>
                        <a:rPr lang="en-US"/>
                        <a:t>D5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CN"/>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dirty="0"/>
                        <a:t>无匹配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6436111"/>
                  </a:ext>
                </a:extLst>
              </a:tr>
            </a:tbl>
          </a:graphicData>
        </a:graphic>
      </p:graphicFrame>
      <p:sp>
        <p:nvSpPr>
          <p:cNvPr id="7" name="TextBox 6">
            <a:extLst>
              <a:ext uri="{FF2B5EF4-FFF2-40B4-BE49-F238E27FC236}">
                <a16:creationId xmlns:a16="http://schemas.microsoft.com/office/drawing/2014/main" id="{4B90E440-979E-99C5-3354-69E3AA79FC09}"/>
              </a:ext>
            </a:extLst>
          </p:cNvPr>
          <p:cNvSpPr txBox="1"/>
          <p:nvPr/>
        </p:nvSpPr>
        <p:spPr>
          <a:xfrm>
            <a:off x="457201" y="3643639"/>
            <a:ext cx="5874888" cy="1477328"/>
          </a:xfrm>
          <a:prstGeom prst="rect">
            <a:avLst/>
          </a:prstGeom>
          <a:noFill/>
        </p:spPr>
        <p:txBody>
          <a:bodyPr wrap="square">
            <a:spAutoFit/>
          </a:bodyPr>
          <a:lstStyle/>
          <a:p>
            <a:r>
              <a:rPr lang="zh-CN" altLang="en-US" dirty="0">
                <a:latin typeface="Microsoft YaHei" panose="020B0503020204020204" pitchFamily="34" charset="-122"/>
                <a:ea typeface="Microsoft YaHei" panose="020B0503020204020204" pitchFamily="34" charset="-122"/>
              </a:rPr>
              <a:t>思考：为什么我们觉得</a:t>
            </a:r>
            <a:r>
              <a:rPr lang="en-US" altLang="zh-CN" dirty="0">
                <a:latin typeface="Microsoft YaHei" panose="020B0503020204020204" pitchFamily="34" charset="-122"/>
                <a:ea typeface="Microsoft YaHei" panose="020B0503020204020204" pitchFamily="34" charset="-122"/>
              </a:rPr>
              <a:t>D1</a:t>
            </a:r>
            <a:r>
              <a:rPr lang="zh-CN" altLang="en-US" dirty="0">
                <a:latin typeface="Microsoft YaHei" panose="020B0503020204020204" pitchFamily="34" charset="-122"/>
                <a:ea typeface="Microsoft YaHei" panose="020B0503020204020204" pitchFamily="34" charset="-122"/>
              </a:rPr>
              <a:t>应该比</a:t>
            </a:r>
            <a:r>
              <a:rPr lang="en-US" altLang="zh-CN" dirty="0">
                <a:latin typeface="Microsoft YaHei" panose="020B0503020204020204" pitchFamily="34" charset="-122"/>
                <a:ea typeface="Microsoft YaHei" panose="020B0503020204020204" pitchFamily="34" charset="-122"/>
              </a:rPr>
              <a:t>D4</a:t>
            </a:r>
            <a:r>
              <a:rPr lang="zh-CN" altLang="en-US" dirty="0">
                <a:latin typeface="Microsoft YaHei" panose="020B0503020204020204" pitchFamily="34" charset="-122"/>
                <a:ea typeface="Microsoft YaHei" panose="020B0503020204020204" pitchFamily="34" charset="-122"/>
              </a:rPr>
              <a:t>与查询更加相关？</a:t>
            </a:r>
            <a:endParaRPr lang="en-US" altLang="zh-CN" dirty="0">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lang="en-US" dirty="0">
                <a:latin typeface="Calibri" charset="0"/>
                <a:ea typeface="Calibri" charset="0"/>
                <a:cs typeface="Calibri" charset="0"/>
              </a:rPr>
              <a:t>d1 : Romeo and Juliet. </a:t>
            </a:r>
          </a:p>
          <a:p>
            <a:pPr marL="285750" indent="-285750">
              <a:buFont typeface="Arial" panose="020B0604020202020204" pitchFamily="34" charset="0"/>
              <a:buChar char="•"/>
            </a:pPr>
            <a:r>
              <a:rPr lang="en-US" dirty="0">
                <a:latin typeface="Calibri" charset="0"/>
                <a:ea typeface="Calibri" charset="0"/>
                <a:cs typeface="Calibri" charset="0"/>
              </a:rPr>
              <a:t>d4 : “Live free or die”, that’s the New-Hampshire</a:t>
            </a:r>
            <a:r>
              <a:rPr lang="zh-CN" altLang="en-US" dirty="0">
                <a:latin typeface="Calibri" charset="0"/>
                <a:ea typeface="Calibri" charset="0"/>
                <a:cs typeface="Calibri" charset="0"/>
              </a:rPr>
              <a:t>‘</a:t>
            </a:r>
            <a:r>
              <a:rPr lang="en-US" dirty="0">
                <a:latin typeface="Calibri" charset="0"/>
                <a:ea typeface="Calibri" charset="0"/>
                <a:cs typeface="Calibri" charset="0"/>
              </a:rPr>
              <a:t>s motto.</a:t>
            </a:r>
          </a:p>
          <a:p>
            <a:pPr marL="285750" indent="-285750">
              <a:buFont typeface="Arial" panose="020B0604020202020204" pitchFamily="34" charset="0"/>
              <a:buChar char="•"/>
            </a:pPr>
            <a:r>
              <a:rPr lang="zh-CN" altLang="en-US" dirty="0"/>
              <a:t>查询：</a:t>
            </a:r>
            <a:r>
              <a:rPr lang="en-US" altLang="zh-CN" dirty="0">
                <a:solidFill>
                  <a:srgbClr val="C00000"/>
                </a:solidFill>
              </a:rPr>
              <a:t>dies, dagger</a:t>
            </a:r>
            <a:r>
              <a:rPr lang="en-US" dirty="0">
                <a:solidFill>
                  <a:srgbClr val="C00000"/>
                </a:solidFill>
                <a:latin typeface="Calibri" charset="0"/>
                <a:ea typeface="Calibri" charset="0"/>
                <a:cs typeface="Calibri" charset="0"/>
              </a:rPr>
              <a:t> </a:t>
            </a:r>
          </a:p>
          <a:p>
            <a:pPr marL="285750" indent="-285750">
              <a:buFont typeface="Arial" panose="020B0604020202020204" pitchFamily="34" charset="0"/>
              <a:buChar char="•"/>
            </a:pPr>
            <a:endParaRPr lang="en-CN" dirty="0"/>
          </a:p>
        </p:txBody>
      </p:sp>
      <p:sp>
        <p:nvSpPr>
          <p:cNvPr id="8" name="Right Brace 7">
            <a:extLst>
              <a:ext uri="{FF2B5EF4-FFF2-40B4-BE49-F238E27FC236}">
                <a16:creationId xmlns:a16="http://schemas.microsoft.com/office/drawing/2014/main" id="{ADA41979-E10A-8D5A-5B8D-4DAA343537F9}"/>
              </a:ext>
            </a:extLst>
          </p:cNvPr>
          <p:cNvSpPr/>
          <p:nvPr/>
        </p:nvSpPr>
        <p:spPr>
          <a:xfrm>
            <a:off x="6643935" y="3983244"/>
            <a:ext cx="280134" cy="798117"/>
          </a:xfrm>
          <a:prstGeom prst="rightBrace">
            <a:avLst>
              <a:gd name="adj1" fmla="val 29301"/>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9" name="TextBox 8">
            <a:extLst>
              <a:ext uri="{FF2B5EF4-FFF2-40B4-BE49-F238E27FC236}">
                <a16:creationId xmlns:a16="http://schemas.microsoft.com/office/drawing/2014/main" id="{993312DD-3A2E-5F60-2F22-E4D9F6B1C0D2}"/>
              </a:ext>
            </a:extLst>
          </p:cNvPr>
          <p:cNvSpPr txBox="1"/>
          <p:nvPr/>
        </p:nvSpPr>
        <p:spPr>
          <a:xfrm>
            <a:off x="7026258" y="4197636"/>
            <a:ext cx="1340766" cy="369332"/>
          </a:xfrm>
          <a:prstGeom prst="rect">
            <a:avLst/>
          </a:prstGeom>
          <a:noFill/>
        </p:spPr>
        <p:txBody>
          <a:bodyPr wrap="square">
            <a:spAutoFit/>
          </a:bodyPr>
          <a:lstStyle/>
          <a:p>
            <a:r>
              <a:rPr lang="zh-CN" altLang="en-CN" b="1" dirty="0">
                <a:solidFill>
                  <a:srgbClr val="C00000"/>
                </a:solidFill>
                <a:latin typeface="Microsoft YaHei" panose="020B0503020204020204" pitchFamily="34" charset="-122"/>
                <a:ea typeface="Microsoft YaHei" panose="020B0503020204020204" pitchFamily="34" charset="-122"/>
              </a:rPr>
              <a:t>语义</a:t>
            </a:r>
            <a:r>
              <a:rPr lang="zh-CN" altLang="en-US" b="1" dirty="0">
                <a:solidFill>
                  <a:srgbClr val="C00000"/>
                </a:solidFill>
                <a:latin typeface="Microsoft YaHei" panose="020B0503020204020204" pitchFamily="34" charset="-122"/>
                <a:ea typeface="Microsoft YaHei" panose="020B0503020204020204" pitchFamily="34" charset="-122"/>
              </a:rPr>
              <a:t>！</a:t>
            </a:r>
            <a:endParaRPr lang="en-CN" b="1" dirty="0">
              <a:solidFill>
                <a:srgbClr val="C00000"/>
              </a:solidFill>
            </a:endParaRPr>
          </a:p>
        </p:txBody>
      </p:sp>
    </p:spTree>
    <p:extLst>
      <p:ext uri="{BB962C8B-B14F-4D97-AF65-F5344CB8AC3E}">
        <p14:creationId xmlns:p14="http://schemas.microsoft.com/office/powerpoint/2010/main" val="246964855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93864-4017-E136-F782-7F957DADB208}"/>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A591F181-4D35-0F91-CB9C-8D087655A179}"/>
              </a:ext>
            </a:extLst>
          </p:cNvPr>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TextBox 1">
            <a:extLst>
              <a:ext uri="{FF2B5EF4-FFF2-40B4-BE49-F238E27FC236}">
                <a16:creationId xmlns:a16="http://schemas.microsoft.com/office/drawing/2014/main" id="{67A4C941-1F09-03D1-B9AB-599CE279C9A4}"/>
              </a:ext>
            </a:extLst>
          </p:cNvPr>
          <p:cNvSpPr txBox="1"/>
          <p:nvPr/>
        </p:nvSpPr>
        <p:spPr>
          <a:xfrm>
            <a:off x="3995936" y="157881"/>
            <a:ext cx="1210588" cy="707886"/>
          </a:xfrm>
          <a:prstGeom prst="rect">
            <a:avLst/>
          </a:prstGeom>
          <a:noFill/>
        </p:spPr>
        <p:txBody>
          <a:bodyPr wrap="none" rtlCol="0">
            <a:spAutoFit/>
          </a:bodyPr>
          <a:lstStyle/>
          <a:p>
            <a:r>
              <a:rPr lang="zh-CN" altLang="en-US" sz="4000" dirty="0">
                <a:latin typeface="方正兰亭细黑_GBK" pitchFamily="2" charset="-122"/>
                <a:ea typeface="方正兰亭细黑_GBK" pitchFamily="2" charset="-122"/>
              </a:rPr>
              <a:t>提纲</a:t>
            </a:r>
          </a:p>
        </p:txBody>
      </p:sp>
      <p:sp>
        <p:nvSpPr>
          <p:cNvPr id="3" name="TextBox 2">
            <a:extLst>
              <a:ext uri="{FF2B5EF4-FFF2-40B4-BE49-F238E27FC236}">
                <a16:creationId xmlns:a16="http://schemas.microsoft.com/office/drawing/2014/main" id="{E65F9AC4-186E-CF69-47F0-45B7E47EE603}"/>
              </a:ext>
            </a:extLst>
          </p:cNvPr>
          <p:cNvSpPr txBox="1"/>
          <p:nvPr/>
        </p:nvSpPr>
        <p:spPr>
          <a:xfrm>
            <a:off x="1121124" y="3052428"/>
            <a:ext cx="1537664" cy="307777"/>
          </a:xfrm>
          <a:prstGeom prst="rect">
            <a:avLst/>
          </a:prstGeom>
          <a:noFill/>
        </p:spPr>
        <p:txBody>
          <a:bodyPr wrap="square" lIns="0" tIns="0" rIns="0" bIns="0"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文本表示</a:t>
            </a:r>
          </a:p>
        </p:txBody>
      </p:sp>
      <p:grpSp>
        <p:nvGrpSpPr>
          <p:cNvPr id="33" name="组合 32">
            <a:extLst>
              <a:ext uri="{FF2B5EF4-FFF2-40B4-BE49-F238E27FC236}">
                <a16:creationId xmlns:a16="http://schemas.microsoft.com/office/drawing/2014/main" id="{F44F8E7C-BBE4-AC08-6212-CAA99823108F}"/>
              </a:ext>
            </a:extLst>
          </p:cNvPr>
          <p:cNvGrpSpPr/>
          <p:nvPr/>
        </p:nvGrpSpPr>
        <p:grpSpPr>
          <a:xfrm>
            <a:off x="1239403" y="947342"/>
            <a:ext cx="1301106" cy="1301106"/>
            <a:chOff x="2262782" y="1446400"/>
            <a:chExt cx="1301106" cy="1301106"/>
          </a:xfrm>
        </p:grpSpPr>
        <p:sp>
          <p:nvSpPr>
            <p:cNvPr id="5" name="椭圆 4">
              <a:extLst>
                <a:ext uri="{FF2B5EF4-FFF2-40B4-BE49-F238E27FC236}">
                  <a16:creationId xmlns:a16="http://schemas.microsoft.com/office/drawing/2014/main" id="{E49D4BB2-21E0-8B87-23D5-65590AD75E6A}"/>
                </a:ext>
              </a:extLst>
            </p:cNvPr>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a:extLst>
                <a:ext uri="{FF2B5EF4-FFF2-40B4-BE49-F238E27FC236}">
                  <a16:creationId xmlns:a16="http://schemas.microsoft.com/office/drawing/2014/main" id="{05933DB1-E2B9-38E3-0CE1-B5FE33C84D3D}"/>
                </a:ext>
              </a:extLst>
            </p:cNvPr>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a:extLst>
              <a:ext uri="{FF2B5EF4-FFF2-40B4-BE49-F238E27FC236}">
                <a16:creationId xmlns:a16="http://schemas.microsoft.com/office/drawing/2014/main" id="{17225699-74F3-5530-DCCD-A7E7139C4EB1}"/>
              </a:ext>
            </a:extLst>
          </p:cNvPr>
          <p:cNvSpPr txBox="1"/>
          <p:nvPr/>
        </p:nvSpPr>
        <p:spPr>
          <a:xfrm>
            <a:off x="4529959" y="1082507"/>
            <a:ext cx="4515009" cy="2250488"/>
          </a:xfrm>
          <a:prstGeom prst="rect">
            <a:avLst/>
          </a:prstGeom>
          <a:noFill/>
        </p:spPr>
        <p:txBody>
          <a:bodyPr wrap="square" rtlCol="0">
            <a:spAutoFit/>
          </a:bodyPr>
          <a:lstStyle/>
          <a:p>
            <a:pPr marL="342900" indent="-342900" algn="just">
              <a:lnSpc>
                <a:spcPct val="150000"/>
              </a:lnSpc>
              <a:buFont typeface="+mj-lt"/>
              <a:buAutoNum type="arabicPeriod"/>
            </a:pPr>
            <a:r>
              <a:rPr lang="zh-CN" altLang="en-US" sz="1600" b="1" dirty="0">
                <a:solidFill>
                  <a:schemeClr val="tx2"/>
                </a:solidFill>
                <a:latin typeface="Heiti SC Medium" pitchFamily="2" charset="-128"/>
                <a:ea typeface="Heiti SC Medium" pitchFamily="2" charset="-128"/>
                <a:cs typeface="Yuppy SC" panose="020F0603040207020204" pitchFamily="34" charset="-122"/>
              </a:rPr>
              <a:t>文本的独热表示</a:t>
            </a:r>
            <a:endParaRPr lang="en-US" altLang="zh-CN" sz="1600" b="1" dirty="0">
              <a:solidFill>
                <a:schemeClr val="tx2"/>
              </a:solidFill>
              <a:latin typeface="Heiti SC Medium" pitchFamily="2" charset="-128"/>
              <a:ea typeface="Heiti SC Medium" pitchFamily="2" charset="-128"/>
              <a:cs typeface="Yuppy SC" panose="020F0603040207020204" pitchFamily="34" charset="-122"/>
            </a:endParaRPr>
          </a:p>
          <a:p>
            <a:pPr marL="342900" indent="-342900" algn="just">
              <a:lnSpc>
                <a:spcPct val="150000"/>
              </a:lnSpc>
              <a:buFont typeface="+mj-lt"/>
              <a:buAutoNum type="arabicPeriod"/>
            </a:pPr>
            <a:r>
              <a:rPr lang="zh-CN" altLang="en-US" sz="1600" b="1" dirty="0">
                <a:solidFill>
                  <a:schemeClr val="tx2"/>
                </a:solidFill>
                <a:latin typeface="Heiti SC Medium" pitchFamily="2" charset="-128"/>
                <a:ea typeface="Heiti SC Medium" pitchFamily="2" charset="-128"/>
                <a:cs typeface="Yuppy SC" panose="020F0603040207020204" pitchFamily="34" charset="-122"/>
              </a:rPr>
              <a:t>文本的分布式表示：主题模型</a:t>
            </a:r>
            <a:endParaRPr lang="en-US" altLang="zh-CN" sz="1600" b="1" dirty="0">
              <a:solidFill>
                <a:schemeClr val="tx2"/>
              </a:solidFill>
              <a:latin typeface="Heiti SC Medium" pitchFamily="2" charset="-128"/>
              <a:ea typeface="Heiti SC Medium" pitchFamily="2" charset="-128"/>
              <a:cs typeface="Yuppy SC" panose="020F0603040207020204" pitchFamily="34" charset="-122"/>
            </a:endParaRPr>
          </a:p>
          <a:p>
            <a:pPr marL="342900" indent="-342900" algn="just">
              <a:lnSpc>
                <a:spcPct val="150000"/>
              </a:lnSpc>
              <a:buFont typeface="+mj-ea"/>
              <a:buAutoNum type="arabicPeriod"/>
            </a:pPr>
            <a:r>
              <a:rPr lang="zh-CN" altLang="en-US"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rPr>
              <a:t>文本表示实践：主题模型</a:t>
            </a:r>
            <a:endParaRPr lang="en-US" altLang="zh-CN"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endParaRPr>
          </a:p>
          <a:p>
            <a:pPr marL="342900" indent="-342900" algn="just">
              <a:lnSpc>
                <a:spcPct val="150000"/>
              </a:lnSpc>
              <a:buFont typeface="+mj-ea"/>
              <a:buAutoNum type="arabicPeriod"/>
            </a:pPr>
            <a:r>
              <a:rPr lang="zh-CN" altLang="en-US"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rPr>
              <a:t>文本的分布式表示：词嵌入模型</a:t>
            </a:r>
            <a:endParaRPr lang="en-US" altLang="zh-CN"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endParaRPr>
          </a:p>
          <a:p>
            <a:pPr marL="342900" indent="-342900" algn="just">
              <a:lnSpc>
                <a:spcPct val="150000"/>
              </a:lnSpc>
              <a:buFont typeface="+mj-ea"/>
              <a:buAutoNum type="arabicPeriod"/>
            </a:pPr>
            <a:r>
              <a:rPr lang="zh-CN" altLang="en-US"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rPr>
              <a:t>从词嵌入到预训练语言模型</a:t>
            </a:r>
            <a:endParaRPr lang="en-US" altLang="zh-CN"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endParaRPr>
          </a:p>
          <a:p>
            <a:pPr marL="342900" indent="-342900" algn="just">
              <a:lnSpc>
                <a:spcPct val="150000"/>
              </a:lnSpc>
              <a:buFont typeface="+mj-ea"/>
              <a:buAutoNum type="arabicPeriod"/>
            </a:pPr>
            <a:r>
              <a:rPr lang="zh-CN" altLang="en-US"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rPr>
              <a:t>文本表示实践：词嵌入模型</a:t>
            </a:r>
            <a:endParaRPr lang="en-US" altLang="zh-CN"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endParaRPr>
          </a:p>
        </p:txBody>
      </p:sp>
      <p:sp>
        <p:nvSpPr>
          <p:cNvPr id="24" name="椭圆 23">
            <a:extLst>
              <a:ext uri="{FF2B5EF4-FFF2-40B4-BE49-F238E27FC236}">
                <a16:creationId xmlns:a16="http://schemas.microsoft.com/office/drawing/2014/main" id="{4E0EA413-D31F-2268-8492-C1DB8FFFFE5B}"/>
              </a:ext>
            </a:extLst>
          </p:cNvPr>
          <p:cNvSpPr/>
          <p:nvPr/>
        </p:nvSpPr>
        <p:spPr>
          <a:xfrm>
            <a:off x="4016203" y="120748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5" name="椭圆 24">
            <a:extLst>
              <a:ext uri="{FF2B5EF4-FFF2-40B4-BE49-F238E27FC236}">
                <a16:creationId xmlns:a16="http://schemas.microsoft.com/office/drawing/2014/main" id="{A610591A-0116-FA29-A3E4-FF2FCB9A6F06}"/>
              </a:ext>
            </a:extLst>
          </p:cNvPr>
          <p:cNvSpPr/>
          <p:nvPr/>
        </p:nvSpPr>
        <p:spPr>
          <a:xfrm>
            <a:off x="4016203" y="189664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a:extLst>
              <a:ext uri="{FF2B5EF4-FFF2-40B4-BE49-F238E27FC236}">
                <a16:creationId xmlns:a16="http://schemas.microsoft.com/office/drawing/2014/main" id="{B6FE622C-5436-D506-B0CD-FA479D7180E2}"/>
              </a:ext>
            </a:extLst>
          </p:cNvPr>
          <p:cNvSpPr/>
          <p:nvPr/>
        </p:nvSpPr>
        <p:spPr>
          <a:xfrm>
            <a:off x="4016203" y="2262426"/>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a:extLst>
              <a:ext uri="{FF2B5EF4-FFF2-40B4-BE49-F238E27FC236}">
                <a16:creationId xmlns:a16="http://schemas.microsoft.com/office/drawing/2014/main" id="{CF2370B4-9003-338F-6DDA-FF8099025640}"/>
              </a:ext>
            </a:extLst>
          </p:cNvPr>
          <p:cNvSpPr/>
          <p:nvPr/>
        </p:nvSpPr>
        <p:spPr>
          <a:xfrm>
            <a:off x="4016203" y="26282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a:extLst>
              <a:ext uri="{FF2B5EF4-FFF2-40B4-BE49-F238E27FC236}">
                <a16:creationId xmlns:a16="http://schemas.microsoft.com/office/drawing/2014/main" id="{C272F43C-37D0-B21B-9B99-6512A298D7E7}"/>
              </a:ext>
            </a:extLst>
          </p:cNvPr>
          <p:cNvSpPr/>
          <p:nvPr/>
        </p:nvSpPr>
        <p:spPr>
          <a:xfrm>
            <a:off x="4016203" y="154919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6" name="椭圆 26">
            <a:extLst>
              <a:ext uri="{FF2B5EF4-FFF2-40B4-BE49-F238E27FC236}">
                <a16:creationId xmlns:a16="http://schemas.microsoft.com/office/drawing/2014/main" id="{55616894-AFC3-2551-8672-0C7185E77091}"/>
              </a:ext>
            </a:extLst>
          </p:cNvPr>
          <p:cNvSpPr/>
          <p:nvPr/>
        </p:nvSpPr>
        <p:spPr>
          <a:xfrm>
            <a:off x="4016203" y="29939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31862679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AC97D6-A7DB-3B45-81D4-B6CDDD0614DC}"/>
              </a:ext>
            </a:extLst>
          </p:cNvPr>
          <p:cNvSpPr>
            <a:spLocks noGrp="1"/>
          </p:cNvSpPr>
          <p:nvPr>
            <p:ph type="title"/>
          </p:nvPr>
        </p:nvSpPr>
        <p:spPr/>
        <p:txBody>
          <a:bodyPr/>
          <a:lstStyle/>
          <a:p>
            <a:r>
              <a:rPr kumimoji="1" lang="zh-CN" altLang="en-US" dirty="0"/>
              <a:t>独热表示的不足</a:t>
            </a:r>
          </a:p>
        </p:txBody>
      </p:sp>
      <p:sp>
        <p:nvSpPr>
          <p:cNvPr id="3" name="内容占位符 2">
            <a:extLst>
              <a:ext uri="{FF2B5EF4-FFF2-40B4-BE49-F238E27FC236}">
                <a16:creationId xmlns:a16="http://schemas.microsoft.com/office/drawing/2014/main" id="{6CD3BA5A-E4C1-734D-B73E-CC7D3271C7DA}"/>
              </a:ext>
            </a:extLst>
          </p:cNvPr>
          <p:cNvSpPr>
            <a:spLocks noGrp="1"/>
          </p:cNvSpPr>
          <p:nvPr>
            <p:ph idx="1"/>
          </p:nvPr>
        </p:nvSpPr>
        <p:spPr/>
        <p:txBody>
          <a:bodyPr/>
          <a:lstStyle/>
          <a:p>
            <a:r>
              <a:rPr kumimoji="1" lang="zh-CN" altLang="en-US" dirty="0"/>
              <a:t>从表示语义的角度看，高维、稀疏的独热表示还有巨大改进空间</a:t>
            </a:r>
            <a:endParaRPr kumimoji="1" lang="en-US" altLang="zh-CN" dirty="0"/>
          </a:p>
          <a:p>
            <a:pPr lvl="1"/>
            <a:r>
              <a:rPr kumimoji="1" lang="zh-CN" altLang="en-US" dirty="0"/>
              <a:t>每一个单词对应一个坐标轴</a:t>
            </a:r>
            <a:endParaRPr kumimoji="1" lang="en-US" altLang="zh-CN" dirty="0"/>
          </a:p>
          <a:p>
            <a:pPr lvl="1"/>
            <a:r>
              <a:rPr kumimoji="1" lang="zh-CN" altLang="en-US" dirty="0"/>
              <a:t>任意两个坐标轴垂直 </a:t>
            </a:r>
            <a:r>
              <a:rPr kumimoji="1" lang="en-US" altLang="zh-CN" dirty="0">
                <a:sym typeface="Wingdings" pitchFamily="2" charset="2"/>
              </a:rPr>
              <a:t></a:t>
            </a:r>
            <a:r>
              <a:rPr kumimoji="1" lang="zh-CN" altLang="en-US" dirty="0">
                <a:sym typeface="Wingdings" pitchFamily="2" charset="2"/>
              </a:rPr>
              <a:t>  任意不同的单词语义无关</a:t>
            </a:r>
            <a:endParaRPr kumimoji="1" lang="en-US" altLang="zh-CN" dirty="0">
              <a:sym typeface="Wingdings" pitchFamily="2" charset="2"/>
            </a:endParaRPr>
          </a:p>
          <a:p>
            <a:pPr lvl="1"/>
            <a:endParaRPr kumimoji="1" lang="en-US" altLang="zh-CN" dirty="0">
              <a:sym typeface="Wingdings" pitchFamily="2" charset="2"/>
            </a:endParaRPr>
          </a:p>
          <a:p>
            <a:pPr lvl="1"/>
            <a:endParaRPr kumimoji="1" lang="en-US" altLang="zh-CN" dirty="0">
              <a:sym typeface="Wingdings" pitchFamily="2" charset="2"/>
            </a:endParaRPr>
          </a:p>
          <a:p>
            <a:pPr lvl="1"/>
            <a:endParaRPr kumimoji="1" lang="en-US" altLang="zh-CN" dirty="0">
              <a:sym typeface="Wingdings" pitchFamily="2" charset="2"/>
            </a:endParaRPr>
          </a:p>
          <a:p>
            <a:pPr lvl="1"/>
            <a:endParaRPr kumimoji="1" lang="en-US" altLang="zh-CN" dirty="0">
              <a:sym typeface="Wingdings" pitchFamily="2" charset="2"/>
            </a:endParaRPr>
          </a:p>
          <a:p>
            <a:pPr lvl="1"/>
            <a:endParaRPr kumimoji="1" lang="en-US" altLang="zh-CN" dirty="0">
              <a:sym typeface="Wingdings" pitchFamily="2" charset="2"/>
            </a:endParaRPr>
          </a:p>
          <a:p>
            <a:pPr lvl="1"/>
            <a:endParaRPr kumimoji="1" lang="en-US" altLang="zh-CN" dirty="0"/>
          </a:p>
          <a:p>
            <a:pPr lvl="1"/>
            <a:r>
              <a:rPr kumimoji="1" lang="zh-CN" altLang="en-US" dirty="0"/>
              <a:t>但是：自然语言中存在大量的近义词、同义词、反义词等</a:t>
            </a:r>
            <a:endParaRPr kumimoji="1" lang="en-US" altLang="zh-CN" dirty="0"/>
          </a:p>
          <a:p>
            <a:pPr lvl="1"/>
            <a:endParaRPr kumimoji="1" lang="en-US" altLang="zh-CN" dirty="0"/>
          </a:p>
        </p:txBody>
      </p:sp>
      <p:pic>
        <p:nvPicPr>
          <p:cNvPr id="4" name="图片 3">
            <a:extLst>
              <a:ext uri="{FF2B5EF4-FFF2-40B4-BE49-F238E27FC236}">
                <a16:creationId xmlns:a16="http://schemas.microsoft.com/office/drawing/2014/main" id="{6ADC5EB8-98A7-1E46-BF5F-64BAD7E84E70}"/>
              </a:ext>
            </a:extLst>
          </p:cNvPr>
          <p:cNvPicPr>
            <a:picLocks noChangeAspect="1"/>
          </p:cNvPicPr>
          <p:nvPr/>
        </p:nvPicPr>
        <p:blipFill>
          <a:blip r:embed="rId2"/>
          <a:stretch>
            <a:fillRect/>
          </a:stretch>
        </p:blipFill>
        <p:spPr>
          <a:xfrm>
            <a:off x="312140" y="2183518"/>
            <a:ext cx="8519720" cy="1469520"/>
          </a:xfrm>
          <a:prstGeom prst="rect">
            <a:avLst/>
          </a:prstGeom>
        </p:spPr>
      </p:pic>
    </p:spTree>
    <p:extLst>
      <p:ext uri="{BB962C8B-B14F-4D97-AF65-F5344CB8AC3E}">
        <p14:creationId xmlns:p14="http://schemas.microsoft.com/office/powerpoint/2010/main" val="28747696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E8B26D-76E7-0A4D-BB18-1E080BB617A1}"/>
              </a:ext>
            </a:extLst>
          </p:cNvPr>
          <p:cNvSpPr>
            <a:spLocks noGrp="1"/>
          </p:cNvSpPr>
          <p:nvPr>
            <p:ph type="title"/>
          </p:nvPr>
        </p:nvSpPr>
        <p:spPr/>
        <p:txBody>
          <a:bodyPr/>
          <a:lstStyle/>
          <a:p>
            <a:r>
              <a:rPr kumimoji="1" lang="zh-CN" altLang="en-US" dirty="0"/>
              <a:t>单词的分布式表示</a:t>
            </a:r>
          </a:p>
        </p:txBody>
      </p:sp>
      <p:sp>
        <p:nvSpPr>
          <p:cNvPr id="3" name="内容占位符 2">
            <a:extLst>
              <a:ext uri="{FF2B5EF4-FFF2-40B4-BE49-F238E27FC236}">
                <a16:creationId xmlns:a16="http://schemas.microsoft.com/office/drawing/2014/main" id="{389D6436-6E1D-794A-9D29-E76DA2623486}"/>
              </a:ext>
            </a:extLst>
          </p:cNvPr>
          <p:cNvSpPr>
            <a:spLocks noGrp="1"/>
          </p:cNvSpPr>
          <p:nvPr>
            <p:ph idx="1"/>
          </p:nvPr>
        </p:nvSpPr>
        <p:spPr/>
        <p:txBody>
          <a:bodyPr/>
          <a:lstStyle/>
          <a:p>
            <a:r>
              <a:rPr kumimoji="1" lang="zh-CN" altLang="en-US" dirty="0"/>
              <a:t>将单词（本文）表示为</a:t>
            </a:r>
            <a:r>
              <a:rPr kumimoji="1" lang="zh-CN" altLang="en-US" dirty="0">
                <a:solidFill>
                  <a:srgbClr val="C00000"/>
                </a:solidFill>
              </a:rPr>
              <a:t>低维、稠密</a:t>
            </a:r>
            <a:r>
              <a:rPr kumimoji="1" lang="zh-CN" altLang="en-US" dirty="0"/>
              <a:t>的向量</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每一个维度不再具有显式的意义</a:t>
            </a:r>
            <a:endParaRPr kumimoji="1" lang="en-US" altLang="zh-CN" dirty="0"/>
          </a:p>
          <a:p>
            <a:r>
              <a:rPr kumimoji="1" lang="zh-CN" altLang="en-US" dirty="0"/>
              <a:t>单词表示为隐空间</a:t>
            </a:r>
            <a:r>
              <a:rPr kumimoji="1" lang="en-US" altLang="zh-CN" dirty="0"/>
              <a:t>(latent</a:t>
            </a:r>
            <a:r>
              <a:rPr kumimoji="1" lang="zh-CN" altLang="en-US" dirty="0"/>
              <a:t> </a:t>
            </a:r>
            <a:r>
              <a:rPr kumimoji="1" lang="en-US" altLang="zh-CN" dirty="0"/>
              <a:t>space)</a:t>
            </a:r>
            <a:r>
              <a:rPr kumimoji="1" lang="zh-CN" altLang="en-US" dirty="0"/>
              <a:t>中的一个向量</a:t>
            </a:r>
          </a:p>
        </p:txBody>
      </p:sp>
      <p:pic>
        <p:nvPicPr>
          <p:cNvPr id="4" name="图片 3">
            <a:extLst>
              <a:ext uri="{FF2B5EF4-FFF2-40B4-BE49-F238E27FC236}">
                <a16:creationId xmlns:a16="http://schemas.microsoft.com/office/drawing/2014/main" id="{EF525F14-CA51-A745-9046-09F69FAC64B8}"/>
              </a:ext>
            </a:extLst>
          </p:cNvPr>
          <p:cNvPicPr>
            <a:picLocks noChangeAspect="1"/>
          </p:cNvPicPr>
          <p:nvPr/>
        </p:nvPicPr>
        <p:blipFill>
          <a:blip r:embed="rId2"/>
          <a:stretch>
            <a:fillRect/>
          </a:stretch>
        </p:blipFill>
        <p:spPr>
          <a:xfrm>
            <a:off x="1546761" y="1416518"/>
            <a:ext cx="6050478" cy="2041932"/>
          </a:xfrm>
          <a:prstGeom prst="rect">
            <a:avLst/>
          </a:prstGeom>
        </p:spPr>
      </p:pic>
    </p:spTree>
    <p:extLst>
      <p:ext uri="{BB962C8B-B14F-4D97-AF65-F5344CB8AC3E}">
        <p14:creationId xmlns:p14="http://schemas.microsoft.com/office/powerpoint/2010/main" val="18703889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7128F-3FBD-5044-9D13-06F5297C270E}"/>
              </a:ext>
            </a:extLst>
          </p:cNvPr>
          <p:cNvSpPr>
            <a:spLocks noGrp="1"/>
          </p:cNvSpPr>
          <p:nvPr>
            <p:ph type="title"/>
          </p:nvPr>
        </p:nvSpPr>
        <p:spPr/>
        <p:txBody>
          <a:bodyPr/>
          <a:lstStyle/>
          <a:p>
            <a:r>
              <a:rPr kumimoji="1" lang="zh-CN" altLang="en-US" dirty="0"/>
              <a:t>分布式表示的优势</a:t>
            </a:r>
          </a:p>
        </p:txBody>
      </p:sp>
      <p:sp>
        <p:nvSpPr>
          <p:cNvPr id="3" name="内容占位符 2">
            <a:extLst>
              <a:ext uri="{FF2B5EF4-FFF2-40B4-BE49-F238E27FC236}">
                <a16:creationId xmlns:a16="http://schemas.microsoft.com/office/drawing/2014/main" id="{3EB4C7AF-70EA-E64C-A8A8-50413F87AD22}"/>
              </a:ext>
            </a:extLst>
          </p:cNvPr>
          <p:cNvSpPr>
            <a:spLocks noGrp="1"/>
          </p:cNvSpPr>
          <p:nvPr>
            <p:ph idx="1"/>
          </p:nvPr>
        </p:nvSpPr>
        <p:spPr/>
        <p:txBody>
          <a:bodyPr/>
          <a:lstStyle/>
          <a:p>
            <a:r>
              <a:rPr kumimoji="1" lang="zh-CN" altLang="en-US" dirty="0"/>
              <a:t>降低表示维度，更少的参数和存储空间</a:t>
            </a:r>
            <a:endParaRPr kumimoji="1" lang="en-US" altLang="zh-CN" dirty="0"/>
          </a:p>
          <a:p>
            <a:r>
              <a:rPr kumimoji="1" lang="zh-CN" altLang="en-US" dirty="0"/>
              <a:t>能够承载语义信息和运算</a:t>
            </a:r>
          </a:p>
        </p:txBody>
      </p:sp>
      <p:pic>
        <p:nvPicPr>
          <p:cNvPr id="4" name="图片 3">
            <a:extLst>
              <a:ext uri="{FF2B5EF4-FFF2-40B4-BE49-F238E27FC236}">
                <a16:creationId xmlns:a16="http://schemas.microsoft.com/office/drawing/2014/main" id="{A280F8B5-F4A7-8E48-B375-53C2D400E101}"/>
              </a:ext>
            </a:extLst>
          </p:cNvPr>
          <p:cNvPicPr>
            <a:picLocks noChangeAspect="1"/>
          </p:cNvPicPr>
          <p:nvPr/>
        </p:nvPicPr>
        <p:blipFill>
          <a:blip r:embed="rId2"/>
          <a:stretch>
            <a:fillRect/>
          </a:stretch>
        </p:blipFill>
        <p:spPr>
          <a:xfrm>
            <a:off x="1642382" y="1713385"/>
            <a:ext cx="5859236" cy="2893829"/>
          </a:xfrm>
          <a:prstGeom prst="rect">
            <a:avLst/>
          </a:prstGeom>
        </p:spPr>
      </p:pic>
    </p:spTree>
    <p:extLst>
      <p:ext uri="{BB962C8B-B14F-4D97-AF65-F5344CB8AC3E}">
        <p14:creationId xmlns:p14="http://schemas.microsoft.com/office/powerpoint/2010/main" val="27625365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6F4FDD1C-3A2D-214A-93D1-D64F58B60757}"/>
              </a:ext>
            </a:extLst>
          </p:cNvPr>
          <p:cNvSpPr>
            <a:spLocks noGrp="1"/>
          </p:cNvSpPr>
          <p:nvPr>
            <p:ph type="ctrTitle"/>
          </p:nvPr>
        </p:nvSpPr>
        <p:spPr/>
        <p:txBody>
          <a:bodyPr>
            <a:normAutofit/>
          </a:bodyPr>
          <a:lstStyle/>
          <a:p>
            <a:r>
              <a:rPr kumimoji="1" lang="zh-CN" altLang="en-US" dirty="0"/>
              <a:t>如何得到</a:t>
            </a:r>
            <a:r>
              <a:rPr kumimoji="1" lang="en-US" altLang="zh-CN" dirty="0"/>
              <a:t>(</a:t>
            </a:r>
            <a:r>
              <a:rPr kumimoji="1" lang="zh-CN" altLang="en-US" dirty="0"/>
              <a:t>学习</a:t>
            </a:r>
            <a:r>
              <a:rPr kumimoji="1" lang="en-US" altLang="zh-CN" dirty="0"/>
              <a:t>)</a:t>
            </a:r>
            <a:r>
              <a:rPr kumimoji="1" lang="zh-CN" altLang="en-US" dirty="0"/>
              <a:t>分布式表示？</a:t>
            </a:r>
          </a:p>
        </p:txBody>
      </p:sp>
      <p:sp>
        <p:nvSpPr>
          <p:cNvPr id="5" name="副标题 4">
            <a:extLst>
              <a:ext uri="{FF2B5EF4-FFF2-40B4-BE49-F238E27FC236}">
                <a16:creationId xmlns:a16="http://schemas.microsoft.com/office/drawing/2014/main" id="{8C785ECB-C269-AF4E-A8DD-D97FF58BD9F5}"/>
              </a:ext>
            </a:extLst>
          </p:cNvPr>
          <p:cNvSpPr>
            <a:spLocks noGrp="1"/>
          </p:cNvSpPr>
          <p:nvPr>
            <p:ph type="subTitle" idx="1"/>
          </p:nvPr>
        </p:nvSpPr>
        <p:spPr/>
        <p:txBody>
          <a:bodyPr/>
          <a:lstStyle/>
          <a:p>
            <a:endParaRPr kumimoji="1" lang="zh-CN" altLang="en-US"/>
          </a:p>
        </p:txBody>
      </p:sp>
    </p:spTree>
    <p:extLst>
      <p:ext uri="{BB962C8B-B14F-4D97-AF65-F5344CB8AC3E}">
        <p14:creationId xmlns:p14="http://schemas.microsoft.com/office/powerpoint/2010/main" val="1221559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D22444-E3C4-EB42-9FBE-550B99963299}"/>
              </a:ext>
            </a:extLst>
          </p:cNvPr>
          <p:cNvSpPr>
            <a:spLocks noGrp="1"/>
          </p:cNvSpPr>
          <p:nvPr>
            <p:ph type="title"/>
          </p:nvPr>
        </p:nvSpPr>
        <p:spPr/>
        <p:txBody>
          <a:bodyPr/>
          <a:lstStyle/>
          <a:p>
            <a:r>
              <a:rPr kumimoji="1" lang="zh-CN" altLang="en-US" dirty="0"/>
              <a:t>先来猜一下单词“</a:t>
            </a:r>
            <a:r>
              <a:rPr lang="en" altLang="zh-CN" dirty="0" err="1"/>
              <a:t>bardiwac</a:t>
            </a:r>
            <a:r>
              <a:rPr kumimoji="1" lang="zh-CN" altLang="en-US" dirty="0"/>
              <a:t>”大致的含义</a:t>
            </a:r>
          </a:p>
        </p:txBody>
      </p:sp>
      <p:sp>
        <p:nvSpPr>
          <p:cNvPr id="3" name="内容占位符 2">
            <a:extLst>
              <a:ext uri="{FF2B5EF4-FFF2-40B4-BE49-F238E27FC236}">
                <a16:creationId xmlns:a16="http://schemas.microsoft.com/office/drawing/2014/main" id="{78344AC2-F69F-654D-BE65-D3F94E296B7C}"/>
              </a:ext>
            </a:extLst>
          </p:cNvPr>
          <p:cNvSpPr>
            <a:spLocks noGrp="1"/>
          </p:cNvSpPr>
          <p:nvPr>
            <p:ph idx="1"/>
          </p:nvPr>
        </p:nvSpPr>
        <p:spPr>
          <a:xfrm>
            <a:off x="457200" y="819150"/>
            <a:ext cx="6537366" cy="3937000"/>
          </a:xfrm>
        </p:spPr>
        <p:txBody>
          <a:bodyPr>
            <a:normAutofit/>
          </a:bodyPr>
          <a:lstStyle/>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p:txBody>
      </p:sp>
      <p:pic>
        <p:nvPicPr>
          <p:cNvPr id="4" name="图片 3">
            <a:extLst>
              <a:ext uri="{FF2B5EF4-FFF2-40B4-BE49-F238E27FC236}">
                <a16:creationId xmlns:a16="http://schemas.microsoft.com/office/drawing/2014/main" id="{E5F8D25F-B4D8-CE4E-A6D9-E4CE34436560}"/>
              </a:ext>
            </a:extLst>
          </p:cNvPr>
          <p:cNvPicPr>
            <a:picLocks noChangeAspect="1"/>
          </p:cNvPicPr>
          <p:nvPr/>
        </p:nvPicPr>
        <p:blipFill>
          <a:blip r:embed="rId2"/>
          <a:stretch>
            <a:fillRect/>
          </a:stretch>
        </p:blipFill>
        <p:spPr>
          <a:xfrm>
            <a:off x="237506" y="985405"/>
            <a:ext cx="6567055" cy="3218292"/>
          </a:xfrm>
          <a:prstGeom prst="rect">
            <a:avLst/>
          </a:prstGeom>
        </p:spPr>
      </p:pic>
      <p:sp>
        <p:nvSpPr>
          <p:cNvPr id="7" name="文本框 6">
            <a:extLst>
              <a:ext uri="{FF2B5EF4-FFF2-40B4-BE49-F238E27FC236}">
                <a16:creationId xmlns:a16="http://schemas.microsoft.com/office/drawing/2014/main" id="{6D380C88-83F5-3145-B685-886838884200}"/>
              </a:ext>
            </a:extLst>
          </p:cNvPr>
          <p:cNvSpPr txBox="1"/>
          <p:nvPr/>
        </p:nvSpPr>
        <p:spPr>
          <a:xfrm>
            <a:off x="6804561" y="1948220"/>
            <a:ext cx="1933543" cy="923330"/>
          </a:xfrm>
          <a:prstGeom prst="rect">
            <a:avLst/>
          </a:prstGeom>
          <a:noFill/>
        </p:spPr>
        <p:txBody>
          <a:bodyPr wrap="none" rtlCol="0">
            <a:spAutoFit/>
          </a:bodyPr>
          <a:lstStyle/>
          <a:p>
            <a:r>
              <a:rPr kumimoji="1" lang="en-US" altLang="zh-CN" dirty="0">
                <a:solidFill>
                  <a:srgbClr val="C00000"/>
                </a:solidFill>
              </a:rPr>
              <a:t>A</a:t>
            </a:r>
            <a:r>
              <a:rPr kumimoji="1" lang="zh-CN" altLang="en-US" dirty="0">
                <a:solidFill>
                  <a:srgbClr val="C00000"/>
                </a:solidFill>
              </a:rPr>
              <a:t>：一种红葡萄酒</a:t>
            </a:r>
            <a:endParaRPr kumimoji="1" lang="en-US" altLang="zh-CN" dirty="0">
              <a:solidFill>
                <a:srgbClr val="C00000"/>
              </a:solidFill>
            </a:endParaRPr>
          </a:p>
          <a:p>
            <a:r>
              <a:rPr kumimoji="1" lang="en-US" altLang="zh-CN" dirty="0">
                <a:solidFill>
                  <a:srgbClr val="C00000"/>
                </a:solidFill>
              </a:rPr>
              <a:t>B</a:t>
            </a:r>
            <a:r>
              <a:rPr kumimoji="1" lang="zh-CN" altLang="en-US" dirty="0">
                <a:solidFill>
                  <a:srgbClr val="C00000"/>
                </a:solidFill>
              </a:rPr>
              <a:t>：一个地名</a:t>
            </a:r>
            <a:endParaRPr kumimoji="1" lang="en-US" altLang="zh-CN" dirty="0">
              <a:solidFill>
                <a:srgbClr val="C00000"/>
              </a:solidFill>
            </a:endParaRPr>
          </a:p>
          <a:p>
            <a:r>
              <a:rPr kumimoji="1" lang="en-US" altLang="zh-CN" dirty="0">
                <a:solidFill>
                  <a:srgbClr val="C00000"/>
                </a:solidFill>
              </a:rPr>
              <a:t>C</a:t>
            </a:r>
            <a:r>
              <a:rPr kumimoji="1" lang="zh-CN" altLang="en-US" dirty="0">
                <a:solidFill>
                  <a:srgbClr val="C00000"/>
                </a:solidFill>
              </a:rPr>
              <a:t>：一个人名</a:t>
            </a:r>
          </a:p>
        </p:txBody>
      </p:sp>
      <p:sp>
        <p:nvSpPr>
          <p:cNvPr id="6" name="Rectangle 5"/>
          <p:cNvSpPr/>
          <p:nvPr/>
        </p:nvSpPr>
        <p:spPr>
          <a:xfrm>
            <a:off x="7354767" y="1425000"/>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28373541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D019BF-511B-774F-B585-68917F277502}"/>
              </a:ext>
            </a:extLst>
          </p:cNvPr>
          <p:cNvSpPr>
            <a:spLocks noGrp="1"/>
          </p:cNvSpPr>
          <p:nvPr>
            <p:ph type="title"/>
          </p:nvPr>
        </p:nvSpPr>
        <p:spPr/>
        <p:txBody>
          <a:bodyPr/>
          <a:lstStyle/>
          <a:p>
            <a:r>
              <a:rPr kumimoji="1" lang="zh-CN" altLang="en-US" dirty="0"/>
              <a:t>为什么可以猜到？</a:t>
            </a:r>
          </a:p>
        </p:txBody>
      </p:sp>
      <p:sp>
        <p:nvSpPr>
          <p:cNvPr id="3" name="内容占位符 2">
            <a:extLst>
              <a:ext uri="{FF2B5EF4-FFF2-40B4-BE49-F238E27FC236}">
                <a16:creationId xmlns:a16="http://schemas.microsoft.com/office/drawing/2014/main" id="{EC411639-0812-E344-A4DE-5B8165A8311D}"/>
              </a:ext>
            </a:extLst>
          </p:cNvPr>
          <p:cNvSpPr>
            <a:spLocks noGrp="1"/>
          </p:cNvSpPr>
          <p:nvPr>
            <p:ph idx="1"/>
          </p:nvPr>
        </p:nvSpPr>
        <p:spPr/>
        <p:txBody>
          <a:bodyPr/>
          <a:lstStyle/>
          <a:p>
            <a:r>
              <a:rPr kumimoji="1" lang="en-US" altLang="zh-CN" dirty="0" err="1"/>
              <a:t>Bardiwac</a:t>
            </a:r>
            <a:r>
              <a:rPr kumimoji="1" lang="zh-CN" altLang="en-US" dirty="0"/>
              <a:t>在多个文档中的上下文是关键！！！</a:t>
            </a:r>
          </a:p>
        </p:txBody>
      </p:sp>
      <p:pic>
        <p:nvPicPr>
          <p:cNvPr id="4" name="图片 3">
            <a:extLst>
              <a:ext uri="{FF2B5EF4-FFF2-40B4-BE49-F238E27FC236}">
                <a16:creationId xmlns:a16="http://schemas.microsoft.com/office/drawing/2014/main" id="{3FCFB90F-05E4-6A4B-B206-2DBFC1462AE9}"/>
              </a:ext>
            </a:extLst>
          </p:cNvPr>
          <p:cNvPicPr>
            <a:picLocks noChangeAspect="1"/>
          </p:cNvPicPr>
          <p:nvPr/>
        </p:nvPicPr>
        <p:blipFill>
          <a:blip r:embed="rId2"/>
          <a:stretch>
            <a:fillRect/>
          </a:stretch>
        </p:blipFill>
        <p:spPr>
          <a:xfrm>
            <a:off x="1361259" y="1277150"/>
            <a:ext cx="6421482" cy="3771347"/>
          </a:xfrm>
          <a:prstGeom prst="rect">
            <a:avLst/>
          </a:prstGeom>
        </p:spPr>
      </p:pic>
    </p:spTree>
    <p:extLst>
      <p:ext uri="{BB962C8B-B14F-4D97-AF65-F5344CB8AC3E}">
        <p14:creationId xmlns:p14="http://schemas.microsoft.com/office/powerpoint/2010/main" val="35446360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FA463E-C954-C44E-AD10-AF480EDE3B9B}"/>
              </a:ext>
            </a:extLst>
          </p:cNvPr>
          <p:cNvSpPr>
            <a:spLocks noGrp="1"/>
          </p:cNvSpPr>
          <p:nvPr>
            <p:ph type="title"/>
          </p:nvPr>
        </p:nvSpPr>
        <p:spPr/>
        <p:txBody>
          <a:bodyPr/>
          <a:lstStyle/>
          <a:p>
            <a:r>
              <a:rPr kumimoji="1" lang="zh-CN" altLang="en-US" dirty="0"/>
              <a:t>语言学中的分布式假设</a:t>
            </a:r>
          </a:p>
        </p:txBody>
      </p:sp>
      <p:sp>
        <p:nvSpPr>
          <p:cNvPr id="3" name="内容占位符 2">
            <a:extLst>
              <a:ext uri="{FF2B5EF4-FFF2-40B4-BE49-F238E27FC236}">
                <a16:creationId xmlns:a16="http://schemas.microsoft.com/office/drawing/2014/main" id="{7C061F0A-3302-4047-8B33-B0D88437DE95}"/>
              </a:ext>
            </a:extLst>
          </p:cNvPr>
          <p:cNvSpPr>
            <a:spLocks noGrp="1"/>
          </p:cNvSpPr>
          <p:nvPr>
            <p:ph idx="1"/>
          </p:nvPr>
        </p:nvSpPr>
        <p:spPr/>
        <p:txBody>
          <a:bodyPr/>
          <a:lstStyle/>
          <a:p>
            <a:endParaRPr kumimoji="1" lang="zh-CN" altLang="en-US" dirty="0"/>
          </a:p>
        </p:txBody>
      </p:sp>
      <p:pic>
        <p:nvPicPr>
          <p:cNvPr id="4" name="图片 3">
            <a:extLst>
              <a:ext uri="{FF2B5EF4-FFF2-40B4-BE49-F238E27FC236}">
                <a16:creationId xmlns:a16="http://schemas.microsoft.com/office/drawing/2014/main" id="{5EFFEE1E-320B-014F-825C-BF1694650AFE}"/>
              </a:ext>
            </a:extLst>
          </p:cNvPr>
          <p:cNvPicPr>
            <a:picLocks noChangeAspect="1"/>
          </p:cNvPicPr>
          <p:nvPr/>
        </p:nvPicPr>
        <p:blipFill>
          <a:blip r:embed="rId2"/>
          <a:stretch>
            <a:fillRect/>
          </a:stretch>
        </p:blipFill>
        <p:spPr>
          <a:xfrm>
            <a:off x="514032" y="819150"/>
            <a:ext cx="8172768" cy="3129809"/>
          </a:xfrm>
          <a:prstGeom prst="rect">
            <a:avLst/>
          </a:prstGeom>
        </p:spPr>
      </p:pic>
      <p:sp>
        <p:nvSpPr>
          <p:cNvPr id="6" name="矩形 5">
            <a:extLst>
              <a:ext uri="{FF2B5EF4-FFF2-40B4-BE49-F238E27FC236}">
                <a16:creationId xmlns:a16="http://schemas.microsoft.com/office/drawing/2014/main" id="{A2276DDF-70C1-0D4C-B9B0-569BDB65FA92}"/>
              </a:ext>
            </a:extLst>
          </p:cNvPr>
          <p:cNvSpPr/>
          <p:nvPr/>
        </p:nvSpPr>
        <p:spPr>
          <a:xfrm>
            <a:off x="970850" y="1460808"/>
            <a:ext cx="3822137" cy="369332"/>
          </a:xfrm>
          <a:prstGeom prst="rect">
            <a:avLst/>
          </a:prstGeom>
        </p:spPr>
        <p:txBody>
          <a:bodyPr wrap="none">
            <a:spAutoFit/>
          </a:bodyPr>
          <a:lstStyle/>
          <a:p>
            <a:r>
              <a:rPr lang="en-US" altLang="zh-CN" dirty="0"/>
              <a:t>“</a:t>
            </a:r>
            <a:r>
              <a:rPr lang="en" altLang="zh-CN" dirty="0"/>
              <a:t>The meaning of a word lies in its use</a:t>
            </a:r>
            <a:r>
              <a:rPr lang="en-US" altLang="zh-CN" dirty="0"/>
              <a:t>.”</a:t>
            </a:r>
            <a:endParaRPr lang="zh-CN" altLang="en-US" dirty="0"/>
          </a:p>
        </p:txBody>
      </p:sp>
    </p:spTree>
    <p:extLst>
      <p:ext uri="{BB962C8B-B14F-4D97-AF65-F5344CB8AC3E}">
        <p14:creationId xmlns:p14="http://schemas.microsoft.com/office/powerpoint/2010/main" val="22943228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C864E5-16B0-2B46-8209-7CE99C341C5A}"/>
              </a:ext>
            </a:extLst>
          </p:cNvPr>
          <p:cNvSpPr>
            <a:spLocks noGrp="1"/>
          </p:cNvSpPr>
          <p:nvPr>
            <p:ph type="title"/>
          </p:nvPr>
        </p:nvSpPr>
        <p:spPr/>
        <p:txBody>
          <a:bodyPr/>
          <a:lstStyle/>
          <a:p>
            <a:r>
              <a:rPr kumimoji="1" lang="zh-CN" altLang="en-US" dirty="0"/>
              <a:t>单词的语义隐藏在它们的共现数据</a:t>
            </a:r>
          </a:p>
        </p:txBody>
      </p:sp>
      <p:pic>
        <p:nvPicPr>
          <p:cNvPr id="4" name="图片 3">
            <a:extLst>
              <a:ext uri="{FF2B5EF4-FFF2-40B4-BE49-F238E27FC236}">
                <a16:creationId xmlns:a16="http://schemas.microsoft.com/office/drawing/2014/main" id="{4C4C526C-1B03-8E40-9C15-128B35BAA094}"/>
              </a:ext>
            </a:extLst>
          </p:cNvPr>
          <p:cNvPicPr>
            <a:picLocks noChangeAspect="1"/>
          </p:cNvPicPr>
          <p:nvPr/>
        </p:nvPicPr>
        <p:blipFill>
          <a:blip r:embed="rId2"/>
          <a:stretch>
            <a:fillRect/>
          </a:stretch>
        </p:blipFill>
        <p:spPr>
          <a:xfrm>
            <a:off x="1690458" y="812556"/>
            <a:ext cx="5763083" cy="4212190"/>
          </a:xfrm>
          <a:prstGeom prst="rect">
            <a:avLst/>
          </a:prstGeom>
        </p:spPr>
      </p:pic>
    </p:spTree>
    <p:extLst>
      <p:ext uri="{BB962C8B-B14F-4D97-AF65-F5344CB8AC3E}">
        <p14:creationId xmlns:p14="http://schemas.microsoft.com/office/powerpoint/2010/main" val="23565907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81980C-217C-2840-A85E-C9D1AB0C3051}"/>
              </a:ext>
            </a:extLst>
          </p:cNvPr>
          <p:cNvSpPr>
            <a:spLocks noGrp="1"/>
          </p:cNvSpPr>
          <p:nvPr>
            <p:ph type="title"/>
          </p:nvPr>
        </p:nvSpPr>
        <p:spPr/>
        <p:txBody>
          <a:bodyPr/>
          <a:lstStyle/>
          <a:p>
            <a:r>
              <a:rPr kumimoji="1" lang="zh-CN" altLang="en-US" dirty="0"/>
              <a:t>分布式假设的表现形式</a:t>
            </a:r>
            <a:r>
              <a:rPr kumimoji="1" lang="en-US" altLang="zh-CN" dirty="0"/>
              <a:t>1</a:t>
            </a:r>
            <a:r>
              <a:rPr kumimoji="1" lang="zh-CN" altLang="en-US" dirty="0"/>
              <a:t>（文档内共现）</a:t>
            </a:r>
          </a:p>
        </p:txBody>
      </p:sp>
      <p:pic>
        <p:nvPicPr>
          <p:cNvPr id="9" name="图片 8">
            <a:extLst>
              <a:ext uri="{FF2B5EF4-FFF2-40B4-BE49-F238E27FC236}">
                <a16:creationId xmlns:a16="http://schemas.microsoft.com/office/drawing/2014/main" id="{6750F4E8-D917-C147-AEA9-7C8FCFBD9B0A}"/>
              </a:ext>
            </a:extLst>
          </p:cNvPr>
          <p:cNvPicPr>
            <a:picLocks noChangeAspect="1"/>
          </p:cNvPicPr>
          <p:nvPr/>
        </p:nvPicPr>
        <p:blipFill>
          <a:blip r:embed="rId2"/>
          <a:stretch>
            <a:fillRect/>
          </a:stretch>
        </p:blipFill>
        <p:spPr>
          <a:xfrm>
            <a:off x="124389" y="1948315"/>
            <a:ext cx="2416930" cy="1435219"/>
          </a:xfrm>
          <a:prstGeom prst="rect">
            <a:avLst/>
          </a:prstGeom>
        </p:spPr>
      </p:pic>
      <p:pic>
        <p:nvPicPr>
          <p:cNvPr id="10" name="图片 9">
            <a:extLst>
              <a:ext uri="{FF2B5EF4-FFF2-40B4-BE49-F238E27FC236}">
                <a16:creationId xmlns:a16="http://schemas.microsoft.com/office/drawing/2014/main" id="{528048F6-FB62-BD4E-A039-7E2CBAEAF4BF}"/>
              </a:ext>
            </a:extLst>
          </p:cNvPr>
          <p:cNvPicPr>
            <a:picLocks noChangeAspect="1"/>
          </p:cNvPicPr>
          <p:nvPr/>
        </p:nvPicPr>
        <p:blipFill>
          <a:blip r:embed="rId3"/>
          <a:stretch>
            <a:fillRect/>
          </a:stretch>
        </p:blipFill>
        <p:spPr>
          <a:xfrm>
            <a:off x="6302971" y="1863187"/>
            <a:ext cx="2179599" cy="1644980"/>
          </a:xfrm>
          <a:prstGeom prst="rect">
            <a:avLst/>
          </a:prstGeom>
        </p:spPr>
      </p:pic>
      <p:sp>
        <p:nvSpPr>
          <p:cNvPr id="11" name="文本框 10">
            <a:extLst>
              <a:ext uri="{FF2B5EF4-FFF2-40B4-BE49-F238E27FC236}">
                <a16:creationId xmlns:a16="http://schemas.microsoft.com/office/drawing/2014/main" id="{C62FE65E-5BE8-D24A-8F58-304D45418325}"/>
              </a:ext>
            </a:extLst>
          </p:cNvPr>
          <p:cNvSpPr txBox="1"/>
          <p:nvPr/>
        </p:nvSpPr>
        <p:spPr>
          <a:xfrm>
            <a:off x="1821625" y="3561990"/>
            <a:ext cx="4629150" cy="338554"/>
          </a:xfrm>
          <a:prstGeom prst="rect">
            <a:avLst/>
          </a:prstGeom>
          <a:noFill/>
        </p:spPr>
        <p:txBody>
          <a:bodyPr wrap="square" rtlCol="0">
            <a:spAutoFit/>
          </a:bodyPr>
          <a:lstStyle/>
          <a:p>
            <a:pPr algn="ctr"/>
            <a:r>
              <a:rPr kumimoji="1" lang="zh-CN" altLang="en-US" sz="1600" dirty="0">
                <a:latin typeface="Microsoft YaHei" charset="-122"/>
                <a:ea typeface="Microsoft YaHei" charset="-122"/>
                <a:cs typeface="Microsoft YaHei" charset="-122"/>
              </a:rPr>
              <a:t>适合长文本的表示：单词</a:t>
            </a:r>
            <a:r>
              <a:rPr kumimoji="1" lang="zh-CN" altLang="en-US" sz="1600" b="1" dirty="0">
                <a:solidFill>
                  <a:srgbClr val="00B0F0"/>
                </a:solidFill>
                <a:latin typeface="Microsoft YaHei" charset="-122"/>
                <a:ea typeface="Microsoft YaHei" charset="-122"/>
                <a:cs typeface="Microsoft YaHei" charset="-122"/>
              </a:rPr>
              <a:t>共现</a:t>
            </a:r>
            <a:r>
              <a:rPr kumimoji="1" lang="zh-CN" altLang="en-US" sz="1600" dirty="0">
                <a:latin typeface="Microsoft YaHei" charset="-122"/>
                <a:ea typeface="Microsoft YaHei" charset="-122"/>
                <a:cs typeface="Microsoft YaHei" charset="-122"/>
              </a:rPr>
              <a:t>关系建模</a:t>
            </a:r>
          </a:p>
        </p:txBody>
      </p:sp>
      <p:pic>
        <p:nvPicPr>
          <p:cNvPr id="8" name="图片 7">
            <a:extLst>
              <a:ext uri="{FF2B5EF4-FFF2-40B4-BE49-F238E27FC236}">
                <a16:creationId xmlns:a16="http://schemas.microsoft.com/office/drawing/2014/main" id="{A888B7CB-394C-4D46-930C-EB684BE96C19}"/>
              </a:ext>
            </a:extLst>
          </p:cNvPr>
          <p:cNvPicPr>
            <a:picLocks noChangeAspect="1"/>
          </p:cNvPicPr>
          <p:nvPr/>
        </p:nvPicPr>
        <p:blipFill>
          <a:blip r:embed="rId4"/>
          <a:stretch>
            <a:fillRect/>
          </a:stretch>
        </p:blipFill>
        <p:spPr>
          <a:xfrm>
            <a:off x="3237445" y="1948300"/>
            <a:ext cx="2320968" cy="1334679"/>
          </a:xfrm>
          <a:prstGeom prst="rect">
            <a:avLst/>
          </a:prstGeom>
        </p:spPr>
      </p:pic>
      <p:sp>
        <p:nvSpPr>
          <p:cNvPr id="6" name="文本框 5">
            <a:extLst>
              <a:ext uri="{FF2B5EF4-FFF2-40B4-BE49-F238E27FC236}">
                <a16:creationId xmlns:a16="http://schemas.microsoft.com/office/drawing/2014/main" id="{5BB0C433-2C33-A045-B1CE-E779FF6F4139}"/>
              </a:ext>
            </a:extLst>
          </p:cNvPr>
          <p:cNvSpPr txBox="1"/>
          <p:nvPr/>
        </p:nvSpPr>
        <p:spPr>
          <a:xfrm>
            <a:off x="1821625" y="4341763"/>
            <a:ext cx="5500749" cy="369332"/>
          </a:xfrm>
          <a:prstGeom prst="rect">
            <a:avLst/>
          </a:prstGeom>
          <a:noFill/>
        </p:spPr>
        <p:txBody>
          <a:bodyPr wrap="square" rtlCol="0">
            <a:spAutoFit/>
          </a:bodyPr>
          <a:lstStyle/>
          <a:p>
            <a:r>
              <a:rPr kumimoji="1" lang="zh-CN" altLang="en-US" dirty="0">
                <a:latin typeface="Microsoft YaHei" charset="-122"/>
                <a:ea typeface="Microsoft YaHei" charset="-122"/>
                <a:cs typeface="Microsoft YaHei" charset="-122"/>
              </a:rPr>
              <a:t>话题模型：</a:t>
            </a:r>
            <a:r>
              <a:rPr kumimoji="1" lang="en-US" altLang="zh-CN" dirty="0">
                <a:latin typeface="Microsoft YaHei" charset="-122"/>
                <a:ea typeface="Microsoft YaHei" charset="-122"/>
                <a:cs typeface="Microsoft YaHei" charset="-122"/>
              </a:rPr>
              <a:t>LSI</a:t>
            </a:r>
            <a:r>
              <a:rPr kumimoji="1" lang="zh-CN" altLang="en-US" dirty="0">
                <a:latin typeface="Microsoft YaHei" charset="-122"/>
                <a:ea typeface="Microsoft YaHei" charset="-122"/>
                <a:cs typeface="Microsoft YaHei" charset="-122"/>
              </a:rPr>
              <a:t>、</a:t>
            </a:r>
            <a:r>
              <a:rPr kumimoji="1" lang="en-US" altLang="zh-CN" dirty="0">
                <a:latin typeface="Microsoft YaHei" charset="-122"/>
                <a:ea typeface="Microsoft YaHei" charset="-122"/>
                <a:cs typeface="Microsoft YaHei" charset="-122"/>
              </a:rPr>
              <a:t>NMF</a:t>
            </a:r>
            <a:r>
              <a:rPr kumimoji="1" lang="zh-CN" altLang="en-US" dirty="0">
                <a:latin typeface="Microsoft YaHei" charset="-122"/>
                <a:ea typeface="Microsoft YaHei" charset="-122"/>
                <a:cs typeface="Microsoft YaHei" charset="-122"/>
              </a:rPr>
              <a:t>、</a:t>
            </a:r>
            <a:r>
              <a:rPr kumimoji="1" lang="en-US" altLang="zh-CN" dirty="0">
                <a:latin typeface="Microsoft YaHei" charset="-122"/>
                <a:ea typeface="Microsoft YaHei" charset="-122"/>
                <a:cs typeface="Microsoft YaHei" charset="-122"/>
              </a:rPr>
              <a:t>PLSI</a:t>
            </a:r>
            <a:r>
              <a:rPr kumimoji="1" lang="zh-CN" altLang="en-US" dirty="0">
                <a:latin typeface="Microsoft YaHei" charset="-122"/>
                <a:ea typeface="Microsoft YaHei" charset="-122"/>
                <a:cs typeface="Microsoft YaHei" charset="-122"/>
              </a:rPr>
              <a:t>、</a:t>
            </a:r>
            <a:r>
              <a:rPr kumimoji="1" lang="en-US" altLang="zh-CN" dirty="0">
                <a:latin typeface="Microsoft YaHei" charset="-122"/>
                <a:ea typeface="Microsoft YaHei" charset="-122"/>
                <a:cs typeface="Microsoft YaHei" charset="-122"/>
              </a:rPr>
              <a:t>LDA</a:t>
            </a:r>
            <a:r>
              <a:rPr kumimoji="1" lang="zh-CN" altLang="en-US" dirty="0">
                <a:latin typeface="Microsoft YaHei" charset="-122"/>
                <a:ea typeface="Microsoft YaHei" charset="-122"/>
                <a:cs typeface="Microsoft YaHei" charset="-122"/>
              </a:rPr>
              <a:t>等</a:t>
            </a:r>
          </a:p>
        </p:txBody>
      </p:sp>
      <p:sp>
        <p:nvSpPr>
          <p:cNvPr id="12" name="右箭头 11">
            <a:extLst>
              <a:ext uri="{FF2B5EF4-FFF2-40B4-BE49-F238E27FC236}">
                <a16:creationId xmlns:a16="http://schemas.microsoft.com/office/drawing/2014/main" id="{CAC7C04D-2915-D644-9EC0-140E0405546A}"/>
              </a:ext>
            </a:extLst>
          </p:cNvPr>
          <p:cNvSpPr/>
          <p:nvPr/>
        </p:nvSpPr>
        <p:spPr>
          <a:xfrm>
            <a:off x="2731324" y="2450783"/>
            <a:ext cx="415637" cy="432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右箭头 12">
            <a:extLst>
              <a:ext uri="{FF2B5EF4-FFF2-40B4-BE49-F238E27FC236}">
                <a16:creationId xmlns:a16="http://schemas.microsoft.com/office/drawing/2014/main" id="{D7F36AB3-74DB-9E4B-98D4-61EAC0F14010}"/>
              </a:ext>
            </a:extLst>
          </p:cNvPr>
          <p:cNvSpPr/>
          <p:nvPr/>
        </p:nvSpPr>
        <p:spPr>
          <a:xfrm>
            <a:off x="5887334" y="2456595"/>
            <a:ext cx="415637" cy="432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322523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81980C-217C-2840-A85E-C9D1AB0C3051}"/>
              </a:ext>
            </a:extLst>
          </p:cNvPr>
          <p:cNvSpPr>
            <a:spLocks noGrp="1"/>
          </p:cNvSpPr>
          <p:nvPr>
            <p:ph type="title"/>
          </p:nvPr>
        </p:nvSpPr>
        <p:spPr/>
        <p:txBody>
          <a:bodyPr/>
          <a:lstStyle/>
          <a:p>
            <a:r>
              <a:rPr kumimoji="1" lang="zh-CN" altLang="en-US" dirty="0"/>
              <a:t>分布式假设的表现形式</a:t>
            </a:r>
            <a:r>
              <a:rPr kumimoji="1" lang="en-US" altLang="zh-CN" dirty="0"/>
              <a:t>2</a:t>
            </a:r>
            <a:r>
              <a:rPr kumimoji="1" lang="zh-CN" altLang="en-US" dirty="0"/>
              <a:t>（上下文共现）</a:t>
            </a:r>
          </a:p>
        </p:txBody>
      </p:sp>
      <p:sp>
        <p:nvSpPr>
          <p:cNvPr id="17" name="文本框 16">
            <a:extLst>
              <a:ext uri="{FF2B5EF4-FFF2-40B4-BE49-F238E27FC236}">
                <a16:creationId xmlns:a16="http://schemas.microsoft.com/office/drawing/2014/main" id="{D57B7013-E147-3D42-8B5C-951C18BAE9BE}"/>
              </a:ext>
            </a:extLst>
          </p:cNvPr>
          <p:cNvSpPr txBox="1"/>
          <p:nvPr/>
        </p:nvSpPr>
        <p:spPr>
          <a:xfrm>
            <a:off x="2107062" y="3277862"/>
            <a:ext cx="4629150" cy="338554"/>
          </a:xfrm>
          <a:prstGeom prst="rect">
            <a:avLst/>
          </a:prstGeom>
          <a:noFill/>
        </p:spPr>
        <p:txBody>
          <a:bodyPr wrap="square" rtlCol="0">
            <a:spAutoFit/>
          </a:bodyPr>
          <a:lstStyle/>
          <a:p>
            <a:pPr algn="ctr"/>
            <a:r>
              <a:rPr kumimoji="1" lang="zh-CN" altLang="en-US" sz="1600" dirty="0">
                <a:latin typeface="Microsoft YaHei" charset="-122"/>
                <a:ea typeface="Microsoft YaHei" charset="-122"/>
                <a:cs typeface="Microsoft YaHei" charset="-122"/>
              </a:rPr>
              <a:t>适合短文本的表示：单词</a:t>
            </a:r>
            <a:r>
              <a:rPr kumimoji="1" lang="zh-CN" altLang="en-US" sz="1600" b="1" dirty="0">
                <a:solidFill>
                  <a:srgbClr val="00B0F0"/>
                </a:solidFill>
                <a:latin typeface="Microsoft YaHei" charset="-122"/>
                <a:ea typeface="Microsoft YaHei" charset="-122"/>
                <a:cs typeface="Microsoft YaHei" charset="-122"/>
              </a:rPr>
              <a:t>聚合</a:t>
            </a:r>
            <a:r>
              <a:rPr kumimoji="1" lang="zh-CN" altLang="en-US" sz="1600" dirty="0">
                <a:latin typeface="Microsoft YaHei" charset="-122"/>
                <a:ea typeface="Microsoft YaHei" charset="-122"/>
                <a:cs typeface="Microsoft YaHei" charset="-122"/>
              </a:rPr>
              <a:t>关系建模</a:t>
            </a:r>
          </a:p>
        </p:txBody>
      </p:sp>
      <p:pic>
        <p:nvPicPr>
          <p:cNvPr id="18" name="图片 17">
            <a:extLst>
              <a:ext uri="{FF2B5EF4-FFF2-40B4-BE49-F238E27FC236}">
                <a16:creationId xmlns:a16="http://schemas.microsoft.com/office/drawing/2014/main" id="{D6E6C031-8DB3-B944-A2AE-3D47790CD462}"/>
              </a:ext>
            </a:extLst>
          </p:cNvPr>
          <p:cNvPicPr>
            <a:picLocks noChangeAspect="1"/>
          </p:cNvPicPr>
          <p:nvPr/>
        </p:nvPicPr>
        <p:blipFill>
          <a:blip r:embed="rId2"/>
          <a:stretch>
            <a:fillRect/>
          </a:stretch>
        </p:blipFill>
        <p:spPr>
          <a:xfrm>
            <a:off x="109999" y="1915664"/>
            <a:ext cx="2841607" cy="909565"/>
          </a:xfrm>
          <a:prstGeom prst="rect">
            <a:avLst/>
          </a:prstGeom>
        </p:spPr>
      </p:pic>
      <p:pic>
        <p:nvPicPr>
          <p:cNvPr id="19" name="图片 18">
            <a:extLst>
              <a:ext uri="{FF2B5EF4-FFF2-40B4-BE49-F238E27FC236}">
                <a16:creationId xmlns:a16="http://schemas.microsoft.com/office/drawing/2014/main" id="{E60B3C8C-ACE0-4D40-8497-24E53DE6FB0C}"/>
              </a:ext>
            </a:extLst>
          </p:cNvPr>
          <p:cNvPicPr>
            <a:picLocks noChangeAspect="1"/>
          </p:cNvPicPr>
          <p:nvPr/>
        </p:nvPicPr>
        <p:blipFill>
          <a:blip r:embed="rId3"/>
          <a:stretch>
            <a:fillRect/>
          </a:stretch>
        </p:blipFill>
        <p:spPr>
          <a:xfrm>
            <a:off x="3947497" y="1713160"/>
            <a:ext cx="2286000" cy="1314571"/>
          </a:xfrm>
          <a:prstGeom prst="rect">
            <a:avLst/>
          </a:prstGeom>
        </p:spPr>
      </p:pic>
      <p:pic>
        <p:nvPicPr>
          <p:cNvPr id="20" name="图片 19">
            <a:extLst>
              <a:ext uri="{FF2B5EF4-FFF2-40B4-BE49-F238E27FC236}">
                <a16:creationId xmlns:a16="http://schemas.microsoft.com/office/drawing/2014/main" id="{0A6503BE-BF4F-3F43-A731-9FD8AF9BC25F}"/>
              </a:ext>
            </a:extLst>
          </p:cNvPr>
          <p:cNvPicPr>
            <a:picLocks noChangeAspect="1"/>
          </p:cNvPicPr>
          <p:nvPr/>
        </p:nvPicPr>
        <p:blipFill>
          <a:blip r:embed="rId4"/>
          <a:stretch>
            <a:fillRect/>
          </a:stretch>
        </p:blipFill>
        <p:spPr>
          <a:xfrm>
            <a:off x="7229388" y="1745396"/>
            <a:ext cx="1587653" cy="1282335"/>
          </a:xfrm>
          <a:prstGeom prst="rect">
            <a:avLst/>
          </a:prstGeom>
        </p:spPr>
      </p:pic>
      <p:sp>
        <p:nvSpPr>
          <p:cNvPr id="16" name="文本框 15">
            <a:extLst>
              <a:ext uri="{FF2B5EF4-FFF2-40B4-BE49-F238E27FC236}">
                <a16:creationId xmlns:a16="http://schemas.microsoft.com/office/drawing/2014/main" id="{537A5469-FD33-C542-98DE-01C2B768D832}"/>
              </a:ext>
            </a:extLst>
          </p:cNvPr>
          <p:cNvSpPr txBox="1"/>
          <p:nvPr/>
        </p:nvSpPr>
        <p:spPr>
          <a:xfrm>
            <a:off x="1199408" y="3776679"/>
            <a:ext cx="5837530" cy="369332"/>
          </a:xfrm>
          <a:prstGeom prst="rect">
            <a:avLst/>
          </a:prstGeom>
          <a:noFill/>
        </p:spPr>
        <p:txBody>
          <a:bodyPr wrap="square" rtlCol="0">
            <a:spAutoFit/>
          </a:bodyPr>
          <a:lstStyle/>
          <a:p>
            <a:pPr algn="ctr"/>
            <a:r>
              <a:rPr kumimoji="1" lang="zh-CN" altLang="en-US" dirty="0">
                <a:latin typeface="Microsoft YaHei" charset="-122"/>
                <a:ea typeface="Microsoft YaHei" charset="-122"/>
                <a:cs typeface="Microsoft YaHei" charset="-122"/>
              </a:rPr>
              <a:t>词嵌入模型：</a:t>
            </a:r>
            <a:r>
              <a:rPr kumimoji="1" lang="en-US" altLang="zh-CN" dirty="0">
                <a:latin typeface="Microsoft YaHei" charset="-122"/>
                <a:ea typeface="Microsoft YaHei" charset="-122"/>
                <a:cs typeface="Microsoft YaHei" charset="-122"/>
              </a:rPr>
              <a:t>Word2Vec</a:t>
            </a:r>
            <a:r>
              <a:rPr kumimoji="1" lang="zh-CN" altLang="en-US" dirty="0">
                <a:latin typeface="Microsoft YaHei" charset="-122"/>
                <a:ea typeface="Microsoft YaHei" charset="-122"/>
                <a:cs typeface="Microsoft YaHei" charset="-122"/>
              </a:rPr>
              <a:t>、</a:t>
            </a:r>
            <a:r>
              <a:rPr kumimoji="1" lang="en-US" altLang="zh-CN" dirty="0">
                <a:latin typeface="Microsoft YaHei" charset="-122"/>
                <a:ea typeface="Microsoft YaHei" charset="-122"/>
                <a:cs typeface="Microsoft YaHei" charset="-122"/>
              </a:rPr>
              <a:t>Glove</a:t>
            </a:r>
            <a:r>
              <a:rPr kumimoji="1" lang="zh-CN" altLang="en-US" dirty="0">
                <a:latin typeface="Microsoft YaHei" charset="-122"/>
                <a:ea typeface="Microsoft YaHei" charset="-122"/>
                <a:cs typeface="Microsoft YaHei" charset="-122"/>
              </a:rPr>
              <a:t>、</a:t>
            </a:r>
            <a:r>
              <a:rPr kumimoji="1" lang="en-US" altLang="zh-CN" dirty="0">
                <a:latin typeface="Microsoft YaHei" charset="-122"/>
                <a:ea typeface="Microsoft YaHei" charset="-122"/>
                <a:cs typeface="Microsoft YaHei" charset="-122"/>
              </a:rPr>
              <a:t>BTM</a:t>
            </a:r>
            <a:r>
              <a:rPr kumimoji="1" lang="zh-CN" altLang="en-US" dirty="0">
                <a:latin typeface="Microsoft YaHei" charset="-122"/>
                <a:ea typeface="Microsoft YaHei" charset="-122"/>
                <a:cs typeface="Microsoft YaHei" charset="-122"/>
              </a:rPr>
              <a:t>等词嵌入模型</a:t>
            </a:r>
          </a:p>
        </p:txBody>
      </p:sp>
      <p:sp>
        <p:nvSpPr>
          <p:cNvPr id="21" name="右箭头 20">
            <a:extLst>
              <a:ext uri="{FF2B5EF4-FFF2-40B4-BE49-F238E27FC236}">
                <a16:creationId xmlns:a16="http://schemas.microsoft.com/office/drawing/2014/main" id="{454B44F1-AF57-3A4B-A057-62C3566F0FDD}"/>
              </a:ext>
            </a:extLst>
          </p:cNvPr>
          <p:cNvSpPr/>
          <p:nvPr/>
        </p:nvSpPr>
        <p:spPr>
          <a:xfrm>
            <a:off x="3233836" y="2203151"/>
            <a:ext cx="415637" cy="432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右箭头 21">
            <a:extLst>
              <a:ext uri="{FF2B5EF4-FFF2-40B4-BE49-F238E27FC236}">
                <a16:creationId xmlns:a16="http://schemas.microsoft.com/office/drawing/2014/main" id="{97BADF3B-C483-B94F-9E2A-337F8651EC4B}"/>
              </a:ext>
            </a:extLst>
          </p:cNvPr>
          <p:cNvSpPr/>
          <p:nvPr/>
        </p:nvSpPr>
        <p:spPr>
          <a:xfrm>
            <a:off x="6389846" y="2208963"/>
            <a:ext cx="415637" cy="432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063927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D47BEB-F029-7044-89C8-1086D3E6AA0D}"/>
              </a:ext>
            </a:extLst>
          </p:cNvPr>
          <p:cNvSpPr>
            <a:spLocks noGrp="1"/>
          </p:cNvSpPr>
          <p:nvPr>
            <p:ph type="title"/>
          </p:nvPr>
        </p:nvSpPr>
        <p:spPr/>
        <p:txBody>
          <a:bodyPr/>
          <a:lstStyle/>
          <a:p>
            <a:r>
              <a:rPr kumimoji="1" lang="zh-CN" altLang="en-US" dirty="0"/>
              <a:t>隐空间中与</a:t>
            </a:r>
            <a:r>
              <a:rPr kumimoji="1" lang="en-US" altLang="zh-CN" dirty="0"/>
              <a:t>Feynman</a:t>
            </a:r>
            <a:r>
              <a:rPr kumimoji="1" lang="zh-CN" altLang="en-US" dirty="0"/>
              <a:t>相近的词</a:t>
            </a:r>
          </a:p>
        </p:txBody>
      </p:sp>
      <p:pic>
        <p:nvPicPr>
          <p:cNvPr id="4" name="图片 3">
            <a:extLst>
              <a:ext uri="{FF2B5EF4-FFF2-40B4-BE49-F238E27FC236}">
                <a16:creationId xmlns:a16="http://schemas.microsoft.com/office/drawing/2014/main" id="{39A2E1A7-EA8D-9E48-A86C-314AECF143FA}"/>
              </a:ext>
            </a:extLst>
          </p:cNvPr>
          <p:cNvPicPr>
            <a:picLocks noChangeAspect="1"/>
          </p:cNvPicPr>
          <p:nvPr/>
        </p:nvPicPr>
        <p:blipFill>
          <a:blip r:embed="rId2"/>
          <a:stretch>
            <a:fillRect/>
          </a:stretch>
        </p:blipFill>
        <p:spPr>
          <a:xfrm>
            <a:off x="0" y="967125"/>
            <a:ext cx="9144000" cy="3019245"/>
          </a:xfrm>
          <a:prstGeom prst="rect">
            <a:avLst/>
          </a:prstGeom>
        </p:spPr>
      </p:pic>
      <p:sp>
        <p:nvSpPr>
          <p:cNvPr id="5" name="矩形 4">
            <a:extLst>
              <a:ext uri="{FF2B5EF4-FFF2-40B4-BE49-F238E27FC236}">
                <a16:creationId xmlns:a16="http://schemas.microsoft.com/office/drawing/2014/main" id="{67B6C277-EAB3-4147-947D-4A9EDCDB5373}"/>
              </a:ext>
            </a:extLst>
          </p:cNvPr>
          <p:cNvSpPr/>
          <p:nvPr/>
        </p:nvSpPr>
        <p:spPr>
          <a:xfrm>
            <a:off x="307700" y="4063979"/>
            <a:ext cx="3749360" cy="369332"/>
          </a:xfrm>
          <a:prstGeom prst="rect">
            <a:avLst/>
          </a:prstGeom>
        </p:spPr>
        <p:txBody>
          <a:bodyPr wrap="none">
            <a:spAutoFit/>
          </a:bodyPr>
          <a:lstStyle/>
          <a:p>
            <a:r>
              <a:rPr kumimoji="1" lang="zh-CN" altLang="en-US" dirty="0">
                <a:latin typeface="Microsoft YaHei" charset="-122"/>
                <a:ea typeface="Microsoft YaHei" charset="-122"/>
                <a:cs typeface="Microsoft YaHei" charset="-122"/>
              </a:rPr>
              <a:t>基于</a:t>
            </a:r>
            <a:r>
              <a:rPr kumimoji="1" lang="zh-CN" altLang="en-US" b="1" dirty="0">
                <a:solidFill>
                  <a:srgbClr val="00B0F0"/>
                </a:solidFill>
                <a:latin typeface="Microsoft YaHei" charset="-122"/>
                <a:ea typeface="Microsoft YaHei" charset="-122"/>
                <a:cs typeface="Microsoft YaHei" charset="-122"/>
              </a:rPr>
              <a:t>话题模型</a:t>
            </a:r>
            <a:r>
              <a:rPr kumimoji="1" lang="zh-CN" altLang="en-US" dirty="0">
                <a:latin typeface="Microsoft YaHei" charset="-122"/>
                <a:ea typeface="Microsoft YaHei" charset="-122"/>
                <a:cs typeface="Microsoft YaHei" charset="-122"/>
              </a:rPr>
              <a:t>得到的语义相近的词</a:t>
            </a:r>
            <a:endParaRPr lang="zh-CN" altLang="en-US" dirty="0"/>
          </a:p>
        </p:txBody>
      </p:sp>
      <p:sp>
        <p:nvSpPr>
          <p:cNvPr id="6" name="矩形 5">
            <a:extLst>
              <a:ext uri="{FF2B5EF4-FFF2-40B4-BE49-F238E27FC236}">
                <a16:creationId xmlns:a16="http://schemas.microsoft.com/office/drawing/2014/main" id="{609AB675-F774-154C-BDDD-011895E9EF10}"/>
              </a:ext>
            </a:extLst>
          </p:cNvPr>
          <p:cNvSpPr/>
          <p:nvPr/>
        </p:nvSpPr>
        <p:spPr>
          <a:xfrm>
            <a:off x="4804350" y="4063979"/>
            <a:ext cx="4339650" cy="369332"/>
          </a:xfrm>
          <a:prstGeom prst="rect">
            <a:avLst/>
          </a:prstGeom>
        </p:spPr>
        <p:txBody>
          <a:bodyPr wrap="none">
            <a:spAutoFit/>
          </a:bodyPr>
          <a:lstStyle/>
          <a:p>
            <a:r>
              <a:rPr kumimoji="1" lang="zh-CN" altLang="en-US" dirty="0">
                <a:latin typeface="Microsoft YaHei" charset="-122"/>
                <a:ea typeface="Microsoft YaHei" charset="-122"/>
                <a:cs typeface="Microsoft YaHei" charset="-122"/>
              </a:rPr>
              <a:t>基于</a:t>
            </a:r>
            <a:r>
              <a:rPr kumimoji="1" lang="zh-CN" altLang="en-US" b="1" dirty="0">
                <a:solidFill>
                  <a:srgbClr val="00B0F0"/>
                </a:solidFill>
                <a:latin typeface="Microsoft YaHei" charset="-122"/>
                <a:ea typeface="Microsoft YaHei" charset="-122"/>
                <a:cs typeface="Microsoft YaHei" charset="-122"/>
              </a:rPr>
              <a:t>词嵌入模型</a:t>
            </a:r>
            <a:r>
              <a:rPr kumimoji="1" lang="zh-CN" altLang="en-US" dirty="0">
                <a:latin typeface="Microsoft YaHei" charset="-122"/>
                <a:ea typeface="Microsoft YaHei" charset="-122"/>
                <a:cs typeface="Microsoft YaHei" charset="-122"/>
              </a:rPr>
              <a:t>关系得到的语义相近的词</a:t>
            </a:r>
            <a:endParaRPr lang="zh-CN" altLang="en-US" dirty="0"/>
          </a:p>
        </p:txBody>
      </p:sp>
    </p:spTree>
    <p:extLst>
      <p:ext uri="{BB962C8B-B14F-4D97-AF65-F5344CB8AC3E}">
        <p14:creationId xmlns:p14="http://schemas.microsoft.com/office/powerpoint/2010/main" val="26823186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矩阵分解应用</a:t>
            </a:r>
            <a:r>
              <a:rPr lang="en-US" altLang="zh-CN" dirty="0"/>
              <a:t>:</a:t>
            </a:r>
            <a:r>
              <a:rPr lang="zh-CN" altLang="en-US" dirty="0"/>
              <a:t>主题模型</a:t>
            </a:r>
          </a:p>
        </p:txBody>
      </p:sp>
      <p:sp>
        <p:nvSpPr>
          <p:cNvPr id="5" name="Content Placeholder 2"/>
          <p:cNvSpPr>
            <a:spLocks noGrp="1"/>
          </p:cNvSpPr>
          <p:nvPr>
            <p:ph idx="1"/>
          </p:nvPr>
        </p:nvSpPr>
        <p:spPr>
          <a:xfrm>
            <a:off x="457200" y="3201877"/>
            <a:ext cx="8229600" cy="1988252"/>
          </a:xfrm>
        </p:spPr>
        <p:txBody>
          <a:bodyPr>
            <a:normAutofit/>
          </a:bodyPr>
          <a:lstStyle/>
          <a:p>
            <a:r>
              <a:rPr lang="zh-CN" altLang="en-US" sz="2100" dirty="0"/>
              <a:t>输入：文档集合（</a:t>
            </a:r>
            <a:r>
              <a:rPr lang="en-US" altLang="zh-CN" sz="2100" dirty="0"/>
              <a:t>Bag</a:t>
            </a:r>
            <a:r>
              <a:rPr lang="zh-CN" altLang="en-US" sz="2100" dirty="0"/>
              <a:t> </a:t>
            </a:r>
            <a:r>
              <a:rPr lang="en-US" altLang="zh-CN" sz="2100" dirty="0"/>
              <a:t>of</a:t>
            </a:r>
            <a:r>
              <a:rPr lang="zh-CN" altLang="en-US" sz="2100" dirty="0"/>
              <a:t> </a:t>
            </a:r>
            <a:r>
              <a:rPr lang="en-US" altLang="zh-CN" sz="2100" dirty="0"/>
              <a:t>words</a:t>
            </a:r>
            <a:r>
              <a:rPr lang="zh-CN" altLang="en-US" sz="2100" dirty="0"/>
              <a:t>表示）</a:t>
            </a:r>
            <a:endParaRPr lang="en-US" sz="2100" dirty="0"/>
          </a:p>
          <a:p>
            <a:r>
              <a:rPr lang="zh-CN" altLang="en-US" sz="2100" dirty="0"/>
              <a:t>目标：发现文档中“潜在的”话题</a:t>
            </a:r>
            <a:endParaRPr lang="en-US" sz="2100" dirty="0"/>
          </a:p>
          <a:p>
            <a:r>
              <a:rPr lang="zh-CN" altLang="en-US" sz="2100" dirty="0"/>
              <a:t>输出</a:t>
            </a:r>
            <a:endParaRPr lang="en-US" sz="2100" dirty="0"/>
          </a:p>
          <a:p>
            <a:pPr lvl="1"/>
            <a:r>
              <a:rPr lang="zh-CN" altLang="en-US" dirty="0"/>
              <a:t>潜在话题（不同权重的词）</a:t>
            </a:r>
            <a:endParaRPr lang="en-US" altLang="zh-CN" dirty="0"/>
          </a:p>
          <a:p>
            <a:pPr lvl="1"/>
            <a:r>
              <a:rPr lang="zh-CN" altLang="en-US" dirty="0"/>
              <a:t>用话题表示的文档</a:t>
            </a:r>
            <a:endParaRPr lang="en-US" dirty="0"/>
          </a:p>
          <a:p>
            <a:pPr lvl="1"/>
            <a:endParaRPr lang="en-US" dirty="0"/>
          </a:p>
        </p:txBody>
      </p:sp>
      <p:sp>
        <p:nvSpPr>
          <p:cNvPr id="4" name="灯片编号占位符 3"/>
          <p:cNvSpPr>
            <a:spLocks noGrp="1"/>
          </p:cNvSpPr>
          <p:nvPr>
            <p:ph type="sldNum" sz="quarter" idx="12"/>
          </p:nvPr>
        </p:nvSpPr>
        <p:spPr/>
        <p:txBody>
          <a:bodyPr/>
          <a:lstStyle/>
          <a:p>
            <a:fld id="{2F264DDB-364C-410E-A66B-B19CEFA5EF0F}" type="slidenum">
              <a:rPr lang="zh-CN" altLang="en-US" smtClean="0"/>
              <a:pPr/>
              <a:t>32</a:t>
            </a:fld>
            <a:endParaRPr lang="zh-CN" altLang="en-US"/>
          </a:p>
        </p:txBody>
      </p:sp>
      <p:grpSp>
        <p:nvGrpSpPr>
          <p:cNvPr id="6" name="Group 59"/>
          <p:cNvGrpSpPr/>
          <p:nvPr/>
        </p:nvGrpSpPr>
        <p:grpSpPr>
          <a:xfrm>
            <a:off x="2717598" y="1037920"/>
            <a:ext cx="748154" cy="1918102"/>
            <a:chOff x="2057400" y="2602468"/>
            <a:chExt cx="997537" cy="2557468"/>
          </a:xfrm>
        </p:grpSpPr>
        <p:sp>
          <p:nvSpPr>
            <p:cNvPr id="7" name="TextBox 3"/>
            <p:cNvSpPr txBox="1"/>
            <p:nvPr/>
          </p:nvSpPr>
          <p:spPr>
            <a:xfrm>
              <a:off x="2057400" y="2602468"/>
              <a:ext cx="847923" cy="400109"/>
            </a:xfrm>
            <a:prstGeom prst="rect">
              <a:avLst/>
            </a:prstGeom>
            <a:ln w="12700"/>
          </p:spPr>
          <p:style>
            <a:lnRef idx="2">
              <a:schemeClr val="dk1"/>
            </a:lnRef>
            <a:fillRef idx="1">
              <a:schemeClr val="lt1"/>
            </a:fillRef>
            <a:effectRef idx="0">
              <a:schemeClr val="dk1"/>
            </a:effectRef>
            <a:fontRef idx="minor">
              <a:schemeClr val="dk1"/>
            </a:fontRef>
          </p:style>
          <p:txBody>
            <a:bodyPr wrap="none" rtlCol="0">
              <a:spAutoFit/>
            </a:bodyPr>
            <a:lstStyle/>
            <a:p>
              <a:r>
                <a:rPr lang="en-US" sz="1350" dirty="0"/>
                <a:t>word1</a:t>
              </a:r>
            </a:p>
          </p:txBody>
        </p:sp>
        <p:sp>
          <p:nvSpPr>
            <p:cNvPr id="8" name="TextBox 5"/>
            <p:cNvSpPr txBox="1"/>
            <p:nvPr/>
          </p:nvSpPr>
          <p:spPr>
            <a:xfrm>
              <a:off x="2057400" y="3133725"/>
              <a:ext cx="847923" cy="400109"/>
            </a:xfrm>
            <a:prstGeom prst="rect">
              <a:avLst/>
            </a:prstGeom>
            <a:ln w="12700"/>
          </p:spPr>
          <p:style>
            <a:lnRef idx="2">
              <a:schemeClr val="dk1"/>
            </a:lnRef>
            <a:fillRef idx="1">
              <a:schemeClr val="lt1"/>
            </a:fillRef>
            <a:effectRef idx="0">
              <a:schemeClr val="dk1"/>
            </a:effectRef>
            <a:fontRef idx="minor">
              <a:schemeClr val="dk1"/>
            </a:fontRef>
          </p:style>
          <p:txBody>
            <a:bodyPr wrap="none" rtlCol="0">
              <a:spAutoFit/>
            </a:bodyPr>
            <a:lstStyle/>
            <a:p>
              <a:r>
                <a:rPr lang="en-US" sz="1350" dirty="0"/>
                <a:t>word2</a:t>
              </a:r>
            </a:p>
          </p:txBody>
        </p:sp>
        <p:sp>
          <p:nvSpPr>
            <p:cNvPr id="9" name="TextBox 6"/>
            <p:cNvSpPr txBox="1"/>
            <p:nvPr/>
          </p:nvSpPr>
          <p:spPr>
            <a:xfrm>
              <a:off x="2057400" y="3688794"/>
              <a:ext cx="847923" cy="400109"/>
            </a:xfrm>
            <a:prstGeom prst="rect">
              <a:avLst/>
            </a:prstGeom>
            <a:ln w="12700"/>
          </p:spPr>
          <p:style>
            <a:lnRef idx="2">
              <a:schemeClr val="dk1"/>
            </a:lnRef>
            <a:fillRef idx="1">
              <a:schemeClr val="lt1"/>
            </a:fillRef>
            <a:effectRef idx="0">
              <a:schemeClr val="dk1"/>
            </a:effectRef>
            <a:fontRef idx="minor">
              <a:schemeClr val="dk1"/>
            </a:fontRef>
          </p:style>
          <p:txBody>
            <a:bodyPr wrap="none" rtlCol="0">
              <a:spAutoFit/>
            </a:bodyPr>
            <a:lstStyle/>
            <a:p>
              <a:r>
                <a:rPr lang="en-US" sz="1350" dirty="0"/>
                <a:t>word3</a:t>
              </a:r>
            </a:p>
          </p:txBody>
        </p:sp>
        <p:sp>
          <p:nvSpPr>
            <p:cNvPr id="10" name="TextBox 7"/>
            <p:cNvSpPr txBox="1"/>
            <p:nvPr/>
          </p:nvSpPr>
          <p:spPr>
            <a:xfrm>
              <a:off x="2278389" y="4200472"/>
              <a:ext cx="406522" cy="400109"/>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1350" dirty="0"/>
                <a:t>…</a:t>
              </a:r>
            </a:p>
          </p:txBody>
        </p:sp>
        <p:sp>
          <p:nvSpPr>
            <p:cNvPr id="11" name="TextBox 8"/>
            <p:cNvSpPr txBox="1"/>
            <p:nvPr/>
          </p:nvSpPr>
          <p:spPr>
            <a:xfrm>
              <a:off x="2057400" y="4759827"/>
              <a:ext cx="997537" cy="400109"/>
            </a:xfrm>
            <a:prstGeom prst="rect">
              <a:avLst/>
            </a:prstGeom>
            <a:ln w="12700"/>
          </p:spPr>
          <p:style>
            <a:lnRef idx="2">
              <a:schemeClr val="dk1"/>
            </a:lnRef>
            <a:fillRef idx="1">
              <a:schemeClr val="lt1"/>
            </a:fillRef>
            <a:effectRef idx="0">
              <a:schemeClr val="dk1"/>
            </a:effectRef>
            <a:fontRef idx="minor">
              <a:schemeClr val="dk1"/>
            </a:fontRef>
          </p:style>
          <p:txBody>
            <a:bodyPr wrap="none" rtlCol="0">
              <a:spAutoFit/>
            </a:bodyPr>
            <a:lstStyle/>
            <a:p>
              <a:r>
                <a:rPr lang="en-US" sz="1350" dirty="0"/>
                <a:t>word-M</a:t>
              </a:r>
            </a:p>
          </p:txBody>
        </p:sp>
      </p:grpSp>
      <p:grpSp>
        <p:nvGrpSpPr>
          <p:cNvPr id="12" name="Group 61"/>
          <p:cNvGrpSpPr/>
          <p:nvPr/>
        </p:nvGrpSpPr>
        <p:grpSpPr>
          <a:xfrm>
            <a:off x="4155977" y="1124856"/>
            <a:ext cx="679930" cy="1618421"/>
            <a:chOff x="3962400" y="2812018"/>
            <a:chExt cx="906572" cy="2157895"/>
          </a:xfrm>
        </p:grpSpPr>
        <p:sp>
          <p:nvSpPr>
            <p:cNvPr id="13" name="TextBox 9"/>
            <p:cNvSpPr txBox="1"/>
            <p:nvPr/>
          </p:nvSpPr>
          <p:spPr>
            <a:xfrm>
              <a:off x="3962400" y="2812018"/>
              <a:ext cx="833903" cy="400109"/>
            </a:xfrm>
            <a:prstGeom prst="rect">
              <a:avLst/>
            </a:prstGeom>
            <a:ln w="12700"/>
          </p:spPr>
          <p:style>
            <a:lnRef idx="2">
              <a:schemeClr val="dk1"/>
            </a:lnRef>
            <a:fillRef idx="1">
              <a:schemeClr val="lt1"/>
            </a:fillRef>
            <a:effectRef idx="0">
              <a:schemeClr val="dk1"/>
            </a:effectRef>
            <a:fontRef idx="minor">
              <a:schemeClr val="dk1"/>
            </a:fontRef>
          </p:style>
          <p:txBody>
            <a:bodyPr wrap="none" rtlCol="0">
              <a:spAutoFit/>
            </a:bodyPr>
            <a:lstStyle/>
            <a:p>
              <a:r>
                <a:rPr lang="en-US" sz="1350" dirty="0"/>
                <a:t>topic1</a:t>
              </a:r>
            </a:p>
          </p:txBody>
        </p:sp>
        <p:sp>
          <p:nvSpPr>
            <p:cNvPr id="14" name="TextBox 10"/>
            <p:cNvSpPr txBox="1"/>
            <p:nvPr/>
          </p:nvSpPr>
          <p:spPr>
            <a:xfrm>
              <a:off x="3962400" y="3504127"/>
              <a:ext cx="833903" cy="400109"/>
            </a:xfrm>
            <a:prstGeom prst="rect">
              <a:avLst/>
            </a:prstGeom>
            <a:ln w="12700"/>
          </p:spPr>
          <p:style>
            <a:lnRef idx="2">
              <a:schemeClr val="dk1"/>
            </a:lnRef>
            <a:fillRef idx="1">
              <a:schemeClr val="lt1"/>
            </a:fillRef>
            <a:effectRef idx="0">
              <a:schemeClr val="dk1"/>
            </a:effectRef>
            <a:fontRef idx="minor">
              <a:schemeClr val="dk1"/>
            </a:fontRef>
          </p:style>
          <p:txBody>
            <a:bodyPr wrap="none" rtlCol="0">
              <a:spAutoFit/>
            </a:bodyPr>
            <a:lstStyle/>
            <a:p>
              <a:r>
                <a:rPr lang="en-US" sz="1350" dirty="0"/>
                <a:t>topic2</a:t>
              </a:r>
            </a:p>
          </p:txBody>
        </p:sp>
        <p:sp>
          <p:nvSpPr>
            <p:cNvPr id="15" name="TextBox 11"/>
            <p:cNvSpPr txBox="1"/>
            <p:nvPr/>
          </p:nvSpPr>
          <p:spPr>
            <a:xfrm>
              <a:off x="3962400" y="4569804"/>
              <a:ext cx="906572" cy="400109"/>
            </a:xfrm>
            <a:prstGeom prst="rect">
              <a:avLst/>
            </a:prstGeom>
            <a:ln w="12700"/>
          </p:spPr>
          <p:style>
            <a:lnRef idx="2">
              <a:schemeClr val="dk1"/>
            </a:lnRef>
            <a:fillRef idx="1">
              <a:schemeClr val="lt1"/>
            </a:fillRef>
            <a:effectRef idx="0">
              <a:schemeClr val="dk1"/>
            </a:effectRef>
            <a:fontRef idx="minor">
              <a:schemeClr val="dk1"/>
            </a:fontRef>
          </p:style>
          <p:txBody>
            <a:bodyPr wrap="none" rtlCol="0">
              <a:spAutoFit/>
            </a:bodyPr>
            <a:lstStyle/>
            <a:p>
              <a:r>
                <a:rPr lang="en-US" sz="1350" dirty="0"/>
                <a:t>topic-K</a:t>
              </a:r>
            </a:p>
          </p:txBody>
        </p:sp>
        <p:sp>
          <p:nvSpPr>
            <p:cNvPr id="16" name="TextBox 12"/>
            <p:cNvSpPr txBox="1"/>
            <p:nvPr/>
          </p:nvSpPr>
          <p:spPr>
            <a:xfrm>
              <a:off x="4176080" y="4015805"/>
              <a:ext cx="406522" cy="400109"/>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spAutoFit/>
            </a:bodyPr>
            <a:lstStyle>
              <a:defPPr>
                <a:defRPr lang="en-US"/>
              </a:defPPr>
            </a:lstStyle>
            <a:p>
              <a:r>
                <a:rPr lang="en-US" sz="1350" dirty="0"/>
                <a:t>…</a:t>
              </a:r>
            </a:p>
          </p:txBody>
        </p:sp>
      </p:grpSp>
      <p:grpSp>
        <p:nvGrpSpPr>
          <p:cNvPr id="17" name="Group 62"/>
          <p:cNvGrpSpPr/>
          <p:nvPr/>
        </p:nvGrpSpPr>
        <p:grpSpPr>
          <a:xfrm>
            <a:off x="3353542" y="1187961"/>
            <a:ext cx="802436" cy="1618020"/>
            <a:chOff x="2896526" y="1472958"/>
            <a:chExt cx="1069914" cy="2157361"/>
          </a:xfrm>
        </p:grpSpPr>
        <p:cxnSp>
          <p:nvCxnSpPr>
            <p:cNvPr id="18" name="Straight Arrow Connector 17"/>
            <p:cNvCxnSpPr>
              <a:stCxn id="8" idx="3"/>
              <a:endCxn id="13" idx="1"/>
            </p:cNvCxnSpPr>
            <p:nvPr/>
          </p:nvCxnSpPr>
          <p:spPr>
            <a:xfrm flipV="1">
              <a:off x="2896527" y="1588873"/>
              <a:ext cx="1069913" cy="415343"/>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9" name="Straight Arrow Connector 19"/>
            <p:cNvCxnSpPr>
              <a:stCxn id="7" idx="3"/>
              <a:endCxn id="14" idx="1"/>
            </p:cNvCxnSpPr>
            <p:nvPr/>
          </p:nvCxnSpPr>
          <p:spPr>
            <a:xfrm>
              <a:off x="2896526" y="1472958"/>
              <a:ext cx="1069913" cy="808024"/>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 name="Straight Arrow Connector 22"/>
            <p:cNvCxnSpPr>
              <a:stCxn id="7" idx="3"/>
              <a:endCxn id="15" idx="1"/>
            </p:cNvCxnSpPr>
            <p:nvPr/>
          </p:nvCxnSpPr>
          <p:spPr>
            <a:xfrm>
              <a:off x="2896526" y="1472958"/>
              <a:ext cx="1069914" cy="187370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Straight Arrow Connector 26"/>
            <p:cNvCxnSpPr>
              <a:stCxn id="11" idx="3"/>
              <a:endCxn id="15" idx="1"/>
            </p:cNvCxnSpPr>
            <p:nvPr/>
          </p:nvCxnSpPr>
          <p:spPr>
            <a:xfrm flipV="1">
              <a:off x="3046140" y="3346659"/>
              <a:ext cx="920300" cy="28366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Arrow Connector 29"/>
            <p:cNvCxnSpPr>
              <a:stCxn id="11" idx="3"/>
              <a:endCxn id="14" idx="1"/>
            </p:cNvCxnSpPr>
            <p:nvPr/>
          </p:nvCxnSpPr>
          <p:spPr>
            <a:xfrm flipV="1">
              <a:off x="3046140" y="2280982"/>
              <a:ext cx="920298" cy="134933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Arrow Connector 32"/>
            <p:cNvCxnSpPr>
              <a:stCxn id="9" idx="3"/>
              <a:endCxn id="13" idx="1"/>
            </p:cNvCxnSpPr>
            <p:nvPr/>
          </p:nvCxnSpPr>
          <p:spPr>
            <a:xfrm flipV="1">
              <a:off x="2896526" y="1588873"/>
              <a:ext cx="1069913" cy="97041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Arrow Connector 35"/>
            <p:cNvCxnSpPr>
              <a:stCxn id="8" idx="3"/>
              <a:endCxn id="15" idx="1"/>
            </p:cNvCxnSpPr>
            <p:nvPr/>
          </p:nvCxnSpPr>
          <p:spPr>
            <a:xfrm>
              <a:off x="2896526" y="2004216"/>
              <a:ext cx="1069914" cy="1342443"/>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5" name="Group 60"/>
          <p:cNvGrpSpPr/>
          <p:nvPr/>
        </p:nvGrpSpPr>
        <p:grpSpPr>
          <a:xfrm>
            <a:off x="5581699" y="1039342"/>
            <a:ext cx="628651" cy="2055978"/>
            <a:chOff x="6172199" y="2417801"/>
            <a:chExt cx="838201" cy="2741303"/>
          </a:xfrm>
        </p:grpSpPr>
        <p:sp>
          <p:nvSpPr>
            <p:cNvPr id="26" name="Flowchart: Document 4"/>
            <p:cNvSpPr/>
            <p:nvPr/>
          </p:nvSpPr>
          <p:spPr>
            <a:xfrm>
              <a:off x="6172199" y="2417801"/>
              <a:ext cx="833911" cy="406332"/>
            </a:xfrm>
            <a:prstGeom prst="flowChartDocument">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t>doc1</a:t>
              </a:r>
            </a:p>
          </p:txBody>
        </p:sp>
        <p:sp>
          <p:nvSpPr>
            <p:cNvPr id="27" name="Flowchart: Document 14"/>
            <p:cNvSpPr/>
            <p:nvPr/>
          </p:nvSpPr>
          <p:spPr>
            <a:xfrm>
              <a:off x="6172200" y="3025503"/>
              <a:ext cx="833899" cy="413477"/>
            </a:xfrm>
            <a:prstGeom prst="flowChartDocument">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t>doc2</a:t>
              </a:r>
            </a:p>
          </p:txBody>
        </p:sp>
        <p:sp>
          <p:nvSpPr>
            <p:cNvPr id="28" name="Flowchart: Document 15"/>
            <p:cNvSpPr/>
            <p:nvPr/>
          </p:nvSpPr>
          <p:spPr>
            <a:xfrm>
              <a:off x="6172200" y="3688794"/>
              <a:ext cx="833898" cy="429720"/>
            </a:xfrm>
            <a:prstGeom prst="flowChartDocument">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t>doc3</a:t>
              </a:r>
            </a:p>
          </p:txBody>
        </p:sp>
        <p:sp>
          <p:nvSpPr>
            <p:cNvPr id="29" name="Flowchart: Document 16"/>
            <p:cNvSpPr/>
            <p:nvPr/>
          </p:nvSpPr>
          <p:spPr>
            <a:xfrm>
              <a:off x="6172200" y="4764888"/>
              <a:ext cx="838200" cy="394216"/>
            </a:xfrm>
            <a:prstGeom prst="flowChartDocument">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t>doc-N</a:t>
              </a:r>
            </a:p>
          </p:txBody>
        </p:sp>
        <p:sp>
          <p:nvSpPr>
            <p:cNvPr id="30" name="TextBox 44"/>
            <p:cNvSpPr txBox="1"/>
            <p:nvPr/>
          </p:nvSpPr>
          <p:spPr>
            <a:xfrm>
              <a:off x="6343419" y="4191000"/>
              <a:ext cx="406523" cy="400109"/>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spAutoFit/>
            </a:bodyPr>
            <a:lstStyle>
              <a:defPPr>
                <a:defRPr lang="en-US"/>
              </a:defPPr>
            </a:lstStyle>
            <a:p>
              <a:r>
                <a:rPr lang="en-US" sz="1350" dirty="0"/>
                <a:t>…</a:t>
              </a:r>
            </a:p>
          </p:txBody>
        </p:sp>
      </p:grpSp>
      <p:grpSp>
        <p:nvGrpSpPr>
          <p:cNvPr id="31" name="Group 2047"/>
          <p:cNvGrpSpPr/>
          <p:nvPr/>
        </p:nvGrpSpPr>
        <p:grpSpPr>
          <a:xfrm>
            <a:off x="4781404" y="1191717"/>
            <a:ext cx="800296" cy="1755772"/>
            <a:chOff x="4800339" y="1486963"/>
            <a:chExt cx="1067061" cy="2341029"/>
          </a:xfrm>
        </p:grpSpPr>
        <p:cxnSp>
          <p:nvCxnSpPr>
            <p:cNvPr id="32" name="Straight Arrow Connector 38"/>
            <p:cNvCxnSpPr>
              <a:cxnSpLocks/>
              <a:stCxn id="13" idx="3"/>
              <a:endCxn id="26" idx="1"/>
            </p:cNvCxnSpPr>
            <p:nvPr/>
          </p:nvCxnSpPr>
          <p:spPr>
            <a:xfrm flipV="1">
              <a:off x="4800339" y="1486963"/>
              <a:ext cx="1067058" cy="11090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Arrow Connector 41"/>
            <p:cNvCxnSpPr>
              <a:cxnSpLocks/>
              <a:stCxn id="15" idx="3"/>
              <a:endCxn id="26" idx="1"/>
            </p:cNvCxnSpPr>
            <p:nvPr/>
          </p:nvCxnSpPr>
          <p:spPr>
            <a:xfrm flipV="1">
              <a:off x="4873010" y="1486963"/>
              <a:ext cx="994389" cy="186869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Arrow Connector 45"/>
            <p:cNvCxnSpPr>
              <a:stCxn id="14" idx="3"/>
              <a:endCxn id="29" idx="1"/>
            </p:cNvCxnSpPr>
            <p:nvPr/>
          </p:nvCxnSpPr>
          <p:spPr>
            <a:xfrm>
              <a:off x="4800341" y="2289979"/>
              <a:ext cx="1067059" cy="1538013"/>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Arrow Connector 48"/>
            <p:cNvCxnSpPr>
              <a:stCxn id="13" idx="3"/>
              <a:endCxn id="29" idx="1"/>
            </p:cNvCxnSpPr>
            <p:nvPr/>
          </p:nvCxnSpPr>
          <p:spPr>
            <a:xfrm>
              <a:off x="4800341" y="1597870"/>
              <a:ext cx="1067059" cy="223012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Arrow Connector 51"/>
            <p:cNvCxnSpPr>
              <a:cxnSpLocks/>
              <a:stCxn id="15" idx="3"/>
              <a:endCxn id="27" idx="1"/>
            </p:cNvCxnSpPr>
            <p:nvPr/>
          </p:nvCxnSpPr>
          <p:spPr>
            <a:xfrm flipV="1">
              <a:off x="4873010" y="2098238"/>
              <a:ext cx="994390" cy="125741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Arrow Connector 55"/>
            <p:cNvCxnSpPr>
              <a:cxnSpLocks/>
              <a:stCxn id="13" idx="3"/>
              <a:endCxn id="27" idx="1"/>
            </p:cNvCxnSpPr>
            <p:nvPr/>
          </p:nvCxnSpPr>
          <p:spPr>
            <a:xfrm>
              <a:off x="4800339" y="1597870"/>
              <a:ext cx="1067059" cy="50036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Arrow Connector 56"/>
            <p:cNvCxnSpPr>
              <a:cxnSpLocks/>
              <a:stCxn id="13" idx="3"/>
              <a:endCxn id="28" idx="1"/>
            </p:cNvCxnSpPr>
            <p:nvPr/>
          </p:nvCxnSpPr>
          <p:spPr>
            <a:xfrm>
              <a:off x="4800340" y="1597870"/>
              <a:ext cx="1067060" cy="117178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39" name="Group 67"/>
          <p:cNvGrpSpPr/>
          <p:nvPr/>
        </p:nvGrpSpPr>
        <p:grpSpPr>
          <a:xfrm>
            <a:off x="3353539" y="1187961"/>
            <a:ext cx="2228161" cy="1759528"/>
            <a:chOff x="1944914" y="-836802"/>
            <a:chExt cx="2970880" cy="2346038"/>
          </a:xfrm>
        </p:grpSpPr>
        <p:cxnSp>
          <p:nvCxnSpPr>
            <p:cNvPr id="40" name="Straight Arrow Connector 68"/>
            <p:cNvCxnSpPr>
              <a:cxnSpLocks/>
              <a:stCxn id="11" idx="3"/>
              <a:endCxn id="26" idx="1"/>
            </p:cNvCxnSpPr>
            <p:nvPr/>
          </p:nvCxnSpPr>
          <p:spPr>
            <a:xfrm flipV="1">
              <a:off x="2094531" y="-831794"/>
              <a:ext cx="2821263" cy="2152353"/>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Arrow Connector 69"/>
            <p:cNvCxnSpPr>
              <a:cxnSpLocks/>
              <a:stCxn id="11" idx="3"/>
              <a:endCxn id="27" idx="1"/>
            </p:cNvCxnSpPr>
            <p:nvPr/>
          </p:nvCxnSpPr>
          <p:spPr>
            <a:xfrm flipV="1">
              <a:off x="2094531" y="-220519"/>
              <a:ext cx="2821263" cy="154107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Arrow Connector 70"/>
            <p:cNvCxnSpPr>
              <a:cxnSpLocks/>
              <a:stCxn id="11" idx="3"/>
              <a:endCxn id="28" idx="1"/>
            </p:cNvCxnSpPr>
            <p:nvPr/>
          </p:nvCxnSpPr>
          <p:spPr>
            <a:xfrm flipV="1">
              <a:off x="2094531" y="450893"/>
              <a:ext cx="2821263" cy="86966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Arrow Connector 71"/>
            <p:cNvCxnSpPr>
              <a:stCxn id="9" idx="3"/>
              <a:endCxn id="29" idx="1"/>
            </p:cNvCxnSpPr>
            <p:nvPr/>
          </p:nvCxnSpPr>
          <p:spPr>
            <a:xfrm>
              <a:off x="1944914" y="249525"/>
              <a:ext cx="2970877" cy="125971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Arrow Connector 72"/>
            <p:cNvCxnSpPr>
              <a:cxnSpLocks/>
              <a:stCxn id="8" idx="3"/>
              <a:endCxn id="28" idx="1"/>
            </p:cNvCxnSpPr>
            <p:nvPr/>
          </p:nvCxnSpPr>
          <p:spPr>
            <a:xfrm>
              <a:off x="1944917" y="-305545"/>
              <a:ext cx="2970877" cy="75643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Arrow Connector 73"/>
            <p:cNvCxnSpPr>
              <a:cxnSpLocks/>
              <a:stCxn id="7" idx="3"/>
              <a:endCxn id="26" idx="1"/>
            </p:cNvCxnSpPr>
            <p:nvPr/>
          </p:nvCxnSpPr>
          <p:spPr>
            <a:xfrm>
              <a:off x="1944917" y="-836802"/>
              <a:ext cx="2970877" cy="500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2549306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9"/>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website&#10;&#10;AI-generated content may be incorrect.">
            <a:extLst>
              <a:ext uri="{FF2B5EF4-FFF2-40B4-BE49-F238E27FC236}">
                <a16:creationId xmlns:a16="http://schemas.microsoft.com/office/drawing/2014/main" id="{BD0CD8F4-229E-EA6C-BA33-E5F6EF1309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348" y="1998548"/>
            <a:ext cx="8632459" cy="1582774"/>
          </a:xfrm>
          <a:prstGeom prst="rect">
            <a:avLst/>
          </a:prstGeom>
        </p:spPr>
      </p:pic>
      <p:sp>
        <p:nvSpPr>
          <p:cNvPr id="2" name="标题 1">
            <a:extLst>
              <a:ext uri="{FF2B5EF4-FFF2-40B4-BE49-F238E27FC236}">
                <a16:creationId xmlns:a16="http://schemas.microsoft.com/office/drawing/2014/main" id="{6A4FC916-6987-2A47-84DB-C998A4E3A127}"/>
              </a:ext>
            </a:extLst>
          </p:cNvPr>
          <p:cNvSpPr>
            <a:spLocks noGrp="1"/>
          </p:cNvSpPr>
          <p:nvPr>
            <p:ph type="title"/>
          </p:nvPr>
        </p:nvSpPr>
        <p:spPr/>
        <p:txBody>
          <a:bodyPr/>
          <a:lstStyle/>
          <a:p>
            <a:r>
              <a:rPr kumimoji="1" lang="zh-CN" altLang="en-US" dirty="0"/>
              <a:t>话题模型</a:t>
            </a:r>
            <a:r>
              <a:rPr kumimoji="1" lang="en-US" altLang="zh-CN" dirty="0"/>
              <a:t>LSI</a:t>
            </a:r>
            <a:endParaRPr kumimoji="1" lang="zh-CN" altLang="en-US" dirty="0"/>
          </a:p>
        </p:txBody>
      </p:sp>
      <p:sp>
        <p:nvSpPr>
          <p:cNvPr id="4" name="内容占位符 3">
            <a:extLst>
              <a:ext uri="{FF2B5EF4-FFF2-40B4-BE49-F238E27FC236}">
                <a16:creationId xmlns:a16="http://schemas.microsoft.com/office/drawing/2014/main" id="{B7A5909A-5939-AF43-898E-4516F1DDF01F}"/>
              </a:ext>
            </a:extLst>
          </p:cNvPr>
          <p:cNvSpPr>
            <a:spLocks noGrp="1"/>
          </p:cNvSpPr>
          <p:nvPr>
            <p:ph idx="1"/>
          </p:nvPr>
        </p:nvSpPr>
        <p:spPr/>
        <p:txBody>
          <a:bodyPr>
            <a:normAutofit fontScale="92500" lnSpcReduction="10000"/>
          </a:bodyPr>
          <a:lstStyle/>
          <a:p>
            <a:r>
              <a:rPr kumimoji="1" lang="zh-CN" altLang="en-US" dirty="0"/>
              <a:t>潜语义索引：</a:t>
            </a:r>
            <a:r>
              <a:rPr kumimoji="1" lang="en-US" altLang="zh-CN" dirty="0"/>
              <a:t>Latent</a:t>
            </a:r>
            <a:r>
              <a:rPr kumimoji="1" lang="zh-CN" altLang="en-US" dirty="0"/>
              <a:t> </a:t>
            </a:r>
            <a:r>
              <a:rPr kumimoji="1" lang="en-US" altLang="zh-CN" dirty="0"/>
              <a:t>Semantic</a:t>
            </a:r>
            <a:r>
              <a:rPr kumimoji="1" lang="zh-CN" altLang="en-US" dirty="0"/>
              <a:t> </a:t>
            </a:r>
            <a:r>
              <a:rPr kumimoji="1" lang="en-US" altLang="zh-CN" dirty="0"/>
              <a:t>Index</a:t>
            </a:r>
            <a:r>
              <a:rPr kumimoji="1" lang="zh-CN" altLang="en-US" dirty="0"/>
              <a:t> </a:t>
            </a:r>
            <a:r>
              <a:rPr kumimoji="1" lang="en-US" altLang="zh-CN" dirty="0"/>
              <a:t>(LSI)</a:t>
            </a:r>
          </a:p>
          <a:p>
            <a:r>
              <a:rPr lang="zh-CN" altLang="en" dirty="0"/>
              <a:t>也被</a:t>
            </a:r>
            <a:r>
              <a:rPr lang="zh-CN" altLang="en-US" dirty="0"/>
              <a:t>称为</a:t>
            </a:r>
            <a:r>
              <a:rPr lang="en" altLang="zh-CN" dirty="0"/>
              <a:t>Latent Semantic Analysis</a:t>
            </a:r>
            <a:r>
              <a:rPr lang="zh-CN" altLang="en-US" dirty="0"/>
              <a:t> </a:t>
            </a:r>
            <a:r>
              <a:rPr lang="en-US" altLang="zh-CN" dirty="0"/>
              <a:t>(LSA)</a:t>
            </a:r>
            <a:endParaRPr lang="en"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基于矩阵分解的话题模型</a:t>
            </a:r>
            <a:endParaRPr kumimoji="1" lang="en-US" altLang="zh-CN" dirty="0"/>
          </a:p>
          <a:p>
            <a:r>
              <a:rPr kumimoji="1" lang="zh-CN" altLang="en-US" dirty="0"/>
              <a:t>通过求解单词</a:t>
            </a:r>
            <a:r>
              <a:rPr kumimoji="1" lang="en-US" altLang="zh-CN" dirty="0"/>
              <a:t>-</a:t>
            </a:r>
            <a:r>
              <a:rPr kumimoji="1" lang="zh-CN" altLang="en-US" dirty="0"/>
              <a:t>文档共现矩阵的</a:t>
            </a:r>
            <a:r>
              <a:rPr kumimoji="1" lang="zh-CN" altLang="en-US" dirty="0">
                <a:solidFill>
                  <a:srgbClr val="C00000"/>
                </a:solidFill>
              </a:rPr>
              <a:t>低秩近似</a:t>
            </a:r>
            <a:r>
              <a:rPr kumimoji="1" lang="zh-CN" altLang="en-US" dirty="0"/>
              <a:t>得到话题</a:t>
            </a:r>
            <a:endParaRPr kumimoji="1" lang="en-US" altLang="zh-CN" dirty="0"/>
          </a:p>
          <a:p>
            <a:endParaRPr kumimoji="1" lang="en-US" altLang="zh-CN" dirty="0"/>
          </a:p>
          <a:p>
            <a:endParaRPr kumimoji="1" lang="zh-CN" altLang="en-US" dirty="0"/>
          </a:p>
        </p:txBody>
      </p:sp>
      <p:sp>
        <p:nvSpPr>
          <p:cNvPr id="7" name="椭圆 6">
            <a:extLst>
              <a:ext uri="{FF2B5EF4-FFF2-40B4-BE49-F238E27FC236}">
                <a16:creationId xmlns:a16="http://schemas.microsoft.com/office/drawing/2014/main" id="{4EABDFFA-DF9C-264E-9AF1-794731890B30}"/>
              </a:ext>
            </a:extLst>
          </p:cNvPr>
          <p:cNvSpPr/>
          <p:nvPr/>
        </p:nvSpPr>
        <p:spPr>
          <a:xfrm>
            <a:off x="1918654" y="3177946"/>
            <a:ext cx="1450404" cy="429491"/>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C62D7811-4698-0F49-ACD9-1FB2D0A331D7}"/>
              </a:ext>
            </a:extLst>
          </p:cNvPr>
          <p:cNvSpPr/>
          <p:nvPr/>
        </p:nvSpPr>
        <p:spPr>
          <a:xfrm>
            <a:off x="765920" y="1484138"/>
            <a:ext cx="7920880" cy="400110"/>
          </a:xfrm>
          <a:prstGeom prst="rect">
            <a:avLst/>
          </a:prstGeom>
        </p:spPr>
        <p:txBody>
          <a:bodyPr wrap="square">
            <a:spAutoFit/>
          </a:bodyPr>
          <a:lstStyle/>
          <a:p>
            <a:r>
              <a:rPr lang="en-US" altLang="zh-CN" sz="2000" dirty="0" err="1">
                <a:latin typeface="Times" panose="02020603050405020304" pitchFamily="18" charset="0"/>
                <a:cs typeface="Times" panose="02020603050405020304" pitchFamily="18" charset="0"/>
              </a:rPr>
              <a:t>Deerwester</a:t>
            </a:r>
            <a:r>
              <a:rPr lang="en-US" altLang="zh-CN" sz="2000" dirty="0">
                <a:latin typeface="Times" panose="02020603050405020304" pitchFamily="18" charset="0"/>
                <a:cs typeface="Times" panose="02020603050405020304" pitchFamily="18" charset="0"/>
              </a:rPr>
              <a:t> et al., Indexing by Latent Semantic Analysis. 1990.</a:t>
            </a:r>
            <a:endParaRPr lang="zh-CN" altLang="en-US" sz="20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2387917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81980C-217C-2840-A85E-C9D1AB0C3051}"/>
              </a:ext>
            </a:extLst>
          </p:cNvPr>
          <p:cNvSpPr>
            <a:spLocks noGrp="1"/>
          </p:cNvSpPr>
          <p:nvPr>
            <p:ph type="title"/>
          </p:nvPr>
        </p:nvSpPr>
        <p:spPr/>
        <p:txBody>
          <a:bodyPr/>
          <a:lstStyle/>
          <a:p>
            <a:r>
              <a:rPr kumimoji="1" lang="en-US" altLang="zh-CN" dirty="0"/>
              <a:t>LSI</a:t>
            </a:r>
            <a:r>
              <a:rPr kumimoji="1" lang="zh-CN" altLang="en-US" dirty="0"/>
              <a:t>的输入：单词</a:t>
            </a:r>
            <a:r>
              <a:rPr kumimoji="1" lang="en-US" altLang="zh-CN" dirty="0"/>
              <a:t>-</a:t>
            </a:r>
            <a:r>
              <a:rPr kumimoji="1" lang="zh-CN" altLang="en-US" dirty="0"/>
              <a:t>文档的</a:t>
            </a:r>
            <a:r>
              <a:rPr kumimoji="1" lang="zh-CN" altLang="en-US" b="1" dirty="0">
                <a:solidFill>
                  <a:srgbClr val="C00000"/>
                </a:solidFill>
              </a:rPr>
              <a:t>共现矩阵</a:t>
            </a:r>
          </a:p>
        </p:txBody>
      </p:sp>
      <p:pic>
        <p:nvPicPr>
          <p:cNvPr id="9" name="图片 8">
            <a:extLst>
              <a:ext uri="{FF2B5EF4-FFF2-40B4-BE49-F238E27FC236}">
                <a16:creationId xmlns:a16="http://schemas.microsoft.com/office/drawing/2014/main" id="{6750F4E8-D917-C147-AEA9-7C8FCFBD9B0A}"/>
              </a:ext>
            </a:extLst>
          </p:cNvPr>
          <p:cNvPicPr>
            <a:picLocks noChangeAspect="1"/>
          </p:cNvPicPr>
          <p:nvPr/>
        </p:nvPicPr>
        <p:blipFill>
          <a:blip r:embed="rId3"/>
          <a:stretch>
            <a:fillRect/>
          </a:stretch>
        </p:blipFill>
        <p:spPr>
          <a:xfrm>
            <a:off x="112514" y="959039"/>
            <a:ext cx="2416930" cy="1435219"/>
          </a:xfrm>
          <a:prstGeom prst="rect">
            <a:avLst/>
          </a:prstGeom>
        </p:spPr>
      </p:pic>
      <p:pic>
        <p:nvPicPr>
          <p:cNvPr id="10" name="图片 9">
            <a:extLst>
              <a:ext uri="{FF2B5EF4-FFF2-40B4-BE49-F238E27FC236}">
                <a16:creationId xmlns:a16="http://schemas.microsoft.com/office/drawing/2014/main" id="{528048F6-FB62-BD4E-A039-7E2CBAEAF4BF}"/>
              </a:ext>
            </a:extLst>
          </p:cNvPr>
          <p:cNvPicPr>
            <a:picLocks noChangeAspect="1"/>
          </p:cNvPicPr>
          <p:nvPr/>
        </p:nvPicPr>
        <p:blipFill>
          <a:blip r:embed="rId4"/>
          <a:stretch>
            <a:fillRect/>
          </a:stretch>
        </p:blipFill>
        <p:spPr>
          <a:xfrm>
            <a:off x="6291096" y="873911"/>
            <a:ext cx="2179599" cy="1644980"/>
          </a:xfrm>
          <a:prstGeom prst="rect">
            <a:avLst/>
          </a:prstGeom>
        </p:spPr>
      </p:pic>
      <p:pic>
        <p:nvPicPr>
          <p:cNvPr id="8" name="图片 7">
            <a:extLst>
              <a:ext uri="{FF2B5EF4-FFF2-40B4-BE49-F238E27FC236}">
                <a16:creationId xmlns:a16="http://schemas.microsoft.com/office/drawing/2014/main" id="{A888B7CB-394C-4D46-930C-EB684BE96C19}"/>
              </a:ext>
            </a:extLst>
          </p:cNvPr>
          <p:cNvPicPr>
            <a:picLocks noChangeAspect="1"/>
          </p:cNvPicPr>
          <p:nvPr/>
        </p:nvPicPr>
        <p:blipFill>
          <a:blip r:embed="rId5"/>
          <a:stretch>
            <a:fillRect/>
          </a:stretch>
        </p:blipFill>
        <p:spPr>
          <a:xfrm>
            <a:off x="3225570" y="959024"/>
            <a:ext cx="2320968" cy="1334679"/>
          </a:xfrm>
          <a:prstGeom prst="rect">
            <a:avLst/>
          </a:prstGeom>
        </p:spPr>
      </p:pic>
      <p:sp>
        <p:nvSpPr>
          <p:cNvPr id="12" name="右箭头 11">
            <a:extLst>
              <a:ext uri="{FF2B5EF4-FFF2-40B4-BE49-F238E27FC236}">
                <a16:creationId xmlns:a16="http://schemas.microsoft.com/office/drawing/2014/main" id="{CAC7C04D-2915-D644-9EC0-140E0405546A}"/>
              </a:ext>
            </a:extLst>
          </p:cNvPr>
          <p:cNvSpPr/>
          <p:nvPr/>
        </p:nvSpPr>
        <p:spPr>
          <a:xfrm>
            <a:off x="2719449" y="1461507"/>
            <a:ext cx="415637" cy="432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右箭头 12">
            <a:extLst>
              <a:ext uri="{FF2B5EF4-FFF2-40B4-BE49-F238E27FC236}">
                <a16:creationId xmlns:a16="http://schemas.microsoft.com/office/drawing/2014/main" id="{D7F36AB3-74DB-9E4B-98D4-61EAC0F14010}"/>
              </a:ext>
            </a:extLst>
          </p:cNvPr>
          <p:cNvSpPr/>
          <p:nvPr/>
        </p:nvSpPr>
        <p:spPr>
          <a:xfrm>
            <a:off x="5875459" y="1467319"/>
            <a:ext cx="415637" cy="4329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5" name="图片 14">
            <a:extLst>
              <a:ext uri="{FF2B5EF4-FFF2-40B4-BE49-F238E27FC236}">
                <a16:creationId xmlns:a16="http://schemas.microsoft.com/office/drawing/2014/main" id="{D56380C7-207F-B649-A278-EEE0C8B53736}"/>
              </a:ext>
            </a:extLst>
          </p:cNvPr>
          <p:cNvPicPr>
            <a:picLocks noChangeAspect="1"/>
          </p:cNvPicPr>
          <p:nvPr/>
        </p:nvPicPr>
        <p:blipFill>
          <a:blip r:embed="rId6"/>
          <a:stretch>
            <a:fillRect/>
          </a:stretch>
        </p:blipFill>
        <p:spPr>
          <a:xfrm>
            <a:off x="112514" y="3258444"/>
            <a:ext cx="3619257" cy="1491657"/>
          </a:xfrm>
          <a:prstGeom prst="rect">
            <a:avLst/>
          </a:prstGeom>
        </p:spPr>
      </p:pic>
      <p:pic>
        <p:nvPicPr>
          <p:cNvPr id="16" name="图片 15">
            <a:extLst>
              <a:ext uri="{FF2B5EF4-FFF2-40B4-BE49-F238E27FC236}">
                <a16:creationId xmlns:a16="http://schemas.microsoft.com/office/drawing/2014/main" id="{4263EE71-79A8-F341-8AD4-8D8D873426D6}"/>
              </a:ext>
            </a:extLst>
          </p:cNvPr>
          <p:cNvPicPr>
            <a:picLocks noChangeAspect="1"/>
          </p:cNvPicPr>
          <p:nvPr/>
        </p:nvPicPr>
        <p:blipFill>
          <a:blip r:embed="rId7"/>
          <a:stretch>
            <a:fillRect/>
          </a:stretch>
        </p:blipFill>
        <p:spPr>
          <a:xfrm>
            <a:off x="5040338" y="3259853"/>
            <a:ext cx="3673413" cy="1490248"/>
          </a:xfrm>
          <a:prstGeom prst="rect">
            <a:avLst/>
          </a:prstGeom>
        </p:spPr>
      </p:pic>
      <p:sp>
        <p:nvSpPr>
          <p:cNvPr id="3" name="文本框 2">
            <a:extLst>
              <a:ext uri="{FF2B5EF4-FFF2-40B4-BE49-F238E27FC236}">
                <a16:creationId xmlns:a16="http://schemas.microsoft.com/office/drawing/2014/main" id="{3EFD7245-B7B3-DA46-8B7B-A80753077E46}"/>
              </a:ext>
            </a:extLst>
          </p:cNvPr>
          <p:cNvSpPr txBox="1"/>
          <p:nvPr/>
        </p:nvSpPr>
        <p:spPr>
          <a:xfrm>
            <a:off x="1779600" y="4774168"/>
            <a:ext cx="646331" cy="369332"/>
          </a:xfrm>
          <a:prstGeom prst="rect">
            <a:avLst/>
          </a:prstGeom>
          <a:noFill/>
        </p:spPr>
        <p:txBody>
          <a:bodyPr wrap="none" rtlCol="0">
            <a:spAutoFit/>
          </a:bodyPr>
          <a:lstStyle/>
          <a:p>
            <a:r>
              <a:rPr kumimoji="1" lang="zh-CN" altLang="en-US" dirty="0"/>
              <a:t>词频</a:t>
            </a:r>
          </a:p>
        </p:txBody>
      </p:sp>
      <p:sp>
        <p:nvSpPr>
          <p:cNvPr id="17" name="文本框 16">
            <a:extLst>
              <a:ext uri="{FF2B5EF4-FFF2-40B4-BE49-F238E27FC236}">
                <a16:creationId xmlns:a16="http://schemas.microsoft.com/office/drawing/2014/main" id="{392B208B-BC83-CF4F-88F3-C600CFEC30C3}"/>
              </a:ext>
            </a:extLst>
          </p:cNvPr>
          <p:cNvSpPr txBox="1"/>
          <p:nvPr/>
        </p:nvSpPr>
        <p:spPr>
          <a:xfrm>
            <a:off x="6487353" y="4750532"/>
            <a:ext cx="779381" cy="369332"/>
          </a:xfrm>
          <a:prstGeom prst="rect">
            <a:avLst/>
          </a:prstGeom>
          <a:noFill/>
        </p:spPr>
        <p:txBody>
          <a:bodyPr wrap="none" rtlCol="0">
            <a:spAutoFit/>
          </a:bodyPr>
          <a:lstStyle/>
          <a:p>
            <a:r>
              <a:rPr kumimoji="1" lang="en-US" altLang="zh-CN" dirty="0"/>
              <a:t>TF-IDF</a:t>
            </a:r>
            <a:endParaRPr kumimoji="1" lang="zh-CN" altLang="en-US" dirty="0"/>
          </a:p>
        </p:txBody>
      </p:sp>
      <p:sp>
        <p:nvSpPr>
          <p:cNvPr id="4" name="文本框 3">
            <a:extLst>
              <a:ext uri="{FF2B5EF4-FFF2-40B4-BE49-F238E27FC236}">
                <a16:creationId xmlns:a16="http://schemas.microsoft.com/office/drawing/2014/main" id="{4B93DA9F-3DC7-7244-96D6-2F767557C560}"/>
              </a:ext>
            </a:extLst>
          </p:cNvPr>
          <p:cNvSpPr txBox="1"/>
          <p:nvPr/>
        </p:nvSpPr>
        <p:spPr>
          <a:xfrm>
            <a:off x="4062889" y="3912644"/>
            <a:ext cx="646331" cy="369332"/>
          </a:xfrm>
          <a:prstGeom prst="rect">
            <a:avLst/>
          </a:prstGeom>
          <a:noFill/>
        </p:spPr>
        <p:txBody>
          <a:bodyPr wrap="none" rtlCol="0">
            <a:spAutoFit/>
          </a:bodyPr>
          <a:lstStyle/>
          <a:p>
            <a:r>
              <a:rPr kumimoji="1" lang="zh-CN" altLang="en-US" dirty="0"/>
              <a:t>或者</a:t>
            </a:r>
          </a:p>
        </p:txBody>
      </p:sp>
      <p:sp>
        <p:nvSpPr>
          <p:cNvPr id="5" name="文本框 4">
            <a:extLst>
              <a:ext uri="{FF2B5EF4-FFF2-40B4-BE49-F238E27FC236}">
                <a16:creationId xmlns:a16="http://schemas.microsoft.com/office/drawing/2014/main" id="{9B1D42F0-C81A-5A47-B5CA-68E52FFF7B03}"/>
              </a:ext>
            </a:extLst>
          </p:cNvPr>
          <p:cNvSpPr txBox="1"/>
          <p:nvPr/>
        </p:nvSpPr>
        <p:spPr>
          <a:xfrm>
            <a:off x="25170" y="2706927"/>
            <a:ext cx="3025187" cy="369332"/>
          </a:xfrm>
          <a:prstGeom prst="rect">
            <a:avLst/>
          </a:prstGeom>
          <a:noFill/>
        </p:spPr>
        <p:txBody>
          <a:bodyPr wrap="none" rtlCol="0">
            <a:spAutoFit/>
          </a:bodyPr>
          <a:lstStyle/>
          <a:p>
            <a:r>
              <a:rPr kumimoji="1" lang="zh-CN" altLang="en-US" dirty="0"/>
              <a:t>单词</a:t>
            </a:r>
            <a:r>
              <a:rPr kumimoji="1" lang="en-US" altLang="zh-CN" dirty="0"/>
              <a:t>-</a:t>
            </a:r>
            <a:r>
              <a:rPr kumimoji="1" lang="zh-CN" altLang="en-US" dirty="0"/>
              <a:t>文档共现矩阵可以为：</a:t>
            </a:r>
          </a:p>
        </p:txBody>
      </p:sp>
    </p:spTree>
    <p:extLst>
      <p:ext uri="{BB962C8B-B14F-4D97-AF65-F5344CB8AC3E}">
        <p14:creationId xmlns:p14="http://schemas.microsoft.com/office/powerpoint/2010/main" val="35587652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zh-CN" altLang="en-US" dirty="0"/>
              <a:t>话题模型</a:t>
            </a:r>
            <a:r>
              <a:rPr kumimoji="1" lang="en-US" altLang="zh-CN" dirty="0"/>
              <a:t>LSI</a:t>
            </a:r>
            <a:endParaRPr lang="en-US" dirty="0"/>
          </a:p>
        </p:txBody>
      </p:sp>
      <p:sp>
        <p:nvSpPr>
          <p:cNvPr id="3" name="Content Placeholder 2"/>
          <p:cNvSpPr>
            <a:spLocks noGrp="1"/>
          </p:cNvSpPr>
          <p:nvPr>
            <p:ph idx="1"/>
          </p:nvPr>
        </p:nvSpPr>
        <p:spPr/>
        <p:txBody>
          <a:bodyPr/>
          <a:lstStyle/>
          <a:p>
            <a:r>
              <a:rPr kumimoji="1" lang="zh-CN" altLang="en-US" dirty="0"/>
              <a:t>通过求解单词</a:t>
            </a:r>
            <a:r>
              <a:rPr kumimoji="1" lang="en-US" altLang="zh-CN" dirty="0"/>
              <a:t>-</a:t>
            </a:r>
            <a:r>
              <a:rPr kumimoji="1" lang="zh-CN" altLang="en-US" dirty="0"/>
              <a:t>文档共现矩阵的</a:t>
            </a:r>
            <a:r>
              <a:rPr kumimoji="1" lang="zh-CN" altLang="en-US" dirty="0">
                <a:solidFill>
                  <a:srgbClr val="C00000"/>
                </a:solidFill>
              </a:rPr>
              <a:t>低秩近似</a:t>
            </a:r>
            <a:r>
              <a:rPr kumimoji="1" lang="zh-CN" altLang="en-US" dirty="0"/>
              <a:t>得到话题</a:t>
            </a:r>
            <a:endParaRPr kumimoji="1" lang="en-US" altLang="zh-CN" dirty="0"/>
          </a:p>
        </p:txBody>
      </p:sp>
      <p:pic>
        <p:nvPicPr>
          <p:cNvPr id="1026" name="Picture 2" descr="http://2.bp.blogspot.com/-ioaZgsdpE6c/TldjQYe_LLI/AAAAAAAAE1U/eu0bLJb5kYc/s1600/lplus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577" y="1576380"/>
            <a:ext cx="7954845" cy="2922804"/>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594577" y="4037122"/>
            <a:ext cx="3759200" cy="925974"/>
            <a:chOff x="1143000" y="4614334"/>
            <a:chExt cx="5012266" cy="1234632"/>
          </a:xfrm>
        </p:grpSpPr>
        <p:sp>
          <p:nvSpPr>
            <p:cNvPr id="4" name="TextBox 3"/>
            <p:cNvSpPr txBox="1"/>
            <p:nvPr/>
          </p:nvSpPr>
          <p:spPr>
            <a:xfrm>
              <a:off x="1143000" y="5448857"/>
              <a:ext cx="5012266" cy="400109"/>
            </a:xfrm>
            <a:prstGeom prst="rect">
              <a:avLst/>
            </a:prstGeom>
            <a:noFill/>
          </p:spPr>
          <p:txBody>
            <a:bodyPr wrap="square" rtlCol="0">
              <a:spAutoFit/>
            </a:bodyPr>
            <a:lstStyle/>
            <a:p>
              <a:r>
                <a:rPr lang="en-US" sz="1350" i="1" dirty="0">
                  <a:solidFill>
                    <a:srgbClr val="FF0000"/>
                  </a:solidFill>
                </a:rPr>
                <a:t>Imagine this is our observed term-document matrix</a:t>
              </a:r>
            </a:p>
          </p:txBody>
        </p:sp>
        <p:cxnSp>
          <p:nvCxnSpPr>
            <p:cNvPr id="6" name="Straight Arrow Connector 5"/>
            <p:cNvCxnSpPr/>
            <p:nvPr/>
          </p:nvCxnSpPr>
          <p:spPr>
            <a:xfrm flipH="1" flipV="1">
              <a:off x="2988734" y="4614334"/>
              <a:ext cx="397933" cy="7932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 name="Group 9"/>
          <p:cNvGrpSpPr/>
          <p:nvPr/>
        </p:nvGrpSpPr>
        <p:grpSpPr>
          <a:xfrm>
            <a:off x="4648367" y="1177908"/>
            <a:ext cx="3759200" cy="756325"/>
            <a:chOff x="2065867" y="5448856"/>
            <a:chExt cx="5012266" cy="1008433"/>
          </a:xfrm>
        </p:grpSpPr>
        <p:sp>
          <p:nvSpPr>
            <p:cNvPr id="11" name="TextBox 10"/>
            <p:cNvSpPr txBox="1"/>
            <p:nvPr/>
          </p:nvSpPr>
          <p:spPr>
            <a:xfrm>
              <a:off x="2065867" y="5448856"/>
              <a:ext cx="5012266" cy="400109"/>
            </a:xfrm>
            <a:prstGeom prst="rect">
              <a:avLst/>
            </a:prstGeom>
            <a:noFill/>
          </p:spPr>
          <p:txBody>
            <a:bodyPr wrap="square" rtlCol="0">
              <a:spAutoFit/>
            </a:bodyPr>
            <a:lstStyle/>
            <a:p>
              <a:r>
                <a:rPr lang="en-US" sz="1350" i="1" dirty="0">
                  <a:solidFill>
                    <a:srgbClr val="FF0000"/>
                  </a:solidFill>
                </a:rPr>
                <a:t>Imagine this is *true* concept-document matrix</a:t>
              </a:r>
            </a:p>
          </p:txBody>
        </p:sp>
        <p:cxnSp>
          <p:nvCxnSpPr>
            <p:cNvPr id="12" name="Straight Arrow Connector 11"/>
            <p:cNvCxnSpPr/>
            <p:nvPr/>
          </p:nvCxnSpPr>
          <p:spPr>
            <a:xfrm flipH="1">
              <a:off x="3742266" y="5814882"/>
              <a:ext cx="296335" cy="64240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4796631" y="3865697"/>
            <a:ext cx="4142582" cy="1179002"/>
            <a:chOff x="631825" y="4276963"/>
            <a:chExt cx="5523442" cy="1572003"/>
          </a:xfrm>
        </p:grpSpPr>
        <p:sp>
          <p:nvSpPr>
            <p:cNvPr id="15" name="TextBox 14"/>
            <p:cNvSpPr txBox="1"/>
            <p:nvPr/>
          </p:nvSpPr>
          <p:spPr>
            <a:xfrm>
              <a:off x="631825" y="5448857"/>
              <a:ext cx="5523442" cy="400109"/>
            </a:xfrm>
            <a:prstGeom prst="rect">
              <a:avLst/>
            </a:prstGeom>
            <a:noFill/>
          </p:spPr>
          <p:txBody>
            <a:bodyPr wrap="square" rtlCol="0">
              <a:spAutoFit/>
            </a:bodyPr>
            <a:lstStyle/>
            <a:p>
              <a:r>
                <a:rPr lang="en-US" sz="1350" i="1" dirty="0">
                  <a:solidFill>
                    <a:srgbClr val="FF0000"/>
                  </a:solidFill>
                </a:rPr>
                <a:t>Random noise over the word selection in each document</a:t>
              </a:r>
            </a:p>
          </p:txBody>
        </p:sp>
        <p:cxnSp>
          <p:nvCxnSpPr>
            <p:cNvPr id="16" name="Straight Arrow Connector 15"/>
            <p:cNvCxnSpPr/>
            <p:nvPr/>
          </p:nvCxnSpPr>
          <p:spPr>
            <a:xfrm flipV="1">
              <a:off x="3386668" y="4276963"/>
              <a:ext cx="335489" cy="113059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9" name="Slide Number Placeholder 8"/>
          <p:cNvSpPr>
            <a:spLocks noGrp="1"/>
          </p:cNvSpPr>
          <p:nvPr>
            <p:ph type="sldNum" sz="quarter" idx="12"/>
          </p:nvPr>
        </p:nvSpPr>
        <p:spPr/>
        <p:txBody>
          <a:bodyPr/>
          <a:lstStyle/>
          <a:p>
            <a:fld id="{F8CF503B-9254-4CBE-AEB6-4A271B586631}" type="slidenum">
              <a:rPr lang="en-US" smtClean="0"/>
              <a:t>35</a:t>
            </a:fld>
            <a:endParaRPr lang="en-US"/>
          </a:p>
        </p:txBody>
      </p:sp>
    </p:spTree>
    <p:extLst>
      <p:ext uri="{BB962C8B-B14F-4D97-AF65-F5344CB8AC3E}">
        <p14:creationId xmlns:p14="http://schemas.microsoft.com/office/powerpoint/2010/main" val="596667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Latent Semantic Analysis (LSA)</a:t>
            </a:r>
          </a:p>
        </p:txBody>
      </p:sp>
      <p:sp>
        <p:nvSpPr>
          <p:cNvPr id="3" name="Content Placeholder 2"/>
          <p:cNvSpPr>
            <a:spLocks noGrp="1"/>
          </p:cNvSpPr>
          <p:nvPr>
            <p:ph idx="1"/>
          </p:nvPr>
        </p:nvSpPr>
        <p:spPr/>
        <p:txBody>
          <a:bodyPr/>
          <a:lstStyle/>
          <a:p>
            <a:r>
              <a:rPr kumimoji="1" lang="zh-CN" altLang="en-US" dirty="0"/>
              <a:t>通过求解单词</a:t>
            </a:r>
            <a:r>
              <a:rPr kumimoji="1" lang="en-US" altLang="zh-CN" dirty="0"/>
              <a:t>-</a:t>
            </a:r>
            <a:r>
              <a:rPr kumimoji="1" lang="zh-CN" altLang="en-US" dirty="0"/>
              <a:t>文档共现矩阵的</a:t>
            </a:r>
            <a:r>
              <a:rPr kumimoji="1" lang="zh-CN" altLang="en-US" dirty="0">
                <a:solidFill>
                  <a:srgbClr val="C00000"/>
                </a:solidFill>
              </a:rPr>
              <a:t>低秩近似</a:t>
            </a:r>
            <a:r>
              <a:rPr kumimoji="1" lang="zh-CN" altLang="en-US" dirty="0"/>
              <a:t>得到话题</a:t>
            </a:r>
            <a:endParaRPr kumimoji="1" lang="en-US" altLang="zh-CN" dirty="0"/>
          </a:p>
          <a:p>
            <a:pPr lvl="1"/>
            <a:r>
              <a:rPr lang="zh-CN" altLang="en-US" dirty="0"/>
              <a:t>目标：去除掉文档共现矩阵中的“噪音”</a:t>
            </a:r>
            <a:endParaRPr lang="en-US" dirty="0"/>
          </a:p>
          <a:p>
            <a:pPr lvl="1"/>
            <a:r>
              <a:rPr lang="zh-CN" altLang="en-US" dirty="0"/>
              <a:t>解决思路：找到一个秩为</a:t>
            </a:r>
            <a:r>
              <a:rPr lang="en-US" altLang="zh-CN" dirty="0"/>
              <a:t>k</a:t>
            </a:r>
            <a:r>
              <a:rPr lang="zh-CN" altLang="en-US" dirty="0"/>
              <a:t>的矩阵，使其与文档近似矩阵最为相近。</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181547" y="2360428"/>
                <a:ext cx="6890031" cy="145334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2400" i="1" smtClean="0">
                              <a:solidFill>
                                <a:srgbClr val="C00000"/>
                              </a:solidFill>
                              <a:latin typeface="Cambria Math" panose="02040503050406030204" pitchFamily="18" charset="0"/>
                            </a:rPr>
                          </m:ctrlPr>
                        </m:accPr>
                        <m:e>
                          <m:r>
                            <a:rPr lang="en-US" sz="2400" i="1">
                              <a:solidFill>
                                <a:srgbClr val="C00000"/>
                              </a:solidFill>
                              <a:latin typeface="Cambria Math" panose="02040503050406030204" pitchFamily="18" charset="0"/>
                            </a:rPr>
                            <m:t>𝑍</m:t>
                          </m:r>
                        </m:e>
                      </m:acc>
                      <m:r>
                        <a:rPr lang="en-US" sz="2400">
                          <a:solidFill>
                            <a:srgbClr val="C00000"/>
                          </a:solidFill>
                          <a:latin typeface="Cambria Math" panose="02040503050406030204" pitchFamily="18" charset="0"/>
                        </a:rPr>
                        <m:t>=</m:t>
                      </m:r>
                      <m:func>
                        <m:funcPr>
                          <m:ctrlPr>
                            <a:rPr lang="en-US" sz="2400" i="1">
                              <a:solidFill>
                                <a:srgbClr val="C00000"/>
                              </a:solidFill>
                              <a:latin typeface="Cambria Math" panose="02040503050406030204" pitchFamily="18" charset="0"/>
                            </a:rPr>
                          </m:ctrlPr>
                        </m:funcPr>
                        <m:fName>
                          <m:limLow>
                            <m:limLowPr>
                              <m:ctrlPr>
                                <a:rPr lang="en-US" sz="2400" i="1">
                                  <a:solidFill>
                                    <a:srgbClr val="C00000"/>
                                  </a:solidFill>
                                  <a:latin typeface="Cambria Math" panose="02040503050406030204" pitchFamily="18" charset="0"/>
                                </a:rPr>
                              </m:ctrlPr>
                            </m:limLowPr>
                            <m:e>
                              <m:r>
                                <m:rPr>
                                  <m:sty m:val="p"/>
                                </m:rPr>
                                <a:rPr lang="en-US" sz="2400">
                                  <a:solidFill>
                                    <a:srgbClr val="C00000"/>
                                  </a:solidFill>
                                  <a:latin typeface="Cambria Math" panose="02040503050406030204" pitchFamily="18" charset="0"/>
                                </a:rPr>
                                <m:t>argmin</m:t>
                              </m:r>
                            </m:e>
                            <m:lim>
                              <m:r>
                                <a:rPr lang="en-US" sz="2400" i="1">
                                  <a:solidFill>
                                    <a:srgbClr val="C00000"/>
                                  </a:solidFill>
                                  <a:latin typeface="Cambria Math" panose="02040503050406030204" pitchFamily="18" charset="0"/>
                                </a:rPr>
                                <m:t>𝑍</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𝑟𝑎𝑛𝑘</m:t>
                              </m:r>
                              <m:d>
                                <m:dPr>
                                  <m:ctrlPr>
                                    <a:rPr lang="en-US" sz="2400" i="1">
                                      <a:solidFill>
                                        <a:srgbClr val="C00000"/>
                                      </a:solidFill>
                                      <a:latin typeface="Cambria Math" panose="02040503050406030204" pitchFamily="18" charset="0"/>
                                    </a:rPr>
                                  </m:ctrlPr>
                                </m:dPr>
                                <m:e>
                                  <m:r>
                                    <a:rPr lang="en-US" sz="2400" i="1">
                                      <a:solidFill>
                                        <a:srgbClr val="C00000"/>
                                      </a:solidFill>
                                      <a:latin typeface="Cambria Math" panose="02040503050406030204" pitchFamily="18" charset="0"/>
                                    </a:rPr>
                                    <m:t>𝑍</m:t>
                                  </m:r>
                                </m:e>
                              </m:d>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𝑘</m:t>
                              </m:r>
                            </m:lim>
                          </m:limLow>
                        </m:fName>
                        <m:e>
                          <m:sSub>
                            <m:sSubPr>
                              <m:ctrlPr>
                                <a:rPr lang="en-US" sz="2400" i="1">
                                  <a:solidFill>
                                    <a:srgbClr val="C00000"/>
                                  </a:solidFill>
                                  <a:latin typeface="Cambria Math" panose="02040503050406030204" pitchFamily="18" charset="0"/>
                                </a:rPr>
                              </m:ctrlPr>
                            </m:sSubPr>
                            <m:e>
                              <m:d>
                                <m:dPr>
                                  <m:begChr m:val="‖"/>
                                  <m:endChr m:val="‖"/>
                                  <m:ctrlPr>
                                    <a:rPr lang="en-US" sz="2400" i="1">
                                      <a:solidFill>
                                        <a:srgbClr val="C00000"/>
                                      </a:solidFill>
                                      <a:latin typeface="Cambria Math" panose="02040503050406030204" pitchFamily="18" charset="0"/>
                                    </a:rPr>
                                  </m:ctrlPr>
                                </m:dPr>
                                <m:e>
                                  <m:r>
                                    <a:rPr lang="en-US" sz="2400" i="1">
                                      <a:solidFill>
                                        <a:srgbClr val="C00000"/>
                                      </a:solidFill>
                                      <a:latin typeface="Cambria Math" panose="02040503050406030204" pitchFamily="18" charset="0"/>
                                    </a:rPr>
                                    <m:t>𝐶</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𝑍</m:t>
                                  </m:r>
                                </m:e>
                              </m:d>
                            </m:e>
                            <m:sub>
                              <m:r>
                                <a:rPr lang="en-US" sz="2400" i="1">
                                  <a:solidFill>
                                    <a:srgbClr val="C00000"/>
                                  </a:solidFill>
                                  <a:latin typeface="Cambria Math" panose="02040503050406030204" pitchFamily="18" charset="0"/>
                                </a:rPr>
                                <m:t>𝐹</m:t>
                              </m:r>
                            </m:sub>
                          </m:sSub>
                        </m:e>
                      </m:func>
                    </m:oMath>
                  </m:oMathPara>
                </a14:m>
                <a:endParaRPr lang="en-US" sz="2400" i="1" dirty="0">
                  <a:solidFill>
                    <a:srgbClr val="C00000"/>
                  </a:solidFill>
                  <a:latin typeface="Cambria Math" panose="02040503050406030204" pitchFamily="18" charset="0"/>
                </a:endParaRPr>
              </a:p>
              <a:p>
                <a:r>
                  <a:rPr lang="en-US" sz="2400" dirty="0">
                    <a:solidFill>
                      <a:srgbClr val="C00000"/>
                    </a:solidFill>
                  </a:rPr>
                  <a:t>                              </a:t>
                </a:r>
                <a14:m>
                  <m:oMath xmlns:m="http://schemas.openxmlformats.org/officeDocument/2006/math">
                    <m:r>
                      <a:rPr lang="en-US" sz="2400" i="1">
                        <a:solidFill>
                          <a:srgbClr val="C00000"/>
                        </a:solidFill>
                        <a:latin typeface="Cambria Math" panose="02040503050406030204" pitchFamily="18" charset="0"/>
                      </a:rPr>
                      <m:t>=</m:t>
                    </m:r>
                    <m:func>
                      <m:funcPr>
                        <m:ctrlPr>
                          <a:rPr lang="en-US" sz="2400" i="1">
                            <a:solidFill>
                              <a:srgbClr val="C00000"/>
                            </a:solidFill>
                            <a:latin typeface="Cambria Math" panose="02040503050406030204" pitchFamily="18" charset="0"/>
                          </a:rPr>
                        </m:ctrlPr>
                      </m:funcPr>
                      <m:fName>
                        <m:limLow>
                          <m:limLowPr>
                            <m:ctrlPr>
                              <a:rPr lang="en-US" sz="2400" i="1">
                                <a:solidFill>
                                  <a:srgbClr val="C00000"/>
                                </a:solidFill>
                                <a:latin typeface="Cambria Math" panose="02040503050406030204" pitchFamily="18" charset="0"/>
                              </a:rPr>
                            </m:ctrlPr>
                          </m:limLowPr>
                          <m:e>
                            <m:r>
                              <m:rPr>
                                <m:sty m:val="p"/>
                              </m:rPr>
                              <a:rPr lang="en-US" sz="2400">
                                <a:solidFill>
                                  <a:srgbClr val="C00000"/>
                                </a:solidFill>
                                <a:latin typeface="Cambria Math" panose="02040503050406030204" pitchFamily="18" charset="0"/>
                              </a:rPr>
                              <m:t>argmin</m:t>
                            </m:r>
                          </m:e>
                          <m:lim>
                            <m:r>
                              <a:rPr lang="en-US" sz="2400" i="1">
                                <a:solidFill>
                                  <a:srgbClr val="C00000"/>
                                </a:solidFill>
                                <a:latin typeface="Cambria Math" panose="02040503050406030204" pitchFamily="18" charset="0"/>
                              </a:rPr>
                              <m:t>𝑍</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𝑟𝑎𝑛𝑘</m:t>
                            </m:r>
                            <m:d>
                              <m:dPr>
                                <m:ctrlPr>
                                  <a:rPr lang="en-US" sz="2400" i="1">
                                    <a:solidFill>
                                      <a:srgbClr val="C00000"/>
                                    </a:solidFill>
                                    <a:latin typeface="Cambria Math" panose="02040503050406030204" pitchFamily="18" charset="0"/>
                                  </a:rPr>
                                </m:ctrlPr>
                              </m:dPr>
                              <m:e>
                                <m:r>
                                  <a:rPr lang="en-US" sz="2400" i="1">
                                    <a:solidFill>
                                      <a:srgbClr val="C00000"/>
                                    </a:solidFill>
                                    <a:latin typeface="Cambria Math" panose="02040503050406030204" pitchFamily="18" charset="0"/>
                                  </a:rPr>
                                  <m:t>𝑍</m:t>
                                </m:r>
                              </m:e>
                            </m:d>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𝑘</m:t>
                            </m:r>
                          </m:lim>
                        </m:limLow>
                      </m:fName>
                      <m:e>
                        <m:rad>
                          <m:radPr>
                            <m:degHide m:val="on"/>
                            <m:ctrlPr>
                              <a:rPr lang="en-US" sz="2400" i="1">
                                <a:solidFill>
                                  <a:srgbClr val="C00000"/>
                                </a:solidFill>
                                <a:latin typeface="Cambria Math" panose="02040503050406030204" pitchFamily="18" charset="0"/>
                              </a:rPr>
                            </m:ctrlPr>
                          </m:radPr>
                          <m:deg/>
                          <m:e>
                            <m:nary>
                              <m:naryPr>
                                <m:chr m:val="∑"/>
                                <m:ctrlPr>
                                  <a:rPr lang="en-US" sz="2400" i="1">
                                    <a:solidFill>
                                      <a:srgbClr val="C00000"/>
                                    </a:solidFill>
                                    <a:latin typeface="Cambria Math" panose="02040503050406030204" pitchFamily="18" charset="0"/>
                                  </a:rPr>
                                </m:ctrlPr>
                              </m:naryPr>
                              <m:sub>
                                <m:r>
                                  <m:rPr>
                                    <m:brk m:alnAt="23"/>
                                  </m:rPr>
                                  <a:rPr lang="en-US" sz="2400" i="1">
                                    <a:solidFill>
                                      <a:srgbClr val="C00000"/>
                                    </a:solidFill>
                                    <a:latin typeface="Cambria Math" panose="02040503050406030204" pitchFamily="18" charset="0"/>
                                  </a:rPr>
                                  <m:t>𝑖</m:t>
                                </m:r>
                                <m:r>
                                  <a:rPr lang="en-US" sz="2400" i="1">
                                    <a:solidFill>
                                      <a:srgbClr val="C00000"/>
                                    </a:solidFill>
                                    <a:latin typeface="Cambria Math" panose="02040503050406030204" pitchFamily="18" charset="0"/>
                                  </a:rPr>
                                  <m:t>=1</m:t>
                                </m:r>
                              </m:sub>
                              <m:sup>
                                <m:r>
                                  <a:rPr lang="en-US" sz="2400" i="1">
                                    <a:solidFill>
                                      <a:srgbClr val="C00000"/>
                                    </a:solidFill>
                                    <a:latin typeface="Cambria Math" panose="02040503050406030204" pitchFamily="18" charset="0"/>
                                  </a:rPr>
                                  <m:t>𝑀</m:t>
                                </m:r>
                              </m:sup>
                              <m:e>
                                <m:nary>
                                  <m:naryPr>
                                    <m:chr m:val="∑"/>
                                    <m:ctrlPr>
                                      <a:rPr lang="en-US" sz="2400" i="1">
                                        <a:solidFill>
                                          <a:srgbClr val="C00000"/>
                                        </a:solidFill>
                                        <a:latin typeface="Cambria Math" panose="02040503050406030204" pitchFamily="18" charset="0"/>
                                      </a:rPr>
                                    </m:ctrlPr>
                                  </m:naryPr>
                                  <m:sub>
                                    <m:r>
                                      <m:rPr>
                                        <m:brk m:alnAt="23"/>
                                      </m:rPr>
                                      <a:rPr lang="en-US" sz="2400" i="1">
                                        <a:solidFill>
                                          <a:srgbClr val="C00000"/>
                                        </a:solidFill>
                                        <a:latin typeface="Cambria Math" panose="02040503050406030204" pitchFamily="18" charset="0"/>
                                      </a:rPr>
                                      <m:t>𝑗</m:t>
                                    </m:r>
                                    <m:r>
                                      <a:rPr lang="en-US" sz="2400" i="1">
                                        <a:solidFill>
                                          <a:srgbClr val="C00000"/>
                                        </a:solidFill>
                                        <a:latin typeface="Cambria Math" panose="02040503050406030204" pitchFamily="18" charset="0"/>
                                      </a:rPr>
                                      <m:t>=1</m:t>
                                    </m:r>
                                  </m:sub>
                                  <m:sup>
                                    <m:r>
                                      <a:rPr lang="en-US" sz="2400" i="1">
                                        <a:solidFill>
                                          <a:srgbClr val="C00000"/>
                                        </a:solidFill>
                                        <a:latin typeface="Cambria Math" panose="02040503050406030204" pitchFamily="18" charset="0"/>
                                      </a:rPr>
                                      <m:t>𝑁</m:t>
                                    </m:r>
                                  </m:sup>
                                  <m:e>
                                    <m:sSup>
                                      <m:sSupPr>
                                        <m:ctrlPr>
                                          <a:rPr lang="en-US" sz="2400" i="1">
                                            <a:solidFill>
                                              <a:srgbClr val="C00000"/>
                                            </a:solidFill>
                                            <a:latin typeface="Cambria Math" panose="02040503050406030204" pitchFamily="18" charset="0"/>
                                          </a:rPr>
                                        </m:ctrlPr>
                                      </m:sSupPr>
                                      <m:e>
                                        <m:d>
                                          <m:dPr>
                                            <m:ctrlPr>
                                              <a:rPr lang="en-US" sz="2400" i="1">
                                                <a:solidFill>
                                                  <a:srgbClr val="C00000"/>
                                                </a:solidFill>
                                                <a:latin typeface="Cambria Math" panose="02040503050406030204" pitchFamily="18" charset="0"/>
                                              </a:rPr>
                                            </m:ctrlPr>
                                          </m:dPr>
                                          <m:e>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𝐶</m:t>
                                                </m:r>
                                              </m:e>
                                              <m:sub>
                                                <m:r>
                                                  <a:rPr lang="en-US" sz="2400" i="1">
                                                    <a:solidFill>
                                                      <a:srgbClr val="C00000"/>
                                                    </a:solidFill>
                                                    <a:latin typeface="Cambria Math" panose="02040503050406030204" pitchFamily="18" charset="0"/>
                                                  </a:rPr>
                                                  <m:t>𝑖𝑗</m:t>
                                                </m:r>
                                              </m:sub>
                                            </m:sSub>
                                            <m:r>
                                              <a:rPr lang="en-US" sz="2400" i="1">
                                                <a:solidFill>
                                                  <a:srgbClr val="C00000"/>
                                                </a:solidFill>
                                                <a:latin typeface="Cambria Math" panose="02040503050406030204" pitchFamily="18" charset="0"/>
                                              </a:rPr>
                                              <m:t>−</m:t>
                                            </m:r>
                                            <m:sSub>
                                              <m:sSubPr>
                                                <m:ctrlPr>
                                                  <a:rPr lang="en-US" sz="2400" i="1">
                                                    <a:solidFill>
                                                      <a:srgbClr val="C00000"/>
                                                    </a:solidFill>
                                                    <a:latin typeface="Cambria Math" panose="02040503050406030204" pitchFamily="18" charset="0"/>
                                                  </a:rPr>
                                                </m:ctrlPr>
                                              </m:sSubPr>
                                              <m:e>
                                                <m:r>
                                                  <a:rPr lang="en-US" sz="2400" i="1">
                                                    <a:solidFill>
                                                      <a:srgbClr val="C00000"/>
                                                    </a:solidFill>
                                                    <a:latin typeface="Cambria Math" panose="02040503050406030204" pitchFamily="18" charset="0"/>
                                                  </a:rPr>
                                                  <m:t>𝑍</m:t>
                                                </m:r>
                                              </m:e>
                                              <m:sub>
                                                <m:r>
                                                  <a:rPr lang="en-US" sz="2400" i="1">
                                                    <a:solidFill>
                                                      <a:srgbClr val="C00000"/>
                                                    </a:solidFill>
                                                    <a:latin typeface="Cambria Math" panose="02040503050406030204" pitchFamily="18" charset="0"/>
                                                  </a:rPr>
                                                  <m:t>𝑖𝑗</m:t>
                                                </m:r>
                                              </m:sub>
                                            </m:sSub>
                                          </m:e>
                                        </m:d>
                                      </m:e>
                                      <m:sup>
                                        <m:r>
                                          <a:rPr lang="en-US" sz="2400" i="1">
                                            <a:solidFill>
                                              <a:srgbClr val="C00000"/>
                                            </a:solidFill>
                                            <a:latin typeface="Cambria Math" panose="02040503050406030204" pitchFamily="18" charset="0"/>
                                          </a:rPr>
                                          <m:t>2</m:t>
                                        </m:r>
                                      </m:sup>
                                    </m:sSup>
                                  </m:e>
                                </m:nary>
                              </m:e>
                            </m:nary>
                          </m:e>
                        </m:rad>
                      </m:e>
                    </m:func>
                  </m:oMath>
                </a14:m>
                <a:endParaRPr lang="en-US" sz="2400" dirty="0">
                  <a:solidFill>
                    <a:srgbClr val="C0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81547" y="2360428"/>
                <a:ext cx="6890031" cy="1453347"/>
              </a:xfrm>
              <a:prstGeom prst="rect">
                <a:avLst/>
              </a:prstGeom>
              <a:blipFill rotWithShape="0">
                <a:blip r:embed="rId2"/>
                <a:stretch>
                  <a:fillRect/>
                </a:stretch>
              </a:blipFill>
            </p:spPr>
            <p:txBody>
              <a:bodyPr/>
              <a:lstStyle/>
              <a:p>
                <a:r>
                  <a:rPr lang="en-US">
                    <a:noFill/>
                  </a:rPr>
                  <a:t> </a:t>
                </a:r>
              </a:p>
            </p:txBody>
          </p:sp>
        </mc:Fallback>
      </mc:AlternateContent>
      <p:sp>
        <p:nvSpPr>
          <p:cNvPr id="7" name="Slide Number Placeholder 6"/>
          <p:cNvSpPr>
            <a:spLocks noGrp="1"/>
          </p:cNvSpPr>
          <p:nvPr>
            <p:ph type="sldNum" sz="quarter" idx="12"/>
          </p:nvPr>
        </p:nvSpPr>
        <p:spPr/>
        <p:txBody>
          <a:bodyPr/>
          <a:lstStyle/>
          <a:p>
            <a:fld id="{F8CF503B-9254-4CBE-AEB6-4A271B586631}" type="slidenum">
              <a:rPr lang="en-US" smtClean="0"/>
              <a:t>36</a:t>
            </a:fld>
            <a:endParaRPr lang="en-US"/>
          </a:p>
        </p:txBody>
      </p:sp>
    </p:spTree>
    <p:extLst>
      <p:ext uri="{BB962C8B-B14F-4D97-AF65-F5344CB8AC3E}">
        <p14:creationId xmlns:p14="http://schemas.microsoft.com/office/powerpoint/2010/main" val="269288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B9FE15-BF2E-3A49-8188-3032B8A63738}"/>
              </a:ext>
            </a:extLst>
          </p:cNvPr>
          <p:cNvSpPr>
            <a:spLocks noGrp="1"/>
          </p:cNvSpPr>
          <p:nvPr>
            <p:ph type="title"/>
          </p:nvPr>
        </p:nvSpPr>
        <p:spPr/>
        <p:txBody>
          <a:bodyPr/>
          <a:lstStyle/>
          <a:p>
            <a:r>
              <a:rPr kumimoji="1" lang="en-US" altLang="zh-CN" dirty="0"/>
              <a:t>LSI</a:t>
            </a:r>
            <a:r>
              <a:rPr kumimoji="1" lang="zh-CN" altLang="en-US" dirty="0"/>
              <a:t>第一步：对单词</a:t>
            </a:r>
            <a:r>
              <a:rPr kumimoji="1" lang="en-US" altLang="zh-CN" dirty="0"/>
              <a:t>-</a:t>
            </a:r>
            <a:r>
              <a:rPr kumimoji="1" lang="zh-CN" altLang="en-US" dirty="0"/>
              <a:t>文档共现矩阵进行分解</a:t>
            </a: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2280A3FD-E6C1-A847-B028-A7973805D384}"/>
                  </a:ext>
                </a:extLst>
              </p:cNvPr>
              <p:cNvSpPr/>
              <p:nvPr/>
            </p:nvSpPr>
            <p:spPr>
              <a:xfrm>
                <a:off x="890982" y="2654648"/>
                <a:ext cx="7290778" cy="523220"/>
              </a:xfrm>
              <a:prstGeom prst="rect">
                <a:avLst/>
              </a:prstGeom>
            </p:spPr>
            <p:txBody>
              <a:bodyPr wrap="none">
                <a:spAutoFit/>
              </a:bodyPr>
              <a:lstStyle/>
              <a:p>
                <a:r>
                  <a:rPr lang="en-US" altLang="zh-CN" sz="2800" dirty="0"/>
                  <a:t>SVD (singular</a:t>
                </a:r>
                <a:r>
                  <a:rPr lang="zh-CN" altLang="en-US" sz="2800" dirty="0"/>
                  <a:t> </a:t>
                </a:r>
                <a:r>
                  <a:rPr lang="en-US" altLang="zh-CN" sz="2800" dirty="0"/>
                  <a:t>value</a:t>
                </a:r>
                <a:r>
                  <a:rPr lang="zh-CN" altLang="en-US" sz="2800" dirty="0"/>
                  <a:t> </a:t>
                </a:r>
                <a:r>
                  <a:rPr lang="en-US" altLang="zh-CN" sz="2800" dirty="0"/>
                  <a:t>decomposition)</a:t>
                </a:r>
                <a:r>
                  <a:rPr lang="zh-CN" altLang="en-US" sz="2800" dirty="0"/>
                  <a:t>：</a:t>
                </a:r>
                <a14:m>
                  <m:oMath xmlns:m="http://schemas.openxmlformats.org/officeDocument/2006/math">
                    <m:r>
                      <a:rPr lang="en-US" altLang="zh-CN" sz="2800" i="1">
                        <a:latin typeface="Cambria Math" panose="02040503050406030204" pitchFamily="18" charset="0"/>
                      </a:rPr>
                      <m:t>𝐷</m:t>
                    </m:r>
                    <m:r>
                      <a:rPr lang="en-US" altLang="zh-CN" sz="2800" i="1">
                        <a:latin typeface="Cambria Math" panose="02040503050406030204" pitchFamily="18" charset="0"/>
                      </a:rPr>
                      <m:t>=</m:t>
                    </m:r>
                    <m:r>
                      <a:rPr lang="en-US" altLang="zh-CN" sz="2800" i="1" smtClean="0">
                        <a:solidFill>
                          <a:schemeClr val="tx1"/>
                        </a:solidFill>
                        <a:latin typeface="Cambria Math" panose="02040503050406030204" pitchFamily="18" charset="0"/>
                      </a:rPr>
                      <m:t>𝑈</m:t>
                    </m:r>
                    <m:r>
                      <m:rPr>
                        <m:sty m:val="p"/>
                      </m:rPr>
                      <a:rPr lang="en-US" altLang="zh-CN" sz="2800">
                        <a:latin typeface="Cambria Math" panose="02040503050406030204" pitchFamily="18" charset="0"/>
                      </a:rPr>
                      <m:t>Σ</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𝑉</m:t>
                        </m:r>
                      </m:e>
                      <m:sup>
                        <m:r>
                          <a:rPr lang="en-US" altLang="zh-CN" sz="2800" i="1">
                            <a:latin typeface="Cambria Math" panose="02040503050406030204" pitchFamily="18" charset="0"/>
                          </a:rPr>
                          <m:t>𝑇</m:t>
                        </m:r>
                      </m:sup>
                    </m:sSup>
                  </m:oMath>
                </a14:m>
                <a:endParaRPr lang="zh-CN" altLang="en-US" sz="2800" dirty="0"/>
              </a:p>
            </p:txBody>
          </p:sp>
        </mc:Choice>
        <mc:Fallback xmlns="">
          <p:sp>
            <p:nvSpPr>
              <p:cNvPr id="9" name="矩形 8">
                <a:extLst>
                  <a:ext uri="{FF2B5EF4-FFF2-40B4-BE49-F238E27FC236}">
                    <a16:creationId xmlns:a16="http://schemas.microsoft.com/office/drawing/2014/main" id="{2280A3FD-E6C1-A847-B028-A7973805D384}"/>
                  </a:ext>
                </a:extLst>
              </p:cNvPr>
              <p:cNvSpPr>
                <a:spLocks noRot="1" noChangeAspect="1" noMove="1" noResize="1" noEditPoints="1" noAdjustHandles="1" noChangeArrowheads="1" noChangeShapeType="1" noTextEdit="1"/>
              </p:cNvSpPr>
              <p:nvPr/>
            </p:nvSpPr>
            <p:spPr>
              <a:xfrm>
                <a:off x="890982" y="2654648"/>
                <a:ext cx="7290778" cy="523220"/>
              </a:xfrm>
              <a:prstGeom prst="rect">
                <a:avLst/>
              </a:prstGeom>
              <a:blipFill>
                <a:blip r:embed="rId2"/>
                <a:stretch>
                  <a:fillRect l="-1565" t="-14286" b="-33333"/>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575F241C-218D-0A46-A284-6AA08FEE4640}"/>
              </a:ext>
            </a:extLst>
          </p:cNvPr>
          <p:cNvGrpSpPr/>
          <p:nvPr/>
        </p:nvGrpSpPr>
        <p:grpSpPr>
          <a:xfrm>
            <a:off x="2053460" y="1003633"/>
            <a:ext cx="4568115" cy="1490248"/>
            <a:chOff x="1840591" y="884812"/>
            <a:chExt cx="4568115" cy="1490248"/>
          </a:xfrm>
        </p:grpSpPr>
        <p:pic>
          <p:nvPicPr>
            <p:cNvPr id="10" name="图片 9">
              <a:extLst>
                <a:ext uri="{FF2B5EF4-FFF2-40B4-BE49-F238E27FC236}">
                  <a16:creationId xmlns:a16="http://schemas.microsoft.com/office/drawing/2014/main" id="{3EF2106A-9BA5-614A-929C-D9103224E325}"/>
                </a:ext>
              </a:extLst>
            </p:cNvPr>
            <p:cNvPicPr>
              <a:picLocks noChangeAspect="1"/>
            </p:cNvPicPr>
            <p:nvPr/>
          </p:nvPicPr>
          <p:blipFill>
            <a:blip r:embed="rId3"/>
            <a:stretch>
              <a:fillRect/>
            </a:stretch>
          </p:blipFill>
          <p:spPr>
            <a:xfrm>
              <a:off x="2735293" y="884812"/>
              <a:ext cx="3673413" cy="1490248"/>
            </a:xfrm>
            <a:prstGeom prst="rect">
              <a:avLst/>
            </a:prstGeom>
          </p:spPr>
        </p:pic>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38493B6E-13FA-D44F-B865-14918571FA49}"/>
                    </a:ext>
                  </a:extLst>
                </p:cNvPr>
                <p:cNvSpPr/>
                <p:nvPr/>
              </p:nvSpPr>
              <p:spPr>
                <a:xfrm>
                  <a:off x="1840591" y="1282077"/>
                  <a:ext cx="89287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i="1" smtClean="0">
                            <a:latin typeface="Cambria Math" panose="02040503050406030204" pitchFamily="18" charset="0"/>
                          </a:rPr>
                          <m:t>𝐷</m:t>
                        </m:r>
                        <m:r>
                          <a:rPr lang="en-US" altLang="zh-CN" sz="2800" b="0" i="1" smtClean="0">
                            <a:latin typeface="Cambria Math" panose="02040503050406030204" pitchFamily="18" charset="0"/>
                          </a:rPr>
                          <m:t>=</m:t>
                        </m:r>
                      </m:oMath>
                    </m:oMathPara>
                  </a14:m>
                  <a:endParaRPr lang="zh-CN" altLang="en-US" sz="2800" dirty="0"/>
                </a:p>
              </p:txBody>
            </p:sp>
          </mc:Choice>
          <mc:Fallback xmlns="">
            <p:sp>
              <p:nvSpPr>
                <p:cNvPr id="11" name="矩形 10">
                  <a:extLst>
                    <a:ext uri="{FF2B5EF4-FFF2-40B4-BE49-F238E27FC236}">
                      <a16:creationId xmlns:a16="http://schemas.microsoft.com/office/drawing/2014/main" id="{38493B6E-13FA-D44F-B865-14918571FA49}"/>
                    </a:ext>
                  </a:extLst>
                </p:cNvPr>
                <p:cNvSpPr>
                  <a:spLocks noRot="1" noChangeAspect="1" noMove="1" noResize="1" noEditPoints="1" noAdjustHandles="1" noChangeArrowheads="1" noChangeShapeType="1" noTextEdit="1"/>
                </p:cNvSpPr>
                <p:nvPr/>
              </p:nvSpPr>
              <p:spPr>
                <a:xfrm>
                  <a:off x="1840591" y="1282077"/>
                  <a:ext cx="892873" cy="523220"/>
                </a:xfrm>
                <a:prstGeom prst="rect">
                  <a:avLst/>
                </a:prstGeom>
                <a:blipFill>
                  <a:blip r:embed="rId4"/>
                  <a:stretch>
                    <a:fillRect/>
                  </a:stretch>
                </a:blipFill>
              </p:spPr>
              <p:txBody>
                <a:bodyPr/>
                <a:lstStyle/>
                <a:p>
                  <a:r>
                    <a:rPr lang="zh-CN" altLang="en-US">
                      <a:noFill/>
                    </a:rPr>
                    <a:t> </a:t>
                  </a:r>
                </a:p>
              </p:txBody>
            </p:sp>
          </mc:Fallback>
        </mc:AlternateContent>
      </p:grpSp>
      <p:grpSp>
        <p:nvGrpSpPr>
          <p:cNvPr id="27" name="组合 26">
            <a:extLst>
              <a:ext uri="{FF2B5EF4-FFF2-40B4-BE49-F238E27FC236}">
                <a16:creationId xmlns:a16="http://schemas.microsoft.com/office/drawing/2014/main" id="{286A4ADE-B487-B342-82D6-53140FDBDBC8}"/>
              </a:ext>
            </a:extLst>
          </p:cNvPr>
          <p:cNvGrpSpPr/>
          <p:nvPr/>
        </p:nvGrpSpPr>
        <p:grpSpPr>
          <a:xfrm>
            <a:off x="272569" y="3312053"/>
            <a:ext cx="8621032" cy="1592449"/>
            <a:chOff x="165694" y="3110178"/>
            <a:chExt cx="8621032" cy="1592449"/>
          </a:xfrm>
        </p:grpSpPr>
        <p:grpSp>
          <p:nvGrpSpPr>
            <p:cNvPr id="20" name="组合 19">
              <a:extLst>
                <a:ext uri="{FF2B5EF4-FFF2-40B4-BE49-F238E27FC236}">
                  <a16:creationId xmlns:a16="http://schemas.microsoft.com/office/drawing/2014/main" id="{36A32F5E-7653-E446-856F-F90CA79447FE}"/>
                </a:ext>
              </a:extLst>
            </p:cNvPr>
            <p:cNvGrpSpPr/>
            <p:nvPr/>
          </p:nvGrpSpPr>
          <p:grpSpPr>
            <a:xfrm>
              <a:off x="165694" y="3110178"/>
              <a:ext cx="8621032" cy="1592449"/>
              <a:chOff x="165694" y="3110178"/>
              <a:chExt cx="8621032" cy="1592449"/>
            </a:xfrm>
          </p:grpSpPr>
          <p:pic>
            <p:nvPicPr>
              <p:cNvPr id="14" name="图片 13">
                <a:extLst>
                  <a:ext uri="{FF2B5EF4-FFF2-40B4-BE49-F238E27FC236}">
                    <a16:creationId xmlns:a16="http://schemas.microsoft.com/office/drawing/2014/main" id="{7A04D648-FECE-804E-B088-3A61143B8F38}"/>
                  </a:ext>
                </a:extLst>
              </p:cNvPr>
              <p:cNvPicPr>
                <a:picLocks noChangeAspect="1"/>
              </p:cNvPicPr>
              <p:nvPr/>
            </p:nvPicPr>
            <p:blipFill rotWithShape="1">
              <a:blip r:embed="rId5"/>
              <a:srcRect r="36618"/>
              <a:stretch/>
            </p:blipFill>
            <p:spPr>
              <a:xfrm>
                <a:off x="165694" y="3111389"/>
                <a:ext cx="4668404" cy="1591238"/>
              </a:xfrm>
              <a:prstGeom prst="rect">
                <a:avLst/>
              </a:prstGeom>
            </p:spPr>
          </p:pic>
          <p:sp>
            <p:nvSpPr>
              <p:cNvPr id="15" name="文本框 14">
                <a:extLst>
                  <a:ext uri="{FF2B5EF4-FFF2-40B4-BE49-F238E27FC236}">
                    <a16:creationId xmlns:a16="http://schemas.microsoft.com/office/drawing/2014/main" id="{2857EAB4-3F18-B847-9766-28EA88E85483}"/>
                  </a:ext>
                </a:extLst>
              </p:cNvPr>
              <p:cNvSpPr txBox="1"/>
              <p:nvPr/>
            </p:nvSpPr>
            <p:spPr>
              <a:xfrm>
                <a:off x="2946333" y="3365027"/>
                <a:ext cx="486888" cy="646331"/>
              </a:xfrm>
              <a:prstGeom prst="rect">
                <a:avLst/>
              </a:prstGeom>
              <a:solidFill>
                <a:schemeClr val="bg1"/>
              </a:solidFill>
            </p:spPr>
            <p:txBody>
              <a:bodyPr wrap="square" rtlCol="0">
                <a:spAutoFit/>
              </a:bodyPr>
              <a:lstStyle/>
              <a:p>
                <a:r>
                  <a:rPr kumimoji="1" lang="en-US" altLang="zh-CN" sz="3600" dirty="0"/>
                  <a:t>=</a:t>
                </a:r>
                <a:endParaRPr kumimoji="1" lang="zh-CN" altLang="en-US" dirty="0"/>
              </a:p>
            </p:txBody>
          </p:sp>
          <p:pic>
            <p:nvPicPr>
              <p:cNvPr id="17" name="图片 16">
                <a:extLst>
                  <a:ext uri="{FF2B5EF4-FFF2-40B4-BE49-F238E27FC236}">
                    <a16:creationId xmlns:a16="http://schemas.microsoft.com/office/drawing/2014/main" id="{5AEBF67F-3AC6-FB41-BDD7-BF160BDD9D94}"/>
                  </a:ext>
                </a:extLst>
              </p:cNvPr>
              <p:cNvPicPr>
                <a:picLocks noChangeAspect="1"/>
              </p:cNvPicPr>
              <p:nvPr/>
            </p:nvPicPr>
            <p:blipFill rotWithShape="1">
              <a:blip r:embed="rId5"/>
              <a:srcRect l="56092" r="19"/>
              <a:stretch/>
            </p:blipFill>
            <p:spPr>
              <a:xfrm>
                <a:off x="5554098" y="3111389"/>
                <a:ext cx="3232628" cy="1591238"/>
              </a:xfrm>
              <a:prstGeom prst="rect">
                <a:avLst/>
              </a:prstGeom>
            </p:spPr>
          </p:pic>
          <p:sp>
            <p:nvSpPr>
              <p:cNvPr id="18" name="矩形 17">
                <a:extLst>
                  <a:ext uri="{FF2B5EF4-FFF2-40B4-BE49-F238E27FC236}">
                    <a16:creationId xmlns:a16="http://schemas.microsoft.com/office/drawing/2014/main" id="{46DE96B4-1EDD-644E-BCC4-9465428912E7}"/>
                  </a:ext>
                </a:extLst>
              </p:cNvPr>
              <p:cNvSpPr/>
              <p:nvPr/>
            </p:nvSpPr>
            <p:spPr>
              <a:xfrm>
                <a:off x="4834098" y="3110178"/>
                <a:ext cx="1459336" cy="254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D9673C53-39EB-3C41-ACF2-65238A7C50AB}"/>
                  </a:ext>
                </a:extLst>
              </p:cNvPr>
              <p:cNvSpPr/>
              <p:nvPr/>
            </p:nvSpPr>
            <p:spPr>
              <a:xfrm>
                <a:off x="4429496" y="4119257"/>
                <a:ext cx="1268192" cy="5833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a:extLst>
                  <a:ext uri="{FF2B5EF4-FFF2-40B4-BE49-F238E27FC236}">
                    <a16:creationId xmlns:a16="http://schemas.microsoft.com/office/drawing/2014/main" id="{98620C1E-9DB7-B343-B070-2E81658D87D8}"/>
                  </a:ext>
                </a:extLst>
              </p:cNvPr>
              <p:cNvSpPr/>
              <p:nvPr/>
            </p:nvSpPr>
            <p:spPr>
              <a:xfrm>
                <a:off x="4869723" y="3365027"/>
                <a:ext cx="720000" cy="720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zh-CN" altLang="en-US"/>
              </a:p>
            </p:txBody>
          </p:sp>
        </p:grpSp>
        <p:cxnSp>
          <p:nvCxnSpPr>
            <p:cNvPr id="22" name="直线连接符 21">
              <a:extLst>
                <a:ext uri="{FF2B5EF4-FFF2-40B4-BE49-F238E27FC236}">
                  <a16:creationId xmlns:a16="http://schemas.microsoft.com/office/drawing/2014/main" id="{10242D61-F5C4-2F44-B5D0-A64F9E0CC420}"/>
                </a:ext>
              </a:extLst>
            </p:cNvPr>
            <p:cNvCxnSpPr/>
            <p:nvPr/>
          </p:nvCxnSpPr>
          <p:spPr>
            <a:xfrm>
              <a:off x="4869723" y="3365027"/>
              <a:ext cx="720000" cy="720000"/>
            </a:xfrm>
            <a:prstGeom prst="line">
              <a:avLst/>
            </a:prstGeom>
          </p:spPr>
          <p:style>
            <a:lnRef idx="3">
              <a:schemeClr val="accent6"/>
            </a:lnRef>
            <a:fillRef idx="0">
              <a:schemeClr val="accent6"/>
            </a:fillRef>
            <a:effectRef idx="2">
              <a:schemeClr val="accent6"/>
            </a:effectRef>
            <a:fontRef idx="minor">
              <a:schemeClr val="tx1"/>
            </a:fontRef>
          </p:style>
        </p:cxnSp>
        <p:sp>
          <p:nvSpPr>
            <p:cNvPr id="23" name="文本框 22">
              <a:extLst>
                <a:ext uri="{FF2B5EF4-FFF2-40B4-BE49-F238E27FC236}">
                  <a16:creationId xmlns:a16="http://schemas.microsoft.com/office/drawing/2014/main" id="{DBC26E6B-C6BA-D948-83A6-2551F96544C7}"/>
                </a:ext>
              </a:extLst>
            </p:cNvPr>
            <p:cNvSpPr txBox="1"/>
            <p:nvPr/>
          </p:nvSpPr>
          <p:spPr>
            <a:xfrm>
              <a:off x="5216787" y="3399257"/>
              <a:ext cx="301686" cy="369332"/>
            </a:xfrm>
            <a:prstGeom prst="rect">
              <a:avLst/>
            </a:prstGeom>
            <a:noFill/>
          </p:spPr>
          <p:txBody>
            <a:bodyPr wrap="none" rtlCol="0">
              <a:spAutoFit/>
            </a:bodyPr>
            <a:lstStyle/>
            <a:p>
              <a:r>
                <a:rPr kumimoji="1" lang="en-US" altLang="zh-CN" dirty="0"/>
                <a:t>0</a:t>
              </a:r>
              <a:endParaRPr kumimoji="1" lang="zh-CN" altLang="en-US" dirty="0"/>
            </a:p>
          </p:txBody>
        </p:sp>
        <p:sp>
          <p:nvSpPr>
            <p:cNvPr id="24" name="文本框 23">
              <a:extLst>
                <a:ext uri="{FF2B5EF4-FFF2-40B4-BE49-F238E27FC236}">
                  <a16:creationId xmlns:a16="http://schemas.microsoft.com/office/drawing/2014/main" id="{C07AB665-0BEF-D04D-A770-728F9BC11AF5}"/>
                </a:ext>
              </a:extLst>
            </p:cNvPr>
            <p:cNvSpPr txBox="1"/>
            <p:nvPr/>
          </p:nvSpPr>
          <p:spPr>
            <a:xfrm>
              <a:off x="4928037" y="3713498"/>
              <a:ext cx="301686" cy="369332"/>
            </a:xfrm>
            <a:prstGeom prst="rect">
              <a:avLst/>
            </a:prstGeom>
            <a:noFill/>
          </p:spPr>
          <p:txBody>
            <a:bodyPr wrap="none" rtlCol="0">
              <a:spAutoFit/>
            </a:bodyPr>
            <a:lstStyle/>
            <a:p>
              <a:r>
                <a:rPr kumimoji="1" lang="en-US" altLang="zh-CN" dirty="0"/>
                <a:t>0</a:t>
              </a:r>
              <a:endParaRPr kumimoji="1" lang="zh-CN" altLang="en-US" dirty="0"/>
            </a:p>
          </p:txBody>
        </p:sp>
        <p:pic>
          <p:nvPicPr>
            <p:cNvPr id="25" name="图片 24">
              <a:extLst>
                <a:ext uri="{FF2B5EF4-FFF2-40B4-BE49-F238E27FC236}">
                  <a16:creationId xmlns:a16="http://schemas.microsoft.com/office/drawing/2014/main" id="{2D3B2EF7-5B20-0F42-82D1-2E9440047B3C}"/>
                </a:ext>
              </a:extLst>
            </p:cNvPr>
            <p:cNvPicPr>
              <a:picLocks noChangeAspect="1"/>
            </p:cNvPicPr>
            <p:nvPr/>
          </p:nvPicPr>
          <p:blipFill>
            <a:blip r:embed="rId6"/>
            <a:stretch>
              <a:fillRect/>
            </a:stretch>
          </p:blipFill>
          <p:spPr>
            <a:xfrm>
              <a:off x="4654987" y="4117060"/>
              <a:ext cx="503486" cy="456650"/>
            </a:xfrm>
            <a:prstGeom prst="rect">
              <a:avLst/>
            </a:prstGeom>
          </p:spPr>
        </p:pic>
        <p:pic>
          <p:nvPicPr>
            <p:cNvPr id="26" name="图片 25">
              <a:extLst>
                <a:ext uri="{FF2B5EF4-FFF2-40B4-BE49-F238E27FC236}">
                  <a16:creationId xmlns:a16="http://schemas.microsoft.com/office/drawing/2014/main" id="{112CFDA6-7D29-DB41-AFFF-395B9F6DA64B}"/>
                </a:ext>
              </a:extLst>
            </p:cNvPr>
            <p:cNvPicPr>
              <a:picLocks noChangeAspect="1"/>
            </p:cNvPicPr>
            <p:nvPr/>
          </p:nvPicPr>
          <p:blipFill>
            <a:blip r:embed="rId7"/>
            <a:stretch>
              <a:fillRect/>
            </a:stretch>
          </p:blipFill>
          <p:spPr>
            <a:xfrm>
              <a:off x="5618280" y="3139170"/>
              <a:ext cx="461978" cy="375357"/>
            </a:xfrm>
            <a:prstGeom prst="rect">
              <a:avLst/>
            </a:prstGeom>
          </p:spPr>
        </p:pic>
      </p:grpSp>
    </p:spTree>
    <p:extLst>
      <p:ext uri="{BB962C8B-B14F-4D97-AF65-F5344CB8AC3E}">
        <p14:creationId xmlns:p14="http://schemas.microsoft.com/office/powerpoint/2010/main" val="41794301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96C050E8-2FE5-A640-8A8F-34449B8E662F}"/>
                  </a:ext>
                </a:extLst>
              </p:cNvPr>
              <p:cNvSpPr>
                <a:spLocks noGrp="1"/>
              </p:cNvSpPr>
              <p:nvPr>
                <p:ph type="title"/>
              </p:nvPr>
            </p:nvSpPr>
            <p:spPr/>
            <p:txBody>
              <a:bodyPr/>
              <a:lstStyle/>
              <a:p>
                <a:r>
                  <a:rPr kumimoji="1" lang="en-US" altLang="zh-CN" dirty="0"/>
                  <a:t>SVD</a:t>
                </a:r>
                <a:r>
                  <a:rPr kumimoji="1" lang="zh-CN" altLang="en-US" dirty="0"/>
                  <a:t>得到的</a:t>
                </a:r>
                <a:r>
                  <a:rPr kumimoji="1" lang="en-US" altLang="zh-CN" b="1" dirty="0">
                    <a:latin typeface="Times" pitchFamily="2" charset="0"/>
                  </a:rPr>
                  <a:t>U</a:t>
                </a:r>
                <a:r>
                  <a:rPr kumimoji="1" lang="zh-CN" altLang="en-US" b="1" dirty="0">
                    <a:latin typeface="Times" pitchFamily="2" charset="0"/>
                  </a:rPr>
                  <a:t>、</a:t>
                </a:r>
                <a14:m>
                  <m:oMath xmlns:m="http://schemas.openxmlformats.org/officeDocument/2006/math">
                    <m:r>
                      <a:rPr kumimoji="1" lang="en-US" altLang="zh-CN" sz="3200" b="1" i="0" smtClean="0">
                        <a:latin typeface="Cambria Math" panose="02040503050406030204" pitchFamily="18" charset="0"/>
                      </a:rPr>
                      <m:t>𝚺</m:t>
                    </m:r>
                  </m:oMath>
                </a14:m>
                <a:r>
                  <a:rPr kumimoji="1" lang="zh-CN" altLang="en-US" b="1" dirty="0">
                    <a:latin typeface="Times" pitchFamily="2" charset="0"/>
                  </a:rPr>
                  <a:t>、</a:t>
                </a:r>
                <a:r>
                  <a:rPr kumimoji="1" lang="en-US" altLang="zh-CN" b="1" dirty="0">
                    <a:latin typeface="Times" pitchFamily="2" charset="0"/>
                  </a:rPr>
                  <a:t>V</a:t>
                </a:r>
                <a:endParaRPr kumimoji="1" lang="zh-CN" altLang="en-US" b="1" dirty="0">
                  <a:latin typeface="Times" pitchFamily="2" charset="0"/>
                </a:endParaRPr>
              </a:p>
            </p:txBody>
          </p:sp>
        </mc:Choice>
        <mc:Fallback xmlns="">
          <p:sp>
            <p:nvSpPr>
              <p:cNvPr id="2" name="标题 1">
                <a:extLst>
                  <a:ext uri="{FF2B5EF4-FFF2-40B4-BE49-F238E27FC236}">
                    <a16:creationId xmlns:a16="http://schemas.microsoft.com/office/drawing/2014/main" id="{96C050E8-2FE5-A640-8A8F-34449B8E662F}"/>
                  </a:ext>
                </a:extLst>
              </p:cNvPr>
              <p:cNvSpPr>
                <a:spLocks noGrp="1" noRot="1" noChangeAspect="1" noMove="1" noResize="1" noEditPoints="1" noAdjustHandles="1" noChangeArrowheads="1" noChangeShapeType="1" noTextEdit="1"/>
              </p:cNvSpPr>
              <p:nvPr>
                <p:ph type="title"/>
              </p:nvPr>
            </p:nvSpPr>
            <p:spPr>
              <a:blipFill>
                <a:blip r:embed="rId2"/>
                <a:stretch>
                  <a:fillRect t="-12195" b="-365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1EFDC3E-1BB1-3A45-B432-7041C872B01D}"/>
                  </a:ext>
                </a:extLst>
              </p:cNvPr>
              <p:cNvSpPr>
                <a:spLocks noGrp="1"/>
              </p:cNvSpPr>
              <p:nvPr>
                <p:ph idx="1"/>
              </p:nvPr>
            </p:nvSpPr>
            <p:spPr>
              <a:xfrm>
                <a:off x="457200" y="2640570"/>
                <a:ext cx="8229600" cy="2115579"/>
              </a:xfrm>
            </p:spPr>
            <p:txBody>
              <a:bodyPr>
                <a:normAutofit fontScale="92500" lnSpcReduction="20000"/>
              </a:bodyPr>
              <a:lstStyle/>
              <a:p>
                <a14:m>
                  <m:oMath xmlns:m="http://schemas.openxmlformats.org/officeDocument/2006/math">
                    <m:r>
                      <m:rPr>
                        <m:sty m:val="p"/>
                      </m:rPr>
                      <a:rPr kumimoji="1" lang="en-US" altLang="zh-CN" smtClean="0">
                        <a:latin typeface="Cambria Math" panose="02040503050406030204" pitchFamily="18" charset="0"/>
                      </a:rPr>
                      <m:t>Σ</m:t>
                    </m:r>
                    <m:r>
                      <a:rPr kumimoji="1" lang="en-US" altLang="zh-CN" b="0" i="1" smtClean="0">
                        <a:latin typeface="Cambria Math" panose="02040503050406030204" pitchFamily="18" charset="0"/>
                      </a:rPr>
                      <m:t>=</m:t>
                    </m:r>
                    <m:d>
                      <m:dPr>
                        <m:ctrlPr>
                          <a:rPr kumimoji="1" lang="en-US" altLang="zh-CN" i="1">
                            <a:latin typeface="Cambria Math" panose="02040503050406030204" pitchFamily="18" charset="0"/>
                          </a:rPr>
                        </m:ctrlPr>
                      </m:dPr>
                      <m:e>
                        <m:m>
                          <m:mPr>
                            <m:mcs>
                              <m:mc>
                                <m:mcPr>
                                  <m:count m:val="3"/>
                                  <m:mcJc m:val="center"/>
                                </m:mcPr>
                              </m:mc>
                            </m:mcs>
                            <m:ctrlPr>
                              <a:rPr kumimoji="1" lang="en-US" altLang="zh-CN" i="1">
                                <a:latin typeface="Cambria Math" panose="02040503050406030204" pitchFamily="18" charset="0"/>
                              </a:rPr>
                            </m:ctrlPr>
                          </m:mPr>
                          <m:mr>
                            <m:e>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𝜎</m:t>
                                  </m:r>
                                </m:e>
                                <m:sub>
                                  <m:r>
                                    <a:rPr kumimoji="1" lang="en-US" altLang="zh-CN" b="0" i="1" smtClean="0">
                                      <a:latin typeface="Cambria Math" panose="02040503050406030204" pitchFamily="18" charset="0"/>
                                    </a:rPr>
                                    <m:t>1</m:t>
                                  </m:r>
                                </m:sub>
                              </m:sSub>
                            </m:e>
                            <m:e>
                              <m:r>
                                <a:rPr kumimoji="1" lang="en-US" altLang="zh-CN" i="1">
                                  <a:latin typeface="Cambria Math" panose="02040503050406030204" pitchFamily="18" charset="0"/>
                                </a:rPr>
                                <m:t>⋯</m:t>
                              </m:r>
                            </m:e>
                            <m:e>
                              <m:r>
                                <a:rPr kumimoji="1" lang="en-US" altLang="zh-CN" b="0" i="1" smtClean="0">
                                  <a:latin typeface="Cambria Math" panose="02040503050406030204" pitchFamily="18" charset="0"/>
                                </a:rPr>
                                <m:t>0</m:t>
                              </m:r>
                            </m:e>
                          </m:mr>
                          <m:mr>
                            <m:e>
                              <m:r>
                                <a:rPr kumimoji="1" lang="en-US" altLang="zh-CN" i="1">
                                  <a:latin typeface="Cambria Math" panose="02040503050406030204" pitchFamily="18" charset="0"/>
                                </a:rPr>
                                <m:t>⋮</m:t>
                              </m:r>
                            </m:e>
                            <m:e>
                              <m:r>
                                <a:rPr kumimoji="1" lang="en-US" altLang="zh-CN" i="1">
                                  <a:latin typeface="Cambria Math" panose="02040503050406030204" pitchFamily="18" charset="0"/>
                                </a:rPr>
                                <m:t>⋱</m:t>
                              </m:r>
                            </m:e>
                            <m:e>
                              <m:r>
                                <a:rPr kumimoji="1" lang="en-US" altLang="zh-CN" i="1">
                                  <a:latin typeface="Cambria Math" panose="02040503050406030204" pitchFamily="18" charset="0"/>
                                </a:rPr>
                                <m:t>⋮</m:t>
                              </m:r>
                            </m:e>
                          </m:mr>
                          <m:mr>
                            <m:e>
                              <m:r>
                                <a:rPr kumimoji="1" lang="en-US" altLang="zh-CN" b="0" i="1" smtClean="0">
                                  <a:latin typeface="Cambria Math" panose="02040503050406030204" pitchFamily="18" charset="0"/>
                                </a:rPr>
                                <m:t>0</m:t>
                              </m:r>
                            </m:e>
                            <m:e>
                              <m:r>
                                <a:rPr kumimoji="1" lang="en-US" altLang="zh-CN" i="1">
                                  <a:latin typeface="Cambria Math" panose="02040503050406030204" pitchFamily="18" charset="0"/>
                                </a:rPr>
                                <m:t>⋯</m:t>
                              </m:r>
                            </m:e>
                            <m:e>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𝜎</m:t>
                                  </m:r>
                                </m:e>
                                <m:sub>
                                  <m:r>
                                    <a:rPr kumimoji="1" lang="en-US" altLang="zh-CN" b="0" i="1" smtClean="0">
                                      <a:latin typeface="Cambria Math" panose="02040503050406030204" pitchFamily="18" charset="0"/>
                                    </a:rPr>
                                    <m:t>𝑅</m:t>
                                  </m:r>
                                </m:sub>
                              </m:sSub>
                            </m:e>
                          </m:mr>
                        </m:m>
                      </m:e>
                    </m:d>
                  </m:oMath>
                </a14:m>
                <a:r>
                  <a:rPr kumimoji="1" lang="zh-CN" altLang="en-US" dirty="0"/>
                  <a:t>是对角方阵，</a:t>
                </a:r>
                <a:r>
                  <a:rPr kumimoji="1" lang="en-US" altLang="zh-CN" dirty="0"/>
                  <a:t> </a:t>
                </a:r>
                <a14:m>
                  <m:oMath xmlns:m="http://schemas.openxmlformats.org/officeDocument/2006/math">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𝜎</m:t>
                        </m:r>
                      </m:e>
                      <m:sub>
                        <m:r>
                          <a:rPr kumimoji="1" lang="en-US" altLang="zh-CN" b="0" i="1" smtClean="0">
                            <a:latin typeface="Cambria Math" panose="02040503050406030204" pitchFamily="18" charset="0"/>
                          </a:rPr>
                          <m:t>1</m:t>
                        </m:r>
                      </m:sub>
                    </m:sSub>
                    <m:r>
                      <a:rPr kumimoji="1" lang="en-US" altLang="zh-CN" b="0" i="1" smtClean="0">
                        <a:latin typeface="Cambria Math" panose="02040503050406030204" pitchFamily="18" charset="0"/>
                      </a:rPr>
                      <m:t>⋯</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𝜎</m:t>
                        </m:r>
                      </m:e>
                      <m:sub>
                        <m:r>
                          <a:rPr kumimoji="1" lang="en-US" altLang="zh-CN" b="0" i="1" smtClean="0">
                            <a:latin typeface="Cambria Math" panose="02040503050406030204" pitchFamily="18" charset="0"/>
                          </a:rPr>
                          <m:t>𝑅</m:t>
                        </m:r>
                      </m:sub>
                    </m:sSub>
                  </m:oMath>
                </a14:m>
                <a:r>
                  <a:rPr kumimoji="1" lang="zh-CN" altLang="en-US" dirty="0"/>
                  <a:t>是</a:t>
                </a:r>
                <a:r>
                  <a:rPr kumimoji="1" lang="en-US" altLang="zh-CN" dirty="0"/>
                  <a:t>D</a:t>
                </a:r>
                <a:r>
                  <a:rPr kumimoji="1" lang="zh-CN" altLang="en-US" dirty="0"/>
                  <a:t>的</a:t>
                </a:r>
                <a:r>
                  <a:rPr kumimoji="1" lang="en-US" altLang="zh-CN" dirty="0"/>
                  <a:t>R</a:t>
                </a:r>
                <a:r>
                  <a:rPr kumimoji="1" lang="zh-CN" altLang="en-US" dirty="0"/>
                  <a:t>个</a:t>
                </a:r>
                <a:r>
                  <a:rPr kumimoji="1" lang="zh-CN" altLang="en-US" dirty="0">
                    <a:solidFill>
                      <a:srgbClr val="C00000"/>
                    </a:solidFill>
                  </a:rPr>
                  <a:t>特征根</a:t>
                </a:r>
              </a:p>
              <a:p>
                <a:r>
                  <a:rPr kumimoji="1" lang="en-US" altLang="zh-CN" b="1" dirty="0">
                    <a:latin typeface="Times" pitchFamily="2" charset="0"/>
                  </a:rPr>
                  <a:t>U</a:t>
                </a:r>
                <a:r>
                  <a:rPr kumimoji="1" lang="zh-CN" altLang="en-US" dirty="0">
                    <a:latin typeface="Times" pitchFamily="2" charset="0"/>
                  </a:rPr>
                  <a:t>所</a:t>
                </a:r>
                <a:r>
                  <a:rPr kumimoji="1" lang="zh-CN" altLang="en-US" dirty="0"/>
                  <a:t>有的列都正交</a:t>
                </a:r>
                <a:r>
                  <a:rPr kumimoji="1" lang="en-US" altLang="zh-CN" dirty="0"/>
                  <a:t>:</a:t>
                </a:r>
                <a:r>
                  <a:rPr kumimoji="1" lang="zh-CN" altLang="en-US" dirty="0"/>
                  <a:t> </a:t>
                </a:r>
                <a14:m>
                  <m:oMath xmlns:m="http://schemas.openxmlformats.org/officeDocument/2006/math">
                    <m:sSubSup>
                      <m:sSubSupPr>
                        <m:ctrlPr>
                          <a:rPr kumimoji="1" lang="en-US" altLang="zh-CN" i="1">
                            <a:latin typeface="Cambria Math" panose="02040503050406030204" pitchFamily="18" charset="0"/>
                          </a:rPr>
                        </m:ctrlPr>
                      </m:sSubSupPr>
                      <m:e>
                        <m:r>
                          <a:rPr kumimoji="1" lang="en-US" altLang="zh-CN" b="1">
                            <a:latin typeface="Cambria Math" panose="02040503050406030204" pitchFamily="18" charset="0"/>
                          </a:rPr>
                          <m:t>𝐮</m:t>
                        </m:r>
                      </m:e>
                      <m:sub>
                        <m:r>
                          <a:rPr kumimoji="1" lang="en-US" altLang="zh-CN" i="1">
                            <a:latin typeface="Cambria Math" panose="02040503050406030204" pitchFamily="18" charset="0"/>
                          </a:rPr>
                          <m:t>𝑖</m:t>
                        </m:r>
                      </m:sub>
                      <m:sup>
                        <m:r>
                          <a:rPr kumimoji="1" lang="en-US" altLang="zh-CN" i="1">
                            <a:latin typeface="Cambria Math" panose="02040503050406030204" pitchFamily="18" charset="0"/>
                          </a:rPr>
                          <m:t>𝑇</m:t>
                        </m:r>
                      </m:sup>
                    </m:sSubSup>
                    <m:sSubSup>
                      <m:sSubSupPr>
                        <m:ctrlPr>
                          <a:rPr kumimoji="1" lang="en-US" altLang="zh-CN" i="1">
                            <a:latin typeface="Cambria Math" panose="02040503050406030204" pitchFamily="18" charset="0"/>
                          </a:rPr>
                        </m:ctrlPr>
                      </m:sSubSupPr>
                      <m:e>
                        <m:r>
                          <a:rPr kumimoji="1" lang="en-US" altLang="zh-CN" b="1">
                            <a:latin typeface="Cambria Math" panose="02040503050406030204" pitchFamily="18" charset="0"/>
                          </a:rPr>
                          <m:t>𝐮</m:t>
                        </m:r>
                      </m:e>
                      <m:sub>
                        <m:r>
                          <a:rPr kumimoji="1" lang="en-US" altLang="zh-CN" i="1">
                            <a:latin typeface="Cambria Math" panose="02040503050406030204" pitchFamily="18" charset="0"/>
                          </a:rPr>
                          <m:t>𝑗</m:t>
                        </m:r>
                      </m:sub>
                      <m:sup>
                        <m:r>
                          <a:rPr kumimoji="1" lang="zh-CN" altLang="en-US" b="0" i="1" smtClean="0">
                            <a:latin typeface="Cambria Math" panose="02040503050406030204" pitchFamily="18" charset="0"/>
                          </a:rPr>
                          <m:t> </m:t>
                        </m:r>
                      </m:sup>
                    </m:sSubSup>
                    <m:r>
                      <a:rPr kumimoji="1" lang="en-US" altLang="zh-CN" i="1">
                        <a:latin typeface="Cambria Math" panose="02040503050406030204" pitchFamily="18" charset="0"/>
                      </a:rPr>
                      <m:t>=</m:t>
                    </m:r>
                    <m:d>
                      <m:dPr>
                        <m:begChr m:val="{"/>
                        <m:endChr m:val=""/>
                        <m:ctrlPr>
                          <a:rPr kumimoji="1" lang="en-US" altLang="zh-CN" i="1">
                            <a:latin typeface="Cambria Math" panose="02040503050406030204" pitchFamily="18" charset="0"/>
                          </a:rPr>
                        </m:ctrlPr>
                      </m:dPr>
                      <m:e>
                        <m:eqArr>
                          <m:eqArrPr>
                            <m:ctrlPr>
                              <a:rPr kumimoji="1" lang="en-US" altLang="zh-CN" i="1">
                                <a:latin typeface="Cambria Math" panose="02040503050406030204" pitchFamily="18" charset="0"/>
                              </a:rPr>
                            </m:ctrlPr>
                          </m:eqArrPr>
                          <m:e>
                            <m:r>
                              <a:rPr kumimoji="1" lang="en-US" altLang="zh-CN" i="1">
                                <a:latin typeface="Cambria Math" panose="02040503050406030204" pitchFamily="18" charset="0"/>
                              </a:rPr>
                              <m:t>1,  </m:t>
                            </m:r>
                            <m:r>
                              <a:rPr kumimoji="1" lang="en-US" altLang="zh-CN" i="1">
                                <a:latin typeface="Cambria Math" panose="02040503050406030204" pitchFamily="18" charset="0"/>
                              </a:rPr>
                              <m:t>𝑖</m:t>
                            </m:r>
                            <m:r>
                              <a:rPr kumimoji="1" lang="en-US" altLang="zh-CN" i="1">
                                <a:latin typeface="Cambria Math" panose="02040503050406030204" pitchFamily="18" charset="0"/>
                              </a:rPr>
                              <m:t>=</m:t>
                            </m:r>
                            <m:r>
                              <a:rPr kumimoji="1" lang="en-US" altLang="zh-CN" i="1">
                                <a:latin typeface="Cambria Math" panose="02040503050406030204" pitchFamily="18" charset="0"/>
                              </a:rPr>
                              <m:t>𝑗</m:t>
                            </m:r>
                          </m:e>
                          <m:e>
                            <m:r>
                              <a:rPr kumimoji="1" lang="en-US" altLang="zh-CN" i="1">
                                <a:latin typeface="Cambria Math" panose="02040503050406030204" pitchFamily="18" charset="0"/>
                              </a:rPr>
                              <m:t>&amp;</m:t>
                            </m:r>
                            <m:r>
                              <a:rPr kumimoji="1" lang="en-US" altLang="zh-CN" b="0" i="1" smtClean="0">
                                <a:latin typeface="Cambria Math" panose="02040503050406030204" pitchFamily="18" charset="0"/>
                              </a:rPr>
                              <m:t>0</m:t>
                            </m:r>
                            <m:r>
                              <a:rPr kumimoji="1" lang="en-US" altLang="zh-CN" i="1">
                                <a:latin typeface="Cambria Math" panose="02040503050406030204" pitchFamily="18" charset="0"/>
                              </a:rPr>
                              <m:t>,  </m:t>
                            </m:r>
                            <m:r>
                              <a:rPr kumimoji="1" lang="en-US" altLang="zh-CN" i="1">
                                <a:latin typeface="Cambria Math" panose="02040503050406030204" pitchFamily="18" charset="0"/>
                              </a:rPr>
                              <m:t>𝑖</m:t>
                            </m:r>
                            <m:r>
                              <a:rPr kumimoji="1" lang="en-US" altLang="zh-CN" i="1">
                                <a:latin typeface="Cambria Math" panose="02040503050406030204" pitchFamily="18" charset="0"/>
                              </a:rPr>
                              <m:t>≠</m:t>
                            </m:r>
                            <m:r>
                              <a:rPr kumimoji="1" lang="en-US" altLang="zh-CN" i="1">
                                <a:latin typeface="Cambria Math" panose="02040503050406030204" pitchFamily="18" charset="0"/>
                              </a:rPr>
                              <m:t>𝑗</m:t>
                            </m:r>
                          </m:e>
                        </m:eqArr>
                      </m:e>
                    </m:d>
                  </m:oMath>
                </a14:m>
                <a:r>
                  <a:rPr kumimoji="1" lang="zh-CN" altLang="en-US" dirty="0"/>
                  <a:t>，</a:t>
                </a:r>
                <a14:m>
                  <m:oMath xmlns:m="http://schemas.openxmlformats.org/officeDocument/2006/math">
                    <m:sSubSup>
                      <m:sSubSupPr>
                        <m:ctrlPr>
                          <a:rPr kumimoji="1" lang="en-US" altLang="zh-CN" i="1">
                            <a:latin typeface="Cambria Math" panose="02040503050406030204" pitchFamily="18" charset="0"/>
                          </a:rPr>
                        </m:ctrlPr>
                      </m:sSubSupPr>
                      <m:e>
                        <m:r>
                          <a:rPr kumimoji="1" lang="en-US" altLang="zh-CN" b="1">
                            <a:latin typeface="Cambria Math" panose="02040503050406030204" pitchFamily="18" charset="0"/>
                          </a:rPr>
                          <m:t>𝐮</m:t>
                        </m:r>
                      </m:e>
                      <m:sub>
                        <m:r>
                          <a:rPr kumimoji="1" lang="en-US" altLang="zh-CN" b="1" i="1" smtClean="0">
                            <a:latin typeface="Cambria Math" panose="02040503050406030204" pitchFamily="18" charset="0"/>
                          </a:rPr>
                          <m:t>𝒊</m:t>
                        </m:r>
                      </m:sub>
                      <m:sup>
                        <m:r>
                          <a:rPr kumimoji="1" lang="zh-CN" altLang="en-US" i="1">
                            <a:latin typeface="Cambria Math" panose="02040503050406030204" pitchFamily="18" charset="0"/>
                          </a:rPr>
                          <m:t> </m:t>
                        </m:r>
                      </m:sup>
                    </m:sSubSup>
                  </m:oMath>
                </a14:m>
                <a:r>
                  <a:rPr kumimoji="1" lang="zh-CN" altLang="en-US" dirty="0"/>
                  <a:t>是</a:t>
                </a:r>
                <a14:m>
                  <m:oMath xmlns:m="http://schemas.openxmlformats.org/officeDocument/2006/math">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𝜎</m:t>
                        </m:r>
                      </m:e>
                      <m:sub>
                        <m:r>
                          <a:rPr kumimoji="1" lang="en-US" altLang="zh-CN" b="0" i="1" smtClean="0">
                            <a:latin typeface="Cambria Math" panose="02040503050406030204" pitchFamily="18" charset="0"/>
                          </a:rPr>
                          <m:t>𝑖</m:t>
                        </m:r>
                      </m:sub>
                    </m:sSub>
                  </m:oMath>
                </a14:m>
                <a:r>
                  <a:rPr kumimoji="1" lang="zh-CN" altLang="en-US" dirty="0"/>
                  <a:t>对应</a:t>
                </a:r>
                <a:r>
                  <a:rPr kumimoji="1" lang="zh-CN" altLang="en-US" dirty="0">
                    <a:solidFill>
                      <a:srgbClr val="C00000"/>
                    </a:solidFill>
                  </a:rPr>
                  <a:t>左特征向量</a:t>
                </a:r>
                <a:endParaRPr kumimoji="1" lang="en-US" altLang="zh-CN" dirty="0">
                  <a:solidFill>
                    <a:srgbClr val="C00000"/>
                  </a:solidFill>
                </a:endParaRPr>
              </a:p>
              <a:p>
                <a:r>
                  <a:rPr kumimoji="1" lang="en-US" altLang="zh-CN" b="1" dirty="0">
                    <a:latin typeface="Times" pitchFamily="2" charset="0"/>
                  </a:rPr>
                  <a:t>V</a:t>
                </a:r>
                <a:r>
                  <a:rPr kumimoji="1" lang="zh-CN" altLang="en-US" dirty="0">
                    <a:latin typeface="Times" pitchFamily="2" charset="0"/>
                  </a:rPr>
                  <a:t>所</a:t>
                </a:r>
                <a:r>
                  <a:rPr kumimoji="1" lang="zh-CN" altLang="en-US" dirty="0"/>
                  <a:t>有的列都正交</a:t>
                </a:r>
                <a:r>
                  <a:rPr kumimoji="1" lang="en-US" altLang="zh-CN" dirty="0"/>
                  <a:t>:</a:t>
                </a:r>
                <a:r>
                  <a:rPr kumimoji="1" lang="zh-CN" altLang="en-US" dirty="0"/>
                  <a:t> </a:t>
                </a:r>
                <a14:m>
                  <m:oMath xmlns:m="http://schemas.openxmlformats.org/officeDocument/2006/math">
                    <m:sSubSup>
                      <m:sSubSupPr>
                        <m:ctrlPr>
                          <a:rPr kumimoji="1" lang="en-US" altLang="zh-CN" i="1">
                            <a:latin typeface="Cambria Math" panose="02040503050406030204" pitchFamily="18" charset="0"/>
                          </a:rPr>
                        </m:ctrlPr>
                      </m:sSubSupPr>
                      <m:e>
                        <m:r>
                          <a:rPr kumimoji="1" lang="en-US" altLang="zh-CN" b="1" i="0" smtClean="0">
                            <a:latin typeface="Cambria Math" panose="02040503050406030204" pitchFamily="18" charset="0"/>
                          </a:rPr>
                          <m:t>𝐯</m:t>
                        </m:r>
                      </m:e>
                      <m:sub>
                        <m:r>
                          <a:rPr kumimoji="1" lang="en-US" altLang="zh-CN" i="1">
                            <a:latin typeface="Cambria Math" panose="02040503050406030204" pitchFamily="18" charset="0"/>
                          </a:rPr>
                          <m:t>𝑖</m:t>
                        </m:r>
                      </m:sub>
                      <m:sup>
                        <m:r>
                          <a:rPr kumimoji="1" lang="en-US" altLang="zh-CN" i="1">
                            <a:latin typeface="Cambria Math" panose="02040503050406030204" pitchFamily="18" charset="0"/>
                          </a:rPr>
                          <m:t>𝑇</m:t>
                        </m:r>
                      </m:sup>
                    </m:sSubSup>
                    <m:sSubSup>
                      <m:sSubSupPr>
                        <m:ctrlPr>
                          <a:rPr kumimoji="1" lang="en-US" altLang="zh-CN" i="1">
                            <a:latin typeface="Cambria Math" panose="02040503050406030204" pitchFamily="18" charset="0"/>
                          </a:rPr>
                        </m:ctrlPr>
                      </m:sSubSupPr>
                      <m:e>
                        <m:r>
                          <a:rPr kumimoji="1" lang="en-US" altLang="zh-CN" b="1" i="0" smtClean="0">
                            <a:latin typeface="Cambria Math" panose="02040503050406030204" pitchFamily="18" charset="0"/>
                          </a:rPr>
                          <m:t>𝐯</m:t>
                        </m:r>
                      </m:e>
                      <m:sub>
                        <m:r>
                          <a:rPr kumimoji="1" lang="en-US" altLang="zh-CN" i="1">
                            <a:latin typeface="Cambria Math" panose="02040503050406030204" pitchFamily="18" charset="0"/>
                          </a:rPr>
                          <m:t>𝑗</m:t>
                        </m:r>
                      </m:sub>
                      <m:sup>
                        <m:r>
                          <a:rPr kumimoji="1" lang="zh-CN" altLang="en-US" b="0" i="1" smtClean="0">
                            <a:latin typeface="Cambria Math" panose="02040503050406030204" pitchFamily="18" charset="0"/>
                          </a:rPr>
                          <m:t> </m:t>
                        </m:r>
                      </m:sup>
                    </m:sSubSup>
                    <m:r>
                      <a:rPr kumimoji="1" lang="en-US" altLang="zh-CN" i="1">
                        <a:latin typeface="Cambria Math" panose="02040503050406030204" pitchFamily="18" charset="0"/>
                      </a:rPr>
                      <m:t>=</m:t>
                    </m:r>
                    <m:d>
                      <m:dPr>
                        <m:begChr m:val="{"/>
                        <m:endChr m:val=""/>
                        <m:ctrlPr>
                          <a:rPr kumimoji="1" lang="en-US" altLang="zh-CN" i="1">
                            <a:latin typeface="Cambria Math" panose="02040503050406030204" pitchFamily="18" charset="0"/>
                          </a:rPr>
                        </m:ctrlPr>
                      </m:dPr>
                      <m:e>
                        <m:eqArr>
                          <m:eqArrPr>
                            <m:ctrlPr>
                              <a:rPr kumimoji="1" lang="en-US" altLang="zh-CN" i="1">
                                <a:latin typeface="Cambria Math" panose="02040503050406030204" pitchFamily="18" charset="0"/>
                              </a:rPr>
                            </m:ctrlPr>
                          </m:eqArrPr>
                          <m:e>
                            <m:r>
                              <a:rPr kumimoji="1" lang="en-US" altLang="zh-CN" i="1">
                                <a:latin typeface="Cambria Math" panose="02040503050406030204" pitchFamily="18" charset="0"/>
                              </a:rPr>
                              <m:t>1,  </m:t>
                            </m:r>
                            <m:r>
                              <a:rPr kumimoji="1" lang="en-US" altLang="zh-CN" i="1">
                                <a:latin typeface="Cambria Math" panose="02040503050406030204" pitchFamily="18" charset="0"/>
                              </a:rPr>
                              <m:t>𝑖</m:t>
                            </m:r>
                            <m:r>
                              <a:rPr kumimoji="1" lang="en-US" altLang="zh-CN" i="1">
                                <a:latin typeface="Cambria Math" panose="02040503050406030204" pitchFamily="18" charset="0"/>
                              </a:rPr>
                              <m:t>=</m:t>
                            </m:r>
                            <m:r>
                              <a:rPr kumimoji="1" lang="en-US" altLang="zh-CN" i="1">
                                <a:latin typeface="Cambria Math" panose="02040503050406030204" pitchFamily="18" charset="0"/>
                              </a:rPr>
                              <m:t>𝑗</m:t>
                            </m:r>
                          </m:e>
                          <m:e>
                            <m:r>
                              <a:rPr kumimoji="1" lang="en-US" altLang="zh-CN" i="1">
                                <a:latin typeface="Cambria Math" panose="02040503050406030204" pitchFamily="18" charset="0"/>
                              </a:rPr>
                              <m:t>&amp;</m:t>
                            </m:r>
                            <m:r>
                              <a:rPr kumimoji="1" lang="en-US" altLang="zh-CN" b="0" i="1" smtClean="0">
                                <a:latin typeface="Cambria Math" panose="02040503050406030204" pitchFamily="18" charset="0"/>
                              </a:rPr>
                              <m:t>0</m:t>
                            </m:r>
                            <m:r>
                              <a:rPr kumimoji="1" lang="en-US" altLang="zh-CN" i="1">
                                <a:latin typeface="Cambria Math" panose="02040503050406030204" pitchFamily="18" charset="0"/>
                              </a:rPr>
                              <m:t>,  </m:t>
                            </m:r>
                            <m:r>
                              <a:rPr kumimoji="1" lang="en-US" altLang="zh-CN" i="1">
                                <a:latin typeface="Cambria Math" panose="02040503050406030204" pitchFamily="18" charset="0"/>
                              </a:rPr>
                              <m:t>𝑖</m:t>
                            </m:r>
                            <m:r>
                              <a:rPr kumimoji="1" lang="en-US" altLang="zh-CN" i="1">
                                <a:latin typeface="Cambria Math" panose="02040503050406030204" pitchFamily="18" charset="0"/>
                              </a:rPr>
                              <m:t>≠</m:t>
                            </m:r>
                            <m:r>
                              <a:rPr kumimoji="1" lang="en-US" altLang="zh-CN" i="1">
                                <a:latin typeface="Cambria Math" panose="02040503050406030204" pitchFamily="18" charset="0"/>
                              </a:rPr>
                              <m:t>𝑗</m:t>
                            </m:r>
                          </m:e>
                        </m:eqArr>
                      </m:e>
                    </m:d>
                  </m:oMath>
                </a14:m>
                <a:r>
                  <a:rPr kumimoji="1" lang="zh-CN" altLang="en-US" dirty="0"/>
                  <a:t>，</a:t>
                </a:r>
                <a:r>
                  <a:rPr kumimoji="1" lang="en-US" altLang="zh-CN" dirty="0"/>
                  <a:t> </a:t>
                </a:r>
                <a14:m>
                  <m:oMath xmlns:m="http://schemas.openxmlformats.org/officeDocument/2006/math">
                    <m:sSubSup>
                      <m:sSubSupPr>
                        <m:ctrlPr>
                          <a:rPr kumimoji="1" lang="en-US" altLang="zh-CN" i="1">
                            <a:latin typeface="Cambria Math" panose="02040503050406030204" pitchFamily="18" charset="0"/>
                          </a:rPr>
                        </m:ctrlPr>
                      </m:sSubSupPr>
                      <m:e>
                        <m:r>
                          <a:rPr kumimoji="1" lang="en-US" altLang="zh-CN" b="1" i="0" smtClean="0">
                            <a:latin typeface="Cambria Math" panose="02040503050406030204" pitchFamily="18" charset="0"/>
                          </a:rPr>
                          <m:t>𝐯</m:t>
                        </m:r>
                      </m:e>
                      <m:sub>
                        <m:r>
                          <a:rPr kumimoji="1" lang="en-US" altLang="zh-CN" b="1" i="1">
                            <a:latin typeface="Cambria Math" panose="02040503050406030204" pitchFamily="18" charset="0"/>
                          </a:rPr>
                          <m:t>𝒊</m:t>
                        </m:r>
                      </m:sub>
                      <m:sup>
                        <m:r>
                          <a:rPr kumimoji="1" lang="zh-CN" altLang="en-US" i="1">
                            <a:latin typeface="Cambria Math" panose="02040503050406030204" pitchFamily="18" charset="0"/>
                          </a:rPr>
                          <m:t> </m:t>
                        </m:r>
                      </m:sup>
                    </m:sSubSup>
                  </m:oMath>
                </a14:m>
                <a:r>
                  <a:rPr kumimoji="1" lang="zh-CN" altLang="en-US" dirty="0"/>
                  <a:t>是</a:t>
                </a:r>
                <a14:m>
                  <m:oMath xmlns:m="http://schemas.openxmlformats.org/officeDocument/2006/math">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𝜎</m:t>
                        </m:r>
                      </m:e>
                      <m:sub>
                        <m:r>
                          <a:rPr kumimoji="1" lang="en-US" altLang="zh-CN" i="1">
                            <a:latin typeface="Cambria Math" panose="02040503050406030204" pitchFamily="18" charset="0"/>
                          </a:rPr>
                          <m:t>𝑖</m:t>
                        </m:r>
                      </m:sub>
                    </m:sSub>
                  </m:oMath>
                </a14:m>
                <a:r>
                  <a:rPr kumimoji="1" lang="zh-CN" altLang="en-US" dirty="0"/>
                  <a:t>对应</a:t>
                </a:r>
                <a:r>
                  <a:rPr kumimoji="1" lang="zh-CN" altLang="en-US" dirty="0">
                    <a:solidFill>
                      <a:srgbClr val="C00000"/>
                    </a:solidFill>
                  </a:rPr>
                  <a:t>右特征向量</a:t>
                </a:r>
                <a:endParaRPr kumimoji="1" lang="en-US" altLang="zh-CN" dirty="0">
                  <a:solidFill>
                    <a:srgbClr val="C00000"/>
                  </a:solidFill>
                </a:endParaRPr>
              </a:p>
            </p:txBody>
          </p:sp>
        </mc:Choice>
        <mc:Fallback xmlns="">
          <p:sp>
            <p:nvSpPr>
              <p:cNvPr id="3" name="内容占位符 2">
                <a:extLst>
                  <a:ext uri="{FF2B5EF4-FFF2-40B4-BE49-F238E27FC236}">
                    <a16:creationId xmlns:a16="http://schemas.microsoft.com/office/drawing/2014/main" id="{61EFDC3E-1BB1-3A45-B432-7041C872B01D}"/>
                  </a:ext>
                </a:extLst>
              </p:cNvPr>
              <p:cNvSpPr>
                <a:spLocks noGrp="1" noRot="1" noChangeAspect="1" noMove="1" noResize="1" noEditPoints="1" noAdjustHandles="1" noChangeArrowheads="1" noChangeShapeType="1" noTextEdit="1"/>
              </p:cNvSpPr>
              <p:nvPr>
                <p:ph idx="1"/>
              </p:nvPr>
            </p:nvSpPr>
            <p:spPr>
              <a:xfrm>
                <a:off x="457200" y="2640570"/>
                <a:ext cx="8229600" cy="2115579"/>
              </a:xfrm>
              <a:blipFill>
                <a:blip r:embed="rId3"/>
                <a:stretch>
                  <a:fillRect l="-617" t="-35329" b="-96407"/>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71F6CC1C-083B-2649-B5A9-4672DF9CF542}"/>
              </a:ext>
            </a:extLst>
          </p:cNvPr>
          <p:cNvGrpSpPr/>
          <p:nvPr/>
        </p:nvGrpSpPr>
        <p:grpSpPr>
          <a:xfrm>
            <a:off x="367571" y="794484"/>
            <a:ext cx="8621032" cy="1592449"/>
            <a:chOff x="165694" y="3110178"/>
            <a:chExt cx="8621032" cy="1592449"/>
          </a:xfrm>
        </p:grpSpPr>
        <p:grpSp>
          <p:nvGrpSpPr>
            <p:cNvPr id="5" name="组合 4">
              <a:extLst>
                <a:ext uri="{FF2B5EF4-FFF2-40B4-BE49-F238E27FC236}">
                  <a16:creationId xmlns:a16="http://schemas.microsoft.com/office/drawing/2014/main" id="{79C75C0A-D00D-954C-8C00-0D8DA01A4945}"/>
                </a:ext>
              </a:extLst>
            </p:cNvPr>
            <p:cNvGrpSpPr/>
            <p:nvPr/>
          </p:nvGrpSpPr>
          <p:grpSpPr>
            <a:xfrm>
              <a:off x="165694" y="3110178"/>
              <a:ext cx="8621032" cy="1592449"/>
              <a:chOff x="165694" y="3110178"/>
              <a:chExt cx="8621032" cy="1592449"/>
            </a:xfrm>
          </p:grpSpPr>
          <p:pic>
            <p:nvPicPr>
              <p:cNvPr id="11" name="图片 10">
                <a:extLst>
                  <a:ext uri="{FF2B5EF4-FFF2-40B4-BE49-F238E27FC236}">
                    <a16:creationId xmlns:a16="http://schemas.microsoft.com/office/drawing/2014/main" id="{B88E7BA1-C893-6440-825B-21C0AB21DB62}"/>
                  </a:ext>
                </a:extLst>
              </p:cNvPr>
              <p:cNvPicPr>
                <a:picLocks noChangeAspect="1"/>
              </p:cNvPicPr>
              <p:nvPr/>
            </p:nvPicPr>
            <p:blipFill rotWithShape="1">
              <a:blip r:embed="rId4"/>
              <a:srcRect r="36618"/>
              <a:stretch/>
            </p:blipFill>
            <p:spPr>
              <a:xfrm>
                <a:off x="165694" y="3111389"/>
                <a:ext cx="4668404" cy="1591238"/>
              </a:xfrm>
              <a:prstGeom prst="rect">
                <a:avLst/>
              </a:prstGeom>
            </p:spPr>
          </p:pic>
          <p:sp>
            <p:nvSpPr>
              <p:cNvPr id="12" name="文本框 11">
                <a:extLst>
                  <a:ext uri="{FF2B5EF4-FFF2-40B4-BE49-F238E27FC236}">
                    <a16:creationId xmlns:a16="http://schemas.microsoft.com/office/drawing/2014/main" id="{0F1B7AB3-8330-8244-8715-A8C91C36F3AD}"/>
                  </a:ext>
                </a:extLst>
              </p:cNvPr>
              <p:cNvSpPr txBox="1"/>
              <p:nvPr/>
            </p:nvSpPr>
            <p:spPr>
              <a:xfrm>
                <a:off x="2946333" y="3365027"/>
                <a:ext cx="486888" cy="646331"/>
              </a:xfrm>
              <a:prstGeom prst="rect">
                <a:avLst/>
              </a:prstGeom>
              <a:solidFill>
                <a:schemeClr val="bg1"/>
              </a:solidFill>
            </p:spPr>
            <p:txBody>
              <a:bodyPr wrap="square" rtlCol="0">
                <a:spAutoFit/>
              </a:bodyPr>
              <a:lstStyle/>
              <a:p>
                <a:r>
                  <a:rPr kumimoji="1" lang="en-US" altLang="zh-CN" sz="3600" dirty="0"/>
                  <a:t>=</a:t>
                </a:r>
                <a:endParaRPr kumimoji="1" lang="zh-CN" altLang="en-US" dirty="0"/>
              </a:p>
            </p:txBody>
          </p:sp>
          <p:pic>
            <p:nvPicPr>
              <p:cNvPr id="13" name="图片 12">
                <a:extLst>
                  <a:ext uri="{FF2B5EF4-FFF2-40B4-BE49-F238E27FC236}">
                    <a16:creationId xmlns:a16="http://schemas.microsoft.com/office/drawing/2014/main" id="{AFA7C138-BD05-CE47-B3A7-AE962575BE0E}"/>
                  </a:ext>
                </a:extLst>
              </p:cNvPr>
              <p:cNvPicPr>
                <a:picLocks noChangeAspect="1"/>
              </p:cNvPicPr>
              <p:nvPr/>
            </p:nvPicPr>
            <p:blipFill rotWithShape="1">
              <a:blip r:embed="rId4"/>
              <a:srcRect l="56092" r="19"/>
              <a:stretch/>
            </p:blipFill>
            <p:spPr>
              <a:xfrm>
                <a:off x="5554098" y="3111389"/>
                <a:ext cx="3232628" cy="1591238"/>
              </a:xfrm>
              <a:prstGeom prst="rect">
                <a:avLst/>
              </a:prstGeom>
            </p:spPr>
          </p:pic>
          <p:sp>
            <p:nvSpPr>
              <p:cNvPr id="14" name="矩形 13">
                <a:extLst>
                  <a:ext uri="{FF2B5EF4-FFF2-40B4-BE49-F238E27FC236}">
                    <a16:creationId xmlns:a16="http://schemas.microsoft.com/office/drawing/2014/main" id="{1E35FFE4-BBD3-AE47-8351-3825A52C7216}"/>
                  </a:ext>
                </a:extLst>
              </p:cNvPr>
              <p:cNvSpPr/>
              <p:nvPr/>
            </p:nvSpPr>
            <p:spPr>
              <a:xfrm>
                <a:off x="4834098" y="3110178"/>
                <a:ext cx="1459336" cy="254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a:extLst>
                  <a:ext uri="{FF2B5EF4-FFF2-40B4-BE49-F238E27FC236}">
                    <a16:creationId xmlns:a16="http://schemas.microsoft.com/office/drawing/2014/main" id="{1D285966-6795-8041-BD76-8180A9ACA22C}"/>
                  </a:ext>
                </a:extLst>
              </p:cNvPr>
              <p:cNvSpPr/>
              <p:nvPr/>
            </p:nvSpPr>
            <p:spPr>
              <a:xfrm>
                <a:off x="4429496" y="4119257"/>
                <a:ext cx="1268192" cy="5833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a:extLst>
                  <a:ext uri="{FF2B5EF4-FFF2-40B4-BE49-F238E27FC236}">
                    <a16:creationId xmlns:a16="http://schemas.microsoft.com/office/drawing/2014/main" id="{2DB5EAD1-99DF-6A47-9F3E-5DBC63544A8B}"/>
                  </a:ext>
                </a:extLst>
              </p:cNvPr>
              <p:cNvSpPr/>
              <p:nvPr/>
            </p:nvSpPr>
            <p:spPr>
              <a:xfrm>
                <a:off x="4869723" y="3365027"/>
                <a:ext cx="720000" cy="720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zh-CN" altLang="en-US"/>
              </a:p>
            </p:txBody>
          </p:sp>
        </p:grpSp>
        <p:cxnSp>
          <p:nvCxnSpPr>
            <p:cNvPr id="6" name="直线连接符 5">
              <a:extLst>
                <a:ext uri="{FF2B5EF4-FFF2-40B4-BE49-F238E27FC236}">
                  <a16:creationId xmlns:a16="http://schemas.microsoft.com/office/drawing/2014/main" id="{0517E093-4037-D041-BBEE-53FF3CABFBD1}"/>
                </a:ext>
              </a:extLst>
            </p:cNvPr>
            <p:cNvCxnSpPr/>
            <p:nvPr/>
          </p:nvCxnSpPr>
          <p:spPr>
            <a:xfrm>
              <a:off x="4869723" y="3365027"/>
              <a:ext cx="720000" cy="720000"/>
            </a:xfrm>
            <a:prstGeom prst="line">
              <a:avLst/>
            </a:prstGeom>
          </p:spPr>
          <p:style>
            <a:lnRef idx="3">
              <a:schemeClr val="accent6"/>
            </a:lnRef>
            <a:fillRef idx="0">
              <a:schemeClr val="accent6"/>
            </a:fillRef>
            <a:effectRef idx="2">
              <a:schemeClr val="accent6"/>
            </a:effectRef>
            <a:fontRef idx="minor">
              <a:schemeClr val="tx1"/>
            </a:fontRef>
          </p:style>
        </p:cxnSp>
        <p:sp>
          <p:nvSpPr>
            <p:cNvPr id="7" name="文本框 6">
              <a:extLst>
                <a:ext uri="{FF2B5EF4-FFF2-40B4-BE49-F238E27FC236}">
                  <a16:creationId xmlns:a16="http://schemas.microsoft.com/office/drawing/2014/main" id="{CCB18FA7-28A6-3548-BAA3-1C08874FFF12}"/>
                </a:ext>
              </a:extLst>
            </p:cNvPr>
            <p:cNvSpPr txBox="1"/>
            <p:nvPr/>
          </p:nvSpPr>
          <p:spPr>
            <a:xfrm>
              <a:off x="5216787" y="3399257"/>
              <a:ext cx="301686" cy="369332"/>
            </a:xfrm>
            <a:prstGeom prst="rect">
              <a:avLst/>
            </a:prstGeom>
            <a:noFill/>
          </p:spPr>
          <p:txBody>
            <a:bodyPr wrap="none" rtlCol="0">
              <a:spAutoFit/>
            </a:bodyPr>
            <a:lstStyle/>
            <a:p>
              <a:r>
                <a:rPr kumimoji="1" lang="en-US" altLang="zh-CN" dirty="0"/>
                <a:t>0</a:t>
              </a:r>
              <a:endParaRPr kumimoji="1" lang="zh-CN" altLang="en-US" dirty="0"/>
            </a:p>
          </p:txBody>
        </p:sp>
        <p:sp>
          <p:nvSpPr>
            <p:cNvPr id="8" name="文本框 7">
              <a:extLst>
                <a:ext uri="{FF2B5EF4-FFF2-40B4-BE49-F238E27FC236}">
                  <a16:creationId xmlns:a16="http://schemas.microsoft.com/office/drawing/2014/main" id="{D5B642B4-B36D-4E47-B482-BFC545049F62}"/>
                </a:ext>
              </a:extLst>
            </p:cNvPr>
            <p:cNvSpPr txBox="1"/>
            <p:nvPr/>
          </p:nvSpPr>
          <p:spPr>
            <a:xfrm>
              <a:off x="4928037" y="3713498"/>
              <a:ext cx="301686" cy="369332"/>
            </a:xfrm>
            <a:prstGeom prst="rect">
              <a:avLst/>
            </a:prstGeom>
            <a:noFill/>
          </p:spPr>
          <p:txBody>
            <a:bodyPr wrap="none" rtlCol="0">
              <a:spAutoFit/>
            </a:bodyPr>
            <a:lstStyle/>
            <a:p>
              <a:r>
                <a:rPr kumimoji="1" lang="en-US" altLang="zh-CN" dirty="0"/>
                <a:t>0</a:t>
              </a:r>
              <a:endParaRPr kumimoji="1" lang="zh-CN" altLang="en-US" dirty="0"/>
            </a:p>
          </p:txBody>
        </p:sp>
        <p:pic>
          <p:nvPicPr>
            <p:cNvPr id="9" name="图片 8">
              <a:extLst>
                <a:ext uri="{FF2B5EF4-FFF2-40B4-BE49-F238E27FC236}">
                  <a16:creationId xmlns:a16="http://schemas.microsoft.com/office/drawing/2014/main" id="{CE084DAF-8F12-1E4E-B556-6A5FB13E9ED5}"/>
                </a:ext>
              </a:extLst>
            </p:cNvPr>
            <p:cNvPicPr>
              <a:picLocks noChangeAspect="1"/>
            </p:cNvPicPr>
            <p:nvPr/>
          </p:nvPicPr>
          <p:blipFill>
            <a:blip r:embed="rId5"/>
            <a:stretch>
              <a:fillRect/>
            </a:stretch>
          </p:blipFill>
          <p:spPr>
            <a:xfrm>
              <a:off x="4654987" y="4117060"/>
              <a:ext cx="503486" cy="456650"/>
            </a:xfrm>
            <a:prstGeom prst="rect">
              <a:avLst/>
            </a:prstGeom>
          </p:spPr>
        </p:pic>
        <p:pic>
          <p:nvPicPr>
            <p:cNvPr id="10" name="图片 9">
              <a:extLst>
                <a:ext uri="{FF2B5EF4-FFF2-40B4-BE49-F238E27FC236}">
                  <a16:creationId xmlns:a16="http://schemas.microsoft.com/office/drawing/2014/main" id="{2EE080FC-4A97-FE42-B4C6-A2EFBBDE2B5B}"/>
                </a:ext>
              </a:extLst>
            </p:cNvPr>
            <p:cNvPicPr>
              <a:picLocks noChangeAspect="1"/>
            </p:cNvPicPr>
            <p:nvPr/>
          </p:nvPicPr>
          <p:blipFill>
            <a:blip r:embed="rId6"/>
            <a:stretch>
              <a:fillRect/>
            </a:stretch>
          </p:blipFill>
          <p:spPr>
            <a:xfrm>
              <a:off x="5618280" y="3139170"/>
              <a:ext cx="461978" cy="375357"/>
            </a:xfrm>
            <a:prstGeom prst="rect">
              <a:avLst/>
            </a:prstGeom>
          </p:spPr>
        </p:pic>
      </p:grpSp>
    </p:spTree>
    <p:extLst>
      <p:ext uri="{BB962C8B-B14F-4D97-AF65-F5344CB8AC3E}">
        <p14:creationId xmlns:p14="http://schemas.microsoft.com/office/powerpoint/2010/main" val="243147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89AF57-A441-A44D-9776-16FA4B70F2BF}"/>
              </a:ext>
            </a:extLst>
          </p:cNvPr>
          <p:cNvSpPr>
            <a:spLocks noGrp="1"/>
          </p:cNvSpPr>
          <p:nvPr>
            <p:ph type="title"/>
          </p:nvPr>
        </p:nvSpPr>
        <p:spPr/>
        <p:txBody>
          <a:bodyPr/>
          <a:lstStyle/>
          <a:p>
            <a:r>
              <a:rPr kumimoji="1" lang="en-US" altLang="zh-CN" dirty="0"/>
              <a:t>LSI</a:t>
            </a:r>
            <a:r>
              <a:rPr kumimoji="1" lang="zh-CN" altLang="en-US" dirty="0"/>
              <a:t>第二步：对特征根进行排序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292C1DB-17B0-104A-9EA0-539E96BAACEE}"/>
                  </a:ext>
                </a:extLst>
              </p:cNvPr>
              <p:cNvSpPr>
                <a:spLocks noGrp="1"/>
              </p:cNvSpPr>
              <p:nvPr>
                <p:ph idx="1"/>
              </p:nvPr>
            </p:nvSpPr>
            <p:spPr>
              <a:xfrm>
                <a:off x="457200" y="2411598"/>
                <a:ext cx="8229600" cy="2955468"/>
              </a:xfrm>
            </p:spPr>
            <p:txBody>
              <a:bodyPr>
                <a:normAutofit/>
              </a:bodyPr>
              <a:lstStyle/>
              <a:p>
                <a:r>
                  <a:rPr kumimoji="1" lang="zh-CN" altLang="en-US" sz="1600" dirty="0"/>
                  <a:t>原</a:t>
                </a:r>
                <a14:m>
                  <m:oMath xmlns:m="http://schemas.openxmlformats.org/officeDocument/2006/math">
                    <m:r>
                      <a:rPr kumimoji="1" lang="zh-CN" altLang="en-US" sz="1600" i="1" smtClean="0">
                        <a:latin typeface="Cambria Math" panose="02040503050406030204" pitchFamily="18" charset="0"/>
                      </a:rPr>
                      <m:t>特征</m:t>
                    </m:r>
                    <m:r>
                      <a:rPr kumimoji="1" lang="zh-CN" altLang="en-US" sz="1600" i="1">
                        <a:latin typeface="Cambria Math" panose="02040503050406030204" pitchFamily="18" charset="0"/>
                      </a:rPr>
                      <m:t>根</m:t>
                    </m:r>
                    <m:r>
                      <a:rPr kumimoji="1" lang="zh-CN" altLang="en-US" sz="1600" i="1" smtClean="0">
                        <a:latin typeface="Cambria Math" panose="02040503050406030204" pitchFamily="18" charset="0"/>
                      </a:rPr>
                      <m:t>矩阵</m:t>
                    </m:r>
                    <m:r>
                      <m:rPr>
                        <m:sty m:val="p"/>
                      </m:rPr>
                      <a:rPr kumimoji="1" lang="en-US" altLang="zh-CN" sz="1600" smtClean="0">
                        <a:latin typeface="Cambria Math" panose="02040503050406030204" pitchFamily="18" charset="0"/>
                      </a:rPr>
                      <m:t>Σ</m:t>
                    </m:r>
                  </m:oMath>
                </a14:m>
                <a:r>
                  <a:rPr lang="en-US" altLang="zh-CN" sz="1600" dirty="0">
                    <a:sym typeface="Wingdings" pitchFamily="2" charset="2"/>
                  </a:rPr>
                  <a:t></a:t>
                </a:r>
                <a:r>
                  <a:rPr lang="zh-CN" altLang="en-US" sz="1600" dirty="0">
                    <a:sym typeface="Wingdings" pitchFamily="2" charset="2"/>
                  </a:rPr>
                  <a:t>排序后的特征根矩阵</a:t>
                </a:r>
                <a:r>
                  <a:rPr kumimoji="1" lang="en-US" altLang="zh-CN" sz="1600" dirty="0"/>
                  <a:t> </a:t>
                </a:r>
                <a14:m>
                  <m:oMath xmlns:m="http://schemas.openxmlformats.org/officeDocument/2006/math">
                    <m:sSup>
                      <m:sSupPr>
                        <m:ctrlPr>
                          <a:rPr kumimoji="1" lang="en-US" altLang="zh-CN" sz="1600" b="0" i="1" smtClean="0">
                            <a:latin typeface="Cambria Math" panose="02040503050406030204" pitchFamily="18" charset="0"/>
                          </a:rPr>
                        </m:ctrlPr>
                      </m:sSupPr>
                      <m:e>
                        <m:r>
                          <m:rPr>
                            <m:sty m:val="p"/>
                          </m:rPr>
                          <a:rPr kumimoji="1" lang="en-US" altLang="zh-CN" sz="1600">
                            <a:latin typeface="Cambria Math" panose="02040503050406030204" pitchFamily="18" charset="0"/>
                          </a:rPr>
                          <m:t>Σ</m:t>
                        </m:r>
                      </m:e>
                      <m:sup>
                        <m:r>
                          <a:rPr kumimoji="1" lang="en-US" altLang="zh-CN" sz="1600" b="0" i="0" smtClean="0">
                            <a:latin typeface="Cambria Math" panose="02040503050406030204" pitchFamily="18" charset="0"/>
                          </a:rPr>
                          <m:t>′</m:t>
                        </m:r>
                      </m:sup>
                    </m:sSup>
                  </m:oMath>
                </a14:m>
                <a:endParaRPr lang="en-US" altLang="zh-CN" sz="1600" dirty="0"/>
              </a:p>
              <a:p>
                <a14:m>
                  <m:oMath xmlns:m="http://schemas.openxmlformats.org/officeDocument/2006/math">
                    <m:sSup>
                      <m:sSupPr>
                        <m:ctrlPr>
                          <a:rPr kumimoji="1" lang="en-US" altLang="zh-CN" sz="1600" b="0" i="1" smtClean="0">
                            <a:latin typeface="Cambria Math" panose="02040503050406030204" pitchFamily="18" charset="0"/>
                          </a:rPr>
                        </m:ctrlPr>
                      </m:sSupPr>
                      <m:e>
                        <m:r>
                          <m:rPr>
                            <m:sty m:val="p"/>
                          </m:rPr>
                          <a:rPr kumimoji="1" lang="en-US" altLang="zh-CN" sz="1600">
                            <a:latin typeface="Cambria Math" panose="02040503050406030204" pitchFamily="18" charset="0"/>
                          </a:rPr>
                          <m:t>Σ</m:t>
                        </m:r>
                      </m:e>
                      <m:sup>
                        <m:r>
                          <a:rPr kumimoji="1" lang="en-US" altLang="zh-CN" sz="1600" b="0" i="0" smtClean="0">
                            <a:latin typeface="Cambria Math" panose="02040503050406030204" pitchFamily="18" charset="0"/>
                          </a:rPr>
                          <m:t>′</m:t>
                        </m:r>
                      </m:sup>
                    </m:sSup>
                    <m:r>
                      <a:rPr kumimoji="1" lang="en-US" altLang="zh-CN" sz="1600" i="1">
                        <a:latin typeface="Cambria Math" panose="02040503050406030204" pitchFamily="18" charset="0"/>
                      </a:rPr>
                      <m:t>=</m:t>
                    </m:r>
                    <m:d>
                      <m:dPr>
                        <m:ctrlPr>
                          <a:rPr kumimoji="1" lang="en-US" altLang="zh-CN" sz="1600" i="1">
                            <a:latin typeface="Cambria Math" panose="02040503050406030204" pitchFamily="18" charset="0"/>
                          </a:rPr>
                        </m:ctrlPr>
                      </m:dPr>
                      <m:e>
                        <m:m>
                          <m:mPr>
                            <m:mcs>
                              <m:mc>
                                <m:mcPr>
                                  <m:count m:val="3"/>
                                  <m:mcJc m:val="center"/>
                                </m:mcPr>
                              </m:mc>
                            </m:mcs>
                            <m:ctrlPr>
                              <a:rPr kumimoji="1" lang="en-US" altLang="zh-CN" sz="1600" i="1">
                                <a:latin typeface="Cambria Math" panose="02040503050406030204" pitchFamily="18" charset="0"/>
                              </a:rPr>
                            </m:ctrlPr>
                          </m:mPr>
                          <m:mr>
                            <m:e>
                              <m:sSubSup>
                                <m:sSubSupPr>
                                  <m:ctrlPr>
                                    <a:rPr kumimoji="1" lang="en-US" altLang="zh-CN" sz="1600" b="0" i="1" smtClean="0">
                                      <a:latin typeface="Cambria Math" panose="02040503050406030204" pitchFamily="18" charset="0"/>
                                    </a:rPr>
                                  </m:ctrlPr>
                                </m:sSubSupPr>
                                <m:e>
                                  <m:r>
                                    <a:rPr kumimoji="1" lang="en-US" altLang="zh-CN" sz="1600" i="1">
                                      <a:latin typeface="Cambria Math" panose="02040503050406030204" pitchFamily="18" charset="0"/>
                                    </a:rPr>
                                    <m:t>𝜎</m:t>
                                  </m:r>
                                </m:e>
                                <m:sub>
                                  <m:r>
                                    <a:rPr kumimoji="1" lang="en-US" altLang="zh-CN" sz="1600" i="1">
                                      <a:latin typeface="Cambria Math" panose="02040503050406030204" pitchFamily="18" charset="0"/>
                                    </a:rPr>
                                    <m:t>1</m:t>
                                  </m:r>
                                </m:sub>
                                <m:sup>
                                  <m:r>
                                    <a:rPr kumimoji="1" lang="en-US" altLang="zh-CN" sz="1600" b="0" i="1" smtClean="0">
                                      <a:latin typeface="Cambria Math" panose="02040503050406030204" pitchFamily="18" charset="0"/>
                                    </a:rPr>
                                    <m:t>′</m:t>
                                  </m:r>
                                </m:sup>
                              </m:sSubSup>
                            </m:e>
                            <m:e>
                              <m:r>
                                <a:rPr kumimoji="1" lang="en-US" altLang="zh-CN" sz="1600" i="1">
                                  <a:latin typeface="Cambria Math" panose="02040503050406030204" pitchFamily="18" charset="0"/>
                                </a:rPr>
                                <m:t>⋯</m:t>
                              </m:r>
                            </m:e>
                            <m:e>
                              <m:r>
                                <a:rPr kumimoji="1" lang="en-US" altLang="zh-CN" sz="1600" i="1">
                                  <a:latin typeface="Cambria Math" panose="02040503050406030204" pitchFamily="18" charset="0"/>
                                </a:rPr>
                                <m:t>0</m:t>
                              </m:r>
                            </m:e>
                          </m:mr>
                          <m:mr>
                            <m:e>
                              <m:r>
                                <a:rPr kumimoji="1" lang="en-US" altLang="zh-CN" sz="1600" i="1">
                                  <a:latin typeface="Cambria Math" panose="02040503050406030204" pitchFamily="18" charset="0"/>
                                </a:rPr>
                                <m:t>⋮</m:t>
                              </m:r>
                            </m:e>
                            <m:e>
                              <m:r>
                                <a:rPr kumimoji="1" lang="en-US" altLang="zh-CN" sz="1600" i="1">
                                  <a:latin typeface="Cambria Math" panose="02040503050406030204" pitchFamily="18" charset="0"/>
                                </a:rPr>
                                <m:t>⋱</m:t>
                              </m:r>
                            </m:e>
                            <m:e>
                              <m:r>
                                <a:rPr kumimoji="1" lang="en-US" altLang="zh-CN" sz="1600" i="1">
                                  <a:latin typeface="Cambria Math" panose="02040503050406030204" pitchFamily="18" charset="0"/>
                                </a:rPr>
                                <m:t>⋮</m:t>
                              </m:r>
                            </m:e>
                          </m:mr>
                          <m:mr>
                            <m:e>
                              <m:r>
                                <a:rPr kumimoji="1" lang="en-US" altLang="zh-CN" sz="1600" i="1">
                                  <a:latin typeface="Cambria Math" panose="02040503050406030204" pitchFamily="18" charset="0"/>
                                </a:rPr>
                                <m:t>0</m:t>
                              </m:r>
                            </m:e>
                            <m:e>
                              <m:r>
                                <a:rPr kumimoji="1" lang="en-US" altLang="zh-CN" sz="1600" i="1">
                                  <a:latin typeface="Cambria Math" panose="02040503050406030204" pitchFamily="18" charset="0"/>
                                </a:rPr>
                                <m:t>⋯</m:t>
                              </m:r>
                            </m:e>
                            <m:e>
                              <m:sSubSup>
                                <m:sSubSupPr>
                                  <m:ctrlPr>
                                    <a:rPr kumimoji="1" lang="en-US" altLang="zh-CN" sz="1600" b="0" i="1" smtClean="0">
                                      <a:latin typeface="Cambria Math" panose="02040503050406030204" pitchFamily="18" charset="0"/>
                                    </a:rPr>
                                  </m:ctrlPr>
                                </m:sSubSupPr>
                                <m:e>
                                  <m:r>
                                    <a:rPr kumimoji="1" lang="en-US" altLang="zh-CN" sz="1600" i="1">
                                      <a:latin typeface="Cambria Math" panose="02040503050406030204" pitchFamily="18" charset="0"/>
                                    </a:rPr>
                                    <m:t>𝜎</m:t>
                                  </m:r>
                                </m:e>
                                <m:sub>
                                  <m:r>
                                    <a:rPr kumimoji="1" lang="en-US" altLang="zh-CN" sz="1600" i="1">
                                      <a:latin typeface="Cambria Math" panose="02040503050406030204" pitchFamily="18" charset="0"/>
                                    </a:rPr>
                                    <m:t>𝑅</m:t>
                                  </m:r>
                                </m:sub>
                                <m:sup>
                                  <m:r>
                                    <a:rPr kumimoji="1" lang="en-US" altLang="zh-CN" sz="1600" b="0" i="1" smtClean="0">
                                      <a:latin typeface="Cambria Math" panose="02040503050406030204" pitchFamily="18" charset="0"/>
                                    </a:rPr>
                                    <m:t>′</m:t>
                                  </m:r>
                                </m:sup>
                              </m:sSubSup>
                            </m:e>
                          </m:mr>
                        </m:m>
                      </m:e>
                    </m:d>
                  </m:oMath>
                </a14:m>
                <a:r>
                  <a:rPr lang="zh-CN" altLang="en-US" sz="1600" dirty="0"/>
                  <a:t>，其中</a:t>
                </a:r>
                <a14:m>
                  <m:oMath xmlns:m="http://schemas.openxmlformats.org/officeDocument/2006/math">
                    <m:sSubSup>
                      <m:sSubSupPr>
                        <m:ctrlPr>
                          <a:rPr kumimoji="1" lang="en-US" altLang="zh-CN" sz="1600" i="1">
                            <a:latin typeface="Cambria Math" panose="02040503050406030204" pitchFamily="18" charset="0"/>
                          </a:rPr>
                        </m:ctrlPr>
                      </m:sSubSupPr>
                      <m:e>
                        <m:r>
                          <a:rPr kumimoji="1" lang="en-US" altLang="zh-CN" sz="1600" i="1">
                            <a:latin typeface="Cambria Math" panose="02040503050406030204" pitchFamily="18" charset="0"/>
                          </a:rPr>
                          <m:t>𝜎</m:t>
                        </m:r>
                      </m:e>
                      <m:sub>
                        <m:r>
                          <a:rPr kumimoji="1" lang="en-US" altLang="zh-CN" sz="1600" i="1">
                            <a:latin typeface="Cambria Math" panose="02040503050406030204" pitchFamily="18" charset="0"/>
                          </a:rPr>
                          <m:t>1</m:t>
                        </m:r>
                      </m:sub>
                      <m:sup>
                        <m:r>
                          <a:rPr kumimoji="1" lang="en-US" altLang="zh-CN" sz="1600" i="1">
                            <a:latin typeface="Cambria Math" panose="02040503050406030204" pitchFamily="18" charset="0"/>
                          </a:rPr>
                          <m:t>′</m:t>
                        </m:r>
                      </m:sup>
                    </m:sSubSup>
                    <m:r>
                      <a:rPr kumimoji="1" lang="en-US" altLang="zh-CN" sz="1600" b="0" i="1" smtClean="0">
                        <a:latin typeface="Cambria Math" panose="02040503050406030204" pitchFamily="18" charset="0"/>
                      </a:rPr>
                      <m:t>≥</m:t>
                    </m:r>
                    <m:sSubSup>
                      <m:sSubSupPr>
                        <m:ctrlPr>
                          <a:rPr kumimoji="1" lang="en-US" altLang="zh-CN" sz="1600" i="1">
                            <a:latin typeface="Cambria Math" panose="02040503050406030204" pitchFamily="18" charset="0"/>
                          </a:rPr>
                        </m:ctrlPr>
                      </m:sSubSupPr>
                      <m:e>
                        <m:r>
                          <a:rPr kumimoji="1" lang="en-US" altLang="zh-CN" sz="1600" i="1">
                            <a:latin typeface="Cambria Math" panose="02040503050406030204" pitchFamily="18" charset="0"/>
                          </a:rPr>
                          <m:t>𝜎</m:t>
                        </m:r>
                      </m:e>
                      <m:sub>
                        <m:r>
                          <a:rPr kumimoji="1" lang="en-US" altLang="zh-CN" sz="1600" b="0" i="1" smtClean="0">
                            <a:latin typeface="Cambria Math" panose="02040503050406030204" pitchFamily="18" charset="0"/>
                          </a:rPr>
                          <m:t>2</m:t>
                        </m:r>
                      </m:sub>
                      <m:sup>
                        <m:r>
                          <a:rPr kumimoji="1" lang="en-US" altLang="zh-CN" sz="1600" i="1">
                            <a:latin typeface="Cambria Math" panose="02040503050406030204" pitchFamily="18" charset="0"/>
                          </a:rPr>
                          <m:t>′</m:t>
                        </m:r>
                      </m:sup>
                    </m:sSubSup>
                    <m:r>
                      <a:rPr kumimoji="1" lang="en-US" altLang="zh-CN" sz="1600" b="0" i="1" smtClean="0">
                        <a:latin typeface="Cambria Math" panose="02040503050406030204" pitchFamily="18" charset="0"/>
                      </a:rPr>
                      <m:t>≥⋯≥</m:t>
                    </m:r>
                    <m:sSubSup>
                      <m:sSubSupPr>
                        <m:ctrlPr>
                          <a:rPr kumimoji="1" lang="en-US" altLang="zh-CN" sz="1600" i="1">
                            <a:latin typeface="Cambria Math" panose="02040503050406030204" pitchFamily="18" charset="0"/>
                          </a:rPr>
                        </m:ctrlPr>
                      </m:sSubSupPr>
                      <m:e>
                        <m:r>
                          <a:rPr kumimoji="1" lang="en-US" altLang="zh-CN" sz="1600" i="1">
                            <a:latin typeface="Cambria Math" panose="02040503050406030204" pitchFamily="18" charset="0"/>
                          </a:rPr>
                          <m:t>𝜎</m:t>
                        </m:r>
                      </m:e>
                      <m:sub>
                        <m:r>
                          <a:rPr kumimoji="1" lang="en-US" altLang="zh-CN" sz="1600" b="0" i="1" smtClean="0">
                            <a:latin typeface="Cambria Math" panose="02040503050406030204" pitchFamily="18" charset="0"/>
                          </a:rPr>
                          <m:t>𝑅</m:t>
                        </m:r>
                      </m:sub>
                      <m:sup>
                        <m:r>
                          <a:rPr kumimoji="1" lang="en-US" altLang="zh-CN" sz="1600" i="1">
                            <a:latin typeface="Cambria Math" panose="02040503050406030204" pitchFamily="18" charset="0"/>
                          </a:rPr>
                          <m:t>′</m:t>
                        </m:r>
                      </m:sup>
                    </m:sSubSup>
                  </m:oMath>
                </a14:m>
                <a:endParaRPr lang="en-US" altLang="zh-CN" sz="1600" dirty="0"/>
              </a:p>
              <a:p>
                <a:r>
                  <a:rPr lang="zh-CN" altLang="en-US" sz="1600" dirty="0"/>
                  <a:t>左特征向量</a:t>
                </a:r>
                <a:r>
                  <a:rPr lang="zh-CN" altLang="en-US" sz="1600" dirty="0">
                    <a:latin typeface="Times" pitchFamily="2" charset="0"/>
                  </a:rPr>
                  <a:t>矩阵也按照</a:t>
                </a:r>
                <a14:m>
                  <m:oMath xmlns:m="http://schemas.openxmlformats.org/officeDocument/2006/math">
                    <m:sSup>
                      <m:sSupPr>
                        <m:ctrlPr>
                          <a:rPr kumimoji="1" lang="en-US" altLang="zh-CN" sz="1600" i="1">
                            <a:latin typeface="Cambria Math" panose="02040503050406030204" pitchFamily="18" charset="0"/>
                          </a:rPr>
                        </m:ctrlPr>
                      </m:sSupPr>
                      <m:e>
                        <m:r>
                          <m:rPr>
                            <m:sty m:val="p"/>
                          </m:rPr>
                          <a:rPr kumimoji="1" lang="en-US" altLang="zh-CN" sz="1600">
                            <a:latin typeface="Cambria Math" panose="02040503050406030204" pitchFamily="18" charset="0"/>
                          </a:rPr>
                          <m:t>Σ</m:t>
                        </m:r>
                      </m:e>
                      <m:sup>
                        <m:r>
                          <a:rPr kumimoji="1" lang="en-US" altLang="zh-CN" sz="1600">
                            <a:latin typeface="Cambria Math" panose="02040503050406030204" pitchFamily="18" charset="0"/>
                          </a:rPr>
                          <m:t>′</m:t>
                        </m:r>
                      </m:sup>
                    </m:sSup>
                  </m:oMath>
                </a14:m>
                <a:r>
                  <a:rPr lang="zh-CN" altLang="en-US" sz="1600" dirty="0">
                    <a:latin typeface="Times" pitchFamily="2" charset="0"/>
                  </a:rPr>
                  <a:t>进行相应的调整</a:t>
                </a:r>
                <a:endParaRPr lang="en-US" altLang="zh-CN" sz="1600" dirty="0">
                  <a:latin typeface="Times" pitchFamily="2" charset="0"/>
                </a:endParaRPr>
              </a:p>
              <a:p>
                <a:pPr lvl="1"/>
                <a14:m>
                  <m:oMath xmlns:m="http://schemas.openxmlformats.org/officeDocument/2006/math">
                    <m:sSubSup>
                      <m:sSubSupPr>
                        <m:ctrlPr>
                          <a:rPr kumimoji="1" lang="en-US" altLang="zh-CN" sz="1400" i="1">
                            <a:latin typeface="Cambria Math" panose="02040503050406030204" pitchFamily="18" charset="0"/>
                          </a:rPr>
                        </m:ctrlPr>
                      </m:sSubSupPr>
                      <m:e>
                        <m:r>
                          <a:rPr kumimoji="1" lang="en-US" altLang="zh-CN" sz="1400" i="1">
                            <a:latin typeface="Cambria Math" panose="02040503050406030204" pitchFamily="18" charset="0"/>
                          </a:rPr>
                          <m:t>𝜎</m:t>
                        </m:r>
                      </m:e>
                      <m:sub>
                        <m:r>
                          <a:rPr kumimoji="1" lang="en-US" altLang="zh-CN" sz="1400" b="0" i="1" smtClean="0">
                            <a:solidFill>
                              <a:srgbClr val="C00000"/>
                            </a:solidFill>
                            <a:latin typeface="Cambria Math" panose="02040503050406030204" pitchFamily="18" charset="0"/>
                          </a:rPr>
                          <m:t>𝑖</m:t>
                        </m:r>
                      </m:sub>
                      <m:sup>
                        <m:r>
                          <a:rPr kumimoji="1" lang="en-US" altLang="zh-CN" sz="1400" i="1">
                            <a:latin typeface="Cambria Math" panose="02040503050406030204" pitchFamily="18" charset="0"/>
                          </a:rPr>
                          <m:t>′</m:t>
                        </m:r>
                      </m:sup>
                    </m:sSubSup>
                  </m:oMath>
                </a14:m>
                <a:r>
                  <a:rPr lang="zh-CN" altLang="en-US" sz="1400" dirty="0">
                    <a:latin typeface="Times" pitchFamily="2" charset="0"/>
                  </a:rPr>
                  <a:t>所对应的</a:t>
                </a:r>
                <a:r>
                  <a:rPr lang="zh-CN" altLang="en-US" sz="1400" dirty="0">
                    <a:solidFill>
                      <a:srgbClr val="00B050"/>
                    </a:solidFill>
                    <a:latin typeface="Times" pitchFamily="2" charset="0"/>
                  </a:rPr>
                  <a:t>左</a:t>
                </a:r>
                <a:r>
                  <a:rPr lang="zh-CN" altLang="en-US" sz="1400" dirty="0">
                    <a:latin typeface="Times" pitchFamily="2" charset="0"/>
                  </a:rPr>
                  <a:t>特征向量调整到</a:t>
                </a:r>
                <a:r>
                  <a:rPr lang="en-US" altLang="zh-CN" sz="1400" b="1" dirty="0">
                    <a:solidFill>
                      <a:srgbClr val="00B050"/>
                    </a:solidFill>
                    <a:latin typeface="Times" pitchFamily="2" charset="0"/>
                  </a:rPr>
                  <a:t>U</a:t>
                </a:r>
                <a:r>
                  <a:rPr lang="zh-CN" altLang="en-US" sz="1400" dirty="0">
                    <a:latin typeface="Times" pitchFamily="2" charset="0"/>
                  </a:rPr>
                  <a:t>的第</a:t>
                </a:r>
                <a:r>
                  <a:rPr lang="en-US" altLang="zh-CN" sz="1400" i="1" dirty="0" err="1">
                    <a:solidFill>
                      <a:srgbClr val="C00000"/>
                    </a:solidFill>
                    <a:latin typeface="Times" pitchFamily="2" charset="0"/>
                  </a:rPr>
                  <a:t>i</a:t>
                </a:r>
                <a:r>
                  <a:rPr lang="zh-CN" altLang="en-US" sz="1400" dirty="0">
                    <a:latin typeface="Times" pitchFamily="2" charset="0"/>
                  </a:rPr>
                  <a:t>列</a:t>
                </a:r>
                <a:endParaRPr lang="en-US" altLang="zh-CN" sz="1400" dirty="0">
                  <a:latin typeface="Times" pitchFamily="2" charset="0"/>
                </a:endParaRPr>
              </a:p>
              <a:p>
                <a:pPr lvl="1"/>
                <a14:m>
                  <m:oMath xmlns:m="http://schemas.openxmlformats.org/officeDocument/2006/math">
                    <m:sSubSup>
                      <m:sSubSupPr>
                        <m:ctrlPr>
                          <a:rPr kumimoji="1" lang="en-US" altLang="zh-CN" sz="1400" i="1">
                            <a:latin typeface="Cambria Math" panose="02040503050406030204" pitchFamily="18" charset="0"/>
                          </a:rPr>
                        </m:ctrlPr>
                      </m:sSubSupPr>
                      <m:e>
                        <m:r>
                          <a:rPr kumimoji="1" lang="en-US" altLang="zh-CN" sz="1400" i="1">
                            <a:latin typeface="Cambria Math" panose="02040503050406030204" pitchFamily="18" charset="0"/>
                          </a:rPr>
                          <m:t>𝜎</m:t>
                        </m:r>
                      </m:e>
                      <m:sub>
                        <m:r>
                          <a:rPr kumimoji="1" lang="en-US" altLang="zh-CN" sz="1400" i="1" smtClean="0">
                            <a:solidFill>
                              <a:srgbClr val="C00000"/>
                            </a:solidFill>
                            <a:latin typeface="Cambria Math" panose="02040503050406030204" pitchFamily="18" charset="0"/>
                          </a:rPr>
                          <m:t>𝑖</m:t>
                        </m:r>
                      </m:sub>
                      <m:sup>
                        <m:r>
                          <a:rPr kumimoji="1" lang="en-US" altLang="zh-CN" sz="1400" i="1">
                            <a:latin typeface="Cambria Math" panose="02040503050406030204" pitchFamily="18" charset="0"/>
                          </a:rPr>
                          <m:t>′</m:t>
                        </m:r>
                      </m:sup>
                    </m:sSubSup>
                  </m:oMath>
                </a14:m>
                <a:r>
                  <a:rPr lang="zh-CN" altLang="en-US" sz="1400" dirty="0">
                    <a:latin typeface="Times" pitchFamily="2" charset="0"/>
                  </a:rPr>
                  <a:t>所对应的</a:t>
                </a:r>
                <a:r>
                  <a:rPr lang="zh-CN" altLang="en-US" sz="1400" dirty="0">
                    <a:solidFill>
                      <a:srgbClr val="00B050"/>
                    </a:solidFill>
                    <a:latin typeface="Times" pitchFamily="2" charset="0"/>
                  </a:rPr>
                  <a:t>右</a:t>
                </a:r>
                <a:r>
                  <a:rPr lang="zh-CN" altLang="en-US" sz="1400" dirty="0">
                    <a:latin typeface="Times" pitchFamily="2" charset="0"/>
                  </a:rPr>
                  <a:t>特征向量调整到</a:t>
                </a:r>
                <a:r>
                  <a:rPr lang="en-US" altLang="zh-CN" sz="1400" b="1" dirty="0">
                    <a:solidFill>
                      <a:srgbClr val="00B050"/>
                    </a:solidFill>
                    <a:latin typeface="Times" pitchFamily="2" charset="0"/>
                  </a:rPr>
                  <a:t>V</a:t>
                </a:r>
                <a:r>
                  <a:rPr lang="zh-CN" altLang="en-US" sz="1400" dirty="0">
                    <a:latin typeface="Times" pitchFamily="2" charset="0"/>
                  </a:rPr>
                  <a:t>的第</a:t>
                </a:r>
                <a:r>
                  <a:rPr lang="en-US" altLang="zh-CN" sz="1400" i="1" dirty="0" err="1">
                    <a:solidFill>
                      <a:srgbClr val="C00000"/>
                    </a:solidFill>
                    <a:latin typeface="Times" pitchFamily="2" charset="0"/>
                  </a:rPr>
                  <a:t>i</a:t>
                </a:r>
                <a:r>
                  <a:rPr lang="zh-CN" altLang="en-US" sz="1400" dirty="0">
                    <a:latin typeface="Times" pitchFamily="2" charset="0"/>
                  </a:rPr>
                  <a:t>列</a:t>
                </a:r>
                <a:endParaRPr lang="en-US" altLang="zh-CN" sz="1400" dirty="0">
                  <a:latin typeface="Times" pitchFamily="2" charset="0"/>
                </a:endParaRPr>
              </a:p>
              <a:p>
                <a:r>
                  <a:rPr lang="zh-CN" altLang="en-US" sz="1600" dirty="0"/>
                  <a:t>调整后，等号依然成立</a:t>
                </a:r>
                <a:endParaRPr lang="en-US" altLang="zh-CN" sz="1600" dirty="0"/>
              </a:p>
              <a:p>
                <a:r>
                  <a:rPr lang="zh-CN" altLang="en-US" sz="1600" dirty="0"/>
                  <a:t>为表述简单：以下</a:t>
                </a:r>
                <a:r>
                  <a:rPr lang="en-US" altLang="zh-CN" sz="1600" dirty="0"/>
                  <a:t>PPT</a:t>
                </a:r>
                <a:r>
                  <a:rPr lang="zh-CN" altLang="en-US" sz="1600" dirty="0"/>
                  <a:t>中，依然用符号</a:t>
                </a:r>
                <a:r>
                  <a:rPr lang="en-US" altLang="zh-CN" sz="1600" b="1" dirty="0">
                    <a:latin typeface="Times" pitchFamily="2" charset="0"/>
                  </a:rPr>
                  <a:t>U</a:t>
                </a:r>
                <a:r>
                  <a:rPr lang="zh-CN" altLang="en-US" sz="1600" b="1" dirty="0">
                    <a:latin typeface="Times" pitchFamily="2" charset="0"/>
                  </a:rPr>
                  <a:t>、</a:t>
                </a:r>
                <a14:m>
                  <m:oMath xmlns:m="http://schemas.openxmlformats.org/officeDocument/2006/math">
                    <m:r>
                      <a:rPr kumimoji="1" lang="en-US" altLang="zh-CN" b="1" i="1">
                        <a:latin typeface="Cambria Math" panose="02040503050406030204" pitchFamily="18" charset="0"/>
                      </a:rPr>
                      <m:t>𝚺</m:t>
                    </m:r>
                  </m:oMath>
                </a14:m>
                <a:r>
                  <a:rPr lang="zh-CN" altLang="en-US" sz="1600" b="1" dirty="0">
                    <a:latin typeface="Times" pitchFamily="2" charset="0"/>
                  </a:rPr>
                  <a:t>、</a:t>
                </a:r>
                <a:r>
                  <a:rPr lang="en-US" altLang="zh-CN" sz="1600" b="1" dirty="0">
                    <a:latin typeface="Times" pitchFamily="2" charset="0"/>
                  </a:rPr>
                  <a:t>V</a:t>
                </a:r>
                <a:r>
                  <a:rPr lang="zh-CN" altLang="en-US" sz="1600" dirty="0"/>
                  <a:t>表示调整后的矩阵</a:t>
                </a:r>
              </a:p>
            </p:txBody>
          </p:sp>
        </mc:Choice>
        <mc:Fallback xmlns="">
          <p:sp>
            <p:nvSpPr>
              <p:cNvPr id="3" name="内容占位符 2">
                <a:extLst>
                  <a:ext uri="{FF2B5EF4-FFF2-40B4-BE49-F238E27FC236}">
                    <a16:creationId xmlns="" xmlns:a16="http://schemas.microsoft.com/office/drawing/2014/main" xmlns:a14="http://schemas.microsoft.com/office/drawing/2010/main" id="{E292C1DB-17B0-104A-9EA0-539E96BAACEE}"/>
                  </a:ext>
                </a:extLst>
              </p:cNvPr>
              <p:cNvSpPr>
                <a:spLocks noGrp="1" noRot="1" noChangeAspect="1" noMove="1" noResize="1" noEditPoints="1" noAdjustHandles="1" noChangeArrowheads="1" noChangeShapeType="1" noTextEdit="1"/>
              </p:cNvSpPr>
              <p:nvPr>
                <p:ph idx="1"/>
              </p:nvPr>
            </p:nvSpPr>
            <p:spPr>
              <a:xfrm>
                <a:off x="457200" y="2411598"/>
                <a:ext cx="8229600" cy="2955468"/>
              </a:xfrm>
              <a:blipFill rotWithShape="0">
                <a:blip r:embed="rId3"/>
                <a:stretch>
                  <a:fillRect l="-296" t="-620"/>
                </a:stretch>
              </a:blipFill>
            </p:spPr>
            <p:txBody>
              <a:bodyPr/>
              <a:lstStyle/>
              <a:p>
                <a:r>
                  <a:rPr lang="en-US">
                    <a:noFill/>
                  </a:rPr>
                  <a:t> </a:t>
                </a:r>
              </a:p>
            </p:txBody>
          </p:sp>
        </mc:Fallback>
      </mc:AlternateContent>
      <p:grpSp>
        <p:nvGrpSpPr>
          <p:cNvPr id="4" name="组合 3">
            <a:extLst>
              <a:ext uri="{FF2B5EF4-FFF2-40B4-BE49-F238E27FC236}">
                <a16:creationId xmlns:a16="http://schemas.microsoft.com/office/drawing/2014/main" id="{2C707B83-BAE7-6246-A78B-42211925B1DB}"/>
              </a:ext>
            </a:extLst>
          </p:cNvPr>
          <p:cNvGrpSpPr/>
          <p:nvPr/>
        </p:nvGrpSpPr>
        <p:grpSpPr>
          <a:xfrm>
            <a:off x="367571" y="819150"/>
            <a:ext cx="8621032" cy="1592449"/>
            <a:chOff x="165694" y="3110178"/>
            <a:chExt cx="8621032" cy="1592449"/>
          </a:xfrm>
        </p:grpSpPr>
        <p:grpSp>
          <p:nvGrpSpPr>
            <p:cNvPr id="5" name="组合 4">
              <a:extLst>
                <a:ext uri="{FF2B5EF4-FFF2-40B4-BE49-F238E27FC236}">
                  <a16:creationId xmlns:a16="http://schemas.microsoft.com/office/drawing/2014/main" id="{DC6FD584-160A-BC4F-9E30-8FB16EE1C15C}"/>
                </a:ext>
              </a:extLst>
            </p:cNvPr>
            <p:cNvGrpSpPr/>
            <p:nvPr/>
          </p:nvGrpSpPr>
          <p:grpSpPr>
            <a:xfrm>
              <a:off x="165694" y="3110178"/>
              <a:ext cx="8621032" cy="1592449"/>
              <a:chOff x="165694" y="3110178"/>
              <a:chExt cx="8621032" cy="1592449"/>
            </a:xfrm>
          </p:grpSpPr>
          <p:pic>
            <p:nvPicPr>
              <p:cNvPr id="11" name="图片 10">
                <a:extLst>
                  <a:ext uri="{FF2B5EF4-FFF2-40B4-BE49-F238E27FC236}">
                    <a16:creationId xmlns:a16="http://schemas.microsoft.com/office/drawing/2014/main" id="{BE813B98-BA62-3143-911B-FA49E8096160}"/>
                  </a:ext>
                </a:extLst>
              </p:cNvPr>
              <p:cNvPicPr>
                <a:picLocks noChangeAspect="1"/>
              </p:cNvPicPr>
              <p:nvPr/>
            </p:nvPicPr>
            <p:blipFill rotWithShape="1">
              <a:blip r:embed="rId4"/>
              <a:srcRect r="36618"/>
              <a:stretch/>
            </p:blipFill>
            <p:spPr>
              <a:xfrm>
                <a:off x="165694" y="3111389"/>
                <a:ext cx="4668404" cy="1591238"/>
              </a:xfrm>
              <a:prstGeom prst="rect">
                <a:avLst/>
              </a:prstGeom>
            </p:spPr>
          </p:pic>
          <p:sp>
            <p:nvSpPr>
              <p:cNvPr id="12" name="文本框 11">
                <a:extLst>
                  <a:ext uri="{FF2B5EF4-FFF2-40B4-BE49-F238E27FC236}">
                    <a16:creationId xmlns:a16="http://schemas.microsoft.com/office/drawing/2014/main" id="{50AD6D0C-E9F4-6247-9F8D-52528968BF86}"/>
                  </a:ext>
                </a:extLst>
              </p:cNvPr>
              <p:cNvSpPr txBox="1"/>
              <p:nvPr/>
            </p:nvSpPr>
            <p:spPr>
              <a:xfrm>
                <a:off x="2946333" y="3365027"/>
                <a:ext cx="486888" cy="646331"/>
              </a:xfrm>
              <a:prstGeom prst="rect">
                <a:avLst/>
              </a:prstGeom>
              <a:solidFill>
                <a:schemeClr val="bg1"/>
              </a:solidFill>
            </p:spPr>
            <p:txBody>
              <a:bodyPr wrap="square" rtlCol="0">
                <a:spAutoFit/>
              </a:bodyPr>
              <a:lstStyle/>
              <a:p>
                <a:r>
                  <a:rPr kumimoji="1" lang="en-US" altLang="zh-CN" sz="3600" dirty="0"/>
                  <a:t>=</a:t>
                </a:r>
                <a:endParaRPr kumimoji="1" lang="zh-CN" altLang="en-US" dirty="0"/>
              </a:p>
            </p:txBody>
          </p:sp>
          <p:pic>
            <p:nvPicPr>
              <p:cNvPr id="13" name="图片 12">
                <a:extLst>
                  <a:ext uri="{FF2B5EF4-FFF2-40B4-BE49-F238E27FC236}">
                    <a16:creationId xmlns:a16="http://schemas.microsoft.com/office/drawing/2014/main" id="{570B246F-A9DE-CD4C-8395-B4F18B5C326C}"/>
                  </a:ext>
                </a:extLst>
              </p:cNvPr>
              <p:cNvPicPr>
                <a:picLocks noChangeAspect="1"/>
              </p:cNvPicPr>
              <p:nvPr/>
            </p:nvPicPr>
            <p:blipFill rotWithShape="1">
              <a:blip r:embed="rId4"/>
              <a:srcRect l="56092" r="19"/>
              <a:stretch/>
            </p:blipFill>
            <p:spPr>
              <a:xfrm>
                <a:off x="5554098" y="3111389"/>
                <a:ext cx="3232628" cy="1591238"/>
              </a:xfrm>
              <a:prstGeom prst="rect">
                <a:avLst/>
              </a:prstGeom>
            </p:spPr>
          </p:pic>
          <p:sp>
            <p:nvSpPr>
              <p:cNvPr id="14" name="矩形 13">
                <a:extLst>
                  <a:ext uri="{FF2B5EF4-FFF2-40B4-BE49-F238E27FC236}">
                    <a16:creationId xmlns:a16="http://schemas.microsoft.com/office/drawing/2014/main" id="{B0F92698-A6C4-6346-AD4B-9FF1214CB025}"/>
                  </a:ext>
                </a:extLst>
              </p:cNvPr>
              <p:cNvSpPr/>
              <p:nvPr/>
            </p:nvSpPr>
            <p:spPr>
              <a:xfrm>
                <a:off x="4834098" y="3110178"/>
                <a:ext cx="1459336" cy="254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a:extLst>
                  <a:ext uri="{FF2B5EF4-FFF2-40B4-BE49-F238E27FC236}">
                    <a16:creationId xmlns:a16="http://schemas.microsoft.com/office/drawing/2014/main" id="{05B2EBE0-E912-7841-9D2F-33A79A03F04B}"/>
                  </a:ext>
                </a:extLst>
              </p:cNvPr>
              <p:cNvSpPr/>
              <p:nvPr/>
            </p:nvSpPr>
            <p:spPr>
              <a:xfrm>
                <a:off x="4429496" y="4119257"/>
                <a:ext cx="1268192" cy="5833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a:extLst>
                  <a:ext uri="{FF2B5EF4-FFF2-40B4-BE49-F238E27FC236}">
                    <a16:creationId xmlns:a16="http://schemas.microsoft.com/office/drawing/2014/main" id="{2337A4C6-C1AA-FF4A-AF07-85A6635D8E80}"/>
                  </a:ext>
                </a:extLst>
              </p:cNvPr>
              <p:cNvSpPr/>
              <p:nvPr/>
            </p:nvSpPr>
            <p:spPr>
              <a:xfrm>
                <a:off x="4869723" y="3365027"/>
                <a:ext cx="720000" cy="720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zh-CN" altLang="en-US"/>
              </a:p>
            </p:txBody>
          </p:sp>
        </p:grpSp>
        <p:cxnSp>
          <p:nvCxnSpPr>
            <p:cNvPr id="6" name="直线连接符 5">
              <a:extLst>
                <a:ext uri="{FF2B5EF4-FFF2-40B4-BE49-F238E27FC236}">
                  <a16:creationId xmlns:a16="http://schemas.microsoft.com/office/drawing/2014/main" id="{24F14839-DE3A-C94A-BF76-95532D0CC4E0}"/>
                </a:ext>
              </a:extLst>
            </p:cNvPr>
            <p:cNvCxnSpPr/>
            <p:nvPr/>
          </p:nvCxnSpPr>
          <p:spPr>
            <a:xfrm>
              <a:off x="4869723" y="3365027"/>
              <a:ext cx="720000" cy="720000"/>
            </a:xfrm>
            <a:prstGeom prst="line">
              <a:avLst/>
            </a:prstGeom>
          </p:spPr>
          <p:style>
            <a:lnRef idx="3">
              <a:schemeClr val="accent6"/>
            </a:lnRef>
            <a:fillRef idx="0">
              <a:schemeClr val="accent6"/>
            </a:fillRef>
            <a:effectRef idx="2">
              <a:schemeClr val="accent6"/>
            </a:effectRef>
            <a:fontRef idx="minor">
              <a:schemeClr val="tx1"/>
            </a:fontRef>
          </p:style>
        </p:cxnSp>
        <p:sp>
          <p:nvSpPr>
            <p:cNvPr id="7" name="文本框 6">
              <a:extLst>
                <a:ext uri="{FF2B5EF4-FFF2-40B4-BE49-F238E27FC236}">
                  <a16:creationId xmlns:a16="http://schemas.microsoft.com/office/drawing/2014/main" id="{7613F622-97C1-0C48-A361-3AB99E876A4A}"/>
                </a:ext>
              </a:extLst>
            </p:cNvPr>
            <p:cNvSpPr txBox="1"/>
            <p:nvPr/>
          </p:nvSpPr>
          <p:spPr>
            <a:xfrm>
              <a:off x="5216787" y="3399257"/>
              <a:ext cx="184731" cy="369332"/>
            </a:xfrm>
            <a:prstGeom prst="rect">
              <a:avLst/>
            </a:prstGeom>
            <a:noFill/>
          </p:spPr>
          <p:txBody>
            <a:bodyPr wrap="none" rtlCol="0">
              <a:spAutoFit/>
            </a:bodyPr>
            <a:lstStyle/>
            <a:p>
              <a:endParaRPr kumimoji="1" lang="zh-CN" altLang="en-US" dirty="0"/>
            </a:p>
          </p:txBody>
        </p:sp>
        <p:sp>
          <p:nvSpPr>
            <p:cNvPr id="8" name="文本框 7">
              <a:extLst>
                <a:ext uri="{FF2B5EF4-FFF2-40B4-BE49-F238E27FC236}">
                  <a16:creationId xmlns:a16="http://schemas.microsoft.com/office/drawing/2014/main" id="{7E75B7A4-AC3A-F546-8527-AEB474B19773}"/>
                </a:ext>
              </a:extLst>
            </p:cNvPr>
            <p:cNvSpPr txBox="1"/>
            <p:nvPr/>
          </p:nvSpPr>
          <p:spPr>
            <a:xfrm>
              <a:off x="4928037" y="3713498"/>
              <a:ext cx="184731" cy="369332"/>
            </a:xfrm>
            <a:prstGeom prst="rect">
              <a:avLst/>
            </a:prstGeom>
            <a:noFill/>
          </p:spPr>
          <p:txBody>
            <a:bodyPr wrap="none" rtlCol="0">
              <a:spAutoFit/>
            </a:bodyPr>
            <a:lstStyle/>
            <a:p>
              <a:endParaRPr kumimoji="1" lang="zh-CN" altLang="en-US" dirty="0"/>
            </a:p>
          </p:txBody>
        </p:sp>
        <p:pic>
          <p:nvPicPr>
            <p:cNvPr id="9" name="图片 8">
              <a:extLst>
                <a:ext uri="{FF2B5EF4-FFF2-40B4-BE49-F238E27FC236}">
                  <a16:creationId xmlns:a16="http://schemas.microsoft.com/office/drawing/2014/main" id="{21AEA4AE-04E8-044C-BF08-120D734487C9}"/>
                </a:ext>
              </a:extLst>
            </p:cNvPr>
            <p:cNvPicPr>
              <a:picLocks noChangeAspect="1"/>
            </p:cNvPicPr>
            <p:nvPr/>
          </p:nvPicPr>
          <p:blipFill>
            <a:blip r:embed="rId5"/>
            <a:stretch>
              <a:fillRect/>
            </a:stretch>
          </p:blipFill>
          <p:spPr>
            <a:xfrm>
              <a:off x="4654987" y="4117060"/>
              <a:ext cx="503486" cy="456650"/>
            </a:xfrm>
            <a:prstGeom prst="rect">
              <a:avLst/>
            </a:prstGeom>
          </p:spPr>
        </p:pic>
        <p:pic>
          <p:nvPicPr>
            <p:cNvPr id="10" name="图片 9">
              <a:extLst>
                <a:ext uri="{FF2B5EF4-FFF2-40B4-BE49-F238E27FC236}">
                  <a16:creationId xmlns:a16="http://schemas.microsoft.com/office/drawing/2014/main" id="{683F5CD2-7B33-2F4A-AFD3-ABD70746E6E1}"/>
                </a:ext>
              </a:extLst>
            </p:cNvPr>
            <p:cNvPicPr>
              <a:picLocks noChangeAspect="1"/>
            </p:cNvPicPr>
            <p:nvPr/>
          </p:nvPicPr>
          <p:blipFill>
            <a:blip r:embed="rId6"/>
            <a:stretch>
              <a:fillRect/>
            </a:stretch>
          </p:blipFill>
          <p:spPr>
            <a:xfrm>
              <a:off x="5618280" y="3139170"/>
              <a:ext cx="461978" cy="375357"/>
            </a:xfrm>
            <a:prstGeom prst="rect">
              <a:avLst/>
            </a:prstGeom>
          </p:spPr>
        </p:pic>
      </p:gr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85325142-951E-1647-8102-0E9E34672116}"/>
                  </a:ext>
                </a:extLst>
              </p:cNvPr>
              <p:cNvSpPr/>
              <p:nvPr/>
            </p:nvSpPr>
            <p:spPr>
              <a:xfrm>
                <a:off x="5199806" y="1187301"/>
                <a:ext cx="46358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smtClean="0">
                          <a:latin typeface="Cambria Math" panose="02040503050406030204" pitchFamily="18" charset="0"/>
                        </a:rPr>
                        <m:t>Σ</m:t>
                      </m:r>
                    </m:oMath>
                  </m:oMathPara>
                </a14:m>
                <a:endParaRPr lang="zh-CN" altLang="en-US" sz="2800" dirty="0"/>
              </a:p>
            </p:txBody>
          </p:sp>
        </mc:Choice>
        <mc:Fallback xmlns="">
          <p:sp>
            <p:nvSpPr>
              <p:cNvPr id="17" name="矩形 16">
                <a:extLst>
                  <a:ext uri="{FF2B5EF4-FFF2-40B4-BE49-F238E27FC236}">
                    <a16:creationId xmlns:a16="http://schemas.microsoft.com/office/drawing/2014/main" id="{85325142-951E-1647-8102-0E9E34672116}"/>
                  </a:ext>
                </a:extLst>
              </p:cNvPr>
              <p:cNvSpPr>
                <a:spLocks noRot="1" noChangeAspect="1" noMove="1" noResize="1" noEditPoints="1" noAdjustHandles="1" noChangeArrowheads="1" noChangeShapeType="1" noTextEdit="1"/>
              </p:cNvSpPr>
              <p:nvPr/>
            </p:nvSpPr>
            <p:spPr>
              <a:xfrm>
                <a:off x="5199806" y="1187301"/>
                <a:ext cx="463588" cy="523220"/>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676134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B9FE15-BF2E-3A49-8188-3032B8A63738}"/>
              </a:ext>
            </a:extLst>
          </p:cNvPr>
          <p:cNvSpPr>
            <a:spLocks noGrp="1"/>
          </p:cNvSpPr>
          <p:nvPr>
            <p:ph type="title"/>
          </p:nvPr>
        </p:nvSpPr>
        <p:spPr/>
        <p:txBody>
          <a:bodyPr/>
          <a:lstStyle/>
          <a:p>
            <a:r>
              <a:rPr kumimoji="1" lang="en-US" altLang="zh-CN" dirty="0"/>
              <a:t>LSI</a:t>
            </a:r>
            <a:r>
              <a:rPr kumimoji="1" lang="zh-CN" altLang="en-US" dirty="0"/>
              <a:t>第三步：只保留前</a:t>
            </a:r>
            <a:r>
              <a:rPr kumimoji="1" lang="en-US" altLang="zh-CN" dirty="0"/>
              <a:t>K</a:t>
            </a:r>
            <a:r>
              <a:rPr kumimoji="1" lang="zh-CN" altLang="en-US" dirty="0"/>
              <a:t>个特征值，其余置零</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FEFDE02-C034-DF46-96C1-4F32C5B6B7F7}"/>
                  </a:ext>
                </a:extLst>
              </p:cNvPr>
              <p:cNvSpPr>
                <a:spLocks noGrp="1"/>
              </p:cNvSpPr>
              <p:nvPr>
                <p:ph idx="1"/>
              </p:nvPr>
            </p:nvSpPr>
            <p:spPr>
              <a:xfrm>
                <a:off x="457200" y="3236164"/>
                <a:ext cx="8229600" cy="1701932"/>
              </a:xfrm>
            </p:spPr>
            <p:txBody>
              <a:bodyPr>
                <a:normAutofit fontScale="92500" lnSpcReduction="10000"/>
              </a:bodyPr>
              <a:lstStyle/>
              <a:p>
                <a:r>
                  <a:rPr kumimoji="1" lang="zh-CN" altLang="en-US" dirty="0"/>
                  <a:t>等号不再成立</a:t>
                </a:r>
                <a:endParaRPr kumimoji="1" lang="en-US" altLang="zh-CN" dirty="0"/>
              </a:p>
              <a:p>
                <a14:m>
                  <m:oMath xmlns:m="http://schemas.openxmlformats.org/officeDocument/2006/math">
                    <m:sSub>
                      <m:sSubPr>
                        <m:ctrlPr>
                          <a:rPr kumimoji="1" lang="en-US" altLang="zh-CN" i="1">
                            <a:latin typeface="Cambria Math" panose="02040503050406030204" pitchFamily="18" charset="0"/>
                          </a:rPr>
                        </m:ctrlPr>
                      </m:sSubPr>
                      <m:e>
                        <m:r>
                          <m:rPr>
                            <m:sty m:val="p"/>
                          </m:rPr>
                          <a:rPr kumimoji="1" lang="en-US" altLang="zh-CN" i="1">
                            <a:latin typeface="Cambria Math" panose="02040503050406030204" pitchFamily="18" charset="0"/>
                          </a:rPr>
                          <m:t>Σ</m:t>
                        </m:r>
                      </m:e>
                      <m:sub>
                        <m:r>
                          <a:rPr kumimoji="1" lang="en-US" altLang="zh-CN" i="1">
                            <a:latin typeface="Cambria Math" panose="02040503050406030204" pitchFamily="18" charset="0"/>
                          </a:rPr>
                          <m:t>𝐾</m:t>
                        </m:r>
                      </m:sub>
                    </m:sSub>
                  </m:oMath>
                </a14:m>
                <a:r>
                  <a:rPr kumimoji="1" lang="zh-CN" altLang="en-US" dirty="0"/>
                  <a:t>：只保留了前</a:t>
                </a:r>
                <a:r>
                  <a:rPr kumimoji="1" lang="en-US" altLang="zh-CN" dirty="0"/>
                  <a:t>K</a:t>
                </a:r>
                <a:r>
                  <a:rPr kumimoji="1" lang="zh-CN" altLang="en-US" dirty="0"/>
                  <a:t>个特征值的对角阵</a:t>
                </a:r>
                <a:endParaRPr kumimoji="1" lang="en-US" altLang="zh-CN" dirty="0"/>
              </a:p>
              <a:p>
                <a:r>
                  <a:rPr lang="en-US" altLang="zh-CN" dirty="0">
                    <a:latin typeface="Times New Roman" panose="02020603050405020304" pitchFamily="18" charset="0"/>
                    <a:cs typeface="Times New Roman" panose="02020603050405020304" pitchFamily="18" charset="0"/>
                  </a:rPr>
                  <a:t>rank(</a:t>
                </a:r>
                <a:r>
                  <a:rPr lang="en-US" altLang="zh-CN" b="1" dirty="0">
                    <a:latin typeface="Times New Roman" panose="02020603050405020304" pitchFamily="18" charset="0"/>
                    <a:cs typeface="Times New Roman" panose="02020603050405020304" pitchFamily="18" charset="0"/>
                  </a:rPr>
                  <a:t>U</a:t>
                </a:r>
                <a14:m>
                  <m:oMath xmlns:m="http://schemas.openxmlformats.org/officeDocument/2006/math">
                    <m:sSub>
                      <m:sSubPr>
                        <m:ctrlPr>
                          <a:rPr kumimoji="1" lang="en-US" altLang="zh-CN" b="0" i="1" smtClean="0">
                            <a:latin typeface="Cambria Math" panose="02040503050406030204" pitchFamily="18" charset="0"/>
                          </a:rPr>
                        </m:ctrlPr>
                      </m:sSubPr>
                      <m:e>
                        <m:r>
                          <m:rPr>
                            <m:sty m:val="p"/>
                          </m:rPr>
                          <a:rPr kumimoji="1" lang="en-US" altLang="zh-CN" b="0" i="1">
                            <a:latin typeface="Cambria Math" panose="02040503050406030204" pitchFamily="18" charset="0"/>
                          </a:rPr>
                          <m:t>Σ</m:t>
                        </m:r>
                      </m:e>
                      <m:sub>
                        <m:r>
                          <a:rPr kumimoji="1" lang="en-US" altLang="zh-CN" b="0" i="1" smtClean="0">
                            <a:latin typeface="Cambria Math" panose="02040503050406030204" pitchFamily="18" charset="0"/>
                          </a:rPr>
                          <m:t>𝐾</m:t>
                        </m:r>
                      </m:sub>
                    </m:sSub>
                  </m:oMath>
                </a14:m>
                <a:r>
                  <a:rPr lang="en-US" altLang="zh-CN" b="1" dirty="0">
                    <a:latin typeface="Times New Roman" panose="02020603050405020304" pitchFamily="18" charset="0"/>
                    <a:cs typeface="Times New Roman" panose="02020603050405020304" pitchFamily="18" charset="0"/>
                  </a:rPr>
                  <a:t>V</a:t>
                </a:r>
                <a:r>
                  <a:rPr lang="en-US" altLang="zh-CN" baseline="30000" dirty="0">
                    <a:latin typeface="Times New Roman" panose="02020603050405020304" pitchFamily="18" charset="0"/>
                    <a:cs typeface="Times New Roman" panose="02020603050405020304" pitchFamily="18" charset="0"/>
                  </a:rPr>
                  <a:t>T</a:t>
                </a:r>
                <a:r>
                  <a:rPr lang="en-US" altLang="zh-CN" dirty="0">
                    <a:latin typeface="Times New Roman" panose="02020603050405020304" pitchFamily="18" charset="0"/>
                    <a:cs typeface="Times New Roman" panose="02020603050405020304" pitchFamily="18" charset="0"/>
                  </a:rPr>
                  <a:t>)</a:t>
                </a:r>
                <a14:m>
                  <m:oMath xmlns:m="http://schemas.openxmlformats.org/officeDocument/2006/math">
                    <m:r>
                      <a:rPr lang="en-US" altLang="zh-CN" i="1">
                        <a:latin typeface="Cambria Math" panose="02040503050406030204" pitchFamily="18" charset="0"/>
                        <a:cs typeface="Times New Roman" panose="02020603050405020304" pitchFamily="18" charset="0"/>
                      </a:rPr>
                      <m:t>≤</m:t>
                    </m:r>
                    <m:func>
                      <m:funcPr>
                        <m:ctrlPr>
                          <a:rPr lang="en-US" altLang="zh-CN" i="1">
                            <a:latin typeface="Cambria Math" panose="02040503050406030204" pitchFamily="18" charset="0"/>
                            <a:cs typeface="Times New Roman" panose="02020603050405020304" pitchFamily="18" charset="0"/>
                          </a:rPr>
                        </m:ctrlPr>
                      </m:funcPr>
                      <m:fName>
                        <m:r>
                          <m:rPr>
                            <m:sty m:val="p"/>
                          </m:rPr>
                          <a:rPr lang="en-US" altLang="zh-CN">
                            <a:latin typeface="Cambria Math" panose="02040503050406030204" pitchFamily="18" charset="0"/>
                            <a:cs typeface="Times New Roman" panose="02020603050405020304" pitchFamily="18" charset="0"/>
                          </a:rPr>
                          <m:t>min</m:t>
                        </m:r>
                      </m:fName>
                      <m:e>
                        <m:d>
                          <m:dPr>
                            <m:ctrlPr>
                              <a:rPr lang="en-US" altLang="zh-CN" i="1">
                                <a:latin typeface="Cambria Math" panose="02040503050406030204" pitchFamily="18" charset="0"/>
                                <a:cs typeface="Times New Roman" panose="02020603050405020304" pitchFamily="18" charset="0"/>
                              </a:rPr>
                            </m:ctrlPr>
                          </m:dPr>
                          <m:e>
                            <m:r>
                              <m:rPr>
                                <m:sty m:val="p"/>
                              </m:rPr>
                              <a:rPr lang="en-US" altLang="zh-CN">
                                <a:latin typeface="Cambria Math" panose="02040503050406030204" pitchFamily="18" charset="0"/>
                                <a:cs typeface="Times New Roman" panose="02020603050405020304" pitchFamily="18" charset="0"/>
                              </a:rPr>
                              <m:t>rank</m:t>
                            </m:r>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𝑈</m:t>
                                </m:r>
                              </m:e>
                            </m:d>
                            <m:r>
                              <a:rPr lang="en-US" altLang="zh-CN" i="1">
                                <a:latin typeface="Cambria Math" panose="02040503050406030204" pitchFamily="18" charset="0"/>
                                <a:cs typeface="Times New Roman" panose="02020603050405020304" pitchFamily="18" charset="0"/>
                              </a:rPr>
                              <m:t>, </m:t>
                            </m:r>
                            <m:r>
                              <m:rPr>
                                <m:sty m:val="p"/>
                              </m:rPr>
                              <a:rPr lang="en-US" altLang="zh-CN" b="0" i="0" smtClean="0">
                                <a:latin typeface="Cambria Math" panose="02040503050406030204" pitchFamily="18" charset="0"/>
                                <a:cs typeface="Times New Roman" panose="02020603050405020304" pitchFamily="18" charset="0"/>
                              </a:rPr>
                              <m:t>rank</m:t>
                            </m:r>
                            <m:d>
                              <m:dPr>
                                <m:ctrlPr>
                                  <a:rPr lang="en-US" altLang="zh-CN" b="0" i="1" smtClean="0">
                                    <a:latin typeface="Cambria Math" panose="02040503050406030204" pitchFamily="18" charset="0"/>
                                    <a:cs typeface="Times New Roman" panose="02020603050405020304" pitchFamily="18" charset="0"/>
                                  </a:rPr>
                                </m:ctrlPr>
                              </m:dPr>
                              <m:e>
                                <m:sSub>
                                  <m:sSubPr>
                                    <m:ctrlPr>
                                      <a:rPr kumimoji="1" lang="en-US" altLang="zh-CN" b="1" i="1" smtClean="0">
                                        <a:latin typeface="Cambria Math" panose="02040503050406030204" pitchFamily="18" charset="0"/>
                                      </a:rPr>
                                    </m:ctrlPr>
                                  </m:sSubPr>
                                  <m:e>
                                    <m:r>
                                      <a:rPr kumimoji="1" lang="en-US" altLang="zh-CN" b="1">
                                        <a:latin typeface="Cambria Math" panose="02040503050406030204" pitchFamily="18" charset="0"/>
                                      </a:rPr>
                                      <m:t>𝚺</m:t>
                                    </m:r>
                                  </m:e>
                                  <m:sub>
                                    <m:r>
                                      <a:rPr kumimoji="1" lang="en-US" altLang="zh-CN" b="0" i="1" smtClean="0">
                                        <a:latin typeface="Cambria Math" panose="02040503050406030204" pitchFamily="18" charset="0"/>
                                      </a:rPr>
                                      <m:t>𝐾</m:t>
                                    </m:r>
                                  </m:sub>
                                </m:sSub>
                              </m:e>
                            </m:d>
                            <m:r>
                              <a:rPr lang="en-US" altLang="zh-CN" b="0" i="0" smtClean="0">
                                <a:latin typeface="Cambria Math" panose="02040503050406030204" pitchFamily="18" charset="0"/>
                                <a:cs typeface="Times New Roman" panose="02020603050405020304" pitchFamily="18" charset="0"/>
                              </a:rPr>
                              <m:t>,</m:t>
                            </m:r>
                            <m:r>
                              <a:rPr lang="zh-CN" altLang="en-US" b="0" i="0" smtClean="0">
                                <a:latin typeface="Cambria Math" panose="02040503050406030204" pitchFamily="18" charset="0"/>
                                <a:cs typeface="Times New Roman" panose="02020603050405020304" pitchFamily="18" charset="0"/>
                              </a:rPr>
                              <m:t> </m:t>
                            </m:r>
                            <m:r>
                              <m:rPr>
                                <m:sty m:val="p"/>
                              </m:rPr>
                              <a:rPr lang="en-US" altLang="zh-CN">
                                <a:latin typeface="Cambria Math" panose="02040503050406030204" pitchFamily="18" charset="0"/>
                                <a:cs typeface="Times New Roman" panose="02020603050405020304" pitchFamily="18" charset="0"/>
                              </a:rPr>
                              <m:t>rank</m:t>
                            </m:r>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𝑉</m:t>
                                </m:r>
                              </m:e>
                            </m:d>
                          </m:e>
                        </m:d>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𝐾</m:t>
                        </m:r>
                      </m:e>
                    </m:func>
                  </m:oMath>
                </a14:m>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与文档</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单词的数目而言，</a:t>
                </a:r>
                <a:r>
                  <a:rPr lang="en-US" altLang="zh-CN"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比较小，如：</a:t>
                </a:r>
                <a:r>
                  <a:rPr lang="en-US" altLang="zh-CN" dirty="0">
                    <a:latin typeface="Times New Roman" panose="02020603050405020304" pitchFamily="18" charset="0"/>
                    <a:cs typeface="Times New Roman" panose="02020603050405020304" pitchFamily="18" charset="0"/>
                  </a:rPr>
                  <a:t>K=50</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100</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200</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500</a:t>
                </a:r>
                <a:r>
                  <a:rPr lang="zh-CN" altLang="en-US" dirty="0">
                    <a:latin typeface="Times New Roman" panose="02020603050405020304" pitchFamily="18" charset="0"/>
                    <a:cs typeface="Times New Roman" panose="02020603050405020304" pitchFamily="18" charset="0"/>
                  </a:rPr>
                  <a:t>等</a:t>
                </a:r>
                <a:endParaRPr lang="en-US" altLang="zh-CN"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U</a:t>
                </a:r>
                <a14:m>
                  <m:oMath xmlns:m="http://schemas.openxmlformats.org/officeDocument/2006/math">
                    <m:sSub>
                      <m:sSubPr>
                        <m:ctrlPr>
                          <a:rPr kumimoji="1" lang="en-US" altLang="zh-CN" b="0" i="1" smtClean="0">
                            <a:latin typeface="Cambria Math" panose="02040503050406030204" pitchFamily="18" charset="0"/>
                          </a:rPr>
                        </m:ctrlPr>
                      </m:sSubPr>
                      <m:e>
                        <m:r>
                          <m:rPr>
                            <m:sty m:val="p"/>
                          </m:rPr>
                          <a:rPr kumimoji="1" lang="en-US" altLang="zh-CN" i="1">
                            <a:latin typeface="Cambria Math" panose="02040503050406030204" pitchFamily="18" charset="0"/>
                          </a:rPr>
                          <m:t>Σ</m:t>
                        </m:r>
                      </m:e>
                      <m:sub>
                        <m:r>
                          <a:rPr kumimoji="1" lang="en-US" altLang="zh-CN" b="0" i="1" smtClean="0">
                            <a:latin typeface="Cambria Math" panose="02040503050406030204" pitchFamily="18" charset="0"/>
                          </a:rPr>
                          <m:t>𝐾</m:t>
                        </m:r>
                      </m:sub>
                    </m:sSub>
                  </m:oMath>
                </a14:m>
                <a:r>
                  <a:rPr lang="en-US" altLang="zh-CN" b="1" dirty="0">
                    <a:latin typeface="Times New Roman" panose="02020603050405020304" pitchFamily="18" charset="0"/>
                    <a:cs typeface="Times New Roman" panose="02020603050405020304" pitchFamily="18" charset="0"/>
                  </a:rPr>
                  <a:t>V</a:t>
                </a:r>
                <a:r>
                  <a:rPr lang="en-US" altLang="zh-CN" baseline="30000" dirty="0">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是</a:t>
                </a:r>
                <a:r>
                  <a:rPr lang="en-US" altLang="zh-CN" dirty="0">
                    <a:latin typeface="Times New Roman" panose="02020603050405020304" pitchFamily="18" charset="0"/>
                    <a:cs typeface="Times New Roman" panose="02020603050405020304" pitchFamily="18" charset="0"/>
                  </a:rPr>
                  <a:t>D</a:t>
                </a:r>
                <a:r>
                  <a:rPr lang="zh-CN" altLang="en-US" dirty="0">
                    <a:latin typeface="Times New Roman" panose="02020603050405020304" pitchFamily="18" charset="0"/>
                    <a:cs typeface="Times New Roman" panose="02020603050405020304" pitchFamily="18" charset="0"/>
                  </a:rPr>
                  <a:t>的</a:t>
                </a:r>
                <a:r>
                  <a:rPr lang="zh-CN" altLang="en-US" b="1" dirty="0">
                    <a:latin typeface="Times New Roman" panose="02020603050405020304" pitchFamily="18" charset="0"/>
                    <a:cs typeface="Times New Roman" panose="02020603050405020304" pitchFamily="18" charset="0"/>
                  </a:rPr>
                  <a:t>低秩近似</a:t>
                </a:r>
                <a:endParaRPr lang="en-US" altLang="zh-CN" b="1" dirty="0">
                  <a:latin typeface="Times New Roman" panose="02020603050405020304" pitchFamily="18" charset="0"/>
                  <a:cs typeface="Times New Roman" panose="02020603050405020304" pitchFamily="18" charset="0"/>
                </a:endParaRPr>
              </a:p>
              <a:p>
                <a:endParaRPr kumimoji="1" lang="zh-CN" altLang="en-US" dirty="0"/>
              </a:p>
            </p:txBody>
          </p:sp>
        </mc:Choice>
        <mc:Fallback xmlns="">
          <p:sp>
            <p:nvSpPr>
              <p:cNvPr id="3" name="内容占位符 2">
                <a:extLst>
                  <a:ext uri="{FF2B5EF4-FFF2-40B4-BE49-F238E27FC236}">
                    <a16:creationId xmlns:a16="http://schemas.microsoft.com/office/drawing/2014/main" id="{2FEFDE02-C034-DF46-96C1-4F32C5B6B7F7}"/>
                  </a:ext>
                </a:extLst>
              </p:cNvPr>
              <p:cNvSpPr>
                <a:spLocks noGrp="1" noRot="1" noChangeAspect="1" noMove="1" noResize="1" noEditPoints="1" noAdjustHandles="1" noChangeArrowheads="1" noChangeShapeType="1" noTextEdit="1"/>
              </p:cNvSpPr>
              <p:nvPr>
                <p:ph idx="1"/>
              </p:nvPr>
            </p:nvSpPr>
            <p:spPr>
              <a:xfrm>
                <a:off x="457200" y="3236164"/>
                <a:ext cx="8229600" cy="1701932"/>
              </a:xfrm>
              <a:blipFill>
                <a:blip r:embed="rId2"/>
                <a:stretch>
                  <a:fillRect l="-617" t="-2963" b="-4444"/>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DB71ABB2-1520-0C47-920C-8A0C767B0389}"/>
              </a:ext>
            </a:extLst>
          </p:cNvPr>
          <p:cNvPicPr>
            <a:picLocks noChangeAspect="1"/>
          </p:cNvPicPr>
          <p:nvPr/>
        </p:nvPicPr>
        <p:blipFill>
          <a:blip r:embed="rId3"/>
          <a:stretch>
            <a:fillRect/>
          </a:stretch>
        </p:blipFill>
        <p:spPr>
          <a:xfrm>
            <a:off x="1709192" y="1034885"/>
            <a:ext cx="5725616" cy="2076648"/>
          </a:xfrm>
          <a:prstGeom prst="rect">
            <a:avLst/>
          </a:prstGeom>
        </p:spPr>
      </p:pic>
      <p:sp>
        <p:nvSpPr>
          <p:cNvPr id="5" name="Rectangle 5">
            <a:extLst>
              <a:ext uri="{FF2B5EF4-FFF2-40B4-BE49-F238E27FC236}">
                <a16:creationId xmlns:a16="http://schemas.microsoft.com/office/drawing/2014/main" id="{3C76BF3F-F486-D441-AAB0-A98213BA0812}"/>
              </a:ext>
            </a:extLst>
          </p:cNvPr>
          <p:cNvSpPr/>
          <p:nvPr/>
        </p:nvSpPr>
        <p:spPr>
          <a:xfrm>
            <a:off x="1157845" y="1191731"/>
            <a:ext cx="538570" cy="232149"/>
          </a:xfrm>
          <a:prstGeom prst="rect">
            <a:avLst/>
          </a:prstGeom>
        </p:spPr>
        <p:txBody>
          <a:bodyPr wrap="none">
            <a:spAutoFit/>
          </a:bodyPr>
          <a:lstStyle/>
          <a:p>
            <a:r>
              <a:rPr lang="en-US" dirty="0">
                <a:latin typeface="Times New Roman" pitchFamily="18" charset="0"/>
                <a:cs typeface="Times New Roman" pitchFamily="18" charset="0"/>
              </a:rPr>
              <a:t>word</a:t>
            </a:r>
            <a:endParaRPr lang="en-US" dirty="0"/>
          </a:p>
        </p:txBody>
      </p:sp>
      <p:sp>
        <p:nvSpPr>
          <p:cNvPr id="6" name="Line 9">
            <a:extLst>
              <a:ext uri="{FF2B5EF4-FFF2-40B4-BE49-F238E27FC236}">
                <a16:creationId xmlns:a16="http://schemas.microsoft.com/office/drawing/2014/main" id="{E4ACF93E-0C24-274F-A497-2DBFAF09E240}"/>
              </a:ext>
            </a:extLst>
          </p:cNvPr>
          <p:cNvSpPr>
            <a:spLocks noChangeShapeType="1"/>
          </p:cNvSpPr>
          <p:nvPr/>
        </p:nvSpPr>
        <p:spPr bwMode="auto">
          <a:xfrm>
            <a:off x="1371508" y="1515161"/>
            <a:ext cx="469083"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Rectangle 7">
            <a:extLst>
              <a:ext uri="{FF2B5EF4-FFF2-40B4-BE49-F238E27FC236}">
                <a16:creationId xmlns:a16="http://schemas.microsoft.com/office/drawing/2014/main" id="{FAD6282E-BB7D-0147-B879-0FF49071E6E8}"/>
              </a:ext>
            </a:extLst>
          </p:cNvPr>
          <p:cNvSpPr/>
          <p:nvPr/>
        </p:nvSpPr>
        <p:spPr>
          <a:xfrm>
            <a:off x="1606049" y="704850"/>
            <a:ext cx="894823" cy="232149"/>
          </a:xfrm>
          <a:prstGeom prst="rect">
            <a:avLst/>
          </a:prstGeom>
        </p:spPr>
        <p:txBody>
          <a:bodyPr wrap="none">
            <a:spAutoFit/>
          </a:bodyPr>
          <a:lstStyle/>
          <a:p>
            <a:r>
              <a:rPr lang="en-US" dirty="0">
                <a:latin typeface="Times New Roman" pitchFamily="18" charset="0"/>
                <a:cs typeface="Times New Roman" pitchFamily="18" charset="0"/>
              </a:rPr>
              <a:t>document</a:t>
            </a:r>
            <a:endParaRPr lang="en-US" dirty="0"/>
          </a:p>
        </p:txBody>
      </p:sp>
      <p:sp>
        <p:nvSpPr>
          <p:cNvPr id="8" name="Line 15">
            <a:extLst>
              <a:ext uri="{FF2B5EF4-FFF2-40B4-BE49-F238E27FC236}">
                <a16:creationId xmlns:a16="http://schemas.microsoft.com/office/drawing/2014/main" id="{FCCC3B35-2786-FC40-B48C-FF26E212F53E}"/>
              </a:ext>
            </a:extLst>
          </p:cNvPr>
          <p:cNvSpPr>
            <a:spLocks noChangeShapeType="1"/>
          </p:cNvSpPr>
          <p:nvPr/>
        </p:nvSpPr>
        <p:spPr bwMode="auto">
          <a:xfrm rot="5400000">
            <a:off x="1991969" y="1160812"/>
            <a:ext cx="343253"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2618553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2A845-4983-9441-8FB6-9DF1EF2A1024}"/>
              </a:ext>
            </a:extLst>
          </p:cNvPr>
          <p:cNvSpPr>
            <a:spLocks noGrp="1"/>
          </p:cNvSpPr>
          <p:nvPr>
            <p:ph type="title"/>
          </p:nvPr>
        </p:nvSpPr>
        <p:spPr/>
        <p:txBody>
          <a:bodyPr/>
          <a:lstStyle/>
          <a:p>
            <a:r>
              <a:rPr kumimoji="1" lang="en-US" altLang="zh-CN" dirty="0"/>
              <a:t>LSI</a:t>
            </a:r>
            <a:r>
              <a:rPr kumimoji="1" lang="zh-CN" altLang="en-US" dirty="0"/>
              <a:t>算法</a:t>
            </a:r>
          </a:p>
        </p:txBody>
      </p:sp>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4FE591C2-D725-8349-B6EA-8BB55D1A3DA9}"/>
                  </a:ext>
                </a:extLst>
              </p:cNvPr>
              <p:cNvSpPr>
                <a:spLocks noGrp="1"/>
              </p:cNvSpPr>
              <p:nvPr>
                <p:ph idx="1"/>
              </p:nvPr>
            </p:nvSpPr>
            <p:spPr>
              <a:xfrm>
                <a:off x="457200" y="3030361"/>
                <a:ext cx="8229600" cy="2187113"/>
              </a:xfrm>
            </p:spPr>
            <p:txBody>
              <a:bodyPr>
                <a:normAutofit fontScale="62500" lnSpcReduction="20000"/>
              </a:bodyPr>
              <a:lstStyle/>
              <a:p>
                <a:pPr marL="514350" indent="-514350">
                  <a:lnSpc>
                    <a:spcPct val="120000"/>
                  </a:lnSpc>
                  <a:buFont typeface="+mj-lt"/>
                  <a:buAutoNum type="arabicPeriod"/>
                </a:pPr>
                <a:r>
                  <a:rPr lang="zh-CN" altLang="en-US" sz="2800" dirty="0">
                    <a:latin typeface="Times" panose="02020603050405020304" pitchFamily="18" charset="0"/>
                    <a:cs typeface="Times" panose="02020603050405020304" pitchFamily="18" charset="0"/>
                  </a:rPr>
                  <a:t>给定一个文档集合，构建单词</a:t>
                </a:r>
                <a:r>
                  <a:rPr lang="en-US" altLang="zh-CN" sz="2800" dirty="0">
                    <a:latin typeface="Times" panose="02020603050405020304" pitchFamily="18" charset="0"/>
                    <a:cs typeface="Times" panose="02020603050405020304" pitchFamily="18" charset="0"/>
                  </a:rPr>
                  <a:t>-</a:t>
                </a:r>
                <a:r>
                  <a:rPr lang="zh-CN" altLang="en-US" sz="2800" dirty="0">
                    <a:latin typeface="Times" panose="02020603050405020304" pitchFamily="18" charset="0"/>
                    <a:cs typeface="Times" panose="02020603050405020304" pitchFamily="18" charset="0"/>
                  </a:rPr>
                  <a:t>文档共现矩阵</a:t>
                </a:r>
                <a:r>
                  <a:rPr lang="en-US" altLang="zh-CN" sz="2800" b="1" dirty="0">
                    <a:latin typeface="Times" panose="02020603050405020304" pitchFamily="18" charset="0"/>
                    <a:cs typeface="Times" panose="02020603050405020304" pitchFamily="18" charset="0"/>
                  </a:rPr>
                  <a:t>D</a:t>
                </a:r>
                <a:r>
                  <a:rPr lang="zh-CN" altLang="en-US" sz="2800" dirty="0">
                    <a:latin typeface="Times" panose="02020603050405020304" pitchFamily="18" charset="0"/>
                    <a:cs typeface="Times" panose="02020603050405020304" pitchFamily="18" charset="0"/>
                  </a:rPr>
                  <a:t>（通常为稀疏矩阵）</a:t>
                </a:r>
                <a:endParaRPr lang="en-US" altLang="zh-CN" sz="2700" dirty="0">
                  <a:latin typeface="Times" panose="02020603050405020304" pitchFamily="18" charset="0"/>
                </a:endParaRPr>
              </a:p>
              <a:p>
                <a:pPr marL="514350" indent="-514350">
                  <a:lnSpc>
                    <a:spcPct val="120000"/>
                  </a:lnSpc>
                  <a:buFont typeface="+mj-lt"/>
                  <a:buAutoNum type="arabicPeriod"/>
                </a:pPr>
                <a:r>
                  <a:rPr lang="zh-CN" altLang="en-US" sz="2700" dirty="0">
                    <a:latin typeface="Times" panose="02020603050405020304" pitchFamily="18" charset="0"/>
                  </a:rPr>
                  <a:t>对</a:t>
                </a:r>
                <a:r>
                  <a:rPr lang="en-US" altLang="zh-CN" sz="2700" b="1" dirty="0">
                    <a:latin typeface="Times" panose="02020603050405020304" pitchFamily="18" charset="0"/>
                  </a:rPr>
                  <a:t>D</a:t>
                </a:r>
                <a:r>
                  <a:rPr lang="zh-CN" altLang="en-US" sz="2700" dirty="0">
                    <a:latin typeface="Times" panose="02020603050405020304" pitchFamily="18" charset="0"/>
                  </a:rPr>
                  <a:t>进行</a:t>
                </a:r>
                <a:r>
                  <a:rPr lang="en-US" altLang="zh-CN" sz="2700" dirty="0">
                    <a:latin typeface="Times" panose="02020603050405020304" pitchFamily="18" charset="0"/>
                  </a:rPr>
                  <a:t>SVD</a:t>
                </a:r>
              </a:p>
              <a:p>
                <a:pPr marL="514350" indent="-514350">
                  <a:lnSpc>
                    <a:spcPct val="120000"/>
                  </a:lnSpc>
                  <a:buFont typeface="+mj-lt"/>
                  <a:buAutoNum type="arabicPeriod"/>
                </a:pPr>
                <a:r>
                  <a:rPr lang="zh-CN" altLang="en-US" sz="2700" dirty="0">
                    <a:latin typeface="Times" panose="02020603050405020304" pitchFamily="18" charset="0"/>
                  </a:rPr>
                  <a:t>将特征值矩阵</a:t>
                </a:r>
                <a14:m>
                  <m:oMath xmlns:m="http://schemas.openxmlformats.org/officeDocument/2006/math">
                    <m:r>
                      <m:rPr>
                        <m:sty m:val="p"/>
                      </m:rPr>
                      <a:rPr lang="en-US" altLang="zh-CN" sz="2700">
                        <a:latin typeface="Cambria Math" panose="02040503050406030204" pitchFamily="18" charset="0"/>
                      </a:rPr>
                      <m:t>Σ</m:t>
                    </m:r>
                  </m:oMath>
                </a14:m>
                <a:r>
                  <a:rPr lang="zh-CN" altLang="en-US" sz="2700" dirty="0">
                    <a:latin typeface="Times" panose="02020603050405020304" pitchFamily="18" charset="0"/>
                  </a:rPr>
                  <a:t>按照从大到小排序</a:t>
                </a:r>
                <a:endParaRPr lang="en-US" altLang="zh-CN" sz="2700" dirty="0">
                  <a:latin typeface="Times" panose="02020603050405020304" pitchFamily="18" charset="0"/>
                </a:endParaRPr>
              </a:p>
              <a:p>
                <a:pPr marL="514350" indent="-514350">
                  <a:lnSpc>
                    <a:spcPct val="120000"/>
                  </a:lnSpc>
                  <a:buFont typeface="+mj-lt"/>
                  <a:buAutoNum type="arabicPeriod"/>
                </a:pPr>
                <a:r>
                  <a:rPr lang="zh-CN" altLang="en-US" sz="2700" dirty="0">
                    <a:latin typeface="Times" panose="02020603050405020304" pitchFamily="18" charset="0"/>
                  </a:rPr>
                  <a:t>保留</a:t>
                </a:r>
                <a14:m>
                  <m:oMath xmlns:m="http://schemas.openxmlformats.org/officeDocument/2006/math">
                    <m:r>
                      <a:rPr lang="en-US" altLang="zh-CN" sz="2700" dirty="0">
                        <a:latin typeface="Cambria Math" panose="02040503050406030204" pitchFamily="18" charset="0"/>
                      </a:rPr>
                      <m:t>𝐾</m:t>
                    </m:r>
                  </m:oMath>
                </a14:m>
                <a:r>
                  <a:rPr lang="zh-CN" altLang="en-US" sz="2700" dirty="0">
                    <a:latin typeface="Times" panose="02020603050405020304" pitchFamily="18" charset="0"/>
                  </a:rPr>
                  <a:t>个最大的特征值，其余置</a:t>
                </a:r>
                <a:r>
                  <a:rPr lang="en-US" altLang="zh-CN" sz="2700" dirty="0">
                    <a:latin typeface="Times" panose="02020603050405020304" pitchFamily="18" charset="0"/>
                  </a:rPr>
                  <a:t>0,</a:t>
                </a:r>
                <a:r>
                  <a:rPr lang="zh-CN" altLang="en-US" sz="2700" dirty="0">
                    <a:latin typeface="Times" panose="02020603050405020304" pitchFamily="18" charset="0"/>
                  </a:rPr>
                  <a:t>得到</a:t>
                </a:r>
                <a14:m>
                  <m:oMath xmlns:m="http://schemas.openxmlformats.org/officeDocument/2006/math">
                    <m:sSub>
                      <m:sSubPr>
                        <m:ctrlPr>
                          <a:rPr lang="en-US" altLang="zh-CN" sz="2700" i="1">
                            <a:latin typeface="Cambria Math" panose="02040503050406030204" pitchFamily="18" charset="0"/>
                          </a:rPr>
                        </m:ctrlPr>
                      </m:sSubPr>
                      <m:e>
                        <m:r>
                          <m:rPr>
                            <m:sty m:val="p"/>
                          </m:rPr>
                          <a:rPr lang="en-US" altLang="zh-CN" sz="2700">
                            <a:latin typeface="Cambria Math" panose="02040503050406030204" pitchFamily="18" charset="0"/>
                          </a:rPr>
                          <m:t>Σ</m:t>
                        </m:r>
                      </m:e>
                      <m:sub>
                        <m:r>
                          <m:rPr>
                            <m:sty m:val="p"/>
                          </m:rPr>
                          <a:rPr lang="en-US" altLang="zh-CN" sz="2700">
                            <a:latin typeface="Cambria Math" panose="02040503050406030204" pitchFamily="18" charset="0"/>
                          </a:rPr>
                          <m:t>K</m:t>
                        </m:r>
                      </m:sub>
                    </m:sSub>
                  </m:oMath>
                </a14:m>
                <a:endParaRPr lang="en-US" altLang="zh-CN" sz="2700" dirty="0">
                  <a:latin typeface="Times" panose="02020603050405020304" pitchFamily="18" charset="0"/>
                </a:endParaRPr>
              </a:p>
              <a:p>
                <a:pPr marL="514350" indent="-514350">
                  <a:lnSpc>
                    <a:spcPct val="120000"/>
                  </a:lnSpc>
                  <a:buFont typeface="+mj-lt"/>
                  <a:buAutoNum type="arabicPeriod"/>
                </a:pPr>
                <a:r>
                  <a:rPr lang="zh-CN" altLang="en-US" sz="2700" dirty="0">
                    <a:latin typeface="Times" panose="02020603050405020304" pitchFamily="18" charset="0"/>
                  </a:rPr>
                  <a:t>返回：</a:t>
                </a:r>
                <a:endParaRPr lang="en-US" altLang="zh-CN" sz="2700" dirty="0">
                  <a:latin typeface="Times" panose="02020603050405020304" pitchFamily="18" charset="0"/>
                </a:endParaRPr>
              </a:p>
              <a:p>
                <a:pPr lvl="1">
                  <a:lnSpc>
                    <a:spcPct val="120000"/>
                  </a:lnSpc>
                </a:pPr>
                <a:r>
                  <a:rPr lang="en-US" altLang="zh-CN" sz="2200" dirty="0">
                    <a:solidFill>
                      <a:srgbClr val="C00000"/>
                    </a:solidFill>
                    <a:latin typeface="Times" panose="02020603050405020304" pitchFamily="18" charset="0"/>
                    <a:cs typeface="Times" panose="02020603050405020304" pitchFamily="18" charset="0"/>
                  </a:rPr>
                  <a:t>U</a:t>
                </a:r>
                <a:r>
                  <a:rPr lang="zh-CN" altLang="en-US" sz="2200" dirty="0">
                    <a:solidFill>
                      <a:srgbClr val="C00000"/>
                    </a:solidFill>
                    <a:latin typeface="Times" panose="02020603050405020304" pitchFamily="18" charset="0"/>
                    <a:cs typeface="Times" panose="02020603050405020304" pitchFamily="18" charset="0"/>
                  </a:rPr>
                  <a:t>矩阵</a:t>
                </a:r>
                <a:r>
                  <a:rPr lang="zh-CN" altLang="en-US" sz="2200" dirty="0">
                    <a:latin typeface="Times" panose="02020603050405020304" pitchFamily="18" charset="0"/>
                    <a:cs typeface="Times" panose="02020603050405020304" pitchFamily="18" charset="0"/>
                  </a:rPr>
                  <a:t>的每一行，为对应</a:t>
                </a:r>
                <a:r>
                  <a:rPr lang="zh-CN" altLang="en-US" sz="2200" dirty="0">
                    <a:solidFill>
                      <a:srgbClr val="C00000"/>
                    </a:solidFill>
                    <a:latin typeface="Times" panose="02020603050405020304" pitchFamily="18" charset="0"/>
                    <a:cs typeface="Times" panose="02020603050405020304" pitchFamily="18" charset="0"/>
                  </a:rPr>
                  <a:t>单词</a:t>
                </a:r>
                <a:r>
                  <a:rPr lang="zh-CN" altLang="en-US" sz="2200" dirty="0">
                    <a:latin typeface="Times" panose="02020603050405020304" pitchFamily="18" charset="0"/>
                    <a:cs typeface="Times" panose="02020603050405020304" pitchFamily="18" charset="0"/>
                  </a:rPr>
                  <a:t>的表示向量</a:t>
                </a:r>
                <a:r>
                  <a:rPr lang="en-US" altLang="zh-CN" sz="2200" dirty="0">
                    <a:latin typeface="Times" panose="02020603050405020304" pitchFamily="18" charset="0"/>
                    <a:cs typeface="Times" panose="02020603050405020304" pitchFamily="18" charset="0"/>
                  </a:rPr>
                  <a:t>(K</a:t>
                </a:r>
                <a:r>
                  <a:rPr lang="zh-CN" altLang="en-US" sz="2200" dirty="0">
                    <a:latin typeface="Times" panose="02020603050405020304" pitchFamily="18" charset="0"/>
                    <a:cs typeface="Times" panose="02020603050405020304" pitchFamily="18" charset="0"/>
                  </a:rPr>
                  <a:t>维</a:t>
                </a:r>
                <a:r>
                  <a:rPr lang="en-US" altLang="zh-CN" sz="2200" dirty="0">
                    <a:latin typeface="Times" panose="02020603050405020304" pitchFamily="18" charset="0"/>
                    <a:cs typeface="Times" panose="02020603050405020304" pitchFamily="18" charset="0"/>
                  </a:rPr>
                  <a:t>)</a:t>
                </a:r>
              </a:p>
              <a:p>
                <a:pPr lvl="1">
                  <a:lnSpc>
                    <a:spcPct val="120000"/>
                  </a:lnSpc>
                </a:pPr>
                <a:r>
                  <a:rPr lang="en-US" altLang="zh-CN" sz="2200" dirty="0">
                    <a:solidFill>
                      <a:srgbClr val="C00000"/>
                    </a:solidFill>
                    <a:latin typeface="Times" panose="02020603050405020304" pitchFamily="18" charset="0"/>
                    <a:cs typeface="Times" panose="02020603050405020304" pitchFamily="18" charset="0"/>
                  </a:rPr>
                  <a:t>V</a:t>
                </a:r>
                <a:r>
                  <a:rPr lang="zh-CN" altLang="en-US" sz="2200" dirty="0">
                    <a:solidFill>
                      <a:srgbClr val="C00000"/>
                    </a:solidFill>
                    <a:latin typeface="Times" panose="02020603050405020304" pitchFamily="18" charset="0"/>
                    <a:cs typeface="Times" panose="02020603050405020304" pitchFamily="18" charset="0"/>
                  </a:rPr>
                  <a:t>矩阵</a:t>
                </a:r>
                <a:r>
                  <a:rPr lang="zh-CN" altLang="en-US" sz="2200" dirty="0">
                    <a:latin typeface="Times" panose="02020603050405020304" pitchFamily="18" charset="0"/>
                    <a:cs typeface="Times" panose="02020603050405020304" pitchFamily="18" charset="0"/>
                  </a:rPr>
                  <a:t>的每一列，为对应</a:t>
                </a:r>
                <a:r>
                  <a:rPr lang="zh-CN" altLang="en-US" sz="2200" dirty="0">
                    <a:solidFill>
                      <a:srgbClr val="C00000"/>
                    </a:solidFill>
                    <a:latin typeface="Times" panose="02020603050405020304" pitchFamily="18" charset="0"/>
                    <a:cs typeface="Times" panose="02020603050405020304" pitchFamily="18" charset="0"/>
                  </a:rPr>
                  <a:t>文档</a:t>
                </a:r>
                <a:r>
                  <a:rPr lang="zh-CN" altLang="en-US" sz="2200" dirty="0">
                    <a:latin typeface="Times" panose="02020603050405020304" pitchFamily="18" charset="0"/>
                    <a:cs typeface="Times" panose="02020603050405020304" pitchFamily="18" charset="0"/>
                  </a:rPr>
                  <a:t>的表示向量</a:t>
                </a:r>
                <a:r>
                  <a:rPr lang="en-US" altLang="zh-CN" sz="2200" dirty="0">
                    <a:latin typeface="Times" panose="02020603050405020304" pitchFamily="18" charset="0"/>
                    <a:cs typeface="Times" panose="02020603050405020304" pitchFamily="18" charset="0"/>
                  </a:rPr>
                  <a:t>(K</a:t>
                </a:r>
                <a:r>
                  <a:rPr lang="zh-CN" altLang="en-US" sz="2200" dirty="0">
                    <a:latin typeface="Times" panose="02020603050405020304" pitchFamily="18" charset="0"/>
                    <a:cs typeface="Times" panose="02020603050405020304" pitchFamily="18" charset="0"/>
                  </a:rPr>
                  <a:t>维</a:t>
                </a:r>
                <a:r>
                  <a:rPr lang="en-US" altLang="zh-CN" sz="2200" dirty="0">
                    <a:latin typeface="Times" panose="02020603050405020304" pitchFamily="18" charset="0"/>
                    <a:cs typeface="Times" panose="02020603050405020304" pitchFamily="18" charset="0"/>
                  </a:rPr>
                  <a:t>)</a:t>
                </a:r>
              </a:p>
              <a:p>
                <a:pPr>
                  <a:lnSpc>
                    <a:spcPct val="120000"/>
                  </a:lnSpc>
                </a:pPr>
                <a:endParaRPr lang="zh-CN" altLang="en-US" sz="2400" dirty="0">
                  <a:latin typeface="Times" panose="02020603050405020304" pitchFamily="18" charset="0"/>
                  <a:cs typeface="Times" panose="02020603050405020304" pitchFamily="18" charset="0"/>
                </a:endParaRPr>
              </a:p>
            </p:txBody>
          </p:sp>
        </mc:Choice>
        <mc:Fallback>
          <p:sp>
            <p:nvSpPr>
              <p:cNvPr id="4" name="内容占位符 2">
                <a:extLst>
                  <a:ext uri="{FF2B5EF4-FFF2-40B4-BE49-F238E27FC236}">
                    <a16:creationId xmlns:a16="http://schemas.microsoft.com/office/drawing/2014/main" id="{4FE591C2-D725-8349-B6EA-8BB55D1A3DA9}"/>
                  </a:ext>
                </a:extLst>
              </p:cNvPr>
              <p:cNvSpPr>
                <a:spLocks noGrp="1" noRot="1" noChangeAspect="1" noMove="1" noResize="1" noEditPoints="1" noAdjustHandles="1" noChangeArrowheads="1" noChangeShapeType="1" noTextEdit="1"/>
              </p:cNvSpPr>
              <p:nvPr>
                <p:ph idx="1"/>
              </p:nvPr>
            </p:nvSpPr>
            <p:spPr>
              <a:xfrm>
                <a:off x="457200" y="3030361"/>
                <a:ext cx="8229600" cy="2187113"/>
              </a:xfrm>
              <a:blipFill>
                <a:blip r:embed="rId2"/>
                <a:stretch>
                  <a:fillRect l="-463" t="-1156"/>
                </a:stretch>
              </a:blipFill>
            </p:spPr>
            <p:txBody>
              <a:bodyPr/>
              <a:lstStyle/>
              <a:p>
                <a:r>
                  <a:rPr lang="en-CN">
                    <a:noFill/>
                  </a:rPr>
                  <a:t> </a:t>
                </a:r>
              </a:p>
            </p:txBody>
          </p:sp>
        </mc:Fallback>
      </mc:AlternateContent>
      <p:pic>
        <p:nvPicPr>
          <p:cNvPr id="11" name="图片 10">
            <a:extLst>
              <a:ext uri="{FF2B5EF4-FFF2-40B4-BE49-F238E27FC236}">
                <a16:creationId xmlns:a16="http://schemas.microsoft.com/office/drawing/2014/main" id="{F41E3AE5-AEB4-F14D-B921-C2648107C73B}"/>
              </a:ext>
            </a:extLst>
          </p:cNvPr>
          <p:cNvPicPr>
            <a:picLocks noChangeAspect="1"/>
          </p:cNvPicPr>
          <p:nvPr/>
        </p:nvPicPr>
        <p:blipFill>
          <a:blip r:embed="rId3"/>
          <a:stretch>
            <a:fillRect/>
          </a:stretch>
        </p:blipFill>
        <p:spPr>
          <a:xfrm>
            <a:off x="2273570" y="1473139"/>
            <a:ext cx="4293485" cy="1557222"/>
          </a:xfrm>
          <a:prstGeom prst="rect">
            <a:avLst/>
          </a:prstGeom>
        </p:spPr>
      </p:pic>
      <p:sp>
        <p:nvSpPr>
          <p:cNvPr id="12" name="Rectangle 5">
            <a:extLst>
              <a:ext uri="{FF2B5EF4-FFF2-40B4-BE49-F238E27FC236}">
                <a16:creationId xmlns:a16="http://schemas.microsoft.com/office/drawing/2014/main" id="{86E5932D-FF64-0E48-B7A2-6B79D6695BA7}"/>
              </a:ext>
            </a:extLst>
          </p:cNvPr>
          <p:cNvSpPr/>
          <p:nvPr/>
        </p:nvSpPr>
        <p:spPr>
          <a:xfrm>
            <a:off x="1417369" y="1657342"/>
            <a:ext cx="942798" cy="369332"/>
          </a:xfrm>
          <a:prstGeom prst="rect">
            <a:avLst/>
          </a:prstGeom>
        </p:spPr>
        <p:txBody>
          <a:bodyPr wrap="square">
            <a:spAutoFit/>
          </a:bodyPr>
          <a:lstStyle/>
          <a:p>
            <a:r>
              <a:rPr lang="en-US" dirty="0">
                <a:latin typeface="Times" panose="02020603050405020304" pitchFamily="18" charset="0"/>
                <a:cs typeface="Times" panose="02020603050405020304" pitchFamily="18" charset="0"/>
              </a:rPr>
              <a:t>word</a:t>
            </a:r>
          </a:p>
        </p:txBody>
      </p:sp>
      <p:sp>
        <p:nvSpPr>
          <p:cNvPr id="13" name="Line 9">
            <a:extLst>
              <a:ext uri="{FF2B5EF4-FFF2-40B4-BE49-F238E27FC236}">
                <a16:creationId xmlns:a16="http://schemas.microsoft.com/office/drawing/2014/main" id="{91587440-B3CB-5944-8AA8-0FD8BADF1841}"/>
              </a:ext>
            </a:extLst>
          </p:cNvPr>
          <p:cNvSpPr>
            <a:spLocks noChangeShapeType="1"/>
          </p:cNvSpPr>
          <p:nvPr/>
        </p:nvSpPr>
        <p:spPr bwMode="auto">
          <a:xfrm>
            <a:off x="2048399" y="1846171"/>
            <a:ext cx="311768"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panose="02020603050405020304" pitchFamily="18" charset="0"/>
              <a:cs typeface="Times" panose="02020603050405020304" pitchFamily="18" charset="0"/>
            </a:endParaRPr>
          </a:p>
        </p:txBody>
      </p:sp>
      <p:sp>
        <p:nvSpPr>
          <p:cNvPr id="14" name="Rectangle 7">
            <a:extLst>
              <a:ext uri="{FF2B5EF4-FFF2-40B4-BE49-F238E27FC236}">
                <a16:creationId xmlns:a16="http://schemas.microsoft.com/office/drawing/2014/main" id="{23F7A068-073F-6D40-8D93-AE6DD6720140}"/>
              </a:ext>
            </a:extLst>
          </p:cNvPr>
          <p:cNvSpPr/>
          <p:nvPr/>
        </p:nvSpPr>
        <p:spPr>
          <a:xfrm>
            <a:off x="1917773" y="1070669"/>
            <a:ext cx="1368611" cy="369332"/>
          </a:xfrm>
          <a:prstGeom prst="rect">
            <a:avLst/>
          </a:prstGeom>
        </p:spPr>
        <p:txBody>
          <a:bodyPr wrap="square">
            <a:spAutoFit/>
          </a:bodyPr>
          <a:lstStyle/>
          <a:p>
            <a:r>
              <a:rPr lang="en-US" dirty="0">
                <a:latin typeface="Times" panose="02020603050405020304" pitchFamily="18" charset="0"/>
                <a:cs typeface="Times" panose="02020603050405020304" pitchFamily="18" charset="0"/>
              </a:rPr>
              <a:t>document</a:t>
            </a:r>
          </a:p>
        </p:txBody>
      </p:sp>
      <p:sp>
        <p:nvSpPr>
          <p:cNvPr id="15" name="Line 15">
            <a:extLst>
              <a:ext uri="{FF2B5EF4-FFF2-40B4-BE49-F238E27FC236}">
                <a16:creationId xmlns:a16="http://schemas.microsoft.com/office/drawing/2014/main" id="{02FF4CFF-7BEF-6E45-AD2B-421F72D24E18}"/>
              </a:ext>
            </a:extLst>
          </p:cNvPr>
          <p:cNvSpPr>
            <a:spLocks noChangeShapeType="1"/>
          </p:cNvSpPr>
          <p:nvPr/>
        </p:nvSpPr>
        <p:spPr bwMode="auto">
          <a:xfrm rot="5400000">
            <a:off x="2259824" y="1516527"/>
            <a:ext cx="372983"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42468698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C7AE90-01A3-E843-A929-79E1BF7F9CAF}"/>
              </a:ext>
            </a:extLst>
          </p:cNvPr>
          <p:cNvSpPr>
            <a:spLocks noGrp="1"/>
          </p:cNvSpPr>
          <p:nvPr>
            <p:ph type="title"/>
          </p:nvPr>
        </p:nvSpPr>
        <p:spPr/>
        <p:txBody>
          <a:bodyPr/>
          <a:lstStyle/>
          <a:p>
            <a:r>
              <a:rPr kumimoji="1" lang="zh-CN" altLang="en-US" dirty="0"/>
              <a:t>理解</a:t>
            </a:r>
            <a:r>
              <a:rPr kumimoji="1" lang="en-US" altLang="zh-CN" dirty="0"/>
              <a:t>LSI</a:t>
            </a:r>
            <a:r>
              <a:rPr kumimoji="1" lang="zh-CN" altLang="en-US" dirty="0"/>
              <a:t>：为何舍弃小的特征根？</a:t>
            </a:r>
          </a:p>
        </p:txBody>
      </p:sp>
      <p:sp>
        <p:nvSpPr>
          <p:cNvPr id="3" name="内容占位符 2">
            <a:extLst>
              <a:ext uri="{FF2B5EF4-FFF2-40B4-BE49-F238E27FC236}">
                <a16:creationId xmlns:a16="http://schemas.microsoft.com/office/drawing/2014/main" id="{0BC7F316-FC60-A349-A96A-17427A13E6F4}"/>
              </a:ext>
            </a:extLst>
          </p:cNvPr>
          <p:cNvSpPr>
            <a:spLocks noGrp="1"/>
          </p:cNvSpPr>
          <p:nvPr>
            <p:ph idx="1"/>
          </p:nvPr>
        </p:nvSpPr>
        <p:spPr>
          <a:xfrm>
            <a:off x="338446" y="4089909"/>
            <a:ext cx="8484920" cy="903966"/>
          </a:xfrm>
        </p:spPr>
        <p:txBody>
          <a:bodyPr>
            <a:normAutofit fontScale="85000" lnSpcReduction="10000"/>
          </a:bodyPr>
          <a:lstStyle/>
          <a:p>
            <a:r>
              <a:rPr kumimoji="1" lang="zh-CN" altLang="en-US" dirty="0"/>
              <a:t>特征根大</a:t>
            </a:r>
            <a:r>
              <a:rPr kumimoji="1" lang="en-US" altLang="zh-CN" dirty="0"/>
              <a:t>&lt;=&gt;</a:t>
            </a:r>
            <a:r>
              <a:rPr kumimoji="1" lang="zh-CN" altLang="en-US" dirty="0"/>
              <a:t>方差大</a:t>
            </a:r>
            <a:r>
              <a:rPr kumimoji="1" lang="en-US" altLang="zh-CN" dirty="0"/>
              <a:t>&lt;</a:t>
            </a:r>
            <a:r>
              <a:rPr kumimoji="1" lang="en-US" altLang="zh-CN" dirty="0">
                <a:sym typeface="Wingdings" pitchFamily="2" charset="2"/>
              </a:rPr>
              <a:t>=&gt;</a:t>
            </a:r>
            <a:r>
              <a:rPr kumimoji="1" lang="zh-CN" altLang="en-US" dirty="0">
                <a:sym typeface="Wingdings" pitchFamily="2" charset="2"/>
              </a:rPr>
              <a:t>能量大：此方向（特征向量方向）承载较多有效信息</a:t>
            </a:r>
            <a:endParaRPr kumimoji="1" lang="en-US" altLang="zh-CN" dirty="0">
              <a:sym typeface="Wingdings" pitchFamily="2" charset="2"/>
            </a:endParaRPr>
          </a:p>
          <a:p>
            <a:r>
              <a:rPr kumimoji="1" lang="zh-CN" altLang="en-US" dirty="0"/>
              <a:t>特征根小</a:t>
            </a:r>
            <a:r>
              <a:rPr kumimoji="1" lang="en-US" altLang="zh-CN" dirty="0"/>
              <a:t>&lt;=&gt;</a:t>
            </a:r>
            <a:r>
              <a:rPr kumimoji="1" lang="zh-CN" altLang="en-US" dirty="0"/>
              <a:t>方差小</a:t>
            </a:r>
            <a:r>
              <a:rPr kumimoji="1" lang="en-US" altLang="zh-CN" dirty="0"/>
              <a:t>&lt;</a:t>
            </a:r>
            <a:r>
              <a:rPr kumimoji="1" lang="en-US" altLang="zh-CN" dirty="0">
                <a:sym typeface="Wingdings" pitchFamily="2" charset="2"/>
              </a:rPr>
              <a:t>=&gt;</a:t>
            </a:r>
            <a:r>
              <a:rPr kumimoji="1" lang="zh-CN" altLang="en-US" dirty="0">
                <a:sym typeface="Wingdings" pitchFamily="2" charset="2"/>
              </a:rPr>
              <a:t>能量小：此方向的波动可能是噪声</a:t>
            </a:r>
            <a:endParaRPr kumimoji="1" lang="en-US" altLang="zh-CN" dirty="0">
              <a:sym typeface="Wingdings" pitchFamily="2" charset="2"/>
            </a:endParaRPr>
          </a:p>
          <a:p>
            <a:r>
              <a:rPr kumimoji="1" lang="zh-CN" altLang="en-US" dirty="0">
                <a:sym typeface="Wingdings" pitchFamily="2" charset="2"/>
              </a:rPr>
              <a:t>舍弃小的特征根：降低表示维度 </a:t>
            </a:r>
            <a:r>
              <a:rPr kumimoji="1" lang="en-US" altLang="zh-CN" dirty="0">
                <a:sym typeface="Wingdings" pitchFamily="2" charset="2"/>
              </a:rPr>
              <a:t>+</a:t>
            </a:r>
            <a:r>
              <a:rPr kumimoji="1" lang="zh-CN" altLang="en-US" dirty="0">
                <a:sym typeface="Wingdings" pitchFamily="2" charset="2"/>
              </a:rPr>
              <a:t>去除噪声信号</a:t>
            </a:r>
            <a:endParaRPr kumimoji="1" lang="en-US" altLang="zh-CN" dirty="0">
              <a:sym typeface="Wingdings" pitchFamily="2" charset="2"/>
            </a:endParaRPr>
          </a:p>
        </p:txBody>
      </p:sp>
      <p:pic>
        <p:nvPicPr>
          <p:cNvPr id="6" name="Picture 2" descr="https://upload.wikimedia.org/wikipedia/commons/1/15/GaussianScatterPCA.png">
            <a:extLst>
              <a:ext uri="{FF2B5EF4-FFF2-40B4-BE49-F238E27FC236}">
                <a16:creationId xmlns:a16="http://schemas.microsoft.com/office/drawing/2014/main" id="{D7F4B09E-FF48-9B4F-AC44-A0B2922B53A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0222" y="844742"/>
            <a:ext cx="2659099" cy="2495214"/>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接连接符 6">
            <a:extLst>
              <a:ext uri="{FF2B5EF4-FFF2-40B4-BE49-F238E27FC236}">
                <a16:creationId xmlns:a16="http://schemas.microsoft.com/office/drawing/2014/main" id="{608A5832-F418-5943-A986-09600E02839F}"/>
              </a:ext>
            </a:extLst>
          </p:cNvPr>
          <p:cNvCxnSpPr>
            <a:cxnSpLocks/>
          </p:cNvCxnSpPr>
          <p:nvPr/>
        </p:nvCxnSpPr>
        <p:spPr>
          <a:xfrm>
            <a:off x="5648412" y="882975"/>
            <a:ext cx="1531703" cy="2456981"/>
          </a:xfrm>
          <a:prstGeom prst="line">
            <a:avLst/>
          </a:prstGeom>
        </p:spPr>
        <p:style>
          <a:lnRef idx="1">
            <a:schemeClr val="accent6"/>
          </a:lnRef>
          <a:fillRef idx="0">
            <a:schemeClr val="accent6"/>
          </a:fillRef>
          <a:effectRef idx="0">
            <a:schemeClr val="accent6"/>
          </a:effectRef>
          <a:fontRef idx="minor">
            <a:schemeClr val="tx1"/>
          </a:fontRef>
        </p:style>
      </p:cxnSp>
      <p:sp>
        <p:nvSpPr>
          <p:cNvPr id="8" name="椭圆 7">
            <a:extLst>
              <a:ext uri="{FF2B5EF4-FFF2-40B4-BE49-F238E27FC236}">
                <a16:creationId xmlns:a16="http://schemas.microsoft.com/office/drawing/2014/main" id="{30DB43BB-56A6-964A-B33C-7ACA54EC76F3}"/>
              </a:ext>
            </a:extLst>
          </p:cNvPr>
          <p:cNvSpPr/>
          <p:nvPr/>
        </p:nvSpPr>
        <p:spPr>
          <a:xfrm>
            <a:off x="6325242" y="1995992"/>
            <a:ext cx="108000" cy="1080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cxnSp>
        <p:nvCxnSpPr>
          <p:cNvPr id="9" name="直接箭头连接符 9">
            <a:extLst>
              <a:ext uri="{FF2B5EF4-FFF2-40B4-BE49-F238E27FC236}">
                <a16:creationId xmlns:a16="http://schemas.microsoft.com/office/drawing/2014/main" id="{AF1DD1F9-748B-6148-A2E5-51DB600E769A}"/>
              </a:ext>
            </a:extLst>
          </p:cNvPr>
          <p:cNvCxnSpPr/>
          <p:nvPr/>
        </p:nvCxnSpPr>
        <p:spPr>
          <a:xfrm flipV="1">
            <a:off x="6413875" y="1632927"/>
            <a:ext cx="556697" cy="375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11">
            <a:extLst>
              <a:ext uri="{FF2B5EF4-FFF2-40B4-BE49-F238E27FC236}">
                <a16:creationId xmlns:a16="http://schemas.microsoft.com/office/drawing/2014/main" id="{8BB3B9DC-F415-F643-803B-4AEFB59D7644}"/>
              </a:ext>
            </a:extLst>
          </p:cNvPr>
          <p:cNvCxnSpPr/>
          <p:nvPr/>
        </p:nvCxnSpPr>
        <p:spPr>
          <a:xfrm>
            <a:off x="4934308" y="3635234"/>
            <a:ext cx="346672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 name="直接箭头连接符 14">
            <a:extLst>
              <a:ext uri="{FF2B5EF4-FFF2-40B4-BE49-F238E27FC236}">
                <a16:creationId xmlns:a16="http://schemas.microsoft.com/office/drawing/2014/main" id="{EDBBD050-6BCF-F644-8CC9-B5C666F8F27C}"/>
              </a:ext>
            </a:extLst>
          </p:cNvPr>
          <p:cNvCxnSpPr>
            <a:cxnSpLocks/>
          </p:cNvCxnSpPr>
          <p:nvPr/>
        </p:nvCxnSpPr>
        <p:spPr>
          <a:xfrm flipV="1">
            <a:off x="4934308" y="688770"/>
            <a:ext cx="0" cy="29464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CDEC099-68C8-2244-BA00-C0691DB68956}"/>
                  </a:ext>
                </a:extLst>
              </p:cNvPr>
              <p:cNvSpPr txBox="1"/>
              <p:nvPr/>
            </p:nvSpPr>
            <p:spPr>
              <a:xfrm>
                <a:off x="7019694" y="1481752"/>
                <a:ext cx="1862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𝑓</m:t>
                      </m:r>
                    </m:oMath>
                  </m:oMathPara>
                </a14:m>
                <a:endParaRPr lang="zh-CN" altLang="en-US" dirty="0"/>
              </a:p>
            </p:txBody>
          </p:sp>
        </mc:Choice>
        <mc:Fallback xmlns="">
          <p:sp>
            <p:nvSpPr>
              <p:cNvPr id="12" name="文本框 11">
                <a:extLst>
                  <a:ext uri="{FF2B5EF4-FFF2-40B4-BE49-F238E27FC236}">
                    <a16:creationId xmlns:a16="http://schemas.microsoft.com/office/drawing/2014/main" id="{8CDEC099-68C8-2244-BA00-C0691DB68956}"/>
                  </a:ext>
                </a:extLst>
              </p:cNvPr>
              <p:cNvSpPr txBox="1">
                <a:spLocks noRot="1" noChangeAspect="1" noMove="1" noResize="1" noEditPoints="1" noAdjustHandles="1" noChangeArrowheads="1" noChangeShapeType="1" noTextEdit="1"/>
              </p:cNvSpPr>
              <p:nvPr/>
            </p:nvSpPr>
            <p:spPr>
              <a:xfrm>
                <a:off x="7019694" y="1481752"/>
                <a:ext cx="186269" cy="276999"/>
              </a:xfrm>
              <a:prstGeom prst="rect">
                <a:avLst/>
              </a:prstGeom>
              <a:blipFill>
                <a:blip r:embed="rId4"/>
                <a:stretch>
                  <a:fillRect l="-40000" r="-40000" b="-36364"/>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1C16377D-E71A-C047-8B70-21B3E397CEBB}"/>
              </a:ext>
            </a:extLst>
          </p:cNvPr>
          <p:cNvSpPr/>
          <p:nvPr/>
        </p:nvSpPr>
        <p:spPr>
          <a:xfrm>
            <a:off x="1514941" y="3635234"/>
            <a:ext cx="1569660" cy="369332"/>
          </a:xfrm>
          <a:prstGeom prst="rect">
            <a:avLst/>
          </a:prstGeom>
        </p:spPr>
        <p:txBody>
          <a:bodyPr wrap="none">
            <a:spAutoFit/>
          </a:bodyPr>
          <a:lstStyle/>
          <a:p>
            <a:r>
              <a:rPr lang="zh-CN" altLang="en-US" dirty="0"/>
              <a:t>统计上：方差</a:t>
            </a:r>
            <a:endParaRPr lang="en-US" altLang="zh-CN" dirty="0"/>
          </a:p>
        </p:txBody>
      </p:sp>
      <p:sp>
        <p:nvSpPr>
          <p:cNvPr id="14" name="矩形 13">
            <a:extLst>
              <a:ext uri="{FF2B5EF4-FFF2-40B4-BE49-F238E27FC236}">
                <a16:creationId xmlns:a16="http://schemas.microsoft.com/office/drawing/2014/main" id="{C0209FB5-F042-E741-A9F0-C646C2389B8E}"/>
              </a:ext>
            </a:extLst>
          </p:cNvPr>
          <p:cNvSpPr/>
          <p:nvPr/>
        </p:nvSpPr>
        <p:spPr>
          <a:xfrm>
            <a:off x="5648412" y="3640887"/>
            <a:ext cx="1569660" cy="369332"/>
          </a:xfrm>
          <a:prstGeom prst="rect">
            <a:avLst/>
          </a:prstGeom>
        </p:spPr>
        <p:txBody>
          <a:bodyPr wrap="none">
            <a:spAutoFit/>
          </a:bodyPr>
          <a:lstStyle/>
          <a:p>
            <a:r>
              <a:rPr lang="zh-CN" altLang="en-US" dirty="0"/>
              <a:t>物理上：能量</a:t>
            </a:r>
          </a:p>
        </p:txBody>
      </p:sp>
      <p:sp>
        <p:nvSpPr>
          <p:cNvPr id="17" name="矩形 16">
            <a:extLst>
              <a:ext uri="{FF2B5EF4-FFF2-40B4-BE49-F238E27FC236}">
                <a16:creationId xmlns:a16="http://schemas.microsoft.com/office/drawing/2014/main" id="{2694510F-2089-F948-B24E-E65A96F948AA}"/>
              </a:ext>
            </a:extLst>
          </p:cNvPr>
          <p:cNvSpPr/>
          <p:nvPr/>
        </p:nvSpPr>
        <p:spPr>
          <a:xfrm>
            <a:off x="7069744" y="3059686"/>
            <a:ext cx="415498" cy="369332"/>
          </a:xfrm>
          <a:prstGeom prst="rect">
            <a:avLst/>
          </a:prstGeom>
        </p:spPr>
        <p:txBody>
          <a:bodyPr wrap="none">
            <a:spAutoFit/>
          </a:bodyPr>
          <a:lstStyle/>
          <a:p>
            <a:r>
              <a:rPr kumimoji="1" lang="zh-CN" altLang="en-US" dirty="0"/>
              <a:t>📌</a:t>
            </a:r>
          </a:p>
        </p:txBody>
      </p:sp>
      <p:sp>
        <p:nvSpPr>
          <p:cNvPr id="18" name="矩形 17">
            <a:extLst>
              <a:ext uri="{FF2B5EF4-FFF2-40B4-BE49-F238E27FC236}">
                <a16:creationId xmlns:a16="http://schemas.microsoft.com/office/drawing/2014/main" id="{17F03156-4C1D-A94F-9789-4D59EE4DA2A7}"/>
              </a:ext>
            </a:extLst>
          </p:cNvPr>
          <p:cNvSpPr/>
          <p:nvPr/>
        </p:nvSpPr>
        <p:spPr>
          <a:xfrm>
            <a:off x="5551034" y="609844"/>
            <a:ext cx="415498" cy="369332"/>
          </a:xfrm>
          <a:prstGeom prst="rect">
            <a:avLst/>
          </a:prstGeom>
        </p:spPr>
        <p:txBody>
          <a:bodyPr wrap="none">
            <a:spAutoFit/>
          </a:bodyPr>
          <a:lstStyle/>
          <a:p>
            <a:r>
              <a:rPr kumimoji="1" lang="zh-CN" altLang="en-US" dirty="0"/>
              <a:t>📌</a:t>
            </a:r>
          </a:p>
        </p:txBody>
      </p:sp>
      <p:sp>
        <p:nvSpPr>
          <p:cNvPr id="20" name="文本框 19">
            <a:extLst>
              <a:ext uri="{FF2B5EF4-FFF2-40B4-BE49-F238E27FC236}">
                <a16:creationId xmlns:a16="http://schemas.microsoft.com/office/drawing/2014/main" id="{A544607D-BC38-6B42-8FE9-89E7ECF1A492}"/>
              </a:ext>
            </a:extLst>
          </p:cNvPr>
          <p:cNvSpPr txBox="1"/>
          <p:nvPr/>
        </p:nvSpPr>
        <p:spPr>
          <a:xfrm>
            <a:off x="7229266" y="2269706"/>
            <a:ext cx="877163" cy="369332"/>
          </a:xfrm>
          <a:prstGeom prst="rect">
            <a:avLst/>
          </a:prstGeom>
          <a:noFill/>
        </p:spPr>
        <p:txBody>
          <a:bodyPr wrap="none" rtlCol="0">
            <a:spAutoFit/>
          </a:bodyPr>
          <a:lstStyle/>
          <a:p>
            <a:r>
              <a:rPr kumimoji="1" lang="zh-CN" altLang="en-US" dirty="0"/>
              <a:t>橡皮筋</a:t>
            </a:r>
          </a:p>
        </p:txBody>
      </p:sp>
      <p:sp>
        <p:nvSpPr>
          <p:cNvPr id="4" name="TextBox 3"/>
          <p:cNvSpPr txBox="1"/>
          <p:nvPr/>
        </p:nvSpPr>
        <p:spPr>
          <a:xfrm>
            <a:off x="6766572" y="4729953"/>
            <a:ext cx="2175596" cy="369332"/>
          </a:xfrm>
          <a:prstGeom prst="rect">
            <a:avLst/>
          </a:prstGeom>
          <a:noFill/>
        </p:spPr>
        <p:txBody>
          <a:bodyPr wrap="none" rtlCol="0">
            <a:spAutoFit/>
          </a:bodyPr>
          <a:lstStyle/>
          <a:p>
            <a:r>
              <a:rPr lang="zh-CN" altLang="en-US" dirty="0">
                <a:solidFill>
                  <a:srgbClr val="C00000"/>
                </a:solidFill>
              </a:rPr>
              <a:t>相关证明可参考</a:t>
            </a:r>
            <a:r>
              <a:rPr lang="en-US" altLang="zh-CN" dirty="0">
                <a:solidFill>
                  <a:srgbClr val="C00000"/>
                </a:solidFill>
              </a:rPr>
              <a:t>PCA</a:t>
            </a:r>
            <a:endParaRPr lang="en-US" dirty="0">
              <a:solidFill>
                <a:srgbClr val="C00000"/>
              </a:solidFill>
            </a:endParaRPr>
          </a:p>
        </p:txBody>
      </p:sp>
    </p:spTree>
    <p:extLst>
      <p:ext uri="{BB962C8B-B14F-4D97-AF65-F5344CB8AC3E}">
        <p14:creationId xmlns:p14="http://schemas.microsoft.com/office/powerpoint/2010/main" val="6890260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85D82A-9DA6-0644-8BA1-92F23A716BD6}"/>
              </a:ext>
            </a:extLst>
          </p:cNvPr>
          <p:cNvSpPr>
            <a:spLocks noGrp="1"/>
          </p:cNvSpPr>
          <p:nvPr>
            <p:ph type="title"/>
          </p:nvPr>
        </p:nvSpPr>
        <p:spPr/>
        <p:txBody>
          <a:bodyPr/>
          <a:lstStyle/>
          <a:p>
            <a:r>
              <a:rPr kumimoji="1" lang="zh-CN" altLang="en-US" dirty="0"/>
              <a:t>特征向量的方向</a:t>
            </a:r>
            <a:r>
              <a:rPr kumimoji="1" lang="en-US" altLang="zh-CN" dirty="0"/>
              <a:t>?</a:t>
            </a:r>
            <a:endParaRPr kumimoji="1" lang="zh-CN" altLang="en-US" dirty="0"/>
          </a:p>
        </p:txBody>
      </p:sp>
      <p:pic>
        <p:nvPicPr>
          <p:cNvPr id="4" name="图片 3">
            <a:extLst>
              <a:ext uri="{FF2B5EF4-FFF2-40B4-BE49-F238E27FC236}">
                <a16:creationId xmlns:a16="http://schemas.microsoft.com/office/drawing/2014/main" id="{30E9C722-F587-874D-B272-69D6D86E37B3}"/>
              </a:ext>
            </a:extLst>
          </p:cNvPr>
          <p:cNvPicPr>
            <a:picLocks noChangeAspect="1"/>
          </p:cNvPicPr>
          <p:nvPr/>
        </p:nvPicPr>
        <p:blipFill>
          <a:blip r:embed="rId2"/>
          <a:stretch>
            <a:fillRect/>
          </a:stretch>
        </p:blipFill>
        <p:spPr>
          <a:xfrm>
            <a:off x="2597356" y="837953"/>
            <a:ext cx="3949288" cy="3949288"/>
          </a:xfrm>
          <a:prstGeom prst="rect">
            <a:avLst/>
          </a:prstGeom>
        </p:spPr>
      </p:pic>
    </p:spTree>
    <p:extLst>
      <p:ext uri="{BB962C8B-B14F-4D97-AF65-F5344CB8AC3E}">
        <p14:creationId xmlns:p14="http://schemas.microsoft.com/office/powerpoint/2010/main" val="2455525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85D82A-9DA6-0644-8BA1-92F23A716BD6}"/>
              </a:ext>
            </a:extLst>
          </p:cNvPr>
          <p:cNvSpPr>
            <a:spLocks noGrp="1"/>
          </p:cNvSpPr>
          <p:nvPr>
            <p:ph type="title"/>
          </p:nvPr>
        </p:nvSpPr>
        <p:spPr/>
        <p:txBody>
          <a:bodyPr/>
          <a:lstStyle/>
          <a:p>
            <a:r>
              <a:rPr kumimoji="1" lang="zh-CN" altLang="en-US" dirty="0"/>
              <a:t>特征向量：选一个方差最大的方向</a:t>
            </a:r>
          </a:p>
        </p:txBody>
      </p:sp>
      <p:pic>
        <p:nvPicPr>
          <p:cNvPr id="3" name="图片 2">
            <a:extLst>
              <a:ext uri="{FF2B5EF4-FFF2-40B4-BE49-F238E27FC236}">
                <a16:creationId xmlns:a16="http://schemas.microsoft.com/office/drawing/2014/main" id="{C997750F-D3CE-1141-8EE9-D1AFDE4BF67B}"/>
              </a:ext>
            </a:extLst>
          </p:cNvPr>
          <p:cNvPicPr>
            <a:picLocks noChangeAspect="1"/>
          </p:cNvPicPr>
          <p:nvPr/>
        </p:nvPicPr>
        <p:blipFill>
          <a:blip r:embed="rId2"/>
          <a:stretch>
            <a:fillRect/>
          </a:stretch>
        </p:blipFill>
        <p:spPr>
          <a:xfrm>
            <a:off x="193964" y="1051711"/>
            <a:ext cx="2743200" cy="2743200"/>
          </a:xfrm>
          <a:prstGeom prst="rect">
            <a:avLst/>
          </a:prstGeom>
        </p:spPr>
      </p:pic>
      <p:pic>
        <p:nvPicPr>
          <p:cNvPr id="6" name="图片 5">
            <a:extLst>
              <a:ext uri="{FF2B5EF4-FFF2-40B4-BE49-F238E27FC236}">
                <a16:creationId xmlns:a16="http://schemas.microsoft.com/office/drawing/2014/main" id="{0E0023C4-49DD-2649-B9CB-65867E10DAE6}"/>
              </a:ext>
            </a:extLst>
          </p:cNvPr>
          <p:cNvPicPr>
            <a:picLocks noChangeAspect="1"/>
          </p:cNvPicPr>
          <p:nvPr/>
        </p:nvPicPr>
        <p:blipFill>
          <a:blip r:embed="rId3"/>
          <a:stretch>
            <a:fillRect/>
          </a:stretch>
        </p:blipFill>
        <p:spPr>
          <a:xfrm>
            <a:off x="3156114" y="1058391"/>
            <a:ext cx="2736520" cy="2736520"/>
          </a:xfrm>
          <a:prstGeom prst="rect">
            <a:avLst/>
          </a:prstGeom>
        </p:spPr>
      </p:pic>
      <p:pic>
        <p:nvPicPr>
          <p:cNvPr id="7" name="图片 6">
            <a:extLst>
              <a:ext uri="{FF2B5EF4-FFF2-40B4-BE49-F238E27FC236}">
                <a16:creationId xmlns:a16="http://schemas.microsoft.com/office/drawing/2014/main" id="{4AF5EF7D-4905-1D40-A713-76308E84B844}"/>
              </a:ext>
            </a:extLst>
          </p:cNvPr>
          <p:cNvPicPr>
            <a:picLocks noChangeAspect="1"/>
          </p:cNvPicPr>
          <p:nvPr/>
        </p:nvPicPr>
        <p:blipFill>
          <a:blip r:embed="rId4"/>
          <a:stretch>
            <a:fillRect/>
          </a:stretch>
        </p:blipFill>
        <p:spPr>
          <a:xfrm>
            <a:off x="6111585" y="1051712"/>
            <a:ext cx="2743200" cy="2743200"/>
          </a:xfrm>
          <a:prstGeom prst="rect">
            <a:avLst/>
          </a:prstGeom>
        </p:spPr>
      </p:pic>
      <p:sp>
        <p:nvSpPr>
          <p:cNvPr id="8" name="文本框 7">
            <a:extLst>
              <a:ext uri="{FF2B5EF4-FFF2-40B4-BE49-F238E27FC236}">
                <a16:creationId xmlns:a16="http://schemas.microsoft.com/office/drawing/2014/main" id="{E66A5E59-7CC5-8543-9037-07F70FE91F5C}"/>
              </a:ext>
            </a:extLst>
          </p:cNvPr>
          <p:cNvSpPr txBox="1"/>
          <p:nvPr/>
        </p:nvSpPr>
        <p:spPr>
          <a:xfrm>
            <a:off x="1183888" y="3957106"/>
            <a:ext cx="763351" cy="369332"/>
          </a:xfrm>
          <a:prstGeom prst="rect">
            <a:avLst/>
          </a:prstGeom>
          <a:noFill/>
        </p:spPr>
        <p:txBody>
          <a:bodyPr wrap="none" rtlCol="0">
            <a:spAutoFit/>
          </a:bodyPr>
          <a:lstStyle/>
          <a:p>
            <a:r>
              <a:rPr kumimoji="1" lang="zh-CN" altLang="en-US" dirty="0"/>
              <a:t>方向</a:t>
            </a:r>
            <a:r>
              <a:rPr kumimoji="1" lang="en-US" altLang="zh-CN" dirty="0"/>
              <a:t>1</a:t>
            </a:r>
            <a:endParaRPr kumimoji="1" lang="zh-CN" altLang="en-US" dirty="0"/>
          </a:p>
        </p:txBody>
      </p:sp>
      <p:sp>
        <p:nvSpPr>
          <p:cNvPr id="9" name="文本框 8">
            <a:extLst>
              <a:ext uri="{FF2B5EF4-FFF2-40B4-BE49-F238E27FC236}">
                <a16:creationId xmlns:a16="http://schemas.microsoft.com/office/drawing/2014/main" id="{76CF7540-5EB1-CE41-89DB-4C64DF4E7B82}"/>
              </a:ext>
            </a:extLst>
          </p:cNvPr>
          <p:cNvSpPr txBox="1"/>
          <p:nvPr/>
        </p:nvSpPr>
        <p:spPr>
          <a:xfrm>
            <a:off x="4142698" y="3957106"/>
            <a:ext cx="763351" cy="369332"/>
          </a:xfrm>
          <a:prstGeom prst="rect">
            <a:avLst/>
          </a:prstGeom>
          <a:noFill/>
        </p:spPr>
        <p:txBody>
          <a:bodyPr wrap="none" rtlCol="0">
            <a:spAutoFit/>
          </a:bodyPr>
          <a:lstStyle/>
          <a:p>
            <a:r>
              <a:rPr kumimoji="1" lang="zh-CN" altLang="en-US" dirty="0"/>
              <a:t>方向</a:t>
            </a:r>
            <a:r>
              <a:rPr kumimoji="1" lang="en-US" altLang="zh-CN" dirty="0"/>
              <a:t>2</a:t>
            </a:r>
            <a:endParaRPr kumimoji="1" lang="zh-CN" altLang="en-US" dirty="0"/>
          </a:p>
        </p:txBody>
      </p:sp>
      <p:sp>
        <p:nvSpPr>
          <p:cNvPr id="10" name="文本框 9">
            <a:extLst>
              <a:ext uri="{FF2B5EF4-FFF2-40B4-BE49-F238E27FC236}">
                <a16:creationId xmlns:a16="http://schemas.microsoft.com/office/drawing/2014/main" id="{F5D9E2F9-8516-6D49-A2D4-D77BE49EC63E}"/>
              </a:ext>
            </a:extLst>
          </p:cNvPr>
          <p:cNvSpPr txBox="1"/>
          <p:nvPr/>
        </p:nvSpPr>
        <p:spPr>
          <a:xfrm>
            <a:off x="7101508" y="3957106"/>
            <a:ext cx="763351" cy="369332"/>
          </a:xfrm>
          <a:prstGeom prst="rect">
            <a:avLst/>
          </a:prstGeom>
          <a:noFill/>
        </p:spPr>
        <p:txBody>
          <a:bodyPr wrap="none" rtlCol="0">
            <a:spAutoFit/>
          </a:bodyPr>
          <a:lstStyle/>
          <a:p>
            <a:r>
              <a:rPr kumimoji="1" lang="zh-CN" altLang="en-US" dirty="0">
                <a:solidFill>
                  <a:srgbClr val="C00000"/>
                </a:solidFill>
              </a:rPr>
              <a:t>方向</a:t>
            </a:r>
            <a:r>
              <a:rPr kumimoji="1" lang="en-US" altLang="zh-CN" dirty="0">
                <a:solidFill>
                  <a:srgbClr val="C00000"/>
                </a:solidFill>
              </a:rPr>
              <a:t>3</a:t>
            </a:r>
            <a:endParaRPr kumimoji="1" lang="zh-CN" altLang="en-US" dirty="0">
              <a:solidFill>
                <a:srgbClr val="C00000"/>
              </a:solidFill>
            </a:endParaRPr>
          </a:p>
        </p:txBody>
      </p:sp>
      <p:sp>
        <p:nvSpPr>
          <p:cNvPr id="11" name="左大括号 10">
            <a:extLst>
              <a:ext uri="{FF2B5EF4-FFF2-40B4-BE49-F238E27FC236}">
                <a16:creationId xmlns:a16="http://schemas.microsoft.com/office/drawing/2014/main" id="{5B965428-95C2-D142-B68A-11282806E29D}"/>
              </a:ext>
            </a:extLst>
          </p:cNvPr>
          <p:cNvSpPr/>
          <p:nvPr/>
        </p:nvSpPr>
        <p:spPr>
          <a:xfrm rot="12718631">
            <a:off x="7886091" y="1210501"/>
            <a:ext cx="469818" cy="2018652"/>
          </a:xfrm>
          <a:prstGeom prst="leftBrace">
            <a:avLst/>
          </a:prstGeom>
          <a:ln/>
        </p:spPr>
        <p:style>
          <a:lnRef idx="3">
            <a:schemeClr val="accent2"/>
          </a:lnRef>
          <a:fillRef idx="0">
            <a:schemeClr val="accent2"/>
          </a:fillRef>
          <a:effectRef idx="2">
            <a:schemeClr val="accent2"/>
          </a:effectRef>
          <a:fontRef idx="minor">
            <a:schemeClr val="tx1"/>
          </a:fontRef>
        </p:style>
        <p:txBody>
          <a:bodyPr rtlCol="0" anchor="ctr"/>
          <a:lstStyle/>
          <a:p>
            <a:pPr algn="ctr"/>
            <a:endParaRPr kumimoji="1" lang="zh-CN" altLang="en-US"/>
          </a:p>
        </p:txBody>
      </p:sp>
      <p:sp>
        <p:nvSpPr>
          <p:cNvPr id="12" name="左大括号 11">
            <a:extLst>
              <a:ext uri="{FF2B5EF4-FFF2-40B4-BE49-F238E27FC236}">
                <a16:creationId xmlns:a16="http://schemas.microsoft.com/office/drawing/2014/main" id="{BDC5604B-9437-294C-9BD5-BAF1DC5B2227}"/>
              </a:ext>
            </a:extLst>
          </p:cNvPr>
          <p:cNvSpPr/>
          <p:nvPr/>
        </p:nvSpPr>
        <p:spPr>
          <a:xfrm rot="14963438">
            <a:off x="4719361" y="1632700"/>
            <a:ext cx="440565" cy="1870620"/>
          </a:xfrm>
          <a:prstGeom prst="leftBrace">
            <a:avLst/>
          </a:prstGeom>
          <a:ln/>
        </p:spPr>
        <p:style>
          <a:lnRef idx="3">
            <a:schemeClr val="accent2"/>
          </a:lnRef>
          <a:fillRef idx="0">
            <a:schemeClr val="accent2"/>
          </a:fillRef>
          <a:effectRef idx="2">
            <a:schemeClr val="accent2"/>
          </a:effectRef>
          <a:fontRef idx="minor">
            <a:schemeClr val="tx1"/>
          </a:fontRef>
        </p:style>
        <p:txBody>
          <a:bodyPr rtlCol="0" anchor="ctr"/>
          <a:lstStyle/>
          <a:p>
            <a:pPr algn="ctr"/>
            <a:endParaRPr kumimoji="1" lang="zh-CN" altLang="en-US"/>
          </a:p>
        </p:txBody>
      </p:sp>
      <p:sp>
        <p:nvSpPr>
          <p:cNvPr id="13" name="左大括号 12">
            <a:extLst>
              <a:ext uri="{FF2B5EF4-FFF2-40B4-BE49-F238E27FC236}">
                <a16:creationId xmlns:a16="http://schemas.microsoft.com/office/drawing/2014/main" id="{4EC1C87E-654A-E341-BE94-9D604E4D3F80}"/>
              </a:ext>
            </a:extLst>
          </p:cNvPr>
          <p:cNvSpPr/>
          <p:nvPr/>
        </p:nvSpPr>
        <p:spPr>
          <a:xfrm rot="18471310">
            <a:off x="1048779" y="1529004"/>
            <a:ext cx="480364" cy="1673068"/>
          </a:xfrm>
          <a:prstGeom prst="leftBrace">
            <a:avLst/>
          </a:prstGeom>
          <a:ln/>
        </p:spPr>
        <p:style>
          <a:lnRef idx="3">
            <a:schemeClr val="accent2"/>
          </a:lnRef>
          <a:fillRef idx="0">
            <a:schemeClr val="accent2"/>
          </a:fillRef>
          <a:effectRef idx="2">
            <a:schemeClr val="accent2"/>
          </a:effectRef>
          <a:fontRef idx="minor">
            <a:schemeClr val="tx1"/>
          </a:fontRef>
        </p:style>
        <p:txBody>
          <a:bodyPr rtlCol="0" anchor="ctr"/>
          <a:lstStyle/>
          <a:p>
            <a:pPr algn="ctr"/>
            <a:endParaRPr kumimoji="1" lang="zh-CN" altLang="en-US"/>
          </a:p>
        </p:txBody>
      </p:sp>
    </p:spTree>
    <p:extLst>
      <p:ext uri="{BB962C8B-B14F-4D97-AF65-F5344CB8AC3E}">
        <p14:creationId xmlns:p14="http://schemas.microsoft.com/office/powerpoint/2010/main" val="30146502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Times" panose="02020603050405020304" pitchFamily="18" charset="0"/>
                <a:cs typeface="Times" panose="02020603050405020304" pitchFamily="18" charset="0"/>
              </a:rPr>
              <a:t>理解</a:t>
            </a:r>
            <a:r>
              <a:rPr lang="en-US" altLang="zh-CN" dirty="0">
                <a:latin typeface="Times" panose="02020603050405020304" pitchFamily="18" charset="0"/>
                <a:cs typeface="Times" panose="02020603050405020304" pitchFamily="18" charset="0"/>
              </a:rPr>
              <a:t>LSI</a:t>
            </a:r>
            <a:r>
              <a:rPr lang="zh-CN" altLang="en-US" dirty="0">
                <a:latin typeface="Times" panose="02020603050405020304" pitchFamily="18" charset="0"/>
                <a:cs typeface="Times" panose="02020603050405020304" pitchFamily="18" charset="0"/>
              </a:rPr>
              <a:t>：左特征向量</a:t>
            </a:r>
            <a:r>
              <a:rPr lang="en-US" altLang="zh-CN" dirty="0">
                <a:latin typeface="Times" panose="02020603050405020304" pitchFamily="18" charset="0"/>
                <a:cs typeface="Times" panose="02020603050405020304" pitchFamily="18" charset="0"/>
              </a:rPr>
              <a:t>U</a:t>
            </a:r>
            <a:r>
              <a:rPr lang="zh-CN" altLang="en-US" dirty="0">
                <a:latin typeface="Times" panose="02020603050405020304" pitchFamily="18" charset="0"/>
                <a:cs typeface="Times" panose="02020603050405020304" pitchFamily="18" charset="0"/>
              </a:rPr>
              <a:t>是什么？</a:t>
            </a:r>
          </a:p>
        </p:txBody>
      </p:sp>
      <mc:AlternateContent xmlns:mc="http://schemas.openxmlformats.org/markup-compatibility/2006" xmlns:a14="http://schemas.microsoft.com/office/drawing/2010/main">
        <mc:Choice Requires="a14">
          <p:sp>
            <p:nvSpPr>
              <p:cNvPr id="16" name="内容占位符 15"/>
              <p:cNvSpPr>
                <a:spLocks noGrp="1"/>
              </p:cNvSpPr>
              <p:nvPr>
                <p:ph idx="1"/>
              </p:nvPr>
            </p:nvSpPr>
            <p:spPr>
              <a:xfrm>
                <a:off x="457200" y="3266848"/>
                <a:ext cx="8229600" cy="1675798"/>
              </a:xfrm>
            </p:spPr>
            <p:txBody>
              <a:bodyPr>
                <a:normAutofit fontScale="85000" lnSpcReduction="20000"/>
              </a:bodyPr>
              <a:lstStyle/>
              <a:p>
                <a:r>
                  <a:rPr lang="en-US" altLang="zh-CN" b="0" i="0" dirty="0">
                    <a:solidFill>
                      <a:schemeClr val="tx1"/>
                    </a:solidFill>
                    <a:latin typeface="Cambria Math" panose="02040503050406030204" pitchFamily="18" charset="0"/>
                  </a:rPr>
                  <a:t>D: </a:t>
                </a:r>
                <a:r>
                  <a:rPr lang="zh-CN" altLang="en-US" b="0" i="0" dirty="0">
                    <a:solidFill>
                      <a:schemeClr val="tx1"/>
                    </a:solidFill>
                    <a:latin typeface="Cambria Math" panose="02040503050406030204" pitchFamily="18" charset="0"/>
                  </a:rPr>
                  <a:t>每一个文档由所有的</a:t>
                </a:r>
                <a:r>
                  <a:rPr lang="en-US" altLang="zh-CN" b="0" i="0" dirty="0">
                    <a:solidFill>
                      <a:srgbClr val="FF0000"/>
                    </a:solidFill>
                    <a:latin typeface="Cambria Math" panose="02040503050406030204" pitchFamily="18" charset="0"/>
                  </a:rPr>
                  <a:t>M</a:t>
                </a:r>
                <a:r>
                  <a:rPr lang="zh-CN" altLang="en-US" dirty="0">
                    <a:solidFill>
                      <a:srgbClr val="FF0000"/>
                    </a:solidFill>
                    <a:latin typeface="Cambria Math" panose="02040503050406030204" pitchFamily="18" charset="0"/>
                  </a:rPr>
                  <a:t>个</a:t>
                </a:r>
                <a:r>
                  <a:rPr lang="zh-CN" altLang="en-US" b="0" i="0" dirty="0">
                    <a:solidFill>
                      <a:srgbClr val="FF0000"/>
                    </a:solidFill>
                    <a:latin typeface="Cambria Math" panose="02040503050406030204" pitchFamily="18" charset="0"/>
                  </a:rPr>
                  <a:t>单词</a:t>
                </a:r>
                <a:r>
                  <a:rPr lang="zh-CN" altLang="en-US" b="0" i="0" dirty="0">
                    <a:solidFill>
                      <a:schemeClr val="tx1"/>
                    </a:solidFill>
                    <a:latin typeface="Cambria Math" panose="02040503050406030204" pitchFamily="18" charset="0"/>
                  </a:rPr>
                  <a:t>进行表示，每一个维度表示此单词是否在文档中出现的</a:t>
                </a:r>
                <a:r>
                  <a:rPr lang="en-US" altLang="zh-CN" b="0" i="0" dirty="0">
                    <a:solidFill>
                      <a:schemeClr val="tx1"/>
                    </a:solidFill>
                    <a:latin typeface="Cambria Math" panose="02040503050406030204" pitchFamily="18" charset="0"/>
                  </a:rPr>
                  <a:t>TF-IDF</a:t>
                </a:r>
              </a:p>
              <a:p>
                <a14:m>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b="1" i="0" smtClean="0">
                            <a:solidFill>
                              <a:schemeClr val="tx1"/>
                            </a:solidFill>
                            <a:latin typeface="Cambria Math" panose="02040503050406030204" pitchFamily="18" charset="0"/>
                          </a:rPr>
                          <m:t>𝐮</m:t>
                        </m:r>
                      </m:e>
                      <m:sub>
                        <m:r>
                          <m:rPr>
                            <m:sty m:val="p"/>
                          </m:rPr>
                          <a:rPr lang="en-US" altLang="zh-CN" b="0" i="0" smtClean="0">
                            <a:solidFill>
                              <a:schemeClr val="tx1"/>
                            </a:solidFill>
                            <a:latin typeface="Cambria Math" panose="02040503050406030204" pitchFamily="18" charset="0"/>
                          </a:rPr>
                          <m:t>i</m:t>
                        </m:r>
                      </m:sub>
                    </m:sSub>
                  </m:oMath>
                </a14:m>
                <a:r>
                  <a:rPr lang="zh-CN" altLang="en-US" dirty="0">
                    <a:solidFill>
                      <a:schemeClr val="tx1"/>
                    </a:solidFill>
                    <a:latin typeface="Times" panose="02020603050405020304" pitchFamily="18" charset="0"/>
                    <a:cs typeface="Times" panose="02020603050405020304" pitchFamily="18" charset="0"/>
                  </a:rPr>
                  <a:t>为</a:t>
                </a:r>
                <a:r>
                  <a:rPr lang="en-US" altLang="zh-CN" dirty="0">
                    <a:latin typeface="Times" panose="02020603050405020304" pitchFamily="18" charset="0"/>
                    <a:cs typeface="Times" panose="02020603050405020304" pitchFamily="18" charset="0"/>
                  </a:rPr>
                  <a:t>M</a:t>
                </a:r>
                <a:r>
                  <a:rPr lang="zh-CN" altLang="en-US" dirty="0">
                    <a:solidFill>
                      <a:schemeClr val="tx1"/>
                    </a:solidFill>
                    <a:latin typeface="Times" panose="02020603050405020304" pitchFamily="18" charset="0"/>
                    <a:cs typeface="Times" panose="02020603050405020304" pitchFamily="18" charset="0"/>
                  </a:rPr>
                  <a:t>维向量，每一个维度对应一个</a:t>
                </a:r>
                <a:r>
                  <a:rPr lang="zh-CN" altLang="en-US" dirty="0">
                    <a:solidFill>
                      <a:srgbClr val="FF0000"/>
                    </a:solidFill>
                    <a:latin typeface="Times" panose="02020603050405020304" pitchFamily="18" charset="0"/>
                    <a:cs typeface="Times" panose="02020603050405020304" pitchFamily="18" charset="0"/>
                  </a:rPr>
                  <a:t>单词</a:t>
                </a:r>
                <a:endParaRPr lang="en-US" altLang="zh-CN" dirty="0">
                  <a:solidFill>
                    <a:srgbClr val="FF0000"/>
                  </a:solidFill>
                  <a:latin typeface="Times" panose="02020603050405020304" pitchFamily="18" charset="0"/>
                  <a:cs typeface="Times" panose="02020603050405020304" pitchFamily="18" charset="0"/>
                </a:endParaRPr>
              </a:p>
              <a:p>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b="1" i="0" smtClean="0">
                            <a:solidFill>
                              <a:schemeClr val="tx1"/>
                            </a:solidFill>
                            <a:latin typeface="Cambria Math" panose="02040503050406030204" pitchFamily="18" charset="0"/>
                          </a:rPr>
                          <m:t>𝐮</m:t>
                        </m:r>
                      </m:e>
                      <m:sub>
                        <m:r>
                          <a:rPr lang="en-US" altLang="zh-CN" b="0" i="1" smtClean="0">
                            <a:solidFill>
                              <a:schemeClr val="tx1"/>
                            </a:solidFill>
                            <a:latin typeface="Cambria Math" panose="02040503050406030204" pitchFamily="18" charset="0"/>
                          </a:rPr>
                          <m:t>1</m:t>
                        </m:r>
                      </m:sub>
                    </m:sSub>
                  </m:oMath>
                </a14:m>
                <a:r>
                  <a:rPr lang="zh-CN" altLang="en-US" dirty="0">
                    <a:solidFill>
                      <a:schemeClr val="tx1"/>
                    </a:solidFill>
                    <a:latin typeface="Times" panose="02020603050405020304" pitchFamily="18" charset="0"/>
                    <a:cs typeface="Times" panose="02020603050405020304" pitchFamily="18" charset="0"/>
                  </a:rPr>
                  <a:t>对应由</a:t>
                </a:r>
                <a:r>
                  <a:rPr lang="zh-CN" altLang="en-US" dirty="0">
                    <a:solidFill>
                      <a:srgbClr val="FF0000"/>
                    </a:solidFill>
                    <a:latin typeface="Times" panose="02020603050405020304" pitchFamily="18" charset="0"/>
                    <a:cs typeface="Times" panose="02020603050405020304" pitchFamily="18" charset="0"/>
                  </a:rPr>
                  <a:t>所有单词张成的空间</a:t>
                </a:r>
                <a:r>
                  <a:rPr lang="zh-CN" altLang="en-US" dirty="0">
                    <a:solidFill>
                      <a:schemeClr val="tx1"/>
                    </a:solidFill>
                    <a:latin typeface="Times" panose="02020603050405020304" pitchFamily="18" charset="0"/>
                    <a:cs typeface="Times" panose="02020603050405020304" pitchFamily="18" charset="0"/>
                  </a:rPr>
                  <a:t>中，方差最大的方向</a:t>
                </a:r>
                <a:endParaRPr lang="en-US" altLang="zh-CN" dirty="0">
                  <a:solidFill>
                    <a:schemeClr val="tx1"/>
                  </a:solidFill>
                  <a:latin typeface="Times" panose="02020603050405020304" pitchFamily="18" charset="0"/>
                  <a:cs typeface="Times" panose="02020603050405020304" pitchFamily="18" charset="0"/>
                </a:endParaRPr>
              </a:p>
              <a:p>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b="1">
                            <a:solidFill>
                              <a:schemeClr val="tx1"/>
                            </a:solidFill>
                            <a:latin typeface="Cambria Math" panose="02040503050406030204" pitchFamily="18" charset="0"/>
                          </a:rPr>
                          <m:t>𝐮</m:t>
                        </m:r>
                      </m:e>
                      <m:sub>
                        <m:r>
                          <a:rPr lang="en-US" altLang="zh-CN" b="0" i="1" smtClean="0">
                            <a:solidFill>
                              <a:schemeClr val="tx1"/>
                            </a:solidFill>
                            <a:latin typeface="Cambria Math" panose="02040503050406030204" pitchFamily="18" charset="0"/>
                          </a:rPr>
                          <m:t>2</m:t>
                        </m:r>
                      </m:sub>
                    </m:sSub>
                  </m:oMath>
                </a14:m>
                <a:r>
                  <a:rPr lang="zh-CN" altLang="en-US" dirty="0">
                    <a:solidFill>
                      <a:schemeClr val="tx1"/>
                    </a:solidFill>
                    <a:latin typeface="Times" panose="02020603050405020304" pitchFamily="18" charset="0"/>
                    <a:cs typeface="Times" panose="02020603050405020304" pitchFamily="18" charset="0"/>
                  </a:rPr>
                  <a:t>对应与</a:t>
                </a:r>
                <a14:m>
                  <m:oMath xmlns:m="http://schemas.openxmlformats.org/officeDocument/2006/math">
                    <m:sSub>
                      <m:sSubPr>
                        <m:ctrlPr>
                          <a:rPr lang="en-US" altLang="zh-CN" i="1">
                            <a:latin typeface="Cambria Math" panose="02040503050406030204" pitchFamily="18" charset="0"/>
                          </a:rPr>
                        </m:ctrlPr>
                      </m:sSubPr>
                      <m:e>
                        <m:r>
                          <a:rPr lang="en-US" altLang="zh-CN" b="1">
                            <a:latin typeface="Cambria Math" panose="02040503050406030204" pitchFamily="18" charset="0"/>
                          </a:rPr>
                          <m:t>𝐮</m:t>
                        </m:r>
                      </m:e>
                      <m:sub>
                        <m:r>
                          <a:rPr lang="en-US" altLang="zh-CN" i="1">
                            <a:latin typeface="Cambria Math" panose="02040503050406030204" pitchFamily="18" charset="0"/>
                          </a:rPr>
                          <m:t>1</m:t>
                        </m:r>
                      </m:sub>
                    </m:sSub>
                  </m:oMath>
                </a14:m>
                <a:r>
                  <a:rPr lang="zh-CN" altLang="en-US" dirty="0">
                    <a:solidFill>
                      <a:schemeClr val="tx1"/>
                    </a:solidFill>
                    <a:latin typeface="Times" panose="02020603050405020304" pitchFamily="18" charset="0"/>
                    <a:cs typeface="Times" panose="02020603050405020304" pitchFamily="18" charset="0"/>
                  </a:rPr>
                  <a:t>垂直的所有方向中，方差最大的方向</a:t>
                </a:r>
                <a:endParaRPr lang="en-US" altLang="zh-CN" dirty="0">
                  <a:solidFill>
                    <a:schemeClr val="tx1"/>
                  </a:solidFill>
                  <a:latin typeface="Times" panose="02020603050405020304" pitchFamily="18" charset="0"/>
                  <a:cs typeface="Times" panose="02020603050405020304" pitchFamily="18" charset="0"/>
                </a:endParaRPr>
              </a:p>
              <a:p>
                <a:r>
                  <a:rPr lang="en-US" altLang="zh-CN" dirty="0">
                    <a:latin typeface="Times" panose="02020603050405020304" pitchFamily="18" charset="0"/>
                    <a:cs typeface="Times" panose="02020603050405020304" pitchFamily="18" charset="0"/>
                  </a:rPr>
                  <a:t>……</a:t>
                </a:r>
                <a:endParaRPr lang="zh-CN" altLang="en-US" dirty="0">
                  <a:solidFill>
                    <a:schemeClr val="tx1"/>
                  </a:solidFill>
                  <a:latin typeface="Times" panose="02020603050405020304" pitchFamily="18" charset="0"/>
                  <a:cs typeface="Times" panose="02020603050405020304" pitchFamily="18" charset="0"/>
                </a:endParaRPr>
              </a:p>
            </p:txBody>
          </p:sp>
        </mc:Choice>
        <mc:Fallback xmlns="">
          <p:sp>
            <p:nvSpPr>
              <p:cNvPr id="16" name="内容占位符 15"/>
              <p:cNvSpPr>
                <a:spLocks noGrp="1" noRot="1" noChangeAspect="1" noMove="1" noResize="1" noEditPoints="1" noAdjustHandles="1" noChangeArrowheads="1" noChangeShapeType="1" noTextEdit="1"/>
              </p:cNvSpPr>
              <p:nvPr>
                <p:ph idx="1"/>
              </p:nvPr>
            </p:nvSpPr>
            <p:spPr>
              <a:xfrm>
                <a:off x="457200" y="3266848"/>
                <a:ext cx="8229600" cy="1675798"/>
              </a:xfrm>
              <a:blipFill>
                <a:blip r:embed="rId2"/>
                <a:stretch>
                  <a:fillRect l="-463" t="-375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2F264DDB-364C-410E-A66B-B19CEFA5EF0F}" type="slidenum">
              <a:rPr lang="zh-CN" altLang="en-US" smtClean="0"/>
              <a:pPr/>
              <a:t>45</a:t>
            </a:fld>
            <a:endParaRPr lang="zh-CN" altLang="en-US"/>
          </a:p>
        </p:txBody>
      </p:sp>
      <p:pic>
        <p:nvPicPr>
          <p:cNvPr id="5" name="图片 4"/>
          <p:cNvPicPr>
            <a:picLocks noChangeAspect="1"/>
          </p:cNvPicPr>
          <p:nvPr/>
        </p:nvPicPr>
        <p:blipFill>
          <a:blip r:embed="rId3"/>
          <a:stretch>
            <a:fillRect/>
          </a:stretch>
        </p:blipFill>
        <p:spPr>
          <a:xfrm>
            <a:off x="2411760" y="1466789"/>
            <a:ext cx="4294212" cy="1557486"/>
          </a:xfrm>
          <a:prstGeom prst="rect">
            <a:avLst/>
          </a:prstGeom>
        </p:spPr>
      </p:pic>
      <p:sp>
        <p:nvSpPr>
          <p:cNvPr id="6" name="Rectangle 5"/>
          <p:cNvSpPr/>
          <p:nvPr/>
        </p:nvSpPr>
        <p:spPr>
          <a:xfrm>
            <a:off x="1984665" y="1522866"/>
            <a:ext cx="540533" cy="300082"/>
          </a:xfrm>
          <a:prstGeom prst="rect">
            <a:avLst/>
          </a:prstGeom>
        </p:spPr>
        <p:txBody>
          <a:bodyPr wrap="none">
            <a:spAutoFit/>
          </a:bodyPr>
          <a:lstStyle/>
          <a:p>
            <a:r>
              <a:rPr lang="en-US" sz="1350" dirty="0">
                <a:latin typeface="Times New Roman" pitchFamily="18" charset="0"/>
                <a:cs typeface="Times New Roman" pitchFamily="18" charset="0"/>
              </a:rPr>
              <a:t>word</a:t>
            </a:r>
            <a:endParaRPr lang="en-US" sz="1350" dirty="0"/>
          </a:p>
        </p:txBody>
      </p:sp>
      <p:sp>
        <p:nvSpPr>
          <p:cNvPr id="7" name="Line 9"/>
          <p:cNvSpPr>
            <a:spLocks noChangeShapeType="1"/>
          </p:cNvSpPr>
          <p:nvPr/>
        </p:nvSpPr>
        <p:spPr bwMode="auto">
          <a:xfrm>
            <a:off x="2144912" y="1765439"/>
            <a:ext cx="351812"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8" name="Rectangle 7"/>
          <p:cNvSpPr/>
          <p:nvPr/>
        </p:nvSpPr>
        <p:spPr>
          <a:xfrm>
            <a:off x="2320818" y="1157705"/>
            <a:ext cx="867545" cy="300082"/>
          </a:xfrm>
          <a:prstGeom prst="rect">
            <a:avLst/>
          </a:prstGeom>
        </p:spPr>
        <p:txBody>
          <a:bodyPr wrap="none">
            <a:spAutoFit/>
          </a:bodyPr>
          <a:lstStyle/>
          <a:p>
            <a:r>
              <a:rPr lang="en-US" sz="1350" dirty="0">
                <a:latin typeface="Times New Roman" pitchFamily="18" charset="0"/>
                <a:cs typeface="Times New Roman" pitchFamily="18" charset="0"/>
              </a:rPr>
              <a:t>document</a:t>
            </a:r>
            <a:endParaRPr lang="en-US" sz="1350" dirty="0"/>
          </a:p>
        </p:txBody>
      </p:sp>
      <p:sp>
        <p:nvSpPr>
          <p:cNvPr id="9" name="Line 15"/>
          <p:cNvSpPr>
            <a:spLocks noChangeShapeType="1"/>
          </p:cNvSpPr>
          <p:nvPr/>
        </p:nvSpPr>
        <p:spPr bwMode="auto">
          <a:xfrm rot="5400000">
            <a:off x="2610258" y="1499677"/>
            <a:ext cx="257440"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mc:AlternateContent xmlns:mc="http://schemas.openxmlformats.org/markup-compatibility/2006" xmlns:a14="http://schemas.microsoft.com/office/drawing/2010/main">
        <mc:Choice Requires="a14">
          <p:sp>
            <p:nvSpPr>
              <p:cNvPr id="10" name="矩形 9"/>
              <p:cNvSpPr/>
              <p:nvPr/>
            </p:nvSpPr>
            <p:spPr>
              <a:xfrm>
                <a:off x="3693226" y="897900"/>
                <a:ext cx="1805238" cy="5078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700" i="1">
                          <a:latin typeface="Cambria Math" panose="02040503050406030204" pitchFamily="18" charset="0"/>
                        </a:rPr>
                        <m:t>𝐷</m:t>
                      </m:r>
                      <m:r>
                        <a:rPr lang="en-US" altLang="zh-CN" sz="2700" i="1">
                          <a:latin typeface="Cambria Math" panose="02040503050406030204" pitchFamily="18" charset="0"/>
                        </a:rPr>
                        <m:t>=</m:t>
                      </m:r>
                      <m:r>
                        <a:rPr lang="en-US" altLang="zh-CN" sz="2700" i="1">
                          <a:solidFill>
                            <a:srgbClr val="FF0000"/>
                          </a:solidFill>
                          <a:latin typeface="Cambria Math" panose="02040503050406030204" pitchFamily="18" charset="0"/>
                        </a:rPr>
                        <m:t>𝑈</m:t>
                      </m:r>
                      <m:r>
                        <m:rPr>
                          <m:sty m:val="p"/>
                        </m:rPr>
                        <a:rPr lang="en-US" altLang="zh-CN" sz="2700">
                          <a:latin typeface="Cambria Math" panose="02040503050406030204" pitchFamily="18" charset="0"/>
                        </a:rPr>
                        <m:t>Σ</m:t>
                      </m:r>
                      <m:sSup>
                        <m:sSupPr>
                          <m:ctrlPr>
                            <a:rPr lang="en-US" altLang="zh-CN" sz="2700" i="1">
                              <a:latin typeface="Cambria Math" panose="02040503050406030204" pitchFamily="18" charset="0"/>
                            </a:rPr>
                          </m:ctrlPr>
                        </m:sSupPr>
                        <m:e>
                          <m:r>
                            <a:rPr lang="en-US" altLang="zh-CN" sz="2700" i="1">
                              <a:latin typeface="Cambria Math" panose="02040503050406030204" pitchFamily="18" charset="0"/>
                            </a:rPr>
                            <m:t>𝑉</m:t>
                          </m:r>
                        </m:e>
                        <m:sup>
                          <m:r>
                            <a:rPr lang="en-US" altLang="zh-CN" sz="2700" i="1">
                              <a:latin typeface="Cambria Math" panose="02040503050406030204" pitchFamily="18" charset="0"/>
                            </a:rPr>
                            <m:t>𝑇</m:t>
                          </m:r>
                        </m:sup>
                      </m:sSup>
                    </m:oMath>
                  </m:oMathPara>
                </a14:m>
                <a:endParaRPr lang="zh-CN" altLang="en-US" sz="2700" dirty="0"/>
              </a:p>
            </p:txBody>
          </p:sp>
        </mc:Choice>
        <mc:Fallback xmlns="">
          <p:sp>
            <p:nvSpPr>
              <p:cNvPr id="10" name="矩形 9"/>
              <p:cNvSpPr>
                <a:spLocks noRot="1" noChangeAspect="1" noMove="1" noResize="1" noEditPoints="1" noAdjustHandles="1" noChangeArrowheads="1" noChangeShapeType="1" noTextEdit="1"/>
              </p:cNvSpPr>
              <p:nvPr/>
            </p:nvSpPr>
            <p:spPr>
              <a:xfrm>
                <a:off x="3693226" y="897900"/>
                <a:ext cx="1805238" cy="507831"/>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26236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Times" panose="02020603050405020304" pitchFamily="18" charset="0"/>
                <a:cs typeface="Times" panose="02020603050405020304" pitchFamily="18" charset="0"/>
              </a:rPr>
              <a:t>理解</a:t>
            </a:r>
            <a:r>
              <a:rPr lang="en-US" altLang="zh-CN" dirty="0">
                <a:latin typeface="Times" panose="02020603050405020304" pitchFamily="18" charset="0"/>
                <a:cs typeface="Times" panose="02020603050405020304" pitchFamily="18" charset="0"/>
              </a:rPr>
              <a:t>LSI</a:t>
            </a:r>
            <a:r>
              <a:rPr lang="zh-CN" altLang="en-US" dirty="0">
                <a:latin typeface="Times" panose="02020603050405020304" pitchFamily="18" charset="0"/>
                <a:cs typeface="Times" panose="02020603050405020304" pitchFamily="18" charset="0"/>
              </a:rPr>
              <a:t>：右特征向量</a:t>
            </a:r>
            <a:r>
              <a:rPr lang="en-US" altLang="zh-CN" dirty="0">
                <a:latin typeface="Times" panose="02020603050405020304" pitchFamily="18" charset="0"/>
                <a:cs typeface="Times" panose="02020603050405020304" pitchFamily="18" charset="0"/>
              </a:rPr>
              <a:t>V</a:t>
            </a:r>
            <a:r>
              <a:rPr lang="zh-CN" altLang="en-US" dirty="0">
                <a:latin typeface="Times" panose="02020603050405020304" pitchFamily="18" charset="0"/>
                <a:cs typeface="Times" panose="02020603050405020304" pitchFamily="18" charset="0"/>
              </a:rPr>
              <a:t>是什么？</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57200" y="819149"/>
                <a:ext cx="8229600" cy="4227863"/>
              </a:xfrm>
            </p:spPr>
            <p:txBody>
              <a:bodyPr>
                <a:normAutofit fontScale="92500" lnSpcReduction="20000"/>
              </a:bodyPr>
              <a:lstStyle/>
              <a:p>
                <a:pPr marL="0" indent="0">
                  <a:buNone/>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𝐷</m:t>
                      </m:r>
                      <m:r>
                        <a:rPr lang="en-US" altLang="zh-CN" i="1" smtClean="0">
                          <a:latin typeface="Cambria Math" panose="02040503050406030204" pitchFamily="18" charset="0"/>
                        </a:rPr>
                        <m:t>=</m:t>
                      </m:r>
                      <m:r>
                        <a:rPr lang="en-US" altLang="zh-CN" i="1" smtClean="0">
                          <a:solidFill>
                            <a:schemeClr val="tx1"/>
                          </a:solidFill>
                          <a:latin typeface="Cambria Math" panose="02040503050406030204" pitchFamily="18" charset="0"/>
                        </a:rPr>
                        <m:t>𝑈</m:t>
                      </m:r>
                      <m:r>
                        <m:rPr>
                          <m:sty m:val="p"/>
                        </m:rPr>
                        <a:rPr lang="en-US" altLang="zh-CN">
                          <a:latin typeface="Cambria Math" panose="02040503050406030204" pitchFamily="18" charset="0"/>
                        </a:rPr>
                        <m:t>Σ</m:t>
                      </m:r>
                      <m:sSup>
                        <m:sSupPr>
                          <m:ctrlPr>
                            <a:rPr lang="en-US" altLang="zh-CN" i="1" smtClean="0">
                              <a:solidFill>
                                <a:srgbClr val="FF0000"/>
                              </a:solidFill>
                              <a:latin typeface="Cambria Math" panose="02040503050406030204" pitchFamily="18" charset="0"/>
                            </a:rPr>
                          </m:ctrlPr>
                        </m:sSupPr>
                        <m:e>
                          <m:r>
                            <a:rPr lang="en-US" altLang="zh-CN" i="1">
                              <a:solidFill>
                                <a:srgbClr val="FF0000"/>
                              </a:solidFill>
                              <a:latin typeface="Cambria Math" panose="02040503050406030204" pitchFamily="18" charset="0"/>
                            </a:rPr>
                            <m:t>𝑉</m:t>
                          </m:r>
                        </m:e>
                        <m:sup>
                          <m:r>
                            <a:rPr lang="en-US" altLang="zh-CN" i="1">
                              <a:solidFill>
                                <a:srgbClr val="FF0000"/>
                              </a:solidFill>
                              <a:latin typeface="Cambria Math" panose="02040503050406030204" pitchFamily="18" charset="0"/>
                            </a:rPr>
                            <m:t>𝑇</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i="1">
                              <a:latin typeface="Cambria Math" panose="02040503050406030204" pitchFamily="18" charset="0"/>
                            </a:rPr>
                            <m:t>𝐷</m:t>
                          </m:r>
                        </m:e>
                        <m:sup>
                          <m:r>
                            <a:rPr lang="en-US" altLang="zh-CN" b="0" i="1" smtClean="0">
                              <a:latin typeface="Cambria Math" panose="02040503050406030204" pitchFamily="18" charset="0"/>
                            </a:rPr>
                            <m:t>𝑇</m:t>
                          </m:r>
                        </m:sup>
                      </m:sSup>
                      <m:r>
                        <a:rPr lang="en-US" altLang="zh-CN" i="1">
                          <a:latin typeface="Cambria Math" panose="02040503050406030204" pitchFamily="18" charset="0"/>
                        </a:rPr>
                        <m:t>=</m:t>
                      </m:r>
                      <m:r>
                        <a:rPr lang="en-US" altLang="zh-CN" i="1" smtClean="0">
                          <a:solidFill>
                            <a:srgbClr val="FF0000"/>
                          </a:solidFill>
                          <a:latin typeface="Cambria Math" panose="02040503050406030204" pitchFamily="18" charset="0"/>
                        </a:rPr>
                        <m:t>𝑉</m:t>
                      </m:r>
                      <m:r>
                        <m:rPr>
                          <m:sty m:val="p"/>
                        </m:rPr>
                        <a:rPr lang="en-US" altLang="zh-CN">
                          <a:latin typeface="Cambria Math" panose="02040503050406030204" pitchFamily="18" charset="0"/>
                        </a:rPr>
                        <m:t>Σ</m:t>
                      </m:r>
                      <m:sSup>
                        <m:sSupPr>
                          <m:ctrlPr>
                            <a:rPr lang="en-US" altLang="zh-CN" b="0" i="1" smtClean="0">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𝑈</m:t>
                          </m:r>
                        </m:e>
                        <m:sup>
                          <m:r>
                            <m:rPr>
                              <m:sty m:val="p"/>
                            </m:rPr>
                            <a:rPr lang="en-US" altLang="zh-CN" b="0" i="0" smtClean="0">
                              <a:solidFill>
                                <a:schemeClr val="tx1"/>
                              </a:solidFill>
                              <a:latin typeface="Cambria Math" panose="02040503050406030204" pitchFamily="18" charset="0"/>
                            </a:rPr>
                            <m:t>T</m:t>
                          </m:r>
                        </m:sup>
                      </m:sSup>
                    </m:oMath>
                  </m:oMathPara>
                </a14:m>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endParaRPr lang="en-US" altLang="zh-CN" dirty="0"/>
              </a:p>
              <a:p>
                <a:r>
                  <a:rPr lang="zh-CN" altLang="en-US" dirty="0"/>
                  <a:t>从另外一个角度看待被分解矩阵</a:t>
                </a:r>
                <a14:m>
                  <m:oMath xmlns:m="http://schemas.openxmlformats.org/officeDocument/2006/math">
                    <m:r>
                      <a:rPr lang="en-US" altLang="zh-CN" i="1">
                        <a:latin typeface="Cambria Math" panose="02040503050406030204" pitchFamily="18" charset="0"/>
                      </a:rPr>
                      <m:t>𝐷</m:t>
                    </m:r>
                  </m:oMath>
                </a14:m>
                <a:r>
                  <a:rPr lang="en-US" altLang="zh-CN" dirty="0"/>
                  <a:t>:</a:t>
                </a:r>
                <a:r>
                  <a:rPr lang="zh-CN" altLang="en-US" dirty="0">
                    <a:latin typeface="Cambria Math" panose="02040503050406030204" pitchFamily="18" charset="0"/>
                  </a:rPr>
                  <a:t>每一个</a:t>
                </a:r>
                <a:r>
                  <a:rPr lang="zh-CN" altLang="en-US" dirty="0">
                    <a:solidFill>
                      <a:srgbClr val="FF0000"/>
                    </a:solidFill>
                    <a:latin typeface="Cambria Math" panose="02040503050406030204" pitchFamily="18" charset="0"/>
                  </a:rPr>
                  <a:t>单词</a:t>
                </a:r>
                <a:r>
                  <a:rPr lang="zh-CN" altLang="en-US" dirty="0">
                    <a:latin typeface="Cambria Math" panose="02040503050406030204" pitchFamily="18" charset="0"/>
                  </a:rPr>
                  <a:t>由所有的</a:t>
                </a:r>
                <a:r>
                  <a:rPr lang="en-US" altLang="zh-CN" dirty="0">
                    <a:solidFill>
                      <a:srgbClr val="FF0000"/>
                    </a:solidFill>
                    <a:latin typeface="Cambria Math" panose="02040503050406030204" pitchFamily="18" charset="0"/>
                  </a:rPr>
                  <a:t>N</a:t>
                </a:r>
                <a:r>
                  <a:rPr lang="zh-CN" altLang="en-US" dirty="0">
                    <a:solidFill>
                      <a:srgbClr val="FF0000"/>
                    </a:solidFill>
                    <a:latin typeface="Cambria Math" panose="02040503050406030204" pitchFamily="18" charset="0"/>
                  </a:rPr>
                  <a:t>个文档</a:t>
                </a:r>
                <a:r>
                  <a:rPr lang="zh-CN" altLang="en-US" dirty="0">
                    <a:latin typeface="Cambria Math" panose="02040503050406030204" pitchFamily="18" charset="0"/>
                  </a:rPr>
                  <a:t>进行表示，每一个维度表示此文档中是否出现该单词</a:t>
                </a:r>
                <a:endParaRPr lang="en-US" altLang="zh-CN" dirty="0">
                  <a:latin typeface="Cambria Math" panose="02040503050406030204" pitchFamily="18" charset="0"/>
                </a:endParaRPr>
              </a:p>
              <a:p>
                <a14:m>
                  <m:oMath xmlns:m="http://schemas.openxmlformats.org/officeDocument/2006/math">
                    <m:sSub>
                      <m:sSubPr>
                        <m:ctrlPr>
                          <a:rPr lang="en-US" altLang="zh-CN" i="1">
                            <a:latin typeface="Cambria Math" panose="02040503050406030204" pitchFamily="18" charset="0"/>
                          </a:rPr>
                        </m:ctrlPr>
                      </m:sSubPr>
                      <m:e>
                        <m:r>
                          <a:rPr lang="en-US" altLang="zh-CN" b="1" i="0" smtClean="0">
                            <a:latin typeface="Cambria Math" panose="02040503050406030204" pitchFamily="18" charset="0"/>
                          </a:rPr>
                          <m:t>𝐯</m:t>
                        </m:r>
                      </m:e>
                      <m:sub>
                        <m:r>
                          <m:rPr>
                            <m:sty m:val="p"/>
                          </m:rPr>
                          <a:rPr lang="en-US" altLang="zh-CN">
                            <a:latin typeface="Cambria Math" panose="02040503050406030204" pitchFamily="18" charset="0"/>
                          </a:rPr>
                          <m:t>i</m:t>
                        </m:r>
                      </m:sub>
                    </m:sSub>
                  </m:oMath>
                </a14:m>
                <a:r>
                  <a:rPr lang="zh-CN" altLang="en-US" dirty="0">
                    <a:latin typeface="Times" panose="02020603050405020304" pitchFamily="18" charset="0"/>
                    <a:cs typeface="Times" panose="02020603050405020304" pitchFamily="18" charset="0"/>
                  </a:rPr>
                  <a:t>为</a:t>
                </a:r>
                <a:r>
                  <a:rPr lang="en-US" altLang="zh-CN" dirty="0">
                    <a:latin typeface="Times" panose="02020603050405020304" pitchFamily="18" charset="0"/>
                    <a:cs typeface="Times" panose="02020603050405020304" pitchFamily="18" charset="0"/>
                  </a:rPr>
                  <a:t>N</a:t>
                </a:r>
                <a:r>
                  <a:rPr lang="zh-CN" altLang="en-US" dirty="0">
                    <a:latin typeface="Times" panose="02020603050405020304" pitchFamily="18" charset="0"/>
                    <a:cs typeface="Times" panose="02020603050405020304" pitchFamily="18" charset="0"/>
                  </a:rPr>
                  <a:t>维向量，每一个维度对应一个</a:t>
                </a:r>
                <a:r>
                  <a:rPr lang="zh-CN" altLang="en-US" dirty="0">
                    <a:solidFill>
                      <a:srgbClr val="FF0000"/>
                    </a:solidFill>
                    <a:latin typeface="Times" panose="02020603050405020304" pitchFamily="18" charset="0"/>
                    <a:cs typeface="Times" panose="02020603050405020304" pitchFamily="18" charset="0"/>
                  </a:rPr>
                  <a:t>文档</a:t>
                </a:r>
                <a:endParaRPr lang="en-US" altLang="zh-CN" dirty="0">
                  <a:solidFill>
                    <a:srgbClr val="FF0000"/>
                  </a:solidFill>
                  <a:latin typeface="Times" panose="02020603050405020304" pitchFamily="18" charset="0"/>
                  <a:cs typeface="Times" panose="02020603050405020304" pitchFamily="18" charset="0"/>
                </a:endParaRPr>
              </a:p>
              <a:p>
                <a14:m>
                  <m:oMath xmlns:m="http://schemas.openxmlformats.org/officeDocument/2006/math">
                    <m:sSub>
                      <m:sSubPr>
                        <m:ctrlPr>
                          <a:rPr lang="en-US" altLang="zh-CN" i="1">
                            <a:latin typeface="Cambria Math" panose="02040503050406030204" pitchFamily="18" charset="0"/>
                          </a:rPr>
                        </m:ctrlPr>
                      </m:sSubPr>
                      <m:e>
                        <m:r>
                          <a:rPr lang="en-US" altLang="zh-CN" b="1" i="0" smtClean="0">
                            <a:latin typeface="Cambria Math" panose="02040503050406030204" pitchFamily="18" charset="0"/>
                          </a:rPr>
                          <m:t>𝐯</m:t>
                        </m:r>
                      </m:e>
                      <m:sub>
                        <m:r>
                          <a:rPr lang="en-US" altLang="zh-CN" i="1">
                            <a:latin typeface="Cambria Math" panose="02040503050406030204" pitchFamily="18" charset="0"/>
                          </a:rPr>
                          <m:t>1</m:t>
                        </m:r>
                      </m:sub>
                    </m:sSub>
                  </m:oMath>
                </a14:m>
                <a:r>
                  <a:rPr lang="zh-CN" altLang="en-US" dirty="0">
                    <a:latin typeface="Times" panose="02020603050405020304" pitchFamily="18" charset="0"/>
                    <a:cs typeface="Times" panose="02020603050405020304" pitchFamily="18" charset="0"/>
                  </a:rPr>
                  <a:t>对应由</a:t>
                </a:r>
                <a:r>
                  <a:rPr lang="zh-CN" altLang="en-US" dirty="0">
                    <a:solidFill>
                      <a:srgbClr val="FF0000"/>
                    </a:solidFill>
                    <a:latin typeface="Times" panose="02020603050405020304" pitchFamily="18" charset="0"/>
                    <a:cs typeface="Times" panose="02020603050405020304" pitchFamily="18" charset="0"/>
                  </a:rPr>
                  <a:t>所有文档张成的空间</a:t>
                </a:r>
                <a:r>
                  <a:rPr lang="zh-CN" altLang="en-US" dirty="0">
                    <a:latin typeface="Times" panose="02020603050405020304" pitchFamily="18" charset="0"/>
                    <a:cs typeface="Times" panose="02020603050405020304" pitchFamily="18" charset="0"/>
                  </a:rPr>
                  <a:t>中，方差最大的方向</a:t>
                </a:r>
                <a:endParaRPr lang="en-US" altLang="zh-CN" dirty="0">
                  <a:latin typeface="Times" panose="02020603050405020304" pitchFamily="18" charset="0"/>
                  <a:cs typeface="Times" panose="02020603050405020304" pitchFamily="18" charset="0"/>
                </a:endParaRPr>
              </a:p>
              <a:p>
                <a14:m>
                  <m:oMath xmlns:m="http://schemas.openxmlformats.org/officeDocument/2006/math">
                    <m:sSub>
                      <m:sSubPr>
                        <m:ctrlPr>
                          <a:rPr lang="en-US" altLang="zh-CN" i="1">
                            <a:latin typeface="Cambria Math" panose="02040503050406030204" pitchFamily="18" charset="0"/>
                          </a:rPr>
                        </m:ctrlPr>
                      </m:sSubPr>
                      <m:e>
                        <m:r>
                          <a:rPr lang="en-US" altLang="zh-CN" b="1" i="0" smtClean="0">
                            <a:latin typeface="Cambria Math" panose="02040503050406030204" pitchFamily="18" charset="0"/>
                          </a:rPr>
                          <m:t>𝐯</m:t>
                        </m:r>
                      </m:e>
                      <m:sub>
                        <m:r>
                          <a:rPr lang="en-US" altLang="zh-CN" i="1">
                            <a:latin typeface="Cambria Math" panose="02040503050406030204" pitchFamily="18" charset="0"/>
                          </a:rPr>
                          <m:t>2</m:t>
                        </m:r>
                      </m:sub>
                    </m:sSub>
                  </m:oMath>
                </a14:m>
                <a:r>
                  <a:rPr lang="zh-CN" altLang="en-US" dirty="0">
                    <a:latin typeface="Times" panose="02020603050405020304" pitchFamily="18" charset="0"/>
                    <a:cs typeface="Times" panose="02020603050405020304" pitchFamily="18" charset="0"/>
                  </a:rPr>
                  <a:t>对应与</a:t>
                </a:r>
                <a14:m>
                  <m:oMath xmlns:m="http://schemas.openxmlformats.org/officeDocument/2006/math">
                    <m:sSub>
                      <m:sSubPr>
                        <m:ctrlPr>
                          <a:rPr lang="en-US" altLang="zh-CN" i="1">
                            <a:latin typeface="Cambria Math" panose="02040503050406030204" pitchFamily="18" charset="0"/>
                          </a:rPr>
                        </m:ctrlPr>
                      </m:sSubPr>
                      <m:e>
                        <m:r>
                          <a:rPr lang="en-US" altLang="zh-CN" b="1" i="0" smtClean="0">
                            <a:latin typeface="Cambria Math" panose="02040503050406030204" pitchFamily="18" charset="0"/>
                          </a:rPr>
                          <m:t>𝐯</m:t>
                        </m:r>
                      </m:e>
                      <m:sub>
                        <m:r>
                          <a:rPr lang="en-US" altLang="zh-CN" i="1">
                            <a:latin typeface="Cambria Math" panose="02040503050406030204" pitchFamily="18" charset="0"/>
                          </a:rPr>
                          <m:t>1</m:t>
                        </m:r>
                      </m:sub>
                    </m:sSub>
                  </m:oMath>
                </a14:m>
                <a:r>
                  <a:rPr lang="zh-CN" altLang="en-US" dirty="0">
                    <a:latin typeface="Times" panose="02020603050405020304" pitchFamily="18" charset="0"/>
                    <a:cs typeface="Times" panose="02020603050405020304" pitchFamily="18" charset="0"/>
                  </a:rPr>
                  <a:t>垂直的所有方向中，方差最大的方向</a:t>
                </a:r>
                <a:endParaRPr lang="en-US" altLang="zh-CN" dirty="0">
                  <a:latin typeface="Times" panose="02020603050405020304" pitchFamily="18" charset="0"/>
                  <a:cs typeface="Times" panose="02020603050405020304" pitchFamily="18" charset="0"/>
                </a:endParaRPr>
              </a:p>
              <a:p>
                <a:r>
                  <a:rPr lang="en-US" altLang="zh-CN" dirty="0">
                    <a:latin typeface="Times" panose="02020603050405020304" pitchFamily="18" charset="0"/>
                  </a:rPr>
                  <a:t>……</a:t>
                </a:r>
                <a:endParaRPr lang="en-US" altLang="zh-CN" dirty="0">
                  <a:latin typeface="Cambria Math" panose="02040503050406030204" pitchFamily="18" charset="0"/>
                </a:endParaRPr>
              </a:p>
              <a:p>
                <a:pPr lvl="1"/>
                <a:endParaRPr lang="en-US" altLang="zh-CN" dirty="0"/>
              </a:p>
              <a:p>
                <a:pPr lvl="1"/>
                <a:endParaRPr lang="en-US" altLang="zh-CN" dirty="0"/>
              </a:p>
              <a:p>
                <a:pPr lvl="1"/>
                <a:endParaRPr lang="en-US" altLang="zh-CN" dirty="0"/>
              </a:p>
              <a:p>
                <a:pPr lvl="1"/>
                <a:endParaRPr lang="en-US" altLang="zh-CN" dirty="0"/>
              </a:p>
              <a:p>
                <a:pPr marL="342900" lvl="1"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57200" y="819149"/>
                <a:ext cx="8229600" cy="4227863"/>
              </a:xfrm>
              <a:blipFill>
                <a:blip r:embed="rId2"/>
                <a:stretch>
                  <a:fillRect l="-617" r="-3549" b="-119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2F264DDB-364C-410E-A66B-B19CEFA5EF0F}" type="slidenum">
              <a:rPr lang="zh-CN" altLang="en-US" smtClean="0"/>
              <a:pPr/>
              <a:t>46</a:t>
            </a:fld>
            <a:endParaRPr lang="zh-CN" altLang="en-US"/>
          </a:p>
        </p:txBody>
      </p:sp>
      <p:pic>
        <p:nvPicPr>
          <p:cNvPr id="10" name="图片 9"/>
          <p:cNvPicPr>
            <a:picLocks noChangeAspect="1"/>
          </p:cNvPicPr>
          <p:nvPr/>
        </p:nvPicPr>
        <p:blipFill>
          <a:blip r:embed="rId3"/>
          <a:stretch>
            <a:fillRect/>
          </a:stretch>
        </p:blipFill>
        <p:spPr>
          <a:xfrm>
            <a:off x="2466523" y="1483867"/>
            <a:ext cx="4020362" cy="1458162"/>
          </a:xfrm>
          <a:prstGeom prst="rect">
            <a:avLst/>
          </a:prstGeom>
        </p:spPr>
      </p:pic>
      <p:sp>
        <p:nvSpPr>
          <p:cNvPr id="11" name="Rectangle 5"/>
          <p:cNvSpPr/>
          <p:nvPr/>
        </p:nvSpPr>
        <p:spPr>
          <a:xfrm>
            <a:off x="2039428" y="1539944"/>
            <a:ext cx="540533" cy="300082"/>
          </a:xfrm>
          <a:prstGeom prst="rect">
            <a:avLst/>
          </a:prstGeom>
        </p:spPr>
        <p:txBody>
          <a:bodyPr wrap="none">
            <a:spAutoFit/>
          </a:bodyPr>
          <a:lstStyle/>
          <a:p>
            <a:r>
              <a:rPr lang="en-US" sz="1350" dirty="0">
                <a:latin typeface="Times New Roman" pitchFamily="18" charset="0"/>
                <a:cs typeface="Times New Roman" pitchFamily="18" charset="0"/>
              </a:rPr>
              <a:t>word</a:t>
            </a:r>
            <a:endParaRPr lang="en-US" sz="1350" dirty="0"/>
          </a:p>
        </p:txBody>
      </p:sp>
      <p:sp>
        <p:nvSpPr>
          <p:cNvPr id="12" name="Line 9"/>
          <p:cNvSpPr>
            <a:spLocks noChangeShapeType="1"/>
          </p:cNvSpPr>
          <p:nvPr/>
        </p:nvSpPr>
        <p:spPr bwMode="auto">
          <a:xfrm>
            <a:off x="2199675" y="1782517"/>
            <a:ext cx="351812"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3" name="Rectangle 7"/>
          <p:cNvSpPr/>
          <p:nvPr/>
        </p:nvSpPr>
        <p:spPr>
          <a:xfrm>
            <a:off x="2375581" y="1174784"/>
            <a:ext cx="867545" cy="300082"/>
          </a:xfrm>
          <a:prstGeom prst="rect">
            <a:avLst/>
          </a:prstGeom>
        </p:spPr>
        <p:txBody>
          <a:bodyPr wrap="none">
            <a:spAutoFit/>
          </a:bodyPr>
          <a:lstStyle/>
          <a:p>
            <a:r>
              <a:rPr lang="en-US" sz="1350" dirty="0">
                <a:latin typeface="Times New Roman" pitchFamily="18" charset="0"/>
                <a:cs typeface="Times New Roman" pitchFamily="18" charset="0"/>
              </a:rPr>
              <a:t>document</a:t>
            </a:r>
            <a:endParaRPr lang="en-US" sz="1350" dirty="0"/>
          </a:p>
        </p:txBody>
      </p:sp>
      <p:sp>
        <p:nvSpPr>
          <p:cNvPr id="14" name="Line 15"/>
          <p:cNvSpPr>
            <a:spLocks noChangeShapeType="1"/>
          </p:cNvSpPr>
          <p:nvPr/>
        </p:nvSpPr>
        <p:spPr bwMode="auto">
          <a:xfrm rot="5400000">
            <a:off x="2665021" y="1516755"/>
            <a:ext cx="257440"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Tree>
    <p:extLst>
      <p:ext uri="{BB962C8B-B14F-4D97-AF65-F5344CB8AC3E}">
        <p14:creationId xmlns:p14="http://schemas.microsoft.com/office/powerpoint/2010/main" val="2609746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Times New Roman" panose="02020603050405020304" pitchFamily="18" charset="0"/>
                <a:cs typeface="Times New Roman" panose="02020603050405020304" pitchFamily="18" charset="0"/>
              </a:rPr>
              <a:t>理解</a:t>
            </a:r>
            <a:r>
              <a:rPr lang="en-US" altLang="zh-CN" dirty="0">
                <a:latin typeface="Times New Roman" panose="02020603050405020304" pitchFamily="18" charset="0"/>
                <a:cs typeface="Times New Roman" panose="02020603050405020304" pitchFamily="18" charset="0"/>
              </a:rPr>
              <a:t>LSI</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LSI</a:t>
            </a:r>
            <a:r>
              <a:rPr lang="zh-CN" altLang="en-US" dirty="0">
                <a:latin typeface="Times New Roman" panose="02020603050405020304" pitchFamily="18" charset="0"/>
                <a:cs typeface="Times New Roman" panose="02020603050405020304" pitchFamily="18" charset="0"/>
              </a:rPr>
              <a:t>的输出</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92500" lnSpcReduction="20000"/>
              </a:bodyPr>
              <a:lstStyle/>
              <a:p>
                <a:r>
                  <a:rPr lang="zh-CN" altLang="en-US" dirty="0">
                    <a:latin typeface="Times New Roman" panose="02020603050405020304" pitchFamily="18" charset="0"/>
                    <a:cs typeface="Times New Roman" panose="02020603050405020304" pitchFamily="18" charset="0"/>
                  </a:rPr>
                  <a:t>矩阵</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𝑈</m:t>
                        </m:r>
                      </m:e>
                      <m:sub>
                        <m:r>
                          <m:rPr>
                            <m:sty m:val="p"/>
                          </m:rPr>
                          <a:rPr lang="en-US" altLang="zh-CN" b="0" i="0" smtClean="0">
                            <a:latin typeface="Cambria Math" panose="02040503050406030204" pitchFamily="18" charset="0"/>
                          </a:rPr>
                          <m:t>M</m:t>
                        </m:r>
                        <m:r>
                          <a:rPr lang="en-US" altLang="zh-CN" b="0" i="1" smtClean="0">
                            <a:latin typeface="Cambria Math" panose="02040503050406030204" pitchFamily="18" charset="0"/>
                          </a:rPr>
                          <m:t>×</m:t>
                        </m:r>
                        <m:r>
                          <a:rPr lang="en-US" altLang="zh-CN" b="0" i="1" smtClean="0">
                            <a:latin typeface="Cambria Math" panose="02040503050406030204" pitchFamily="18" charset="0"/>
                          </a:rPr>
                          <m:t>𝐾</m:t>
                        </m:r>
                      </m:sub>
                    </m:sSub>
                    <m:r>
                      <a:rPr lang="en-US" altLang="zh-CN" b="0" i="0" smtClean="0">
                        <a:latin typeface="Cambria Math" panose="02040503050406030204" pitchFamily="18" charset="0"/>
                      </a:rPr>
                      <m:t>=</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1" i="0" smtClean="0">
                            <a:latin typeface="Cambria Math" panose="02040503050406030204" pitchFamily="18" charset="0"/>
                          </a:rPr>
                          <m:t>𝐮</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1">
                            <a:latin typeface="Cambria Math" panose="02040503050406030204" pitchFamily="18" charset="0"/>
                          </a:rPr>
                          <m:t>𝐮</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1">
                            <a:latin typeface="Cambria Math" panose="02040503050406030204" pitchFamily="18" charset="0"/>
                          </a:rPr>
                          <m:t>𝐮</m:t>
                        </m:r>
                      </m:e>
                      <m:sub>
                        <m:r>
                          <a:rPr lang="en-US" altLang="zh-CN" b="0" i="1" smtClean="0">
                            <a:latin typeface="Cambria Math" panose="02040503050406030204" pitchFamily="18" charset="0"/>
                          </a:rPr>
                          <m:t>𝐾</m:t>
                        </m:r>
                      </m:sub>
                    </m:sSub>
                    <m:r>
                      <a:rPr lang="en-US" altLang="zh-CN" b="0" i="1" smtClean="0">
                        <a:latin typeface="Cambria Math" panose="02040503050406030204" pitchFamily="18" charset="0"/>
                      </a:rPr>
                      <m:t>]</m:t>
                    </m:r>
                  </m:oMath>
                </a14:m>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由于对应的特征根</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𝑖</m:t>
                        </m:r>
                      </m:sub>
                    </m:sSub>
                  </m:oMath>
                </a14:m>
                <a:r>
                  <a:rPr lang="zh-CN" altLang="en-US" dirty="0">
                    <a:latin typeface="Times New Roman" panose="02020603050405020304" pitchFamily="18" charset="0"/>
                    <a:cs typeface="Times New Roman" panose="02020603050405020304" pitchFamily="18" charset="0"/>
                  </a:rPr>
                  <a:t>为</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，其余</a:t>
                </a:r>
                <a14:m>
                  <m:oMath xmlns:m="http://schemas.openxmlformats.org/officeDocument/2006/math">
                    <m:r>
                      <a:rPr lang="en-US" altLang="zh-CN" i="1" dirty="0" smtClean="0">
                        <a:latin typeface="Cambria Math" panose="02040503050406030204" pitchFamily="18" charset="0"/>
                      </a:rPr>
                      <m:t>𝑁</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𝐾</m:t>
                    </m:r>
                  </m:oMath>
                </a14:m>
                <a:r>
                  <a:rPr lang="zh-CN" altLang="en-US" dirty="0">
                    <a:latin typeface="Times New Roman" panose="02020603050405020304" pitchFamily="18" charset="0"/>
                    <a:cs typeface="Times New Roman" panose="02020603050405020304" pitchFamily="18" charset="0"/>
                  </a:rPr>
                  <a:t>个特征向量对计算不造成影响</a:t>
                </a:r>
                <a:endParaRPr lang="en-US" altLang="zh-CN" dirty="0">
                  <a:latin typeface="Times New Roman" panose="02020603050405020304" pitchFamily="18" charset="0"/>
                  <a:cs typeface="Times New Roman" panose="02020603050405020304" pitchFamily="18" charset="0"/>
                </a:endParaRPr>
              </a:p>
              <a:p>
                <a:pPr lvl="1"/>
                <a14:m>
                  <m:oMath xmlns:m="http://schemas.openxmlformats.org/officeDocument/2006/math">
                    <m:sSub>
                      <m:sSubPr>
                        <m:ctrlPr>
                          <a:rPr lang="en-US" altLang="zh-CN" i="1">
                            <a:latin typeface="Cambria Math" panose="02040503050406030204" pitchFamily="18" charset="0"/>
                          </a:rPr>
                        </m:ctrlPr>
                      </m:sSubPr>
                      <m:e>
                        <m:r>
                          <a:rPr lang="en-US" altLang="zh-CN" b="1">
                            <a:latin typeface="Cambria Math" panose="02040503050406030204" pitchFamily="18" charset="0"/>
                          </a:rPr>
                          <m:t>𝐮</m:t>
                        </m:r>
                      </m:e>
                      <m:sub>
                        <m:r>
                          <a:rPr lang="en-US" altLang="zh-CN" b="1" i="1" smtClean="0">
                            <a:latin typeface="Cambria Math" panose="02040503050406030204" pitchFamily="18" charset="0"/>
                          </a:rPr>
                          <m:t>𝒌</m:t>
                        </m:r>
                      </m:sub>
                    </m:sSub>
                  </m:oMath>
                </a14:m>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第</a:t>
                </a:r>
                <a:r>
                  <a:rPr lang="en-US" altLang="zh-CN"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个话题，由带权的词向量组成</a:t>
                </a:r>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矩阵</a:t>
                </a:r>
                <a14:m>
                  <m:oMath xmlns:m="http://schemas.openxmlformats.org/officeDocument/2006/math">
                    <m:r>
                      <a:rPr lang="en-US" altLang="zh-CN" b="0" i="1" smtClean="0">
                        <a:latin typeface="Cambria Math" panose="02040503050406030204" pitchFamily="18" charset="0"/>
                      </a:rPr>
                      <m:t>𝑉</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begChr m:val="["/>
                            <m:endChr m:val="]"/>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1" i="0" smtClean="0">
                                    <a:latin typeface="Cambria Math" panose="02040503050406030204" pitchFamily="18" charset="0"/>
                                  </a:rPr>
                                  <m:t>𝐯</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𝑇</m:t>
                                </m:r>
                              </m:sup>
                            </m:sSubSup>
                            <m:r>
                              <a:rPr lang="en-US" altLang="zh-CN" b="0" i="1" smtClean="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b="1">
                                    <a:latin typeface="Cambria Math" panose="02040503050406030204" pitchFamily="18" charset="0"/>
                                  </a:rPr>
                                  <m:t>𝐯</m:t>
                                </m:r>
                              </m:e>
                              <m:sub>
                                <m:r>
                                  <a:rPr lang="en-US" altLang="zh-CN" b="0" i="1" smtClean="0">
                                    <a:latin typeface="Cambria Math" panose="02040503050406030204" pitchFamily="18" charset="0"/>
                                  </a:rPr>
                                  <m:t>𝑁</m:t>
                                </m:r>
                              </m:sub>
                              <m:sup>
                                <m:r>
                                  <a:rPr lang="en-US" altLang="zh-CN" i="1">
                                    <a:latin typeface="Cambria Math" panose="02040503050406030204" pitchFamily="18" charset="0"/>
                                  </a:rPr>
                                  <m:t>𝑇</m:t>
                                </m:r>
                              </m:sup>
                            </m:sSubSup>
                          </m:e>
                        </m:d>
                      </m:e>
                      <m:sup/>
                    </m:sSup>
                  </m:oMath>
                </a14:m>
                <a:endParaRPr lang="en-US" altLang="zh-CN" dirty="0">
                  <a:latin typeface="Times New Roman" panose="02020603050405020304" pitchFamily="18" charset="0"/>
                  <a:cs typeface="Times New Roman" panose="02020603050405020304" pitchFamily="18" charset="0"/>
                </a:endParaRPr>
              </a:p>
              <a:p>
                <a:pPr lvl="1"/>
                <a14:m>
                  <m:oMath xmlns:m="http://schemas.openxmlformats.org/officeDocument/2006/math">
                    <m:sSubSup>
                      <m:sSubSupPr>
                        <m:ctrlPr>
                          <a:rPr lang="en-US" altLang="zh-CN" i="1">
                            <a:latin typeface="Cambria Math" panose="02040503050406030204" pitchFamily="18" charset="0"/>
                          </a:rPr>
                        </m:ctrlPr>
                      </m:sSubSupPr>
                      <m:e>
                        <m:r>
                          <a:rPr lang="en-US" altLang="zh-CN" b="1">
                            <a:latin typeface="Cambria Math" panose="02040503050406030204" pitchFamily="18" charset="0"/>
                          </a:rPr>
                          <m:t>𝐯</m:t>
                        </m:r>
                      </m:e>
                      <m:sub>
                        <m:r>
                          <a:rPr lang="en-US" altLang="zh-CN" b="1" i="1" smtClean="0">
                            <a:latin typeface="Cambria Math" panose="02040503050406030204" pitchFamily="18" charset="0"/>
                          </a:rPr>
                          <m:t>𝒏</m:t>
                        </m:r>
                      </m:sub>
                      <m:sup>
                        <m:r>
                          <a:rPr lang="en-US" altLang="zh-CN" i="1">
                            <a:latin typeface="Cambria Math" panose="02040503050406030204" pitchFamily="18" charset="0"/>
                          </a:rPr>
                          <m:t>𝑇</m:t>
                        </m:r>
                      </m:sup>
                    </m:sSubSup>
                  </m:oMath>
                </a14:m>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由话题进行表示的第</a:t>
                </a:r>
                <a:r>
                  <a:rPr lang="en-US" altLang="zh-CN"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个文档</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LSI</a:t>
                </a:r>
                <a:r>
                  <a:rPr lang="zh-CN" altLang="en-US" dirty="0">
                    <a:latin typeface="Times New Roman" panose="02020603050405020304" pitchFamily="18" charset="0"/>
                    <a:cs typeface="Times New Roman" panose="02020603050405020304" pitchFamily="18" charset="0"/>
                  </a:rPr>
                  <a:t>的原理：发现词</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文档矩阵中的</a:t>
                </a:r>
                <a:r>
                  <a:rPr lang="zh-CN" altLang="en-US" dirty="0">
                    <a:solidFill>
                      <a:srgbClr val="C00000"/>
                    </a:solidFill>
                    <a:latin typeface="Times New Roman" panose="02020603050405020304" pitchFamily="18" charset="0"/>
                    <a:cs typeface="Times New Roman" panose="02020603050405020304" pitchFamily="18" charset="0"/>
                  </a:rPr>
                  <a:t>低秩结构</a:t>
                </a:r>
                <a:endParaRPr lang="en-US" altLang="zh-CN" dirty="0">
                  <a:solidFill>
                    <a:srgbClr val="C00000"/>
                  </a:solidFill>
                  <a:latin typeface="Times New Roman" panose="02020603050405020304" pitchFamily="18" charset="0"/>
                  <a:cs typeface="Times New Roman" panose="02020603050405020304" pitchFamily="18" charset="0"/>
                </a:endParaRPr>
              </a:p>
              <a:p>
                <a:pPr lvl="1"/>
                <a:r>
                  <a:rPr lang="zh-CN" altLang="en-US" dirty="0">
                    <a:solidFill>
                      <a:srgbClr val="00B050"/>
                    </a:solidFill>
                    <a:latin typeface="Times New Roman" panose="02020603050405020304" pitchFamily="18" charset="0"/>
                    <a:cs typeface="Times New Roman" panose="02020603050405020304" pitchFamily="18" charset="0"/>
                  </a:rPr>
                  <a:t>分布式语义假设</a:t>
                </a:r>
                <a:r>
                  <a:rPr lang="zh-CN" altLang="en-US" dirty="0">
                    <a:latin typeface="Times New Roman" panose="02020603050405020304" pitchFamily="18" charset="0"/>
                    <a:cs typeface="Times New Roman" panose="02020603050405020304" pitchFamily="18" charset="0"/>
                  </a:rPr>
                  <a:t>：语义相关的词倾向共现在同一个文档中</a:t>
                </a: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17" t="-1929"/>
                </a:stretch>
              </a:blipFill>
            </p:spPr>
            <p:txBody>
              <a:bodyPr/>
              <a:lstStyle/>
              <a:p>
                <a:r>
                  <a:rPr lang="en-CN">
                    <a:noFill/>
                  </a:rPr>
                  <a:t> </a:t>
                </a:r>
              </a:p>
            </p:txBody>
          </p:sp>
        </mc:Fallback>
      </mc:AlternateContent>
      <p:sp>
        <p:nvSpPr>
          <p:cNvPr id="4" name="灯片编号占位符 3"/>
          <p:cNvSpPr>
            <a:spLocks noGrp="1"/>
          </p:cNvSpPr>
          <p:nvPr>
            <p:ph type="sldNum" sz="quarter" idx="12"/>
          </p:nvPr>
        </p:nvSpPr>
        <p:spPr/>
        <p:txBody>
          <a:bodyPr/>
          <a:lstStyle/>
          <a:p>
            <a:fld id="{2F264DDB-364C-410E-A66B-B19CEFA5EF0F}" type="slidenum">
              <a:rPr lang="zh-CN" altLang="en-US" smtClean="0">
                <a:latin typeface="Times New Roman" panose="02020603050405020304" pitchFamily="18" charset="0"/>
                <a:cs typeface="Times New Roman" panose="02020603050405020304" pitchFamily="18" charset="0"/>
              </a:rPr>
              <a:pPr/>
              <a:t>47</a:t>
            </a:fld>
            <a:endParaRPr lang="zh-CN" altLang="en-US">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1343815" y="1724067"/>
            <a:ext cx="5309911" cy="1268514"/>
          </a:xfrm>
          <a:prstGeom prst="rect">
            <a:avLst/>
          </a:prstGeom>
        </p:spPr>
      </p:pic>
    </p:spTree>
    <p:extLst>
      <p:ext uri="{BB962C8B-B14F-4D97-AF65-F5344CB8AC3E}">
        <p14:creationId xmlns:p14="http://schemas.microsoft.com/office/powerpoint/2010/main" val="15622367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回到之前的例子</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339849"/>
            <a:ext cx="3850631" cy="2268589"/>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3671" y="1764007"/>
            <a:ext cx="4161503" cy="1420274"/>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1201" y="3931265"/>
            <a:ext cx="2626442" cy="856694"/>
          </a:xfrm>
          <a:prstGeom prst="rect">
            <a:avLst/>
          </a:prstGeom>
        </p:spPr>
      </p:pic>
      <p:sp>
        <p:nvSpPr>
          <p:cNvPr id="7" name="Down Arrow 6"/>
          <p:cNvSpPr/>
          <p:nvPr/>
        </p:nvSpPr>
        <p:spPr>
          <a:xfrm>
            <a:off x="6813755" y="3342968"/>
            <a:ext cx="678426" cy="3932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58969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回到之前的例子</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9050" y="1092200"/>
            <a:ext cx="6565900" cy="3390900"/>
          </a:xfrm>
        </p:spPr>
      </p:pic>
      <mc:AlternateContent xmlns:mc="http://schemas.openxmlformats.org/markup-compatibility/2006" xmlns:a14="http://schemas.microsoft.com/office/drawing/2010/main">
        <mc:Choice Requires="a14">
          <p:sp>
            <p:nvSpPr>
              <p:cNvPr id="5" name="TextBox 4"/>
              <p:cNvSpPr txBox="1"/>
              <p:nvPr/>
            </p:nvSpPr>
            <p:spPr>
              <a:xfrm>
                <a:off x="4083726" y="2133600"/>
                <a:ext cx="528734"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charset="0"/>
                            </a:rPr>
                            <m:t>𝑈</m:t>
                          </m:r>
                        </m:e>
                        <m:sub>
                          <m:r>
                            <a:rPr lang="en-US" altLang="zh-CN" sz="2000" b="0" i="1" smtClean="0">
                              <a:latin typeface="Cambria Math" charset="0"/>
                            </a:rPr>
                            <m:t>2</m:t>
                          </m:r>
                        </m:sub>
                      </m:sSub>
                    </m:oMath>
                  </m:oMathPara>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4083726" y="2133600"/>
                <a:ext cx="528734" cy="40011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532255" y="3829664"/>
                <a:ext cx="548547" cy="404406"/>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b="0" i="1" smtClean="0">
                              <a:latin typeface="Cambria Math" charset="0"/>
                            </a:rPr>
                            <m:t>𝑉</m:t>
                          </m:r>
                        </m:e>
                        <m:sub>
                          <m:r>
                            <a:rPr lang="en-US" altLang="zh-CN" sz="2000" b="0" i="1" smtClean="0">
                              <a:latin typeface="Cambria Math" charset="0"/>
                            </a:rPr>
                            <m:t>2</m:t>
                          </m:r>
                        </m:sub>
                        <m:sup>
                          <m:r>
                            <a:rPr lang="en-US" altLang="zh-CN" sz="2000" b="0" i="1" smtClean="0">
                              <a:latin typeface="Cambria Math" charset="0"/>
                            </a:rPr>
                            <m:t>𝑇</m:t>
                          </m:r>
                        </m:sup>
                      </m:sSubSup>
                    </m:oMath>
                  </m:oMathPara>
                </a14:m>
                <a:endParaRPr lang="en-US" sz="2000" dirty="0"/>
              </a:p>
            </p:txBody>
          </p:sp>
        </mc:Choice>
        <mc:Fallback xmlns="">
          <p:sp>
            <p:nvSpPr>
              <p:cNvPr id="6" name="TextBox 5"/>
              <p:cNvSpPr txBox="1">
                <a:spLocks noRot="1" noChangeAspect="1" noMove="1" noResize="1" noEditPoints="1" noAdjustHandles="1" noChangeArrowheads="1" noChangeShapeType="1" noTextEdit="1"/>
              </p:cNvSpPr>
              <p:nvPr/>
            </p:nvSpPr>
            <p:spPr>
              <a:xfrm>
                <a:off x="1532255" y="3829664"/>
                <a:ext cx="548547" cy="404406"/>
              </a:xfrm>
              <a:prstGeom prst="rect">
                <a:avLst/>
              </a:prstGeom>
              <a:blipFill rotWithShape="0">
                <a:blip r:embed="rId4"/>
                <a:stretch>
                  <a:fillRect b="-1493"/>
                </a:stretch>
              </a:blipFill>
            </p:spPr>
            <p:txBody>
              <a:bodyPr/>
              <a:lstStyle/>
              <a:p>
                <a:r>
                  <a:rPr lang="en-US">
                    <a:noFill/>
                  </a:rPr>
                  <a:t> </a:t>
                </a:r>
              </a:p>
            </p:txBody>
          </p:sp>
        </mc:Fallback>
      </mc:AlternateContent>
    </p:spTree>
    <p:extLst>
      <p:ext uri="{BB962C8B-B14F-4D97-AF65-F5344CB8AC3E}">
        <p14:creationId xmlns:p14="http://schemas.microsoft.com/office/powerpoint/2010/main" val="228821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回到之前的例子</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176517"/>
            <a:ext cx="8229600" cy="1767092"/>
          </a:xfr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3309374"/>
            <a:ext cx="8180439" cy="731267"/>
          </a:xfrm>
          <a:prstGeom prst="rect">
            <a:avLst/>
          </a:prstGeom>
        </p:spPr>
      </p:pic>
    </p:spTree>
    <p:extLst>
      <p:ext uri="{BB962C8B-B14F-4D97-AF65-F5344CB8AC3E}">
        <p14:creationId xmlns:p14="http://schemas.microsoft.com/office/powerpoint/2010/main" val="1356764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回到之前的例子</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36805" y="1064957"/>
            <a:ext cx="4876254" cy="3657191"/>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26" y="1064957"/>
            <a:ext cx="3529781" cy="743112"/>
          </a:xfrm>
          <a:prstGeom prst="rect">
            <a:avLst/>
          </a:prstGeom>
        </p:spPr>
      </p:pic>
      <p:sp>
        <p:nvSpPr>
          <p:cNvPr id="6" name="Rectangle 5"/>
          <p:cNvSpPr/>
          <p:nvPr/>
        </p:nvSpPr>
        <p:spPr>
          <a:xfrm>
            <a:off x="-221225" y="1877889"/>
            <a:ext cx="3819832" cy="2031325"/>
          </a:xfrm>
          <a:prstGeom prst="rect">
            <a:avLst/>
          </a:prstGeom>
        </p:spPr>
        <p:txBody>
          <a:bodyPr wrap="square">
            <a:spAutoFit/>
          </a:bodyPr>
          <a:lstStyle/>
          <a:p>
            <a:pPr lvl="1"/>
            <a:r>
              <a:rPr lang="en-US" dirty="0"/>
              <a:t>d1 : Romeo and Juliet. </a:t>
            </a:r>
          </a:p>
          <a:p>
            <a:pPr lvl="1"/>
            <a:r>
              <a:rPr lang="en-US" dirty="0"/>
              <a:t>d2 : Juliet: O happy dagger! </a:t>
            </a:r>
          </a:p>
          <a:p>
            <a:pPr lvl="1"/>
            <a:r>
              <a:rPr lang="en-US" dirty="0"/>
              <a:t>d3 : Romeo died by dagger. </a:t>
            </a:r>
          </a:p>
          <a:p>
            <a:pPr lvl="1"/>
            <a:r>
              <a:rPr lang="en-US" dirty="0"/>
              <a:t>d4 : “Live free or die”, that’s the New-Hampshire’s motto. </a:t>
            </a:r>
          </a:p>
          <a:p>
            <a:pPr lvl="1"/>
            <a:r>
              <a:rPr lang="en-US" dirty="0"/>
              <a:t>d5 : Did you know, New-Hampshire is in New-England</a:t>
            </a:r>
          </a:p>
        </p:txBody>
      </p:sp>
      <p:sp>
        <p:nvSpPr>
          <p:cNvPr id="7" name="文本框 6">
            <a:extLst>
              <a:ext uri="{FF2B5EF4-FFF2-40B4-BE49-F238E27FC236}">
                <a16:creationId xmlns:a16="http://schemas.microsoft.com/office/drawing/2014/main" id="{6D380C88-83F5-3145-B685-886838884200}"/>
              </a:ext>
            </a:extLst>
          </p:cNvPr>
          <p:cNvSpPr txBox="1"/>
          <p:nvPr/>
        </p:nvSpPr>
        <p:spPr>
          <a:xfrm>
            <a:off x="1100325" y="3979034"/>
            <a:ext cx="3537443" cy="923330"/>
          </a:xfrm>
          <a:prstGeom prst="rect">
            <a:avLst/>
          </a:prstGeom>
          <a:noFill/>
        </p:spPr>
        <p:txBody>
          <a:bodyPr wrap="none" rtlCol="0">
            <a:spAutoFit/>
          </a:bodyPr>
          <a:lstStyle/>
          <a:p>
            <a:r>
              <a:rPr kumimoji="1" lang="zh-CN" altLang="en-US" dirty="0">
                <a:solidFill>
                  <a:srgbClr val="C00000"/>
                </a:solidFill>
              </a:rPr>
              <a:t>将文档按照与</a:t>
            </a:r>
            <a:r>
              <a:rPr kumimoji="1" lang="en-US" altLang="zh-CN" dirty="0">
                <a:solidFill>
                  <a:srgbClr val="C00000"/>
                </a:solidFill>
              </a:rPr>
              <a:t>q</a:t>
            </a:r>
            <a:r>
              <a:rPr kumimoji="1" lang="zh-CN" altLang="en-US" dirty="0">
                <a:solidFill>
                  <a:srgbClr val="C00000"/>
                </a:solidFill>
              </a:rPr>
              <a:t>的</a:t>
            </a:r>
            <a:r>
              <a:rPr kumimoji="1" lang="en-US" altLang="zh-CN" dirty="0">
                <a:solidFill>
                  <a:srgbClr val="C00000"/>
                </a:solidFill>
              </a:rPr>
              <a:t>cosine</a:t>
            </a:r>
            <a:r>
              <a:rPr kumimoji="1" lang="zh-CN" altLang="en-US" dirty="0">
                <a:solidFill>
                  <a:srgbClr val="C00000"/>
                </a:solidFill>
              </a:rPr>
              <a:t>距离排序</a:t>
            </a:r>
            <a:endParaRPr kumimoji="1" lang="en-US" altLang="zh-CN" dirty="0">
              <a:solidFill>
                <a:srgbClr val="C00000"/>
              </a:solidFill>
            </a:endParaRPr>
          </a:p>
          <a:p>
            <a:r>
              <a:rPr kumimoji="1" lang="en-US" altLang="zh-CN" dirty="0">
                <a:solidFill>
                  <a:srgbClr val="C00000"/>
                </a:solidFill>
              </a:rPr>
              <a:t>A</a:t>
            </a:r>
            <a:r>
              <a:rPr kumimoji="1" lang="zh-CN" altLang="en-US" dirty="0">
                <a:solidFill>
                  <a:srgbClr val="C00000"/>
                </a:solidFill>
              </a:rPr>
              <a:t>：</a:t>
            </a:r>
            <a:r>
              <a:rPr kumimoji="1" lang="en-US" altLang="zh-CN" dirty="0">
                <a:solidFill>
                  <a:srgbClr val="C00000"/>
                </a:solidFill>
              </a:rPr>
              <a:t>d3</a:t>
            </a:r>
            <a:r>
              <a:rPr kumimoji="1" lang="zh-CN" altLang="en-US" dirty="0">
                <a:solidFill>
                  <a:srgbClr val="C00000"/>
                </a:solidFill>
              </a:rPr>
              <a:t> </a:t>
            </a:r>
            <a:r>
              <a:rPr kumimoji="1" lang="en-US" altLang="zh-CN" dirty="0">
                <a:solidFill>
                  <a:srgbClr val="C00000"/>
                </a:solidFill>
              </a:rPr>
              <a:t>&gt;</a:t>
            </a:r>
            <a:r>
              <a:rPr kumimoji="1" lang="zh-CN" altLang="en-US" dirty="0">
                <a:solidFill>
                  <a:srgbClr val="C00000"/>
                </a:solidFill>
              </a:rPr>
              <a:t> </a:t>
            </a:r>
            <a:r>
              <a:rPr kumimoji="1" lang="en-US" altLang="zh-CN" dirty="0">
                <a:solidFill>
                  <a:srgbClr val="C00000"/>
                </a:solidFill>
              </a:rPr>
              <a:t>d2</a:t>
            </a:r>
            <a:r>
              <a:rPr kumimoji="1" lang="zh-CN" altLang="en-US" dirty="0">
                <a:solidFill>
                  <a:srgbClr val="C00000"/>
                </a:solidFill>
              </a:rPr>
              <a:t> </a:t>
            </a:r>
            <a:r>
              <a:rPr kumimoji="1" lang="en-US" altLang="zh-CN" dirty="0">
                <a:solidFill>
                  <a:srgbClr val="C00000"/>
                </a:solidFill>
              </a:rPr>
              <a:t>&gt;</a:t>
            </a:r>
            <a:r>
              <a:rPr kumimoji="1" lang="zh-CN" altLang="en-US" dirty="0">
                <a:solidFill>
                  <a:srgbClr val="C00000"/>
                </a:solidFill>
              </a:rPr>
              <a:t> </a:t>
            </a:r>
            <a:r>
              <a:rPr kumimoji="1" lang="en-US" altLang="zh-CN" dirty="0">
                <a:solidFill>
                  <a:srgbClr val="C00000"/>
                </a:solidFill>
              </a:rPr>
              <a:t>d4</a:t>
            </a:r>
            <a:r>
              <a:rPr kumimoji="1" lang="zh-CN" altLang="en-US" dirty="0">
                <a:solidFill>
                  <a:srgbClr val="C00000"/>
                </a:solidFill>
              </a:rPr>
              <a:t> </a:t>
            </a:r>
            <a:r>
              <a:rPr kumimoji="1" lang="en-US" altLang="zh-CN" dirty="0">
                <a:solidFill>
                  <a:srgbClr val="C00000"/>
                </a:solidFill>
              </a:rPr>
              <a:t>&gt;</a:t>
            </a:r>
            <a:r>
              <a:rPr kumimoji="1" lang="zh-CN" altLang="en-US" dirty="0">
                <a:solidFill>
                  <a:srgbClr val="C00000"/>
                </a:solidFill>
              </a:rPr>
              <a:t> </a:t>
            </a:r>
            <a:r>
              <a:rPr kumimoji="1" lang="en-US" altLang="zh-CN" dirty="0">
                <a:solidFill>
                  <a:srgbClr val="C00000"/>
                </a:solidFill>
              </a:rPr>
              <a:t>d1</a:t>
            </a:r>
            <a:r>
              <a:rPr kumimoji="1" lang="zh-CN" altLang="en-US" dirty="0">
                <a:solidFill>
                  <a:srgbClr val="C00000"/>
                </a:solidFill>
              </a:rPr>
              <a:t> </a:t>
            </a:r>
            <a:r>
              <a:rPr kumimoji="1" lang="en-US" altLang="zh-CN" dirty="0">
                <a:solidFill>
                  <a:srgbClr val="C00000"/>
                </a:solidFill>
              </a:rPr>
              <a:t>&gt;</a:t>
            </a:r>
            <a:r>
              <a:rPr kumimoji="1" lang="zh-CN" altLang="en-US" dirty="0">
                <a:solidFill>
                  <a:srgbClr val="C00000"/>
                </a:solidFill>
              </a:rPr>
              <a:t> </a:t>
            </a:r>
            <a:r>
              <a:rPr kumimoji="1" lang="en-US" altLang="zh-CN" dirty="0">
                <a:solidFill>
                  <a:srgbClr val="C00000"/>
                </a:solidFill>
              </a:rPr>
              <a:t>d5</a:t>
            </a:r>
          </a:p>
          <a:p>
            <a:r>
              <a:rPr kumimoji="1" lang="en-US" altLang="zh-CN" dirty="0">
                <a:solidFill>
                  <a:srgbClr val="C00000"/>
                </a:solidFill>
              </a:rPr>
              <a:t>B</a:t>
            </a:r>
            <a:r>
              <a:rPr kumimoji="1" lang="zh-CN" altLang="en-US" dirty="0">
                <a:solidFill>
                  <a:srgbClr val="C00000"/>
                </a:solidFill>
              </a:rPr>
              <a:t>：</a:t>
            </a:r>
            <a:r>
              <a:rPr kumimoji="1" lang="en-US" altLang="zh-CN" dirty="0">
                <a:solidFill>
                  <a:srgbClr val="C00000"/>
                </a:solidFill>
              </a:rPr>
              <a:t>d3</a:t>
            </a:r>
            <a:r>
              <a:rPr kumimoji="1" lang="zh-CN" altLang="en-US" dirty="0">
                <a:solidFill>
                  <a:srgbClr val="C00000"/>
                </a:solidFill>
              </a:rPr>
              <a:t> </a:t>
            </a:r>
            <a:r>
              <a:rPr kumimoji="1" lang="en-US" altLang="zh-CN" dirty="0">
                <a:solidFill>
                  <a:srgbClr val="C00000"/>
                </a:solidFill>
              </a:rPr>
              <a:t>&gt;</a:t>
            </a:r>
            <a:r>
              <a:rPr kumimoji="1" lang="zh-CN" altLang="en-US" dirty="0">
                <a:solidFill>
                  <a:srgbClr val="C00000"/>
                </a:solidFill>
              </a:rPr>
              <a:t> </a:t>
            </a:r>
            <a:r>
              <a:rPr kumimoji="1" lang="en-US" altLang="zh-CN" dirty="0">
                <a:solidFill>
                  <a:srgbClr val="C00000"/>
                </a:solidFill>
              </a:rPr>
              <a:t>d1</a:t>
            </a:r>
            <a:r>
              <a:rPr kumimoji="1" lang="zh-CN" altLang="en-US" dirty="0">
                <a:solidFill>
                  <a:srgbClr val="C00000"/>
                </a:solidFill>
              </a:rPr>
              <a:t> </a:t>
            </a:r>
            <a:r>
              <a:rPr kumimoji="1" lang="en-US" altLang="zh-CN" dirty="0">
                <a:solidFill>
                  <a:srgbClr val="C00000"/>
                </a:solidFill>
              </a:rPr>
              <a:t>&gt;</a:t>
            </a:r>
            <a:r>
              <a:rPr kumimoji="1" lang="zh-CN" altLang="en-US" dirty="0">
                <a:solidFill>
                  <a:srgbClr val="C00000"/>
                </a:solidFill>
              </a:rPr>
              <a:t> </a:t>
            </a:r>
            <a:r>
              <a:rPr kumimoji="1" lang="en-US" altLang="zh-CN" dirty="0">
                <a:solidFill>
                  <a:srgbClr val="C00000"/>
                </a:solidFill>
              </a:rPr>
              <a:t>d2</a:t>
            </a:r>
            <a:r>
              <a:rPr kumimoji="1" lang="zh-CN" altLang="en-US" dirty="0">
                <a:solidFill>
                  <a:srgbClr val="C00000"/>
                </a:solidFill>
              </a:rPr>
              <a:t> </a:t>
            </a:r>
            <a:r>
              <a:rPr kumimoji="1" lang="en-US" altLang="zh-CN" dirty="0">
                <a:solidFill>
                  <a:srgbClr val="C00000"/>
                </a:solidFill>
              </a:rPr>
              <a:t>&gt;</a:t>
            </a:r>
            <a:r>
              <a:rPr kumimoji="1" lang="zh-CN" altLang="en-US" dirty="0">
                <a:solidFill>
                  <a:srgbClr val="C00000"/>
                </a:solidFill>
              </a:rPr>
              <a:t> </a:t>
            </a:r>
            <a:r>
              <a:rPr kumimoji="1" lang="en-US" altLang="zh-CN" dirty="0">
                <a:solidFill>
                  <a:srgbClr val="C00000"/>
                </a:solidFill>
              </a:rPr>
              <a:t>d4</a:t>
            </a:r>
            <a:r>
              <a:rPr kumimoji="1" lang="zh-CN" altLang="en-US" dirty="0">
                <a:solidFill>
                  <a:srgbClr val="C00000"/>
                </a:solidFill>
              </a:rPr>
              <a:t> </a:t>
            </a:r>
            <a:r>
              <a:rPr kumimoji="1" lang="en-US" altLang="zh-CN" dirty="0">
                <a:solidFill>
                  <a:srgbClr val="C00000"/>
                </a:solidFill>
              </a:rPr>
              <a:t>&gt;</a:t>
            </a:r>
            <a:r>
              <a:rPr kumimoji="1" lang="zh-CN" altLang="en-US" dirty="0">
                <a:solidFill>
                  <a:srgbClr val="C00000"/>
                </a:solidFill>
              </a:rPr>
              <a:t> </a:t>
            </a:r>
            <a:r>
              <a:rPr kumimoji="1" lang="en-US" altLang="zh-CN" dirty="0">
                <a:solidFill>
                  <a:srgbClr val="C00000"/>
                </a:solidFill>
              </a:rPr>
              <a:t>d5</a:t>
            </a:r>
          </a:p>
        </p:txBody>
      </p:sp>
      <p:sp>
        <p:nvSpPr>
          <p:cNvPr id="8" name="Rectangle 7"/>
          <p:cNvSpPr/>
          <p:nvPr/>
        </p:nvSpPr>
        <p:spPr>
          <a:xfrm>
            <a:off x="388101" y="4179089"/>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11663223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CN" dirty="0"/>
              <a:t>LSI</a:t>
            </a:r>
            <a:r>
              <a:rPr lang="zh-CN" altLang="en-US" dirty="0"/>
              <a:t>举例</a:t>
            </a:r>
            <a:endParaRPr lang="en-US" altLang="zh-CN" dirty="0"/>
          </a:p>
        </p:txBody>
      </p:sp>
      <p:pic>
        <p:nvPicPr>
          <p:cNvPr id="5" name="图片 4"/>
          <p:cNvPicPr>
            <a:picLocks noChangeAspect="1"/>
          </p:cNvPicPr>
          <p:nvPr/>
        </p:nvPicPr>
        <p:blipFill>
          <a:blip r:embed="rId3"/>
          <a:stretch>
            <a:fillRect/>
          </a:stretch>
        </p:blipFill>
        <p:spPr>
          <a:xfrm>
            <a:off x="1889522" y="837598"/>
            <a:ext cx="5364956" cy="2964656"/>
          </a:xfrm>
          <a:prstGeom prst="rect">
            <a:avLst/>
          </a:prstGeom>
        </p:spPr>
      </p:pic>
      <p:sp>
        <p:nvSpPr>
          <p:cNvPr id="2" name="文本框 1">
            <a:extLst>
              <a:ext uri="{FF2B5EF4-FFF2-40B4-BE49-F238E27FC236}">
                <a16:creationId xmlns:a16="http://schemas.microsoft.com/office/drawing/2014/main" id="{86CF4488-F288-7243-B88D-5FF83C06DF02}"/>
              </a:ext>
            </a:extLst>
          </p:cNvPr>
          <p:cNvSpPr txBox="1"/>
          <p:nvPr/>
        </p:nvSpPr>
        <p:spPr>
          <a:xfrm>
            <a:off x="2402175" y="3963022"/>
            <a:ext cx="4339650" cy="369332"/>
          </a:xfrm>
          <a:prstGeom prst="rect">
            <a:avLst/>
          </a:prstGeom>
          <a:noFill/>
        </p:spPr>
        <p:txBody>
          <a:bodyPr wrap="none" rtlCol="0">
            <a:spAutoFit/>
          </a:bodyPr>
          <a:lstStyle/>
          <a:p>
            <a:r>
              <a:rPr kumimoji="1" lang="zh-CN" altLang="en-US" dirty="0"/>
              <a:t>两类文档</a:t>
            </a:r>
            <a:r>
              <a:rPr kumimoji="1" lang="en-US" altLang="zh-CN" dirty="0"/>
              <a:t>Title</a:t>
            </a:r>
            <a:r>
              <a:rPr kumimoji="1" lang="zh-CN" altLang="en-US" dirty="0"/>
              <a:t>：计算机（</a:t>
            </a:r>
            <a:r>
              <a:rPr kumimoji="1" lang="en-US" altLang="zh-CN" dirty="0"/>
              <a:t>c</a:t>
            </a:r>
            <a:r>
              <a:rPr kumimoji="1" lang="zh-CN" altLang="en-US" dirty="0"/>
              <a:t>）和数学（</a:t>
            </a:r>
            <a:r>
              <a:rPr kumimoji="1" lang="en-US" altLang="zh-CN" dirty="0"/>
              <a:t>m</a:t>
            </a:r>
            <a:r>
              <a:rPr kumimoji="1" lang="zh-CN" altLang="en-US" dirty="0"/>
              <a:t>）</a:t>
            </a:r>
          </a:p>
        </p:txBody>
      </p:sp>
    </p:spTree>
    <p:extLst>
      <p:ext uri="{BB962C8B-B14F-4D97-AF65-F5344CB8AC3E}">
        <p14:creationId xmlns:p14="http://schemas.microsoft.com/office/powerpoint/2010/main" val="12965698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title"/>
          </p:nvPr>
        </p:nvSpPr>
        <p:spPr/>
        <p:txBody>
          <a:bodyPr/>
          <a:lstStyle/>
          <a:p>
            <a:r>
              <a:rPr lang="zh-CN" altLang="en-US" dirty="0"/>
              <a:t>举例</a:t>
            </a:r>
            <a:endParaRPr lang="en-US" altLang="zh-CN" dirty="0"/>
          </a:p>
        </p:txBody>
      </p:sp>
      <p:graphicFrame>
        <p:nvGraphicFramePr>
          <p:cNvPr id="5" name="表格 4"/>
          <p:cNvGraphicFramePr>
            <a:graphicFrameLocks noGrp="1"/>
          </p:cNvGraphicFramePr>
          <p:nvPr>
            <p:extLst>
              <p:ext uri="{D42A27DB-BD31-4B8C-83A1-F6EECF244321}">
                <p14:modId xmlns:p14="http://schemas.microsoft.com/office/powerpoint/2010/main" val="3248821432"/>
              </p:ext>
            </p:extLst>
          </p:nvPr>
        </p:nvGraphicFramePr>
        <p:xfrm>
          <a:off x="2033718" y="1207757"/>
          <a:ext cx="5292583" cy="3386518"/>
        </p:xfrm>
        <a:graphic>
          <a:graphicData uri="http://schemas.openxmlformats.org/drawingml/2006/table">
            <a:tbl>
              <a:tblPr>
                <a:tableStyleId>{5C22544A-7EE6-4342-B048-85BDC9FD1C3A}</a:tableStyleId>
              </a:tblPr>
              <a:tblGrid>
                <a:gridCol w="1186270">
                  <a:extLst>
                    <a:ext uri="{9D8B030D-6E8A-4147-A177-3AD203B41FA5}">
                      <a16:colId xmlns:a16="http://schemas.microsoft.com/office/drawing/2014/main" val="20000"/>
                    </a:ext>
                  </a:extLst>
                </a:gridCol>
                <a:gridCol w="456257">
                  <a:extLst>
                    <a:ext uri="{9D8B030D-6E8A-4147-A177-3AD203B41FA5}">
                      <a16:colId xmlns:a16="http://schemas.microsoft.com/office/drawing/2014/main" val="20001"/>
                    </a:ext>
                  </a:extLst>
                </a:gridCol>
                <a:gridCol w="456257">
                  <a:extLst>
                    <a:ext uri="{9D8B030D-6E8A-4147-A177-3AD203B41FA5}">
                      <a16:colId xmlns:a16="http://schemas.microsoft.com/office/drawing/2014/main" val="20002"/>
                    </a:ext>
                  </a:extLst>
                </a:gridCol>
                <a:gridCol w="456257">
                  <a:extLst>
                    <a:ext uri="{9D8B030D-6E8A-4147-A177-3AD203B41FA5}">
                      <a16:colId xmlns:a16="http://schemas.microsoft.com/office/drawing/2014/main" val="20003"/>
                    </a:ext>
                  </a:extLst>
                </a:gridCol>
                <a:gridCol w="456257">
                  <a:extLst>
                    <a:ext uri="{9D8B030D-6E8A-4147-A177-3AD203B41FA5}">
                      <a16:colId xmlns:a16="http://schemas.microsoft.com/office/drawing/2014/main" val="20004"/>
                    </a:ext>
                  </a:extLst>
                </a:gridCol>
                <a:gridCol w="456257">
                  <a:extLst>
                    <a:ext uri="{9D8B030D-6E8A-4147-A177-3AD203B41FA5}">
                      <a16:colId xmlns:a16="http://schemas.microsoft.com/office/drawing/2014/main" val="20005"/>
                    </a:ext>
                  </a:extLst>
                </a:gridCol>
                <a:gridCol w="456257">
                  <a:extLst>
                    <a:ext uri="{9D8B030D-6E8A-4147-A177-3AD203B41FA5}">
                      <a16:colId xmlns:a16="http://schemas.microsoft.com/office/drawing/2014/main" val="20006"/>
                    </a:ext>
                  </a:extLst>
                </a:gridCol>
                <a:gridCol w="456257">
                  <a:extLst>
                    <a:ext uri="{9D8B030D-6E8A-4147-A177-3AD203B41FA5}">
                      <a16:colId xmlns:a16="http://schemas.microsoft.com/office/drawing/2014/main" val="20007"/>
                    </a:ext>
                  </a:extLst>
                </a:gridCol>
                <a:gridCol w="456257">
                  <a:extLst>
                    <a:ext uri="{9D8B030D-6E8A-4147-A177-3AD203B41FA5}">
                      <a16:colId xmlns:a16="http://schemas.microsoft.com/office/drawing/2014/main" val="20008"/>
                    </a:ext>
                  </a:extLst>
                </a:gridCol>
                <a:gridCol w="456257">
                  <a:extLst>
                    <a:ext uri="{9D8B030D-6E8A-4147-A177-3AD203B41FA5}">
                      <a16:colId xmlns:a16="http://schemas.microsoft.com/office/drawing/2014/main" val="20009"/>
                    </a:ext>
                  </a:extLst>
                </a:gridCol>
              </a:tblGrid>
              <a:tr h="293389">
                <a:tc>
                  <a:txBody>
                    <a:bodyPr/>
                    <a:lstStyle/>
                    <a:p>
                      <a:pPr>
                        <a:lnSpc>
                          <a:spcPts val="1800"/>
                        </a:lnSpc>
                        <a:spcAft>
                          <a:spcPts val="0"/>
                        </a:spcAft>
                      </a:pPr>
                      <a:r>
                        <a:rPr lang="en-US" sz="1400" dirty="0">
                          <a:effectLst/>
                        </a:rPr>
                        <a:t> </a:t>
                      </a:r>
                      <a:endParaRPr lang="zh-CN" sz="1400" dirty="0">
                        <a:effectLst/>
                        <a:latin typeface="Times"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lnSpc>
                          <a:spcPts val="3000"/>
                        </a:lnSpc>
                        <a:spcBef>
                          <a:spcPts val="600"/>
                        </a:spcBef>
                        <a:spcAft>
                          <a:spcPts val="0"/>
                        </a:spcAft>
                      </a:pPr>
                      <a:r>
                        <a:rPr lang="en-US" sz="1400" b="1" dirty="0">
                          <a:effectLst/>
                        </a:rPr>
                        <a:t>c1</a:t>
                      </a:r>
                      <a:endParaRPr lang="zh-CN" sz="1400" b="1" dirty="0">
                        <a:effectLst/>
                        <a:latin typeface="Times"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lnSpc>
                          <a:spcPts val="3000"/>
                        </a:lnSpc>
                        <a:spcBef>
                          <a:spcPts val="600"/>
                        </a:spcBef>
                        <a:spcAft>
                          <a:spcPts val="0"/>
                        </a:spcAft>
                      </a:pPr>
                      <a:r>
                        <a:rPr lang="en-US" sz="1400" b="1" dirty="0">
                          <a:effectLst/>
                        </a:rPr>
                        <a:t>c2</a:t>
                      </a:r>
                      <a:endParaRPr lang="zh-CN" sz="1400" b="1" dirty="0">
                        <a:effectLst/>
                        <a:latin typeface="Times"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lnSpc>
                          <a:spcPts val="3000"/>
                        </a:lnSpc>
                        <a:spcBef>
                          <a:spcPts val="600"/>
                        </a:spcBef>
                        <a:spcAft>
                          <a:spcPts val="0"/>
                        </a:spcAft>
                      </a:pPr>
                      <a:r>
                        <a:rPr lang="en-US" sz="1400" b="1" dirty="0">
                          <a:effectLst/>
                        </a:rPr>
                        <a:t>c3</a:t>
                      </a:r>
                      <a:endParaRPr lang="zh-CN" sz="1400" b="1" dirty="0">
                        <a:effectLst/>
                        <a:latin typeface="Times"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lnSpc>
                          <a:spcPts val="3000"/>
                        </a:lnSpc>
                        <a:spcBef>
                          <a:spcPts val="600"/>
                        </a:spcBef>
                        <a:spcAft>
                          <a:spcPts val="0"/>
                        </a:spcAft>
                      </a:pPr>
                      <a:r>
                        <a:rPr lang="en-US" sz="1400" b="1" dirty="0">
                          <a:effectLst/>
                        </a:rPr>
                        <a:t>c4</a:t>
                      </a:r>
                      <a:endParaRPr lang="zh-CN" sz="1400" b="1" dirty="0">
                        <a:effectLst/>
                        <a:latin typeface="Times"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lnSpc>
                          <a:spcPts val="3000"/>
                        </a:lnSpc>
                        <a:spcBef>
                          <a:spcPts val="600"/>
                        </a:spcBef>
                        <a:spcAft>
                          <a:spcPts val="0"/>
                        </a:spcAft>
                      </a:pPr>
                      <a:r>
                        <a:rPr lang="en-US" sz="1400" b="1" dirty="0">
                          <a:effectLst/>
                        </a:rPr>
                        <a:t>c5</a:t>
                      </a:r>
                      <a:endParaRPr lang="zh-CN" sz="1400" b="1" dirty="0">
                        <a:effectLst/>
                        <a:latin typeface="Times"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lnSpc>
                          <a:spcPts val="3000"/>
                        </a:lnSpc>
                        <a:spcBef>
                          <a:spcPts val="600"/>
                        </a:spcBef>
                        <a:spcAft>
                          <a:spcPts val="0"/>
                        </a:spcAft>
                      </a:pPr>
                      <a:r>
                        <a:rPr lang="en-US" sz="1400" b="1" dirty="0">
                          <a:effectLst/>
                        </a:rPr>
                        <a:t>m1</a:t>
                      </a:r>
                      <a:endParaRPr lang="zh-CN" sz="1400" b="1" dirty="0">
                        <a:effectLst/>
                        <a:latin typeface="Times"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lnSpc>
                          <a:spcPts val="3000"/>
                        </a:lnSpc>
                        <a:spcBef>
                          <a:spcPts val="600"/>
                        </a:spcBef>
                        <a:spcAft>
                          <a:spcPts val="0"/>
                        </a:spcAft>
                      </a:pPr>
                      <a:r>
                        <a:rPr lang="en-US" sz="1400" b="1" dirty="0">
                          <a:effectLst/>
                        </a:rPr>
                        <a:t>m2</a:t>
                      </a:r>
                      <a:endParaRPr lang="zh-CN" sz="1400" b="1" dirty="0">
                        <a:effectLst/>
                        <a:latin typeface="Times"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lnSpc>
                          <a:spcPts val="3000"/>
                        </a:lnSpc>
                        <a:spcBef>
                          <a:spcPts val="600"/>
                        </a:spcBef>
                        <a:spcAft>
                          <a:spcPts val="0"/>
                        </a:spcAft>
                      </a:pPr>
                      <a:r>
                        <a:rPr lang="en-US" sz="1400" b="1" dirty="0">
                          <a:effectLst/>
                        </a:rPr>
                        <a:t>m3</a:t>
                      </a:r>
                      <a:endParaRPr lang="zh-CN" sz="1400" b="1" dirty="0">
                        <a:effectLst/>
                        <a:latin typeface="Times"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lnSpc>
                          <a:spcPts val="3000"/>
                        </a:lnSpc>
                        <a:spcBef>
                          <a:spcPts val="600"/>
                        </a:spcBef>
                        <a:spcAft>
                          <a:spcPts val="0"/>
                        </a:spcAft>
                      </a:pPr>
                      <a:r>
                        <a:rPr lang="en-US" sz="1400" b="1" dirty="0">
                          <a:effectLst/>
                        </a:rPr>
                        <a:t>m4</a:t>
                      </a:r>
                      <a:endParaRPr lang="zh-CN" sz="1400" b="1" dirty="0">
                        <a:effectLst/>
                        <a:latin typeface="Times" panose="02020603050405020304" pitchFamily="18" charset="0"/>
                        <a:ea typeface="Times" panose="02020603050405020304" pitchFamily="18" charset="0"/>
                        <a:cs typeface="Times New Roman" panose="02020603050405020304" pitchFamily="18" charset="0"/>
                      </a:endParaRPr>
                    </a:p>
                  </a:txBody>
                  <a:tcPr marL="38100" marR="38100" marT="0" marB="0"/>
                </a:tc>
                <a:extLst>
                  <a:ext uri="{0D108BD9-81ED-4DB2-BD59-A6C34878D82A}">
                    <a16:rowId xmlns:a16="http://schemas.microsoft.com/office/drawing/2014/main" val="10000"/>
                  </a:ext>
                </a:extLst>
              </a:tr>
              <a:tr h="254582">
                <a:tc>
                  <a:txBody>
                    <a:bodyPr/>
                    <a:lstStyle/>
                    <a:p>
                      <a:pPr>
                        <a:spcAft>
                          <a:spcPts val="0"/>
                        </a:spcAft>
                      </a:pPr>
                      <a:r>
                        <a:rPr lang="en-US" sz="1400" b="1" dirty="0">
                          <a:effectLst/>
                          <a:latin typeface="Times New Roman" panose="02020603050405020304" pitchFamily="18" charset="0"/>
                          <a:cs typeface="Times New Roman" panose="02020603050405020304" pitchFamily="18" charset="0"/>
                        </a:rPr>
                        <a:t>human </a:t>
                      </a:r>
                      <a:endParaRPr lang="zh-CN" sz="1400" b="1"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extLst>
                  <a:ext uri="{0D108BD9-81ED-4DB2-BD59-A6C34878D82A}">
                    <a16:rowId xmlns:a16="http://schemas.microsoft.com/office/drawing/2014/main" val="10001"/>
                  </a:ext>
                </a:extLst>
              </a:tr>
              <a:tr h="254582">
                <a:tc>
                  <a:txBody>
                    <a:bodyPr/>
                    <a:lstStyle/>
                    <a:p>
                      <a:pPr>
                        <a:spcAft>
                          <a:spcPts val="0"/>
                        </a:spcAft>
                      </a:pPr>
                      <a:r>
                        <a:rPr lang="en-US" sz="1400" b="1" dirty="0">
                          <a:effectLst/>
                          <a:latin typeface="Times New Roman" panose="02020603050405020304" pitchFamily="18" charset="0"/>
                          <a:cs typeface="Times New Roman" panose="02020603050405020304" pitchFamily="18" charset="0"/>
                        </a:rPr>
                        <a:t>interface</a:t>
                      </a:r>
                      <a:endParaRPr lang="zh-CN" sz="1400" b="1"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0</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extLst>
                  <a:ext uri="{0D108BD9-81ED-4DB2-BD59-A6C34878D82A}">
                    <a16:rowId xmlns:a16="http://schemas.microsoft.com/office/drawing/2014/main" val="10002"/>
                  </a:ext>
                </a:extLst>
              </a:tr>
              <a:tr h="254582">
                <a:tc>
                  <a:txBody>
                    <a:bodyPr/>
                    <a:lstStyle/>
                    <a:p>
                      <a:pPr>
                        <a:spcAft>
                          <a:spcPts val="0"/>
                        </a:spcAft>
                      </a:pPr>
                      <a:r>
                        <a:rPr lang="en-US" sz="1400" b="1" dirty="0">
                          <a:effectLst/>
                          <a:latin typeface="Times New Roman" panose="02020603050405020304" pitchFamily="18" charset="0"/>
                          <a:cs typeface="Times New Roman" panose="02020603050405020304" pitchFamily="18" charset="0"/>
                        </a:rPr>
                        <a:t>computer</a:t>
                      </a:r>
                      <a:endParaRPr lang="zh-CN" sz="1400" b="1"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1</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extLst>
                  <a:ext uri="{0D108BD9-81ED-4DB2-BD59-A6C34878D82A}">
                    <a16:rowId xmlns:a16="http://schemas.microsoft.com/office/drawing/2014/main" val="10003"/>
                  </a:ext>
                </a:extLst>
              </a:tr>
              <a:tr h="254582">
                <a:tc>
                  <a:txBody>
                    <a:bodyPr/>
                    <a:lstStyle/>
                    <a:p>
                      <a:pPr>
                        <a:spcAft>
                          <a:spcPts val="0"/>
                        </a:spcAft>
                      </a:pPr>
                      <a:r>
                        <a:rPr lang="en-US" sz="1400" b="1" dirty="0">
                          <a:effectLst/>
                          <a:latin typeface="Times New Roman" panose="02020603050405020304" pitchFamily="18" charset="0"/>
                          <a:cs typeface="Times New Roman" panose="02020603050405020304" pitchFamily="18" charset="0"/>
                        </a:rPr>
                        <a:t>user</a:t>
                      </a:r>
                      <a:endParaRPr lang="zh-CN" sz="1400" b="1"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0</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1</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0</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extLst>
                  <a:ext uri="{0D108BD9-81ED-4DB2-BD59-A6C34878D82A}">
                    <a16:rowId xmlns:a16="http://schemas.microsoft.com/office/drawing/2014/main" val="10004"/>
                  </a:ext>
                </a:extLst>
              </a:tr>
              <a:tr h="254582">
                <a:tc>
                  <a:txBody>
                    <a:bodyPr/>
                    <a:lstStyle/>
                    <a:p>
                      <a:pPr>
                        <a:spcAft>
                          <a:spcPts val="0"/>
                        </a:spcAft>
                      </a:pPr>
                      <a:r>
                        <a:rPr lang="en-US" sz="1400" b="1" dirty="0">
                          <a:effectLst/>
                          <a:latin typeface="Times New Roman" panose="02020603050405020304" pitchFamily="18" charset="0"/>
                          <a:cs typeface="Times New Roman" panose="02020603050405020304" pitchFamily="18" charset="0"/>
                        </a:rPr>
                        <a:t>system</a:t>
                      </a:r>
                      <a:endParaRPr lang="zh-CN" sz="1400" b="1"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1</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1</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2</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extLst>
                  <a:ext uri="{0D108BD9-81ED-4DB2-BD59-A6C34878D82A}">
                    <a16:rowId xmlns:a16="http://schemas.microsoft.com/office/drawing/2014/main" val="10005"/>
                  </a:ext>
                </a:extLst>
              </a:tr>
              <a:tr h="254582">
                <a:tc>
                  <a:txBody>
                    <a:bodyPr/>
                    <a:lstStyle/>
                    <a:p>
                      <a:pPr>
                        <a:spcAft>
                          <a:spcPts val="0"/>
                        </a:spcAft>
                      </a:pPr>
                      <a:r>
                        <a:rPr lang="en-US" sz="1400" b="1" dirty="0">
                          <a:effectLst/>
                          <a:latin typeface="Times New Roman" panose="02020603050405020304" pitchFamily="18" charset="0"/>
                          <a:cs typeface="Times New Roman" panose="02020603050405020304" pitchFamily="18" charset="0"/>
                        </a:rPr>
                        <a:t>response</a:t>
                      </a:r>
                      <a:endParaRPr lang="zh-CN" sz="1400" b="1"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0</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extLst>
                  <a:ext uri="{0D108BD9-81ED-4DB2-BD59-A6C34878D82A}">
                    <a16:rowId xmlns:a16="http://schemas.microsoft.com/office/drawing/2014/main" val="10006"/>
                  </a:ext>
                </a:extLst>
              </a:tr>
              <a:tr h="254582">
                <a:tc>
                  <a:txBody>
                    <a:bodyPr/>
                    <a:lstStyle/>
                    <a:p>
                      <a:pPr>
                        <a:spcAft>
                          <a:spcPts val="0"/>
                        </a:spcAft>
                      </a:pPr>
                      <a:r>
                        <a:rPr lang="en-US" sz="1400" b="1" dirty="0">
                          <a:effectLst/>
                          <a:latin typeface="Times New Roman" panose="02020603050405020304" pitchFamily="18" charset="0"/>
                          <a:cs typeface="Times New Roman" panose="02020603050405020304" pitchFamily="18" charset="0"/>
                        </a:rPr>
                        <a:t>time</a:t>
                      </a:r>
                      <a:endParaRPr lang="zh-CN" sz="1400" b="1"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0</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0</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extLst>
                  <a:ext uri="{0D108BD9-81ED-4DB2-BD59-A6C34878D82A}">
                    <a16:rowId xmlns:a16="http://schemas.microsoft.com/office/drawing/2014/main" val="10007"/>
                  </a:ext>
                </a:extLst>
              </a:tr>
              <a:tr h="254582">
                <a:tc>
                  <a:txBody>
                    <a:bodyPr/>
                    <a:lstStyle/>
                    <a:p>
                      <a:pPr>
                        <a:spcAft>
                          <a:spcPts val="0"/>
                        </a:spcAft>
                      </a:pPr>
                      <a:r>
                        <a:rPr lang="en-US" sz="1400" b="1" dirty="0">
                          <a:effectLst/>
                          <a:latin typeface="Times New Roman" panose="02020603050405020304" pitchFamily="18" charset="0"/>
                          <a:cs typeface="Times New Roman" panose="02020603050405020304" pitchFamily="18" charset="0"/>
                        </a:rPr>
                        <a:t>EPS</a:t>
                      </a:r>
                      <a:endParaRPr lang="zh-CN" sz="1400" b="1"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1</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0</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extLst>
                  <a:ext uri="{0D108BD9-81ED-4DB2-BD59-A6C34878D82A}">
                    <a16:rowId xmlns:a16="http://schemas.microsoft.com/office/drawing/2014/main" val="10008"/>
                  </a:ext>
                </a:extLst>
              </a:tr>
              <a:tr h="254582">
                <a:tc>
                  <a:txBody>
                    <a:bodyPr/>
                    <a:lstStyle/>
                    <a:p>
                      <a:pPr>
                        <a:spcAft>
                          <a:spcPts val="0"/>
                        </a:spcAft>
                      </a:pPr>
                      <a:r>
                        <a:rPr lang="en-US" sz="1400" b="1" dirty="0">
                          <a:effectLst/>
                          <a:latin typeface="Times New Roman" panose="02020603050405020304" pitchFamily="18" charset="0"/>
                          <a:cs typeface="Times New Roman" panose="02020603050405020304" pitchFamily="18" charset="0"/>
                        </a:rPr>
                        <a:t>survey</a:t>
                      </a:r>
                      <a:endParaRPr lang="zh-CN" sz="1400" b="1"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0</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0</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extLst>
                  <a:ext uri="{0D108BD9-81ED-4DB2-BD59-A6C34878D82A}">
                    <a16:rowId xmlns:a16="http://schemas.microsoft.com/office/drawing/2014/main" val="10009"/>
                  </a:ext>
                </a:extLst>
              </a:tr>
              <a:tr h="254582">
                <a:tc>
                  <a:txBody>
                    <a:bodyPr/>
                    <a:lstStyle/>
                    <a:p>
                      <a:pPr>
                        <a:spcAft>
                          <a:spcPts val="0"/>
                        </a:spcAft>
                      </a:pPr>
                      <a:r>
                        <a:rPr lang="en-US" sz="1400" b="1" dirty="0">
                          <a:effectLst/>
                          <a:latin typeface="Times New Roman" panose="02020603050405020304" pitchFamily="18" charset="0"/>
                          <a:cs typeface="Times New Roman" panose="02020603050405020304" pitchFamily="18" charset="0"/>
                        </a:rPr>
                        <a:t>trees </a:t>
                      </a:r>
                      <a:endParaRPr lang="zh-CN" sz="1400" b="1"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1</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1</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extLst>
                  <a:ext uri="{0D108BD9-81ED-4DB2-BD59-A6C34878D82A}">
                    <a16:rowId xmlns:a16="http://schemas.microsoft.com/office/drawing/2014/main" val="10010"/>
                  </a:ext>
                </a:extLst>
              </a:tr>
              <a:tr h="254582">
                <a:tc>
                  <a:txBody>
                    <a:bodyPr/>
                    <a:lstStyle/>
                    <a:p>
                      <a:pPr>
                        <a:spcAft>
                          <a:spcPts val="0"/>
                        </a:spcAft>
                      </a:pPr>
                      <a:r>
                        <a:rPr lang="en-US" sz="1400" b="1" dirty="0">
                          <a:effectLst/>
                          <a:latin typeface="Times New Roman" panose="02020603050405020304" pitchFamily="18" charset="0"/>
                          <a:cs typeface="Times New Roman" panose="02020603050405020304" pitchFamily="18" charset="0"/>
                        </a:rPr>
                        <a:t>graph </a:t>
                      </a:r>
                      <a:endParaRPr lang="zh-CN" sz="1400" b="1"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1</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1</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1</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extLst>
                  <a:ext uri="{0D108BD9-81ED-4DB2-BD59-A6C34878D82A}">
                    <a16:rowId xmlns:a16="http://schemas.microsoft.com/office/drawing/2014/main" val="10011"/>
                  </a:ext>
                </a:extLst>
              </a:tr>
              <a:tr h="254582">
                <a:tc>
                  <a:txBody>
                    <a:bodyPr/>
                    <a:lstStyle/>
                    <a:p>
                      <a:pPr>
                        <a:spcAft>
                          <a:spcPts val="0"/>
                        </a:spcAft>
                      </a:pPr>
                      <a:r>
                        <a:rPr lang="en-US" sz="1400" b="1" dirty="0">
                          <a:effectLst/>
                          <a:latin typeface="Times New Roman" panose="02020603050405020304" pitchFamily="18" charset="0"/>
                          <a:cs typeface="Times New Roman" panose="02020603050405020304" pitchFamily="18" charset="0"/>
                        </a:rPr>
                        <a:t>minors</a:t>
                      </a:r>
                      <a:endParaRPr lang="zh-CN" sz="1400" b="1"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0</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a:effectLst/>
                          <a:latin typeface="Times New Roman" panose="02020603050405020304" pitchFamily="18" charset="0"/>
                          <a:cs typeface="Times New Roman" panose="02020603050405020304" pitchFamily="18" charset="0"/>
                        </a:rPr>
                        <a:t>0</a:t>
                      </a:r>
                      <a:endParaRPr lang="zh-CN" sz="140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1</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tc>
                  <a:txBody>
                    <a:bodyPr/>
                    <a:lstStyle/>
                    <a:p>
                      <a:pPr>
                        <a:spcAft>
                          <a:spcPts val="0"/>
                        </a:spcAft>
                      </a:pPr>
                      <a:r>
                        <a:rPr lang="en-US" sz="1400" dirty="0">
                          <a:effectLst/>
                          <a:latin typeface="Times New Roman" panose="02020603050405020304" pitchFamily="18" charset="0"/>
                          <a:cs typeface="Times New Roman" panose="02020603050405020304" pitchFamily="18" charset="0"/>
                        </a:rPr>
                        <a:t>1</a:t>
                      </a:r>
                      <a:endParaRPr lang="zh-CN" sz="1400" dirty="0">
                        <a:effectLst/>
                        <a:latin typeface="Times New Roman" panose="02020603050405020304" pitchFamily="18" charset="0"/>
                        <a:ea typeface="Times" panose="02020603050405020304" pitchFamily="18" charset="0"/>
                        <a:cs typeface="Times New Roman" panose="02020603050405020304" pitchFamily="18" charset="0"/>
                      </a:endParaRPr>
                    </a:p>
                  </a:txBody>
                  <a:tcPr marL="38100" marR="38100" marT="0" marB="0"/>
                </a:tc>
                <a:extLst>
                  <a:ext uri="{0D108BD9-81ED-4DB2-BD59-A6C34878D82A}">
                    <a16:rowId xmlns:a16="http://schemas.microsoft.com/office/drawing/2014/main" val="10012"/>
                  </a:ext>
                </a:extLst>
              </a:tr>
            </a:tbl>
          </a:graphicData>
        </a:graphic>
      </p:graphicFrame>
      <p:sp>
        <p:nvSpPr>
          <p:cNvPr id="7" name="文本框 6"/>
          <p:cNvSpPr txBox="1"/>
          <p:nvPr/>
        </p:nvSpPr>
        <p:spPr>
          <a:xfrm>
            <a:off x="4396351" y="671344"/>
            <a:ext cx="434734" cy="507831"/>
          </a:xfrm>
          <a:prstGeom prst="rect">
            <a:avLst/>
          </a:prstGeom>
          <a:noFill/>
        </p:spPr>
        <p:txBody>
          <a:bodyPr wrap="none" rtlCol="0">
            <a:spAutoFit/>
          </a:bodyPr>
          <a:lstStyle/>
          <a:p>
            <a:r>
              <a:rPr lang="en-US" altLang="zh-CN" sz="2700" b="1" dirty="0">
                <a:latin typeface="Times New Roman" panose="02020603050405020304" pitchFamily="18" charset="0"/>
                <a:cs typeface="Times New Roman" panose="02020603050405020304" pitchFamily="18" charset="0"/>
              </a:rPr>
              <a:t>D</a:t>
            </a:r>
            <a:endParaRPr lang="zh-CN" altLang="en-US" sz="2700" b="1" dirty="0">
              <a:latin typeface="Times New Roman" panose="02020603050405020304" pitchFamily="18" charset="0"/>
              <a:cs typeface="Times New Roman" panose="02020603050405020304" pitchFamily="18" charset="0"/>
            </a:endParaRPr>
          </a:p>
        </p:txBody>
      </p:sp>
      <p:sp>
        <p:nvSpPr>
          <p:cNvPr id="11" name="Rectangle 5"/>
          <p:cNvSpPr/>
          <p:nvPr/>
        </p:nvSpPr>
        <p:spPr>
          <a:xfrm>
            <a:off x="1461129" y="1397232"/>
            <a:ext cx="540533" cy="300082"/>
          </a:xfrm>
          <a:prstGeom prst="rect">
            <a:avLst/>
          </a:prstGeom>
        </p:spPr>
        <p:txBody>
          <a:bodyPr wrap="none">
            <a:spAutoFit/>
          </a:bodyPr>
          <a:lstStyle/>
          <a:p>
            <a:r>
              <a:rPr lang="en-US" sz="1350" dirty="0">
                <a:latin typeface="Times New Roman" pitchFamily="18" charset="0"/>
                <a:cs typeface="Times New Roman" pitchFamily="18" charset="0"/>
              </a:rPr>
              <a:t>word</a:t>
            </a:r>
            <a:endParaRPr lang="en-US" sz="1350" dirty="0"/>
          </a:p>
        </p:txBody>
      </p:sp>
      <p:sp>
        <p:nvSpPr>
          <p:cNvPr id="12" name="Line 9"/>
          <p:cNvSpPr>
            <a:spLocks noChangeShapeType="1"/>
          </p:cNvSpPr>
          <p:nvPr/>
        </p:nvSpPr>
        <p:spPr bwMode="auto">
          <a:xfrm>
            <a:off x="1621377" y="1639805"/>
            <a:ext cx="351812"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13" name="Rectangle 7"/>
          <p:cNvSpPr/>
          <p:nvPr/>
        </p:nvSpPr>
        <p:spPr>
          <a:xfrm>
            <a:off x="3059832" y="584287"/>
            <a:ext cx="867545" cy="300082"/>
          </a:xfrm>
          <a:prstGeom prst="rect">
            <a:avLst/>
          </a:prstGeom>
        </p:spPr>
        <p:txBody>
          <a:bodyPr wrap="none">
            <a:spAutoFit/>
          </a:bodyPr>
          <a:lstStyle/>
          <a:p>
            <a:r>
              <a:rPr lang="en-US" sz="1350" dirty="0">
                <a:latin typeface="Times New Roman" pitchFamily="18" charset="0"/>
                <a:cs typeface="Times New Roman" pitchFamily="18" charset="0"/>
              </a:rPr>
              <a:t>document</a:t>
            </a:r>
            <a:endParaRPr lang="en-US" sz="1350" dirty="0"/>
          </a:p>
        </p:txBody>
      </p:sp>
      <p:sp>
        <p:nvSpPr>
          <p:cNvPr id="14" name="Line 15"/>
          <p:cNvSpPr>
            <a:spLocks noChangeShapeType="1"/>
          </p:cNvSpPr>
          <p:nvPr/>
        </p:nvSpPr>
        <p:spPr bwMode="auto">
          <a:xfrm rot="5400000">
            <a:off x="3291298" y="928209"/>
            <a:ext cx="257440"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 name="文本框 8">
            <a:extLst>
              <a:ext uri="{FF2B5EF4-FFF2-40B4-BE49-F238E27FC236}">
                <a16:creationId xmlns:a16="http://schemas.microsoft.com/office/drawing/2014/main" id="{E608D7BC-B86F-2947-9255-4C1A02584621}"/>
              </a:ext>
            </a:extLst>
          </p:cNvPr>
          <p:cNvSpPr txBox="1"/>
          <p:nvPr/>
        </p:nvSpPr>
        <p:spPr>
          <a:xfrm>
            <a:off x="2309232" y="4731268"/>
            <a:ext cx="4741554" cy="369332"/>
          </a:xfrm>
          <a:prstGeom prst="rect">
            <a:avLst/>
          </a:prstGeom>
          <a:noFill/>
        </p:spPr>
        <p:txBody>
          <a:bodyPr wrap="none" rtlCol="0">
            <a:spAutoFit/>
          </a:bodyPr>
          <a:lstStyle/>
          <a:p>
            <a:r>
              <a:rPr kumimoji="1" lang="zh-CN" altLang="en-US" dirty="0"/>
              <a:t>单词</a:t>
            </a:r>
            <a:r>
              <a:rPr kumimoji="1" lang="en-US" altLang="zh-CN" dirty="0"/>
              <a:t>-</a:t>
            </a:r>
            <a:r>
              <a:rPr kumimoji="1" lang="zh-CN" altLang="en-US" dirty="0"/>
              <a:t>文档矩阵：值为单词频率，大部分值为</a:t>
            </a:r>
            <a:r>
              <a:rPr kumimoji="1" lang="en-US" altLang="zh-CN" dirty="0"/>
              <a:t>0</a:t>
            </a:r>
            <a:endParaRPr kumimoji="1" lang="zh-CN" altLang="en-US" dirty="0"/>
          </a:p>
        </p:txBody>
      </p:sp>
    </p:spTree>
    <p:extLst>
      <p:ext uri="{BB962C8B-B14F-4D97-AF65-F5344CB8AC3E}">
        <p14:creationId xmlns:p14="http://schemas.microsoft.com/office/powerpoint/2010/main" val="41864069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zh-CN" altLang="en-US" sz="2700" dirty="0"/>
              <a:t>举例</a:t>
            </a:r>
            <a:endParaRPr lang="en-US" altLang="zh-CN" sz="2700" dirty="0">
              <a:latin typeface="华文楷体" panose="02010600040101010101" pitchFamily="2" charset="-122"/>
              <a:ea typeface="华文楷体" panose="02010600040101010101" pitchFamily="2" charset="-122"/>
              <a:cs typeface="Times" panose="02020603050405020304" pitchFamily="18" charset="0"/>
            </a:endParaRPr>
          </a:p>
        </p:txBody>
      </p:sp>
      <p:graphicFrame>
        <p:nvGraphicFramePr>
          <p:cNvPr id="20483" name="Object 3"/>
          <p:cNvGraphicFramePr>
            <a:graphicFrameLocks noGrp="1" noChangeAspect="1"/>
          </p:cNvGraphicFramePr>
          <p:nvPr>
            <p:ph type="tbl" idx="4294967295"/>
            <p:extLst>
              <p:ext uri="{D42A27DB-BD31-4B8C-83A1-F6EECF244321}">
                <p14:modId xmlns:p14="http://schemas.microsoft.com/office/powerpoint/2010/main" val="3326816387"/>
              </p:ext>
            </p:extLst>
          </p:nvPr>
        </p:nvGraphicFramePr>
        <p:xfrm>
          <a:off x="1861140" y="1399365"/>
          <a:ext cx="6221108" cy="2636044"/>
        </p:xfrm>
        <a:graphic>
          <a:graphicData uri="http://schemas.openxmlformats.org/presentationml/2006/ole">
            <mc:AlternateContent xmlns:mc="http://schemas.openxmlformats.org/markup-compatibility/2006">
              <mc:Choice xmlns:v="urn:schemas-microsoft-com:vml" Requires="v">
                <p:oleObj name="Document" r:id="rId3" imgW="5605603" imgH="2284958" progId="Word.Document.8">
                  <p:embed/>
                </p:oleObj>
              </mc:Choice>
              <mc:Fallback>
                <p:oleObj name="Document" r:id="rId3" imgW="5605603" imgH="2284958" progId="Word.Document.8">
                  <p:embed/>
                  <p:pic>
                    <p:nvPicPr>
                      <p:cNvPr id="20483" name="Object 3"/>
                      <p:cNvPicPr>
                        <a:picLocks noChangeAspect="1" noChangeArrowheads="1"/>
                      </p:cNvPicPr>
                      <p:nvPr/>
                    </p:nvPicPr>
                    <p:blipFill>
                      <a:blip r:embed="rId4"/>
                      <a:srcRect/>
                      <a:stretch>
                        <a:fillRect/>
                      </a:stretch>
                    </p:blipFill>
                    <p:spPr bwMode="auto">
                      <a:xfrm>
                        <a:off x="1861140" y="1399365"/>
                        <a:ext cx="6221108" cy="2636044"/>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0484" name="Rectangle 4"/>
              <p:cNvSpPr>
                <a:spLocks noGrp="1" noChangeArrowheads="1"/>
              </p:cNvSpPr>
              <p:nvPr>
                <p:ph type="body" idx="1"/>
              </p:nvPr>
            </p:nvSpPr>
            <p:spPr>
              <a:xfrm>
                <a:off x="1334815" y="854183"/>
                <a:ext cx="5909072" cy="3086100"/>
              </a:xfrm>
            </p:spPr>
            <p:txBody>
              <a:bodyPr/>
              <a:lstStyle/>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宋体" panose="02010600030101010101" pitchFamily="2" charset="-122"/>
                        </a:rPr>
                        <m:t>𝐷</m:t>
                      </m:r>
                      <m:r>
                        <a:rPr lang="en-US" altLang="zh-CN" b="0" i="1" smtClean="0">
                          <a:latin typeface="Cambria Math" panose="02040503050406030204" pitchFamily="18" charset="0"/>
                          <a:ea typeface="宋体" panose="02010600030101010101" pitchFamily="2" charset="-122"/>
                        </a:rPr>
                        <m:t>=</m:t>
                      </m:r>
                      <m:r>
                        <a:rPr lang="en-US" altLang="zh-CN" b="0" i="1" smtClean="0">
                          <a:solidFill>
                            <a:srgbClr val="C00000"/>
                          </a:solidFill>
                          <a:latin typeface="Cambria Math" panose="02040503050406030204" pitchFamily="18" charset="0"/>
                          <a:ea typeface="宋体" panose="02010600030101010101" pitchFamily="2" charset="-122"/>
                        </a:rPr>
                        <m:t>𝑈</m:t>
                      </m:r>
                      <m:r>
                        <m:rPr>
                          <m:sty m:val="p"/>
                        </m:rPr>
                        <a:rPr lang="en-US" altLang="zh-CN" b="0" i="0" smtClean="0">
                          <a:latin typeface="Cambria Math" panose="02040503050406030204" pitchFamily="18" charset="0"/>
                          <a:ea typeface="宋体" panose="02010600030101010101" pitchFamily="2" charset="-122"/>
                        </a:rPr>
                        <m:t>Σ</m:t>
                      </m:r>
                      <m:sSup>
                        <m:sSupPr>
                          <m:ctrlPr>
                            <a:rPr lang="en-US" altLang="zh-CN" b="0" i="1" smtClean="0">
                              <a:latin typeface="Cambria Math" panose="02040503050406030204" pitchFamily="18" charset="0"/>
                              <a:ea typeface="宋体" panose="02010600030101010101" pitchFamily="2" charset="-122"/>
                            </a:rPr>
                          </m:ctrlPr>
                        </m:sSupPr>
                        <m:e>
                          <m:r>
                            <a:rPr lang="en-US" altLang="zh-CN" b="0" i="1" smtClean="0">
                              <a:latin typeface="Cambria Math" panose="02040503050406030204" pitchFamily="18" charset="0"/>
                              <a:ea typeface="宋体" panose="02010600030101010101" pitchFamily="2" charset="-122"/>
                            </a:rPr>
                            <m:t>𝑉</m:t>
                          </m:r>
                        </m:e>
                        <m:sup>
                          <m:r>
                            <a:rPr lang="en-US" altLang="zh-CN" b="0" i="1" smtClean="0">
                              <a:latin typeface="Cambria Math" panose="02040503050406030204" pitchFamily="18" charset="0"/>
                              <a:ea typeface="宋体" panose="02010600030101010101" pitchFamily="2" charset="-122"/>
                            </a:rPr>
                            <m:t>𝑇</m:t>
                          </m:r>
                        </m:sup>
                      </m:sSup>
                    </m:oMath>
                  </m:oMathPara>
                </a14:m>
                <a:endParaRPr lang="en-US" altLang="zh-CN" dirty="0">
                  <a:ea typeface="宋体" panose="02010600030101010101" pitchFamily="2" charset="-122"/>
                </a:endParaRPr>
              </a:p>
              <a:p>
                <a:pPr marL="0" indent="0">
                  <a:buNone/>
                </a:pPr>
                <a:endParaRPr lang="en-US" altLang="zh-CN" dirty="0">
                  <a:ea typeface="宋体" panose="02010600030101010101" pitchFamily="2" charset="-122"/>
                </a:endParaRPr>
              </a:p>
              <a:p>
                <a:pPr marL="0" indent="0">
                  <a:buNone/>
                </a:pPr>
                <a:endParaRPr lang="en-US" altLang="zh-CN" dirty="0">
                  <a:ea typeface="宋体" panose="02010600030101010101" pitchFamily="2" charset="-122"/>
                </a:endParaRPr>
              </a:p>
              <a:p>
                <a:pPr marL="0" indent="0">
                  <a:buNone/>
                </a:pPr>
                <a:endParaRPr lang="en-US" altLang="zh-CN" dirty="0">
                  <a:ea typeface="宋体" panose="02010600030101010101" pitchFamily="2" charset="-122"/>
                </a:endParaRPr>
              </a:p>
              <a:p>
                <a:pPr marL="0" indent="0">
                  <a:buNone/>
                </a:pPr>
                <a14:m>
                  <m:oMath xmlns:m="http://schemas.openxmlformats.org/officeDocument/2006/math">
                    <m:r>
                      <a:rPr lang="en-US" altLang="zh-CN" i="1">
                        <a:solidFill>
                          <a:srgbClr val="C00000"/>
                        </a:solidFill>
                        <a:latin typeface="Cambria Math" panose="02040503050406030204" pitchFamily="18" charset="0"/>
                        <a:ea typeface="宋体" panose="02010600030101010101" pitchFamily="2" charset="-122"/>
                      </a:rPr>
                      <m:t>𝑈</m:t>
                    </m:r>
                  </m:oMath>
                </a14:m>
                <a:r>
                  <a:rPr lang="en-US" altLang="zh-CN" dirty="0">
                    <a:ea typeface="宋体" panose="02010600030101010101" pitchFamily="2" charset="-122"/>
                  </a:rPr>
                  <a:t>=</a:t>
                </a:r>
              </a:p>
            </p:txBody>
          </p:sp>
        </mc:Choice>
        <mc:Fallback xmlns="">
          <p:sp>
            <p:nvSpPr>
              <p:cNvPr id="20484" name="Rectangle 4"/>
              <p:cNvSpPr>
                <a:spLocks noGrp="1" noRot="1" noChangeAspect="1" noMove="1" noResize="1" noEditPoints="1" noAdjustHandles="1" noChangeArrowheads="1" noChangeShapeType="1" noTextEdit="1"/>
              </p:cNvSpPr>
              <p:nvPr>
                <p:ph type="body" idx="1"/>
              </p:nvPr>
            </p:nvSpPr>
            <p:spPr>
              <a:xfrm>
                <a:off x="1334815" y="854183"/>
                <a:ext cx="5909072" cy="3086100"/>
              </a:xfrm>
              <a:blipFill>
                <a:blip r:embed="rId6"/>
                <a:stretch>
                  <a:fillRect/>
                </a:stretch>
              </a:blipFill>
            </p:spPr>
            <p:txBody>
              <a:bodyPr/>
              <a:lstStyle/>
              <a:p>
                <a:r>
                  <a:rPr lang="zh-CN" altLang="en-US">
                    <a:noFill/>
                  </a:rPr>
                  <a:t> </a:t>
                </a:r>
              </a:p>
            </p:txBody>
          </p:sp>
        </mc:Fallback>
      </mc:AlternateContent>
      <p:sp>
        <p:nvSpPr>
          <p:cNvPr id="5" name="Rectangle 5"/>
          <p:cNvSpPr/>
          <p:nvPr/>
        </p:nvSpPr>
        <p:spPr>
          <a:xfrm>
            <a:off x="1138943" y="1358030"/>
            <a:ext cx="540533" cy="300082"/>
          </a:xfrm>
          <a:prstGeom prst="rect">
            <a:avLst/>
          </a:prstGeom>
        </p:spPr>
        <p:txBody>
          <a:bodyPr wrap="none">
            <a:spAutoFit/>
          </a:bodyPr>
          <a:lstStyle/>
          <a:p>
            <a:r>
              <a:rPr lang="en-US" sz="1350" dirty="0">
                <a:latin typeface="Times New Roman" pitchFamily="18" charset="0"/>
                <a:cs typeface="Times New Roman" pitchFamily="18" charset="0"/>
              </a:rPr>
              <a:t>word</a:t>
            </a:r>
            <a:endParaRPr lang="en-US" sz="1350" dirty="0"/>
          </a:p>
        </p:txBody>
      </p:sp>
      <p:sp>
        <p:nvSpPr>
          <p:cNvPr id="6" name="Line 9"/>
          <p:cNvSpPr>
            <a:spLocks noChangeShapeType="1"/>
          </p:cNvSpPr>
          <p:nvPr/>
        </p:nvSpPr>
        <p:spPr bwMode="auto">
          <a:xfrm>
            <a:off x="1581872" y="1508071"/>
            <a:ext cx="351812"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7" name="Rectangle 7"/>
          <p:cNvSpPr/>
          <p:nvPr/>
        </p:nvSpPr>
        <p:spPr>
          <a:xfrm>
            <a:off x="1793403" y="826692"/>
            <a:ext cx="569387" cy="300082"/>
          </a:xfrm>
          <a:prstGeom prst="rect">
            <a:avLst/>
          </a:prstGeom>
        </p:spPr>
        <p:txBody>
          <a:bodyPr wrap="none">
            <a:spAutoFit/>
          </a:bodyPr>
          <a:lstStyle/>
          <a:p>
            <a:r>
              <a:rPr lang="en-US" sz="1350" dirty="0">
                <a:latin typeface="Times New Roman" pitchFamily="18" charset="0"/>
                <a:cs typeface="Times New Roman" pitchFamily="18" charset="0"/>
              </a:rPr>
              <a:t>latent</a:t>
            </a:r>
            <a:endParaRPr lang="en-US" sz="1350" dirty="0"/>
          </a:p>
        </p:txBody>
      </p:sp>
      <p:sp>
        <p:nvSpPr>
          <p:cNvPr id="8" name="Line 15"/>
          <p:cNvSpPr>
            <a:spLocks noChangeShapeType="1"/>
          </p:cNvSpPr>
          <p:nvPr/>
        </p:nvSpPr>
        <p:spPr bwMode="auto">
          <a:xfrm rot="5400000">
            <a:off x="1932620" y="1255494"/>
            <a:ext cx="257440"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 name="右大括号 8"/>
          <p:cNvSpPr/>
          <p:nvPr/>
        </p:nvSpPr>
        <p:spPr>
          <a:xfrm rot="5400000">
            <a:off x="2516314" y="3390891"/>
            <a:ext cx="270030" cy="1217517"/>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100"/>
          </a:p>
        </p:txBody>
      </p:sp>
      <p:sp>
        <p:nvSpPr>
          <p:cNvPr id="10" name="文本框 9"/>
          <p:cNvSpPr txBox="1"/>
          <p:nvPr/>
        </p:nvSpPr>
        <p:spPr>
          <a:xfrm>
            <a:off x="2449832" y="4163639"/>
            <a:ext cx="595035" cy="415498"/>
          </a:xfrm>
          <a:prstGeom prst="rect">
            <a:avLst/>
          </a:prstGeom>
          <a:noFill/>
        </p:spPr>
        <p:txBody>
          <a:bodyPr wrap="none" rtlCol="0">
            <a:spAutoFit/>
          </a:bodyPr>
          <a:lstStyle/>
          <a:p>
            <a:r>
              <a:rPr lang="en-US" altLang="zh-CN" sz="2100" dirty="0"/>
              <a:t>K=2</a:t>
            </a:r>
            <a:endParaRPr lang="zh-CN" altLang="en-US" sz="2100" dirty="0"/>
          </a:p>
        </p:txBody>
      </p:sp>
      <p:sp>
        <p:nvSpPr>
          <p:cNvPr id="2" name="文本框 1">
            <a:extLst>
              <a:ext uri="{FF2B5EF4-FFF2-40B4-BE49-F238E27FC236}">
                <a16:creationId xmlns:a16="http://schemas.microsoft.com/office/drawing/2014/main" id="{C2C80390-9F6C-6C46-A27D-34EC6443856A}"/>
              </a:ext>
            </a:extLst>
          </p:cNvPr>
          <p:cNvSpPr txBox="1"/>
          <p:nvPr/>
        </p:nvSpPr>
        <p:spPr>
          <a:xfrm>
            <a:off x="1679476" y="4633342"/>
            <a:ext cx="7045968" cy="369332"/>
          </a:xfrm>
          <a:prstGeom prst="rect">
            <a:avLst/>
          </a:prstGeom>
          <a:noFill/>
        </p:spPr>
        <p:txBody>
          <a:bodyPr wrap="none" rtlCol="0">
            <a:spAutoFit/>
          </a:bodyPr>
          <a:lstStyle/>
          <a:p>
            <a:r>
              <a:rPr kumimoji="1" lang="en-US" altLang="zh-CN" dirty="0"/>
              <a:t>SVD</a:t>
            </a:r>
            <a:r>
              <a:rPr kumimoji="1" lang="zh-CN" altLang="en-US" dirty="0"/>
              <a:t>得到的</a:t>
            </a:r>
            <a:r>
              <a:rPr kumimoji="1" lang="en-US" altLang="zh-CN" dirty="0"/>
              <a:t>U</a:t>
            </a:r>
            <a:r>
              <a:rPr kumimoji="1" lang="zh-CN" altLang="en-US" dirty="0"/>
              <a:t>矩阵，为稠密矩阵（左特征向量的顺序已经调整完毕）</a:t>
            </a:r>
          </a:p>
        </p:txBody>
      </p:sp>
    </p:spTree>
    <p:extLst>
      <p:ext uri="{BB962C8B-B14F-4D97-AF65-F5344CB8AC3E}">
        <p14:creationId xmlns:p14="http://schemas.microsoft.com/office/powerpoint/2010/main" val="33677885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zh-CN" altLang="en-US" sz="2700" dirty="0"/>
              <a:t>举例</a:t>
            </a:r>
            <a:endParaRPr lang="en-US" altLang="zh-CN" sz="2700" i="1" dirty="0">
              <a:solidFill>
                <a:srgbClr val="000099"/>
              </a:solidFill>
              <a:latin typeface="Arial Black" panose="020B0A04020102020204" pitchFamily="34" charset="0"/>
              <a:ea typeface="宋体" panose="02010600030101010101" pitchFamily="2" charset="-122"/>
              <a:cs typeface="Times" panose="02020603050405020304" pitchFamily="18" charset="0"/>
            </a:endParaRPr>
          </a:p>
        </p:txBody>
      </p:sp>
      <mc:AlternateContent xmlns:mc="http://schemas.openxmlformats.org/markup-compatibility/2006" xmlns:a14="http://schemas.microsoft.com/office/drawing/2010/main">
        <mc:Choice Requires="a14">
          <p:sp>
            <p:nvSpPr>
              <p:cNvPr id="22531" name="Rectangle 3"/>
              <p:cNvSpPr>
                <a:spLocks noGrp="1" noChangeArrowheads="1"/>
              </p:cNvSpPr>
              <p:nvPr>
                <p:ph type="body" idx="1"/>
              </p:nvPr>
            </p:nvSpPr>
            <p:spPr>
              <a:xfrm>
                <a:off x="1485900" y="1078056"/>
                <a:ext cx="6172200" cy="3156998"/>
              </a:xfrm>
            </p:spPr>
            <p:txBody>
              <a:bodyPr/>
              <a:lstStyle/>
              <a:p>
                <a:pPr marL="0" indent="0">
                  <a:buNone/>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宋体" panose="02010600030101010101" pitchFamily="2" charset="-122"/>
                        </a:rPr>
                        <m:t>𝐷</m:t>
                      </m:r>
                      <m:r>
                        <a:rPr lang="en-US" altLang="zh-CN" i="1" smtClean="0">
                          <a:latin typeface="Cambria Math" panose="02040503050406030204" pitchFamily="18" charset="0"/>
                          <a:ea typeface="宋体" panose="02010600030101010101" pitchFamily="2" charset="-122"/>
                        </a:rPr>
                        <m:t>=</m:t>
                      </m:r>
                      <m:r>
                        <a:rPr lang="en-US" altLang="zh-CN" i="1" smtClean="0">
                          <a:solidFill>
                            <a:schemeClr val="tx1"/>
                          </a:solidFill>
                          <a:latin typeface="Cambria Math" panose="02040503050406030204" pitchFamily="18" charset="0"/>
                          <a:ea typeface="宋体" panose="02010600030101010101" pitchFamily="2" charset="-122"/>
                        </a:rPr>
                        <m:t>𝑈</m:t>
                      </m:r>
                      <m:r>
                        <m:rPr>
                          <m:sty m:val="p"/>
                        </m:rPr>
                        <a:rPr lang="en-US" altLang="zh-CN" smtClean="0">
                          <a:solidFill>
                            <a:srgbClr val="C00000"/>
                          </a:solidFill>
                          <a:latin typeface="Cambria Math" panose="02040503050406030204" pitchFamily="18" charset="0"/>
                          <a:ea typeface="宋体" panose="02010600030101010101" pitchFamily="2" charset="-122"/>
                        </a:rPr>
                        <m:t>Σ</m:t>
                      </m:r>
                      <m:sSup>
                        <m:sSupPr>
                          <m:ctrlPr>
                            <a:rPr lang="en-US" altLang="zh-CN" i="1">
                              <a:latin typeface="Cambria Math" panose="02040503050406030204" pitchFamily="18" charset="0"/>
                              <a:ea typeface="宋体" panose="02010600030101010101" pitchFamily="2" charset="-122"/>
                            </a:rPr>
                          </m:ctrlPr>
                        </m:sSupPr>
                        <m:e>
                          <m:r>
                            <a:rPr lang="en-US" altLang="zh-CN" i="1" smtClean="0">
                              <a:latin typeface="Cambria Math" panose="02040503050406030204" pitchFamily="18" charset="0"/>
                              <a:ea typeface="宋体" panose="02010600030101010101" pitchFamily="2" charset="-122"/>
                            </a:rPr>
                            <m:t>𝑉</m:t>
                          </m:r>
                        </m:e>
                        <m:sup>
                          <m:r>
                            <a:rPr lang="en-US" altLang="zh-CN" i="1">
                              <a:latin typeface="Cambria Math" panose="02040503050406030204" pitchFamily="18" charset="0"/>
                              <a:ea typeface="宋体" panose="02010600030101010101" pitchFamily="2" charset="-122"/>
                            </a:rPr>
                            <m:t>𝑇</m:t>
                          </m:r>
                        </m:sup>
                      </m:sSup>
                    </m:oMath>
                  </m:oMathPara>
                </a14:m>
                <a:endParaRPr lang="en-US" altLang="zh-CN" dirty="0">
                  <a:ea typeface="宋体" panose="02010600030101010101" pitchFamily="2" charset="-122"/>
                </a:endParaRPr>
              </a:p>
              <a:p>
                <a:pPr marL="0" indent="0">
                  <a:buNone/>
                </a:pPr>
                <a:endParaRPr lang="en-US" altLang="zh-CN" dirty="0">
                  <a:ea typeface="宋体" panose="02010600030101010101" pitchFamily="2" charset="-122"/>
                </a:endParaRPr>
              </a:p>
              <a:p>
                <a:pPr marL="0" indent="0">
                  <a:buNone/>
                </a:pPr>
                <a:endParaRPr lang="en-US" altLang="zh-CN" dirty="0">
                  <a:ea typeface="宋体" panose="02010600030101010101" pitchFamily="2" charset="-122"/>
                </a:endParaRPr>
              </a:p>
              <a:p>
                <a:pPr marL="0" indent="0">
                  <a:buNone/>
                </a:pPr>
                <a:endParaRPr lang="en-US" altLang="zh-CN" dirty="0">
                  <a:ea typeface="宋体" panose="02010600030101010101" pitchFamily="2" charset="-122"/>
                </a:endParaRPr>
              </a:p>
              <a:p>
                <a:pPr marL="0" indent="0">
                  <a:buNone/>
                </a:pPr>
                <a:endParaRPr lang="en-US" altLang="zh-CN" dirty="0">
                  <a:ea typeface="宋体" panose="02010600030101010101" pitchFamily="2" charset="-122"/>
                </a:endParaRPr>
              </a:p>
              <a:p>
                <a:pPr marL="0" indent="0">
                  <a:buNone/>
                </a:pPr>
                <a14:m>
                  <m:oMath xmlns:m="http://schemas.openxmlformats.org/officeDocument/2006/math">
                    <m:r>
                      <m:rPr>
                        <m:sty m:val="p"/>
                      </m:rPr>
                      <a:rPr lang="en-US" altLang="zh-CN" b="0" i="0" smtClean="0">
                        <a:solidFill>
                          <a:srgbClr val="C00000"/>
                        </a:solidFill>
                        <a:latin typeface="Cambria Math" panose="02040503050406030204" pitchFamily="18" charset="0"/>
                        <a:ea typeface="宋体" panose="02010600030101010101" pitchFamily="2" charset="-122"/>
                      </a:rPr>
                      <m:t>Σ</m:t>
                    </m:r>
                  </m:oMath>
                </a14:m>
                <a:r>
                  <a:rPr lang="en-US" altLang="zh-CN" dirty="0">
                    <a:ea typeface="宋体" panose="02010600030101010101" pitchFamily="2" charset="-122"/>
                  </a:rPr>
                  <a:t>=</a:t>
                </a:r>
              </a:p>
              <a:p>
                <a:pPr marL="0" indent="0">
                  <a:buNone/>
                </a:pPr>
                <a:endParaRPr lang="en-US" altLang="zh-CN" dirty="0">
                  <a:ea typeface="宋体" panose="02010600030101010101" pitchFamily="2" charset="-122"/>
                </a:endParaRPr>
              </a:p>
            </p:txBody>
          </p:sp>
        </mc:Choice>
        <mc:Fallback xmlns="">
          <p:sp>
            <p:nvSpPr>
              <p:cNvPr id="22531" name="Rectangle 3"/>
              <p:cNvSpPr>
                <a:spLocks noGrp="1" noRot="1" noChangeAspect="1" noMove="1" noResize="1" noEditPoints="1" noAdjustHandles="1" noChangeArrowheads="1" noChangeShapeType="1" noTextEdit="1"/>
              </p:cNvSpPr>
              <p:nvPr>
                <p:ph type="body" idx="1"/>
              </p:nvPr>
            </p:nvSpPr>
            <p:spPr>
              <a:xfrm>
                <a:off x="1485900" y="1078056"/>
                <a:ext cx="6172200" cy="3156998"/>
              </a:xfrm>
              <a:blipFill>
                <a:blip r:embed="rId4"/>
                <a:stretch>
                  <a:fillRect/>
                </a:stretch>
              </a:blipFill>
            </p:spPr>
            <p:txBody>
              <a:bodyPr/>
              <a:lstStyle/>
              <a:p>
                <a:r>
                  <a:rPr lang="zh-CN" altLang="en-US">
                    <a:noFill/>
                  </a:rPr>
                  <a:t> </a:t>
                </a:r>
              </a:p>
            </p:txBody>
          </p:sp>
        </mc:Fallback>
      </mc:AlternateContent>
      <p:graphicFrame>
        <p:nvGraphicFramePr>
          <p:cNvPr id="22532" name="Object 4"/>
          <p:cNvGraphicFramePr>
            <a:graphicFrameLocks noChangeAspect="1"/>
          </p:cNvGraphicFramePr>
          <p:nvPr/>
        </p:nvGraphicFramePr>
        <p:xfrm>
          <a:off x="2057400" y="1950244"/>
          <a:ext cx="5687616" cy="1774031"/>
        </p:xfrm>
        <a:graphic>
          <a:graphicData uri="http://schemas.openxmlformats.org/presentationml/2006/ole">
            <mc:AlternateContent xmlns:mc="http://schemas.openxmlformats.org/markup-compatibility/2006">
              <mc:Choice xmlns:v="urn:schemas-microsoft-com:vml" Requires="v">
                <p:oleObj name="Document" r:id="rId5" imgW="5605603" imgH="1755275" progId="Word.Document.8">
                  <p:embed/>
                </p:oleObj>
              </mc:Choice>
              <mc:Fallback>
                <p:oleObj name="Document" r:id="rId5" imgW="5605603" imgH="1755275" progId="Word.Document.8">
                  <p:embed/>
                  <p:pic>
                    <p:nvPicPr>
                      <p:cNvPr id="22532" name="Object 4"/>
                      <p:cNvPicPr>
                        <a:picLocks noChangeAspect="1" noChangeArrowheads="1"/>
                      </p:cNvPicPr>
                      <p:nvPr/>
                    </p:nvPicPr>
                    <p:blipFill>
                      <a:blip r:embed="rId6"/>
                      <a:srcRect/>
                      <a:stretch>
                        <a:fillRect/>
                      </a:stretch>
                    </p:blipFill>
                    <p:spPr bwMode="auto">
                      <a:xfrm>
                        <a:off x="2057400" y="1950244"/>
                        <a:ext cx="5687616" cy="1774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右大括号 1"/>
          <p:cNvSpPr/>
          <p:nvPr/>
        </p:nvSpPr>
        <p:spPr>
          <a:xfrm rot="5400000">
            <a:off x="2532083" y="2047796"/>
            <a:ext cx="270030" cy="1217517"/>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1350"/>
          </a:p>
        </p:txBody>
      </p:sp>
      <p:sp>
        <p:nvSpPr>
          <p:cNvPr id="3" name="文本框 2"/>
          <p:cNvSpPr txBox="1"/>
          <p:nvPr/>
        </p:nvSpPr>
        <p:spPr>
          <a:xfrm>
            <a:off x="2465599" y="2820544"/>
            <a:ext cx="449162" cy="300082"/>
          </a:xfrm>
          <a:prstGeom prst="rect">
            <a:avLst/>
          </a:prstGeom>
          <a:noFill/>
        </p:spPr>
        <p:txBody>
          <a:bodyPr wrap="none" rtlCol="0">
            <a:spAutoFit/>
          </a:bodyPr>
          <a:lstStyle/>
          <a:p>
            <a:r>
              <a:rPr lang="en-US" altLang="zh-CN" sz="1350" dirty="0"/>
              <a:t>K=2</a:t>
            </a:r>
            <a:endParaRPr lang="zh-CN" altLang="en-US" sz="1350"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1776BCC-292D-6148-9176-A19E48DB3B7C}"/>
                  </a:ext>
                </a:extLst>
              </p:cNvPr>
              <p:cNvSpPr txBox="1"/>
              <p:nvPr/>
            </p:nvSpPr>
            <p:spPr>
              <a:xfrm>
                <a:off x="1263840" y="4516740"/>
                <a:ext cx="6554358" cy="369332"/>
              </a:xfrm>
              <a:prstGeom prst="rect">
                <a:avLst/>
              </a:prstGeom>
              <a:noFill/>
            </p:spPr>
            <p:txBody>
              <a:bodyPr wrap="none" rtlCol="0">
                <a:spAutoFit/>
              </a:bodyPr>
              <a:lstStyle/>
              <a:p>
                <a:r>
                  <a:rPr kumimoji="1" lang="en-US" altLang="zh-CN" dirty="0"/>
                  <a:t>SVD</a:t>
                </a:r>
                <a:r>
                  <a:rPr kumimoji="1" lang="zh-CN" altLang="en-US" dirty="0"/>
                  <a:t>得到的</a:t>
                </a:r>
                <a14:m>
                  <m:oMath xmlns:m="http://schemas.openxmlformats.org/officeDocument/2006/math">
                    <m:r>
                      <m:rPr>
                        <m:sty m:val="p"/>
                      </m:rPr>
                      <a:rPr lang="en-US" altLang="zh-CN">
                        <a:solidFill>
                          <a:srgbClr val="C00000"/>
                        </a:solidFill>
                        <a:latin typeface="Cambria Math" panose="02040503050406030204" pitchFamily="18" charset="0"/>
                      </a:rPr>
                      <m:t>Σ</m:t>
                    </m:r>
                  </m:oMath>
                </a14:m>
                <a:r>
                  <a:rPr kumimoji="1" lang="zh-CN" altLang="en-US" dirty="0"/>
                  <a:t>矩阵，为对角方阵（特征根的顺序已经排序完毕）</a:t>
                </a:r>
              </a:p>
            </p:txBody>
          </p:sp>
        </mc:Choice>
        <mc:Fallback xmlns="">
          <p:sp>
            <p:nvSpPr>
              <p:cNvPr id="7" name="文本框 6">
                <a:extLst>
                  <a:ext uri="{FF2B5EF4-FFF2-40B4-BE49-F238E27FC236}">
                    <a16:creationId xmlns:a16="http://schemas.microsoft.com/office/drawing/2014/main" id="{F1776BCC-292D-6148-9176-A19E48DB3B7C}"/>
                  </a:ext>
                </a:extLst>
              </p:cNvPr>
              <p:cNvSpPr txBox="1">
                <a:spLocks noRot="1" noChangeAspect="1" noMove="1" noResize="1" noEditPoints="1" noAdjustHandles="1" noChangeArrowheads="1" noChangeShapeType="1" noTextEdit="1"/>
              </p:cNvSpPr>
              <p:nvPr/>
            </p:nvSpPr>
            <p:spPr>
              <a:xfrm>
                <a:off x="1263840" y="4516740"/>
                <a:ext cx="6554358" cy="369332"/>
              </a:xfrm>
              <a:prstGeom prst="rect">
                <a:avLst/>
              </a:prstGeom>
              <a:blipFill>
                <a:blip r:embed="rId7"/>
                <a:stretch>
                  <a:fillRect l="-774" t="-13333" b="-23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061733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zh-CN" altLang="en-US" sz="2700" dirty="0"/>
              <a:t>举例</a:t>
            </a:r>
            <a:endParaRPr lang="en-US" altLang="zh-CN" sz="2700" i="1" dirty="0">
              <a:solidFill>
                <a:srgbClr val="000099"/>
              </a:solidFill>
              <a:latin typeface="Arial Black" panose="020B0A04020102020204" pitchFamily="34" charset="0"/>
              <a:ea typeface="宋体" panose="02010600030101010101" pitchFamily="2" charset="-122"/>
              <a:cs typeface="Times" panose="02020603050405020304" pitchFamily="18" charset="0"/>
            </a:endParaRPr>
          </a:p>
        </p:txBody>
      </p:sp>
      <mc:AlternateContent xmlns:mc="http://schemas.openxmlformats.org/markup-compatibility/2006" xmlns:a14="http://schemas.microsoft.com/office/drawing/2010/main">
        <mc:Choice Requires="a14">
          <p:sp>
            <p:nvSpPr>
              <p:cNvPr id="24579" name="Rectangle 3"/>
              <p:cNvSpPr>
                <a:spLocks noGrp="1" noChangeArrowheads="1"/>
              </p:cNvSpPr>
              <p:nvPr>
                <p:ph type="body" idx="1"/>
              </p:nvPr>
            </p:nvSpPr>
            <p:spPr>
              <a:xfrm>
                <a:off x="1111233" y="966247"/>
                <a:ext cx="5737622" cy="3086100"/>
              </a:xfrm>
            </p:spPr>
            <p:txBody>
              <a:bodyPr/>
              <a:lstStyle/>
              <a:p>
                <a:pPr marL="0" indent="0">
                  <a:buNone/>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宋体" panose="02010600030101010101" pitchFamily="2" charset="-122"/>
                        </a:rPr>
                        <m:t>𝐷</m:t>
                      </m:r>
                      <m:r>
                        <a:rPr lang="en-US" altLang="zh-CN" i="1" smtClean="0">
                          <a:latin typeface="Cambria Math" panose="02040503050406030204" pitchFamily="18" charset="0"/>
                          <a:ea typeface="宋体" panose="02010600030101010101" pitchFamily="2" charset="-122"/>
                        </a:rPr>
                        <m:t>=</m:t>
                      </m:r>
                      <m:r>
                        <a:rPr lang="en-US" altLang="zh-CN" i="1" smtClean="0">
                          <a:latin typeface="Cambria Math" panose="02040503050406030204" pitchFamily="18" charset="0"/>
                          <a:ea typeface="宋体" panose="02010600030101010101" pitchFamily="2" charset="-122"/>
                        </a:rPr>
                        <m:t>𝑈</m:t>
                      </m:r>
                      <m:r>
                        <m:rPr>
                          <m:sty m:val="p"/>
                        </m:rPr>
                        <a:rPr lang="en-US" altLang="zh-CN" smtClean="0">
                          <a:solidFill>
                            <a:schemeClr val="tx1"/>
                          </a:solidFill>
                          <a:latin typeface="Cambria Math" panose="02040503050406030204" pitchFamily="18" charset="0"/>
                          <a:ea typeface="宋体" panose="02010600030101010101" pitchFamily="2" charset="-122"/>
                        </a:rPr>
                        <m:t>Σ</m:t>
                      </m:r>
                      <m:sSup>
                        <m:sSupPr>
                          <m:ctrlPr>
                            <a:rPr lang="en-US" altLang="zh-CN" i="1">
                              <a:latin typeface="Cambria Math" panose="02040503050406030204" pitchFamily="18" charset="0"/>
                              <a:ea typeface="宋体" panose="02010600030101010101" pitchFamily="2" charset="-122"/>
                            </a:rPr>
                          </m:ctrlPr>
                        </m:sSupPr>
                        <m:e>
                          <m:r>
                            <a:rPr lang="en-US" altLang="zh-CN" i="1" smtClean="0">
                              <a:solidFill>
                                <a:srgbClr val="FF0000"/>
                              </a:solidFill>
                              <a:latin typeface="Cambria Math" panose="02040503050406030204" pitchFamily="18" charset="0"/>
                              <a:ea typeface="宋体" panose="02010600030101010101" pitchFamily="2" charset="-122"/>
                            </a:rPr>
                            <m:t>𝑉</m:t>
                          </m:r>
                        </m:e>
                        <m:sup>
                          <m:r>
                            <a:rPr lang="en-US" altLang="zh-CN" i="1">
                              <a:latin typeface="Cambria Math" panose="02040503050406030204" pitchFamily="18" charset="0"/>
                              <a:ea typeface="宋体" panose="02010600030101010101" pitchFamily="2" charset="-122"/>
                            </a:rPr>
                            <m:t>𝑇</m:t>
                          </m:r>
                        </m:sup>
                      </m:sSup>
                    </m:oMath>
                  </m:oMathPara>
                </a14:m>
                <a:endParaRPr lang="en-US" altLang="zh-CN" dirty="0">
                  <a:ea typeface="宋体" panose="02010600030101010101" pitchFamily="2" charset="-122"/>
                </a:endParaRPr>
              </a:p>
              <a:p>
                <a:pPr marL="0" indent="0">
                  <a:buNone/>
                </a:pPr>
                <a:endParaRPr lang="en-US" altLang="zh-CN" dirty="0">
                  <a:ea typeface="宋体" panose="02010600030101010101" pitchFamily="2" charset="-122"/>
                </a:endParaRPr>
              </a:p>
              <a:p>
                <a:pPr marL="0" indent="0">
                  <a:buNone/>
                </a:pPr>
                <a:endParaRPr lang="en-US" altLang="zh-CN" dirty="0">
                  <a:ea typeface="宋体" panose="02010600030101010101" pitchFamily="2" charset="-122"/>
                </a:endParaRPr>
              </a:p>
              <a:p>
                <a:pPr marL="0" indent="0">
                  <a:buNone/>
                </a:pPr>
                <a:endParaRPr lang="en-US" altLang="zh-CN" dirty="0">
                  <a:ea typeface="宋体" panose="02010600030101010101" pitchFamily="2" charset="-122"/>
                </a:endParaRPr>
              </a:p>
              <a:p>
                <a:pPr marL="0" indent="0">
                  <a:buNone/>
                </a:pPr>
                <a14:m>
                  <m:oMath xmlns:m="http://schemas.openxmlformats.org/officeDocument/2006/math">
                    <m:r>
                      <a:rPr lang="en-US" altLang="zh-CN" b="0" i="1" dirty="0" smtClean="0">
                        <a:latin typeface="Cambria Math" panose="02040503050406030204" pitchFamily="18" charset="0"/>
                        <a:ea typeface="宋体" panose="02010600030101010101" pitchFamily="2" charset="-122"/>
                      </a:rPr>
                      <m:t>𝑉</m:t>
                    </m:r>
                  </m:oMath>
                </a14:m>
                <a:r>
                  <a:rPr lang="en-US" altLang="zh-CN" dirty="0">
                    <a:ea typeface="宋体" panose="02010600030101010101" pitchFamily="2" charset="-122"/>
                  </a:rPr>
                  <a:t>=</a:t>
                </a:r>
              </a:p>
              <a:p>
                <a:pPr marL="0" indent="0">
                  <a:buNone/>
                </a:pPr>
                <a:endParaRPr lang="en-US" altLang="zh-CN" dirty="0">
                  <a:ea typeface="宋体" panose="02010600030101010101" pitchFamily="2" charset="-122"/>
                </a:endParaRPr>
              </a:p>
              <a:p>
                <a:pPr marL="0" indent="0">
                  <a:buNone/>
                </a:pPr>
                <a:endParaRPr lang="en-US" altLang="zh-CN" dirty="0">
                  <a:ea typeface="宋体" panose="02010600030101010101" pitchFamily="2" charset="-122"/>
                </a:endParaRPr>
              </a:p>
              <a:p>
                <a:pPr marL="0" indent="0">
                  <a:buNone/>
                </a:pPr>
                <a:endParaRPr lang="en-US" altLang="zh-CN" dirty="0">
                  <a:ea typeface="宋体" panose="02010600030101010101" pitchFamily="2" charset="-122"/>
                </a:endParaRPr>
              </a:p>
            </p:txBody>
          </p:sp>
        </mc:Choice>
        <mc:Fallback xmlns="">
          <p:sp>
            <p:nvSpPr>
              <p:cNvPr id="24579" name="Rectangle 3"/>
              <p:cNvSpPr>
                <a:spLocks noGrp="1" noRot="1" noChangeAspect="1" noMove="1" noResize="1" noEditPoints="1" noAdjustHandles="1" noChangeArrowheads="1" noChangeShapeType="1" noTextEdit="1"/>
              </p:cNvSpPr>
              <p:nvPr>
                <p:ph type="body" idx="1"/>
              </p:nvPr>
            </p:nvSpPr>
            <p:spPr>
              <a:xfrm>
                <a:off x="1111233" y="966247"/>
                <a:ext cx="5737622" cy="3086100"/>
              </a:xfrm>
              <a:blipFill>
                <a:blip r:embed="rId4"/>
                <a:stretch>
                  <a:fillRect/>
                </a:stretch>
              </a:blipFill>
            </p:spPr>
            <p:txBody>
              <a:bodyPr/>
              <a:lstStyle/>
              <a:p>
                <a:r>
                  <a:rPr lang="zh-CN" altLang="en-US">
                    <a:noFill/>
                  </a:rPr>
                  <a:t> </a:t>
                </a:r>
              </a:p>
            </p:txBody>
          </p:sp>
        </mc:Fallback>
      </mc:AlternateContent>
      <p:graphicFrame>
        <p:nvGraphicFramePr>
          <p:cNvPr id="24580" name="Object 4"/>
          <p:cNvGraphicFramePr>
            <a:graphicFrameLocks noChangeAspect="1"/>
          </p:cNvGraphicFramePr>
          <p:nvPr>
            <p:extLst>
              <p:ext uri="{D42A27DB-BD31-4B8C-83A1-F6EECF244321}">
                <p14:modId xmlns:p14="http://schemas.microsoft.com/office/powerpoint/2010/main" val="644846772"/>
              </p:ext>
            </p:extLst>
          </p:nvPr>
        </p:nvGraphicFramePr>
        <p:xfrm>
          <a:off x="1961333" y="1560220"/>
          <a:ext cx="5539978" cy="2155292"/>
        </p:xfrm>
        <a:graphic>
          <a:graphicData uri="http://schemas.openxmlformats.org/presentationml/2006/ole">
            <mc:AlternateContent xmlns:mc="http://schemas.openxmlformats.org/markup-compatibility/2006">
              <mc:Choice xmlns:v="urn:schemas-microsoft-com:vml" Requires="v">
                <p:oleObj name="Document" r:id="rId5" imgW="5605603" imgH="1755275" progId="Word.Document.8">
                  <p:embed/>
                </p:oleObj>
              </mc:Choice>
              <mc:Fallback>
                <p:oleObj name="Document" r:id="rId5" imgW="5605603" imgH="1755275" progId="Word.Document.8">
                  <p:embed/>
                  <p:pic>
                    <p:nvPicPr>
                      <p:cNvPr id="24580" name="Object 4"/>
                      <p:cNvPicPr>
                        <a:picLocks noChangeAspect="1" noChangeArrowheads="1"/>
                      </p:cNvPicPr>
                      <p:nvPr/>
                    </p:nvPicPr>
                    <p:blipFill>
                      <a:blip r:embed="rId6"/>
                      <a:srcRect/>
                      <a:stretch>
                        <a:fillRect/>
                      </a:stretch>
                    </p:blipFill>
                    <p:spPr bwMode="auto">
                      <a:xfrm>
                        <a:off x="1961333" y="1560220"/>
                        <a:ext cx="5539978" cy="2155292"/>
                      </a:xfrm>
                      <a:prstGeom prst="rect">
                        <a:avLst/>
                      </a:prstGeom>
                      <a:noFill/>
                      <a:ln>
                        <a:noFill/>
                      </a:ln>
                      <a:effectLst/>
                    </p:spPr>
                  </p:pic>
                </p:oleObj>
              </mc:Fallback>
            </mc:AlternateContent>
          </a:graphicData>
        </a:graphic>
      </p:graphicFrame>
      <p:sp>
        <p:nvSpPr>
          <p:cNvPr id="5" name="Rectangle 7"/>
          <p:cNvSpPr/>
          <p:nvPr/>
        </p:nvSpPr>
        <p:spPr>
          <a:xfrm>
            <a:off x="1111233" y="1474331"/>
            <a:ext cx="867545" cy="300082"/>
          </a:xfrm>
          <a:prstGeom prst="rect">
            <a:avLst/>
          </a:prstGeom>
        </p:spPr>
        <p:txBody>
          <a:bodyPr wrap="none">
            <a:spAutoFit/>
          </a:bodyPr>
          <a:lstStyle/>
          <a:p>
            <a:r>
              <a:rPr lang="en-US" sz="1350" dirty="0">
                <a:latin typeface="Times New Roman" pitchFamily="18" charset="0"/>
                <a:cs typeface="Times New Roman" pitchFamily="18" charset="0"/>
              </a:rPr>
              <a:t>document</a:t>
            </a:r>
            <a:endParaRPr lang="en-US" sz="1350" dirty="0"/>
          </a:p>
        </p:txBody>
      </p:sp>
      <p:sp>
        <p:nvSpPr>
          <p:cNvPr id="6" name="Line 15"/>
          <p:cNvSpPr>
            <a:spLocks noChangeShapeType="1"/>
          </p:cNvSpPr>
          <p:nvPr/>
        </p:nvSpPr>
        <p:spPr bwMode="auto">
          <a:xfrm rot="5400000" flipV="1">
            <a:off x="1707092" y="1566489"/>
            <a:ext cx="0" cy="360186"/>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7" name="Rectangle 7"/>
          <p:cNvSpPr/>
          <p:nvPr/>
        </p:nvSpPr>
        <p:spPr>
          <a:xfrm>
            <a:off x="1868607" y="1058605"/>
            <a:ext cx="569387" cy="300082"/>
          </a:xfrm>
          <a:prstGeom prst="rect">
            <a:avLst/>
          </a:prstGeom>
        </p:spPr>
        <p:txBody>
          <a:bodyPr wrap="none">
            <a:spAutoFit/>
          </a:bodyPr>
          <a:lstStyle/>
          <a:p>
            <a:r>
              <a:rPr lang="en-US" sz="1350" dirty="0">
                <a:latin typeface="Times New Roman" pitchFamily="18" charset="0"/>
                <a:cs typeface="Times New Roman" pitchFamily="18" charset="0"/>
              </a:rPr>
              <a:t>latent</a:t>
            </a:r>
            <a:endParaRPr lang="en-US" sz="1350" dirty="0"/>
          </a:p>
        </p:txBody>
      </p:sp>
      <p:sp>
        <p:nvSpPr>
          <p:cNvPr id="8" name="Line 15"/>
          <p:cNvSpPr>
            <a:spLocks noChangeShapeType="1"/>
          </p:cNvSpPr>
          <p:nvPr/>
        </p:nvSpPr>
        <p:spPr bwMode="auto">
          <a:xfrm rot="5400000">
            <a:off x="2100073" y="1402526"/>
            <a:ext cx="257440"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0"/>
          </a:p>
        </p:txBody>
      </p:sp>
      <p:sp>
        <p:nvSpPr>
          <p:cNvPr id="9" name="右大括号 8"/>
          <p:cNvSpPr/>
          <p:nvPr/>
        </p:nvSpPr>
        <p:spPr>
          <a:xfrm rot="5400000">
            <a:off x="2342351" y="3063637"/>
            <a:ext cx="270030" cy="1217517"/>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100"/>
          </a:p>
        </p:txBody>
      </p:sp>
      <p:sp>
        <p:nvSpPr>
          <p:cNvPr id="10" name="文本框 9"/>
          <p:cNvSpPr txBox="1"/>
          <p:nvPr/>
        </p:nvSpPr>
        <p:spPr>
          <a:xfrm>
            <a:off x="2275868" y="3836385"/>
            <a:ext cx="595035" cy="415498"/>
          </a:xfrm>
          <a:prstGeom prst="rect">
            <a:avLst/>
          </a:prstGeom>
          <a:noFill/>
        </p:spPr>
        <p:txBody>
          <a:bodyPr wrap="none" rtlCol="0">
            <a:spAutoFit/>
          </a:bodyPr>
          <a:lstStyle/>
          <a:p>
            <a:r>
              <a:rPr lang="en-US" altLang="zh-CN" sz="2100" dirty="0"/>
              <a:t>K=2</a:t>
            </a:r>
            <a:endParaRPr lang="zh-CN" altLang="en-US" sz="2100" dirty="0"/>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9EAA2DB-E8FD-044C-BCB8-970F0BB5A932}"/>
                  </a:ext>
                </a:extLst>
              </p:cNvPr>
              <p:cNvSpPr txBox="1"/>
              <p:nvPr/>
            </p:nvSpPr>
            <p:spPr>
              <a:xfrm>
                <a:off x="1263840" y="4516740"/>
                <a:ext cx="6934912" cy="369332"/>
              </a:xfrm>
              <a:prstGeom prst="rect">
                <a:avLst/>
              </a:prstGeom>
              <a:noFill/>
            </p:spPr>
            <p:txBody>
              <a:bodyPr wrap="none" rtlCol="0">
                <a:spAutoFit/>
              </a:bodyPr>
              <a:lstStyle/>
              <a:p>
                <a:r>
                  <a:rPr kumimoji="1" lang="en-US" altLang="zh-CN" dirty="0"/>
                  <a:t>SVD</a:t>
                </a:r>
                <a:r>
                  <a:rPr kumimoji="1" lang="zh-CN" altLang="en-US" dirty="0"/>
                  <a:t>得到的</a:t>
                </a:r>
                <a14:m>
                  <m:oMath xmlns:m="http://schemas.openxmlformats.org/officeDocument/2006/math">
                    <m:r>
                      <m:rPr>
                        <m:sty m:val="p"/>
                      </m:rPr>
                      <a:rPr kumimoji="1" lang="en-US" altLang="zh-CN" i="1" dirty="0">
                        <a:solidFill>
                          <a:srgbClr val="C00000"/>
                        </a:solidFill>
                        <a:latin typeface="Cambria Math" panose="02040503050406030204" pitchFamily="18" charset="0"/>
                      </a:rPr>
                      <m:t>V</m:t>
                    </m:r>
                  </m:oMath>
                </a14:m>
                <a:r>
                  <a:rPr kumimoji="1" lang="zh-CN" altLang="en-US" dirty="0"/>
                  <a:t>矩阵，为稠密阵（右特征向量的顺序已经排序完毕）</a:t>
                </a:r>
              </a:p>
            </p:txBody>
          </p:sp>
        </mc:Choice>
        <mc:Fallback xmlns="">
          <p:sp>
            <p:nvSpPr>
              <p:cNvPr id="11" name="文本框 10">
                <a:extLst>
                  <a:ext uri="{FF2B5EF4-FFF2-40B4-BE49-F238E27FC236}">
                    <a16:creationId xmlns:a16="http://schemas.microsoft.com/office/drawing/2014/main" id="{99EAA2DB-E8FD-044C-BCB8-970F0BB5A932}"/>
                  </a:ext>
                </a:extLst>
              </p:cNvPr>
              <p:cNvSpPr txBox="1">
                <a:spLocks noRot="1" noChangeAspect="1" noMove="1" noResize="1" noEditPoints="1" noAdjustHandles="1" noChangeArrowheads="1" noChangeShapeType="1" noTextEdit="1"/>
              </p:cNvSpPr>
              <p:nvPr/>
            </p:nvSpPr>
            <p:spPr>
              <a:xfrm>
                <a:off x="1263840" y="4516740"/>
                <a:ext cx="6934912" cy="369332"/>
              </a:xfrm>
              <a:prstGeom prst="rect">
                <a:avLst/>
              </a:prstGeom>
              <a:blipFill>
                <a:blip r:embed="rId7"/>
                <a:stretch>
                  <a:fillRect l="-731" t="-13333" b="-23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353565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885950" y="0"/>
            <a:ext cx="5600700" cy="800100"/>
          </a:xfrm>
        </p:spPr>
        <p:txBody>
          <a:bodyPr/>
          <a:lstStyle/>
          <a:p>
            <a:r>
              <a:rPr lang="zh-CN" altLang="en-US" sz="2700" dirty="0"/>
              <a:t>举例</a:t>
            </a:r>
            <a:endParaRPr lang="en-US" altLang="zh-CN" sz="2700" i="1" dirty="0">
              <a:solidFill>
                <a:srgbClr val="000099"/>
              </a:solidFill>
              <a:latin typeface="Arial Black" panose="020B0A04020102020204" pitchFamily="34" charset="0"/>
              <a:ea typeface="宋体" panose="02010600030101010101" pitchFamily="2" charset="-122"/>
              <a:cs typeface="Times" panose="02020603050405020304" pitchFamily="18" charset="0"/>
            </a:endParaRPr>
          </a:p>
        </p:txBody>
      </p:sp>
      <p:graphicFrame>
        <p:nvGraphicFramePr>
          <p:cNvPr id="26628" name="Object 4"/>
          <p:cNvGraphicFramePr>
            <a:graphicFrameLocks noGrp="1" noChangeAspect="1"/>
          </p:cNvGraphicFramePr>
          <p:nvPr>
            <p:ph type="tbl" idx="1"/>
            <p:extLst>
              <p:ext uri="{D42A27DB-BD31-4B8C-83A1-F6EECF244321}">
                <p14:modId xmlns:p14="http://schemas.microsoft.com/office/powerpoint/2010/main" val="484893176"/>
              </p:ext>
            </p:extLst>
          </p:nvPr>
        </p:nvGraphicFramePr>
        <p:xfrm>
          <a:off x="2693164" y="720937"/>
          <a:ext cx="4964906" cy="3738563"/>
        </p:xfrm>
        <a:graphic>
          <a:graphicData uri="http://schemas.openxmlformats.org/presentationml/2006/ole">
            <mc:AlternateContent xmlns:mc="http://schemas.openxmlformats.org/markup-compatibility/2006">
              <mc:Choice xmlns:v="urn:schemas-microsoft-com:vml" Requires="v">
                <p:oleObj name="Document" r:id="rId3" imgW="5605603" imgH="4220521" progId="Word.Document.8">
                  <p:embed/>
                </p:oleObj>
              </mc:Choice>
              <mc:Fallback>
                <p:oleObj name="Document" r:id="rId3" imgW="5605603" imgH="4220521" progId="Word.Document.8">
                  <p:embed/>
                  <p:pic>
                    <p:nvPicPr>
                      <p:cNvPr id="26628" name="Object 4"/>
                      <p:cNvPicPr>
                        <a:picLocks noChangeAspect="1" noChangeArrowheads="1"/>
                      </p:cNvPicPr>
                      <p:nvPr/>
                    </p:nvPicPr>
                    <p:blipFill>
                      <a:blip r:embed="rId4"/>
                      <a:srcRect/>
                      <a:stretch>
                        <a:fillRect/>
                      </a:stretch>
                    </p:blipFill>
                    <p:spPr bwMode="auto">
                      <a:xfrm>
                        <a:off x="2693164" y="720937"/>
                        <a:ext cx="4964906" cy="3738563"/>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 name="矩形 1"/>
              <p:cNvSpPr/>
              <p:nvPr/>
            </p:nvSpPr>
            <p:spPr>
              <a:xfrm>
                <a:off x="855857" y="2290136"/>
                <a:ext cx="1665008" cy="600164"/>
              </a:xfrm>
              <a:prstGeom prst="rect">
                <a:avLst/>
              </a:prstGeom>
            </p:spPr>
            <p:txBody>
              <a:bodyPr wrap="none">
                <a:spAutoFit/>
              </a:bodyPr>
              <a:lstStyle/>
              <a:p>
                <a14:m>
                  <m:oMath xmlns:m="http://schemas.openxmlformats.org/officeDocument/2006/math">
                    <m:r>
                      <a:rPr lang="en-US" altLang="zh-CN" sz="3300" i="1">
                        <a:latin typeface="Cambria Math" panose="02040503050406030204" pitchFamily="18" charset="0"/>
                      </a:rPr>
                      <m:t>𝑈</m:t>
                    </m:r>
                    <m:sSub>
                      <m:sSubPr>
                        <m:ctrlPr>
                          <a:rPr lang="en-US" altLang="zh-CN" sz="3300" i="1">
                            <a:latin typeface="Cambria Math" panose="02040503050406030204" pitchFamily="18" charset="0"/>
                          </a:rPr>
                        </m:ctrlPr>
                      </m:sSubPr>
                      <m:e>
                        <m:r>
                          <m:rPr>
                            <m:sty m:val="p"/>
                          </m:rPr>
                          <a:rPr lang="en-US" altLang="zh-CN" sz="3300">
                            <a:latin typeface="Cambria Math" panose="02040503050406030204" pitchFamily="18" charset="0"/>
                          </a:rPr>
                          <m:t>Σ</m:t>
                        </m:r>
                      </m:e>
                      <m:sub>
                        <m:r>
                          <m:rPr>
                            <m:sty m:val="p"/>
                          </m:rPr>
                          <a:rPr lang="en-US" altLang="zh-CN" sz="3300">
                            <a:latin typeface="Cambria Math" panose="02040503050406030204" pitchFamily="18" charset="0"/>
                          </a:rPr>
                          <m:t>K</m:t>
                        </m:r>
                      </m:sub>
                    </m:sSub>
                    <m:sSup>
                      <m:sSupPr>
                        <m:ctrlPr>
                          <a:rPr lang="en-US" altLang="zh-CN" sz="3300" i="1">
                            <a:latin typeface="Cambria Math" panose="02040503050406030204" pitchFamily="18" charset="0"/>
                          </a:rPr>
                        </m:ctrlPr>
                      </m:sSupPr>
                      <m:e>
                        <m:r>
                          <a:rPr lang="en-US" altLang="zh-CN" sz="3300" i="1">
                            <a:latin typeface="Cambria Math" panose="02040503050406030204" pitchFamily="18" charset="0"/>
                          </a:rPr>
                          <m:t>𝑉</m:t>
                        </m:r>
                      </m:e>
                      <m:sup>
                        <m:r>
                          <a:rPr lang="en-US" altLang="zh-CN" sz="3300" i="1">
                            <a:latin typeface="Cambria Math" panose="02040503050406030204" pitchFamily="18" charset="0"/>
                          </a:rPr>
                          <m:t>𝑇</m:t>
                        </m:r>
                      </m:sup>
                    </m:sSup>
                  </m:oMath>
                </a14:m>
                <a:r>
                  <a:rPr lang="en-US" altLang="zh-CN" sz="3300" dirty="0"/>
                  <a:t>=</a:t>
                </a:r>
                <a:endParaRPr lang="zh-CN" altLang="en-US" sz="3300" dirty="0"/>
              </a:p>
            </p:txBody>
          </p:sp>
        </mc:Choice>
        <mc:Fallback xmlns="">
          <p:sp>
            <p:nvSpPr>
              <p:cNvPr id="2" name="矩形 1"/>
              <p:cNvSpPr>
                <a:spLocks noRot="1" noChangeAspect="1" noMove="1" noResize="1" noEditPoints="1" noAdjustHandles="1" noChangeArrowheads="1" noChangeShapeType="1" noTextEdit="1"/>
              </p:cNvSpPr>
              <p:nvPr/>
            </p:nvSpPr>
            <p:spPr>
              <a:xfrm>
                <a:off x="855857" y="2290136"/>
                <a:ext cx="1665008" cy="600164"/>
              </a:xfrm>
              <a:prstGeom prst="rect">
                <a:avLst/>
              </a:prstGeom>
              <a:blipFill>
                <a:blip r:embed="rId6"/>
                <a:stretch>
                  <a:fillRect l="-2273" t="-14583" r="-9091" b="-33333"/>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89B210B8-729B-E947-B70F-C379131BD8D6}"/>
              </a:ext>
            </a:extLst>
          </p:cNvPr>
          <p:cNvSpPr txBox="1"/>
          <p:nvPr/>
        </p:nvSpPr>
        <p:spPr>
          <a:xfrm>
            <a:off x="2471849" y="4459500"/>
            <a:ext cx="5391219" cy="369332"/>
          </a:xfrm>
          <a:prstGeom prst="rect">
            <a:avLst/>
          </a:prstGeom>
          <a:noFill/>
        </p:spPr>
        <p:txBody>
          <a:bodyPr wrap="none" rtlCol="0">
            <a:spAutoFit/>
          </a:bodyPr>
          <a:lstStyle/>
          <a:p>
            <a:r>
              <a:rPr kumimoji="1" lang="zh-CN" altLang="en-US" dirty="0"/>
              <a:t>低秩近似得到的恢复矩阵（</a:t>
            </a:r>
            <a:r>
              <a:rPr kumimoji="1" lang="en-US" altLang="zh-CN" dirty="0"/>
              <a:t>K=2</a:t>
            </a:r>
            <a:r>
              <a:rPr kumimoji="1" lang="zh-CN" altLang="en-US" dirty="0"/>
              <a:t>），变成了稠密矩阵</a:t>
            </a:r>
          </a:p>
        </p:txBody>
      </p:sp>
    </p:spTree>
    <p:extLst>
      <p:ext uri="{BB962C8B-B14F-4D97-AF65-F5344CB8AC3E}">
        <p14:creationId xmlns:p14="http://schemas.microsoft.com/office/powerpoint/2010/main" val="5040171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1AB79880-C352-DA49-B532-EDC541D578A9}"/>
              </a:ext>
            </a:extLst>
          </p:cNvPr>
          <p:cNvSpPr/>
          <p:nvPr/>
        </p:nvSpPr>
        <p:spPr>
          <a:xfrm>
            <a:off x="6042198" y="3935485"/>
            <a:ext cx="1664254" cy="91183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zh-CN" altLang="en-US"/>
          </a:p>
        </p:txBody>
      </p:sp>
      <p:sp>
        <p:nvSpPr>
          <p:cNvPr id="12" name="矩形 11">
            <a:extLst>
              <a:ext uri="{FF2B5EF4-FFF2-40B4-BE49-F238E27FC236}">
                <a16:creationId xmlns:a16="http://schemas.microsoft.com/office/drawing/2014/main" id="{1C94F163-33A9-E843-B854-A06293FE061E}"/>
              </a:ext>
            </a:extLst>
          </p:cNvPr>
          <p:cNvSpPr/>
          <p:nvPr/>
        </p:nvSpPr>
        <p:spPr>
          <a:xfrm>
            <a:off x="2951821" y="3170711"/>
            <a:ext cx="3090376" cy="80519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03ED8540-B92B-4E4D-A18B-D80137A24363}"/>
              </a:ext>
            </a:extLst>
          </p:cNvPr>
          <p:cNvSpPr/>
          <p:nvPr/>
        </p:nvSpPr>
        <p:spPr>
          <a:xfrm>
            <a:off x="6054707" y="1755100"/>
            <a:ext cx="1664254" cy="91183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FF60FECD-C540-0E4D-97F2-C718DC708E97}"/>
              </a:ext>
            </a:extLst>
          </p:cNvPr>
          <p:cNvSpPr/>
          <p:nvPr/>
        </p:nvSpPr>
        <p:spPr>
          <a:xfrm>
            <a:off x="2951820" y="857250"/>
            <a:ext cx="3090377" cy="107462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zh-CN" altLang="en-US"/>
          </a:p>
        </p:txBody>
      </p:sp>
      <p:graphicFrame>
        <p:nvGraphicFramePr>
          <p:cNvPr id="30722" name="Object 2"/>
          <p:cNvGraphicFramePr>
            <a:graphicFrameLocks noChangeAspect="1"/>
          </p:cNvGraphicFramePr>
          <p:nvPr>
            <p:extLst>
              <p:ext uri="{D42A27DB-BD31-4B8C-83A1-F6EECF244321}">
                <p14:modId xmlns:p14="http://schemas.microsoft.com/office/powerpoint/2010/main" val="2096648744"/>
              </p:ext>
            </p:extLst>
          </p:nvPr>
        </p:nvGraphicFramePr>
        <p:xfrm>
          <a:off x="2997987" y="774121"/>
          <a:ext cx="5155406" cy="5223272"/>
        </p:xfrm>
        <a:graphic>
          <a:graphicData uri="http://schemas.openxmlformats.org/presentationml/2006/ole">
            <mc:AlternateContent xmlns:mc="http://schemas.openxmlformats.org/markup-compatibility/2006">
              <mc:Choice xmlns:v="urn:schemas-microsoft-com:vml" Requires="v">
                <p:oleObj name="Document" r:id="rId3" imgW="6226607" imgH="6330425" progId="Word.Document.8">
                  <p:embed/>
                </p:oleObj>
              </mc:Choice>
              <mc:Fallback>
                <p:oleObj name="Document" r:id="rId3" imgW="6226607" imgH="6330425" progId="Word.Document.8">
                  <p:embed/>
                  <p:pic>
                    <p:nvPicPr>
                      <p:cNvPr id="30722" name="Object 2"/>
                      <p:cNvPicPr>
                        <a:picLocks noChangeAspect="1" noChangeArrowheads="1"/>
                      </p:cNvPicPr>
                      <p:nvPr/>
                    </p:nvPicPr>
                    <p:blipFill>
                      <a:blip r:embed="rId4"/>
                      <a:srcRect/>
                      <a:stretch>
                        <a:fillRect/>
                      </a:stretch>
                    </p:blipFill>
                    <p:spPr bwMode="auto">
                      <a:xfrm>
                        <a:off x="2997987" y="774121"/>
                        <a:ext cx="5155406" cy="5223272"/>
                      </a:xfrm>
                      <a:prstGeom prst="rect">
                        <a:avLst/>
                      </a:prstGeom>
                      <a:noFill/>
                      <a:ln>
                        <a:noFill/>
                      </a:ln>
                      <a:effectLst/>
                    </p:spPr>
                  </p:pic>
                </p:oleObj>
              </mc:Fallback>
            </mc:AlternateContent>
          </a:graphicData>
        </a:graphic>
      </p:graphicFrame>
      <p:sp>
        <p:nvSpPr>
          <p:cNvPr id="2" name="标题 1"/>
          <p:cNvSpPr>
            <a:spLocks noGrp="1"/>
          </p:cNvSpPr>
          <p:nvPr>
            <p:ph type="title"/>
          </p:nvPr>
        </p:nvSpPr>
        <p:spPr>
          <a:xfrm>
            <a:off x="1356122" y="0"/>
            <a:ext cx="6172200" cy="857250"/>
          </a:xfrm>
        </p:spPr>
        <p:txBody>
          <a:bodyPr/>
          <a:lstStyle/>
          <a:p>
            <a:r>
              <a:rPr lang="zh-CN" altLang="en-US" dirty="0">
                <a:latin typeface="Times" panose="02020603050405020304" pitchFamily="18" charset="0"/>
                <a:cs typeface="Times" panose="02020603050405020304" pitchFamily="18" charset="0"/>
              </a:rPr>
              <a:t>文档相似度</a:t>
            </a:r>
            <a:r>
              <a:rPr lang="en-US" altLang="zh-CN" dirty="0">
                <a:latin typeface="Times" panose="02020603050405020304" pitchFamily="18" charset="0"/>
                <a:cs typeface="Times" panose="02020603050405020304" pitchFamily="18" charset="0"/>
              </a:rPr>
              <a:t>(cosine)</a:t>
            </a:r>
            <a:endParaRPr lang="zh-CN" altLang="en-US" dirty="0">
              <a:latin typeface="Times" panose="02020603050405020304" pitchFamily="18" charset="0"/>
              <a:cs typeface="Times" panose="02020603050405020304" pitchFamily="18" charset="0"/>
            </a:endParaRPr>
          </a:p>
        </p:txBody>
      </p:sp>
      <p:sp>
        <p:nvSpPr>
          <p:cNvPr id="4" name="文本框 3"/>
          <p:cNvSpPr txBox="1"/>
          <p:nvPr/>
        </p:nvSpPr>
        <p:spPr>
          <a:xfrm>
            <a:off x="1197494" y="1516381"/>
            <a:ext cx="1800493" cy="415498"/>
          </a:xfrm>
          <a:prstGeom prst="rect">
            <a:avLst/>
          </a:prstGeom>
          <a:noFill/>
        </p:spPr>
        <p:txBody>
          <a:bodyPr wrap="none" rtlCol="0">
            <a:spAutoFit/>
          </a:bodyPr>
          <a:lstStyle/>
          <a:p>
            <a:r>
              <a:rPr lang="zh-CN" altLang="en-US" sz="2100" dirty="0"/>
              <a:t>基于原始表示</a:t>
            </a:r>
          </a:p>
        </p:txBody>
      </p:sp>
      <p:sp>
        <p:nvSpPr>
          <p:cNvPr id="13" name="文本框 12"/>
          <p:cNvSpPr txBox="1"/>
          <p:nvPr/>
        </p:nvSpPr>
        <p:spPr>
          <a:xfrm>
            <a:off x="1584018" y="3975906"/>
            <a:ext cx="1027845" cy="415498"/>
          </a:xfrm>
          <a:prstGeom prst="rect">
            <a:avLst/>
          </a:prstGeom>
          <a:noFill/>
        </p:spPr>
        <p:txBody>
          <a:bodyPr wrap="none" rtlCol="0">
            <a:spAutoFit/>
          </a:bodyPr>
          <a:lstStyle/>
          <a:p>
            <a:r>
              <a:rPr lang="zh-CN" altLang="en-US" sz="2100" dirty="0"/>
              <a:t>基于</a:t>
            </a:r>
            <a:r>
              <a:rPr lang="en-US" altLang="zh-CN" sz="2100" dirty="0"/>
              <a:t>LSI</a:t>
            </a:r>
            <a:endParaRPr lang="zh-CN" altLang="en-US" sz="2100" dirty="0"/>
          </a:p>
        </p:txBody>
      </p:sp>
    </p:spTree>
    <p:extLst>
      <p:ext uri="{BB962C8B-B14F-4D97-AF65-F5344CB8AC3E}">
        <p14:creationId xmlns:p14="http://schemas.microsoft.com/office/powerpoint/2010/main" val="3168259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F264DDB-364C-410E-A66B-B19CEFA5EF0F}" type="slidenum">
              <a:rPr lang="zh-CN" altLang="en-US" smtClean="0"/>
              <a:pPr/>
              <a:t>59</a:t>
            </a:fld>
            <a:endParaRPr lang="zh-CN" altLang="en-US"/>
          </a:p>
        </p:txBody>
      </p:sp>
      <p:pic>
        <p:nvPicPr>
          <p:cNvPr id="5" name="图片 4"/>
          <p:cNvPicPr>
            <a:picLocks noChangeAspect="1"/>
          </p:cNvPicPr>
          <p:nvPr/>
        </p:nvPicPr>
        <p:blipFill>
          <a:blip r:embed="rId2"/>
          <a:stretch>
            <a:fillRect/>
          </a:stretch>
        </p:blipFill>
        <p:spPr>
          <a:xfrm>
            <a:off x="1299228" y="0"/>
            <a:ext cx="6566578" cy="5160029"/>
          </a:xfrm>
          <a:prstGeom prst="rect">
            <a:avLst/>
          </a:prstGeom>
        </p:spPr>
      </p:pic>
    </p:spTree>
    <p:extLst>
      <p:ext uri="{BB962C8B-B14F-4D97-AF65-F5344CB8AC3E}">
        <p14:creationId xmlns:p14="http://schemas.microsoft.com/office/powerpoint/2010/main" val="1947957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LSI</a:t>
            </a:r>
            <a:r>
              <a:rPr lang="zh-CN" altLang="en-US" dirty="0">
                <a:latin typeface="Times New Roman" panose="02020603050405020304" pitchFamily="18" charset="0"/>
                <a:cs typeface="Times New Roman" panose="02020603050405020304" pitchFamily="18" charset="0"/>
              </a:rPr>
              <a:t>的总结</a:t>
            </a:r>
          </a:p>
        </p:txBody>
      </p:sp>
      <p:sp>
        <p:nvSpPr>
          <p:cNvPr id="3" name="内容占位符 2"/>
          <p:cNvSpPr>
            <a:spLocks noGrp="1"/>
          </p:cNvSpPr>
          <p:nvPr>
            <p:ph idx="1"/>
          </p:nvPr>
        </p:nvSpPr>
        <p:spPr/>
        <p:txBody>
          <a:bodyPr>
            <a:normAutofit/>
          </a:bodyPr>
          <a:lstStyle/>
          <a:p>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第一个</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话题模型，求解单词和文档的分布式表示</a:t>
            </a:r>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对单词</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文档矩阵进行</a:t>
            </a:r>
            <a:r>
              <a:rPr lang="en-US" altLang="zh-CN" dirty="0">
                <a:latin typeface="Times New Roman" panose="02020603050405020304" pitchFamily="18" charset="0"/>
                <a:cs typeface="Times New Roman" panose="02020603050405020304" pitchFamily="18" charset="0"/>
              </a:rPr>
              <a:t>SVD</a:t>
            </a:r>
            <a:r>
              <a:rPr lang="zh-CN" altLang="en-US" dirty="0">
                <a:latin typeface="Times New Roman" panose="02020603050405020304" pitchFamily="18" charset="0"/>
                <a:cs typeface="Times New Roman" panose="02020603050405020304" pitchFamily="18" charset="0"/>
              </a:rPr>
              <a:t>分解，保留最大的</a:t>
            </a:r>
            <a:r>
              <a:rPr lang="en-US" altLang="zh-CN"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个特征值，其余置</a:t>
            </a:r>
            <a:r>
              <a:rPr lang="en-US" altLang="zh-CN" dirty="0">
                <a:latin typeface="Times New Roman" panose="02020603050405020304" pitchFamily="18" charset="0"/>
                <a:cs typeface="Times New Roman" panose="02020603050405020304" pitchFamily="18" charset="0"/>
              </a:rPr>
              <a:t>0</a:t>
            </a:r>
          </a:p>
          <a:p>
            <a:r>
              <a:rPr lang="zh-CN" altLang="en-US" dirty="0">
                <a:latin typeface="Times New Roman" panose="02020603050405020304" pitchFamily="18" charset="0"/>
                <a:cs typeface="Times New Roman" panose="02020603050405020304" pitchFamily="18" charset="0"/>
              </a:rPr>
              <a:t>是对原始输入矩阵</a:t>
            </a:r>
            <a:r>
              <a:rPr lang="en-US" altLang="zh-CN" dirty="0">
                <a:latin typeface="Times New Roman" panose="02020603050405020304" pitchFamily="18" charset="0"/>
                <a:cs typeface="Times New Roman" panose="02020603050405020304" pitchFamily="18" charset="0"/>
              </a:rPr>
              <a:t>D</a:t>
            </a:r>
            <a:r>
              <a:rPr lang="zh-CN" altLang="en-US" dirty="0">
                <a:latin typeface="Times New Roman" panose="02020603050405020304" pitchFamily="18" charset="0"/>
                <a:cs typeface="Times New Roman" panose="02020603050405020304" pitchFamily="18" charset="0"/>
              </a:rPr>
              <a:t>的低秩近似</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优点</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数学优美</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有效（被广泛应用于各种文本分析应用中）</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缺点</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低秩近似矩阵和</a:t>
            </a:r>
            <a:r>
              <a:rPr lang="en-US" altLang="zh-CN" dirty="0">
                <a:latin typeface="Times New Roman" panose="02020603050405020304" pitchFamily="18" charset="0"/>
                <a:cs typeface="Times New Roman" panose="02020603050405020304" pitchFamily="18" charset="0"/>
              </a:rPr>
              <a:t>U</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V</a:t>
            </a:r>
            <a:r>
              <a:rPr lang="zh-CN" altLang="en-US" dirty="0">
                <a:latin typeface="Times New Roman" panose="02020603050405020304" pitchFamily="18" charset="0"/>
                <a:cs typeface="Times New Roman" panose="02020603050405020304" pitchFamily="18" charset="0"/>
              </a:rPr>
              <a:t>中有负值，不好解释</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特征值、特征向量计算复杂度高（</a:t>
            </a:r>
            <a:r>
              <a:rPr lang="en-US" altLang="zh-CN" dirty="0"/>
              <a:t> M x N</a:t>
            </a:r>
            <a:r>
              <a:rPr lang="zh-CN" altLang="en-US" dirty="0"/>
              <a:t>矩阵，</a:t>
            </a:r>
            <a:r>
              <a:rPr lang="en-US" altLang="zh-CN" dirty="0"/>
              <a:t>N&lt;M</a:t>
            </a:r>
            <a:r>
              <a:rPr lang="zh-CN" altLang="en-US" dirty="0"/>
              <a:t>，复杂度</a:t>
            </a:r>
            <a:r>
              <a:rPr lang="en-US" altLang="zh-CN" dirty="0"/>
              <a:t> O(</a:t>
            </a:r>
            <a:r>
              <a:rPr lang="en-US" altLang="zh-CN" i="1" dirty="0"/>
              <a:t>MN</a:t>
            </a:r>
            <a:r>
              <a:rPr lang="en-US" altLang="zh-CN" i="1" baseline="30000" dirty="0"/>
              <a:t>2</a:t>
            </a:r>
            <a:r>
              <a:rPr lang="zh-CN" altLang="en-US" i="1" baseline="30000" dirty="0"/>
              <a:t> </a:t>
            </a:r>
            <a:r>
              <a:rPr lang="en-US" altLang="zh-CN" dirty="0"/>
              <a:t>) </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a:p>
            <a:pPr lvl="1"/>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2F264DDB-364C-410E-A66B-B19CEFA5EF0F}" type="slidenum">
              <a:rPr lang="zh-CN" altLang="en-US" smtClean="0">
                <a:latin typeface="Times New Roman" panose="02020603050405020304" pitchFamily="18" charset="0"/>
                <a:cs typeface="Times New Roman" panose="02020603050405020304" pitchFamily="18" charset="0"/>
              </a:rPr>
              <a:pPr/>
              <a:t>60</a:t>
            </a:fld>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0440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F1A52-52D7-F902-528C-51D1D905FE20}"/>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815BC4F0-67CD-6BE3-7F2D-E3AE892EED11}"/>
              </a:ext>
            </a:extLst>
          </p:cNvPr>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TextBox 1">
            <a:extLst>
              <a:ext uri="{FF2B5EF4-FFF2-40B4-BE49-F238E27FC236}">
                <a16:creationId xmlns:a16="http://schemas.microsoft.com/office/drawing/2014/main" id="{49D9ECBF-7469-E753-B7D7-BBD1A6D1F2C7}"/>
              </a:ext>
            </a:extLst>
          </p:cNvPr>
          <p:cNvSpPr txBox="1"/>
          <p:nvPr/>
        </p:nvSpPr>
        <p:spPr>
          <a:xfrm>
            <a:off x="3995936" y="157881"/>
            <a:ext cx="1210588" cy="707886"/>
          </a:xfrm>
          <a:prstGeom prst="rect">
            <a:avLst/>
          </a:prstGeom>
          <a:noFill/>
        </p:spPr>
        <p:txBody>
          <a:bodyPr wrap="none" rtlCol="0">
            <a:spAutoFit/>
          </a:bodyPr>
          <a:lstStyle/>
          <a:p>
            <a:r>
              <a:rPr lang="zh-CN" altLang="en-US" sz="4000" dirty="0">
                <a:latin typeface="方正兰亭细黑_GBK" pitchFamily="2" charset="-122"/>
                <a:ea typeface="方正兰亭细黑_GBK" pitchFamily="2" charset="-122"/>
              </a:rPr>
              <a:t>提纲</a:t>
            </a:r>
          </a:p>
        </p:txBody>
      </p:sp>
      <p:sp>
        <p:nvSpPr>
          <p:cNvPr id="3" name="TextBox 2">
            <a:extLst>
              <a:ext uri="{FF2B5EF4-FFF2-40B4-BE49-F238E27FC236}">
                <a16:creationId xmlns:a16="http://schemas.microsoft.com/office/drawing/2014/main" id="{492395D8-6724-0F30-E76A-63E2378BAFDC}"/>
              </a:ext>
            </a:extLst>
          </p:cNvPr>
          <p:cNvSpPr txBox="1"/>
          <p:nvPr/>
        </p:nvSpPr>
        <p:spPr>
          <a:xfrm>
            <a:off x="1121124" y="3052428"/>
            <a:ext cx="1537664" cy="307777"/>
          </a:xfrm>
          <a:prstGeom prst="rect">
            <a:avLst/>
          </a:prstGeom>
          <a:noFill/>
        </p:spPr>
        <p:txBody>
          <a:bodyPr wrap="square" lIns="0" tIns="0" rIns="0" bIns="0"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文本表示</a:t>
            </a:r>
          </a:p>
        </p:txBody>
      </p:sp>
      <p:grpSp>
        <p:nvGrpSpPr>
          <p:cNvPr id="33" name="组合 32">
            <a:extLst>
              <a:ext uri="{FF2B5EF4-FFF2-40B4-BE49-F238E27FC236}">
                <a16:creationId xmlns:a16="http://schemas.microsoft.com/office/drawing/2014/main" id="{D7154E7A-13FA-2DA7-784C-AC9D93DC29DF}"/>
              </a:ext>
            </a:extLst>
          </p:cNvPr>
          <p:cNvGrpSpPr/>
          <p:nvPr/>
        </p:nvGrpSpPr>
        <p:grpSpPr>
          <a:xfrm>
            <a:off x="1239403" y="947342"/>
            <a:ext cx="1301106" cy="1301106"/>
            <a:chOff x="2262782" y="1446400"/>
            <a:chExt cx="1301106" cy="1301106"/>
          </a:xfrm>
        </p:grpSpPr>
        <p:sp>
          <p:nvSpPr>
            <p:cNvPr id="5" name="椭圆 4">
              <a:extLst>
                <a:ext uri="{FF2B5EF4-FFF2-40B4-BE49-F238E27FC236}">
                  <a16:creationId xmlns:a16="http://schemas.microsoft.com/office/drawing/2014/main" id="{C41F2E7B-1EE3-5C24-EF45-0CB21CB9A25E}"/>
                </a:ext>
              </a:extLst>
            </p:cNvPr>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a:extLst>
                <a:ext uri="{FF2B5EF4-FFF2-40B4-BE49-F238E27FC236}">
                  <a16:creationId xmlns:a16="http://schemas.microsoft.com/office/drawing/2014/main" id="{30A74A9A-4A13-B647-692D-3740FC1D8386}"/>
                </a:ext>
              </a:extLst>
            </p:cNvPr>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a:extLst>
              <a:ext uri="{FF2B5EF4-FFF2-40B4-BE49-F238E27FC236}">
                <a16:creationId xmlns:a16="http://schemas.microsoft.com/office/drawing/2014/main" id="{3596418E-F908-2454-E81E-186C777E90F7}"/>
              </a:ext>
            </a:extLst>
          </p:cNvPr>
          <p:cNvSpPr txBox="1"/>
          <p:nvPr/>
        </p:nvSpPr>
        <p:spPr>
          <a:xfrm>
            <a:off x="4529959" y="1082507"/>
            <a:ext cx="4515009" cy="2250488"/>
          </a:xfrm>
          <a:prstGeom prst="rect">
            <a:avLst/>
          </a:prstGeom>
          <a:noFill/>
        </p:spPr>
        <p:txBody>
          <a:bodyPr wrap="square" rtlCol="0">
            <a:spAutoFit/>
          </a:bodyPr>
          <a:lstStyle/>
          <a:p>
            <a:pPr marL="342900" indent="-342900" algn="just">
              <a:lnSpc>
                <a:spcPct val="150000"/>
              </a:lnSpc>
              <a:buFont typeface="+mj-lt"/>
              <a:buAutoNum type="arabicPeriod"/>
            </a:pPr>
            <a:r>
              <a:rPr lang="zh-CN" altLang="en-US" sz="1600" b="1" dirty="0">
                <a:solidFill>
                  <a:schemeClr val="tx2"/>
                </a:solidFill>
                <a:latin typeface="Heiti SC Medium" pitchFamily="2" charset="-128"/>
                <a:ea typeface="Heiti SC Medium" pitchFamily="2" charset="-128"/>
                <a:cs typeface="Yuppy SC" panose="020F0603040207020204" pitchFamily="34" charset="-122"/>
              </a:rPr>
              <a:t>文本的独热表示</a:t>
            </a:r>
            <a:endParaRPr lang="en-US" altLang="zh-CN" sz="1600" b="1" dirty="0">
              <a:solidFill>
                <a:schemeClr val="tx2"/>
              </a:solidFill>
              <a:latin typeface="Heiti SC Medium" pitchFamily="2" charset="-128"/>
              <a:ea typeface="Heiti SC Medium" pitchFamily="2" charset="-128"/>
              <a:cs typeface="Yuppy SC" panose="020F0603040207020204" pitchFamily="34" charset="-122"/>
            </a:endParaRPr>
          </a:p>
          <a:p>
            <a:pPr marL="342900" indent="-342900" algn="just">
              <a:lnSpc>
                <a:spcPct val="150000"/>
              </a:lnSpc>
              <a:buFont typeface="+mj-lt"/>
              <a:buAutoNum type="arabicPeriod"/>
            </a:pPr>
            <a:r>
              <a:rPr lang="zh-CN" altLang="en-US" sz="1600" b="1" dirty="0">
                <a:solidFill>
                  <a:schemeClr val="tx2"/>
                </a:solidFill>
                <a:latin typeface="Heiti SC Medium" pitchFamily="2" charset="-128"/>
                <a:ea typeface="Heiti SC Medium" pitchFamily="2" charset="-128"/>
                <a:cs typeface="Yuppy SC" panose="020F0603040207020204" pitchFamily="34" charset="-122"/>
              </a:rPr>
              <a:t>文本的分布式表示：主题模型</a:t>
            </a:r>
            <a:endParaRPr lang="en-US" altLang="zh-CN" sz="1600" b="1" dirty="0">
              <a:solidFill>
                <a:schemeClr val="tx2"/>
              </a:solidFill>
              <a:latin typeface="Heiti SC Medium" pitchFamily="2" charset="-128"/>
              <a:ea typeface="Heiti SC Medium" pitchFamily="2" charset="-128"/>
              <a:cs typeface="Yuppy SC" panose="020F0603040207020204" pitchFamily="34" charset="-122"/>
            </a:endParaRPr>
          </a:p>
          <a:p>
            <a:pPr marL="342900" indent="-342900" algn="just">
              <a:lnSpc>
                <a:spcPct val="150000"/>
              </a:lnSpc>
              <a:buFont typeface="+mj-lt"/>
              <a:buAutoNum type="arabicPeriod"/>
            </a:pPr>
            <a:r>
              <a:rPr lang="zh-CN" altLang="en-US" sz="1600" b="1" dirty="0">
                <a:solidFill>
                  <a:schemeClr val="tx2"/>
                </a:solidFill>
                <a:latin typeface="Heiti SC Medium" pitchFamily="2" charset="-128"/>
                <a:ea typeface="Heiti SC Medium" pitchFamily="2" charset="-128"/>
                <a:cs typeface="Yuppy SC" panose="020F0603040207020204" pitchFamily="34" charset="-122"/>
              </a:rPr>
              <a:t>文本表示实践：主题模型</a:t>
            </a:r>
            <a:endParaRPr lang="en-US" altLang="zh-CN" sz="1600" b="1" dirty="0">
              <a:solidFill>
                <a:schemeClr val="tx2"/>
              </a:solidFill>
              <a:latin typeface="Heiti SC Medium" pitchFamily="2" charset="-128"/>
              <a:ea typeface="Heiti SC Medium" pitchFamily="2" charset="-128"/>
              <a:cs typeface="Yuppy SC" panose="020F0603040207020204" pitchFamily="34" charset="-122"/>
            </a:endParaRPr>
          </a:p>
          <a:p>
            <a:pPr marL="342900" indent="-342900" algn="just">
              <a:lnSpc>
                <a:spcPct val="150000"/>
              </a:lnSpc>
              <a:buFont typeface="+mj-ea"/>
              <a:buAutoNum type="arabicPeriod"/>
            </a:pPr>
            <a:r>
              <a:rPr lang="zh-CN" altLang="en-US"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rPr>
              <a:t>文本的分布式表示：词嵌入模型</a:t>
            </a:r>
            <a:endParaRPr lang="en-US" altLang="zh-CN"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endParaRPr>
          </a:p>
          <a:p>
            <a:pPr marL="342900" indent="-342900" algn="just">
              <a:lnSpc>
                <a:spcPct val="150000"/>
              </a:lnSpc>
              <a:buFont typeface="+mj-ea"/>
              <a:buAutoNum type="arabicPeriod"/>
            </a:pPr>
            <a:r>
              <a:rPr lang="zh-CN" altLang="en-US"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rPr>
              <a:t>从词嵌入到预训练语言模型</a:t>
            </a:r>
            <a:endParaRPr lang="en-US" altLang="zh-CN"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endParaRPr>
          </a:p>
          <a:p>
            <a:pPr marL="342900" indent="-342900" algn="just">
              <a:lnSpc>
                <a:spcPct val="150000"/>
              </a:lnSpc>
              <a:buFont typeface="+mj-ea"/>
              <a:buAutoNum type="arabicPeriod"/>
            </a:pPr>
            <a:r>
              <a:rPr lang="zh-CN" altLang="en-US"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rPr>
              <a:t>文本表示实践：词嵌入模型</a:t>
            </a:r>
            <a:endParaRPr lang="en-US" altLang="zh-CN" sz="1600" b="1" dirty="0">
              <a:solidFill>
                <a:schemeClr val="tx2">
                  <a:lumMod val="40000"/>
                  <a:lumOff val="60000"/>
                </a:schemeClr>
              </a:solidFill>
              <a:latin typeface="Heiti SC Medium" pitchFamily="2" charset="-128"/>
              <a:ea typeface="Heiti SC Medium" pitchFamily="2" charset="-128"/>
              <a:cs typeface="Yuppy SC" panose="020F0603040207020204" pitchFamily="34" charset="-122"/>
            </a:endParaRPr>
          </a:p>
        </p:txBody>
      </p:sp>
      <p:sp>
        <p:nvSpPr>
          <p:cNvPr id="24" name="椭圆 23">
            <a:extLst>
              <a:ext uri="{FF2B5EF4-FFF2-40B4-BE49-F238E27FC236}">
                <a16:creationId xmlns:a16="http://schemas.microsoft.com/office/drawing/2014/main" id="{8024F905-313F-5FB2-4AE6-A6F4D813978B}"/>
              </a:ext>
            </a:extLst>
          </p:cNvPr>
          <p:cNvSpPr/>
          <p:nvPr/>
        </p:nvSpPr>
        <p:spPr>
          <a:xfrm>
            <a:off x="4016203" y="120748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5" name="椭圆 24">
            <a:extLst>
              <a:ext uri="{FF2B5EF4-FFF2-40B4-BE49-F238E27FC236}">
                <a16:creationId xmlns:a16="http://schemas.microsoft.com/office/drawing/2014/main" id="{B477EDB1-A2B4-BB4C-6C32-BDD249AF2815}"/>
              </a:ext>
            </a:extLst>
          </p:cNvPr>
          <p:cNvSpPr/>
          <p:nvPr/>
        </p:nvSpPr>
        <p:spPr>
          <a:xfrm>
            <a:off x="4016203" y="189664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a:extLst>
              <a:ext uri="{FF2B5EF4-FFF2-40B4-BE49-F238E27FC236}">
                <a16:creationId xmlns:a16="http://schemas.microsoft.com/office/drawing/2014/main" id="{30418A3C-0B5A-DB8D-8335-4851EC38C517}"/>
              </a:ext>
            </a:extLst>
          </p:cNvPr>
          <p:cNvSpPr/>
          <p:nvPr/>
        </p:nvSpPr>
        <p:spPr>
          <a:xfrm>
            <a:off x="4016203" y="2262426"/>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a:extLst>
              <a:ext uri="{FF2B5EF4-FFF2-40B4-BE49-F238E27FC236}">
                <a16:creationId xmlns:a16="http://schemas.microsoft.com/office/drawing/2014/main" id="{107E8EE8-056B-8618-6358-A55C36CFAEDF}"/>
              </a:ext>
            </a:extLst>
          </p:cNvPr>
          <p:cNvSpPr/>
          <p:nvPr/>
        </p:nvSpPr>
        <p:spPr>
          <a:xfrm>
            <a:off x="4016203" y="26282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a:extLst>
              <a:ext uri="{FF2B5EF4-FFF2-40B4-BE49-F238E27FC236}">
                <a16:creationId xmlns:a16="http://schemas.microsoft.com/office/drawing/2014/main" id="{4F685DAB-6331-E828-1DCF-2D12AF120E0B}"/>
              </a:ext>
            </a:extLst>
          </p:cNvPr>
          <p:cNvSpPr/>
          <p:nvPr/>
        </p:nvSpPr>
        <p:spPr>
          <a:xfrm>
            <a:off x="4016203" y="154919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6" name="椭圆 26">
            <a:extLst>
              <a:ext uri="{FF2B5EF4-FFF2-40B4-BE49-F238E27FC236}">
                <a16:creationId xmlns:a16="http://schemas.microsoft.com/office/drawing/2014/main" id="{DCB964D4-12A2-99BB-D21B-644CBDE7DC50}"/>
              </a:ext>
            </a:extLst>
          </p:cNvPr>
          <p:cNvSpPr/>
          <p:nvPr/>
        </p:nvSpPr>
        <p:spPr>
          <a:xfrm>
            <a:off x="4016203" y="29939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3421006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BCBAE-8C7B-4E7A-C69D-EE0F687D9D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17D39-3D60-B414-1100-FA6280706D81}"/>
              </a:ext>
            </a:extLst>
          </p:cNvPr>
          <p:cNvSpPr>
            <a:spLocks noGrp="1"/>
          </p:cNvSpPr>
          <p:nvPr>
            <p:ph type="title"/>
          </p:nvPr>
        </p:nvSpPr>
        <p:spPr/>
        <p:txBody>
          <a:bodyPr/>
          <a:lstStyle/>
          <a:p>
            <a:r>
              <a:rPr lang="zh-CN" altLang="en-US" dirty="0">
                <a:latin typeface="Microsoft YaHei" charset="-122"/>
                <a:ea typeface="Microsoft YaHei" charset="-122"/>
                <a:cs typeface="Microsoft YaHei" charset="-122"/>
              </a:rPr>
              <a:t>总结：文本表示（</a:t>
            </a:r>
            <a:r>
              <a:rPr lang="en-US" altLang="zh-CN" dirty="0">
                <a:latin typeface="Calibri" charset="0"/>
                <a:ea typeface="Calibri" charset="0"/>
                <a:cs typeface="Calibri" charset="0"/>
              </a:rPr>
              <a:t>Representation</a:t>
            </a:r>
            <a:r>
              <a:rPr lang="zh-CN" altLang="en-US" dirty="0">
                <a:latin typeface="Microsoft YaHei" charset="-122"/>
                <a:ea typeface="Microsoft YaHei" charset="-122"/>
                <a:cs typeface="Microsoft YaHei" charset="-122"/>
              </a:rPr>
              <a:t>）</a:t>
            </a:r>
          </a:p>
        </p:txBody>
      </p:sp>
      <p:sp>
        <p:nvSpPr>
          <p:cNvPr id="3" name="Content Placeholder 2">
            <a:extLst>
              <a:ext uri="{FF2B5EF4-FFF2-40B4-BE49-F238E27FC236}">
                <a16:creationId xmlns:a16="http://schemas.microsoft.com/office/drawing/2014/main" id="{74BFB5CA-7F6A-8DB7-A34A-999663FD8F61}"/>
              </a:ext>
            </a:extLst>
          </p:cNvPr>
          <p:cNvSpPr>
            <a:spLocks noGrp="1"/>
          </p:cNvSpPr>
          <p:nvPr>
            <p:ph idx="1"/>
          </p:nvPr>
        </p:nvSpPr>
        <p:spPr>
          <a:xfrm>
            <a:off x="457200" y="819150"/>
            <a:ext cx="8229600" cy="1267704"/>
          </a:xfrm>
        </p:spPr>
        <p:txBody>
          <a:bodyPr/>
          <a:lstStyle/>
          <a:p>
            <a:r>
              <a:rPr lang="zh-CN" altLang="en-US" sz="1800" dirty="0">
                <a:latin typeface="Microsoft YaHei" charset="-122"/>
                <a:ea typeface="Microsoft YaHei" charset="-122"/>
                <a:cs typeface="Microsoft YaHei" charset="-122"/>
              </a:rPr>
              <a:t>文本表示旨在寻求自然语言文本在语义层面更加精练和一致的表示形态</a:t>
            </a:r>
            <a:endParaRPr lang="en-US" altLang="zh-CN" sz="1800" dirty="0">
              <a:latin typeface="Microsoft YaHei" charset="-122"/>
              <a:ea typeface="Microsoft YaHei" charset="-122"/>
              <a:cs typeface="Microsoft YaHei" charset="-122"/>
            </a:endParaRPr>
          </a:p>
          <a:p>
            <a:pPr lvl="1"/>
            <a:r>
              <a:rPr lang="zh-CN" altLang="en-US" sz="1500" dirty="0">
                <a:latin typeface="Microsoft YaHei" charset="-122"/>
                <a:ea typeface="Microsoft YaHei" charset="-122"/>
                <a:cs typeface="Microsoft YaHei" charset="-122"/>
              </a:rPr>
              <a:t>将文本表示为</a:t>
            </a:r>
            <a:r>
              <a:rPr lang="zh-CN" altLang="en-US" sz="1500" dirty="0">
                <a:solidFill>
                  <a:srgbClr val="C00000"/>
                </a:solidFill>
                <a:latin typeface="Microsoft YaHei" charset="-122"/>
                <a:ea typeface="Microsoft YaHei" charset="-122"/>
                <a:cs typeface="Microsoft YaHei" charset="-122"/>
              </a:rPr>
              <a:t>计算机能够运算的数字或向量</a:t>
            </a:r>
            <a:endParaRPr lang="en-US" altLang="zh-CN" sz="1500" dirty="0">
              <a:latin typeface="Microsoft YaHei" charset="-122"/>
              <a:ea typeface="Microsoft YaHei" charset="-122"/>
              <a:cs typeface="Microsoft YaHei" charset="-122"/>
            </a:endParaRPr>
          </a:p>
          <a:p>
            <a:pPr lvl="1"/>
            <a:r>
              <a:rPr lang="zh-CN" altLang="en-US" sz="1500" dirty="0">
                <a:latin typeface="Microsoft YaHei" charset="-122"/>
                <a:ea typeface="Microsoft YaHei" charset="-122"/>
                <a:cs typeface="Microsoft YaHei" charset="-122"/>
              </a:rPr>
              <a:t>单词层面：挖掘单词间隐含的语义关联关系</a:t>
            </a:r>
            <a:endParaRPr lang="en-US" altLang="zh-CN" sz="1500" dirty="0">
              <a:latin typeface="Microsoft YaHei" charset="-122"/>
              <a:ea typeface="Microsoft YaHei" charset="-122"/>
              <a:cs typeface="Microsoft YaHei" charset="-122"/>
            </a:endParaRPr>
          </a:p>
          <a:p>
            <a:pPr lvl="1"/>
            <a:r>
              <a:rPr lang="zh-CN" altLang="en-US" sz="1500" dirty="0">
                <a:latin typeface="Microsoft YaHei" charset="-122"/>
                <a:ea typeface="Microsoft YaHei" charset="-122"/>
                <a:cs typeface="Microsoft YaHei" charset="-122"/>
              </a:rPr>
              <a:t>查询</a:t>
            </a:r>
            <a:r>
              <a:rPr lang="en-US" altLang="zh-CN" sz="1500" dirty="0">
                <a:latin typeface="Microsoft YaHei" charset="-122"/>
                <a:ea typeface="Microsoft YaHei" charset="-122"/>
                <a:cs typeface="Microsoft YaHei" charset="-122"/>
              </a:rPr>
              <a:t>/</a:t>
            </a:r>
            <a:r>
              <a:rPr lang="zh-CN" altLang="en-US" sz="1500" dirty="0">
                <a:latin typeface="Microsoft YaHei" charset="-122"/>
                <a:ea typeface="Microsoft YaHei" charset="-122"/>
                <a:cs typeface="Microsoft YaHei" charset="-122"/>
              </a:rPr>
              <a:t>文档层：语义层面更加精准的关联表示</a:t>
            </a:r>
            <a:endParaRPr lang="en-US" altLang="zh-CN" sz="1500" dirty="0">
              <a:latin typeface="Microsoft YaHei" charset="-122"/>
              <a:ea typeface="Microsoft YaHei" charset="-122"/>
              <a:cs typeface="Microsoft YaHei" charset="-122"/>
            </a:endParaRPr>
          </a:p>
          <a:p>
            <a:endParaRPr lang="en-US" altLang="zh-CN" sz="1800" dirty="0">
              <a:latin typeface="Microsoft YaHei" charset="-122"/>
              <a:ea typeface="Microsoft YaHei" charset="-122"/>
              <a:cs typeface="Microsoft YaHei" charset="-122"/>
            </a:endParaRPr>
          </a:p>
          <a:p>
            <a:endParaRPr lang="en-US" altLang="zh-CN" sz="1800" dirty="0">
              <a:latin typeface="Microsoft YaHei" charset="-122"/>
              <a:ea typeface="Microsoft YaHei" charset="-122"/>
              <a:cs typeface="Microsoft YaHei" charset="-122"/>
            </a:endParaRPr>
          </a:p>
        </p:txBody>
      </p:sp>
      <p:sp>
        <p:nvSpPr>
          <p:cNvPr id="52" name="灯片编号占位符 2">
            <a:extLst>
              <a:ext uri="{FF2B5EF4-FFF2-40B4-BE49-F238E27FC236}">
                <a16:creationId xmlns:a16="http://schemas.microsoft.com/office/drawing/2014/main" id="{6B8E1E7A-41AD-2005-0FF7-AE44A1A2515B}"/>
              </a:ext>
            </a:extLst>
          </p:cNvPr>
          <p:cNvSpPr txBox="1">
            <a:spLocks/>
          </p:cNvSpPr>
          <p:nvPr/>
        </p:nvSpPr>
        <p:spPr bwMode="auto">
          <a:xfrm>
            <a:off x="5461225" y="4680080"/>
            <a:ext cx="16002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prstTxWarp prst="textNoShape">
              <a:avLst/>
            </a:prstTxWarp>
          </a:bodyPr>
          <a:lstStyle/>
          <a:p>
            <a:pPr algn="r" defTabSz="685800" fontAlgn="base">
              <a:spcBef>
                <a:spcPct val="0"/>
              </a:spcBef>
              <a:spcAft>
                <a:spcPct val="0"/>
              </a:spcAft>
              <a:defRPr/>
            </a:pPr>
            <a:fld id="{6FAA2968-6817-4249-A386-A94E4C7AFEE2}" type="slidenum">
              <a:rPr lang="en-US" sz="1050">
                <a:latin typeface="Microsoft YaHei" charset="-122"/>
                <a:ea typeface="Microsoft YaHei" charset="-122"/>
                <a:cs typeface="Microsoft YaHei" charset="-122"/>
              </a:rPr>
              <a:pPr algn="r" defTabSz="685800" fontAlgn="base">
                <a:spcBef>
                  <a:spcPct val="0"/>
                </a:spcBef>
                <a:spcAft>
                  <a:spcPct val="0"/>
                </a:spcAft>
                <a:defRPr/>
              </a:pPr>
              <a:t>62</a:t>
            </a:fld>
            <a:endParaRPr lang="en-US" sz="1050" dirty="0">
              <a:latin typeface="Microsoft YaHei" charset="-122"/>
              <a:ea typeface="Microsoft YaHei" charset="-122"/>
              <a:cs typeface="Microsoft YaHei" charset="-122"/>
            </a:endParaRPr>
          </a:p>
        </p:txBody>
      </p:sp>
      <p:sp>
        <p:nvSpPr>
          <p:cNvPr id="57" name="Right Arrow 56">
            <a:extLst>
              <a:ext uri="{FF2B5EF4-FFF2-40B4-BE49-F238E27FC236}">
                <a16:creationId xmlns:a16="http://schemas.microsoft.com/office/drawing/2014/main" id="{1279EC9C-5E45-5125-D191-5B53383C5E9C}"/>
              </a:ext>
            </a:extLst>
          </p:cNvPr>
          <p:cNvSpPr/>
          <p:nvPr/>
        </p:nvSpPr>
        <p:spPr>
          <a:xfrm>
            <a:off x="3149194" y="3496554"/>
            <a:ext cx="776625" cy="278969"/>
          </a:xfrm>
          <a:prstGeom prst="rightArrow">
            <a:avLst/>
          </a:prstGeom>
          <a:ln>
            <a:headEnd type="none"/>
            <a:tailEnd type="triangle"/>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sz="1350">
              <a:solidFill>
                <a:srgbClr val="FF0000"/>
              </a:solidFill>
              <a:latin typeface="Microsoft YaHei" charset="-122"/>
              <a:ea typeface="Microsoft YaHei" charset="-122"/>
              <a:cs typeface="Microsoft YaHei" charset="-122"/>
            </a:endParaRPr>
          </a:p>
        </p:txBody>
      </p:sp>
      <p:sp>
        <p:nvSpPr>
          <p:cNvPr id="58" name="Rectangle 57">
            <a:extLst>
              <a:ext uri="{FF2B5EF4-FFF2-40B4-BE49-F238E27FC236}">
                <a16:creationId xmlns:a16="http://schemas.microsoft.com/office/drawing/2014/main" id="{F3DD074C-32F9-2F09-30B0-7B963422CF81}"/>
              </a:ext>
            </a:extLst>
          </p:cNvPr>
          <p:cNvSpPr/>
          <p:nvPr/>
        </p:nvSpPr>
        <p:spPr>
          <a:xfrm>
            <a:off x="2765982" y="3157392"/>
            <a:ext cx="1543050" cy="323165"/>
          </a:xfrm>
          <a:prstGeom prst="rect">
            <a:avLst/>
          </a:prstGeom>
        </p:spPr>
        <p:txBody>
          <a:bodyPr wrap="square">
            <a:spAutoFit/>
          </a:bodyPr>
          <a:lstStyle/>
          <a:p>
            <a:pPr algn="ctr"/>
            <a:r>
              <a:rPr lang="zh-CN" altLang="en-US" sz="1500" dirty="0">
                <a:latin typeface="Microsoft YaHei" charset="-122"/>
                <a:ea typeface="Microsoft YaHei" charset="-122"/>
                <a:cs typeface="Microsoft YaHei" charset="-122"/>
              </a:rPr>
              <a:t>文本表达</a:t>
            </a:r>
          </a:p>
        </p:txBody>
      </p:sp>
      <p:graphicFrame>
        <p:nvGraphicFramePr>
          <p:cNvPr id="64" name="Table 63">
            <a:extLst>
              <a:ext uri="{FF2B5EF4-FFF2-40B4-BE49-F238E27FC236}">
                <a16:creationId xmlns:a16="http://schemas.microsoft.com/office/drawing/2014/main" id="{F367C366-21C0-1F82-57FA-5EF572519A5F}"/>
              </a:ext>
            </a:extLst>
          </p:cNvPr>
          <p:cNvGraphicFramePr>
            <a:graphicFrameLocks noGrp="1"/>
          </p:cNvGraphicFramePr>
          <p:nvPr/>
        </p:nvGraphicFramePr>
        <p:xfrm>
          <a:off x="4086279" y="2086854"/>
          <a:ext cx="2955132" cy="1409700"/>
        </p:xfrm>
        <a:graphic>
          <a:graphicData uri="http://schemas.openxmlformats.org/drawingml/2006/table">
            <a:tbl>
              <a:tblPr firstRow="1" bandRow="1">
                <a:tableStyleId>{21E4AEA4-8DFA-4A89-87EB-49C32662AFE0}</a:tableStyleId>
              </a:tblPr>
              <a:tblGrid>
                <a:gridCol w="608648">
                  <a:extLst>
                    <a:ext uri="{9D8B030D-6E8A-4147-A177-3AD203B41FA5}">
                      <a16:colId xmlns:a16="http://schemas.microsoft.com/office/drawing/2014/main" val="20000"/>
                    </a:ext>
                  </a:extLst>
                </a:gridCol>
                <a:gridCol w="611029">
                  <a:extLst>
                    <a:ext uri="{9D8B030D-6E8A-4147-A177-3AD203B41FA5}">
                      <a16:colId xmlns:a16="http://schemas.microsoft.com/office/drawing/2014/main" val="20001"/>
                    </a:ext>
                  </a:extLst>
                </a:gridCol>
                <a:gridCol w="611029">
                  <a:extLst>
                    <a:ext uri="{9D8B030D-6E8A-4147-A177-3AD203B41FA5}">
                      <a16:colId xmlns:a16="http://schemas.microsoft.com/office/drawing/2014/main" val="20002"/>
                    </a:ext>
                  </a:extLst>
                </a:gridCol>
                <a:gridCol w="438626">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tblGrid>
              <a:tr h="278130">
                <a:tc>
                  <a:txBody>
                    <a:bodyPr/>
                    <a:lstStyle/>
                    <a:p>
                      <a:endParaRPr lang="zh-CN" altLang="en-US" sz="1400" dirty="0"/>
                    </a:p>
                  </a:txBody>
                  <a:tcPr marL="68580" marR="68580" marT="34290" marB="34290"/>
                </a:tc>
                <a:tc>
                  <a:txBody>
                    <a:bodyPr/>
                    <a:lstStyle/>
                    <a:p>
                      <a:r>
                        <a:rPr lang="zh-CN" altLang="en-US" sz="1400" dirty="0"/>
                        <a:t>维度</a:t>
                      </a:r>
                      <a:r>
                        <a:rPr lang="en-US" altLang="zh-CN" sz="1400" dirty="0"/>
                        <a:t>1</a:t>
                      </a:r>
                      <a:endParaRPr lang="zh-CN" altLang="en-US" sz="1400" dirty="0"/>
                    </a:p>
                  </a:txBody>
                  <a:tcPr marL="68580" marR="68580" marT="34290" marB="34290"/>
                </a:tc>
                <a:tc>
                  <a:txBody>
                    <a:bodyPr/>
                    <a:lstStyle/>
                    <a:p>
                      <a:r>
                        <a:rPr lang="zh-CN" altLang="en-US" sz="1400" dirty="0"/>
                        <a:t>维度</a:t>
                      </a:r>
                      <a:r>
                        <a:rPr lang="en-US" altLang="zh-CN" sz="1400" dirty="0"/>
                        <a:t>2</a:t>
                      </a:r>
                      <a:endParaRPr lang="zh-CN" altLang="en-US" sz="1400" dirty="0"/>
                    </a:p>
                  </a:txBody>
                  <a:tcPr marL="68580" marR="68580" marT="34290" marB="34290"/>
                </a:tc>
                <a:tc>
                  <a:txBody>
                    <a:bodyPr/>
                    <a:lstStyle/>
                    <a:p>
                      <a:pPr algn="ctr"/>
                      <a:r>
                        <a:rPr lang="en-US" altLang="zh-CN" sz="1400" dirty="0"/>
                        <a:t>…</a:t>
                      </a:r>
                      <a:endParaRPr lang="zh-CN" altLang="en-US" sz="1400" dirty="0"/>
                    </a:p>
                  </a:txBody>
                  <a:tcPr marL="68580" marR="68580" marT="34290" marB="34290"/>
                </a:tc>
                <a:tc>
                  <a:txBody>
                    <a:bodyPr/>
                    <a:lstStyle/>
                    <a:p>
                      <a:r>
                        <a:rPr lang="zh-CN" altLang="en-US" sz="1400" dirty="0"/>
                        <a:t>维度</a:t>
                      </a:r>
                      <a:r>
                        <a:rPr lang="en-US" altLang="zh-CN" sz="1400" dirty="0"/>
                        <a:t>K</a:t>
                      </a:r>
                      <a:endParaRPr lang="zh-CN" altLang="en-US" sz="1400" dirty="0"/>
                    </a:p>
                  </a:txBody>
                  <a:tcPr marL="68580" marR="68580" marT="34290" marB="34290"/>
                </a:tc>
                <a:extLst>
                  <a:ext uri="{0D108BD9-81ED-4DB2-BD59-A6C34878D82A}">
                    <a16:rowId xmlns:a16="http://schemas.microsoft.com/office/drawing/2014/main" val="10000"/>
                  </a:ext>
                </a:extLst>
              </a:tr>
              <a:tr h="278130">
                <a:tc>
                  <a:txBody>
                    <a:bodyPr/>
                    <a:lstStyle/>
                    <a:p>
                      <a:r>
                        <a:rPr lang="zh-CN" altLang="en-US" sz="1400" dirty="0"/>
                        <a:t>单词</a:t>
                      </a:r>
                      <a:r>
                        <a:rPr lang="en-US" altLang="zh-CN" sz="1400" dirty="0"/>
                        <a:t>1</a:t>
                      </a:r>
                      <a:endParaRPr lang="zh-CN" altLang="en-US" sz="1400" dirty="0"/>
                    </a:p>
                  </a:txBody>
                  <a:tcPr marL="68580" marR="68580" marT="34290" marB="34290"/>
                </a:tc>
                <a:tc>
                  <a:txBody>
                    <a:bodyPr/>
                    <a:lstStyle/>
                    <a:p>
                      <a:endParaRPr lang="zh-CN" altLang="en-US" sz="1400" dirty="0"/>
                    </a:p>
                  </a:txBody>
                  <a:tcPr marL="68580" marR="68580" marT="34290" marB="34290"/>
                </a:tc>
                <a:tc>
                  <a:txBody>
                    <a:bodyPr/>
                    <a:lstStyle/>
                    <a:p>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extLst>
                  <a:ext uri="{0D108BD9-81ED-4DB2-BD59-A6C34878D82A}">
                    <a16:rowId xmlns:a16="http://schemas.microsoft.com/office/drawing/2014/main" val="10001"/>
                  </a:ext>
                </a:extLst>
              </a:tr>
              <a:tr h="278130">
                <a:tc>
                  <a:txBody>
                    <a:bodyPr/>
                    <a:lstStyle/>
                    <a:p>
                      <a:r>
                        <a:rPr lang="zh-CN" altLang="en-US" sz="1400" dirty="0"/>
                        <a:t>单词</a:t>
                      </a:r>
                      <a:r>
                        <a:rPr lang="en-US" altLang="zh-CN" sz="1400" dirty="0"/>
                        <a:t>2</a:t>
                      </a:r>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extLst>
                  <a:ext uri="{0D108BD9-81ED-4DB2-BD59-A6C34878D82A}">
                    <a16:rowId xmlns:a16="http://schemas.microsoft.com/office/drawing/2014/main" val="10002"/>
                  </a:ext>
                </a:extLst>
              </a:tr>
              <a:tr h="278130">
                <a:tc>
                  <a:txBody>
                    <a:bodyPr/>
                    <a:lstStyle/>
                    <a:p>
                      <a:pPr algn="ctr"/>
                      <a:r>
                        <a:rPr lang="en-US" altLang="zh-CN" sz="1400" dirty="0"/>
                        <a:t>…</a:t>
                      </a:r>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extLst>
                  <a:ext uri="{0D108BD9-81ED-4DB2-BD59-A6C34878D82A}">
                    <a16:rowId xmlns:a16="http://schemas.microsoft.com/office/drawing/2014/main" val="10003"/>
                  </a:ext>
                </a:extLst>
              </a:tr>
              <a:tr h="278130">
                <a:tc>
                  <a:txBody>
                    <a:bodyPr/>
                    <a:lstStyle/>
                    <a:p>
                      <a:r>
                        <a:rPr lang="zh-CN" altLang="en-US" sz="1400" dirty="0"/>
                        <a:t>单词</a:t>
                      </a:r>
                      <a:r>
                        <a:rPr lang="en-US" altLang="zh-CN" sz="1400" dirty="0"/>
                        <a:t>N</a:t>
                      </a:r>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dirty="0"/>
                    </a:p>
                  </a:txBody>
                  <a:tcPr marL="68580" marR="68580" marT="34290" marB="34290"/>
                </a:tc>
                <a:tc>
                  <a:txBody>
                    <a:bodyPr/>
                    <a:lstStyle/>
                    <a:p>
                      <a:endParaRPr lang="zh-CN" altLang="en-US" sz="1400" dirty="0"/>
                    </a:p>
                  </a:txBody>
                  <a:tcPr marL="68580" marR="68580" marT="34290" marB="34290"/>
                </a:tc>
                <a:extLst>
                  <a:ext uri="{0D108BD9-81ED-4DB2-BD59-A6C34878D82A}">
                    <a16:rowId xmlns:a16="http://schemas.microsoft.com/office/drawing/2014/main" val="10004"/>
                  </a:ext>
                </a:extLst>
              </a:tr>
            </a:tbl>
          </a:graphicData>
        </a:graphic>
      </p:graphicFrame>
      <p:graphicFrame>
        <p:nvGraphicFramePr>
          <p:cNvPr id="13" name="Table 63">
            <a:extLst>
              <a:ext uri="{FF2B5EF4-FFF2-40B4-BE49-F238E27FC236}">
                <a16:creationId xmlns:a16="http://schemas.microsoft.com/office/drawing/2014/main" id="{48C159EA-9D80-AFB4-EEE4-92A5D25B9360}"/>
              </a:ext>
            </a:extLst>
          </p:cNvPr>
          <p:cNvGraphicFramePr>
            <a:graphicFrameLocks noGrp="1"/>
          </p:cNvGraphicFramePr>
          <p:nvPr/>
        </p:nvGraphicFramePr>
        <p:xfrm>
          <a:off x="4086278" y="3631407"/>
          <a:ext cx="2955132" cy="1409700"/>
        </p:xfrm>
        <a:graphic>
          <a:graphicData uri="http://schemas.openxmlformats.org/drawingml/2006/table">
            <a:tbl>
              <a:tblPr firstRow="1" bandRow="1">
                <a:tableStyleId>{21E4AEA4-8DFA-4A89-87EB-49C32662AFE0}</a:tableStyleId>
              </a:tblPr>
              <a:tblGrid>
                <a:gridCol w="660422">
                  <a:extLst>
                    <a:ext uri="{9D8B030D-6E8A-4147-A177-3AD203B41FA5}">
                      <a16:colId xmlns:a16="http://schemas.microsoft.com/office/drawing/2014/main" val="20000"/>
                    </a:ext>
                  </a:extLst>
                </a:gridCol>
                <a:gridCol w="597547">
                  <a:extLst>
                    <a:ext uri="{9D8B030D-6E8A-4147-A177-3AD203B41FA5}">
                      <a16:colId xmlns:a16="http://schemas.microsoft.com/office/drawing/2014/main" val="20001"/>
                    </a:ext>
                  </a:extLst>
                </a:gridCol>
                <a:gridCol w="597547">
                  <a:extLst>
                    <a:ext uri="{9D8B030D-6E8A-4147-A177-3AD203B41FA5}">
                      <a16:colId xmlns:a16="http://schemas.microsoft.com/office/drawing/2014/main" val="20002"/>
                    </a:ext>
                  </a:extLst>
                </a:gridCol>
                <a:gridCol w="428948">
                  <a:extLst>
                    <a:ext uri="{9D8B030D-6E8A-4147-A177-3AD203B41FA5}">
                      <a16:colId xmlns:a16="http://schemas.microsoft.com/office/drawing/2014/main" val="20003"/>
                    </a:ext>
                  </a:extLst>
                </a:gridCol>
                <a:gridCol w="670668">
                  <a:extLst>
                    <a:ext uri="{9D8B030D-6E8A-4147-A177-3AD203B41FA5}">
                      <a16:colId xmlns:a16="http://schemas.microsoft.com/office/drawing/2014/main" val="20004"/>
                    </a:ext>
                  </a:extLst>
                </a:gridCol>
              </a:tblGrid>
              <a:tr h="278130">
                <a:tc>
                  <a:txBody>
                    <a:bodyPr/>
                    <a:lstStyle/>
                    <a:p>
                      <a:endParaRPr lang="zh-CN" altLang="en-US" sz="1400" dirty="0"/>
                    </a:p>
                  </a:txBody>
                  <a:tcPr marL="68580" marR="68580" marT="34290" marB="34290"/>
                </a:tc>
                <a:tc>
                  <a:txBody>
                    <a:bodyPr/>
                    <a:lstStyle/>
                    <a:p>
                      <a:r>
                        <a:rPr lang="zh-CN" altLang="en-US" sz="1400" dirty="0"/>
                        <a:t>维度</a:t>
                      </a:r>
                      <a:r>
                        <a:rPr lang="en-US" altLang="zh-CN" sz="1400" dirty="0"/>
                        <a:t>1</a:t>
                      </a:r>
                      <a:endParaRPr lang="zh-CN" altLang="en-US" sz="1400" dirty="0"/>
                    </a:p>
                  </a:txBody>
                  <a:tcPr marL="68580" marR="68580" marT="34290" marB="34290"/>
                </a:tc>
                <a:tc>
                  <a:txBody>
                    <a:bodyPr/>
                    <a:lstStyle/>
                    <a:p>
                      <a:r>
                        <a:rPr lang="zh-CN" altLang="en-US" sz="1400" dirty="0"/>
                        <a:t>维度</a:t>
                      </a:r>
                      <a:r>
                        <a:rPr lang="en-US" altLang="zh-CN" sz="1400" dirty="0"/>
                        <a:t>2</a:t>
                      </a:r>
                      <a:endParaRPr lang="zh-CN" altLang="en-US" sz="1400" dirty="0"/>
                    </a:p>
                  </a:txBody>
                  <a:tcPr marL="68580" marR="68580" marT="34290" marB="34290"/>
                </a:tc>
                <a:tc>
                  <a:txBody>
                    <a:bodyPr/>
                    <a:lstStyle/>
                    <a:p>
                      <a:pPr algn="ctr"/>
                      <a:r>
                        <a:rPr lang="en-US" altLang="zh-CN" sz="1400" dirty="0"/>
                        <a:t>…</a:t>
                      </a:r>
                      <a:endParaRPr lang="zh-CN" altLang="en-US" sz="1400" dirty="0"/>
                    </a:p>
                  </a:txBody>
                  <a:tcPr marL="68580" marR="68580" marT="34290" marB="34290"/>
                </a:tc>
                <a:tc>
                  <a:txBody>
                    <a:bodyPr/>
                    <a:lstStyle/>
                    <a:p>
                      <a:r>
                        <a:rPr lang="zh-CN" altLang="en-US" sz="1400" dirty="0"/>
                        <a:t>维度</a:t>
                      </a:r>
                      <a:r>
                        <a:rPr lang="en-US" altLang="zh-CN" sz="1400" dirty="0"/>
                        <a:t>K</a:t>
                      </a:r>
                      <a:endParaRPr lang="zh-CN" altLang="en-US" sz="1400" dirty="0"/>
                    </a:p>
                  </a:txBody>
                  <a:tcPr marL="68580" marR="68580" marT="34290" marB="34290"/>
                </a:tc>
                <a:extLst>
                  <a:ext uri="{0D108BD9-81ED-4DB2-BD59-A6C34878D82A}">
                    <a16:rowId xmlns:a16="http://schemas.microsoft.com/office/drawing/2014/main" val="10000"/>
                  </a:ext>
                </a:extLst>
              </a:tr>
              <a:tr h="278130">
                <a:tc>
                  <a:txBody>
                    <a:bodyPr/>
                    <a:lstStyle/>
                    <a:p>
                      <a:r>
                        <a:rPr lang="zh-CN" altLang="en-US" sz="1400" dirty="0"/>
                        <a:t>文档</a:t>
                      </a:r>
                      <a:r>
                        <a:rPr lang="en-US" altLang="zh-CN" sz="1400" dirty="0"/>
                        <a:t>1</a:t>
                      </a:r>
                      <a:endParaRPr lang="zh-CN" altLang="en-US" sz="1400" dirty="0"/>
                    </a:p>
                  </a:txBody>
                  <a:tcPr marL="68580" marR="68580" marT="34290" marB="34290"/>
                </a:tc>
                <a:tc>
                  <a:txBody>
                    <a:bodyPr/>
                    <a:lstStyle/>
                    <a:p>
                      <a:endParaRPr lang="zh-CN" altLang="en-US" sz="1400" dirty="0"/>
                    </a:p>
                  </a:txBody>
                  <a:tcPr marL="68580" marR="68580" marT="34290" marB="34290"/>
                </a:tc>
                <a:tc>
                  <a:txBody>
                    <a:bodyPr/>
                    <a:lstStyle/>
                    <a:p>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extLst>
                  <a:ext uri="{0D108BD9-81ED-4DB2-BD59-A6C34878D82A}">
                    <a16:rowId xmlns:a16="http://schemas.microsoft.com/office/drawing/2014/main" val="10001"/>
                  </a:ext>
                </a:extLst>
              </a:tr>
              <a:tr h="278130">
                <a:tc>
                  <a:txBody>
                    <a:bodyPr/>
                    <a:lstStyle/>
                    <a:p>
                      <a:r>
                        <a:rPr lang="zh-CN" altLang="en-US" sz="1400" dirty="0"/>
                        <a:t>文档</a:t>
                      </a:r>
                      <a:r>
                        <a:rPr lang="en-US" altLang="zh-CN" sz="1400" dirty="0"/>
                        <a:t>2</a:t>
                      </a:r>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dirty="0"/>
                    </a:p>
                  </a:txBody>
                  <a:tcPr marL="68580" marR="68580" marT="34290" marB="34290"/>
                </a:tc>
                <a:extLst>
                  <a:ext uri="{0D108BD9-81ED-4DB2-BD59-A6C34878D82A}">
                    <a16:rowId xmlns:a16="http://schemas.microsoft.com/office/drawing/2014/main" val="10002"/>
                  </a:ext>
                </a:extLst>
              </a:tr>
              <a:tr h="278130">
                <a:tc>
                  <a:txBody>
                    <a:bodyPr/>
                    <a:lstStyle/>
                    <a:p>
                      <a:pPr algn="ctr"/>
                      <a:r>
                        <a:rPr lang="en-US" altLang="zh-CN" sz="1400" dirty="0"/>
                        <a:t>…</a:t>
                      </a:r>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extLst>
                  <a:ext uri="{0D108BD9-81ED-4DB2-BD59-A6C34878D82A}">
                    <a16:rowId xmlns:a16="http://schemas.microsoft.com/office/drawing/2014/main" val="10003"/>
                  </a:ext>
                </a:extLst>
              </a:tr>
              <a:tr h="278130">
                <a:tc>
                  <a:txBody>
                    <a:bodyPr/>
                    <a:lstStyle/>
                    <a:p>
                      <a:r>
                        <a:rPr lang="zh-CN" altLang="en-US" sz="1400" dirty="0"/>
                        <a:t>文档</a:t>
                      </a:r>
                      <a:r>
                        <a:rPr lang="en-US" altLang="zh-CN" sz="1400" dirty="0"/>
                        <a:t>M</a:t>
                      </a:r>
                      <a:endParaRPr lang="zh-CN" altLang="en-US" sz="1400" dirty="0"/>
                    </a:p>
                  </a:txBody>
                  <a:tcPr marL="68580" marR="68580" marT="34290" marB="34290"/>
                </a:tc>
                <a:tc>
                  <a:txBody>
                    <a:bodyPr/>
                    <a:lstStyle/>
                    <a:p>
                      <a:endParaRPr lang="zh-CN" altLang="en-US" sz="1400"/>
                    </a:p>
                  </a:txBody>
                  <a:tcPr marL="68580" marR="68580" marT="34290" marB="34290"/>
                </a:tc>
                <a:tc>
                  <a:txBody>
                    <a:bodyPr/>
                    <a:lstStyle/>
                    <a:p>
                      <a:endParaRPr lang="zh-CN" altLang="en-US" sz="1400"/>
                    </a:p>
                  </a:txBody>
                  <a:tcPr marL="68580" marR="68580" marT="34290" marB="34290"/>
                </a:tc>
                <a:tc>
                  <a:txBody>
                    <a:bodyPr/>
                    <a:lstStyle/>
                    <a:p>
                      <a:endParaRPr lang="zh-CN" altLang="en-US" sz="1400" dirty="0"/>
                    </a:p>
                  </a:txBody>
                  <a:tcPr marL="68580" marR="68580" marT="34290" marB="34290"/>
                </a:tc>
                <a:tc>
                  <a:txBody>
                    <a:bodyPr/>
                    <a:lstStyle/>
                    <a:p>
                      <a:endParaRPr lang="zh-CN" altLang="en-US" sz="1400" dirty="0"/>
                    </a:p>
                  </a:txBody>
                  <a:tcPr marL="68580" marR="68580" marT="34290" marB="34290"/>
                </a:tc>
                <a:extLst>
                  <a:ext uri="{0D108BD9-81ED-4DB2-BD59-A6C34878D82A}">
                    <a16:rowId xmlns:a16="http://schemas.microsoft.com/office/drawing/2014/main" val="10004"/>
                  </a:ext>
                </a:extLst>
              </a:tr>
            </a:tbl>
          </a:graphicData>
        </a:graphic>
      </p:graphicFrame>
      <p:pic>
        <p:nvPicPr>
          <p:cNvPr id="14" name="图片 13">
            <a:extLst>
              <a:ext uri="{FF2B5EF4-FFF2-40B4-BE49-F238E27FC236}">
                <a16:creationId xmlns:a16="http://schemas.microsoft.com/office/drawing/2014/main" id="{47E21E41-EA03-E365-DB01-6233513AF25B}"/>
              </a:ext>
            </a:extLst>
          </p:cNvPr>
          <p:cNvPicPr>
            <a:picLocks noChangeAspect="1"/>
          </p:cNvPicPr>
          <p:nvPr/>
        </p:nvPicPr>
        <p:blipFill>
          <a:blip r:embed="rId3"/>
          <a:stretch>
            <a:fillRect/>
          </a:stretch>
        </p:blipFill>
        <p:spPr>
          <a:xfrm>
            <a:off x="1379309" y="2756472"/>
            <a:ext cx="1749870" cy="1749870"/>
          </a:xfrm>
          <a:prstGeom prst="rect">
            <a:avLst/>
          </a:prstGeom>
        </p:spPr>
      </p:pic>
    </p:spTree>
    <p:extLst>
      <p:ext uri="{BB962C8B-B14F-4D97-AF65-F5344CB8AC3E}">
        <p14:creationId xmlns:p14="http://schemas.microsoft.com/office/powerpoint/2010/main" val="29635770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064A6EE5-75F8-7140-9111-BDD81FA57FDB}"/>
              </a:ext>
            </a:extLst>
          </p:cNvPr>
          <p:cNvSpPr>
            <a:spLocks noGrp="1"/>
          </p:cNvSpPr>
          <p:nvPr>
            <p:ph type="ctrTitle"/>
          </p:nvPr>
        </p:nvSpPr>
        <p:spPr/>
        <p:txBody>
          <a:bodyPr/>
          <a:lstStyle/>
          <a:p>
            <a:r>
              <a:rPr kumimoji="1" lang="zh-CN" altLang="en-US" dirty="0">
                <a:latin typeface="Microsoft YaHei" panose="020B0503020204020204" pitchFamily="34" charset="-122"/>
                <a:ea typeface="Microsoft YaHei" panose="020B0503020204020204" pitchFamily="34" charset="-122"/>
              </a:rPr>
              <a:t>谢谢！</a:t>
            </a:r>
          </a:p>
        </p:txBody>
      </p:sp>
      <p:sp>
        <p:nvSpPr>
          <p:cNvPr id="7" name="副标题 6">
            <a:extLst>
              <a:ext uri="{FF2B5EF4-FFF2-40B4-BE49-F238E27FC236}">
                <a16:creationId xmlns:a16="http://schemas.microsoft.com/office/drawing/2014/main" id="{DEC7A2D4-CAA9-5940-BC0D-0AD74DFE108A}"/>
              </a:ext>
            </a:extLst>
          </p:cNvPr>
          <p:cNvSpPr>
            <a:spLocks noGrp="1"/>
          </p:cNvSpPr>
          <p:nvPr>
            <p:ph type="subTitle" idx="1"/>
          </p:nvPr>
        </p:nvSpPr>
        <p:spPr/>
        <p:txBody>
          <a:bodyPr/>
          <a:lstStyle/>
          <a:p>
            <a:endParaRPr kumimoji="1" lang="zh-CN" altLang="en-US"/>
          </a:p>
        </p:txBody>
      </p:sp>
    </p:spTree>
    <p:extLst>
      <p:ext uri="{BB962C8B-B14F-4D97-AF65-F5344CB8AC3E}">
        <p14:creationId xmlns:p14="http://schemas.microsoft.com/office/powerpoint/2010/main" val="7112768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111111111"/>
</p:tagLst>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32696</TotalTime>
  <Words>3537</Words>
  <Application>Microsoft Macintosh PowerPoint</Application>
  <PresentationFormat>On-screen Show (16:9)</PresentationFormat>
  <Paragraphs>787</Paragraphs>
  <Slides>63</Slides>
  <Notes>22</Notes>
  <HiddenSlides>0</HiddenSlides>
  <MMClips>0</MMClips>
  <ScaleCrop>false</ScaleCrop>
  <HeadingPairs>
    <vt:vector size="8" baseType="variant">
      <vt:variant>
        <vt:lpstr>Fonts Used</vt:lpstr>
      </vt:variant>
      <vt:variant>
        <vt:i4>16</vt:i4>
      </vt:variant>
      <vt:variant>
        <vt:lpstr>Theme</vt:lpstr>
      </vt:variant>
      <vt:variant>
        <vt:i4>1</vt:i4>
      </vt:variant>
      <vt:variant>
        <vt:lpstr>Embedded OLE Servers</vt:lpstr>
      </vt:variant>
      <vt:variant>
        <vt:i4>1</vt:i4>
      </vt:variant>
      <vt:variant>
        <vt:lpstr>Slide Titles</vt:lpstr>
      </vt:variant>
      <vt:variant>
        <vt:i4>63</vt:i4>
      </vt:variant>
    </vt:vector>
  </HeadingPairs>
  <TitlesOfParts>
    <vt:vector size="81" baseType="lpstr">
      <vt:lpstr>Heiti SC Medium</vt:lpstr>
      <vt:lpstr>楷体</vt:lpstr>
      <vt:lpstr>微软雅黑</vt:lpstr>
      <vt:lpstr>微软雅黑</vt:lpstr>
      <vt:lpstr>宋体</vt:lpstr>
      <vt:lpstr>华文楷体</vt:lpstr>
      <vt:lpstr>Times</vt:lpstr>
      <vt:lpstr>方正兰亭细黑_GBK</vt:lpstr>
      <vt:lpstr>Arial</vt:lpstr>
      <vt:lpstr>Arial Black</vt:lpstr>
      <vt:lpstr>Calibri</vt:lpstr>
      <vt:lpstr>Cambria Math</vt:lpstr>
      <vt:lpstr>Courier New</vt:lpstr>
      <vt:lpstr>Helvetica Neue</vt:lpstr>
      <vt:lpstr>Times New Roman</vt:lpstr>
      <vt:lpstr>Wingdings</vt:lpstr>
      <vt:lpstr>清风素材 https://12sc.taobao.com/</vt:lpstr>
      <vt:lpstr>Document</vt:lpstr>
      <vt:lpstr>PowerPoint Presentation</vt:lpstr>
      <vt:lpstr>上机展示通知</vt:lpstr>
      <vt:lpstr>文本表示（Representation）</vt:lpstr>
      <vt:lpstr>以关键词搜索场景为例</vt:lpstr>
      <vt:lpstr>PowerPoint Presentation</vt:lpstr>
      <vt:lpstr>文本表示</vt:lpstr>
      <vt:lpstr>基于集合的文本表示</vt:lpstr>
      <vt:lpstr>基于集合的文本相似度计算</vt:lpstr>
      <vt:lpstr>集合表示的优缺点</vt:lpstr>
      <vt:lpstr>从集合到向量</vt:lpstr>
      <vt:lpstr>向量表示</vt:lpstr>
      <vt:lpstr>单词重要性计算</vt:lpstr>
      <vt:lpstr>IDF的计算</vt:lpstr>
      <vt:lpstr>TF-IDF</vt:lpstr>
      <vt:lpstr>文档空间向量空间</vt:lpstr>
      <vt:lpstr>课堂练习</vt:lpstr>
      <vt:lpstr>课堂练习答案 - 1</vt:lpstr>
      <vt:lpstr>课堂练习答案 - 2</vt:lpstr>
      <vt:lpstr>课堂练习答案 - 3</vt:lpstr>
      <vt:lpstr>PowerPoint Presentation</vt:lpstr>
      <vt:lpstr>独热表示的不足</vt:lpstr>
      <vt:lpstr>单词的分布式表示</vt:lpstr>
      <vt:lpstr>分布式表示的优势</vt:lpstr>
      <vt:lpstr>如何得到(学习)分布式表示？</vt:lpstr>
      <vt:lpstr>先来猜一下单词“bardiwac”大致的含义</vt:lpstr>
      <vt:lpstr>为什么可以猜到？</vt:lpstr>
      <vt:lpstr>语言学中的分布式假设</vt:lpstr>
      <vt:lpstr>单词的语义隐藏在它们的共现数据</vt:lpstr>
      <vt:lpstr>分布式假设的表现形式1（文档内共现）</vt:lpstr>
      <vt:lpstr>分布式假设的表现形式2（上下文共现）</vt:lpstr>
      <vt:lpstr>隐空间中与Feynman相近的词</vt:lpstr>
      <vt:lpstr>矩阵分解应用:主题模型</vt:lpstr>
      <vt:lpstr>话题模型LSI</vt:lpstr>
      <vt:lpstr>LSI的输入：单词-文档的共现矩阵</vt:lpstr>
      <vt:lpstr>话题模型LSI</vt:lpstr>
      <vt:lpstr>Latent Semantic Analysis (LSA)</vt:lpstr>
      <vt:lpstr>LSI第一步：对单词-文档共现矩阵进行分解</vt:lpstr>
      <vt:lpstr>SVD得到的U、Σ、V</vt:lpstr>
      <vt:lpstr>LSI第二步：对特征根进行排序</vt:lpstr>
      <vt:lpstr>LSI第三步：只保留前K个特征值，其余置零</vt:lpstr>
      <vt:lpstr>LSI算法</vt:lpstr>
      <vt:lpstr>理解LSI：为何舍弃小的特征根？</vt:lpstr>
      <vt:lpstr>特征向量的方向?</vt:lpstr>
      <vt:lpstr>特征向量：选一个方差最大的方向</vt:lpstr>
      <vt:lpstr>理解LSI：左特征向量U是什么？</vt:lpstr>
      <vt:lpstr>理解LSI：右特征向量V是什么？</vt:lpstr>
      <vt:lpstr>理解LSI：LSI的输出</vt:lpstr>
      <vt:lpstr>回到之前的例子</vt:lpstr>
      <vt:lpstr>回到之前的例子</vt:lpstr>
      <vt:lpstr>回到之前的例子</vt:lpstr>
      <vt:lpstr>回到之前的例子</vt:lpstr>
      <vt:lpstr>LSI举例</vt:lpstr>
      <vt:lpstr>举例</vt:lpstr>
      <vt:lpstr>举例</vt:lpstr>
      <vt:lpstr>举例</vt:lpstr>
      <vt:lpstr>举例</vt:lpstr>
      <vt:lpstr>举例</vt:lpstr>
      <vt:lpstr>文档相似度(cosine)</vt:lpstr>
      <vt:lpstr>PowerPoint Presentation</vt:lpstr>
      <vt:lpstr>LSI的总结</vt:lpstr>
      <vt:lpstr>PowerPoint Presentation</vt:lpstr>
      <vt:lpstr>总结：文本表示（Representation）</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Administrator</dc:creator>
  <cp:keywords/>
  <dc:description/>
  <cp:lastModifiedBy>举 范</cp:lastModifiedBy>
  <cp:revision>956</cp:revision>
  <dcterms:created xsi:type="dcterms:W3CDTF">2015-01-23T04:02:45Z</dcterms:created>
  <dcterms:modified xsi:type="dcterms:W3CDTF">2025-12-04T14:15:19Z</dcterms:modified>
  <cp:category/>
  <cp:contentStatus>12sc.taobao.com</cp:contentStatus>
</cp:coreProperties>
</file>